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notesMasterIdLst>
    <p:notesMasterId r:id="rId86"/>
  </p:notesMasterIdLst>
  <p:sldIdLst>
    <p:sldId id="341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8" r:id="rId83"/>
    <p:sldId id="339" r:id="rId84"/>
    <p:sldId id="340" r:id="rId8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35" autoAdjust="0"/>
    <p:restoredTop sz="94660"/>
  </p:normalViewPr>
  <p:slideViewPr>
    <p:cSldViewPr>
      <p:cViewPr varScale="1">
        <p:scale>
          <a:sx n="68" d="100"/>
          <a:sy n="68" d="100"/>
        </p:scale>
        <p:origin x="558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theme" Target="theme/theme1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tableStyles" Target="tableStyles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presProps" Target="presProp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A0DD0-9DA3-4DF8-9FEE-CCB2FE70DE6A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01FAB0-4189-480F-8B1B-7B04E28DA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974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mtClean="0"/>
              <a:t>AAMD @Neeraj Mishra BITS Pilani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fld id="{E6CEFA0E-F80C-47DE-ACBD-44B13A150609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3462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mtClean="0"/>
              <a:t>AAMD @Neeraj Mishra BITS Pilani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fld id="{F89C0DEE-D5ED-42EC-BB68-7EAB6CFFE7A6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3462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mtClean="0"/>
              <a:t>AAMD @Neeraj Mishra BITS Pilani</a:t>
            </a: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fld id="{160FFD44-FD6C-41F6-96BE-1A480AEA9559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3462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mtClean="0"/>
              <a:t>AAMD @Neeraj Mishra BITS Pilani</a:t>
            </a:r>
            <a:endParaRPr spc="-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fld id="{E64BF654-F64F-45C8-A3AB-1A438598A6EE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3462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mtClean="0"/>
              <a:t>AAMD @Neeraj Mishra BITS Pilani</a:t>
            </a:r>
            <a:endParaRPr spc="-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fld id="{3F3AF07E-DB23-4F5D-938B-268293772E19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3462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Pilani</a:t>
            </a:r>
            <a:endParaRPr kumimoji="0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285BEA-482C-4197-935D-D3C901D8D7DF}" type="datetime1">
              <a:rPr kumimoji="0" lang="en-US" sz="1200" b="0" i="0" u="none" strike="noStrike" kern="0" cap="none" spc="-1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8/17/2026</a:t>
            </a:fld>
            <a:endParaRPr kumimoji="0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95260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Pilani</a:t>
            </a:r>
            <a:endParaRPr kumimoji="0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D9A12F-C0B8-40B0-8466-F365BAF41152}" type="datetime1">
              <a:rPr kumimoji="0" lang="en-US" sz="1200" b="0" i="0" u="none" strike="noStrike" kern="0" cap="none" spc="-1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8/17/2026</a:t>
            </a:fld>
            <a:endParaRPr kumimoji="0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04533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Pilani</a:t>
            </a:r>
            <a:endParaRPr kumimoji="0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823EB3-A99B-4601-87B6-D16A809F5195}" type="datetime1">
              <a:rPr kumimoji="0" lang="en-US" sz="1200" b="0" i="0" u="none" strike="noStrike" kern="0" cap="none" spc="-1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8/17/2026</a:t>
            </a:fld>
            <a:endParaRPr kumimoji="0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7989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Pilani</a:t>
            </a:r>
            <a:endParaRPr kumimoji="0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482E2A-F92A-4D09-8397-674B8165961D}" type="datetime1">
              <a:rPr kumimoji="0" lang="en-US" sz="1200" b="0" i="0" u="none" strike="noStrike" kern="0" cap="none" spc="-1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8/17/2026</a:t>
            </a:fld>
            <a:endParaRPr kumimoji="0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50535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Pilani</a:t>
            </a:r>
            <a:endParaRPr kumimoji="0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7805EA-76BD-4E9E-B7A4-4C2C93F1CF31}" type="datetime1">
              <a:rPr kumimoji="0" lang="en-US" sz="1200" b="0" i="0" u="none" strike="noStrike" kern="0" cap="none" spc="-1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8/17/2026</a:t>
            </a:fld>
            <a:endParaRPr kumimoji="0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64691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3054" y="984503"/>
            <a:ext cx="10609580" cy="114300"/>
          </a:xfrm>
          <a:custGeom>
            <a:avLst/>
            <a:gdLst/>
            <a:ahLst/>
            <a:cxnLst/>
            <a:rect l="l" t="t" r="r" b="b"/>
            <a:pathLst>
              <a:path w="10609580" h="114300">
                <a:moveTo>
                  <a:pt x="10609326" y="0"/>
                </a:moveTo>
                <a:lnTo>
                  <a:pt x="0" y="0"/>
                </a:lnTo>
                <a:lnTo>
                  <a:pt x="0" y="4572"/>
                </a:lnTo>
                <a:lnTo>
                  <a:pt x="0" y="9144"/>
                </a:lnTo>
                <a:lnTo>
                  <a:pt x="0" y="114300"/>
                </a:lnTo>
                <a:lnTo>
                  <a:pt x="6206490" y="114300"/>
                </a:lnTo>
                <a:lnTo>
                  <a:pt x="6206490" y="9144"/>
                </a:lnTo>
                <a:lnTo>
                  <a:pt x="10609326" y="9144"/>
                </a:lnTo>
                <a:lnTo>
                  <a:pt x="10609326" y="0"/>
                </a:lnTo>
                <a:close/>
              </a:path>
            </a:pathLst>
          </a:custGeom>
          <a:solidFill>
            <a:srgbClr val="CB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13053" y="6169914"/>
            <a:ext cx="10565130" cy="3175"/>
          </a:xfrm>
          <a:custGeom>
            <a:avLst/>
            <a:gdLst/>
            <a:ahLst/>
            <a:cxnLst/>
            <a:rect l="l" t="t" r="r" b="b"/>
            <a:pathLst>
              <a:path w="10565130" h="3175">
                <a:moveTo>
                  <a:pt x="10565130" y="3048"/>
                </a:moveTo>
                <a:lnTo>
                  <a:pt x="10565130" y="0"/>
                </a:lnTo>
                <a:lnTo>
                  <a:pt x="0" y="0"/>
                </a:lnTo>
                <a:lnTo>
                  <a:pt x="0" y="3048"/>
                </a:lnTo>
                <a:lnTo>
                  <a:pt x="10565130" y="3048"/>
                </a:lnTo>
                <a:close/>
              </a:path>
            </a:pathLst>
          </a:custGeom>
          <a:solidFill>
            <a:srgbClr val="CB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19150" y="347725"/>
            <a:ext cx="10593196" cy="5723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44550" y="1327353"/>
            <a:ext cx="5730875" cy="1549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31611" y="6276791"/>
            <a:ext cx="1130300" cy="210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mtClean="0"/>
              <a:t>AAMD @Neeraj Mishra BITS Pilani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91794" y="6276028"/>
            <a:ext cx="1085214" cy="21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fld id="{8B050C78-E895-4979-8B4A-6F0103D77FA5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952988" y="6276028"/>
            <a:ext cx="384399" cy="2146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3462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3054" y="984503"/>
            <a:ext cx="10609580" cy="114300"/>
          </a:xfrm>
          <a:custGeom>
            <a:avLst/>
            <a:gdLst/>
            <a:ahLst/>
            <a:cxnLst/>
            <a:rect l="l" t="t" r="r" b="b"/>
            <a:pathLst>
              <a:path w="10609580" h="114300">
                <a:moveTo>
                  <a:pt x="10609326" y="0"/>
                </a:moveTo>
                <a:lnTo>
                  <a:pt x="0" y="0"/>
                </a:lnTo>
                <a:lnTo>
                  <a:pt x="0" y="4572"/>
                </a:lnTo>
                <a:lnTo>
                  <a:pt x="0" y="9144"/>
                </a:lnTo>
                <a:lnTo>
                  <a:pt x="0" y="114300"/>
                </a:lnTo>
                <a:lnTo>
                  <a:pt x="6206490" y="114300"/>
                </a:lnTo>
                <a:lnTo>
                  <a:pt x="6206490" y="9144"/>
                </a:lnTo>
                <a:lnTo>
                  <a:pt x="10609326" y="9144"/>
                </a:lnTo>
                <a:lnTo>
                  <a:pt x="10609326" y="0"/>
                </a:lnTo>
                <a:close/>
              </a:path>
            </a:pathLst>
          </a:custGeom>
          <a:solidFill>
            <a:srgbClr val="CB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bg object 17"/>
          <p:cNvSpPr/>
          <p:nvPr/>
        </p:nvSpPr>
        <p:spPr>
          <a:xfrm>
            <a:off x="813053" y="6169914"/>
            <a:ext cx="10565130" cy="3175"/>
          </a:xfrm>
          <a:custGeom>
            <a:avLst/>
            <a:gdLst/>
            <a:ahLst/>
            <a:cxnLst/>
            <a:rect l="l" t="t" r="r" b="b"/>
            <a:pathLst>
              <a:path w="10565130" h="3175">
                <a:moveTo>
                  <a:pt x="10565130" y="3048"/>
                </a:moveTo>
                <a:lnTo>
                  <a:pt x="10565130" y="0"/>
                </a:lnTo>
                <a:lnTo>
                  <a:pt x="0" y="0"/>
                </a:lnTo>
                <a:lnTo>
                  <a:pt x="0" y="3048"/>
                </a:lnTo>
                <a:lnTo>
                  <a:pt x="10565130" y="3048"/>
                </a:lnTo>
                <a:close/>
              </a:path>
            </a:pathLst>
          </a:custGeom>
          <a:solidFill>
            <a:srgbClr val="CB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19150" y="347725"/>
            <a:ext cx="10593196" cy="5723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44550" y="1327353"/>
            <a:ext cx="5730875" cy="1549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31611" y="6276791"/>
            <a:ext cx="1130300" cy="210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Pilani</a:t>
            </a:r>
            <a:endParaRPr kumimoji="0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91794" y="6276028"/>
            <a:ext cx="1085214" cy="21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CF287C-06DC-41BA-BDC9-84A73F3E3A23}" type="datetime1">
              <a:rPr kumimoji="0" lang="en-US" sz="1200" b="0" i="0" u="none" strike="noStrike" kern="0" cap="none" spc="-1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8/17/2026</a:t>
            </a:fld>
            <a:endParaRPr kumimoji="0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952988" y="6276028"/>
            <a:ext cx="384399" cy="2146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65917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hf hd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g"/><Relationship Id="rId3" Type="http://schemas.openxmlformats.org/officeDocument/2006/relationships/image" Target="../media/image22.jp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jpg"/><Relationship Id="rId10" Type="http://schemas.openxmlformats.org/officeDocument/2006/relationships/image" Target="../media/image29.jpg"/><Relationship Id="rId4" Type="http://schemas.openxmlformats.org/officeDocument/2006/relationships/image" Target="../media/image23.jpg"/><Relationship Id="rId9" Type="http://schemas.openxmlformats.org/officeDocument/2006/relationships/image" Target="../media/image28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10" Type="http://schemas.openxmlformats.org/officeDocument/2006/relationships/image" Target="../media/image78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g"/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g"/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jp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jp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jp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jpg"/><Relationship Id="rId2" Type="http://schemas.openxmlformats.org/officeDocument/2006/relationships/image" Target="../media/image11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jp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jp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jpg"/><Relationship Id="rId2" Type="http://schemas.openxmlformats.org/officeDocument/2006/relationships/image" Target="../media/image12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5.jpg"/><Relationship Id="rId4" Type="http://schemas.openxmlformats.org/officeDocument/2006/relationships/image" Target="../media/image124.jp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8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jp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1.jp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3" Type="http://schemas.openxmlformats.org/officeDocument/2006/relationships/image" Target="../media/image134.png"/><Relationship Id="rId7" Type="http://schemas.openxmlformats.org/officeDocument/2006/relationships/image" Target="../media/image138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.png"/><Relationship Id="rId5" Type="http://schemas.openxmlformats.org/officeDocument/2006/relationships/image" Target="../media/image136.png"/><Relationship Id="rId4" Type="http://schemas.openxmlformats.org/officeDocument/2006/relationships/image" Target="../media/image135.png"/><Relationship Id="rId9" Type="http://schemas.openxmlformats.org/officeDocument/2006/relationships/image" Target="../media/image140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jp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5.jp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1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jpg"/><Relationship Id="rId2" Type="http://schemas.openxmlformats.org/officeDocument/2006/relationships/image" Target="../media/image148.jp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3.jpg"/><Relationship Id="rId4" Type="http://schemas.openxmlformats.org/officeDocument/2006/relationships/image" Target="../media/image152.pn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i.com/analogrefguide" TargetMode="External"/><Relationship Id="rId2" Type="http://schemas.openxmlformats.org/officeDocument/2006/relationships/hyperlink" Target="https://lpsa.swarthmore.edu/Nyquist/Nyquist.html" TargetMode="Externa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jpg"/><Relationship Id="rId2" Type="http://schemas.openxmlformats.org/officeDocument/2006/relationships/image" Target="../media/image154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7.png"/><Relationship Id="rId4" Type="http://schemas.openxmlformats.org/officeDocument/2006/relationships/image" Target="../media/image156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jpg"/><Relationship Id="rId7" Type="http://schemas.openxmlformats.org/officeDocument/2006/relationships/image" Target="../media/image163.png"/><Relationship Id="rId2" Type="http://schemas.openxmlformats.org/officeDocument/2006/relationships/image" Target="../media/image158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2.png"/><Relationship Id="rId5" Type="http://schemas.openxmlformats.org/officeDocument/2006/relationships/image" Target="../media/image161.jpg"/><Relationship Id="rId4" Type="http://schemas.openxmlformats.org/officeDocument/2006/relationships/image" Target="../media/image160.jp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jp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/>
          <p:nvPr/>
        </p:nvSpPr>
        <p:spPr>
          <a:xfrm>
            <a:off x="2169075" y="953173"/>
            <a:ext cx="8444910" cy="5847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EB5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Advance Analog and Mixed Signal Design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sz="36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/>
              <a:ea typeface="+mn-ea"/>
              <a:cs typeface="Calibri Light"/>
            </a:endParaRPr>
          </a:p>
          <a:p>
            <a:pPr marL="1928495" marR="1921510" lvl="0" indent="-1270" algn="ctr" defTabSz="914400" rtl="0" eaLnBrk="1" fontAlgn="auto" latinLnBrk="0" hangingPunct="1">
              <a:lnSpc>
                <a:spcPts val="389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1" i="0" u="none" strike="noStrike" kern="0" cap="none" spc="-25" normalizeH="0" baseline="0" noProof="0" smtClean="0">
                <a:ln>
                  <a:noFill/>
                </a:ln>
                <a:solidFill>
                  <a:srgbClr val="8AA7DA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Lecture</a:t>
            </a:r>
            <a:r>
              <a:rPr kumimoji="0" sz="3600" b="1" i="0" u="none" strike="noStrike" kern="0" cap="none" spc="-165" normalizeH="0" baseline="0" noProof="0" smtClean="0">
                <a:ln>
                  <a:noFill/>
                </a:ln>
                <a:solidFill>
                  <a:srgbClr val="8AA7DA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 </a:t>
            </a:r>
            <a:r>
              <a:rPr kumimoji="0" sz="3600" b="1" i="0" u="none" strike="noStrike" kern="0" cap="none" spc="-25" normalizeH="0" baseline="0" noProof="0" smtClean="0">
                <a:ln>
                  <a:noFill/>
                </a:ln>
                <a:solidFill>
                  <a:srgbClr val="8AA7DA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 </a:t>
            </a:r>
            <a:r>
              <a:rPr kumimoji="0" lang="en-US" sz="3600" b="1" i="0" u="none" strike="noStrike" kern="0" cap="none" spc="-25" normalizeH="0" baseline="0" noProof="0" smtClean="0">
                <a:ln>
                  <a:noFill/>
                </a:ln>
                <a:solidFill>
                  <a:srgbClr val="8AA7DA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7</a:t>
            </a:r>
          </a:p>
          <a:p>
            <a:pPr marL="1928495" marR="1921510" lvl="0" indent="-1270" algn="ctr" defTabSz="914400" rtl="0" eaLnBrk="1" fontAlgn="auto" latinLnBrk="0" hangingPunct="1">
              <a:lnSpc>
                <a:spcPts val="389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fkGrotesk"/>
                <a:ea typeface="+mn-ea"/>
                <a:cs typeface="+mn-cs"/>
              </a:rPr>
              <a:t>Amplifier </a:t>
            </a: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fkGrotesk"/>
                <a:ea typeface="+mn-ea"/>
                <a:cs typeface="+mn-cs"/>
              </a:rPr>
              <a:t>Stability</a:t>
            </a:r>
            <a:endParaRPr kumimoji="0" lang="en-US" sz="3600" b="0" i="0" u="none" strike="noStrike" kern="120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fkGrotesk"/>
              <a:ea typeface="+mn-ea"/>
              <a:cs typeface="+mn-cs"/>
            </a:endParaRPr>
          </a:p>
          <a:p>
            <a:pPr marL="1928495" marR="1921510" lvl="0" indent="-1270" algn="ctr" defTabSz="914400" rtl="0" eaLnBrk="1" fontAlgn="auto" latinLnBrk="0" hangingPunct="1">
              <a:lnSpc>
                <a:spcPts val="389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-10" normalizeH="0" baseline="0" noProof="0" dirty="0" smtClean="0">
              <a:ln>
                <a:noFill/>
              </a:ln>
              <a:solidFill>
                <a:srgbClr val="FFC000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928495" marR="1921510" lvl="0" indent="-1270" algn="ctr" defTabSz="914400" rtl="0" eaLnBrk="1" fontAlgn="auto" latinLnBrk="0" hangingPunct="1">
              <a:lnSpc>
                <a:spcPts val="389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-10" normalizeH="0" baseline="0" noProof="0" dirty="0" smtClean="0">
              <a:ln>
                <a:noFill/>
              </a:ln>
              <a:solidFill>
                <a:srgbClr val="FFC000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928495" marR="1921510" lvl="0" indent="-1270" algn="ctr" defTabSz="914400" rtl="0" eaLnBrk="1" fontAlgn="auto" latinLnBrk="0" hangingPunct="1">
              <a:lnSpc>
                <a:spcPts val="389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Dr.</a:t>
            </a:r>
            <a:r>
              <a:rPr kumimoji="0" sz="3200" b="1" i="0" u="none" strike="noStrike" kern="0" cap="none" spc="-75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 </a:t>
            </a:r>
            <a:r>
              <a:rPr kumimoji="0" lang="en-US" sz="3200" b="1" i="0" u="none" strike="noStrike" kern="0" cap="none" spc="-3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Neeraj Mishra</a:t>
            </a:r>
            <a:endParaRPr kumimoji="0" sz="3200" b="1" i="0" u="none" strike="noStrike" kern="0" cap="none" spc="0" normalizeH="0" baseline="0" noProof="0" dirty="0" smtClean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 Light"/>
              <a:ea typeface="+mn-ea"/>
              <a:cs typeface="Calibri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-1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High Performance Electronics Lab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 Light"/>
              <a:ea typeface="+mn-ea"/>
              <a:cs typeface="Calibri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Electrical &amp; </a:t>
            </a:r>
            <a:r>
              <a:rPr kumimoji="0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Electronic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s</a:t>
            </a:r>
            <a:r>
              <a:rPr kumimoji="0" sz="2400" b="0" i="0" u="none" strike="noStrike" kern="0" cap="none" spc="-4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Eng.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Dept.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 Light"/>
              <a:ea typeface="+mn-ea"/>
              <a:cs typeface="Calibri Light"/>
            </a:endParaRPr>
          </a:p>
          <a:p>
            <a:pPr marL="1697355" marR="169418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-1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Birla Institute of Technology &amp; Science </a:t>
            </a:r>
            <a:r>
              <a:rPr kumimoji="0" lang="en-US" sz="2400" b="0" i="0" u="none" strike="noStrike" kern="0" cap="none" spc="-1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Pilani</a:t>
            </a:r>
            <a:r>
              <a:rPr kumimoji="0" lang="en-US" sz="2400" b="0" i="0" u="none" strike="noStrike" kern="0" cap="none" spc="-1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, </a:t>
            </a:r>
            <a:r>
              <a:rPr kumimoji="0" lang="en-US" sz="2400" b="0" i="0" u="none" strike="noStrike" kern="0" cap="none" spc="-1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Pilani</a:t>
            </a:r>
            <a:r>
              <a:rPr kumimoji="0" lang="en-US" sz="2400" b="0" i="0" u="none" strike="noStrike" kern="0" cap="none" spc="-1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 Campus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 Light"/>
              <a:ea typeface="+mn-ea"/>
              <a:cs typeface="Calibri Light"/>
            </a:endParaRPr>
          </a:p>
        </p:txBody>
      </p:sp>
      <p:sp>
        <p:nvSpPr>
          <p:cNvPr id="5" name="object 3"/>
          <p:cNvSpPr/>
          <p:nvPr/>
        </p:nvSpPr>
        <p:spPr>
          <a:xfrm>
            <a:off x="10667" y="995172"/>
            <a:ext cx="12171045" cy="91440"/>
          </a:xfrm>
          <a:custGeom>
            <a:avLst/>
            <a:gdLst/>
            <a:ahLst/>
            <a:cxnLst/>
            <a:rect l="l" t="t" r="r" b="b"/>
            <a:pathLst>
              <a:path w="12171045" h="91440">
                <a:moveTo>
                  <a:pt x="12170664" y="0"/>
                </a:moveTo>
                <a:lnTo>
                  <a:pt x="0" y="0"/>
                </a:lnTo>
                <a:lnTo>
                  <a:pt x="0" y="91439"/>
                </a:lnTo>
                <a:lnTo>
                  <a:pt x="12170664" y="91439"/>
                </a:lnTo>
                <a:lnTo>
                  <a:pt x="12170664" y="0"/>
                </a:lnTo>
                <a:close/>
              </a:path>
            </a:pathLst>
          </a:custGeom>
          <a:solidFill>
            <a:srgbClr val="EEB5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bject 4"/>
          <p:cNvSpPr/>
          <p:nvPr/>
        </p:nvSpPr>
        <p:spPr>
          <a:xfrm>
            <a:off x="10667" y="2235707"/>
            <a:ext cx="12171045" cy="91440"/>
          </a:xfrm>
          <a:custGeom>
            <a:avLst/>
            <a:gdLst/>
            <a:ahLst/>
            <a:cxnLst/>
            <a:rect l="l" t="t" r="r" b="b"/>
            <a:pathLst>
              <a:path w="12171045" h="91439">
                <a:moveTo>
                  <a:pt x="12170664" y="0"/>
                </a:moveTo>
                <a:lnTo>
                  <a:pt x="0" y="0"/>
                </a:lnTo>
                <a:lnTo>
                  <a:pt x="0" y="91439"/>
                </a:lnTo>
                <a:lnTo>
                  <a:pt x="12170664" y="91439"/>
                </a:lnTo>
                <a:lnTo>
                  <a:pt x="12170664" y="0"/>
                </a:lnTo>
                <a:close/>
              </a:path>
            </a:pathLst>
          </a:custGeom>
          <a:solidFill>
            <a:srgbClr val="91BCE3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bject 5"/>
          <p:cNvSpPr/>
          <p:nvPr/>
        </p:nvSpPr>
        <p:spPr>
          <a:xfrm>
            <a:off x="20955" y="4283977"/>
            <a:ext cx="12171045" cy="91440"/>
          </a:xfrm>
          <a:custGeom>
            <a:avLst/>
            <a:gdLst/>
            <a:ahLst/>
            <a:cxnLst/>
            <a:rect l="l" t="t" r="r" b="b"/>
            <a:pathLst>
              <a:path w="12171045" h="91439">
                <a:moveTo>
                  <a:pt x="12170664" y="0"/>
                </a:moveTo>
                <a:lnTo>
                  <a:pt x="0" y="0"/>
                </a:lnTo>
                <a:lnTo>
                  <a:pt x="0" y="91439"/>
                </a:lnTo>
                <a:lnTo>
                  <a:pt x="12170664" y="91439"/>
                </a:lnTo>
                <a:lnTo>
                  <a:pt x="1217066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96" y="87966"/>
            <a:ext cx="3093560" cy="80232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8410" y="5828120"/>
            <a:ext cx="3113590" cy="102988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32FA8-38D0-4AE4-A108-A80A660220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4"/>
          <a:srcRect l="9470" t="6250" r="10038" b="7260"/>
          <a:stretch/>
        </p:blipFill>
        <p:spPr>
          <a:xfrm>
            <a:off x="0" y="5234093"/>
            <a:ext cx="1511300" cy="1623907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B97FB8-7783-4238-81BD-B99942EEB4D7}" type="datetime1">
              <a:rPr kumimoji="0" lang="en-US" sz="1200" b="0" i="0" u="none" strike="noStrike" kern="0" cap="none" spc="-1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8/17/2026</a:t>
            </a:fld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58068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Motivation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BC8A48D0-EF02-4DE6-BC31-ACDC46CA9BA0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462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5" name="object 5"/>
          <p:cNvSpPr txBox="1"/>
          <p:nvPr/>
        </p:nvSpPr>
        <p:spPr>
          <a:xfrm>
            <a:off x="773683" y="1255268"/>
            <a:ext cx="10328910" cy="2387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2600" marR="977900" indent="-470534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spc="-10" dirty="0">
                <a:latin typeface="Verdana"/>
                <a:cs typeface="Verdana"/>
              </a:rPr>
              <a:t>Operational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amplifiers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are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universal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building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block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most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analog </a:t>
            </a:r>
            <a:r>
              <a:rPr sz="2000" dirty="0">
                <a:latin typeface="Verdana"/>
                <a:cs typeface="Verdana"/>
              </a:rPr>
              <a:t>designers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will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design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one</a:t>
            </a:r>
            <a:endParaRPr sz="2000">
              <a:latin typeface="Verdana"/>
              <a:cs typeface="Verdana"/>
            </a:endParaRPr>
          </a:p>
          <a:p>
            <a:pPr marL="482600" marR="5080" indent="-470534">
              <a:lnSpc>
                <a:spcPct val="100000"/>
              </a:lnSpc>
              <a:spcBef>
                <a:spcPts val="60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An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oscillating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amplifier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designer’s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nightmare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leads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revisions.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Gain </a:t>
            </a:r>
            <a:r>
              <a:rPr sz="2000" dirty="0">
                <a:latin typeface="Verdana"/>
                <a:cs typeface="Verdana"/>
              </a:rPr>
              <a:t>peaking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or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settling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tails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can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be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detrimental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system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performance</a:t>
            </a:r>
            <a:endParaRPr sz="2000">
              <a:latin typeface="Verdana"/>
              <a:cs typeface="Verdana"/>
            </a:endParaRPr>
          </a:p>
          <a:p>
            <a:pPr marL="482600" marR="125730" indent="-470534">
              <a:lnSpc>
                <a:spcPct val="100000"/>
              </a:lnSpc>
              <a:spcBef>
                <a:spcPts val="60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From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practice,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more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time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spent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on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assuring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amplifier’s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stability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under </a:t>
            </a:r>
            <a:r>
              <a:rPr sz="2000" dirty="0">
                <a:latin typeface="Verdana"/>
                <a:cs typeface="Verdana"/>
              </a:rPr>
              <a:t>all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conditions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than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other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features</a:t>
            </a:r>
            <a:endParaRPr sz="20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spcBef>
                <a:spcPts val="60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Return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Investment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(ROI):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time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saved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&gt;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time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spent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73683" y="4899914"/>
            <a:ext cx="101898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2600" marR="5080" indent="-470534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We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will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focus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primarily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on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small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signal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stability,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touch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upon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large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signal </a:t>
            </a:r>
            <a:r>
              <a:rPr sz="2000" dirty="0">
                <a:latin typeface="Verdana"/>
                <a:cs typeface="Verdana"/>
              </a:rPr>
              <a:t>(conditional)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stability.</a:t>
            </a:r>
            <a:r>
              <a:rPr sz="2000" spc="-4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We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will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not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cover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stability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over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temperature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or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time.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3683" y="1465285"/>
            <a:ext cx="6087745" cy="284226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000" dirty="0">
                <a:latin typeface="Verdana"/>
                <a:cs typeface="Verdana"/>
              </a:rPr>
              <a:t>Definition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i="1" spc="-10" dirty="0">
                <a:latin typeface="Verdana"/>
                <a:cs typeface="Verdana"/>
              </a:rPr>
              <a:t>stability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solidFill>
                  <a:srgbClr val="CC0000"/>
                </a:solidFill>
                <a:latin typeface="Verdana"/>
                <a:cs typeface="Verdana"/>
              </a:rPr>
              <a:t>1</a:t>
            </a:r>
            <a:r>
              <a:rPr sz="2000" spc="145" dirty="0">
                <a:solidFill>
                  <a:srgbClr val="CC000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: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quality,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state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or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degree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being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stable:</a:t>
            </a:r>
            <a:endParaRPr sz="2000">
              <a:latin typeface="Verdana"/>
              <a:cs typeface="Verdana"/>
            </a:endParaRPr>
          </a:p>
          <a:p>
            <a:pPr marL="561340" indent="-365760">
              <a:lnSpc>
                <a:spcPct val="100000"/>
              </a:lnSpc>
              <a:spcBef>
                <a:spcPts val="434"/>
              </a:spcBef>
              <a:buClr>
                <a:srgbClr val="CC0000"/>
              </a:buClr>
              <a:buAutoNum type="alphaLcParenR"/>
              <a:tabLst>
                <a:tab pos="561340" algn="l"/>
              </a:tabLst>
            </a:pPr>
            <a:r>
              <a:rPr sz="1800" dirty="0">
                <a:latin typeface="Verdana"/>
                <a:cs typeface="Verdana"/>
              </a:rPr>
              <a:t>the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strength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stand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or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endure</a:t>
            </a:r>
            <a:endParaRPr sz="1800">
              <a:latin typeface="Verdana"/>
              <a:cs typeface="Verdana"/>
            </a:endParaRPr>
          </a:p>
          <a:p>
            <a:pPr marL="561340" marR="348615" indent="-365760">
              <a:lnSpc>
                <a:spcPct val="100000"/>
              </a:lnSpc>
              <a:spcBef>
                <a:spcPts val="430"/>
              </a:spcBef>
              <a:buClr>
                <a:srgbClr val="CC0000"/>
              </a:buClr>
              <a:buAutoNum type="alphaLcParenR"/>
              <a:tabLst>
                <a:tab pos="561340" algn="l"/>
              </a:tabLst>
            </a:pPr>
            <a:r>
              <a:rPr sz="1800" dirty="0">
                <a:latin typeface="Verdana"/>
                <a:cs typeface="Verdana"/>
              </a:rPr>
              <a:t>the property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body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that causes it </a:t>
            </a:r>
            <a:r>
              <a:rPr sz="1800" spc="-20" dirty="0">
                <a:latin typeface="Verdana"/>
                <a:cs typeface="Verdana"/>
              </a:rPr>
              <a:t>when </a:t>
            </a:r>
            <a:r>
              <a:rPr sz="1800" dirty="0">
                <a:latin typeface="Verdana"/>
                <a:cs typeface="Verdana"/>
              </a:rPr>
              <a:t>disturbed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from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condition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equilibrium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or </a:t>
            </a:r>
            <a:r>
              <a:rPr sz="1800" dirty="0">
                <a:latin typeface="Verdana"/>
                <a:cs typeface="Verdana"/>
              </a:rPr>
              <a:t>steady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motion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develop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forces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or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moments </a:t>
            </a:r>
            <a:r>
              <a:rPr sz="1800" dirty="0">
                <a:latin typeface="Verdana"/>
                <a:cs typeface="Verdana"/>
              </a:rPr>
              <a:t>that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restore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original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condition</a:t>
            </a:r>
            <a:endParaRPr sz="1800">
              <a:latin typeface="Verdana"/>
              <a:cs typeface="Verdana"/>
            </a:endParaRPr>
          </a:p>
          <a:p>
            <a:pPr marL="561340" marR="735965" indent="-365760">
              <a:lnSpc>
                <a:spcPct val="100000"/>
              </a:lnSpc>
              <a:spcBef>
                <a:spcPts val="430"/>
              </a:spcBef>
              <a:buClr>
                <a:srgbClr val="CC0000"/>
              </a:buClr>
              <a:buAutoNum type="alphaLcParenR"/>
              <a:tabLst>
                <a:tab pos="561340" algn="l"/>
              </a:tabLst>
            </a:pPr>
            <a:r>
              <a:rPr sz="1800" dirty="0">
                <a:latin typeface="Verdana"/>
                <a:cs typeface="Verdana"/>
              </a:rPr>
              <a:t>resistance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chemical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change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or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physical disintegration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936813" y="1568196"/>
            <a:ext cx="4559300" cy="2910840"/>
            <a:chOff x="6936813" y="1568196"/>
            <a:chExt cx="4559300" cy="291084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36813" y="1803237"/>
              <a:ext cx="4558718" cy="267579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950202" y="1568195"/>
              <a:ext cx="4545330" cy="2910840"/>
            </a:xfrm>
            <a:custGeom>
              <a:avLst/>
              <a:gdLst/>
              <a:ahLst/>
              <a:cxnLst/>
              <a:rect l="l" t="t" r="r" b="b"/>
              <a:pathLst>
                <a:path w="4545330" h="2910840">
                  <a:moveTo>
                    <a:pt x="4545330" y="0"/>
                  </a:moveTo>
                  <a:lnTo>
                    <a:pt x="0" y="0"/>
                  </a:lnTo>
                  <a:lnTo>
                    <a:pt x="0" y="330708"/>
                  </a:lnTo>
                  <a:lnTo>
                    <a:pt x="14478" y="330708"/>
                  </a:lnTo>
                  <a:lnTo>
                    <a:pt x="14478" y="2746248"/>
                  </a:lnTo>
                  <a:lnTo>
                    <a:pt x="315468" y="2746248"/>
                  </a:lnTo>
                  <a:lnTo>
                    <a:pt x="315468" y="2910840"/>
                  </a:lnTo>
                  <a:lnTo>
                    <a:pt x="4545330" y="2910840"/>
                  </a:lnTo>
                  <a:lnTo>
                    <a:pt x="4545330" y="2580894"/>
                  </a:lnTo>
                  <a:lnTo>
                    <a:pt x="585203" y="2580894"/>
                  </a:lnTo>
                  <a:lnTo>
                    <a:pt x="585203" y="330708"/>
                  </a:lnTo>
                  <a:lnTo>
                    <a:pt x="4545330" y="330708"/>
                  </a:lnTo>
                  <a:lnTo>
                    <a:pt x="45453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649966" y="4140961"/>
            <a:ext cx="5372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Verdana"/>
                <a:cs typeface="Verdana"/>
              </a:rPr>
              <a:t>time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05258" y="1978634"/>
            <a:ext cx="303530" cy="866140"/>
          </a:xfrm>
          <a:prstGeom prst="rect">
            <a:avLst/>
          </a:prstGeom>
        </p:spPr>
        <p:txBody>
          <a:bodyPr vert="vert270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10" dirty="0">
                <a:latin typeface="Verdana"/>
                <a:cs typeface="Verdana"/>
              </a:rPr>
              <a:t>voltage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506461" y="1898903"/>
            <a:ext cx="3855720" cy="2288540"/>
          </a:xfrm>
          <a:custGeom>
            <a:avLst/>
            <a:gdLst/>
            <a:ahLst/>
            <a:cxnLst/>
            <a:rect l="l" t="t" r="r" b="b"/>
            <a:pathLst>
              <a:path w="3855720" h="2288540">
                <a:moveTo>
                  <a:pt x="3855720" y="2250186"/>
                </a:moveTo>
                <a:lnTo>
                  <a:pt x="3728466" y="2212086"/>
                </a:lnTo>
                <a:lnTo>
                  <a:pt x="3728466" y="2237232"/>
                </a:lnTo>
                <a:lnTo>
                  <a:pt x="41960" y="2237232"/>
                </a:lnTo>
                <a:lnTo>
                  <a:pt x="50241" y="127000"/>
                </a:lnTo>
                <a:lnTo>
                  <a:pt x="76200" y="127254"/>
                </a:lnTo>
                <a:lnTo>
                  <a:pt x="38100" y="0"/>
                </a:lnTo>
                <a:lnTo>
                  <a:pt x="0" y="126492"/>
                </a:lnTo>
                <a:lnTo>
                  <a:pt x="16002" y="126657"/>
                </a:lnTo>
                <a:lnTo>
                  <a:pt x="25082" y="126746"/>
                </a:lnTo>
                <a:lnTo>
                  <a:pt x="16002" y="2250186"/>
                </a:lnTo>
                <a:lnTo>
                  <a:pt x="16002" y="2257044"/>
                </a:lnTo>
                <a:lnTo>
                  <a:pt x="22098" y="2262378"/>
                </a:lnTo>
                <a:lnTo>
                  <a:pt x="31242" y="2262378"/>
                </a:lnTo>
                <a:lnTo>
                  <a:pt x="35814" y="2262378"/>
                </a:lnTo>
                <a:lnTo>
                  <a:pt x="3728466" y="2262378"/>
                </a:lnTo>
                <a:lnTo>
                  <a:pt x="3728466" y="2288286"/>
                </a:lnTo>
                <a:lnTo>
                  <a:pt x="3754374" y="2280539"/>
                </a:lnTo>
                <a:lnTo>
                  <a:pt x="3855720" y="2250186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F30EBF4F-6A71-489C-83B9-0AF0FF6D45AF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462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15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Benefits</a:t>
            </a:r>
            <a:r>
              <a:rPr spc="-1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10" dirty="0"/>
              <a:t>Challenges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73683" y="1210310"/>
            <a:ext cx="10580370" cy="2844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2600" marR="1468120" indent="-470534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There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are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over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15000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commercially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available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operational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amplifiers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much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more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integrated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inside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mixed-</a:t>
            </a:r>
            <a:r>
              <a:rPr sz="2000" dirty="0">
                <a:latin typeface="Verdana"/>
                <a:cs typeface="Verdana"/>
              </a:rPr>
              <a:t>signal</a:t>
            </a:r>
            <a:r>
              <a:rPr sz="2000" spc="-25" dirty="0">
                <a:latin typeface="Verdana"/>
                <a:cs typeface="Verdana"/>
              </a:rPr>
              <a:t> ICs</a:t>
            </a:r>
            <a:endParaRPr sz="20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spcBef>
                <a:spcPts val="60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Variety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due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many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different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optimization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objectives</a:t>
            </a:r>
            <a:endParaRPr sz="20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spcBef>
                <a:spcPts val="60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They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must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robust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variety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operating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conditions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feedback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variations</a:t>
            </a:r>
            <a:endParaRPr sz="20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spcBef>
                <a:spcPts val="60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For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optimum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performance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one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must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trade-off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conflicting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requirements</a:t>
            </a:r>
            <a:endParaRPr sz="2000">
              <a:latin typeface="Verdana"/>
              <a:cs typeface="Verdana"/>
            </a:endParaRPr>
          </a:p>
          <a:p>
            <a:pPr marL="482600" marR="349885" indent="-470534">
              <a:lnSpc>
                <a:spcPct val="100000"/>
              </a:lnSpc>
              <a:spcBef>
                <a:spcPts val="60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Poor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compensation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leads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worse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case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system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failure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best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case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to </a:t>
            </a:r>
            <a:r>
              <a:rPr sz="2000" dirty="0">
                <a:latin typeface="Verdana"/>
                <a:cs typeface="Verdana"/>
              </a:rPr>
              <a:t>wasted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power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area</a:t>
            </a:r>
            <a:endParaRPr sz="20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spcBef>
                <a:spcPts val="60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Concepts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are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applicable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other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circuits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(i.e.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regulators,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references,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etc.)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828544" y="4339018"/>
            <a:ext cx="1419225" cy="1442085"/>
            <a:chOff x="2828544" y="4339018"/>
            <a:chExt cx="1419225" cy="1442085"/>
          </a:xfrm>
        </p:grpSpPr>
        <p:sp>
          <p:nvSpPr>
            <p:cNvPr id="5" name="object 5"/>
            <p:cNvSpPr/>
            <p:nvPr/>
          </p:nvSpPr>
          <p:spPr>
            <a:xfrm>
              <a:off x="2885694" y="4514849"/>
              <a:ext cx="0" cy="1199515"/>
            </a:xfrm>
            <a:custGeom>
              <a:avLst/>
              <a:gdLst/>
              <a:ahLst/>
              <a:cxnLst/>
              <a:rect l="l" t="t" r="r" b="b"/>
              <a:pathLst>
                <a:path h="1199514">
                  <a:moveTo>
                    <a:pt x="0" y="1199388"/>
                  </a:moveTo>
                  <a:lnTo>
                    <a:pt x="0" y="0"/>
                  </a:lnTo>
                </a:path>
              </a:pathLst>
            </a:custGeom>
            <a:ln w="2856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28544" y="4353305"/>
              <a:ext cx="114300" cy="180975"/>
            </a:xfrm>
            <a:custGeom>
              <a:avLst/>
              <a:gdLst/>
              <a:ahLst/>
              <a:cxnLst/>
              <a:rect l="l" t="t" r="r" b="b"/>
              <a:pathLst>
                <a:path w="114300" h="180975">
                  <a:moveTo>
                    <a:pt x="114300" y="180594"/>
                  </a:moveTo>
                  <a:lnTo>
                    <a:pt x="57149" y="0"/>
                  </a:lnTo>
                  <a:lnTo>
                    <a:pt x="0" y="180594"/>
                  </a:lnTo>
                  <a:lnTo>
                    <a:pt x="114300" y="180594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85694" y="5714238"/>
              <a:ext cx="1200150" cy="0"/>
            </a:xfrm>
            <a:custGeom>
              <a:avLst/>
              <a:gdLst/>
              <a:ahLst/>
              <a:cxnLst/>
              <a:rect l="l" t="t" r="r" b="b"/>
              <a:pathLst>
                <a:path w="1200150">
                  <a:moveTo>
                    <a:pt x="0" y="0"/>
                  </a:moveTo>
                  <a:lnTo>
                    <a:pt x="1200150" y="0"/>
                  </a:lnTo>
                </a:path>
              </a:pathLst>
            </a:custGeom>
            <a:ln w="2856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066794" y="5657088"/>
              <a:ext cx="180975" cy="123825"/>
            </a:xfrm>
            <a:custGeom>
              <a:avLst/>
              <a:gdLst/>
              <a:ahLst/>
              <a:cxnLst/>
              <a:rect l="l" t="t" r="r" b="b"/>
              <a:pathLst>
                <a:path w="180975" h="123825">
                  <a:moveTo>
                    <a:pt x="180594" y="57149"/>
                  </a:moveTo>
                  <a:lnTo>
                    <a:pt x="0" y="0"/>
                  </a:lnTo>
                  <a:lnTo>
                    <a:pt x="0" y="123444"/>
                  </a:lnTo>
                  <a:lnTo>
                    <a:pt x="180594" y="57149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14294" y="4581905"/>
              <a:ext cx="904875" cy="904240"/>
            </a:xfrm>
            <a:custGeom>
              <a:avLst/>
              <a:gdLst/>
              <a:ahLst/>
              <a:cxnLst/>
              <a:rect l="l" t="t" r="r" b="b"/>
              <a:pathLst>
                <a:path w="904875" h="904239">
                  <a:moveTo>
                    <a:pt x="0" y="903732"/>
                  </a:moveTo>
                  <a:lnTo>
                    <a:pt x="904493" y="0"/>
                  </a:lnTo>
                </a:path>
              </a:pathLst>
            </a:custGeom>
            <a:ln w="28562">
              <a:solidFill>
                <a:srgbClr val="3265F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14294" y="4353305"/>
              <a:ext cx="904875" cy="913765"/>
            </a:xfrm>
            <a:custGeom>
              <a:avLst/>
              <a:gdLst/>
              <a:ahLst/>
              <a:cxnLst/>
              <a:rect l="l" t="t" r="r" b="b"/>
              <a:pathLst>
                <a:path w="904875" h="913764">
                  <a:moveTo>
                    <a:pt x="0" y="913638"/>
                  </a:moveTo>
                  <a:lnTo>
                    <a:pt x="904494" y="0"/>
                  </a:lnTo>
                </a:path>
              </a:pathLst>
            </a:custGeom>
            <a:ln w="2856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4456938" y="4339018"/>
            <a:ext cx="1428750" cy="1442085"/>
            <a:chOff x="4456938" y="4339018"/>
            <a:chExt cx="1428750" cy="1442085"/>
          </a:xfrm>
        </p:grpSpPr>
        <p:sp>
          <p:nvSpPr>
            <p:cNvPr id="12" name="object 12"/>
            <p:cNvSpPr/>
            <p:nvPr/>
          </p:nvSpPr>
          <p:spPr>
            <a:xfrm>
              <a:off x="4523994" y="4514849"/>
              <a:ext cx="0" cy="1199515"/>
            </a:xfrm>
            <a:custGeom>
              <a:avLst/>
              <a:gdLst/>
              <a:ahLst/>
              <a:cxnLst/>
              <a:rect l="l" t="t" r="r" b="b"/>
              <a:pathLst>
                <a:path h="1199514">
                  <a:moveTo>
                    <a:pt x="0" y="1199388"/>
                  </a:moveTo>
                  <a:lnTo>
                    <a:pt x="0" y="0"/>
                  </a:lnTo>
                </a:path>
              </a:pathLst>
            </a:custGeom>
            <a:ln w="2856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456938" y="4353305"/>
              <a:ext cx="123825" cy="180975"/>
            </a:xfrm>
            <a:custGeom>
              <a:avLst/>
              <a:gdLst/>
              <a:ahLst/>
              <a:cxnLst/>
              <a:rect l="l" t="t" r="r" b="b"/>
              <a:pathLst>
                <a:path w="123825" h="180975">
                  <a:moveTo>
                    <a:pt x="123444" y="180594"/>
                  </a:moveTo>
                  <a:lnTo>
                    <a:pt x="67055" y="0"/>
                  </a:lnTo>
                  <a:lnTo>
                    <a:pt x="0" y="180594"/>
                  </a:lnTo>
                  <a:lnTo>
                    <a:pt x="123444" y="180594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3994" y="5714238"/>
              <a:ext cx="1199515" cy="0"/>
            </a:xfrm>
            <a:custGeom>
              <a:avLst/>
              <a:gdLst/>
              <a:ahLst/>
              <a:cxnLst/>
              <a:rect l="l" t="t" r="r" b="b"/>
              <a:pathLst>
                <a:path w="1199514">
                  <a:moveTo>
                    <a:pt x="0" y="0"/>
                  </a:moveTo>
                  <a:lnTo>
                    <a:pt x="1199388" y="0"/>
                  </a:lnTo>
                </a:path>
              </a:pathLst>
            </a:custGeom>
            <a:ln w="2856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704332" y="5657088"/>
              <a:ext cx="181610" cy="123825"/>
            </a:xfrm>
            <a:custGeom>
              <a:avLst/>
              <a:gdLst/>
              <a:ahLst/>
              <a:cxnLst/>
              <a:rect l="l" t="t" r="r" b="b"/>
              <a:pathLst>
                <a:path w="181610" h="123825">
                  <a:moveTo>
                    <a:pt x="181356" y="57149"/>
                  </a:moveTo>
                  <a:lnTo>
                    <a:pt x="0" y="0"/>
                  </a:lnTo>
                  <a:lnTo>
                    <a:pt x="0" y="123444"/>
                  </a:lnTo>
                  <a:lnTo>
                    <a:pt x="181356" y="57149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656582" y="4353305"/>
              <a:ext cx="914400" cy="913765"/>
            </a:xfrm>
            <a:custGeom>
              <a:avLst/>
              <a:gdLst/>
              <a:ahLst/>
              <a:cxnLst/>
              <a:rect l="l" t="t" r="r" b="b"/>
              <a:pathLst>
                <a:path w="914400" h="913764">
                  <a:moveTo>
                    <a:pt x="0" y="0"/>
                  </a:moveTo>
                  <a:lnTo>
                    <a:pt x="914400" y="913638"/>
                  </a:lnTo>
                </a:path>
              </a:pathLst>
            </a:custGeom>
            <a:ln w="28562">
              <a:solidFill>
                <a:srgbClr val="3265F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656582" y="4353305"/>
              <a:ext cx="914400" cy="228600"/>
            </a:xfrm>
            <a:custGeom>
              <a:avLst/>
              <a:gdLst/>
              <a:ahLst/>
              <a:cxnLst/>
              <a:rect l="l" t="t" r="r" b="b"/>
              <a:pathLst>
                <a:path w="914400" h="228600">
                  <a:moveTo>
                    <a:pt x="0" y="0"/>
                  </a:moveTo>
                  <a:lnTo>
                    <a:pt x="914400" y="228599"/>
                  </a:lnTo>
                </a:path>
              </a:pathLst>
            </a:custGeom>
            <a:ln w="2856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6056376" y="4339018"/>
            <a:ext cx="1419225" cy="1442085"/>
            <a:chOff x="6056376" y="4339018"/>
            <a:chExt cx="1419225" cy="1442085"/>
          </a:xfrm>
        </p:grpSpPr>
        <p:sp>
          <p:nvSpPr>
            <p:cNvPr id="19" name="object 19"/>
            <p:cNvSpPr/>
            <p:nvPr/>
          </p:nvSpPr>
          <p:spPr>
            <a:xfrm>
              <a:off x="6113526" y="4514849"/>
              <a:ext cx="0" cy="1199515"/>
            </a:xfrm>
            <a:custGeom>
              <a:avLst/>
              <a:gdLst/>
              <a:ahLst/>
              <a:cxnLst/>
              <a:rect l="l" t="t" r="r" b="b"/>
              <a:pathLst>
                <a:path h="1199514">
                  <a:moveTo>
                    <a:pt x="0" y="1199388"/>
                  </a:moveTo>
                  <a:lnTo>
                    <a:pt x="0" y="0"/>
                  </a:lnTo>
                </a:path>
              </a:pathLst>
            </a:custGeom>
            <a:ln w="2856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056376" y="4353305"/>
              <a:ext cx="114300" cy="180975"/>
            </a:xfrm>
            <a:custGeom>
              <a:avLst/>
              <a:gdLst/>
              <a:ahLst/>
              <a:cxnLst/>
              <a:rect l="l" t="t" r="r" b="b"/>
              <a:pathLst>
                <a:path w="114300" h="180975">
                  <a:moveTo>
                    <a:pt x="114300" y="180593"/>
                  </a:moveTo>
                  <a:lnTo>
                    <a:pt x="57149" y="0"/>
                  </a:lnTo>
                  <a:lnTo>
                    <a:pt x="0" y="180593"/>
                  </a:lnTo>
                  <a:lnTo>
                    <a:pt x="114300" y="180593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113526" y="5714238"/>
              <a:ext cx="1200150" cy="0"/>
            </a:xfrm>
            <a:custGeom>
              <a:avLst/>
              <a:gdLst/>
              <a:ahLst/>
              <a:cxnLst/>
              <a:rect l="l" t="t" r="r" b="b"/>
              <a:pathLst>
                <a:path w="1200150">
                  <a:moveTo>
                    <a:pt x="0" y="0"/>
                  </a:moveTo>
                  <a:lnTo>
                    <a:pt x="1200150" y="0"/>
                  </a:lnTo>
                </a:path>
              </a:pathLst>
            </a:custGeom>
            <a:ln w="2856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294626" y="5657088"/>
              <a:ext cx="180975" cy="123825"/>
            </a:xfrm>
            <a:custGeom>
              <a:avLst/>
              <a:gdLst/>
              <a:ahLst/>
              <a:cxnLst/>
              <a:rect l="l" t="t" r="r" b="b"/>
              <a:pathLst>
                <a:path w="180975" h="123825">
                  <a:moveTo>
                    <a:pt x="180594" y="57149"/>
                  </a:moveTo>
                  <a:lnTo>
                    <a:pt x="0" y="0"/>
                  </a:lnTo>
                  <a:lnTo>
                    <a:pt x="0" y="123444"/>
                  </a:lnTo>
                  <a:lnTo>
                    <a:pt x="180594" y="57149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342126" y="4353305"/>
              <a:ext cx="914400" cy="913765"/>
            </a:xfrm>
            <a:custGeom>
              <a:avLst/>
              <a:gdLst/>
              <a:ahLst/>
              <a:cxnLst/>
              <a:rect l="l" t="t" r="r" b="b"/>
              <a:pathLst>
                <a:path w="914400" h="913764">
                  <a:moveTo>
                    <a:pt x="0" y="0"/>
                  </a:moveTo>
                  <a:lnTo>
                    <a:pt x="914400" y="913638"/>
                  </a:lnTo>
                </a:path>
              </a:pathLst>
            </a:custGeom>
            <a:ln w="28562">
              <a:solidFill>
                <a:srgbClr val="3265F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342126" y="4353305"/>
              <a:ext cx="914400" cy="228600"/>
            </a:xfrm>
            <a:custGeom>
              <a:avLst/>
              <a:gdLst/>
              <a:ahLst/>
              <a:cxnLst/>
              <a:rect l="l" t="t" r="r" b="b"/>
              <a:pathLst>
                <a:path w="914400" h="228600">
                  <a:moveTo>
                    <a:pt x="0" y="0"/>
                  </a:moveTo>
                  <a:lnTo>
                    <a:pt x="914400" y="228599"/>
                  </a:lnTo>
                </a:path>
              </a:pathLst>
            </a:custGeom>
            <a:ln w="2856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7675626" y="4353305"/>
            <a:ext cx="1428115" cy="1427480"/>
            <a:chOff x="7675626" y="4353305"/>
            <a:chExt cx="1428115" cy="1427480"/>
          </a:xfrm>
        </p:grpSpPr>
        <p:sp>
          <p:nvSpPr>
            <p:cNvPr id="26" name="object 26"/>
            <p:cNvSpPr/>
            <p:nvPr/>
          </p:nvSpPr>
          <p:spPr>
            <a:xfrm>
              <a:off x="7741920" y="4514849"/>
              <a:ext cx="0" cy="1199515"/>
            </a:xfrm>
            <a:custGeom>
              <a:avLst/>
              <a:gdLst/>
              <a:ahLst/>
              <a:cxnLst/>
              <a:rect l="l" t="t" r="r" b="b"/>
              <a:pathLst>
                <a:path h="1199514">
                  <a:moveTo>
                    <a:pt x="0" y="1199388"/>
                  </a:moveTo>
                  <a:lnTo>
                    <a:pt x="0" y="0"/>
                  </a:lnTo>
                </a:path>
              </a:pathLst>
            </a:custGeom>
            <a:ln w="2856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675626" y="4353305"/>
              <a:ext cx="123825" cy="180975"/>
            </a:xfrm>
            <a:custGeom>
              <a:avLst/>
              <a:gdLst/>
              <a:ahLst/>
              <a:cxnLst/>
              <a:rect l="l" t="t" r="r" b="b"/>
              <a:pathLst>
                <a:path w="123825" h="180975">
                  <a:moveTo>
                    <a:pt x="123444" y="180593"/>
                  </a:moveTo>
                  <a:lnTo>
                    <a:pt x="66293" y="0"/>
                  </a:lnTo>
                  <a:lnTo>
                    <a:pt x="0" y="180593"/>
                  </a:lnTo>
                  <a:lnTo>
                    <a:pt x="123444" y="180593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741920" y="5714238"/>
              <a:ext cx="1200150" cy="0"/>
            </a:xfrm>
            <a:custGeom>
              <a:avLst/>
              <a:gdLst/>
              <a:ahLst/>
              <a:cxnLst/>
              <a:rect l="l" t="t" r="r" b="b"/>
              <a:pathLst>
                <a:path w="1200150">
                  <a:moveTo>
                    <a:pt x="0" y="0"/>
                  </a:moveTo>
                  <a:lnTo>
                    <a:pt x="1200150" y="0"/>
                  </a:lnTo>
                </a:path>
              </a:pathLst>
            </a:custGeom>
            <a:ln w="2856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923020" y="5657088"/>
              <a:ext cx="180975" cy="123825"/>
            </a:xfrm>
            <a:custGeom>
              <a:avLst/>
              <a:gdLst/>
              <a:ahLst/>
              <a:cxnLst/>
              <a:rect l="l" t="t" r="r" b="b"/>
              <a:pathLst>
                <a:path w="180975" h="123825">
                  <a:moveTo>
                    <a:pt x="180594" y="57149"/>
                  </a:moveTo>
                  <a:lnTo>
                    <a:pt x="0" y="0"/>
                  </a:lnTo>
                  <a:lnTo>
                    <a:pt x="0" y="123444"/>
                  </a:lnTo>
                  <a:lnTo>
                    <a:pt x="180594" y="57149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970520" y="4809743"/>
              <a:ext cx="819150" cy="457200"/>
            </a:xfrm>
            <a:custGeom>
              <a:avLst/>
              <a:gdLst/>
              <a:ahLst/>
              <a:cxnLst/>
              <a:rect l="l" t="t" r="r" b="b"/>
              <a:pathLst>
                <a:path w="819150" h="457200">
                  <a:moveTo>
                    <a:pt x="0" y="0"/>
                  </a:moveTo>
                  <a:lnTo>
                    <a:pt x="819150" y="457200"/>
                  </a:lnTo>
                </a:path>
              </a:pathLst>
            </a:custGeom>
            <a:ln w="28562">
              <a:solidFill>
                <a:srgbClr val="3265F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427720" y="4809743"/>
              <a:ext cx="361950" cy="181610"/>
            </a:xfrm>
            <a:custGeom>
              <a:avLst/>
              <a:gdLst/>
              <a:ahLst/>
              <a:cxnLst/>
              <a:rect l="l" t="t" r="r" b="b"/>
              <a:pathLst>
                <a:path w="361950" h="181610">
                  <a:moveTo>
                    <a:pt x="0" y="0"/>
                  </a:moveTo>
                  <a:lnTo>
                    <a:pt x="361950" y="181355"/>
                  </a:lnTo>
                </a:path>
              </a:pathLst>
            </a:custGeom>
            <a:ln w="2856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2569252" y="4368679"/>
            <a:ext cx="303530" cy="739775"/>
          </a:xfrm>
          <a:prstGeom prst="rect">
            <a:avLst/>
          </a:prstGeom>
        </p:spPr>
        <p:txBody>
          <a:bodyPr vert="vert270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10" dirty="0">
                <a:latin typeface="Verdana"/>
                <a:cs typeface="Verdana"/>
              </a:rPr>
              <a:t>Speed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189271" y="4368679"/>
            <a:ext cx="303530" cy="739775"/>
          </a:xfrm>
          <a:prstGeom prst="rect">
            <a:avLst/>
          </a:prstGeom>
        </p:spPr>
        <p:txBody>
          <a:bodyPr vert="vert270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10" dirty="0">
                <a:latin typeface="Verdana"/>
                <a:cs typeface="Verdana"/>
              </a:rPr>
              <a:t>Speed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764325" y="4368679"/>
            <a:ext cx="303530" cy="739775"/>
          </a:xfrm>
          <a:prstGeom prst="rect">
            <a:avLst/>
          </a:prstGeom>
        </p:spPr>
        <p:txBody>
          <a:bodyPr vert="vert270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10" dirty="0">
                <a:latin typeface="Verdana"/>
                <a:cs typeface="Verdana"/>
              </a:rPr>
              <a:t>Speed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487159" y="5745734"/>
            <a:ext cx="10496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Accuracy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037835" y="5745734"/>
            <a:ext cx="8775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Voltage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535179" y="5745734"/>
            <a:ext cx="718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Power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062521" y="5745734"/>
            <a:ext cx="1050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Accuracy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384329" y="4366479"/>
            <a:ext cx="303530" cy="718185"/>
          </a:xfrm>
          <a:prstGeom prst="rect">
            <a:avLst/>
          </a:prstGeom>
        </p:spPr>
        <p:txBody>
          <a:bodyPr vert="vert270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10" dirty="0">
                <a:latin typeface="Verdana"/>
                <a:cs typeface="Verdana"/>
              </a:rPr>
              <a:t>Power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40" name="object 4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84869" y="4900421"/>
            <a:ext cx="86868" cy="163830"/>
          </a:xfrm>
          <a:prstGeom prst="rect">
            <a:avLst/>
          </a:prstGeom>
        </p:spPr>
      </p:pic>
      <p:sp>
        <p:nvSpPr>
          <p:cNvPr id="41" name="object 41"/>
          <p:cNvSpPr/>
          <p:nvPr/>
        </p:nvSpPr>
        <p:spPr>
          <a:xfrm>
            <a:off x="6933438" y="4587240"/>
            <a:ext cx="147955" cy="276860"/>
          </a:xfrm>
          <a:custGeom>
            <a:avLst/>
            <a:gdLst/>
            <a:ahLst/>
            <a:cxnLst/>
            <a:rect l="l" t="t" r="r" b="b"/>
            <a:pathLst>
              <a:path w="147954" h="276860">
                <a:moveTo>
                  <a:pt x="121868" y="83160"/>
                </a:moveTo>
                <a:lnTo>
                  <a:pt x="96520" y="70612"/>
                </a:lnTo>
                <a:lnTo>
                  <a:pt x="0" y="263652"/>
                </a:lnTo>
                <a:lnTo>
                  <a:pt x="25146" y="276606"/>
                </a:lnTo>
                <a:lnTo>
                  <a:pt x="121868" y="83160"/>
                </a:lnTo>
                <a:close/>
              </a:path>
              <a:path w="147954" h="276860">
                <a:moveTo>
                  <a:pt x="147828" y="96012"/>
                </a:moveTo>
                <a:lnTo>
                  <a:pt x="147828" y="0"/>
                </a:lnTo>
                <a:lnTo>
                  <a:pt x="70866" y="57912"/>
                </a:lnTo>
                <a:lnTo>
                  <a:pt x="96520" y="70612"/>
                </a:lnTo>
                <a:lnTo>
                  <a:pt x="102870" y="57912"/>
                </a:lnTo>
                <a:lnTo>
                  <a:pt x="128016" y="70866"/>
                </a:lnTo>
                <a:lnTo>
                  <a:pt x="128016" y="86204"/>
                </a:lnTo>
                <a:lnTo>
                  <a:pt x="147828" y="96012"/>
                </a:lnTo>
                <a:close/>
              </a:path>
              <a:path w="147954" h="276860">
                <a:moveTo>
                  <a:pt x="128016" y="70866"/>
                </a:moveTo>
                <a:lnTo>
                  <a:pt x="102870" y="57912"/>
                </a:lnTo>
                <a:lnTo>
                  <a:pt x="96520" y="70612"/>
                </a:lnTo>
                <a:lnTo>
                  <a:pt x="121868" y="83160"/>
                </a:lnTo>
                <a:lnTo>
                  <a:pt x="128016" y="70866"/>
                </a:lnTo>
                <a:close/>
              </a:path>
              <a:path w="147954" h="276860">
                <a:moveTo>
                  <a:pt x="128016" y="86204"/>
                </a:moveTo>
                <a:lnTo>
                  <a:pt x="128016" y="70866"/>
                </a:lnTo>
                <a:lnTo>
                  <a:pt x="121868" y="83160"/>
                </a:lnTo>
                <a:lnTo>
                  <a:pt x="128016" y="86204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223509" y="4583429"/>
            <a:ext cx="147320" cy="276860"/>
          </a:xfrm>
          <a:custGeom>
            <a:avLst/>
            <a:gdLst/>
            <a:ahLst/>
            <a:cxnLst/>
            <a:rect l="l" t="t" r="r" b="b"/>
            <a:pathLst>
              <a:path w="147320" h="276860">
                <a:moveTo>
                  <a:pt x="121767" y="83362"/>
                </a:moveTo>
                <a:lnTo>
                  <a:pt x="96469" y="70713"/>
                </a:lnTo>
                <a:lnTo>
                  <a:pt x="0" y="263652"/>
                </a:lnTo>
                <a:lnTo>
                  <a:pt x="25146" y="276606"/>
                </a:lnTo>
                <a:lnTo>
                  <a:pt x="121767" y="83362"/>
                </a:lnTo>
                <a:close/>
              </a:path>
              <a:path w="147320" h="276860">
                <a:moveTo>
                  <a:pt x="147066" y="96012"/>
                </a:moveTo>
                <a:lnTo>
                  <a:pt x="147066" y="0"/>
                </a:lnTo>
                <a:lnTo>
                  <a:pt x="70866" y="57912"/>
                </a:lnTo>
                <a:lnTo>
                  <a:pt x="96469" y="70713"/>
                </a:lnTo>
                <a:lnTo>
                  <a:pt x="102870" y="57912"/>
                </a:lnTo>
                <a:lnTo>
                  <a:pt x="128016" y="70866"/>
                </a:lnTo>
                <a:lnTo>
                  <a:pt x="128016" y="86487"/>
                </a:lnTo>
                <a:lnTo>
                  <a:pt x="147066" y="96012"/>
                </a:lnTo>
                <a:close/>
              </a:path>
              <a:path w="147320" h="276860">
                <a:moveTo>
                  <a:pt x="128016" y="70866"/>
                </a:moveTo>
                <a:lnTo>
                  <a:pt x="102870" y="57912"/>
                </a:lnTo>
                <a:lnTo>
                  <a:pt x="96469" y="70713"/>
                </a:lnTo>
                <a:lnTo>
                  <a:pt x="121767" y="83362"/>
                </a:lnTo>
                <a:lnTo>
                  <a:pt x="128016" y="70866"/>
                </a:lnTo>
                <a:close/>
              </a:path>
              <a:path w="147320" h="276860">
                <a:moveTo>
                  <a:pt x="128016" y="86487"/>
                </a:moveTo>
                <a:lnTo>
                  <a:pt x="128016" y="70866"/>
                </a:lnTo>
                <a:lnTo>
                  <a:pt x="121767" y="83362"/>
                </a:lnTo>
                <a:lnTo>
                  <a:pt x="128016" y="86487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3" name="object 4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25773" y="4857750"/>
            <a:ext cx="131825" cy="131825"/>
          </a:xfrm>
          <a:prstGeom prst="rect">
            <a:avLst/>
          </a:prstGeom>
        </p:spPr>
      </p:pic>
      <p:sp>
        <p:nvSpPr>
          <p:cNvPr id="44" name="object 4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CD4FBD7D-879C-4002-87C2-52BB3E68EEC4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46" name="object 4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462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48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dirty="0"/>
              <a:t>Stable </a:t>
            </a:r>
            <a:r>
              <a:rPr spc="-10" dirty="0"/>
              <a:t>(enough?)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4644" y="1365757"/>
            <a:ext cx="5401945" cy="2463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2600" marR="563245" indent="-470534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Stability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requires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power,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die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area, </a:t>
            </a:r>
            <a:r>
              <a:rPr sz="2000" dirty="0">
                <a:latin typeface="Verdana"/>
                <a:cs typeface="Verdana"/>
              </a:rPr>
              <a:t>complexity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time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investments</a:t>
            </a:r>
            <a:endParaRPr sz="2000">
              <a:latin typeface="Verdana"/>
              <a:cs typeface="Verdana"/>
            </a:endParaRPr>
          </a:p>
          <a:p>
            <a:pPr marL="482600" marR="5080" indent="-470534">
              <a:lnSpc>
                <a:spcPct val="100000"/>
              </a:lnSpc>
              <a:spcBef>
                <a:spcPts val="120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Depends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on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operating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conditions,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load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system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configuration</a:t>
            </a:r>
            <a:endParaRPr sz="2000">
              <a:latin typeface="Verdana"/>
              <a:cs typeface="Verdana"/>
            </a:endParaRPr>
          </a:p>
          <a:p>
            <a:pPr marL="482600" marR="42545" indent="-470534">
              <a:lnSpc>
                <a:spcPct val="100000"/>
              </a:lnSpc>
              <a:spcBef>
                <a:spcPts val="120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Impact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key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amplifier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parameters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such </a:t>
            </a:r>
            <a:r>
              <a:rPr sz="2000" dirty="0">
                <a:latin typeface="Verdana"/>
                <a:cs typeface="Verdana"/>
              </a:rPr>
              <a:t>as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speed,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power,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settling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time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but </a:t>
            </a:r>
            <a:r>
              <a:rPr sz="2000" dirty="0">
                <a:latin typeface="Verdana"/>
                <a:cs typeface="Verdana"/>
              </a:rPr>
              <a:t>difficult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benchmark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844283" y="1691639"/>
            <a:ext cx="4589145" cy="3801745"/>
            <a:chOff x="6844283" y="1691639"/>
            <a:chExt cx="4589145" cy="38017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40993" y="2102651"/>
              <a:ext cx="4443353" cy="33675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844284" y="1691639"/>
              <a:ext cx="4589145" cy="3801745"/>
            </a:xfrm>
            <a:custGeom>
              <a:avLst/>
              <a:gdLst/>
              <a:ahLst/>
              <a:cxnLst/>
              <a:rect l="l" t="t" r="r" b="b"/>
              <a:pathLst>
                <a:path w="4589145" h="3801745">
                  <a:moveTo>
                    <a:pt x="4588764" y="3342894"/>
                  </a:moveTo>
                  <a:lnTo>
                    <a:pt x="606552" y="3342894"/>
                  </a:lnTo>
                  <a:lnTo>
                    <a:pt x="606552" y="0"/>
                  </a:lnTo>
                  <a:lnTo>
                    <a:pt x="0" y="0"/>
                  </a:lnTo>
                  <a:lnTo>
                    <a:pt x="0" y="3628644"/>
                  </a:lnTo>
                  <a:lnTo>
                    <a:pt x="511302" y="3628644"/>
                  </a:lnTo>
                  <a:lnTo>
                    <a:pt x="511302" y="3801618"/>
                  </a:lnTo>
                  <a:lnTo>
                    <a:pt x="4588764" y="3801618"/>
                  </a:lnTo>
                  <a:lnTo>
                    <a:pt x="4588764" y="33428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630916" y="5066029"/>
            <a:ext cx="5372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Verdana"/>
                <a:cs typeface="Verdana"/>
              </a:rPr>
              <a:t>time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98579" y="2262417"/>
            <a:ext cx="303530" cy="544195"/>
          </a:xfrm>
          <a:prstGeom prst="rect">
            <a:avLst/>
          </a:prstGeom>
        </p:spPr>
        <p:txBody>
          <a:bodyPr vert="vert270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20" dirty="0">
                <a:latin typeface="Verdana"/>
                <a:cs typeface="Verdana"/>
              </a:rPr>
              <a:t>Vout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506461" y="2071115"/>
            <a:ext cx="3760470" cy="2963545"/>
          </a:xfrm>
          <a:custGeom>
            <a:avLst/>
            <a:gdLst/>
            <a:ahLst/>
            <a:cxnLst/>
            <a:rect l="l" t="t" r="r" b="b"/>
            <a:pathLst>
              <a:path w="3760470" h="2963545">
                <a:moveTo>
                  <a:pt x="3760470" y="2943606"/>
                </a:moveTo>
                <a:lnTo>
                  <a:pt x="3754374" y="2937510"/>
                </a:lnTo>
                <a:lnTo>
                  <a:pt x="25146" y="2937510"/>
                </a:lnTo>
                <a:lnTo>
                  <a:pt x="25146" y="6096"/>
                </a:lnTo>
                <a:lnTo>
                  <a:pt x="19812" y="0"/>
                </a:lnTo>
                <a:lnTo>
                  <a:pt x="5334" y="0"/>
                </a:lnTo>
                <a:lnTo>
                  <a:pt x="0" y="6096"/>
                </a:lnTo>
                <a:lnTo>
                  <a:pt x="0" y="2943606"/>
                </a:lnTo>
                <a:lnTo>
                  <a:pt x="0" y="2950464"/>
                </a:lnTo>
                <a:lnTo>
                  <a:pt x="0" y="2957322"/>
                </a:lnTo>
                <a:lnTo>
                  <a:pt x="5334" y="2963418"/>
                </a:lnTo>
                <a:lnTo>
                  <a:pt x="19812" y="2963418"/>
                </a:lnTo>
                <a:lnTo>
                  <a:pt x="3754374" y="2963418"/>
                </a:lnTo>
                <a:lnTo>
                  <a:pt x="3760470" y="2957322"/>
                </a:lnTo>
                <a:lnTo>
                  <a:pt x="3760470" y="2943606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88211" y="4604258"/>
            <a:ext cx="64198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Cambria Math"/>
                <a:cs typeface="Cambria Math"/>
              </a:rPr>
              <a:t>𝐹𝑂𝑀: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969770" y="4789170"/>
            <a:ext cx="432434" cy="17145"/>
          </a:xfrm>
          <a:custGeom>
            <a:avLst/>
            <a:gdLst/>
            <a:ahLst/>
            <a:cxnLst/>
            <a:rect l="l" t="t" r="r" b="b"/>
            <a:pathLst>
              <a:path w="432435" h="17145">
                <a:moveTo>
                  <a:pt x="432054" y="16763"/>
                </a:moveTo>
                <a:lnTo>
                  <a:pt x="432054" y="0"/>
                </a:lnTo>
                <a:lnTo>
                  <a:pt x="0" y="0"/>
                </a:lnTo>
                <a:lnTo>
                  <a:pt x="0" y="16763"/>
                </a:lnTo>
                <a:lnTo>
                  <a:pt x="432054" y="167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733294" y="4789170"/>
            <a:ext cx="623570" cy="17145"/>
          </a:xfrm>
          <a:custGeom>
            <a:avLst/>
            <a:gdLst/>
            <a:ahLst/>
            <a:cxnLst/>
            <a:rect l="l" t="t" r="r" b="b"/>
            <a:pathLst>
              <a:path w="623570" h="17145">
                <a:moveTo>
                  <a:pt x="623315" y="16763"/>
                </a:moveTo>
                <a:lnTo>
                  <a:pt x="623315" y="0"/>
                </a:lnTo>
                <a:lnTo>
                  <a:pt x="0" y="0"/>
                </a:lnTo>
                <a:lnTo>
                  <a:pt x="0" y="16763"/>
                </a:lnTo>
                <a:lnTo>
                  <a:pt x="623315" y="167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706367" y="4789170"/>
            <a:ext cx="817880" cy="17145"/>
          </a:xfrm>
          <a:custGeom>
            <a:avLst/>
            <a:gdLst/>
            <a:ahLst/>
            <a:cxnLst/>
            <a:rect l="l" t="t" r="r" b="b"/>
            <a:pathLst>
              <a:path w="817879" h="17145">
                <a:moveTo>
                  <a:pt x="817626" y="16763"/>
                </a:moveTo>
                <a:lnTo>
                  <a:pt x="817626" y="0"/>
                </a:lnTo>
                <a:lnTo>
                  <a:pt x="0" y="0"/>
                </a:lnTo>
                <a:lnTo>
                  <a:pt x="0" y="16763"/>
                </a:lnTo>
                <a:lnTo>
                  <a:pt x="817626" y="167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919732" y="4400953"/>
            <a:ext cx="4146550" cy="64706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525"/>
              </a:spcBef>
              <a:tabLst>
                <a:tab pos="909319" algn="l"/>
                <a:tab pos="1526540" algn="l"/>
              </a:tabLst>
            </a:pPr>
            <a:r>
              <a:rPr sz="1450" spc="50" dirty="0">
                <a:latin typeface="Cambria Math"/>
                <a:cs typeface="Cambria Math"/>
              </a:rPr>
              <a:t>𝐺𝐵𝖶</a:t>
            </a:r>
            <a:r>
              <a:rPr sz="1450" spc="265" dirty="0">
                <a:latin typeface="Cambria Math"/>
                <a:cs typeface="Cambria Math"/>
              </a:rPr>
              <a:t> </a:t>
            </a:r>
            <a:r>
              <a:rPr sz="3000" spc="292" baseline="-31944" dirty="0">
                <a:latin typeface="Cambria Math"/>
                <a:cs typeface="Cambria Math"/>
              </a:rPr>
              <a:t>G</a:t>
            </a:r>
            <a:r>
              <a:rPr sz="3000" baseline="-31944" dirty="0">
                <a:latin typeface="Cambria Math"/>
                <a:cs typeface="Cambria Math"/>
              </a:rPr>
              <a:t>	</a:t>
            </a:r>
            <a:r>
              <a:rPr sz="1450" spc="25" dirty="0">
                <a:latin typeface="Cambria Math"/>
                <a:cs typeface="Cambria Math"/>
              </a:rPr>
              <a:t>𝐺𝐵𝖶</a:t>
            </a:r>
            <a:r>
              <a:rPr sz="1450" dirty="0">
                <a:latin typeface="Cambria Math"/>
                <a:cs typeface="Cambria Math"/>
              </a:rPr>
              <a:t>	</a:t>
            </a:r>
            <a:r>
              <a:rPr sz="3000" spc="382" baseline="-31944" dirty="0">
                <a:latin typeface="Cambria Math"/>
                <a:cs typeface="Cambria Math"/>
              </a:rPr>
              <a:t>G</a:t>
            </a:r>
            <a:r>
              <a:rPr sz="3000" spc="187" baseline="-31944" dirty="0">
                <a:latin typeface="Cambria Math"/>
                <a:cs typeface="Cambria Math"/>
              </a:rPr>
              <a:t> </a:t>
            </a:r>
            <a:r>
              <a:rPr sz="1450" spc="55" dirty="0">
                <a:latin typeface="Cambria Math"/>
                <a:cs typeface="Cambria Math"/>
              </a:rPr>
              <a:t>𝐺𝐵𝖶·𝐶</a:t>
            </a:r>
            <a:r>
              <a:rPr sz="1800" spc="82" baseline="-13888" dirty="0">
                <a:latin typeface="Cambria Math"/>
                <a:cs typeface="Cambria Math"/>
              </a:rPr>
              <a:t>𝐿𝐷</a:t>
            </a:r>
            <a:r>
              <a:rPr sz="1800" spc="532" baseline="-13888" dirty="0">
                <a:latin typeface="Cambria Math"/>
                <a:cs typeface="Cambria Math"/>
              </a:rPr>
              <a:t> </a:t>
            </a:r>
            <a:r>
              <a:rPr sz="3000" spc="382" baseline="-31944" dirty="0">
                <a:latin typeface="Cambria Math"/>
                <a:cs typeface="Cambria Math"/>
              </a:rPr>
              <a:t>G</a:t>
            </a:r>
            <a:r>
              <a:rPr sz="3000" spc="195" baseline="-31944" dirty="0">
                <a:latin typeface="Cambria Math"/>
                <a:cs typeface="Cambria Math"/>
              </a:rPr>
              <a:t> </a:t>
            </a:r>
            <a:r>
              <a:rPr sz="1450" spc="60" dirty="0">
                <a:latin typeface="Cambria Math"/>
                <a:cs typeface="Cambria Math"/>
              </a:rPr>
              <a:t>𝐺𝐵𝖶·𝐶</a:t>
            </a:r>
            <a:r>
              <a:rPr sz="1800" spc="89" baseline="-13888" dirty="0">
                <a:latin typeface="Cambria Math"/>
                <a:cs typeface="Cambria Math"/>
              </a:rPr>
              <a:t>𝐿𝐷</a:t>
            </a:r>
            <a:r>
              <a:rPr sz="1450" spc="60" dirty="0">
                <a:latin typeface="Cambria Math"/>
                <a:cs typeface="Cambria Math"/>
              </a:rPr>
              <a:t>·𝜑</a:t>
            </a:r>
            <a:r>
              <a:rPr sz="1800" spc="89" baseline="-13888" dirty="0">
                <a:latin typeface="Cambria Math"/>
                <a:cs typeface="Cambria Math"/>
              </a:rPr>
              <a:t>𝑀</a:t>
            </a:r>
            <a:endParaRPr sz="1800" baseline="-13888">
              <a:latin typeface="Cambria Math"/>
              <a:cs typeface="Cambria Math"/>
            </a:endParaRPr>
          </a:p>
          <a:p>
            <a:pPr marL="146685">
              <a:lnSpc>
                <a:spcPct val="100000"/>
              </a:lnSpc>
              <a:spcBef>
                <a:spcPts val="325"/>
              </a:spcBef>
              <a:tabLst>
                <a:tab pos="814069" algn="l"/>
                <a:tab pos="1884680" algn="l"/>
                <a:tab pos="3208020" algn="l"/>
              </a:tabLst>
            </a:pPr>
            <a:r>
              <a:rPr sz="1450" spc="50" dirty="0">
                <a:latin typeface="Cambria Math"/>
                <a:cs typeface="Cambria Math"/>
              </a:rPr>
              <a:t>𝐼</a:t>
            </a:r>
            <a:r>
              <a:rPr sz="1800" spc="75" baseline="-13888" dirty="0">
                <a:latin typeface="Cambria Math"/>
                <a:cs typeface="Cambria Math"/>
              </a:rPr>
              <a:t>Q</a:t>
            </a:r>
            <a:r>
              <a:rPr sz="1800" baseline="-13888" dirty="0">
                <a:latin typeface="Cambria Math"/>
                <a:cs typeface="Cambria Math"/>
              </a:rPr>
              <a:t>	</a:t>
            </a:r>
            <a:r>
              <a:rPr sz="1450" spc="55" dirty="0">
                <a:latin typeface="Cambria Math"/>
                <a:cs typeface="Cambria Math"/>
              </a:rPr>
              <a:t>𝐼</a:t>
            </a:r>
            <a:r>
              <a:rPr sz="1800" spc="82" baseline="-13888" dirty="0">
                <a:latin typeface="Cambria Math"/>
                <a:cs typeface="Cambria Math"/>
              </a:rPr>
              <a:t>Q</a:t>
            </a:r>
            <a:r>
              <a:rPr sz="1450" spc="55" dirty="0">
                <a:latin typeface="Cambria Math"/>
                <a:cs typeface="Cambria Math"/>
              </a:rPr>
              <a:t>·𝑉</a:t>
            </a:r>
            <a:r>
              <a:rPr sz="1800" spc="82" baseline="-13888" dirty="0">
                <a:latin typeface="Cambria Math"/>
                <a:cs typeface="Cambria Math"/>
              </a:rPr>
              <a:t>𝐶𝐶</a:t>
            </a:r>
            <a:r>
              <a:rPr sz="1800" baseline="-13888" dirty="0">
                <a:latin typeface="Cambria Math"/>
                <a:cs typeface="Cambria Math"/>
              </a:rPr>
              <a:t>	</a:t>
            </a:r>
            <a:r>
              <a:rPr sz="1450" spc="55" dirty="0">
                <a:latin typeface="Cambria Math"/>
                <a:cs typeface="Cambria Math"/>
              </a:rPr>
              <a:t>𝐼</a:t>
            </a:r>
            <a:r>
              <a:rPr sz="1800" spc="82" baseline="-13888" dirty="0">
                <a:latin typeface="Cambria Math"/>
                <a:cs typeface="Cambria Math"/>
              </a:rPr>
              <a:t>Q</a:t>
            </a:r>
            <a:r>
              <a:rPr sz="1450" spc="55" dirty="0">
                <a:latin typeface="Cambria Math"/>
                <a:cs typeface="Cambria Math"/>
              </a:rPr>
              <a:t>·𝑉</a:t>
            </a:r>
            <a:r>
              <a:rPr sz="1800" spc="82" baseline="-13888" dirty="0">
                <a:latin typeface="Cambria Math"/>
                <a:cs typeface="Cambria Math"/>
              </a:rPr>
              <a:t>𝐶𝐶</a:t>
            </a:r>
            <a:r>
              <a:rPr sz="1800" baseline="-13888" dirty="0">
                <a:latin typeface="Cambria Math"/>
                <a:cs typeface="Cambria Math"/>
              </a:rPr>
              <a:t>	</a:t>
            </a:r>
            <a:r>
              <a:rPr sz="1450" spc="55" dirty="0">
                <a:latin typeface="Cambria Math"/>
                <a:cs typeface="Cambria Math"/>
              </a:rPr>
              <a:t>𝐼</a:t>
            </a:r>
            <a:r>
              <a:rPr sz="1800" spc="82" baseline="-13888" dirty="0">
                <a:latin typeface="Cambria Math"/>
                <a:cs typeface="Cambria Math"/>
              </a:rPr>
              <a:t>Q</a:t>
            </a:r>
            <a:r>
              <a:rPr sz="1450" spc="55" dirty="0">
                <a:latin typeface="Cambria Math"/>
                <a:cs typeface="Cambria Math"/>
              </a:rPr>
              <a:t>·𝑉</a:t>
            </a:r>
            <a:r>
              <a:rPr sz="1800" spc="82" baseline="-13888" dirty="0">
                <a:latin typeface="Cambria Math"/>
                <a:cs typeface="Cambria Math"/>
              </a:rPr>
              <a:t>𝐶𝐶</a:t>
            </a:r>
            <a:endParaRPr sz="1800" baseline="-13888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856226" y="4789170"/>
            <a:ext cx="1167130" cy="17145"/>
          </a:xfrm>
          <a:custGeom>
            <a:avLst/>
            <a:gdLst/>
            <a:ahLst/>
            <a:cxnLst/>
            <a:rect l="l" t="t" r="r" b="b"/>
            <a:pathLst>
              <a:path w="1167129" h="17145">
                <a:moveTo>
                  <a:pt x="1166622" y="16763"/>
                </a:moveTo>
                <a:lnTo>
                  <a:pt x="1166622" y="0"/>
                </a:lnTo>
                <a:lnTo>
                  <a:pt x="0" y="0"/>
                </a:lnTo>
                <a:lnTo>
                  <a:pt x="0" y="16764"/>
                </a:lnTo>
                <a:lnTo>
                  <a:pt x="1166622" y="167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48FD405-559F-4B9B-84A2-047BB0C7CC33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462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20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B55B92C2-1BA1-472E-A003-729DBA992FF5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462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773683" y="1334516"/>
            <a:ext cx="9356725" cy="3683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2600" indent="-469900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Introduction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background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0"/>
              </a:spcBef>
              <a:buClr>
                <a:srgbClr val="CC0000"/>
              </a:buClr>
              <a:buFont typeface="Wingdings"/>
              <a:buChar char=""/>
            </a:pPr>
            <a:endParaRPr sz="20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Refresher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on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feedback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theory,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bode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plots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gain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phase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margin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0"/>
              </a:spcBef>
              <a:buClr>
                <a:srgbClr val="CC0000"/>
              </a:buClr>
              <a:buFont typeface="Wingdings"/>
              <a:buChar char=""/>
            </a:pPr>
            <a:endParaRPr sz="20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Amplifier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frequency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response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0"/>
              </a:spcBef>
              <a:buClr>
                <a:srgbClr val="CC0000"/>
              </a:buClr>
              <a:buFont typeface="Wingdings"/>
              <a:buChar char=""/>
            </a:pPr>
            <a:endParaRPr sz="20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Basic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compensation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techniques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0"/>
              </a:spcBef>
              <a:buClr>
                <a:srgbClr val="CC0000"/>
              </a:buClr>
              <a:buFont typeface="Wingdings"/>
              <a:buChar char=""/>
            </a:pPr>
            <a:endParaRPr sz="20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Alternative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(advanced)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compensation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schemes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45"/>
              </a:spcBef>
              <a:buClr>
                <a:srgbClr val="CC0000"/>
              </a:buClr>
              <a:buFont typeface="Wingdings"/>
              <a:buChar char=""/>
            </a:pPr>
            <a:endParaRPr sz="20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spcBef>
                <a:spcPts val="5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Practical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tips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suggestions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73683" y="1334516"/>
            <a:ext cx="42011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2600" indent="-469900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Introduction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background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0663" y="1853945"/>
            <a:ext cx="10647680" cy="675640"/>
          </a:xfrm>
          <a:prstGeom prst="rect">
            <a:avLst/>
          </a:prstGeom>
          <a:solidFill>
            <a:srgbClr val="CB0000"/>
          </a:solidFill>
        </p:spPr>
        <p:txBody>
          <a:bodyPr vert="horz" wrap="square" lIns="0" tIns="163195" rIns="0" bIns="0" rtlCol="0">
            <a:spAutoFit/>
          </a:bodyPr>
          <a:lstStyle/>
          <a:p>
            <a:pPr marL="515620" indent="-469900">
              <a:lnSpc>
                <a:spcPct val="100000"/>
              </a:lnSpc>
              <a:spcBef>
                <a:spcPts val="1285"/>
              </a:spcBef>
              <a:buFont typeface="Wingdings"/>
              <a:buChar char=""/>
              <a:tabLst>
                <a:tab pos="515620" algn="l"/>
              </a:tabLst>
            </a:pP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Refresher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feedback</a:t>
            </a:r>
            <a:r>
              <a:rPr sz="2000" spc="-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theory,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bode</a:t>
            </a:r>
            <a:r>
              <a:rPr sz="2000" spc="-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plots</a:t>
            </a:r>
            <a:r>
              <a:rPr sz="2000" spc="-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0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gain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0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phase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margin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3683" y="2675614"/>
            <a:ext cx="42183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2600" indent="-469900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Amplifier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frequency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response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3683" y="3346163"/>
            <a:ext cx="448119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2600" indent="-469900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Basic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compensation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techniques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3683" y="4016712"/>
            <a:ext cx="647382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2600" indent="-469900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Alternative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(advanced)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compensation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schemes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0"/>
              </a:spcBef>
              <a:buClr>
                <a:srgbClr val="CC0000"/>
              </a:buClr>
              <a:buFont typeface="Wingdings"/>
              <a:buChar char=""/>
            </a:pPr>
            <a:endParaRPr sz="20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Practical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tips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suggestions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45423" y="2529077"/>
            <a:ext cx="3042920" cy="1223010"/>
          </a:xfrm>
          <a:custGeom>
            <a:avLst/>
            <a:gdLst/>
            <a:ahLst/>
            <a:cxnLst/>
            <a:rect l="l" t="t" r="r" b="b"/>
            <a:pathLst>
              <a:path w="3042920" h="1223010">
                <a:moveTo>
                  <a:pt x="3042666" y="1124711"/>
                </a:moveTo>
                <a:lnTo>
                  <a:pt x="3042666" y="0"/>
                </a:lnTo>
                <a:lnTo>
                  <a:pt x="0" y="0"/>
                </a:lnTo>
                <a:lnTo>
                  <a:pt x="0" y="1124712"/>
                </a:lnTo>
                <a:lnTo>
                  <a:pt x="7750" y="1162895"/>
                </a:lnTo>
                <a:lnTo>
                  <a:pt x="60114" y="1215259"/>
                </a:lnTo>
                <a:lnTo>
                  <a:pt x="98298" y="1223010"/>
                </a:lnTo>
                <a:lnTo>
                  <a:pt x="2944368" y="1223009"/>
                </a:lnTo>
                <a:lnTo>
                  <a:pt x="2982551" y="1215259"/>
                </a:lnTo>
                <a:lnTo>
                  <a:pt x="3013805" y="1194149"/>
                </a:lnTo>
                <a:lnTo>
                  <a:pt x="3034915" y="1162895"/>
                </a:lnTo>
                <a:lnTo>
                  <a:pt x="3042666" y="1124711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453119" y="2559811"/>
            <a:ext cx="199580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Feedback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theory </a:t>
            </a:r>
            <a:r>
              <a:rPr sz="1800" dirty="0">
                <a:latin typeface="Verdana"/>
                <a:cs typeface="Verdana"/>
              </a:rPr>
              <a:t>Poles,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zeros </a:t>
            </a:r>
            <a:r>
              <a:rPr sz="1800" dirty="0">
                <a:latin typeface="Verdana"/>
                <a:cs typeface="Verdana"/>
              </a:rPr>
              <a:t>Bode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plots </a:t>
            </a:r>
            <a:r>
              <a:rPr sz="1800" dirty="0">
                <a:latin typeface="Verdana"/>
                <a:cs typeface="Verdana"/>
              </a:rPr>
              <a:t>Stability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criterion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B5AC7339-E789-4FC1-BB60-7D6C7885B1FD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462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14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Ideal</a:t>
            </a:r>
            <a:r>
              <a:rPr spc="-25" dirty="0"/>
              <a:t> </a:t>
            </a:r>
            <a:r>
              <a:rPr spc="-10" dirty="0"/>
              <a:t>Amplifier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25567" y="3701034"/>
            <a:ext cx="2107691" cy="238277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73683" y="1339088"/>
            <a:ext cx="10304780" cy="4296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2600" marR="5080" indent="-470534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Integrated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amplifiers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can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have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large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gain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(80-</a:t>
            </a:r>
            <a:r>
              <a:rPr sz="2000" dirty="0">
                <a:latin typeface="Verdana"/>
                <a:cs typeface="Verdana"/>
              </a:rPr>
              <a:t>140dB),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but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it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very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process, </a:t>
            </a:r>
            <a:r>
              <a:rPr sz="2000" dirty="0">
                <a:latin typeface="Verdana"/>
                <a:cs typeface="Verdana"/>
              </a:rPr>
              <a:t>temperature,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supply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dependent</a:t>
            </a:r>
            <a:endParaRPr sz="2000">
              <a:latin typeface="Verdana"/>
              <a:cs typeface="Verdana"/>
            </a:endParaRPr>
          </a:p>
          <a:p>
            <a:pPr marL="482600" marR="116205" indent="-470534">
              <a:lnSpc>
                <a:spcPct val="100000"/>
              </a:lnSpc>
              <a:spcBef>
                <a:spcPts val="120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Need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feedback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eliminate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these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dependencies.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Passive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feedback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elements </a:t>
            </a:r>
            <a:r>
              <a:rPr sz="2000" dirty="0">
                <a:latin typeface="Verdana"/>
                <a:cs typeface="Verdana"/>
              </a:rPr>
              <a:t>such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as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resistors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offer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better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stability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linearity</a:t>
            </a:r>
            <a:endParaRPr sz="2000">
              <a:latin typeface="Verdana"/>
              <a:cs typeface="Verdana"/>
            </a:endParaRPr>
          </a:p>
          <a:p>
            <a:pPr marL="482600" marR="514984" indent="-470534">
              <a:lnSpc>
                <a:spcPct val="100000"/>
              </a:lnSpc>
              <a:spcBef>
                <a:spcPts val="120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Many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amplifier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parameters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will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be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controlled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by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local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feedback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loops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and </a:t>
            </a:r>
            <a:r>
              <a:rPr sz="2000" dirty="0">
                <a:latin typeface="Verdana"/>
                <a:cs typeface="Verdana"/>
              </a:rPr>
              <a:t>therefore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amplifiers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are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interacting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multi-</a:t>
            </a:r>
            <a:r>
              <a:rPr sz="2000" dirty="0">
                <a:latin typeface="Verdana"/>
                <a:cs typeface="Verdana"/>
              </a:rPr>
              <a:t>loop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systems</a:t>
            </a:r>
            <a:endParaRPr sz="2000">
              <a:latin typeface="Verdana"/>
              <a:cs typeface="Verdana"/>
            </a:endParaRPr>
          </a:p>
          <a:p>
            <a:pPr marR="2727325" algn="ctr">
              <a:lnSpc>
                <a:spcPts val="2285"/>
              </a:lnSpc>
              <a:spcBef>
                <a:spcPts val="2385"/>
              </a:spcBef>
            </a:pPr>
            <a:r>
              <a:rPr sz="2000" spc="-25" dirty="0">
                <a:latin typeface="Verdana"/>
                <a:cs typeface="Verdana"/>
              </a:rPr>
              <a:t>Vin</a:t>
            </a:r>
            <a:endParaRPr sz="2000">
              <a:latin typeface="Verdana"/>
              <a:cs typeface="Verdana"/>
            </a:endParaRPr>
          </a:p>
          <a:p>
            <a:pPr marL="6402705">
              <a:lnSpc>
                <a:spcPts val="2285"/>
              </a:lnSpc>
            </a:pPr>
            <a:r>
              <a:rPr sz="2000" spc="-20" dirty="0">
                <a:latin typeface="Verdana"/>
                <a:cs typeface="Verdana"/>
              </a:rPr>
              <a:t>Vout</a:t>
            </a:r>
            <a:endParaRPr sz="2000">
              <a:latin typeface="Verdana"/>
              <a:cs typeface="Verdana"/>
            </a:endParaRPr>
          </a:p>
          <a:p>
            <a:pPr marL="782955" algn="ctr">
              <a:lnSpc>
                <a:spcPct val="100000"/>
              </a:lnSpc>
              <a:spcBef>
                <a:spcPts val="2200"/>
              </a:spcBef>
            </a:pPr>
            <a:r>
              <a:rPr sz="2000" spc="-25" dirty="0">
                <a:latin typeface="Verdana"/>
                <a:cs typeface="Verdana"/>
              </a:rPr>
              <a:t>Rf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2000">
              <a:latin typeface="Verdana"/>
              <a:cs typeface="Verdana"/>
            </a:endParaRPr>
          </a:p>
          <a:p>
            <a:pPr marR="774065" algn="ctr">
              <a:lnSpc>
                <a:spcPct val="100000"/>
              </a:lnSpc>
            </a:pPr>
            <a:r>
              <a:rPr sz="2000" spc="-25" dirty="0">
                <a:latin typeface="Verdana"/>
                <a:cs typeface="Verdana"/>
              </a:rPr>
              <a:t>Rin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EE8CB48F-1770-4B7F-BE1D-D59081ABFDB0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462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91817" y="1267205"/>
            <a:ext cx="6581775" cy="4185285"/>
            <a:chOff x="1591817" y="1267205"/>
            <a:chExt cx="6581775" cy="41852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4771" y="2480309"/>
              <a:ext cx="5028440" cy="29718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91817" y="1267205"/>
              <a:ext cx="2327910" cy="1555241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dirty="0"/>
              <a:t>Feedback</a:t>
            </a:r>
            <a:r>
              <a:rPr spc="-50" dirty="0"/>
              <a:t> </a:t>
            </a:r>
            <a:r>
              <a:rPr spc="-10" dirty="0"/>
              <a:t>Concept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767332" y="1334515"/>
            <a:ext cx="190627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" marR="5080" indent="-1905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Compare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input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signal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sensed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copy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output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47144" y="1271365"/>
            <a:ext cx="2112329" cy="119792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467105" y="1377950"/>
            <a:ext cx="18681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8986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difference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(error)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amplified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64018" y="1267205"/>
            <a:ext cx="2116073" cy="131826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908290" y="1334515"/>
            <a:ext cx="18307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635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output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is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driven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the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desired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amplitude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49195" y="5178552"/>
            <a:ext cx="2859785" cy="91516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157491" y="5206238"/>
            <a:ext cx="219837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5875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accuracy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now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mainly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determined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by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feedback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network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495288" y="4036314"/>
            <a:ext cx="726440" cy="711835"/>
          </a:xfrm>
          <a:custGeom>
            <a:avLst/>
            <a:gdLst/>
            <a:ahLst/>
            <a:cxnLst/>
            <a:rect l="l" t="t" r="r" b="b"/>
            <a:pathLst>
              <a:path w="726440" h="711835">
                <a:moveTo>
                  <a:pt x="147827" y="569976"/>
                </a:moveTo>
                <a:lnTo>
                  <a:pt x="0" y="509016"/>
                </a:lnTo>
                <a:lnTo>
                  <a:pt x="39623" y="663702"/>
                </a:lnTo>
                <a:lnTo>
                  <a:pt x="73913" y="634000"/>
                </a:lnTo>
                <a:lnTo>
                  <a:pt x="73913" y="615696"/>
                </a:lnTo>
                <a:lnTo>
                  <a:pt x="94487" y="596646"/>
                </a:lnTo>
                <a:lnTo>
                  <a:pt x="104925" y="607137"/>
                </a:lnTo>
                <a:lnTo>
                  <a:pt x="147827" y="569976"/>
                </a:lnTo>
                <a:close/>
              </a:path>
              <a:path w="726440" h="711835">
                <a:moveTo>
                  <a:pt x="104925" y="607137"/>
                </a:moveTo>
                <a:lnTo>
                  <a:pt x="94487" y="596646"/>
                </a:lnTo>
                <a:lnTo>
                  <a:pt x="73913" y="615696"/>
                </a:lnTo>
                <a:lnTo>
                  <a:pt x="83422" y="625763"/>
                </a:lnTo>
                <a:lnTo>
                  <a:pt x="104925" y="607137"/>
                </a:lnTo>
                <a:close/>
              </a:path>
              <a:path w="726440" h="711835">
                <a:moveTo>
                  <a:pt x="83422" y="625763"/>
                </a:moveTo>
                <a:lnTo>
                  <a:pt x="73913" y="615696"/>
                </a:lnTo>
                <a:lnTo>
                  <a:pt x="73913" y="634000"/>
                </a:lnTo>
                <a:lnTo>
                  <a:pt x="83422" y="625763"/>
                </a:lnTo>
                <a:close/>
              </a:path>
              <a:path w="726440" h="711835">
                <a:moveTo>
                  <a:pt x="697991" y="489203"/>
                </a:moveTo>
                <a:lnTo>
                  <a:pt x="697991" y="355854"/>
                </a:lnTo>
                <a:lnTo>
                  <a:pt x="697229" y="372618"/>
                </a:lnTo>
                <a:lnTo>
                  <a:pt x="695705" y="389382"/>
                </a:lnTo>
                <a:lnTo>
                  <a:pt x="686561" y="437388"/>
                </a:lnTo>
                <a:lnTo>
                  <a:pt x="669797" y="483108"/>
                </a:lnTo>
                <a:lnTo>
                  <a:pt x="645413" y="525018"/>
                </a:lnTo>
                <a:lnTo>
                  <a:pt x="636269" y="538734"/>
                </a:lnTo>
                <a:lnTo>
                  <a:pt x="604265" y="576072"/>
                </a:lnTo>
                <a:lnTo>
                  <a:pt x="552449" y="617982"/>
                </a:lnTo>
                <a:lnTo>
                  <a:pt x="509015" y="643890"/>
                </a:lnTo>
                <a:lnTo>
                  <a:pt x="460247" y="663702"/>
                </a:lnTo>
                <a:lnTo>
                  <a:pt x="409193" y="676656"/>
                </a:lnTo>
                <a:lnTo>
                  <a:pt x="373379" y="681894"/>
                </a:lnTo>
                <a:lnTo>
                  <a:pt x="372617" y="681990"/>
                </a:lnTo>
                <a:lnTo>
                  <a:pt x="336803" y="683482"/>
                </a:lnTo>
                <a:lnTo>
                  <a:pt x="322325" y="683469"/>
                </a:lnTo>
                <a:lnTo>
                  <a:pt x="310133" y="682752"/>
                </a:lnTo>
                <a:lnTo>
                  <a:pt x="297941" y="681228"/>
                </a:lnTo>
                <a:lnTo>
                  <a:pt x="284987" y="679704"/>
                </a:lnTo>
                <a:lnTo>
                  <a:pt x="224027" y="667512"/>
                </a:lnTo>
                <a:lnTo>
                  <a:pt x="200405" y="659130"/>
                </a:lnTo>
                <a:lnTo>
                  <a:pt x="188975" y="655320"/>
                </a:lnTo>
                <a:lnTo>
                  <a:pt x="178307" y="649986"/>
                </a:lnTo>
                <a:lnTo>
                  <a:pt x="166877" y="645414"/>
                </a:lnTo>
                <a:lnTo>
                  <a:pt x="156209" y="640080"/>
                </a:lnTo>
                <a:lnTo>
                  <a:pt x="134873" y="627888"/>
                </a:lnTo>
                <a:lnTo>
                  <a:pt x="124967" y="621792"/>
                </a:lnTo>
                <a:lnTo>
                  <a:pt x="105155" y="608076"/>
                </a:lnTo>
                <a:lnTo>
                  <a:pt x="105155" y="607363"/>
                </a:lnTo>
                <a:lnTo>
                  <a:pt x="104925" y="607137"/>
                </a:lnTo>
                <a:lnTo>
                  <a:pt x="83422" y="625763"/>
                </a:lnTo>
                <a:lnTo>
                  <a:pt x="86867" y="629412"/>
                </a:lnTo>
                <a:lnTo>
                  <a:pt x="86867" y="630174"/>
                </a:lnTo>
                <a:lnTo>
                  <a:pt x="87629" y="630174"/>
                </a:lnTo>
                <a:lnTo>
                  <a:pt x="88391" y="630936"/>
                </a:lnTo>
                <a:lnTo>
                  <a:pt x="105155" y="642910"/>
                </a:lnTo>
                <a:lnTo>
                  <a:pt x="105155" y="608076"/>
                </a:lnTo>
                <a:lnTo>
                  <a:pt x="107448" y="609662"/>
                </a:lnTo>
                <a:lnTo>
                  <a:pt x="107448" y="644547"/>
                </a:lnTo>
                <a:lnTo>
                  <a:pt x="109727" y="646176"/>
                </a:lnTo>
                <a:lnTo>
                  <a:pt x="154685" y="671322"/>
                </a:lnTo>
                <a:lnTo>
                  <a:pt x="203453" y="691134"/>
                </a:lnTo>
                <a:lnTo>
                  <a:pt x="229361" y="697992"/>
                </a:lnTo>
                <a:lnTo>
                  <a:pt x="242315" y="701802"/>
                </a:lnTo>
                <a:lnTo>
                  <a:pt x="281939" y="708660"/>
                </a:lnTo>
                <a:lnTo>
                  <a:pt x="322325" y="711708"/>
                </a:lnTo>
                <a:lnTo>
                  <a:pt x="356615" y="711708"/>
                </a:lnTo>
                <a:lnTo>
                  <a:pt x="375665" y="710242"/>
                </a:lnTo>
                <a:lnTo>
                  <a:pt x="376427" y="710184"/>
                </a:lnTo>
                <a:lnTo>
                  <a:pt x="394715" y="707989"/>
                </a:lnTo>
                <a:lnTo>
                  <a:pt x="395477" y="707898"/>
                </a:lnTo>
                <a:lnTo>
                  <a:pt x="414527" y="704850"/>
                </a:lnTo>
                <a:lnTo>
                  <a:pt x="470153" y="690372"/>
                </a:lnTo>
                <a:lnTo>
                  <a:pt x="521969" y="669036"/>
                </a:lnTo>
                <a:lnTo>
                  <a:pt x="569213" y="641604"/>
                </a:lnTo>
                <a:lnTo>
                  <a:pt x="611885" y="608076"/>
                </a:lnTo>
                <a:lnTo>
                  <a:pt x="648461" y="569214"/>
                </a:lnTo>
                <a:lnTo>
                  <a:pt x="688085" y="510540"/>
                </a:lnTo>
                <a:lnTo>
                  <a:pt x="695705" y="494538"/>
                </a:lnTo>
                <a:lnTo>
                  <a:pt x="697991" y="489203"/>
                </a:lnTo>
                <a:close/>
              </a:path>
              <a:path w="726440" h="711835">
                <a:moveTo>
                  <a:pt x="726185" y="374141"/>
                </a:moveTo>
                <a:lnTo>
                  <a:pt x="723899" y="318515"/>
                </a:lnTo>
                <a:lnTo>
                  <a:pt x="713993" y="265938"/>
                </a:lnTo>
                <a:lnTo>
                  <a:pt x="695705" y="216408"/>
                </a:lnTo>
                <a:lnTo>
                  <a:pt x="659129" y="156210"/>
                </a:lnTo>
                <a:lnTo>
                  <a:pt x="624077" y="115823"/>
                </a:lnTo>
                <a:lnTo>
                  <a:pt x="583691" y="80009"/>
                </a:lnTo>
                <a:lnTo>
                  <a:pt x="537971" y="51053"/>
                </a:lnTo>
                <a:lnTo>
                  <a:pt x="486917" y="27431"/>
                </a:lnTo>
                <a:lnTo>
                  <a:pt x="432815" y="10667"/>
                </a:lnTo>
                <a:lnTo>
                  <a:pt x="395477" y="3927"/>
                </a:lnTo>
                <a:lnTo>
                  <a:pt x="394715" y="3809"/>
                </a:lnTo>
                <a:lnTo>
                  <a:pt x="376427" y="1615"/>
                </a:lnTo>
                <a:lnTo>
                  <a:pt x="375665" y="1523"/>
                </a:lnTo>
                <a:lnTo>
                  <a:pt x="356615" y="58"/>
                </a:lnTo>
                <a:lnTo>
                  <a:pt x="336803" y="0"/>
                </a:lnTo>
                <a:lnTo>
                  <a:pt x="336041" y="28194"/>
                </a:lnTo>
                <a:lnTo>
                  <a:pt x="355091" y="28956"/>
                </a:lnTo>
                <a:lnTo>
                  <a:pt x="372617" y="29686"/>
                </a:lnTo>
                <a:lnTo>
                  <a:pt x="427481" y="38861"/>
                </a:lnTo>
                <a:lnTo>
                  <a:pt x="477773" y="54101"/>
                </a:lnTo>
                <a:lnTo>
                  <a:pt x="539495" y="84581"/>
                </a:lnTo>
                <a:lnTo>
                  <a:pt x="592835" y="124967"/>
                </a:lnTo>
                <a:lnTo>
                  <a:pt x="626363" y="160781"/>
                </a:lnTo>
                <a:lnTo>
                  <a:pt x="654557" y="200405"/>
                </a:lnTo>
                <a:lnTo>
                  <a:pt x="675893" y="243840"/>
                </a:lnTo>
                <a:lnTo>
                  <a:pt x="690371" y="290322"/>
                </a:lnTo>
                <a:lnTo>
                  <a:pt x="697229" y="339090"/>
                </a:lnTo>
                <a:lnTo>
                  <a:pt x="697991" y="489203"/>
                </a:lnTo>
                <a:lnTo>
                  <a:pt x="702563" y="478536"/>
                </a:lnTo>
                <a:lnTo>
                  <a:pt x="708659" y="461772"/>
                </a:lnTo>
                <a:lnTo>
                  <a:pt x="713993" y="445008"/>
                </a:lnTo>
                <a:lnTo>
                  <a:pt x="718565" y="427481"/>
                </a:lnTo>
                <a:lnTo>
                  <a:pt x="724661" y="391667"/>
                </a:lnTo>
                <a:lnTo>
                  <a:pt x="726185" y="374141"/>
                </a:lnTo>
                <a:close/>
              </a:path>
            </a:pathLst>
          </a:custGeom>
          <a:solidFill>
            <a:srgbClr val="CB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666230" y="4218685"/>
            <a:ext cx="32829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>
                <a:latin typeface="Verdana"/>
                <a:cs typeface="Verdana"/>
              </a:rPr>
              <a:t>A</a:t>
            </a:r>
            <a:r>
              <a:rPr sz="2000" spc="-25" dirty="0">
                <a:latin typeface="Times New Roman"/>
                <a:cs typeface="Times New Roman"/>
              </a:rPr>
              <a:t>β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50386" y="4134112"/>
            <a:ext cx="2254885" cy="638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36195" algn="r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Times New Roman"/>
                <a:cs typeface="Times New Roman"/>
              </a:rPr>
              <a:t>Aβ: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Verdana"/>
                <a:cs typeface="Verdana"/>
              </a:rPr>
              <a:t>Loop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Gain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(T)</a:t>
            </a:r>
            <a:endParaRPr sz="20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30"/>
              </a:spcBef>
            </a:pPr>
            <a:r>
              <a:rPr sz="2000" dirty="0">
                <a:latin typeface="Symbol"/>
                <a:cs typeface="Symbol"/>
              </a:rPr>
              <a:t></a:t>
            </a:r>
            <a:r>
              <a:rPr sz="2000" dirty="0">
                <a:latin typeface="Verdana"/>
                <a:cs typeface="Verdana"/>
              </a:rPr>
              <a:t>Return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Ratio)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49577" y="2353323"/>
            <a:ext cx="17703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4360" marR="5080" indent="-582295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Verdana"/>
                <a:cs typeface="Verdana"/>
              </a:rPr>
              <a:t>A: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Open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Loop Gain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404339" y="3058939"/>
            <a:ext cx="90487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Verdana"/>
                <a:cs typeface="Verdana"/>
              </a:rPr>
              <a:t>Output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68886" y="3027703"/>
            <a:ext cx="7118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Verdana"/>
                <a:cs typeface="Verdana"/>
              </a:rPr>
              <a:t>Input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967976" y="5786882"/>
            <a:ext cx="23812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-25" dirty="0">
                <a:latin typeface="Verdana"/>
                <a:cs typeface="Verdana"/>
              </a:rPr>
              <a:t>CL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10175" y="5335041"/>
            <a:ext cx="39116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Times New Roman"/>
                <a:cs typeface="Times New Roman"/>
              </a:rPr>
              <a:t>β</a:t>
            </a:r>
            <a:r>
              <a:rPr sz="2000" dirty="0">
                <a:latin typeface="Verdana"/>
                <a:cs typeface="Verdana"/>
              </a:rPr>
              <a:t>: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Feedback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Factor</a:t>
            </a:r>
            <a:endParaRPr sz="20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1/</a:t>
            </a:r>
            <a:r>
              <a:rPr sz="2000" dirty="0">
                <a:latin typeface="Times New Roman"/>
                <a:cs typeface="Times New Roman"/>
              </a:rPr>
              <a:t>β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Verdana"/>
                <a:cs typeface="Verdana"/>
              </a:rPr>
              <a:t>: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~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Closed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Loop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Gain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(A</a:t>
            </a:r>
            <a:r>
              <a:rPr sz="2000" spc="90" dirty="0">
                <a:latin typeface="Verdana"/>
                <a:cs typeface="Verdana"/>
              </a:rPr>
              <a:t>  </a:t>
            </a:r>
            <a:r>
              <a:rPr sz="2000" spc="-50" dirty="0">
                <a:latin typeface="Verdana"/>
                <a:cs typeface="Verdana"/>
              </a:rPr>
              <a:t>)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163817" y="3669029"/>
            <a:ext cx="1270" cy="0"/>
          </a:xfrm>
          <a:custGeom>
            <a:avLst/>
            <a:gdLst/>
            <a:ahLst/>
            <a:cxnLst/>
            <a:rect l="l" t="t" r="r" b="b"/>
            <a:pathLst>
              <a:path w="1270">
                <a:moveTo>
                  <a:pt x="0" y="0"/>
                </a:moveTo>
                <a:lnTo>
                  <a:pt x="762" y="0"/>
                </a:lnTo>
              </a:path>
            </a:pathLst>
          </a:custGeom>
          <a:ln w="19050">
            <a:solidFill>
              <a:srgbClr val="B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F1CB8705-D14B-434A-982B-02C118219F92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26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Feedback</a:t>
            </a:r>
            <a:r>
              <a:rPr spc="-50" dirty="0"/>
              <a:t> </a:t>
            </a:r>
            <a:r>
              <a:rPr spc="-10" dirty="0"/>
              <a:t>Concept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7711" y="4040377"/>
            <a:ext cx="81851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𝐺𝑎𝑖𝑛</a:t>
            </a:r>
            <a:r>
              <a:rPr sz="2000" spc="105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=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14450" y="3848343"/>
            <a:ext cx="18669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Cambria Math"/>
                <a:cs typeface="Cambria Math"/>
              </a:rPr>
              <a:t>𝐴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76044" y="4226813"/>
            <a:ext cx="1066800" cy="295910"/>
          </a:xfrm>
          <a:custGeom>
            <a:avLst/>
            <a:gdLst/>
            <a:ahLst/>
            <a:cxnLst/>
            <a:rect l="l" t="t" r="r" b="b"/>
            <a:pathLst>
              <a:path w="1066800" h="295910">
                <a:moveTo>
                  <a:pt x="100584" y="70104"/>
                </a:moveTo>
                <a:lnTo>
                  <a:pt x="97536" y="60960"/>
                </a:lnTo>
                <a:lnTo>
                  <a:pt x="86512" y="64820"/>
                </a:lnTo>
                <a:lnTo>
                  <a:pt x="80251" y="67043"/>
                </a:lnTo>
                <a:lnTo>
                  <a:pt x="65633" y="75704"/>
                </a:lnTo>
                <a:lnTo>
                  <a:pt x="65430" y="75819"/>
                </a:lnTo>
                <a:lnTo>
                  <a:pt x="52628" y="87541"/>
                </a:lnTo>
                <a:lnTo>
                  <a:pt x="41910" y="102108"/>
                </a:lnTo>
                <a:lnTo>
                  <a:pt x="33337" y="118846"/>
                </a:lnTo>
                <a:lnTo>
                  <a:pt x="27051" y="137350"/>
                </a:lnTo>
                <a:lnTo>
                  <a:pt x="27051" y="137566"/>
                </a:lnTo>
                <a:lnTo>
                  <a:pt x="23355" y="156933"/>
                </a:lnTo>
                <a:lnTo>
                  <a:pt x="22098" y="178308"/>
                </a:lnTo>
                <a:lnTo>
                  <a:pt x="23355" y="199859"/>
                </a:lnTo>
                <a:lnTo>
                  <a:pt x="27051" y="219837"/>
                </a:lnTo>
                <a:lnTo>
                  <a:pt x="43434" y="257581"/>
                </a:lnTo>
                <a:lnTo>
                  <a:pt x="80251" y="289661"/>
                </a:lnTo>
                <a:lnTo>
                  <a:pt x="97536" y="295656"/>
                </a:lnTo>
                <a:lnTo>
                  <a:pt x="99822" y="286512"/>
                </a:lnTo>
                <a:lnTo>
                  <a:pt x="86512" y="280352"/>
                </a:lnTo>
                <a:lnTo>
                  <a:pt x="75145" y="272034"/>
                </a:lnTo>
                <a:lnTo>
                  <a:pt x="51460" y="233578"/>
                </a:lnTo>
                <a:lnTo>
                  <a:pt x="43434" y="176784"/>
                </a:lnTo>
                <a:lnTo>
                  <a:pt x="44297" y="156959"/>
                </a:lnTo>
                <a:lnTo>
                  <a:pt x="57912" y="107442"/>
                </a:lnTo>
                <a:lnTo>
                  <a:pt x="87160" y="76263"/>
                </a:lnTo>
                <a:lnTo>
                  <a:pt x="100584" y="70104"/>
                </a:lnTo>
                <a:close/>
              </a:path>
              <a:path w="1066800" h="295910">
                <a:moveTo>
                  <a:pt x="955548" y="178308"/>
                </a:moveTo>
                <a:lnTo>
                  <a:pt x="950493" y="137071"/>
                </a:lnTo>
                <a:lnTo>
                  <a:pt x="925004" y="87541"/>
                </a:lnTo>
                <a:lnTo>
                  <a:pt x="880110" y="60960"/>
                </a:lnTo>
                <a:lnTo>
                  <a:pt x="877062" y="70104"/>
                </a:lnTo>
                <a:lnTo>
                  <a:pt x="890790" y="76263"/>
                </a:lnTo>
                <a:lnTo>
                  <a:pt x="902398" y="84493"/>
                </a:lnTo>
                <a:lnTo>
                  <a:pt x="926172" y="122135"/>
                </a:lnTo>
                <a:lnTo>
                  <a:pt x="934212" y="176784"/>
                </a:lnTo>
                <a:lnTo>
                  <a:pt x="933335" y="197624"/>
                </a:lnTo>
                <a:lnTo>
                  <a:pt x="919734" y="248412"/>
                </a:lnTo>
                <a:lnTo>
                  <a:pt x="891120" y="280352"/>
                </a:lnTo>
                <a:lnTo>
                  <a:pt x="877824" y="286512"/>
                </a:lnTo>
                <a:lnTo>
                  <a:pt x="880110" y="295656"/>
                </a:lnTo>
                <a:lnTo>
                  <a:pt x="925322" y="269087"/>
                </a:lnTo>
                <a:lnTo>
                  <a:pt x="950493" y="219837"/>
                </a:lnTo>
                <a:lnTo>
                  <a:pt x="954265" y="199859"/>
                </a:lnTo>
                <a:lnTo>
                  <a:pt x="955548" y="178308"/>
                </a:lnTo>
                <a:close/>
              </a:path>
              <a:path w="1066800" h="295910">
                <a:moveTo>
                  <a:pt x="1066800" y="0"/>
                </a:moveTo>
                <a:lnTo>
                  <a:pt x="0" y="0"/>
                </a:lnTo>
                <a:lnTo>
                  <a:pt x="0" y="16764"/>
                </a:lnTo>
                <a:lnTo>
                  <a:pt x="1066800" y="16764"/>
                </a:lnTo>
                <a:lnTo>
                  <a:pt x="1066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999485" y="4040377"/>
            <a:ext cx="2152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Cambria Math"/>
                <a:cs typeface="Cambria Math"/>
              </a:rPr>
              <a:t>=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12715" y="3848343"/>
            <a:ext cx="445134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>
                <a:solidFill>
                  <a:srgbClr val="006FC0"/>
                </a:solidFill>
                <a:latin typeface="Cambria Math"/>
                <a:cs typeface="Cambria Math"/>
              </a:rPr>
              <a:t>1/𝛽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96411" y="4287773"/>
            <a:ext cx="1198880" cy="234950"/>
          </a:xfrm>
          <a:custGeom>
            <a:avLst/>
            <a:gdLst/>
            <a:ahLst/>
            <a:cxnLst/>
            <a:rect l="l" t="t" r="r" b="b"/>
            <a:pathLst>
              <a:path w="1198879" h="234950">
                <a:moveTo>
                  <a:pt x="1198626" y="117348"/>
                </a:moveTo>
                <a:lnTo>
                  <a:pt x="1193577" y="76104"/>
                </a:lnTo>
                <a:lnTo>
                  <a:pt x="1168086" y="26574"/>
                </a:lnTo>
                <a:lnTo>
                  <a:pt x="1123188" y="0"/>
                </a:lnTo>
                <a:lnTo>
                  <a:pt x="1120140" y="9144"/>
                </a:lnTo>
                <a:lnTo>
                  <a:pt x="1133879" y="15299"/>
                </a:lnTo>
                <a:lnTo>
                  <a:pt x="1145476" y="23526"/>
                </a:lnTo>
                <a:lnTo>
                  <a:pt x="1169253" y="61174"/>
                </a:lnTo>
                <a:lnTo>
                  <a:pt x="1177290" y="115823"/>
                </a:lnTo>
                <a:lnTo>
                  <a:pt x="1177290" y="195682"/>
                </a:lnTo>
                <a:lnTo>
                  <a:pt x="1178814" y="193548"/>
                </a:lnTo>
                <a:lnTo>
                  <a:pt x="1187374" y="177141"/>
                </a:lnTo>
                <a:lnTo>
                  <a:pt x="1193577" y="158877"/>
                </a:lnTo>
                <a:lnTo>
                  <a:pt x="1197352" y="138898"/>
                </a:lnTo>
                <a:lnTo>
                  <a:pt x="1198626" y="117348"/>
                </a:lnTo>
                <a:close/>
              </a:path>
              <a:path w="1198879" h="234950">
                <a:moveTo>
                  <a:pt x="1177290" y="195682"/>
                </a:moveTo>
                <a:lnTo>
                  <a:pt x="1177290" y="115823"/>
                </a:lnTo>
                <a:lnTo>
                  <a:pt x="1176420" y="136659"/>
                </a:lnTo>
                <a:lnTo>
                  <a:pt x="1173765" y="155638"/>
                </a:lnTo>
                <a:lnTo>
                  <a:pt x="1155072" y="200490"/>
                </a:lnTo>
                <a:lnTo>
                  <a:pt x="1120902" y="225552"/>
                </a:lnTo>
                <a:lnTo>
                  <a:pt x="1123188" y="234696"/>
                </a:lnTo>
                <a:lnTo>
                  <a:pt x="1140344" y="228732"/>
                </a:lnTo>
                <a:lnTo>
                  <a:pt x="1145476" y="225751"/>
                </a:lnTo>
                <a:lnTo>
                  <a:pt x="1155573" y="219837"/>
                </a:lnTo>
                <a:lnTo>
                  <a:pt x="1168407" y="208121"/>
                </a:lnTo>
                <a:lnTo>
                  <a:pt x="1177290" y="195682"/>
                </a:lnTo>
                <a:close/>
              </a:path>
              <a:path w="1198879" h="234950">
                <a:moveTo>
                  <a:pt x="78485" y="9144"/>
                </a:moveTo>
                <a:lnTo>
                  <a:pt x="75437" y="0"/>
                </a:lnTo>
                <a:lnTo>
                  <a:pt x="64424" y="3851"/>
                </a:lnTo>
                <a:lnTo>
                  <a:pt x="58162" y="6071"/>
                </a:lnTo>
                <a:lnTo>
                  <a:pt x="43541" y="14739"/>
                </a:lnTo>
                <a:lnTo>
                  <a:pt x="43338" y="14859"/>
                </a:lnTo>
                <a:lnTo>
                  <a:pt x="30539" y="26574"/>
                </a:lnTo>
                <a:lnTo>
                  <a:pt x="19812" y="41148"/>
                </a:lnTo>
                <a:lnTo>
                  <a:pt x="11251" y="57876"/>
                </a:lnTo>
                <a:lnTo>
                  <a:pt x="4953" y="76384"/>
                </a:lnTo>
                <a:lnTo>
                  <a:pt x="4953" y="76604"/>
                </a:lnTo>
                <a:lnTo>
                  <a:pt x="1262" y="95967"/>
                </a:lnTo>
                <a:lnTo>
                  <a:pt x="0" y="117348"/>
                </a:lnTo>
                <a:lnTo>
                  <a:pt x="1262" y="138898"/>
                </a:lnTo>
                <a:lnTo>
                  <a:pt x="4953" y="158877"/>
                </a:lnTo>
                <a:lnTo>
                  <a:pt x="10929" y="177141"/>
                </a:lnTo>
                <a:lnTo>
                  <a:pt x="19050" y="193548"/>
                </a:lnTo>
                <a:lnTo>
                  <a:pt x="21335" y="196619"/>
                </a:lnTo>
                <a:lnTo>
                  <a:pt x="21335" y="115824"/>
                </a:lnTo>
                <a:lnTo>
                  <a:pt x="22205" y="95988"/>
                </a:lnTo>
                <a:lnTo>
                  <a:pt x="35813" y="46482"/>
                </a:lnTo>
                <a:lnTo>
                  <a:pt x="65067" y="15299"/>
                </a:lnTo>
                <a:lnTo>
                  <a:pt x="78485" y="9144"/>
                </a:lnTo>
                <a:close/>
              </a:path>
              <a:path w="1198879" h="234950">
                <a:moveTo>
                  <a:pt x="77724" y="225552"/>
                </a:moveTo>
                <a:lnTo>
                  <a:pt x="43541" y="200477"/>
                </a:lnTo>
                <a:lnTo>
                  <a:pt x="24860" y="155638"/>
                </a:lnTo>
                <a:lnTo>
                  <a:pt x="21335" y="115824"/>
                </a:lnTo>
                <a:lnTo>
                  <a:pt x="21335" y="196619"/>
                </a:lnTo>
                <a:lnTo>
                  <a:pt x="29896" y="208121"/>
                </a:lnTo>
                <a:lnTo>
                  <a:pt x="42957" y="219837"/>
                </a:lnTo>
                <a:lnTo>
                  <a:pt x="58162" y="228695"/>
                </a:lnTo>
                <a:lnTo>
                  <a:pt x="75437" y="234696"/>
                </a:lnTo>
                <a:lnTo>
                  <a:pt x="77724" y="2255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967738" y="4210303"/>
            <a:ext cx="24485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10335" algn="l"/>
              </a:tabLst>
            </a:pPr>
            <a:r>
              <a:rPr sz="2000" dirty="0">
                <a:latin typeface="Cambria Math"/>
                <a:cs typeface="Cambria Math"/>
              </a:rPr>
              <a:t>1</a:t>
            </a:r>
            <a:r>
              <a:rPr sz="2000" spc="-1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+ </a:t>
            </a:r>
            <a:r>
              <a:rPr sz="2000" spc="-25" dirty="0">
                <a:latin typeface="Cambria Math"/>
                <a:cs typeface="Cambria Math"/>
              </a:rPr>
              <a:t>𝐴𝛽</a:t>
            </a:r>
            <a:r>
              <a:rPr sz="2000" dirty="0">
                <a:latin typeface="Cambria Math"/>
                <a:cs typeface="Cambria Math"/>
              </a:rPr>
              <a:t>	1</a:t>
            </a:r>
            <a:r>
              <a:rPr sz="2000" spc="-1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+ </a:t>
            </a:r>
            <a:r>
              <a:rPr sz="2000" spc="-20" dirty="0">
                <a:latin typeface="Cambria Math"/>
                <a:cs typeface="Cambria Math"/>
              </a:rPr>
              <a:t>1/</a:t>
            </a:r>
            <a:r>
              <a:rPr sz="2000" spc="-20" dirty="0">
                <a:solidFill>
                  <a:srgbClr val="006FC0"/>
                </a:solidFill>
                <a:latin typeface="Cambria Math"/>
                <a:cs typeface="Cambria Math"/>
              </a:rPr>
              <a:t>𝐴𝛽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74314" y="4226814"/>
            <a:ext cx="1331595" cy="17145"/>
          </a:xfrm>
          <a:custGeom>
            <a:avLst/>
            <a:gdLst/>
            <a:ahLst/>
            <a:cxnLst/>
            <a:rect l="l" t="t" r="r" b="b"/>
            <a:pathLst>
              <a:path w="1331595" h="17145">
                <a:moveTo>
                  <a:pt x="0" y="16763"/>
                </a:moveTo>
                <a:lnTo>
                  <a:pt x="0" y="0"/>
                </a:lnTo>
                <a:lnTo>
                  <a:pt x="1331214" y="0"/>
                </a:lnTo>
                <a:lnTo>
                  <a:pt x="1331214" y="16763"/>
                </a:lnTo>
                <a:lnTo>
                  <a:pt x="0" y="167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855461" y="1301761"/>
            <a:ext cx="5682615" cy="3147695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482600" indent="-469900">
              <a:lnSpc>
                <a:spcPct val="100000"/>
              </a:lnSpc>
              <a:spcBef>
                <a:spcPts val="121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400" dirty="0">
                <a:latin typeface="Verdana"/>
                <a:cs typeface="Verdana"/>
              </a:rPr>
              <a:t>Negative</a:t>
            </a:r>
            <a:r>
              <a:rPr sz="2400" spc="-12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Feedback</a:t>
            </a:r>
            <a:endParaRPr sz="2400">
              <a:latin typeface="Verdana"/>
              <a:cs typeface="Verdana"/>
            </a:endParaRPr>
          </a:p>
          <a:p>
            <a:pPr marL="920750" lvl="1" indent="-437515">
              <a:lnSpc>
                <a:spcPct val="100000"/>
              </a:lnSpc>
              <a:spcBef>
                <a:spcPts val="919"/>
              </a:spcBef>
              <a:buClr>
                <a:srgbClr val="CC0000"/>
              </a:buClr>
              <a:buFont typeface="Wingdings"/>
              <a:buChar char=""/>
              <a:tabLst>
                <a:tab pos="920750" algn="l"/>
              </a:tabLst>
            </a:pPr>
            <a:r>
              <a:rPr sz="2000" dirty="0">
                <a:latin typeface="Verdana"/>
                <a:cs typeface="Verdana"/>
              </a:rPr>
              <a:t>Increases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accuracy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(with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accurate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β</a:t>
            </a:r>
            <a:r>
              <a:rPr sz="2000" spc="-25" dirty="0">
                <a:latin typeface="Verdana"/>
                <a:cs typeface="Verdana"/>
              </a:rPr>
              <a:t>)</a:t>
            </a:r>
            <a:endParaRPr sz="2000">
              <a:latin typeface="Verdana"/>
              <a:cs typeface="Verdana"/>
            </a:endParaRPr>
          </a:p>
          <a:p>
            <a:pPr marL="920750" lvl="1" indent="-437515">
              <a:lnSpc>
                <a:spcPct val="100000"/>
              </a:lnSpc>
              <a:spcBef>
                <a:spcPts val="1000"/>
              </a:spcBef>
              <a:buClr>
                <a:srgbClr val="CC0000"/>
              </a:buClr>
              <a:buFont typeface="Wingdings"/>
              <a:buChar char=""/>
              <a:tabLst>
                <a:tab pos="920750" algn="l"/>
              </a:tabLst>
            </a:pPr>
            <a:r>
              <a:rPr sz="2000" dirty="0">
                <a:latin typeface="Verdana"/>
                <a:cs typeface="Verdana"/>
              </a:rPr>
              <a:t>Reduces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sensitivity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gain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variations</a:t>
            </a:r>
            <a:endParaRPr sz="2000">
              <a:latin typeface="Verdana"/>
              <a:cs typeface="Verdana"/>
            </a:endParaRPr>
          </a:p>
          <a:p>
            <a:pPr marL="920750" lvl="1" indent="-437515">
              <a:lnSpc>
                <a:spcPct val="100000"/>
              </a:lnSpc>
              <a:spcBef>
                <a:spcPts val="960"/>
              </a:spcBef>
              <a:buClr>
                <a:srgbClr val="CC0000"/>
              </a:buClr>
              <a:buFont typeface="Wingdings"/>
              <a:buChar char=""/>
              <a:tabLst>
                <a:tab pos="920750" algn="l"/>
              </a:tabLst>
            </a:pPr>
            <a:r>
              <a:rPr sz="2000" dirty="0">
                <a:latin typeface="Verdana"/>
                <a:cs typeface="Verdana"/>
              </a:rPr>
              <a:t>Linearizes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system</a:t>
            </a:r>
            <a:endParaRPr sz="2000">
              <a:latin typeface="Verdana"/>
              <a:cs typeface="Verdana"/>
            </a:endParaRPr>
          </a:p>
          <a:p>
            <a:pPr marL="920750" lvl="1" indent="-437515">
              <a:lnSpc>
                <a:spcPct val="100000"/>
              </a:lnSpc>
              <a:spcBef>
                <a:spcPts val="960"/>
              </a:spcBef>
              <a:buClr>
                <a:srgbClr val="CC0000"/>
              </a:buClr>
              <a:buFont typeface="Wingdings"/>
              <a:buChar char=""/>
              <a:tabLst>
                <a:tab pos="920750" algn="l"/>
              </a:tabLst>
            </a:pPr>
            <a:r>
              <a:rPr sz="2000" dirty="0">
                <a:latin typeface="Verdana"/>
                <a:cs typeface="Verdana"/>
              </a:rPr>
              <a:t>Improves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input/output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impedance</a:t>
            </a:r>
            <a:endParaRPr sz="2000">
              <a:latin typeface="Verdana"/>
              <a:cs typeface="Verdana"/>
            </a:endParaRPr>
          </a:p>
          <a:p>
            <a:pPr marL="920750" lvl="1" indent="-437515">
              <a:lnSpc>
                <a:spcPct val="100000"/>
              </a:lnSpc>
              <a:spcBef>
                <a:spcPts val="965"/>
              </a:spcBef>
              <a:buClr>
                <a:srgbClr val="CC0000"/>
              </a:buClr>
              <a:buFont typeface="Wingdings"/>
              <a:buChar char=""/>
              <a:tabLst>
                <a:tab pos="920750" algn="l"/>
              </a:tabLst>
            </a:pPr>
            <a:r>
              <a:rPr sz="2000" dirty="0">
                <a:latin typeface="Verdana"/>
                <a:cs typeface="Verdana"/>
              </a:rPr>
              <a:t>Provides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more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usable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bandwidth</a:t>
            </a:r>
            <a:endParaRPr sz="20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spcBef>
                <a:spcPts val="905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400" spc="-10" dirty="0">
                <a:latin typeface="Verdana"/>
                <a:cs typeface="Verdana"/>
              </a:rPr>
              <a:t>However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26378" y="4424116"/>
            <a:ext cx="4369435" cy="130619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449580" indent="-436880">
              <a:lnSpc>
                <a:spcPct val="100000"/>
              </a:lnSpc>
              <a:spcBef>
                <a:spcPts val="1060"/>
              </a:spcBef>
              <a:buClr>
                <a:srgbClr val="CC0000"/>
              </a:buClr>
              <a:buFont typeface="Wingdings"/>
              <a:buChar char=""/>
              <a:tabLst>
                <a:tab pos="449580" algn="l"/>
              </a:tabLst>
            </a:pPr>
            <a:r>
              <a:rPr sz="2000" dirty="0">
                <a:latin typeface="Verdana"/>
                <a:cs typeface="Verdana"/>
              </a:rPr>
              <a:t>Lowers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achievable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gain</a:t>
            </a:r>
            <a:endParaRPr sz="2000">
              <a:latin typeface="Verdana"/>
              <a:cs typeface="Verdana"/>
            </a:endParaRPr>
          </a:p>
          <a:p>
            <a:pPr marL="449580" indent="-436880">
              <a:lnSpc>
                <a:spcPct val="100000"/>
              </a:lnSpc>
              <a:spcBef>
                <a:spcPts val="960"/>
              </a:spcBef>
              <a:buClr>
                <a:srgbClr val="CC0000"/>
              </a:buClr>
              <a:buFont typeface="Wingdings"/>
              <a:buChar char=""/>
              <a:tabLst>
                <a:tab pos="449580" algn="l"/>
              </a:tabLst>
            </a:pPr>
            <a:r>
              <a:rPr sz="2000" dirty="0">
                <a:latin typeface="Verdana"/>
                <a:cs typeface="Verdana"/>
              </a:rPr>
              <a:t>Increases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area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complexity</a:t>
            </a:r>
            <a:endParaRPr sz="2000">
              <a:latin typeface="Verdana"/>
              <a:cs typeface="Verdana"/>
            </a:endParaRPr>
          </a:p>
          <a:p>
            <a:pPr marL="449580" indent="-436880">
              <a:lnSpc>
                <a:spcPct val="100000"/>
              </a:lnSpc>
              <a:spcBef>
                <a:spcPts val="960"/>
              </a:spcBef>
              <a:buClr>
                <a:srgbClr val="CC0000"/>
              </a:buClr>
              <a:buFont typeface="Wingdings"/>
              <a:buChar char=""/>
              <a:tabLst>
                <a:tab pos="449580" algn="l"/>
              </a:tabLst>
            </a:pPr>
            <a:r>
              <a:rPr sz="2000" dirty="0">
                <a:latin typeface="Verdana"/>
                <a:cs typeface="Verdana"/>
              </a:rPr>
              <a:t>Can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lead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instability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230630" y="1300391"/>
            <a:ext cx="3373120" cy="2131060"/>
            <a:chOff x="1230630" y="1300391"/>
            <a:chExt cx="3373120" cy="213106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75738" y="1323593"/>
              <a:ext cx="1198626" cy="116738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475738" y="1323593"/>
              <a:ext cx="1198880" cy="1167765"/>
            </a:xfrm>
            <a:custGeom>
              <a:avLst/>
              <a:gdLst/>
              <a:ahLst/>
              <a:cxnLst/>
              <a:rect l="l" t="t" r="r" b="b"/>
              <a:pathLst>
                <a:path w="1198879" h="1167764">
                  <a:moveTo>
                    <a:pt x="0" y="0"/>
                  </a:moveTo>
                  <a:lnTo>
                    <a:pt x="0" y="1167384"/>
                  </a:lnTo>
                  <a:lnTo>
                    <a:pt x="1198626" y="579881"/>
                  </a:lnTo>
                  <a:lnTo>
                    <a:pt x="0" y="0"/>
                  </a:lnTo>
                  <a:close/>
                </a:path>
              </a:pathLst>
            </a:custGeom>
            <a:ln w="46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12541" y="1800605"/>
              <a:ext cx="179831" cy="19735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674363" y="1903475"/>
              <a:ext cx="696595" cy="0"/>
            </a:xfrm>
            <a:custGeom>
              <a:avLst/>
              <a:gdLst/>
              <a:ahLst/>
              <a:cxnLst/>
              <a:rect l="l" t="t" r="r" b="b"/>
              <a:pathLst>
                <a:path w="696595">
                  <a:moveTo>
                    <a:pt x="696467" y="0"/>
                  </a:moveTo>
                  <a:lnTo>
                    <a:pt x="0" y="0"/>
                  </a:lnTo>
                </a:path>
              </a:pathLst>
            </a:custGeom>
            <a:ln w="232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349752" y="1903475"/>
              <a:ext cx="803910" cy="1167765"/>
            </a:xfrm>
            <a:custGeom>
              <a:avLst/>
              <a:gdLst/>
              <a:ahLst/>
              <a:cxnLst/>
              <a:rect l="l" t="t" r="r" b="b"/>
              <a:pathLst>
                <a:path w="803910" h="1167764">
                  <a:moveTo>
                    <a:pt x="803910" y="0"/>
                  </a:moveTo>
                  <a:lnTo>
                    <a:pt x="803910" y="1167384"/>
                  </a:lnTo>
                  <a:lnTo>
                    <a:pt x="0" y="1167384"/>
                  </a:lnTo>
                </a:path>
              </a:pathLst>
            </a:custGeom>
            <a:ln w="232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692146" y="2868167"/>
              <a:ext cx="650240" cy="411480"/>
            </a:xfrm>
            <a:custGeom>
              <a:avLst/>
              <a:gdLst/>
              <a:ahLst/>
              <a:cxnLst/>
              <a:rect l="l" t="t" r="r" b="b"/>
              <a:pathLst>
                <a:path w="650239" h="411479">
                  <a:moveTo>
                    <a:pt x="61722" y="411479"/>
                  </a:moveTo>
                  <a:lnTo>
                    <a:pt x="588264" y="411479"/>
                  </a:lnTo>
                  <a:lnTo>
                    <a:pt x="590550" y="409193"/>
                  </a:lnTo>
                  <a:lnTo>
                    <a:pt x="613219" y="404526"/>
                  </a:lnTo>
                  <a:lnTo>
                    <a:pt x="631888" y="391858"/>
                  </a:lnTo>
                  <a:lnTo>
                    <a:pt x="644556" y="373189"/>
                  </a:lnTo>
                  <a:lnTo>
                    <a:pt x="649224" y="350519"/>
                  </a:lnTo>
                  <a:lnTo>
                    <a:pt x="649986" y="348995"/>
                  </a:lnTo>
                  <a:lnTo>
                    <a:pt x="649986" y="55625"/>
                  </a:lnTo>
                  <a:lnTo>
                    <a:pt x="649224" y="58673"/>
                  </a:lnTo>
                  <a:lnTo>
                    <a:pt x="644556" y="35683"/>
                  </a:lnTo>
                  <a:lnTo>
                    <a:pt x="631888" y="17049"/>
                  </a:lnTo>
                  <a:lnTo>
                    <a:pt x="613219" y="4560"/>
                  </a:lnTo>
                  <a:lnTo>
                    <a:pt x="590550" y="0"/>
                  </a:lnTo>
                  <a:lnTo>
                    <a:pt x="588264" y="1523"/>
                  </a:lnTo>
                  <a:lnTo>
                    <a:pt x="61722" y="1523"/>
                  </a:lnTo>
                  <a:lnTo>
                    <a:pt x="17049" y="17049"/>
                  </a:lnTo>
                  <a:lnTo>
                    <a:pt x="0" y="58673"/>
                  </a:lnTo>
                  <a:lnTo>
                    <a:pt x="0" y="55625"/>
                  </a:lnTo>
                  <a:lnTo>
                    <a:pt x="0" y="350519"/>
                  </a:lnTo>
                  <a:lnTo>
                    <a:pt x="17049" y="391858"/>
                  </a:lnTo>
                  <a:lnTo>
                    <a:pt x="58674" y="409193"/>
                  </a:lnTo>
                  <a:lnTo>
                    <a:pt x="61722" y="411479"/>
                  </a:lnTo>
                  <a:close/>
                </a:path>
              </a:pathLst>
            </a:custGeom>
            <a:ln w="232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45130" y="2923794"/>
              <a:ext cx="176783" cy="50749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370831" y="1903475"/>
              <a:ext cx="147320" cy="0"/>
            </a:xfrm>
            <a:custGeom>
              <a:avLst/>
              <a:gdLst/>
              <a:ahLst/>
              <a:cxnLst/>
              <a:rect l="l" t="t" r="r" b="b"/>
              <a:pathLst>
                <a:path w="147320">
                  <a:moveTo>
                    <a:pt x="147065" y="0"/>
                  </a:moveTo>
                  <a:lnTo>
                    <a:pt x="0" y="0"/>
                  </a:lnTo>
                </a:path>
              </a:pathLst>
            </a:custGeom>
            <a:ln w="232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19421" y="1867661"/>
              <a:ext cx="72390" cy="73660"/>
            </a:xfrm>
            <a:custGeom>
              <a:avLst/>
              <a:gdLst/>
              <a:ahLst/>
              <a:cxnLst/>
              <a:rect l="l" t="t" r="r" b="b"/>
              <a:pathLst>
                <a:path w="72389" h="73660">
                  <a:moveTo>
                    <a:pt x="35813" y="0"/>
                  </a:moveTo>
                  <a:lnTo>
                    <a:pt x="21859" y="2821"/>
                  </a:lnTo>
                  <a:lnTo>
                    <a:pt x="10477" y="10572"/>
                  </a:lnTo>
                  <a:lnTo>
                    <a:pt x="2809" y="22181"/>
                  </a:lnTo>
                  <a:lnTo>
                    <a:pt x="0" y="36576"/>
                  </a:lnTo>
                  <a:lnTo>
                    <a:pt x="2809" y="50649"/>
                  </a:lnTo>
                  <a:lnTo>
                    <a:pt x="10477" y="62293"/>
                  </a:lnTo>
                  <a:lnTo>
                    <a:pt x="21859" y="70223"/>
                  </a:lnTo>
                  <a:lnTo>
                    <a:pt x="35813" y="73152"/>
                  </a:lnTo>
                  <a:lnTo>
                    <a:pt x="50208" y="70223"/>
                  </a:lnTo>
                  <a:lnTo>
                    <a:pt x="61817" y="62293"/>
                  </a:lnTo>
                  <a:lnTo>
                    <a:pt x="69568" y="50649"/>
                  </a:lnTo>
                  <a:lnTo>
                    <a:pt x="72389" y="36576"/>
                  </a:lnTo>
                  <a:lnTo>
                    <a:pt x="69568" y="22181"/>
                  </a:lnTo>
                  <a:lnTo>
                    <a:pt x="61817" y="10572"/>
                  </a:lnTo>
                  <a:lnTo>
                    <a:pt x="50208" y="2821"/>
                  </a:lnTo>
                  <a:lnTo>
                    <a:pt x="35813" y="0"/>
                  </a:lnTo>
                  <a:close/>
                </a:path>
              </a:pathLst>
            </a:custGeom>
            <a:ln w="232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230630" y="1903475"/>
              <a:ext cx="1245235" cy="0"/>
            </a:xfrm>
            <a:custGeom>
              <a:avLst/>
              <a:gdLst/>
              <a:ahLst/>
              <a:cxnLst/>
              <a:rect l="l" t="t" r="r" b="b"/>
              <a:pathLst>
                <a:path w="1245235">
                  <a:moveTo>
                    <a:pt x="633984" y="0"/>
                  </a:moveTo>
                  <a:lnTo>
                    <a:pt x="1245108" y="0"/>
                  </a:lnTo>
                </a:path>
                <a:path w="1245235">
                  <a:moveTo>
                    <a:pt x="0" y="0"/>
                  </a:moveTo>
                  <a:lnTo>
                    <a:pt x="486918" y="0"/>
                  </a:lnTo>
                </a:path>
              </a:pathLst>
            </a:custGeom>
            <a:ln w="232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595628" y="1692401"/>
              <a:ext cx="394970" cy="394335"/>
            </a:xfrm>
            <a:custGeom>
              <a:avLst/>
              <a:gdLst/>
              <a:ahLst/>
              <a:cxnLst/>
              <a:rect l="l" t="t" r="r" b="b"/>
              <a:pathLst>
                <a:path w="394969" h="394335">
                  <a:moveTo>
                    <a:pt x="394716" y="197358"/>
                  </a:moveTo>
                  <a:lnTo>
                    <a:pt x="389501" y="152115"/>
                  </a:lnTo>
                  <a:lnTo>
                    <a:pt x="374650" y="110578"/>
                  </a:lnTo>
                  <a:lnTo>
                    <a:pt x="351348" y="73933"/>
                  </a:lnTo>
                  <a:lnTo>
                    <a:pt x="320782" y="43367"/>
                  </a:lnTo>
                  <a:lnTo>
                    <a:pt x="284137" y="20065"/>
                  </a:lnTo>
                  <a:lnTo>
                    <a:pt x="242600" y="5214"/>
                  </a:lnTo>
                  <a:lnTo>
                    <a:pt x="197357" y="0"/>
                  </a:lnTo>
                  <a:lnTo>
                    <a:pt x="152115" y="5214"/>
                  </a:lnTo>
                  <a:lnTo>
                    <a:pt x="110578" y="20065"/>
                  </a:lnTo>
                  <a:lnTo>
                    <a:pt x="73933" y="43367"/>
                  </a:lnTo>
                  <a:lnTo>
                    <a:pt x="43367" y="73933"/>
                  </a:lnTo>
                  <a:lnTo>
                    <a:pt x="20065" y="110578"/>
                  </a:lnTo>
                  <a:lnTo>
                    <a:pt x="5214" y="152115"/>
                  </a:lnTo>
                  <a:lnTo>
                    <a:pt x="0" y="197358"/>
                  </a:lnTo>
                  <a:lnTo>
                    <a:pt x="5214" y="242318"/>
                  </a:lnTo>
                  <a:lnTo>
                    <a:pt x="20065" y="283652"/>
                  </a:lnTo>
                  <a:lnTo>
                    <a:pt x="43367" y="320162"/>
                  </a:lnTo>
                  <a:lnTo>
                    <a:pt x="73933" y="350646"/>
                  </a:lnTo>
                  <a:lnTo>
                    <a:pt x="110578" y="373906"/>
                  </a:lnTo>
                  <a:lnTo>
                    <a:pt x="152115" y="388742"/>
                  </a:lnTo>
                  <a:lnTo>
                    <a:pt x="197358" y="393954"/>
                  </a:lnTo>
                  <a:lnTo>
                    <a:pt x="242600" y="388742"/>
                  </a:lnTo>
                  <a:lnTo>
                    <a:pt x="284137" y="373906"/>
                  </a:lnTo>
                  <a:lnTo>
                    <a:pt x="320782" y="350646"/>
                  </a:lnTo>
                  <a:lnTo>
                    <a:pt x="351348" y="320162"/>
                  </a:lnTo>
                  <a:lnTo>
                    <a:pt x="374650" y="283652"/>
                  </a:lnTo>
                  <a:lnTo>
                    <a:pt x="389501" y="242318"/>
                  </a:lnTo>
                  <a:lnTo>
                    <a:pt x="394716" y="1973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595628" y="1692401"/>
              <a:ext cx="394970" cy="394335"/>
            </a:xfrm>
            <a:custGeom>
              <a:avLst/>
              <a:gdLst/>
              <a:ahLst/>
              <a:cxnLst/>
              <a:rect l="l" t="t" r="r" b="b"/>
              <a:pathLst>
                <a:path w="394969" h="394335">
                  <a:moveTo>
                    <a:pt x="394716" y="197358"/>
                  </a:moveTo>
                  <a:lnTo>
                    <a:pt x="389501" y="152115"/>
                  </a:lnTo>
                  <a:lnTo>
                    <a:pt x="374650" y="110578"/>
                  </a:lnTo>
                  <a:lnTo>
                    <a:pt x="351348" y="73933"/>
                  </a:lnTo>
                  <a:lnTo>
                    <a:pt x="320782" y="43367"/>
                  </a:lnTo>
                  <a:lnTo>
                    <a:pt x="284137" y="20065"/>
                  </a:lnTo>
                  <a:lnTo>
                    <a:pt x="242600" y="5214"/>
                  </a:lnTo>
                  <a:lnTo>
                    <a:pt x="197357" y="0"/>
                  </a:lnTo>
                  <a:lnTo>
                    <a:pt x="152115" y="5214"/>
                  </a:lnTo>
                  <a:lnTo>
                    <a:pt x="110578" y="20065"/>
                  </a:lnTo>
                  <a:lnTo>
                    <a:pt x="73933" y="43367"/>
                  </a:lnTo>
                  <a:lnTo>
                    <a:pt x="43367" y="73933"/>
                  </a:lnTo>
                  <a:lnTo>
                    <a:pt x="20065" y="110578"/>
                  </a:lnTo>
                  <a:lnTo>
                    <a:pt x="5214" y="152115"/>
                  </a:lnTo>
                  <a:lnTo>
                    <a:pt x="0" y="197358"/>
                  </a:lnTo>
                  <a:lnTo>
                    <a:pt x="5214" y="242318"/>
                  </a:lnTo>
                  <a:lnTo>
                    <a:pt x="20065" y="283652"/>
                  </a:lnTo>
                  <a:lnTo>
                    <a:pt x="43367" y="320162"/>
                  </a:lnTo>
                  <a:lnTo>
                    <a:pt x="73933" y="350646"/>
                  </a:lnTo>
                  <a:lnTo>
                    <a:pt x="110578" y="373906"/>
                  </a:lnTo>
                  <a:lnTo>
                    <a:pt x="152115" y="388742"/>
                  </a:lnTo>
                  <a:lnTo>
                    <a:pt x="197358" y="393954"/>
                  </a:lnTo>
                  <a:lnTo>
                    <a:pt x="242600" y="388742"/>
                  </a:lnTo>
                  <a:lnTo>
                    <a:pt x="284137" y="373906"/>
                  </a:lnTo>
                  <a:lnTo>
                    <a:pt x="320782" y="350646"/>
                  </a:lnTo>
                  <a:lnTo>
                    <a:pt x="351348" y="320162"/>
                  </a:lnTo>
                  <a:lnTo>
                    <a:pt x="374650" y="283652"/>
                  </a:lnTo>
                  <a:lnTo>
                    <a:pt x="389501" y="242318"/>
                  </a:lnTo>
                  <a:lnTo>
                    <a:pt x="394716" y="197358"/>
                  </a:lnTo>
                  <a:close/>
                </a:path>
              </a:pathLst>
            </a:custGeom>
            <a:ln w="232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17548" y="1741169"/>
              <a:ext cx="149351" cy="560831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787652" y="2088641"/>
              <a:ext cx="904875" cy="982344"/>
            </a:xfrm>
            <a:custGeom>
              <a:avLst/>
              <a:gdLst/>
              <a:ahLst/>
              <a:cxnLst/>
              <a:rect l="l" t="t" r="r" b="b"/>
              <a:pathLst>
                <a:path w="904875" h="982344">
                  <a:moveTo>
                    <a:pt x="904494" y="982217"/>
                  </a:moveTo>
                  <a:lnTo>
                    <a:pt x="0" y="982217"/>
                  </a:lnTo>
                  <a:lnTo>
                    <a:pt x="0" y="0"/>
                  </a:lnTo>
                </a:path>
              </a:pathLst>
            </a:custGeom>
            <a:ln w="232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130040" y="1877567"/>
              <a:ext cx="47625" cy="52705"/>
            </a:xfrm>
            <a:custGeom>
              <a:avLst/>
              <a:gdLst/>
              <a:ahLst/>
              <a:cxnLst/>
              <a:rect l="l" t="t" r="r" b="b"/>
              <a:pathLst>
                <a:path w="47625" h="52705">
                  <a:moveTo>
                    <a:pt x="47244" y="26670"/>
                  </a:moveTo>
                  <a:lnTo>
                    <a:pt x="45374" y="16394"/>
                  </a:lnTo>
                  <a:lnTo>
                    <a:pt x="40290" y="7905"/>
                  </a:lnTo>
                  <a:lnTo>
                    <a:pt x="32777" y="2131"/>
                  </a:lnTo>
                  <a:lnTo>
                    <a:pt x="23622" y="0"/>
                  </a:lnTo>
                  <a:lnTo>
                    <a:pt x="14466" y="2131"/>
                  </a:lnTo>
                  <a:lnTo>
                    <a:pt x="6953" y="7905"/>
                  </a:lnTo>
                  <a:lnTo>
                    <a:pt x="1869" y="16394"/>
                  </a:lnTo>
                  <a:lnTo>
                    <a:pt x="0" y="26670"/>
                  </a:lnTo>
                  <a:lnTo>
                    <a:pt x="1869" y="36826"/>
                  </a:lnTo>
                  <a:lnTo>
                    <a:pt x="6953" y="45053"/>
                  </a:lnTo>
                  <a:lnTo>
                    <a:pt x="14466" y="50565"/>
                  </a:lnTo>
                  <a:lnTo>
                    <a:pt x="23622" y="52578"/>
                  </a:lnTo>
                  <a:lnTo>
                    <a:pt x="32777" y="50565"/>
                  </a:lnTo>
                  <a:lnTo>
                    <a:pt x="40290" y="45053"/>
                  </a:lnTo>
                  <a:lnTo>
                    <a:pt x="45374" y="36826"/>
                  </a:lnTo>
                  <a:lnTo>
                    <a:pt x="47244" y="266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130040" y="1877567"/>
              <a:ext cx="47625" cy="52705"/>
            </a:xfrm>
            <a:custGeom>
              <a:avLst/>
              <a:gdLst/>
              <a:ahLst/>
              <a:cxnLst/>
              <a:rect l="l" t="t" r="r" b="b"/>
              <a:pathLst>
                <a:path w="47625" h="52705">
                  <a:moveTo>
                    <a:pt x="47244" y="26670"/>
                  </a:moveTo>
                  <a:lnTo>
                    <a:pt x="45374" y="16394"/>
                  </a:lnTo>
                  <a:lnTo>
                    <a:pt x="40290" y="7905"/>
                  </a:lnTo>
                  <a:lnTo>
                    <a:pt x="32777" y="2131"/>
                  </a:lnTo>
                  <a:lnTo>
                    <a:pt x="23622" y="0"/>
                  </a:lnTo>
                  <a:lnTo>
                    <a:pt x="14466" y="2131"/>
                  </a:lnTo>
                  <a:lnTo>
                    <a:pt x="6953" y="7905"/>
                  </a:lnTo>
                  <a:lnTo>
                    <a:pt x="1869" y="16394"/>
                  </a:lnTo>
                  <a:lnTo>
                    <a:pt x="0" y="26670"/>
                  </a:lnTo>
                  <a:lnTo>
                    <a:pt x="1869" y="36826"/>
                  </a:lnTo>
                  <a:lnTo>
                    <a:pt x="6953" y="45053"/>
                  </a:lnTo>
                  <a:lnTo>
                    <a:pt x="14466" y="50565"/>
                  </a:lnTo>
                  <a:lnTo>
                    <a:pt x="23622" y="52578"/>
                  </a:lnTo>
                  <a:lnTo>
                    <a:pt x="32777" y="50565"/>
                  </a:lnTo>
                  <a:lnTo>
                    <a:pt x="40290" y="45053"/>
                  </a:lnTo>
                  <a:lnTo>
                    <a:pt x="45374" y="36826"/>
                  </a:lnTo>
                  <a:lnTo>
                    <a:pt x="47244" y="26670"/>
                  </a:lnTo>
                  <a:close/>
                </a:path>
              </a:pathLst>
            </a:custGeom>
            <a:ln w="77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478280" y="1748789"/>
              <a:ext cx="0" cy="62230"/>
            </a:xfrm>
            <a:custGeom>
              <a:avLst/>
              <a:gdLst/>
              <a:ahLst/>
              <a:cxnLst/>
              <a:rect l="l" t="t" r="r" b="b"/>
              <a:pathLst>
                <a:path h="62230">
                  <a:moveTo>
                    <a:pt x="0" y="0"/>
                  </a:moveTo>
                  <a:lnTo>
                    <a:pt x="0" y="61722"/>
                  </a:lnTo>
                </a:path>
              </a:pathLst>
            </a:custGeom>
            <a:ln w="232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478280" y="1694687"/>
              <a:ext cx="0" cy="93345"/>
            </a:xfrm>
            <a:custGeom>
              <a:avLst/>
              <a:gdLst/>
              <a:ahLst/>
              <a:cxnLst/>
              <a:rect l="l" t="t" r="r" b="b"/>
              <a:pathLst>
                <a:path h="93344">
                  <a:moveTo>
                    <a:pt x="0" y="0"/>
                  </a:moveTo>
                  <a:lnTo>
                    <a:pt x="0" y="92964"/>
                  </a:lnTo>
                </a:path>
              </a:pathLst>
            </a:custGeom>
            <a:ln w="232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424178" y="1748789"/>
              <a:ext cx="116205" cy="0"/>
            </a:xfrm>
            <a:custGeom>
              <a:avLst/>
              <a:gdLst/>
              <a:ahLst/>
              <a:cxnLst/>
              <a:rect l="l" t="t" r="r" b="b"/>
              <a:pathLst>
                <a:path w="116205">
                  <a:moveTo>
                    <a:pt x="0" y="0"/>
                  </a:moveTo>
                  <a:lnTo>
                    <a:pt x="115823" y="0"/>
                  </a:lnTo>
                </a:path>
              </a:pathLst>
            </a:custGeom>
            <a:ln w="232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918716" y="2119883"/>
              <a:ext cx="116205" cy="0"/>
            </a:xfrm>
            <a:custGeom>
              <a:avLst/>
              <a:gdLst/>
              <a:ahLst/>
              <a:cxnLst/>
              <a:rect l="l" t="t" r="r" b="b"/>
              <a:pathLst>
                <a:path w="116205">
                  <a:moveTo>
                    <a:pt x="0" y="0"/>
                  </a:moveTo>
                  <a:lnTo>
                    <a:pt x="115823" y="0"/>
                  </a:lnTo>
                </a:path>
              </a:pathLst>
            </a:custGeom>
            <a:ln w="232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370076" y="1903475"/>
              <a:ext cx="100330" cy="0"/>
            </a:xfrm>
            <a:custGeom>
              <a:avLst/>
              <a:gdLst/>
              <a:ahLst/>
              <a:cxnLst/>
              <a:rect l="l" t="t" r="r" b="b"/>
              <a:pathLst>
                <a:path w="100330">
                  <a:moveTo>
                    <a:pt x="0" y="0"/>
                  </a:moveTo>
                  <a:lnTo>
                    <a:pt x="99822" y="0"/>
                  </a:lnTo>
                </a:path>
              </a:pathLst>
            </a:custGeom>
            <a:ln w="77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462278" y="1864613"/>
              <a:ext cx="124460" cy="77470"/>
            </a:xfrm>
            <a:custGeom>
              <a:avLst/>
              <a:gdLst/>
              <a:ahLst/>
              <a:cxnLst/>
              <a:rect l="l" t="t" r="r" b="b"/>
              <a:pathLst>
                <a:path w="124459" h="77469">
                  <a:moveTo>
                    <a:pt x="124205" y="38861"/>
                  </a:moveTo>
                  <a:lnTo>
                    <a:pt x="0" y="0"/>
                  </a:lnTo>
                  <a:lnTo>
                    <a:pt x="0" y="76962"/>
                  </a:lnTo>
                  <a:lnTo>
                    <a:pt x="124205" y="388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787652" y="2196845"/>
              <a:ext cx="0" cy="108585"/>
            </a:xfrm>
            <a:custGeom>
              <a:avLst/>
              <a:gdLst/>
              <a:ahLst/>
              <a:cxnLst/>
              <a:rect l="l" t="t" r="r" b="b"/>
              <a:pathLst>
                <a:path h="108585">
                  <a:moveTo>
                    <a:pt x="0" y="108203"/>
                  </a:moveTo>
                  <a:lnTo>
                    <a:pt x="0" y="0"/>
                  </a:lnTo>
                </a:path>
              </a:pathLst>
            </a:custGeom>
            <a:ln w="77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741170" y="2088641"/>
              <a:ext cx="85090" cy="124460"/>
            </a:xfrm>
            <a:custGeom>
              <a:avLst/>
              <a:gdLst/>
              <a:ahLst/>
              <a:cxnLst/>
              <a:rect l="l" t="t" r="r" b="b"/>
              <a:pathLst>
                <a:path w="85089" h="124460">
                  <a:moveTo>
                    <a:pt x="84582" y="124205"/>
                  </a:moveTo>
                  <a:lnTo>
                    <a:pt x="46481" y="0"/>
                  </a:lnTo>
                  <a:lnTo>
                    <a:pt x="0" y="124205"/>
                  </a:lnTo>
                  <a:lnTo>
                    <a:pt x="84582" y="1242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649215" y="1748282"/>
            <a:ext cx="817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Output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58977" y="1748282"/>
            <a:ext cx="644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Input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33476" y="5520182"/>
            <a:ext cx="452755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30" dirty="0">
                <a:latin typeface="Cambria Math"/>
                <a:cs typeface="Cambria Math"/>
              </a:rPr>
              <a:t>𝑖𝑛𝐹𝐵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565402" y="5520182"/>
            <a:ext cx="210185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45" dirty="0">
                <a:latin typeface="Cambria Math"/>
                <a:cs typeface="Cambria Math"/>
              </a:rPr>
              <a:t>𝑖𝑛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76504" y="5399785"/>
            <a:ext cx="22910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82625" algn="l"/>
                <a:tab pos="1301750" algn="l"/>
              </a:tabLst>
            </a:pPr>
            <a:r>
              <a:rPr sz="2000" spc="-50" dirty="0">
                <a:latin typeface="Cambria Math"/>
                <a:cs typeface="Cambria Math"/>
              </a:rPr>
              <a:t>𝑅</a:t>
            </a:r>
            <a:r>
              <a:rPr sz="2000" dirty="0">
                <a:latin typeface="Cambria Math"/>
                <a:cs typeface="Cambria Math"/>
              </a:rPr>
              <a:t>	=</a:t>
            </a:r>
            <a:r>
              <a:rPr sz="2000" spc="105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𝑅</a:t>
            </a:r>
            <a:r>
              <a:rPr sz="2000" dirty="0">
                <a:latin typeface="Cambria Math"/>
                <a:cs typeface="Cambria Math"/>
              </a:rPr>
              <a:t>	(1</a:t>
            </a:r>
            <a:r>
              <a:rPr sz="2000" spc="-1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+</a:t>
            </a:r>
            <a:r>
              <a:rPr sz="2000" spc="-15" dirty="0">
                <a:latin typeface="Cambria Math"/>
                <a:cs typeface="Cambria Math"/>
              </a:rPr>
              <a:t> </a:t>
            </a:r>
            <a:r>
              <a:rPr sz="2000" spc="-25" dirty="0">
                <a:solidFill>
                  <a:srgbClr val="006FC0"/>
                </a:solidFill>
                <a:latin typeface="Cambria Math"/>
                <a:cs typeface="Cambria Math"/>
              </a:rPr>
              <a:t>𝐴𝛽</a:t>
            </a:r>
            <a:r>
              <a:rPr sz="2000" spc="-25" dirty="0">
                <a:latin typeface="Cambria Math"/>
                <a:cs typeface="Cambria Math"/>
              </a:rPr>
              <a:t>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215661" y="5439409"/>
            <a:ext cx="106235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3000" baseline="11111" dirty="0">
                <a:latin typeface="Cambria Math"/>
                <a:cs typeface="Cambria Math"/>
              </a:rPr>
              <a:t>𝑅</a:t>
            </a:r>
            <a:r>
              <a:rPr sz="1450" dirty="0">
                <a:latin typeface="Cambria Math"/>
                <a:cs typeface="Cambria Math"/>
              </a:rPr>
              <a:t>𝑜𝑢𝑡𝐹𝐵</a:t>
            </a:r>
            <a:r>
              <a:rPr sz="1450" spc="150" dirty="0">
                <a:latin typeface="Cambria Math"/>
                <a:cs typeface="Cambria Math"/>
              </a:rPr>
              <a:t>  </a:t>
            </a:r>
            <a:r>
              <a:rPr sz="3000" spc="-75" baseline="11111" dirty="0">
                <a:latin typeface="Cambria Math"/>
                <a:cs typeface="Cambria Math"/>
              </a:rPr>
              <a:t>=</a:t>
            </a:r>
            <a:endParaRPr sz="3000" baseline="11111"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563624" y="5247385"/>
            <a:ext cx="54419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3000" spc="-30" baseline="11111" dirty="0">
                <a:latin typeface="Cambria Math"/>
                <a:cs typeface="Cambria Math"/>
              </a:rPr>
              <a:t>𝑅</a:t>
            </a:r>
            <a:r>
              <a:rPr sz="1450" spc="-20" dirty="0">
                <a:latin typeface="Cambria Math"/>
                <a:cs typeface="Cambria Math"/>
              </a:rPr>
              <a:t>𝑜𝑢𝑡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297934" y="5557520"/>
            <a:ext cx="10026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(1</a:t>
            </a:r>
            <a:r>
              <a:rPr sz="2000" spc="-1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+</a:t>
            </a:r>
            <a:r>
              <a:rPr sz="2000" spc="-15" dirty="0">
                <a:latin typeface="Cambria Math"/>
                <a:cs typeface="Cambria Math"/>
              </a:rPr>
              <a:t> </a:t>
            </a:r>
            <a:r>
              <a:rPr sz="2000" spc="-25" dirty="0">
                <a:solidFill>
                  <a:srgbClr val="006FC0"/>
                </a:solidFill>
                <a:latin typeface="Cambria Math"/>
                <a:cs typeface="Cambria Math"/>
              </a:rPr>
              <a:t>𝐴𝛽</a:t>
            </a:r>
            <a:r>
              <a:rPr sz="2000" spc="-25" dirty="0">
                <a:latin typeface="Cambria Math"/>
                <a:cs typeface="Cambria Math"/>
              </a:rPr>
              <a:t>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4311396" y="5574029"/>
            <a:ext cx="1065530" cy="17145"/>
          </a:xfrm>
          <a:custGeom>
            <a:avLst/>
            <a:gdLst/>
            <a:ahLst/>
            <a:cxnLst/>
            <a:rect l="l" t="t" r="r" b="b"/>
            <a:pathLst>
              <a:path w="1065529" h="17145">
                <a:moveTo>
                  <a:pt x="0" y="16763"/>
                </a:moveTo>
                <a:lnTo>
                  <a:pt x="0" y="0"/>
                </a:lnTo>
                <a:lnTo>
                  <a:pt x="1065276" y="0"/>
                </a:lnTo>
                <a:lnTo>
                  <a:pt x="1065276" y="16763"/>
                </a:lnTo>
                <a:lnTo>
                  <a:pt x="0" y="167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434584" y="5408676"/>
            <a:ext cx="242570" cy="299085"/>
          </a:xfrm>
          <a:custGeom>
            <a:avLst/>
            <a:gdLst/>
            <a:ahLst/>
            <a:cxnLst/>
            <a:rect l="l" t="t" r="r" b="b"/>
            <a:pathLst>
              <a:path w="242570" h="299085">
                <a:moveTo>
                  <a:pt x="242315" y="177546"/>
                </a:moveTo>
                <a:lnTo>
                  <a:pt x="181356" y="177546"/>
                </a:lnTo>
                <a:lnTo>
                  <a:pt x="181356" y="0"/>
                </a:lnTo>
                <a:lnTo>
                  <a:pt x="60197" y="0"/>
                </a:lnTo>
                <a:lnTo>
                  <a:pt x="60198" y="177546"/>
                </a:lnTo>
                <a:lnTo>
                  <a:pt x="0" y="177546"/>
                </a:lnTo>
                <a:lnTo>
                  <a:pt x="121157" y="298704"/>
                </a:lnTo>
                <a:lnTo>
                  <a:pt x="242315" y="177546"/>
                </a:lnTo>
                <a:close/>
              </a:path>
            </a:pathLst>
          </a:custGeom>
          <a:solidFill>
            <a:srgbClr val="CB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811017" y="5422391"/>
            <a:ext cx="242570" cy="299720"/>
          </a:xfrm>
          <a:custGeom>
            <a:avLst/>
            <a:gdLst/>
            <a:ahLst/>
            <a:cxnLst/>
            <a:rect l="l" t="t" r="r" b="b"/>
            <a:pathLst>
              <a:path w="242569" h="299720">
                <a:moveTo>
                  <a:pt x="242315" y="121157"/>
                </a:moveTo>
                <a:lnTo>
                  <a:pt x="121157" y="0"/>
                </a:lnTo>
                <a:lnTo>
                  <a:pt x="0" y="121157"/>
                </a:lnTo>
                <a:lnTo>
                  <a:pt x="60960" y="121157"/>
                </a:lnTo>
                <a:lnTo>
                  <a:pt x="60960" y="299465"/>
                </a:lnTo>
                <a:lnTo>
                  <a:pt x="182118" y="299465"/>
                </a:lnTo>
                <a:lnTo>
                  <a:pt x="182118" y="121157"/>
                </a:lnTo>
                <a:lnTo>
                  <a:pt x="242315" y="121157"/>
                </a:lnTo>
                <a:close/>
              </a:path>
            </a:pathLst>
          </a:custGeom>
          <a:solidFill>
            <a:srgbClr val="CB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679958" y="4776470"/>
            <a:ext cx="46882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Verdana"/>
                <a:cs typeface="Verdana"/>
              </a:rPr>
              <a:t>For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voltage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(series-</a:t>
            </a:r>
            <a:r>
              <a:rPr sz="2000" dirty="0">
                <a:latin typeface="Verdana"/>
                <a:cs typeface="Verdana"/>
              </a:rPr>
              <a:t>shunt)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feedback: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DA7C3BF2-59E2-401B-BD3C-A3ACEA51BE76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52" name="object 5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54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99147" y="4283964"/>
            <a:ext cx="4024629" cy="10160"/>
          </a:xfrm>
          <a:custGeom>
            <a:avLst/>
            <a:gdLst/>
            <a:ahLst/>
            <a:cxnLst/>
            <a:rect l="l" t="t" r="r" b="b"/>
            <a:pathLst>
              <a:path w="4024629" h="10160">
                <a:moveTo>
                  <a:pt x="4024122" y="9905"/>
                </a:moveTo>
                <a:lnTo>
                  <a:pt x="4024122" y="0"/>
                </a:lnTo>
                <a:lnTo>
                  <a:pt x="0" y="0"/>
                </a:lnTo>
                <a:lnTo>
                  <a:pt x="0" y="9905"/>
                </a:lnTo>
                <a:lnTo>
                  <a:pt x="4024122" y="9905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99147" y="3999738"/>
            <a:ext cx="4024629" cy="9525"/>
          </a:xfrm>
          <a:custGeom>
            <a:avLst/>
            <a:gdLst/>
            <a:ahLst/>
            <a:cxnLst/>
            <a:rect l="l" t="t" r="r" b="b"/>
            <a:pathLst>
              <a:path w="4024629" h="9525">
                <a:moveTo>
                  <a:pt x="4024122" y="9144"/>
                </a:moveTo>
                <a:lnTo>
                  <a:pt x="4024122" y="0"/>
                </a:lnTo>
                <a:lnTo>
                  <a:pt x="0" y="0"/>
                </a:lnTo>
                <a:lnTo>
                  <a:pt x="0" y="9144"/>
                </a:lnTo>
                <a:lnTo>
                  <a:pt x="4024122" y="9144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899147" y="3714750"/>
            <a:ext cx="4024629" cy="9525"/>
          </a:xfrm>
          <a:custGeom>
            <a:avLst/>
            <a:gdLst/>
            <a:ahLst/>
            <a:cxnLst/>
            <a:rect l="l" t="t" r="r" b="b"/>
            <a:pathLst>
              <a:path w="4024629" h="9525">
                <a:moveTo>
                  <a:pt x="4024122" y="9144"/>
                </a:moveTo>
                <a:lnTo>
                  <a:pt x="4024122" y="0"/>
                </a:lnTo>
                <a:lnTo>
                  <a:pt x="0" y="0"/>
                </a:lnTo>
                <a:lnTo>
                  <a:pt x="0" y="9144"/>
                </a:lnTo>
                <a:lnTo>
                  <a:pt x="4024122" y="9144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899147" y="3429000"/>
            <a:ext cx="4024629" cy="9525"/>
          </a:xfrm>
          <a:custGeom>
            <a:avLst/>
            <a:gdLst/>
            <a:ahLst/>
            <a:cxnLst/>
            <a:rect l="l" t="t" r="r" b="b"/>
            <a:pathLst>
              <a:path w="4024629" h="9525">
                <a:moveTo>
                  <a:pt x="4024122" y="9144"/>
                </a:moveTo>
                <a:lnTo>
                  <a:pt x="4024122" y="0"/>
                </a:lnTo>
                <a:lnTo>
                  <a:pt x="0" y="0"/>
                </a:lnTo>
                <a:lnTo>
                  <a:pt x="0" y="9144"/>
                </a:lnTo>
                <a:lnTo>
                  <a:pt x="4024122" y="9144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899147" y="3144011"/>
            <a:ext cx="4024629" cy="9525"/>
          </a:xfrm>
          <a:custGeom>
            <a:avLst/>
            <a:gdLst/>
            <a:ahLst/>
            <a:cxnLst/>
            <a:rect l="l" t="t" r="r" b="b"/>
            <a:pathLst>
              <a:path w="4024629" h="9525">
                <a:moveTo>
                  <a:pt x="4024122" y="9143"/>
                </a:moveTo>
                <a:lnTo>
                  <a:pt x="4024122" y="0"/>
                </a:lnTo>
                <a:lnTo>
                  <a:pt x="0" y="0"/>
                </a:lnTo>
                <a:lnTo>
                  <a:pt x="0" y="9144"/>
                </a:lnTo>
                <a:lnTo>
                  <a:pt x="4024122" y="9143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899147" y="2859023"/>
            <a:ext cx="4024629" cy="9525"/>
          </a:xfrm>
          <a:custGeom>
            <a:avLst/>
            <a:gdLst/>
            <a:ahLst/>
            <a:cxnLst/>
            <a:rect l="l" t="t" r="r" b="b"/>
            <a:pathLst>
              <a:path w="4024629" h="9525">
                <a:moveTo>
                  <a:pt x="4024122" y="9143"/>
                </a:moveTo>
                <a:lnTo>
                  <a:pt x="4024122" y="0"/>
                </a:lnTo>
                <a:lnTo>
                  <a:pt x="0" y="0"/>
                </a:lnTo>
                <a:lnTo>
                  <a:pt x="0" y="9144"/>
                </a:lnTo>
                <a:lnTo>
                  <a:pt x="4024122" y="9143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6754368" y="2433827"/>
            <a:ext cx="4312920" cy="1999614"/>
            <a:chOff x="6754368" y="2433827"/>
            <a:chExt cx="4312920" cy="1999614"/>
          </a:xfrm>
        </p:grpSpPr>
        <p:sp>
          <p:nvSpPr>
            <p:cNvPr id="9" name="object 9"/>
            <p:cNvSpPr/>
            <p:nvPr/>
          </p:nvSpPr>
          <p:spPr>
            <a:xfrm>
              <a:off x="6894576" y="2574035"/>
              <a:ext cx="4033520" cy="1715770"/>
            </a:xfrm>
            <a:custGeom>
              <a:avLst/>
              <a:gdLst/>
              <a:ahLst/>
              <a:cxnLst/>
              <a:rect l="l" t="t" r="r" b="b"/>
              <a:pathLst>
                <a:path w="4033520" h="1715770">
                  <a:moveTo>
                    <a:pt x="4033266" y="4572"/>
                  </a:moveTo>
                  <a:lnTo>
                    <a:pt x="4028694" y="4572"/>
                  </a:lnTo>
                  <a:lnTo>
                    <a:pt x="4028694" y="0"/>
                  </a:lnTo>
                  <a:lnTo>
                    <a:pt x="4572" y="0"/>
                  </a:lnTo>
                  <a:lnTo>
                    <a:pt x="4572" y="4572"/>
                  </a:lnTo>
                  <a:lnTo>
                    <a:pt x="0" y="4572"/>
                  </a:lnTo>
                  <a:lnTo>
                    <a:pt x="0" y="1715262"/>
                  </a:lnTo>
                  <a:lnTo>
                    <a:pt x="9144" y="1715262"/>
                  </a:lnTo>
                  <a:lnTo>
                    <a:pt x="9144" y="9144"/>
                  </a:lnTo>
                  <a:lnTo>
                    <a:pt x="1005827" y="9144"/>
                  </a:lnTo>
                  <a:lnTo>
                    <a:pt x="1005827" y="1715262"/>
                  </a:lnTo>
                  <a:lnTo>
                    <a:pt x="1014984" y="1715262"/>
                  </a:lnTo>
                  <a:lnTo>
                    <a:pt x="1014984" y="9144"/>
                  </a:lnTo>
                  <a:lnTo>
                    <a:pt x="2011667" y="9144"/>
                  </a:lnTo>
                  <a:lnTo>
                    <a:pt x="2011667" y="1715262"/>
                  </a:lnTo>
                  <a:lnTo>
                    <a:pt x="2020824" y="1715262"/>
                  </a:lnTo>
                  <a:lnTo>
                    <a:pt x="2020824" y="9144"/>
                  </a:lnTo>
                  <a:lnTo>
                    <a:pt x="3018269" y="9144"/>
                  </a:lnTo>
                  <a:lnTo>
                    <a:pt x="3018269" y="1715262"/>
                  </a:lnTo>
                  <a:lnTo>
                    <a:pt x="3027426" y="1715262"/>
                  </a:lnTo>
                  <a:lnTo>
                    <a:pt x="3027426" y="9144"/>
                  </a:lnTo>
                  <a:lnTo>
                    <a:pt x="4024122" y="9144"/>
                  </a:lnTo>
                  <a:lnTo>
                    <a:pt x="4024122" y="1715262"/>
                  </a:lnTo>
                  <a:lnTo>
                    <a:pt x="4033266" y="1715262"/>
                  </a:lnTo>
                  <a:lnTo>
                    <a:pt x="4033266" y="4572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884670" y="2564129"/>
              <a:ext cx="4053204" cy="1739264"/>
            </a:xfrm>
            <a:custGeom>
              <a:avLst/>
              <a:gdLst/>
              <a:ahLst/>
              <a:cxnLst/>
              <a:rect l="l" t="t" r="r" b="b"/>
              <a:pathLst>
                <a:path w="4053204" h="1739264">
                  <a:moveTo>
                    <a:pt x="4053078" y="1732788"/>
                  </a:moveTo>
                  <a:lnTo>
                    <a:pt x="4053078" y="6858"/>
                  </a:lnTo>
                  <a:lnTo>
                    <a:pt x="4046220" y="0"/>
                  </a:lnTo>
                  <a:lnTo>
                    <a:pt x="6095" y="0"/>
                  </a:lnTo>
                  <a:lnTo>
                    <a:pt x="0" y="6858"/>
                  </a:lnTo>
                  <a:lnTo>
                    <a:pt x="0" y="1732788"/>
                  </a:lnTo>
                  <a:lnTo>
                    <a:pt x="6096" y="1738884"/>
                  </a:lnTo>
                  <a:lnTo>
                    <a:pt x="14477" y="1738884"/>
                  </a:lnTo>
                  <a:lnTo>
                    <a:pt x="14478" y="28956"/>
                  </a:lnTo>
                  <a:lnTo>
                    <a:pt x="28956" y="14478"/>
                  </a:lnTo>
                  <a:lnTo>
                    <a:pt x="28955" y="28956"/>
                  </a:lnTo>
                  <a:lnTo>
                    <a:pt x="4024121" y="28956"/>
                  </a:lnTo>
                  <a:lnTo>
                    <a:pt x="4024121" y="14477"/>
                  </a:lnTo>
                  <a:lnTo>
                    <a:pt x="4038600" y="28956"/>
                  </a:lnTo>
                  <a:lnTo>
                    <a:pt x="4038600" y="1738884"/>
                  </a:lnTo>
                  <a:lnTo>
                    <a:pt x="4046220" y="1738884"/>
                  </a:lnTo>
                  <a:lnTo>
                    <a:pt x="4053078" y="1732788"/>
                  </a:lnTo>
                  <a:close/>
                </a:path>
                <a:path w="4053204" h="1739264">
                  <a:moveTo>
                    <a:pt x="28956" y="28956"/>
                  </a:moveTo>
                  <a:lnTo>
                    <a:pt x="28956" y="14478"/>
                  </a:lnTo>
                  <a:lnTo>
                    <a:pt x="14478" y="28956"/>
                  </a:lnTo>
                  <a:lnTo>
                    <a:pt x="28956" y="28956"/>
                  </a:lnTo>
                  <a:close/>
                </a:path>
                <a:path w="4053204" h="1739264">
                  <a:moveTo>
                    <a:pt x="28956" y="1710690"/>
                  </a:moveTo>
                  <a:lnTo>
                    <a:pt x="28956" y="28956"/>
                  </a:lnTo>
                  <a:lnTo>
                    <a:pt x="14478" y="28956"/>
                  </a:lnTo>
                  <a:lnTo>
                    <a:pt x="14478" y="1710690"/>
                  </a:lnTo>
                  <a:lnTo>
                    <a:pt x="28956" y="1710690"/>
                  </a:lnTo>
                  <a:close/>
                </a:path>
                <a:path w="4053204" h="1739264">
                  <a:moveTo>
                    <a:pt x="4038600" y="1710690"/>
                  </a:moveTo>
                  <a:lnTo>
                    <a:pt x="14478" y="1710690"/>
                  </a:lnTo>
                  <a:lnTo>
                    <a:pt x="28956" y="1725168"/>
                  </a:lnTo>
                  <a:lnTo>
                    <a:pt x="28955" y="1738884"/>
                  </a:lnTo>
                  <a:lnTo>
                    <a:pt x="4024121" y="1738884"/>
                  </a:lnTo>
                  <a:lnTo>
                    <a:pt x="4024121" y="1725168"/>
                  </a:lnTo>
                  <a:lnTo>
                    <a:pt x="4038600" y="1710690"/>
                  </a:lnTo>
                  <a:close/>
                </a:path>
                <a:path w="4053204" h="1739264">
                  <a:moveTo>
                    <a:pt x="28955" y="1738884"/>
                  </a:moveTo>
                  <a:lnTo>
                    <a:pt x="28956" y="1725168"/>
                  </a:lnTo>
                  <a:lnTo>
                    <a:pt x="14478" y="1710690"/>
                  </a:lnTo>
                  <a:lnTo>
                    <a:pt x="14477" y="1738884"/>
                  </a:lnTo>
                  <a:lnTo>
                    <a:pt x="28955" y="1738884"/>
                  </a:lnTo>
                  <a:close/>
                </a:path>
                <a:path w="4053204" h="1739264">
                  <a:moveTo>
                    <a:pt x="4038600" y="28956"/>
                  </a:moveTo>
                  <a:lnTo>
                    <a:pt x="4024121" y="14477"/>
                  </a:lnTo>
                  <a:lnTo>
                    <a:pt x="4024121" y="28956"/>
                  </a:lnTo>
                  <a:lnTo>
                    <a:pt x="4038600" y="28956"/>
                  </a:lnTo>
                  <a:close/>
                </a:path>
                <a:path w="4053204" h="1739264">
                  <a:moveTo>
                    <a:pt x="4038600" y="1710690"/>
                  </a:moveTo>
                  <a:lnTo>
                    <a:pt x="4038600" y="28956"/>
                  </a:lnTo>
                  <a:lnTo>
                    <a:pt x="4024121" y="28956"/>
                  </a:lnTo>
                  <a:lnTo>
                    <a:pt x="4024121" y="1710690"/>
                  </a:lnTo>
                  <a:lnTo>
                    <a:pt x="4038600" y="1710690"/>
                  </a:lnTo>
                  <a:close/>
                </a:path>
                <a:path w="4053204" h="1739264">
                  <a:moveTo>
                    <a:pt x="4038600" y="1738884"/>
                  </a:moveTo>
                  <a:lnTo>
                    <a:pt x="4038600" y="1710690"/>
                  </a:lnTo>
                  <a:lnTo>
                    <a:pt x="4024121" y="1725168"/>
                  </a:lnTo>
                  <a:lnTo>
                    <a:pt x="4024121" y="1738884"/>
                  </a:lnTo>
                  <a:lnTo>
                    <a:pt x="4038600" y="17388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98386" y="2850641"/>
              <a:ext cx="4025900" cy="116586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754368" y="2433827"/>
              <a:ext cx="4312920" cy="1999614"/>
            </a:xfrm>
            <a:custGeom>
              <a:avLst/>
              <a:gdLst/>
              <a:ahLst/>
              <a:cxnLst/>
              <a:rect l="l" t="t" r="r" b="b"/>
              <a:pathLst>
                <a:path w="4312920" h="1999614">
                  <a:moveTo>
                    <a:pt x="4312920" y="1997202"/>
                  </a:moveTo>
                  <a:lnTo>
                    <a:pt x="4312920" y="2285"/>
                  </a:lnTo>
                  <a:lnTo>
                    <a:pt x="4311396" y="0"/>
                  </a:lnTo>
                  <a:lnTo>
                    <a:pt x="2285" y="0"/>
                  </a:lnTo>
                  <a:lnTo>
                    <a:pt x="0" y="2286"/>
                  </a:lnTo>
                  <a:lnTo>
                    <a:pt x="0" y="1997202"/>
                  </a:lnTo>
                  <a:lnTo>
                    <a:pt x="2286" y="1999488"/>
                  </a:lnTo>
                  <a:lnTo>
                    <a:pt x="4572" y="1999488"/>
                  </a:lnTo>
                  <a:lnTo>
                    <a:pt x="4572" y="9906"/>
                  </a:lnTo>
                  <a:lnTo>
                    <a:pt x="9905" y="5334"/>
                  </a:lnTo>
                  <a:lnTo>
                    <a:pt x="9905" y="9906"/>
                  </a:lnTo>
                  <a:lnTo>
                    <a:pt x="4303776" y="9905"/>
                  </a:lnTo>
                  <a:lnTo>
                    <a:pt x="4303776" y="5333"/>
                  </a:lnTo>
                  <a:lnTo>
                    <a:pt x="4308348" y="9905"/>
                  </a:lnTo>
                  <a:lnTo>
                    <a:pt x="4308348" y="1999488"/>
                  </a:lnTo>
                  <a:lnTo>
                    <a:pt x="4311396" y="1999488"/>
                  </a:lnTo>
                  <a:lnTo>
                    <a:pt x="4312920" y="1997202"/>
                  </a:lnTo>
                  <a:close/>
                </a:path>
                <a:path w="4312920" h="1999614">
                  <a:moveTo>
                    <a:pt x="9905" y="9906"/>
                  </a:moveTo>
                  <a:lnTo>
                    <a:pt x="9905" y="5334"/>
                  </a:lnTo>
                  <a:lnTo>
                    <a:pt x="4572" y="9906"/>
                  </a:lnTo>
                  <a:lnTo>
                    <a:pt x="9905" y="9906"/>
                  </a:lnTo>
                  <a:close/>
                </a:path>
                <a:path w="4312920" h="1999614">
                  <a:moveTo>
                    <a:pt x="9905" y="1990344"/>
                  </a:moveTo>
                  <a:lnTo>
                    <a:pt x="9905" y="9906"/>
                  </a:lnTo>
                  <a:lnTo>
                    <a:pt x="4572" y="9906"/>
                  </a:lnTo>
                  <a:lnTo>
                    <a:pt x="4572" y="1990344"/>
                  </a:lnTo>
                  <a:lnTo>
                    <a:pt x="9905" y="1990344"/>
                  </a:lnTo>
                  <a:close/>
                </a:path>
                <a:path w="4312920" h="1999614">
                  <a:moveTo>
                    <a:pt x="4308348" y="1990344"/>
                  </a:moveTo>
                  <a:lnTo>
                    <a:pt x="4572" y="1990344"/>
                  </a:lnTo>
                  <a:lnTo>
                    <a:pt x="9905" y="1994915"/>
                  </a:lnTo>
                  <a:lnTo>
                    <a:pt x="9905" y="1999488"/>
                  </a:lnTo>
                  <a:lnTo>
                    <a:pt x="4303776" y="1999488"/>
                  </a:lnTo>
                  <a:lnTo>
                    <a:pt x="4303776" y="1994915"/>
                  </a:lnTo>
                  <a:lnTo>
                    <a:pt x="4308348" y="1990344"/>
                  </a:lnTo>
                  <a:close/>
                </a:path>
                <a:path w="4312920" h="1999614">
                  <a:moveTo>
                    <a:pt x="9905" y="1999488"/>
                  </a:moveTo>
                  <a:lnTo>
                    <a:pt x="9905" y="1994915"/>
                  </a:lnTo>
                  <a:lnTo>
                    <a:pt x="4572" y="1990344"/>
                  </a:lnTo>
                  <a:lnTo>
                    <a:pt x="4572" y="1999488"/>
                  </a:lnTo>
                  <a:lnTo>
                    <a:pt x="9905" y="1999488"/>
                  </a:lnTo>
                  <a:close/>
                </a:path>
                <a:path w="4312920" h="1999614">
                  <a:moveTo>
                    <a:pt x="4308348" y="9905"/>
                  </a:moveTo>
                  <a:lnTo>
                    <a:pt x="4303776" y="5333"/>
                  </a:lnTo>
                  <a:lnTo>
                    <a:pt x="4303776" y="9905"/>
                  </a:lnTo>
                  <a:lnTo>
                    <a:pt x="4308348" y="9905"/>
                  </a:lnTo>
                  <a:close/>
                </a:path>
                <a:path w="4312920" h="1999614">
                  <a:moveTo>
                    <a:pt x="4308348" y="1990344"/>
                  </a:moveTo>
                  <a:lnTo>
                    <a:pt x="4308348" y="9905"/>
                  </a:lnTo>
                  <a:lnTo>
                    <a:pt x="4303776" y="9905"/>
                  </a:lnTo>
                  <a:lnTo>
                    <a:pt x="4303776" y="1990344"/>
                  </a:lnTo>
                  <a:lnTo>
                    <a:pt x="4308348" y="1990344"/>
                  </a:lnTo>
                  <a:close/>
                </a:path>
                <a:path w="4312920" h="1999614">
                  <a:moveTo>
                    <a:pt x="4308348" y="1999488"/>
                  </a:moveTo>
                  <a:lnTo>
                    <a:pt x="4308348" y="1990344"/>
                  </a:lnTo>
                  <a:lnTo>
                    <a:pt x="4303776" y="1994915"/>
                  </a:lnTo>
                  <a:lnTo>
                    <a:pt x="4303776" y="1999488"/>
                  </a:lnTo>
                  <a:lnTo>
                    <a:pt x="4308348" y="19994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895844" y="2933699"/>
              <a:ext cx="674370" cy="1258570"/>
            </a:xfrm>
            <a:custGeom>
              <a:avLst/>
              <a:gdLst/>
              <a:ahLst/>
              <a:cxnLst/>
              <a:rect l="l" t="t" r="r" b="b"/>
              <a:pathLst>
                <a:path w="674370" h="1258570">
                  <a:moveTo>
                    <a:pt x="494538" y="1215390"/>
                  </a:moveTo>
                  <a:lnTo>
                    <a:pt x="409194" y="1172718"/>
                  </a:lnTo>
                  <a:lnTo>
                    <a:pt x="409194" y="1200912"/>
                  </a:lnTo>
                  <a:lnTo>
                    <a:pt x="85344" y="1200912"/>
                  </a:lnTo>
                  <a:lnTo>
                    <a:pt x="85344" y="1172718"/>
                  </a:lnTo>
                  <a:lnTo>
                    <a:pt x="0" y="1215390"/>
                  </a:lnTo>
                  <a:lnTo>
                    <a:pt x="70866" y="1250823"/>
                  </a:lnTo>
                  <a:lnTo>
                    <a:pt x="85344" y="1258062"/>
                  </a:lnTo>
                  <a:lnTo>
                    <a:pt x="85344" y="1229106"/>
                  </a:lnTo>
                  <a:lnTo>
                    <a:pt x="409194" y="1229106"/>
                  </a:lnTo>
                  <a:lnTo>
                    <a:pt x="409194" y="1258062"/>
                  </a:lnTo>
                  <a:lnTo>
                    <a:pt x="422910" y="1251204"/>
                  </a:lnTo>
                  <a:lnTo>
                    <a:pt x="494538" y="1215390"/>
                  </a:lnTo>
                  <a:close/>
                </a:path>
                <a:path w="674370" h="1258570">
                  <a:moveTo>
                    <a:pt x="674370" y="86106"/>
                  </a:moveTo>
                  <a:lnTo>
                    <a:pt x="631698" y="0"/>
                  </a:lnTo>
                  <a:lnTo>
                    <a:pt x="588264" y="86106"/>
                  </a:lnTo>
                  <a:lnTo>
                    <a:pt x="617207" y="86106"/>
                  </a:lnTo>
                  <a:lnTo>
                    <a:pt x="617207" y="409194"/>
                  </a:lnTo>
                  <a:lnTo>
                    <a:pt x="588264" y="409194"/>
                  </a:lnTo>
                  <a:lnTo>
                    <a:pt x="617207" y="466598"/>
                  </a:lnTo>
                  <a:lnTo>
                    <a:pt x="631698" y="495300"/>
                  </a:lnTo>
                  <a:lnTo>
                    <a:pt x="645414" y="467626"/>
                  </a:lnTo>
                  <a:lnTo>
                    <a:pt x="674370" y="409194"/>
                  </a:lnTo>
                  <a:lnTo>
                    <a:pt x="645414" y="409194"/>
                  </a:lnTo>
                  <a:lnTo>
                    <a:pt x="645414" y="86106"/>
                  </a:lnTo>
                  <a:lnTo>
                    <a:pt x="674370" y="861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895463" y="2734055"/>
              <a:ext cx="0" cy="1504950"/>
            </a:xfrm>
            <a:custGeom>
              <a:avLst/>
              <a:gdLst/>
              <a:ahLst/>
              <a:cxnLst/>
              <a:rect l="l" t="t" r="r" b="b"/>
              <a:pathLst>
                <a:path h="1504950">
                  <a:moveTo>
                    <a:pt x="0" y="0"/>
                  </a:moveTo>
                  <a:lnTo>
                    <a:pt x="0" y="1504949"/>
                  </a:lnTo>
                </a:path>
              </a:pathLst>
            </a:custGeom>
            <a:ln w="990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390382" y="2734055"/>
              <a:ext cx="0" cy="1504950"/>
            </a:xfrm>
            <a:custGeom>
              <a:avLst/>
              <a:gdLst/>
              <a:ahLst/>
              <a:cxnLst/>
              <a:rect l="l" t="t" r="r" b="b"/>
              <a:pathLst>
                <a:path h="1504950">
                  <a:moveTo>
                    <a:pt x="0" y="0"/>
                  </a:moveTo>
                  <a:lnTo>
                    <a:pt x="0" y="1504949"/>
                  </a:lnTo>
                </a:path>
              </a:pathLst>
            </a:custGeom>
            <a:ln w="9143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912608" y="2934080"/>
              <a:ext cx="704850" cy="490220"/>
            </a:xfrm>
            <a:custGeom>
              <a:avLst/>
              <a:gdLst/>
              <a:ahLst/>
              <a:cxnLst/>
              <a:rect l="l" t="t" r="r" b="b"/>
              <a:pathLst>
                <a:path w="704850" h="490220">
                  <a:moveTo>
                    <a:pt x="0" y="0"/>
                  </a:moveTo>
                  <a:lnTo>
                    <a:pt x="704850" y="0"/>
                  </a:lnTo>
                </a:path>
                <a:path w="704850" h="490220">
                  <a:moveTo>
                    <a:pt x="0" y="489965"/>
                  </a:moveTo>
                  <a:lnTo>
                    <a:pt x="704850" y="489965"/>
                  </a:lnTo>
                </a:path>
              </a:pathLst>
            </a:custGeom>
            <a:ln w="990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74024" y="2946654"/>
              <a:ext cx="2071116" cy="412241"/>
            </a:xfrm>
            <a:prstGeom prst="rect">
              <a:avLst/>
            </a:prstGeom>
          </p:spPr>
        </p:pic>
      </p:grp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dirty="0"/>
              <a:t>Frequency</a:t>
            </a:r>
            <a:r>
              <a:rPr spc="-20" dirty="0"/>
              <a:t> </a:t>
            </a:r>
            <a:r>
              <a:rPr spc="-10" dirty="0"/>
              <a:t>Dependence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45284" y="1316990"/>
            <a:ext cx="10088880" cy="103822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482600" marR="5080" indent="-470534">
              <a:lnSpc>
                <a:spcPts val="2420"/>
              </a:lnSpc>
              <a:spcBef>
                <a:spcPts val="365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200" dirty="0">
                <a:latin typeface="Verdana"/>
                <a:cs typeface="Verdana"/>
              </a:rPr>
              <a:t>The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open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loop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gain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(A)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feedback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factor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</a:t>
            </a:r>
            <a:r>
              <a:rPr sz="2200" dirty="0">
                <a:latin typeface="Times New Roman"/>
                <a:cs typeface="Times New Roman"/>
              </a:rPr>
              <a:t>β</a:t>
            </a:r>
            <a:r>
              <a:rPr sz="2200" dirty="0">
                <a:latin typeface="Verdana"/>
                <a:cs typeface="Verdana"/>
              </a:rPr>
              <a:t>)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do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not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stay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constant </a:t>
            </a:r>
            <a:r>
              <a:rPr sz="2200" dirty="0">
                <a:latin typeface="Verdana"/>
                <a:cs typeface="Verdana"/>
              </a:rPr>
              <a:t>over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frequency</a:t>
            </a:r>
            <a:endParaRPr sz="22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spcBef>
                <a:spcPts val="225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200" dirty="0">
                <a:solidFill>
                  <a:srgbClr val="006FC0"/>
                </a:solidFill>
                <a:latin typeface="Verdana"/>
                <a:cs typeface="Verdana"/>
              </a:rPr>
              <a:t>Feedback</a:t>
            </a:r>
            <a:r>
              <a:rPr sz="2200" spc="-50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006FC0"/>
                </a:solidFill>
                <a:latin typeface="Verdana"/>
                <a:cs typeface="Verdana"/>
              </a:rPr>
              <a:t>loop</a:t>
            </a:r>
            <a:r>
              <a:rPr sz="2200" spc="-55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006FC0"/>
                </a:solidFill>
                <a:latin typeface="Verdana"/>
                <a:cs typeface="Verdana"/>
              </a:rPr>
              <a:t>has</a:t>
            </a:r>
            <a:r>
              <a:rPr sz="2200" spc="-50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006FC0"/>
                </a:solidFill>
                <a:latin typeface="Verdana"/>
                <a:cs typeface="Verdana"/>
              </a:rPr>
              <a:t>to</a:t>
            </a:r>
            <a:r>
              <a:rPr sz="2200" spc="-55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006FC0"/>
                </a:solidFill>
                <a:latin typeface="Verdana"/>
                <a:cs typeface="Verdana"/>
              </a:rPr>
              <a:t>be</a:t>
            </a:r>
            <a:r>
              <a:rPr sz="2200" spc="-55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006FC0"/>
                </a:solidFill>
                <a:latin typeface="Verdana"/>
                <a:cs typeface="Verdana"/>
              </a:rPr>
              <a:t>analyzed</a:t>
            </a:r>
            <a:r>
              <a:rPr sz="2200" spc="-55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006FC0"/>
                </a:solidFill>
                <a:latin typeface="Verdana"/>
                <a:cs typeface="Verdana"/>
              </a:rPr>
              <a:t>over</a:t>
            </a:r>
            <a:r>
              <a:rPr sz="2200" spc="-60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006FC0"/>
                </a:solidFill>
                <a:latin typeface="Verdana"/>
                <a:cs typeface="Verdana"/>
              </a:rPr>
              <a:t>frequency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899907" y="4676642"/>
            <a:ext cx="1530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Cambria Math"/>
                <a:cs typeface="Cambria Math"/>
              </a:rPr>
              <a:t>𝑉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924036" y="5013452"/>
            <a:ext cx="5816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15" baseline="10416" dirty="0">
                <a:latin typeface="Cambria Math"/>
                <a:cs typeface="Cambria Math"/>
              </a:rPr>
              <a:t>𝑉</a:t>
            </a:r>
            <a:r>
              <a:rPr sz="1150" spc="-10" dirty="0">
                <a:latin typeface="Cambria Math"/>
                <a:cs typeface="Cambria Math"/>
              </a:rPr>
              <a:t>𝑖𝑛𝑝𝑢𝑡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906006" y="4835905"/>
            <a:ext cx="187071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mbria Math"/>
                <a:cs typeface="Cambria Math"/>
              </a:rPr>
              <a:t>𝐶𝐿</a:t>
            </a:r>
            <a:r>
              <a:rPr sz="1600" spc="2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𝐺𝑎𝑖𝑛</a:t>
            </a:r>
            <a:r>
              <a:rPr sz="1600" spc="10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=</a:t>
            </a:r>
            <a:r>
              <a:rPr sz="1600" spc="100" dirty="0">
                <a:latin typeface="Cambria Math"/>
                <a:cs typeface="Cambria Math"/>
              </a:rPr>
              <a:t> </a:t>
            </a:r>
            <a:r>
              <a:rPr sz="1725" u="heavy" spc="202" baseline="45893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 </a:t>
            </a:r>
            <a:r>
              <a:rPr sz="1725" u="heavy" spc="112" baseline="45893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𝑜𝑢𝑡𝑝𝑢𝑡</a:t>
            </a:r>
            <a:r>
              <a:rPr sz="1725" spc="427" baseline="45893" dirty="0">
                <a:latin typeface="Cambria Math"/>
                <a:cs typeface="Cambria Math"/>
              </a:rPr>
              <a:t> </a:t>
            </a:r>
            <a:r>
              <a:rPr sz="1600" spc="-50" dirty="0">
                <a:latin typeface="Cambria Math"/>
                <a:cs typeface="Cambria Math"/>
              </a:rPr>
              <a:t>=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375140" y="4477013"/>
            <a:ext cx="549275" cy="494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839"/>
              </a:lnSpc>
              <a:spcBef>
                <a:spcPts val="100"/>
              </a:spcBef>
              <a:tabLst>
                <a:tab pos="217170" algn="l"/>
                <a:tab pos="535940" algn="l"/>
              </a:tabLst>
            </a:pPr>
            <a:r>
              <a:rPr sz="1600" u="heavy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	</a:t>
            </a:r>
            <a:r>
              <a:rPr sz="1600" u="heavy" spc="-50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1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	</a:t>
            </a:r>
            <a:endParaRPr sz="1600">
              <a:latin typeface="Cambria Math"/>
              <a:cs typeface="Cambria Math"/>
            </a:endParaRPr>
          </a:p>
          <a:p>
            <a:pPr marL="12700">
              <a:lnSpc>
                <a:spcPts val="1839"/>
              </a:lnSpc>
            </a:pPr>
            <a:r>
              <a:rPr sz="1600" spc="-10" dirty="0">
                <a:latin typeface="Cambria Math"/>
                <a:cs typeface="Cambria Math"/>
              </a:rPr>
              <a:t>𝛽(𝑗𝜔)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811768" y="5026914"/>
            <a:ext cx="1570990" cy="402590"/>
          </a:xfrm>
          <a:custGeom>
            <a:avLst/>
            <a:gdLst/>
            <a:ahLst/>
            <a:cxnLst/>
            <a:rect l="l" t="t" r="r" b="b"/>
            <a:pathLst>
              <a:path w="1570990" h="402589">
                <a:moveTo>
                  <a:pt x="1570481" y="201168"/>
                </a:moveTo>
                <a:lnTo>
                  <a:pt x="1564957" y="130968"/>
                </a:lnTo>
                <a:lnTo>
                  <a:pt x="1549145" y="73914"/>
                </a:lnTo>
                <a:lnTo>
                  <a:pt x="1525714" y="29813"/>
                </a:lnTo>
                <a:lnTo>
                  <a:pt x="1498853" y="0"/>
                </a:lnTo>
                <a:lnTo>
                  <a:pt x="1493519" y="6858"/>
                </a:lnTo>
                <a:lnTo>
                  <a:pt x="1505200" y="19990"/>
                </a:lnTo>
                <a:lnTo>
                  <a:pt x="1516094" y="36480"/>
                </a:lnTo>
                <a:lnTo>
                  <a:pt x="1534667" y="79248"/>
                </a:lnTo>
                <a:lnTo>
                  <a:pt x="1547050" y="134207"/>
                </a:lnTo>
                <a:lnTo>
                  <a:pt x="1551431" y="201168"/>
                </a:lnTo>
                <a:lnTo>
                  <a:pt x="1551431" y="321692"/>
                </a:lnTo>
                <a:lnTo>
                  <a:pt x="1558266" y="301573"/>
                </a:lnTo>
                <a:lnTo>
                  <a:pt x="1564957" y="271367"/>
                </a:lnTo>
                <a:lnTo>
                  <a:pt x="1569077" y="237874"/>
                </a:lnTo>
                <a:lnTo>
                  <a:pt x="1570481" y="201168"/>
                </a:lnTo>
                <a:close/>
              </a:path>
              <a:path w="1570990" h="402589">
                <a:moveTo>
                  <a:pt x="1551431" y="321692"/>
                </a:moveTo>
                <a:lnTo>
                  <a:pt x="1551431" y="201168"/>
                </a:lnTo>
                <a:lnTo>
                  <a:pt x="1550312" y="236184"/>
                </a:lnTo>
                <a:lnTo>
                  <a:pt x="1547050" y="268128"/>
                </a:lnTo>
                <a:lnTo>
                  <a:pt x="1534667" y="323088"/>
                </a:lnTo>
                <a:lnTo>
                  <a:pt x="1516094" y="365855"/>
                </a:lnTo>
                <a:lnTo>
                  <a:pt x="1493519" y="395478"/>
                </a:lnTo>
                <a:lnTo>
                  <a:pt x="1498853" y="402336"/>
                </a:lnTo>
                <a:lnTo>
                  <a:pt x="1512712" y="389179"/>
                </a:lnTo>
                <a:lnTo>
                  <a:pt x="1525714" y="372522"/>
                </a:lnTo>
                <a:lnTo>
                  <a:pt x="1537858" y="352294"/>
                </a:lnTo>
                <a:lnTo>
                  <a:pt x="1549145" y="328422"/>
                </a:lnTo>
                <a:lnTo>
                  <a:pt x="1551431" y="321692"/>
                </a:lnTo>
                <a:close/>
              </a:path>
              <a:path w="1570990" h="402589">
                <a:moveTo>
                  <a:pt x="76961" y="6858"/>
                </a:moveTo>
                <a:lnTo>
                  <a:pt x="44767" y="29813"/>
                </a:lnTo>
                <a:lnTo>
                  <a:pt x="21335" y="73914"/>
                </a:lnTo>
                <a:lnTo>
                  <a:pt x="5524" y="130968"/>
                </a:lnTo>
                <a:lnTo>
                  <a:pt x="0" y="201168"/>
                </a:lnTo>
                <a:lnTo>
                  <a:pt x="1404" y="237874"/>
                </a:lnTo>
                <a:lnTo>
                  <a:pt x="5524" y="271367"/>
                </a:lnTo>
                <a:lnTo>
                  <a:pt x="12215" y="301573"/>
                </a:lnTo>
                <a:lnTo>
                  <a:pt x="19049" y="321692"/>
                </a:lnTo>
                <a:lnTo>
                  <a:pt x="19049" y="201168"/>
                </a:lnTo>
                <a:lnTo>
                  <a:pt x="20169" y="166151"/>
                </a:lnTo>
                <a:lnTo>
                  <a:pt x="28694" y="105263"/>
                </a:lnTo>
                <a:lnTo>
                  <a:pt x="44493" y="56257"/>
                </a:lnTo>
                <a:lnTo>
                  <a:pt x="65281" y="19990"/>
                </a:lnTo>
                <a:lnTo>
                  <a:pt x="76961" y="6858"/>
                </a:lnTo>
                <a:close/>
              </a:path>
              <a:path w="1570990" h="402589">
                <a:moveTo>
                  <a:pt x="76961" y="395478"/>
                </a:moveTo>
                <a:lnTo>
                  <a:pt x="44493" y="346078"/>
                </a:lnTo>
                <a:lnTo>
                  <a:pt x="28694" y="297072"/>
                </a:lnTo>
                <a:lnTo>
                  <a:pt x="20169" y="236184"/>
                </a:lnTo>
                <a:lnTo>
                  <a:pt x="19049" y="201168"/>
                </a:lnTo>
                <a:lnTo>
                  <a:pt x="19049" y="321692"/>
                </a:lnTo>
                <a:lnTo>
                  <a:pt x="44767" y="372522"/>
                </a:lnTo>
                <a:lnTo>
                  <a:pt x="71627" y="402336"/>
                </a:lnTo>
                <a:lnTo>
                  <a:pt x="76961" y="3954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8882886" y="5069840"/>
            <a:ext cx="38036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mbria Math"/>
                <a:cs typeface="Cambria Math"/>
              </a:rPr>
              <a:t>1</a:t>
            </a:r>
            <a:r>
              <a:rPr sz="1600" spc="-10" dirty="0">
                <a:latin typeface="Cambria Math"/>
                <a:cs typeface="Cambria Math"/>
              </a:rPr>
              <a:t> </a:t>
            </a:r>
            <a:r>
              <a:rPr sz="1600" spc="-50" dirty="0">
                <a:latin typeface="Cambria Math"/>
                <a:cs typeface="Cambria Math"/>
              </a:rPr>
              <a:t>+ 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237974" y="4950961"/>
            <a:ext cx="1073150" cy="494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839"/>
              </a:lnSpc>
              <a:spcBef>
                <a:spcPts val="100"/>
              </a:spcBef>
            </a:pPr>
            <a:r>
              <a:rPr sz="1600" spc="-50" dirty="0">
                <a:latin typeface="Cambria Math"/>
                <a:cs typeface="Cambria Math"/>
              </a:rPr>
              <a:t>1</a:t>
            </a:r>
            <a:endParaRPr sz="1600">
              <a:latin typeface="Cambria Math"/>
              <a:cs typeface="Cambria Math"/>
            </a:endParaRPr>
          </a:p>
          <a:p>
            <a:pPr algn="ctr">
              <a:lnSpc>
                <a:spcPts val="1839"/>
              </a:lnSpc>
            </a:pPr>
            <a:r>
              <a:rPr sz="1600" spc="-10" dirty="0">
                <a:latin typeface="Cambria Math"/>
                <a:cs typeface="Cambria Math"/>
              </a:rPr>
              <a:t>𝐴(𝑗𝜔)𝛽(𝑗𝜔)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795004" y="4987289"/>
            <a:ext cx="1709420" cy="247015"/>
          </a:xfrm>
          <a:custGeom>
            <a:avLst/>
            <a:gdLst/>
            <a:ahLst/>
            <a:cxnLst/>
            <a:rect l="l" t="t" r="r" b="b"/>
            <a:pathLst>
              <a:path w="1709420" h="247014">
                <a:moveTo>
                  <a:pt x="1502651" y="233934"/>
                </a:moveTo>
                <a:lnTo>
                  <a:pt x="455676" y="233934"/>
                </a:lnTo>
                <a:lnTo>
                  <a:pt x="455676" y="246888"/>
                </a:lnTo>
                <a:lnTo>
                  <a:pt x="1502651" y="246888"/>
                </a:lnTo>
                <a:lnTo>
                  <a:pt x="1502651" y="233934"/>
                </a:lnTo>
                <a:close/>
              </a:path>
              <a:path w="1709420" h="247014">
                <a:moveTo>
                  <a:pt x="1709166" y="0"/>
                </a:moveTo>
                <a:lnTo>
                  <a:pt x="0" y="0"/>
                </a:lnTo>
                <a:lnTo>
                  <a:pt x="0" y="12954"/>
                </a:lnTo>
                <a:lnTo>
                  <a:pt x="1709166" y="12954"/>
                </a:lnTo>
                <a:lnTo>
                  <a:pt x="17091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808468" y="5635244"/>
            <a:ext cx="185737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mbria Math"/>
                <a:cs typeface="Cambria Math"/>
              </a:rPr>
              <a:t>𝑇(𝑗𝜔)</a:t>
            </a:r>
            <a:r>
              <a:rPr sz="1600" spc="5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=</a:t>
            </a:r>
            <a:r>
              <a:rPr sz="1600" spc="170" dirty="0">
                <a:latin typeface="Cambria Math"/>
                <a:cs typeface="Cambria Math"/>
              </a:rPr>
              <a:t> </a:t>
            </a:r>
            <a:r>
              <a:rPr sz="1600" spc="-10" dirty="0">
                <a:latin typeface="Cambria Math"/>
                <a:cs typeface="Cambria Math"/>
              </a:rPr>
              <a:t>𝐴(𝑗𝜔)𝛽(𝑗𝜔)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027173" y="5560567"/>
            <a:ext cx="2085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𝜔[𝑟𝑎𝑑/𝑠]</a:t>
            </a:r>
            <a:r>
              <a:rPr sz="1800" spc="1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14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2𝜋𝑓[𝐻𝑧]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602718" y="3438405"/>
            <a:ext cx="817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Output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92540" y="3105403"/>
            <a:ext cx="644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Input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615636" y="2891421"/>
            <a:ext cx="2907665" cy="2090420"/>
            <a:chOff x="1615636" y="2891421"/>
            <a:chExt cx="2907665" cy="2090420"/>
          </a:xfrm>
        </p:grpSpPr>
        <p:sp>
          <p:nvSpPr>
            <p:cNvPr id="33" name="object 33"/>
            <p:cNvSpPr/>
            <p:nvPr/>
          </p:nvSpPr>
          <p:spPr>
            <a:xfrm>
              <a:off x="2258568" y="2919984"/>
              <a:ext cx="1475740" cy="1438275"/>
            </a:xfrm>
            <a:custGeom>
              <a:avLst/>
              <a:gdLst/>
              <a:ahLst/>
              <a:cxnLst/>
              <a:rect l="l" t="t" r="r" b="b"/>
              <a:pathLst>
                <a:path w="1475739" h="1438275">
                  <a:moveTo>
                    <a:pt x="0" y="0"/>
                  </a:moveTo>
                  <a:lnTo>
                    <a:pt x="0" y="1437894"/>
                  </a:lnTo>
                  <a:lnTo>
                    <a:pt x="1475232" y="713993"/>
                  </a:lnTo>
                  <a:lnTo>
                    <a:pt x="0" y="0"/>
                  </a:lnTo>
                  <a:close/>
                </a:path>
              </a:pathLst>
            </a:custGeom>
            <a:ln w="571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733800" y="3633978"/>
              <a:ext cx="685800" cy="0"/>
            </a:xfrm>
            <a:custGeom>
              <a:avLst/>
              <a:gdLst/>
              <a:ahLst/>
              <a:cxnLst/>
              <a:rect l="l" t="t" r="r" b="b"/>
              <a:pathLst>
                <a:path w="685800">
                  <a:moveTo>
                    <a:pt x="685800" y="0"/>
                  </a:moveTo>
                  <a:lnTo>
                    <a:pt x="0" y="0"/>
                  </a:lnTo>
                </a:path>
              </a:pathLst>
            </a:custGeom>
            <a:ln w="28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96618" y="3272028"/>
              <a:ext cx="361950" cy="0"/>
            </a:xfrm>
            <a:custGeom>
              <a:avLst/>
              <a:gdLst/>
              <a:ahLst/>
              <a:cxnLst/>
              <a:rect l="l" t="t" r="r" b="b"/>
              <a:pathLst>
                <a:path w="361950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ln w="28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896618" y="3995928"/>
              <a:ext cx="361950" cy="0"/>
            </a:xfrm>
            <a:custGeom>
              <a:avLst/>
              <a:gdLst/>
              <a:ahLst/>
              <a:cxnLst/>
              <a:rect l="l" t="t" r="r" b="b"/>
              <a:pathLst>
                <a:path w="361950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ln w="28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439161" y="3272028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28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439161" y="3205734"/>
              <a:ext cx="0" cy="114300"/>
            </a:xfrm>
            <a:custGeom>
              <a:avLst/>
              <a:gdLst/>
              <a:ahLst/>
              <a:cxnLst/>
              <a:rect l="l" t="t" r="r" b="b"/>
              <a:pathLst>
                <a:path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ln w="28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362962" y="3272028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ln w="28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362962" y="3995928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ln w="28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716023" y="3272028"/>
              <a:ext cx="180975" cy="0"/>
            </a:xfrm>
            <a:custGeom>
              <a:avLst/>
              <a:gdLst/>
              <a:ahLst/>
              <a:cxnLst/>
              <a:rect l="l" t="t" r="r" b="b"/>
              <a:pathLst>
                <a:path w="180975">
                  <a:moveTo>
                    <a:pt x="0" y="0"/>
                  </a:moveTo>
                  <a:lnTo>
                    <a:pt x="180594" y="0"/>
                  </a:lnTo>
                </a:path>
              </a:pathLst>
            </a:custGeom>
            <a:ln w="28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629917" y="3230118"/>
              <a:ext cx="90170" cy="90170"/>
            </a:xfrm>
            <a:custGeom>
              <a:avLst/>
              <a:gdLst/>
              <a:ahLst/>
              <a:cxnLst/>
              <a:rect l="l" t="t" r="r" b="b"/>
              <a:pathLst>
                <a:path w="90169" h="90170">
                  <a:moveTo>
                    <a:pt x="44957" y="89915"/>
                  </a:moveTo>
                  <a:lnTo>
                    <a:pt x="62591" y="86427"/>
                  </a:lnTo>
                  <a:lnTo>
                    <a:pt x="76866" y="76866"/>
                  </a:lnTo>
                  <a:lnTo>
                    <a:pt x="86427" y="62591"/>
                  </a:lnTo>
                  <a:lnTo>
                    <a:pt x="89915" y="44957"/>
                  </a:lnTo>
                  <a:lnTo>
                    <a:pt x="86427" y="27324"/>
                  </a:lnTo>
                  <a:lnTo>
                    <a:pt x="76866" y="13049"/>
                  </a:lnTo>
                  <a:lnTo>
                    <a:pt x="62591" y="3488"/>
                  </a:lnTo>
                  <a:lnTo>
                    <a:pt x="44957" y="0"/>
                  </a:lnTo>
                  <a:lnTo>
                    <a:pt x="27324" y="3488"/>
                  </a:lnTo>
                  <a:lnTo>
                    <a:pt x="13049" y="13049"/>
                  </a:lnTo>
                  <a:lnTo>
                    <a:pt x="3488" y="27324"/>
                  </a:lnTo>
                  <a:lnTo>
                    <a:pt x="0" y="44957"/>
                  </a:lnTo>
                  <a:lnTo>
                    <a:pt x="3488" y="62591"/>
                  </a:lnTo>
                  <a:lnTo>
                    <a:pt x="13049" y="76866"/>
                  </a:lnTo>
                  <a:lnTo>
                    <a:pt x="27324" y="86427"/>
                  </a:lnTo>
                  <a:lnTo>
                    <a:pt x="44957" y="89915"/>
                  </a:lnTo>
                  <a:close/>
                </a:path>
              </a:pathLst>
            </a:custGeom>
            <a:ln w="28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43655" y="3633978"/>
              <a:ext cx="714375" cy="1076325"/>
            </a:xfrm>
            <a:custGeom>
              <a:avLst/>
              <a:gdLst/>
              <a:ahLst/>
              <a:cxnLst/>
              <a:rect l="l" t="t" r="r" b="b"/>
              <a:pathLst>
                <a:path w="714375" h="1076325">
                  <a:moveTo>
                    <a:pt x="713993" y="0"/>
                  </a:moveTo>
                  <a:lnTo>
                    <a:pt x="713993" y="1075944"/>
                  </a:lnTo>
                  <a:lnTo>
                    <a:pt x="0" y="1075944"/>
                  </a:lnTo>
                </a:path>
              </a:pathLst>
            </a:custGeom>
            <a:ln w="28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896618" y="3995928"/>
              <a:ext cx="723265" cy="714375"/>
            </a:xfrm>
            <a:custGeom>
              <a:avLst/>
              <a:gdLst/>
              <a:ahLst/>
              <a:cxnLst/>
              <a:rect l="l" t="t" r="r" b="b"/>
              <a:pathLst>
                <a:path w="723264" h="714375">
                  <a:moveTo>
                    <a:pt x="0" y="0"/>
                  </a:moveTo>
                  <a:lnTo>
                    <a:pt x="0" y="713994"/>
                  </a:lnTo>
                  <a:lnTo>
                    <a:pt x="723138" y="713994"/>
                  </a:lnTo>
                </a:path>
              </a:pathLst>
            </a:custGeom>
            <a:ln w="28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544317" y="4462272"/>
              <a:ext cx="802640" cy="505459"/>
            </a:xfrm>
            <a:custGeom>
              <a:avLst/>
              <a:gdLst/>
              <a:ahLst/>
              <a:cxnLst/>
              <a:rect l="l" t="t" r="r" b="b"/>
              <a:pathLst>
                <a:path w="802639" h="505460">
                  <a:moveTo>
                    <a:pt x="802386" y="432053"/>
                  </a:moveTo>
                  <a:lnTo>
                    <a:pt x="799338" y="429005"/>
                  </a:lnTo>
                  <a:lnTo>
                    <a:pt x="799338" y="76199"/>
                  </a:lnTo>
                  <a:lnTo>
                    <a:pt x="802386" y="72389"/>
                  </a:lnTo>
                  <a:lnTo>
                    <a:pt x="796647" y="44481"/>
                  </a:lnTo>
                  <a:lnTo>
                    <a:pt x="781050" y="21716"/>
                  </a:lnTo>
                  <a:lnTo>
                    <a:pt x="758023" y="6381"/>
                  </a:lnTo>
                  <a:lnTo>
                    <a:pt x="729996" y="761"/>
                  </a:lnTo>
                  <a:lnTo>
                    <a:pt x="733044" y="0"/>
                  </a:lnTo>
                  <a:lnTo>
                    <a:pt x="75437" y="0"/>
                  </a:lnTo>
                  <a:lnTo>
                    <a:pt x="75437" y="761"/>
                  </a:lnTo>
                  <a:lnTo>
                    <a:pt x="47410" y="6381"/>
                  </a:lnTo>
                  <a:lnTo>
                    <a:pt x="24383" y="21716"/>
                  </a:lnTo>
                  <a:lnTo>
                    <a:pt x="8786" y="44481"/>
                  </a:lnTo>
                  <a:lnTo>
                    <a:pt x="3047" y="72389"/>
                  </a:lnTo>
                  <a:lnTo>
                    <a:pt x="0" y="76199"/>
                  </a:lnTo>
                  <a:lnTo>
                    <a:pt x="0" y="429005"/>
                  </a:lnTo>
                  <a:lnTo>
                    <a:pt x="3047" y="432053"/>
                  </a:lnTo>
                  <a:lnTo>
                    <a:pt x="8786" y="460402"/>
                  </a:lnTo>
                  <a:lnTo>
                    <a:pt x="24383" y="483393"/>
                  </a:lnTo>
                  <a:lnTo>
                    <a:pt x="47410" y="498812"/>
                  </a:lnTo>
                  <a:lnTo>
                    <a:pt x="75437" y="504443"/>
                  </a:lnTo>
                  <a:lnTo>
                    <a:pt x="75437" y="505205"/>
                  </a:lnTo>
                  <a:lnTo>
                    <a:pt x="733044" y="505205"/>
                  </a:lnTo>
                  <a:lnTo>
                    <a:pt x="729996" y="504443"/>
                  </a:lnTo>
                  <a:lnTo>
                    <a:pt x="758023" y="498812"/>
                  </a:lnTo>
                  <a:lnTo>
                    <a:pt x="781049" y="483393"/>
                  </a:lnTo>
                  <a:lnTo>
                    <a:pt x="796647" y="460402"/>
                  </a:lnTo>
                  <a:lnTo>
                    <a:pt x="802386" y="4320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544317" y="4462272"/>
              <a:ext cx="802640" cy="505459"/>
            </a:xfrm>
            <a:custGeom>
              <a:avLst/>
              <a:gdLst/>
              <a:ahLst/>
              <a:cxnLst/>
              <a:rect l="l" t="t" r="r" b="b"/>
              <a:pathLst>
                <a:path w="802639" h="505460">
                  <a:moveTo>
                    <a:pt x="75437" y="505205"/>
                  </a:moveTo>
                  <a:lnTo>
                    <a:pt x="733044" y="505205"/>
                  </a:lnTo>
                  <a:lnTo>
                    <a:pt x="729996" y="504443"/>
                  </a:lnTo>
                  <a:lnTo>
                    <a:pt x="758023" y="498812"/>
                  </a:lnTo>
                  <a:lnTo>
                    <a:pt x="781049" y="483393"/>
                  </a:lnTo>
                  <a:lnTo>
                    <a:pt x="796647" y="460402"/>
                  </a:lnTo>
                  <a:lnTo>
                    <a:pt x="802386" y="432053"/>
                  </a:lnTo>
                  <a:lnTo>
                    <a:pt x="799338" y="429005"/>
                  </a:lnTo>
                  <a:lnTo>
                    <a:pt x="799338" y="76199"/>
                  </a:lnTo>
                  <a:lnTo>
                    <a:pt x="781050" y="21716"/>
                  </a:lnTo>
                  <a:lnTo>
                    <a:pt x="729996" y="761"/>
                  </a:lnTo>
                  <a:lnTo>
                    <a:pt x="733044" y="0"/>
                  </a:lnTo>
                  <a:lnTo>
                    <a:pt x="75437" y="0"/>
                  </a:lnTo>
                  <a:lnTo>
                    <a:pt x="75437" y="761"/>
                  </a:lnTo>
                  <a:lnTo>
                    <a:pt x="47410" y="6381"/>
                  </a:lnTo>
                  <a:lnTo>
                    <a:pt x="24383" y="21716"/>
                  </a:lnTo>
                  <a:lnTo>
                    <a:pt x="8786" y="44481"/>
                  </a:lnTo>
                  <a:lnTo>
                    <a:pt x="3047" y="72389"/>
                  </a:lnTo>
                  <a:lnTo>
                    <a:pt x="0" y="76199"/>
                  </a:lnTo>
                  <a:lnTo>
                    <a:pt x="0" y="429005"/>
                  </a:lnTo>
                  <a:lnTo>
                    <a:pt x="3047" y="432053"/>
                  </a:lnTo>
                  <a:lnTo>
                    <a:pt x="8786" y="460402"/>
                  </a:lnTo>
                  <a:lnTo>
                    <a:pt x="24383" y="483393"/>
                  </a:lnTo>
                  <a:lnTo>
                    <a:pt x="47410" y="498812"/>
                  </a:lnTo>
                  <a:lnTo>
                    <a:pt x="75437" y="504443"/>
                  </a:lnTo>
                  <a:lnTo>
                    <a:pt x="75437" y="505205"/>
                  </a:lnTo>
                  <a:close/>
                </a:path>
              </a:pathLst>
            </a:custGeom>
            <a:ln w="28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238244" y="3633978"/>
              <a:ext cx="181610" cy="0"/>
            </a:xfrm>
            <a:custGeom>
              <a:avLst/>
              <a:gdLst/>
              <a:ahLst/>
              <a:cxnLst/>
              <a:rect l="l" t="t" r="r" b="b"/>
              <a:pathLst>
                <a:path w="181610">
                  <a:moveTo>
                    <a:pt x="181355" y="0"/>
                  </a:moveTo>
                  <a:lnTo>
                    <a:pt x="0" y="0"/>
                  </a:lnTo>
                </a:path>
              </a:pathLst>
            </a:custGeom>
            <a:ln w="28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418838" y="3589782"/>
              <a:ext cx="90170" cy="90170"/>
            </a:xfrm>
            <a:custGeom>
              <a:avLst/>
              <a:gdLst/>
              <a:ahLst/>
              <a:cxnLst/>
              <a:rect l="l" t="t" r="r" b="b"/>
              <a:pathLst>
                <a:path w="90170" h="90170">
                  <a:moveTo>
                    <a:pt x="44958" y="0"/>
                  </a:moveTo>
                  <a:lnTo>
                    <a:pt x="27324" y="3595"/>
                  </a:lnTo>
                  <a:lnTo>
                    <a:pt x="13049" y="13335"/>
                  </a:lnTo>
                  <a:lnTo>
                    <a:pt x="3488" y="27646"/>
                  </a:lnTo>
                  <a:lnTo>
                    <a:pt x="0" y="44958"/>
                  </a:lnTo>
                  <a:lnTo>
                    <a:pt x="3488" y="62591"/>
                  </a:lnTo>
                  <a:lnTo>
                    <a:pt x="13049" y="76866"/>
                  </a:lnTo>
                  <a:lnTo>
                    <a:pt x="27324" y="86427"/>
                  </a:lnTo>
                  <a:lnTo>
                    <a:pt x="44958" y="89916"/>
                  </a:lnTo>
                  <a:lnTo>
                    <a:pt x="62269" y="86427"/>
                  </a:lnTo>
                  <a:lnTo>
                    <a:pt x="76581" y="76866"/>
                  </a:lnTo>
                  <a:lnTo>
                    <a:pt x="86320" y="62591"/>
                  </a:lnTo>
                  <a:lnTo>
                    <a:pt x="89916" y="44958"/>
                  </a:lnTo>
                  <a:lnTo>
                    <a:pt x="86320" y="27646"/>
                  </a:lnTo>
                  <a:lnTo>
                    <a:pt x="76581" y="13334"/>
                  </a:lnTo>
                  <a:lnTo>
                    <a:pt x="62269" y="3595"/>
                  </a:lnTo>
                  <a:lnTo>
                    <a:pt x="44958" y="0"/>
                  </a:lnTo>
                  <a:close/>
                </a:path>
              </a:pathLst>
            </a:custGeom>
            <a:ln w="28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2579623" y="3487166"/>
            <a:ext cx="624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A(j</a:t>
            </a:r>
            <a:r>
              <a:rPr sz="1800" spc="-10" dirty="0">
                <a:latin typeface="Symbol"/>
                <a:cs typeface="Symbol"/>
              </a:rPr>
              <a:t></a:t>
            </a:r>
            <a:r>
              <a:rPr sz="1800" spc="-10" dirty="0">
                <a:latin typeface="Verdana"/>
                <a:cs typeface="Verdana"/>
              </a:rPr>
              <a:t>)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629916" y="4566912"/>
            <a:ext cx="5854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β</a:t>
            </a:r>
            <a:r>
              <a:rPr sz="1800" spc="-10" dirty="0">
                <a:latin typeface="Verdana"/>
                <a:cs typeface="Verdana"/>
              </a:rPr>
              <a:t>(j</a:t>
            </a:r>
            <a:r>
              <a:rPr sz="1800" spc="-10" dirty="0">
                <a:latin typeface="Symbol"/>
                <a:cs typeface="Symbol"/>
              </a:rPr>
              <a:t></a:t>
            </a:r>
            <a:r>
              <a:rPr sz="1800" spc="-10" dirty="0">
                <a:latin typeface="Verdana"/>
                <a:cs typeface="Verdana"/>
              </a:rPr>
              <a:t>)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658859" y="2984245"/>
            <a:ext cx="129159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Verdana"/>
                <a:cs typeface="Verdana"/>
              </a:rPr>
              <a:t>amplitude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52" name="object 5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28481" y="3873246"/>
            <a:ext cx="1767839" cy="408431"/>
          </a:xfrm>
          <a:prstGeom prst="rect">
            <a:avLst/>
          </a:prstGeom>
        </p:spPr>
      </p:pic>
      <p:sp>
        <p:nvSpPr>
          <p:cNvPr id="53" name="object 53"/>
          <p:cNvSpPr txBox="1"/>
          <p:nvPr/>
        </p:nvSpPr>
        <p:spPr>
          <a:xfrm>
            <a:off x="8394954" y="3910838"/>
            <a:ext cx="252412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Verdana"/>
                <a:cs typeface="Verdana"/>
              </a:rPr>
              <a:t>phase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delay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5B578A2E-BE7F-4373-853E-A2CECA98ADF1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58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dirty="0"/>
              <a:t>Negative</a:t>
            </a:r>
            <a:r>
              <a:rPr spc="-4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Positive </a:t>
            </a:r>
            <a:r>
              <a:rPr spc="-10" dirty="0"/>
              <a:t>Feedback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1853" y="1390141"/>
            <a:ext cx="965898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Verdana"/>
                <a:cs typeface="Verdana"/>
              </a:rPr>
              <a:t>With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too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much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delay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in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signal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fed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back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(phase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shift)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in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the </a:t>
            </a:r>
            <a:r>
              <a:rPr sz="2400" dirty="0">
                <a:latin typeface="Verdana"/>
                <a:cs typeface="Verdana"/>
              </a:rPr>
              <a:t>system</a:t>
            </a:r>
            <a:r>
              <a:rPr sz="2400" spc="-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</a:t>
            </a:r>
            <a:r>
              <a:rPr sz="2400" spc="-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negative</a:t>
            </a:r>
            <a:r>
              <a:rPr sz="2400" spc="-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feedback</a:t>
            </a:r>
            <a:r>
              <a:rPr sz="2400" spc="-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can</a:t>
            </a:r>
            <a:r>
              <a:rPr sz="2400" spc="-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become</a:t>
            </a:r>
            <a:r>
              <a:rPr sz="2400" spc="-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positive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leading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to </a:t>
            </a:r>
            <a:r>
              <a:rPr sz="2400" dirty="0">
                <a:latin typeface="Verdana"/>
                <a:cs typeface="Verdana"/>
              </a:rPr>
              <a:t>increasing</a:t>
            </a:r>
            <a:r>
              <a:rPr sz="2400" spc="-8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output</a:t>
            </a:r>
            <a:r>
              <a:rPr sz="2400" spc="-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-9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therefore</a:t>
            </a:r>
            <a:r>
              <a:rPr sz="2400" spc="-9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instability.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903476" y="3461765"/>
            <a:ext cx="3011805" cy="2223770"/>
            <a:chOff x="1903476" y="3461765"/>
            <a:chExt cx="3011805" cy="22237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01012" y="3589781"/>
              <a:ext cx="2913888" cy="20955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3476" y="3461765"/>
              <a:ext cx="669798" cy="41224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03476" y="4322063"/>
              <a:ext cx="669798" cy="31242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079751" y="3100069"/>
            <a:ext cx="242824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Verdana"/>
                <a:cs typeface="Verdana"/>
              </a:rPr>
              <a:t>Negative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Feedback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16593" y="4081501"/>
            <a:ext cx="885511" cy="461844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653783" y="3495294"/>
            <a:ext cx="3014345" cy="2247265"/>
            <a:chOff x="6653783" y="3495294"/>
            <a:chExt cx="3014345" cy="2247265"/>
          </a:xfrm>
        </p:grpSpPr>
        <p:sp>
          <p:nvSpPr>
            <p:cNvPr id="11" name="object 11"/>
            <p:cNvSpPr/>
            <p:nvPr/>
          </p:nvSpPr>
          <p:spPr>
            <a:xfrm>
              <a:off x="7403591" y="3647693"/>
              <a:ext cx="1475740" cy="1438275"/>
            </a:xfrm>
            <a:custGeom>
              <a:avLst/>
              <a:gdLst/>
              <a:ahLst/>
              <a:cxnLst/>
              <a:rect l="l" t="t" r="r" b="b"/>
              <a:pathLst>
                <a:path w="1475740" h="1438275">
                  <a:moveTo>
                    <a:pt x="0" y="0"/>
                  </a:moveTo>
                  <a:lnTo>
                    <a:pt x="0" y="1437894"/>
                  </a:lnTo>
                  <a:lnTo>
                    <a:pt x="1475232" y="713993"/>
                  </a:lnTo>
                  <a:lnTo>
                    <a:pt x="0" y="0"/>
                  </a:lnTo>
                  <a:close/>
                </a:path>
              </a:pathLst>
            </a:custGeom>
            <a:ln w="571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450835" y="4133087"/>
              <a:ext cx="619125" cy="457200"/>
            </a:xfrm>
            <a:custGeom>
              <a:avLst/>
              <a:gdLst/>
              <a:ahLst/>
              <a:cxnLst/>
              <a:rect l="l" t="t" r="r" b="b"/>
              <a:pathLst>
                <a:path w="619125" h="457200">
                  <a:moveTo>
                    <a:pt x="618744" y="457200"/>
                  </a:moveTo>
                  <a:lnTo>
                    <a:pt x="618744" y="0"/>
                  </a:lnTo>
                  <a:lnTo>
                    <a:pt x="0" y="0"/>
                  </a:lnTo>
                  <a:lnTo>
                    <a:pt x="0" y="457200"/>
                  </a:lnTo>
                  <a:lnTo>
                    <a:pt x="618744" y="4572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22691" y="4235195"/>
              <a:ext cx="221741" cy="24307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8878823" y="4361688"/>
              <a:ext cx="685800" cy="0"/>
            </a:xfrm>
            <a:custGeom>
              <a:avLst/>
              <a:gdLst/>
              <a:ahLst/>
              <a:cxnLst/>
              <a:rect l="l" t="t" r="r" b="b"/>
              <a:pathLst>
                <a:path w="685800">
                  <a:moveTo>
                    <a:pt x="685800" y="0"/>
                  </a:moveTo>
                  <a:lnTo>
                    <a:pt x="0" y="0"/>
                  </a:lnTo>
                </a:path>
              </a:pathLst>
            </a:custGeom>
            <a:ln w="28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041641" y="3999737"/>
              <a:ext cx="361950" cy="0"/>
            </a:xfrm>
            <a:custGeom>
              <a:avLst/>
              <a:gdLst/>
              <a:ahLst/>
              <a:cxnLst/>
              <a:rect l="l" t="t" r="r" b="b"/>
              <a:pathLst>
                <a:path w="361950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ln w="28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041641" y="4723638"/>
              <a:ext cx="361950" cy="0"/>
            </a:xfrm>
            <a:custGeom>
              <a:avLst/>
              <a:gdLst/>
              <a:ahLst/>
              <a:cxnLst/>
              <a:rect l="l" t="t" r="r" b="b"/>
              <a:pathLst>
                <a:path w="361950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ln w="28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584185" y="3999737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28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584185" y="3933444"/>
              <a:ext cx="0" cy="114300"/>
            </a:xfrm>
            <a:custGeom>
              <a:avLst/>
              <a:gdLst/>
              <a:ahLst/>
              <a:cxnLst/>
              <a:rect l="l" t="t" r="r" b="b"/>
              <a:pathLst>
                <a:path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ln w="28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507985" y="3999737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ln w="28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507985" y="4723638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ln w="28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61047" y="3999737"/>
              <a:ext cx="180975" cy="0"/>
            </a:xfrm>
            <a:custGeom>
              <a:avLst/>
              <a:gdLst/>
              <a:ahLst/>
              <a:cxnLst/>
              <a:rect l="l" t="t" r="r" b="b"/>
              <a:pathLst>
                <a:path w="180975">
                  <a:moveTo>
                    <a:pt x="0" y="0"/>
                  </a:moveTo>
                  <a:lnTo>
                    <a:pt x="180594" y="0"/>
                  </a:lnTo>
                </a:path>
              </a:pathLst>
            </a:custGeom>
            <a:ln w="28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774941" y="3957827"/>
              <a:ext cx="90170" cy="90170"/>
            </a:xfrm>
            <a:custGeom>
              <a:avLst/>
              <a:gdLst/>
              <a:ahLst/>
              <a:cxnLst/>
              <a:rect l="l" t="t" r="r" b="b"/>
              <a:pathLst>
                <a:path w="90170" h="90170">
                  <a:moveTo>
                    <a:pt x="44957" y="89915"/>
                  </a:moveTo>
                  <a:lnTo>
                    <a:pt x="62591" y="86427"/>
                  </a:lnTo>
                  <a:lnTo>
                    <a:pt x="76866" y="76866"/>
                  </a:lnTo>
                  <a:lnTo>
                    <a:pt x="86427" y="62591"/>
                  </a:lnTo>
                  <a:lnTo>
                    <a:pt x="89915" y="44957"/>
                  </a:lnTo>
                  <a:lnTo>
                    <a:pt x="86427" y="27324"/>
                  </a:lnTo>
                  <a:lnTo>
                    <a:pt x="76866" y="13049"/>
                  </a:lnTo>
                  <a:lnTo>
                    <a:pt x="62591" y="3488"/>
                  </a:lnTo>
                  <a:lnTo>
                    <a:pt x="44957" y="0"/>
                  </a:lnTo>
                  <a:lnTo>
                    <a:pt x="27646" y="3488"/>
                  </a:lnTo>
                  <a:lnTo>
                    <a:pt x="13334" y="13049"/>
                  </a:lnTo>
                  <a:lnTo>
                    <a:pt x="3595" y="27324"/>
                  </a:lnTo>
                  <a:lnTo>
                    <a:pt x="0" y="44957"/>
                  </a:lnTo>
                  <a:lnTo>
                    <a:pt x="3595" y="62591"/>
                  </a:lnTo>
                  <a:lnTo>
                    <a:pt x="13334" y="76866"/>
                  </a:lnTo>
                  <a:lnTo>
                    <a:pt x="27646" y="86427"/>
                  </a:lnTo>
                  <a:lnTo>
                    <a:pt x="44957" y="89915"/>
                  </a:lnTo>
                  <a:close/>
                </a:path>
              </a:pathLst>
            </a:custGeom>
            <a:ln w="28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488679" y="4361688"/>
              <a:ext cx="714375" cy="1076325"/>
            </a:xfrm>
            <a:custGeom>
              <a:avLst/>
              <a:gdLst/>
              <a:ahLst/>
              <a:cxnLst/>
              <a:rect l="l" t="t" r="r" b="b"/>
              <a:pathLst>
                <a:path w="714375" h="1076325">
                  <a:moveTo>
                    <a:pt x="713994" y="0"/>
                  </a:moveTo>
                  <a:lnTo>
                    <a:pt x="713994" y="1075944"/>
                  </a:lnTo>
                  <a:lnTo>
                    <a:pt x="0" y="1075944"/>
                  </a:lnTo>
                </a:path>
              </a:pathLst>
            </a:custGeom>
            <a:ln w="28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041641" y="4723638"/>
              <a:ext cx="723900" cy="714375"/>
            </a:xfrm>
            <a:custGeom>
              <a:avLst/>
              <a:gdLst/>
              <a:ahLst/>
              <a:cxnLst/>
              <a:rect l="l" t="t" r="r" b="b"/>
              <a:pathLst>
                <a:path w="723900" h="714375">
                  <a:moveTo>
                    <a:pt x="0" y="0"/>
                  </a:moveTo>
                  <a:lnTo>
                    <a:pt x="0" y="713994"/>
                  </a:lnTo>
                  <a:lnTo>
                    <a:pt x="723900" y="713994"/>
                  </a:lnTo>
                </a:path>
              </a:pathLst>
            </a:custGeom>
            <a:ln w="28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689341" y="5190744"/>
              <a:ext cx="802640" cy="504825"/>
            </a:xfrm>
            <a:custGeom>
              <a:avLst/>
              <a:gdLst/>
              <a:ahLst/>
              <a:cxnLst/>
              <a:rect l="l" t="t" r="r" b="b"/>
              <a:pathLst>
                <a:path w="802640" h="504825">
                  <a:moveTo>
                    <a:pt x="802386" y="71628"/>
                  </a:moveTo>
                  <a:lnTo>
                    <a:pt x="796647" y="43719"/>
                  </a:lnTo>
                  <a:lnTo>
                    <a:pt x="781050" y="20955"/>
                  </a:lnTo>
                  <a:lnTo>
                    <a:pt x="758023" y="5619"/>
                  </a:lnTo>
                  <a:lnTo>
                    <a:pt x="729996" y="0"/>
                  </a:lnTo>
                  <a:lnTo>
                    <a:pt x="75437" y="0"/>
                  </a:lnTo>
                  <a:lnTo>
                    <a:pt x="47410" y="5619"/>
                  </a:lnTo>
                  <a:lnTo>
                    <a:pt x="24383" y="20955"/>
                  </a:lnTo>
                  <a:lnTo>
                    <a:pt x="8786" y="43719"/>
                  </a:lnTo>
                  <a:lnTo>
                    <a:pt x="3047" y="71628"/>
                  </a:lnTo>
                  <a:lnTo>
                    <a:pt x="0" y="75438"/>
                  </a:lnTo>
                  <a:lnTo>
                    <a:pt x="0" y="428244"/>
                  </a:lnTo>
                  <a:lnTo>
                    <a:pt x="3048" y="432054"/>
                  </a:lnTo>
                  <a:lnTo>
                    <a:pt x="8786" y="459962"/>
                  </a:lnTo>
                  <a:lnTo>
                    <a:pt x="24384" y="482727"/>
                  </a:lnTo>
                  <a:lnTo>
                    <a:pt x="47410" y="498062"/>
                  </a:lnTo>
                  <a:lnTo>
                    <a:pt x="75438" y="503682"/>
                  </a:lnTo>
                  <a:lnTo>
                    <a:pt x="76200" y="504444"/>
                  </a:lnTo>
                  <a:lnTo>
                    <a:pt x="729996" y="504444"/>
                  </a:lnTo>
                  <a:lnTo>
                    <a:pt x="729996" y="503682"/>
                  </a:lnTo>
                  <a:lnTo>
                    <a:pt x="758023" y="498062"/>
                  </a:lnTo>
                  <a:lnTo>
                    <a:pt x="781050" y="482727"/>
                  </a:lnTo>
                  <a:lnTo>
                    <a:pt x="796647" y="459962"/>
                  </a:lnTo>
                  <a:lnTo>
                    <a:pt x="799338" y="446876"/>
                  </a:lnTo>
                  <a:lnTo>
                    <a:pt x="799338" y="75438"/>
                  </a:lnTo>
                  <a:lnTo>
                    <a:pt x="802386" y="71628"/>
                  </a:lnTo>
                  <a:close/>
                </a:path>
                <a:path w="802640" h="504825">
                  <a:moveTo>
                    <a:pt x="733044" y="504444"/>
                  </a:moveTo>
                  <a:lnTo>
                    <a:pt x="729996" y="503682"/>
                  </a:lnTo>
                  <a:lnTo>
                    <a:pt x="729996" y="504444"/>
                  </a:lnTo>
                  <a:lnTo>
                    <a:pt x="733044" y="504444"/>
                  </a:lnTo>
                  <a:close/>
                </a:path>
                <a:path w="802640" h="504825">
                  <a:moveTo>
                    <a:pt x="802386" y="432054"/>
                  </a:moveTo>
                  <a:lnTo>
                    <a:pt x="799338" y="428244"/>
                  </a:lnTo>
                  <a:lnTo>
                    <a:pt x="799338" y="446876"/>
                  </a:lnTo>
                  <a:lnTo>
                    <a:pt x="802386" y="4320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689341" y="5190744"/>
              <a:ext cx="802640" cy="504825"/>
            </a:xfrm>
            <a:custGeom>
              <a:avLst/>
              <a:gdLst/>
              <a:ahLst/>
              <a:cxnLst/>
              <a:rect l="l" t="t" r="r" b="b"/>
              <a:pathLst>
                <a:path w="802640" h="504825">
                  <a:moveTo>
                    <a:pt x="76200" y="504444"/>
                  </a:moveTo>
                  <a:lnTo>
                    <a:pt x="733044" y="504444"/>
                  </a:lnTo>
                  <a:lnTo>
                    <a:pt x="729996" y="503682"/>
                  </a:lnTo>
                  <a:lnTo>
                    <a:pt x="758023" y="498062"/>
                  </a:lnTo>
                  <a:lnTo>
                    <a:pt x="781050" y="482727"/>
                  </a:lnTo>
                  <a:lnTo>
                    <a:pt x="796647" y="459962"/>
                  </a:lnTo>
                  <a:lnTo>
                    <a:pt x="802386" y="432054"/>
                  </a:lnTo>
                  <a:lnTo>
                    <a:pt x="799338" y="428244"/>
                  </a:lnTo>
                  <a:lnTo>
                    <a:pt x="799338" y="75438"/>
                  </a:lnTo>
                  <a:lnTo>
                    <a:pt x="781050" y="20955"/>
                  </a:lnTo>
                  <a:lnTo>
                    <a:pt x="729996" y="0"/>
                  </a:lnTo>
                  <a:lnTo>
                    <a:pt x="733044" y="0"/>
                  </a:lnTo>
                  <a:lnTo>
                    <a:pt x="75437" y="0"/>
                  </a:lnTo>
                  <a:lnTo>
                    <a:pt x="47410" y="5619"/>
                  </a:lnTo>
                  <a:lnTo>
                    <a:pt x="24383" y="20955"/>
                  </a:lnTo>
                  <a:lnTo>
                    <a:pt x="8786" y="43719"/>
                  </a:lnTo>
                  <a:lnTo>
                    <a:pt x="3047" y="71628"/>
                  </a:lnTo>
                  <a:lnTo>
                    <a:pt x="0" y="75438"/>
                  </a:lnTo>
                  <a:lnTo>
                    <a:pt x="0" y="428244"/>
                  </a:lnTo>
                  <a:lnTo>
                    <a:pt x="3048" y="432054"/>
                  </a:lnTo>
                  <a:lnTo>
                    <a:pt x="8786" y="459962"/>
                  </a:lnTo>
                  <a:lnTo>
                    <a:pt x="24384" y="482727"/>
                  </a:lnTo>
                  <a:lnTo>
                    <a:pt x="47410" y="498062"/>
                  </a:lnTo>
                  <a:lnTo>
                    <a:pt x="75438" y="503682"/>
                  </a:lnTo>
                  <a:lnTo>
                    <a:pt x="76200" y="504444"/>
                  </a:lnTo>
                  <a:close/>
                </a:path>
              </a:pathLst>
            </a:custGeom>
            <a:ln w="28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03285" y="5257038"/>
              <a:ext cx="219455" cy="485393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9384029" y="4361688"/>
              <a:ext cx="180975" cy="0"/>
            </a:xfrm>
            <a:custGeom>
              <a:avLst/>
              <a:gdLst/>
              <a:ahLst/>
              <a:cxnLst/>
              <a:rect l="l" t="t" r="r" b="b"/>
              <a:pathLst>
                <a:path w="180975">
                  <a:moveTo>
                    <a:pt x="180594" y="0"/>
                  </a:moveTo>
                  <a:lnTo>
                    <a:pt x="0" y="0"/>
                  </a:lnTo>
                </a:path>
              </a:pathLst>
            </a:custGeom>
            <a:ln w="28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563861" y="4317491"/>
              <a:ext cx="90170" cy="90170"/>
            </a:xfrm>
            <a:custGeom>
              <a:avLst/>
              <a:gdLst/>
              <a:ahLst/>
              <a:cxnLst/>
              <a:rect l="l" t="t" r="r" b="b"/>
              <a:pathLst>
                <a:path w="90170" h="90170">
                  <a:moveTo>
                    <a:pt x="44957" y="0"/>
                  </a:moveTo>
                  <a:lnTo>
                    <a:pt x="27324" y="3595"/>
                  </a:lnTo>
                  <a:lnTo>
                    <a:pt x="13049" y="13335"/>
                  </a:lnTo>
                  <a:lnTo>
                    <a:pt x="3488" y="27646"/>
                  </a:lnTo>
                  <a:lnTo>
                    <a:pt x="0" y="44958"/>
                  </a:lnTo>
                  <a:lnTo>
                    <a:pt x="3488" y="62591"/>
                  </a:lnTo>
                  <a:lnTo>
                    <a:pt x="13049" y="76866"/>
                  </a:lnTo>
                  <a:lnTo>
                    <a:pt x="27324" y="86427"/>
                  </a:lnTo>
                  <a:lnTo>
                    <a:pt x="44957" y="89916"/>
                  </a:lnTo>
                  <a:lnTo>
                    <a:pt x="62269" y="86427"/>
                  </a:lnTo>
                  <a:lnTo>
                    <a:pt x="76580" y="76866"/>
                  </a:lnTo>
                  <a:lnTo>
                    <a:pt x="86320" y="62591"/>
                  </a:lnTo>
                  <a:lnTo>
                    <a:pt x="89915" y="44958"/>
                  </a:lnTo>
                  <a:lnTo>
                    <a:pt x="86320" y="27646"/>
                  </a:lnTo>
                  <a:lnTo>
                    <a:pt x="76580" y="13334"/>
                  </a:lnTo>
                  <a:lnTo>
                    <a:pt x="62269" y="3595"/>
                  </a:lnTo>
                  <a:lnTo>
                    <a:pt x="44957" y="0"/>
                  </a:lnTo>
                  <a:close/>
                </a:path>
              </a:pathLst>
            </a:custGeom>
            <a:ln w="28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53783" y="3495294"/>
              <a:ext cx="665637" cy="40766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53783" y="4363974"/>
              <a:ext cx="665637" cy="299527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6739381" y="3138932"/>
            <a:ext cx="22783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Verdana"/>
                <a:cs typeface="Verdana"/>
              </a:rPr>
              <a:t>Positive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Feedback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33" name="object 3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787831" y="4131316"/>
            <a:ext cx="690840" cy="424331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8154416" y="4765802"/>
            <a:ext cx="10020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Verdana"/>
                <a:cs typeface="Verdana"/>
              </a:rPr>
              <a:t>+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delay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35" name="object 3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832854" y="4152138"/>
            <a:ext cx="312420" cy="249936"/>
          </a:xfrm>
          <a:prstGeom prst="rect">
            <a:avLst/>
          </a:prstGeom>
        </p:spPr>
      </p:pic>
      <p:sp>
        <p:nvSpPr>
          <p:cNvPr id="36" name="object 3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7FFCF062-A957-4FB5-8D2F-2B246D85A435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40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dirty="0"/>
              <a:t>Feedback</a:t>
            </a:r>
            <a:r>
              <a:rPr spc="-55" dirty="0"/>
              <a:t> </a:t>
            </a:r>
            <a:r>
              <a:rPr dirty="0"/>
              <a:t>Stability:</a:t>
            </a:r>
            <a:r>
              <a:rPr spc="-5" dirty="0"/>
              <a:t> </a:t>
            </a:r>
            <a:r>
              <a:rPr dirty="0"/>
              <a:t>Nyquist</a:t>
            </a:r>
            <a:r>
              <a:rPr spc="-40" dirty="0"/>
              <a:t> </a:t>
            </a:r>
            <a:r>
              <a:rPr dirty="0"/>
              <a:t>Stability</a:t>
            </a:r>
            <a:r>
              <a:rPr spc="-15" dirty="0"/>
              <a:t> </a:t>
            </a:r>
            <a:r>
              <a:rPr spc="-10" dirty="0"/>
              <a:t>Criterion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73734" y="3353909"/>
            <a:ext cx="4884901" cy="233635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044438" y="5760973"/>
            <a:ext cx="750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Stable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64860" y="5760973"/>
            <a:ext cx="1025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Unstable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32403" y="4545576"/>
            <a:ext cx="2921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21915" algn="l"/>
              </a:tabLst>
            </a:pPr>
            <a:r>
              <a:rPr sz="1800" spc="-25" dirty="0">
                <a:latin typeface="Verdana"/>
                <a:cs typeface="Verdana"/>
              </a:rPr>
              <a:t>Re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Re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4644" y="1300988"/>
            <a:ext cx="10379075" cy="278765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482600" marR="244475" indent="-470534">
              <a:lnSpc>
                <a:spcPts val="2390"/>
              </a:lnSpc>
              <a:spcBef>
                <a:spcPts val="185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Nyquist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plot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obtained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by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tracing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complex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plane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magnitude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phase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loopgain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T(j</a:t>
            </a:r>
            <a:r>
              <a:rPr sz="2000" dirty="0">
                <a:latin typeface="Symbol"/>
                <a:cs typeface="Symbol"/>
              </a:rPr>
              <a:t></a:t>
            </a:r>
            <a:r>
              <a:rPr sz="2000" dirty="0">
                <a:latin typeface="Verdana"/>
                <a:cs typeface="Verdana"/>
              </a:rPr>
              <a:t>)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from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Symbol"/>
                <a:cs typeface="Symbol"/>
              </a:rPr>
              <a:t></a:t>
            </a:r>
            <a:r>
              <a:rPr sz="2000" dirty="0">
                <a:latin typeface="Verdana"/>
                <a:cs typeface="Verdana"/>
              </a:rPr>
              <a:t>=0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20" dirty="0">
                <a:latin typeface="Symbol"/>
                <a:cs typeface="Symbol"/>
              </a:rPr>
              <a:t></a:t>
            </a:r>
            <a:r>
              <a:rPr sz="2000" spc="-20" dirty="0">
                <a:latin typeface="Verdana"/>
                <a:cs typeface="Verdana"/>
              </a:rPr>
              <a:t>=j∞</a:t>
            </a:r>
            <a:endParaRPr sz="2000">
              <a:latin typeface="Verdana"/>
              <a:cs typeface="Verdana"/>
            </a:endParaRPr>
          </a:p>
          <a:p>
            <a:pPr marL="482600" marR="5080" indent="-470534">
              <a:lnSpc>
                <a:spcPct val="99800"/>
              </a:lnSpc>
              <a:spcBef>
                <a:spcPts val="415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Based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on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Nyquist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Stability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Criteria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(1932)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for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feedback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amplifier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(without </a:t>
            </a:r>
            <a:r>
              <a:rPr sz="2000" dirty="0">
                <a:latin typeface="Verdana"/>
                <a:cs typeface="Verdana"/>
              </a:rPr>
              <a:t>right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half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plane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poles)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necessary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sufficient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condition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for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stability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that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Nyquist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plot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T(j</a:t>
            </a:r>
            <a:r>
              <a:rPr sz="2000" dirty="0">
                <a:latin typeface="Symbol"/>
                <a:cs typeface="Symbol"/>
              </a:rPr>
              <a:t></a:t>
            </a:r>
            <a:r>
              <a:rPr sz="2000" dirty="0">
                <a:latin typeface="Verdana"/>
                <a:cs typeface="Verdana"/>
              </a:rPr>
              <a:t>)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plane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loopgain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T(j</a:t>
            </a:r>
            <a:r>
              <a:rPr sz="2000" dirty="0">
                <a:latin typeface="Symbol"/>
                <a:cs typeface="Symbol"/>
              </a:rPr>
              <a:t></a:t>
            </a:r>
            <a:r>
              <a:rPr sz="2000" dirty="0">
                <a:latin typeface="Verdana"/>
                <a:cs typeface="Verdana"/>
              </a:rPr>
              <a:t>)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does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not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encircle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the</a:t>
            </a:r>
            <a:endParaRPr sz="2000">
              <a:latin typeface="Verdana"/>
              <a:cs typeface="Verdana"/>
            </a:endParaRPr>
          </a:p>
          <a:p>
            <a:pPr marL="482600">
              <a:lnSpc>
                <a:spcPct val="100000"/>
              </a:lnSpc>
            </a:pPr>
            <a:r>
              <a:rPr sz="2000" spc="-10" dirty="0">
                <a:latin typeface="Verdana"/>
                <a:cs typeface="Verdana"/>
              </a:rPr>
              <a:t>-</a:t>
            </a:r>
            <a:r>
              <a:rPr sz="2000" dirty="0">
                <a:latin typeface="Verdana"/>
                <a:cs typeface="Verdana"/>
              </a:rPr>
              <a:t>1+j0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(180</a:t>
            </a:r>
            <a:r>
              <a:rPr sz="2000" dirty="0">
                <a:latin typeface="Symbol"/>
                <a:cs typeface="Symbol"/>
              </a:rPr>
              <a:t></a:t>
            </a:r>
            <a:r>
              <a:rPr sz="2000" dirty="0">
                <a:latin typeface="Verdana"/>
                <a:cs typeface="Verdana"/>
              </a:rPr>
              <a:t>)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[1,17]</a:t>
            </a:r>
            <a:endParaRPr sz="2000">
              <a:latin typeface="Verdana"/>
              <a:cs typeface="Verdana"/>
            </a:endParaRPr>
          </a:p>
          <a:p>
            <a:pPr marL="5626735">
              <a:lnSpc>
                <a:spcPct val="100000"/>
              </a:lnSpc>
              <a:spcBef>
                <a:spcPts val="919"/>
              </a:spcBef>
              <a:tabLst>
                <a:tab pos="8275320" algn="l"/>
              </a:tabLst>
            </a:pPr>
            <a:r>
              <a:rPr sz="2700" spc="-37" baseline="3086" dirty="0">
                <a:latin typeface="Verdana"/>
                <a:cs typeface="Verdana"/>
              </a:rPr>
              <a:t>Im</a:t>
            </a:r>
            <a:r>
              <a:rPr sz="2700" baseline="3086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Im</a:t>
            </a:r>
            <a:endParaRPr sz="1800">
              <a:latin typeface="Verdana"/>
              <a:cs typeface="Verdana"/>
            </a:endParaRPr>
          </a:p>
          <a:p>
            <a:pPr marL="4681855">
              <a:lnSpc>
                <a:spcPct val="100000"/>
              </a:lnSpc>
              <a:spcBef>
                <a:spcPts val="1645"/>
              </a:spcBef>
              <a:tabLst>
                <a:tab pos="7275195" algn="l"/>
              </a:tabLst>
            </a:pPr>
            <a:r>
              <a:rPr sz="1800" spc="-25" dirty="0">
                <a:latin typeface="Symbol"/>
                <a:cs typeface="Symbol"/>
              </a:rPr>
              <a:t></a:t>
            </a:r>
            <a:r>
              <a:rPr sz="1800" spc="-25" dirty="0">
                <a:latin typeface="Verdana"/>
                <a:cs typeface="Verdana"/>
              </a:rPr>
              <a:t>=∞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25" dirty="0">
                <a:latin typeface="Symbol"/>
                <a:cs typeface="Symbol"/>
              </a:rPr>
              <a:t></a:t>
            </a:r>
            <a:r>
              <a:rPr sz="1800" spc="-25" dirty="0">
                <a:latin typeface="Verdana"/>
                <a:cs typeface="Verdana"/>
              </a:rPr>
              <a:t>=∞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04210" y="4581398"/>
            <a:ext cx="2929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67000" algn="l"/>
              </a:tabLst>
            </a:pPr>
            <a:r>
              <a:rPr sz="1800" spc="-20" dirty="0">
                <a:latin typeface="Verdana"/>
                <a:cs typeface="Verdana"/>
              </a:rPr>
              <a:t>-</a:t>
            </a:r>
            <a:r>
              <a:rPr sz="1800" spc="-50" dirty="0">
                <a:latin typeface="Verdana"/>
                <a:cs typeface="Verdana"/>
              </a:rPr>
              <a:t>1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20" dirty="0">
                <a:latin typeface="Verdana"/>
                <a:cs typeface="Verdana"/>
              </a:rPr>
              <a:t>-</a:t>
            </a:r>
            <a:r>
              <a:rPr sz="1800" spc="-50" dirty="0">
                <a:latin typeface="Verdana"/>
                <a:cs typeface="Verdana"/>
              </a:rPr>
              <a:t>1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006084" y="4025646"/>
            <a:ext cx="3842385" cy="523875"/>
            <a:chOff x="6006084" y="4025646"/>
            <a:chExt cx="3842385" cy="52387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55302" y="4307586"/>
              <a:ext cx="192785" cy="21564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661654" y="4025646"/>
              <a:ext cx="356870" cy="523875"/>
            </a:xfrm>
            <a:custGeom>
              <a:avLst/>
              <a:gdLst/>
              <a:ahLst/>
              <a:cxnLst/>
              <a:rect l="l" t="t" r="r" b="b"/>
              <a:pathLst>
                <a:path w="356870" h="523875">
                  <a:moveTo>
                    <a:pt x="318006" y="457764"/>
                  </a:moveTo>
                  <a:lnTo>
                    <a:pt x="7620" y="0"/>
                  </a:lnTo>
                  <a:lnTo>
                    <a:pt x="0" y="5334"/>
                  </a:lnTo>
                  <a:lnTo>
                    <a:pt x="309785" y="463310"/>
                  </a:lnTo>
                  <a:lnTo>
                    <a:pt x="318006" y="457764"/>
                  </a:lnTo>
                  <a:close/>
                </a:path>
                <a:path w="356870" h="523875">
                  <a:moveTo>
                    <a:pt x="325374" y="505779"/>
                  </a:moveTo>
                  <a:lnTo>
                    <a:pt x="325374" y="468630"/>
                  </a:lnTo>
                  <a:lnTo>
                    <a:pt x="316992" y="473964"/>
                  </a:lnTo>
                  <a:lnTo>
                    <a:pt x="309785" y="463310"/>
                  </a:lnTo>
                  <a:lnTo>
                    <a:pt x="282702" y="481584"/>
                  </a:lnTo>
                  <a:lnTo>
                    <a:pt x="325374" y="505779"/>
                  </a:lnTo>
                  <a:close/>
                </a:path>
                <a:path w="356870" h="523875">
                  <a:moveTo>
                    <a:pt x="325374" y="468630"/>
                  </a:moveTo>
                  <a:lnTo>
                    <a:pt x="318006" y="457764"/>
                  </a:lnTo>
                  <a:lnTo>
                    <a:pt x="309785" y="463310"/>
                  </a:lnTo>
                  <a:lnTo>
                    <a:pt x="316992" y="473964"/>
                  </a:lnTo>
                  <a:lnTo>
                    <a:pt x="325374" y="468630"/>
                  </a:lnTo>
                  <a:close/>
                </a:path>
                <a:path w="356870" h="523875">
                  <a:moveTo>
                    <a:pt x="356616" y="523494"/>
                  </a:moveTo>
                  <a:lnTo>
                    <a:pt x="345948" y="438912"/>
                  </a:lnTo>
                  <a:lnTo>
                    <a:pt x="318006" y="457764"/>
                  </a:lnTo>
                  <a:lnTo>
                    <a:pt x="325374" y="468630"/>
                  </a:lnTo>
                  <a:lnTo>
                    <a:pt x="325374" y="505779"/>
                  </a:lnTo>
                  <a:lnTo>
                    <a:pt x="356616" y="52349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58406" y="4331970"/>
              <a:ext cx="192785" cy="21564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006084" y="4025646"/>
              <a:ext cx="357505" cy="523875"/>
            </a:xfrm>
            <a:custGeom>
              <a:avLst/>
              <a:gdLst/>
              <a:ahLst/>
              <a:cxnLst/>
              <a:rect l="l" t="t" r="r" b="b"/>
              <a:pathLst>
                <a:path w="357504" h="523875">
                  <a:moveTo>
                    <a:pt x="318124" y="457913"/>
                  </a:moveTo>
                  <a:lnTo>
                    <a:pt x="8382" y="0"/>
                  </a:lnTo>
                  <a:lnTo>
                    <a:pt x="0" y="5334"/>
                  </a:lnTo>
                  <a:lnTo>
                    <a:pt x="310432" y="463166"/>
                  </a:lnTo>
                  <a:lnTo>
                    <a:pt x="318124" y="457913"/>
                  </a:lnTo>
                  <a:close/>
                </a:path>
                <a:path w="357504" h="523875">
                  <a:moveTo>
                    <a:pt x="325374" y="505347"/>
                  </a:moveTo>
                  <a:lnTo>
                    <a:pt x="325374" y="468630"/>
                  </a:lnTo>
                  <a:lnTo>
                    <a:pt x="317754" y="473964"/>
                  </a:lnTo>
                  <a:lnTo>
                    <a:pt x="310432" y="463166"/>
                  </a:lnTo>
                  <a:lnTo>
                    <a:pt x="283464" y="481584"/>
                  </a:lnTo>
                  <a:lnTo>
                    <a:pt x="325374" y="505347"/>
                  </a:lnTo>
                  <a:close/>
                </a:path>
                <a:path w="357504" h="523875">
                  <a:moveTo>
                    <a:pt x="325374" y="468630"/>
                  </a:moveTo>
                  <a:lnTo>
                    <a:pt x="318124" y="457913"/>
                  </a:lnTo>
                  <a:lnTo>
                    <a:pt x="310432" y="463166"/>
                  </a:lnTo>
                  <a:lnTo>
                    <a:pt x="317754" y="473964"/>
                  </a:lnTo>
                  <a:lnTo>
                    <a:pt x="325374" y="468630"/>
                  </a:lnTo>
                  <a:close/>
                </a:path>
                <a:path w="357504" h="523875">
                  <a:moveTo>
                    <a:pt x="357378" y="523494"/>
                  </a:moveTo>
                  <a:lnTo>
                    <a:pt x="345948" y="438912"/>
                  </a:lnTo>
                  <a:lnTo>
                    <a:pt x="318124" y="457913"/>
                  </a:lnTo>
                  <a:lnTo>
                    <a:pt x="325374" y="468630"/>
                  </a:lnTo>
                  <a:lnTo>
                    <a:pt x="325374" y="505347"/>
                  </a:lnTo>
                  <a:lnTo>
                    <a:pt x="357378" y="52349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80186" y="4384802"/>
            <a:ext cx="1025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T(j𝜔)</a:t>
            </a:r>
            <a:r>
              <a:rPr sz="1800" spc="1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1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𝐴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79929" y="4493005"/>
            <a:ext cx="122555" cy="2260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00" spc="-50" dirty="0">
                <a:latin typeface="Cambria Math"/>
                <a:cs typeface="Cambria Math"/>
              </a:rPr>
              <a:t>0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170176" y="4072127"/>
            <a:ext cx="1973580" cy="451484"/>
          </a:xfrm>
          <a:custGeom>
            <a:avLst/>
            <a:gdLst/>
            <a:ahLst/>
            <a:cxnLst/>
            <a:rect l="l" t="t" r="r" b="b"/>
            <a:pathLst>
              <a:path w="1973579" h="451485">
                <a:moveTo>
                  <a:pt x="86868" y="6858"/>
                </a:moveTo>
                <a:lnTo>
                  <a:pt x="50101" y="33299"/>
                </a:lnTo>
                <a:lnTo>
                  <a:pt x="24384" y="82296"/>
                </a:lnTo>
                <a:lnTo>
                  <a:pt x="6184" y="146786"/>
                </a:lnTo>
                <a:lnTo>
                  <a:pt x="0" y="225552"/>
                </a:lnTo>
                <a:lnTo>
                  <a:pt x="1549" y="266700"/>
                </a:lnTo>
                <a:lnTo>
                  <a:pt x="13817" y="338391"/>
                </a:lnTo>
                <a:lnTo>
                  <a:pt x="36817" y="395389"/>
                </a:lnTo>
                <a:lnTo>
                  <a:pt x="64566" y="436537"/>
                </a:lnTo>
                <a:lnTo>
                  <a:pt x="80010" y="451104"/>
                </a:lnTo>
                <a:lnTo>
                  <a:pt x="86868" y="443484"/>
                </a:lnTo>
                <a:lnTo>
                  <a:pt x="73279" y="428942"/>
                </a:lnTo>
                <a:lnTo>
                  <a:pt x="61048" y="410527"/>
                </a:lnTo>
                <a:lnTo>
                  <a:pt x="40386" y="362712"/>
                </a:lnTo>
                <a:lnTo>
                  <a:pt x="26670" y="300990"/>
                </a:lnTo>
                <a:lnTo>
                  <a:pt x="22098" y="225552"/>
                </a:lnTo>
                <a:lnTo>
                  <a:pt x="23241" y="186118"/>
                </a:lnTo>
                <a:lnTo>
                  <a:pt x="32385" y="117538"/>
                </a:lnTo>
                <a:lnTo>
                  <a:pt x="50101" y="62687"/>
                </a:lnTo>
                <a:lnTo>
                  <a:pt x="73279" y="21856"/>
                </a:lnTo>
                <a:lnTo>
                  <a:pt x="86868" y="6858"/>
                </a:lnTo>
                <a:close/>
              </a:path>
              <a:path w="1973579" h="451485">
                <a:moveTo>
                  <a:pt x="854964" y="218694"/>
                </a:moveTo>
                <a:lnTo>
                  <a:pt x="494538" y="218694"/>
                </a:lnTo>
                <a:lnTo>
                  <a:pt x="494538" y="233172"/>
                </a:lnTo>
                <a:lnTo>
                  <a:pt x="854964" y="233172"/>
                </a:lnTo>
                <a:lnTo>
                  <a:pt x="854964" y="218694"/>
                </a:lnTo>
                <a:close/>
              </a:path>
              <a:path w="1973579" h="451485">
                <a:moveTo>
                  <a:pt x="949452" y="225552"/>
                </a:moveTo>
                <a:lnTo>
                  <a:pt x="947889" y="184416"/>
                </a:lnTo>
                <a:lnTo>
                  <a:pt x="935621" y="112725"/>
                </a:lnTo>
                <a:lnTo>
                  <a:pt x="912495" y="55727"/>
                </a:lnTo>
                <a:lnTo>
                  <a:pt x="884237" y="14579"/>
                </a:lnTo>
                <a:lnTo>
                  <a:pt x="868680" y="0"/>
                </a:lnTo>
                <a:lnTo>
                  <a:pt x="862584" y="6858"/>
                </a:lnTo>
                <a:lnTo>
                  <a:pt x="875842" y="21856"/>
                </a:lnTo>
                <a:lnTo>
                  <a:pt x="888111" y="40487"/>
                </a:lnTo>
                <a:lnTo>
                  <a:pt x="909066" y="88392"/>
                </a:lnTo>
                <a:lnTo>
                  <a:pt x="922782" y="150114"/>
                </a:lnTo>
                <a:lnTo>
                  <a:pt x="927354" y="225552"/>
                </a:lnTo>
                <a:lnTo>
                  <a:pt x="926211" y="264985"/>
                </a:lnTo>
                <a:lnTo>
                  <a:pt x="917067" y="333565"/>
                </a:lnTo>
                <a:lnTo>
                  <a:pt x="899223" y="388416"/>
                </a:lnTo>
                <a:lnTo>
                  <a:pt x="875842" y="428942"/>
                </a:lnTo>
                <a:lnTo>
                  <a:pt x="862584" y="443484"/>
                </a:lnTo>
                <a:lnTo>
                  <a:pt x="868680" y="451104"/>
                </a:lnTo>
                <a:lnTo>
                  <a:pt x="898867" y="417957"/>
                </a:lnTo>
                <a:lnTo>
                  <a:pt x="925068" y="368808"/>
                </a:lnTo>
                <a:lnTo>
                  <a:pt x="943254" y="304330"/>
                </a:lnTo>
                <a:lnTo>
                  <a:pt x="947889" y="266700"/>
                </a:lnTo>
                <a:lnTo>
                  <a:pt x="949452" y="225552"/>
                </a:lnTo>
                <a:close/>
              </a:path>
              <a:path w="1973579" h="451485">
                <a:moveTo>
                  <a:pt x="1111758" y="6858"/>
                </a:moveTo>
                <a:lnTo>
                  <a:pt x="1074991" y="33299"/>
                </a:lnTo>
                <a:lnTo>
                  <a:pt x="1049274" y="82296"/>
                </a:lnTo>
                <a:lnTo>
                  <a:pt x="1031074" y="146786"/>
                </a:lnTo>
                <a:lnTo>
                  <a:pt x="1024890" y="225552"/>
                </a:lnTo>
                <a:lnTo>
                  <a:pt x="1026439" y="266700"/>
                </a:lnTo>
                <a:lnTo>
                  <a:pt x="1038707" y="338391"/>
                </a:lnTo>
                <a:lnTo>
                  <a:pt x="1061707" y="395389"/>
                </a:lnTo>
                <a:lnTo>
                  <a:pt x="1089456" y="436537"/>
                </a:lnTo>
                <a:lnTo>
                  <a:pt x="1104900" y="451104"/>
                </a:lnTo>
                <a:lnTo>
                  <a:pt x="1111758" y="443484"/>
                </a:lnTo>
                <a:lnTo>
                  <a:pt x="1098169" y="428942"/>
                </a:lnTo>
                <a:lnTo>
                  <a:pt x="1085938" y="410527"/>
                </a:lnTo>
                <a:lnTo>
                  <a:pt x="1065276" y="362712"/>
                </a:lnTo>
                <a:lnTo>
                  <a:pt x="1051560" y="300990"/>
                </a:lnTo>
                <a:lnTo>
                  <a:pt x="1046988" y="225552"/>
                </a:lnTo>
                <a:lnTo>
                  <a:pt x="1048131" y="186118"/>
                </a:lnTo>
                <a:lnTo>
                  <a:pt x="1057275" y="117538"/>
                </a:lnTo>
                <a:lnTo>
                  <a:pt x="1074991" y="62687"/>
                </a:lnTo>
                <a:lnTo>
                  <a:pt x="1098169" y="21856"/>
                </a:lnTo>
                <a:lnTo>
                  <a:pt x="1111758" y="6858"/>
                </a:lnTo>
                <a:close/>
              </a:path>
              <a:path w="1973579" h="451485">
                <a:moveTo>
                  <a:pt x="1973580" y="225552"/>
                </a:moveTo>
                <a:lnTo>
                  <a:pt x="1972017" y="184416"/>
                </a:lnTo>
                <a:lnTo>
                  <a:pt x="1959749" y="112725"/>
                </a:lnTo>
                <a:lnTo>
                  <a:pt x="1936623" y="55727"/>
                </a:lnTo>
                <a:lnTo>
                  <a:pt x="1908365" y="14579"/>
                </a:lnTo>
                <a:lnTo>
                  <a:pt x="1892808" y="0"/>
                </a:lnTo>
                <a:lnTo>
                  <a:pt x="1886712" y="6858"/>
                </a:lnTo>
                <a:lnTo>
                  <a:pt x="1899970" y="21856"/>
                </a:lnTo>
                <a:lnTo>
                  <a:pt x="1912239" y="40487"/>
                </a:lnTo>
                <a:lnTo>
                  <a:pt x="1933194" y="88392"/>
                </a:lnTo>
                <a:lnTo>
                  <a:pt x="1946910" y="150114"/>
                </a:lnTo>
                <a:lnTo>
                  <a:pt x="1951482" y="225552"/>
                </a:lnTo>
                <a:lnTo>
                  <a:pt x="1950339" y="264985"/>
                </a:lnTo>
                <a:lnTo>
                  <a:pt x="1941195" y="333565"/>
                </a:lnTo>
                <a:lnTo>
                  <a:pt x="1923351" y="388416"/>
                </a:lnTo>
                <a:lnTo>
                  <a:pt x="1899970" y="428942"/>
                </a:lnTo>
                <a:lnTo>
                  <a:pt x="1886712" y="443484"/>
                </a:lnTo>
                <a:lnTo>
                  <a:pt x="1892808" y="451104"/>
                </a:lnTo>
                <a:lnTo>
                  <a:pt x="1922995" y="417957"/>
                </a:lnTo>
                <a:lnTo>
                  <a:pt x="1949196" y="368808"/>
                </a:lnTo>
                <a:lnTo>
                  <a:pt x="1967382" y="304330"/>
                </a:lnTo>
                <a:lnTo>
                  <a:pt x="1972017" y="266700"/>
                </a:lnTo>
                <a:lnTo>
                  <a:pt x="1973580" y="2255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717553" y="3985506"/>
            <a:ext cx="7568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36319" algn="l"/>
                <a:tab pos="4326890" algn="l"/>
                <a:tab pos="7064375" algn="l"/>
              </a:tabLst>
            </a:pPr>
            <a:r>
              <a:rPr sz="1800" spc="-25" dirty="0">
                <a:latin typeface="Cambria Math"/>
                <a:cs typeface="Cambria Math"/>
              </a:rPr>
              <a:t>j𝜔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25" dirty="0">
                <a:latin typeface="Cambria Math"/>
                <a:cs typeface="Cambria Math"/>
              </a:rPr>
              <a:t>j𝜔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2700" spc="-37" baseline="3086" dirty="0">
                <a:latin typeface="Symbol"/>
                <a:cs typeface="Symbol"/>
              </a:rPr>
              <a:t></a:t>
            </a:r>
            <a:r>
              <a:rPr sz="2700" spc="-37" baseline="3086" dirty="0">
                <a:latin typeface="Verdana"/>
                <a:cs typeface="Verdana"/>
              </a:rPr>
              <a:t>=0</a:t>
            </a:r>
            <a:r>
              <a:rPr sz="2700" baseline="3086" dirty="0">
                <a:latin typeface="Verdana"/>
                <a:cs typeface="Verdana"/>
              </a:rPr>
              <a:t>	</a:t>
            </a:r>
            <a:r>
              <a:rPr sz="2700" spc="-37" baseline="3086" dirty="0">
                <a:latin typeface="Symbol"/>
                <a:cs typeface="Symbol"/>
              </a:rPr>
              <a:t></a:t>
            </a:r>
            <a:r>
              <a:rPr sz="2700" spc="-37" baseline="3086" dirty="0">
                <a:latin typeface="Verdana"/>
                <a:cs typeface="Verdana"/>
              </a:rPr>
              <a:t>=0</a:t>
            </a:r>
            <a:endParaRPr sz="2700" baseline="3086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688841" y="4290821"/>
            <a:ext cx="360680" cy="14604"/>
          </a:xfrm>
          <a:custGeom>
            <a:avLst/>
            <a:gdLst/>
            <a:ahLst/>
            <a:cxnLst/>
            <a:rect l="l" t="t" r="r" b="b"/>
            <a:pathLst>
              <a:path w="360679" h="14604">
                <a:moveTo>
                  <a:pt x="360425" y="14477"/>
                </a:moveTo>
                <a:lnTo>
                  <a:pt x="360425" y="0"/>
                </a:lnTo>
                <a:lnTo>
                  <a:pt x="0" y="0"/>
                </a:lnTo>
                <a:lnTo>
                  <a:pt x="0" y="14477"/>
                </a:lnTo>
                <a:lnTo>
                  <a:pt x="360425" y="144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213864" y="4121911"/>
            <a:ext cx="220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075055" algn="l"/>
                <a:tab pos="1986914" algn="l"/>
              </a:tabLst>
            </a:pPr>
            <a:r>
              <a:rPr sz="1800" dirty="0">
                <a:latin typeface="Cambria Math"/>
                <a:cs typeface="Cambria Math"/>
              </a:rPr>
              <a:t>1</a:t>
            </a:r>
            <a:r>
              <a:rPr sz="1800" spc="-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2700" spc="-37" baseline="-27777" dirty="0">
                <a:latin typeface="Cambria Math"/>
                <a:cs typeface="Cambria Math"/>
              </a:rPr>
              <a:t>𝜔</a:t>
            </a:r>
            <a:r>
              <a:rPr sz="1950" spc="-37" baseline="-53418" dirty="0">
                <a:latin typeface="Cambria Math"/>
                <a:cs typeface="Cambria Math"/>
              </a:rPr>
              <a:t>𝑧1</a:t>
            </a:r>
            <a:r>
              <a:rPr sz="1950" baseline="-53418" dirty="0">
                <a:latin typeface="Cambria Math"/>
                <a:cs typeface="Cambria Math"/>
              </a:rPr>
              <a:t>	</a:t>
            </a:r>
            <a:r>
              <a:rPr sz="1800" dirty="0">
                <a:latin typeface="Cambria Math"/>
                <a:cs typeface="Cambria Math"/>
              </a:rPr>
              <a:t>1</a:t>
            </a:r>
            <a:r>
              <a:rPr sz="1800" spc="-1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 </a:t>
            </a:r>
            <a:r>
              <a:rPr sz="2700" spc="-37" baseline="-27777" dirty="0">
                <a:latin typeface="Cambria Math"/>
                <a:cs typeface="Cambria Math"/>
              </a:rPr>
              <a:t>𝜔</a:t>
            </a:r>
            <a:r>
              <a:rPr sz="1950" spc="-37" baseline="-53418" dirty="0">
                <a:latin typeface="Cambria Math"/>
                <a:cs typeface="Cambria Math"/>
              </a:rPr>
              <a:t>𝑧2</a:t>
            </a:r>
            <a:r>
              <a:rPr sz="1950" baseline="-53418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…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154935" y="4597146"/>
            <a:ext cx="965200" cy="451484"/>
          </a:xfrm>
          <a:custGeom>
            <a:avLst/>
            <a:gdLst/>
            <a:ahLst/>
            <a:cxnLst/>
            <a:rect l="l" t="t" r="r" b="b"/>
            <a:pathLst>
              <a:path w="965200" h="451485">
                <a:moveTo>
                  <a:pt x="964691" y="225552"/>
                </a:moveTo>
                <a:lnTo>
                  <a:pt x="963132" y="184415"/>
                </a:lnTo>
                <a:lnTo>
                  <a:pt x="950868" y="112716"/>
                </a:lnTo>
                <a:lnTo>
                  <a:pt x="927746" y="55721"/>
                </a:lnTo>
                <a:lnTo>
                  <a:pt x="899481" y="14573"/>
                </a:lnTo>
                <a:lnTo>
                  <a:pt x="883919" y="0"/>
                </a:lnTo>
                <a:lnTo>
                  <a:pt x="877823" y="6858"/>
                </a:lnTo>
                <a:lnTo>
                  <a:pt x="891087" y="21847"/>
                </a:lnTo>
                <a:lnTo>
                  <a:pt x="903351" y="40481"/>
                </a:lnTo>
                <a:lnTo>
                  <a:pt x="924306" y="88392"/>
                </a:lnTo>
                <a:lnTo>
                  <a:pt x="938022" y="150114"/>
                </a:lnTo>
                <a:lnTo>
                  <a:pt x="942594" y="225552"/>
                </a:lnTo>
                <a:lnTo>
                  <a:pt x="942594" y="362223"/>
                </a:lnTo>
                <a:lnTo>
                  <a:pt x="950868" y="338387"/>
                </a:lnTo>
                <a:lnTo>
                  <a:pt x="958500" y="304323"/>
                </a:lnTo>
                <a:lnTo>
                  <a:pt x="963132" y="266688"/>
                </a:lnTo>
                <a:lnTo>
                  <a:pt x="964691" y="225552"/>
                </a:lnTo>
                <a:close/>
              </a:path>
              <a:path w="965200" h="451485">
                <a:moveTo>
                  <a:pt x="942594" y="362223"/>
                </a:moveTo>
                <a:lnTo>
                  <a:pt x="942594" y="225552"/>
                </a:lnTo>
                <a:lnTo>
                  <a:pt x="941451" y="264985"/>
                </a:lnTo>
                <a:lnTo>
                  <a:pt x="938022" y="300990"/>
                </a:lnTo>
                <a:lnTo>
                  <a:pt x="924306" y="362712"/>
                </a:lnTo>
                <a:lnTo>
                  <a:pt x="903351" y="410527"/>
                </a:lnTo>
                <a:lnTo>
                  <a:pt x="877823" y="443484"/>
                </a:lnTo>
                <a:lnTo>
                  <a:pt x="883919" y="451104"/>
                </a:lnTo>
                <a:lnTo>
                  <a:pt x="899481" y="436530"/>
                </a:lnTo>
                <a:lnTo>
                  <a:pt x="914114" y="417957"/>
                </a:lnTo>
                <a:lnTo>
                  <a:pt x="927746" y="395382"/>
                </a:lnTo>
                <a:lnTo>
                  <a:pt x="940307" y="368808"/>
                </a:lnTo>
                <a:lnTo>
                  <a:pt x="942594" y="362223"/>
                </a:lnTo>
                <a:close/>
              </a:path>
              <a:path w="965200" h="451485">
                <a:moveTo>
                  <a:pt x="86867" y="6858"/>
                </a:moveTo>
                <a:lnTo>
                  <a:pt x="50113" y="33287"/>
                </a:lnTo>
                <a:lnTo>
                  <a:pt x="24383" y="82296"/>
                </a:lnTo>
                <a:lnTo>
                  <a:pt x="6191" y="146780"/>
                </a:lnTo>
                <a:lnTo>
                  <a:pt x="0" y="225552"/>
                </a:lnTo>
                <a:lnTo>
                  <a:pt x="1559" y="266688"/>
                </a:lnTo>
                <a:lnTo>
                  <a:pt x="6191" y="304323"/>
                </a:lnTo>
                <a:lnTo>
                  <a:pt x="13823" y="338387"/>
                </a:lnTo>
                <a:lnTo>
                  <a:pt x="22097" y="362223"/>
                </a:lnTo>
                <a:lnTo>
                  <a:pt x="22097" y="225552"/>
                </a:lnTo>
                <a:lnTo>
                  <a:pt x="23240" y="186118"/>
                </a:lnTo>
                <a:lnTo>
                  <a:pt x="32384" y="117538"/>
                </a:lnTo>
                <a:lnTo>
                  <a:pt x="50113" y="62686"/>
                </a:lnTo>
                <a:lnTo>
                  <a:pt x="73282" y="21847"/>
                </a:lnTo>
                <a:lnTo>
                  <a:pt x="86867" y="6858"/>
                </a:lnTo>
                <a:close/>
              </a:path>
              <a:path w="965200" h="451485">
                <a:moveTo>
                  <a:pt x="86867" y="443484"/>
                </a:moveTo>
                <a:lnTo>
                  <a:pt x="61055" y="410527"/>
                </a:lnTo>
                <a:lnTo>
                  <a:pt x="40385" y="362712"/>
                </a:lnTo>
                <a:lnTo>
                  <a:pt x="26669" y="300990"/>
                </a:lnTo>
                <a:lnTo>
                  <a:pt x="22097" y="225552"/>
                </a:lnTo>
                <a:lnTo>
                  <a:pt x="22097" y="362223"/>
                </a:lnTo>
                <a:lnTo>
                  <a:pt x="50113" y="417816"/>
                </a:lnTo>
                <a:lnTo>
                  <a:pt x="80009" y="451104"/>
                </a:lnTo>
                <a:lnTo>
                  <a:pt x="86867" y="4434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211323" y="4510524"/>
            <a:ext cx="776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-32407" dirty="0">
                <a:latin typeface="Cambria Math"/>
                <a:cs typeface="Cambria Math"/>
              </a:rPr>
              <a:t>1</a:t>
            </a:r>
            <a:r>
              <a:rPr sz="2700" spc="-15" baseline="-32407" dirty="0">
                <a:latin typeface="Cambria Math"/>
                <a:cs typeface="Cambria Math"/>
              </a:rPr>
              <a:t> </a:t>
            </a:r>
            <a:r>
              <a:rPr sz="2700" baseline="-32407" dirty="0">
                <a:latin typeface="Cambria Math"/>
                <a:cs typeface="Cambria Math"/>
              </a:rPr>
              <a:t>+</a:t>
            </a:r>
            <a:r>
              <a:rPr sz="2700" spc="127" baseline="-32407" dirty="0">
                <a:latin typeface="Cambria Math"/>
                <a:cs typeface="Cambria Math"/>
              </a:rPr>
              <a:t>  </a:t>
            </a:r>
            <a:r>
              <a:rPr sz="1800" spc="-25" dirty="0">
                <a:latin typeface="Cambria Math"/>
                <a:cs typeface="Cambria Math"/>
              </a:rPr>
              <a:t>j𝜔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11373" y="4808473"/>
            <a:ext cx="443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0802" dirty="0">
                <a:latin typeface="Cambria Math"/>
                <a:cs typeface="Cambria Math"/>
              </a:rPr>
              <a:t>𝜔</a:t>
            </a:r>
            <a:r>
              <a:rPr sz="1300" spc="-25" dirty="0">
                <a:latin typeface="Cambria Math"/>
                <a:cs typeface="Cambria Math"/>
              </a:rPr>
              <a:t>𝑝1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648712" y="4597158"/>
            <a:ext cx="1511300" cy="451484"/>
          </a:xfrm>
          <a:custGeom>
            <a:avLst/>
            <a:gdLst/>
            <a:ahLst/>
            <a:cxnLst/>
            <a:rect l="l" t="t" r="r" b="b"/>
            <a:pathLst>
              <a:path w="1511300" h="451485">
                <a:moveTo>
                  <a:pt x="376428" y="218681"/>
                </a:moveTo>
                <a:lnTo>
                  <a:pt x="0" y="218681"/>
                </a:lnTo>
                <a:lnTo>
                  <a:pt x="0" y="233159"/>
                </a:lnTo>
                <a:lnTo>
                  <a:pt x="376428" y="233159"/>
                </a:lnTo>
                <a:lnTo>
                  <a:pt x="376428" y="218681"/>
                </a:lnTo>
                <a:close/>
              </a:path>
              <a:path w="1511300" h="451485">
                <a:moveTo>
                  <a:pt x="633222" y="6858"/>
                </a:moveTo>
                <a:lnTo>
                  <a:pt x="596455" y="33286"/>
                </a:lnTo>
                <a:lnTo>
                  <a:pt x="570738" y="82296"/>
                </a:lnTo>
                <a:lnTo>
                  <a:pt x="552538" y="146773"/>
                </a:lnTo>
                <a:lnTo>
                  <a:pt x="546354" y="225552"/>
                </a:lnTo>
                <a:lnTo>
                  <a:pt x="547903" y="266687"/>
                </a:lnTo>
                <a:lnTo>
                  <a:pt x="552538" y="304317"/>
                </a:lnTo>
                <a:lnTo>
                  <a:pt x="560171" y="338378"/>
                </a:lnTo>
                <a:lnTo>
                  <a:pt x="568452" y="362216"/>
                </a:lnTo>
                <a:lnTo>
                  <a:pt x="570738" y="368808"/>
                </a:lnTo>
                <a:lnTo>
                  <a:pt x="583171" y="395376"/>
                </a:lnTo>
                <a:lnTo>
                  <a:pt x="596455" y="417804"/>
                </a:lnTo>
                <a:lnTo>
                  <a:pt x="610920" y="436524"/>
                </a:lnTo>
                <a:lnTo>
                  <a:pt x="626364" y="451104"/>
                </a:lnTo>
                <a:lnTo>
                  <a:pt x="633222" y="443484"/>
                </a:lnTo>
                <a:lnTo>
                  <a:pt x="619633" y="428929"/>
                </a:lnTo>
                <a:lnTo>
                  <a:pt x="607402" y="410527"/>
                </a:lnTo>
                <a:lnTo>
                  <a:pt x="586740" y="362712"/>
                </a:lnTo>
                <a:lnTo>
                  <a:pt x="573024" y="300990"/>
                </a:lnTo>
                <a:lnTo>
                  <a:pt x="568452" y="225552"/>
                </a:lnTo>
                <a:lnTo>
                  <a:pt x="569595" y="186118"/>
                </a:lnTo>
                <a:lnTo>
                  <a:pt x="578739" y="117538"/>
                </a:lnTo>
                <a:lnTo>
                  <a:pt x="596455" y="62674"/>
                </a:lnTo>
                <a:lnTo>
                  <a:pt x="619633" y="21844"/>
                </a:lnTo>
                <a:lnTo>
                  <a:pt x="633222" y="6858"/>
                </a:lnTo>
                <a:close/>
              </a:path>
              <a:path w="1511300" h="451485">
                <a:moveTo>
                  <a:pt x="1511046" y="225552"/>
                </a:moveTo>
                <a:lnTo>
                  <a:pt x="1509483" y="184404"/>
                </a:lnTo>
                <a:lnTo>
                  <a:pt x="1497215" y="112712"/>
                </a:lnTo>
                <a:lnTo>
                  <a:pt x="1474089" y="55714"/>
                </a:lnTo>
                <a:lnTo>
                  <a:pt x="1445831" y="14566"/>
                </a:lnTo>
                <a:lnTo>
                  <a:pt x="1430274" y="0"/>
                </a:lnTo>
                <a:lnTo>
                  <a:pt x="1424178" y="6858"/>
                </a:lnTo>
                <a:lnTo>
                  <a:pt x="1437436" y="21844"/>
                </a:lnTo>
                <a:lnTo>
                  <a:pt x="1449705" y="40474"/>
                </a:lnTo>
                <a:lnTo>
                  <a:pt x="1470660" y="88392"/>
                </a:lnTo>
                <a:lnTo>
                  <a:pt x="1484376" y="150114"/>
                </a:lnTo>
                <a:lnTo>
                  <a:pt x="1488948" y="225552"/>
                </a:lnTo>
                <a:lnTo>
                  <a:pt x="1487805" y="264985"/>
                </a:lnTo>
                <a:lnTo>
                  <a:pt x="1478661" y="333565"/>
                </a:lnTo>
                <a:lnTo>
                  <a:pt x="1460817" y="388404"/>
                </a:lnTo>
                <a:lnTo>
                  <a:pt x="1437436" y="428929"/>
                </a:lnTo>
                <a:lnTo>
                  <a:pt x="1424178" y="443484"/>
                </a:lnTo>
                <a:lnTo>
                  <a:pt x="1430274" y="451104"/>
                </a:lnTo>
                <a:lnTo>
                  <a:pt x="1460461" y="417957"/>
                </a:lnTo>
                <a:lnTo>
                  <a:pt x="1486662" y="368808"/>
                </a:lnTo>
                <a:lnTo>
                  <a:pt x="1488948" y="362216"/>
                </a:lnTo>
                <a:lnTo>
                  <a:pt x="1497215" y="338378"/>
                </a:lnTo>
                <a:lnTo>
                  <a:pt x="1504848" y="304317"/>
                </a:lnTo>
                <a:lnTo>
                  <a:pt x="1509483" y="266687"/>
                </a:lnTo>
                <a:lnTo>
                  <a:pt x="1511046" y="2255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251453" y="4510524"/>
            <a:ext cx="776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-32407" dirty="0">
                <a:latin typeface="Cambria Math"/>
                <a:cs typeface="Cambria Math"/>
              </a:rPr>
              <a:t>1</a:t>
            </a:r>
            <a:r>
              <a:rPr sz="2700" spc="-15" baseline="-32407" dirty="0">
                <a:latin typeface="Cambria Math"/>
                <a:cs typeface="Cambria Math"/>
              </a:rPr>
              <a:t> </a:t>
            </a:r>
            <a:r>
              <a:rPr sz="2700" baseline="-32407" dirty="0">
                <a:latin typeface="Cambria Math"/>
                <a:cs typeface="Cambria Math"/>
              </a:rPr>
              <a:t>+</a:t>
            </a:r>
            <a:r>
              <a:rPr sz="2700" spc="127" baseline="-32407" dirty="0">
                <a:latin typeface="Cambria Math"/>
                <a:cs typeface="Cambria Math"/>
              </a:rPr>
              <a:t>  </a:t>
            </a:r>
            <a:r>
              <a:rPr sz="1800" spc="-25" dirty="0">
                <a:latin typeface="Cambria Math"/>
                <a:cs typeface="Cambria Math"/>
              </a:rPr>
              <a:t>j𝜔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651503" y="4808473"/>
            <a:ext cx="443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0802" dirty="0">
                <a:latin typeface="Cambria Math"/>
                <a:cs typeface="Cambria Math"/>
              </a:rPr>
              <a:t>𝜔</a:t>
            </a:r>
            <a:r>
              <a:rPr sz="1300" spc="-25" dirty="0">
                <a:latin typeface="Cambria Math"/>
                <a:cs typeface="Cambria Math"/>
              </a:rPr>
              <a:t>𝑝2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135886" y="4553711"/>
            <a:ext cx="2251710" cy="276860"/>
          </a:xfrm>
          <a:custGeom>
            <a:avLst/>
            <a:gdLst/>
            <a:ahLst/>
            <a:cxnLst/>
            <a:rect l="l" t="t" r="r" b="b"/>
            <a:pathLst>
              <a:path w="2251710" h="276860">
                <a:moveTo>
                  <a:pt x="1929371" y="262128"/>
                </a:moveTo>
                <a:lnTo>
                  <a:pt x="1552956" y="262128"/>
                </a:lnTo>
                <a:lnTo>
                  <a:pt x="1552956" y="276606"/>
                </a:lnTo>
                <a:lnTo>
                  <a:pt x="1929371" y="276606"/>
                </a:lnTo>
                <a:lnTo>
                  <a:pt x="1929371" y="262128"/>
                </a:lnTo>
                <a:close/>
              </a:path>
              <a:path w="2251710" h="276860">
                <a:moveTo>
                  <a:pt x="2251710" y="0"/>
                </a:moveTo>
                <a:lnTo>
                  <a:pt x="0" y="0"/>
                </a:lnTo>
                <a:lnTo>
                  <a:pt x="0" y="14478"/>
                </a:lnTo>
                <a:lnTo>
                  <a:pt x="2251710" y="14478"/>
                </a:lnTo>
                <a:lnTo>
                  <a:pt x="22517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204208" y="4646929"/>
            <a:ext cx="1974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…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561FBD71-76E0-44A0-BD32-399C6FC0C61A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32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8402" y="2659380"/>
            <a:ext cx="2627790" cy="274853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practical</a:t>
            </a:r>
            <a:r>
              <a:rPr spc="-15" dirty="0"/>
              <a:t> </a:t>
            </a:r>
            <a:r>
              <a:rPr spc="-10" dirty="0"/>
              <a:t>simplification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93697" y="4752847"/>
            <a:ext cx="185547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Verdana"/>
                <a:cs typeface="Verdana"/>
              </a:rPr>
              <a:t>|T| at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</a:t>
            </a:r>
            <a:r>
              <a:rPr sz="1950" baseline="-21367" dirty="0">
                <a:latin typeface="Verdana"/>
                <a:cs typeface="Verdana"/>
              </a:rPr>
              <a:t>180</a:t>
            </a:r>
            <a:r>
              <a:rPr sz="1950" spc="352" baseline="-21367" dirty="0"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CC0000"/>
                </a:solidFill>
                <a:latin typeface="Verdana"/>
                <a:cs typeface="Verdana"/>
              </a:rPr>
              <a:t>&lt;</a:t>
            </a:r>
            <a:r>
              <a:rPr sz="2000" spc="-10" dirty="0">
                <a:solidFill>
                  <a:srgbClr val="CC0000"/>
                </a:solidFill>
                <a:latin typeface="Verdana"/>
                <a:cs typeface="Verdana"/>
              </a:rPr>
              <a:t> </a:t>
            </a:r>
            <a:r>
              <a:rPr sz="2000" spc="-60" dirty="0">
                <a:solidFill>
                  <a:srgbClr val="CC0000"/>
                </a:solidFill>
                <a:latin typeface="Verdana"/>
                <a:cs typeface="Verdana"/>
              </a:rPr>
              <a:t>1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06301" y="4752847"/>
            <a:ext cx="185547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Verdana"/>
                <a:cs typeface="Verdana"/>
              </a:rPr>
              <a:t>|T| at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</a:t>
            </a:r>
            <a:r>
              <a:rPr sz="1950" baseline="-21367" dirty="0">
                <a:latin typeface="Verdana"/>
                <a:cs typeface="Verdana"/>
              </a:rPr>
              <a:t>180</a:t>
            </a:r>
            <a:r>
              <a:rPr sz="1950" spc="352" baseline="-21367" dirty="0"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CC0000"/>
                </a:solidFill>
                <a:latin typeface="Verdana"/>
                <a:cs typeface="Verdana"/>
              </a:rPr>
              <a:t>&gt;</a:t>
            </a:r>
            <a:r>
              <a:rPr sz="2000" spc="-10" dirty="0">
                <a:solidFill>
                  <a:srgbClr val="CC0000"/>
                </a:solidFill>
                <a:latin typeface="Verdana"/>
                <a:cs typeface="Verdana"/>
              </a:rPr>
              <a:t> </a:t>
            </a:r>
            <a:r>
              <a:rPr sz="2000" spc="-60" dirty="0">
                <a:solidFill>
                  <a:srgbClr val="CC0000"/>
                </a:solidFill>
                <a:latin typeface="Verdana"/>
                <a:cs typeface="Verdana"/>
              </a:rPr>
              <a:t>1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69532" y="5477829"/>
            <a:ext cx="986148" cy="53243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29133" y="5473919"/>
            <a:ext cx="798294" cy="503618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2612332" y="2544711"/>
            <a:ext cx="2907030" cy="2122805"/>
            <a:chOff x="2612332" y="2544711"/>
            <a:chExt cx="2907030" cy="2122805"/>
          </a:xfrm>
        </p:grpSpPr>
        <p:sp>
          <p:nvSpPr>
            <p:cNvPr id="9" name="object 9"/>
            <p:cNvSpPr/>
            <p:nvPr/>
          </p:nvSpPr>
          <p:spPr>
            <a:xfrm>
              <a:off x="3254501" y="2573274"/>
              <a:ext cx="1476375" cy="1438275"/>
            </a:xfrm>
            <a:custGeom>
              <a:avLst/>
              <a:gdLst/>
              <a:ahLst/>
              <a:cxnLst/>
              <a:rect l="l" t="t" r="r" b="b"/>
              <a:pathLst>
                <a:path w="1476375" h="1438275">
                  <a:moveTo>
                    <a:pt x="0" y="0"/>
                  </a:moveTo>
                  <a:lnTo>
                    <a:pt x="0" y="1437894"/>
                  </a:lnTo>
                  <a:lnTo>
                    <a:pt x="1475994" y="713993"/>
                  </a:lnTo>
                  <a:lnTo>
                    <a:pt x="0" y="0"/>
                  </a:lnTo>
                  <a:close/>
                </a:path>
              </a:pathLst>
            </a:custGeom>
            <a:ln w="571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302507" y="3058668"/>
              <a:ext cx="619125" cy="457200"/>
            </a:xfrm>
            <a:custGeom>
              <a:avLst/>
              <a:gdLst/>
              <a:ahLst/>
              <a:cxnLst/>
              <a:rect l="l" t="t" r="r" b="b"/>
              <a:pathLst>
                <a:path w="619125" h="457200">
                  <a:moveTo>
                    <a:pt x="618743" y="457200"/>
                  </a:moveTo>
                  <a:lnTo>
                    <a:pt x="618743" y="0"/>
                  </a:lnTo>
                  <a:lnTo>
                    <a:pt x="0" y="0"/>
                  </a:lnTo>
                  <a:lnTo>
                    <a:pt x="0" y="457200"/>
                  </a:lnTo>
                  <a:lnTo>
                    <a:pt x="618743" y="4572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74363" y="3160776"/>
              <a:ext cx="221741" cy="24231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730495" y="3287268"/>
              <a:ext cx="685165" cy="0"/>
            </a:xfrm>
            <a:custGeom>
              <a:avLst/>
              <a:gdLst/>
              <a:ahLst/>
              <a:cxnLst/>
              <a:rect l="l" t="t" r="r" b="b"/>
              <a:pathLst>
                <a:path w="685164">
                  <a:moveTo>
                    <a:pt x="685038" y="0"/>
                  </a:moveTo>
                  <a:lnTo>
                    <a:pt x="0" y="0"/>
                  </a:lnTo>
                </a:path>
              </a:pathLst>
            </a:custGeom>
            <a:ln w="28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2551" y="2925318"/>
              <a:ext cx="361950" cy="0"/>
            </a:xfrm>
            <a:custGeom>
              <a:avLst/>
              <a:gdLst/>
              <a:ahLst/>
              <a:cxnLst/>
              <a:rect l="l" t="t" r="r" b="b"/>
              <a:pathLst>
                <a:path w="361950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ln w="28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892551" y="3649218"/>
              <a:ext cx="361950" cy="0"/>
            </a:xfrm>
            <a:custGeom>
              <a:avLst/>
              <a:gdLst/>
              <a:ahLst/>
              <a:cxnLst/>
              <a:rect l="l" t="t" r="r" b="b"/>
              <a:pathLst>
                <a:path w="361950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ln w="28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435857" y="2925318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28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435857" y="2858262"/>
              <a:ext cx="0" cy="114300"/>
            </a:xfrm>
            <a:custGeom>
              <a:avLst/>
              <a:gdLst/>
              <a:ahLst/>
              <a:cxnLst/>
              <a:rect l="l" t="t" r="r" b="b"/>
              <a:pathLst>
                <a:path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ln w="28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359657" y="2925318"/>
              <a:ext cx="151765" cy="0"/>
            </a:xfrm>
            <a:custGeom>
              <a:avLst/>
              <a:gdLst/>
              <a:ahLst/>
              <a:cxnLst/>
              <a:rect l="l" t="t" r="r" b="b"/>
              <a:pathLst>
                <a:path w="151764">
                  <a:moveTo>
                    <a:pt x="0" y="0"/>
                  </a:moveTo>
                  <a:lnTo>
                    <a:pt x="151638" y="0"/>
                  </a:lnTo>
                </a:path>
              </a:pathLst>
            </a:custGeom>
            <a:ln w="28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359657" y="3649218"/>
              <a:ext cx="151765" cy="0"/>
            </a:xfrm>
            <a:custGeom>
              <a:avLst/>
              <a:gdLst/>
              <a:ahLst/>
              <a:cxnLst/>
              <a:rect l="l" t="t" r="r" b="b"/>
              <a:pathLst>
                <a:path w="151764">
                  <a:moveTo>
                    <a:pt x="0" y="0"/>
                  </a:moveTo>
                  <a:lnTo>
                    <a:pt x="151638" y="0"/>
                  </a:lnTo>
                </a:path>
              </a:pathLst>
            </a:custGeom>
            <a:ln w="28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711957" y="2925318"/>
              <a:ext cx="180975" cy="0"/>
            </a:xfrm>
            <a:custGeom>
              <a:avLst/>
              <a:gdLst/>
              <a:ahLst/>
              <a:cxnLst/>
              <a:rect l="l" t="t" r="r" b="b"/>
              <a:pathLst>
                <a:path w="180975">
                  <a:moveTo>
                    <a:pt x="0" y="0"/>
                  </a:moveTo>
                  <a:lnTo>
                    <a:pt x="180594" y="0"/>
                  </a:lnTo>
                </a:path>
              </a:pathLst>
            </a:custGeom>
            <a:ln w="28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626613" y="2883408"/>
              <a:ext cx="90170" cy="90170"/>
            </a:xfrm>
            <a:custGeom>
              <a:avLst/>
              <a:gdLst/>
              <a:ahLst/>
              <a:cxnLst/>
              <a:rect l="l" t="t" r="r" b="b"/>
              <a:pathLst>
                <a:path w="90169" h="90169">
                  <a:moveTo>
                    <a:pt x="44957" y="89915"/>
                  </a:moveTo>
                  <a:lnTo>
                    <a:pt x="62269" y="86320"/>
                  </a:lnTo>
                  <a:lnTo>
                    <a:pt x="76580" y="76580"/>
                  </a:lnTo>
                  <a:lnTo>
                    <a:pt x="86320" y="62269"/>
                  </a:lnTo>
                  <a:lnTo>
                    <a:pt x="89915" y="44957"/>
                  </a:lnTo>
                  <a:lnTo>
                    <a:pt x="86320" y="27324"/>
                  </a:lnTo>
                  <a:lnTo>
                    <a:pt x="76580" y="13049"/>
                  </a:lnTo>
                  <a:lnTo>
                    <a:pt x="62269" y="3488"/>
                  </a:lnTo>
                  <a:lnTo>
                    <a:pt x="44957" y="0"/>
                  </a:lnTo>
                  <a:lnTo>
                    <a:pt x="27324" y="3488"/>
                  </a:lnTo>
                  <a:lnTo>
                    <a:pt x="13049" y="13049"/>
                  </a:lnTo>
                  <a:lnTo>
                    <a:pt x="3488" y="27324"/>
                  </a:lnTo>
                  <a:lnTo>
                    <a:pt x="0" y="44957"/>
                  </a:lnTo>
                  <a:lnTo>
                    <a:pt x="3488" y="62269"/>
                  </a:lnTo>
                  <a:lnTo>
                    <a:pt x="13049" y="76580"/>
                  </a:lnTo>
                  <a:lnTo>
                    <a:pt x="27324" y="86320"/>
                  </a:lnTo>
                  <a:lnTo>
                    <a:pt x="44957" y="89915"/>
                  </a:lnTo>
                  <a:close/>
                </a:path>
              </a:pathLst>
            </a:custGeom>
            <a:ln w="28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339589" y="3287268"/>
              <a:ext cx="715010" cy="1076325"/>
            </a:xfrm>
            <a:custGeom>
              <a:avLst/>
              <a:gdLst/>
              <a:ahLst/>
              <a:cxnLst/>
              <a:rect l="l" t="t" r="r" b="b"/>
              <a:pathLst>
                <a:path w="715010" h="1076325">
                  <a:moveTo>
                    <a:pt x="714755" y="0"/>
                  </a:moveTo>
                  <a:lnTo>
                    <a:pt x="714755" y="1075944"/>
                  </a:lnTo>
                  <a:lnTo>
                    <a:pt x="0" y="1075944"/>
                  </a:lnTo>
                </a:path>
              </a:pathLst>
            </a:custGeom>
            <a:ln w="28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892551" y="3649218"/>
              <a:ext cx="723900" cy="714375"/>
            </a:xfrm>
            <a:custGeom>
              <a:avLst/>
              <a:gdLst/>
              <a:ahLst/>
              <a:cxnLst/>
              <a:rect l="l" t="t" r="r" b="b"/>
              <a:pathLst>
                <a:path w="723900" h="714375">
                  <a:moveTo>
                    <a:pt x="0" y="0"/>
                  </a:moveTo>
                  <a:lnTo>
                    <a:pt x="0" y="713994"/>
                  </a:lnTo>
                  <a:lnTo>
                    <a:pt x="723900" y="713994"/>
                  </a:lnTo>
                </a:path>
              </a:pathLst>
            </a:custGeom>
            <a:ln w="28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540251" y="4115562"/>
              <a:ext cx="802640" cy="504825"/>
            </a:xfrm>
            <a:custGeom>
              <a:avLst/>
              <a:gdLst/>
              <a:ahLst/>
              <a:cxnLst/>
              <a:rect l="l" t="t" r="r" b="b"/>
              <a:pathLst>
                <a:path w="802639" h="504825">
                  <a:moveTo>
                    <a:pt x="802386" y="72390"/>
                  </a:moveTo>
                  <a:lnTo>
                    <a:pt x="796766" y="44362"/>
                  </a:lnTo>
                  <a:lnTo>
                    <a:pt x="781430" y="21336"/>
                  </a:lnTo>
                  <a:lnTo>
                    <a:pt x="758666" y="5738"/>
                  </a:lnTo>
                  <a:lnTo>
                    <a:pt x="730758" y="0"/>
                  </a:lnTo>
                  <a:lnTo>
                    <a:pt x="75437" y="0"/>
                  </a:lnTo>
                  <a:lnTo>
                    <a:pt x="47529" y="5738"/>
                  </a:lnTo>
                  <a:lnTo>
                    <a:pt x="24764" y="21336"/>
                  </a:lnTo>
                  <a:lnTo>
                    <a:pt x="9429" y="44362"/>
                  </a:lnTo>
                  <a:lnTo>
                    <a:pt x="3809" y="72390"/>
                  </a:lnTo>
                  <a:lnTo>
                    <a:pt x="0" y="76200"/>
                  </a:lnTo>
                  <a:lnTo>
                    <a:pt x="0" y="428244"/>
                  </a:lnTo>
                  <a:lnTo>
                    <a:pt x="3809" y="432054"/>
                  </a:lnTo>
                  <a:lnTo>
                    <a:pt x="9429" y="460081"/>
                  </a:lnTo>
                  <a:lnTo>
                    <a:pt x="24764" y="483108"/>
                  </a:lnTo>
                  <a:lnTo>
                    <a:pt x="47529" y="498705"/>
                  </a:lnTo>
                  <a:lnTo>
                    <a:pt x="75438" y="504444"/>
                  </a:lnTo>
                  <a:lnTo>
                    <a:pt x="730758" y="504444"/>
                  </a:lnTo>
                  <a:lnTo>
                    <a:pt x="758666" y="498705"/>
                  </a:lnTo>
                  <a:lnTo>
                    <a:pt x="781430" y="483108"/>
                  </a:lnTo>
                  <a:lnTo>
                    <a:pt x="796766" y="460081"/>
                  </a:lnTo>
                  <a:lnTo>
                    <a:pt x="799338" y="447255"/>
                  </a:lnTo>
                  <a:lnTo>
                    <a:pt x="799338" y="76200"/>
                  </a:lnTo>
                  <a:lnTo>
                    <a:pt x="802386" y="72390"/>
                  </a:lnTo>
                  <a:close/>
                </a:path>
                <a:path w="802639" h="504825">
                  <a:moveTo>
                    <a:pt x="802386" y="432054"/>
                  </a:moveTo>
                  <a:lnTo>
                    <a:pt x="799338" y="428244"/>
                  </a:lnTo>
                  <a:lnTo>
                    <a:pt x="799338" y="447255"/>
                  </a:lnTo>
                  <a:lnTo>
                    <a:pt x="802386" y="4320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540251" y="4115562"/>
              <a:ext cx="802640" cy="504825"/>
            </a:xfrm>
            <a:custGeom>
              <a:avLst/>
              <a:gdLst/>
              <a:ahLst/>
              <a:cxnLst/>
              <a:rect l="l" t="t" r="r" b="b"/>
              <a:pathLst>
                <a:path w="802639" h="504825">
                  <a:moveTo>
                    <a:pt x="76200" y="504444"/>
                  </a:moveTo>
                  <a:lnTo>
                    <a:pt x="733044" y="504444"/>
                  </a:lnTo>
                  <a:lnTo>
                    <a:pt x="730758" y="504444"/>
                  </a:lnTo>
                  <a:lnTo>
                    <a:pt x="758666" y="498705"/>
                  </a:lnTo>
                  <a:lnTo>
                    <a:pt x="781430" y="483108"/>
                  </a:lnTo>
                  <a:lnTo>
                    <a:pt x="796766" y="460081"/>
                  </a:lnTo>
                  <a:lnTo>
                    <a:pt x="802386" y="432054"/>
                  </a:lnTo>
                  <a:lnTo>
                    <a:pt x="799338" y="428244"/>
                  </a:lnTo>
                  <a:lnTo>
                    <a:pt x="799338" y="76200"/>
                  </a:lnTo>
                  <a:lnTo>
                    <a:pt x="781430" y="21336"/>
                  </a:lnTo>
                  <a:lnTo>
                    <a:pt x="730758" y="0"/>
                  </a:lnTo>
                  <a:lnTo>
                    <a:pt x="733044" y="0"/>
                  </a:lnTo>
                  <a:lnTo>
                    <a:pt x="75437" y="0"/>
                  </a:lnTo>
                  <a:lnTo>
                    <a:pt x="47529" y="5738"/>
                  </a:lnTo>
                  <a:lnTo>
                    <a:pt x="24764" y="21336"/>
                  </a:lnTo>
                  <a:lnTo>
                    <a:pt x="9429" y="44362"/>
                  </a:lnTo>
                  <a:lnTo>
                    <a:pt x="3809" y="72390"/>
                  </a:lnTo>
                  <a:lnTo>
                    <a:pt x="0" y="76200"/>
                  </a:lnTo>
                  <a:lnTo>
                    <a:pt x="0" y="428244"/>
                  </a:lnTo>
                  <a:lnTo>
                    <a:pt x="3809" y="432054"/>
                  </a:lnTo>
                  <a:lnTo>
                    <a:pt x="9429" y="460081"/>
                  </a:lnTo>
                  <a:lnTo>
                    <a:pt x="24764" y="483108"/>
                  </a:lnTo>
                  <a:lnTo>
                    <a:pt x="47529" y="498705"/>
                  </a:lnTo>
                  <a:lnTo>
                    <a:pt x="75438" y="504444"/>
                  </a:lnTo>
                  <a:lnTo>
                    <a:pt x="76200" y="504444"/>
                  </a:lnTo>
                  <a:close/>
                </a:path>
              </a:pathLst>
            </a:custGeom>
            <a:ln w="28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54957" y="4182617"/>
              <a:ext cx="219455" cy="484631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234939" y="3287268"/>
              <a:ext cx="180975" cy="0"/>
            </a:xfrm>
            <a:custGeom>
              <a:avLst/>
              <a:gdLst/>
              <a:ahLst/>
              <a:cxnLst/>
              <a:rect l="l" t="t" r="r" b="b"/>
              <a:pathLst>
                <a:path w="180975">
                  <a:moveTo>
                    <a:pt x="180594" y="0"/>
                  </a:moveTo>
                  <a:lnTo>
                    <a:pt x="0" y="0"/>
                  </a:lnTo>
                </a:path>
              </a:pathLst>
            </a:custGeom>
            <a:ln w="28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414772" y="3243072"/>
              <a:ext cx="90170" cy="90170"/>
            </a:xfrm>
            <a:custGeom>
              <a:avLst/>
              <a:gdLst/>
              <a:ahLst/>
              <a:cxnLst/>
              <a:rect l="l" t="t" r="r" b="b"/>
              <a:pathLst>
                <a:path w="90170" h="90170">
                  <a:moveTo>
                    <a:pt x="44958" y="0"/>
                  </a:moveTo>
                  <a:lnTo>
                    <a:pt x="27646" y="3488"/>
                  </a:lnTo>
                  <a:lnTo>
                    <a:pt x="13335" y="13049"/>
                  </a:lnTo>
                  <a:lnTo>
                    <a:pt x="3595" y="27324"/>
                  </a:lnTo>
                  <a:lnTo>
                    <a:pt x="0" y="44958"/>
                  </a:lnTo>
                  <a:lnTo>
                    <a:pt x="3595" y="62591"/>
                  </a:lnTo>
                  <a:lnTo>
                    <a:pt x="13335" y="76866"/>
                  </a:lnTo>
                  <a:lnTo>
                    <a:pt x="27646" y="86427"/>
                  </a:lnTo>
                  <a:lnTo>
                    <a:pt x="44958" y="89916"/>
                  </a:lnTo>
                  <a:lnTo>
                    <a:pt x="62591" y="86427"/>
                  </a:lnTo>
                  <a:lnTo>
                    <a:pt x="76866" y="76866"/>
                  </a:lnTo>
                  <a:lnTo>
                    <a:pt x="86427" y="62591"/>
                  </a:lnTo>
                  <a:lnTo>
                    <a:pt x="89916" y="44958"/>
                  </a:lnTo>
                  <a:lnTo>
                    <a:pt x="86427" y="27324"/>
                  </a:lnTo>
                  <a:lnTo>
                    <a:pt x="76866" y="13049"/>
                  </a:lnTo>
                  <a:lnTo>
                    <a:pt x="62591" y="3488"/>
                  </a:lnTo>
                  <a:lnTo>
                    <a:pt x="44958" y="0"/>
                  </a:lnTo>
                  <a:close/>
                </a:path>
              </a:pathLst>
            </a:custGeom>
            <a:ln w="28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560067" y="1210309"/>
            <a:ext cx="9404350" cy="1784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Verdana"/>
                <a:cs typeface="Verdana"/>
              </a:rPr>
              <a:t>For</a:t>
            </a:r>
            <a:r>
              <a:rPr sz="2400" spc="-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most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practical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feedback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amplifier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cases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we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aim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assure </a:t>
            </a:r>
            <a:r>
              <a:rPr sz="2400" dirty="0">
                <a:latin typeface="Verdana"/>
                <a:cs typeface="Verdana"/>
              </a:rPr>
              <a:t>that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frequency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where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phase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is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inverted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(-180</a:t>
            </a:r>
            <a:r>
              <a:rPr sz="2400" dirty="0">
                <a:latin typeface="Symbol"/>
                <a:cs typeface="Symbol"/>
              </a:rPr>
              <a:t></a:t>
            </a:r>
            <a:r>
              <a:rPr sz="2400" dirty="0">
                <a:latin typeface="Verdana"/>
                <a:cs typeface="Verdana"/>
              </a:rPr>
              <a:t>)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the </a:t>
            </a:r>
            <a:r>
              <a:rPr sz="2400" dirty="0">
                <a:latin typeface="Verdana"/>
                <a:cs typeface="Verdana"/>
              </a:rPr>
              <a:t>magnitude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loopgain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is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attenuated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(below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1=0dB)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2400">
              <a:latin typeface="Verdana"/>
              <a:cs typeface="Verdana"/>
            </a:endParaRPr>
          </a:p>
          <a:p>
            <a:pPr marR="1490980" algn="r">
              <a:lnSpc>
                <a:spcPct val="100000"/>
              </a:lnSpc>
            </a:pPr>
            <a:r>
              <a:rPr sz="1800" spc="-25" dirty="0">
                <a:latin typeface="Verdana"/>
                <a:cs typeface="Verdana"/>
              </a:rPr>
              <a:t>Im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68301BB2-A53A-4DD4-8852-545AB33A9B31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29" name="object 29"/>
          <p:cNvSpPr txBox="1"/>
          <p:nvPr/>
        </p:nvSpPr>
        <p:spPr>
          <a:xfrm>
            <a:off x="10242288" y="4060944"/>
            <a:ext cx="311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Re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814309" y="3584619"/>
            <a:ext cx="608965" cy="80708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61594">
              <a:lnSpc>
                <a:spcPct val="100000"/>
              </a:lnSpc>
              <a:spcBef>
                <a:spcPts val="855"/>
              </a:spcBef>
            </a:pPr>
            <a:r>
              <a:rPr sz="1800" spc="-25" dirty="0">
                <a:latin typeface="Verdana"/>
                <a:cs typeface="Verdana"/>
              </a:rPr>
              <a:t>G</a:t>
            </a:r>
            <a:r>
              <a:rPr sz="1800" spc="-37" baseline="-20833" dirty="0">
                <a:latin typeface="Verdana"/>
                <a:cs typeface="Verdana"/>
              </a:rPr>
              <a:t>M</a:t>
            </a:r>
            <a:endParaRPr sz="1800" baseline="-20833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840"/>
              </a:spcBef>
            </a:pPr>
            <a:r>
              <a:rPr sz="3000" baseline="-25000" dirty="0">
                <a:latin typeface="Symbol"/>
                <a:cs typeface="Symbol"/>
              </a:rPr>
              <a:t></a:t>
            </a:r>
            <a:r>
              <a:rPr sz="1950" baseline="-59829" dirty="0">
                <a:latin typeface="Verdana"/>
                <a:cs typeface="Verdana"/>
              </a:rPr>
              <a:t>M</a:t>
            </a:r>
            <a:r>
              <a:rPr sz="1800" dirty="0">
                <a:latin typeface="Verdana"/>
                <a:cs typeface="Verdana"/>
              </a:rPr>
              <a:t>-</a:t>
            </a:r>
            <a:r>
              <a:rPr sz="1800" spc="-50" dirty="0">
                <a:latin typeface="Verdana"/>
                <a:cs typeface="Verdana"/>
              </a:rPr>
              <a:t>1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5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Bode</a:t>
            </a:r>
            <a:r>
              <a:rPr spc="-85" dirty="0"/>
              <a:t> </a:t>
            </a:r>
            <a:r>
              <a:rPr dirty="0"/>
              <a:t>Plots:</a:t>
            </a:r>
            <a:r>
              <a:rPr spc="-45" dirty="0"/>
              <a:t> </a:t>
            </a:r>
            <a:r>
              <a:rPr spc="-10" dirty="0"/>
              <a:t>Refresher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4644" y="1307846"/>
            <a:ext cx="6392545" cy="300037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482600" marR="89535" indent="-470534">
              <a:lnSpc>
                <a:spcPts val="2590"/>
              </a:lnSpc>
              <a:spcBef>
                <a:spcPts val="425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400" dirty="0">
                <a:latin typeface="Verdana"/>
                <a:cs typeface="Verdana"/>
              </a:rPr>
              <a:t>A</a:t>
            </a:r>
            <a:r>
              <a:rPr sz="2400" spc="-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graphical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method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</a:t>
            </a:r>
            <a:r>
              <a:rPr sz="2400" spc="-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represent</a:t>
            </a:r>
            <a:r>
              <a:rPr sz="2400" spc="-80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the </a:t>
            </a:r>
            <a:r>
              <a:rPr sz="2400" dirty="0">
                <a:latin typeface="Verdana"/>
                <a:cs typeface="Verdana"/>
              </a:rPr>
              <a:t>small</a:t>
            </a:r>
            <a:r>
              <a:rPr sz="2400" spc="-8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signal</a:t>
            </a:r>
            <a:r>
              <a:rPr sz="2400" spc="-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frequency</a:t>
            </a:r>
            <a:r>
              <a:rPr sz="2400" spc="-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response</a:t>
            </a:r>
            <a:r>
              <a:rPr sz="2400" spc="-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-80" dirty="0">
                <a:latin typeface="Verdana"/>
                <a:cs typeface="Verdana"/>
              </a:rPr>
              <a:t> </a:t>
            </a:r>
            <a:r>
              <a:rPr sz="2400" spc="-50" dirty="0">
                <a:latin typeface="Verdana"/>
                <a:cs typeface="Verdana"/>
              </a:rPr>
              <a:t>a </a:t>
            </a:r>
            <a:r>
              <a:rPr sz="2400" dirty="0">
                <a:latin typeface="Verdana"/>
                <a:cs typeface="Verdana"/>
              </a:rPr>
              <a:t>system</a:t>
            </a:r>
            <a:r>
              <a:rPr sz="2400" spc="-75" dirty="0"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CC0000"/>
                </a:solidFill>
                <a:latin typeface="Verdana"/>
                <a:cs typeface="Verdana"/>
              </a:rPr>
              <a:t>at</a:t>
            </a:r>
            <a:r>
              <a:rPr sz="2400" spc="-70" dirty="0">
                <a:solidFill>
                  <a:srgbClr val="CC000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CC0000"/>
                </a:solidFill>
                <a:latin typeface="Verdana"/>
                <a:cs typeface="Verdana"/>
              </a:rPr>
              <a:t>a</a:t>
            </a:r>
            <a:r>
              <a:rPr sz="2400" spc="-70" dirty="0">
                <a:solidFill>
                  <a:srgbClr val="CC000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CC0000"/>
                </a:solidFill>
                <a:latin typeface="Verdana"/>
                <a:cs typeface="Verdana"/>
              </a:rPr>
              <a:t>particular</a:t>
            </a:r>
            <a:r>
              <a:rPr sz="2400" spc="-50" dirty="0">
                <a:solidFill>
                  <a:srgbClr val="CC000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CC0000"/>
                </a:solidFill>
                <a:latin typeface="Verdana"/>
                <a:cs typeface="Verdana"/>
              </a:rPr>
              <a:t>operating</a:t>
            </a:r>
            <a:r>
              <a:rPr sz="2400" spc="-40" dirty="0">
                <a:solidFill>
                  <a:srgbClr val="CC000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CC0000"/>
                </a:solidFill>
                <a:latin typeface="Verdana"/>
                <a:cs typeface="Verdana"/>
              </a:rPr>
              <a:t>point</a:t>
            </a:r>
            <a:endParaRPr sz="2400">
              <a:latin typeface="Verdana"/>
              <a:cs typeface="Verdana"/>
            </a:endParaRPr>
          </a:p>
          <a:p>
            <a:pPr marL="482600" marR="5080" indent="-470534">
              <a:lnSpc>
                <a:spcPts val="2590"/>
              </a:lnSpc>
              <a:spcBef>
                <a:spcPts val="1205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400" dirty="0">
                <a:latin typeface="Verdana"/>
                <a:cs typeface="Verdana"/>
              </a:rPr>
              <a:t>Useful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</a:t>
            </a:r>
            <a:r>
              <a:rPr sz="2400" spc="-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understand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trends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for </a:t>
            </a:r>
            <a:r>
              <a:rPr sz="2400" dirty="0">
                <a:latin typeface="Verdana"/>
                <a:cs typeface="Verdana"/>
              </a:rPr>
              <a:t>stability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by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looking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at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gain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or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loopgain </a:t>
            </a:r>
            <a:r>
              <a:rPr sz="2400" dirty="0">
                <a:latin typeface="Verdana"/>
                <a:cs typeface="Verdana"/>
              </a:rPr>
              <a:t>magnitude</a:t>
            </a:r>
            <a:r>
              <a:rPr sz="2400" spc="-9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-8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phase</a:t>
            </a:r>
            <a:endParaRPr sz="2400">
              <a:latin typeface="Verdana"/>
              <a:cs typeface="Verdana"/>
            </a:endParaRPr>
          </a:p>
          <a:p>
            <a:pPr marL="482600" marR="1314450" indent="-470534">
              <a:lnSpc>
                <a:spcPts val="2590"/>
              </a:lnSpc>
              <a:spcBef>
                <a:spcPts val="121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400" dirty="0">
                <a:latin typeface="Verdana"/>
                <a:cs typeface="Verdana"/>
              </a:rPr>
              <a:t>Always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follow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up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by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transient </a:t>
            </a:r>
            <a:r>
              <a:rPr sz="2400" dirty="0">
                <a:latin typeface="Verdana"/>
                <a:cs typeface="Verdana"/>
              </a:rPr>
              <a:t>simulations</a:t>
            </a:r>
            <a:r>
              <a:rPr sz="2400" spc="-10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-9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disturbances!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860341" y="1229451"/>
            <a:ext cx="3366135" cy="4664710"/>
            <a:chOff x="7860341" y="1229451"/>
            <a:chExt cx="3366135" cy="46647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60341" y="1229451"/>
              <a:ext cx="3365894" cy="434014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059674" y="5439917"/>
              <a:ext cx="55880" cy="454659"/>
            </a:xfrm>
            <a:custGeom>
              <a:avLst/>
              <a:gdLst/>
              <a:ahLst/>
              <a:cxnLst/>
              <a:rect l="l" t="t" r="r" b="b"/>
              <a:pathLst>
                <a:path w="55879" h="454660">
                  <a:moveTo>
                    <a:pt x="55880" y="0"/>
                  </a:moveTo>
                  <a:lnTo>
                    <a:pt x="34290" y="0"/>
                  </a:lnTo>
                  <a:lnTo>
                    <a:pt x="0" y="0"/>
                  </a:lnTo>
                  <a:lnTo>
                    <a:pt x="0" y="9906"/>
                  </a:lnTo>
                  <a:lnTo>
                    <a:pt x="34290" y="9906"/>
                  </a:lnTo>
                  <a:lnTo>
                    <a:pt x="34290" y="444246"/>
                  </a:lnTo>
                  <a:lnTo>
                    <a:pt x="0" y="444246"/>
                  </a:lnTo>
                  <a:lnTo>
                    <a:pt x="0" y="454152"/>
                  </a:lnTo>
                  <a:lnTo>
                    <a:pt x="34290" y="454152"/>
                  </a:lnTo>
                  <a:lnTo>
                    <a:pt x="55880" y="454152"/>
                  </a:lnTo>
                  <a:lnTo>
                    <a:pt x="558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91490" y="5150611"/>
            <a:ext cx="1172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T(j𝜔)</a:t>
            </a:r>
            <a:r>
              <a:rPr sz="1800" spc="1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1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𝐴</a:t>
            </a:r>
            <a:r>
              <a:rPr sz="1950" spc="-37" baseline="-14957" dirty="0">
                <a:latin typeface="Cambria Math"/>
                <a:cs typeface="Cambria Math"/>
              </a:rPr>
              <a:t>0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707642" y="4837938"/>
            <a:ext cx="949960" cy="452120"/>
          </a:xfrm>
          <a:custGeom>
            <a:avLst/>
            <a:gdLst/>
            <a:ahLst/>
            <a:cxnLst/>
            <a:rect l="l" t="t" r="r" b="b"/>
            <a:pathLst>
              <a:path w="949960" h="452120">
                <a:moveTo>
                  <a:pt x="949451" y="225552"/>
                </a:moveTo>
                <a:lnTo>
                  <a:pt x="947892" y="184523"/>
                </a:lnTo>
                <a:lnTo>
                  <a:pt x="935628" y="113037"/>
                </a:lnTo>
                <a:lnTo>
                  <a:pt x="912625" y="55721"/>
                </a:lnTo>
                <a:lnTo>
                  <a:pt x="884884" y="14573"/>
                </a:lnTo>
                <a:lnTo>
                  <a:pt x="869441" y="0"/>
                </a:lnTo>
                <a:lnTo>
                  <a:pt x="862583" y="7620"/>
                </a:lnTo>
                <a:lnTo>
                  <a:pt x="876169" y="22502"/>
                </a:lnTo>
                <a:lnTo>
                  <a:pt x="888396" y="40957"/>
                </a:lnTo>
                <a:lnTo>
                  <a:pt x="909065" y="89154"/>
                </a:lnTo>
                <a:lnTo>
                  <a:pt x="922781" y="150780"/>
                </a:lnTo>
                <a:lnTo>
                  <a:pt x="927353" y="225552"/>
                </a:lnTo>
                <a:lnTo>
                  <a:pt x="927353" y="362246"/>
                </a:lnTo>
                <a:lnTo>
                  <a:pt x="935628" y="338494"/>
                </a:lnTo>
                <a:lnTo>
                  <a:pt x="943260" y="304609"/>
                </a:lnTo>
                <a:lnTo>
                  <a:pt x="947892" y="267009"/>
                </a:lnTo>
                <a:lnTo>
                  <a:pt x="949451" y="225552"/>
                </a:lnTo>
                <a:close/>
              </a:path>
              <a:path w="949960" h="452120">
                <a:moveTo>
                  <a:pt x="927353" y="362246"/>
                </a:moveTo>
                <a:lnTo>
                  <a:pt x="927353" y="225552"/>
                </a:lnTo>
                <a:lnTo>
                  <a:pt x="926210" y="264985"/>
                </a:lnTo>
                <a:lnTo>
                  <a:pt x="922781" y="300990"/>
                </a:lnTo>
                <a:lnTo>
                  <a:pt x="909065" y="362712"/>
                </a:lnTo>
                <a:lnTo>
                  <a:pt x="888396" y="410908"/>
                </a:lnTo>
                <a:lnTo>
                  <a:pt x="862583" y="444245"/>
                </a:lnTo>
                <a:lnTo>
                  <a:pt x="869441" y="451866"/>
                </a:lnTo>
                <a:lnTo>
                  <a:pt x="884884" y="437280"/>
                </a:lnTo>
                <a:lnTo>
                  <a:pt x="899255" y="418623"/>
                </a:lnTo>
                <a:lnTo>
                  <a:pt x="912625" y="395823"/>
                </a:lnTo>
                <a:lnTo>
                  <a:pt x="925067" y="368808"/>
                </a:lnTo>
                <a:lnTo>
                  <a:pt x="927353" y="362246"/>
                </a:lnTo>
                <a:close/>
              </a:path>
              <a:path w="949960" h="452120">
                <a:moveTo>
                  <a:pt x="86867" y="7620"/>
                </a:moveTo>
                <a:lnTo>
                  <a:pt x="50577" y="33147"/>
                </a:lnTo>
                <a:lnTo>
                  <a:pt x="24383" y="82296"/>
                </a:lnTo>
                <a:lnTo>
                  <a:pt x="6191" y="147066"/>
                </a:lnTo>
                <a:lnTo>
                  <a:pt x="0" y="225552"/>
                </a:lnTo>
                <a:lnTo>
                  <a:pt x="1559" y="267009"/>
                </a:lnTo>
                <a:lnTo>
                  <a:pt x="6191" y="304609"/>
                </a:lnTo>
                <a:lnTo>
                  <a:pt x="13823" y="338494"/>
                </a:lnTo>
                <a:lnTo>
                  <a:pt x="22097" y="362246"/>
                </a:lnTo>
                <a:lnTo>
                  <a:pt x="22097" y="225552"/>
                </a:lnTo>
                <a:lnTo>
                  <a:pt x="23240" y="186559"/>
                </a:lnTo>
                <a:lnTo>
                  <a:pt x="32384" y="118288"/>
                </a:lnTo>
                <a:lnTo>
                  <a:pt x="50220" y="63126"/>
                </a:lnTo>
                <a:lnTo>
                  <a:pt x="73604" y="22502"/>
                </a:lnTo>
                <a:lnTo>
                  <a:pt x="86867" y="7620"/>
                </a:lnTo>
                <a:close/>
              </a:path>
              <a:path w="949960" h="452120">
                <a:moveTo>
                  <a:pt x="86867" y="444246"/>
                </a:moveTo>
                <a:lnTo>
                  <a:pt x="61340" y="410908"/>
                </a:lnTo>
                <a:lnTo>
                  <a:pt x="40385" y="362712"/>
                </a:lnTo>
                <a:lnTo>
                  <a:pt x="26669" y="300990"/>
                </a:lnTo>
                <a:lnTo>
                  <a:pt x="22097" y="225552"/>
                </a:lnTo>
                <a:lnTo>
                  <a:pt x="22097" y="362246"/>
                </a:lnTo>
                <a:lnTo>
                  <a:pt x="50577" y="418623"/>
                </a:lnTo>
                <a:lnTo>
                  <a:pt x="80771" y="451866"/>
                </a:lnTo>
                <a:lnTo>
                  <a:pt x="86867" y="4442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763267" y="4751316"/>
            <a:ext cx="768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-32407" dirty="0">
                <a:latin typeface="Cambria Math"/>
                <a:cs typeface="Cambria Math"/>
              </a:rPr>
              <a:t>1</a:t>
            </a:r>
            <a:r>
              <a:rPr sz="2700" spc="-7" baseline="-32407" dirty="0">
                <a:latin typeface="Cambria Math"/>
                <a:cs typeface="Cambria Math"/>
              </a:rPr>
              <a:t> </a:t>
            </a:r>
            <a:r>
              <a:rPr sz="2700" baseline="-32407" dirty="0">
                <a:latin typeface="Cambria Math"/>
                <a:cs typeface="Cambria Math"/>
              </a:rPr>
              <a:t>+</a:t>
            </a:r>
            <a:r>
              <a:rPr sz="2700" spc="82" baseline="-32407" dirty="0">
                <a:latin typeface="Cambria Math"/>
                <a:cs typeface="Cambria Math"/>
              </a:rPr>
              <a:t>  </a:t>
            </a:r>
            <a:r>
              <a:rPr sz="1800" spc="-25" dirty="0">
                <a:latin typeface="Cambria Math"/>
                <a:cs typeface="Cambria Math"/>
              </a:rPr>
              <a:t>j𝜔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64095" y="5049266"/>
            <a:ext cx="426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0802" dirty="0">
                <a:latin typeface="Cambria Math"/>
                <a:cs typeface="Cambria Math"/>
              </a:rPr>
              <a:t>𝜔</a:t>
            </a:r>
            <a:r>
              <a:rPr sz="1300" spc="-25" dirty="0">
                <a:latin typeface="Cambria Math"/>
                <a:cs typeface="Cambria Math"/>
              </a:rPr>
              <a:t>𝑧1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02942" y="4837938"/>
            <a:ext cx="1478280" cy="452120"/>
          </a:xfrm>
          <a:custGeom>
            <a:avLst/>
            <a:gdLst/>
            <a:ahLst/>
            <a:cxnLst/>
            <a:rect l="l" t="t" r="r" b="b"/>
            <a:pathLst>
              <a:path w="1478279" h="452120">
                <a:moveTo>
                  <a:pt x="360426" y="218694"/>
                </a:moveTo>
                <a:lnTo>
                  <a:pt x="0" y="218694"/>
                </a:lnTo>
                <a:lnTo>
                  <a:pt x="0" y="233172"/>
                </a:lnTo>
                <a:lnTo>
                  <a:pt x="360426" y="233172"/>
                </a:lnTo>
                <a:lnTo>
                  <a:pt x="360426" y="218694"/>
                </a:lnTo>
                <a:close/>
              </a:path>
              <a:path w="1478279" h="452120">
                <a:moveTo>
                  <a:pt x="616458" y="7620"/>
                </a:moveTo>
                <a:lnTo>
                  <a:pt x="580161" y="33147"/>
                </a:lnTo>
                <a:lnTo>
                  <a:pt x="553974" y="82296"/>
                </a:lnTo>
                <a:lnTo>
                  <a:pt x="535774" y="147066"/>
                </a:lnTo>
                <a:lnTo>
                  <a:pt x="529590" y="225552"/>
                </a:lnTo>
                <a:lnTo>
                  <a:pt x="531139" y="267017"/>
                </a:lnTo>
                <a:lnTo>
                  <a:pt x="543407" y="338505"/>
                </a:lnTo>
                <a:lnTo>
                  <a:pt x="566534" y="395833"/>
                </a:lnTo>
                <a:lnTo>
                  <a:pt x="594791" y="437286"/>
                </a:lnTo>
                <a:lnTo>
                  <a:pt x="610362" y="451866"/>
                </a:lnTo>
                <a:lnTo>
                  <a:pt x="616458" y="444246"/>
                </a:lnTo>
                <a:lnTo>
                  <a:pt x="603186" y="429374"/>
                </a:lnTo>
                <a:lnTo>
                  <a:pt x="590931" y="410908"/>
                </a:lnTo>
                <a:lnTo>
                  <a:pt x="569976" y="362712"/>
                </a:lnTo>
                <a:lnTo>
                  <a:pt x="556260" y="300990"/>
                </a:lnTo>
                <a:lnTo>
                  <a:pt x="551688" y="225552"/>
                </a:lnTo>
                <a:lnTo>
                  <a:pt x="552831" y="186563"/>
                </a:lnTo>
                <a:lnTo>
                  <a:pt x="561975" y="118300"/>
                </a:lnTo>
                <a:lnTo>
                  <a:pt x="579805" y="63131"/>
                </a:lnTo>
                <a:lnTo>
                  <a:pt x="603186" y="22504"/>
                </a:lnTo>
                <a:lnTo>
                  <a:pt x="616458" y="7620"/>
                </a:lnTo>
                <a:close/>
              </a:path>
              <a:path w="1478279" h="452120">
                <a:moveTo>
                  <a:pt x="1478280" y="225552"/>
                </a:moveTo>
                <a:lnTo>
                  <a:pt x="1476717" y="184531"/>
                </a:lnTo>
                <a:lnTo>
                  <a:pt x="1464449" y="113042"/>
                </a:lnTo>
                <a:lnTo>
                  <a:pt x="1441450" y="55727"/>
                </a:lnTo>
                <a:lnTo>
                  <a:pt x="1413700" y="14579"/>
                </a:lnTo>
                <a:lnTo>
                  <a:pt x="1398270" y="0"/>
                </a:lnTo>
                <a:lnTo>
                  <a:pt x="1391412" y="7620"/>
                </a:lnTo>
                <a:lnTo>
                  <a:pt x="1404988" y="22504"/>
                </a:lnTo>
                <a:lnTo>
                  <a:pt x="1417218" y="40957"/>
                </a:lnTo>
                <a:lnTo>
                  <a:pt x="1437894" y="89154"/>
                </a:lnTo>
                <a:lnTo>
                  <a:pt x="1451610" y="150787"/>
                </a:lnTo>
                <a:lnTo>
                  <a:pt x="1456182" y="225552"/>
                </a:lnTo>
                <a:lnTo>
                  <a:pt x="1455039" y="264985"/>
                </a:lnTo>
                <a:lnTo>
                  <a:pt x="1445895" y="333565"/>
                </a:lnTo>
                <a:lnTo>
                  <a:pt x="1428076" y="388912"/>
                </a:lnTo>
                <a:lnTo>
                  <a:pt x="1404988" y="429374"/>
                </a:lnTo>
                <a:lnTo>
                  <a:pt x="1391412" y="444246"/>
                </a:lnTo>
                <a:lnTo>
                  <a:pt x="1398270" y="451866"/>
                </a:lnTo>
                <a:lnTo>
                  <a:pt x="1428076" y="418630"/>
                </a:lnTo>
                <a:lnTo>
                  <a:pt x="1453896" y="368808"/>
                </a:lnTo>
                <a:lnTo>
                  <a:pt x="1472082" y="304609"/>
                </a:lnTo>
                <a:lnTo>
                  <a:pt x="1476717" y="267017"/>
                </a:lnTo>
                <a:lnTo>
                  <a:pt x="1478280" y="2255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788157" y="4751316"/>
            <a:ext cx="768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-32407" dirty="0">
                <a:latin typeface="Cambria Math"/>
                <a:cs typeface="Cambria Math"/>
              </a:rPr>
              <a:t>1</a:t>
            </a:r>
            <a:r>
              <a:rPr sz="2700" spc="-15" baseline="-32407" dirty="0">
                <a:latin typeface="Cambria Math"/>
                <a:cs typeface="Cambria Math"/>
              </a:rPr>
              <a:t> </a:t>
            </a:r>
            <a:r>
              <a:rPr sz="2700" baseline="-32407" dirty="0">
                <a:latin typeface="Cambria Math"/>
                <a:cs typeface="Cambria Math"/>
              </a:rPr>
              <a:t>+</a:t>
            </a:r>
            <a:r>
              <a:rPr sz="2700" spc="75" baseline="-32407" dirty="0">
                <a:latin typeface="Cambria Math"/>
                <a:cs typeface="Cambria Math"/>
              </a:rPr>
              <a:t>  </a:t>
            </a:r>
            <a:r>
              <a:rPr sz="1800" spc="-25" dirty="0">
                <a:latin typeface="Cambria Math"/>
                <a:cs typeface="Cambria Math"/>
              </a:rPr>
              <a:t>j𝜔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88207" y="5049266"/>
            <a:ext cx="4279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0802" dirty="0">
                <a:latin typeface="Cambria Math"/>
                <a:cs typeface="Cambria Math"/>
              </a:rPr>
              <a:t>𝜔</a:t>
            </a:r>
            <a:r>
              <a:rPr sz="1300" spc="-25" dirty="0">
                <a:latin typeface="Cambria Math"/>
                <a:cs typeface="Cambria Math"/>
              </a:rPr>
              <a:t>𝑧2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692402" y="5056632"/>
            <a:ext cx="1895475" cy="758190"/>
          </a:xfrm>
          <a:custGeom>
            <a:avLst/>
            <a:gdLst/>
            <a:ahLst/>
            <a:cxnLst/>
            <a:rect l="l" t="t" r="r" b="b"/>
            <a:pathLst>
              <a:path w="1895475" h="758189">
                <a:moveTo>
                  <a:pt x="86868" y="313944"/>
                </a:moveTo>
                <a:lnTo>
                  <a:pt x="50571" y="339471"/>
                </a:lnTo>
                <a:lnTo>
                  <a:pt x="24384" y="388620"/>
                </a:lnTo>
                <a:lnTo>
                  <a:pt x="6184" y="453390"/>
                </a:lnTo>
                <a:lnTo>
                  <a:pt x="0" y="531876"/>
                </a:lnTo>
                <a:lnTo>
                  <a:pt x="1549" y="573341"/>
                </a:lnTo>
                <a:lnTo>
                  <a:pt x="13817" y="644829"/>
                </a:lnTo>
                <a:lnTo>
                  <a:pt x="36944" y="702157"/>
                </a:lnTo>
                <a:lnTo>
                  <a:pt x="65201" y="743610"/>
                </a:lnTo>
                <a:lnTo>
                  <a:pt x="80772" y="758190"/>
                </a:lnTo>
                <a:lnTo>
                  <a:pt x="86868" y="750570"/>
                </a:lnTo>
                <a:lnTo>
                  <a:pt x="73596" y="735698"/>
                </a:lnTo>
                <a:lnTo>
                  <a:pt x="61341" y="717232"/>
                </a:lnTo>
                <a:lnTo>
                  <a:pt x="40386" y="669036"/>
                </a:lnTo>
                <a:lnTo>
                  <a:pt x="26670" y="607314"/>
                </a:lnTo>
                <a:lnTo>
                  <a:pt x="22098" y="531876"/>
                </a:lnTo>
                <a:lnTo>
                  <a:pt x="23241" y="492887"/>
                </a:lnTo>
                <a:lnTo>
                  <a:pt x="32385" y="424624"/>
                </a:lnTo>
                <a:lnTo>
                  <a:pt x="50215" y="369455"/>
                </a:lnTo>
                <a:lnTo>
                  <a:pt x="73596" y="328828"/>
                </a:lnTo>
                <a:lnTo>
                  <a:pt x="86868" y="313944"/>
                </a:lnTo>
                <a:close/>
              </a:path>
              <a:path w="1895475" h="758189">
                <a:moveTo>
                  <a:pt x="964692" y="531876"/>
                </a:moveTo>
                <a:lnTo>
                  <a:pt x="963129" y="490855"/>
                </a:lnTo>
                <a:lnTo>
                  <a:pt x="950861" y="419366"/>
                </a:lnTo>
                <a:lnTo>
                  <a:pt x="927862" y="362051"/>
                </a:lnTo>
                <a:lnTo>
                  <a:pt x="900112" y="320903"/>
                </a:lnTo>
                <a:lnTo>
                  <a:pt x="884682" y="306324"/>
                </a:lnTo>
                <a:lnTo>
                  <a:pt x="877824" y="313944"/>
                </a:lnTo>
                <a:lnTo>
                  <a:pt x="891400" y="328828"/>
                </a:lnTo>
                <a:lnTo>
                  <a:pt x="903630" y="347281"/>
                </a:lnTo>
                <a:lnTo>
                  <a:pt x="924306" y="395478"/>
                </a:lnTo>
                <a:lnTo>
                  <a:pt x="938022" y="457111"/>
                </a:lnTo>
                <a:lnTo>
                  <a:pt x="942594" y="531876"/>
                </a:lnTo>
                <a:lnTo>
                  <a:pt x="941451" y="571309"/>
                </a:lnTo>
                <a:lnTo>
                  <a:pt x="932307" y="639889"/>
                </a:lnTo>
                <a:lnTo>
                  <a:pt x="914488" y="695236"/>
                </a:lnTo>
                <a:lnTo>
                  <a:pt x="891400" y="735698"/>
                </a:lnTo>
                <a:lnTo>
                  <a:pt x="877824" y="750570"/>
                </a:lnTo>
                <a:lnTo>
                  <a:pt x="884682" y="758190"/>
                </a:lnTo>
                <a:lnTo>
                  <a:pt x="914488" y="724954"/>
                </a:lnTo>
                <a:lnTo>
                  <a:pt x="940308" y="675132"/>
                </a:lnTo>
                <a:lnTo>
                  <a:pt x="958494" y="610933"/>
                </a:lnTo>
                <a:lnTo>
                  <a:pt x="963129" y="573341"/>
                </a:lnTo>
                <a:lnTo>
                  <a:pt x="964692" y="531876"/>
                </a:lnTo>
                <a:close/>
              </a:path>
              <a:path w="1895475" h="758189">
                <a:moveTo>
                  <a:pt x="1895094" y="0"/>
                </a:moveTo>
                <a:lnTo>
                  <a:pt x="1534668" y="0"/>
                </a:lnTo>
                <a:lnTo>
                  <a:pt x="1534668" y="14478"/>
                </a:lnTo>
                <a:lnTo>
                  <a:pt x="1895094" y="14478"/>
                </a:lnTo>
                <a:lnTo>
                  <a:pt x="189509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724909" y="4887722"/>
            <a:ext cx="1974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…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48027" y="5276334"/>
            <a:ext cx="776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-32407" dirty="0">
                <a:latin typeface="Cambria Math"/>
                <a:cs typeface="Cambria Math"/>
              </a:rPr>
              <a:t>1</a:t>
            </a:r>
            <a:r>
              <a:rPr sz="2700" spc="-15" baseline="-32407" dirty="0">
                <a:latin typeface="Cambria Math"/>
                <a:cs typeface="Cambria Math"/>
              </a:rPr>
              <a:t> </a:t>
            </a:r>
            <a:r>
              <a:rPr sz="2700" baseline="-32407" dirty="0">
                <a:latin typeface="Cambria Math"/>
                <a:cs typeface="Cambria Math"/>
              </a:rPr>
              <a:t>+</a:t>
            </a:r>
            <a:r>
              <a:rPr sz="2700" spc="127" baseline="-32407" dirty="0">
                <a:latin typeface="Cambria Math"/>
                <a:cs typeface="Cambria Math"/>
              </a:rPr>
              <a:t>  </a:t>
            </a:r>
            <a:r>
              <a:rPr sz="1800" spc="-25" dirty="0">
                <a:latin typeface="Cambria Math"/>
                <a:cs typeface="Cambria Math"/>
              </a:rPr>
              <a:t>j𝜔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48077" y="5574284"/>
            <a:ext cx="443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0802" dirty="0">
                <a:latin typeface="Cambria Math"/>
                <a:cs typeface="Cambria Math"/>
              </a:rPr>
              <a:t>𝜔</a:t>
            </a:r>
            <a:r>
              <a:rPr sz="1300" spc="-25" dirty="0">
                <a:latin typeface="Cambria Math"/>
                <a:cs typeface="Cambria Math"/>
              </a:rPr>
              <a:t>𝑝1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186940" y="5362955"/>
            <a:ext cx="1510665" cy="452120"/>
          </a:xfrm>
          <a:custGeom>
            <a:avLst/>
            <a:gdLst/>
            <a:ahLst/>
            <a:cxnLst/>
            <a:rect l="l" t="t" r="r" b="b"/>
            <a:pathLst>
              <a:path w="1510664" h="452120">
                <a:moveTo>
                  <a:pt x="376428" y="218694"/>
                </a:moveTo>
                <a:lnTo>
                  <a:pt x="0" y="218694"/>
                </a:lnTo>
                <a:lnTo>
                  <a:pt x="0" y="233172"/>
                </a:lnTo>
                <a:lnTo>
                  <a:pt x="376428" y="233172"/>
                </a:lnTo>
                <a:lnTo>
                  <a:pt x="376428" y="218694"/>
                </a:lnTo>
                <a:close/>
              </a:path>
              <a:path w="1510664" h="452120">
                <a:moveTo>
                  <a:pt x="632460" y="7620"/>
                </a:moveTo>
                <a:lnTo>
                  <a:pt x="596163" y="33147"/>
                </a:lnTo>
                <a:lnTo>
                  <a:pt x="569976" y="82296"/>
                </a:lnTo>
                <a:lnTo>
                  <a:pt x="551776" y="147066"/>
                </a:lnTo>
                <a:lnTo>
                  <a:pt x="545592" y="225552"/>
                </a:lnTo>
                <a:lnTo>
                  <a:pt x="547141" y="267017"/>
                </a:lnTo>
                <a:lnTo>
                  <a:pt x="559409" y="338505"/>
                </a:lnTo>
                <a:lnTo>
                  <a:pt x="582536" y="395833"/>
                </a:lnTo>
                <a:lnTo>
                  <a:pt x="610793" y="437286"/>
                </a:lnTo>
                <a:lnTo>
                  <a:pt x="626364" y="451866"/>
                </a:lnTo>
                <a:lnTo>
                  <a:pt x="632460" y="444246"/>
                </a:lnTo>
                <a:lnTo>
                  <a:pt x="619188" y="429374"/>
                </a:lnTo>
                <a:lnTo>
                  <a:pt x="606933" y="410908"/>
                </a:lnTo>
                <a:lnTo>
                  <a:pt x="585978" y="362712"/>
                </a:lnTo>
                <a:lnTo>
                  <a:pt x="572262" y="300990"/>
                </a:lnTo>
                <a:lnTo>
                  <a:pt x="567690" y="225552"/>
                </a:lnTo>
                <a:lnTo>
                  <a:pt x="568833" y="186563"/>
                </a:lnTo>
                <a:lnTo>
                  <a:pt x="577977" y="118300"/>
                </a:lnTo>
                <a:lnTo>
                  <a:pt x="595807" y="63131"/>
                </a:lnTo>
                <a:lnTo>
                  <a:pt x="619188" y="22504"/>
                </a:lnTo>
                <a:lnTo>
                  <a:pt x="632460" y="7620"/>
                </a:lnTo>
                <a:close/>
              </a:path>
              <a:path w="1510664" h="452120">
                <a:moveTo>
                  <a:pt x="1510284" y="225552"/>
                </a:moveTo>
                <a:lnTo>
                  <a:pt x="1508721" y="184531"/>
                </a:lnTo>
                <a:lnTo>
                  <a:pt x="1496453" y="113042"/>
                </a:lnTo>
                <a:lnTo>
                  <a:pt x="1473454" y="55727"/>
                </a:lnTo>
                <a:lnTo>
                  <a:pt x="1445704" y="14579"/>
                </a:lnTo>
                <a:lnTo>
                  <a:pt x="1430274" y="0"/>
                </a:lnTo>
                <a:lnTo>
                  <a:pt x="1423416" y="7620"/>
                </a:lnTo>
                <a:lnTo>
                  <a:pt x="1436992" y="22504"/>
                </a:lnTo>
                <a:lnTo>
                  <a:pt x="1449222" y="40957"/>
                </a:lnTo>
                <a:lnTo>
                  <a:pt x="1469898" y="89154"/>
                </a:lnTo>
                <a:lnTo>
                  <a:pt x="1483614" y="150787"/>
                </a:lnTo>
                <a:lnTo>
                  <a:pt x="1488186" y="225552"/>
                </a:lnTo>
                <a:lnTo>
                  <a:pt x="1487043" y="264985"/>
                </a:lnTo>
                <a:lnTo>
                  <a:pt x="1477899" y="333565"/>
                </a:lnTo>
                <a:lnTo>
                  <a:pt x="1460080" y="388912"/>
                </a:lnTo>
                <a:lnTo>
                  <a:pt x="1436992" y="429374"/>
                </a:lnTo>
                <a:lnTo>
                  <a:pt x="1423416" y="444246"/>
                </a:lnTo>
                <a:lnTo>
                  <a:pt x="1430274" y="451866"/>
                </a:lnTo>
                <a:lnTo>
                  <a:pt x="1460080" y="418630"/>
                </a:lnTo>
                <a:lnTo>
                  <a:pt x="1485900" y="368808"/>
                </a:lnTo>
                <a:lnTo>
                  <a:pt x="1504086" y="304609"/>
                </a:lnTo>
                <a:lnTo>
                  <a:pt x="1508721" y="267017"/>
                </a:lnTo>
                <a:lnTo>
                  <a:pt x="1510284" y="2255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788157" y="5276334"/>
            <a:ext cx="776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-32407" dirty="0">
                <a:latin typeface="Cambria Math"/>
                <a:cs typeface="Cambria Math"/>
              </a:rPr>
              <a:t>1</a:t>
            </a:r>
            <a:r>
              <a:rPr sz="2700" spc="-15" baseline="-32407" dirty="0">
                <a:latin typeface="Cambria Math"/>
                <a:cs typeface="Cambria Math"/>
              </a:rPr>
              <a:t> </a:t>
            </a:r>
            <a:r>
              <a:rPr sz="2700" baseline="-32407" dirty="0">
                <a:latin typeface="Cambria Math"/>
                <a:cs typeface="Cambria Math"/>
              </a:rPr>
              <a:t>+</a:t>
            </a:r>
            <a:r>
              <a:rPr sz="2700" spc="127" baseline="-32407" dirty="0">
                <a:latin typeface="Cambria Math"/>
                <a:cs typeface="Cambria Math"/>
              </a:rPr>
              <a:t>  </a:t>
            </a:r>
            <a:r>
              <a:rPr sz="1800" spc="-25" dirty="0">
                <a:latin typeface="Cambria Math"/>
                <a:cs typeface="Cambria Math"/>
              </a:rPr>
              <a:t>j𝜔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188207" y="5574284"/>
            <a:ext cx="443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0802" dirty="0">
                <a:latin typeface="Cambria Math"/>
                <a:cs typeface="Cambria Math"/>
              </a:rPr>
              <a:t>𝜔</a:t>
            </a:r>
            <a:r>
              <a:rPr sz="1300" spc="-25" dirty="0">
                <a:latin typeface="Cambria Math"/>
                <a:cs typeface="Cambria Math"/>
              </a:rPr>
              <a:t>𝑝2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674114" y="5319521"/>
            <a:ext cx="2251710" cy="276860"/>
          </a:xfrm>
          <a:custGeom>
            <a:avLst/>
            <a:gdLst/>
            <a:ahLst/>
            <a:cxnLst/>
            <a:rect l="l" t="t" r="r" b="b"/>
            <a:pathLst>
              <a:path w="2251710" h="276860">
                <a:moveTo>
                  <a:pt x="1929384" y="262128"/>
                </a:moveTo>
                <a:lnTo>
                  <a:pt x="1552956" y="262128"/>
                </a:lnTo>
                <a:lnTo>
                  <a:pt x="1552956" y="276606"/>
                </a:lnTo>
                <a:lnTo>
                  <a:pt x="1929384" y="276606"/>
                </a:lnTo>
                <a:lnTo>
                  <a:pt x="1929384" y="262128"/>
                </a:lnTo>
                <a:close/>
              </a:path>
              <a:path w="2251710" h="276860">
                <a:moveTo>
                  <a:pt x="2251710" y="0"/>
                </a:moveTo>
                <a:lnTo>
                  <a:pt x="0" y="0"/>
                </a:lnTo>
                <a:lnTo>
                  <a:pt x="0" y="14478"/>
                </a:lnTo>
                <a:lnTo>
                  <a:pt x="2251710" y="14478"/>
                </a:lnTo>
                <a:lnTo>
                  <a:pt x="22517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740911" y="5412740"/>
            <a:ext cx="1974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…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990082" y="4920234"/>
            <a:ext cx="403225" cy="212090"/>
          </a:xfrm>
          <a:custGeom>
            <a:avLst/>
            <a:gdLst/>
            <a:ahLst/>
            <a:cxnLst/>
            <a:rect l="l" t="t" r="r" b="b"/>
            <a:pathLst>
              <a:path w="403225" h="212089">
                <a:moveTo>
                  <a:pt x="403097" y="105918"/>
                </a:moveTo>
                <a:lnTo>
                  <a:pt x="393132" y="52339"/>
                </a:lnTo>
                <a:lnTo>
                  <a:pt x="364426" y="13525"/>
                </a:lnTo>
                <a:lnTo>
                  <a:pt x="335279" y="0"/>
                </a:lnTo>
                <a:lnTo>
                  <a:pt x="332231" y="8382"/>
                </a:lnTo>
                <a:lnTo>
                  <a:pt x="344519" y="13835"/>
                </a:lnTo>
                <a:lnTo>
                  <a:pt x="355091" y="21145"/>
                </a:lnTo>
                <a:lnTo>
                  <a:pt x="376535" y="55209"/>
                </a:lnTo>
                <a:lnTo>
                  <a:pt x="383285" y="104394"/>
                </a:lnTo>
                <a:lnTo>
                  <a:pt x="383285" y="177605"/>
                </a:lnTo>
                <a:lnTo>
                  <a:pt x="385571" y="174498"/>
                </a:lnTo>
                <a:lnTo>
                  <a:pt x="393132" y="159496"/>
                </a:lnTo>
                <a:lnTo>
                  <a:pt x="398621" y="143065"/>
                </a:lnTo>
                <a:lnTo>
                  <a:pt x="401966" y="125206"/>
                </a:lnTo>
                <a:lnTo>
                  <a:pt x="403097" y="105918"/>
                </a:lnTo>
                <a:close/>
              </a:path>
              <a:path w="403225" h="212089">
                <a:moveTo>
                  <a:pt x="383285" y="177605"/>
                </a:moveTo>
                <a:lnTo>
                  <a:pt x="383285" y="104394"/>
                </a:lnTo>
                <a:lnTo>
                  <a:pt x="382559" y="123408"/>
                </a:lnTo>
                <a:lnTo>
                  <a:pt x="380333" y="140493"/>
                </a:lnTo>
                <a:lnTo>
                  <a:pt x="363950" y="180749"/>
                </a:lnTo>
                <a:lnTo>
                  <a:pt x="332993" y="203454"/>
                </a:lnTo>
                <a:lnTo>
                  <a:pt x="335279" y="211836"/>
                </a:lnTo>
                <a:lnTo>
                  <a:pt x="350853" y="206109"/>
                </a:lnTo>
                <a:lnTo>
                  <a:pt x="364426" y="198024"/>
                </a:lnTo>
                <a:lnTo>
                  <a:pt x="375999" y="187511"/>
                </a:lnTo>
                <a:lnTo>
                  <a:pt x="383285" y="177605"/>
                </a:lnTo>
                <a:close/>
              </a:path>
              <a:path w="403225" h="212089">
                <a:moveTo>
                  <a:pt x="70865" y="8382"/>
                </a:moveTo>
                <a:lnTo>
                  <a:pt x="67817" y="0"/>
                </a:lnTo>
                <a:lnTo>
                  <a:pt x="52244" y="5405"/>
                </a:lnTo>
                <a:lnTo>
                  <a:pt x="38671" y="13525"/>
                </a:lnTo>
                <a:lnTo>
                  <a:pt x="9965" y="52339"/>
                </a:lnTo>
                <a:lnTo>
                  <a:pt x="0" y="105918"/>
                </a:lnTo>
                <a:lnTo>
                  <a:pt x="1131" y="125206"/>
                </a:lnTo>
                <a:lnTo>
                  <a:pt x="4476" y="143065"/>
                </a:lnTo>
                <a:lnTo>
                  <a:pt x="9965" y="159496"/>
                </a:lnTo>
                <a:lnTo>
                  <a:pt x="17525" y="174498"/>
                </a:lnTo>
                <a:lnTo>
                  <a:pt x="19049" y="176569"/>
                </a:lnTo>
                <a:lnTo>
                  <a:pt x="19049" y="104394"/>
                </a:lnTo>
                <a:lnTo>
                  <a:pt x="19895" y="86379"/>
                </a:lnTo>
                <a:lnTo>
                  <a:pt x="32003" y="41910"/>
                </a:lnTo>
                <a:lnTo>
                  <a:pt x="58578" y="13835"/>
                </a:lnTo>
                <a:lnTo>
                  <a:pt x="70865" y="8382"/>
                </a:lnTo>
                <a:close/>
              </a:path>
              <a:path w="403225" h="212089">
                <a:moveTo>
                  <a:pt x="70103" y="203454"/>
                </a:moveTo>
                <a:lnTo>
                  <a:pt x="39135" y="180736"/>
                </a:lnTo>
                <a:lnTo>
                  <a:pt x="22383" y="140493"/>
                </a:lnTo>
                <a:lnTo>
                  <a:pt x="19049" y="104394"/>
                </a:lnTo>
                <a:lnTo>
                  <a:pt x="19049" y="176569"/>
                </a:lnTo>
                <a:lnTo>
                  <a:pt x="27098" y="187511"/>
                </a:lnTo>
                <a:lnTo>
                  <a:pt x="38671" y="198024"/>
                </a:lnTo>
                <a:lnTo>
                  <a:pt x="52244" y="206109"/>
                </a:lnTo>
                <a:lnTo>
                  <a:pt x="67817" y="211836"/>
                </a:lnTo>
                <a:lnTo>
                  <a:pt x="70103" y="2034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345685" y="4849622"/>
            <a:ext cx="2178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|𝐓|</a:t>
            </a:r>
            <a:r>
              <a:rPr sz="1800" spc="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20𝑙𝑜𝑔</a:t>
            </a:r>
            <a:r>
              <a:rPr sz="1950" baseline="-14957" dirty="0">
                <a:latin typeface="Cambria Math"/>
                <a:cs typeface="Cambria Math"/>
              </a:rPr>
              <a:t>10</a:t>
            </a:r>
            <a:r>
              <a:rPr sz="1800" dirty="0">
                <a:latin typeface="Cambria Math"/>
                <a:cs typeface="Cambria Math"/>
              </a:rPr>
              <a:t>|𝑇</a:t>
            </a:r>
            <a:r>
              <a:rPr sz="1800" spc="38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𝑗𝜔</a:t>
            </a:r>
            <a:r>
              <a:rPr sz="1800" spc="38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|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71009" y="5490456"/>
            <a:ext cx="14566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Symbol"/>
                <a:cs typeface="Symbol"/>
              </a:rPr>
              <a:t></a:t>
            </a:r>
            <a:r>
              <a:rPr sz="1800" dirty="0">
                <a:latin typeface="Cambria Math"/>
                <a:cs typeface="Cambria Math"/>
              </a:rPr>
              <a:t>𝐓</a:t>
            </a:r>
            <a:r>
              <a:rPr sz="1800" spc="9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00" dirty="0">
                <a:latin typeface="Cambria Math"/>
                <a:cs typeface="Cambria Math"/>
              </a:rPr>
              <a:t> </a:t>
            </a:r>
            <a:r>
              <a:rPr sz="1800" dirty="0">
                <a:latin typeface="Symbol"/>
                <a:cs typeface="Symbol"/>
              </a:rPr>
              <a:t>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𝑡𝑎𝑛</a:t>
            </a:r>
            <a:r>
              <a:rPr sz="1950" spc="-15" baseline="27777" dirty="0">
                <a:latin typeface="Cambria Math"/>
                <a:cs typeface="Cambria Math"/>
              </a:rPr>
              <a:t>−1</a:t>
            </a:r>
            <a:endParaRPr sz="1950" baseline="27777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296406" y="5439917"/>
            <a:ext cx="55880" cy="454659"/>
          </a:xfrm>
          <a:custGeom>
            <a:avLst/>
            <a:gdLst/>
            <a:ahLst/>
            <a:cxnLst/>
            <a:rect l="l" t="t" r="r" b="b"/>
            <a:pathLst>
              <a:path w="55879" h="454660">
                <a:moveTo>
                  <a:pt x="55880" y="0"/>
                </a:moveTo>
                <a:lnTo>
                  <a:pt x="34290" y="0"/>
                </a:lnTo>
                <a:lnTo>
                  <a:pt x="0" y="0"/>
                </a:lnTo>
                <a:lnTo>
                  <a:pt x="0" y="9906"/>
                </a:lnTo>
                <a:lnTo>
                  <a:pt x="34290" y="9906"/>
                </a:lnTo>
                <a:lnTo>
                  <a:pt x="34290" y="444246"/>
                </a:lnTo>
                <a:lnTo>
                  <a:pt x="0" y="444246"/>
                </a:lnTo>
                <a:lnTo>
                  <a:pt x="0" y="454152"/>
                </a:lnTo>
                <a:lnTo>
                  <a:pt x="34290" y="454152"/>
                </a:lnTo>
                <a:lnTo>
                  <a:pt x="55880" y="454152"/>
                </a:lnTo>
                <a:lnTo>
                  <a:pt x="558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761736" y="5439917"/>
            <a:ext cx="57150" cy="454659"/>
          </a:xfrm>
          <a:custGeom>
            <a:avLst/>
            <a:gdLst/>
            <a:ahLst/>
            <a:cxnLst/>
            <a:rect l="l" t="t" r="r" b="b"/>
            <a:pathLst>
              <a:path w="57150" h="454660">
                <a:moveTo>
                  <a:pt x="57150" y="0"/>
                </a:moveTo>
                <a:lnTo>
                  <a:pt x="22860" y="0"/>
                </a:lnTo>
                <a:lnTo>
                  <a:pt x="0" y="0"/>
                </a:lnTo>
                <a:lnTo>
                  <a:pt x="0" y="454152"/>
                </a:lnTo>
                <a:lnTo>
                  <a:pt x="22606" y="454152"/>
                </a:lnTo>
                <a:lnTo>
                  <a:pt x="22860" y="454152"/>
                </a:lnTo>
                <a:lnTo>
                  <a:pt x="56896" y="454152"/>
                </a:lnTo>
                <a:lnTo>
                  <a:pt x="56896" y="444246"/>
                </a:lnTo>
                <a:lnTo>
                  <a:pt x="22860" y="444246"/>
                </a:lnTo>
                <a:lnTo>
                  <a:pt x="22860" y="9906"/>
                </a:lnTo>
                <a:lnTo>
                  <a:pt x="57150" y="9906"/>
                </a:lnTo>
                <a:lnTo>
                  <a:pt x="571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785865" y="5335625"/>
            <a:ext cx="543560" cy="59118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60"/>
              </a:spcBef>
              <a:tabLst>
                <a:tab pos="504825" algn="l"/>
              </a:tabLst>
            </a:pPr>
            <a:r>
              <a:rPr sz="1300" u="heavy" spc="350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 </a:t>
            </a:r>
            <a:r>
              <a:rPr sz="1300" u="heavy" spc="60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𝜔</a:t>
            </a:r>
            <a:r>
              <a:rPr sz="1300" u="heavy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	</a:t>
            </a:r>
            <a:endParaRPr sz="13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670"/>
              </a:spcBef>
            </a:pPr>
            <a:r>
              <a:rPr sz="1950" spc="-15" baseline="10683" dirty="0">
                <a:latin typeface="Cambria Math"/>
                <a:cs typeface="Cambria Math"/>
              </a:rPr>
              <a:t>𝜔</a:t>
            </a:r>
            <a:r>
              <a:rPr sz="1050" spc="-10" dirty="0">
                <a:latin typeface="Cambria Math"/>
                <a:cs typeface="Cambria Math"/>
              </a:rPr>
              <a:t>𝑧1,2..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390132" y="5490464"/>
            <a:ext cx="1085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−</a:t>
            </a:r>
            <a:r>
              <a:rPr sz="1800" spc="235" dirty="0">
                <a:latin typeface="Cambria Math"/>
                <a:cs typeface="Cambria Math"/>
              </a:rPr>
              <a:t> </a:t>
            </a:r>
            <a:r>
              <a:rPr sz="1800" dirty="0">
                <a:latin typeface="Symbol"/>
                <a:cs typeface="Symbol"/>
              </a:rPr>
              <a:t>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𝑡𝑎𝑛</a:t>
            </a:r>
            <a:r>
              <a:rPr sz="1950" spc="-15" baseline="27777" dirty="0">
                <a:latin typeface="Cambria Math"/>
                <a:cs typeface="Cambria Math"/>
              </a:rPr>
              <a:t>−1</a:t>
            </a:r>
            <a:endParaRPr sz="1950" baseline="27777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509764" y="5439917"/>
            <a:ext cx="56515" cy="454659"/>
          </a:xfrm>
          <a:custGeom>
            <a:avLst/>
            <a:gdLst/>
            <a:ahLst/>
            <a:cxnLst/>
            <a:rect l="l" t="t" r="r" b="b"/>
            <a:pathLst>
              <a:path w="56515" h="454660">
                <a:moveTo>
                  <a:pt x="55880" y="0"/>
                </a:moveTo>
                <a:lnTo>
                  <a:pt x="21590" y="0"/>
                </a:lnTo>
                <a:lnTo>
                  <a:pt x="0" y="0"/>
                </a:lnTo>
                <a:lnTo>
                  <a:pt x="0" y="454152"/>
                </a:lnTo>
                <a:lnTo>
                  <a:pt x="21590" y="454152"/>
                </a:lnTo>
                <a:lnTo>
                  <a:pt x="21590" y="9906"/>
                </a:lnTo>
                <a:lnTo>
                  <a:pt x="55880" y="9906"/>
                </a:lnTo>
                <a:lnTo>
                  <a:pt x="55880" y="0"/>
                </a:lnTo>
                <a:close/>
              </a:path>
              <a:path w="56515" h="454660">
                <a:moveTo>
                  <a:pt x="56134" y="444246"/>
                </a:moveTo>
                <a:lnTo>
                  <a:pt x="21844" y="444246"/>
                </a:lnTo>
                <a:lnTo>
                  <a:pt x="21844" y="454152"/>
                </a:lnTo>
                <a:lnTo>
                  <a:pt x="56134" y="454152"/>
                </a:lnTo>
                <a:lnTo>
                  <a:pt x="56134" y="4442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7533126" y="5335625"/>
            <a:ext cx="559435" cy="59118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60"/>
              </a:spcBef>
              <a:tabLst>
                <a:tab pos="210185" algn="l"/>
                <a:tab pos="520700" algn="l"/>
              </a:tabLst>
            </a:pPr>
            <a:r>
              <a:rPr sz="1300" u="heavy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	</a:t>
            </a:r>
            <a:r>
              <a:rPr sz="1300" u="heavy" spc="70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𝜔</a:t>
            </a:r>
            <a:r>
              <a:rPr sz="1300" u="heavy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	</a:t>
            </a:r>
            <a:endParaRPr sz="13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670"/>
              </a:spcBef>
            </a:pPr>
            <a:r>
              <a:rPr sz="1950" spc="67" baseline="10683" dirty="0">
                <a:latin typeface="Cambria Math"/>
                <a:cs typeface="Cambria Math"/>
              </a:rPr>
              <a:t>𝜔</a:t>
            </a:r>
            <a:r>
              <a:rPr sz="1050" spc="45" dirty="0">
                <a:latin typeface="Cambria Math"/>
                <a:cs typeface="Cambria Math"/>
              </a:rPr>
              <a:t>𝑝1,2..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F59093CB-A15E-4E84-9D25-CC11B69BB441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32" name="object 32"/>
          <p:cNvSpPr txBox="1"/>
          <p:nvPr/>
        </p:nvSpPr>
        <p:spPr>
          <a:xfrm>
            <a:off x="9299702" y="5796788"/>
            <a:ext cx="2085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𝜔[𝑟𝑎𝑑/𝑠]</a:t>
            </a:r>
            <a:r>
              <a:rPr sz="1800" spc="12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30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2𝜋𝑓[𝐻𝑧]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7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Bode</a:t>
            </a:r>
            <a:r>
              <a:rPr spc="-45" dirty="0"/>
              <a:t> </a:t>
            </a:r>
            <a:r>
              <a:rPr dirty="0"/>
              <a:t>Plots:</a:t>
            </a:r>
            <a:r>
              <a:rPr spc="-5" dirty="0"/>
              <a:t> </a:t>
            </a:r>
            <a:r>
              <a:rPr dirty="0"/>
              <a:t>LHP</a:t>
            </a:r>
            <a:r>
              <a:rPr spc="-45" dirty="0"/>
              <a:t> </a:t>
            </a:r>
            <a:r>
              <a:rPr dirty="0"/>
              <a:t>Pole</a:t>
            </a:r>
            <a:r>
              <a:rPr spc="-1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spc="-20" dirty="0"/>
              <a:t>Zero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0445" y="1744965"/>
            <a:ext cx="3400046" cy="42851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028942" y="1863336"/>
            <a:ext cx="1724660" cy="8616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CC0000"/>
                </a:solidFill>
                <a:latin typeface="Verdana"/>
                <a:cs typeface="Verdana"/>
              </a:rPr>
              <a:t>-</a:t>
            </a:r>
            <a:r>
              <a:rPr sz="1800" dirty="0">
                <a:solidFill>
                  <a:srgbClr val="CC0000"/>
                </a:solidFill>
                <a:latin typeface="Verdana"/>
                <a:cs typeface="Verdana"/>
              </a:rPr>
              <a:t>3dB</a:t>
            </a:r>
            <a:r>
              <a:rPr sz="1800" spc="-15" dirty="0">
                <a:solidFill>
                  <a:srgbClr val="CC0000"/>
                </a:solidFill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at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CC0000"/>
                </a:solidFill>
                <a:latin typeface="Verdana"/>
                <a:cs typeface="Verdana"/>
              </a:rPr>
              <a:t>f</a:t>
            </a:r>
            <a:r>
              <a:rPr sz="1800" spc="-37" baseline="-20833" dirty="0">
                <a:solidFill>
                  <a:srgbClr val="CC0000"/>
                </a:solidFill>
                <a:latin typeface="Verdana"/>
                <a:cs typeface="Verdana"/>
              </a:rPr>
              <a:t>p</a:t>
            </a:r>
            <a:endParaRPr sz="1800" baseline="-20833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>
              <a:latin typeface="Verdana"/>
              <a:cs typeface="Verdana"/>
            </a:endParaRPr>
          </a:p>
          <a:p>
            <a:pPr marL="489584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Verdana"/>
                <a:cs typeface="Verdana"/>
              </a:rPr>
              <a:t>-20dB/dec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92033" y="5258831"/>
            <a:ext cx="1222375" cy="794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-</a:t>
            </a:r>
            <a:r>
              <a:rPr sz="1800" dirty="0">
                <a:latin typeface="Verdana"/>
                <a:cs typeface="Verdana"/>
              </a:rPr>
              <a:t>45</a:t>
            </a:r>
            <a:r>
              <a:rPr sz="1800" dirty="0">
                <a:latin typeface="Symbol"/>
                <a:cs typeface="Symbol"/>
              </a:rPr>
              <a:t></a:t>
            </a:r>
            <a:r>
              <a:rPr sz="1800" spc="1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Verdana"/>
                <a:cs typeface="Verdana"/>
              </a:rPr>
              <a:t>at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f</a:t>
            </a:r>
            <a:r>
              <a:rPr sz="1800" spc="-37" baseline="-20833" dirty="0">
                <a:latin typeface="Verdana"/>
                <a:cs typeface="Verdana"/>
              </a:rPr>
              <a:t>p</a:t>
            </a:r>
            <a:endParaRPr sz="1800" baseline="-20833">
              <a:latin typeface="Verdana"/>
              <a:cs typeface="Verdana"/>
            </a:endParaRPr>
          </a:p>
          <a:p>
            <a:pPr marL="697865">
              <a:lnSpc>
                <a:spcPct val="100000"/>
              </a:lnSpc>
              <a:spcBef>
                <a:spcPts val="1730"/>
              </a:spcBef>
            </a:pPr>
            <a:r>
              <a:rPr sz="1800" spc="-10" dirty="0">
                <a:latin typeface="Verdana"/>
                <a:cs typeface="Verdana"/>
              </a:rPr>
              <a:t>-</a:t>
            </a:r>
            <a:r>
              <a:rPr sz="1800" spc="-25" dirty="0">
                <a:latin typeface="Verdana"/>
                <a:cs typeface="Verdana"/>
              </a:rPr>
              <a:t>90</a:t>
            </a:r>
            <a:r>
              <a:rPr sz="1800" spc="-25" dirty="0">
                <a:latin typeface="Symbol"/>
                <a:cs typeface="Symbol"/>
              </a:rPr>
              <a:t></a:t>
            </a:r>
            <a:endParaRPr sz="1800">
              <a:latin typeface="Symbol"/>
              <a:cs typeface="Symbo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508504" y="2010917"/>
            <a:ext cx="1376680" cy="3719829"/>
            <a:chOff x="2508504" y="2010917"/>
            <a:chExt cx="1376680" cy="371982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13988" y="2756915"/>
              <a:ext cx="170687" cy="17678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508504" y="5370576"/>
              <a:ext cx="670560" cy="360045"/>
            </a:xfrm>
            <a:custGeom>
              <a:avLst/>
              <a:gdLst/>
              <a:ahLst/>
              <a:cxnLst/>
              <a:rect l="l" t="t" r="r" b="b"/>
              <a:pathLst>
                <a:path w="670560" h="360045">
                  <a:moveTo>
                    <a:pt x="265176" y="38100"/>
                  </a:moveTo>
                  <a:lnTo>
                    <a:pt x="187452" y="73152"/>
                  </a:lnTo>
                  <a:lnTo>
                    <a:pt x="209359" y="91097"/>
                  </a:lnTo>
                  <a:lnTo>
                    <a:pt x="0" y="347472"/>
                  </a:lnTo>
                  <a:lnTo>
                    <a:pt x="14478" y="359664"/>
                  </a:lnTo>
                  <a:lnTo>
                    <a:pt x="224015" y="103073"/>
                  </a:lnTo>
                  <a:lnTo>
                    <a:pt x="231648" y="109321"/>
                  </a:lnTo>
                  <a:lnTo>
                    <a:pt x="246126" y="121158"/>
                  </a:lnTo>
                  <a:lnTo>
                    <a:pt x="265176" y="38100"/>
                  </a:lnTo>
                  <a:close/>
                </a:path>
                <a:path w="670560" h="360045">
                  <a:moveTo>
                    <a:pt x="670560" y="28956"/>
                  </a:moveTo>
                  <a:lnTo>
                    <a:pt x="472440" y="28956"/>
                  </a:lnTo>
                  <a:lnTo>
                    <a:pt x="472440" y="0"/>
                  </a:lnTo>
                  <a:lnTo>
                    <a:pt x="396240" y="38100"/>
                  </a:lnTo>
                  <a:lnTo>
                    <a:pt x="459486" y="69723"/>
                  </a:lnTo>
                  <a:lnTo>
                    <a:pt x="472440" y="76200"/>
                  </a:lnTo>
                  <a:lnTo>
                    <a:pt x="472440" y="48006"/>
                  </a:lnTo>
                  <a:lnTo>
                    <a:pt x="670560" y="48006"/>
                  </a:lnTo>
                  <a:lnTo>
                    <a:pt x="670560" y="28956"/>
                  </a:lnTo>
                  <a:close/>
                </a:path>
              </a:pathLst>
            </a:custGeom>
            <a:solidFill>
              <a:srgbClr val="6E6E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87980" y="2010917"/>
              <a:ext cx="118109" cy="15773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2123948" y="5123179"/>
            <a:ext cx="922019" cy="842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15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0</a:t>
            </a:r>
            <a:r>
              <a:rPr sz="1800" spc="-25" dirty="0">
                <a:latin typeface="Symbol"/>
                <a:cs typeface="Symbol"/>
              </a:rPr>
              <a:t></a:t>
            </a:r>
            <a:endParaRPr sz="1800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2105"/>
              </a:spcBef>
            </a:pPr>
            <a:r>
              <a:rPr sz="1800" spc="-10" dirty="0">
                <a:latin typeface="Verdana"/>
                <a:cs typeface="Verdana"/>
              </a:rPr>
              <a:t>-45/dec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25411" y="1716781"/>
            <a:ext cx="3409570" cy="430492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8122411" y="2424938"/>
            <a:ext cx="1305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+20dB/dec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257538" y="2747772"/>
            <a:ext cx="158496" cy="17678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7669530" y="3001009"/>
            <a:ext cx="1259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CC0000"/>
                </a:solidFill>
                <a:latin typeface="Verdana"/>
                <a:cs typeface="Verdana"/>
              </a:rPr>
              <a:t>+3dB</a:t>
            </a:r>
            <a:r>
              <a:rPr sz="1800" spc="-20" dirty="0">
                <a:solidFill>
                  <a:srgbClr val="CC0000"/>
                </a:solidFill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at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CC0000"/>
                </a:solidFill>
                <a:latin typeface="Verdana"/>
                <a:cs typeface="Verdana"/>
              </a:rPr>
              <a:t>f</a:t>
            </a:r>
            <a:r>
              <a:rPr sz="1800" spc="-37" baseline="-20833" dirty="0">
                <a:solidFill>
                  <a:srgbClr val="CC0000"/>
                </a:solidFill>
                <a:latin typeface="Verdana"/>
                <a:cs typeface="Verdana"/>
              </a:rPr>
              <a:t>z</a:t>
            </a:r>
            <a:endParaRPr sz="1800" baseline="-20833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599931" y="3267455"/>
            <a:ext cx="595630" cy="1541780"/>
            <a:chOff x="8599931" y="3267455"/>
            <a:chExt cx="595630" cy="1541780"/>
          </a:xfrm>
        </p:grpSpPr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65285" y="3267455"/>
              <a:ext cx="118110" cy="16154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99931" y="4680966"/>
              <a:ext cx="171450" cy="12801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921495" y="4700777"/>
              <a:ext cx="273685" cy="76200"/>
            </a:xfrm>
            <a:custGeom>
              <a:avLst/>
              <a:gdLst/>
              <a:ahLst/>
              <a:cxnLst/>
              <a:rect l="l" t="t" r="r" b="b"/>
              <a:pathLst>
                <a:path w="273684" h="76200">
                  <a:moveTo>
                    <a:pt x="76200" y="28194"/>
                  </a:moveTo>
                  <a:lnTo>
                    <a:pt x="76200" y="0"/>
                  </a:lnTo>
                  <a:lnTo>
                    <a:pt x="0" y="38100"/>
                  </a:lnTo>
                  <a:lnTo>
                    <a:pt x="63246" y="69723"/>
                  </a:lnTo>
                  <a:lnTo>
                    <a:pt x="63246" y="28194"/>
                  </a:lnTo>
                  <a:lnTo>
                    <a:pt x="76200" y="28194"/>
                  </a:lnTo>
                  <a:close/>
                </a:path>
                <a:path w="273684" h="76200">
                  <a:moveTo>
                    <a:pt x="273557" y="47244"/>
                  </a:moveTo>
                  <a:lnTo>
                    <a:pt x="273557" y="28194"/>
                  </a:lnTo>
                  <a:lnTo>
                    <a:pt x="63246" y="28194"/>
                  </a:lnTo>
                  <a:lnTo>
                    <a:pt x="63246" y="47244"/>
                  </a:lnTo>
                  <a:lnTo>
                    <a:pt x="273557" y="47244"/>
                  </a:lnTo>
                  <a:close/>
                </a:path>
                <a:path w="273684" h="76200">
                  <a:moveTo>
                    <a:pt x="76200" y="76200"/>
                  </a:moveTo>
                  <a:lnTo>
                    <a:pt x="76200" y="47244"/>
                  </a:lnTo>
                  <a:lnTo>
                    <a:pt x="63246" y="47244"/>
                  </a:lnTo>
                  <a:lnTo>
                    <a:pt x="63246" y="69723"/>
                  </a:lnTo>
                  <a:lnTo>
                    <a:pt x="76200" y="76200"/>
                  </a:lnTo>
                  <a:close/>
                </a:path>
              </a:pathLst>
            </a:custGeom>
            <a:solidFill>
              <a:srgbClr val="6E6E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208769" y="4079240"/>
            <a:ext cx="1010285" cy="808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90</a:t>
            </a:r>
            <a:r>
              <a:rPr sz="1800" spc="-25" dirty="0">
                <a:latin typeface="Symbol"/>
                <a:cs typeface="Symbol"/>
              </a:rPr>
              <a:t></a:t>
            </a:r>
            <a:endParaRPr sz="1800">
              <a:latin typeface="Symbol"/>
              <a:cs typeface="Symbol"/>
            </a:endParaRPr>
          </a:p>
          <a:p>
            <a:pPr algn="ctr">
              <a:lnSpc>
                <a:spcPct val="100000"/>
              </a:lnSpc>
              <a:spcBef>
                <a:spcPts val="1845"/>
              </a:spcBef>
            </a:pPr>
            <a:r>
              <a:rPr sz="1800" dirty="0">
                <a:latin typeface="Verdana"/>
                <a:cs typeface="Verdana"/>
              </a:rPr>
              <a:t>45</a:t>
            </a:r>
            <a:r>
              <a:rPr sz="1800" dirty="0">
                <a:latin typeface="Symbol"/>
                <a:cs typeface="Symbol"/>
              </a:rPr>
              <a:t></a:t>
            </a:r>
            <a:r>
              <a:rPr sz="1800" spc="1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Verdana"/>
                <a:cs typeface="Verdana"/>
              </a:rPr>
              <a:t>at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35" dirty="0">
                <a:latin typeface="Verdana"/>
                <a:cs typeface="Verdana"/>
              </a:rPr>
              <a:t>f</a:t>
            </a:r>
            <a:r>
              <a:rPr sz="1800" spc="-52" baseline="-20833" dirty="0">
                <a:latin typeface="Verdana"/>
                <a:cs typeface="Verdana"/>
              </a:rPr>
              <a:t>z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DC8539FB-1FD3-423E-9D28-6DBC55856888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20" name="object 20"/>
          <p:cNvSpPr txBox="1"/>
          <p:nvPr/>
        </p:nvSpPr>
        <p:spPr>
          <a:xfrm>
            <a:off x="7704073" y="4323834"/>
            <a:ext cx="1005840" cy="694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1940" marR="5080" indent="-269875">
              <a:lnSpc>
                <a:spcPct val="1219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+45/dec </a:t>
            </a:r>
            <a:r>
              <a:rPr sz="1800" spc="-25" dirty="0">
                <a:latin typeface="Verdana"/>
                <a:cs typeface="Verdana"/>
              </a:rPr>
              <a:t>0</a:t>
            </a:r>
            <a:r>
              <a:rPr sz="1800" spc="-25" dirty="0">
                <a:latin typeface="Symbol"/>
                <a:cs typeface="Symbol"/>
              </a:rPr>
              <a:t>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13941" y="1240027"/>
            <a:ext cx="839279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531485" algn="l"/>
              </a:tabLst>
            </a:pPr>
            <a:r>
              <a:rPr sz="2000" b="1" dirty="0">
                <a:latin typeface="Verdana"/>
                <a:cs typeface="Verdana"/>
              </a:rPr>
              <a:t>Bode</a:t>
            </a:r>
            <a:r>
              <a:rPr sz="2000" b="1" spc="-5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Plot:</a:t>
            </a:r>
            <a:r>
              <a:rPr sz="2000" b="1" spc="-4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LHP</a:t>
            </a:r>
            <a:r>
              <a:rPr sz="2000" b="1" spc="-45" dirty="0">
                <a:latin typeface="Verdana"/>
                <a:cs typeface="Verdana"/>
              </a:rPr>
              <a:t> </a:t>
            </a:r>
            <a:r>
              <a:rPr sz="2000" b="1" spc="-20" dirty="0">
                <a:latin typeface="Verdana"/>
                <a:cs typeface="Verdana"/>
              </a:rPr>
              <a:t>Pole</a:t>
            </a:r>
            <a:r>
              <a:rPr sz="2000" b="1" dirty="0">
                <a:latin typeface="Verdana"/>
                <a:cs typeface="Verdana"/>
              </a:rPr>
              <a:t>	Bode</a:t>
            </a:r>
            <a:r>
              <a:rPr sz="2000" b="1" spc="-5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Plot:</a:t>
            </a:r>
            <a:r>
              <a:rPr sz="2000" b="1" spc="-4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LHP</a:t>
            </a:r>
            <a:r>
              <a:rPr sz="2000" b="1" spc="-45" dirty="0">
                <a:latin typeface="Verdana"/>
                <a:cs typeface="Verdana"/>
              </a:rPr>
              <a:t> </a:t>
            </a:r>
            <a:r>
              <a:rPr sz="2000" b="1" spc="-20" dirty="0">
                <a:latin typeface="Verdana"/>
                <a:cs typeface="Verdana"/>
              </a:rPr>
              <a:t>Zero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6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Gain</a:t>
            </a:r>
            <a:r>
              <a:rPr spc="-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Phase </a:t>
            </a:r>
            <a:r>
              <a:rPr spc="-10" dirty="0"/>
              <a:t>Margin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73683" y="1436623"/>
            <a:ext cx="5001260" cy="10496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482600" marR="5080" indent="-470534">
              <a:lnSpc>
                <a:spcPts val="2590"/>
              </a:lnSpc>
              <a:spcBef>
                <a:spcPts val="425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400" dirty="0">
                <a:latin typeface="Verdana"/>
                <a:cs typeface="Verdana"/>
              </a:rPr>
              <a:t>From</a:t>
            </a:r>
            <a:r>
              <a:rPr sz="2400" spc="-8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Nyquist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Criterion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the </a:t>
            </a:r>
            <a:r>
              <a:rPr sz="2400" dirty="0">
                <a:latin typeface="Verdana"/>
                <a:cs typeface="Verdana"/>
              </a:rPr>
              <a:t>degree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system’s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stability </a:t>
            </a:r>
            <a:r>
              <a:rPr sz="2400" dirty="0">
                <a:latin typeface="Verdana"/>
                <a:cs typeface="Verdana"/>
              </a:rPr>
              <a:t>can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be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quantified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by: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19200" y="3036062"/>
            <a:ext cx="4819650" cy="88011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474980" marR="43180" indent="-437515">
              <a:lnSpc>
                <a:spcPts val="2170"/>
              </a:lnSpc>
              <a:spcBef>
                <a:spcPts val="360"/>
              </a:spcBef>
              <a:buClr>
                <a:srgbClr val="CC0000"/>
              </a:buClr>
              <a:buFont typeface="Wingdings"/>
              <a:buChar char=""/>
              <a:tabLst>
                <a:tab pos="474980" algn="l"/>
              </a:tabLst>
            </a:pPr>
            <a:r>
              <a:rPr sz="2000" dirty="0">
                <a:latin typeface="Verdana"/>
                <a:cs typeface="Verdana"/>
              </a:rPr>
              <a:t>Phase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Margin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</a:t>
            </a:r>
            <a:r>
              <a:rPr sz="2000" dirty="0">
                <a:latin typeface="Symbol"/>
                <a:cs typeface="Symbol"/>
              </a:rPr>
              <a:t></a:t>
            </a:r>
            <a:r>
              <a:rPr sz="1950" baseline="-21367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):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phase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at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frequency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where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loopgain</a:t>
            </a:r>
            <a:endParaRPr sz="2000">
              <a:latin typeface="Verdana"/>
              <a:cs typeface="Verdana"/>
            </a:endParaRPr>
          </a:p>
          <a:p>
            <a:pPr marL="474980">
              <a:lnSpc>
                <a:spcPts val="2130"/>
              </a:lnSpc>
            </a:pPr>
            <a:r>
              <a:rPr sz="2000" dirty="0">
                <a:latin typeface="Verdana"/>
                <a:cs typeface="Verdana"/>
              </a:rPr>
              <a:t>(T)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0dB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(referenced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-</a:t>
            </a:r>
            <a:r>
              <a:rPr sz="2000" spc="-10" dirty="0">
                <a:latin typeface="Verdana"/>
                <a:cs typeface="Verdana"/>
              </a:rPr>
              <a:t>180°)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19202" y="4439683"/>
            <a:ext cx="4942205" cy="87884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474980" marR="43180" indent="-437515">
              <a:lnSpc>
                <a:spcPts val="2160"/>
              </a:lnSpc>
              <a:spcBef>
                <a:spcPts val="370"/>
              </a:spcBef>
              <a:buClr>
                <a:srgbClr val="CC0000"/>
              </a:buClr>
              <a:buFont typeface="Wingdings"/>
              <a:buChar char=""/>
              <a:tabLst>
                <a:tab pos="474980" algn="l"/>
              </a:tabLst>
            </a:pPr>
            <a:r>
              <a:rPr sz="2000" dirty="0">
                <a:latin typeface="Verdana"/>
                <a:cs typeface="Verdana"/>
              </a:rPr>
              <a:t>Gain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Margin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(G</a:t>
            </a:r>
            <a:r>
              <a:rPr sz="1950" baseline="-21367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):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attenuation </a:t>
            </a:r>
            <a:r>
              <a:rPr sz="2000" dirty="0">
                <a:latin typeface="Verdana"/>
                <a:cs typeface="Verdana"/>
              </a:rPr>
              <a:t>where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phase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loopgain</a:t>
            </a:r>
            <a:endParaRPr sz="2000">
              <a:latin typeface="Verdana"/>
              <a:cs typeface="Verdana"/>
            </a:endParaRPr>
          </a:p>
          <a:p>
            <a:pPr marL="474980">
              <a:lnSpc>
                <a:spcPts val="2130"/>
              </a:lnSpc>
            </a:pPr>
            <a:r>
              <a:rPr sz="2000" dirty="0">
                <a:latin typeface="Verdana"/>
                <a:cs typeface="Verdana"/>
              </a:rPr>
              <a:t>(T)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has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reached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180°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75797" y="4583684"/>
            <a:ext cx="8940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Symbol"/>
                <a:cs typeface="Symbol"/>
              </a:rPr>
              <a:t></a:t>
            </a:r>
            <a:r>
              <a:rPr sz="1800" spc="-15" baseline="-20833" dirty="0">
                <a:latin typeface="Verdana"/>
                <a:cs typeface="Verdana"/>
              </a:rPr>
              <a:t>M</a:t>
            </a:r>
            <a:r>
              <a:rPr sz="1800" spc="-10" dirty="0">
                <a:latin typeface="Verdana"/>
                <a:cs typeface="Verdana"/>
              </a:rPr>
              <a:t>=22</a:t>
            </a:r>
            <a:r>
              <a:rPr sz="1800" spc="-10" dirty="0">
                <a:latin typeface="Symbol"/>
                <a:cs typeface="Symbol"/>
              </a:rPr>
              <a:t>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75782" y="3180834"/>
            <a:ext cx="1161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G</a:t>
            </a:r>
            <a:r>
              <a:rPr sz="1800" spc="-15" baseline="-20833" dirty="0">
                <a:latin typeface="Verdana"/>
                <a:cs typeface="Verdana"/>
              </a:rPr>
              <a:t>M</a:t>
            </a:r>
            <a:r>
              <a:rPr sz="1800" spc="-10" dirty="0">
                <a:latin typeface="Verdana"/>
                <a:cs typeface="Verdana"/>
              </a:rPr>
              <a:t>=20dB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13244" y="1347216"/>
            <a:ext cx="3609975" cy="437197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76F11892-9C4F-48C1-8B1C-C01116168F49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13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dirty="0"/>
              <a:t>Op</a:t>
            </a:r>
            <a:r>
              <a:rPr spc="-40" dirty="0"/>
              <a:t> </a:t>
            </a:r>
            <a:r>
              <a:rPr dirty="0"/>
              <a:t>amp</a:t>
            </a:r>
            <a:r>
              <a:rPr spc="-35" dirty="0"/>
              <a:t> </a:t>
            </a:r>
            <a:r>
              <a:rPr dirty="0"/>
              <a:t>Feedback</a:t>
            </a:r>
            <a:r>
              <a:rPr spc="-40" dirty="0"/>
              <a:t> </a:t>
            </a:r>
            <a:r>
              <a:rPr dirty="0"/>
              <a:t>Stability: Graphical</a:t>
            </a:r>
            <a:r>
              <a:rPr spc="-20" dirty="0"/>
              <a:t> </a:t>
            </a:r>
            <a:r>
              <a:rPr spc="-10" dirty="0"/>
              <a:t>Method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82081" y="1374607"/>
            <a:ext cx="4589780" cy="112268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482600" indent="-469900">
              <a:lnSpc>
                <a:spcPct val="100000"/>
              </a:lnSpc>
              <a:spcBef>
                <a:spcPts val="58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Loopgain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=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Aβ</a:t>
            </a:r>
            <a:endParaRPr sz="20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spcBef>
                <a:spcPts val="48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Log(T)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=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Log(A)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+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Log(β)</a:t>
            </a:r>
            <a:endParaRPr sz="20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spcBef>
                <a:spcPts val="480"/>
              </a:spcBef>
              <a:buFont typeface="Wingdings"/>
              <a:buChar char=""/>
              <a:tabLst>
                <a:tab pos="482600" algn="l"/>
              </a:tabLst>
            </a:pPr>
            <a:r>
              <a:rPr sz="2000" b="1" dirty="0">
                <a:solidFill>
                  <a:srgbClr val="CC0000"/>
                </a:solidFill>
                <a:latin typeface="Verdana"/>
                <a:cs typeface="Verdana"/>
              </a:rPr>
              <a:t>Log</a:t>
            </a:r>
            <a:r>
              <a:rPr sz="2000" b="1" spc="-35" dirty="0">
                <a:solidFill>
                  <a:srgbClr val="CC00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CC0000"/>
                </a:solidFill>
                <a:latin typeface="Verdana"/>
                <a:cs typeface="Verdana"/>
              </a:rPr>
              <a:t>(T)</a:t>
            </a:r>
            <a:r>
              <a:rPr sz="2000" b="1" spc="-30" dirty="0">
                <a:solidFill>
                  <a:srgbClr val="CC00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CC0000"/>
                </a:solidFill>
                <a:latin typeface="Verdana"/>
                <a:cs typeface="Verdana"/>
              </a:rPr>
              <a:t>=</a:t>
            </a:r>
            <a:r>
              <a:rPr sz="2000" b="1" spc="-35" dirty="0">
                <a:solidFill>
                  <a:srgbClr val="CC00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CC0000"/>
                </a:solidFill>
                <a:latin typeface="Verdana"/>
                <a:cs typeface="Verdana"/>
              </a:rPr>
              <a:t>Log(A)</a:t>
            </a:r>
            <a:r>
              <a:rPr sz="2000" b="1" spc="-30" dirty="0">
                <a:solidFill>
                  <a:srgbClr val="CC00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CC0000"/>
                </a:solidFill>
                <a:latin typeface="Verdana"/>
                <a:cs typeface="Verdana"/>
              </a:rPr>
              <a:t>–</a:t>
            </a:r>
            <a:r>
              <a:rPr sz="2000" b="1" spc="-35" dirty="0">
                <a:solidFill>
                  <a:srgbClr val="CC0000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CC0000"/>
                </a:solidFill>
                <a:latin typeface="Verdana"/>
                <a:cs typeface="Verdana"/>
              </a:rPr>
              <a:t>Log(1/β</a:t>
            </a:r>
            <a:r>
              <a:rPr sz="2000" spc="-10" dirty="0">
                <a:solidFill>
                  <a:srgbClr val="CC0000"/>
                </a:solidFill>
                <a:latin typeface="Verdana"/>
                <a:cs typeface="Verdana"/>
              </a:rPr>
              <a:t>)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82081" y="2898885"/>
            <a:ext cx="379222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Verdana"/>
                <a:cs typeface="Verdana"/>
              </a:rPr>
              <a:t>Use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above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equation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plot: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82055" y="3203380"/>
            <a:ext cx="5824855" cy="173228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482600" indent="-469900">
              <a:lnSpc>
                <a:spcPct val="100000"/>
              </a:lnSpc>
              <a:spcBef>
                <a:spcPts val="58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Separately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plot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20Log(A)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20Log(1/β)</a:t>
            </a:r>
            <a:endParaRPr sz="2000">
              <a:latin typeface="Verdana"/>
              <a:cs typeface="Verdana"/>
            </a:endParaRPr>
          </a:p>
          <a:p>
            <a:pPr marL="482600" marR="469265" indent="-470534">
              <a:lnSpc>
                <a:spcPct val="100000"/>
              </a:lnSpc>
              <a:spcBef>
                <a:spcPts val="48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Loopgain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difference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curves,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unity </a:t>
            </a:r>
            <a:r>
              <a:rPr sz="2000" dirty="0">
                <a:latin typeface="Verdana"/>
                <a:cs typeface="Verdana"/>
              </a:rPr>
              <a:t>gain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where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lines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cross</a:t>
            </a:r>
            <a:endParaRPr sz="2000">
              <a:latin typeface="Verdana"/>
              <a:cs typeface="Verdana"/>
            </a:endParaRPr>
          </a:p>
          <a:p>
            <a:pPr marL="482600" marR="5080" indent="-470534">
              <a:lnSpc>
                <a:spcPct val="100000"/>
              </a:lnSpc>
              <a:spcBef>
                <a:spcPts val="48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For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stability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loopgain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needs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cross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unity </a:t>
            </a:r>
            <a:r>
              <a:rPr sz="2000" dirty="0">
                <a:latin typeface="Verdana"/>
                <a:cs typeface="Verdana"/>
              </a:rPr>
              <a:t>with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20dB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/decade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roll-</a:t>
            </a:r>
            <a:r>
              <a:rPr sz="2000" spc="-25" dirty="0">
                <a:latin typeface="Verdana"/>
                <a:cs typeface="Verdana"/>
              </a:rPr>
              <a:t>off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81938" y="1397762"/>
            <a:ext cx="429259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>
                <a:latin typeface="Verdana"/>
                <a:cs typeface="Verdana"/>
              </a:rPr>
              <a:t>Vin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02096" y="1672848"/>
            <a:ext cx="6019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Verdana"/>
                <a:cs typeface="Verdana"/>
              </a:rPr>
              <a:t>Vout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3089" y="1322832"/>
            <a:ext cx="2107692" cy="238277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171698" y="2704592"/>
            <a:ext cx="36449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>
                <a:latin typeface="Verdana"/>
                <a:cs typeface="Verdana"/>
              </a:rPr>
              <a:t>R2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57298" y="2927863"/>
            <a:ext cx="36449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>
                <a:latin typeface="Verdana"/>
                <a:cs typeface="Verdana"/>
              </a:rPr>
              <a:t>R1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668779" y="2411729"/>
            <a:ext cx="2067560" cy="1405890"/>
          </a:xfrm>
          <a:custGeom>
            <a:avLst/>
            <a:gdLst/>
            <a:ahLst/>
            <a:cxnLst/>
            <a:rect l="l" t="t" r="r" b="b"/>
            <a:pathLst>
              <a:path w="2067560" h="1405889">
                <a:moveTo>
                  <a:pt x="28956" y="1162050"/>
                </a:moveTo>
                <a:lnTo>
                  <a:pt x="28956" y="1047750"/>
                </a:lnTo>
                <a:lnTo>
                  <a:pt x="0" y="1047750"/>
                </a:lnTo>
                <a:lnTo>
                  <a:pt x="0" y="1162050"/>
                </a:lnTo>
                <a:lnTo>
                  <a:pt x="28956" y="1162050"/>
                </a:lnTo>
                <a:close/>
              </a:path>
              <a:path w="2067560" h="1405889">
                <a:moveTo>
                  <a:pt x="32004" y="1198626"/>
                </a:moveTo>
                <a:lnTo>
                  <a:pt x="31242" y="1194816"/>
                </a:lnTo>
                <a:lnTo>
                  <a:pt x="29718" y="1184148"/>
                </a:lnTo>
                <a:lnTo>
                  <a:pt x="28956" y="1172718"/>
                </a:lnTo>
                <a:lnTo>
                  <a:pt x="28956" y="1162050"/>
                </a:lnTo>
                <a:lnTo>
                  <a:pt x="3810" y="1162711"/>
                </a:lnTo>
                <a:lnTo>
                  <a:pt x="0" y="1162812"/>
                </a:lnTo>
                <a:lnTo>
                  <a:pt x="1524" y="1187196"/>
                </a:lnTo>
                <a:lnTo>
                  <a:pt x="3048" y="1200150"/>
                </a:lnTo>
                <a:lnTo>
                  <a:pt x="3810" y="1203198"/>
                </a:lnTo>
                <a:lnTo>
                  <a:pt x="31242" y="1198749"/>
                </a:lnTo>
                <a:lnTo>
                  <a:pt x="32004" y="1198626"/>
                </a:lnTo>
                <a:close/>
              </a:path>
              <a:path w="2067560" h="1405889">
                <a:moveTo>
                  <a:pt x="28956" y="962406"/>
                </a:moveTo>
                <a:lnTo>
                  <a:pt x="28956" y="848106"/>
                </a:lnTo>
                <a:lnTo>
                  <a:pt x="0" y="848106"/>
                </a:lnTo>
                <a:lnTo>
                  <a:pt x="0" y="962406"/>
                </a:lnTo>
                <a:lnTo>
                  <a:pt x="28956" y="962406"/>
                </a:lnTo>
                <a:close/>
              </a:path>
              <a:path w="2067560" h="1405889">
                <a:moveTo>
                  <a:pt x="28956" y="762000"/>
                </a:moveTo>
                <a:lnTo>
                  <a:pt x="28956" y="647700"/>
                </a:lnTo>
                <a:lnTo>
                  <a:pt x="0" y="647700"/>
                </a:lnTo>
                <a:lnTo>
                  <a:pt x="0" y="762000"/>
                </a:lnTo>
                <a:lnTo>
                  <a:pt x="28956" y="762000"/>
                </a:lnTo>
                <a:close/>
              </a:path>
              <a:path w="2067560" h="1405889">
                <a:moveTo>
                  <a:pt x="28956" y="562356"/>
                </a:moveTo>
                <a:lnTo>
                  <a:pt x="28956" y="448056"/>
                </a:lnTo>
                <a:lnTo>
                  <a:pt x="0" y="448056"/>
                </a:lnTo>
                <a:lnTo>
                  <a:pt x="0" y="562356"/>
                </a:lnTo>
                <a:lnTo>
                  <a:pt x="28956" y="562356"/>
                </a:lnTo>
                <a:close/>
              </a:path>
              <a:path w="2067560" h="1405889">
                <a:moveTo>
                  <a:pt x="28956" y="361950"/>
                </a:moveTo>
                <a:lnTo>
                  <a:pt x="28956" y="248412"/>
                </a:lnTo>
                <a:lnTo>
                  <a:pt x="0" y="248412"/>
                </a:lnTo>
                <a:lnTo>
                  <a:pt x="0" y="361950"/>
                </a:lnTo>
                <a:lnTo>
                  <a:pt x="28956" y="361950"/>
                </a:lnTo>
                <a:close/>
              </a:path>
              <a:path w="2067560" h="1405889">
                <a:moveTo>
                  <a:pt x="102107" y="81534"/>
                </a:moveTo>
                <a:lnTo>
                  <a:pt x="83819" y="60198"/>
                </a:lnTo>
                <a:lnTo>
                  <a:pt x="80009" y="63246"/>
                </a:lnTo>
                <a:lnTo>
                  <a:pt x="63245" y="80010"/>
                </a:lnTo>
                <a:lnTo>
                  <a:pt x="35813" y="117348"/>
                </a:lnTo>
                <a:lnTo>
                  <a:pt x="15239" y="158496"/>
                </a:lnTo>
                <a:lnTo>
                  <a:pt x="41909" y="169164"/>
                </a:lnTo>
                <a:lnTo>
                  <a:pt x="45719" y="159258"/>
                </a:lnTo>
                <a:lnTo>
                  <a:pt x="54863" y="140970"/>
                </a:lnTo>
                <a:lnTo>
                  <a:pt x="65531" y="122682"/>
                </a:lnTo>
                <a:lnTo>
                  <a:pt x="71627" y="114300"/>
                </a:lnTo>
                <a:lnTo>
                  <a:pt x="92201" y="91440"/>
                </a:lnTo>
                <a:lnTo>
                  <a:pt x="102107" y="81534"/>
                </a:lnTo>
                <a:close/>
              </a:path>
              <a:path w="2067560" h="1405889">
                <a:moveTo>
                  <a:pt x="278892" y="28194"/>
                </a:moveTo>
                <a:lnTo>
                  <a:pt x="278892" y="0"/>
                </a:lnTo>
                <a:lnTo>
                  <a:pt x="231647" y="0"/>
                </a:lnTo>
                <a:lnTo>
                  <a:pt x="182880" y="7620"/>
                </a:lnTo>
                <a:lnTo>
                  <a:pt x="162306" y="13716"/>
                </a:lnTo>
                <a:lnTo>
                  <a:pt x="170687" y="41148"/>
                </a:lnTo>
                <a:lnTo>
                  <a:pt x="190500" y="35052"/>
                </a:lnTo>
                <a:lnTo>
                  <a:pt x="211836" y="30480"/>
                </a:lnTo>
                <a:lnTo>
                  <a:pt x="231647" y="29064"/>
                </a:lnTo>
                <a:lnTo>
                  <a:pt x="244601" y="28194"/>
                </a:lnTo>
                <a:lnTo>
                  <a:pt x="278892" y="28194"/>
                </a:lnTo>
                <a:close/>
              </a:path>
              <a:path w="2067560" h="1405889">
                <a:moveTo>
                  <a:pt x="479297" y="28194"/>
                </a:moveTo>
                <a:lnTo>
                  <a:pt x="479297" y="0"/>
                </a:lnTo>
                <a:lnTo>
                  <a:pt x="364997" y="0"/>
                </a:lnTo>
                <a:lnTo>
                  <a:pt x="364997" y="28194"/>
                </a:lnTo>
                <a:lnTo>
                  <a:pt x="479297" y="28194"/>
                </a:lnTo>
                <a:close/>
              </a:path>
              <a:path w="2067560" h="1405889">
                <a:moveTo>
                  <a:pt x="678942" y="28194"/>
                </a:moveTo>
                <a:lnTo>
                  <a:pt x="678942" y="0"/>
                </a:lnTo>
                <a:lnTo>
                  <a:pt x="564642" y="0"/>
                </a:lnTo>
                <a:lnTo>
                  <a:pt x="564642" y="28194"/>
                </a:lnTo>
                <a:lnTo>
                  <a:pt x="678942" y="28194"/>
                </a:lnTo>
                <a:close/>
              </a:path>
              <a:path w="2067560" h="1405889">
                <a:moveTo>
                  <a:pt x="879347" y="28194"/>
                </a:moveTo>
                <a:lnTo>
                  <a:pt x="879347" y="0"/>
                </a:lnTo>
                <a:lnTo>
                  <a:pt x="765047" y="0"/>
                </a:lnTo>
                <a:lnTo>
                  <a:pt x="765047" y="28194"/>
                </a:lnTo>
                <a:lnTo>
                  <a:pt x="879347" y="28194"/>
                </a:lnTo>
                <a:close/>
              </a:path>
              <a:path w="2067560" h="1405889">
                <a:moveTo>
                  <a:pt x="1078992" y="28194"/>
                </a:moveTo>
                <a:lnTo>
                  <a:pt x="1078992" y="0"/>
                </a:lnTo>
                <a:lnTo>
                  <a:pt x="964692" y="0"/>
                </a:lnTo>
                <a:lnTo>
                  <a:pt x="964692" y="28194"/>
                </a:lnTo>
                <a:lnTo>
                  <a:pt x="1078992" y="28194"/>
                </a:lnTo>
                <a:close/>
              </a:path>
              <a:path w="2067560" h="1405889">
                <a:moveTo>
                  <a:pt x="1279397" y="28193"/>
                </a:moveTo>
                <a:lnTo>
                  <a:pt x="1279397" y="0"/>
                </a:lnTo>
                <a:lnTo>
                  <a:pt x="1165097" y="0"/>
                </a:lnTo>
                <a:lnTo>
                  <a:pt x="1165097" y="28194"/>
                </a:lnTo>
                <a:lnTo>
                  <a:pt x="1279397" y="28193"/>
                </a:lnTo>
                <a:close/>
              </a:path>
              <a:path w="2067560" h="1405889">
                <a:moveTo>
                  <a:pt x="1479042" y="28193"/>
                </a:moveTo>
                <a:lnTo>
                  <a:pt x="1479042" y="0"/>
                </a:lnTo>
                <a:lnTo>
                  <a:pt x="1364742" y="0"/>
                </a:lnTo>
                <a:lnTo>
                  <a:pt x="1364742" y="28193"/>
                </a:lnTo>
                <a:lnTo>
                  <a:pt x="1479042" y="28193"/>
                </a:lnTo>
                <a:close/>
              </a:path>
              <a:path w="2067560" h="1405889">
                <a:moveTo>
                  <a:pt x="1679447" y="28193"/>
                </a:moveTo>
                <a:lnTo>
                  <a:pt x="1679447" y="0"/>
                </a:lnTo>
                <a:lnTo>
                  <a:pt x="1565147" y="0"/>
                </a:lnTo>
                <a:lnTo>
                  <a:pt x="1565147" y="28193"/>
                </a:lnTo>
                <a:lnTo>
                  <a:pt x="1679447" y="28193"/>
                </a:lnTo>
                <a:close/>
              </a:path>
              <a:path w="2067560" h="1405889">
                <a:moveTo>
                  <a:pt x="1882140" y="6857"/>
                </a:moveTo>
                <a:lnTo>
                  <a:pt x="1872233" y="4571"/>
                </a:lnTo>
                <a:lnTo>
                  <a:pt x="1860042" y="2286"/>
                </a:lnTo>
                <a:lnTo>
                  <a:pt x="1847849" y="762"/>
                </a:lnTo>
                <a:lnTo>
                  <a:pt x="1835658" y="0"/>
                </a:lnTo>
                <a:lnTo>
                  <a:pt x="1764792" y="0"/>
                </a:lnTo>
                <a:lnTo>
                  <a:pt x="1764792" y="28193"/>
                </a:lnTo>
                <a:lnTo>
                  <a:pt x="1823466" y="28193"/>
                </a:lnTo>
                <a:lnTo>
                  <a:pt x="1846325" y="29718"/>
                </a:lnTo>
                <a:lnTo>
                  <a:pt x="1867661" y="32765"/>
                </a:lnTo>
                <a:lnTo>
                  <a:pt x="1875282" y="35051"/>
                </a:lnTo>
                <a:lnTo>
                  <a:pt x="1882140" y="6857"/>
                </a:lnTo>
                <a:close/>
              </a:path>
              <a:path w="2067560" h="1405889">
                <a:moveTo>
                  <a:pt x="2042159" y="135636"/>
                </a:moveTo>
                <a:lnTo>
                  <a:pt x="2037587" y="127253"/>
                </a:lnTo>
                <a:lnTo>
                  <a:pt x="2032254" y="116586"/>
                </a:lnTo>
                <a:lnTo>
                  <a:pt x="2025395" y="107442"/>
                </a:lnTo>
                <a:lnTo>
                  <a:pt x="1995678" y="70865"/>
                </a:lnTo>
                <a:lnTo>
                  <a:pt x="1964435" y="44195"/>
                </a:lnTo>
                <a:lnTo>
                  <a:pt x="1947671" y="67818"/>
                </a:lnTo>
                <a:lnTo>
                  <a:pt x="1953006" y="71627"/>
                </a:lnTo>
                <a:lnTo>
                  <a:pt x="1960625" y="77724"/>
                </a:lnTo>
                <a:lnTo>
                  <a:pt x="1990344" y="106680"/>
                </a:lnTo>
                <a:lnTo>
                  <a:pt x="2013204" y="141731"/>
                </a:lnTo>
                <a:lnTo>
                  <a:pt x="2017014" y="148589"/>
                </a:lnTo>
                <a:lnTo>
                  <a:pt x="2042159" y="135636"/>
                </a:lnTo>
                <a:close/>
              </a:path>
              <a:path w="2067560" h="1405889">
                <a:moveTo>
                  <a:pt x="2067306" y="338327"/>
                </a:moveTo>
                <a:lnTo>
                  <a:pt x="2067306" y="230886"/>
                </a:lnTo>
                <a:lnTo>
                  <a:pt x="2066544" y="223265"/>
                </a:lnTo>
                <a:lnTo>
                  <a:pt x="2039111" y="225490"/>
                </a:lnTo>
                <a:lnTo>
                  <a:pt x="2038349" y="225551"/>
                </a:lnTo>
                <a:lnTo>
                  <a:pt x="2038349" y="233171"/>
                </a:lnTo>
                <a:lnTo>
                  <a:pt x="2039111" y="243839"/>
                </a:lnTo>
                <a:lnTo>
                  <a:pt x="2039111" y="338327"/>
                </a:lnTo>
                <a:lnTo>
                  <a:pt x="2067306" y="338327"/>
                </a:lnTo>
                <a:close/>
              </a:path>
              <a:path w="2067560" h="1405889">
                <a:moveTo>
                  <a:pt x="2067306" y="538733"/>
                </a:moveTo>
                <a:lnTo>
                  <a:pt x="2067306" y="424433"/>
                </a:lnTo>
                <a:lnTo>
                  <a:pt x="2039111" y="424433"/>
                </a:lnTo>
                <a:lnTo>
                  <a:pt x="2039111" y="538733"/>
                </a:lnTo>
                <a:lnTo>
                  <a:pt x="2067306" y="538733"/>
                </a:lnTo>
                <a:close/>
              </a:path>
              <a:path w="2067560" h="1405889">
                <a:moveTo>
                  <a:pt x="2067306" y="738377"/>
                </a:moveTo>
                <a:lnTo>
                  <a:pt x="2067306" y="624077"/>
                </a:lnTo>
                <a:lnTo>
                  <a:pt x="2039111" y="624077"/>
                </a:lnTo>
                <a:lnTo>
                  <a:pt x="2039111" y="738377"/>
                </a:lnTo>
                <a:lnTo>
                  <a:pt x="2067306" y="738377"/>
                </a:lnTo>
                <a:close/>
              </a:path>
              <a:path w="2067560" h="1405889">
                <a:moveTo>
                  <a:pt x="2067306" y="938784"/>
                </a:moveTo>
                <a:lnTo>
                  <a:pt x="2067306" y="824483"/>
                </a:lnTo>
                <a:lnTo>
                  <a:pt x="2039111" y="824483"/>
                </a:lnTo>
                <a:lnTo>
                  <a:pt x="2039111" y="938784"/>
                </a:lnTo>
                <a:lnTo>
                  <a:pt x="2067306" y="938784"/>
                </a:lnTo>
                <a:close/>
              </a:path>
              <a:path w="2067560" h="1405889">
                <a:moveTo>
                  <a:pt x="2067306" y="1138428"/>
                </a:moveTo>
                <a:lnTo>
                  <a:pt x="2067306" y="1024128"/>
                </a:lnTo>
                <a:lnTo>
                  <a:pt x="2039111" y="1024128"/>
                </a:lnTo>
                <a:lnTo>
                  <a:pt x="2039111" y="1138428"/>
                </a:lnTo>
                <a:lnTo>
                  <a:pt x="2067306" y="1138428"/>
                </a:lnTo>
                <a:close/>
              </a:path>
              <a:path w="2067560" h="1405889">
                <a:moveTo>
                  <a:pt x="2058923" y="1227582"/>
                </a:moveTo>
                <a:lnTo>
                  <a:pt x="2031492" y="1219962"/>
                </a:lnTo>
                <a:lnTo>
                  <a:pt x="2029206" y="1226820"/>
                </a:lnTo>
                <a:lnTo>
                  <a:pt x="2026158" y="1236726"/>
                </a:lnTo>
                <a:lnTo>
                  <a:pt x="2021585" y="1246632"/>
                </a:lnTo>
                <a:lnTo>
                  <a:pt x="2001773" y="1283208"/>
                </a:lnTo>
                <a:lnTo>
                  <a:pt x="1978152" y="1312164"/>
                </a:lnTo>
                <a:lnTo>
                  <a:pt x="1999487" y="1331214"/>
                </a:lnTo>
                <a:lnTo>
                  <a:pt x="2004059" y="1325880"/>
                </a:lnTo>
                <a:lnTo>
                  <a:pt x="2012442" y="1317498"/>
                </a:lnTo>
                <a:lnTo>
                  <a:pt x="2019299" y="1308354"/>
                </a:lnTo>
                <a:lnTo>
                  <a:pt x="2043683" y="1267968"/>
                </a:lnTo>
                <a:lnTo>
                  <a:pt x="2052828" y="1245870"/>
                </a:lnTo>
                <a:lnTo>
                  <a:pt x="2058923" y="1227582"/>
                </a:lnTo>
                <a:close/>
              </a:path>
              <a:path w="2067560" h="1405889">
                <a:moveTo>
                  <a:pt x="1925573" y="1383792"/>
                </a:moveTo>
                <a:lnTo>
                  <a:pt x="1913382" y="1357884"/>
                </a:lnTo>
                <a:lnTo>
                  <a:pt x="1907285" y="1360932"/>
                </a:lnTo>
                <a:lnTo>
                  <a:pt x="1897380" y="1364742"/>
                </a:lnTo>
                <a:lnTo>
                  <a:pt x="1856232" y="1375410"/>
                </a:lnTo>
                <a:lnTo>
                  <a:pt x="1834133" y="1377696"/>
                </a:lnTo>
                <a:lnTo>
                  <a:pt x="1808225" y="1377696"/>
                </a:lnTo>
                <a:lnTo>
                  <a:pt x="1808225" y="1405890"/>
                </a:lnTo>
                <a:lnTo>
                  <a:pt x="1836420" y="1405890"/>
                </a:lnTo>
                <a:lnTo>
                  <a:pt x="1848611" y="1405128"/>
                </a:lnTo>
                <a:lnTo>
                  <a:pt x="1896618" y="1395222"/>
                </a:lnTo>
                <a:lnTo>
                  <a:pt x="1918716" y="1386840"/>
                </a:lnTo>
                <a:lnTo>
                  <a:pt x="1925573" y="1383792"/>
                </a:lnTo>
                <a:close/>
              </a:path>
              <a:path w="2067560" h="1405889">
                <a:moveTo>
                  <a:pt x="1722120" y="1405890"/>
                </a:moveTo>
                <a:lnTo>
                  <a:pt x="1722120" y="1377696"/>
                </a:lnTo>
                <a:lnTo>
                  <a:pt x="1607820" y="1377696"/>
                </a:lnTo>
                <a:lnTo>
                  <a:pt x="1607820" y="1405890"/>
                </a:lnTo>
                <a:lnTo>
                  <a:pt x="1722120" y="1405890"/>
                </a:lnTo>
                <a:close/>
              </a:path>
              <a:path w="2067560" h="1405889">
                <a:moveTo>
                  <a:pt x="1522476" y="1405890"/>
                </a:moveTo>
                <a:lnTo>
                  <a:pt x="1522476" y="1377696"/>
                </a:lnTo>
                <a:lnTo>
                  <a:pt x="1408176" y="1377696"/>
                </a:lnTo>
                <a:lnTo>
                  <a:pt x="1408176" y="1405890"/>
                </a:lnTo>
                <a:lnTo>
                  <a:pt x="1522476" y="1405890"/>
                </a:lnTo>
                <a:close/>
              </a:path>
              <a:path w="2067560" h="1405889">
                <a:moveTo>
                  <a:pt x="1322070" y="1405890"/>
                </a:moveTo>
                <a:lnTo>
                  <a:pt x="1322070" y="1377696"/>
                </a:lnTo>
                <a:lnTo>
                  <a:pt x="1207770" y="1377696"/>
                </a:lnTo>
                <a:lnTo>
                  <a:pt x="1207770" y="1405890"/>
                </a:lnTo>
                <a:lnTo>
                  <a:pt x="1322070" y="1405890"/>
                </a:lnTo>
                <a:close/>
              </a:path>
              <a:path w="2067560" h="1405889">
                <a:moveTo>
                  <a:pt x="1122426" y="1405890"/>
                </a:moveTo>
                <a:lnTo>
                  <a:pt x="1122426" y="1377696"/>
                </a:lnTo>
                <a:lnTo>
                  <a:pt x="1008126" y="1377696"/>
                </a:lnTo>
                <a:lnTo>
                  <a:pt x="1008126" y="1405890"/>
                </a:lnTo>
                <a:lnTo>
                  <a:pt x="1122426" y="1405890"/>
                </a:lnTo>
                <a:close/>
              </a:path>
              <a:path w="2067560" h="1405889">
                <a:moveTo>
                  <a:pt x="922782" y="1405890"/>
                </a:moveTo>
                <a:lnTo>
                  <a:pt x="922782" y="1377696"/>
                </a:lnTo>
                <a:lnTo>
                  <a:pt x="808482" y="1377696"/>
                </a:lnTo>
                <a:lnTo>
                  <a:pt x="808482" y="1405890"/>
                </a:lnTo>
                <a:lnTo>
                  <a:pt x="922782" y="1405890"/>
                </a:lnTo>
                <a:close/>
              </a:path>
              <a:path w="2067560" h="1405889">
                <a:moveTo>
                  <a:pt x="722376" y="1405890"/>
                </a:moveTo>
                <a:lnTo>
                  <a:pt x="722376" y="1377696"/>
                </a:lnTo>
                <a:lnTo>
                  <a:pt x="608076" y="1377696"/>
                </a:lnTo>
                <a:lnTo>
                  <a:pt x="608076" y="1405890"/>
                </a:lnTo>
                <a:lnTo>
                  <a:pt x="722376" y="1405890"/>
                </a:lnTo>
                <a:close/>
              </a:path>
              <a:path w="2067560" h="1405889">
                <a:moveTo>
                  <a:pt x="522732" y="1405890"/>
                </a:moveTo>
                <a:lnTo>
                  <a:pt x="522732" y="1377696"/>
                </a:lnTo>
                <a:lnTo>
                  <a:pt x="408432" y="1377696"/>
                </a:lnTo>
                <a:lnTo>
                  <a:pt x="408432" y="1405890"/>
                </a:lnTo>
                <a:lnTo>
                  <a:pt x="522732" y="1405890"/>
                </a:lnTo>
                <a:close/>
              </a:path>
              <a:path w="2067560" h="1405889">
                <a:moveTo>
                  <a:pt x="322326" y="1405890"/>
                </a:moveTo>
                <a:lnTo>
                  <a:pt x="322326" y="1377696"/>
                </a:lnTo>
                <a:lnTo>
                  <a:pt x="232410" y="1377696"/>
                </a:lnTo>
                <a:lnTo>
                  <a:pt x="221742" y="1376172"/>
                </a:lnTo>
                <a:lnTo>
                  <a:pt x="211074" y="1375410"/>
                </a:lnTo>
                <a:lnTo>
                  <a:pt x="211074" y="1374648"/>
                </a:lnTo>
                <a:lnTo>
                  <a:pt x="205740" y="1402842"/>
                </a:lnTo>
                <a:lnTo>
                  <a:pt x="207264" y="1403604"/>
                </a:lnTo>
                <a:lnTo>
                  <a:pt x="219456" y="1405128"/>
                </a:lnTo>
                <a:lnTo>
                  <a:pt x="232410" y="1405890"/>
                </a:lnTo>
                <a:lnTo>
                  <a:pt x="322326" y="1405890"/>
                </a:lnTo>
                <a:close/>
              </a:path>
              <a:path w="2067560" h="1405889">
                <a:moveTo>
                  <a:pt x="134874" y="1347978"/>
                </a:moveTo>
                <a:lnTo>
                  <a:pt x="123444" y="1340358"/>
                </a:lnTo>
                <a:lnTo>
                  <a:pt x="115062" y="1335024"/>
                </a:lnTo>
                <a:lnTo>
                  <a:pt x="106680" y="1328166"/>
                </a:lnTo>
                <a:lnTo>
                  <a:pt x="91440" y="1314450"/>
                </a:lnTo>
                <a:lnTo>
                  <a:pt x="77724" y="1299210"/>
                </a:lnTo>
                <a:lnTo>
                  <a:pt x="65532" y="1282446"/>
                </a:lnTo>
                <a:lnTo>
                  <a:pt x="60198" y="1274064"/>
                </a:lnTo>
                <a:lnTo>
                  <a:pt x="35052" y="1287780"/>
                </a:lnTo>
                <a:lnTo>
                  <a:pt x="64008" y="1326642"/>
                </a:lnTo>
                <a:lnTo>
                  <a:pt x="98298" y="1357884"/>
                </a:lnTo>
                <a:lnTo>
                  <a:pt x="121158" y="1372362"/>
                </a:lnTo>
                <a:lnTo>
                  <a:pt x="134874" y="1347978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868612" y="4035137"/>
            <a:ext cx="4099560" cy="1958975"/>
            <a:chOff x="868612" y="4035137"/>
            <a:chExt cx="4099560" cy="195897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8612" y="4035137"/>
              <a:ext cx="4098933" cy="195840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845814" y="5769101"/>
              <a:ext cx="405130" cy="224790"/>
            </a:xfrm>
            <a:custGeom>
              <a:avLst/>
              <a:gdLst/>
              <a:ahLst/>
              <a:cxnLst/>
              <a:rect l="l" t="t" r="r" b="b"/>
              <a:pathLst>
                <a:path w="405129" h="224789">
                  <a:moveTo>
                    <a:pt x="404622" y="224789"/>
                  </a:moveTo>
                  <a:lnTo>
                    <a:pt x="404622" y="0"/>
                  </a:lnTo>
                  <a:lnTo>
                    <a:pt x="0" y="0"/>
                  </a:lnTo>
                  <a:lnTo>
                    <a:pt x="0" y="224789"/>
                  </a:lnTo>
                  <a:lnTo>
                    <a:pt x="404622" y="224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474973" y="3410203"/>
            <a:ext cx="15494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solidFill>
                  <a:srgbClr val="0000FF"/>
                </a:solidFill>
                <a:latin typeface="Times New Roman"/>
                <a:cs typeface="Times New Roman"/>
              </a:rPr>
              <a:t>β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91794" y="6276791"/>
            <a:ext cx="219075" cy="2108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25" dirty="0">
                <a:latin typeface="Verdana"/>
                <a:cs typeface="Verdana"/>
              </a:rPr>
              <a:t>19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50F236B4-457B-4B93-993E-FA82E43814D1}" type="datetime1">
              <a:rPr lang="en-US" spc="-10" smtClean="0"/>
              <a:t>8/17/2026</a:t>
            </a:fld>
            <a:endParaRPr lang="en-US" spc="-10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462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lang="en-US" spc="-50" smtClean="0"/>
              <a:t>18</a:t>
            </a:fld>
            <a:endParaRPr lang="en-US" spc="-50" dirty="0"/>
          </a:p>
        </p:txBody>
      </p:sp>
      <p:sp>
        <p:nvSpPr>
          <p:cNvPr id="20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9903" y="4059123"/>
            <a:ext cx="481012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25000"/>
              </a:lnSpc>
              <a:spcBef>
                <a:spcPts val="100"/>
              </a:spcBef>
            </a:pPr>
            <a:r>
              <a:rPr sz="2000" dirty="0">
                <a:latin typeface="Verdana"/>
                <a:cs typeface="Verdana"/>
              </a:rPr>
              <a:t>r</a:t>
            </a:r>
            <a:r>
              <a:rPr sz="1950" baseline="-21367" dirty="0">
                <a:latin typeface="Verdana"/>
                <a:cs typeface="Verdana"/>
              </a:rPr>
              <a:t>D</a:t>
            </a:r>
            <a:r>
              <a:rPr sz="1950" spc="330" baseline="-21367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=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1/gm of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Q</a:t>
            </a:r>
            <a:r>
              <a:rPr sz="1950" baseline="-21367" dirty="0">
                <a:latin typeface="Verdana"/>
                <a:cs typeface="Verdana"/>
              </a:rPr>
              <a:t>D</a:t>
            </a:r>
            <a:r>
              <a:rPr sz="1950" spc="337" baseline="-21367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(current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dependent) 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1950" baseline="-21367" dirty="0">
                <a:latin typeface="Verdana"/>
                <a:cs typeface="Verdana"/>
              </a:rPr>
              <a:t>D</a:t>
            </a:r>
            <a:r>
              <a:rPr sz="1950" spc="292" baseline="-21367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=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parasitic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diode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capacitance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dirty="0"/>
              <a:t>Op</a:t>
            </a:r>
            <a:r>
              <a:rPr spc="-40" dirty="0"/>
              <a:t> </a:t>
            </a:r>
            <a:r>
              <a:rPr dirty="0"/>
              <a:t>amp</a:t>
            </a:r>
            <a:r>
              <a:rPr spc="-35" dirty="0"/>
              <a:t> </a:t>
            </a:r>
            <a:r>
              <a:rPr dirty="0"/>
              <a:t>Feedback</a:t>
            </a:r>
            <a:r>
              <a:rPr spc="-40" dirty="0"/>
              <a:t> </a:t>
            </a:r>
            <a:r>
              <a:rPr dirty="0"/>
              <a:t>Stability: Graphical</a:t>
            </a:r>
            <a:r>
              <a:rPr spc="-20" dirty="0"/>
              <a:t> </a:t>
            </a:r>
            <a:r>
              <a:rPr spc="-10" dirty="0"/>
              <a:t>Method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055717" y="1558636"/>
            <a:ext cx="3916045" cy="2195195"/>
            <a:chOff x="1055717" y="1558636"/>
            <a:chExt cx="3916045" cy="21951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5717" y="1558636"/>
              <a:ext cx="3915985" cy="219462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90771" y="1787652"/>
              <a:ext cx="215645" cy="132587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600955" y="2176525"/>
            <a:ext cx="38417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spc="-25" dirty="0">
                <a:latin typeface="Verdana"/>
                <a:cs typeface="Verdana"/>
              </a:rPr>
              <a:t>C</a:t>
            </a:r>
            <a:r>
              <a:rPr sz="1950" spc="-37" baseline="-21367" dirty="0">
                <a:latin typeface="Verdana"/>
                <a:cs typeface="Verdana"/>
              </a:rPr>
              <a:t>D</a:t>
            </a:r>
            <a:endParaRPr sz="1950" baseline="-21367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00955" y="1220977"/>
            <a:ext cx="3149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spc="-25" dirty="0">
                <a:latin typeface="Verdana"/>
                <a:cs typeface="Verdana"/>
              </a:rPr>
              <a:t>r</a:t>
            </a:r>
            <a:r>
              <a:rPr sz="1950" spc="-37" baseline="-21367" dirty="0">
                <a:latin typeface="Verdana"/>
                <a:cs typeface="Verdana"/>
              </a:rPr>
              <a:t>D</a:t>
            </a:r>
            <a:endParaRPr sz="1950" baseline="-21367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84170" y="1531874"/>
            <a:ext cx="406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spc="-25" dirty="0">
                <a:latin typeface="Verdana"/>
                <a:cs typeface="Verdana"/>
              </a:rPr>
              <a:t>Q</a:t>
            </a:r>
            <a:r>
              <a:rPr sz="1950" spc="-37" baseline="-21367" dirty="0">
                <a:latin typeface="Verdana"/>
                <a:cs typeface="Verdana"/>
              </a:rPr>
              <a:t>D</a:t>
            </a:r>
            <a:endParaRPr sz="1950" baseline="-21367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82089" y="3140456"/>
            <a:ext cx="4508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3000" spc="-37" baseline="13888" dirty="0">
                <a:latin typeface="Verdana"/>
                <a:cs typeface="Verdana"/>
              </a:rPr>
              <a:t>C</a:t>
            </a:r>
            <a:r>
              <a:rPr sz="1300" spc="-25" dirty="0">
                <a:latin typeface="Verdana"/>
                <a:cs typeface="Verdana"/>
              </a:rPr>
              <a:t>IN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06322" y="5546852"/>
            <a:ext cx="114300" cy="2260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00" spc="15" dirty="0">
                <a:latin typeface="Cambria Math"/>
                <a:cs typeface="Cambria Math"/>
              </a:rPr>
              <a:t>𝑧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25550" y="5438647"/>
            <a:ext cx="4425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𝑓</a:t>
            </a:r>
            <a:r>
              <a:rPr sz="1800" spc="75" dirty="0">
                <a:latin typeface="Cambria Math"/>
                <a:cs typeface="Cambria Math"/>
              </a:rPr>
              <a:t>  </a:t>
            </a:r>
            <a:r>
              <a:rPr sz="1800" spc="-5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32550" y="5265666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80956" y="5591810"/>
            <a:ext cx="16052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2𝜋𝑟</a:t>
            </a:r>
            <a:r>
              <a:rPr sz="1950" baseline="-14957" dirty="0">
                <a:latin typeface="Cambria Math"/>
                <a:cs typeface="Cambria Math"/>
              </a:rPr>
              <a:t>𝐷</a:t>
            </a:r>
            <a:r>
              <a:rPr sz="1800" dirty="0">
                <a:latin typeface="Cambria Math"/>
                <a:cs typeface="Cambria Math"/>
              </a:rPr>
              <a:t>(𝐶</a:t>
            </a:r>
            <a:r>
              <a:rPr sz="1950" baseline="-14957" dirty="0">
                <a:latin typeface="Cambria Math"/>
                <a:cs typeface="Cambria Math"/>
              </a:rPr>
              <a:t>𝐷</a:t>
            </a:r>
            <a:r>
              <a:rPr sz="1950" spc="172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</a:t>
            </a:r>
            <a:r>
              <a:rPr sz="1800" spc="-65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𝐶</a:t>
            </a:r>
            <a:r>
              <a:rPr sz="1950" spc="-30" baseline="-14957" dirty="0">
                <a:latin typeface="Cambria Math"/>
                <a:cs typeface="Cambria Math"/>
              </a:rPr>
              <a:t>𝐼𝑁</a:t>
            </a:r>
            <a:r>
              <a:rPr sz="1800" spc="-20" dirty="0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718310" y="5606796"/>
            <a:ext cx="1579880" cy="14604"/>
          </a:xfrm>
          <a:custGeom>
            <a:avLst/>
            <a:gdLst/>
            <a:ahLst/>
            <a:cxnLst/>
            <a:rect l="l" t="t" r="r" b="b"/>
            <a:pathLst>
              <a:path w="1579879" h="14604">
                <a:moveTo>
                  <a:pt x="0" y="14477"/>
                </a:moveTo>
                <a:lnTo>
                  <a:pt x="0" y="0"/>
                </a:lnTo>
                <a:lnTo>
                  <a:pt x="1579625" y="0"/>
                </a:lnTo>
                <a:lnTo>
                  <a:pt x="1579625" y="14477"/>
                </a:lnTo>
                <a:lnTo>
                  <a:pt x="0" y="144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028947" y="5548376"/>
            <a:ext cx="130810" cy="2260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00" spc="50" dirty="0">
                <a:latin typeface="Cambria Math"/>
                <a:cs typeface="Cambria Math"/>
              </a:rPr>
              <a:t>𝑝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48176" y="5440172"/>
            <a:ext cx="456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2415" algn="l"/>
              </a:tabLst>
            </a:pPr>
            <a:r>
              <a:rPr sz="1800" spc="-50" dirty="0">
                <a:latin typeface="Cambria Math"/>
                <a:cs typeface="Cambria Math"/>
              </a:rPr>
              <a:t>𝑓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18076" y="5215366"/>
            <a:ext cx="800735" cy="67818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63500" algn="ctr">
              <a:lnSpc>
                <a:spcPct val="100000"/>
              </a:lnSpc>
              <a:spcBef>
                <a:spcPts val="505"/>
              </a:spcBef>
            </a:pPr>
            <a:r>
              <a:rPr sz="1800" spc="-5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409"/>
              </a:spcBef>
            </a:pPr>
            <a:r>
              <a:rPr sz="1800" spc="-10" dirty="0">
                <a:latin typeface="Cambria Math"/>
                <a:cs typeface="Cambria Math"/>
              </a:rPr>
              <a:t>2𝜋𝑟</a:t>
            </a:r>
            <a:r>
              <a:rPr sz="1950" spc="-15" baseline="-14957" dirty="0">
                <a:latin typeface="Cambria Math"/>
                <a:cs typeface="Cambria Math"/>
              </a:rPr>
              <a:t>𝐷</a:t>
            </a:r>
            <a:r>
              <a:rPr sz="1800" spc="-10" dirty="0">
                <a:latin typeface="Cambria Math"/>
                <a:cs typeface="Cambria Math"/>
              </a:rPr>
              <a:t>𝐶</a:t>
            </a:r>
            <a:r>
              <a:rPr sz="1950" spc="-15" baseline="-14957" dirty="0">
                <a:latin typeface="Cambria Math"/>
                <a:cs typeface="Cambria Math"/>
              </a:rPr>
              <a:t>𝐷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456176" y="5609082"/>
            <a:ext cx="788670" cy="14604"/>
          </a:xfrm>
          <a:custGeom>
            <a:avLst/>
            <a:gdLst/>
            <a:ahLst/>
            <a:cxnLst/>
            <a:rect l="l" t="t" r="r" b="b"/>
            <a:pathLst>
              <a:path w="788670" h="14604">
                <a:moveTo>
                  <a:pt x="0" y="14477"/>
                </a:moveTo>
                <a:lnTo>
                  <a:pt x="0" y="0"/>
                </a:lnTo>
                <a:lnTo>
                  <a:pt x="788670" y="0"/>
                </a:lnTo>
                <a:lnTo>
                  <a:pt x="788670" y="14477"/>
                </a:lnTo>
                <a:lnTo>
                  <a:pt x="0" y="144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42259" y="1096865"/>
            <a:ext cx="2661036" cy="4934779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0376406" y="5020308"/>
            <a:ext cx="7880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Verdana"/>
                <a:cs typeface="Verdana"/>
              </a:rPr>
              <a:t>stable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E9B7F5D6-DC2F-4CDF-8F9C-AFFD200AC5D5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22" name="object 22"/>
          <p:cNvSpPr txBox="1"/>
          <p:nvPr/>
        </p:nvSpPr>
        <p:spPr>
          <a:xfrm>
            <a:off x="10102081" y="3225791"/>
            <a:ext cx="11099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Verdana"/>
                <a:cs typeface="Verdana"/>
              </a:rPr>
              <a:t>unstable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104885" y="1164590"/>
            <a:ext cx="182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0000"/>
                </a:solidFill>
                <a:latin typeface="Verdana"/>
                <a:cs typeface="Verdana"/>
              </a:rPr>
              <a:t>A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235438" y="1390142"/>
            <a:ext cx="952500" cy="530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165">
              <a:lnSpc>
                <a:spcPts val="2110"/>
              </a:lnSpc>
              <a:spcBef>
                <a:spcPts val="95"/>
              </a:spcBef>
            </a:pPr>
            <a:r>
              <a:rPr sz="2000" spc="-10" dirty="0">
                <a:latin typeface="Verdana"/>
                <a:cs typeface="Verdana"/>
              </a:rPr>
              <a:t>stable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ts val="1870"/>
              </a:lnSpc>
            </a:pPr>
            <a:r>
              <a:rPr sz="1800" spc="-25" dirty="0">
                <a:solidFill>
                  <a:srgbClr val="0000FF"/>
                </a:solidFill>
                <a:latin typeface="Verdana"/>
                <a:cs typeface="Verdana"/>
              </a:rPr>
              <a:t>1/</a:t>
            </a:r>
            <a:r>
              <a:rPr sz="1800" spc="-25" dirty="0">
                <a:solidFill>
                  <a:srgbClr val="0000FF"/>
                </a:solidFill>
                <a:latin typeface="Symbol"/>
                <a:cs typeface="Symbol"/>
              </a:rPr>
              <a:t>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29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Op</a:t>
            </a:r>
            <a:r>
              <a:rPr spc="-35" dirty="0"/>
              <a:t> </a:t>
            </a:r>
            <a:r>
              <a:rPr dirty="0"/>
              <a:t>amp</a:t>
            </a:r>
            <a:r>
              <a:rPr spc="-30" dirty="0"/>
              <a:t> </a:t>
            </a:r>
            <a:r>
              <a:rPr dirty="0"/>
              <a:t>Feedback:</a:t>
            </a:r>
            <a:r>
              <a:rPr spc="-30" dirty="0"/>
              <a:t> </a:t>
            </a:r>
            <a:r>
              <a:rPr dirty="0"/>
              <a:t>Conditional</a:t>
            </a:r>
            <a:r>
              <a:rPr spc="-15" dirty="0"/>
              <a:t> </a:t>
            </a:r>
            <a:r>
              <a:rPr spc="-10" dirty="0"/>
              <a:t>Stability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73683" y="1364234"/>
            <a:ext cx="5845175" cy="156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2600" marR="904875" indent="-470534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400" dirty="0">
                <a:latin typeface="Verdana"/>
                <a:cs typeface="Verdana"/>
              </a:rPr>
              <a:t>Stable</a:t>
            </a:r>
            <a:r>
              <a:rPr sz="2400" spc="-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if</a:t>
            </a:r>
            <a:r>
              <a:rPr sz="2400" spc="-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feedback</a:t>
            </a:r>
            <a:r>
              <a:rPr sz="2400" spc="-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network</a:t>
            </a:r>
            <a:r>
              <a:rPr sz="2400" spc="-75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is </a:t>
            </a:r>
            <a:r>
              <a:rPr sz="2400" dirty="0">
                <a:latin typeface="Verdana"/>
                <a:cs typeface="Verdana"/>
              </a:rPr>
              <a:t>restricted</a:t>
            </a:r>
            <a:r>
              <a:rPr sz="2400" spc="-9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</a:t>
            </a:r>
            <a:r>
              <a:rPr sz="2400" spc="-8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certain</a:t>
            </a:r>
            <a:r>
              <a:rPr sz="2400" spc="-8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values</a:t>
            </a:r>
            <a:endParaRPr sz="2400">
              <a:latin typeface="Verdana"/>
              <a:cs typeface="Verdana"/>
            </a:endParaRPr>
          </a:p>
          <a:p>
            <a:pPr marL="920750" lvl="1" indent="-437515">
              <a:lnSpc>
                <a:spcPct val="100000"/>
              </a:lnSpc>
              <a:spcBef>
                <a:spcPts val="530"/>
              </a:spcBef>
              <a:buClr>
                <a:srgbClr val="CC0000"/>
              </a:buClr>
              <a:buFont typeface="Wingdings"/>
              <a:buChar char=""/>
              <a:tabLst>
                <a:tab pos="920750" algn="l"/>
              </a:tabLst>
            </a:pPr>
            <a:r>
              <a:rPr sz="2200" dirty="0">
                <a:latin typeface="Verdana"/>
                <a:cs typeface="Verdana"/>
              </a:rPr>
              <a:t>Unstable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with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CL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gain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&gt;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20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(26dB)</a:t>
            </a:r>
            <a:endParaRPr sz="2200">
              <a:latin typeface="Verdana"/>
              <a:cs typeface="Verdana"/>
            </a:endParaRPr>
          </a:p>
          <a:p>
            <a:pPr marL="920750" lvl="1" indent="-437515">
              <a:lnSpc>
                <a:spcPct val="100000"/>
              </a:lnSpc>
              <a:spcBef>
                <a:spcPts val="525"/>
              </a:spcBef>
              <a:buClr>
                <a:srgbClr val="CC0000"/>
              </a:buClr>
              <a:buFont typeface="Wingdings"/>
              <a:buChar char=""/>
              <a:tabLst>
                <a:tab pos="920750" algn="l"/>
              </a:tabLst>
            </a:pPr>
            <a:r>
              <a:rPr sz="2200" dirty="0">
                <a:latin typeface="Verdana"/>
                <a:cs typeface="Verdana"/>
              </a:rPr>
              <a:t>Stable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with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CL</a:t>
            </a:r>
            <a:r>
              <a:rPr sz="2200" spc="-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gain</a:t>
            </a:r>
            <a:r>
              <a:rPr sz="2200" spc="-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&lt;</a:t>
            </a:r>
            <a:r>
              <a:rPr sz="2200" spc="-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20</a:t>
            </a:r>
            <a:r>
              <a:rPr sz="2200" spc="-10" dirty="0">
                <a:latin typeface="Verdana"/>
                <a:cs typeface="Verdana"/>
              </a:rPr>
              <a:t> (26dB)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3683" y="3412490"/>
            <a:ext cx="5434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2600" indent="-46990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400" dirty="0">
                <a:latin typeface="Verdana"/>
                <a:cs typeface="Verdana"/>
              </a:rPr>
              <a:t>Much</a:t>
            </a:r>
            <a:r>
              <a:rPr sz="2400" spc="-9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improved</a:t>
            </a:r>
            <a:r>
              <a:rPr sz="2400" spc="-8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power</a:t>
            </a:r>
            <a:r>
              <a:rPr sz="2400" spc="-9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efficiency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3683" y="4290314"/>
            <a:ext cx="55118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2600" marR="5080" indent="-470534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400" dirty="0">
                <a:latin typeface="Verdana"/>
                <a:cs typeface="Verdana"/>
              </a:rPr>
              <a:t>Careful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in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any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condition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that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can </a:t>
            </a:r>
            <a:r>
              <a:rPr sz="2400" dirty="0">
                <a:latin typeface="Verdana"/>
                <a:cs typeface="Verdana"/>
              </a:rPr>
              <a:t>lead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loss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open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loop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gain!</a:t>
            </a:r>
            <a:endParaRPr sz="24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44941" y="1390645"/>
            <a:ext cx="3400046" cy="43716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635236" y="1569973"/>
            <a:ext cx="391160" cy="789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0000FF"/>
                </a:solidFill>
                <a:latin typeface="Verdana"/>
                <a:cs typeface="Verdana"/>
              </a:rPr>
              <a:t>A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sz="1800" spc="-25" dirty="0">
                <a:solidFill>
                  <a:srgbClr val="FF0000"/>
                </a:solidFill>
                <a:latin typeface="Verdana"/>
                <a:cs typeface="Verdana"/>
              </a:rPr>
              <a:t>1/</a:t>
            </a:r>
            <a:r>
              <a:rPr sz="1800" spc="-25" dirty="0">
                <a:solidFill>
                  <a:srgbClr val="FF0000"/>
                </a:solidFill>
                <a:latin typeface="Times New Roman"/>
                <a:cs typeface="Times New Roman"/>
              </a:rPr>
              <a:t>β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35236" y="2612390"/>
            <a:ext cx="391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0000"/>
                </a:solidFill>
                <a:latin typeface="Verdana"/>
                <a:cs typeface="Verdana"/>
              </a:rPr>
              <a:t>1/</a:t>
            </a:r>
            <a:r>
              <a:rPr sz="1800" spc="-25" dirty="0">
                <a:solidFill>
                  <a:srgbClr val="FF0000"/>
                </a:solidFill>
                <a:latin typeface="Times New Roman"/>
                <a:cs typeface="Times New Roman"/>
              </a:rPr>
              <a:t>β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12476" y="1864867"/>
            <a:ext cx="1304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-40dB/dec.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999224" y="2469903"/>
            <a:ext cx="1304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-20dB/dec.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470135" y="2163317"/>
            <a:ext cx="593090" cy="733425"/>
            <a:chOff x="9470135" y="2163317"/>
            <a:chExt cx="593090" cy="73342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70135" y="2163317"/>
              <a:ext cx="107442" cy="14858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56291" y="2748533"/>
              <a:ext cx="106680" cy="147827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9108947" y="4799329"/>
            <a:ext cx="748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Symbol"/>
                <a:cs typeface="Symbol"/>
              </a:rPr>
              <a:t></a:t>
            </a:r>
            <a:r>
              <a:rPr sz="1800" spc="-15" baseline="-20833" dirty="0">
                <a:latin typeface="Verdana"/>
                <a:cs typeface="Verdana"/>
              </a:rPr>
              <a:t>M</a:t>
            </a:r>
            <a:r>
              <a:rPr sz="1800" spc="-10" dirty="0">
                <a:latin typeface="Verdana"/>
                <a:cs typeface="Verdana"/>
              </a:rPr>
              <a:t>=0</a:t>
            </a:r>
            <a:r>
              <a:rPr sz="1800" spc="-10" dirty="0">
                <a:latin typeface="Symbol"/>
                <a:cs typeface="Symbol"/>
              </a:rPr>
              <a:t>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08590CF9-F5C1-4DB0-9C29-5C497A2F61FD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15" name="object 15"/>
          <p:cNvSpPr txBox="1"/>
          <p:nvPr/>
        </p:nvSpPr>
        <p:spPr>
          <a:xfrm>
            <a:off x="9951735" y="4088384"/>
            <a:ext cx="8940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Symbol"/>
                <a:cs typeface="Symbol"/>
              </a:rPr>
              <a:t></a:t>
            </a:r>
            <a:r>
              <a:rPr sz="1800" spc="-15" baseline="-20833" dirty="0">
                <a:latin typeface="Verdana"/>
                <a:cs typeface="Verdana"/>
              </a:rPr>
              <a:t>M</a:t>
            </a:r>
            <a:r>
              <a:rPr sz="1800" spc="-10" dirty="0">
                <a:latin typeface="Verdana"/>
                <a:cs typeface="Verdana"/>
              </a:rPr>
              <a:t>=90</a:t>
            </a:r>
            <a:r>
              <a:rPr sz="1800" spc="-10" dirty="0">
                <a:latin typeface="Symbol"/>
                <a:cs typeface="Symbol"/>
              </a:rPr>
              <a:t>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20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3683" y="1364234"/>
            <a:ext cx="6807834" cy="4658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2600" marR="5080" indent="-470534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400" dirty="0">
                <a:latin typeface="Verdana"/>
                <a:cs typeface="Verdana"/>
              </a:rPr>
              <a:t>Pole</a:t>
            </a:r>
            <a:r>
              <a:rPr sz="2400" spc="-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magnitude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decreases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with </a:t>
            </a:r>
            <a:r>
              <a:rPr sz="2400" dirty="0">
                <a:latin typeface="Verdana"/>
                <a:cs typeface="Verdana"/>
              </a:rPr>
              <a:t>frequency,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zero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increases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with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frequency</a:t>
            </a:r>
            <a:endParaRPr sz="2400">
              <a:latin typeface="Verdana"/>
              <a:cs typeface="Verdana"/>
            </a:endParaRPr>
          </a:p>
          <a:p>
            <a:pPr marL="482600" marR="416559" indent="-470534">
              <a:lnSpc>
                <a:spcPct val="100000"/>
              </a:lnSpc>
              <a:spcBef>
                <a:spcPts val="120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400" dirty="0">
                <a:solidFill>
                  <a:srgbClr val="00B04F"/>
                </a:solidFill>
                <a:latin typeface="Verdana"/>
                <a:cs typeface="Verdana"/>
              </a:rPr>
              <a:t>LHP</a:t>
            </a:r>
            <a:r>
              <a:rPr sz="2400" spc="-60" dirty="0">
                <a:solidFill>
                  <a:srgbClr val="00B04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B04F"/>
                </a:solidFill>
                <a:latin typeface="Verdana"/>
                <a:cs typeface="Verdana"/>
              </a:rPr>
              <a:t>pole</a:t>
            </a:r>
            <a:r>
              <a:rPr sz="2400" spc="-35" dirty="0">
                <a:solidFill>
                  <a:srgbClr val="00B04F"/>
                </a:solidFill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or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0000"/>
                </a:solidFill>
                <a:latin typeface="Verdana"/>
                <a:cs typeface="Verdana"/>
              </a:rPr>
              <a:t>RHP</a:t>
            </a:r>
            <a:r>
              <a:rPr sz="2400" spc="-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0000"/>
                </a:solidFill>
                <a:latin typeface="Verdana"/>
                <a:cs typeface="Verdana"/>
              </a:rPr>
              <a:t>zero</a:t>
            </a:r>
            <a:r>
              <a:rPr sz="2400" spc="-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phase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decreases </a:t>
            </a:r>
            <a:r>
              <a:rPr sz="2400" dirty="0">
                <a:latin typeface="Verdana"/>
                <a:cs typeface="Verdana"/>
              </a:rPr>
              <a:t>with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frequency</a:t>
            </a:r>
            <a:endParaRPr sz="2400">
              <a:latin typeface="Verdana"/>
              <a:cs typeface="Verdana"/>
            </a:endParaRPr>
          </a:p>
          <a:p>
            <a:pPr marL="920750" lvl="1" indent="-437515">
              <a:lnSpc>
                <a:spcPct val="100000"/>
              </a:lnSpc>
              <a:spcBef>
                <a:spcPts val="1200"/>
              </a:spcBef>
              <a:buClr>
                <a:srgbClr val="CC0000"/>
              </a:buClr>
              <a:buFont typeface="Wingdings"/>
              <a:buChar char=""/>
              <a:tabLst>
                <a:tab pos="920750" algn="l"/>
              </a:tabLst>
            </a:pPr>
            <a:r>
              <a:rPr sz="2000" dirty="0">
                <a:latin typeface="Verdana"/>
                <a:cs typeface="Verdana"/>
              </a:rPr>
              <a:t>RHP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zero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reduces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phase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margin!</a:t>
            </a:r>
            <a:endParaRPr sz="2000">
              <a:latin typeface="Verdana"/>
              <a:cs typeface="Verdana"/>
            </a:endParaRPr>
          </a:p>
          <a:p>
            <a:pPr marL="920750" marR="1012190" lvl="1" indent="-437515">
              <a:lnSpc>
                <a:spcPct val="100000"/>
              </a:lnSpc>
              <a:spcBef>
                <a:spcPts val="1200"/>
              </a:spcBef>
              <a:buClr>
                <a:srgbClr val="CC0000"/>
              </a:buClr>
              <a:buFont typeface="Wingdings"/>
              <a:buChar char=""/>
              <a:tabLst>
                <a:tab pos="920750" algn="l"/>
              </a:tabLst>
            </a:pPr>
            <a:r>
              <a:rPr sz="2000" dirty="0">
                <a:latin typeface="Verdana"/>
                <a:cs typeface="Verdana"/>
              </a:rPr>
              <a:t>Commonly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found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circuits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(i.e.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Miller </a:t>
            </a:r>
            <a:r>
              <a:rPr sz="2000" dirty="0">
                <a:latin typeface="Verdana"/>
                <a:cs typeface="Verdana"/>
              </a:rPr>
              <a:t>capacitance </a:t>
            </a:r>
            <a:r>
              <a:rPr sz="2000" spc="-25" dirty="0">
                <a:latin typeface="Verdana"/>
                <a:cs typeface="Verdana"/>
              </a:rPr>
              <a:t>feed-</a:t>
            </a:r>
            <a:r>
              <a:rPr sz="2000" spc="-10" dirty="0">
                <a:latin typeface="Verdana"/>
                <a:cs typeface="Verdana"/>
              </a:rPr>
              <a:t>forward)</a:t>
            </a:r>
            <a:endParaRPr sz="2000">
              <a:latin typeface="Verdana"/>
              <a:cs typeface="Verdana"/>
            </a:endParaRPr>
          </a:p>
          <a:p>
            <a:pPr marL="482600" marR="512445" indent="-470534">
              <a:lnSpc>
                <a:spcPct val="100000"/>
              </a:lnSpc>
              <a:spcBef>
                <a:spcPts val="120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400" dirty="0">
                <a:solidFill>
                  <a:srgbClr val="FF0000"/>
                </a:solidFill>
                <a:latin typeface="Verdana"/>
                <a:cs typeface="Verdana"/>
              </a:rPr>
              <a:t>RHP</a:t>
            </a:r>
            <a:r>
              <a:rPr sz="2400" spc="-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0000"/>
                </a:solidFill>
                <a:latin typeface="Verdana"/>
                <a:cs typeface="Verdana"/>
              </a:rPr>
              <a:t>pole</a:t>
            </a:r>
            <a:r>
              <a:rPr sz="2400" spc="-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or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B04F"/>
                </a:solidFill>
                <a:latin typeface="Verdana"/>
                <a:cs typeface="Verdana"/>
              </a:rPr>
              <a:t>LHP</a:t>
            </a:r>
            <a:r>
              <a:rPr sz="2400" spc="-60" dirty="0">
                <a:solidFill>
                  <a:srgbClr val="00B04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B04F"/>
                </a:solidFill>
                <a:latin typeface="Verdana"/>
                <a:cs typeface="Verdana"/>
              </a:rPr>
              <a:t>zero</a:t>
            </a:r>
            <a:r>
              <a:rPr sz="2400" spc="-40" dirty="0">
                <a:solidFill>
                  <a:srgbClr val="00B04F"/>
                </a:solidFill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phase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increases </a:t>
            </a:r>
            <a:r>
              <a:rPr sz="2400" dirty="0">
                <a:latin typeface="Verdana"/>
                <a:cs typeface="Verdana"/>
              </a:rPr>
              <a:t>with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frequency</a:t>
            </a:r>
            <a:endParaRPr sz="2400">
              <a:latin typeface="Verdana"/>
              <a:cs typeface="Verdana"/>
            </a:endParaRPr>
          </a:p>
          <a:p>
            <a:pPr marL="920750" lvl="1" indent="-437515">
              <a:lnSpc>
                <a:spcPct val="100000"/>
              </a:lnSpc>
              <a:spcBef>
                <a:spcPts val="1200"/>
              </a:spcBef>
              <a:buClr>
                <a:srgbClr val="CC0000"/>
              </a:buClr>
              <a:buFont typeface="Wingdings"/>
              <a:buChar char=""/>
              <a:tabLst>
                <a:tab pos="920750" algn="l"/>
              </a:tabLst>
            </a:pPr>
            <a:r>
              <a:rPr sz="2000" dirty="0">
                <a:latin typeface="Verdana"/>
                <a:cs typeface="Verdana"/>
              </a:rPr>
              <a:t>RHPP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lead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system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instability</a:t>
            </a:r>
            <a:endParaRPr sz="2000">
              <a:latin typeface="Verdana"/>
              <a:cs typeface="Verdana"/>
            </a:endParaRPr>
          </a:p>
          <a:p>
            <a:pPr marL="920750" lvl="1" indent="-437515">
              <a:lnSpc>
                <a:spcPct val="100000"/>
              </a:lnSpc>
              <a:spcBef>
                <a:spcPts val="1200"/>
              </a:spcBef>
              <a:buClr>
                <a:srgbClr val="CC0000"/>
              </a:buClr>
              <a:buFont typeface="Wingdings"/>
              <a:buChar char=""/>
              <a:tabLst>
                <a:tab pos="920750" algn="l"/>
              </a:tabLst>
            </a:pPr>
            <a:r>
              <a:rPr sz="2000" dirty="0">
                <a:latin typeface="Verdana"/>
                <a:cs typeface="Verdana"/>
              </a:rPr>
              <a:t>Not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known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[?]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amplifiers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Bode</a:t>
            </a:r>
            <a:r>
              <a:rPr spc="-40" dirty="0"/>
              <a:t> </a:t>
            </a:r>
            <a:r>
              <a:rPr dirty="0"/>
              <a:t>Plots:</a:t>
            </a:r>
            <a:r>
              <a:rPr spc="-5" dirty="0"/>
              <a:t> </a:t>
            </a:r>
            <a:r>
              <a:rPr dirty="0"/>
              <a:t>LHP</a:t>
            </a:r>
            <a:r>
              <a:rPr spc="-35" dirty="0"/>
              <a:t> </a:t>
            </a:r>
            <a:r>
              <a:rPr dirty="0"/>
              <a:t>vs</a:t>
            </a:r>
            <a:r>
              <a:rPr spc="-25" dirty="0"/>
              <a:t> </a:t>
            </a:r>
            <a:r>
              <a:rPr dirty="0"/>
              <a:t>RHP</a:t>
            </a:r>
            <a:r>
              <a:rPr spc="-35" dirty="0"/>
              <a:t> </a:t>
            </a:r>
            <a:r>
              <a:rPr dirty="0"/>
              <a:t>Pole</a:t>
            </a:r>
            <a:r>
              <a:rPr spc="-2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20" dirty="0"/>
              <a:t>Zero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751826" y="2061210"/>
            <a:ext cx="3789045" cy="2898140"/>
            <a:chOff x="7751826" y="2061210"/>
            <a:chExt cx="3789045" cy="28981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27599" y="2061210"/>
              <a:ext cx="3712890" cy="284149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751826" y="2078735"/>
              <a:ext cx="3789045" cy="2880360"/>
            </a:xfrm>
            <a:custGeom>
              <a:avLst/>
              <a:gdLst/>
              <a:ahLst/>
              <a:cxnLst/>
              <a:rect l="l" t="t" r="r" b="b"/>
              <a:pathLst>
                <a:path w="3789045" h="2880360">
                  <a:moveTo>
                    <a:pt x="3788651" y="2441448"/>
                  </a:moveTo>
                  <a:lnTo>
                    <a:pt x="548640" y="2441448"/>
                  </a:lnTo>
                  <a:lnTo>
                    <a:pt x="548640" y="0"/>
                  </a:lnTo>
                  <a:lnTo>
                    <a:pt x="0" y="0"/>
                  </a:lnTo>
                  <a:lnTo>
                    <a:pt x="0" y="2608326"/>
                  </a:lnTo>
                  <a:lnTo>
                    <a:pt x="346710" y="2608326"/>
                  </a:lnTo>
                  <a:lnTo>
                    <a:pt x="346710" y="2880360"/>
                  </a:lnTo>
                  <a:lnTo>
                    <a:pt x="3788651" y="2880360"/>
                  </a:lnTo>
                  <a:lnTo>
                    <a:pt x="3788651" y="24414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807700" y="4574540"/>
            <a:ext cx="5372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Verdana"/>
                <a:cs typeface="Verdana"/>
              </a:rPr>
              <a:t>time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94108" y="2158466"/>
            <a:ext cx="303530" cy="866140"/>
          </a:xfrm>
          <a:prstGeom prst="rect">
            <a:avLst/>
          </a:prstGeom>
        </p:spPr>
        <p:txBody>
          <a:bodyPr vert="vert270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10" dirty="0">
                <a:latin typeface="Verdana"/>
                <a:cs typeface="Verdana"/>
              </a:rPr>
              <a:t>voltage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262366" y="2078735"/>
            <a:ext cx="3169285" cy="2468245"/>
          </a:xfrm>
          <a:custGeom>
            <a:avLst/>
            <a:gdLst/>
            <a:ahLst/>
            <a:cxnLst/>
            <a:rect l="l" t="t" r="r" b="b"/>
            <a:pathLst>
              <a:path w="3169284" h="2468245">
                <a:moveTo>
                  <a:pt x="3169158" y="2430018"/>
                </a:moveTo>
                <a:lnTo>
                  <a:pt x="3042666" y="2391918"/>
                </a:lnTo>
                <a:lnTo>
                  <a:pt x="3042666" y="2417826"/>
                </a:lnTo>
                <a:lnTo>
                  <a:pt x="51054" y="2417826"/>
                </a:lnTo>
                <a:lnTo>
                  <a:pt x="51054" y="127254"/>
                </a:lnTo>
                <a:lnTo>
                  <a:pt x="76200" y="127254"/>
                </a:lnTo>
                <a:lnTo>
                  <a:pt x="38100" y="0"/>
                </a:lnTo>
                <a:lnTo>
                  <a:pt x="0" y="127254"/>
                </a:lnTo>
                <a:lnTo>
                  <a:pt x="25146" y="127254"/>
                </a:lnTo>
                <a:lnTo>
                  <a:pt x="25146" y="2423160"/>
                </a:lnTo>
                <a:lnTo>
                  <a:pt x="25146" y="2436876"/>
                </a:lnTo>
                <a:lnTo>
                  <a:pt x="31242" y="2442972"/>
                </a:lnTo>
                <a:lnTo>
                  <a:pt x="44958" y="2442972"/>
                </a:lnTo>
                <a:lnTo>
                  <a:pt x="3042666" y="2442972"/>
                </a:lnTo>
                <a:lnTo>
                  <a:pt x="3042666" y="2468118"/>
                </a:lnTo>
                <a:lnTo>
                  <a:pt x="3067812" y="2460548"/>
                </a:lnTo>
                <a:lnTo>
                  <a:pt x="3169158" y="2430018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0D6AA853-DAF5-4A90-9727-E4D82ED33343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14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dirty="0"/>
              <a:t>Relating</a:t>
            </a:r>
            <a:r>
              <a:rPr spc="-2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Transient</a:t>
            </a:r>
            <a:r>
              <a:rPr spc="-15" dirty="0"/>
              <a:t> </a:t>
            </a:r>
            <a:r>
              <a:rPr dirty="0"/>
              <a:t>Response</a:t>
            </a:r>
            <a:r>
              <a:rPr spc="-45" dirty="0"/>
              <a:t> </a:t>
            </a:r>
            <a:r>
              <a:rPr sz="3375" spc="-30" baseline="24691" dirty="0"/>
              <a:t>[19]</a:t>
            </a:r>
            <a:endParaRPr sz="3375" baseline="24691"/>
          </a:p>
        </p:txBody>
      </p:sp>
      <p:sp>
        <p:nvSpPr>
          <p:cNvPr id="3" name="object 3"/>
          <p:cNvSpPr txBox="1"/>
          <p:nvPr/>
        </p:nvSpPr>
        <p:spPr>
          <a:xfrm>
            <a:off x="2169667" y="1471675"/>
            <a:ext cx="247777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Verdana"/>
                <a:cs typeface="Verdana"/>
              </a:rPr>
              <a:t>Time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phase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shift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29164" y="1732727"/>
            <a:ext cx="5303520" cy="1580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48895">
              <a:lnSpc>
                <a:spcPct val="140000"/>
              </a:lnSpc>
              <a:spcBef>
                <a:spcPts val="100"/>
              </a:spcBef>
            </a:pPr>
            <a:r>
              <a:rPr sz="2000" dirty="0">
                <a:latin typeface="Verdana"/>
                <a:cs typeface="Verdana"/>
              </a:rPr>
              <a:t>T</a:t>
            </a:r>
            <a:r>
              <a:rPr sz="1950" baseline="-21367" dirty="0">
                <a:latin typeface="Verdana"/>
                <a:cs typeface="Verdana"/>
              </a:rPr>
              <a:t>S</a:t>
            </a:r>
            <a:r>
              <a:rPr sz="2000" dirty="0">
                <a:latin typeface="Verdana"/>
                <a:cs typeface="Verdana"/>
              </a:rPr>
              <a:t>: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time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shift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from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input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output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signal 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1950" baseline="-21367" dirty="0">
                <a:latin typeface="Verdana"/>
                <a:cs typeface="Verdana"/>
              </a:rPr>
              <a:t>P</a:t>
            </a:r>
            <a:r>
              <a:rPr sz="2000" dirty="0">
                <a:latin typeface="Verdana"/>
                <a:cs typeface="Verdana"/>
              </a:rPr>
              <a:t>: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period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signal</a:t>
            </a:r>
            <a:endParaRPr sz="2000">
              <a:latin typeface="Verdana"/>
              <a:cs typeface="Verdana"/>
            </a:endParaRPr>
          </a:p>
          <a:p>
            <a:pPr marL="38100" marR="30480" indent="62865">
              <a:lnSpc>
                <a:spcPts val="2170"/>
              </a:lnSpc>
              <a:spcBef>
                <a:spcPts val="1210"/>
              </a:spcBef>
            </a:pPr>
            <a:r>
              <a:rPr sz="2000" dirty="0">
                <a:latin typeface="Symbol"/>
                <a:cs typeface="Symbol"/>
              </a:rPr>
              <a:t></a:t>
            </a:r>
            <a:r>
              <a:rPr sz="2000" dirty="0">
                <a:latin typeface="Verdana"/>
                <a:cs typeface="Verdana"/>
              </a:rPr>
              <a:t>: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phase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shift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signal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from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input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to </a:t>
            </a:r>
            <a:r>
              <a:rPr sz="2000" spc="-10" dirty="0">
                <a:latin typeface="Verdana"/>
                <a:cs typeface="Verdana"/>
              </a:rPr>
              <a:t>output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54576" y="3836180"/>
            <a:ext cx="45612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Verdana"/>
                <a:cs typeface="Verdana"/>
              </a:rPr>
              <a:t>To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calculate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phase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shift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degrees: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36892" y="5251958"/>
            <a:ext cx="3194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spc="-25" dirty="0">
                <a:latin typeface="Cambria Math"/>
                <a:cs typeface="Cambria Math"/>
              </a:rPr>
              <a:t>𝑇</a:t>
            </a:r>
            <a:r>
              <a:rPr sz="2175" spc="-37" baseline="-15325" dirty="0">
                <a:latin typeface="Cambria Math"/>
                <a:cs typeface="Cambria Math"/>
              </a:rPr>
              <a:t>𝑃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174230" y="5267705"/>
            <a:ext cx="259079" cy="17145"/>
          </a:xfrm>
          <a:custGeom>
            <a:avLst/>
            <a:gdLst/>
            <a:ahLst/>
            <a:cxnLst/>
            <a:rect l="l" t="t" r="r" b="b"/>
            <a:pathLst>
              <a:path w="259079" h="17145">
                <a:moveTo>
                  <a:pt x="259079" y="16763"/>
                </a:moveTo>
                <a:lnTo>
                  <a:pt x="259079" y="0"/>
                </a:lnTo>
                <a:lnTo>
                  <a:pt x="0" y="0"/>
                </a:lnTo>
                <a:lnTo>
                  <a:pt x="0" y="16763"/>
                </a:lnTo>
                <a:lnTo>
                  <a:pt x="259079" y="167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655316" y="5082048"/>
            <a:ext cx="178117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𝜃</a:t>
            </a:r>
            <a:r>
              <a:rPr sz="2000" spc="10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=</a:t>
            </a:r>
            <a:r>
              <a:rPr sz="2000" spc="160" dirty="0">
                <a:latin typeface="Cambria Math"/>
                <a:cs typeface="Cambria Math"/>
              </a:rPr>
              <a:t> </a:t>
            </a:r>
            <a:r>
              <a:rPr sz="3000" spc="-15" baseline="41666" dirty="0">
                <a:latin typeface="Cambria Math"/>
                <a:cs typeface="Cambria Math"/>
              </a:rPr>
              <a:t>𝑇</a:t>
            </a:r>
            <a:r>
              <a:rPr sz="2175" spc="-15" baseline="42145" dirty="0">
                <a:latin typeface="Cambria Math"/>
                <a:cs typeface="Cambria Math"/>
              </a:rPr>
              <a:t>𝑆</a:t>
            </a:r>
            <a:r>
              <a:rPr sz="2175" spc="419" baseline="4214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·</a:t>
            </a:r>
            <a:r>
              <a:rPr sz="2000" spc="-4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360°</a:t>
            </a:r>
            <a:r>
              <a:rPr sz="2000" spc="65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=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489442" y="4953000"/>
            <a:ext cx="1202690" cy="647065"/>
          </a:xfrm>
          <a:custGeom>
            <a:avLst/>
            <a:gdLst/>
            <a:ahLst/>
            <a:cxnLst/>
            <a:rect l="l" t="t" r="r" b="b"/>
            <a:pathLst>
              <a:path w="1202690" h="647064">
                <a:moveTo>
                  <a:pt x="1202436" y="323088"/>
                </a:moveTo>
                <a:lnTo>
                  <a:pt x="1200578" y="271105"/>
                </a:lnTo>
                <a:lnTo>
                  <a:pt x="1195006" y="221551"/>
                </a:lnTo>
                <a:lnTo>
                  <a:pt x="1185719" y="174569"/>
                </a:lnTo>
                <a:lnTo>
                  <a:pt x="1172718" y="130302"/>
                </a:lnTo>
                <a:lnTo>
                  <a:pt x="1156454" y="89582"/>
                </a:lnTo>
                <a:lnTo>
                  <a:pt x="1137475" y="54292"/>
                </a:lnTo>
                <a:lnTo>
                  <a:pt x="1091946" y="0"/>
                </a:lnTo>
                <a:lnTo>
                  <a:pt x="1085850" y="9144"/>
                </a:lnTo>
                <a:lnTo>
                  <a:pt x="1106412" y="33861"/>
                </a:lnTo>
                <a:lnTo>
                  <a:pt x="1124616" y="63436"/>
                </a:lnTo>
                <a:lnTo>
                  <a:pt x="1153668" y="137160"/>
                </a:lnTo>
                <a:lnTo>
                  <a:pt x="1164109" y="180034"/>
                </a:lnTo>
                <a:lnTo>
                  <a:pt x="1171479" y="225266"/>
                </a:lnTo>
                <a:lnTo>
                  <a:pt x="1175849" y="272926"/>
                </a:lnTo>
                <a:lnTo>
                  <a:pt x="1177290" y="323088"/>
                </a:lnTo>
                <a:lnTo>
                  <a:pt x="1177290" y="500043"/>
                </a:lnTo>
                <a:lnTo>
                  <a:pt x="1185719" y="470856"/>
                </a:lnTo>
                <a:lnTo>
                  <a:pt x="1195006" y="423767"/>
                </a:lnTo>
                <a:lnTo>
                  <a:pt x="1200578" y="374534"/>
                </a:lnTo>
                <a:lnTo>
                  <a:pt x="1202436" y="323088"/>
                </a:lnTo>
                <a:close/>
              </a:path>
              <a:path w="1202690" h="647064">
                <a:moveTo>
                  <a:pt x="1177290" y="500043"/>
                </a:moveTo>
                <a:lnTo>
                  <a:pt x="1177290" y="323088"/>
                </a:lnTo>
                <a:lnTo>
                  <a:pt x="1175849" y="372379"/>
                </a:lnTo>
                <a:lnTo>
                  <a:pt x="1171479" y="419671"/>
                </a:lnTo>
                <a:lnTo>
                  <a:pt x="1164109" y="464962"/>
                </a:lnTo>
                <a:lnTo>
                  <a:pt x="1153668" y="508254"/>
                </a:lnTo>
                <a:lnTo>
                  <a:pt x="1140392" y="548344"/>
                </a:lnTo>
                <a:lnTo>
                  <a:pt x="1106733" y="612945"/>
                </a:lnTo>
                <a:lnTo>
                  <a:pt x="1085850" y="637794"/>
                </a:lnTo>
                <a:lnTo>
                  <a:pt x="1091946" y="646938"/>
                </a:lnTo>
                <a:lnTo>
                  <a:pt x="1115925" y="622494"/>
                </a:lnTo>
                <a:lnTo>
                  <a:pt x="1137475" y="592550"/>
                </a:lnTo>
                <a:lnTo>
                  <a:pt x="1156454" y="557033"/>
                </a:lnTo>
                <a:lnTo>
                  <a:pt x="1172718" y="515873"/>
                </a:lnTo>
                <a:lnTo>
                  <a:pt x="1177290" y="500043"/>
                </a:lnTo>
                <a:close/>
              </a:path>
              <a:path w="1202690" h="647064">
                <a:moveTo>
                  <a:pt x="116586" y="9144"/>
                </a:moveTo>
                <a:lnTo>
                  <a:pt x="64960" y="54292"/>
                </a:lnTo>
                <a:lnTo>
                  <a:pt x="45981" y="89582"/>
                </a:lnTo>
                <a:lnTo>
                  <a:pt x="29718" y="130302"/>
                </a:lnTo>
                <a:lnTo>
                  <a:pt x="16716" y="174569"/>
                </a:lnTo>
                <a:lnTo>
                  <a:pt x="7429" y="221551"/>
                </a:lnTo>
                <a:lnTo>
                  <a:pt x="1857" y="271105"/>
                </a:lnTo>
                <a:lnTo>
                  <a:pt x="0" y="323088"/>
                </a:lnTo>
                <a:lnTo>
                  <a:pt x="1857" y="374534"/>
                </a:lnTo>
                <a:lnTo>
                  <a:pt x="7429" y="423767"/>
                </a:lnTo>
                <a:lnTo>
                  <a:pt x="16716" y="470856"/>
                </a:lnTo>
                <a:lnTo>
                  <a:pt x="25146" y="500043"/>
                </a:lnTo>
                <a:lnTo>
                  <a:pt x="25146" y="323088"/>
                </a:lnTo>
                <a:lnTo>
                  <a:pt x="26586" y="272926"/>
                </a:lnTo>
                <a:lnTo>
                  <a:pt x="30956" y="225266"/>
                </a:lnTo>
                <a:lnTo>
                  <a:pt x="38326" y="180034"/>
                </a:lnTo>
                <a:lnTo>
                  <a:pt x="48768" y="137160"/>
                </a:lnTo>
                <a:lnTo>
                  <a:pt x="61936" y="97869"/>
                </a:lnTo>
                <a:lnTo>
                  <a:pt x="95702" y="33861"/>
                </a:lnTo>
                <a:lnTo>
                  <a:pt x="116586" y="9144"/>
                </a:lnTo>
                <a:close/>
              </a:path>
              <a:path w="1202690" h="647064">
                <a:moveTo>
                  <a:pt x="116586" y="637794"/>
                </a:moveTo>
                <a:lnTo>
                  <a:pt x="77533" y="583025"/>
                </a:lnTo>
                <a:lnTo>
                  <a:pt x="61936" y="548104"/>
                </a:lnTo>
                <a:lnTo>
                  <a:pt x="48768" y="508254"/>
                </a:lnTo>
                <a:lnTo>
                  <a:pt x="38326" y="464962"/>
                </a:lnTo>
                <a:lnTo>
                  <a:pt x="30956" y="419671"/>
                </a:lnTo>
                <a:lnTo>
                  <a:pt x="26586" y="372379"/>
                </a:lnTo>
                <a:lnTo>
                  <a:pt x="25146" y="323088"/>
                </a:lnTo>
                <a:lnTo>
                  <a:pt x="25146" y="500043"/>
                </a:lnTo>
                <a:lnTo>
                  <a:pt x="45981" y="557033"/>
                </a:lnTo>
                <a:lnTo>
                  <a:pt x="64960" y="592550"/>
                </a:lnTo>
                <a:lnTo>
                  <a:pt x="110490" y="646938"/>
                </a:lnTo>
                <a:lnTo>
                  <a:pt x="116586" y="6377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601709" y="4890008"/>
            <a:ext cx="972819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Cambria Math"/>
                <a:cs typeface="Cambria Math"/>
              </a:rPr>
              <a:t>0.225𝑚𝑠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839444" y="5251951"/>
            <a:ext cx="49784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>
                <a:latin typeface="Cambria Math"/>
                <a:cs typeface="Cambria Math"/>
              </a:rPr>
              <a:t>1𝑚𝑠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613647" y="5267705"/>
            <a:ext cx="953769" cy="17145"/>
          </a:xfrm>
          <a:custGeom>
            <a:avLst/>
            <a:gdLst/>
            <a:ahLst/>
            <a:cxnLst/>
            <a:rect l="l" t="t" r="r" b="b"/>
            <a:pathLst>
              <a:path w="953770" h="17145">
                <a:moveTo>
                  <a:pt x="953261" y="16763"/>
                </a:moveTo>
                <a:lnTo>
                  <a:pt x="953261" y="0"/>
                </a:lnTo>
                <a:lnTo>
                  <a:pt x="0" y="0"/>
                </a:lnTo>
                <a:lnTo>
                  <a:pt x="0" y="16763"/>
                </a:lnTo>
                <a:lnTo>
                  <a:pt x="953261" y="167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756902" y="5082032"/>
            <a:ext cx="138112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·</a:t>
            </a:r>
            <a:r>
              <a:rPr sz="2000" spc="-2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360°</a:t>
            </a:r>
            <a:r>
              <a:rPr sz="2000" spc="10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=</a:t>
            </a:r>
            <a:r>
              <a:rPr sz="2000" spc="100" dirty="0">
                <a:latin typeface="Cambria Math"/>
                <a:cs typeface="Cambria Math"/>
              </a:rPr>
              <a:t> </a:t>
            </a:r>
            <a:r>
              <a:rPr sz="2000" spc="-25" dirty="0">
                <a:latin typeface="Cambria Math"/>
                <a:cs typeface="Cambria Math"/>
              </a:rPr>
              <a:t>81°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69426" y="1965893"/>
            <a:ext cx="5254625" cy="3668395"/>
            <a:chOff x="569426" y="1965893"/>
            <a:chExt cx="5254625" cy="366839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9426" y="1965893"/>
              <a:ext cx="5254051" cy="34956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209037" y="5264658"/>
              <a:ext cx="1704339" cy="369570"/>
            </a:xfrm>
            <a:custGeom>
              <a:avLst/>
              <a:gdLst/>
              <a:ahLst/>
              <a:cxnLst/>
              <a:rect l="l" t="t" r="r" b="b"/>
              <a:pathLst>
                <a:path w="1704339" h="369570">
                  <a:moveTo>
                    <a:pt x="1703832" y="369570"/>
                  </a:moveTo>
                  <a:lnTo>
                    <a:pt x="1703832" y="0"/>
                  </a:lnTo>
                  <a:lnTo>
                    <a:pt x="0" y="0"/>
                  </a:lnTo>
                  <a:lnTo>
                    <a:pt x="0" y="369570"/>
                  </a:lnTo>
                  <a:lnTo>
                    <a:pt x="1703832" y="3695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263139" y="5296153"/>
            <a:ext cx="1515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T</a:t>
            </a:r>
            <a:r>
              <a:rPr sz="1800" spc="-15" baseline="-20833" dirty="0">
                <a:latin typeface="Verdana"/>
                <a:cs typeface="Verdana"/>
              </a:rPr>
              <a:t>S</a:t>
            </a:r>
            <a:r>
              <a:rPr sz="1800" spc="-10" dirty="0">
                <a:latin typeface="Verdana"/>
                <a:cs typeface="Verdana"/>
              </a:rPr>
              <a:t>=0.225ms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23182" y="5296153"/>
            <a:ext cx="9842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T</a:t>
            </a:r>
            <a:r>
              <a:rPr sz="1800" spc="-15" baseline="-20833" dirty="0">
                <a:latin typeface="Verdana"/>
                <a:cs typeface="Verdana"/>
              </a:rPr>
              <a:t>P</a:t>
            </a:r>
            <a:r>
              <a:rPr sz="1800" spc="-10" dirty="0">
                <a:latin typeface="Verdana"/>
                <a:cs typeface="Verdana"/>
              </a:rPr>
              <a:t>=1ms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09016" y="1810511"/>
            <a:ext cx="4506595" cy="3454400"/>
          </a:xfrm>
          <a:custGeom>
            <a:avLst/>
            <a:gdLst/>
            <a:ahLst/>
            <a:cxnLst/>
            <a:rect l="l" t="t" r="r" b="b"/>
            <a:pathLst>
              <a:path w="4506595" h="3454400">
                <a:moveTo>
                  <a:pt x="874776" y="0"/>
                </a:moveTo>
                <a:lnTo>
                  <a:pt x="0" y="0"/>
                </a:lnTo>
                <a:lnTo>
                  <a:pt x="0" y="2473452"/>
                </a:lnTo>
                <a:lnTo>
                  <a:pt x="874776" y="2473452"/>
                </a:lnTo>
                <a:lnTo>
                  <a:pt x="874776" y="0"/>
                </a:lnTo>
                <a:close/>
              </a:path>
              <a:path w="4506595" h="3454400">
                <a:moveTo>
                  <a:pt x="4506468" y="3238500"/>
                </a:moveTo>
                <a:lnTo>
                  <a:pt x="3786378" y="3238500"/>
                </a:lnTo>
                <a:lnTo>
                  <a:pt x="3786378" y="3454146"/>
                </a:lnTo>
                <a:lnTo>
                  <a:pt x="4506468" y="3454146"/>
                </a:lnTo>
                <a:lnTo>
                  <a:pt x="4506468" y="3238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962655" y="4544567"/>
            <a:ext cx="1198245" cy="36957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3815" rIns="0" bIns="0" rtlCol="0">
            <a:spAutoFit/>
          </a:bodyPr>
          <a:lstStyle/>
          <a:p>
            <a:pPr marL="635">
              <a:lnSpc>
                <a:spcPct val="100000"/>
              </a:lnSpc>
              <a:spcBef>
                <a:spcPts val="345"/>
              </a:spcBef>
            </a:pPr>
            <a:r>
              <a:rPr sz="1800" spc="-10" dirty="0">
                <a:latin typeface="Verdana"/>
                <a:cs typeface="Verdana"/>
              </a:rPr>
              <a:t>Time(ms)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A9D570B7-6514-42FE-8DC6-EDCCE37B644D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21" name="object 21"/>
          <p:cNvSpPr txBox="1"/>
          <p:nvPr/>
        </p:nvSpPr>
        <p:spPr>
          <a:xfrm>
            <a:off x="749300" y="2425700"/>
            <a:ext cx="389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Vin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14069" y="3572510"/>
            <a:ext cx="262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Vf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7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dirty="0"/>
              <a:t>Relating</a:t>
            </a:r>
            <a:r>
              <a:rPr spc="-15" dirty="0"/>
              <a:t> </a:t>
            </a:r>
            <a:r>
              <a:rPr dirty="0"/>
              <a:t>to</a:t>
            </a:r>
            <a:r>
              <a:rPr spc="-5" dirty="0"/>
              <a:t> </a:t>
            </a:r>
            <a:r>
              <a:rPr dirty="0"/>
              <a:t>Transient </a:t>
            </a:r>
            <a:r>
              <a:rPr spc="-10" dirty="0"/>
              <a:t>Response</a:t>
            </a:r>
            <a:r>
              <a:rPr spc="-415" dirty="0"/>
              <a:t> </a:t>
            </a:r>
            <a:r>
              <a:rPr sz="3375" spc="-30" baseline="24691" dirty="0"/>
              <a:t>[19]</a:t>
            </a:r>
            <a:endParaRPr sz="3375" baseline="24691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21942" y="2572724"/>
            <a:ext cx="5187477" cy="29262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48053" y="1300980"/>
            <a:ext cx="9232265" cy="1083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1180" algn="ctr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Verdana"/>
                <a:cs typeface="Verdana"/>
              </a:rPr>
              <a:t>Dominant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(2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pole)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system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responses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105"/>
              </a:spcBef>
            </a:pP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tabLst>
                <a:tab pos="5701665" algn="l"/>
              </a:tabLst>
            </a:pPr>
            <a:r>
              <a:rPr sz="2000" spc="-25" dirty="0">
                <a:latin typeface="Verdana"/>
                <a:cs typeface="Verdana"/>
              </a:rPr>
              <a:t>Small-</a:t>
            </a:r>
            <a:r>
              <a:rPr sz="2000" dirty="0">
                <a:latin typeface="Verdana"/>
                <a:cs typeface="Verdana"/>
              </a:rPr>
              <a:t>step</a:t>
            </a:r>
            <a:r>
              <a:rPr sz="2000" spc="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overshoot</a:t>
            </a:r>
            <a:r>
              <a:rPr sz="2000" dirty="0">
                <a:latin typeface="Verdana"/>
                <a:cs typeface="Verdana"/>
              </a:rPr>
              <a:t>	AC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Response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vs.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Frequency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6477" y="2572728"/>
            <a:ext cx="5187926" cy="292647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75B57E62-3538-4FEE-9557-D2C87E88605E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73683" y="1334516"/>
            <a:ext cx="935672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2600" indent="-469900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Introduction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background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0"/>
              </a:spcBef>
              <a:buClr>
                <a:srgbClr val="CC0000"/>
              </a:buClr>
              <a:buFont typeface="Wingdings"/>
              <a:buChar char=""/>
            </a:pPr>
            <a:endParaRPr sz="20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Refresher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on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feedback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theory,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bode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plots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gain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phase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margin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0663" y="2529077"/>
            <a:ext cx="10647680" cy="675640"/>
          </a:xfrm>
          <a:prstGeom prst="rect">
            <a:avLst/>
          </a:prstGeom>
          <a:solidFill>
            <a:srgbClr val="CB0000"/>
          </a:solidFill>
        </p:spPr>
        <p:txBody>
          <a:bodyPr vert="horz" wrap="square" lIns="0" tIns="158750" rIns="0" bIns="0" rtlCol="0">
            <a:spAutoFit/>
          </a:bodyPr>
          <a:lstStyle/>
          <a:p>
            <a:pPr marL="515620" indent="-469900">
              <a:lnSpc>
                <a:spcPct val="100000"/>
              </a:lnSpc>
              <a:spcBef>
                <a:spcPts val="1250"/>
              </a:spcBef>
              <a:buFont typeface="Wingdings"/>
              <a:buChar char=""/>
              <a:tabLst>
                <a:tab pos="515620" algn="l"/>
              </a:tabLst>
            </a:pP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Amplifier</a:t>
            </a:r>
            <a:r>
              <a:rPr sz="200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frequency</a:t>
            </a:r>
            <a:r>
              <a:rPr sz="20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response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3683" y="3346163"/>
            <a:ext cx="448119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2600" indent="-469900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Basic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compensation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techniques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3683" y="4016712"/>
            <a:ext cx="647382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2600" indent="-469900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Alternative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(advanced)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compensation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schemes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0"/>
              </a:spcBef>
              <a:buClr>
                <a:srgbClr val="CC0000"/>
              </a:buClr>
              <a:buFont typeface="Wingdings"/>
              <a:buChar char=""/>
            </a:pPr>
            <a:endParaRPr sz="20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Practical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tips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suggestions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120633" y="3204210"/>
            <a:ext cx="3267710" cy="658495"/>
          </a:xfrm>
          <a:custGeom>
            <a:avLst/>
            <a:gdLst/>
            <a:ahLst/>
            <a:cxnLst/>
            <a:rect l="l" t="t" r="r" b="b"/>
            <a:pathLst>
              <a:path w="3267709" h="658495">
                <a:moveTo>
                  <a:pt x="3267455" y="605789"/>
                </a:moveTo>
                <a:lnTo>
                  <a:pt x="3267455" y="0"/>
                </a:lnTo>
                <a:lnTo>
                  <a:pt x="0" y="0"/>
                </a:lnTo>
                <a:lnTo>
                  <a:pt x="0" y="605790"/>
                </a:lnTo>
                <a:lnTo>
                  <a:pt x="15430" y="642937"/>
                </a:lnTo>
                <a:lnTo>
                  <a:pt x="52578" y="658368"/>
                </a:lnTo>
                <a:lnTo>
                  <a:pt x="3214116" y="658367"/>
                </a:lnTo>
                <a:lnTo>
                  <a:pt x="3234987" y="654224"/>
                </a:lnTo>
                <a:lnTo>
                  <a:pt x="3251930" y="642937"/>
                </a:lnTo>
                <a:lnTo>
                  <a:pt x="3263300" y="626221"/>
                </a:lnTo>
                <a:lnTo>
                  <a:pt x="3267455" y="605789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214612" y="3234944"/>
            <a:ext cx="30219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Causes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poles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zeros </a:t>
            </a:r>
            <a:r>
              <a:rPr sz="1800" dirty="0">
                <a:latin typeface="Verdana"/>
                <a:cs typeface="Verdana"/>
              </a:rPr>
              <a:t>Number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gain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stages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EC6DECAD-9C02-4E0A-B72D-64C726F5DFBE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13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34100" y="1882140"/>
            <a:ext cx="5250941" cy="393725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dirty="0"/>
              <a:t>Trends to </a:t>
            </a:r>
            <a:r>
              <a:rPr spc="-10" dirty="0"/>
              <a:t>Remember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979932" y="2458211"/>
            <a:ext cx="3451860" cy="2551430"/>
            <a:chOff x="979932" y="2458211"/>
            <a:chExt cx="3451860" cy="2551430"/>
          </a:xfrm>
        </p:grpSpPr>
        <p:sp>
          <p:nvSpPr>
            <p:cNvPr id="5" name="object 5"/>
            <p:cNvSpPr/>
            <p:nvPr/>
          </p:nvSpPr>
          <p:spPr>
            <a:xfrm>
              <a:off x="1337310" y="3057905"/>
              <a:ext cx="0" cy="1171575"/>
            </a:xfrm>
            <a:custGeom>
              <a:avLst/>
              <a:gdLst/>
              <a:ahLst/>
              <a:cxnLst/>
              <a:rect l="l" t="t" r="r" b="b"/>
              <a:pathLst>
                <a:path h="1171575">
                  <a:moveTo>
                    <a:pt x="0" y="1171194"/>
                  </a:moveTo>
                  <a:lnTo>
                    <a:pt x="0" y="0"/>
                  </a:lnTo>
                </a:path>
              </a:pathLst>
            </a:custGeom>
            <a:ln w="38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98982" y="3289553"/>
              <a:ext cx="683895" cy="702945"/>
            </a:xfrm>
            <a:custGeom>
              <a:avLst/>
              <a:gdLst/>
              <a:ahLst/>
              <a:cxnLst/>
              <a:rect l="l" t="t" r="r" b="b"/>
              <a:pathLst>
                <a:path w="683894" h="702945">
                  <a:moveTo>
                    <a:pt x="683513" y="351282"/>
                  </a:moveTo>
                  <a:lnTo>
                    <a:pt x="680406" y="303711"/>
                  </a:lnTo>
                  <a:lnTo>
                    <a:pt x="671350" y="258056"/>
                  </a:lnTo>
                  <a:lnTo>
                    <a:pt x="656748" y="214741"/>
                  </a:lnTo>
                  <a:lnTo>
                    <a:pt x="637003" y="174187"/>
                  </a:lnTo>
                  <a:lnTo>
                    <a:pt x="612517" y="136819"/>
                  </a:lnTo>
                  <a:lnTo>
                    <a:pt x="583691" y="103060"/>
                  </a:lnTo>
                  <a:lnTo>
                    <a:pt x="550929" y="73333"/>
                  </a:lnTo>
                  <a:lnTo>
                    <a:pt x="514632" y="48062"/>
                  </a:lnTo>
                  <a:lnTo>
                    <a:pt x="475202" y="27670"/>
                  </a:lnTo>
                  <a:lnTo>
                    <a:pt x="433041" y="12580"/>
                  </a:lnTo>
                  <a:lnTo>
                    <a:pt x="388552" y="3215"/>
                  </a:lnTo>
                  <a:lnTo>
                    <a:pt x="342137" y="0"/>
                  </a:lnTo>
                  <a:lnTo>
                    <a:pt x="295708" y="3215"/>
                  </a:lnTo>
                  <a:lnTo>
                    <a:pt x="251177" y="12580"/>
                  </a:lnTo>
                  <a:lnTo>
                    <a:pt x="208954" y="27670"/>
                  </a:lnTo>
                  <a:lnTo>
                    <a:pt x="169446" y="48062"/>
                  </a:lnTo>
                  <a:lnTo>
                    <a:pt x="133059" y="73333"/>
                  </a:lnTo>
                  <a:lnTo>
                    <a:pt x="100203" y="103060"/>
                  </a:lnTo>
                  <a:lnTo>
                    <a:pt x="71283" y="136819"/>
                  </a:lnTo>
                  <a:lnTo>
                    <a:pt x="46707" y="174187"/>
                  </a:lnTo>
                  <a:lnTo>
                    <a:pt x="26884" y="214741"/>
                  </a:lnTo>
                  <a:lnTo>
                    <a:pt x="12220" y="258056"/>
                  </a:lnTo>
                  <a:lnTo>
                    <a:pt x="3122" y="303711"/>
                  </a:lnTo>
                  <a:lnTo>
                    <a:pt x="0" y="351282"/>
                  </a:lnTo>
                  <a:lnTo>
                    <a:pt x="3122" y="399012"/>
                  </a:lnTo>
                  <a:lnTo>
                    <a:pt x="12220" y="444771"/>
                  </a:lnTo>
                  <a:lnTo>
                    <a:pt x="26884" y="488144"/>
                  </a:lnTo>
                  <a:lnTo>
                    <a:pt x="46707" y="528715"/>
                  </a:lnTo>
                  <a:lnTo>
                    <a:pt x="71283" y="566068"/>
                  </a:lnTo>
                  <a:lnTo>
                    <a:pt x="100202" y="599789"/>
                  </a:lnTo>
                  <a:lnTo>
                    <a:pt x="133059" y="629461"/>
                  </a:lnTo>
                  <a:lnTo>
                    <a:pt x="169446" y="654670"/>
                  </a:lnTo>
                  <a:lnTo>
                    <a:pt x="208954" y="675001"/>
                  </a:lnTo>
                  <a:lnTo>
                    <a:pt x="251177" y="690036"/>
                  </a:lnTo>
                  <a:lnTo>
                    <a:pt x="295708" y="699362"/>
                  </a:lnTo>
                  <a:lnTo>
                    <a:pt x="342137" y="702564"/>
                  </a:lnTo>
                  <a:lnTo>
                    <a:pt x="388552" y="699362"/>
                  </a:lnTo>
                  <a:lnTo>
                    <a:pt x="433041" y="690036"/>
                  </a:lnTo>
                  <a:lnTo>
                    <a:pt x="475202" y="675001"/>
                  </a:lnTo>
                  <a:lnTo>
                    <a:pt x="514632" y="654670"/>
                  </a:lnTo>
                  <a:lnTo>
                    <a:pt x="550929" y="629461"/>
                  </a:lnTo>
                  <a:lnTo>
                    <a:pt x="583691" y="599789"/>
                  </a:lnTo>
                  <a:lnTo>
                    <a:pt x="612517" y="566068"/>
                  </a:lnTo>
                  <a:lnTo>
                    <a:pt x="637003" y="528715"/>
                  </a:lnTo>
                  <a:lnTo>
                    <a:pt x="656748" y="488144"/>
                  </a:lnTo>
                  <a:lnTo>
                    <a:pt x="671350" y="444771"/>
                  </a:lnTo>
                  <a:lnTo>
                    <a:pt x="680406" y="399012"/>
                  </a:lnTo>
                  <a:lnTo>
                    <a:pt x="683513" y="35128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98982" y="3289553"/>
              <a:ext cx="683895" cy="702945"/>
            </a:xfrm>
            <a:custGeom>
              <a:avLst/>
              <a:gdLst/>
              <a:ahLst/>
              <a:cxnLst/>
              <a:rect l="l" t="t" r="r" b="b"/>
              <a:pathLst>
                <a:path w="683894" h="702945">
                  <a:moveTo>
                    <a:pt x="683513" y="351282"/>
                  </a:moveTo>
                  <a:lnTo>
                    <a:pt x="680406" y="303711"/>
                  </a:lnTo>
                  <a:lnTo>
                    <a:pt x="671350" y="258056"/>
                  </a:lnTo>
                  <a:lnTo>
                    <a:pt x="656748" y="214741"/>
                  </a:lnTo>
                  <a:lnTo>
                    <a:pt x="637003" y="174187"/>
                  </a:lnTo>
                  <a:lnTo>
                    <a:pt x="612517" y="136819"/>
                  </a:lnTo>
                  <a:lnTo>
                    <a:pt x="583691" y="103060"/>
                  </a:lnTo>
                  <a:lnTo>
                    <a:pt x="550929" y="73333"/>
                  </a:lnTo>
                  <a:lnTo>
                    <a:pt x="514632" y="48062"/>
                  </a:lnTo>
                  <a:lnTo>
                    <a:pt x="475202" y="27670"/>
                  </a:lnTo>
                  <a:lnTo>
                    <a:pt x="433041" y="12580"/>
                  </a:lnTo>
                  <a:lnTo>
                    <a:pt x="388552" y="3215"/>
                  </a:lnTo>
                  <a:lnTo>
                    <a:pt x="342137" y="0"/>
                  </a:lnTo>
                  <a:lnTo>
                    <a:pt x="295708" y="3215"/>
                  </a:lnTo>
                  <a:lnTo>
                    <a:pt x="251177" y="12580"/>
                  </a:lnTo>
                  <a:lnTo>
                    <a:pt x="208954" y="27670"/>
                  </a:lnTo>
                  <a:lnTo>
                    <a:pt x="169446" y="48062"/>
                  </a:lnTo>
                  <a:lnTo>
                    <a:pt x="133059" y="73333"/>
                  </a:lnTo>
                  <a:lnTo>
                    <a:pt x="100203" y="103060"/>
                  </a:lnTo>
                  <a:lnTo>
                    <a:pt x="71283" y="136819"/>
                  </a:lnTo>
                  <a:lnTo>
                    <a:pt x="46707" y="174187"/>
                  </a:lnTo>
                  <a:lnTo>
                    <a:pt x="26884" y="214741"/>
                  </a:lnTo>
                  <a:lnTo>
                    <a:pt x="12220" y="258056"/>
                  </a:lnTo>
                  <a:lnTo>
                    <a:pt x="3122" y="303711"/>
                  </a:lnTo>
                  <a:lnTo>
                    <a:pt x="0" y="351282"/>
                  </a:lnTo>
                  <a:lnTo>
                    <a:pt x="3122" y="399012"/>
                  </a:lnTo>
                  <a:lnTo>
                    <a:pt x="12220" y="444771"/>
                  </a:lnTo>
                  <a:lnTo>
                    <a:pt x="26884" y="488144"/>
                  </a:lnTo>
                  <a:lnTo>
                    <a:pt x="46707" y="528715"/>
                  </a:lnTo>
                  <a:lnTo>
                    <a:pt x="71283" y="566068"/>
                  </a:lnTo>
                  <a:lnTo>
                    <a:pt x="100202" y="599789"/>
                  </a:lnTo>
                  <a:lnTo>
                    <a:pt x="133059" y="629461"/>
                  </a:lnTo>
                  <a:lnTo>
                    <a:pt x="169446" y="654670"/>
                  </a:lnTo>
                  <a:lnTo>
                    <a:pt x="208954" y="675001"/>
                  </a:lnTo>
                  <a:lnTo>
                    <a:pt x="251177" y="690036"/>
                  </a:lnTo>
                  <a:lnTo>
                    <a:pt x="295708" y="699362"/>
                  </a:lnTo>
                  <a:lnTo>
                    <a:pt x="342137" y="702564"/>
                  </a:lnTo>
                  <a:lnTo>
                    <a:pt x="388552" y="699362"/>
                  </a:lnTo>
                  <a:lnTo>
                    <a:pt x="433041" y="690036"/>
                  </a:lnTo>
                  <a:lnTo>
                    <a:pt x="475202" y="675001"/>
                  </a:lnTo>
                  <a:lnTo>
                    <a:pt x="514632" y="654670"/>
                  </a:lnTo>
                  <a:lnTo>
                    <a:pt x="550929" y="629461"/>
                  </a:lnTo>
                  <a:lnTo>
                    <a:pt x="583691" y="599789"/>
                  </a:lnTo>
                  <a:lnTo>
                    <a:pt x="612517" y="566068"/>
                  </a:lnTo>
                  <a:lnTo>
                    <a:pt x="637003" y="528715"/>
                  </a:lnTo>
                  <a:lnTo>
                    <a:pt x="656748" y="488144"/>
                  </a:lnTo>
                  <a:lnTo>
                    <a:pt x="671350" y="444771"/>
                  </a:lnTo>
                  <a:lnTo>
                    <a:pt x="680406" y="399012"/>
                  </a:lnTo>
                  <a:lnTo>
                    <a:pt x="683513" y="351282"/>
                  </a:lnTo>
                  <a:close/>
                </a:path>
              </a:pathLst>
            </a:custGeom>
            <a:ln w="38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42060" y="3761994"/>
              <a:ext cx="180975" cy="0"/>
            </a:xfrm>
            <a:custGeom>
              <a:avLst/>
              <a:gdLst/>
              <a:ahLst/>
              <a:cxnLst/>
              <a:rect l="l" t="t" r="r" b="b"/>
              <a:pathLst>
                <a:path w="180975">
                  <a:moveTo>
                    <a:pt x="0" y="0"/>
                  </a:moveTo>
                  <a:lnTo>
                    <a:pt x="180594" y="0"/>
                  </a:lnTo>
                </a:path>
              </a:pathLst>
            </a:custGeom>
            <a:ln w="38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37310" y="3486150"/>
              <a:ext cx="0" cy="95250"/>
            </a:xfrm>
            <a:custGeom>
              <a:avLst/>
              <a:gdLst/>
              <a:ahLst/>
              <a:cxnLst/>
              <a:rect l="l" t="t" r="r" b="b"/>
              <a:pathLst>
                <a:path h="95250">
                  <a:moveTo>
                    <a:pt x="0" y="0"/>
                  </a:moveTo>
                  <a:lnTo>
                    <a:pt x="0" y="95250"/>
                  </a:lnTo>
                </a:path>
              </a:pathLst>
            </a:custGeom>
            <a:ln w="38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37310" y="3390900"/>
              <a:ext cx="0" cy="152400"/>
            </a:xfrm>
            <a:custGeom>
              <a:avLst/>
              <a:gdLst/>
              <a:ahLst/>
              <a:cxnLst/>
              <a:rect l="l" t="t" r="r" b="b"/>
              <a:pathLst>
                <a:path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ln w="38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51204" y="3486150"/>
              <a:ext cx="181610" cy="0"/>
            </a:xfrm>
            <a:custGeom>
              <a:avLst/>
              <a:gdLst/>
              <a:ahLst/>
              <a:cxnLst/>
              <a:rect l="l" t="t" r="r" b="b"/>
              <a:pathLst>
                <a:path w="181609">
                  <a:moveTo>
                    <a:pt x="0" y="0"/>
                  </a:moveTo>
                  <a:lnTo>
                    <a:pt x="181356" y="0"/>
                  </a:lnTo>
                </a:path>
              </a:pathLst>
            </a:custGeom>
            <a:ln w="38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17904" y="2477261"/>
              <a:ext cx="971550" cy="323215"/>
            </a:xfrm>
            <a:custGeom>
              <a:avLst/>
              <a:gdLst/>
              <a:ahLst/>
              <a:cxnLst/>
              <a:rect l="l" t="t" r="r" b="b"/>
              <a:pathLst>
                <a:path w="971550" h="323214">
                  <a:moveTo>
                    <a:pt x="0" y="161544"/>
                  </a:moveTo>
                  <a:lnTo>
                    <a:pt x="124205" y="161544"/>
                  </a:lnTo>
                  <a:lnTo>
                    <a:pt x="181356" y="0"/>
                  </a:lnTo>
                  <a:lnTo>
                    <a:pt x="304800" y="323088"/>
                  </a:lnTo>
                  <a:lnTo>
                    <a:pt x="428244" y="0"/>
                  </a:lnTo>
                  <a:lnTo>
                    <a:pt x="552450" y="323088"/>
                  </a:lnTo>
                  <a:lnTo>
                    <a:pt x="666750" y="0"/>
                  </a:lnTo>
                  <a:lnTo>
                    <a:pt x="790194" y="323088"/>
                  </a:lnTo>
                  <a:lnTo>
                    <a:pt x="857250" y="161544"/>
                  </a:lnTo>
                  <a:lnTo>
                    <a:pt x="971550" y="161544"/>
                  </a:lnTo>
                </a:path>
              </a:pathLst>
            </a:custGeom>
            <a:ln w="38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108198" y="4009643"/>
              <a:ext cx="419100" cy="209550"/>
            </a:xfrm>
            <a:custGeom>
              <a:avLst/>
              <a:gdLst/>
              <a:ahLst/>
              <a:cxnLst/>
              <a:rect l="l" t="t" r="r" b="b"/>
              <a:pathLst>
                <a:path w="419100" h="209550">
                  <a:moveTo>
                    <a:pt x="419100" y="143256"/>
                  </a:moveTo>
                  <a:lnTo>
                    <a:pt x="0" y="143256"/>
                  </a:lnTo>
                  <a:lnTo>
                    <a:pt x="0" y="209550"/>
                  </a:lnTo>
                  <a:lnTo>
                    <a:pt x="419100" y="209550"/>
                  </a:lnTo>
                  <a:lnTo>
                    <a:pt x="419100" y="143256"/>
                  </a:lnTo>
                  <a:close/>
                </a:path>
                <a:path w="419100" h="209550">
                  <a:moveTo>
                    <a:pt x="4191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419100" y="76200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317748" y="4219194"/>
              <a:ext cx="0" cy="209550"/>
            </a:xfrm>
            <a:custGeom>
              <a:avLst/>
              <a:gdLst/>
              <a:ahLst/>
              <a:cxnLst/>
              <a:rect l="l" t="t" r="r" b="b"/>
              <a:pathLst>
                <a:path h="209550">
                  <a:moveTo>
                    <a:pt x="0" y="209550"/>
                  </a:moveTo>
                  <a:lnTo>
                    <a:pt x="0" y="0"/>
                  </a:lnTo>
                </a:path>
              </a:pathLst>
            </a:custGeom>
            <a:ln w="38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317748" y="3800094"/>
              <a:ext cx="0" cy="247650"/>
            </a:xfrm>
            <a:custGeom>
              <a:avLst/>
              <a:gdLst/>
              <a:ahLst/>
              <a:cxnLst/>
              <a:rect l="l" t="t" r="r" b="b"/>
              <a:pathLst>
                <a:path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ln w="38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155442" y="2829305"/>
              <a:ext cx="323850" cy="970915"/>
            </a:xfrm>
            <a:custGeom>
              <a:avLst/>
              <a:gdLst/>
              <a:ahLst/>
              <a:cxnLst/>
              <a:rect l="l" t="t" r="r" b="b"/>
              <a:pathLst>
                <a:path w="323850" h="970914">
                  <a:moveTo>
                    <a:pt x="162306" y="0"/>
                  </a:moveTo>
                  <a:lnTo>
                    <a:pt x="162306" y="123444"/>
                  </a:lnTo>
                  <a:lnTo>
                    <a:pt x="323850" y="180594"/>
                  </a:lnTo>
                  <a:lnTo>
                    <a:pt x="0" y="304800"/>
                  </a:lnTo>
                  <a:lnTo>
                    <a:pt x="323850" y="428244"/>
                  </a:lnTo>
                  <a:lnTo>
                    <a:pt x="0" y="552450"/>
                  </a:lnTo>
                  <a:lnTo>
                    <a:pt x="323850" y="666750"/>
                  </a:lnTo>
                  <a:lnTo>
                    <a:pt x="0" y="790194"/>
                  </a:lnTo>
                  <a:lnTo>
                    <a:pt x="162306" y="856488"/>
                  </a:lnTo>
                  <a:lnTo>
                    <a:pt x="162306" y="970788"/>
                  </a:lnTo>
                </a:path>
              </a:pathLst>
            </a:custGeom>
            <a:ln w="38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012692" y="3381755"/>
              <a:ext cx="419100" cy="208915"/>
            </a:xfrm>
            <a:custGeom>
              <a:avLst/>
              <a:gdLst/>
              <a:ahLst/>
              <a:cxnLst/>
              <a:rect l="l" t="t" r="r" b="b"/>
              <a:pathLst>
                <a:path w="419100" h="208914">
                  <a:moveTo>
                    <a:pt x="419100" y="133350"/>
                  </a:moveTo>
                  <a:lnTo>
                    <a:pt x="0" y="133350"/>
                  </a:lnTo>
                  <a:lnTo>
                    <a:pt x="0" y="208788"/>
                  </a:lnTo>
                  <a:lnTo>
                    <a:pt x="419100" y="208788"/>
                  </a:lnTo>
                  <a:lnTo>
                    <a:pt x="419100" y="133350"/>
                  </a:lnTo>
                  <a:close/>
                </a:path>
                <a:path w="419100" h="208914">
                  <a:moveTo>
                    <a:pt x="4191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419100" y="76200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222242" y="3590544"/>
              <a:ext cx="0" cy="209550"/>
            </a:xfrm>
            <a:custGeom>
              <a:avLst/>
              <a:gdLst/>
              <a:ahLst/>
              <a:cxnLst/>
              <a:rect l="l" t="t" r="r" b="b"/>
              <a:pathLst>
                <a:path h="209550">
                  <a:moveTo>
                    <a:pt x="0" y="209550"/>
                  </a:moveTo>
                  <a:lnTo>
                    <a:pt x="0" y="0"/>
                  </a:lnTo>
                </a:path>
              </a:pathLst>
            </a:custGeom>
            <a:ln w="38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222242" y="3172205"/>
              <a:ext cx="0" cy="247650"/>
            </a:xfrm>
            <a:custGeom>
              <a:avLst/>
              <a:gdLst/>
              <a:ahLst/>
              <a:cxnLst/>
              <a:rect l="l" t="t" r="r" b="b"/>
              <a:pathLst>
                <a:path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ln w="38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37310" y="2638805"/>
              <a:ext cx="180975" cy="419100"/>
            </a:xfrm>
            <a:custGeom>
              <a:avLst/>
              <a:gdLst/>
              <a:ahLst/>
              <a:cxnLst/>
              <a:rect l="l" t="t" r="r" b="b"/>
              <a:pathLst>
                <a:path w="180975" h="419100">
                  <a:moveTo>
                    <a:pt x="0" y="419100"/>
                  </a:moveTo>
                  <a:lnTo>
                    <a:pt x="0" y="0"/>
                  </a:lnTo>
                  <a:lnTo>
                    <a:pt x="180594" y="0"/>
                  </a:lnTo>
                </a:path>
              </a:pathLst>
            </a:custGeom>
            <a:ln w="38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489454" y="2638805"/>
              <a:ext cx="1732914" cy="533400"/>
            </a:xfrm>
            <a:custGeom>
              <a:avLst/>
              <a:gdLst/>
              <a:ahLst/>
              <a:cxnLst/>
              <a:rect l="l" t="t" r="r" b="b"/>
              <a:pathLst>
                <a:path w="1732914" h="533400">
                  <a:moveTo>
                    <a:pt x="0" y="0"/>
                  </a:moveTo>
                  <a:lnTo>
                    <a:pt x="1732788" y="0"/>
                  </a:lnTo>
                  <a:lnTo>
                    <a:pt x="1732788" y="533399"/>
                  </a:lnTo>
                </a:path>
              </a:pathLst>
            </a:custGeom>
            <a:ln w="38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317748" y="2638805"/>
              <a:ext cx="0" cy="190500"/>
            </a:xfrm>
            <a:custGeom>
              <a:avLst/>
              <a:gdLst/>
              <a:ahLst/>
              <a:cxnLst/>
              <a:rect l="l" t="t" r="r" b="b"/>
              <a:pathLst>
                <a:path h="190500">
                  <a:moveTo>
                    <a:pt x="0" y="190500"/>
                  </a:moveTo>
                  <a:lnTo>
                    <a:pt x="0" y="0"/>
                  </a:lnTo>
                </a:path>
              </a:pathLst>
            </a:custGeom>
            <a:ln w="38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337310" y="3800094"/>
              <a:ext cx="2885440" cy="809625"/>
            </a:xfrm>
            <a:custGeom>
              <a:avLst/>
              <a:gdLst/>
              <a:ahLst/>
              <a:cxnLst/>
              <a:rect l="l" t="t" r="r" b="b"/>
              <a:pathLst>
                <a:path w="2885440" h="809625">
                  <a:moveTo>
                    <a:pt x="2884932" y="0"/>
                  </a:moveTo>
                  <a:lnTo>
                    <a:pt x="2884932" y="809244"/>
                  </a:lnTo>
                  <a:lnTo>
                    <a:pt x="0" y="809244"/>
                  </a:lnTo>
                  <a:lnTo>
                    <a:pt x="0" y="429006"/>
                  </a:lnTo>
                </a:path>
              </a:pathLst>
            </a:custGeom>
            <a:ln w="38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317748" y="4428744"/>
              <a:ext cx="0" cy="180975"/>
            </a:xfrm>
            <a:custGeom>
              <a:avLst/>
              <a:gdLst/>
              <a:ahLst/>
              <a:cxnLst/>
              <a:rect l="l" t="t" r="r" b="b"/>
              <a:pathLst>
                <a:path h="180975">
                  <a:moveTo>
                    <a:pt x="0" y="0"/>
                  </a:moveTo>
                  <a:lnTo>
                    <a:pt x="0" y="180594"/>
                  </a:lnTo>
                </a:path>
              </a:pathLst>
            </a:custGeom>
            <a:ln w="38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223010" y="4933188"/>
              <a:ext cx="238125" cy="76200"/>
            </a:xfrm>
            <a:custGeom>
              <a:avLst/>
              <a:gdLst/>
              <a:ahLst/>
              <a:cxnLst/>
              <a:rect l="l" t="t" r="r" b="b"/>
              <a:pathLst>
                <a:path w="238125" h="76200">
                  <a:moveTo>
                    <a:pt x="237744" y="76200"/>
                  </a:moveTo>
                  <a:lnTo>
                    <a:pt x="237744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237744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337310" y="4609338"/>
              <a:ext cx="0" cy="323850"/>
            </a:xfrm>
            <a:custGeom>
              <a:avLst/>
              <a:gdLst/>
              <a:ahLst/>
              <a:cxnLst/>
              <a:rect l="l" t="t" r="r" b="b"/>
              <a:pathLst>
                <a:path h="323850">
                  <a:moveTo>
                    <a:pt x="0" y="0"/>
                  </a:moveTo>
                  <a:lnTo>
                    <a:pt x="0" y="323850"/>
                  </a:lnTo>
                </a:path>
              </a:pathLst>
            </a:custGeom>
            <a:ln w="38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017267" y="2132329"/>
            <a:ext cx="807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100KΩ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538966" y="3765288"/>
            <a:ext cx="591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Verdana"/>
                <a:cs typeface="Verdana"/>
              </a:rPr>
              <a:t>10pF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160758" y="2284714"/>
            <a:ext cx="297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vx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705100" y="2524505"/>
            <a:ext cx="1744980" cy="2304415"/>
            <a:chOff x="2705100" y="2524505"/>
            <a:chExt cx="1744980" cy="2304415"/>
          </a:xfrm>
        </p:grpSpPr>
        <p:sp>
          <p:nvSpPr>
            <p:cNvPr id="31" name="object 31"/>
            <p:cNvSpPr/>
            <p:nvPr/>
          </p:nvSpPr>
          <p:spPr>
            <a:xfrm>
              <a:off x="2705100" y="2687573"/>
              <a:ext cx="360680" cy="132715"/>
            </a:xfrm>
            <a:custGeom>
              <a:avLst/>
              <a:gdLst/>
              <a:ahLst/>
              <a:cxnLst/>
              <a:rect l="l" t="t" r="r" b="b"/>
              <a:pathLst>
                <a:path w="360680" h="132714">
                  <a:moveTo>
                    <a:pt x="303604" y="66293"/>
                  </a:moveTo>
                  <a:lnTo>
                    <a:pt x="278657" y="51815"/>
                  </a:lnTo>
                  <a:lnTo>
                    <a:pt x="0" y="51815"/>
                  </a:lnTo>
                  <a:lnTo>
                    <a:pt x="0" y="80771"/>
                  </a:lnTo>
                  <a:lnTo>
                    <a:pt x="278657" y="80771"/>
                  </a:lnTo>
                  <a:lnTo>
                    <a:pt x="303604" y="66293"/>
                  </a:lnTo>
                  <a:close/>
                </a:path>
                <a:path w="360680" h="132714">
                  <a:moveTo>
                    <a:pt x="360425" y="66293"/>
                  </a:moveTo>
                  <a:lnTo>
                    <a:pt x="253745" y="3809"/>
                  </a:lnTo>
                  <a:lnTo>
                    <a:pt x="246887" y="0"/>
                  </a:lnTo>
                  <a:lnTo>
                    <a:pt x="237744" y="2286"/>
                  </a:lnTo>
                  <a:lnTo>
                    <a:pt x="230124" y="16001"/>
                  </a:lnTo>
                  <a:lnTo>
                    <a:pt x="232410" y="24383"/>
                  </a:lnTo>
                  <a:lnTo>
                    <a:pt x="239268" y="28956"/>
                  </a:lnTo>
                  <a:lnTo>
                    <a:pt x="278657" y="51815"/>
                  </a:lnTo>
                  <a:lnTo>
                    <a:pt x="332231" y="51815"/>
                  </a:lnTo>
                  <a:lnTo>
                    <a:pt x="332231" y="82807"/>
                  </a:lnTo>
                  <a:lnTo>
                    <a:pt x="360425" y="66293"/>
                  </a:lnTo>
                  <a:close/>
                </a:path>
                <a:path w="360680" h="132714">
                  <a:moveTo>
                    <a:pt x="332231" y="82807"/>
                  </a:moveTo>
                  <a:lnTo>
                    <a:pt x="332231" y="80771"/>
                  </a:lnTo>
                  <a:lnTo>
                    <a:pt x="278657" y="80771"/>
                  </a:lnTo>
                  <a:lnTo>
                    <a:pt x="239268" y="103631"/>
                  </a:lnTo>
                  <a:lnTo>
                    <a:pt x="232410" y="108203"/>
                  </a:lnTo>
                  <a:lnTo>
                    <a:pt x="230124" y="116586"/>
                  </a:lnTo>
                  <a:lnTo>
                    <a:pt x="237744" y="130301"/>
                  </a:lnTo>
                  <a:lnTo>
                    <a:pt x="246887" y="132587"/>
                  </a:lnTo>
                  <a:lnTo>
                    <a:pt x="253745" y="128777"/>
                  </a:lnTo>
                  <a:lnTo>
                    <a:pt x="332231" y="82807"/>
                  </a:lnTo>
                  <a:close/>
                </a:path>
                <a:path w="360680" h="132714">
                  <a:moveTo>
                    <a:pt x="332231" y="80771"/>
                  </a:moveTo>
                  <a:lnTo>
                    <a:pt x="332231" y="51815"/>
                  </a:lnTo>
                  <a:lnTo>
                    <a:pt x="278657" y="51815"/>
                  </a:lnTo>
                  <a:lnTo>
                    <a:pt x="303604" y="66293"/>
                  </a:lnTo>
                  <a:lnTo>
                    <a:pt x="324612" y="54101"/>
                  </a:lnTo>
                  <a:lnTo>
                    <a:pt x="324612" y="80771"/>
                  </a:lnTo>
                  <a:lnTo>
                    <a:pt x="332231" y="80771"/>
                  </a:lnTo>
                  <a:close/>
                </a:path>
                <a:path w="360680" h="132714">
                  <a:moveTo>
                    <a:pt x="324612" y="80771"/>
                  </a:moveTo>
                  <a:lnTo>
                    <a:pt x="324612" y="78485"/>
                  </a:lnTo>
                  <a:lnTo>
                    <a:pt x="303604" y="66293"/>
                  </a:lnTo>
                  <a:lnTo>
                    <a:pt x="278657" y="80771"/>
                  </a:lnTo>
                  <a:lnTo>
                    <a:pt x="324612" y="80771"/>
                  </a:lnTo>
                  <a:close/>
                </a:path>
                <a:path w="360680" h="132714">
                  <a:moveTo>
                    <a:pt x="324612" y="78485"/>
                  </a:moveTo>
                  <a:lnTo>
                    <a:pt x="324612" y="54101"/>
                  </a:lnTo>
                  <a:lnTo>
                    <a:pt x="303604" y="66293"/>
                  </a:lnTo>
                  <a:lnTo>
                    <a:pt x="324612" y="78485"/>
                  </a:lnTo>
                  <a:close/>
                </a:path>
              </a:pathLst>
            </a:custGeom>
            <a:solidFill>
              <a:srgbClr val="CB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940558" y="2524505"/>
              <a:ext cx="1510030" cy="2304415"/>
            </a:xfrm>
            <a:custGeom>
              <a:avLst/>
              <a:gdLst/>
              <a:ahLst/>
              <a:cxnLst/>
              <a:rect l="l" t="t" r="r" b="b"/>
              <a:pathLst>
                <a:path w="1510029" h="2304415">
                  <a:moveTo>
                    <a:pt x="9906" y="2299716"/>
                  </a:moveTo>
                  <a:lnTo>
                    <a:pt x="9906" y="2261616"/>
                  </a:lnTo>
                  <a:lnTo>
                    <a:pt x="0" y="2261616"/>
                  </a:lnTo>
                  <a:lnTo>
                    <a:pt x="0" y="2299716"/>
                  </a:lnTo>
                  <a:lnTo>
                    <a:pt x="9906" y="2299716"/>
                  </a:lnTo>
                  <a:close/>
                </a:path>
                <a:path w="1510029" h="2304415">
                  <a:moveTo>
                    <a:pt x="9906" y="2232660"/>
                  </a:moveTo>
                  <a:lnTo>
                    <a:pt x="9906" y="2194560"/>
                  </a:lnTo>
                  <a:lnTo>
                    <a:pt x="0" y="2194560"/>
                  </a:lnTo>
                  <a:lnTo>
                    <a:pt x="0" y="2232660"/>
                  </a:lnTo>
                  <a:lnTo>
                    <a:pt x="9906" y="2232660"/>
                  </a:lnTo>
                  <a:close/>
                </a:path>
                <a:path w="1510029" h="2304415">
                  <a:moveTo>
                    <a:pt x="9906" y="2166366"/>
                  </a:moveTo>
                  <a:lnTo>
                    <a:pt x="9906" y="2128266"/>
                  </a:lnTo>
                  <a:lnTo>
                    <a:pt x="0" y="2128266"/>
                  </a:lnTo>
                  <a:lnTo>
                    <a:pt x="0" y="2166366"/>
                  </a:lnTo>
                  <a:lnTo>
                    <a:pt x="9906" y="2166366"/>
                  </a:lnTo>
                  <a:close/>
                </a:path>
                <a:path w="1510029" h="2304415">
                  <a:moveTo>
                    <a:pt x="9906" y="2099310"/>
                  </a:moveTo>
                  <a:lnTo>
                    <a:pt x="9906" y="2061210"/>
                  </a:lnTo>
                  <a:lnTo>
                    <a:pt x="0" y="2061210"/>
                  </a:lnTo>
                  <a:lnTo>
                    <a:pt x="0" y="2099310"/>
                  </a:lnTo>
                  <a:lnTo>
                    <a:pt x="9906" y="2099310"/>
                  </a:lnTo>
                  <a:close/>
                </a:path>
                <a:path w="1510029" h="2304415">
                  <a:moveTo>
                    <a:pt x="9906" y="2033016"/>
                  </a:moveTo>
                  <a:lnTo>
                    <a:pt x="9906" y="1994916"/>
                  </a:lnTo>
                  <a:lnTo>
                    <a:pt x="0" y="1994916"/>
                  </a:lnTo>
                  <a:lnTo>
                    <a:pt x="0" y="2033016"/>
                  </a:lnTo>
                  <a:lnTo>
                    <a:pt x="9906" y="2033016"/>
                  </a:lnTo>
                  <a:close/>
                </a:path>
                <a:path w="1510029" h="2304415">
                  <a:moveTo>
                    <a:pt x="9906" y="1965960"/>
                  </a:moveTo>
                  <a:lnTo>
                    <a:pt x="9906" y="1927860"/>
                  </a:lnTo>
                  <a:lnTo>
                    <a:pt x="0" y="1927860"/>
                  </a:lnTo>
                  <a:lnTo>
                    <a:pt x="0" y="1965960"/>
                  </a:lnTo>
                  <a:lnTo>
                    <a:pt x="9906" y="1965960"/>
                  </a:lnTo>
                  <a:close/>
                </a:path>
                <a:path w="1510029" h="2304415">
                  <a:moveTo>
                    <a:pt x="9906" y="1899666"/>
                  </a:moveTo>
                  <a:lnTo>
                    <a:pt x="9906" y="1861566"/>
                  </a:lnTo>
                  <a:lnTo>
                    <a:pt x="0" y="1861566"/>
                  </a:lnTo>
                  <a:lnTo>
                    <a:pt x="0" y="1899666"/>
                  </a:lnTo>
                  <a:lnTo>
                    <a:pt x="9906" y="1899666"/>
                  </a:lnTo>
                  <a:close/>
                </a:path>
                <a:path w="1510029" h="2304415">
                  <a:moveTo>
                    <a:pt x="9906" y="1832610"/>
                  </a:moveTo>
                  <a:lnTo>
                    <a:pt x="9906" y="1794510"/>
                  </a:lnTo>
                  <a:lnTo>
                    <a:pt x="0" y="1794510"/>
                  </a:lnTo>
                  <a:lnTo>
                    <a:pt x="0" y="1832610"/>
                  </a:lnTo>
                  <a:lnTo>
                    <a:pt x="9906" y="1832610"/>
                  </a:lnTo>
                  <a:close/>
                </a:path>
                <a:path w="1510029" h="2304415">
                  <a:moveTo>
                    <a:pt x="9906" y="1766316"/>
                  </a:moveTo>
                  <a:lnTo>
                    <a:pt x="9906" y="1728216"/>
                  </a:lnTo>
                  <a:lnTo>
                    <a:pt x="0" y="1728216"/>
                  </a:lnTo>
                  <a:lnTo>
                    <a:pt x="0" y="1766316"/>
                  </a:lnTo>
                  <a:lnTo>
                    <a:pt x="9906" y="1766316"/>
                  </a:lnTo>
                  <a:close/>
                </a:path>
                <a:path w="1510029" h="2304415">
                  <a:moveTo>
                    <a:pt x="9906" y="1699260"/>
                  </a:moveTo>
                  <a:lnTo>
                    <a:pt x="9906" y="1661160"/>
                  </a:lnTo>
                  <a:lnTo>
                    <a:pt x="0" y="1661160"/>
                  </a:lnTo>
                  <a:lnTo>
                    <a:pt x="0" y="1699260"/>
                  </a:lnTo>
                  <a:lnTo>
                    <a:pt x="9906" y="1699260"/>
                  </a:lnTo>
                  <a:close/>
                </a:path>
                <a:path w="1510029" h="2304415">
                  <a:moveTo>
                    <a:pt x="9906" y="1632966"/>
                  </a:moveTo>
                  <a:lnTo>
                    <a:pt x="9906" y="1594866"/>
                  </a:lnTo>
                  <a:lnTo>
                    <a:pt x="0" y="1594866"/>
                  </a:lnTo>
                  <a:lnTo>
                    <a:pt x="0" y="1632966"/>
                  </a:lnTo>
                  <a:lnTo>
                    <a:pt x="9906" y="1632966"/>
                  </a:lnTo>
                  <a:close/>
                </a:path>
                <a:path w="1510029" h="2304415">
                  <a:moveTo>
                    <a:pt x="9906" y="1565910"/>
                  </a:moveTo>
                  <a:lnTo>
                    <a:pt x="9906" y="1527810"/>
                  </a:lnTo>
                  <a:lnTo>
                    <a:pt x="0" y="1527810"/>
                  </a:lnTo>
                  <a:lnTo>
                    <a:pt x="0" y="1565910"/>
                  </a:lnTo>
                  <a:lnTo>
                    <a:pt x="9906" y="1565910"/>
                  </a:lnTo>
                  <a:close/>
                </a:path>
                <a:path w="1510029" h="2304415">
                  <a:moveTo>
                    <a:pt x="9906" y="1499616"/>
                  </a:moveTo>
                  <a:lnTo>
                    <a:pt x="9906" y="1461516"/>
                  </a:lnTo>
                  <a:lnTo>
                    <a:pt x="0" y="1461516"/>
                  </a:lnTo>
                  <a:lnTo>
                    <a:pt x="0" y="1499616"/>
                  </a:lnTo>
                  <a:lnTo>
                    <a:pt x="9906" y="1499616"/>
                  </a:lnTo>
                  <a:close/>
                </a:path>
                <a:path w="1510029" h="2304415">
                  <a:moveTo>
                    <a:pt x="9906" y="1432560"/>
                  </a:moveTo>
                  <a:lnTo>
                    <a:pt x="9906" y="1394460"/>
                  </a:lnTo>
                  <a:lnTo>
                    <a:pt x="0" y="1394460"/>
                  </a:lnTo>
                  <a:lnTo>
                    <a:pt x="0" y="1432560"/>
                  </a:lnTo>
                  <a:lnTo>
                    <a:pt x="9906" y="1432560"/>
                  </a:lnTo>
                  <a:close/>
                </a:path>
                <a:path w="1510029" h="2304415">
                  <a:moveTo>
                    <a:pt x="9906" y="1366266"/>
                  </a:moveTo>
                  <a:lnTo>
                    <a:pt x="9906" y="1328166"/>
                  </a:lnTo>
                  <a:lnTo>
                    <a:pt x="0" y="1328166"/>
                  </a:lnTo>
                  <a:lnTo>
                    <a:pt x="0" y="1366266"/>
                  </a:lnTo>
                  <a:lnTo>
                    <a:pt x="9906" y="1366266"/>
                  </a:lnTo>
                  <a:close/>
                </a:path>
                <a:path w="1510029" h="2304415">
                  <a:moveTo>
                    <a:pt x="9906" y="1299210"/>
                  </a:moveTo>
                  <a:lnTo>
                    <a:pt x="9906" y="1261110"/>
                  </a:lnTo>
                  <a:lnTo>
                    <a:pt x="0" y="1261110"/>
                  </a:lnTo>
                  <a:lnTo>
                    <a:pt x="0" y="1299210"/>
                  </a:lnTo>
                  <a:lnTo>
                    <a:pt x="9906" y="1299210"/>
                  </a:lnTo>
                  <a:close/>
                </a:path>
                <a:path w="1510029" h="2304415">
                  <a:moveTo>
                    <a:pt x="9906" y="1232916"/>
                  </a:moveTo>
                  <a:lnTo>
                    <a:pt x="9906" y="1194816"/>
                  </a:lnTo>
                  <a:lnTo>
                    <a:pt x="0" y="1194816"/>
                  </a:lnTo>
                  <a:lnTo>
                    <a:pt x="0" y="1232916"/>
                  </a:lnTo>
                  <a:lnTo>
                    <a:pt x="9906" y="1232916"/>
                  </a:lnTo>
                  <a:close/>
                </a:path>
                <a:path w="1510029" h="2304415">
                  <a:moveTo>
                    <a:pt x="9906" y="1165860"/>
                  </a:moveTo>
                  <a:lnTo>
                    <a:pt x="9906" y="1127760"/>
                  </a:lnTo>
                  <a:lnTo>
                    <a:pt x="0" y="1127760"/>
                  </a:lnTo>
                  <a:lnTo>
                    <a:pt x="0" y="1165860"/>
                  </a:lnTo>
                  <a:lnTo>
                    <a:pt x="9906" y="1165860"/>
                  </a:lnTo>
                  <a:close/>
                </a:path>
                <a:path w="1510029" h="2304415">
                  <a:moveTo>
                    <a:pt x="9906" y="1099566"/>
                  </a:moveTo>
                  <a:lnTo>
                    <a:pt x="9906" y="1061466"/>
                  </a:lnTo>
                  <a:lnTo>
                    <a:pt x="0" y="1061466"/>
                  </a:lnTo>
                  <a:lnTo>
                    <a:pt x="0" y="1099566"/>
                  </a:lnTo>
                  <a:lnTo>
                    <a:pt x="9906" y="1099566"/>
                  </a:lnTo>
                  <a:close/>
                </a:path>
                <a:path w="1510029" h="2304415">
                  <a:moveTo>
                    <a:pt x="9906" y="1032510"/>
                  </a:moveTo>
                  <a:lnTo>
                    <a:pt x="9906" y="994410"/>
                  </a:lnTo>
                  <a:lnTo>
                    <a:pt x="0" y="994410"/>
                  </a:lnTo>
                  <a:lnTo>
                    <a:pt x="0" y="1032510"/>
                  </a:lnTo>
                  <a:lnTo>
                    <a:pt x="9906" y="1032510"/>
                  </a:lnTo>
                  <a:close/>
                </a:path>
                <a:path w="1510029" h="2304415">
                  <a:moveTo>
                    <a:pt x="9906" y="966216"/>
                  </a:moveTo>
                  <a:lnTo>
                    <a:pt x="9906" y="928116"/>
                  </a:lnTo>
                  <a:lnTo>
                    <a:pt x="0" y="928116"/>
                  </a:lnTo>
                  <a:lnTo>
                    <a:pt x="0" y="966216"/>
                  </a:lnTo>
                  <a:lnTo>
                    <a:pt x="9906" y="966216"/>
                  </a:lnTo>
                  <a:close/>
                </a:path>
                <a:path w="1510029" h="2304415">
                  <a:moveTo>
                    <a:pt x="9906" y="899160"/>
                  </a:moveTo>
                  <a:lnTo>
                    <a:pt x="9906" y="861060"/>
                  </a:lnTo>
                  <a:lnTo>
                    <a:pt x="0" y="861060"/>
                  </a:lnTo>
                  <a:lnTo>
                    <a:pt x="0" y="899160"/>
                  </a:lnTo>
                  <a:lnTo>
                    <a:pt x="9906" y="899160"/>
                  </a:lnTo>
                  <a:close/>
                </a:path>
                <a:path w="1510029" h="2304415">
                  <a:moveTo>
                    <a:pt x="9906" y="832866"/>
                  </a:moveTo>
                  <a:lnTo>
                    <a:pt x="9906" y="794766"/>
                  </a:lnTo>
                  <a:lnTo>
                    <a:pt x="0" y="794766"/>
                  </a:lnTo>
                  <a:lnTo>
                    <a:pt x="0" y="832866"/>
                  </a:lnTo>
                  <a:lnTo>
                    <a:pt x="9906" y="832866"/>
                  </a:lnTo>
                  <a:close/>
                </a:path>
                <a:path w="1510029" h="2304415">
                  <a:moveTo>
                    <a:pt x="9906" y="765810"/>
                  </a:moveTo>
                  <a:lnTo>
                    <a:pt x="9906" y="727710"/>
                  </a:lnTo>
                  <a:lnTo>
                    <a:pt x="0" y="727710"/>
                  </a:lnTo>
                  <a:lnTo>
                    <a:pt x="0" y="765810"/>
                  </a:lnTo>
                  <a:lnTo>
                    <a:pt x="9906" y="765810"/>
                  </a:lnTo>
                  <a:close/>
                </a:path>
                <a:path w="1510029" h="2304415">
                  <a:moveTo>
                    <a:pt x="9906" y="699516"/>
                  </a:moveTo>
                  <a:lnTo>
                    <a:pt x="9906" y="661416"/>
                  </a:lnTo>
                  <a:lnTo>
                    <a:pt x="0" y="661416"/>
                  </a:lnTo>
                  <a:lnTo>
                    <a:pt x="0" y="699516"/>
                  </a:lnTo>
                  <a:lnTo>
                    <a:pt x="9906" y="699516"/>
                  </a:lnTo>
                  <a:close/>
                </a:path>
                <a:path w="1510029" h="2304415">
                  <a:moveTo>
                    <a:pt x="9906" y="632460"/>
                  </a:moveTo>
                  <a:lnTo>
                    <a:pt x="9906" y="594360"/>
                  </a:lnTo>
                  <a:lnTo>
                    <a:pt x="0" y="594360"/>
                  </a:lnTo>
                  <a:lnTo>
                    <a:pt x="0" y="632460"/>
                  </a:lnTo>
                  <a:lnTo>
                    <a:pt x="9906" y="632460"/>
                  </a:lnTo>
                  <a:close/>
                </a:path>
                <a:path w="1510029" h="2304415">
                  <a:moveTo>
                    <a:pt x="9906" y="566166"/>
                  </a:moveTo>
                  <a:lnTo>
                    <a:pt x="9906" y="528066"/>
                  </a:lnTo>
                  <a:lnTo>
                    <a:pt x="0" y="528066"/>
                  </a:lnTo>
                  <a:lnTo>
                    <a:pt x="0" y="566166"/>
                  </a:lnTo>
                  <a:lnTo>
                    <a:pt x="9906" y="566166"/>
                  </a:lnTo>
                  <a:close/>
                </a:path>
                <a:path w="1510029" h="2304415">
                  <a:moveTo>
                    <a:pt x="9906" y="499110"/>
                  </a:moveTo>
                  <a:lnTo>
                    <a:pt x="9906" y="461010"/>
                  </a:lnTo>
                  <a:lnTo>
                    <a:pt x="0" y="461010"/>
                  </a:lnTo>
                  <a:lnTo>
                    <a:pt x="0" y="499110"/>
                  </a:lnTo>
                  <a:lnTo>
                    <a:pt x="9906" y="499110"/>
                  </a:lnTo>
                  <a:close/>
                </a:path>
                <a:path w="1510029" h="2304415">
                  <a:moveTo>
                    <a:pt x="9906" y="432816"/>
                  </a:moveTo>
                  <a:lnTo>
                    <a:pt x="9906" y="394716"/>
                  </a:lnTo>
                  <a:lnTo>
                    <a:pt x="0" y="394716"/>
                  </a:lnTo>
                  <a:lnTo>
                    <a:pt x="0" y="432816"/>
                  </a:lnTo>
                  <a:lnTo>
                    <a:pt x="9906" y="432816"/>
                  </a:lnTo>
                  <a:close/>
                </a:path>
                <a:path w="1510029" h="2304415">
                  <a:moveTo>
                    <a:pt x="9906" y="365760"/>
                  </a:moveTo>
                  <a:lnTo>
                    <a:pt x="9906" y="327660"/>
                  </a:lnTo>
                  <a:lnTo>
                    <a:pt x="0" y="327660"/>
                  </a:lnTo>
                  <a:lnTo>
                    <a:pt x="0" y="365760"/>
                  </a:lnTo>
                  <a:lnTo>
                    <a:pt x="9906" y="365760"/>
                  </a:lnTo>
                  <a:close/>
                </a:path>
                <a:path w="1510029" h="2304415">
                  <a:moveTo>
                    <a:pt x="9906" y="299466"/>
                  </a:moveTo>
                  <a:lnTo>
                    <a:pt x="9906" y="261366"/>
                  </a:lnTo>
                  <a:lnTo>
                    <a:pt x="0" y="261366"/>
                  </a:lnTo>
                  <a:lnTo>
                    <a:pt x="0" y="299466"/>
                  </a:lnTo>
                  <a:lnTo>
                    <a:pt x="9906" y="299466"/>
                  </a:lnTo>
                  <a:close/>
                </a:path>
                <a:path w="1510029" h="2304415">
                  <a:moveTo>
                    <a:pt x="9906" y="232410"/>
                  </a:moveTo>
                  <a:lnTo>
                    <a:pt x="9906" y="194310"/>
                  </a:lnTo>
                  <a:lnTo>
                    <a:pt x="0" y="194310"/>
                  </a:lnTo>
                  <a:lnTo>
                    <a:pt x="0" y="232410"/>
                  </a:lnTo>
                  <a:lnTo>
                    <a:pt x="9906" y="232410"/>
                  </a:lnTo>
                  <a:close/>
                </a:path>
                <a:path w="1510029" h="2304415">
                  <a:moveTo>
                    <a:pt x="9906" y="166116"/>
                  </a:moveTo>
                  <a:lnTo>
                    <a:pt x="9906" y="128016"/>
                  </a:lnTo>
                  <a:lnTo>
                    <a:pt x="0" y="128016"/>
                  </a:lnTo>
                  <a:lnTo>
                    <a:pt x="0" y="166116"/>
                  </a:lnTo>
                  <a:lnTo>
                    <a:pt x="9906" y="166116"/>
                  </a:lnTo>
                  <a:close/>
                </a:path>
                <a:path w="1510029" h="2304415">
                  <a:moveTo>
                    <a:pt x="9906" y="99060"/>
                  </a:moveTo>
                  <a:lnTo>
                    <a:pt x="9906" y="60960"/>
                  </a:lnTo>
                  <a:lnTo>
                    <a:pt x="0" y="60960"/>
                  </a:lnTo>
                  <a:lnTo>
                    <a:pt x="0" y="99060"/>
                  </a:lnTo>
                  <a:lnTo>
                    <a:pt x="9906" y="99060"/>
                  </a:lnTo>
                  <a:close/>
                </a:path>
                <a:path w="1510029" h="2304415">
                  <a:moveTo>
                    <a:pt x="14478" y="9143"/>
                  </a:moveTo>
                  <a:lnTo>
                    <a:pt x="14478" y="0"/>
                  </a:lnTo>
                  <a:lnTo>
                    <a:pt x="2286" y="0"/>
                  </a:lnTo>
                  <a:lnTo>
                    <a:pt x="0" y="1524"/>
                  </a:lnTo>
                  <a:lnTo>
                    <a:pt x="0" y="32766"/>
                  </a:lnTo>
                  <a:lnTo>
                    <a:pt x="5334" y="32766"/>
                  </a:lnTo>
                  <a:lnTo>
                    <a:pt x="5334" y="9144"/>
                  </a:lnTo>
                  <a:lnTo>
                    <a:pt x="9906" y="4571"/>
                  </a:lnTo>
                  <a:lnTo>
                    <a:pt x="9906" y="9143"/>
                  </a:lnTo>
                  <a:lnTo>
                    <a:pt x="14478" y="9143"/>
                  </a:lnTo>
                  <a:close/>
                </a:path>
                <a:path w="1510029" h="2304415">
                  <a:moveTo>
                    <a:pt x="9906" y="9143"/>
                  </a:moveTo>
                  <a:lnTo>
                    <a:pt x="9906" y="4571"/>
                  </a:lnTo>
                  <a:lnTo>
                    <a:pt x="5334" y="9144"/>
                  </a:lnTo>
                  <a:lnTo>
                    <a:pt x="9906" y="9143"/>
                  </a:lnTo>
                  <a:close/>
                </a:path>
                <a:path w="1510029" h="2304415">
                  <a:moveTo>
                    <a:pt x="9906" y="32766"/>
                  </a:moveTo>
                  <a:lnTo>
                    <a:pt x="9906" y="9143"/>
                  </a:lnTo>
                  <a:lnTo>
                    <a:pt x="5334" y="9144"/>
                  </a:lnTo>
                  <a:lnTo>
                    <a:pt x="5334" y="32766"/>
                  </a:lnTo>
                  <a:lnTo>
                    <a:pt x="9906" y="32766"/>
                  </a:lnTo>
                  <a:close/>
                </a:path>
                <a:path w="1510029" h="2304415">
                  <a:moveTo>
                    <a:pt x="81534" y="9143"/>
                  </a:moveTo>
                  <a:lnTo>
                    <a:pt x="81534" y="0"/>
                  </a:lnTo>
                  <a:lnTo>
                    <a:pt x="43434" y="0"/>
                  </a:lnTo>
                  <a:lnTo>
                    <a:pt x="43434" y="9143"/>
                  </a:lnTo>
                  <a:lnTo>
                    <a:pt x="81534" y="9143"/>
                  </a:lnTo>
                  <a:close/>
                </a:path>
                <a:path w="1510029" h="2304415">
                  <a:moveTo>
                    <a:pt x="147828" y="9143"/>
                  </a:moveTo>
                  <a:lnTo>
                    <a:pt x="147828" y="0"/>
                  </a:lnTo>
                  <a:lnTo>
                    <a:pt x="109728" y="0"/>
                  </a:lnTo>
                  <a:lnTo>
                    <a:pt x="109728" y="9143"/>
                  </a:lnTo>
                  <a:lnTo>
                    <a:pt x="147828" y="9143"/>
                  </a:lnTo>
                  <a:close/>
                </a:path>
                <a:path w="1510029" h="2304415">
                  <a:moveTo>
                    <a:pt x="214884" y="9143"/>
                  </a:moveTo>
                  <a:lnTo>
                    <a:pt x="214884" y="0"/>
                  </a:lnTo>
                  <a:lnTo>
                    <a:pt x="176784" y="0"/>
                  </a:lnTo>
                  <a:lnTo>
                    <a:pt x="176784" y="9143"/>
                  </a:lnTo>
                  <a:lnTo>
                    <a:pt x="214884" y="9143"/>
                  </a:lnTo>
                  <a:close/>
                </a:path>
                <a:path w="1510029" h="2304415">
                  <a:moveTo>
                    <a:pt x="281178" y="9143"/>
                  </a:moveTo>
                  <a:lnTo>
                    <a:pt x="281178" y="0"/>
                  </a:lnTo>
                  <a:lnTo>
                    <a:pt x="243078" y="0"/>
                  </a:lnTo>
                  <a:lnTo>
                    <a:pt x="243078" y="9143"/>
                  </a:lnTo>
                  <a:lnTo>
                    <a:pt x="281178" y="9143"/>
                  </a:lnTo>
                  <a:close/>
                </a:path>
                <a:path w="1510029" h="2304415">
                  <a:moveTo>
                    <a:pt x="348234" y="9143"/>
                  </a:moveTo>
                  <a:lnTo>
                    <a:pt x="348234" y="0"/>
                  </a:lnTo>
                  <a:lnTo>
                    <a:pt x="310134" y="0"/>
                  </a:lnTo>
                  <a:lnTo>
                    <a:pt x="310134" y="9143"/>
                  </a:lnTo>
                  <a:lnTo>
                    <a:pt x="348234" y="9143"/>
                  </a:lnTo>
                  <a:close/>
                </a:path>
                <a:path w="1510029" h="2304415">
                  <a:moveTo>
                    <a:pt x="414528" y="9143"/>
                  </a:moveTo>
                  <a:lnTo>
                    <a:pt x="414528" y="0"/>
                  </a:lnTo>
                  <a:lnTo>
                    <a:pt x="376428" y="0"/>
                  </a:lnTo>
                  <a:lnTo>
                    <a:pt x="376428" y="9143"/>
                  </a:lnTo>
                  <a:lnTo>
                    <a:pt x="414528" y="9143"/>
                  </a:lnTo>
                  <a:close/>
                </a:path>
                <a:path w="1510029" h="2304415">
                  <a:moveTo>
                    <a:pt x="481583" y="9143"/>
                  </a:moveTo>
                  <a:lnTo>
                    <a:pt x="481583" y="0"/>
                  </a:lnTo>
                  <a:lnTo>
                    <a:pt x="443483" y="0"/>
                  </a:lnTo>
                  <a:lnTo>
                    <a:pt x="443483" y="9143"/>
                  </a:lnTo>
                  <a:lnTo>
                    <a:pt x="481583" y="9143"/>
                  </a:lnTo>
                  <a:close/>
                </a:path>
                <a:path w="1510029" h="2304415">
                  <a:moveTo>
                    <a:pt x="547878" y="9143"/>
                  </a:moveTo>
                  <a:lnTo>
                    <a:pt x="547878" y="0"/>
                  </a:lnTo>
                  <a:lnTo>
                    <a:pt x="509778" y="0"/>
                  </a:lnTo>
                  <a:lnTo>
                    <a:pt x="509778" y="9143"/>
                  </a:lnTo>
                  <a:lnTo>
                    <a:pt x="547878" y="9143"/>
                  </a:lnTo>
                  <a:close/>
                </a:path>
                <a:path w="1510029" h="2304415">
                  <a:moveTo>
                    <a:pt x="614933" y="9143"/>
                  </a:moveTo>
                  <a:lnTo>
                    <a:pt x="614933" y="0"/>
                  </a:lnTo>
                  <a:lnTo>
                    <a:pt x="576833" y="0"/>
                  </a:lnTo>
                  <a:lnTo>
                    <a:pt x="576833" y="9143"/>
                  </a:lnTo>
                  <a:lnTo>
                    <a:pt x="614933" y="9143"/>
                  </a:lnTo>
                  <a:close/>
                </a:path>
                <a:path w="1510029" h="2304415">
                  <a:moveTo>
                    <a:pt x="681228" y="9143"/>
                  </a:moveTo>
                  <a:lnTo>
                    <a:pt x="681228" y="0"/>
                  </a:lnTo>
                  <a:lnTo>
                    <a:pt x="643128" y="0"/>
                  </a:lnTo>
                  <a:lnTo>
                    <a:pt x="643128" y="9143"/>
                  </a:lnTo>
                  <a:lnTo>
                    <a:pt x="681228" y="9143"/>
                  </a:lnTo>
                  <a:close/>
                </a:path>
                <a:path w="1510029" h="2304415">
                  <a:moveTo>
                    <a:pt x="748283" y="9143"/>
                  </a:moveTo>
                  <a:lnTo>
                    <a:pt x="748283" y="0"/>
                  </a:lnTo>
                  <a:lnTo>
                    <a:pt x="710183" y="0"/>
                  </a:lnTo>
                  <a:lnTo>
                    <a:pt x="710183" y="9143"/>
                  </a:lnTo>
                  <a:lnTo>
                    <a:pt x="748283" y="9143"/>
                  </a:lnTo>
                  <a:close/>
                </a:path>
                <a:path w="1510029" h="2304415">
                  <a:moveTo>
                    <a:pt x="814578" y="9143"/>
                  </a:moveTo>
                  <a:lnTo>
                    <a:pt x="814578" y="0"/>
                  </a:lnTo>
                  <a:lnTo>
                    <a:pt x="776478" y="0"/>
                  </a:lnTo>
                  <a:lnTo>
                    <a:pt x="776478" y="9143"/>
                  </a:lnTo>
                  <a:lnTo>
                    <a:pt x="814578" y="9143"/>
                  </a:lnTo>
                  <a:close/>
                </a:path>
                <a:path w="1510029" h="2304415">
                  <a:moveTo>
                    <a:pt x="881633" y="9143"/>
                  </a:moveTo>
                  <a:lnTo>
                    <a:pt x="881633" y="0"/>
                  </a:lnTo>
                  <a:lnTo>
                    <a:pt x="843533" y="0"/>
                  </a:lnTo>
                  <a:lnTo>
                    <a:pt x="843533" y="9143"/>
                  </a:lnTo>
                  <a:lnTo>
                    <a:pt x="881633" y="9143"/>
                  </a:lnTo>
                  <a:close/>
                </a:path>
                <a:path w="1510029" h="2304415">
                  <a:moveTo>
                    <a:pt x="947928" y="9143"/>
                  </a:moveTo>
                  <a:lnTo>
                    <a:pt x="947928" y="0"/>
                  </a:lnTo>
                  <a:lnTo>
                    <a:pt x="909828" y="0"/>
                  </a:lnTo>
                  <a:lnTo>
                    <a:pt x="909828" y="9143"/>
                  </a:lnTo>
                  <a:lnTo>
                    <a:pt x="947928" y="9143"/>
                  </a:lnTo>
                  <a:close/>
                </a:path>
                <a:path w="1510029" h="2304415">
                  <a:moveTo>
                    <a:pt x="1014983" y="9143"/>
                  </a:moveTo>
                  <a:lnTo>
                    <a:pt x="1014983" y="0"/>
                  </a:lnTo>
                  <a:lnTo>
                    <a:pt x="976883" y="0"/>
                  </a:lnTo>
                  <a:lnTo>
                    <a:pt x="976883" y="9143"/>
                  </a:lnTo>
                  <a:lnTo>
                    <a:pt x="1014983" y="9143"/>
                  </a:lnTo>
                  <a:close/>
                </a:path>
                <a:path w="1510029" h="2304415">
                  <a:moveTo>
                    <a:pt x="1081278" y="9143"/>
                  </a:moveTo>
                  <a:lnTo>
                    <a:pt x="1081278" y="0"/>
                  </a:lnTo>
                  <a:lnTo>
                    <a:pt x="1043178" y="0"/>
                  </a:lnTo>
                  <a:lnTo>
                    <a:pt x="1043178" y="9143"/>
                  </a:lnTo>
                  <a:lnTo>
                    <a:pt x="1081278" y="9143"/>
                  </a:lnTo>
                  <a:close/>
                </a:path>
                <a:path w="1510029" h="2304415">
                  <a:moveTo>
                    <a:pt x="1148333" y="9143"/>
                  </a:moveTo>
                  <a:lnTo>
                    <a:pt x="1148333" y="0"/>
                  </a:lnTo>
                  <a:lnTo>
                    <a:pt x="1110233" y="0"/>
                  </a:lnTo>
                  <a:lnTo>
                    <a:pt x="1110233" y="9143"/>
                  </a:lnTo>
                  <a:lnTo>
                    <a:pt x="1148333" y="9143"/>
                  </a:lnTo>
                  <a:close/>
                </a:path>
                <a:path w="1510029" h="2304415">
                  <a:moveTo>
                    <a:pt x="1214628" y="9143"/>
                  </a:moveTo>
                  <a:lnTo>
                    <a:pt x="1214628" y="0"/>
                  </a:lnTo>
                  <a:lnTo>
                    <a:pt x="1176528" y="0"/>
                  </a:lnTo>
                  <a:lnTo>
                    <a:pt x="1176528" y="9143"/>
                  </a:lnTo>
                  <a:lnTo>
                    <a:pt x="1214628" y="9143"/>
                  </a:lnTo>
                  <a:close/>
                </a:path>
                <a:path w="1510029" h="2304415">
                  <a:moveTo>
                    <a:pt x="1281683" y="9143"/>
                  </a:moveTo>
                  <a:lnTo>
                    <a:pt x="1281683" y="0"/>
                  </a:lnTo>
                  <a:lnTo>
                    <a:pt x="1243583" y="0"/>
                  </a:lnTo>
                  <a:lnTo>
                    <a:pt x="1243583" y="9143"/>
                  </a:lnTo>
                  <a:lnTo>
                    <a:pt x="1281683" y="9143"/>
                  </a:lnTo>
                  <a:close/>
                </a:path>
                <a:path w="1510029" h="2304415">
                  <a:moveTo>
                    <a:pt x="1347978" y="9143"/>
                  </a:moveTo>
                  <a:lnTo>
                    <a:pt x="1347978" y="0"/>
                  </a:lnTo>
                  <a:lnTo>
                    <a:pt x="1309878" y="0"/>
                  </a:lnTo>
                  <a:lnTo>
                    <a:pt x="1309878" y="9143"/>
                  </a:lnTo>
                  <a:lnTo>
                    <a:pt x="1347978" y="9143"/>
                  </a:lnTo>
                  <a:close/>
                </a:path>
                <a:path w="1510029" h="2304415">
                  <a:moveTo>
                    <a:pt x="1415033" y="9143"/>
                  </a:moveTo>
                  <a:lnTo>
                    <a:pt x="1415033" y="0"/>
                  </a:lnTo>
                  <a:lnTo>
                    <a:pt x="1376933" y="0"/>
                  </a:lnTo>
                  <a:lnTo>
                    <a:pt x="1376933" y="9143"/>
                  </a:lnTo>
                  <a:lnTo>
                    <a:pt x="1415033" y="9143"/>
                  </a:lnTo>
                  <a:close/>
                </a:path>
                <a:path w="1510029" h="2304415">
                  <a:moveTo>
                    <a:pt x="1481328" y="9143"/>
                  </a:moveTo>
                  <a:lnTo>
                    <a:pt x="1481328" y="0"/>
                  </a:lnTo>
                  <a:lnTo>
                    <a:pt x="1443228" y="0"/>
                  </a:lnTo>
                  <a:lnTo>
                    <a:pt x="1443228" y="9143"/>
                  </a:lnTo>
                  <a:lnTo>
                    <a:pt x="1481328" y="9143"/>
                  </a:lnTo>
                  <a:close/>
                </a:path>
                <a:path w="1510029" h="2304415">
                  <a:moveTo>
                    <a:pt x="1509521" y="48006"/>
                  </a:moveTo>
                  <a:lnTo>
                    <a:pt x="1509521" y="9906"/>
                  </a:lnTo>
                  <a:lnTo>
                    <a:pt x="1499616" y="9906"/>
                  </a:lnTo>
                  <a:lnTo>
                    <a:pt x="1499616" y="48006"/>
                  </a:lnTo>
                  <a:lnTo>
                    <a:pt x="1509521" y="48006"/>
                  </a:lnTo>
                  <a:close/>
                </a:path>
                <a:path w="1510029" h="2304415">
                  <a:moveTo>
                    <a:pt x="1509521" y="115062"/>
                  </a:moveTo>
                  <a:lnTo>
                    <a:pt x="1509521" y="76962"/>
                  </a:lnTo>
                  <a:lnTo>
                    <a:pt x="1499616" y="76962"/>
                  </a:lnTo>
                  <a:lnTo>
                    <a:pt x="1499616" y="115062"/>
                  </a:lnTo>
                  <a:lnTo>
                    <a:pt x="1509521" y="115062"/>
                  </a:lnTo>
                  <a:close/>
                </a:path>
                <a:path w="1510029" h="2304415">
                  <a:moveTo>
                    <a:pt x="1509521" y="181356"/>
                  </a:moveTo>
                  <a:lnTo>
                    <a:pt x="1509521" y="143256"/>
                  </a:lnTo>
                  <a:lnTo>
                    <a:pt x="1499616" y="143256"/>
                  </a:lnTo>
                  <a:lnTo>
                    <a:pt x="1499616" y="181356"/>
                  </a:lnTo>
                  <a:lnTo>
                    <a:pt x="1509521" y="181356"/>
                  </a:lnTo>
                  <a:close/>
                </a:path>
                <a:path w="1510029" h="2304415">
                  <a:moveTo>
                    <a:pt x="1509521" y="248412"/>
                  </a:moveTo>
                  <a:lnTo>
                    <a:pt x="1509521" y="210312"/>
                  </a:lnTo>
                  <a:lnTo>
                    <a:pt x="1499616" y="210312"/>
                  </a:lnTo>
                  <a:lnTo>
                    <a:pt x="1499616" y="248412"/>
                  </a:lnTo>
                  <a:lnTo>
                    <a:pt x="1509521" y="248412"/>
                  </a:lnTo>
                  <a:close/>
                </a:path>
                <a:path w="1510029" h="2304415">
                  <a:moveTo>
                    <a:pt x="1509521" y="314706"/>
                  </a:moveTo>
                  <a:lnTo>
                    <a:pt x="1509521" y="276606"/>
                  </a:lnTo>
                  <a:lnTo>
                    <a:pt x="1499616" y="276606"/>
                  </a:lnTo>
                  <a:lnTo>
                    <a:pt x="1499616" y="314706"/>
                  </a:lnTo>
                  <a:lnTo>
                    <a:pt x="1509521" y="314706"/>
                  </a:lnTo>
                  <a:close/>
                </a:path>
                <a:path w="1510029" h="2304415">
                  <a:moveTo>
                    <a:pt x="1509521" y="381762"/>
                  </a:moveTo>
                  <a:lnTo>
                    <a:pt x="1509521" y="343662"/>
                  </a:lnTo>
                  <a:lnTo>
                    <a:pt x="1499616" y="343662"/>
                  </a:lnTo>
                  <a:lnTo>
                    <a:pt x="1499616" y="381762"/>
                  </a:lnTo>
                  <a:lnTo>
                    <a:pt x="1509521" y="381762"/>
                  </a:lnTo>
                  <a:close/>
                </a:path>
                <a:path w="1510029" h="2304415">
                  <a:moveTo>
                    <a:pt x="1509521" y="448056"/>
                  </a:moveTo>
                  <a:lnTo>
                    <a:pt x="1509521" y="409956"/>
                  </a:lnTo>
                  <a:lnTo>
                    <a:pt x="1499616" y="409956"/>
                  </a:lnTo>
                  <a:lnTo>
                    <a:pt x="1499616" y="448056"/>
                  </a:lnTo>
                  <a:lnTo>
                    <a:pt x="1509521" y="448056"/>
                  </a:lnTo>
                  <a:close/>
                </a:path>
                <a:path w="1510029" h="2304415">
                  <a:moveTo>
                    <a:pt x="1509521" y="515112"/>
                  </a:moveTo>
                  <a:lnTo>
                    <a:pt x="1509521" y="477012"/>
                  </a:lnTo>
                  <a:lnTo>
                    <a:pt x="1499616" y="477012"/>
                  </a:lnTo>
                  <a:lnTo>
                    <a:pt x="1499616" y="515112"/>
                  </a:lnTo>
                  <a:lnTo>
                    <a:pt x="1509521" y="515112"/>
                  </a:lnTo>
                  <a:close/>
                </a:path>
                <a:path w="1510029" h="2304415">
                  <a:moveTo>
                    <a:pt x="1509521" y="581406"/>
                  </a:moveTo>
                  <a:lnTo>
                    <a:pt x="1509521" y="543306"/>
                  </a:lnTo>
                  <a:lnTo>
                    <a:pt x="1499616" y="543306"/>
                  </a:lnTo>
                  <a:lnTo>
                    <a:pt x="1499616" y="581406"/>
                  </a:lnTo>
                  <a:lnTo>
                    <a:pt x="1509521" y="581406"/>
                  </a:lnTo>
                  <a:close/>
                </a:path>
                <a:path w="1510029" h="2304415">
                  <a:moveTo>
                    <a:pt x="1509521" y="648462"/>
                  </a:moveTo>
                  <a:lnTo>
                    <a:pt x="1509521" y="610362"/>
                  </a:lnTo>
                  <a:lnTo>
                    <a:pt x="1499616" y="610362"/>
                  </a:lnTo>
                  <a:lnTo>
                    <a:pt x="1499616" y="648462"/>
                  </a:lnTo>
                  <a:lnTo>
                    <a:pt x="1509521" y="648462"/>
                  </a:lnTo>
                  <a:close/>
                </a:path>
                <a:path w="1510029" h="2304415">
                  <a:moveTo>
                    <a:pt x="1509521" y="714756"/>
                  </a:moveTo>
                  <a:lnTo>
                    <a:pt x="1509521" y="676656"/>
                  </a:lnTo>
                  <a:lnTo>
                    <a:pt x="1499616" y="676656"/>
                  </a:lnTo>
                  <a:lnTo>
                    <a:pt x="1499616" y="714756"/>
                  </a:lnTo>
                  <a:lnTo>
                    <a:pt x="1509521" y="714756"/>
                  </a:lnTo>
                  <a:close/>
                </a:path>
                <a:path w="1510029" h="2304415">
                  <a:moveTo>
                    <a:pt x="1509521" y="781812"/>
                  </a:moveTo>
                  <a:lnTo>
                    <a:pt x="1509521" y="743712"/>
                  </a:lnTo>
                  <a:lnTo>
                    <a:pt x="1499616" y="743712"/>
                  </a:lnTo>
                  <a:lnTo>
                    <a:pt x="1499616" y="781812"/>
                  </a:lnTo>
                  <a:lnTo>
                    <a:pt x="1509521" y="781812"/>
                  </a:lnTo>
                  <a:close/>
                </a:path>
                <a:path w="1510029" h="2304415">
                  <a:moveTo>
                    <a:pt x="1509521" y="848106"/>
                  </a:moveTo>
                  <a:lnTo>
                    <a:pt x="1509521" y="810006"/>
                  </a:lnTo>
                  <a:lnTo>
                    <a:pt x="1499616" y="810006"/>
                  </a:lnTo>
                  <a:lnTo>
                    <a:pt x="1499616" y="848106"/>
                  </a:lnTo>
                  <a:lnTo>
                    <a:pt x="1509521" y="848106"/>
                  </a:lnTo>
                  <a:close/>
                </a:path>
                <a:path w="1510029" h="2304415">
                  <a:moveTo>
                    <a:pt x="1509521" y="915162"/>
                  </a:moveTo>
                  <a:lnTo>
                    <a:pt x="1509521" y="877062"/>
                  </a:lnTo>
                  <a:lnTo>
                    <a:pt x="1499616" y="877062"/>
                  </a:lnTo>
                  <a:lnTo>
                    <a:pt x="1499616" y="915162"/>
                  </a:lnTo>
                  <a:lnTo>
                    <a:pt x="1509521" y="915162"/>
                  </a:lnTo>
                  <a:close/>
                </a:path>
                <a:path w="1510029" h="2304415">
                  <a:moveTo>
                    <a:pt x="1509521" y="981456"/>
                  </a:moveTo>
                  <a:lnTo>
                    <a:pt x="1509521" y="943356"/>
                  </a:lnTo>
                  <a:lnTo>
                    <a:pt x="1499616" y="943356"/>
                  </a:lnTo>
                  <a:lnTo>
                    <a:pt x="1499616" y="981456"/>
                  </a:lnTo>
                  <a:lnTo>
                    <a:pt x="1509521" y="981456"/>
                  </a:lnTo>
                  <a:close/>
                </a:path>
                <a:path w="1510029" h="2304415">
                  <a:moveTo>
                    <a:pt x="1509521" y="1048512"/>
                  </a:moveTo>
                  <a:lnTo>
                    <a:pt x="1509521" y="1010412"/>
                  </a:lnTo>
                  <a:lnTo>
                    <a:pt x="1499616" y="1010412"/>
                  </a:lnTo>
                  <a:lnTo>
                    <a:pt x="1499616" y="1048512"/>
                  </a:lnTo>
                  <a:lnTo>
                    <a:pt x="1509521" y="1048512"/>
                  </a:lnTo>
                  <a:close/>
                </a:path>
                <a:path w="1510029" h="2304415">
                  <a:moveTo>
                    <a:pt x="1509521" y="1114806"/>
                  </a:moveTo>
                  <a:lnTo>
                    <a:pt x="1509521" y="1076706"/>
                  </a:lnTo>
                  <a:lnTo>
                    <a:pt x="1499616" y="1076706"/>
                  </a:lnTo>
                  <a:lnTo>
                    <a:pt x="1499616" y="1114806"/>
                  </a:lnTo>
                  <a:lnTo>
                    <a:pt x="1509521" y="1114806"/>
                  </a:lnTo>
                  <a:close/>
                </a:path>
                <a:path w="1510029" h="2304415">
                  <a:moveTo>
                    <a:pt x="1509521" y="1181862"/>
                  </a:moveTo>
                  <a:lnTo>
                    <a:pt x="1509521" y="1143762"/>
                  </a:lnTo>
                  <a:lnTo>
                    <a:pt x="1499616" y="1143762"/>
                  </a:lnTo>
                  <a:lnTo>
                    <a:pt x="1499616" y="1181862"/>
                  </a:lnTo>
                  <a:lnTo>
                    <a:pt x="1509521" y="1181862"/>
                  </a:lnTo>
                  <a:close/>
                </a:path>
                <a:path w="1510029" h="2304415">
                  <a:moveTo>
                    <a:pt x="1509521" y="1248156"/>
                  </a:moveTo>
                  <a:lnTo>
                    <a:pt x="1509521" y="1210056"/>
                  </a:lnTo>
                  <a:lnTo>
                    <a:pt x="1499616" y="1210056"/>
                  </a:lnTo>
                  <a:lnTo>
                    <a:pt x="1499616" y="1248156"/>
                  </a:lnTo>
                  <a:lnTo>
                    <a:pt x="1509521" y="1248156"/>
                  </a:lnTo>
                  <a:close/>
                </a:path>
                <a:path w="1510029" h="2304415">
                  <a:moveTo>
                    <a:pt x="1509521" y="1314450"/>
                  </a:moveTo>
                  <a:lnTo>
                    <a:pt x="1509521" y="1276350"/>
                  </a:lnTo>
                  <a:lnTo>
                    <a:pt x="1499616" y="1276350"/>
                  </a:lnTo>
                  <a:lnTo>
                    <a:pt x="1499616" y="1314450"/>
                  </a:lnTo>
                  <a:lnTo>
                    <a:pt x="1509521" y="1314450"/>
                  </a:lnTo>
                  <a:close/>
                </a:path>
                <a:path w="1510029" h="2304415">
                  <a:moveTo>
                    <a:pt x="1509521" y="1381506"/>
                  </a:moveTo>
                  <a:lnTo>
                    <a:pt x="1509521" y="1343406"/>
                  </a:lnTo>
                  <a:lnTo>
                    <a:pt x="1499616" y="1343406"/>
                  </a:lnTo>
                  <a:lnTo>
                    <a:pt x="1499616" y="1381506"/>
                  </a:lnTo>
                  <a:lnTo>
                    <a:pt x="1509521" y="1381506"/>
                  </a:lnTo>
                  <a:close/>
                </a:path>
                <a:path w="1510029" h="2304415">
                  <a:moveTo>
                    <a:pt x="1509521" y="1447800"/>
                  </a:moveTo>
                  <a:lnTo>
                    <a:pt x="1509521" y="1409700"/>
                  </a:lnTo>
                  <a:lnTo>
                    <a:pt x="1499616" y="1409700"/>
                  </a:lnTo>
                  <a:lnTo>
                    <a:pt x="1499616" y="1447800"/>
                  </a:lnTo>
                  <a:lnTo>
                    <a:pt x="1509521" y="1447800"/>
                  </a:lnTo>
                  <a:close/>
                </a:path>
                <a:path w="1510029" h="2304415">
                  <a:moveTo>
                    <a:pt x="1509521" y="1514856"/>
                  </a:moveTo>
                  <a:lnTo>
                    <a:pt x="1509521" y="1476756"/>
                  </a:lnTo>
                  <a:lnTo>
                    <a:pt x="1499616" y="1476756"/>
                  </a:lnTo>
                  <a:lnTo>
                    <a:pt x="1499616" y="1514856"/>
                  </a:lnTo>
                  <a:lnTo>
                    <a:pt x="1509521" y="1514856"/>
                  </a:lnTo>
                  <a:close/>
                </a:path>
                <a:path w="1510029" h="2304415">
                  <a:moveTo>
                    <a:pt x="1509521" y="1581150"/>
                  </a:moveTo>
                  <a:lnTo>
                    <a:pt x="1509521" y="1543050"/>
                  </a:lnTo>
                  <a:lnTo>
                    <a:pt x="1499616" y="1543050"/>
                  </a:lnTo>
                  <a:lnTo>
                    <a:pt x="1499616" y="1581150"/>
                  </a:lnTo>
                  <a:lnTo>
                    <a:pt x="1509521" y="1581150"/>
                  </a:lnTo>
                  <a:close/>
                </a:path>
                <a:path w="1510029" h="2304415">
                  <a:moveTo>
                    <a:pt x="1509521" y="1648206"/>
                  </a:moveTo>
                  <a:lnTo>
                    <a:pt x="1509521" y="1610106"/>
                  </a:lnTo>
                  <a:lnTo>
                    <a:pt x="1499616" y="1610106"/>
                  </a:lnTo>
                  <a:lnTo>
                    <a:pt x="1499616" y="1648206"/>
                  </a:lnTo>
                  <a:lnTo>
                    <a:pt x="1509521" y="1648206"/>
                  </a:lnTo>
                  <a:close/>
                </a:path>
                <a:path w="1510029" h="2304415">
                  <a:moveTo>
                    <a:pt x="1509521" y="1714500"/>
                  </a:moveTo>
                  <a:lnTo>
                    <a:pt x="1509521" y="1676400"/>
                  </a:lnTo>
                  <a:lnTo>
                    <a:pt x="1499616" y="1676400"/>
                  </a:lnTo>
                  <a:lnTo>
                    <a:pt x="1499616" y="1714500"/>
                  </a:lnTo>
                  <a:lnTo>
                    <a:pt x="1509521" y="1714500"/>
                  </a:lnTo>
                  <a:close/>
                </a:path>
                <a:path w="1510029" h="2304415">
                  <a:moveTo>
                    <a:pt x="1509521" y="1781556"/>
                  </a:moveTo>
                  <a:lnTo>
                    <a:pt x="1509521" y="1743456"/>
                  </a:lnTo>
                  <a:lnTo>
                    <a:pt x="1499616" y="1743456"/>
                  </a:lnTo>
                  <a:lnTo>
                    <a:pt x="1499616" y="1781556"/>
                  </a:lnTo>
                  <a:lnTo>
                    <a:pt x="1509521" y="1781556"/>
                  </a:lnTo>
                  <a:close/>
                </a:path>
                <a:path w="1510029" h="2304415">
                  <a:moveTo>
                    <a:pt x="1509521" y="1847850"/>
                  </a:moveTo>
                  <a:lnTo>
                    <a:pt x="1509521" y="1809750"/>
                  </a:lnTo>
                  <a:lnTo>
                    <a:pt x="1499616" y="1809750"/>
                  </a:lnTo>
                  <a:lnTo>
                    <a:pt x="1499616" y="1847850"/>
                  </a:lnTo>
                  <a:lnTo>
                    <a:pt x="1509521" y="1847850"/>
                  </a:lnTo>
                  <a:close/>
                </a:path>
                <a:path w="1510029" h="2304415">
                  <a:moveTo>
                    <a:pt x="1509521" y="1914906"/>
                  </a:moveTo>
                  <a:lnTo>
                    <a:pt x="1509521" y="1876806"/>
                  </a:lnTo>
                  <a:lnTo>
                    <a:pt x="1499616" y="1876806"/>
                  </a:lnTo>
                  <a:lnTo>
                    <a:pt x="1499616" y="1914906"/>
                  </a:lnTo>
                  <a:lnTo>
                    <a:pt x="1509521" y="1914906"/>
                  </a:lnTo>
                  <a:close/>
                </a:path>
                <a:path w="1510029" h="2304415">
                  <a:moveTo>
                    <a:pt x="1509521" y="1981200"/>
                  </a:moveTo>
                  <a:lnTo>
                    <a:pt x="1509521" y="1943100"/>
                  </a:lnTo>
                  <a:lnTo>
                    <a:pt x="1499616" y="1943100"/>
                  </a:lnTo>
                  <a:lnTo>
                    <a:pt x="1499616" y="1981200"/>
                  </a:lnTo>
                  <a:lnTo>
                    <a:pt x="1509521" y="1981200"/>
                  </a:lnTo>
                  <a:close/>
                </a:path>
                <a:path w="1510029" h="2304415">
                  <a:moveTo>
                    <a:pt x="1509521" y="2048256"/>
                  </a:moveTo>
                  <a:lnTo>
                    <a:pt x="1509521" y="2010156"/>
                  </a:lnTo>
                  <a:lnTo>
                    <a:pt x="1499616" y="2010156"/>
                  </a:lnTo>
                  <a:lnTo>
                    <a:pt x="1499616" y="2048256"/>
                  </a:lnTo>
                  <a:lnTo>
                    <a:pt x="1509521" y="2048256"/>
                  </a:lnTo>
                  <a:close/>
                </a:path>
                <a:path w="1510029" h="2304415">
                  <a:moveTo>
                    <a:pt x="1509521" y="2114550"/>
                  </a:moveTo>
                  <a:lnTo>
                    <a:pt x="1509521" y="2076450"/>
                  </a:lnTo>
                  <a:lnTo>
                    <a:pt x="1499616" y="2076450"/>
                  </a:lnTo>
                  <a:lnTo>
                    <a:pt x="1499616" y="2114550"/>
                  </a:lnTo>
                  <a:lnTo>
                    <a:pt x="1509521" y="2114550"/>
                  </a:lnTo>
                  <a:close/>
                </a:path>
                <a:path w="1510029" h="2304415">
                  <a:moveTo>
                    <a:pt x="1509521" y="2181606"/>
                  </a:moveTo>
                  <a:lnTo>
                    <a:pt x="1509521" y="2143506"/>
                  </a:lnTo>
                  <a:lnTo>
                    <a:pt x="1499616" y="2143506"/>
                  </a:lnTo>
                  <a:lnTo>
                    <a:pt x="1499616" y="2181606"/>
                  </a:lnTo>
                  <a:lnTo>
                    <a:pt x="1509521" y="2181606"/>
                  </a:lnTo>
                  <a:close/>
                </a:path>
                <a:path w="1510029" h="2304415">
                  <a:moveTo>
                    <a:pt x="1509521" y="2247900"/>
                  </a:moveTo>
                  <a:lnTo>
                    <a:pt x="1509521" y="2209800"/>
                  </a:lnTo>
                  <a:lnTo>
                    <a:pt x="1499616" y="2209800"/>
                  </a:lnTo>
                  <a:lnTo>
                    <a:pt x="1499616" y="2247900"/>
                  </a:lnTo>
                  <a:lnTo>
                    <a:pt x="1509521" y="2247900"/>
                  </a:lnTo>
                  <a:close/>
                </a:path>
                <a:path w="1510029" h="2304415">
                  <a:moveTo>
                    <a:pt x="1504188" y="2294382"/>
                  </a:moveTo>
                  <a:lnTo>
                    <a:pt x="1488947" y="2294382"/>
                  </a:lnTo>
                  <a:lnTo>
                    <a:pt x="1488947" y="2304288"/>
                  </a:lnTo>
                  <a:lnTo>
                    <a:pt x="1499616" y="2304288"/>
                  </a:lnTo>
                  <a:lnTo>
                    <a:pt x="1499616" y="2299716"/>
                  </a:lnTo>
                  <a:lnTo>
                    <a:pt x="1504188" y="2294382"/>
                  </a:lnTo>
                  <a:close/>
                </a:path>
                <a:path w="1510029" h="2304415">
                  <a:moveTo>
                    <a:pt x="1509521" y="2302002"/>
                  </a:moveTo>
                  <a:lnTo>
                    <a:pt x="1509521" y="2276856"/>
                  </a:lnTo>
                  <a:lnTo>
                    <a:pt x="1499616" y="2276856"/>
                  </a:lnTo>
                  <a:lnTo>
                    <a:pt x="1499616" y="2294382"/>
                  </a:lnTo>
                  <a:lnTo>
                    <a:pt x="1504188" y="2294382"/>
                  </a:lnTo>
                  <a:lnTo>
                    <a:pt x="1504188" y="2304288"/>
                  </a:lnTo>
                  <a:lnTo>
                    <a:pt x="1507236" y="2304288"/>
                  </a:lnTo>
                  <a:lnTo>
                    <a:pt x="1509521" y="2302002"/>
                  </a:lnTo>
                  <a:close/>
                </a:path>
                <a:path w="1510029" h="2304415">
                  <a:moveTo>
                    <a:pt x="1504188" y="2304288"/>
                  </a:moveTo>
                  <a:lnTo>
                    <a:pt x="1504188" y="2294382"/>
                  </a:lnTo>
                  <a:lnTo>
                    <a:pt x="1499616" y="2299716"/>
                  </a:lnTo>
                  <a:lnTo>
                    <a:pt x="1499616" y="2304288"/>
                  </a:lnTo>
                  <a:lnTo>
                    <a:pt x="1504188" y="2304288"/>
                  </a:lnTo>
                  <a:close/>
                </a:path>
                <a:path w="1510029" h="2304415">
                  <a:moveTo>
                    <a:pt x="1460754" y="2304288"/>
                  </a:moveTo>
                  <a:lnTo>
                    <a:pt x="1460754" y="2294382"/>
                  </a:lnTo>
                  <a:lnTo>
                    <a:pt x="1422654" y="2294382"/>
                  </a:lnTo>
                  <a:lnTo>
                    <a:pt x="1422654" y="2304288"/>
                  </a:lnTo>
                  <a:lnTo>
                    <a:pt x="1460754" y="2304288"/>
                  </a:lnTo>
                  <a:close/>
                </a:path>
                <a:path w="1510029" h="2304415">
                  <a:moveTo>
                    <a:pt x="1393697" y="2304288"/>
                  </a:moveTo>
                  <a:lnTo>
                    <a:pt x="1393697" y="2294382"/>
                  </a:lnTo>
                  <a:lnTo>
                    <a:pt x="1355597" y="2294382"/>
                  </a:lnTo>
                  <a:lnTo>
                    <a:pt x="1355597" y="2304288"/>
                  </a:lnTo>
                  <a:lnTo>
                    <a:pt x="1393697" y="2304288"/>
                  </a:lnTo>
                  <a:close/>
                </a:path>
                <a:path w="1510029" h="2304415">
                  <a:moveTo>
                    <a:pt x="1327404" y="2304288"/>
                  </a:moveTo>
                  <a:lnTo>
                    <a:pt x="1327404" y="2294382"/>
                  </a:lnTo>
                  <a:lnTo>
                    <a:pt x="1289304" y="2294382"/>
                  </a:lnTo>
                  <a:lnTo>
                    <a:pt x="1289304" y="2304288"/>
                  </a:lnTo>
                  <a:lnTo>
                    <a:pt x="1327404" y="2304288"/>
                  </a:lnTo>
                  <a:close/>
                </a:path>
                <a:path w="1510029" h="2304415">
                  <a:moveTo>
                    <a:pt x="1260347" y="2304288"/>
                  </a:moveTo>
                  <a:lnTo>
                    <a:pt x="1260347" y="2294382"/>
                  </a:lnTo>
                  <a:lnTo>
                    <a:pt x="1222247" y="2294382"/>
                  </a:lnTo>
                  <a:lnTo>
                    <a:pt x="1222247" y="2304288"/>
                  </a:lnTo>
                  <a:lnTo>
                    <a:pt x="1260347" y="2304288"/>
                  </a:lnTo>
                  <a:close/>
                </a:path>
                <a:path w="1510029" h="2304415">
                  <a:moveTo>
                    <a:pt x="1194054" y="2304288"/>
                  </a:moveTo>
                  <a:lnTo>
                    <a:pt x="1194054" y="2294382"/>
                  </a:lnTo>
                  <a:lnTo>
                    <a:pt x="1155954" y="2294382"/>
                  </a:lnTo>
                  <a:lnTo>
                    <a:pt x="1155954" y="2304288"/>
                  </a:lnTo>
                  <a:lnTo>
                    <a:pt x="1194054" y="2304288"/>
                  </a:lnTo>
                  <a:close/>
                </a:path>
                <a:path w="1510029" h="2304415">
                  <a:moveTo>
                    <a:pt x="1126997" y="2304288"/>
                  </a:moveTo>
                  <a:lnTo>
                    <a:pt x="1126997" y="2294382"/>
                  </a:lnTo>
                  <a:lnTo>
                    <a:pt x="1088897" y="2294382"/>
                  </a:lnTo>
                  <a:lnTo>
                    <a:pt x="1088897" y="2304288"/>
                  </a:lnTo>
                  <a:lnTo>
                    <a:pt x="1126997" y="2304288"/>
                  </a:lnTo>
                  <a:close/>
                </a:path>
                <a:path w="1510029" h="2304415">
                  <a:moveTo>
                    <a:pt x="1060704" y="2304288"/>
                  </a:moveTo>
                  <a:lnTo>
                    <a:pt x="1060704" y="2294382"/>
                  </a:lnTo>
                  <a:lnTo>
                    <a:pt x="1022604" y="2294382"/>
                  </a:lnTo>
                  <a:lnTo>
                    <a:pt x="1022604" y="2304288"/>
                  </a:lnTo>
                  <a:lnTo>
                    <a:pt x="1060704" y="2304288"/>
                  </a:lnTo>
                  <a:close/>
                </a:path>
                <a:path w="1510029" h="2304415">
                  <a:moveTo>
                    <a:pt x="993647" y="2304288"/>
                  </a:moveTo>
                  <a:lnTo>
                    <a:pt x="993647" y="2294382"/>
                  </a:lnTo>
                  <a:lnTo>
                    <a:pt x="955547" y="2294382"/>
                  </a:lnTo>
                  <a:lnTo>
                    <a:pt x="955547" y="2304288"/>
                  </a:lnTo>
                  <a:lnTo>
                    <a:pt x="993647" y="2304288"/>
                  </a:lnTo>
                  <a:close/>
                </a:path>
                <a:path w="1510029" h="2304415">
                  <a:moveTo>
                    <a:pt x="927354" y="2304288"/>
                  </a:moveTo>
                  <a:lnTo>
                    <a:pt x="927354" y="2294382"/>
                  </a:lnTo>
                  <a:lnTo>
                    <a:pt x="889254" y="2294382"/>
                  </a:lnTo>
                  <a:lnTo>
                    <a:pt x="889254" y="2304288"/>
                  </a:lnTo>
                  <a:lnTo>
                    <a:pt x="927354" y="2304288"/>
                  </a:lnTo>
                  <a:close/>
                </a:path>
                <a:path w="1510029" h="2304415">
                  <a:moveTo>
                    <a:pt x="860297" y="2304288"/>
                  </a:moveTo>
                  <a:lnTo>
                    <a:pt x="860297" y="2294382"/>
                  </a:lnTo>
                  <a:lnTo>
                    <a:pt x="822197" y="2294382"/>
                  </a:lnTo>
                  <a:lnTo>
                    <a:pt x="822197" y="2304288"/>
                  </a:lnTo>
                  <a:lnTo>
                    <a:pt x="860297" y="2304288"/>
                  </a:lnTo>
                  <a:close/>
                </a:path>
                <a:path w="1510029" h="2304415">
                  <a:moveTo>
                    <a:pt x="794004" y="2304288"/>
                  </a:moveTo>
                  <a:lnTo>
                    <a:pt x="794004" y="2294382"/>
                  </a:lnTo>
                  <a:lnTo>
                    <a:pt x="755904" y="2294382"/>
                  </a:lnTo>
                  <a:lnTo>
                    <a:pt x="755904" y="2304288"/>
                  </a:lnTo>
                  <a:lnTo>
                    <a:pt x="794004" y="2304288"/>
                  </a:lnTo>
                  <a:close/>
                </a:path>
                <a:path w="1510029" h="2304415">
                  <a:moveTo>
                    <a:pt x="726947" y="2304288"/>
                  </a:moveTo>
                  <a:lnTo>
                    <a:pt x="726947" y="2294382"/>
                  </a:lnTo>
                  <a:lnTo>
                    <a:pt x="688847" y="2294382"/>
                  </a:lnTo>
                  <a:lnTo>
                    <a:pt x="688847" y="2304288"/>
                  </a:lnTo>
                  <a:lnTo>
                    <a:pt x="726947" y="2304288"/>
                  </a:lnTo>
                  <a:close/>
                </a:path>
                <a:path w="1510029" h="2304415">
                  <a:moveTo>
                    <a:pt x="660654" y="2304288"/>
                  </a:moveTo>
                  <a:lnTo>
                    <a:pt x="660654" y="2294382"/>
                  </a:lnTo>
                  <a:lnTo>
                    <a:pt x="622554" y="2294382"/>
                  </a:lnTo>
                  <a:lnTo>
                    <a:pt x="622554" y="2304288"/>
                  </a:lnTo>
                  <a:lnTo>
                    <a:pt x="660654" y="2304288"/>
                  </a:lnTo>
                  <a:close/>
                </a:path>
                <a:path w="1510029" h="2304415">
                  <a:moveTo>
                    <a:pt x="593597" y="2304288"/>
                  </a:moveTo>
                  <a:lnTo>
                    <a:pt x="593597" y="2294382"/>
                  </a:lnTo>
                  <a:lnTo>
                    <a:pt x="555497" y="2294382"/>
                  </a:lnTo>
                  <a:lnTo>
                    <a:pt x="555497" y="2304288"/>
                  </a:lnTo>
                  <a:lnTo>
                    <a:pt x="593597" y="2304288"/>
                  </a:lnTo>
                  <a:close/>
                </a:path>
                <a:path w="1510029" h="2304415">
                  <a:moveTo>
                    <a:pt x="527304" y="2304288"/>
                  </a:moveTo>
                  <a:lnTo>
                    <a:pt x="527304" y="2294382"/>
                  </a:lnTo>
                  <a:lnTo>
                    <a:pt x="489204" y="2294382"/>
                  </a:lnTo>
                  <a:lnTo>
                    <a:pt x="489204" y="2304288"/>
                  </a:lnTo>
                  <a:lnTo>
                    <a:pt x="527304" y="2304288"/>
                  </a:lnTo>
                  <a:close/>
                </a:path>
                <a:path w="1510029" h="2304415">
                  <a:moveTo>
                    <a:pt x="460247" y="2304288"/>
                  </a:moveTo>
                  <a:lnTo>
                    <a:pt x="460247" y="2294382"/>
                  </a:lnTo>
                  <a:lnTo>
                    <a:pt x="422147" y="2294382"/>
                  </a:lnTo>
                  <a:lnTo>
                    <a:pt x="422147" y="2304288"/>
                  </a:lnTo>
                  <a:lnTo>
                    <a:pt x="460247" y="2304288"/>
                  </a:lnTo>
                  <a:close/>
                </a:path>
                <a:path w="1510029" h="2304415">
                  <a:moveTo>
                    <a:pt x="393954" y="2304288"/>
                  </a:moveTo>
                  <a:lnTo>
                    <a:pt x="393954" y="2294382"/>
                  </a:lnTo>
                  <a:lnTo>
                    <a:pt x="355854" y="2294382"/>
                  </a:lnTo>
                  <a:lnTo>
                    <a:pt x="355854" y="2304288"/>
                  </a:lnTo>
                  <a:lnTo>
                    <a:pt x="393954" y="2304288"/>
                  </a:lnTo>
                  <a:close/>
                </a:path>
                <a:path w="1510029" h="2304415">
                  <a:moveTo>
                    <a:pt x="326897" y="2304288"/>
                  </a:moveTo>
                  <a:lnTo>
                    <a:pt x="326897" y="2294382"/>
                  </a:lnTo>
                  <a:lnTo>
                    <a:pt x="288798" y="2294382"/>
                  </a:lnTo>
                  <a:lnTo>
                    <a:pt x="288798" y="2304288"/>
                  </a:lnTo>
                  <a:lnTo>
                    <a:pt x="326897" y="2304288"/>
                  </a:lnTo>
                  <a:close/>
                </a:path>
                <a:path w="1510029" h="2304415">
                  <a:moveTo>
                    <a:pt x="260604" y="2304288"/>
                  </a:moveTo>
                  <a:lnTo>
                    <a:pt x="260604" y="2294382"/>
                  </a:lnTo>
                  <a:lnTo>
                    <a:pt x="222504" y="2294382"/>
                  </a:lnTo>
                  <a:lnTo>
                    <a:pt x="222504" y="2304288"/>
                  </a:lnTo>
                  <a:lnTo>
                    <a:pt x="260604" y="2304288"/>
                  </a:lnTo>
                  <a:close/>
                </a:path>
                <a:path w="1510029" h="2304415">
                  <a:moveTo>
                    <a:pt x="193548" y="2304288"/>
                  </a:moveTo>
                  <a:lnTo>
                    <a:pt x="193548" y="2294382"/>
                  </a:lnTo>
                  <a:lnTo>
                    <a:pt x="155448" y="2294382"/>
                  </a:lnTo>
                  <a:lnTo>
                    <a:pt x="155448" y="2304288"/>
                  </a:lnTo>
                  <a:lnTo>
                    <a:pt x="193548" y="2304288"/>
                  </a:lnTo>
                  <a:close/>
                </a:path>
                <a:path w="1510029" h="2304415">
                  <a:moveTo>
                    <a:pt x="127254" y="2304288"/>
                  </a:moveTo>
                  <a:lnTo>
                    <a:pt x="127254" y="2294382"/>
                  </a:lnTo>
                  <a:lnTo>
                    <a:pt x="89154" y="2294382"/>
                  </a:lnTo>
                  <a:lnTo>
                    <a:pt x="89154" y="2304288"/>
                  </a:lnTo>
                  <a:lnTo>
                    <a:pt x="127254" y="2304288"/>
                  </a:lnTo>
                  <a:close/>
                </a:path>
                <a:path w="1510029" h="2304415">
                  <a:moveTo>
                    <a:pt x="60198" y="2304288"/>
                  </a:moveTo>
                  <a:lnTo>
                    <a:pt x="60198" y="2294382"/>
                  </a:lnTo>
                  <a:lnTo>
                    <a:pt x="22098" y="2294382"/>
                  </a:lnTo>
                  <a:lnTo>
                    <a:pt x="22098" y="2304288"/>
                  </a:lnTo>
                  <a:lnTo>
                    <a:pt x="60198" y="2304288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690114" y="2785364"/>
            <a:ext cx="2150745" cy="570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45"/>
              </a:lnSpc>
              <a:spcBef>
                <a:spcPts val="100"/>
              </a:spcBef>
              <a:tabLst>
                <a:tab pos="846455" algn="l"/>
              </a:tabLst>
            </a:pPr>
            <a:r>
              <a:rPr sz="1800" spc="-25" dirty="0">
                <a:latin typeface="Verdana"/>
                <a:cs typeface="Verdana"/>
              </a:rPr>
              <a:t>Zld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5KΩ</a:t>
            </a:r>
            <a:endParaRPr sz="1800">
              <a:latin typeface="Verdana"/>
              <a:cs typeface="Verdana"/>
            </a:endParaRPr>
          </a:p>
          <a:p>
            <a:pPr marL="1717675">
              <a:lnSpc>
                <a:spcPts val="2145"/>
              </a:lnSpc>
            </a:pPr>
            <a:r>
              <a:rPr sz="1800" spc="-25" dirty="0">
                <a:latin typeface="Verdana"/>
                <a:cs typeface="Verdana"/>
              </a:rPr>
              <a:t>2pF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C78F04DD-A75A-4229-AC3C-F752D47512EB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34" name="object 34"/>
          <p:cNvSpPr txBox="1"/>
          <p:nvPr/>
        </p:nvSpPr>
        <p:spPr>
          <a:xfrm>
            <a:off x="8604757" y="1537970"/>
            <a:ext cx="949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|vx/vin|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074661" y="3595370"/>
            <a:ext cx="1687830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0" dirty="0">
                <a:latin typeface="Verdana"/>
                <a:cs typeface="Verdana"/>
              </a:rPr>
              <a:t>Zld:</a:t>
            </a:r>
            <a:endParaRPr sz="1600">
              <a:latin typeface="Verdana"/>
              <a:cs typeface="Verdana"/>
            </a:endParaRPr>
          </a:p>
          <a:p>
            <a:pPr marL="12700" marR="746760">
              <a:lnSpc>
                <a:spcPct val="100000"/>
              </a:lnSpc>
            </a:pPr>
            <a:r>
              <a:rPr sz="1600" spc="-25" dirty="0">
                <a:solidFill>
                  <a:srgbClr val="CC0000"/>
                </a:solidFill>
                <a:latin typeface="Verdana"/>
                <a:cs typeface="Verdana"/>
              </a:rPr>
              <a:t>2pF </a:t>
            </a:r>
            <a:r>
              <a:rPr sz="1600" spc="-10" dirty="0">
                <a:solidFill>
                  <a:srgbClr val="0000FF"/>
                </a:solidFill>
                <a:latin typeface="Verdana"/>
                <a:cs typeface="Verdana"/>
              </a:rPr>
              <a:t>5K&amp;10pF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00B04F"/>
                </a:solidFill>
                <a:latin typeface="Verdana"/>
                <a:cs typeface="Verdana"/>
              </a:rPr>
              <a:t>(5K&amp;10pF)||2pF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761243" y="3538989"/>
            <a:ext cx="389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Vin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1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dirty="0"/>
              <a:t>Frequency</a:t>
            </a:r>
            <a:r>
              <a:rPr spc="-30" dirty="0"/>
              <a:t> </a:t>
            </a:r>
            <a:r>
              <a:rPr dirty="0"/>
              <a:t>response</a:t>
            </a:r>
            <a:r>
              <a:rPr spc="-3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an</a:t>
            </a:r>
            <a:r>
              <a:rPr spc="-30" dirty="0"/>
              <a:t> </a:t>
            </a:r>
            <a:r>
              <a:rPr spc="-10" dirty="0"/>
              <a:t>amplifier</a:t>
            </a:r>
            <a:r>
              <a:rPr sz="3375" spc="-15" baseline="24691" dirty="0"/>
              <a:t>[20]</a:t>
            </a:r>
            <a:endParaRPr sz="3375" baseline="24691"/>
          </a:p>
        </p:txBody>
      </p:sp>
      <p:sp>
        <p:nvSpPr>
          <p:cNvPr id="3" name="object 3"/>
          <p:cNvSpPr txBox="1"/>
          <p:nvPr/>
        </p:nvSpPr>
        <p:spPr>
          <a:xfrm>
            <a:off x="834644" y="1335277"/>
            <a:ext cx="9748520" cy="60452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482600" marR="5080" indent="-470534">
              <a:lnSpc>
                <a:spcPts val="2160"/>
              </a:lnSpc>
              <a:spcBef>
                <a:spcPts val="37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Parasitic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capacitances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as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well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multiple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gain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paths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introduce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poles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and </a:t>
            </a:r>
            <a:r>
              <a:rPr sz="2000" dirty="0">
                <a:latin typeface="Verdana"/>
                <a:cs typeface="Verdana"/>
              </a:rPr>
              <a:t>zeros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frequency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response.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87026" y="2053043"/>
            <a:ext cx="4090067" cy="35250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13026" y="2442972"/>
            <a:ext cx="2168651" cy="270662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558795" y="4268978"/>
            <a:ext cx="4578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C</a:t>
            </a:r>
            <a:r>
              <a:rPr sz="1200" spc="-25" dirty="0">
                <a:latin typeface="Verdana"/>
                <a:cs typeface="Verdana"/>
              </a:rPr>
              <a:t>GS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96659C48-F9CD-4E3B-A73E-44D4F9B00B0D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4155185" y="4451096"/>
            <a:ext cx="4451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C</a:t>
            </a:r>
            <a:r>
              <a:rPr sz="1200" spc="-25" dirty="0">
                <a:latin typeface="Verdana"/>
                <a:cs typeface="Verdana"/>
              </a:rPr>
              <a:t>SB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32304" y="3419348"/>
            <a:ext cx="339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R</a:t>
            </a:r>
            <a:r>
              <a:rPr sz="1800" spc="-37" baseline="-20833" dirty="0">
                <a:latin typeface="Verdana"/>
                <a:cs typeface="Verdana"/>
              </a:rPr>
              <a:t>S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77388" y="2555240"/>
            <a:ext cx="1450975" cy="1358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70255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R</a:t>
            </a:r>
            <a:r>
              <a:rPr sz="1800" spc="-37" baseline="-20833" dirty="0">
                <a:latin typeface="Verdana"/>
                <a:cs typeface="Verdana"/>
              </a:rPr>
              <a:t>L</a:t>
            </a:r>
            <a:endParaRPr sz="1800" baseline="-20833">
              <a:latin typeface="Verdana"/>
              <a:cs typeface="Verdana"/>
            </a:endParaRPr>
          </a:p>
          <a:p>
            <a:pPr marL="818515" marR="43180" indent="-768350">
              <a:lnSpc>
                <a:spcPct val="184700"/>
              </a:lnSpc>
              <a:spcBef>
                <a:spcPts val="355"/>
              </a:spcBef>
              <a:tabLst>
                <a:tab pos="918844" algn="l"/>
              </a:tabLst>
            </a:pPr>
            <a:r>
              <a:rPr sz="2700" spc="-37" baseline="13888" dirty="0">
                <a:latin typeface="Verdana"/>
                <a:cs typeface="Verdana"/>
              </a:rPr>
              <a:t>C</a:t>
            </a:r>
            <a:r>
              <a:rPr sz="1200" spc="-25" dirty="0">
                <a:latin typeface="Verdana"/>
                <a:cs typeface="Verdana"/>
              </a:rPr>
              <a:t>GD</a:t>
            </a:r>
            <a:r>
              <a:rPr sz="1200" dirty="0">
                <a:latin typeface="Verdana"/>
                <a:cs typeface="Verdana"/>
              </a:rPr>
              <a:t>		</a:t>
            </a:r>
            <a:r>
              <a:rPr sz="2700" spc="-30" baseline="13888" dirty="0">
                <a:latin typeface="Verdana"/>
                <a:cs typeface="Verdana"/>
              </a:rPr>
              <a:t>V</a:t>
            </a:r>
            <a:r>
              <a:rPr sz="1200" spc="-20" dirty="0">
                <a:latin typeface="Verdana"/>
                <a:cs typeface="Verdana"/>
              </a:rPr>
              <a:t>OUT </a:t>
            </a:r>
            <a:r>
              <a:rPr sz="2700" spc="-37" baseline="13888" dirty="0">
                <a:latin typeface="Verdana"/>
                <a:cs typeface="Verdana"/>
              </a:rPr>
              <a:t>C</a:t>
            </a:r>
            <a:r>
              <a:rPr sz="1200" spc="-25" dirty="0">
                <a:latin typeface="Verdana"/>
                <a:cs typeface="Verdana"/>
              </a:rPr>
              <a:t>GD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45920" y="3798061"/>
            <a:ext cx="408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V</a:t>
            </a:r>
            <a:r>
              <a:rPr sz="1200" spc="-25" dirty="0">
                <a:latin typeface="Verdana"/>
                <a:cs typeface="Verdana"/>
              </a:rPr>
              <a:t>IN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5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dirty="0"/>
              <a:t>Frequency</a:t>
            </a:r>
            <a:r>
              <a:rPr spc="-10" dirty="0"/>
              <a:t> compensation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4644" y="1444244"/>
            <a:ext cx="5544185" cy="87884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482600" marR="5080" indent="-470534">
              <a:lnSpc>
                <a:spcPts val="2160"/>
              </a:lnSpc>
              <a:spcBef>
                <a:spcPts val="37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Introduces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elements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feedforward </a:t>
            </a:r>
            <a:r>
              <a:rPr sz="2000" dirty="0">
                <a:latin typeface="Verdana"/>
                <a:cs typeface="Verdana"/>
              </a:rPr>
              <a:t>or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feedback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path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ensure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needed </a:t>
            </a:r>
            <a:r>
              <a:rPr sz="2000" dirty="0">
                <a:latin typeface="Verdana"/>
                <a:cs typeface="Verdana"/>
              </a:rPr>
              <a:t>phase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gain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margin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for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stability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4644" y="2663442"/>
            <a:ext cx="5396865" cy="209804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482600" marR="469265" indent="-470534">
              <a:lnSpc>
                <a:spcPts val="2160"/>
              </a:lnSpc>
              <a:spcBef>
                <a:spcPts val="37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Reduces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dependency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on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parasitic </a:t>
            </a:r>
            <a:r>
              <a:rPr sz="2000" dirty="0">
                <a:latin typeface="Verdana"/>
                <a:cs typeface="Verdana"/>
              </a:rPr>
              <a:t>elements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their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variation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over </a:t>
            </a:r>
            <a:r>
              <a:rPr sz="2000" spc="-10" dirty="0">
                <a:latin typeface="Verdana"/>
                <a:cs typeface="Verdana"/>
              </a:rPr>
              <a:t>process/temperature/supply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the </a:t>
            </a:r>
            <a:r>
              <a:rPr sz="2000" spc="-10" dirty="0">
                <a:latin typeface="Verdana"/>
                <a:cs typeface="Verdana"/>
              </a:rPr>
              <a:t>circuit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85"/>
              </a:spcBef>
              <a:buClr>
                <a:srgbClr val="CC0000"/>
              </a:buClr>
              <a:buFont typeface="Wingdings"/>
              <a:buChar char=""/>
            </a:pPr>
            <a:endParaRPr sz="2000">
              <a:latin typeface="Verdana"/>
              <a:cs typeface="Verdana"/>
            </a:endParaRPr>
          </a:p>
          <a:p>
            <a:pPr marL="482600" marR="5080" indent="-470534">
              <a:lnSpc>
                <a:spcPts val="2160"/>
              </a:lnSpc>
              <a:spcBef>
                <a:spcPts val="5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Always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comes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with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reduction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power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bandwidth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ratio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874080" y="1732669"/>
            <a:ext cx="4091304" cy="3526154"/>
            <a:chOff x="6874080" y="1732669"/>
            <a:chExt cx="4091304" cy="3526154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74080" y="1732669"/>
              <a:ext cx="4090820" cy="352574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254746" y="1773173"/>
              <a:ext cx="1560830" cy="820419"/>
            </a:xfrm>
            <a:custGeom>
              <a:avLst/>
              <a:gdLst/>
              <a:ahLst/>
              <a:cxnLst/>
              <a:rect l="l" t="t" r="r" b="b"/>
              <a:pathLst>
                <a:path w="1560829" h="820419">
                  <a:moveTo>
                    <a:pt x="73152" y="163830"/>
                  </a:moveTo>
                  <a:lnTo>
                    <a:pt x="47091" y="155968"/>
                  </a:lnTo>
                  <a:lnTo>
                    <a:pt x="48768" y="151942"/>
                  </a:lnTo>
                  <a:lnTo>
                    <a:pt x="49047" y="151257"/>
                  </a:lnTo>
                  <a:lnTo>
                    <a:pt x="49530" y="150622"/>
                  </a:lnTo>
                  <a:lnTo>
                    <a:pt x="62484" y="133350"/>
                  </a:lnTo>
                  <a:lnTo>
                    <a:pt x="66294" y="130302"/>
                  </a:lnTo>
                  <a:lnTo>
                    <a:pt x="52578" y="116586"/>
                  </a:lnTo>
                  <a:lnTo>
                    <a:pt x="48768" y="120396"/>
                  </a:lnTo>
                  <a:lnTo>
                    <a:pt x="40386" y="130302"/>
                  </a:lnTo>
                  <a:lnTo>
                    <a:pt x="32766" y="140208"/>
                  </a:lnTo>
                  <a:lnTo>
                    <a:pt x="32766" y="140970"/>
                  </a:lnTo>
                  <a:lnTo>
                    <a:pt x="32004" y="141732"/>
                  </a:lnTo>
                  <a:lnTo>
                    <a:pt x="32004" y="142494"/>
                  </a:lnTo>
                  <a:lnTo>
                    <a:pt x="28816" y="150444"/>
                  </a:lnTo>
                  <a:lnTo>
                    <a:pt x="0" y="141732"/>
                  </a:lnTo>
                  <a:lnTo>
                    <a:pt x="14478" y="225552"/>
                  </a:lnTo>
                  <a:lnTo>
                    <a:pt x="24384" y="215138"/>
                  </a:lnTo>
                  <a:lnTo>
                    <a:pt x="73152" y="163830"/>
                  </a:lnTo>
                  <a:close/>
                </a:path>
                <a:path w="1560829" h="820419">
                  <a:moveTo>
                    <a:pt x="123444" y="84582"/>
                  </a:moveTo>
                  <a:lnTo>
                    <a:pt x="113538" y="67818"/>
                  </a:lnTo>
                  <a:lnTo>
                    <a:pt x="101346" y="76200"/>
                  </a:lnTo>
                  <a:lnTo>
                    <a:pt x="89916" y="83820"/>
                  </a:lnTo>
                  <a:lnTo>
                    <a:pt x="78486" y="92964"/>
                  </a:lnTo>
                  <a:lnTo>
                    <a:pt x="67818" y="101346"/>
                  </a:lnTo>
                  <a:lnTo>
                    <a:pt x="66294" y="102870"/>
                  </a:lnTo>
                  <a:lnTo>
                    <a:pt x="79248" y="116586"/>
                  </a:lnTo>
                  <a:lnTo>
                    <a:pt x="80010" y="115824"/>
                  </a:lnTo>
                  <a:lnTo>
                    <a:pt x="89916" y="107442"/>
                  </a:lnTo>
                  <a:lnTo>
                    <a:pt x="100584" y="99822"/>
                  </a:lnTo>
                  <a:lnTo>
                    <a:pt x="123444" y="84582"/>
                  </a:lnTo>
                  <a:close/>
                </a:path>
                <a:path w="1560829" h="820419">
                  <a:moveTo>
                    <a:pt x="190500" y="52578"/>
                  </a:moveTo>
                  <a:lnTo>
                    <a:pt x="183642" y="34290"/>
                  </a:lnTo>
                  <a:lnTo>
                    <a:pt x="169926" y="40386"/>
                  </a:lnTo>
                  <a:lnTo>
                    <a:pt x="154686" y="46482"/>
                  </a:lnTo>
                  <a:lnTo>
                    <a:pt x="140970" y="53340"/>
                  </a:lnTo>
                  <a:lnTo>
                    <a:pt x="131064" y="58674"/>
                  </a:lnTo>
                  <a:lnTo>
                    <a:pt x="139446" y="75438"/>
                  </a:lnTo>
                  <a:lnTo>
                    <a:pt x="148590" y="70104"/>
                  </a:lnTo>
                  <a:lnTo>
                    <a:pt x="162306" y="64008"/>
                  </a:lnTo>
                  <a:lnTo>
                    <a:pt x="176784" y="57912"/>
                  </a:lnTo>
                  <a:lnTo>
                    <a:pt x="190500" y="52578"/>
                  </a:lnTo>
                  <a:close/>
                </a:path>
                <a:path w="1560829" h="820419">
                  <a:moveTo>
                    <a:pt x="262890" y="32004"/>
                  </a:moveTo>
                  <a:lnTo>
                    <a:pt x="258318" y="12954"/>
                  </a:lnTo>
                  <a:lnTo>
                    <a:pt x="250698" y="15240"/>
                  </a:lnTo>
                  <a:lnTo>
                    <a:pt x="233934" y="19050"/>
                  </a:lnTo>
                  <a:lnTo>
                    <a:pt x="217170" y="23622"/>
                  </a:lnTo>
                  <a:lnTo>
                    <a:pt x="202692" y="28194"/>
                  </a:lnTo>
                  <a:lnTo>
                    <a:pt x="208026" y="46482"/>
                  </a:lnTo>
                  <a:lnTo>
                    <a:pt x="222504" y="41910"/>
                  </a:lnTo>
                  <a:lnTo>
                    <a:pt x="238506" y="37338"/>
                  </a:lnTo>
                  <a:lnTo>
                    <a:pt x="254508" y="33528"/>
                  </a:lnTo>
                  <a:lnTo>
                    <a:pt x="262890" y="32004"/>
                  </a:lnTo>
                  <a:close/>
                </a:path>
                <a:path w="1560829" h="820419">
                  <a:moveTo>
                    <a:pt x="336804" y="21336"/>
                  </a:moveTo>
                  <a:lnTo>
                    <a:pt x="335280" y="2286"/>
                  </a:lnTo>
                  <a:lnTo>
                    <a:pt x="324612" y="2959"/>
                  </a:lnTo>
                  <a:lnTo>
                    <a:pt x="323088" y="3048"/>
                  </a:lnTo>
                  <a:lnTo>
                    <a:pt x="304800" y="5334"/>
                  </a:lnTo>
                  <a:lnTo>
                    <a:pt x="277368" y="9906"/>
                  </a:lnTo>
                  <a:lnTo>
                    <a:pt x="281178" y="28194"/>
                  </a:lnTo>
                  <a:lnTo>
                    <a:pt x="288798" y="26670"/>
                  </a:lnTo>
                  <a:lnTo>
                    <a:pt x="306324" y="24384"/>
                  </a:lnTo>
                  <a:lnTo>
                    <a:pt x="324612" y="22098"/>
                  </a:lnTo>
                  <a:lnTo>
                    <a:pt x="335280" y="21437"/>
                  </a:lnTo>
                  <a:lnTo>
                    <a:pt x="336804" y="21336"/>
                  </a:lnTo>
                  <a:close/>
                </a:path>
                <a:path w="1560829" h="820419">
                  <a:moveTo>
                    <a:pt x="412242" y="0"/>
                  </a:moveTo>
                  <a:lnTo>
                    <a:pt x="380238" y="0"/>
                  </a:lnTo>
                  <a:lnTo>
                    <a:pt x="361188" y="762"/>
                  </a:lnTo>
                  <a:lnTo>
                    <a:pt x="354330" y="762"/>
                  </a:lnTo>
                  <a:lnTo>
                    <a:pt x="355092" y="19812"/>
                  </a:lnTo>
                  <a:lnTo>
                    <a:pt x="361188" y="19050"/>
                  </a:lnTo>
                  <a:lnTo>
                    <a:pt x="411480" y="19050"/>
                  </a:lnTo>
                  <a:lnTo>
                    <a:pt x="412242" y="0"/>
                  </a:lnTo>
                  <a:close/>
                </a:path>
                <a:path w="1560829" h="820419">
                  <a:moveTo>
                    <a:pt x="489204" y="7620"/>
                  </a:moveTo>
                  <a:lnTo>
                    <a:pt x="476250" y="5334"/>
                  </a:lnTo>
                  <a:lnTo>
                    <a:pt x="457962" y="3048"/>
                  </a:lnTo>
                  <a:lnTo>
                    <a:pt x="438912" y="1524"/>
                  </a:lnTo>
                  <a:lnTo>
                    <a:pt x="431292" y="762"/>
                  </a:lnTo>
                  <a:lnTo>
                    <a:pt x="430530" y="19812"/>
                  </a:lnTo>
                  <a:lnTo>
                    <a:pt x="437388" y="20574"/>
                  </a:lnTo>
                  <a:lnTo>
                    <a:pt x="455676" y="22098"/>
                  </a:lnTo>
                  <a:lnTo>
                    <a:pt x="486156" y="25908"/>
                  </a:lnTo>
                  <a:lnTo>
                    <a:pt x="489204" y="7620"/>
                  </a:lnTo>
                  <a:close/>
                </a:path>
                <a:path w="1560829" h="820419">
                  <a:moveTo>
                    <a:pt x="564642" y="23622"/>
                  </a:moveTo>
                  <a:lnTo>
                    <a:pt x="547878" y="19050"/>
                  </a:lnTo>
                  <a:lnTo>
                    <a:pt x="512826" y="11430"/>
                  </a:lnTo>
                  <a:lnTo>
                    <a:pt x="509016" y="10795"/>
                  </a:lnTo>
                  <a:lnTo>
                    <a:pt x="508254" y="10668"/>
                  </a:lnTo>
                  <a:lnTo>
                    <a:pt x="505206" y="28956"/>
                  </a:lnTo>
                  <a:lnTo>
                    <a:pt x="509016" y="29718"/>
                  </a:lnTo>
                  <a:lnTo>
                    <a:pt x="542544" y="37338"/>
                  </a:lnTo>
                  <a:lnTo>
                    <a:pt x="558546" y="41910"/>
                  </a:lnTo>
                  <a:lnTo>
                    <a:pt x="559308" y="42672"/>
                  </a:lnTo>
                  <a:lnTo>
                    <a:pt x="564642" y="24384"/>
                  </a:lnTo>
                  <a:lnTo>
                    <a:pt x="564642" y="23622"/>
                  </a:lnTo>
                  <a:close/>
                </a:path>
                <a:path w="1560829" h="820419">
                  <a:moveTo>
                    <a:pt x="637032" y="51816"/>
                  </a:moveTo>
                  <a:lnTo>
                    <a:pt x="626364" y="47244"/>
                  </a:lnTo>
                  <a:lnTo>
                    <a:pt x="611886" y="40386"/>
                  </a:lnTo>
                  <a:lnTo>
                    <a:pt x="596646" y="34290"/>
                  </a:lnTo>
                  <a:lnTo>
                    <a:pt x="583692" y="29718"/>
                  </a:lnTo>
                  <a:lnTo>
                    <a:pt x="576834" y="48006"/>
                  </a:lnTo>
                  <a:lnTo>
                    <a:pt x="589788" y="52578"/>
                  </a:lnTo>
                  <a:lnTo>
                    <a:pt x="604266" y="57912"/>
                  </a:lnTo>
                  <a:lnTo>
                    <a:pt x="617982" y="64008"/>
                  </a:lnTo>
                  <a:lnTo>
                    <a:pt x="628650" y="69342"/>
                  </a:lnTo>
                  <a:lnTo>
                    <a:pt x="637032" y="51816"/>
                  </a:lnTo>
                  <a:close/>
                </a:path>
                <a:path w="1560829" h="820419">
                  <a:moveTo>
                    <a:pt x="703326" y="93726"/>
                  </a:moveTo>
                  <a:lnTo>
                    <a:pt x="702564" y="93726"/>
                  </a:lnTo>
                  <a:lnTo>
                    <a:pt x="691896" y="84582"/>
                  </a:lnTo>
                  <a:lnTo>
                    <a:pt x="679704" y="76200"/>
                  </a:lnTo>
                  <a:lnTo>
                    <a:pt x="667512" y="68580"/>
                  </a:lnTo>
                  <a:lnTo>
                    <a:pt x="654558" y="60960"/>
                  </a:lnTo>
                  <a:lnTo>
                    <a:pt x="645414" y="77724"/>
                  </a:lnTo>
                  <a:lnTo>
                    <a:pt x="657606" y="84582"/>
                  </a:lnTo>
                  <a:lnTo>
                    <a:pt x="680466" y="99822"/>
                  </a:lnTo>
                  <a:lnTo>
                    <a:pt x="690372" y="108204"/>
                  </a:lnTo>
                  <a:lnTo>
                    <a:pt x="691134" y="108204"/>
                  </a:lnTo>
                  <a:lnTo>
                    <a:pt x="703326" y="93726"/>
                  </a:lnTo>
                  <a:close/>
                </a:path>
                <a:path w="1560829" h="820419">
                  <a:moveTo>
                    <a:pt x="755904" y="153924"/>
                  </a:moveTo>
                  <a:lnTo>
                    <a:pt x="754380" y="152400"/>
                  </a:lnTo>
                  <a:lnTo>
                    <a:pt x="740664" y="131064"/>
                  </a:lnTo>
                  <a:lnTo>
                    <a:pt x="732282" y="121158"/>
                  </a:lnTo>
                  <a:lnTo>
                    <a:pt x="723138" y="112014"/>
                  </a:lnTo>
                  <a:lnTo>
                    <a:pt x="718566" y="106680"/>
                  </a:lnTo>
                  <a:lnTo>
                    <a:pt x="704850" y="121158"/>
                  </a:lnTo>
                  <a:lnTo>
                    <a:pt x="737616" y="160782"/>
                  </a:lnTo>
                  <a:lnTo>
                    <a:pt x="738378" y="163068"/>
                  </a:lnTo>
                  <a:lnTo>
                    <a:pt x="755904" y="153924"/>
                  </a:lnTo>
                  <a:close/>
                </a:path>
                <a:path w="1560829" h="820419">
                  <a:moveTo>
                    <a:pt x="774954" y="220218"/>
                  </a:moveTo>
                  <a:lnTo>
                    <a:pt x="774192" y="208026"/>
                  </a:lnTo>
                  <a:lnTo>
                    <a:pt x="771906" y="196596"/>
                  </a:lnTo>
                  <a:lnTo>
                    <a:pt x="768858" y="185166"/>
                  </a:lnTo>
                  <a:lnTo>
                    <a:pt x="764286" y="171450"/>
                  </a:lnTo>
                  <a:lnTo>
                    <a:pt x="746760" y="179070"/>
                  </a:lnTo>
                  <a:lnTo>
                    <a:pt x="747522" y="180594"/>
                  </a:lnTo>
                  <a:lnTo>
                    <a:pt x="750570" y="189738"/>
                  </a:lnTo>
                  <a:lnTo>
                    <a:pt x="753618" y="199644"/>
                  </a:lnTo>
                  <a:lnTo>
                    <a:pt x="755142" y="210312"/>
                  </a:lnTo>
                  <a:lnTo>
                    <a:pt x="755904" y="220218"/>
                  </a:lnTo>
                  <a:lnTo>
                    <a:pt x="755904" y="231648"/>
                  </a:lnTo>
                  <a:lnTo>
                    <a:pt x="774954" y="231648"/>
                  </a:lnTo>
                  <a:lnTo>
                    <a:pt x="774954" y="220218"/>
                  </a:lnTo>
                  <a:close/>
                </a:path>
                <a:path w="1560829" h="820419">
                  <a:moveTo>
                    <a:pt x="1341120" y="516636"/>
                  </a:moveTo>
                  <a:lnTo>
                    <a:pt x="1330452" y="501396"/>
                  </a:lnTo>
                  <a:lnTo>
                    <a:pt x="1329690" y="502158"/>
                  </a:lnTo>
                  <a:lnTo>
                    <a:pt x="1323594" y="506730"/>
                  </a:lnTo>
                  <a:lnTo>
                    <a:pt x="1294638" y="538734"/>
                  </a:lnTo>
                  <a:lnTo>
                    <a:pt x="1290066" y="545592"/>
                  </a:lnTo>
                  <a:lnTo>
                    <a:pt x="1305306" y="556260"/>
                  </a:lnTo>
                  <a:lnTo>
                    <a:pt x="1310640" y="549402"/>
                  </a:lnTo>
                  <a:lnTo>
                    <a:pt x="1315212" y="542544"/>
                  </a:lnTo>
                  <a:lnTo>
                    <a:pt x="1320546" y="536448"/>
                  </a:lnTo>
                  <a:lnTo>
                    <a:pt x="1325880" y="531114"/>
                  </a:lnTo>
                  <a:lnTo>
                    <a:pt x="1330452" y="525780"/>
                  </a:lnTo>
                  <a:lnTo>
                    <a:pt x="1341120" y="516636"/>
                  </a:lnTo>
                  <a:close/>
                </a:path>
                <a:path w="1560829" h="820419">
                  <a:moveTo>
                    <a:pt x="1408938" y="479298"/>
                  </a:moveTo>
                  <a:lnTo>
                    <a:pt x="1405890" y="479298"/>
                  </a:lnTo>
                  <a:lnTo>
                    <a:pt x="1399032" y="478612"/>
                  </a:lnTo>
                  <a:lnTo>
                    <a:pt x="1391412" y="478536"/>
                  </a:lnTo>
                  <a:lnTo>
                    <a:pt x="1349502" y="489966"/>
                  </a:lnTo>
                  <a:lnTo>
                    <a:pt x="1347978" y="490728"/>
                  </a:lnTo>
                  <a:lnTo>
                    <a:pt x="1356360" y="507492"/>
                  </a:lnTo>
                  <a:lnTo>
                    <a:pt x="1358646" y="506730"/>
                  </a:lnTo>
                  <a:lnTo>
                    <a:pt x="1363980" y="504444"/>
                  </a:lnTo>
                  <a:lnTo>
                    <a:pt x="1370076" y="502158"/>
                  </a:lnTo>
                  <a:lnTo>
                    <a:pt x="1375410" y="500634"/>
                  </a:lnTo>
                  <a:lnTo>
                    <a:pt x="1381506" y="499110"/>
                  </a:lnTo>
                  <a:lnTo>
                    <a:pt x="1386840" y="498348"/>
                  </a:lnTo>
                  <a:lnTo>
                    <a:pt x="1392936" y="497586"/>
                  </a:lnTo>
                  <a:lnTo>
                    <a:pt x="1399032" y="497586"/>
                  </a:lnTo>
                  <a:lnTo>
                    <a:pt x="1404366" y="498348"/>
                  </a:lnTo>
                  <a:lnTo>
                    <a:pt x="1405890" y="498348"/>
                  </a:lnTo>
                  <a:lnTo>
                    <a:pt x="1408938" y="479298"/>
                  </a:lnTo>
                  <a:close/>
                </a:path>
                <a:path w="1560829" h="820419">
                  <a:moveTo>
                    <a:pt x="1480566" y="518160"/>
                  </a:moveTo>
                  <a:lnTo>
                    <a:pt x="1479042" y="517398"/>
                  </a:lnTo>
                  <a:lnTo>
                    <a:pt x="1472946" y="511302"/>
                  </a:lnTo>
                  <a:lnTo>
                    <a:pt x="1460754" y="500634"/>
                  </a:lnTo>
                  <a:lnTo>
                    <a:pt x="1453896" y="496824"/>
                  </a:lnTo>
                  <a:lnTo>
                    <a:pt x="1447800" y="492252"/>
                  </a:lnTo>
                  <a:lnTo>
                    <a:pt x="1434084" y="486156"/>
                  </a:lnTo>
                  <a:lnTo>
                    <a:pt x="1429512" y="484632"/>
                  </a:lnTo>
                  <a:lnTo>
                    <a:pt x="1422654" y="502158"/>
                  </a:lnTo>
                  <a:lnTo>
                    <a:pt x="1427226" y="503682"/>
                  </a:lnTo>
                  <a:lnTo>
                    <a:pt x="1433322" y="506730"/>
                  </a:lnTo>
                  <a:lnTo>
                    <a:pt x="1438656" y="509778"/>
                  </a:lnTo>
                  <a:lnTo>
                    <a:pt x="1444752" y="512826"/>
                  </a:lnTo>
                  <a:lnTo>
                    <a:pt x="1450086" y="516636"/>
                  </a:lnTo>
                  <a:lnTo>
                    <a:pt x="1460754" y="525780"/>
                  </a:lnTo>
                  <a:lnTo>
                    <a:pt x="1466088" y="531114"/>
                  </a:lnTo>
                  <a:lnTo>
                    <a:pt x="1480566" y="518160"/>
                  </a:lnTo>
                  <a:close/>
                </a:path>
                <a:path w="1560829" h="820419">
                  <a:moveTo>
                    <a:pt x="1521714" y="585216"/>
                  </a:moveTo>
                  <a:lnTo>
                    <a:pt x="1514094" y="568452"/>
                  </a:lnTo>
                  <a:lnTo>
                    <a:pt x="1505712" y="552450"/>
                  </a:lnTo>
                  <a:lnTo>
                    <a:pt x="1496568" y="537972"/>
                  </a:lnTo>
                  <a:lnTo>
                    <a:pt x="1493520" y="533400"/>
                  </a:lnTo>
                  <a:lnTo>
                    <a:pt x="1477518" y="544830"/>
                  </a:lnTo>
                  <a:lnTo>
                    <a:pt x="1481328" y="549402"/>
                  </a:lnTo>
                  <a:lnTo>
                    <a:pt x="1489710" y="563118"/>
                  </a:lnTo>
                  <a:lnTo>
                    <a:pt x="1497330" y="577596"/>
                  </a:lnTo>
                  <a:lnTo>
                    <a:pt x="1504188" y="592836"/>
                  </a:lnTo>
                  <a:lnTo>
                    <a:pt x="1521714" y="585216"/>
                  </a:lnTo>
                  <a:close/>
                </a:path>
                <a:path w="1560829" h="820419">
                  <a:moveTo>
                    <a:pt x="1539240" y="662178"/>
                  </a:moveTo>
                  <a:lnTo>
                    <a:pt x="1538478" y="659130"/>
                  </a:lnTo>
                  <a:lnTo>
                    <a:pt x="1537716" y="649224"/>
                  </a:lnTo>
                  <a:lnTo>
                    <a:pt x="1534668" y="630936"/>
                  </a:lnTo>
                  <a:lnTo>
                    <a:pt x="1532382" y="621030"/>
                  </a:lnTo>
                  <a:lnTo>
                    <a:pt x="1527810" y="605028"/>
                  </a:lnTo>
                  <a:lnTo>
                    <a:pt x="1509522" y="609600"/>
                  </a:lnTo>
                  <a:lnTo>
                    <a:pt x="1516380" y="634746"/>
                  </a:lnTo>
                  <a:lnTo>
                    <a:pt x="1517904" y="643128"/>
                  </a:lnTo>
                  <a:lnTo>
                    <a:pt x="1518666" y="652272"/>
                  </a:lnTo>
                  <a:lnTo>
                    <a:pt x="1520190" y="661416"/>
                  </a:lnTo>
                  <a:lnTo>
                    <a:pt x="1520190" y="663702"/>
                  </a:lnTo>
                  <a:lnTo>
                    <a:pt x="1537716" y="662305"/>
                  </a:lnTo>
                  <a:lnTo>
                    <a:pt x="1539240" y="662178"/>
                  </a:lnTo>
                  <a:close/>
                </a:path>
                <a:path w="1560829" h="820419">
                  <a:moveTo>
                    <a:pt x="1540002" y="681990"/>
                  </a:moveTo>
                  <a:lnTo>
                    <a:pt x="1520952" y="682752"/>
                  </a:lnTo>
                  <a:lnTo>
                    <a:pt x="1520952" y="706374"/>
                  </a:lnTo>
                  <a:lnTo>
                    <a:pt x="1519428" y="723900"/>
                  </a:lnTo>
                  <a:lnTo>
                    <a:pt x="1517142" y="737616"/>
                  </a:lnTo>
                  <a:lnTo>
                    <a:pt x="1536192" y="740664"/>
                  </a:lnTo>
                  <a:lnTo>
                    <a:pt x="1536954" y="736092"/>
                  </a:lnTo>
                  <a:lnTo>
                    <a:pt x="1538478" y="726186"/>
                  </a:lnTo>
                  <a:lnTo>
                    <a:pt x="1540002" y="707136"/>
                  </a:lnTo>
                  <a:lnTo>
                    <a:pt x="1540002" y="681990"/>
                  </a:lnTo>
                  <a:close/>
                </a:path>
                <a:path w="1560829" h="820419">
                  <a:moveTo>
                    <a:pt x="1560576" y="761238"/>
                  </a:moveTo>
                  <a:lnTo>
                    <a:pt x="1488948" y="735330"/>
                  </a:lnTo>
                  <a:lnTo>
                    <a:pt x="1498854" y="819912"/>
                  </a:lnTo>
                  <a:lnTo>
                    <a:pt x="1511046" y="808329"/>
                  </a:lnTo>
                  <a:lnTo>
                    <a:pt x="1530096" y="790219"/>
                  </a:lnTo>
                  <a:lnTo>
                    <a:pt x="1560576" y="761238"/>
                  </a:lnTo>
                  <a:close/>
                </a:path>
              </a:pathLst>
            </a:custGeom>
            <a:solidFill>
              <a:srgbClr val="CB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477250" y="1489964"/>
            <a:ext cx="42608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solidFill>
                  <a:srgbClr val="CC0000"/>
                </a:solidFill>
                <a:latin typeface="Symbol"/>
                <a:cs typeface="Symbol"/>
              </a:rPr>
              <a:t></a:t>
            </a:r>
            <a:r>
              <a:rPr sz="1200" spc="-25" dirty="0">
                <a:solidFill>
                  <a:srgbClr val="CC0000"/>
                </a:solidFill>
                <a:latin typeface="Verdana"/>
                <a:cs typeface="Verdana"/>
              </a:rPr>
              <a:t>p1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BD7899C3-05A2-412A-8CDE-0726B622410B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9617202" y="2020315"/>
            <a:ext cx="42608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solidFill>
                  <a:srgbClr val="CC0000"/>
                </a:solidFill>
                <a:latin typeface="Symbol"/>
                <a:cs typeface="Symbol"/>
              </a:rPr>
              <a:t></a:t>
            </a:r>
            <a:r>
              <a:rPr sz="1200" spc="-25" dirty="0">
                <a:solidFill>
                  <a:srgbClr val="CC0000"/>
                </a:solidFill>
                <a:latin typeface="Verdana"/>
                <a:cs typeface="Verdana"/>
              </a:rPr>
              <a:t>p2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30459" y="5398261"/>
            <a:ext cx="1322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Figure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[20]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5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Amplifiers:</a:t>
            </a:r>
            <a:r>
              <a:rPr spc="-60" dirty="0"/>
              <a:t> </a:t>
            </a:r>
            <a:r>
              <a:rPr dirty="0"/>
              <a:t>Number</a:t>
            </a:r>
            <a:r>
              <a:rPr spc="-85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spc="-10" dirty="0"/>
              <a:t>stages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ABB56929-14F1-4790-9B1C-5FFA5F92F5FA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73683" y="1238988"/>
            <a:ext cx="10475595" cy="452501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482600" indent="-469900">
              <a:lnSpc>
                <a:spcPct val="100000"/>
              </a:lnSpc>
              <a:spcBef>
                <a:spcPts val="58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1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Stage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Amplifiers</a:t>
            </a:r>
            <a:endParaRPr sz="2000">
              <a:latin typeface="Verdana"/>
              <a:cs typeface="Verdana"/>
            </a:endParaRPr>
          </a:p>
          <a:p>
            <a:pPr marL="920750" lvl="1" indent="-437515">
              <a:lnSpc>
                <a:spcPct val="100000"/>
              </a:lnSpc>
              <a:spcBef>
                <a:spcPts val="434"/>
              </a:spcBef>
              <a:buClr>
                <a:srgbClr val="CC0000"/>
              </a:buClr>
              <a:buFont typeface="Wingdings"/>
              <a:buChar char=""/>
              <a:tabLst>
                <a:tab pos="920750" algn="l"/>
              </a:tabLst>
            </a:pPr>
            <a:r>
              <a:rPr sz="1800" dirty="0">
                <a:latin typeface="Verdana"/>
                <a:cs typeface="Verdana"/>
              </a:rPr>
              <a:t>Simplicity,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stability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power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efficiency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(</a:t>
            </a:r>
            <a:r>
              <a:rPr sz="1800" b="1" spc="-20" dirty="0">
                <a:solidFill>
                  <a:srgbClr val="00B04F"/>
                </a:solidFill>
                <a:latin typeface="Verdana"/>
                <a:cs typeface="Verdana"/>
              </a:rPr>
              <a:t>++</a:t>
            </a:r>
            <a:r>
              <a:rPr sz="1800" spc="-20" dirty="0">
                <a:latin typeface="Verdana"/>
                <a:cs typeface="Verdana"/>
              </a:rPr>
              <a:t>)</a:t>
            </a:r>
            <a:endParaRPr sz="1800">
              <a:latin typeface="Verdana"/>
              <a:cs typeface="Verdana"/>
            </a:endParaRPr>
          </a:p>
          <a:p>
            <a:pPr marL="920750" marR="363855" lvl="1" indent="-437515">
              <a:lnSpc>
                <a:spcPct val="100000"/>
              </a:lnSpc>
              <a:spcBef>
                <a:spcPts val="430"/>
              </a:spcBef>
              <a:buClr>
                <a:srgbClr val="CC0000"/>
              </a:buClr>
              <a:buFont typeface="Wingdings"/>
              <a:buChar char=""/>
              <a:tabLst>
                <a:tab pos="920750" algn="l"/>
              </a:tabLst>
            </a:pPr>
            <a:r>
              <a:rPr sz="1800" dirty="0">
                <a:latin typeface="Verdana"/>
                <a:cs typeface="Verdana"/>
              </a:rPr>
              <a:t>Low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gain,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high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output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impedance,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limited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output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range,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load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sensitivity,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limited </a:t>
            </a:r>
            <a:r>
              <a:rPr sz="1800" dirty="0">
                <a:latin typeface="Verdana"/>
                <a:cs typeface="Verdana"/>
              </a:rPr>
              <a:t>current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drive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capability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(</a:t>
            </a:r>
            <a:r>
              <a:rPr sz="1800" b="1" spc="-10" dirty="0">
                <a:solidFill>
                  <a:srgbClr val="CC0000"/>
                </a:solidFill>
                <a:latin typeface="Verdana"/>
                <a:cs typeface="Verdana"/>
              </a:rPr>
              <a:t>––</a:t>
            </a:r>
            <a:r>
              <a:rPr sz="1800" spc="-50" dirty="0">
                <a:latin typeface="Verdana"/>
                <a:cs typeface="Verdana"/>
              </a:rPr>
              <a:t>)</a:t>
            </a:r>
            <a:endParaRPr sz="18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spcBef>
                <a:spcPts val="48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2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Stage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Amplifiers</a:t>
            </a:r>
            <a:endParaRPr sz="2000">
              <a:latin typeface="Verdana"/>
              <a:cs typeface="Verdana"/>
            </a:endParaRPr>
          </a:p>
          <a:p>
            <a:pPr marL="920750" marR="5080" lvl="1" indent="-437515">
              <a:lnSpc>
                <a:spcPct val="100000"/>
              </a:lnSpc>
              <a:spcBef>
                <a:spcPts val="430"/>
              </a:spcBef>
              <a:buClr>
                <a:srgbClr val="CC0000"/>
              </a:buClr>
              <a:buFont typeface="Wingdings"/>
              <a:buChar char=""/>
              <a:tabLst>
                <a:tab pos="920750" algn="l"/>
              </a:tabLst>
            </a:pPr>
            <a:r>
              <a:rPr sz="1800" dirty="0">
                <a:latin typeface="Verdana"/>
                <a:cs typeface="Verdana"/>
              </a:rPr>
              <a:t>Lower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output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impedance,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output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range,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load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insensitivity,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input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output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ranges </a:t>
            </a:r>
            <a:r>
              <a:rPr sz="1800" dirty="0">
                <a:latin typeface="Verdana"/>
                <a:cs typeface="Verdana"/>
              </a:rPr>
              <a:t>decoupled,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current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drive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capability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(</a:t>
            </a:r>
            <a:r>
              <a:rPr sz="1800" b="1" spc="-20" dirty="0">
                <a:solidFill>
                  <a:srgbClr val="00B04F"/>
                </a:solidFill>
                <a:latin typeface="Verdana"/>
                <a:cs typeface="Verdana"/>
              </a:rPr>
              <a:t>++</a:t>
            </a:r>
            <a:r>
              <a:rPr sz="1800" spc="-20" dirty="0">
                <a:latin typeface="Verdana"/>
                <a:cs typeface="Verdana"/>
              </a:rPr>
              <a:t>)</a:t>
            </a:r>
            <a:endParaRPr sz="1800">
              <a:latin typeface="Verdana"/>
              <a:cs typeface="Verdana"/>
            </a:endParaRPr>
          </a:p>
          <a:p>
            <a:pPr marL="920750" lvl="1" indent="-437515">
              <a:lnSpc>
                <a:spcPct val="100000"/>
              </a:lnSpc>
              <a:spcBef>
                <a:spcPts val="434"/>
              </a:spcBef>
              <a:buClr>
                <a:srgbClr val="CC0000"/>
              </a:buClr>
              <a:buFont typeface="Wingdings"/>
              <a:buChar char=""/>
              <a:tabLst>
                <a:tab pos="920750" algn="l"/>
              </a:tabLst>
            </a:pPr>
            <a:r>
              <a:rPr sz="1800" dirty="0">
                <a:latin typeface="Verdana"/>
                <a:cs typeface="Verdana"/>
              </a:rPr>
              <a:t>Simplicity,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cap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load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drive,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settling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time,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power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efficiency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(</a:t>
            </a:r>
            <a:r>
              <a:rPr sz="1800" b="1" spc="-25" dirty="0">
                <a:solidFill>
                  <a:srgbClr val="00B04F"/>
                </a:solidFill>
                <a:latin typeface="Verdana"/>
                <a:cs typeface="Verdana"/>
              </a:rPr>
              <a:t>+</a:t>
            </a:r>
            <a:r>
              <a:rPr sz="1800" spc="-25" dirty="0">
                <a:latin typeface="Verdana"/>
                <a:cs typeface="Verdana"/>
              </a:rPr>
              <a:t>)</a:t>
            </a:r>
            <a:endParaRPr sz="1800">
              <a:latin typeface="Verdana"/>
              <a:cs typeface="Verdana"/>
            </a:endParaRPr>
          </a:p>
          <a:p>
            <a:pPr marL="920750" marR="279400" lvl="1" indent="-437515">
              <a:lnSpc>
                <a:spcPct val="100000"/>
              </a:lnSpc>
              <a:spcBef>
                <a:spcPts val="430"/>
              </a:spcBef>
              <a:buClr>
                <a:srgbClr val="CC0000"/>
              </a:buClr>
              <a:buFont typeface="Wingdings"/>
              <a:buChar char=""/>
              <a:tabLst>
                <a:tab pos="920750" algn="l"/>
              </a:tabLst>
            </a:pPr>
            <a:r>
              <a:rPr sz="1800" dirty="0">
                <a:latin typeface="Verdana"/>
                <a:cs typeface="Verdana"/>
              </a:rPr>
              <a:t>Limited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gain,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higher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offset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noise,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distortion,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current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drive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capability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(bipolar </a:t>
            </a:r>
            <a:r>
              <a:rPr sz="1800" dirty="0">
                <a:latin typeface="Verdana"/>
                <a:cs typeface="Verdana"/>
              </a:rPr>
              <a:t>amplifiers)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(</a:t>
            </a:r>
            <a:r>
              <a:rPr sz="1800" b="1" spc="-10" dirty="0">
                <a:solidFill>
                  <a:srgbClr val="CC0000"/>
                </a:solidFill>
                <a:latin typeface="Verdana"/>
                <a:cs typeface="Verdana"/>
              </a:rPr>
              <a:t>–</a:t>
            </a:r>
            <a:r>
              <a:rPr sz="1800" spc="-50" dirty="0">
                <a:latin typeface="Verdana"/>
                <a:cs typeface="Verdana"/>
              </a:rPr>
              <a:t>)</a:t>
            </a:r>
            <a:endParaRPr sz="18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spcBef>
                <a:spcPts val="48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3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Stage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Amplifiers</a:t>
            </a:r>
            <a:endParaRPr sz="2000">
              <a:latin typeface="Verdana"/>
              <a:cs typeface="Verdana"/>
            </a:endParaRPr>
          </a:p>
          <a:p>
            <a:pPr marL="920750" marR="191770" lvl="1" indent="-437515">
              <a:lnSpc>
                <a:spcPct val="100000"/>
              </a:lnSpc>
              <a:spcBef>
                <a:spcPts val="434"/>
              </a:spcBef>
              <a:buClr>
                <a:srgbClr val="CC0000"/>
              </a:buClr>
              <a:buFont typeface="Wingdings"/>
              <a:buChar char=""/>
              <a:tabLst>
                <a:tab pos="920750" algn="l"/>
              </a:tabLst>
            </a:pPr>
            <a:r>
              <a:rPr sz="1800" dirty="0">
                <a:latin typeface="Verdana"/>
                <a:cs typeface="Verdana"/>
              </a:rPr>
              <a:t>High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gain,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lower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offset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noise,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less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distortion,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current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drive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capability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(bipolar </a:t>
            </a:r>
            <a:r>
              <a:rPr sz="1800" dirty="0">
                <a:latin typeface="Verdana"/>
                <a:cs typeface="Verdana"/>
              </a:rPr>
              <a:t>amplifiers)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(</a:t>
            </a:r>
            <a:r>
              <a:rPr sz="1800" b="1" spc="-20" dirty="0">
                <a:solidFill>
                  <a:srgbClr val="00B04F"/>
                </a:solidFill>
                <a:latin typeface="Verdana"/>
                <a:cs typeface="Verdana"/>
              </a:rPr>
              <a:t>++</a:t>
            </a:r>
            <a:r>
              <a:rPr sz="1800" spc="-20" dirty="0">
                <a:latin typeface="Verdana"/>
                <a:cs typeface="Verdana"/>
              </a:rPr>
              <a:t>)</a:t>
            </a:r>
            <a:endParaRPr sz="1800">
              <a:latin typeface="Verdana"/>
              <a:cs typeface="Verdana"/>
            </a:endParaRPr>
          </a:p>
          <a:p>
            <a:pPr marL="920750" lvl="1" indent="-437515">
              <a:lnSpc>
                <a:spcPct val="100000"/>
              </a:lnSpc>
              <a:spcBef>
                <a:spcPts val="430"/>
              </a:spcBef>
              <a:buClr>
                <a:srgbClr val="CC0000"/>
              </a:buClr>
              <a:buFont typeface="Wingdings"/>
              <a:buChar char=""/>
              <a:tabLst>
                <a:tab pos="920750" algn="l"/>
              </a:tabLst>
            </a:pPr>
            <a:r>
              <a:rPr sz="1800" dirty="0">
                <a:latin typeface="Verdana"/>
                <a:cs typeface="Verdana"/>
              </a:rPr>
              <a:t>Complexity,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power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efficiency,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large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small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signal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stability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concerns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(</a:t>
            </a:r>
            <a:r>
              <a:rPr sz="1800" b="1" spc="-10" dirty="0">
                <a:solidFill>
                  <a:srgbClr val="CC0000"/>
                </a:solidFill>
                <a:latin typeface="Verdana"/>
                <a:cs typeface="Verdana"/>
              </a:rPr>
              <a:t>––</a:t>
            </a:r>
            <a:r>
              <a:rPr sz="1800" spc="-50" dirty="0">
                <a:latin typeface="Verdana"/>
                <a:cs typeface="Verdana"/>
              </a:rPr>
              <a:t>)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30" dirty="0"/>
              <a:t> </a:t>
            </a:r>
            <a:r>
              <a:rPr dirty="0"/>
              <a:t>is a</a:t>
            </a:r>
            <a:r>
              <a:rPr spc="-25" dirty="0"/>
              <a:t> </a:t>
            </a:r>
            <a:r>
              <a:rPr dirty="0"/>
              <a:t>gain</a:t>
            </a:r>
            <a:r>
              <a:rPr spc="-30" dirty="0"/>
              <a:t> </a:t>
            </a:r>
            <a:r>
              <a:rPr dirty="0"/>
              <a:t>stage</a:t>
            </a:r>
            <a:r>
              <a:rPr spc="-30" dirty="0"/>
              <a:t> </a:t>
            </a:r>
            <a:r>
              <a:rPr dirty="0"/>
              <a:t>in the</a:t>
            </a:r>
            <a:r>
              <a:rPr spc="-30" dirty="0"/>
              <a:t> </a:t>
            </a:r>
            <a:r>
              <a:rPr dirty="0"/>
              <a:t>signal </a:t>
            </a:r>
            <a:r>
              <a:rPr spc="-10" dirty="0"/>
              <a:t>path?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9152" y="4136145"/>
            <a:ext cx="4352290" cy="1627505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482600" indent="-469900">
              <a:lnSpc>
                <a:spcPct val="100000"/>
              </a:lnSpc>
              <a:spcBef>
                <a:spcPts val="825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400" dirty="0">
                <a:latin typeface="Verdana"/>
                <a:cs typeface="Verdana"/>
              </a:rPr>
              <a:t>Gain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stages:</a:t>
            </a:r>
            <a:endParaRPr sz="2400">
              <a:latin typeface="Verdana"/>
              <a:cs typeface="Verdana"/>
            </a:endParaRPr>
          </a:p>
          <a:p>
            <a:pPr marL="939800" lvl="1" indent="-469900">
              <a:lnSpc>
                <a:spcPct val="100000"/>
              </a:lnSpc>
              <a:spcBef>
                <a:spcPts val="605"/>
              </a:spcBef>
              <a:buClr>
                <a:srgbClr val="CC0000"/>
              </a:buClr>
              <a:buFont typeface="Wingdings"/>
              <a:buChar char=""/>
              <a:tabLst>
                <a:tab pos="939800" algn="l"/>
              </a:tabLst>
            </a:pPr>
            <a:r>
              <a:rPr sz="2000" dirty="0">
                <a:latin typeface="Verdana"/>
                <a:cs typeface="Verdana"/>
              </a:rPr>
              <a:t>common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source</a:t>
            </a:r>
            <a:endParaRPr sz="2000">
              <a:latin typeface="Verdana"/>
              <a:cs typeface="Verdana"/>
            </a:endParaRPr>
          </a:p>
          <a:p>
            <a:pPr marL="939800" lvl="1" indent="-469900">
              <a:lnSpc>
                <a:spcPct val="100000"/>
              </a:lnSpc>
              <a:spcBef>
                <a:spcPts val="600"/>
              </a:spcBef>
              <a:buClr>
                <a:srgbClr val="CC0000"/>
              </a:buClr>
              <a:buFont typeface="Wingdings"/>
              <a:buChar char=""/>
              <a:tabLst>
                <a:tab pos="939800" algn="l"/>
              </a:tabLst>
            </a:pPr>
            <a:r>
              <a:rPr sz="2000" dirty="0">
                <a:latin typeface="Verdana"/>
                <a:cs typeface="Verdana"/>
              </a:rPr>
              <a:t>common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gate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if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Zin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&lt;&lt;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ZL</a:t>
            </a:r>
            <a:endParaRPr sz="2000">
              <a:latin typeface="Verdana"/>
              <a:cs typeface="Verdana"/>
            </a:endParaRPr>
          </a:p>
          <a:p>
            <a:pPr marL="939800" lvl="1" indent="-469900">
              <a:lnSpc>
                <a:spcPct val="100000"/>
              </a:lnSpc>
              <a:spcBef>
                <a:spcPts val="600"/>
              </a:spcBef>
              <a:buClr>
                <a:srgbClr val="CC0000"/>
              </a:buClr>
              <a:buFont typeface="Wingdings"/>
              <a:buChar char=""/>
              <a:tabLst>
                <a:tab pos="939800" algn="l"/>
              </a:tabLst>
            </a:pPr>
            <a:r>
              <a:rPr sz="2000" dirty="0">
                <a:latin typeface="Verdana"/>
                <a:cs typeface="Verdana"/>
              </a:rPr>
              <a:t>differential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stage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39026" y="4228592"/>
            <a:ext cx="30283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2600" indent="-46990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400" dirty="0">
                <a:latin typeface="Verdana"/>
                <a:cs typeface="Verdana"/>
              </a:rPr>
              <a:t>Not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gain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stages: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96226" y="4594809"/>
            <a:ext cx="3686810" cy="7874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82600" indent="-469900">
              <a:lnSpc>
                <a:spcPct val="100000"/>
              </a:lnSpc>
              <a:spcBef>
                <a:spcPts val="70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common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drain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(follower)</a:t>
            </a:r>
            <a:endParaRPr sz="20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spcBef>
                <a:spcPts val="60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common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gate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if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Zin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&gt;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ZL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990587" y="1470660"/>
            <a:ext cx="10160" cy="2273300"/>
            <a:chOff x="6990587" y="1470660"/>
            <a:chExt cx="10160" cy="2273300"/>
          </a:xfrm>
        </p:grpSpPr>
        <p:sp>
          <p:nvSpPr>
            <p:cNvPr id="7" name="object 7"/>
            <p:cNvSpPr/>
            <p:nvPr/>
          </p:nvSpPr>
          <p:spPr>
            <a:xfrm>
              <a:off x="6995540" y="1470660"/>
              <a:ext cx="0" cy="2238375"/>
            </a:xfrm>
            <a:custGeom>
              <a:avLst/>
              <a:gdLst/>
              <a:ahLst/>
              <a:cxnLst/>
              <a:rect l="l" t="t" r="r" b="b"/>
              <a:pathLst>
                <a:path h="2238375">
                  <a:moveTo>
                    <a:pt x="0" y="0"/>
                  </a:moveTo>
                  <a:lnTo>
                    <a:pt x="0" y="2237993"/>
                  </a:lnTo>
                </a:path>
              </a:pathLst>
            </a:custGeom>
            <a:ln w="9906">
              <a:solidFill>
                <a:srgbClr val="CB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990587" y="3737610"/>
              <a:ext cx="10160" cy="6350"/>
            </a:xfrm>
            <a:custGeom>
              <a:avLst/>
              <a:gdLst/>
              <a:ahLst/>
              <a:cxnLst/>
              <a:rect l="l" t="t" r="r" b="b"/>
              <a:pathLst>
                <a:path w="10159" h="6350">
                  <a:moveTo>
                    <a:pt x="9906" y="6095"/>
                  </a:moveTo>
                  <a:lnTo>
                    <a:pt x="9906" y="0"/>
                  </a:lnTo>
                  <a:lnTo>
                    <a:pt x="0" y="0"/>
                  </a:lnTo>
                  <a:lnTo>
                    <a:pt x="0" y="6095"/>
                  </a:lnTo>
                  <a:lnTo>
                    <a:pt x="9906" y="6095"/>
                  </a:lnTo>
                  <a:close/>
                </a:path>
              </a:pathLst>
            </a:custGeom>
            <a:solidFill>
              <a:srgbClr val="CB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5333" y="1392936"/>
            <a:ext cx="2781300" cy="248564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108695" y="3020821"/>
            <a:ext cx="182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V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64906" y="3153409"/>
            <a:ext cx="2019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Verdana"/>
                <a:cs typeface="Verdana"/>
              </a:rPr>
              <a:t>IN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95257" y="3212084"/>
            <a:ext cx="1847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R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929116" y="2892805"/>
            <a:ext cx="611505" cy="660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0"/>
              </a:spcBef>
            </a:pPr>
            <a:r>
              <a:rPr sz="2700" spc="-30" baseline="13888" dirty="0">
                <a:latin typeface="Verdana"/>
                <a:cs typeface="Verdana"/>
              </a:rPr>
              <a:t>V</a:t>
            </a:r>
            <a:r>
              <a:rPr sz="1200" spc="-20" dirty="0">
                <a:latin typeface="Verdana"/>
                <a:cs typeface="Verdana"/>
              </a:rPr>
              <a:t>OUT</a:t>
            </a:r>
            <a:endParaRPr sz="120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1395"/>
              </a:spcBef>
            </a:pPr>
            <a:r>
              <a:rPr sz="1200" spc="-25" dirty="0">
                <a:latin typeface="Verdana"/>
                <a:cs typeface="Verdana"/>
              </a:rPr>
              <a:t>LD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214609" y="1512061"/>
            <a:ext cx="770255" cy="819785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65"/>
              </a:spcBef>
            </a:pPr>
            <a:r>
              <a:rPr sz="2700" spc="-37" baseline="13888" dirty="0">
                <a:latin typeface="Verdana"/>
                <a:cs typeface="Verdana"/>
              </a:rPr>
              <a:t>R</a:t>
            </a:r>
            <a:r>
              <a:rPr sz="1200" spc="-25" dirty="0">
                <a:latin typeface="Verdana"/>
                <a:cs typeface="Verdana"/>
              </a:rPr>
              <a:t>LD</a:t>
            </a:r>
            <a:endParaRPr sz="1200">
              <a:latin typeface="Verdana"/>
              <a:cs typeface="Verdana"/>
            </a:endParaRPr>
          </a:p>
          <a:p>
            <a:pPr marL="251460">
              <a:lnSpc>
                <a:spcPct val="100000"/>
              </a:lnSpc>
              <a:spcBef>
                <a:spcPts val="965"/>
              </a:spcBef>
            </a:pPr>
            <a:r>
              <a:rPr sz="2700" spc="-30" baseline="13888" dirty="0">
                <a:latin typeface="Verdana"/>
                <a:cs typeface="Verdana"/>
              </a:rPr>
              <a:t>V</a:t>
            </a:r>
            <a:r>
              <a:rPr sz="1200" spc="-20" dirty="0">
                <a:latin typeface="Verdana"/>
                <a:cs typeface="Verdana"/>
              </a:rPr>
              <a:t>OUT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243566" y="2841752"/>
            <a:ext cx="499109" cy="785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R</a:t>
            </a:r>
            <a:r>
              <a:rPr sz="1200" spc="-25" dirty="0">
                <a:latin typeface="Verdana"/>
                <a:cs typeface="Verdana"/>
              </a:rPr>
              <a:t>IN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200">
              <a:latin typeface="Verdana"/>
              <a:cs typeface="Verdana"/>
            </a:endParaRPr>
          </a:p>
          <a:p>
            <a:pPr marL="127635">
              <a:lnSpc>
                <a:spcPct val="100000"/>
              </a:lnSpc>
            </a:pPr>
            <a:r>
              <a:rPr sz="2700" spc="-37" baseline="13888" dirty="0">
                <a:latin typeface="Verdana"/>
                <a:cs typeface="Verdana"/>
              </a:rPr>
              <a:t>V</a:t>
            </a:r>
            <a:r>
              <a:rPr sz="1200" spc="-25" dirty="0">
                <a:latin typeface="Verdana"/>
                <a:cs typeface="Verdana"/>
              </a:rPr>
              <a:t>IN</a:t>
            </a:r>
            <a:endParaRPr sz="1200">
              <a:latin typeface="Verdana"/>
              <a:cs typeface="Verdan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0411" y="1392936"/>
            <a:ext cx="5257038" cy="248564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493774" y="3020821"/>
            <a:ext cx="182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V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4BE9DEF4-F06F-433F-ADB6-4F107DE3C245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18" name="object 18"/>
          <p:cNvSpPr txBox="1"/>
          <p:nvPr/>
        </p:nvSpPr>
        <p:spPr>
          <a:xfrm>
            <a:off x="1649983" y="3153409"/>
            <a:ext cx="2019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Verdana"/>
                <a:cs typeface="Verdana"/>
              </a:rPr>
              <a:t>IN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48738" y="2065273"/>
            <a:ext cx="182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V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504948" y="2197861"/>
            <a:ext cx="3498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Verdana"/>
                <a:cs typeface="Verdana"/>
              </a:rPr>
              <a:t>OUT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43505" y="1626361"/>
            <a:ext cx="437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R</a:t>
            </a:r>
            <a:r>
              <a:rPr sz="1200" spc="-25" dirty="0">
                <a:latin typeface="Verdana"/>
                <a:cs typeface="Verdana"/>
              </a:rPr>
              <a:t>LD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03573" y="2065273"/>
            <a:ext cx="182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V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859784" y="2197861"/>
            <a:ext cx="3498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Verdana"/>
                <a:cs typeface="Verdana"/>
              </a:rPr>
              <a:t>OUT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09085" y="3212084"/>
            <a:ext cx="182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V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65296" y="3344671"/>
            <a:ext cx="2019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Verdana"/>
                <a:cs typeface="Verdana"/>
              </a:rPr>
              <a:t>IN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489959" y="1626361"/>
            <a:ext cx="437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R</a:t>
            </a:r>
            <a:r>
              <a:rPr sz="1200" spc="-25" dirty="0">
                <a:latin typeface="Verdana"/>
                <a:cs typeface="Verdana"/>
              </a:rPr>
              <a:t>LD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743194" y="1626361"/>
            <a:ext cx="437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R</a:t>
            </a:r>
            <a:r>
              <a:rPr sz="1200" spc="-25" dirty="0">
                <a:latin typeface="Verdana"/>
                <a:cs typeface="Verdana"/>
              </a:rPr>
              <a:t>LD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798314" y="1590547"/>
            <a:ext cx="601980" cy="645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550" marR="30480" indent="-45085">
              <a:lnSpc>
                <a:spcPct val="1131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R</a:t>
            </a:r>
            <a:r>
              <a:rPr sz="1200" spc="-25" dirty="0">
                <a:latin typeface="Verdana"/>
                <a:cs typeface="Verdana"/>
              </a:rPr>
              <a:t>LD </a:t>
            </a:r>
            <a:r>
              <a:rPr sz="2700" spc="-30" baseline="13888" dirty="0">
                <a:latin typeface="Verdana"/>
                <a:cs typeface="Verdana"/>
              </a:rPr>
              <a:t>V</a:t>
            </a:r>
            <a:r>
              <a:rPr sz="1200" spc="-20" dirty="0">
                <a:latin typeface="Verdana"/>
                <a:cs typeface="Verdana"/>
              </a:rPr>
              <a:t>OUT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628644" y="2539238"/>
            <a:ext cx="408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V</a:t>
            </a:r>
            <a:r>
              <a:rPr sz="1200" spc="-25" dirty="0">
                <a:latin typeface="Verdana"/>
                <a:cs typeface="Verdana"/>
              </a:rPr>
              <a:t>IN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238494" y="2562097"/>
            <a:ext cx="408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V</a:t>
            </a:r>
            <a:r>
              <a:rPr sz="1200" spc="-25" dirty="0">
                <a:latin typeface="Verdana"/>
                <a:cs typeface="Verdana"/>
              </a:rPr>
              <a:t>IN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5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dirty="0"/>
              <a:t>More</a:t>
            </a:r>
            <a:r>
              <a:rPr spc="-50" dirty="0"/>
              <a:t> </a:t>
            </a:r>
            <a:r>
              <a:rPr dirty="0"/>
              <a:t>stages</a:t>
            </a:r>
            <a:r>
              <a:rPr spc="-40" dirty="0"/>
              <a:t> </a:t>
            </a:r>
            <a:r>
              <a:rPr dirty="0">
                <a:latin typeface="Wingdings"/>
                <a:cs typeface="Wingdings"/>
              </a:rPr>
              <a:t></a:t>
            </a:r>
            <a:r>
              <a:rPr spc="305" dirty="0">
                <a:latin typeface="Times New Roman"/>
                <a:cs typeface="Times New Roman"/>
              </a:rPr>
              <a:t> </a:t>
            </a:r>
            <a:r>
              <a:rPr dirty="0"/>
              <a:t>lower</a:t>
            </a:r>
            <a:r>
              <a:rPr spc="-25" dirty="0"/>
              <a:t> </a:t>
            </a:r>
            <a:r>
              <a:rPr dirty="0"/>
              <a:t>achievable</a:t>
            </a:r>
            <a:r>
              <a:rPr spc="-40" dirty="0"/>
              <a:t> </a:t>
            </a:r>
            <a:r>
              <a:rPr spc="-10" dirty="0"/>
              <a:t>bandwidth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590538" y="2753867"/>
            <a:ext cx="3329940" cy="3357879"/>
            <a:chOff x="6590538" y="2753867"/>
            <a:chExt cx="3329940" cy="335787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37713" y="2842607"/>
              <a:ext cx="3188338" cy="323856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590538" y="2753867"/>
              <a:ext cx="3329940" cy="3357879"/>
            </a:xfrm>
            <a:custGeom>
              <a:avLst/>
              <a:gdLst/>
              <a:ahLst/>
              <a:cxnLst/>
              <a:rect l="l" t="t" r="r" b="b"/>
              <a:pathLst>
                <a:path w="3329940" h="3357879">
                  <a:moveTo>
                    <a:pt x="3329940" y="3150108"/>
                  </a:moveTo>
                  <a:lnTo>
                    <a:pt x="314706" y="3150108"/>
                  </a:lnTo>
                  <a:lnTo>
                    <a:pt x="314706" y="0"/>
                  </a:lnTo>
                  <a:lnTo>
                    <a:pt x="0" y="0"/>
                  </a:lnTo>
                  <a:lnTo>
                    <a:pt x="0" y="3195066"/>
                  </a:lnTo>
                  <a:lnTo>
                    <a:pt x="134874" y="3195066"/>
                  </a:lnTo>
                  <a:lnTo>
                    <a:pt x="134874" y="3357372"/>
                  </a:lnTo>
                  <a:lnTo>
                    <a:pt x="3329940" y="3357372"/>
                  </a:lnTo>
                  <a:lnTo>
                    <a:pt x="3329940" y="31501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784590" y="5877559"/>
            <a:ext cx="1106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Log</a:t>
            </a:r>
            <a:r>
              <a:rPr sz="1800" spc="-10" dirty="0">
                <a:latin typeface="Verdana"/>
                <a:cs typeface="Verdana"/>
              </a:rPr>
              <a:t> Freq.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867144" y="2843783"/>
            <a:ext cx="2963545" cy="3085465"/>
          </a:xfrm>
          <a:custGeom>
            <a:avLst/>
            <a:gdLst/>
            <a:ahLst/>
            <a:cxnLst/>
            <a:rect l="l" t="t" r="r" b="b"/>
            <a:pathLst>
              <a:path w="2963545" h="3085465">
                <a:moveTo>
                  <a:pt x="2963418" y="3047238"/>
                </a:moveTo>
                <a:lnTo>
                  <a:pt x="2836164" y="3009138"/>
                </a:lnTo>
                <a:lnTo>
                  <a:pt x="2836164" y="3034284"/>
                </a:lnTo>
                <a:lnTo>
                  <a:pt x="51054" y="3034284"/>
                </a:lnTo>
                <a:lnTo>
                  <a:pt x="51054" y="127254"/>
                </a:lnTo>
                <a:lnTo>
                  <a:pt x="76200" y="127254"/>
                </a:lnTo>
                <a:lnTo>
                  <a:pt x="38100" y="0"/>
                </a:lnTo>
                <a:lnTo>
                  <a:pt x="0" y="127254"/>
                </a:lnTo>
                <a:lnTo>
                  <a:pt x="25908" y="127254"/>
                </a:lnTo>
                <a:lnTo>
                  <a:pt x="25908" y="3040380"/>
                </a:lnTo>
                <a:lnTo>
                  <a:pt x="25908" y="3047238"/>
                </a:lnTo>
                <a:lnTo>
                  <a:pt x="25908" y="3054096"/>
                </a:lnTo>
                <a:lnTo>
                  <a:pt x="31242" y="3060192"/>
                </a:lnTo>
                <a:lnTo>
                  <a:pt x="2836164" y="3060192"/>
                </a:lnTo>
                <a:lnTo>
                  <a:pt x="2836164" y="3085338"/>
                </a:lnTo>
                <a:lnTo>
                  <a:pt x="2862072" y="3077591"/>
                </a:lnTo>
                <a:lnTo>
                  <a:pt x="2963418" y="3047238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530890" y="2991174"/>
            <a:ext cx="303530" cy="389255"/>
          </a:xfrm>
          <a:prstGeom prst="rect">
            <a:avLst/>
          </a:prstGeom>
        </p:spPr>
        <p:txBody>
          <a:bodyPr vert="vert270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25" dirty="0">
                <a:latin typeface="Verdana"/>
                <a:cs typeface="Verdana"/>
              </a:rPr>
              <a:t>|A|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135885" y="2708910"/>
            <a:ext cx="3352165" cy="3357879"/>
            <a:chOff x="2135885" y="2708910"/>
            <a:chExt cx="3352165" cy="3357879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81953" y="2801043"/>
              <a:ext cx="3196993" cy="323822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5886" y="2708909"/>
              <a:ext cx="3352165" cy="3357879"/>
            </a:xfrm>
            <a:custGeom>
              <a:avLst/>
              <a:gdLst/>
              <a:ahLst/>
              <a:cxnLst/>
              <a:rect l="l" t="t" r="r" b="b"/>
              <a:pathLst>
                <a:path w="3352165" h="3357879">
                  <a:moveTo>
                    <a:pt x="3352038" y="3150108"/>
                  </a:moveTo>
                  <a:lnTo>
                    <a:pt x="314706" y="3150108"/>
                  </a:lnTo>
                  <a:lnTo>
                    <a:pt x="314706" y="0"/>
                  </a:lnTo>
                  <a:lnTo>
                    <a:pt x="0" y="0"/>
                  </a:lnTo>
                  <a:lnTo>
                    <a:pt x="0" y="3195066"/>
                  </a:lnTo>
                  <a:lnTo>
                    <a:pt x="156972" y="3195066"/>
                  </a:lnTo>
                  <a:lnTo>
                    <a:pt x="156972" y="3357372"/>
                  </a:lnTo>
                  <a:lnTo>
                    <a:pt x="3352038" y="3357372"/>
                  </a:lnTo>
                  <a:lnTo>
                    <a:pt x="3352038" y="31501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329938" y="5881370"/>
            <a:ext cx="1106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Log</a:t>
            </a:r>
            <a:r>
              <a:rPr sz="1800" spc="-10" dirty="0">
                <a:latin typeface="Verdana"/>
                <a:cs typeface="Verdana"/>
              </a:rPr>
              <a:t> Freq.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412492" y="2798825"/>
            <a:ext cx="2963545" cy="3098800"/>
          </a:xfrm>
          <a:custGeom>
            <a:avLst/>
            <a:gdLst/>
            <a:ahLst/>
            <a:cxnLst/>
            <a:rect l="l" t="t" r="r" b="b"/>
            <a:pathLst>
              <a:path w="2963545" h="3098800">
                <a:moveTo>
                  <a:pt x="2963418" y="3060192"/>
                </a:moveTo>
                <a:lnTo>
                  <a:pt x="2836164" y="3022092"/>
                </a:lnTo>
                <a:lnTo>
                  <a:pt x="2836164" y="3047238"/>
                </a:lnTo>
                <a:lnTo>
                  <a:pt x="51054" y="3047238"/>
                </a:lnTo>
                <a:lnTo>
                  <a:pt x="51054" y="127254"/>
                </a:lnTo>
                <a:lnTo>
                  <a:pt x="76200" y="127254"/>
                </a:lnTo>
                <a:lnTo>
                  <a:pt x="38100" y="0"/>
                </a:lnTo>
                <a:lnTo>
                  <a:pt x="0" y="127254"/>
                </a:lnTo>
                <a:lnTo>
                  <a:pt x="25146" y="127254"/>
                </a:lnTo>
                <a:lnTo>
                  <a:pt x="25146" y="3047238"/>
                </a:lnTo>
                <a:lnTo>
                  <a:pt x="28194" y="3050286"/>
                </a:lnTo>
                <a:lnTo>
                  <a:pt x="25146" y="3053334"/>
                </a:lnTo>
                <a:lnTo>
                  <a:pt x="25146" y="3067050"/>
                </a:lnTo>
                <a:lnTo>
                  <a:pt x="31242" y="3072384"/>
                </a:lnTo>
                <a:lnTo>
                  <a:pt x="2836164" y="3072384"/>
                </a:lnTo>
                <a:lnTo>
                  <a:pt x="2836164" y="3098292"/>
                </a:lnTo>
                <a:lnTo>
                  <a:pt x="2861310" y="3090773"/>
                </a:lnTo>
                <a:lnTo>
                  <a:pt x="2963418" y="3060192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076238" y="2958408"/>
            <a:ext cx="303530" cy="389255"/>
          </a:xfrm>
          <a:prstGeom prst="rect">
            <a:avLst/>
          </a:prstGeom>
        </p:spPr>
        <p:txBody>
          <a:bodyPr vert="vert270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25" dirty="0">
                <a:latin typeface="Verdana"/>
                <a:cs typeface="Verdana"/>
              </a:rPr>
              <a:t>|A|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34944" y="3092450"/>
            <a:ext cx="1221740" cy="1852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-60dB/dec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739"/>
              </a:spcBef>
            </a:pP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Verdana"/>
                <a:cs typeface="Verdana"/>
              </a:rPr>
              <a:t>-40dB/dec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785"/>
              </a:spcBef>
            </a:pP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Verdana"/>
                <a:cs typeface="Verdana"/>
              </a:rPr>
              <a:t>-20dB/dec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40635" y="1329689"/>
            <a:ext cx="8171688" cy="131445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6803897" y="1771904"/>
            <a:ext cx="32067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Verdana"/>
                <a:cs typeface="Verdana"/>
              </a:rPr>
              <a:t>G</a:t>
            </a:r>
            <a:r>
              <a:rPr sz="1575" spc="-37" baseline="-21164" dirty="0">
                <a:latin typeface="Verdana"/>
                <a:cs typeface="Verdana"/>
              </a:rPr>
              <a:t>1</a:t>
            </a:r>
            <a:endParaRPr sz="1575" baseline="-21164">
              <a:latin typeface="Verdana"/>
              <a:cs typeface="Verdana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C5A8093F-1EFB-4D0C-A25F-988D1E82F9A6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43" name="object 4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18" name="object 18"/>
          <p:cNvSpPr txBox="1"/>
          <p:nvPr/>
        </p:nvSpPr>
        <p:spPr>
          <a:xfrm>
            <a:off x="9279890" y="1975357"/>
            <a:ext cx="18351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Verdana"/>
                <a:cs typeface="Verdana"/>
              </a:rPr>
              <a:t>G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437623" y="2093467"/>
            <a:ext cx="111760" cy="188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50" spc="-50" dirty="0">
                <a:latin typeface="Verdana"/>
                <a:cs typeface="Verdana"/>
              </a:rPr>
              <a:t>3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369806" y="1637030"/>
            <a:ext cx="16764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Verdana"/>
                <a:cs typeface="Verdana"/>
              </a:rPr>
              <a:t>C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511536" y="1755140"/>
            <a:ext cx="226060" cy="188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50" spc="-25" dirty="0">
                <a:latin typeface="Verdana"/>
                <a:cs typeface="Verdana"/>
              </a:rPr>
              <a:t>M1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039100" y="1420926"/>
            <a:ext cx="508634" cy="734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indent="89535">
              <a:lnSpc>
                <a:spcPct val="145300"/>
              </a:lnSpc>
              <a:spcBef>
                <a:spcPts val="100"/>
              </a:spcBef>
            </a:pPr>
            <a:r>
              <a:rPr sz="2400" cap="small" spc="-345" baseline="13888" dirty="0">
                <a:latin typeface="Verdana"/>
                <a:cs typeface="Verdana"/>
              </a:rPr>
              <a:t>C</a:t>
            </a:r>
            <a:r>
              <a:rPr sz="1600" cap="small" spc="-229" dirty="0">
                <a:latin typeface="Verdana"/>
                <a:cs typeface="Verdana"/>
              </a:rPr>
              <a:t>m2 </a:t>
            </a:r>
            <a:r>
              <a:rPr sz="1600" cap="small" spc="-25" dirty="0">
                <a:latin typeface="Verdana"/>
                <a:cs typeface="Verdana"/>
              </a:rPr>
              <a:t>G</a:t>
            </a:r>
            <a:r>
              <a:rPr sz="2400" cap="small" spc="-37" baseline="-13888" dirty="0">
                <a:latin typeface="Verdana"/>
                <a:cs typeface="Verdana"/>
              </a:rPr>
              <a:t>2</a:t>
            </a:r>
            <a:endParaRPr sz="2400" baseline="-13888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183884" y="1807717"/>
            <a:ext cx="16510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Verdana"/>
                <a:cs typeface="Verdana"/>
              </a:rPr>
              <a:t>V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323329" y="1925828"/>
            <a:ext cx="184150" cy="188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50" spc="-25" dirty="0">
                <a:latin typeface="Verdana"/>
                <a:cs typeface="Verdana"/>
              </a:rPr>
              <a:t>IN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874008" y="1865630"/>
            <a:ext cx="32067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Verdana"/>
                <a:cs typeface="Verdana"/>
              </a:rPr>
              <a:t>G</a:t>
            </a:r>
            <a:r>
              <a:rPr sz="1575" spc="-37" baseline="-21164" dirty="0">
                <a:latin typeface="Verdana"/>
                <a:cs typeface="Verdana"/>
              </a:rPr>
              <a:t>1</a:t>
            </a:r>
            <a:endParaRPr sz="1575" baseline="-21164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135371" y="1979167"/>
            <a:ext cx="18351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Verdana"/>
                <a:cs typeface="Verdana"/>
              </a:rPr>
              <a:t>G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293105" y="2097278"/>
            <a:ext cx="111760" cy="188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50" spc="-50" dirty="0">
                <a:latin typeface="Verdana"/>
                <a:cs typeface="Verdana"/>
              </a:rPr>
              <a:t>2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272283" y="1774189"/>
            <a:ext cx="32067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Verdana"/>
                <a:cs typeface="Verdana"/>
              </a:rPr>
              <a:t>G</a:t>
            </a:r>
            <a:r>
              <a:rPr sz="1575" spc="-37" baseline="-21164" dirty="0">
                <a:latin typeface="Verdana"/>
                <a:cs typeface="Verdana"/>
              </a:rPr>
              <a:t>1</a:t>
            </a:r>
            <a:endParaRPr sz="1575" baseline="-21164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245100" y="1636267"/>
            <a:ext cx="16764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Verdana"/>
                <a:cs typeface="Verdana"/>
              </a:rPr>
              <a:t>C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386832" y="1754378"/>
            <a:ext cx="226060" cy="188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50" spc="-25" dirty="0">
                <a:latin typeface="Verdana"/>
                <a:cs typeface="Verdana"/>
              </a:rPr>
              <a:t>M1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154411" y="2373883"/>
            <a:ext cx="39814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37" baseline="13888" dirty="0">
                <a:latin typeface="Verdana"/>
                <a:cs typeface="Verdana"/>
              </a:rPr>
              <a:t>C</a:t>
            </a:r>
            <a:r>
              <a:rPr sz="1050" spc="-25" dirty="0">
                <a:latin typeface="Verdana"/>
                <a:cs typeface="Verdana"/>
              </a:rPr>
              <a:t>LD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299197" y="2323592"/>
            <a:ext cx="59626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Verdana"/>
                <a:cs typeface="Verdana"/>
              </a:rPr>
              <a:t>R</a:t>
            </a:r>
            <a:r>
              <a:rPr sz="1575" baseline="-21164" dirty="0">
                <a:latin typeface="Verdana"/>
                <a:cs typeface="Verdana"/>
              </a:rPr>
              <a:t>0</a:t>
            </a:r>
            <a:r>
              <a:rPr sz="1575" spc="209" baseline="-21164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C</a:t>
            </a:r>
            <a:r>
              <a:rPr sz="1575" spc="-37" baseline="-21164" dirty="0">
                <a:latin typeface="Verdana"/>
                <a:cs typeface="Verdana"/>
              </a:rPr>
              <a:t>0</a:t>
            </a:r>
            <a:endParaRPr sz="1575" baseline="-21164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48878" y="2323592"/>
            <a:ext cx="59563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Verdana"/>
                <a:cs typeface="Verdana"/>
              </a:rPr>
              <a:t>R</a:t>
            </a:r>
            <a:r>
              <a:rPr sz="1575" baseline="-21164" dirty="0">
                <a:latin typeface="Verdana"/>
                <a:cs typeface="Verdana"/>
              </a:rPr>
              <a:t>0</a:t>
            </a:r>
            <a:r>
              <a:rPr sz="1575" spc="202" baseline="-21164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C</a:t>
            </a:r>
            <a:r>
              <a:rPr sz="1575" spc="-37" baseline="-21164" dirty="0">
                <a:latin typeface="Verdana"/>
                <a:cs typeface="Verdana"/>
              </a:rPr>
              <a:t>0</a:t>
            </a:r>
            <a:endParaRPr sz="1575" baseline="-21164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832847" y="2323592"/>
            <a:ext cx="30416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Verdana"/>
                <a:cs typeface="Verdana"/>
              </a:rPr>
              <a:t>R</a:t>
            </a:r>
            <a:r>
              <a:rPr sz="1575" spc="-37" baseline="-21164" dirty="0">
                <a:latin typeface="Verdana"/>
                <a:cs typeface="Verdana"/>
              </a:rPr>
              <a:t>0</a:t>
            </a:r>
            <a:endParaRPr sz="1575" baseline="-21164">
              <a:latin typeface="Verdana"/>
              <a:cs typeface="Verdan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007608" y="2377693"/>
            <a:ext cx="39814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37" baseline="13888" dirty="0">
                <a:latin typeface="Verdana"/>
                <a:cs typeface="Verdana"/>
              </a:rPr>
              <a:t>C</a:t>
            </a:r>
            <a:r>
              <a:rPr sz="1050" spc="-25" dirty="0">
                <a:latin typeface="Verdana"/>
                <a:cs typeface="Verdana"/>
              </a:rPr>
              <a:t>LD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402835" y="2327401"/>
            <a:ext cx="59563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Verdana"/>
                <a:cs typeface="Verdana"/>
              </a:rPr>
              <a:t>R</a:t>
            </a:r>
            <a:r>
              <a:rPr sz="1575" baseline="-21164" dirty="0">
                <a:latin typeface="Verdana"/>
                <a:cs typeface="Verdana"/>
              </a:rPr>
              <a:t>0</a:t>
            </a:r>
            <a:r>
              <a:rPr sz="1575" spc="202" baseline="-21164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C</a:t>
            </a:r>
            <a:r>
              <a:rPr sz="1575" spc="-37" baseline="-21164" dirty="0">
                <a:latin typeface="Verdana"/>
                <a:cs typeface="Verdana"/>
              </a:rPr>
              <a:t>0</a:t>
            </a:r>
            <a:endParaRPr sz="1575" baseline="-21164">
              <a:latin typeface="Verdana"/>
              <a:cs typeface="Verdan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686044" y="2327401"/>
            <a:ext cx="30416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Verdana"/>
                <a:cs typeface="Verdana"/>
              </a:rPr>
              <a:t>R</a:t>
            </a:r>
            <a:r>
              <a:rPr sz="1575" spc="-37" baseline="-21164" dirty="0">
                <a:latin typeface="Verdana"/>
                <a:cs typeface="Verdana"/>
              </a:rPr>
              <a:t>0</a:t>
            </a:r>
            <a:endParaRPr sz="1575" baseline="-21164">
              <a:latin typeface="Verdana"/>
              <a:cs typeface="Verdan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783585" y="1954022"/>
            <a:ext cx="899794" cy="688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2610">
              <a:lnSpc>
                <a:spcPct val="100000"/>
              </a:lnSpc>
              <a:spcBef>
                <a:spcPts val="100"/>
              </a:spcBef>
            </a:pPr>
            <a:r>
              <a:rPr sz="2400" spc="-37" baseline="13888" dirty="0">
                <a:latin typeface="Verdana"/>
                <a:cs typeface="Verdana"/>
              </a:rPr>
              <a:t>V</a:t>
            </a:r>
            <a:r>
              <a:rPr sz="1050" spc="-25" dirty="0">
                <a:latin typeface="Verdana"/>
                <a:cs typeface="Verdana"/>
              </a:rPr>
              <a:t>IN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05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2400" baseline="13888" dirty="0">
                <a:latin typeface="Verdana"/>
                <a:cs typeface="Verdana"/>
              </a:rPr>
              <a:t>R</a:t>
            </a:r>
            <a:r>
              <a:rPr sz="1050" dirty="0">
                <a:latin typeface="Verdana"/>
                <a:cs typeface="Verdana"/>
              </a:rPr>
              <a:t>0</a:t>
            </a:r>
            <a:r>
              <a:rPr sz="1050" spc="245" dirty="0">
                <a:latin typeface="Verdana"/>
                <a:cs typeface="Verdana"/>
              </a:rPr>
              <a:t> </a:t>
            </a:r>
            <a:r>
              <a:rPr sz="2400" spc="-37" baseline="13888" dirty="0">
                <a:latin typeface="Verdana"/>
                <a:cs typeface="Verdana"/>
              </a:rPr>
              <a:t>C</a:t>
            </a:r>
            <a:r>
              <a:rPr sz="1050" spc="-25" dirty="0">
                <a:latin typeface="Verdana"/>
                <a:cs typeface="Verdana"/>
              </a:rPr>
              <a:t>LD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679701" y="1850389"/>
            <a:ext cx="16510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Verdana"/>
                <a:cs typeface="Verdana"/>
              </a:rPr>
              <a:t>V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819148" y="1968500"/>
            <a:ext cx="184150" cy="188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50" spc="-25" dirty="0">
                <a:latin typeface="Verdana"/>
                <a:cs typeface="Verdana"/>
              </a:rPr>
              <a:t>IN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45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73683" y="1334516"/>
            <a:ext cx="9356725" cy="1671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2600" indent="-469900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Introduction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background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0"/>
              </a:spcBef>
              <a:buClr>
                <a:srgbClr val="CC0000"/>
              </a:buClr>
              <a:buFont typeface="Wingdings"/>
              <a:buChar char=""/>
            </a:pPr>
            <a:endParaRPr sz="20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Refresher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on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feedback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theory,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bode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plots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gain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phase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margin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0"/>
              </a:spcBef>
              <a:buClr>
                <a:srgbClr val="CC0000"/>
              </a:buClr>
              <a:buFont typeface="Wingdings"/>
              <a:buChar char=""/>
            </a:pPr>
            <a:endParaRPr sz="20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Amplifier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frequency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response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0663" y="3159251"/>
            <a:ext cx="10647680" cy="674370"/>
          </a:xfrm>
          <a:prstGeom prst="rect">
            <a:avLst/>
          </a:prstGeom>
          <a:solidFill>
            <a:srgbClr val="CB0000"/>
          </a:solidFill>
        </p:spPr>
        <p:txBody>
          <a:bodyPr vert="horz" wrap="square" lIns="0" tIns="199390" rIns="0" bIns="0" rtlCol="0">
            <a:spAutoFit/>
          </a:bodyPr>
          <a:lstStyle/>
          <a:p>
            <a:pPr marL="515620" indent="-469900">
              <a:lnSpc>
                <a:spcPct val="100000"/>
              </a:lnSpc>
              <a:spcBef>
                <a:spcPts val="1570"/>
              </a:spcBef>
              <a:buFont typeface="Wingdings"/>
              <a:buChar char=""/>
              <a:tabLst>
                <a:tab pos="515620" algn="l"/>
              </a:tabLst>
            </a:pP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Basic</a:t>
            </a:r>
            <a:r>
              <a:rPr sz="20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compensation</a:t>
            </a:r>
            <a:r>
              <a:rPr sz="20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techniques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3683" y="4016712"/>
            <a:ext cx="647382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2600" indent="-469900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Alternative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(advanced)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compensation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schemes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3683" y="4687261"/>
            <a:ext cx="42691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2600" indent="-469900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Practical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tips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suggestions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165592" y="3833621"/>
            <a:ext cx="3222625" cy="659130"/>
          </a:xfrm>
          <a:custGeom>
            <a:avLst/>
            <a:gdLst/>
            <a:ahLst/>
            <a:cxnLst/>
            <a:rect l="l" t="t" r="r" b="b"/>
            <a:pathLst>
              <a:path w="3222625" h="659129">
                <a:moveTo>
                  <a:pt x="3222498" y="605790"/>
                </a:moveTo>
                <a:lnTo>
                  <a:pt x="3222498" y="0"/>
                </a:lnTo>
                <a:lnTo>
                  <a:pt x="0" y="0"/>
                </a:lnTo>
                <a:lnTo>
                  <a:pt x="0" y="605790"/>
                </a:lnTo>
                <a:lnTo>
                  <a:pt x="15525" y="643604"/>
                </a:lnTo>
                <a:lnTo>
                  <a:pt x="53340" y="659130"/>
                </a:lnTo>
                <a:lnTo>
                  <a:pt x="3169158" y="659130"/>
                </a:lnTo>
                <a:lnTo>
                  <a:pt x="3190029" y="654974"/>
                </a:lnTo>
                <a:lnTo>
                  <a:pt x="3206972" y="643604"/>
                </a:lnTo>
                <a:lnTo>
                  <a:pt x="3218342" y="626661"/>
                </a:lnTo>
                <a:lnTo>
                  <a:pt x="3222498" y="60579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259571" y="3865117"/>
            <a:ext cx="30213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compensation </a:t>
            </a:r>
            <a:r>
              <a:rPr sz="1800" spc="-10" dirty="0">
                <a:latin typeface="Verdana"/>
                <a:cs typeface="Verdana"/>
              </a:rPr>
              <a:t>techniques </a:t>
            </a:r>
            <a:r>
              <a:rPr sz="1800" dirty="0">
                <a:latin typeface="Verdana"/>
                <a:cs typeface="Verdana"/>
              </a:rPr>
              <a:t>2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stage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amplifier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example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08B4DA89-CBE8-4A00-B4EC-7455CC8EC25B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13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Types</a:t>
            </a:r>
            <a:r>
              <a:rPr spc="-2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10" dirty="0"/>
              <a:t>compensation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75866EF0-E119-4940-86EB-EA13C755A35C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34632" y="1334516"/>
            <a:ext cx="10425430" cy="450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2600" indent="-469900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u="heavy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Load</a:t>
            </a:r>
            <a:r>
              <a:rPr sz="2000" u="heavy" spc="-4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2000" u="heavy" spc="-1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Compensation</a:t>
            </a:r>
            <a:r>
              <a:rPr sz="2000" u="heavy" spc="-4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–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load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capacitor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provides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compensation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0"/>
              </a:spcBef>
              <a:buClr>
                <a:srgbClr val="CC0000"/>
              </a:buClr>
              <a:buFont typeface="Wingdings"/>
              <a:buChar char=""/>
            </a:pPr>
            <a:endParaRPr sz="20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u="heavy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Shunt</a:t>
            </a:r>
            <a:r>
              <a:rPr sz="2000" u="heavy" spc="-5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2000" u="heavy" spc="-1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Compensation</a:t>
            </a:r>
            <a:r>
              <a:rPr sz="2000" u="heavy" spc="-3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–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(large)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capacitor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kill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gain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stage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20"/>
              </a:spcBef>
              <a:buClr>
                <a:srgbClr val="CC0000"/>
              </a:buClr>
              <a:buFont typeface="Wingdings"/>
              <a:buChar char=""/>
            </a:pPr>
            <a:endParaRPr sz="2000">
              <a:latin typeface="Verdana"/>
              <a:cs typeface="Verdana"/>
            </a:endParaRPr>
          </a:p>
          <a:p>
            <a:pPr marL="482600" marR="185420" indent="-470534">
              <a:lnSpc>
                <a:spcPts val="2160"/>
              </a:lnSpc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u="heavy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Parallel</a:t>
            </a:r>
            <a:r>
              <a:rPr sz="2000" u="heavy" spc="-5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(Lead)</a:t>
            </a:r>
            <a:r>
              <a:rPr sz="2000" u="heavy" spc="-2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2000" u="heavy" spc="-1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Compensation</a:t>
            </a:r>
            <a:r>
              <a:rPr sz="2000" u="heavy" spc="-4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–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additional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RC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gain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path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cancel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out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pole </a:t>
            </a:r>
            <a:r>
              <a:rPr sz="2000" dirty="0">
                <a:latin typeface="Verdana"/>
                <a:cs typeface="Verdana"/>
              </a:rPr>
              <a:t>introduced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by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load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90"/>
              </a:spcBef>
              <a:buClr>
                <a:srgbClr val="CC0000"/>
              </a:buClr>
              <a:buFont typeface="Wingdings"/>
              <a:buChar char=""/>
            </a:pPr>
            <a:endParaRPr sz="2000">
              <a:latin typeface="Verdana"/>
              <a:cs typeface="Verdana"/>
            </a:endParaRPr>
          </a:p>
          <a:p>
            <a:pPr marL="482600" marR="258445" indent="-470534">
              <a:lnSpc>
                <a:spcPts val="2160"/>
              </a:lnSpc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u="heavy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Miller</a:t>
            </a:r>
            <a:r>
              <a:rPr sz="2000" u="heavy" spc="-3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2000" u="heavy" spc="-1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Compensation</a:t>
            </a:r>
            <a:r>
              <a:rPr sz="2000" u="heavy" spc="-2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–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using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capacitor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across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high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gain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stage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provide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dominant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pole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frequency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response.</a:t>
            </a:r>
            <a:r>
              <a:rPr sz="2000" spc="-4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This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has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many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variants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90"/>
              </a:spcBef>
              <a:buClr>
                <a:srgbClr val="CC0000"/>
              </a:buClr>
              <a:buFont typeface="Wingdings"/>
              <a:buChar char=""/>
            </a:pPr>
            <a:endParaRPr sz="2000">
              <a:latin typeface="Verdana"/>
              <a:cs typeface="Verdana"/>
            </a:endParaRPr>
          </a:p>
          <a:p>
            <a:pPr marL="482600" marR="5080" indent="-470534">
              <a:lnSpc>
                <a:spcPts val="2160"/>
              </a:lnSpc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u="heavy" spc="-1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Feed-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forward</a:t>
            </a:r>
            <a:r>
              <a:rPr sz="2000" u="heavy" spc="-2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2000" u="heavy" spc="-1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Compensation</a:t>
            </a:r>
            <a:r>
              <a:rPr sz="2000" u="heavy" spc="-2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–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using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faster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(lower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gain)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element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or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stage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to </a:t>
            </a:r>
            <a:r>
              <a:rPr sz="2000" dirty="0">
                <a:latin typeface="Verdana"/>
                <a:cs typeface="Verdana"/>
              </a:rPr>
              <a:t>bypass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high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gain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stages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particular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frequencies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15"/>
              </a:spcBef>
              <a:buClr>
                <a:srgbClr val="CC0000"/>
              </a:buClr>
              <a:buFont typeface="Wingdings"/>
              <a:buChar char=""/>
            </a:pPr>
            <a:endParaRPr sz="20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spcBef>
                <a:spcPts val="5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Countless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combination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above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….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0669" y="1719072"/>
            <a:ext cx="2913887" cy="165735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Load</a:t>
            </a:r>
            <a:r>
              <a:rPr spc="-70" dirty="0"/>
              <a:t> </a:t>
            </a:r>
            <a:r>
              <a:rPr dirty="0"/>
              <a:t>compensation</a:t>
            </a:r>
            <a:r>
              <a:rPr spc="-65" dirty="0"/>
              <a:t> </a:t>
            </a:r>
            <a:r>
              <a:rPr dirty="0"/>
              <a:t>(single</a:t>
            </a:r>
            <a:r>
              <a:rPr spc="-25" dirty="0"/>
              <a:t> </a:t>
            </a:r>
            <a:r>
              <a:rPr dirty="0"/>
              <a:t>stage</a:t>
            </a:r>
            <a:r>
              <a:rPr spc="-60" dirty="0"/>
              <a:t> </a:t>
            </a:r>
            <a:r>
              <a:rPr spc="-10" dirty="0"/>
              <a:t>amplifier)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2640" y="5173929"/>
            <a:ext cx="10616565" cy="838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69439" marR="5080" indent="-1857375">
              <a:lnSpc>
                <a:spcPct val="133200"/>
              </a:lnSpc>
              <a:spcBef>
                <a:spcPts val="100"/>
              </a:spcBef>
            </a:pPr>
            <a:r>
              <a:rPr sz="2000" dirty="0">
                <a:latin typeface="Verdana"/>
                <a:cs typeface="Verdana"/>
              </a:rPr>
              <a:t>Large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load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capacitors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simply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reduce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Gain-</a:t>
            </a:r>
            <a:r>
              <a:rPr sz="2000" dirty="0">
                <a:latin typeface="Verdana"/>
                <a:cs typeface="Verdana"/>
              </a:rPr>
              <a:t>Bandwidth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but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Phase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Margin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still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90° </a:t>
            </a:r>
            <a:r>
              <a:rPr sz="2000" dirty="0">
                <a:latin typeface="Verdana"/>
                <a:cs typeface="Verdana"/>
              </a:rPr>
              <a:t>Stable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but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limited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gain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output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impedance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high.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15182" y="4461001"/>
            <a:ext cx="120014" cy="2260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00" spc="-50" dirty="0">
                <a:latin typeface="Cambria Math"/>
                <a:cs typeface="Cambria Math"/>
              </a:rPr>
              <a:t>𝑣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50867" y="4389327"/>
            <a:ext cx="65468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6230" algn="l"/>
              </a:tabLst>
            </a:pPr>
            <a:r>
              <a:rPr sz="1300" spc="80" dirty="0">
                <a:latin typeface="Cambria Math"/>
                <a:cs typeface="Cambria Math"/>
              </a:rPr>
              <a:t>𝑚</a:t>
            </a:r>
            <a:r>
              <a:rPr sz="1300" dirty="0">
                <a:latin typeface="Cambria Math"/>
                <a:cs typeface="Cambria Math"/>
              </a:rPr>
              <a:t>	</a:t>
            </a:r>
            <a:r>
              <a:rPr sz="1900" spc="-35" dirty="0">
                <a:latin typeface="Cambria Math"/>
                <a:cs typeface="Cambria Math"/>
              </a:rPr>
              <a:t>out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70402" y="4352798"/>
            <a:ext cx="15786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7660" algn="l"/>
                <a:tab pos="861060" algn="l"/>
                <a:tab pos="1394460" algn="l"/>
              </a:tabLst>
            </a:pPr>
            <a:r>
              <a:rPr sz="1800" spc="-50" dirty="0">
                <a:latin typeface="Cambria Math"/>
                <a:cs typeface="Cambria Math"/>
              </a:rPr>
              <a:t>𝐴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9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𝐺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𝑍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≅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62728" y="4226305"/>
            <a:ext cx="974090" cy="582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>
              <a:lnSpc>
                <a:spcPts val="2130"/>
              </a:lnSpc>
              <a:spcBef>
                <a:spcPts val="100"/>
              </a:spcBef>
            </a:pPr>
            <a:r>
              <a:rPr sz="2700" spc="-15" baseline="10802" dirty="0">
                <a:latin typeface="Cambria Math"/>
                <a:cs typeface="Cambria Math"/>
              </a:rPr>
              <a:t>𝐺</a:t>
            </a:r>
            <a:r>
              <a:rPr sz="1300" spc="-10" dirty="0">
                <a:latin typeface="Cambria Math"/>
                <a:cs typeface="Cambria Math"/>
              </a:rPr>
              <a:t>𝑚</a:t>
            </a:r>
            <a:r>
              <a:rPr sz="2700" spc="-15" baseline="10802" dirty="0">
                <a:latin typeface="Cambria Math"/>
                <a:cs typeface="Cambria Math"/>
              </a:rPr>
              <a:t>𝑅</a:t>
            </a:r>
            <a:r>
              <a:rPr sz="1300" spc="-10" dirty="0">
                <a:latin typeface="Cambria Math"/>
                <a:cs typeface="Cambria Math"/>
              </a:rPr>
              <a:t>𝑙𝑑</a:t>
            </a:r>
            <a:endParaRPr sz="1300">
              <a:latin typeface="Cambria Math"/>
              <a:cs typeface="Cambria Math"/>
            </a:endParaRPr>
          </a:p>
          <a:p>
            <a:pPr marL="38100">
              <a:lnSpc>
                <a:spcPts val="2250"/>
              </a:lnSpc>
            </a:pPr>
            <a:r>
              <a:rPr sz="1900" spc="-10" dirty="0">
                <a:latin typeface="Cambria Math"/>
                <a:cs typeface="Cambria Math"/>
              </a:rPr>
              <a:t>1+jω/ω</a:t>
            </a:r>
            <a:r>
              <a:rPr sz="1950" spc="-15" baseline="-14957" dirty="0">
                <a:latin typeface="Cambria Math"/>
                <a:cs typeface="Cambria Math"/>
              </a:rPr>
              <a:t>𝑐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100828" y="4522470"/>
            <a:ext cx="913765" cy="14604"/>
          </a:xfrm>
          <a:custGeom>
            <a:avLst/>
            <a:gdLst/>
            <a:ahLst/>
            <a:cxnLst/>
            <a:rect l="l" t="t" r="r" b="b"/>
            <a:pathLst>
              <a:path w="913764" h="14604">
                <a:moveTo>
                  <a:pt x="913638" y="14477"/>
                </a:moveTo>
                <a:lnTo>
                  <a:pt x="913638" y="0"/>
                </a:lnTo>
                <a:lnTo>
                  <a:pt x="0" y="0"/>
                </a:lnTo>
                <a:lnTo>
                  <a:pt x="0" y="14478"/>
                </a:lnTo>
                <a:lnTo>
                  <a:pt x="913638" y="144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504950" y="2322829"/>
            <a:ext cx="408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V</a:t>
            </a:r>
            <a:r>
              <a:rPr sz="1200" spc="-25" dirty="0">
                <a:latin typeface="Verdana"/>
                <a:cs typeface="Verdana"/>
              </a:rPr>
              <a:t>IN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77105" y="2322829"/>
            <a:ext cx="810895" cy="774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sz="2700" spc="-30" baseline="13888" dirty="0">
                <a:latin typeface="Verdana"/>
                <a:cs typeface="Verdana"/>
              </a:rPr>
              <a:t>V</a:t>
            </a:r>
            <a:r>
              <a:rPr sz="1200" spc="-20" dirty="0">
                <a:latin typeface="Verdana"/>
                <a:cs typeface="Verdana"/>
              </a:rPr>
              <a:t>OUT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20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</a:pPr>
            <a:r>
              <a:rPr sz="2700" spc="-37" baseline="13888" dirty="0">
                <a:latin typeface="Verdana"/>
                <a:cs typeface="Verdana"/>
              </a:rPr>
              <a:t>C</a:t>
            </a:r>
            <a:r>
              <a:rPr sz="1200" spc="-25" dirty="0">
                <a:latin typeface="Verdana"/>
                <a:cs typeface="Verdana"/>
              </a:rPr>
              <a:t>LD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63517" y="1614932"/>
            <a:ext cx="5556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13888" dirty="0">
                <a:latin typeface="Verdana"/>
                <a:cs typeface="Verdana"/>
              </a:rPr>
              <a:t>Z</a:t>
            </a:r>
            <a:r>
              <a:rPr sz="1200" spc="-20" dirty="0">
                <a:latin typeface="Verdana"/>
                <a:cs typeface="Verdana"/>
              </a:rPr>
              <a:t>OUT</a:t>
            </a:r>
            <a:endParaRPr sz="1200">
              <a:latin typeface="Verdana"/>
              <a:cs typeface="Verdan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10628" y="1467612"/>
            <a:ext cx="3058667" cy="212464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6835393" y="1758950"/>
            <a:ext cx="389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|A|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092943" y="3465837"/>
            <a:ext cx="533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Verdana"/>
                <a:cs typeface="Verdana"/>
              </a:rPr>
              <a:t>Freq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098533" y="2469896"/>
            <a:ext cx="185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C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257792" y="2602484"/>
            <a:ext cx="22732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Verdana"/>
                <a:cs typeface="Verdana"/>
              </a:rPr>
              <a:t>LD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679433" y="1675129"/>
            <a:ext cx="12934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Single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pole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Verdana"/>
                <a:cs typeface="Verdana"/>
              </a:rPr>
              <a:t>-20dB/dec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324597" y="4438903"/>
            <a:ext cx="127000" cy="2260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00" spc="-50" dirty="0">
                <a:latin typeface="Cambria Math"/>
                <a:cs typeface="Cambria Math"/>
              </a:rPr>
              <a:t>𝐶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158489" y="4330707"/>
            <a:ext cx="480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𝜔</a:t>
            </a:r>
            <a:r>
              <a:rPr sz="1800" spc="65" dirty="0">
                <a:latin typeface="Cambria Math"/>
                <a:cs typeface="Cambria Math"/>
              </a:rPr>
              <a:t>  </a:t>
            </a:r>
            <a:r>
              <a:rPr sz="1800" spc="-5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701026" y="4157718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latin typeface="Cambria Math"/>
                <a:cs typeface="Cambria Math"/>
              </a:rPr>
              <a:t>𝐺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831328" y="4265929"/>
            <a:ext cx="181610" cy="2260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00" spc="80" dirty="0">
                <a:latin typeface="Cambria Math"/>
                <a:cs typeface="Cambria Math"/>
              </a:rPr>
              <a:t>𝑚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652004" y="4530344"/>
            <a:ext cx="41020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0802" dirty="0">
                <a:latin typeface="Cambria Math"/>
                <a:cs typeface="Cambria Math"/>
              </a:rPr>
              <a:t>𝐶</a:t>
            </a:r>
            <a:r>
              <a:rPr sz="1300" spc="-25" dirty="0">
                <a:latin typeface="Cambria Math"/>
                <a:cs typeface="Cambria Math"/>
              </a:rPr>
              <a:t>𝐿𝐷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690104" y="4500371"/>
            <a:ext cx="346075" cy="14604"/>
          </a:xfrm>
          <a:custGeom>
            <a:avLst/>
            <a:gdLst/>
            <a:ahLst/>
            <a:cxnLst/>
            <a:rect l="l" t="t" r="r" b="b"/>
            <a:pathLst>
              <a:path w="346075" h="14604">
                <a:moveTo>
                  <a:pt x="0" y="14477"/>
                </a:moveTo>
                <a:lnTo>
                  <a:pt x="0" y="0"/>
                </a:lnTo>
                <a:lnTo>
                  <a:pt x="345948" y="0"/>
                </a:lnTo>
                <a:lnTo>
                  <a:pt x="345948" y="14477"/>
                </a:lnTo>
                <a:lnTo>
                  <a:pt x="0" y="144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9EF60E3E-AB8D-449A-9666-4583B80584B0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29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dirty="0"/>
              <a:t>Two</a:t>
            </a:r>
            <a:r>
              <a:rPr spc="-75" dirty="0"/>
              <a:t> </a:t>
            </a:r>
            <a:r>
              <a:rPr dirty="0"/>
              <a:t>stage</a:t>
            </a:r>
            <a:r>
              <a:rPr spc="-90" dirty="0"/>
              <a:t> </a:t>
            </a:r>
            <a:r>
              <a:rPr dirty="0"/>
              <a:t>amplifier:</a:t>
            </a:r>
            <a:r>
              <a:rPr spc="-55" dirty="0"/>
              <a:t> </a:t>
            </a:r>
            <a:r>
              <a:rPr dirty="0"/>
              <a:t>Frequency</a:t>
            </a:r>
            <a:r>
              <a:rPr spc="-95" dirty="0"/>
              <a:t> </a:t>
            </a:r>
            <a:r>
              <a:rPr spc="-10" dirty="0"/>
              <a:t>response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40612" y="1375137"/>
            <a:ext cx="6151552" cy="468906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186419" y="2232151"/>
            <a:ext cx="122555" cy="2260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00" spc="-50" dirty="0">
                <a:solidFill>
                  <a:srgbClr val="001F5F"/>
                </a:solidFill>
                <a:latin typeface="Cambria Math"/>
                <a:cs typeface="Cambria Math"/>
              </a:rPr>
              <a:t>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72119" y="2123947"/>
            <a:ext cx="480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6545" algn="l"/>
              </a:tabLst>
            </a:pPr>
            <a:r>
              <a:rPr sz="1800" spc="-50" dirty="0">
                <a:solidFill>
                  <a:srgbClr val="001F5F"/>
                </a:solidFill>
                <a:latin typeface="Cambria Math"/>
                <a:cs typeface="Cambria Math"/>
              </a:rPr>
              <a:t>𝑝</a:t>
            </a:r>
            <a:r>
              <a:rPr sz="1800" dirty="0">
                <a:solidFill>
                  <a:srgbClr val="001F5F"/>
                </a:solidFill>
                <a:latin typeface="Cambria Math"/>
                <a:cs typeface="Cambria Math"/>
              </a:rPr>
              <a:t>	</a:t>
            </a:r>
            <a:r>
              <a:rPr sz="1800" spc="-50" dirty="0">
                <a:solidFill>
                  <a:srgbClr val="001F5F"/>
                </a:solidFill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65649" y="1852660"/>
            <a:ext cx="801370" cy="77089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1430" algn="ctr">
              <a:lnSpc>
                <a:spcPct val="100000"/>
              </a:lnSpc>
              <a:spcBef>
                <a:spcPts val="875"/>
              </a:spcBef>
            </a:pPr>
            <a:r>
              <a:rPr sz="1800" spc="-50" dirty="0">
                <a:solidFill>
                  <a:srgbClr val="001F5F"/>
                </a:solidFill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770"/>
              </a:spcBef>
            </a:pPr>
            <a:r>
              <a:rPr sz="2700" spc="-15" baseline="10802" dirty="0">
                <a:solidFill>
                  <a:srgbClr val="001F5F"/>
                </a:solidFill>
                <a:latin typeface="Cambria Math"/>
                <a:cs typeface="Cambria Math"/>
              </a:rPr>
              <a:t>𝑅</a:t>
            </a:r>
            <a:r>
              <a:rPr sz="1300" spc="-10" dirty="0">
                <a:solidFill>
                  <a:srgbClr val="001F5F"/>
                </a:solidFill>
                <a:latin typeface="Cambria Math"/>
                <a:cs typeface="Cambria Math"/>
              </a:rPr>
              <a:t>𝐸Q</a:t>
            </a:r>
            <a:r>
              <a:rPr sz="2700" spc="-15" baseline="10802" dirty="0">
                <a:solidFill>
                  <a:srgbClr val="001F5F"/>
                </a:solidFill>
                <a:latin typeface="Cambria Math"/>
                <a:cs typeface="Cambria Math"/>
              </a:rPr>
              <a:t>𝐶</a:t>
            </a:r>
            <a:r>
              <a:rPr sz="1300" spc="-10" dirty="0">
                <a:solidFill>
                  <a:srgbClr val="001F5F"/>
                </a:solidFill>
                <a:latin typeface="Cambria Math"/>
                <a:cs typeface="Cambria Math"/>
              </a:rPr>
              <a:t>𝐸Q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602980" y="2292857"/>
            <a:ext cx="737870" cy="14604"/>
          </a:xfrm>
          <a:custGeom>
            <a:avLst/>
            <a:gdLst/>
            <a:ahLst/>
            <a:cxnLst/>
            <a:rect l="l" t="t" r="r" b="b"/>
            <a:pathLst>
              <a:path w="737870" h="14605">
                <a:moveTo>
                  <a:pt x="0" y="14478"/>
                </a:moveTo>
                <a:lnTo>
                  <a:pt x="0" y="0"/>
                </a:lnTo>
                <a:lnTo>
                  <a:pt x="737616" y="0"/>
                </a:lnTo>
                <a:lnTo>
                  <a:pt x="737616" y="14477"/>
                </a:lnTo>
                <a:lnTo>
                  <a:pt x="0" y="14478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348212" y="1636268"/>
            <a:ext cx="122555" cy="2260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00" spc="-50" dirty="0">
                <a:solidFill>
                  <a:srgbClr val="001F5F"/>
                </a:solidFill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28580" y="1528064"/>
            <a:ext cx="4857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1625" algn="l"/>
              </a:tabLst>
            </a:pPr>
            <a:r>
              <a:rPr sz="1800" spc="-50" dirty="0">
                <a:solidFill>
                  <a:srgbClr val="001F5F"/>
                </a:solidFill>
                <a:latin typeface="Cambria Math"/>
                <a:cs typeface="Cambria Math"/>
              </a:rPr>
              <a:t>𝑝</a:t>
            </a:r>
            <a:r>
              <a:rPr sz="1800" dirty="0">
                <a:solidFill>
                  <a:srgbClr val="001F5F"/>
                </a:solidFill>
                <a:latin typeface="Cambria Math"/>
                <a:cs typeface="Cambria Math"/>
              </a:rPr>
              <a:t>	</a:t>
            </a:r>
            <a:r>
              <a:rPr sz="1800" spc="-50" dirty="0">
                <a:solidFill>
                  <a:srgbClr val="001F5F"/>
                </a:solidFill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727420" y="1256776"/>
            <a:ext cx="775970" cy="77089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0160" algn="ctr">
              <a:lnSpc>
                <a:spcPct val="100000"/>
              </a:lnSpc>
              <a:spcBef>
                <a:spcPts val="875"/>
              </a:spcBef>
            </a:pPr>
            <a:r>
              <a:rPr sz="1800" spc="-50" dirty="0">
                <a:solidFill>
                  <a:srgbClr val="001F5F"/>
                </a:solidFill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770"/>
              </a:spcBef>
            </a:pPr>
            <a:r>
              <a:rPr sz="2700" spc="-15" baseline="10802" dirty="0">
                <a:solidFill>
                  <a:srgbClr val="001F5F"/>
                </a:solidFill>
                <a:latin typeface="Cambria Math"/>
                <a:cs typeface="Cambria Math"/>
              </a:rPr>
              <a:t>𝑅</a:t>
            </a:r>
            <a:r>
              <a:rPr sz="1300" spc="-10" dirty="0">
                <a:solidFill>
                  <a:srgbClr val="001F5F"/>
                </a:solidFill>
                <a:latin typeface="Cambria Math"/>
                <a:cs typeface="Cambria Math"/>
              </a:rPr>
              <a:t>𝐿𝐷</a:t>
            </a:r>
            <a:r>
              <a:rPr sz="2700" spc="-15" baseline="10802" dirty="0">
                <a:solidFill>
                  <a:srgbClr val="001F5F"/>
                </a:solidFill>
                <a:latin typeface="Cambria Math"/>
                <a:cs typeface="Cambria Math"/>
              </a:rPr>
              <a:t>𝐶</a:t>
            </a:r>
            <a:r>
              <a:rPr sz="1300" spc="-10" dirty="0">
                <a:solidFill>
                  <a:srgbClr val="001F5F"/>
                </a:solidFill>
                <a:latin typeface="Cambria Math"/>
                <a:cs typeface="Cambria Math"/>
              </a:rPr>
              <a:t>𝐿𝐷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765535" y="1696973"/>
            <a:ext cx="711835" cy="14604"/>
          </a:xfrm>
          <a:custGeom>
            <a:avLst/>
            <a:gdLst/>
            <a:ahLst/>
            <a:cxnLst/>
            <a:rect l="l" t="t" r="r" b="b"/>
            <a:pathLst>
              <a:path w="711834" h="14605">
                <a:moveTo>
                  <a:pt x="0" y="14477"/>
                </a:moveTo>
                <a:lnTo>
                  <a:pt x="0" y="0"/>
                </a:lnTo>
                <a:lnTo>
                  <a:pt x="711707" y="0"/>
                </a:lnTo>
                <a:lnTo>
                  <a:pt x="711707" y="14477"/>
                </a:lnTo>
                <a:lnTo>
                  <a:pt x="0" y="14477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634986" y="1627124"/>
            <a:ext cx="142240" cy="2260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00" spc="135" dirty="0">
                <a:solidFill>
                  <a:srgbClr val="001F5F"/>
                </a:solidFill>
                <a:latin typeface="Cambria Math"/>
                <a:cs typeface="Cambria Math"/>
              </a:rPr>
              <a:t>0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90208" y="1518920"/>
            <a:ext cx="19710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9250" algn="l"/>
                <a:tab pos="1812289" algn="l"/>
              </a:tabLst>
            </a:pPr>
            <a:r>
              <a:rPr sz="1800" spc="-50" dirty="0">
                <a:solidFill>
                  <a:srgbClr val="001F5F"/>
                </a:solidFill>
                <a:latin typeface="Cambria Math"/>
                <a:cs typeface="Cambria Math"/>
              </a:rPr>
              <a:t>𝐴</a:t>
            </a:r>
            <a:r>
              <a:rPr sz="1800" dirty="0">
                <a:solidFill>
                  <a:srgbClr val="001F5F"/>
                </a:solidFill>
                <a:latin typeface="Cambria Math"/>
                <a:cs typeface="Cambria Math"/>
              </a:rPr>
              <a:t>	=</a:t>
            </a:r>
            <a:r>
              <a:rPr sz="1800" spc="90" dirty="0">
                <a:solidFill>
                  <a:srgbClr val="001F5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01F5F"/>
                </a:solidFill>
                <a:latin typeface="Cambria Math"/>
                <a:cs typeface="Cambria Math"/>
              </a:rPr>
              <a:t>𝑔𝑚</a:t>
            </a:r>
            <a:r>
              <a:rPr sz="1800" spc="160" dirty="0">
                <a:solidFill>
                  <a:srgbClr val="001F5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01F5F"/>
                </a:solidFill>
                <a:latin typeface="Cambria Math"/>
                <a:cs typeface="Cambria Math"/>
              </a:rPr>
              <a:t>𝑔𝑚</a:t>
            </a:r>
            <a:r>
              <a:rPr sz="1800" spc="455" dirty="0">
                <a:solidFill>
                  <a:srgbClr val="001F5F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001F5F"/>
                </a:solidFill>
                <a:latin typeface="Cambria Math"/>
                <a:cs typeface="Cambria Math"/>
              </a:rPr>
              <a:t>𝑅</a:t>
            </a:r>
            <a:r>
              <a:rPr sz="1800" dirty="0">
                <a:solidFill>
                  <a:srgbClr val="001F5F"/>
                </a:solidFill>
                <a:latin typeface="Cambria Math"/>
                <a:cs typeface="Cambria Math"/>
              </a:rPr>
              <a:t>	</a:t>
            </a:r>
            <a:r>
              <a:rPr sz="1800" spc="-50" dirty="0">
                <a:solidFill>
                  <a:srgbClr val="001F5F"/>
                </a:solidFill>
                <a:latin typeface="Cambria Math"/>
                <a:cs typeface="Cambria Math"/>
              </a:rPr>
              <a:t>𝑅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94700" y="1627124"/>
            <a:ext cx="1273810" cy="2260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417830" algn="l"/>
                <a:tab pos="670560" algn="l"/>
                <a:tab pos="1049655" algn="l"/>
              </a:tabLst>
            </a:pPr>
            <a:r>
              <a:rPr sz="1300" spc="-50" dirty="0">
                <a:solidFill>
                  <a:srgbClr val="001F5F"/>
                </a:solidFill>
                <a:latin typeface="Cambria Math"/>
                <a:cs typeface="Cambria Math"/>
              </a:rPr>
              <a:t>𝑖</a:t>
            </a:r>
            <a:r>
              <a:rPr sz="1300" dirty="0">
                <a:solidFill>
                  <a:srgbClr val="001F5F"/>
                </a:solidFill>
                <a:latin typeface="Cambria Math"/>
                <a:cs typeface="Cambria Math"/>
              </a:rPr>
              <a:t>	</a:t>
            </a:r>
            <a:r>
              <a:rPr sz="1300" spc="30" dirty="0">
                <a:solidFill>
                  <a:srgbClr val="001F5F"/>
                </a:solidFill>
                <a:latin typeface="Cambria Math"/>
                <a:cs typeface="Cambria Math"/>
              </a:rPr>
              <a:t>𝑜</a:t>
            </a:r>
            <a:r>
              <a:rPr sz="1300" dirty="0">
                <a:solidFill>
                  <a:srgbClr val="001F5F"/>
                </a:solidFill>
                <a:latin typeface="Cambria Math"/>
                <a:cs typeface="Cambria Math"/>
              </a:rPr>
              <a:t>	</a:t>
            </a:r>
            <a:r>
              <a:rPr sz="1300" spc="-25" dirty="0">
                <a:solidFill>
                  <a:srgbClr val="001F5F"/>
                </a:solidFill>
                <a:latin typeface="Cambria Math"/>
                <a:cs typeface="Cambria Math"/>
              </a:rPr>
              <a:t>𝐸Q</a:t>
            </a:r>
            <a:r>
              <a:rPr sz="1300" dirty="0">
                <a:solidFill>
                  <a:srgbClr val="001F5F"/>
                </a:solidFill>
                <a:latin typeface="Cambria Math"/>
                <a:cs typeface="Cambria Math"/>
              </a:rPr>
              <a:t>	</a:t>
            </a:r>
            <a:r>
              <a:rPr sz="1300" spc="-25" dirty="0">
                <a:solidFill>
                  <a:srgbClr val="001F5F"/>
                </a:solidFill>
                <a:latin typeface="Cambria Math"/>
                <a:cs typeface="Cambria Math"/>
              </a:rPr>
              <a:t>𝐿𝐷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561323" y="3026155"/>
            <a:ext cx="24599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1F5F"/>
                </a:solidFill>
                <a:latin typeface="Verdana"/>
                <a:cs typeface="Verdana"/>
              </a:rPr>
              <a:t>Cross</a:t>
            </a:r>
            <a:r>
              <a:rPr sz="1800" spc="-25" dirty="0">
                <a:solidFill>
                  <a:srgbClr val="001F5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1F5F"/>
                </a:solidFill>
                <a:latin typeface="Verdana"/>
                <a:cs typeface="Verdana"/>
              </a:rPr>
              <a:t>over</a:t>
            </a:r>
            <a:r>
              <a:rPr sz="1800" spc="-35" dirty="0">
                <a:solidFill>
                  <a:srgbClr val="001F5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1F5F"/>
                </a:solidFill>
                <a:latin typeface="Verdana"/>
                <a:cs typeface="Verdana"/>
              </a:rPr>
              <a:t>frequency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819892" y="5044694"/>
            <a:ext cx="168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solidFill>
                  <a:srgbClr val="001F5F"/>
                </a:solidFill>
                <a:latin typeface="Verdana"/>
                <a:cs typeface="Verdana"/>
              </a:rPr>
              <a:t>p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962385" y="5177282"/>
            <a:ext cx="122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0" dirty="0">
                <a:solidFill>
                  <a:srgbClr val="001F5F"/>
                </a:solidFill>
                <a:latin typeface="Verdana"/>
                <a:cs typeface="Verdana"/>
              </a:rPr>
              <a:t>3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842152" y="1581150"/>
            <a:ext cx="2507615" cy="3651885"/>
            <a:chOff x="8842152" y="1581150"/>
            <a:chExt cx="2507615" cy="3651885"/>
          </a:xfrm>
        </p:grpSpPr>
        <p:sp>
          <p:nvSpPr>
            <p:cNvPr id="19" name="object 19"/>
            <p:cNvSpPr/>
            <p:nvPr/>
          </p:nvSpPr>
          <p:spPr>
            <a:xfrm>
              <a:off x="10666475" y="2078736"/>
              <a:ext cx="0" cy="2675890"/>
            </a:xfrm>
            <a:custGeom>
              <a:avLst/>
              <a:gdLst/>
              <a:ahLst/>
              <a:cxnLst/>
              <a:rect l="l" t="t" r="r" b="b"/>
              <a:pathLst>
                <a:path h="2675890">
                  <a:moveTo>
                    <a:pt x="0" y="0"/>
                  </a:moveTo>
                  <a:lnTo>
                    <a:pt x="0" y="2675381"/>
                  </a:lnTo>
                </a:path>
              </a:pathLst>
            </a:custGeom>
            <a:ln w="9143">
              <a:solidFill>
                <a:srgbClr val="7E7E7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842146" y="1581149"/>
              <a:ext cx="2507615" cy="3651885"/>
            </a:xfrm>
            <a:custGeom>
              <a:avLst/>
              <a:gdLst/>
              <a:ahLst/>
              <a:cxnLst/>
              <a:rect l="l" t="t" r="r" b="b"/>
              <a:pathLst>
                <a:path w="2507615" h="3651885">
                  <a:moveTo>
                    <a:pt x="169837" y="160629"/>
                  </a:moveTo>
                  <a:lnTo>
                    <a:pt x="168503" y="153162"/>
                  </a:lnTo>
                  <a:lnTo>
                    <a:pt x="107543" y="0"/>
                  </a:lnTo>
                  <a:lnTo>
                    <a:pt x="3911" y="128778"/>
                  </a:lnTo>
                  <a:lnTo>
                    <a:pt x="635" y="135521"/>
                  </a:lnTo>
                  <a:lnTo>
                    <a:pt x="0" y="142684"/>
                  </a:lnTo>
                  <a:lnTo>
                    <a:pt x="2082" y="149567"/>
                  </a:lnTo>
                  <a:lnTo>
                    <a:pt x="72758" y="103936"/>
                  </a:lnTo>
                  <a:lnTo>
                    <a:pt x="27533" y="406908"/>
                  </a:lnTo>
                  <a:lnTo>
                    <a:pt x="64871" y="413004"/>
                  </a:lnTo>
                  <a:lnTo>
                    <a:pt x="110159" y="109613"/>
                  </a:lnTo>
                  <a:lnTo>
                    <a:pt x="120497" y="135356"/>
                  </a:lnTo>
                  <a:lnTo>
                    <a:pt x="133451" y="167640"/>
                  </a:lnTo>
                  <a:lnTo>
                    <a:pt x="137464" y="173710"/>
                  </a:lnTo>
                  <a:lnTo>
                    <a:pt x="143357" y="177838"/>
                  </a:lnTo>
                  <a:lnTo>
                    <a:pt x="150380" y="179539"/>
                  </a:lnTo>
                  <a:lnTo>
                    <a:pt x="157835" y="178308"/>
                  </a:lnTo>
                  <a:lnTo>
                    <a:pt x="164211" y="173850"/>
                  </a:lnTo>
                  <a:lnTo>
                    <a:pt x="168313" y="167741"/>
                  </a:lnTo>
                  <a:lnTo>
                    <a:pt x="169837" y="160629"/>
                  </a:lnTo>
                  <a:close/>
                </a:path>
                <a:path w="2507615" h="3651885">
                  <a:moveTo>
                    <a:pt x="1525625" y="381762"/>
                  </a:moveTo>
                  <a:lnTo>
                    <a:pt x="1496669" y="357378"/>
                  </a:lnTo>
                  <a:lnTo>
                    <a:pt x="1359166" y="517131"/>
                  </a:lnTo>
                  <a:lnTo>
                    <a:pt x="1370177" y="456438"/>
                  </a:lnTo>
                  <a:lnTo>
                    <a:pt x="1347190" y="434263"/>
                  </a:lnTo>
                  <a:lnTo>
                    <a:pt x="1340459" y="437108"/>
                  </a:lnTo>
                  <a:lnTo>
                    <a:pt x="1335430" y="442379"/>
                  </a:lnTo>
                  <a:lnTo>
                    <a:pt x="1332839" y="449580"/>
                  </a:lnTo>
                  <a:lnTo>
                    <a:pt x="1303121" y="611886"/>
                  </a:lnTo>
                  <a:lnTo>
                    <a:pt x="1313027" y="608457"/>
                  </a:lnTo>
                  <a:lnTo>
                    <a:pt x="1459331" y="557784"/>
                  </a:lnTo>
                  <a:lnTo>
                    <a:pt x="1465719" y="553770"/>
                  </a:lnTo>
                  <a:lnTo>
                    <a:pt x="1469898" y="547878"/>
                  </a:lnTo>
                  <a:lnTo>
                    <a:pt x="1471650" y="540854"/>
                  </a:lnTo>
                  <a:lnTo>
                    <a:pt x="1470761" y="533400"/>
                  </a:lnTo>
                  <a:lnTo>
                    <a:pt x="1387690" y="542010"/>
                  </a:lnTo>
                  <a:lnTo>
                    <a:pt x="1525625" y="381762"/>
                  </a:lnTo>
                  <a:close/>
                </a:path>
                <a:path w="2507615" h="3651885">
                  <a:moveTo>
                    <a:pt x="1796135" y="1218438"/>
                  </a:moveTo>
                  <a:lnTo>
                    <a:pt x="1637639" y="1262634"/>
                  </a:lnTo>
                  <a:lnTo>
                    <a:pt x="1630667" y="1265783"/>
                  </a:lnTo>
                  <a:lnTo>
                    <a:pt x="1625917" y="1271206"/>
                  </a:lnTo>
                  <a:lnTo>
                    <a:pt x="1623593" y="1278064"/>
                  </a:lnTo>
                  <a:lnTo>
                    <a:pt x="1623923" y="1285494"/>
                  </a:lnTo>
                  <a:lnTo>
                    <a:pt x="1627505" y="1292567"/>
                  </a:lnTo>
                  <a:lnTo>
                    <a:pt x="1633156" y="1297495"/>
                  </a:lnTo>
                  <a:lnTo>
                    <a:pt x="1640103" y="1299857"/>
                  </a:lnTo>
                  <a:lnTo>
                    <a:pt x="1647545" y="1299210"/>
                  </a:lnTo>
                  <a:lnTo>
                    <a:pt x="1707184" y="1282788"/>
                  </a:lnTo>
                  <a:lnTo>
                    <a:pt x="1497431" y="1498092"/>
                  </a:lnTo>
                  <a:lnTo>
                    <a:pt x="1524863" y="1524000"/>
                  </a:lnTo>
                  <a:lnTo>
                    <a:pt x="1734019" y="1309928"/>
                  </a:lnTo>
                  <a:lnTo>
                    <a:pt x="1719173" y="1369314"/>
                  </a:lnTo>
                  <a:lnTo>
                    <a:pt x="1740966" y="1392720"/>
                  </a:lnTo>
                  <a:lnTo>
                    <a:pt x="1747647" y="1390180"/>
                  </a:lnTo>
                  <a:lnTo>
                    <a:pt x="1753044" y="1385214"/>
                  </a:lnTo>
                  <a:lnTo>
                    <a:pt x="1756511" y="1378458"/>
                  </a:lnTo>
                  <a:lnTo>
                    <a:pt x="1783943" y="1267675"/>
                  </a:lnTo>
                  <a:lnTo>
                    <a:pt x="1796135" y="1218438"/>
                  </a:lnTo>
                  <a:close/>
                </a:path>
                <a:path w="2507615" h="3651885">
                  <a:moveTo>
                    <a:pt x="2020163" y="2898648"/>
                  </a:moveTo>
                  <a:lnTo>
                    <a:pt x="1990445" y="2875788"/>
                  </a:lnTo>
                  <a:lnTo>
                    <a:pt x="1846541" y="3063748"/>
                  </a:lnTo>
                  <a:lnTo>
                    <a:pt x="1854047" y="3002280"/>
                  </a:lnTo>
                  <a:lnTo>
                    <a:pt x="1853577" y="2994660"/>
                  </a:lnTo>
                  <a:lnTo>
                    <a:pt x="1850326" y="2988183"/>
                  </a:lnTo>
                  <a:lnTo>
                    <a:pt x="1844929" y="2983420"/>
                  </a:lnTo>
                  <a:lnTo>
                    <a:pt x="1838045" y="2980944"/>
                  </a:lnTo>
                  <a:lnTo>
                    <a:pt x="1830425" y="2981426"/>
                  </a:lnTo>
                  <a:lnTo>
                    <a:pt x="1823948" y="2984754"/>
                  </a:lnTo>
                  <a:lnTo>
                    <a:pt x="1819186" y="2990380"/>
                  </a:lnTo>
                  <a:lnTo>
                    <a:pt x="1816709" y="2997708"/>
                  </a:lnTo>
                  <a:lnTo>
                    <a:pt x="1796135" y="3161538"/>
                  </a:lnTo>
                  <a:lnTo>
                    <a:pt x="1803755" y="3158375"/>
                  </a:lnTo>
                  <a:lnTo>
                    <a:pt x="1948535" y="3098292"/>
                  </a:lnTo>
                  <a:lnTo>
                    <a:pt x="1954911" y="3094151"/>
                  </a:lnTo>
                  <a:lnTo>
                    <a:pt x="1959013" y="3088005"/>
                  </a:lnTo>
                  <a:lnTo>
                    <a:pt x="1960537" y="3080728"/>
                  </a:lnTo>
                  <a:lnTo>
                    <a:pt x="1959203" y="3073146"/>
                  </a:lnTo>
                  <a:lnTo>
                    <a:pt x="1955050" y="3067215"/>
                  </a:lnTo>
                  <a:lnTo>
                    <a:pt x="1948916" y="3063341"/>
                  </a:lnTo>
                  <a:lnTo>
                    <a:pt x="1941626" y="3061906"/>
                  </a:lnTo>
                  <a:lnTo>
                    <a:pt x="1934057" y="3063240"/>
                  </a:lnTo>
                  <a:lnTo>
                    <a:pt x="1876577" y="3086951"/>
                  </a:lnTo>
                  <a:lnTo>
                    <a:pt x="2020163" y="2898648"/>
                  </a:lnTo>
                  <a:close/>
                </a:path>
                <a:path w="2507615" h="3651885">
                  <a:moveTo>
                    <a:pt x="2507081" y="3385566"/>
                  </a:moveTo>
                  <a:lnTo>
                    <a:pt x="2344013" y="3414522"/>
                  </a:lnTo>
                  <a:lnTo>
                    <a:pt x="2328773" y="3436620"/>
                  </a:lnTo>
                  <a:lnTo>
                    <a:pt x="2331796" y="3443833"/>
                  </a:lnTo>
                  <a:lnTo>
                    <a:pt x="2336965" y="3449104"/>
                  </a:lnTo>
                  <a:lnTo>
                    <a:pt x="2343556" y="3451949"/>
                  </a:lnTo>
                  <a:lnTo>
                    <a:pt x="2350871" y="3451860"/>
                  </a:lnTo>
                  <a:lnTo>
                    <a:pt x="2412911" y="3440620"/>
                  </a:lnTo>
                  <a:lnTo>
                    <a:pt x="2199233" y="3622548"/>
                  </a:lnTo>
                  <a:lnTo>
                    <a:pt x="2223617" y="3651504"/>
                  </a:lnTo>
                  <a:lnTo>
                    <a:pt x="2436863" y="3469944"/>
                  </a:lnTo>
                  <a:lnTo>
                    <a:pt x="2416403" y="3528822"/>
                  </a:lnTo>
                  <a:lnTo>
                    <a:pt x="2435275" y="3553663"/>
                  </a:lnTo>
                  <a:lnTo>
                    <a:pt x="2442311" y="3551872"/>
                  </a:lnTo>
                  <a:lnTo>
                    <a:pt x="2448191" y="3547516"/>
                  </a:lnTo>
                  <a:lnTo>
                    <a:pt x="2452217" y="3541014"/>
                  </a:lnTo>
                  <a:lnTo>
                    <a:pt x="2490317" y="3433064"/>
                  </a:lnTo>
                  <a:lnTo>
                    <a:pt x="2507081" y="3385566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709802" y="1533016"/>
            <a:ext cx="4135120" cy="2519680"/>
            <a:chOff x="709802" y="1533016"/>
            <a:chExt cx="4135120" cy="2519680"/>
          </a:xfrm>
        </p:grpSpPr>
        <p:sp>
          <p:nvSpPr>
            <p:cNvPr id="22" name="object 22"/>
            <p:cNvSpPr/>
            <p:nvPr/>
          </p:nvSpPr>
          <p:spPr>
            <a:xfrm>
              <a:off x="2590800" y="2735580"/>
              <a:ext cx="85725" cy="0"/>
            </a:xfrm>
            <a:custGeom>
              <a:avLst/>
              <a:gdLst/>
              <a:ahLst/>
              <a:cxnLst/>
              <a:rect l="l" t="t" r="r" b="b"/>
              <a:pathLst>
                <a:path w="85725">
                  <a:moveTo>
                    <a:pt x="0" y="0"/>
                  </a:moveTo>
                  <a:lnTo>
                    <a:pt x="85344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657094" y="2697480"/>
              <a:ext cx="86360" cy="85725"/>
            </a:xfrm>
            <a:custGeom>
              <a:avLst/>
              <a:gdLst/>
              <a:ahLst/>
              <a:cxnLst/>
              <a:rect l="l" t="t" r="r" b="b"/>
              <a:pathLst>
                <a:path w="86360" h="85725">
                  <a:moveTo>
                    <a:pt x="86106" y="3810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7286" y="21026"/>
                  </a:lnTo>
                  <a:lnTo>
                    <a:pt x="9715" y="42291"/>
                  </a:lnTo>
                  <a:lnTo>
                    <a:pt x="7286" y="63555"/>
                  </a:lnTo>
                  <a:lnTo>
                    <a:pt x="0" y="83820"/>
                  </a:lnTo>
                  <a:lnTo>
                    <a:pt x="0" y="85344"/>
                  </a:lnTo>
                  <a:lnTo>
                    <a:pt x="86106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781300" y="2887980"/>
              <a:ext cx="142875" cy="0"/>
            </a:xfrm>
            <a:custGeom>
              <a:avLst/>
              <a:gdLst/>
              <a:ahLst/>
              <a:cxnLst/>
              <a:rect l="l" t="t" r="r" b="b"/>
              <a:pathLst>
                <a:path w="142875">
                  <a:moveTo>
                    <a:pt x="142494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743200" y="2706624"/>
              <a:ext cx="28575" cy="352425"/>
            </a:xfrm>
            <a:custGeom>
              <a:avLst/>
              <a:gdLst/>
              <a:ahLst/>
              <a:cxnLst/>
              <a:rect l="l" t="t" r="r" b="b"/>
              <a:pathLst>
                <a:path w="28575" h="352425">
                  <a:moveTo>
                    <a:pt x="28194" y="352044"/>
                  </a:moveTo>
                  <a:lnTo>
                    <a:pt x="28193" y="0"/>
                  </a:lnTo>
                  <a:lnTo>
                    <a:pt x="0" y="0"/>
                  </a:lnTo>
                  <a:lnTo>
                    <a:pt x="0" y="352044"/>
                  </a:lnTo>
                  <a:lnTo>
                    <a:pt x="28194" y="3520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561844" y="3030474"/>
              <a:ext cx="181610" cy="123825"/>
            </a:xfrm>
            <a:custGeom>
              <a:avLst/>
              <a:gdLst/>
              <a:ahLst/>
              <a:cxnLst/>
              <a:rect l="l" t="t" r="r" b="b"/>
              <a:pathLst>
                <a:path w="181610" h="123825">
                  <a:moveTo>
                    <a:pt x="0" y="123444"/>
                  </a:moveTo>
                  <a:lnTo>
                    <a:pt x="0" y="0"/>
                  </a:lnTo>
                  <a:lnTo>
                    <a:pt x="181356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561844" y="2611374"/>
              <a:ext cx="181610" cy="124460"/>
            </a:xfrm>
            <a:custGeom>
              <a:avLst/>
              <a:gdLst/>
              <a:ahLst/>
              <a:cxnLst/>
              <a:rect l="l" t="t" r="r" b="b"/>
              <a:pathLst>
                <a:path w="181610" h="124460">
                  <a:moveTo>
                    <a:pt x="0" y="0"/>
                  </a:moveTo>
                  <a:lnTo>
                    <a:pt x="0" y="124205"/>
                  </a:lnTo>
                  <a:lnTo>
                    <a:pt x="181356" y="124205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724405" y="2735580"/>
              <a:ext cx="85725" cy="0"/>
            </a:xfrm>
            <a:custGeom>
              <a:avLst/>
              <a:gdLst/>
              <a:ahLst/>
              <a:cxnLst/>
              <a:rect l="l" t="t" r="r" b="b"/>
              <a:pathLst>
                <a:path w="85725">
                  <a:moveTo>
                    <a:pt x="85343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657350" y="2697480"/>
              <a:ext cx="86360" cy="85725"/>
            </a:xfrm>
            <a:custGeom>
              <a:avLst/>
              <a:gdLst/>
              <a:ahLst/>
              <a:cxnLst/>
              <a:rect l="l" t="t" r="r" b="b"/>
              <a:pathLst>
                <a:path w="86360" h="85725">
                  <a:moveTo>
                    <a:pt x="86106" y="83820"/>
                  </a:moveTo>
                  <a:lnTo>
                    <a:pt x="78819" y="63555"/>
                  </a:lnTo>
                  <a:lnTo>
                    <a:pt x="76390" y="42291"/>
                  </a:lnTo>
                  <a:lnTo>
                    <a:pt x="78819" y="21026"/>
                  </a:lnTo>
                  <a:lnTo>
                    <a:pt x="86106" y="761"/>
                  </a:lnTo>
                  <a:lnTo>
                    <a:pt x="85344" y="0"/>
                  </a:lnTo>
                  <a:lnTo>
                    <a:pt x="0" y="38100"/>
                  </a:lnTo>
                  <a:lnTo>
                    <a:pt x="85344" y="85343"/>
                  </a:lnTo>
                  <a:lnTo>
                    <a:pt x="86106" y="838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476755" y="2887980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629155" y="2706624"/>
              <a:ext cx="28575" cy="352425"/>
            </a:xfrm>
            <a:custGeom>
              <a:avLst/>
              <a:gdLst/>
              <a:ahLst/>
              <a:cxnLst/>
              <a:rect l="l" t="t" r="r" b="b"/>
              <a:pathLst>
                <a:path w="28575" h="352425">
                  <a:moveTo>
                    <a:pt x="28194" y="352044"/>
                  </a:moveTo>
                  <a:lnTo>
                    <a:pt x="28193" y="0"/>
                  </a:lnTo>
                  <a:lnTo>
                    <a:pt x="0" y="0"/>
                  </a:lnTo>
                  <a:lnTo>
                    <a:pt x="0" y="352044"/>
                  </a:lnTo>
                  <a:lnTo>
                    <a:pt x="28194" y="3520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657350" y="3030474"/>
              <a:ext cx="180975" cy="123825"/>
            </a:xfrm>
            <a:custGeom>
              <a:avLst/>
              <a:gdLst/>
              <a:ahLst/>
              <a:cxnLst/>
              <a:rect l="l" t="t" r="r" b="b"/>
              <a:pathLst>
                <a:path w="180975" h="123825">
                  <a:moveTo>
                    <a:pt x="180594" y="123444"/>
                  </a:moveTo>
                  <a:lnTo>
                    <a:pt x="180594" y="0"/>
                  </a:lnTo>
                  <a:lnTo>
                    <a:pt x="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657350" y="2611374"/>
              <a:ext cx="180975" cy="124460"/>
            </a:xfrm>
            <a:custGeom>
              <a:avLst/>
              <a:gdLst/>
              <a:ahLst/>
              <a:cxnLst/>
              <a:rect l="l" t="t" r="r" b="b"/>
              <a:pathLst>
                <a:path w="180975" h="124460">
                  <a:moveTo>
                    <a:pt x="180594" y="0"/>
                  </a:moveTo>
                  <a:lnTo>
                    <a:pt x="180594" y="124205"/>
                  </a:lnTo>
                  <a:lnTo>
                    <a:pt x="0" y="124205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37944" y="2430780"/>
              <a:ext cx="723900" cy="180975"/>
            </a:xfrm>
            <a:custGeom>
              <a:avLst/>
              <a:gdLst/>
              <a:ahLst/>
              <a:cxnLst/>
              <a:rect l="l" t="t" r="r" b="b"/>
              <a:pathLst>
                <a:path w="723900" h="180975">
                  <a:moveTo>
                    <a:pt x="0" y="180594"/>
                  </a:moveTo>
                  <a:lnTo>
                    <a:pt x="0" y="0"/>
                  </a:lnTo>
                  <a:lnTo>
                    <a:pt x="723900" y="0"/>
                  </a:lnTo>
                  <a:lnTo>
                    <a:pt x="723900" y="18059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085594" y="1926335"/>
              <a:ext cx="86360" cy="0"/>
            </a:xfrm>
            <a:custGeom>
              <a:avLst/>
              <a:gdLst/>
              <a:ahLst/>
              <a:cxnLst/>
              <a:rect l="l" t="t" r="r" b="b"/>
              <a:pathLst>
                <a:path w="86360">
                  <a:moveTo>
                    <a:pt x="86106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019300" y="188823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344" y="85343"/>
                  </a:moveTo>
                  <a:lnTo>
                    <a:pt x="83820" y="83820"/>
                  </a:lnTo>
                  <a:lnTo>
                    <a:pt x="76533" y="63234"/>
                  </a:lnTo>
                  <a:lnTo>
                    <a:pt x="74104" y="42005"/>
                  </a:lnTo>
                  <a:lnTo>
                    <a:pt x="76533" y="20919"/>
                  </a:lnTo>
                  <a:lnTo>
                    <a:pt x="83820" y="761"/>
                  </a:lnTo>
                  <a:lnTo>
                    <a:pt x="85344" y="0"/>
                  </a:lnTo>
                  <a:lnTo>
                    <a:pt x="0" y="38100"/>
                  </a:lnTo>
                  <a:lnTo>
                    <a:pt x="85344" y="853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837944" y="2078736"/>
              <a:ext cx="143510" cy="0"/>
            </a:xfrm>
            <a:custGeom>
              <a:avLst/>
              <a:gdLst/>
              <a:ahLst/>
              <a:cxnLst/>
              <a:rect l="l" t="t" r="r" b="b"/>
              <a:pathLst>
                <a:path w="143510">
                  <a:moveTo>
                    <a:pt x="0" y="0"/>
                  </a:moveTo>
                  <a:lnTo>
                    <a:pt x="143256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990344" y="1898141"/>
              <a:ext cx="29209" cy="352425"/>
            </a:xfrm>
            <a:custGeom>
              <a:avLst/>
              <a:gdLst/>
              <a:ahLst/>
              <a:cxnLst/>
              <a:rect l="l" t="t" r="r" b="b"/>
              <a:pathLst>
                <a:path w="29210" h="352425">
                  <a:moveTo>
                    <a:pt x="28956" y="352043"/>
                  </a:moveTo>
                  <a:lnTo>
                    <a:pt x="28956" y="0"/>
                  </a:lnTo>
                  <a:lnTo>
                    <a:pt x="0" y="0"/>
                  </a:lnTo>
                  <a:lnTo>
                    <a:pt x="0" y="352043"/>
                  </a:lnTo>
                  <a:lnTo>
                    <a:pt x="28956" y="3520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019300" y="2221229"/>
              <a:ext cx="180975" cy="124460"/>
            </a:xfrm>
            <a:custGeom>
              <a:avLst/>
              <a:gdLst/>
              <a:ahLst/>
              <a:cxnLst/>
              <a:rect l="l" t="t" r="r" b="b"/>
              <a:pathLst>
                <a:path w="180975" h="124460">
                  <a:moveTo>
                    <a:pt x="180594" y="124205"/>
                  </a:moveTo>
                  <a:lnTo>
                    <a:pt x="180594" y="0"/>
                  </a:lnTo>
                  <a:lnTo>
                    <a:pt x="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019300" y="1802891"/>
              <a:ext cx="180975" cy="123825"/>
            </a:xfrm>
            <a:custGeom>
              <a:avLst/>
              <a:gdLst/>
              <a:ahLst/>
              <a:cxnLst/>
              <a:rect l="l" t="t" r="r" b="b"/>
              <a:pathLst>
                <a:path w="180975" h="123825">
                  <a:moveTo>
                    <a:pt x="180594" y="0"/>
                  </a:moveTo>
                  <a:lnTo>
                    <a:pt x="180594" y="123444"/>
                  </a:lnTo>
                  <a:lnTo>
                    <a:pt x="0" y="12344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704844" y="1926335"/>
              <a:ext cx="85725" cy="0"/>
            </a:xfrm>
            <a:custGeom>
              <a:avLst/>
              <a:gdLst/>
              <a:ahLst/>
              <a:cxnLst/>
              <a:rect l="l" t="t" r="r" b="b"/>
              <a:pathLst>
                <a:path w="85725">
                  <a:moveTo>
                    <a:pt x="85344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637788" y="1888235"/>
              <a:ext cx="86360" cy="85725"/>
            </a:xfrm>
            <a:custGeom>
              <a:avLst/>
              <a:gdLst/>
              <a:ahLst/>
              <a:cxnLst/>
              <a:rect l="l" t="t" r="r" b="b"/>
              <a:pathLst>
                <a:path w="86360" h="85725">
                  <a:moveTo>
                    <a:pt x="86106" y="85343"/>
                  </a:moveTo>
                  <a:lnTo>
                    <a:pt x="85344" y="83820"/>
                  </a:lnTo>
                  <a:lnTo>
                    <a:pt x="78057" y="63234"/>
                  </a:lnTo>
                  <a:lnTo>
                    <a:pt x="75628" y="42005"/>
                  </a:lnTo>
                  <a:lnTo>
                    <a:pt x="78057" y="20919"/>
                  </a:lnTo>
                  <a:lnTo>
                    <a:pt x="85344" y="761"/>
                  </a:lnTo>
                  <a:lnTo>
                    <a:pt x="86106" y="0"/>
                  </a:lnTo>
                  <a:lnTo>
                    <a:pt x="0" y="38100"/>
                  </a:lnTo>
                  <a:lnTo>
                    <a:pt x="86106" y="853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457194" y="2078736"/>
              <a:ext cx="142875" cy="0"/>
            </a:xfrm>
            <a:custGeom>
              <a:avLst/>
              <a:gdLst/>
              <a:ahLst/>
              <a:cxnLst/>
              <a:rect l="l" t="t" r="r" b="b"/>
              <a:pathLst>
                <a:path w="142875">
                  <a:moveTo>
                    <a:pt x="0" y="0"/>
                  </a:moveTo>
                  <a:lnTo>
                    <a:pt x="142494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609594" y="1898141"/>
              <a:ext cx="28575" cy="352425"/>
            </a:xfrm>
            <a:custGeom>
              <a:avLst/>
              <a:gdLst/>
              <a:ahLst/>
              <a:cxnLst/>
              <a:rect l="l" t="t" r="r" b="b"/>
              <a:pathLst>
                <a:path w="28575" h="352425">
                  <a:moveTo>
                    <a:pt x="28194" y="352044"/>
                  </a:moveTo>
                  <a:lnTo>
                    <a:pt x="28194" y="0"/>
                  </a:lnTo>
                  <a:lnTo>
                    <a:pt x="0" y="0"/>
                  </a:lnTo>
                  <a:lnTo>
                    <a:pt x="0" y="352044"/>
                  </a:lnTo>
                  <a:lnTo>
                    <a:pt x="28194" y="3520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637788" y="2221229"/>
              <a:ext cx="181610" cy="124460"/>
            </a:xfrm>
            <a:custGeom>
              <a:avLst/>
              <a:gdLst/>
              <a:ahLst/>
              <a:cxnLst/>
              <a:rect l="l" t="t" r="r" b="b"/>
              <a:pathLst>
                <a:path w="181610" h="124460">
                  <a:moveTo>
                    <a:pt x="181355" y="124205"/>
                  </a:moveTo>
                  <a:lnTo>
                    <a:pt x="181355" y="0"/>
                  </a:lnTo>
                  <a:lnTo>
                    <a:pt x="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637788" y="1802891"/>
              <a:ext cx="181610" cy="123825"/>
            </a:xfrm>
            <a:custGeom>
              <a:avLst/>
              <a:gdLst/>
              <a:ahLst/>
              <a:cxnLst/>
              <a:rect l="l" t="t" r="r" b="b"/>
              <a:pathLst>
                <a:path w="181610" h="123825">
                  <a:moveTo>
                    <a:pt x="181355" y="0"/>
                  </a:moveTo>
                  <a:lnTo>
                    <a:pt x="181355" y="123444"/>
                  </a:lnTo>
                  <a:lnTo>
                    <a:pt x="0" y="12344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457194" y="3335274"/>
              <a:ext cx="142875" cy="0"/>
            </a:xfrm>
            <a:custGeom>
              <a:avLst/>
              <a:gdLst/>
              <a:ahLst/>
              <a:cxnLst/>
              <a:rect l="l" t="t" r="r" b="b"/>
              <a:pathLst>
                <a:path w="142875">
                  <a:moveTo>
                    <a:pt x="0" y="0"/>
                  </a:moveTo>
                  <a:lnTo>
                    <a:pt x="142494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609594" y="3153917"/>
              <a:ext cx="28575" cy="361950"/>
            </a:xfrm>
            <a:custGeom>
              <a:avLst/>
              <a:gdLst/>
              <a:ahLst/>
              <a:cxnLst/>
              <a:rect l="l" t="t" r="r" b="b"/>
              <a:pathLst>
                <a:path w="28575" h="361950">
                  <a:moveTo>
                    <a:pt x="28194" y="361950"/>
                  </a:moveTo>
                  <a:lnTo>
                    <a:pt x="28194" y="0"/>
                  </a:lnTo>
                  <a:lnTo>
                    <a:pt x="0" y="0"/>
                  </a:lnTo>
                  <a:lnTo>
                    <a:pt x="0" y="361950"/>
                  </a:lnTo>
                  <a:lnTo>
                    <a:pt x="28194" y="3619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37788" y="3477768"/>
              <a:ext cx="181610" cy="123825"/>
            </a:xfrm>
            <a:custGeom>
              <a:avLst/>
              <a:gdLst/>
              <a:ahLst/>
              <a:cxnLst/>
              <a:rect l="l" t="t" r="r" b="b"/>
              <a:pathLst>
                <a:path w="181610" h="123825">
                  <a:moveTo>
                    <a:pt x="181355" y="123444"/>
                  </a:moveTo>
                  <a:lnTo>
                    <a:pt x="181355" y="0"/>
                  </a:lnTo>
                  <a:lnTo>
                    <a:pt x="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37788" y="3058667"/>
              <a:ext cx="181610" cy="133350"/>
            </a:xfrm>
            <a:custGeom>
              <a:avLst/>
              <a:gdLst/>
              <a:ahLst/>
              <a:cxnLst/>
              <a:rect l="l" t="t" r="r" b="b"/>
              <a:pathLst>
                <a:path w="181610" h="133350">
                  <a:moveTo>
                    <a:pt x="181355" y="0"/>
                  </a:moveTo>
                  <a:lnTo>
                    <a:pt x="181355" y="133350"/>
                  </a:lnTo>
                  <a:lnTo>
                    <a:pt x="0" y="13335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656838" y="3477768"/>
              <a:ext cx="86360" cy="0"/>
            </a:xfrm>
            <a:custGeom>
              <a:avLst/>
              <a:gdLst/>
              <a:ahLst/>
              <a:cxnLst/>
              <a:rect l="l" t="t" r="r" b="b"/>
              <a:pathLst>
                <a:path w="86360">
                  <a:moveTo>
                    <a:pt x="0" y="0"/>
                  </a:moveTo>
                  <a:lnTo>
                    <a:pt x="86106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23132" y="3435858"/>
              <a:ext cx="86360" cy="83185"/>
            </a:xfrm>
            <a:custGeom>
              <a:avLst/>
              <a:gdLst/>
              <a:ahLst/>
              <a:cxnLst/>
              <a:rect l="l" t="t" r="r" b="b"/>
              <a:pathLst>
                <a:path w="86360" h="83185">
                  <a:moveTo>
                    <a:pt x="1495" y="4137"/>
                  </a:moveTo>
                  <a:lnTo>
                    <a:pt x="0" y="0"/>
                  </a:lnTo>
                  <a:lnTo>
                    <a:pt x="761" y="3810"/>
                  </a:lnTo>
                  <a:lnTo>
                    <a:pt x="1495" y="4137"/>
                  </a:lnTo>
                  <a:close/>
                </a:path>
                <a:path w="86360" h="83185">
                  <a:moveTo>
                    <a:pt x="1138" y="79841"/>
                  </a:moveTo>
                  <a:lnTo>
                    <a:pt x="761" y="80010"/>
                  </a:lnTo>
                  <a:lnTo>
                    <a:pt x="0" y="83058"/>
                  </a:lnTo>
                  <a:lnTo>
                    <a:pt x="1138" y="79841"/>
                  </a:lnTo>
                  <a:close/>
                </a:path>
                <a:path w="86360" h="83185">
                  <a:moveTo>
                    <a:pt x="9715" y="76012"/>
                  </a:moveTo>
                  <a:lnTo>
                    <a:pt x="9715" y="41243"/>
                  </a:lnTo>
                  <a:lnTo>
                    <a:pt x="7286" y="62472"/>
                  </a:lnTo>
                  <a:lnTo>
                    <a:pt x="1138" y="79841"/>
                  </a:lnTo>
                  <a:lnTo>
                    <a:pt x="9715" y="76012"/>
                  </a:lnTo>
                  <a:close/>
                </a:path>
                <a:path w="86360" h="83185">
                  <a:moveTo>
                    <a:pt x="86105" y="41910"/>
                  </a:moveTo>
                  <a:lnTo>
                    <a:pt x="1495" y="4137"/>
                  </a:lnTo>
                  <a:lnTo>
                    <a:pt x="7286" y="20157"/>
                  </a:lnTo>
                  <a:lnTo>
                    <a:pt x="9715" y="41243"/>
                  </a:lnTo>
                  <a:lnTo>
                    <a:pt x="9715" y="76012"/>
                  </a:lnTo>
                  <a:lnTo>
                    <a:pt x="86105" y="419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057400" y="3696462"/>
              <a:ext cx="142875" cy="0"/>
            </a:xfrm>
            <a:custGeom>
              <a:avLst/>
              <a:gdLst/>
              <a:ahLst/>
              <a:cxnLst/>
              <a:rect l="l" t="t" r="r" b="b"/>
              <a:pathLst>
                <a:path w="142875">
                  <a:moveTo>
                    <a:pt x="142494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019300" y="3515868"/>
              <a:ext cx="38100" cy="361950"/>
            </a:xfrm>
            <a:custGeom>
              <a:avLst/>
              <a:gdLst/>
              <a:ahLst/>
              <a:cxnLst/>
              <a:rect l="l" t="t" r="r" b="b"/>
              <a:pathLst>
                <a:path w="38100" h="361950">
                  <a:moveTo>
                    <a:pt x="38100" y="361950"/>
                  </a:moveTo>
                  <a:lnTo>
                    <a:pt x="38100" y="0"/>
                  </a:lnTo>
                  <a:lnTo>
                    <a:pt x="0" y="0"/>
                  </a:lnTo>
                  <a:lnTo>
                    <a:pt x="0" y="361950"/>
                  </a:lnTo>
                  <a:lnTo>
                    <a:pt x="38100" y="3619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837944" y="3839718"/>
              <a:ext cx="181610" cy="123825"/>
            </a:xfrm>
            <a:custGeom>
              <a:avLst/>
              <a:gdLst/>
              <a:ahLst/>
              <a:cxnLst/>
              <a:rect l="l" t="t" r="r" b="b"/>
              <a:pathLst>
                <a:path w="181610" h="123825">
                  <a:moveTo>
                    <a:pt x="0" y="123443"/>
                  </a:moveTo>
                  <a:lnTo>
                    <a:pt x="0" y="0"/>
                  </a:lnTo>
                  <a:lnTo>
                    <a:pt x="181356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837944" y="3420618"/>
              <a:ext cx="181610" cy="123825"/>
            </a:xfrm>
            <a:custGeom>
              <a:avLst/>
              <a:gdLst/>
              <a:ahLst/>
              <a:cxnLst/>
              <a:rect l="l" t="t" r="r" b="b"/>
              <a:pathLst>
                <a:path w="181610" h="123825">
                  <a:moveTo>
                    <a:pt x="0" y="0"/>
                  </a:moveTo>
                  <a:lnTo>
                    <a:pt x="0" y="123444"/>
                  </a:lnTo>
                  <a:lnTo>
                    <a:pt x="181356" y="12344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914144" y="3839718"/>
              <a:ext cx="86360" cy="0"/>
            </a:xfrm>
            <a:custGeom>
              <a:avLst/>
              <a:gdLst/>
              <a:ahLst/>
              <a:cxnLst/>
              <a:rect l="l" t="t" r="r" b="b"/>
              <a:pathLst>
                <a:path w="86360">
                  <a:moveTo>
                    <a:pt x="86106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856994" y="3791712"/>
              <a:ext cx="81280" cy="86995"/>
            </a:xfrm>
            <a:custGeom>
              <a:avLst/>
              <a:gdLst/>
              <a:ahLst/>
              <a:cxnLst/>
              <a:rect l="l" t="t" r="r" b="b"/>
              <a:pathLst>
                <a:path w="81280" h="86995">
                  <a:moveTo>
                    <a:pt x="80772" y="86868"/>
                  </a:moveTo>
                  <a:lnTo>
                    <a:pt x="73485" y="66282"/>
                  </a:lnTo>
                  <a:lnTo>
                    <a:pt x="71056" y="45053"/>
                  </a:lnTo>
                  <a:lnTo>
                    <a:pt x="73485" y="23967"/>
                  </a:lnTo>
                  <a:lnTo>
                    <a:pt x="80772" y="3810"/>
                  </a:lnTo>
                  <a:lnTo>
                    <a:pt x="76200" y="0"/>
                  </a:lnTo>
                  <a:lnTo>
                    <a:pt x="0" y="48006"/>
                  </a:lnTo>
                  <a:lnTo>
                    <a:pt x="76200" y="86106"/>
                  </a:lnTo>
                  <a:lnTo>
                    <a:pt x="80772" y="868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199894" y="3696462"/>
              <a:ext cx="143510" cy="0"/>
            </a:xfrm>
            <a:custGeom>
              <a:avLst/>
              <a:gdLst/>
              <a:ahLst/>
              <a:cxnLst/>
              <a:rect l="l" t="t" r="r" b="b"/>
              <a:pathLst>
                <a:path w="143510">
                  <a:moveTo>
                    <a:pt x="0" y="0"/>
                  </a:moveTo>
                  <a:lnTo>
                    <a:pt x="143256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352294" y="3515868"/>
              <a:ext cx="29209" cy="361950"/>
            </a:xfrm>
            <a:custGeom>
              <a:avLst/>
              <a:gdLst/>
              <a:ahLst/>
              <a:cxnLst/>
              <a:rect l="l" t="t" r="r" b="b"/>
              <a:pathLst>
                <a:path w="29210" h="361950">
                  <a:moveTo>
                    <a:pt x="28956" y="361950"/>
                  </a:moveTo>
                  <a:lnTo>
                    <a:pt x="28956" y="0"/>
                  </a:lnTo>
                  <a:lnTo>
                    <a:pt x="0" y="0"/>
                  </a:lnTo>
                  <a:lnTo>
                    <a:pt x="0" y="361950"/>
                  </a:lnTo>
                  <a:lnTo>
                    <a:pt x="28956" y="3619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381250" y="3839718"/>
              <a:ext cx="180975" cy="123825"/>
            </a:xfrm>
            <a:custGeom>
              <a:avLst/>
              <a:gdLst/>
              <a:ahLst/>
              <a:cxnLst/>
              <a:rect l="l" t="t" r="r" b="b"/>
              <a:pathLst>
                <a:path w="180975" h="123825">
                  <a:moveTo>
                    <a:pt x="180594" y="123443"/>
                  </a:moveTo>
                  <a:lnTo>
                    <a:pt x="180594" y="0"/>
                  </a:lnTo>
                  <a:lnTo>
                    <a:pt x="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381250" y="3420618"/>
              <a:ext cx="180975" cy="123825"/>
            </a:xfrm>
            <a:custGeom>
              <a:avLst/>
              <a:gdLst/>
              <a:ahLst/>
              <a:cxnLst/>
              <a:rect l="l" t="t" r="r" b="b"/>
              <a:pathLst>
                <a:path w="180975" h="123825">
                  <a:moveTo>
                    <a:pt x="180594" y="0"/>
                  </a:moveTo>
                  <a:lnTo>
                    <a:pt x="180594" y="123444"/>
                  </a:lnTo>
                  <a:lnTo>
                    <a:pt x="0" y="12344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400300" y="3839718"/>
              <a:ext cx="85725" cy="0"/>
            </a:xfrm>
            <a:custGeom>
              <a:avLst/>
              <a:gdLst/>
              <a:ahLst/>
              <a:cxnLst/>
              <a:rect l="l" t="t" r="r" b="b"/>
              <a:pathLst>
                <a:path w="85725">
                  <a:moveTo>
                    <a:pt x="0" y="0"/>
                  </a:moveTo>
                  <a:lnTo>
                    <a:pt x="85344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463545" y="3791712"/>
              <a:ext cx="79375" cy="86995"/>
            </a:xfrm>
            <a:custGeom>
              <a:avLst/>
              <a:gdLst/>
              <a:ahLst/>
              <a:cxnLst/>
              <a:rect l="l" t="t" r="r" b="b"/>
              <a:pathLst>
                <a:path w="79375" h="86995">
                  <a:moveTo>
                    <a:pt x="79248" y="48006"/>
                  </a:moveTo>
                  <a:lnTo>
                    <a:pt x="3048" y="0"/>
                  </a:lnTo>
                  <a:lnTo>
                    <a:pt x="0" y="3810"/>
                  </a:lnTo>
                  <a:lnTo>
                    <a:pt x="7286" y="23967"/>
                  </a:lnTo>
                  <a:lnTo>
                    <a:pt x="9715" y="45053"/>
                  </a:lnTo>
                  <a:lnTo>
                    <a:pt x="7286" y="66282"/>
                  </a:lnTo>
                  <a:lnTo>
                    <a:pt x="0" y="86868"/>
                  </a:lnTo>
                  <a:lnTo>
                    <a:pt x="3048" y="86106"/>
                  </a:lnTo>
                  <a:lnTo>
                    <a:pt x="79248" y="480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837944" y="3420618"/>
              <a:ext cx="448309" cy="276225"/>
            </a:xfrm>
            <a:custGeom>
              <a:avLst/>
              <a:gdLst/>
              <a:ahLst/>
              <a:cxnLst/>
              <a:rect l="l" t="t" r="r" b="b"/>
              <a:pathLst>
                <a:path w="448310" h="276225">
                  <a:moveTo>
                    <a:pt x="361950" y="275843"/>
                  </a:moveTo>
                  <a:lnTo>
                    <a:pt x="448056" y="275843"/>
                  </a:lnTo>
                </a:path>
                <a:path w="448310" h="276225">
                  <a:moveTo>
                    <a:pt x="361950" y="275843"/>
                  </a:moveTo>
                  <a:lnTo>
                    <a:pt x="361950" y="0"/>
                  </a:lnTo>
                  <a:lnTo>
                    <a:pt x="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837944" y="3335274"/>
              <a:ext cx="0" cy="85725"/>
            </a:xfrm>
            <a:custGeom>
              <a:avLst/>
              <a:gdLst/>
              <a:ahLst/>
              <a:cxnLst/>
              <a:rect l="l" t="t" r="r" b="b"/>
              <a:pathLst>
                <a:path h="85725">
                  <a:moveTo>
                    <a:pt x="0" y="0"/>
                  </a:moveTo>
                  <a:lnTo>
                    <a:pt x="0" y="8534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561844" y="3335274"/>
              <a:ext cx="0" cy="85725"/>
            </a:xfrm>
            <a:custGeom>
              <a:avLst/>
              <a:gdLst/>
              <a:ahLst/>
              <a:cxnLst/>
              <a:rect l="l" t="t" r="r" b="b"/>
              <a:pathLst>
                <a:path h="85725">
                  <a:moveTo>
                    <a:pt x="0" y="0"/>
                  </a:moveTo>
                  <a:lnTo>
                    <a:pt x="0" y="8534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790700" y="3963162"/>
              <a:ext cx="104775" cy="0"/>
            </a:xfrm>
            <a:custGeom>
              <a:avLst/>
              <a:gdLst/>
              <a:ahLst/>
              <a:cxnLst/>
              <a:rect l="l" t="t" r="r" b="b"/>
              <a:pathLst>
                <a:path w="104775">
                  <a:moveTo>
                    <a:pt x="0" y="0"/>
                  </a:moveTo>
                  <a:lnTo>
                    <a:pt x="104394" y="0"/>
                  </a:lnTo>
                </a:path>
              </a:pathLst>
            </a:custGeom>
            <a:ln w="38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514600" y="3963162"/>
              <a:ext cx="95250" cy="0"/>
            </a:xfrm>
            <a:custGeom>
              <a:avLst/>
              <a:gdLst/>
              <a:ahLst/>
              <a:cxnLst/>
              <a:rect l="l" t="t" r="r" b="b"/>
              <a:pathLst>
                <a:path w="95250">
                  <a:moveTo>
                    <a:pt x="0" y="0"/>
                  </a:moveTo>
                  <a:lnTo>
                    <a:pt x="95250" y="0"/>
                  </a:lnTo>
                </a:path>
              </a:pathLst>
            </a:custGeom>
            <a:ln w="38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3819144" y="2345436"/>
              <a:ext cx="0" cy="713740"/>
            </a:xfrm>
            <a:custGeom>
              <a:avLst/>
              <a:gdLst/>
              <a:ahLst/>
              <a:cxnLst/>
              <a:rect l="l" t="t" r="r" b="b"/>
              <a:pathLst>
                <a:path h="713739">
                  <a:moveTo>
                    <a:pt x="0" y="0"/>
                  </a:moveTo>
                  <a:lnTo>
                    <a:pt x="0" y="713232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561844" y="3153917"/>
              <a:ext cx="0" cy="181610"/>
            </a:xfrm>
            <a:custGeom>
              <a:avLst/>
              <a:gdLst/>
              <a:ahLst/>
              <a:cxnLst/>
              <a:rect l="l" t="t" r="r" b="b"/>
              <a:pathLst>
                <a:path h="181610">
                  <a:moveTo>
                    <a:pt x="0" y="0"/>
                  </a:moveTo>
                  <a:lnTo>
                    <a:pt x="0" y="181356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561844" y="3335274"/>
              <a:ext cx="895350" cy="0"/>
            </a:xfrm>
            <a:custGeom>
              <a:avLst/>
              <a:gdLst/>
              <a:ahLst/>
              <a:cxnLst/>
              <a:rect l="l" t="t" r="r" b="b"/>
              <a:pathLst>
                <a:path w="895350">
                  <a:moveTo>
                    <a:pt x="895350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1837944" y="3153917"/>
              <a:ext cx="0" cy="200660"/>
            </a:xfrm>
            <a:custGeom>
              <a:avLst/>
              <a:gdLst/>
              <a:ahLst/>
              <a:cxnLst/>
              <a:rect l="l" t="t" r="r" b="b"/>
              <a:pathLst>
                <a:path h="200660">
                  <a:moveTo>
                    <a:pt x="0" y="0"/>
                  </a:moveTo>
                  <a:lnTo>
                    <a:pt x="0" y="200406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2199894" y="2345436"/>
              <a:ext cx="0" cy="85725"/>
            </a:xfrm>
            <a:custGeom>
              <a:avLst/>
              <a:gdLst/>
              <a:ahLst/>
              <a:cxnLst/>
              <a:rect l="l" t="t" r="r" b="b"/>
              <a:pathLst>
                <a:path h="85725">
                  <a:moveTo>
                    <a:pt x="0" y="0"/>
                  </a:moveTo>
                  <a:lnTo>
                    <a:pt x="0" y="8534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1066800" y="2078736"/>
              <a:ext cx="2390775" cy="0"/>
            </a:xfrm>
            <a:custGeom>
              <a:avLst/>
              <a:gdLst/>
              <a:ahLst/>
              <a:cxnLst/>
              <a:rect l="l" t="t" r="r" b="b"/>
              <a:pathLst>
                <a:path w="2390775">
                  <a:moveTo>
                    <a:pt x="2390394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886205" y="1926335"/>
              <a:ext cx="85725" cy="0"/>
            </a:xfrm>
            <a:custGeom>
              <a:avLst/>
              <a:gdLst/>
              <a:ahLst/>
              <a:cxnLst/>
              <a:rect l="l" t="t" r="r" b="b"/>
              <a:pathLst>
                <a:path w="85725">
                  <a:moveTo>
                    <a:pt x="0" y="0"/>
                  </a:moveTo>
                  <a:lnTo>
                    <a:pt x="85344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943355" y="188823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5015" y="2238"/>
                  </a:moveTo>
                  <a:lnTo>
                    <a:pt x="5015" y="1988"/>
                  </a:lnTo>
                  <a:lnTo>
                    <a:pt x="4571" y="762"/>
                  </a:lnTo>
                  <a:lnTo>
                    <a:pt x="0" y="0"/>
                  </a:lnTo>
                  <a:lnTo>
                    <a:pt x="5015" y="2238"/>
                  </a:lnTo>
                  <a:close/>
                </a:path>
                <a:path w="85725" h="85725">
                  <a:moveTo>
                    <a:pt x="5015" y="82567"/>
                  </a:moveTo>
                  <a:lnTo>
                    <a:pt x="0" y="85344"/>
                  </a:lnTo>
                  <a:lnTo>
                    <a:pt x="4571" y="83820"/>
                  </a:lnTo>
                  <a:lnTo>
                    <a:pt x="5015" y="82567"/>
                  </a:lnTo>
                  <a:close/>
                </a:path>
                <a:path w="85725" h="85725">
                  <a:moveTo>
                    <a:pt x="85343" y="38100"/>
                  </a:moveTo>
                  <a:lnTo>
                    <a:pt x="5015" y="2238"/>
                  </a:lnTo>
                  <a:lnTo>
                    <a:pt x="5015" y="1988"/>
                  </a:lnTo>
                  <a:lnTo>
                    <a:pt x="11858" y="20919"/>
                  </a:lnTo>
                  <a:lnTo>
                    <a:pt x="14287" y="42005"/>
                  </a:lnTo>
                  <a:lnTo>
                    <a:pt x="14287" y="77434"/>
                  </a:lnTo>
                  <a:lnTo>
                    <a:pt x="85343" y="38100"/>
                  </a:lnTo>
                  <a:close/>
                </a:path>
                <a:path w="85725" h="85725">
                  <a:moveTo>
                    <a:pt x="14287" y="77434"/>
                  </a:moveTo>
                  <a:lnTo>
                    <a:pt x="14287" y="42005"/>
                  </a:lnTo>
                  <a:lnTo>
                    <a:pt x="11858" y="63234"/>
                  </a:lnTo>
                  <a:lnTo>
                    <a:pt x="5015" y="82567"/>
                  </a:lnTo>
                  <a:lnTo>
                    <a:pt x="14287" y="774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1066800" y="2078736"/>
              <a:ext cx="143510" cy="0"/>
            </a:xfrm>
            <a:custGeom>
              <a:avLst/>
              <a:gdLst/>
              <a:ahLst/>
              <a:cxnLst/>
              <a:rect l="l" t="t" r="r" b="b"/>
              <a:pathLst>
                <a:path w="143509">
                  <a:moveTo>
                    <a:pt x="143256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1028700" y="1898141"/>
              <a:ext cx="38100" cy="352425"/>
            </a:xfrm>
            <a:custGeom>
              <a:avLst/>
              <a:gdLst/>
              <a:ahLst/>
              <a:cxnLst/>
              <a:rect l="l" t="t" r="r" b="b"/>
              <a:pathLst>
                <a:path w="38100" h="352425">
                  <a:moveTo>
                    <a:pt x="38100" y="352043"/>
                  </a:moveTo>
                  <a:lnTo>
                    <a:pt x="38100" y="0"/>
                  </a:lnTo>
                  <a:lnTo>
                    <a:pt x="0" y="0"/>
                  </a:lnTo>
                  <a:lnTo>
                    <a:pt x="0" y="352043"/>
                  </a:lnTo>
                  <a:lnTo>
                    <a:pt x="38100" y="3520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848105" y="2221229"/>
              <a:ext cx="180975" cy="124460"/>
            </a:xfrm>
            <a:custGeom>
              <a:avLst/>
              <a:gdLst/>
              <a:ahLst/>
              <a:cxnLst/>
              <a:rect l="l" t="t" r="r" b="b"/>
              <a:pathLst>
                <a:path w="180975" h="124460">
                  <a:moveTo>
                    <a:pt x="0" y="124205"/>
                  </a:moveTo>
                  <a:lnTo>
                    <a:pt x="0" y="0"/>
                  </a:lnTo>
                  <a:lnTo>
                    <a:pt x="180594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848105" y="1802891"/>
              <a:ext cx="180975" cy="123825"/>
            </a:xfrm>
            <a:custGeom>
              <a:avLst/>
              <a:gdLst/>
              <a:ahLst/>
              <a:cxnLst/>
              <a:rect l="l" t="t" r="r" b="b"/>
              <a:pathLst>
                <a:path w="180975" h="123825">
                  <a:moveTo>
                    <a:pt x="0" y="0"/>
                  </a:moveTo>
                  <a:lnTo>
                    <a:pt x="0" y="123444"/>
                  </a:lnTo>
                  <a:lnTo>
                    <a:pt x="180594" y="12344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3819144" y="3601212"/>
              <a:ext cx="0" cy="361950"/>
            </a:xfrm>
            <a:custGeom>
              <a:avLst/>
              <a:gdLst/>
              <a:ahLst/>
              <a:cxnLst/>
              <a:rect l="l" t="t" r="r" b="b"/>
              <a:pathLst>
                <a:path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848105" y="2345436"/>
              <a:ext cx="0" cy="219075"/>
            </a:xfrm>
            <a:custGeom>
              <a:avLst/>
              <a:gdLst/>
              <a:ahLst/>
              <a:cxnLst/>
              <a:rect l="l" t="t" r="r" b="b"/>
              <a:pathLst>
                <a:path h="219075">
                  <a:moveTo>
                    <a:pt x="0" y="0"/>
                  </a:moveTo>
                  <a:lnTo>
                    <a:pt x="0" y="21869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848105" y="2078736"/>
              <a:ext cx="361950" cy="266700"/>
            </a:xfrm>
            <a:custGeom>
              <a:avLst/>
              <a:gdLst/>
              <a:ahLst/>
              <a:cxnLst/>
              <a:rect l="l" t="t" r="r" b="b"/>
              <a:pathLst>
                <a:path w="361950" h="266700">
                  <a:moveTo>
                    <a:pt x="361950" y="0"/>
                  </a:moveTo>
                  <a:lnTo>
                    <a:pt x="361950" y="266700"/>
                  </a:lnTo>
                  <a:lnTo>
                    <a:pt x="0" y="26670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800099" y="1802891"/>
              <a:ext cx="95250" cy="0"/>
            </a:xfrm>
            <a:custGeom>
              <a:avLst/>
              <a:gdLst/>
              <a:ahLst/>
              <a:cxnLst/>
              <a:rect l="l" t="t" r="r" b="b"/>
              <a:pathLst>
                <a:path w="95250">
                  <a:moveTo>
                    <a:pt x="0" y="0"/>
                  </a:moveTo>
                  <a:lnTo>
                    <a:pt x="95250" y="0"/>
                  </a:lnTo>
                </a:path>
              </a:pathLst>
            </a:custGeom>
            <a:ln w="38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800099" y="3058667"/>
              <a:ext cx="95250" cy="0"/>
            </a:xfrm>
            <a:custGeom>
              <a:avLst/>
              <a:gdLst/>
              <a:ahLst/>
              <a:cxnLst/>
              <a:rect l="l" t="t" r="r" b="b"/>
              <a:pathLst>
                <a:path w="95250">
                  <a:moveTo>
                    <a:pt x="0" y="0"/>
                  </a:moveTo>
                  <a:lnTo>
                    <a:pt x="95250" y="0"/>
                  </a:lnTo>
                </a:path>
              </a:pathLst>
            </a:custGeom>
            <a:ln w="38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3761994" y="3963162"/>
              <a:ext cx="104775" cy="0"/>
            </a:xfrm>
            <a:custGeom>
              <a:avLst/>
              <a:gdLst/>
              <a:ahLst/>
              <a:cxnLst/>
              <a:rect l="l" t="t" r="r" b="b"/>
              <a:pathLst>
                <a:path w="104775">
                  <a:moveTo>
                    <a:pt x="0" y="0"/>
                  </a:moveTo>
                  <a:lnTo>
                    <a:pt x="104394" y="0"/>
                  </a:lnTo>
                </a:path>
              </a:pathLst>
            </a:custGeom>
            <a:ln w="38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847338" y="2782824"/>
              <a:ext cx="895350" cy="0"/>
            </a:xfrm>
            <a:custGeom>
              <a:avLst/>
              <a:gdLst/>
              <a:ahLst/>
              <a:cxnLst/>
              <a:rect l="l" t="t" r="r" b="b"/>
              <a:pathLst>
                <a:path w="895350">
                  <a:moveTo>
                    <a:pt x="895350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9" name="object 8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34687" y="2728341"/>
              <a:ext cx="109728" cy="108965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2781300" y="2887980"/>
              <a:ext cx="170815" cy="0"/>
            </a:xfrm>
            <a:custGeom>
              <a:avLst/>
              <a:gdLst/>
              <a:ahLst/>
              <a:cxnLst/>
              <a:rect l="l" t="t" r="r" b="b"/>
              <a:pathLst>
                <a:path w="170814">
                  <a:moveTo>
                    <a:pt x="170687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2955798" y="2838450"/>
              <a:ext cx="90805" cy="90170"/>
            </a:xfrm>
            <a:custGeom>
              <a:avLst/>
              <a:gdLst/>
              <a:ahLst/>
              <a:cxnLst/>
              <a:rect l="l" t="t" r="r" b="b"/>
              <a:pathLst>
                <a:path w="90805" h="90169">
                  <a:moveTo>
                    <a:pt x="44957" y="0"/>
                  </a:moveTo>
                  <a:lnTo>
                    <a:pt x="27646" y="3595"/>
                  </a:lnTo>
                  <a:lnTo>
                    <a:pt x="13334" y="13335"/>
                  </a:lnTo>
                  <a:lnTo>
                    <a:pt x="3595" y="27646"/>
                  </a:lnTo>
                  <a:lnTo>
                    <a:pt x="0" y="44958"/>
                  </a:lnTo>
                  <a:lnTo>
                    <a:pt x="3595" y="62591"/>
                  </a:lnTo>
                  <a:lnTo>
                    <a:pt x="13334" y="76866"/>
                  </a:lnTo>
                  <a:lnTo>
                    <a:pt x="27646" y="86427"/>
                  </a:lnTo>
                  <a:lnTo>
                    <a:pt x="44957" y="89916"/>
                  </a:lnTo>
                  <a:lnTo>
                    <a:pt x="62710" y="86427"/>
                  </a:lnTo>
                  <a:lnTo>
                    <a:pt x="77247" y="76866"/>
                  </a:lnTo>
                  <a:lnTo>
                    <a:pt x="87070" y="62591"/>
                  </a:lnTo>
                  <a:lnTo>
                    <a:pt x="90677" y="44958"/>
                  </a:lnTo>
                  <a:lnTo>
                    <a:pt x="87070" y="27646"/>
                  </a:lnTo>
                  <a:lnTo>
                    <a:pt x="77247" y="13334"/>
                  </a:lnTo>
                  <a:lnTo>
                    <a:pt x="62710" y="3595"/>
                  </a:lnTo>
                  <a:lnTo>
                    <a:pt x="44957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1447800" y="2887980"/>
              <a:ext cx="181610" cy="0"/>
            </a:xfrm>
            <a:custGeom>
              <a:avLst/>
              <a:gdLst/>
              <a:ahLst/>
              <a:cxnLst/>
              <a:rect l="l" t="t" r="r" b="b"/>
              <a:pathLst>
                <a:path w="181610">
                  <a:moveTo>
                    <a:pt x="0" y="0"/>
                  </a:moveTo>
                  <a:lnTo>
                    <a:pt x="181356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1354836" y="2838450"/>
              <a:ext cx="90170" cy="90170"/>
            </a:xfrm>
            <a:custGeom>
              <a:avLst/>
              <a:gdLst/>
              <a:ahLst/>
              <a:cxnLst/>
              <a:rect l="l" t="t" r="r" b="b"/>
              <a:pathLst>
                <a:path w="90169" h="90169">
                  <a:moveTo>
                    <a:pt x="44958" y="89915"/>
                  </a:moveTo>
                  <a:lnTo>
                    <a:pt x="62269" y="86427"/>
                  </a:lnTo>
                  <a:lnTo>
                    <a:pt x="76581" y="76866"/>
                  </a:lnTo>
                  <a:lnTo>
                    <a:pt x="86320" y="62591"/>
                  </a:lnTo>
                  <a:lnTo>
                    <a:pt x="89916" y="44957"/>
                  </a:lnTo>
                  <a:lnTo>
                    <a:pt x="86320" y="27646"/>
                  </a:lnTo>
                  <a:lnTo>
                    <a:pt x="76581" y="13334"/>
                  </a:lnTo>
                  <a:lnTo>
                    <a:pt x="62269" y="3595"/>
                  </a:lnTo>
                  <a:lnTo>
                    <a:pt x="44958" y="0"/>
                  </a:lnTo>
                  <a:lnTo>
                    <a:pt x="27324" y="3595"/>
                  </a:lnTo>
                  <a:lnTo>
                    <a:pt x="13049" y="13334"/>
                  </a:lnTo>
                  <a:lnTo>
                    <a:pt x="3488" y="27646"/>
                  </a:lnTo>
                  <a:lnTo>
                    <a:pt x="0" y="44957"/>
                  </a:lnTo>
                  <a:lnTo>
                    <a:pt x="3488" y="62591"/>
                  </a:lnTo>
                  <a:lnTo>
                    <a:pt x="13049" y="76866"/>
                  </a:lnTo>
                  <a:lnTo>
                    <a:pt x="27324" y="86427"/>
                  </a:lnTo>
                  <a:lnTo>
                    <a:pt x="44958" y="89915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3761994" y="1802891"/>
              <a:ext cx="104775" cy="0"/>
            </a:xfrm>
            <a:custGeom>
              <a:avLst/>
              <a:gdLst/>
              <a:ahLst/>
              <a:cxnLst/>
              <a:rect l="l" t="t" r="r" b="b"/>
              <a:pathLst>
                <a:path w="104775">
                  <a:moveTo>
                    <a:pt x="0" y="0"/>
                  </a:moveTo>
                  <a:lnTo>
                    <a:pt x="104394" y="0"/>
                  </a:lnTo>
                </a:path>
              </a:pathLst>
            </a:custGeom>
            <a:ln w="38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2142744" y="1802891"/>
              <a:ext cx="105410" cy="0"/>
            </a:xfrm>
            <a:custGeom>
              <a:avLst/>
              <a:gdLst/>
              <a:ahLst/>
              <a:cxnLst/>
              <a:rect l="l" t="t" r="r" b="b"/>
              <a:pathLst>
                <a:path w="105410">
                  <a:moveTo>
                    <a:pt x="0" y="0"/>
                  </a:moveTo>
                  <a:lnTo>
                    <a:pt x="105155" y="0"/>
                  </a:lnTo>
                </a:path>
              </a:pathLst>
            </a:custGeom>
            <a:ln w="38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848105" y="2564130"/>
              <a:ext cx="0" cy="456565"/>
            </a:xfrm>
            <a:custGeom>
              <a:avLst/>
              <a:gdLst/>
              <a:ahLst/>
              <a:cxnLst/>
              <a:rect l="l" t="t" r="r" b="b"/>
              <a:pathLst>
                <a:path h="456564">
                  <a:moveTo>
                    <a:pt x="0" y="456438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719327" y="2658617"/>
              <a:ext cx="262890" cy="269875"/>
            </a:xfrm>
            <a:custGeom>
              <a:avLst/>
              <a:gdLst/>
              <a:ahLst/>
              <a:cxnLst/>
              <a:rect l="l" t="t" r="r" b="b"/>
              <a:pathLst>
                <a:path w="262890" h="269875">
                  <a:moveTo>
                    <a:pt x="262890" y="134874"/>
                  </a:moveTo>
                  <a:lnTo>
                    <a:pt x="256208" y="92171"/>
                  </a:lnTo>
                  <a:lnTo>
                    <a:pt x="237603" y="55138"/>
                  </a:lnTo>
                  <a:lnTo>
                    <a:pt x="209233" y="25968"/>
                  </a:lnTo>
                  <a:lnTo>
                    <a:pt x="173254" y="6858"/>
                  </a:lnTo>
                  <a:lnTo>
                    <a:pt x="131826" y="0"/>
                  </a:lnTo>
                  <a:lnTo>
                    <a:pt x="90025" y="6858"/>
                  </a:lnTo>
                  <a:lnTo>
                    <a:pt x="53821" y="25968"/>
                  </a:lnTo>
                  <a:lnTo>
                    <a:pt x="25334" y="55138"/>
                  </a:lnTo>
                  <a:lnTo>
                    <a:pt x="6687" y="92171"/>
                  </a:lnTo>
                  <a:lnTo>
                    <a:pt x="0" y="134874"/>
                  </a:lnTo>
                  <a:lnTo>
                    <a:pt x="6687" y="177576"/>
                  </a:lnTo>
                  <a:lnTo>
                    <a:pt x="25334" y="214609"/>
                  </a:lnTo>
                  <a:lnTo>
                    <a:pt x="53821" y="243779"/>
                  </a:lnTo>
                  <a:lnTo>
                    <a:pt x="90025" y="262890"/>
                  </a:lnTo>
                  <a:lnTo>
                    <a:pt x="131826" y="269748"/>
                  </a:lnTo>
                  <a:lnTo>
                    <a:pt x="173254" y="262890"/>
                  </a:lnTo>
                  <a:lnTo>
                    <a:pt x="209233" y="243779"/>
                  </a:lnTo>
                  <a:lnTo>
                    <a:pt x="237603" y="214609"/>
                  </a:lnTo>
                  <a:lnTo>
                    <a:pt x="256208" y="177576"/>
                  </a:lnTo>
                  <a:lnTo>
                    <a:pt x="262890" y="1348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719327" y="2658617"/>
              <a:ext cx="262890" cy="269875"/>
            </a:xfrm>
            <a:custGeom>
              <a:avLst/>
              <a:gdLst/>
              <a:ahLst/>
              <a:cxnLst/>
              <a:rect l="l" t="t" r="r" b="b"/>
              <a:pathLst>
                <a:path w="262890" h="269875">
                  <a:moveTo>
                    <a:pt x="262890" y="134874"/>
                  </a:moveTo>
                  <a:lnTo>
                    <a:pt x="256208" y="92171"/>
                  </a:lnTo>
                  <a:lnTo>
                    <a:pt x="237603" y="55138"/>
                  </a:lnTo>
                  <a:lnTo>
                    <a:pt x="209233" y="25968"/>
                  </a:lnTo>
                  <a:lnTo>
                    <a:pt x="173254" y="6858"/>
                  </a:lnTo>
                  <a:lnTo>
                    <a:pt x="131826" y="0"/>
                  </a:lnTo>
                  <a:lnTo>
                    <a:pt x="90025" y="6858"/>
                  </a:lnTo>
                  <a:lnTo>
                    <a:pt x="53821" y="25968"/>
                  </a:lnTo>
                  <a:lnTo>
                    <a:pt x="25334" y="55138"/>
                  </a:lnTo>
                  <a:lnTo>
                    <a:pt x="6687" y="92171"/>
                  </a:lnTo>
                  <a:lnTo>
                    <a:pt x="0" y="134874"/>
                  </a:lnTo>
                  <a:lnTo>
                    <a:pt x="6687" y="177576"/>
                  </a:lnTo>
                  <a:lnTo>
                    <a:pt x="25334" y="214609"/>
                  </a:lnTo>
                  <a:lnTo>
                    <a:pt x="53821" y="243779"/>
                  </a:lnTo>
                  <a:lnTo>
                    <a:pt x="90025" y="262890"/>
                  </a:lnTo>
                  <a:lnTo>
                    <a:pt x="131826" y="269748"/>
                  </a:lnTo>
                  <a:lnTo>
                    <a:pt x="173254" y="262890"/>
                  </a:lnTo>
                  <a:lnTo>
                    <a:pt x="209233" y="243779"/>
                  </a:lnTo>
                  <a:lnTo>
                    <a:pt x="237603" y="214609"/>
                  </a:lnTo>
                  <a:lnTo>
                    <a:pt x="256208" y="177576"/>
                  </a:lnTo>
                  <a:lnTo>
                    <a:pt x="262890" y="134874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848105" y="2725674"/>
              <a:ext cx="0" cy="86360"/>
            </a:xfrm>
            <a:custGeom>
              <a:avLst/>
              <a:gdLst/>
              <a:ahLst/>
              <a:cxnLst/>
              <a:rect l="l" t="t" r="r" b="b"/>
              <a:pathLst>
                <a:path h="86360">
                  <a:moveTo>
                    <a:pt x="0" y="0"/>
                  </a:moveTo>
                  <a:lnTo>
                    <a:pt x="0" y="8610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809243" y="2791205"/>
              <a:ext cx="86360" cy="86995"/>
            </a:xfrm>
            <a:custGeom>
              <a:avLst/>
              <a:gdLst/>
              <a:ahLst/>
              <a:cxnLst/>
              <a:rect l="l" t="t" r="r" b="b"/>
              <a:pathLst>
                <a:path w="86359" h="86994">
                  <a:moveTo>
                    <a:pt x="86106" y="1523"/>
                  </a:moveTo>
                  <a:lnTo>
                    <a:pt x="83058" y="0"/>
                  </a:lnTo>
                  <a:lnTo>
                    <a:pt x="62793" y="7715"/>
                  </a:lnTo>
                  <a:lnTo>
                    <a:pt x="41529" y="10286"/>
                  </a:lnTo>
                  <a:lnTo>
                    <a:pt x="20264" y="7715"/>
                  </a:lnTo>
                  <a:lnTo>
                    <a:pt x="0" y="0"/>
                  </a:lnTo>
                  <a:lnTo>
                    <a:pt x="38862" y="86867"/>
                  </a:lnTo>
                  <a:lnTo>
                    <a:pt x="86106" y="15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848105" y="3020567"/>
              <a:ext cx="0" cy="38100"/>
            </a:xfrm>
            <a:custGeom>
              <a:avLst/>
              <a:gdLst/>
              <a:ahLst/>
              <a:cxnLst/>
              <a:rect l="l" t="t" r="r" b="b"/>
              <a:pathLst>
                <a:path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4056888" y="3287267"/>
              <a:ext cx="180975" cy="95250"/>
            </a:xfrm>
            <a:custGeom>
              <a:avLst/>
              <a:gdLst/>
              <a:ahLst/>
              <a:cxnLst/>
              <a:rect l="l" t="t" r="r" b="b"/>
              <a:pathLst>
                <a:path w="180975" h="95250">
                  <a:moveTo>
                    <a:pt x="180594" y="57150"/>
                  </a:moveTo>
                  <a:lnTo>
                    <a:pt x="0" y="57150"/>
                  </a:lnTo>
                  <a:lnTo>
                    <a:pt x="0" y="95250"/>
                  </a:lnTo>
                  <a:lnTo>
                    <a:pt x="180594" y="95250"/>
                  </a:lnTo>
                  <a:lnTo>
                    <a:pt x="180594" y="57150"/>
                  </a:lnTo>
                  <a:close/>
                </a:path>
                <a:path w="180975" h="95250">
                  <a:moveTo>
                    <a:pt x="180594" y="0"/>
                  </a:moveTo>
                  <a:lnTo>
                    <a:pt x="0" y="0"/>
                  </a:lnTo>
                  <a:lnTo>
                    <a:pt x="0" y="28956"/>
                  </a:lnTo>
                  <a:lnTo>
                    <a:pt x="180594" y="28956"/>
                  </a:lnTo>
                  <a:lnTo>
                    <a:pt x="1805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4142231" y="3382518"/>
              <a:ext cx="0" cy="86360"/>
            </a:xfrm>
            <a:custGeom>
              <a:avLst/>
              <a:gdLst/>
              <a:ahLst/>
              <a:cxnLst/>
              <a:rect l="l" t="t" r="r" b="b"/>
              <a:pathLst>
                <a:path h="86360">
                  <a:moveTo>
                    <a:pt x="0" y="86105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4142231" y="3201924"/>
              <a:ext cx="0" cy="104775"/>
            </a:xfrm>
            <a:custGeom>
              <a:avLst/>
              <a:gdLst/>
              <a:ahLst/>
              <a:cxnLst/>
              <a:rect l="l" t="t" r="r" b="b"/>
              <a:pathLst>
                <a:path h="104775">
                  <a:moveTo>
                    <a:pt x="0" y="0"/>
                  </a:moveTo>
                  <a:lnTo>
                    <a:pt x="0" y="10439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1123950" y="1536191"/>
              <a:ext cx="3599815" cy="2513330"/>
            </a:xfrm>
            <a:custGeom>
              <a:avLst/>
              <a:gdLst/>
              <a:ahLst/>
              <a:cxnLst/>
              <a:rect l="l" t="t" r="r" b="b"/>
              <a:pathLst>
                <a:path w="3599815" h="2513329">
                  <a:moveTo>
                    <a:pt x="0" y="2513076"/>
                  </a:moveTo>
                  <a:lnTo>
                    <a:pt x="2151888" y="2513076"/>
                  </a:lnTo>
                  <a:lnTo>
                    <a:pt x="2151888" y="0"/>
                  </a:lnTo>
                  <a:lnTo>
                    <a:pt x="0" y="0"/>
                  </a:lnTo>
                  <a:lnTo>
                    <a:pt x="0" y="2513076"/>
                  </a:lnTo>
                </a:path>
                <a:path w="3599815" h="2513329">
                  <a:moveTo>
                    <a:pt x="2333244" y="2513076"/>
                  </a:moveTo>
                  <a:lnTo>
                    <a:pt x="3599688" y="2513076"/>
                  </a:lnTo>
                  <a:lnTo>
                    <a:pt x="3599688" y="0"/>
                  </a:lnTo>
                  <a:lnTo>
                    <a:pt x="2333244" y="0"/>
                  </a:lnTo>
                  <a:lnTo>
                    <a:pt x="2333244" y="2513076"/>
                  </a:lnTo>
                </a:path>
              </a:pathLst>
            </a:custGeom>
            <a:ln w="6350">
              <a:solidFill>
                <a:srgbClr val="A4A4A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4504181" y="3058667"/>
              <a:ext cx="181610" cy="542925"/>
            </a:xfrm>
            <a:custGeom>
              <a:avLst/>
              <a:gdLst/>
              <a:ahLst/>
              <a:cxnLst/>
              <a:rect l="l" t="t" r="r" b="b"/>
              <a:pathLst>
                <a:path w="181610" h="542925">
                  <a:moveTo>
                    <a:pt x="95250" y="0"/>
                  </a:moveTo>
                  <a:lnTo>
                    <a:pt x="95250" y="76200"/>
                  </a:lnTo>
                  <a:lnTo>
                    <a:pt x="181356" y="105155"/>
                  </a:lnTo>
                  <a:lnTo>
                    <a:pt x="0" y="171450"/>
                  </a:lnTo>
                  <a:lnTo>
                    <a:pt x="181356" y="238506"/>
                  </a:lnTo>
                  <a:lnTo>
                    <a:pt x="0" y="304800"/>
                  </a:lnTo>
                  <a:lnTo>
                    <a:pt x="181356" y="371856"/>
                  </a:lnTo>
                  <a:lnTo>
                    <a:pt x="0" y="448056"/>
                  </a:lnTo>
                  <a:lnTo>
                    <a:pt x="95250" y="476250"/>
                  </a:lnTo>
                  <a:lnTo>
                    <a:pt x="95250" y="54254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4142231" y="2792730"/>
              <a:ext cx="0" cy="409575"/>
            </a:xfrm>
            <a:custGeom>
              <a:avLst/>
              <a:gdLst/>
              <a:ahLst/>
              <a:cxnLst/>
              <a:rect l="l" t="t" r="r" b="b"/>
              <a:pathLst>
                <a:path h="409575">
                  <a:moveTo>
                    <a:pt x="0" y="409194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4599431" y="2792730"/>
              <a:ext cx="0" cy="266065"/>
            </a:xfrm>
            <a:custGeom>
              <a:avLst/>
              <a:gdLst/>
              <a:ahLst/>
              <a:cxnLst/>
              <a:rect l="l" t="t" r="r" b="b"/>
              <a:pathLst>
                <a:path h="266064">
                  <a:moveTo>
                    <a:pt x="0" y="265938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142231" y="3468624"/>
              <a:ext cx="0" cy="494665"/>
            </a:xfrm>
            <a:custGeom>
              <a:avLst/>
              <a:gdLst/>
              <a:ahLst/>
              <a:cxnLst/>
              <a:rect l="l" t="t" r="r" b="b"/>
              <a:pathLst>
                <a:path h="494664">
                  <a:moveTo>
                    <a:pt x="0" y="0"/>
                  </a:moveTo>
                  <a:lnTo>
                    <a:pt x="0" y="494538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599431" y="3601212"/>
              <a:ext cx="0" cy="361950"/>
            </a:xfrm>
            <a:custGeom>
              <a:avLst/>
              <a:gdLst/>
              <a:ahLst/>
              <a:cxnLst/>
              <a:rect l="l" t="t" r="r" b="b"/>
              <a:pathLst>
                <a:path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094987" y="3963162"/>
              <a:ext cx="104775" cy="0"/>
            </a:xfrm>
            <a:custGeom>
              <a:avLst/>
              <a:gdLst/>
              <a:ahLst/>
              <a:cxnLst/>
              <a:rect l="l" t="t" r="r" b="b"/>
              <a:pathLst>
                <a:path w="104775">
                  <a:moveTo>
                    <a:pt x="0" y="0"/>
                  </a:moveTo>
                  <a:lnTo>
                    <a:pt x="104394" y="0"/>
                  </a:lnTo>
                </a:path>
              </a:pathLst>
            </a:custGeom>
            <a:ln w="38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4542281" y="3963162"/>
              <a:ext cx="105410" cy="0"/>
            </a:xfrm>
            <a:custGeom>
              <a:avLst/>
              <a:gdLst/>
              <a:ahLst/>
              <a:cxnLst/>
              <a:rect l="l" t="t" r="r" b="b"/>
              <a:pathLst>
                <a:path w="105410">
                  <a:moveTo>
                    <a:pt x="0" y="0"/>
                  </a:moveTo>
                  <a:lnTo>
                    <a:pt x="105155" y="0"/>
                  </a:lnTo>
                </a:path>
              </a:pathLst>
            </a:custGeom>
            <a:ln w="38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3" name="object 1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9479" y="2033587"/>
              <a:ext cx="75056" cy="77342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63127" y="2407729"/>
              <a:ext cx="74294" cy="77342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66937" y="3642931"/>
              <a:ext cx="74294" cy="78104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33459" y="3297745"/>
              <a:ext cx="74294" cy="78104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03463" y="3383851"/>
              <a:ext cx="74294" cy="78104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82377" y="2754439"/>
              <a:ext cx="74295" cy="78104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06227" y="2754439"/>
              <a:ext cx="74295" cy="78104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59617" y="2754439"/>
              <a:ext cx="74295" cy="78104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9815" y="2304859"/>
              <a:ext cx="74294" cy="78104"/>
            </a:xfrm>
            <a:prstGeom prst="rect">
              <a:avLst/>
            </a:prstGeom>
          </p:spPr>
        </p:pic>
        <p:sp>
          <p:nvSpPr>
            <p:cNvPr id="122" name="object 122"/>
            <p:cNvSpPr/>
            <p:nvPr/>
          </p:nvSpPr>
          <p:spPr>
            <a:xfrm>
              <a:off x="2904744" y="3601211"/>
              <a:ext cx="180975" cy="95250"/>
            </a:xfrm>
            <a:custGeom>
              <a:avLst/>
              <a:gdLst/>
              <a:ahLst/>
              <a:cxnLst/>
              <a:rect l="l" t="t" r="r" b="b"/>
              <a:pathLst>
                <a:path w="180975" h="95250">
                  <a:moveTo>
                    <a:pt x="180594" y="57150"/>
                  </a:moveTo>
                  <a:lnTo>
                    <a:pt x="0" y="57150"/>
                  </a:lnTo>
                  <a:lnTo>
                    <a:pt x="0" y="95250"/>
                  </a:lnTo>
                  <a:lnTo>
                    <a:pt x="180594" y="95250"/>
                  </a:lnTo>
                  <a:lnTo>
                    <a:pt x="180594" y="57150"/>
                  </a:lnTo>
                  <a:close/>
                </a:path>
                <a:path w="180975" h="95250">
                  <a:moveTo>
                    <a:pt x="180594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80594" y="38100"/>
                  </a:lnTo>
                  <a:lnTo>
                    <a:pt x="1805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2999994" y="3696462"/>
              <a:ext cx="0" cy="86360"/>
            </a:xfrm>
            <a:custGeom>
              <a:avLst/>
              <a:gdLst/>
              <a:ahLst/>
              <a:cxnLst/>
              <a:rect l="l" t="t" r="r" b="b"/>
              <a:pathLst>
                <a:path h="86360">
                  <a:moveTo>
                    <a:pt x="0" y="86106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2999994" y="3515868"/>
              <a:ext cx="0" cy="104775"/>
            </a:xfrm>
            <a:custGeom>
              <a:avLst/>
              <a:gdLst/>
              <a:ahLst/>
              <a:cxnLst/>
              <a:rect l="l" t="t" r="r" b="b"/>
              <a:pathLst>
                <a:path h="104775">
                  <a:moveTo>
                    <a:pt x="0" y="0"/>
                  </a:moveTo>
                  <a:lnTo>
                    <a:pt x="0" y="10439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2999994" y="3335274"/>
              <a:ext cx="0" cy="180975"/>
            </a:xfrm>
            <a:custGeom>
              <a:avLst/>
              <a:gdLst/>
              <a:ahLst/>
              <a:cxnLst/>
              <a:rect l="l" t="t" r="r" b="b"/>
              <a:pathLst>
                <a:path h="180975">
                  <a:moveTo>
                    <a:pt x="0" y="0"/>
                  </a:moveTo>
                  <a:lnTo>
                    <a:pt x="0" y="18059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2963417" y="3302508"/>
              <a:ext cx="64769" cy="68580"/>
            </a:xfrm>
            <a:custGeom>
              <a:avLst/>
              <a:gdLst/>
              <a:ahLst/>
              <a:cxnLst/>
              <a:rect l="l" t="t" r="r" b="b"/>
              <a:pathLst>
                <a:path w="64769" h="68579">
                  <a:moveTo>
                    <a:pt x="64769" y="34289"/>
                  </a:moveTo>
                  <a:lnTo>
                    <a:pt x="62222" y="20895"/>
                  </a:lnTo>
                  <a:lnTo>
                    <a:pt x="55244" y="10001"/>
                  </a:lnTo>
                  <a:lnTo>
                    <a:pt x="44838" y="2678"/>
                  </a:lnTo>
                  <a:lnTo>
                    <a:pt x="32003" y="0"/>
                  </a:lnTo>
                  <a:lnTo>
                    <a:pt x="19609" y="2678"/>
                  </a:lnTo>
                  <a:lnTo>
                    <a:pt x="9429" y="10001"/>
                  </a:lnTo>
                  <a:lnTo>
                    <a:pt x="2536" y="20895"/>
                  </a:lnTo>
                  <a:lnTo>
                    <a:pt x="0" y="34289"/>
                  </a:lnTo>
                  <a:lnTo>
                    <a:pt x="2536" y="47684"/>
                  </a:lnTo>
                  <a:lnTo>
                    <a:pt x="9429" y="58578"/>
                  </a:lnTo>
                  <a:lnTo>
                    <a:pt x="19609" y="65901"/>
                  </a:lnTo>
                  <a:lnTo>
                    <a:pt x="32003" y="68579"/>
                  </a:lnTo>
                  <a:lnTo>
                    <a:pt x="44838" y="65901"/>
                  </a:lnTo>
                  <a:lnTo>
                    <a:pt x="55244" y="58578"/>
                  </a:lnTo>
                  <a:lnTo>
                    <a:pt x="62222" y="47684"/>
                  </a:lnTo>
                  <a:lnTo>
                    <a:pt x="64769" y="342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2963417" y="3302508"/>
              <a:ext cx="64769" cy="68580"/>
            </a:xfrm>
            <a:custGeom>
              <a:avLst/>
              <a:gdLst/>
              <a:ahLst/>
              <a:cxnLst/>
              <a:rect l="l" t="t" r="r" b="b"/>
              <a:pathLst>
                <a:path w="64769" h="68579">
                  <a:moveTo>
                    <a:pt x="64769" y="34289"/>
                  </a:moveTo>
                  <a:lnTo>
                    <a:pt x="62222" y="20895"/>
                  </a:lnTo>
                  <a:lnTo>
                    <a:pt x="55244" y="10001"/>
                  </a:lnTo>
                  <a:lnTo>
                    <a:pt x="44838" y="2678"/>
                  </a:lnTo>
                  <a:lnTo>
                    <a:pt x="32003" y="0"/>
                  </a:lnTo>
                  <a:lnTo>
                    <a:pt x="19609" y="2678"/>
                  </a:lnTo>
                  <a:lnTo>
                    <a:pt x="9429" y="10001"/>
                  </a:lnTo>
                  <a:lnTo>
                    <a:pt x="2536" y="20895"/>
                  </a:lnTo>
                  <a:lnTo>
                    <a:pt x="0" y="34289"/>
                  </a:lnTo>
                  <a:lnTo>
                    <a:pt x="2536" y="47684"/>
                  </a:lnTo>
                  <a:lnTo>
                    <a:pt x="9429" y="58578"/>
                  </a:lnTo>
                  <a:lnTo>
                    <a:pt x="19609" y="65901"/>
                  </a:lnTo>
                  <a:lnTo>
                    <a:pt x="32003" y="68579"/>
                  </a:lnTo>
                  <a:lnTo>
                    <a:pt x="44838" y="65901"/>
                  </a:lnTo>
                  <a:lnTo>
                    <a:pt x="55244" y="58578"/>
                  </a:lnTo>
                  <a:lnTo>
                    <a:pt x="62222" y="47684"/>
                  </a:lnTo>
                  <a:lnTo>
                    <a:pt x="64769" y="3428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2999994" y="3782568"/>
              <a:ext cx="0" cy="180975"/>
            </a:xfrm>
            <a:custGeom>
              <a:avLst/>
              <a:gdLst/>
              <a:ahLst/>
              <a:cxnLst/>
              <a:rect l="l" t="t" r="r" b="b"/>
              <a:pathLst>
                <a:path h="180975">
                  <a:moveTo>
                    <a:pt x="0" y="180593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2951988" y="3963162"/>
              <a:ext cx="105410" cy="0"/>
            </a:xfrm>
            <a:custGeom>
              <a:avLst/>
              <a:gdLst/>
              <a:ahLst/>
              <a:cxnLst/>
              <a:rect l="l" t="t" r="r" b="b"/>
              <a:pathLst>
                <a:path w="105410">
                  <a:moveTo>
                    <a:pt x="0" y="0"/>
                  </a:moveTo>
                  <a:lnTo>
                    <a:pt x="105155" y="0"/>
                  </a:lnTo>
                </a:path>
              </a:pathLst>
            </a:custGeom>
            <a:ln w="38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0" name="object 130"/>
          <p:cNvSpPr txBox="1"/>
          <p:nvPr/>
        </p:nvSpPr>
        <p:spPr>
          <a:xfrm>
            <a:off x="985266" y="2796794"/>
            <a:ext cx="4794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13888" dirty="0">
                <a:latin typeface="Verdana"/>
                <a:cs typeface="Verdana"/>
              </a:rPr>
              <a:t>V</a:t>
            </a:r>
            <a:r>
              <a:rPr sz="1200" dirty="0">
                <a:latin typeface="Verdana"/>
                <a:cs typeface="Verdana"/>
              </a:rPr>
              <a:t>IN-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4852415" y="2659634"/>
            <a:ext cx="556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13888" dirty="0">
                <a:latin typeface="Verdana"/>
                <a:cs typeface="Verdana"/>
              </a:rPr>
              <a:t>V</a:t>
            </a:r>
            <a:r>
              <a:rPr sz="1200" spc="-20" dirty="0">
                <a:latin typeface="Verdana"/>
                <a:cs typeface="Verdana"/>
              </a:rPr>
              <a:t>OUT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3061716" y="3644138"/>
            <a:ext cx="45148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C</a:t>
            </a:r>
            <a:r>
              <a:rPr sz="1200" spc="-25" dirty="0">
                <a:latin typeface="Verdana"/>
                <a:cs typeface="Verdana"/>
              </a:rPr>
              <a:t>EQ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3061716" y="2787650"/>
            <a:ext cx="534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13888" dirty="0">
                <a:latin typeface="Verdana"/>
                <a:cs typeface="Verdana"/>
              </a:rPr>
              <a:t>V</a:t>
            </a:r>
            <a:r>
              <a:rPr sz="1200" spc="-20" dirty="0">
                <a:latin typeface="Verdana"/>
                <a:cs typeface="Verdana"/>
              </a:rPr>
              <a:t>IN+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4142232" y="3459734"/>
            <a:ext cx="437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C</a:t>
            </a:r>
            <a:r>
              <a:rPr sz="1200" spc="-25" dirty="0">
                <a:latin typeface="Verdana"/>
                <a:cs typeface="Verdana"/>
              </a:rPr>
              <a:t>LD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4664202" y="3470402"/>
            <a:ext cx="437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R</a:t>
            </a:r>
            <a:r>
              <a:rPr sz="1200" spc="-25" dirty="0">
                <a:latin typeface="Verdana"/>
                <a:cs typeface="Verdana"/>
              </a:rPr>
              <a:t>LD</a:t>
            </a:r>
            <a:endParaRPr sz="1200">
              <a:latin typeface="Verdana"/>
              <a:cs typeface="Verdana"/>
            </a:endParaRPr>
          </a:p>
        </p:txBody>
      </p:sp>
      <p:pic>
        <p:nvPicPr>
          <p:cNvPr id="136" name="object 13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54202" y="4559046"/>
            <a:ext cx="3895344" cy="1294638"/>
          </a:xfrm>
          <a:prstGeom prst="rect">
            <a:avLst/>
          </a:prstGeom>
        </p:spPr>
      </p:pic>
      <p:sp>
        <p:nvSpPr>
          <p:cNvPr id="137" name="object 137"/>
          <p:cNvSpPr txBox="1"/>
          <p:nvPr/>
        </p:nvSpPr>
        <p:spPr>
          <a:xfrm>
            <a:off x="1349502" y="4912105"/>
            <a:ext cx="791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13888" dirty="0">
                <a:latin typeface="Verdana"/>
                <a:cs typeface="Verdana"/>
              </a:rPr>
              <a:t>R</a:t>
            </a:r>
            <a:r>
              <a:rPr sz="1200" dirty="0">
                <a:latin typeface="Verdana"/>
                <a:cs typeface="Verdana"/>
              </a:rPr>
              <a:t>IN</a:t>
            </a:r>
            <a:r>
              <a:rPr sz="1200" spc="-95" dirty="0">
                <a:latin typeface="Verdana"/>
                <a:cs typeface="Verdana"/>
              </a:rPr>
              <a:t> </a:t>
            </a:r>
            <a:r>
              <a:rPr sz="2700" spc="-37" baseline="13888" dirty="0">
                <a:latin typeface="Verdana"/>
                <a:cs typeface="Verdana"/>
              </a:rPr>
              <a:t>C</a:t>
            </a:r>
            <a:r>
              <a:rPr sz="1200" spc="-25" dirty="0">
                <a:latin typeface="Verdana"/>
                <a:cs typeface="Verdana"/>
              </a:rPr>
              <a:t>IN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45" name="object 14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7660FF6A-DBE8-43D5-A2E9-BE42D15E7AB2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147" name="object 14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138" name="object 138"/>
          <p:cNvSpPr txBox="1"/>
          <p:nvPr/>
        </p:nvSpPr>
        <p:spPr>
          <a:xfrm>
            <a:off x="2819400" y="4928870"/>
            <a:ext cx="859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15" baseline="13888" dirty="0">
                <a:latin typeface="Verdana"/>
                <a:cs typeface="Verdana"/>
              </a:rPr>
              <a:t>R</a:t>
            </a:r>
            <a:r>
              <a:rPr sz="1200" spc="-10" dirty="0">
                <a:latin typeface="Verdana"/>
                <a:cs typeface="Verdana"/>
              </a:rPr>
              <a:t>EQ</a:t>
            </a:r>
            <a:r>
              <a:rPr sz="1200" spc="-160" dirty="0">
                <a:latin typeface="Verdana"/>
                <a:cs typeface="Verdana"/>
              </a:rPr>
              <a:t> </a:t>
            </a:r>
            <a:r>
              <a:rPr sz="2700" spc="-37" baseline="13888" dirty="0">
                <a:latin typeface="Verdana"/>
                <a:cs typeface="Verdana"/>
              </a:rPr>
              <a:t>C</a:t>
            </a:r>
            <a:r>
              <a:rPr sz="1200" spc="-25" dirty="0">
                <a:latin typeface="Verdana"/>
                <a:cs typeface="Verdana"/>
              </a:rPr>
              <a:t>EQ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1981961" y="5710682"/>
            <a:ext cx="4832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gm</a:t>
            </a:r>
            <a:r>
              <a:rPr sz="1800" spc="-37" baseline="-20833" dirty="0">
                <a:latin typeface="Verdana"/>
                <a:cs typeface="Verdana"/>
              </a:rPr>
              <a:t>i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3449573" y="5710682"/>
            <a:ext cx="534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gm</a:t>
            </a:r>
            <a:r>
              <a:rPr sz="1800" spc="-37" baseline="-20833" dirty="0">
                <a:latin typeface="Verdana"/>
                <a:cs typeface="Verdana"/>
              </a:rPr>
              <a:t>o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748537" y="5061458"/>
            <a:ext cx="182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V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904747" y="5194046"/>
            <a:ext cx="2019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Verdana"/>
                <a:cs typeface="Verdana"/>
              </a:rPr>
              <a:t>IN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4018788" y="4677410"/>
            <a:ext cx="1292225" cy="53467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8100" marR="30480" indent="735330">
              <a:lnSpc>
                <a:spcPts val="1850"/>
              </a:lnSpc>
              <a:spcBef>
                <a:spcPts val="420"/>
              </a:spcBef>
            </a:pPr>
            <a:r>
              <a:rPr sz="2700" spc="-30" baseline="13888" dirty="0">
                <a:latin typeface="Verdana"/>
                <a:cs typeface="Verdana"/>
              </a:rPr>
              <a:t>V</a:t>
            </a:r>
            <a:r>
              <a:rPr sz="1200" spc="-20" dirty="0">
                <a:latin typeface="Verdana"/>
                <a:cs typeface="Verdana"/>
              </a:rPr>
              <a:t>OUT </a:t>
            </a:r>
            <a:r>
              <a:rPr sz="2700" baseline="13888" dirty="0">
                <a:latin typeface="Verdana"/>
                <a:cs typeface="Verdana"/>
              </a:rPr>
              <a:t>R</a:t>
            </a:r>
            <a:r>
              <a:rPr sz="1200" dirty="0">
                <a:latin typeface="Verdana"/>
                <a:cs typeface="Verdana"/>
              </a:rPr>
              <a:t>LD</a:t>
            </a:r>
            <a:r>
              <a:rPr sz="1200" spc="-100" dirty="0">
                <a:latin typeface="Verdana"/>
                <a:cs typeface="Verdana"/>
              </a:rPr>
              <a:t> </a:t>
            </a:r>
            <a:r>
              <a:rPr sz="2700" spc="-37" baseline="13888" dirty="0">
                <a:latin typeface="Verdana"/>
                <a:cs typeface="Verdana"/>
              </a:rPr>
              <a:t>C</a:t>
            </a:r>
            <a:r>
              <a:rPr sz="1200" spc="-25" dirty="0">
                <a:latin typeface="Verdana"/>
                <a:cs typeface="Verdana"/>
              </a:rPr>
              <a:t>LD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10399776" y="4131055"/>
            <a:ext cx="885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475869"/>
                </a:solidFill>
                <a:latin typeface="Symbol"/>
                <a:cs typeface="Symbol"/>
              </a:rPr>
              <a:t></a:t>
            </a:r>
            <a:r>
              <a:rPr sz="1800" spc="-15" baseline="-20833" dirty="0">
                <a:solidFill>
                  <a:srgbClr val="475869"/>
                </a:solidFill>
                <a:latin typeface="Verdana"/>
                <a:cs typeface="Verdana"/>
              </a:rPr>
              <a:t>M</a:t>
            </a:r>
            <a:r>
              <a:rPr sz="1800" spc="-10" dirty="0">
                <a:solidFill>
                  <a:srgbClr val="475869"/>
                </a:solidFill>
                <a:latin typeface="Verdana"/>
                <a:cs typeface="Verdana"/>
              </a:rPr>
              <a:t>=0</a:t>
            </a:r>
            <a:r>
              <a:rPr sz="1800" spc="-10" dirty="0">
                <a:solidFill>
                  <a:srgbClr val="475869"/>
                </a:solidFill>
                <a:latin typeface="MS PGothic"/>
                <a:cs typeface="MS PGothic"/>
              </a:rPr>
              <a:t>°</a:t>
            </a:r>
            <a:endParaRPr sz="1800">
              <a:latin typeface="MS PGothic"/>
              <a:cs typeface="MS PGothic"/>
            </a:endParaRPr>
          </a:p>
        </p:txBody>
      </p:sp>
      <p:sp>
        <p:nvSpPr>
          <p:cNvPr id="149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69814" y="1329689"/>
            <a:ext cx="6297167" cy="472211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dirty="0"/>
              <a:t>Two</a:t>
            </a:r>
            <a:r>
              <a:rPr spc="-75" dirty="0"/>
              <a:t> </a:t>
            </a:r>
            <a:r>
              <a:rPr dirty="0"/>
              <a:t>stage</a:t>
            </a:r>
            <a:r>
              <a:rPr spc="-90" dirty="0"/>
              <a:t> </a:t>
            </a:r>
            <a:r>
              <a:rPr dirty="0"/>
              <a:t>amplifier:</a:t>
            </a:r>
            <a:r>
              <a:rPr spc="-55" dirty="0"/>
              <a:t> </a:t>
            </a:r>
            <a:r>
              <a:rPr dirty="0"/>
              <a:t>Shunt</a:t>
            </a:r>
            <a:r>
              <a:rPr spc="-90" dirty="0"/>
              <a:t> </a:t>
            </a:r>
            <a:r>
              <a:rPr spc="-10" dirty="0"/>
              <a:t>compensation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383523" y="1810765"/>
            <a:ext cx="951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</a:t>
            </a:r>
            <a:r>
              <a:rPr sz="1800" spc="-15" baseline="-20833" dirty="0">
                <a:latin typeface="Verdana"/>
                <a:cs typeface="Verdana"/>
              </a:rPr>
              <a:t>C</a:t>
            </a:r>
            <a:r>
              <a:rPr sz="1800" spc="-10" dirty="0">
                <a:latin typeface="Verdana"/>
                <a:cs typeface="Verdana"/>
              </a:rPr>
              <a:t>=5nF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73810" y="1795518"/>
            <a:ext cx="949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</a:t>
            </a:r>
            <a:r>
              <a:rPr sz="1800" spc="-15" baseline="-20833" dirty="0">
                <a:latin typeface="Verdana"/>
                <a:cs typeface="Verdana"/>
              </a:rPr>
              <a:t>C</a:t>
            </a:r>
            <a:r>
              <a:rPr sz="1800" spc="-10" dirty="0">
                <a:latin typeface="Verdana"/>
                <a:cs typeface="Verdana"/>
              </a:rPr>
              <a:t>=1pF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510521" y="2484120"/>
            <a:ext cx="1134745" cy="2315845"/>
            <a:chOff x="9510521" y="2484120"/>
            <a:chExt cx="1134745" cy="2315845"/>
          </a:xfrm>
        </p:grpSpPr>
        <p:sp>
          <p:nvSpPr>
            <p:cNvPr id="7" name="object 7"/>
            <p:cNvSpPr/>
            <p:nvPr/>
          </p:nvSpPr>
          <p:spPr>
            <a:xfrm>
              <a:off x="9515475" y="2484120"/>
              <a:ext cx="0" cy="2276475"/>
            </a:xfrm>
            <a:custGeom>
              <a:avLst/>
              <a:gdLst/>
              <a:ahLst/>
              <a:cxnLst/>
              <a:rect l="l" t="t" r="r" b="b"/>
              <a:pathLst>
                <a:path h="2276475">
                  <a:moveTo>
                    <a:pt x="0" y="0"/>
                  </a:moveTo>
                  <a:lnTo>
                    <a:pt x="0" y="2276094"/>
                  </a:lnTo>
                </a:path>
              </a:pathLst>
            </a:custGeom>
            <a:ln w="9906">
              <a:solidFill>
                <a:srgbClr val="7E7E7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510522" y="2484119"/>
              <a:ext cx="1134745" cy="2315845"/>
            </a:xfrm>
            <a:custGeom>
              <a:avLst/>
              <a:gdLst/>
              <a:ahLst/>
              <a:cxnLst/>
              <a:rect l="l" t="t" r="r" b="b"/>
              <a:pathLst>
                <a:path w="1134745" h="2315845">
                  <a:moveTo>
                    <a:pt x="9906" y="2304288"/>
                  </a:moveTo>
                  <a:lnTo>
                    <a:pt x="0" y="2304288"/>
                  </a:lnTo>
                  <a:lnTo>
                    <a:pt x="0" y="2315718"/>
                  </a:lnTo>
                  <a:lnTo>
                    <a:pt x="9906" y="2315718"/>
                  </a:lnTo>
                  <a:lnTo>
                    <a:pt x="9906" y="2304288"/>
                  </a:lnTo>
                  <a:close/>
                </a:path>
                <a:path w="1134745" h="2315845">
                  <a:moveTo>
                    <a:pt x="1134605" y="0"/>
                  </a:moveTo>
                  <a:lnTo>
                    <a:pt x="1125474" y="0"/>
                  </a:lnTo>
                  <a:lnTo>
                    <a:pt x="1125474" y="76200"/>
                  </a:lnTo>
                  <a:lnTo>
                    <a:pt x="1134605" y="76200"/>
                  </a:lnTo>
                  <a:lnTo>
                    <a:pt x="1134605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640567" y="2588514"/>
              <a:ext cx="0" cy="2171700"/>
            </a:xfrm>
            <a:custGeom>
              <a:avLst/>
              <a:gdLst/>
              <a:ahLst/>
              <a:cxnLst/>
              <a:rect l="l" t="t" r="r" b="b"/>
              <a:pathLst>
                <a:path h="2171700">
                  <a:moveTo>
                    <a:pt x="0" y="0"/>
                  </a:moveTo>
                  <a:lnTo>
                    <a:pt x="0" y="2171700"/>
                  </a:lnTo>
                </a:path>
              </a:pathLst>
            </a:custGeom>
            <a:ln w="9143">
              <a:solidFill>
                <a:srgbClr val="7E7E7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635995" y="4788408"/>
              <a:ext cx="9525" cy="11430"/>
            </a:xfrm>
            <a:custGeom>
              <a:avLst/>
              <a:gdLst/>
              <a:ahLst/>
              <a:cxnLst/>
              <a:rect l="l" t="t" r="r" b="b"/>
              <a:pathLst>
                <a:path w="9525" h="11429">
                  <a:moveTo>
                    <a:pt x="9143" y="11429"/>
                  </a:moveTo>
                  <a:lnTo>
                    <a:pt x="9143" y="0"/>
                  </a:lnTo>
                  <a:lnTo>
                    <a:pt x="0" y="0"/>
                  </a:lnTo>
                  <a:lnTo>
                    <a:pt x="0" y="11429"/>
                  </a:lnTo>
                  <a:lnTo>
                    <a:pt x="9143" y="11429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458722" y="5230621"/>
            <a:ext cx="26708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Verdana"/>
                <a:cs typeface="Verdana"/>
              </a:rPr>
              <a:t>Not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practical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for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ICs.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3053" y="2034539"/>
            <a:ext cx="4142994" cy="253365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066800" y="3301238"/>
            <a:ext cx="4794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13888" dirty="0">
                <a:latin typeface="Verdana"/>
                <a:cs typeface="Verdana"/>
              </a:rPr>
              <a:t>V</a:t>
            </a:r>
            <a:r>
              <a:rPr sz="1200" dirty="0">
                <a:latin typeface="Verdana"/>
                <a:cs typeface="Verdana"/>
              </a:rPr>
              <a:t>IN-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5862FF9-86B5-4DA7-96E0-D40CC5CC910D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sp>
        <p:nvSpPr>
          <p:cNvPr id="14" name="object 14"/>
          <p:cNvSpPr txBox="1"/>
          <p:nvPr/>
        </p:nvSpPr>
        <p:spPr>
          <a:xfrm>
            <a:off x="3168650" y="4092194"/>
            <a:ext cx="185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006FC0"/>
                </a:solidFill>
                <a:latin typeface="Verdana"/>
                <a:cs typeface="Verdana"/>
              </a:rPr>
              <a:t>C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27908" y="4224782"/>
            <a:ext cx="1320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6FC0"/>
                </a:solidFill>
                <a:latin typeface="Verdana"/>
                <a:cs typeface="Verdana"/>
              </a:rPr>
              <a:t>C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43250" y="3292094"/>
            <a:ext cx="534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13888" dirty="0">
                <a:latin typeface="Verdana"/>
                <a:cs typeface="Verdana"/>
              </a:rPr>
              <a:t>V</a:t>
            </a:r>
            <a:r>
              <a:rPr sz="1200" spc="-20" dirty="0">
                <a:latin typeface="Verdana"/>
                <a:cs typeface="Verdana"/>
              </a:rPr>
              <a:t>IN+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10303" y="3974846"/>
            <a:ext cx="98551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573405" algn="l"/>
              </a:tabLst>
            </a:pPr>
            <a:r>
              <a:rPr sz="2700" spc="-37" baseline="16975" dirty="0">
                <a:latin typeface="Verdana"/>
                <a:cs typeface="Verdana"/>
              </a:rPr>
              <a:t>C</a:t>
            </a:r>
            <a:r>
              <a:rPr sz="1800" spc="-37" baseline="4629" dirty="0">
                <a:latin typeface="Verdana"/>
                <a:cs typeface="Verdana"/>
              </a:rPr>
              <a:t>LD</a:t>
            </a:r>
            <a:r>
              <a:rPr sz="1800" baseline="4629" dirty="0">
                <a:latin typeface="Verdana"/>
                <a:cs typeface="Verdana"/>
              </a:rPr>
              <a:t>	</a:t>
            </a:r>
            <a:r>
              <a:rPr sz="2700" spc="-37" baseline="13888" dirty="0">
                <a:latin typeface="Verdana"/>
                <a:cs typeface="Verdana"/>
              </a:rPr>
              <a:t>R</a:t>
            </a:r>
            <a:r>
              <a:rPr sz="1200" spc="-25" dirty="0">
                <a:latin typeface="Verdana"/>
                <a:cs typeface="Verdana"/>
              </a:rPr>
              <a:t>LD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64202" y="2977388"/>
            <a:ext cx="556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13888" dirty="0">
                <a:latin typeface="Verdana"/>
                <a:cs typeface="Verdana"/>
              </a:rPr>
              <a:t>V</a:t>
            </a:r>
            <a:r>
              <a:rPr sz="1200" spc="-20" dirty="0">
                <a:latin typeface="Verdana"/>
                <a:cs typeface="Verdana"/>
              </a:rPr>
              <a:t>OUT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666986" y="4405376"/>
            <a:ext cx="1031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Symbol"/>
                <a:cs typeface="Symbol"/>
              </a:rPr>
              <a:t></a:t>
            </a:r>
            <a:r>
              <a:rPr sz="1800" spc="-15" baseline="-20833" dirty="0">
                <a:latin typeface="Verdana"/>
                <a:cs typeface="Verdana"/>
              </a:rPr>
              <a:t>M</a:t>
            </a:r>
            <a:r>
              <a:rPr sz="1800" spc="-10" dirty="0">
                <a:latin typeface="Verdana"/>
                <a:cs typeface="Verdana"/>
              </a:rPr>
              <a:t>=45</a:t>
            </a:r>
            <a:r>
              <a:rPr sz="1800" spc="-10" dirty="0">
                <a:latin typeface="MS PGothic"/>
                <a:cs typeface="MS PGothic"/>
              </a:rPr>
              <a:t>°</a:t>
            </a:r>
            <a:endParaRPr sz="1800">
              <a:latin typeface="MS PGothic"/>
              <a:cs typeface="MS P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648934" y="4405376"/>
            <a:ext cx="885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Symbol"/>
                <a:cs typeface="Symbol"/>
              </a:rPr>
              <a:t></a:t>
            </a:r>
            <a:r>
              <a:rPr sz="1800" spc="-15" baseline="-20833" dirty="0">
                <a:latin typeface="Verdana"/>
                <a:cs typeface="Verdana"/>
              </a:rPr>
              <a:t>M</a:t>
            </a:r>
            <a:r>
              <a:rPr sz="1800" spc="-10" dirty="0">
                <a:latin typeface="Verdana"/>
                <a:cs typeface="Verdana"/>
              </a:rPr>
              <a:t>=0</a:t>
            </a:r>
            <a:r>
              <a:rPr sz="1800" spc="-10" dirty="0">
                <a:latin typeface="MS PGothic"/>
                <a:cs typeface="MS PGothic"/>
              </a:rPr>
              <a:t>°</a:t>
            </a:r>
            <a:endParaRPr sz="1800">
              <a:latin typeface="MS PGothic"/>
              <a:cs typeface="MS PGothic"/>
            </a:endParaRPr>
          </a:p>
        </p:txBody>
      </p:sp>
      <p:sp>
        <p:nvSpPr>
          <p:cNvPr id="25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70126" y="5739638"/>
            <a:ext cx="287972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Verdana"/>
                <a:cs typeface="Verdana"/>
              </a:rPr>
              <a:t>Select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</a:t>
            </a:r>
            <a:r>
              <a:rPr sz="1950" baseline="-21367" dirty="0">
                <a:latin typeface="Verdana"/>
                <a:cs typeface="Verdana"/>
              </a:rPr>
              <a:t>C</a:t>
            </a:r>
            <a:r>
              <a:rPr sz="2000" dirty="0">
                <a:latin typeface="Wingdings"/>
                <a:cs typeface="Wingdings"/>
              </a:rPr>
              <a:t>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1950" baseline="-21367" dirty="0">
                <a:latin typeface="Verdana"/>
                <a:cs typeface="Verdana"/>
              </a:rPr>
              <a:t>C</a:t>
            </a:r>
            <a:r>
              <a:rPr sz="1950" spc="330" baseline="-21367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=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1950" spc="-15" baseline="-21367" dirty="0">
                <a:latin typeface="Verdana"/>
                <a:cs typeface="Verdana"/>
              </a:rPr>
              <a:t>LD</a:t>
            </a:r>
            <a:r>
              <a:rPr sz="2000" spc="-10" dirty="0">
                <a:latin typeface="Wingdings"/>
                <a:cs typeface="Wingdings"/>
              </a:rPr>
              <a:t></a:t>
            </a:r>
            <a:r>
              <a:rPr sz="2000" spc="-10" dirty="0">
                <a:latin typeface="Verdana"/>
                <a:cs typeface="Verdana"/>
              </a:rPr>
              <a:t>C</a:t>
            </a:r>
            <a:r>
              <a:rPr sz="1950" spc="-15" baseline="-21367" dirty="0">
                <a:latin typeface="Verdana"/>
                <a:cs typeface="Verdana"/>
              </a:rPr>
              <a:t>LD</a:t>
            </a:r>
            <a:endParaRPr sz="1950" baseline="-21367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28063" y="3404108"/>
            <a:ext cx="34607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Verdana"/>
                <a:cs typeface="Verdana"/>
              </a:rPr>
              <a:t>Original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poles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(w/o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comp):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06550" y="4050283"/>
            <a:ext cx="111760" cy="2038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50" dirty="0">
                <a:solidFill>
                  <a:srgbClr val="001F5F"/>
                </a:solidFill>
                <a:latin typeface="Cambria Math"/>
                <a:cs typeface="Cambria Math"/>
              </a:rPr>
              <a:t>1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04441" y="3954272"/>
            <a:ext cx="42989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4795" algn="l"/>
              </a:tabLst>
            </a:pPr>
            <a:r>
              <a:rPr sz="1600" spc="-50" dirty="0">
                <a:solidFill>
                  <a:srgbClr val="001F5F"/>
                </a:solidFill>
                <a:latin typeface="Cambria Math"/>
                <a:cs typeface="Cambria Math"/>
              </a:rPr>
              <a:t>𝑝</a:t>
            </a:r>
            <a:r>
              <a:rPr sz="1600" dirty="0">
                <a:solidFill>
                  <a:srgbClr val="001F5F"/>
                </a:solidFill>
                <a:latin typeface="Cambria Math"/>
                <a:cs typeface="Cambria Math"/>
              </a:rPr>
              <a:t>	</a:t>
            </a:r>
            <a:r>
              <a:rPr sz="1600" spc="-50" dirty="0">
                <a:solidFill>
                  <a:srgbClr val="001F5F"/>
                </a:solidFill>
                <a:latin typeface="Cambria Math"/>
                <a:cs typeface="Cambria Math"/>
              </a:rPr>
              <a:t>=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37486" y="3800338"/>
            <a:ext cx="13843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001F5F"/>
                </a:solidFill>
                <a:latin typeface="Cambria Math"/>
                <a:cs typeface="Cambria Math"/>
              </a:rPr>
              <a:t>1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40048" y="4131817"/>
            <a:ext cx="72263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15" baseline="10416" dirty="0">
                <a:solidFill>
                  <a:srgbClr val="001F5F"/>
                </a:solidFill>
                <a:latin typeface="Cambria Math"/>
                <a:cs typeface="Cambria Math"/>
              </a:rPr>
              <a:t>𝑅</a:t>
            </a:r>
            <a:r>
              <a:rPr sz="1150" spc="-10" dirty="0">
                <a:solidFill>
                  <a:srgbClr val="001F5F"/>
                </a:solidFill>
                <a:latin typeface="Cambria Math"/>
                <a:cs typeface="Cambria Math"/>
              </a:rPr>
              <a:t>𝐸Q</a:t>
            </a:r>
            <a:r>
              <a:rPr sz="2400" spc="-15" baseline="10416" dirty="0">
                <a:solidFill>
                  <a:srgbClr val="001F5F"/>
                </a:solidFill>
                <a:latin typeface="Cambria Math"/>
                <a:cs typeface="Cambria Math"/>
              </a:rPr>
              <a:t>𝐶</a:t>
            </a:r>
            <a:r>
              <a:rPr sz="1150" spc="-10" dirty="0">
                <a:solidFill>
                  <a:srgbClr val="001F5F"/>
                </a:solidFill>
                <a:latin typeface="Cambria Math"/>
                <a:cs typeface="Cambria Math"/>
              </a:rPr>
              <a:t>𝐸Q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978914" y="4106417"/>
            <a:ext cx="657860" cy="13335"/>
          </a:xfrm>
          <a:custGeom>
            <a:avLst/>
            <a:gdLst/>
            <a:ahLst/>
            <a:cxnLst/>
            <a:rect l="l" t="t" r="r" b="b"/>
            <a:pathLst>
              <a:path w="657860" h="13335">
                <a:moveTo>
                  <a:pt x="0" y="12953"/>
                </a:moveTo>
                <a:lnTo>
                  <a:pt x="0" y="0"/>
                </a:lnTo>
                <a:lnTo>
                  <a:pt x="657606" y="0"/>
                </a:lnTo>
                <a:lnTo>
                  <a:pt x="657606" y="12953"/>
                </a:lnTo>
                <a:lnTo>
                  <a:pt x="0" y="12953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519170" y="4063238"/>
            <a:ext cx="111760" cy="2038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50" dirty="0">
                <a:solidFill>
                  <a:srgbClr val="001F5F"/>
                </a:solidFill>
                <a:latin typeface="Cambria Math"/>
                <a:cs typeface="Cambria Math"/>
              </a:rPr>
              <a:t>2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11728" y="3967226"/>
            <a:ext cx="43434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9240" algn="l"/>
              </a:tabLst>
            </a:pPr>
            <a:r>
              <a:rPr sz="1600" spc="-50" dirty="0">
                <a:solidFill>
                  <a:srgbClr val="001F5F"/>
                </a:solidFill>
                <a:latin typeface="Cambria Math"/>
                <a:cs typeface="Cambria Math"/>
              </a:rPr>
              <a:t>𝑝</a:t>
            </a:r>
            <a:r>
              <a:rPr sz="1600" dirty="0">
                <a:solidFill>
                  <a:srgbClr val="001F5F"/>
                </a:solidFill>
                <a:latin typeface="Cambria Math"/>
                <a:cs typeface="Cambria Math"/>
              </a:rPr>
              <a:t>	</a:t>
            </a:r>
            <a:r>
              <a:rPr sz="1600" spc="-50" dirty="0">
                <a:solidFill>
                  <a:srgbClr val="001F5F"/>
                </a:solidFill>
                <a:latin typeface="Cambria Math"/>
                <a:cs typeface="Cambria Math"/>
              </a:rPr>
              <a:t>=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38683" y="3813292"/>
            <a:ext cx="13843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001F5F"/>
                </a:solidFill>
                <a:latin typeface="Cambria Math"/>
                <a:cs typeface="Cambria Math"/>
              </a:rPr>
              <a:t>1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52679" y="4144772"/>
            <a:ext cx="69850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15" baseline="10416" dirty="0">
                <a:solidFill>
                  <a:srgbClr val="001F5F"/>
                </a:solidFill>
                <a:latin typeface="Cambria Math"/>
                <a:cs typeface="Cambria Math"/>
              </a:rPr>
              <a:t>𝑅</a:t>
            </a:r>
            <a:r>
              <a:rPr sz="1150" spc="-10" dirty="0">
                <a:solidFill>
                  <a:srgbClr val="001F5F"/>
                </a:solidFill>
                <a:latin typeface="Cambria Math"/>
                <a:cs typeface="Cambria Math"/>
              </a:rPr>
              <a:t>𝐿𝐷</a:t>
            </a:r>
            <a:r>
              <a:rPr sz="2400" spc="-15" baseline="10416" dirty="0">
                <a:solidFill>
                  <a:srgbClr val="001F5F"/>
                </a:solidFill>
                <a:latin typeface="Cambria Math"/>
                <a:cs typeface="Cambria Math"/>
              </a:rPr>
              <a:t>𝐶</a:t>
            </a:r>
            <a:r>
              <a:rPr sz="1150" spc="-10" dirty="0">
                <a:solidFill>
                  <a:srgbClr val="001F5F"/>
                </a:solidFill>
                <a:latin typeface="Cambria Math"/>
                <a:cs typeface="Cambria Math"/>
              </a:rPr>
              <a:t>𝐿𝐷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890771" y="4120134"/>
            <a:ext cx="634365" cy="13335"/>
          </a:xfrm>
          <a:custGeom>
            <a:avLst/>
            <a:gdLst/>
            <a:ahLst/>
            <a:cxnLst/>
            <a:rect l="l" t="t" r="r" b="b"/>
            <a:pathLst>
              <a:path w="634364" h="13335">
                <a:moveTo>
                  <a:pt x="0" y="12953"/>
                </a:moveTo>
                <a:lnTo>
                  <a:pt x="0" y="0"/>
                </a:lnTo>
                <a:lnTo>
                  <a:pt x="633984" y="0"/>
                </a:lnTo>
                <a:lnTo>
                  <a:pt x="633984" y="12953"/>
                </a:lnTo>
                <a:lnTo>
                  <a:pt x="0" y="12953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560830" y="4492244"/>
            <a:ext cx="3427729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Verdana"/>
                <a:cs typeface="Verdana"/>
              </a:rPr>
              <a:t>Compensated</a:t>
            </a:r>
            <a:r>
              <a:rPr sz="2000" spc="-17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poles/zeros: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5741" y="5199379"/>
            <a:ext cx="111760" cy="2038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50" dirty="0">
                <a:solidFill>
                  <a:srgbClr val="001F5F"/>
                </a:solidFill>
                <a:latin typeface="Cambria Math"/>
                <a:cs typeface="Cambria Math"/>
              </a:rPr>
              <a:t>1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2872" y="5103367"/>
            <a:ext cx="42989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4795" algn="l"/>
              </a:tabLst>
            </a:pPr>
            <a:r>
              <a:rPr sz="1600" spc="-50" dirty="0">
                <a:solidFill>
                  <a:srgbClr val="001F5F"/>
                </a:solidFill>
                <a:latin typeface="Cambria Math"/>
                <a:cs typeface="Cambria Math"/>
              </a:rPr>
              <a:t>𝑝</a:t>
            </a:r>
            <a:r>
              <a:rPr sz="1600" dirty="0">
                <a:solidFill>
                  <a:srgbClr val="001F5F"/>
                </a:solidFill>
                <a:latin typeface="Cambria Math"/>
                <a:cs typeface="Cambria Math"/>
              </a:rPr>
              <a:t>	</a:t>
            </a:r>
            <a:r>
              <a:rPr sz="1600" spc="-50" dirty="0">
                <a:solidFill>
                  <a:srgbClr val="001F5F"/>
                </a:solidFill>
                <a:latin typeface="Cambria Math"/>
                <a:cs typeface="Cambria Math"/>
              </a:rPr>
              <a:t>=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08478" y="4862100"/>
            <a:ext cx="613410" cy="68897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4604" algn="ctr">
              <a:lnSpc>
                <a:spcPct val="100000"/>
              </a:lnSpc>
              <a:spcBef>
                <a:spcPts val="790"/>
              </a:spcBef>
            </a:pPr>
            <a:r>
              <a:rPr sz="1600" spc="-50" dirty="0">
                <a:solidFill>
                  <a:srgbClr val="001F5F"/>
                </a:solidFill>
                <a:latin typeface="Cambria Math"/>
                <a:cs typeface="Cambria Math"/>
              </a:rPr>
              <a:t>1</a:t>
            </a:r>
            <a:endParaRPr sz="16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690"/>
              </a:spcBef>
            </a:pPr>
            <a:r>
              <a:rPr sz="2400" spc="-15" baseline="10416" dirty="0">
                <a:solidFill>
                  <a:srgbClr val="001F5F"/>
                </a:solidFill>
                <a:latin typeface="Cambria Math"/>
                <a:cs typeface="Cambria Math"/>
              </a:rPr>
              <a:t>𝑅</a:t>
            </a:r>
            <a:r>
              <a:rPr sz="1150" spc="-10" dirty="0">
                <a:solidFill>
                  <a:srgbClr val="001F5F"/>
                </a:solidFill>
                <a:latin typeface="Cambria Math"/>
                <a:cs typeface="Cambria Math"/>
              </a:rPr>
              <a:t>𝐸Q</a:t>
            </a:r>
            <a:r>
              <a:rPr sz="2400" spc="-15" baseline="10416" dirty="0">
                <a:solidFill>
                  <a:srgbClr val="001F5F"/>
                </a:solidFill>
                <a:latin typeface="Cambria Math"/>
                <a:cs typeface="Cambria Math"/>
              </a:rPr>
              <a:t>𝐶</a:t>
            </a:r>
            <a:r>
              <a:rPr sz="1150" spc="-10" dirty="0">
                <a:solidFill>
                  <a:srgbClr val="001F5F"/>
                </a:solidFill>
                <a:latin typeface="Cambria Math"/>
                <a:cs typeface="Cambria Math"/>
              </a:rPr>
              <a:t>𝐶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46582" y="5255514"/>
            <a:ext cx="551815" cy="13335"/>
          </a:xfrm>
          <a:custGeom>
            <a:avLst/>
            <a:gdLst/>
            <a:ahLst/>
            <a:cxnLst/>
            <a:rect l="l" t="t" r="r" b="b"/>
            <a:pathLst>
              <a:path w="551815" h="13335">
                <a:moveTo>
                  <a:pt x="0" y="12953"/>
                </a:moveTo>
                <a:lnTo>
                  <a:pt x="0" y="0"/>
                </a:lnTo>
                <a:lnTo>
                  <a:pt x="551688" y="0"/>
                </a:lnTo>
                <a:lnTo>
                  <a:pt x="551688" y="12953"/>
                </a:lnTo>
                <a:lnTo>
                  <a:pt x="0" y="12953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890776" y="5199379"/>
            <a:ext cx="111760" cy="2038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50" dirty="0">
                <a:solidFill>
                  <a:srgbClr val="001F5F"/>
                </a:solidFill>
                <a:latin typeface="Cambria Math"/>
                <a:cs typeface="Cambria Math"/>
              </a:rPr>
              <a:t>2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783333" y="5103367"/>
            <a:ext cx="43434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9240" algn="l"/>
              </a:tabLst>
            </a:pPr>
            <a:r>
              <a:rPr sz="1600" spc="-50" dirty="0">
                <a:solidFill>
                  <a:srgbClr val="001F5F"/>
                </a:solidFill>
                <a:latin typeface="Cambria Math"/>
                <a:cs typeface="Cambria Math"/>
              </a:rPr>
              <a:t>𝑝</a:t>
            </a:r>
            <a:r>
              <a:rPr sz="1600" dirty="0">
                <a:solidFill>
                  <a:srgbClr val="001F5F"/>
                </a:solidFill>
                <a:latin typeface="Cambria Math"/>
                <a:cs typeface="Cambria Math"/>
              </a:rPr>
              <a:t>	</a:t>
            </a:r>
            <a:r>
              <a:rPr sz="1600" spc="-50" dirty="0">
                <a:solidFill>
                  <a:srgbClr val="001F5F"/>
                </a:solidFill>
                <a:latin typeface="Cambria Math"/>
                <a:cs typeface="Cambria Math"/>
              </a:rPr>
              <a:t>=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223512" y="4862100"/>
            <a:ext cx="617220" cy="68897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0795" algn="ctr">
              <a:lnSpc>
                <a:spcPct val="100000"/>
              </a:lnSpc>
              <a:spcBef>
                <a:spcPts val="790"/>
              </a:spcBef>
            </a:pPr>
            <a:r>
              <a:rPr sz="1600" spc="-50" dirty="0">
                <a:solidFill>
                  <a:srgbClr val="001F5F"/>
                </a:solidFill>
                <a:latin typeface="Cambria Math"/>
                <a:cs typeface="Cambria Math"/>
              </a:rPr>
              <a:t>1</a:t>
            </a:r>
            <a:endParaRPr sz="16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690"/>
              </a:spcBef>
            </a:pPr>
            <a:r>
              <a:rPr sz="2400" spc="-15" baseline="10416" dirty="0">
                <a:solidFill>
                  <a:srgbClr val="001F5F"/>
                </a:solidFill>
                <a:latin typeface="Cambria Math"/>
                <a:cs typeface="Cambria Math"/>
              </a:rPr>
              <a:t>𝑅</a:t>
            </a:r>
            <a:r>
              <a:rPr sz="1150" spc="-10" dirty="0">
                <a:solidFill>
                  <a:srgbClr val="001F5F"/>
                </a:solidFill>
                <a:latin typeface="Cambria Math"/>
                <a:cs typeface="Cambria Math"/>
              </a:rPr>
              <a:t>𝐶</a:t>
            </a:r>
            <a:r>
              <a:rPr sz="2400" spc="-15" baseline="10416" dirty="0">
                <a:solidFill>
                  <a:srgbClr val="001F5F"/>
                </a:solidFill>
                <a:latin typeface="Cambria Math"/>
                <a:cs typeface="Cambria Math"/>
              </a:rPr>
              <a:t>𝐶</a:t>
            </a:r>
            <a:r>
              <a:rPr sz="1150" spc="-10" dirty="0">
                <a:solidFill>
                  <a:srgbClr val="001F5F"/>
                </a:solidFill>
                <a:latin typeface="Cambria Math"/>
                <a:cs typeface="Cambria Math"/>
              </a:rPr>
              <a:t>𝐸Q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262377" y="5255514"/>
            <a:ext cx="551815" cy="13335"/>
          </a:xfrm>
          <a:custGeom>
            <a:avLst/>
            <a:gdLst/>
            <a:ahLst/>
            <a:cxnLst/>
            <a:rect l="l" t="t" r="r" b="b"/>
            <a:pathLst>
              <a:path w="551814" h="13335">
                <a:moveTo>
                  <a:pt x="0" y="12953"/>
                </a:moveTo>
                <a:lnTo>
                  <a:pt x="0" y="0"/>
                </a:lnTo>
                <a:lnTo>
                  <a:pt x="551688" y="0"/>
                </a:lnTo>
                <a:lnTo>
                  <a:pt x="551688" y="12953"/>
                </a:lnTo>
                <a:lnTo>
                  <a:pt x="0" y="12953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288284" y="5199379"/>
            <a:ext cx="111760" cy="2038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50" dirty="0">
                <a:solidFill>
                  <a:srgbClr val="001F5F"/>
                </a:solidFill>
                <a:latin typeface="Cambria Math"/>
                <a:cs typeface="Cambria Math"/>
              </a:rPr>
              <a:t>1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199892" y="5103367"/>
            <a:ext cx="41719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1460" algn="l"/>
              </a:tabLst>
            </a:pPr>
            <a:r>
              <a:rPr sz="1600" spc="-50" dirty="0">
                <a:solidFill>
                  <a:srgbClr val="001F5F"/>
                </a:solidFill>
                <a:latin typeface="Cambria Math"/>
                <a:cs typeface="Cambria Math"/>
              </a:rPr>
              <a:t>𝑧</a:t>
            </a:r>
            <a:r>
              <a:rPr sz="1600" dirty="0">
                <a:solidFill>
                  <a:srgbClr val="001F5F"/>
                </a:solidFill>
                <a:latin typeface="Cambria Math"/>
                <a:cs typeface="Cambria Math"/>
              </a:rPr>
              <a:t>	</a:t>
            </a:r>
            <a:r>
              <a:rPr sz="1600" spc="-50" dirty="0">
                <a:solidFill>
                  <a:srgbClr val="001F5F"/>
                </a:solidFill>
                <a:latin typeface="Cambria Math"/>
                <a:cs typeface="Cambria Math"/>
              </a:rPr>
              <a:t>=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622544" y="4862100"/>
            <a:ext cx="722630" cy="68897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0795" algn="ctr">
              <a:lnSpc>
                <a:spcPct val="100000"/>
              </a:lnSpc>
              <a:spcBef>
                <a:spcPts val="790"/>
              </a:spcBef>
            </a:pPr>
            <a:r>
              <a:rPr sz="1600" spc="-50" dirty="0">
                <a:solidFill>
                  <a:srgbClr val="001F5F"/>
                </a:solidFill>
                <a:latin typeface="Cambria Math"/>
                <a:cs typeface="Cambria Math"/>
              </a:rPr>
              <a:t>1</a:t>
            </a:r>
            <a:endParaRPr sz="16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690"/>
              </a:spcBef>
            </a:pPr>
            <a:r>
              <a:rPr sz="2400" spc="-15" baseline="10416" dirty="0">
                <a:solidFill>
                  <a:srgbClr val="001F5F"/>
                </a:solidFill>
                <a:latin typeface="Cambria Math"/>
                <a:cs typeface="Cambria Math"/>
              </a:rPr>
              <a:t>𝑅</a:t>
            </a:r>
            <a:r>
              <a:rPr sz="1150" spc="-10" dirty="0">
                <a:solidFill>
                  <a:srgbClr val="001F5F"/>
                </a:solidFill>
                <a:latin typeface="Cambria Math"/>
                <a:cs typeface="Cambria Math"/>
              </a:rPr>
              <a:t>𝐸Q</a:t>
            </a:r>
            <a:r>
              <a:rPr sz="2400" spc="-15" baseline="10416" dirty="0">
                <a:solidFill>
                  <a:srgbClr val="001F5F"/>
                </a:solidFill>
                <a:latin typeface="Cambria Math"/>
                <a:cs typeface="Cambria Math"/>
              </a:rPr>
              <a:t>𝐶</a:t>
            </a:r>
            <a:r>
              <a:rPr sz="1150" spc="-10" dirty="0">
                <a:solidFill>
                  <a:srgbClr val="001F5F"/>
                </a:solidFill>
                <a:latin typeface="Cambria Math"/>
                <a:cs typeface="Cambria Math"/>
              </a:rPr>
              <a:t>𝐸Q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660647" y="5255514"/>
            <a:ext cx="657860" cy="13335"/>
          </a:xfrm>
          <a:custGeom>
            <a:avLst/>
            <a:gdLst/>
            <a:ahLst/>
            <a:cxnLst/>
            <a:rect l="l" t="t" r="r" b="b"/>
            <a:pathLst>
              <a:path w="657860" h="13335">
                <a:moveTo>
                  <a:pt x="0" y="12953"/>
                </a:moveTo>
                <a:lnTo>
                  <a:pt x="0" y="0"/>
                </a:lnTo>
                <a:lnTo>
                  <a:pt x="657605" y="0"/>
                </a:lnTo>
                <a:lnTo>
                  <a:pt x="657605" y="12953"/>
                </a:lnTo>
                <a:lnTo>
                  <a:pt x="0" y="12953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935728" y="5212334"/>
            <a:ext cx="111760" cy="2038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50" dirty="0">
                <a:solidFill>
                  <a:srgbClr val="001F5F"/>
                </a:solidFill>
                <a:latin typeface="Cambria Math"/>
                <a:cs typeface="Cambria Math"/>
              </a:rPr>
              <a:t>2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842764" y="5116321"/>
            <a:ext cx="42164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5904" algn="l"/>
              </a:tabLst>
            </a:pPr>
            <a:r>
              <a:rPr sz="1600" spc="-50" dirty="0">
                <a:solidFill>
                  <a:srgbClr val="001F5F"/>
                </a:solidFill>
                <a:latin typeface="Cambria Math"/>
                <a:cs typeface="Cambria Math"/>
              </a:rPr>
              <a:t>𝑧</a:t>
            </a:r>
            <a:r>
              <a:rPr sz="1600" dirty="0">
                <a:solidFill>
                  <a:srgbClr val="001F5F"/>
                </a:solidFill>
                <a:latin typeface="Cambria Math"/>
                <a:cs typeface="Cambria Math"/>
              </a:rPr>
              <a:t>	</a:t>
            </a:r>
            <a:r>
              <a:rPr sz="1600" spc="-50" dirty="0">
                <a:solidFill>
                  <a:srgbClr val="001F5F"/>
                </a:solidFill>
                <a:latin typeface="Cambria Math"/>
                <a:cs typeface="Cambria Math"/>
              </a:rPr>
              <a:t>=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269988" y="4916204"/>
            <a:ext cx="508000" cy="60642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4604" algn="ctr">
              <a:lnSpc>
                <a:spcPct val="100000"/>
              </a:lnSpc>
              <a:spcBef>
                <a:spcPts val="465"/>
              </a:spcBef>
            </a:pPr>
            <a:r>
              <a:rPr sz="1600" spc="-50" dirty="0">
                <a:solidFill>
                  <a:srgbClr val="001F5F"/>
                </a:solidFill>
                <a:latin typeface="Cambria Math"/>
                <a:cs typeface="Cambria Math"/>
              </a:rPr>
              <a:t>1</a:t>
            </a:r>
            <a:endParaRPr sz="16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365"/>
              </a:spcBef>
            </a:pPr>
            <a:r>
              <a:rPr sz="1600" spc="-20" dirty="0">
                <a:solidFill>
                  <a:srgbClr val="001F5F"/>
                </a:solidFill>
                <a:latin typeface="Cambria Math"/>
                <a:cs typeface="Cambria Math"/>
              </a:rPr>
              <a:t>𝑅</a:t>
            </a:r>
            <a:r>
              <a:rPr sz="1725" spc="-30" baseline="-14492" dirty="0">
                <a:solidFill>
                  <a:srgbClr val="001F5F"/>
                </a:solidFill>
                <a:latin typeface="Cambria Math"/>
                <a:cs typeface="Cambria Math"/>
              </a:rPr>
              <a:t>𝐶</a:t>
            </a:r>
            <a:r>
              <a:rPr sz="1600" spc="-20" dirty="0">
                <a:solidFill>
                  <a:srgbClr val="001F5F"/>
                </a:solidFill>
                <a:latin typeface="Cambria Math"/>
                <a:cs typeface="Cambria Math"/>
              </a:rPr>
              <a:t>𝐶</a:t>
            </a:r>
            <a:r>
              <a:rPr sz="1725" spc="-30" baseline="-14492" dirty="0">
                <a:solidFill>
                  <a:srgbClr val="001F5F"/>
                </a:solidFill>
                <a:latin typeface="Cambria Math"/>
                <a:cs typeface="Cambria Math"/>
              </a:rPr>
              <a:t>𝐶</a:t>
            </a:r>
            <a:endParaRPr sz="1725" baseline="-14492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308853" y="5268467"/>
            <a:ext cx="447040" cy="13335"/>
          </a:xfrm>
          <a:custGeom>
            <a:avLst/>
            <a:gdLst/>
            <a:ahLst/>
            <a:cxnLst/>
            <a:rect l="l" t="t" r="r" b="b"/>
            <a:pathLst>
              <a:path w="447039" h="13335">
                <a:moveTo>
                  <a:pt x="0" y="12953"/>
                </a:moveTo>
                <a:lnTo>
                  <a:pt x="0" y="0"/>
                </a:lnTo>
                <a:lnTo>
                  <a:pt x="446531" y="0"/>
                </a:lnTo>
                <a:lnTo>
                  <a:pt x="446531" y="12953"/>
                </a:lnTo>
                <a:lnTo>
                  <a:pt x="0" y="12953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Parallel</a:t>
            </a:r>
            <a:r>
              <a:rPr spc="-25" dirty="0"/>
              <a:t> </a:t>
            </a:r>
            <a:r>
              <a:rPr dirty="0"/>
              <a:t>(lead)</a:t>
            </a:r>
            <a:r>
              <a:rPr spc="-25" dirty="0"/>
              <a:t> </a:t>
            </a:r>
            <a:r>
              <a:rPr dirty="0"/>
              <a:t>compensation</a:t>
            </a:r>
            <a:r>
              <a:rPr spc="-30" dirty="0"/>
              <a:t> </a:t>
            </a:r>
            <a:r>
              <a:rPr sz="3375" spc="-37" baseline="24691" dirty="0"/>
              <a:t>[3]</a:t>
            </a:r>
            <a:endParaRPr sz="3375" baseline="24691"/>
          </a:p>
        </p:txBody>
      </p:sp>
      <p:sp>
        <p:nvSpPr>
          <p:cNvPr id="32" name="object 32"/>
          <p:cNvSpPr txBox="1"/>
          <p:nvPr/>
        </p:nvSpPr>
        <p:spPr>
          <a:xfrm>
            <a:off x="6578600" y="1579118"/>
            <a:ext cx="5115560" cy="3378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2600" marR="5080" indent="-470534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Introduces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zero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that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cancels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out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the </a:t>
            </a:r>
            <a:r>
              <a:rPr sz="2000" dirty="0">
                <a:latin typeface="Verdana"/>
                <a:cs typeface="Verdana"/>
              </a:rPr>
              <a:t>pole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generated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by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load</a:t>
            </a:r>
            <a:endParaRPr sz="20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spcBef>
                <a:spcPts val="120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Best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for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power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efficiency</a:t>
            </a:r>
            <a:endParaRPr sz="20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spcBef>
                <a:spcPts val="120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Cc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required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large</a:t>
            </a:r>
            <a:endParaRPr sz="2000">
              <a:latin typeface="Verdana"/>
              <a:cs typeface="Verdana"/>
            </a:endParaRPr>
          </a:p>
          <a:p>
            <a:pPr marL="482600" marR="680720" indent="-470534">
              <a:lnSpc>
                <a:spcPct val="100000"/>
              </a:lnSpc>
              <a:spcBef>
                <a:spcPts val="120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Load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conditions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are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not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always controllable</a:t>
            </a:r>
            <a:endParaRPr sz="2000">
              <a:latin typeface="Verdana"/>
              <a:cs typeface="Verdana"/>
            </a:endParaRPr>
          </a:p>
          <a:p>
            <a:pPr marL="482600" marR="70485" indent="-470534">
              <a:lnSpc>
                <a:spcPct val="100000"/>
              </a:lnSpc>
              <a:spcBef>
                <a:spcPts val="120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Error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cancellation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introduces </a:t>
            </a:r>
            <a:r>
              <a:rPr sz="2000" dirty="0">
                <a:latin typeface="Verdana"/>
                <a:cs typeface="Verdana"/>
              </a:rPr>
              <a:t>pole/zero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doublet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which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can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lead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to </a:t>
            </a:r>
            <a:r>
              <a:rPr sz="2000" dirty="0">
                <a:latin typeface="Verdana"/>
                <a:cs typeface="Verdana"/>
              </a:rPr>
              <a:t>settling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delays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33" name="object 3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9180" y="1390650"/>
            <a:ext cx="4790694" cy="1590294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1681226" y="1776476"/>
            <a:ext cx="932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544830" algn="l"/>
              </a:tabLst>
            </a:pPr>
            <a:r>
              <a:rPr sz="2700" spc="-37" baseline="13888" dirty="0">
                <a:latin typeface="Verdana"/>
                <a:cs typeface="Verdana"/>
              </a:rPr>
              <a:t>R</a:t>
            </a:r>
            <a:r>
              <a:rPr sz="1200" spc="-25" dirty="0">
                <a:latin typeface="Verdana"/>
                <a:cs typeface="Verdana"/>
              </a:rPr>
              <a:t>IN</a:t>
            </a:r>
            <a:r>
              <a:rPr sz="1200" dirty="0">
                <a:latin typeface="Verdana"/>
                <a:cs typeface="Verdana"/>
              </a:rPr>
              <a:t>	</a:t>
            </a:r>
            <a:r>
              <a:rPr sz="2700" spc="-37" baseline="13888" dirty="0">
                <a:latin typeface="Verdana"/>
                <a:cs typeface="Verdana"/>
              </a:rPr>
              <a:t>C</a:t>
            </a:r>
            <a:r>
              <a:rPr sz="1200" spc="-25" dirty="0">
                <a:latin typeface="Verdana"/>
                <a:cs typeface="Verdana"/>
              </a:rPr>
              <a:t>IN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54B1B792-597E-4CAD-AEF1-EF3EB9F035B9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46" name="object 46"/>
          <p:cNvSpPr txBox="1"/>
          <p:nvPr/>
        </p:nvSpPr>
        <p:spPr>
          <a:xfrm>
            <a:off x="11401297" y="6370516"/>
            <a:ext cx="219075" cy="2108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25" dirty="0">
                <a:latin typeface="Verdana"/>
                <a:cs typeface="Verdana"/>
              </a:rPr>
              <a:t>37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501644" y="1776476"/>
            <a:ext cx="9696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2700" baseline="13888" dirty="0">
                <a:latin typeface="Verdana"/>
                <a:cs typeface="Verdana"/>
              </a:rPr>
              <a:t>R</a:t>
            </a:r>
            <a:r>
              <a:rPr sz="1200" dirty="0">
                <a:latin typeface="Verdana"/>
                <a:cs typeface="Verdana"/>
              </a:rPr>
              <a:t>EQ</a:t>
            </a:r>
            <a:r>
              <a:rPr sz="1200" spc="480" dirty="0">
                <a:latin typeface="Verdana"/>
                <a:cs typeface="Verdana"/>
              </a:rPr>
              <a:t> </a:t>
            </a:r>
            <a:r>
              <a:rPr sz="2700" spc="-37" baseline="13888" dirty="0">
                <a:latin typeface="Verdana"/>
                <a:cs typeface="Verdana"/>
              </a:rPr>
              <a:t>C</a:t>
            </a:r>
            <a:r>
              <a:rPr sz="1200" spc="-25" dirty="0">
                <a:latin typeface="Verdana"/>
                <a:cs typeface="Verdana"/>
              </a:rPr>
              <a:t>EQ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485644" y="2827273"/>
            <a:ext cx="4832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gm</a:t>
            </a:r>
            <a:r>
              <a:rPr sz="1800" spc="-37" baseline="-20833" dirty="0">
                <a:latin typeface="Verdana"/>
                <a:cs typeface="Verdana"/>
              </a:rPr>
              <a:t>i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258055" y="2807461"/>
            <a:ext cx="534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gm</a:t>
            </a:r>
            <a:r>
              <a:rPr sz="1800" spc="-37" baseline="-20833" dirty="0">
                <a:latin typeface="Verdana"/>
                <a:cs typeface="Verdana"/>
              </a:rPr>
              <a:t>o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19047" y="2032508"/>
            <a:ext cx="182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V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175258" y="2165096"/>
            <a:ext cx="2019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Verdana"/>
                <a:cs typeface="Verdana"/>
              </a:rPr>
              <a:t>IN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966208" y="1266697"/>
            <a:ext cx="1132840" cy="809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0710">
              <a:lnSpc>
                <a:spcPct val="100000"/>
              </a:lnSpc>
              <a:spcBef>
                <a:spcPts val="100"/>
              </a:spcBef>
            </a:pPr>
            <a:r>
              <a:rPr sz="2700" spc="-30" baseline="13888" dirty="0">
                <a:latin typeface="Verdana"/>
                <a:cs typeface="Verdana"/>
              </a:rPr>
              <a:t>V</a:t>
            </a:r>
            <a:r>
              <a:rPr sz="1200" spc="-20" dirty="0">
                <a:latin typeface="Verdana"/>
                <a:cs typeface="Verdana"/>
              </a:rPr>
              <a:t>OUT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200">
              <a:latin typeface="Verdana"/>
              <a:cs typeface="Verdana"/>
            </a:endParaRPr>
          </a:p>
          <a:p>
            <a:pPr marL="50800">
              <a:lnSpc>
                <a:spcPct val="100000"/>
              </a:lnSpc>
            </a:pPr>
            <a:r>
              <a:rPr sz="2700" baseline="13888" dirty="0">
                <a:latin typeface="Verdana"/>
                <a:cs typeface="Verdana"/>
              </a:rPr>
              <a:t>R</a:t>
            </a:r>
            <a:r>
              <a:rPr sz="1200" dirty="0">
                <a:latin typeface="Verdana"/>
                <a:cs typeface="Verdana"/>
              </a:rPr>
              <a:t>LD</a:t>
            </a:r>
            <a:r>
              <a:rPr sz="1200" spc="60" dirty="0">
                <a:latin typeface="Verdana"/>
                <a:cs typeface="Verdana"/>
              </a:rPr>
              <a:t>  </a:t>
            </a:r>
            <a:r>
              <a:rPr sz="2700" spc="-37" baseline="13888" dirty="0">
                <a:latin typeface="Verdana"/>
                <a:cs typeface="Verdana"/>
              </a:rPr>
              <a:t>C</a:t>
            </a:r>
            <a:r>
              <a:rPr sz="1200" spc="-25" dirty="0">
                <a:latin typeface="Verdana"/>
                <a:cs typeface="Verdana"/>
              </a:rPr>
              <a:t>LD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131057" y="2280920"/>
            <a:ext cx="342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R</a:t>
            </a:r>
            <a:r>
              <a:rPr sz="1800" spc="-37" baseline="-20833" dirty="0">
                <a:latin typeface="Verdana"/>
                <a:cs typeface="Verdana"/>
              </a:rPr>
              <a:t>C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130550" y="1830578"/>
            <a:ext cx="185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C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289808" y="1963165"/>
            <a:ext cx="1320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Verdana"/>
                <a:cs typeface="Verdana"/>
              </a:rPr>
              <a:t>C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7" name="Slide Number Placeholder 4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462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lang="en-US" spc="-50" smtClean="0"/>
              <a:t>36</a:t>
            </a:fld>
            <a:endParaRPr lang="en-US" spc="-50" dirty="0"/>
          </a:p>
        </p:txBody>
      </p:sp>
      <p:sp>
        <p:nvSpPr>
          <p:cNvPr id="49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dirty="0"/>
              <a:t>Miller</a:t>
            </a:r>
            <a:r>
              <a:rPr spc="-95" dirty="0"/>
              <a:t> </a:t>
            </a:r>
            <a:r>
              <a:rPr spc="-10" dirty="0"/>
              <a:t>Effect</a:t>
            </a:r>
          </a:p>
        </p:txBody>
      </p:sp>
      <p:sp>
        <p:nvSpPr>
          <p:cNvPr id="3" name="object 3"/>
          <p:cNvSpPr/>
          <p:nvPr/>
        </p:nvSpPr>
        <p:spPr>
          <a:xfrm>
            <a:off x="8260842" y="5566409"/>
            <a:ext cx="696595" cy="212090"/>
          </a:xfrm>
          <a:custGeom>
            <a:avLst/>
            <a:gdLst/>
            <a:ahLst/>
            <a:cxnLst/>
            <a:rect l="l" t="t" r="r" b="b"/>
            <a:pathLst>
              <a:path w="696595" h="212089">
                <a:moveTo>
                  <a:pt x="696467" y="105918"/>
                </a:moveTo>
                <a:lnTo>
                  <a:pt x="687145" y="51589"/>
                </a:lnTo>
                <a:lnTo>
                  <a:pt x="657986" y="13144"/>
                </a:lnTo>
                <a:lnTo>
                  <a:pt x="629411" y="0"/>
                </a:lnTo>
                <a:lnTo>
                  <a:pt x="626363" y="8382"/>
                </a:lnTo>
                <a:lnTo>
                  <a:pt x="638651" y="13513"/>
                </a:lnTo>
                <a:lnTo>
                  <a:pt x="649223" y="20859"/>
                </a:lnTo>
                <a:lnTo>
                  <a:pt x="670667" y="55209"/>
                </a:lnTo>
                <a:lnTo>
                  <a:pt x="677417" y="104394"/>
                </a:lnTo>
                <a:lnTo>
                  <a:pt x="677417" y="177472"/>
                </a:lnTo>
                <a:lnTo>
                  <a:pt x="679703" y="174498"/>
                </a:lnTo>
                <a:lnTo>
                  <a:pt x="687145" y="159496"/>
                </a:lnTo>
                <a:lnTo>
                  <a:pt x="692372" y="143065"/>
                </a:lnTo>
                <a:lnTo>
                  <a:pt x="695455" y="125206"/>
                </a:lnTo>
                <a:lnTo>
                  <a:pt x="696467" y="105918"/>
                </a:lnTo>
                <a:close/>
              </a:path>
              <a:path w="696595" h="212089">
                <a:moveTo>
                  <a:pt x="677417" y="177472"/>
                </a:moveTo>
                <a:lnTo>
                  <a:pt x="677417" y="104394"/>
                </a:lnTo>
                <a:lnTo>
                  <a:pt x="676691" y="123086"/>
                </a:lnTo>
                <a:lnTo>
                  <a:pt x="674465" y="140208"/>
                </a:lnTo>
                <a:lnTo>
                  <a:pt x="657986" y="180827"/>
                </a:lnTo>
                <a:lnTo>
                  <a:pt x="626363" y="202692"/>
                </a:lnTo>
                <a:lnTo>
                  <a:pt x="629411" y="211836"/>
                </a:lnTo>
                <a:lnTo>
                  <a:pt x="644556" y="206109"/>
                </a:lnTo>
                <a:lnTo>
                  <a:pt x="657986" y="198024"/>
                </a:lnTo>
                <a:lnTo>
                  <a:pt x="669702" y="187511"/>
                </a:lnTo>
                <a:lnTo>
                  <a:pt x="677417" y="177472"/>
                </a:lnTo>
                <a:close/>
              </a:path>
              <a:path w="696595" h="212089">
                <a:moveTo>
                  <a:pt x="70103" y="8382"/>
                </a:moveTo>
                <a:lnTo>
                  <a:pt x="67055" y="0"/>
                </a:lnTo>
                <a:lnTo>
                  <a:pt x="51923" y="5286"/>
                </a:lnTo>
                <a:lnTo>
                  <a:pt x="38576" y="13144"/>
                </a:lnTo>
                <a:lnTo>
                  <a:pt x="9644" y="51589"/>
                </a:lnTo>
                <a:lnTo>
                  <a:pt x="0" y="105918"/>
                </a:lnTo>
                <a:lnTo>
                  <a:pt x="1023" y="125206"/>
                </a:lnTo>
                <a:lnTo>
                  <a:pt x="4190" y="143065"/>
                </a:lnTo>
                <a:lnTo>
                  <a:pt x="9644" y="159496"/>
                </a:lnTo>
                <a:lnTo>
                  <a:pt x="17525" y="174498"/>
                </a:lnTo>
                <a:lnTo>
                  <a:pt x="19049" y="176572"/>
                </a:lnTo>
                <a:lnTo>
                  <a:pt x="19049" y="104394"/>
                </a:lnTo>
                <a:lnTo>
                  <a:pt x="19895" y="86379"/>
                </a:lnTo>
                <a:lnTo>
                  <a:pt x="32003" y="41910"/>
                </a:lnTo>
                <a:lnTo>
                  <a:pt x="57935" y="13513"/>
                </a:lnTo>
                <a:lnTo>
                  <a:pt x="70103" y="8382"/>
                </a:lnTo>
                <a:close/>
              </a:path>
              <a:path w="696595" h="212089">
                <a:moveTo>
                  <a:pt x="70103" y="202692"/>
                </a:moveTo>
                <a:lnTo>
                  <a:pt x="32003" y="169164"/>
                </a:lnTo>
                <a:lnTo>
                  <a:pt x="19895" y="123086"/>
                </a:lnTo>
                <a:lnTo>
                  <a:pt x="19049" y="104394"/>
                </a:lnTo>
                <a:lnTo>
                  <a:pt x="19049" y="176572"/>
                </a:lnTo>
                <a:lnTo>
                  <a:pt x="27086" y="187511"/>
                </a:lnTo>
                <a:lnTo>
                  <a:pt x="38576" y="198024"/>
                </a:lnTo>
                <a:lnTo>
                  <a:pt x="51923" y="206109"/>
                </a:lnTo>
                <a:lnTo>
                  <a:pt x="67055" y="211836"/>
                </a:lnTo>
                <a:lnTo>
                  <a:pt x="70103" y="2026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437119" y="5496560"/>
            <a:ext cx="14820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𝐶</a:t>
            </a:r>
            <a:r>
              <a:rPr sz="1950" baseline="-14957" dirty="0">
                <a:latin typeface="Cambria Math"/>
                <a:cs typeface="Cambria Math"/>
              </a:rPr>
              <a:t>1</a:t>
            </a:r>
            <a:r>
              <a:rPr sz="1950" spc="352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5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𝐶</a:t>
            </a:r>
            <a:r>
              <a:rPr sz="1950" baseline="-14957" dirty="0">
                <a:latin typeface="Cambria Math"/>
                <a:cs typeface="Cambria Math"/>
              </a:rPr>
              <a:t>𝐹</a:t>
            </a:r>
            <a:r>
              <a:rPr sz="1950" spc="157" baseline="-14957" dirty="0">
                <a:latin typeface="Cambria Math"/>
                <a:cs typeface="Cambria Math"/>
              </a:rPr>
              <a:t>  </a:t>
            </a:r>
            <a:r>
              <a:rPr sz="1800" dirty="0">
                <a:latin typeface="Cambria Math"/>
                <a:cs typeface="Cambria Math"/>
              </a:rPr>
              <a:t>1</a:t>
            </a:r>
            <a:r>
              <a:rPr sz="1800" spc="-3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</a:t>
            </a:r>
            <a:r>
              <a:rPr sz="1800" spc="-3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𝐴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4644" y="1335277"/>
            <a:ext cx="32486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2600" indent="-469900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Identified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1920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[2]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4644" y="2005827"/>
            <a:ext cx="5343525" cy="60452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482600" marR="5080" indent="-470534">
              <a:lnSpc>
                <a:spcPts val="2160"/>
              </a:lnSpc>
              <a:spcBef>
                <a:spcPts val="37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Negative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feedback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with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capacitor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as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feedback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element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4644" y="3017766"/>
            <a:ext cx="5708015" cy="189738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482600" marR="5080" indent="-470534">
              <a:lnSpc>
                <a:spcPts val="2160"/>
              </a:lnSpc>
              <a:spcBef>
                <a:spcPts val="37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Impedance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seen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at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input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multiplied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by </a:t>
            </a:r>
            <a:r>
              <a:rPr sz="2000" spc="-20" dirty="0">
                <a:latin typeface="Verdana"/>
                <a:cs typeface="Verdana"/>
              </a:rPr>
              <a:t>gain</a:t>
            </a:r>
            <a:endParaRPr sz="2000">
              <a:latin typeface="Verdana"/>
              <a:cs typeface="Verdana"/>
            </a:endParaRPr>
          </a:p>
          <a:p>
            <a:pPr marL="1317625" lvl="1" indent="-396240">
              <a:lnSpc>
                <a:spcPct val="100000"/>
              </a:lnSpc>
              <a:spcBef>
                <a:spcPts val="955"/>
              </a:spcBef>
              <a:buClr>
                <a:srgbClr val="CC0000"/>
              </a:buClr>
              <a:buFont typeface="Wingdings"/>
              <a:buChar char=""/>
              <a:tabLst>
                <a:tab pos="1317625" algn="l"/>
              </a:tabLst>
            </a:pPr>
            <a:r>
              <a:rPr sz="1800" dirty="0">
                <a:latin typeface="Verdana"/>
                <a:cs typeface="Verdana"/>
              </a:rPr>
              <a:t>Gain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also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function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frequency</a:t>
            </a:r>
            <a:endParaRPr sz="1800">
              <a:latin typeface="Verdana"/>
              <a:cs typeface="Verdana"/>
            </a:endParaRPr>
          </a:p>
          <a:p>
            <a:pPr marL="1317625" marR="126364" lvl="1" indent="-396240">
              <a:lnSpc>
                <a:spcPct val="90000"/>
              </a:lnSpc>
              <a:spcBef>
                <a:spcPts val="1200"/>
              </a:spcBef>
              <a:buClr>
                <a:srgbClr val="CC0000"/>
              </a:buClr>
              <a:buFont typeface="Wingdings"/>
              <a:buChar char=""/>
              <a:tabLst>
                <a:tab pos="1317625" algn="l"/>
              </a:tabLst>
            </a:pPr>
            <a:r>
              <a:rPr sz="1800" dirty="0">
                <a:latin typeface="Verdana"/>
                <a:cs typeface="Verdana"/>
              </a:rPr>
              <a:t>A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capacitor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effectively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short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at </a:t>
            </a:r>
            <a:r>
              <a:rPr sz="1800" dirty="0">
                <a:latin typeface="Verdana"/>
                <a:cs typeface="Verdana"/>
              </a:rPr>
              <a:t>high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frequencies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Symbol"/>
                <a:cs typeface="Symbol"/>
              </a:rPr>
              <a:t></a:t>
            </a:r>
            <a:r>
              <a:rPr sz="1800" spc="1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Verdana"/>
                <a:cs typeface="Verdana"/>
              </a:rPr>
              <a:t>phase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inverted </a:t>
            </a:r>
            <a:r>
              <a:rPr sz="1800" dirty="0">
                <a:latin typeface="Verdana"/>
                <a:cs typeface="Verdana"/>
              </a:rPr>
              <a:t>(negative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positive)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23691" y="1225992"/>
            <a:ext cx="3587217" cy="134312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122411" y="1922017"/>
            <a:ext cx="185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latin typeface="Verdana"/>
                <a:cs typeface="Verdana"/>
              </a:rPr>
              <a:t>C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37325" y="1370337"/>
            <a:ext cx="185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latin typeface="Verdana"/>
                <a:cs typeface="Verdana"/>
              </a:rPr>
              <a:t>C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196576" y="1502917"/>
            <a:ext cx="1130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0" dirty="0">
                <a:latin typeface="Verdana"/>
                <a:cs typeface="Verdana"/>
              </a:rPr>
              <a:t>F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524236" y="1930400"/>
            <a:ext cx="4406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latin typeface="Verdana"/>
                <a:cs typeface="Verdana"/>
              </a:rPr>
              <a:t>-</a:t>
            </a:r>
            <a:r>
              <a:rPr sz="1800" i="1" spc="-25" dirty="0">
                <a:latin typeface="Verdana"/>
                <a:cs typeface="Verdana"/>
              </a:rPr>
              <a:t>A</a:t>
            </a:r>
            <a:r>
              <a:rPr sz="1800" i="1" spc="-37" baseline="-20833" dirty="0">
                <a:latin typeface="Verdana"/>
                <a:cs typeface="Verdana"/>
              </a:rPr>
              <a:t>V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549636" y="955802"/>
            <a:ext cx="88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latin typeface="Verdana"/>
                <a:cs typeface="Verdana"/>
              </a:rPr>
              <a:t>i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733534" y="1913635"/>
            <a:ext cx="1606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latin typeface="Verdana"/>
                <a:cs typeface="Verdana"/>
              </a:rPr>
              <a:t>v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883128" y="1874019"/>
            <a:ext cx="420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Verdana"/>
                <a:cs typeface="Verdana"/>
              </a:rPr>
              <a:t>-</a:t>
            </a:r>
            <a:r>
              <a:rPr sz="1800" i="1" spc="-25" dirty="0">
                <a:latin typeface="Verdana"/>
                <a:cs typeface="Verdana"/>
              </a:rPr>
              <a:t>Av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961107" y="1913635"/>
            <a:ext cx="1816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latin typeface="Verdana"/>
                <a:cs typeface="Verdana"/>
              </a:rPr>
              <a:t>V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57965" y="3781745"/>
            <a:ext cx="1875758" cy="123567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8939021" y="4135628"/>
            <a:ext cx="4406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latin typeface="Verdana"/>
                <a:cs typeface="Verdana"/>
              </a:rPr>
              <a:t>-</a:t>
            </a:r>
            <a:r>
              <a:rPr sz="1800" i="1" spc="-25" dirty="0">
                <a:latin typeface="Verdana"/>
                <a:cs typeface="Verdana"/>
              </a:rPr>
              <a:t>A</a:t>
            </a:r>
            <a:r>
              <a:rPr sz="1800" i="1" spc="-37" baseline="-20833" dirty="0">
                <a:latin typeface="Verdana"/>
                <a:cs typeface="Verdana"/>
              </a:rPr>
              <a:t>V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148828" y="4505198"/>
            <a:ext cx="332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i="1" spc="-25" dirty="0">
                <a:latin typeface="Verdana"/>
                <a:cs typeface="Verdana"/>
              </a:rPr>
              <a:t>C</a:t>
            </a:r>
            <a:r>
              <a:rPr sz="1800" i="1" spc="-37" baseline="-20833" dirty="0">
                <a:latin typeface="Verdana"/>
                <a:cs typeface="Verdana"/>
              </a:rPr>
              <a:t>1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486136" y="4505198"/>
            <a:ext cx="332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i="1" spc="-25" dirty="0">
                <a:latin typeface="Verdana"/>
                <a:cs typeface="Verdana"/>
              </a:rPr>
              <a:t>C</a:t>
            </a:r>
            <a:r>
              <a:rPr sz="1800" i="1" spc="-37" baseline="-20833" dirty="0">
                <a:latin typeface="Verdana"/>
                <a:cs typeface="Verdana"/>
              </a:rPr>
              <a:t>2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396221" y="5494273"/>
            <a:ext cx="831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𝐶</a:t>
            </a:r>
            <a:r>
              <a:rPr sz="1950" baseline="-14957" dirty="0">
                <a:latin typeface="Cambria Math"/>
                <a:cs typeface="Cambria Math"/>
              </a:rPr>
              <a:t>2</a:t>
            </a:r>
            <a:r>
              <a:rPr sz="1950" spc="345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6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𝐶</a:t>
            </a:r>
            <a:r>
              <a:rPr sz="1950" spc="-37" baseline="-14957" dirty="0">
                <a:latin typeface="Cambria Math"/>
                <a:cs typeface="Cambria Math"/>
              </a:rPr>
              <a:t>𝐹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0263378" y="5391150"/>
            <a:ext cx="696595" cy="212090"/>
          </a:xfrm>
          <a:custGeom>
            <a:avLst/>
            <a:gdLst/>
            <a:ahLst/>
            <a:cxnLst/>
            <a:rect l="l" t="t" r="r" b="b"/>
            <a:pathLst>
              <a:path w="696595" h="212089">
                <a:moveTo>
                  <a:pt x="696468" y="105918"/>
                </a:moveTo>
                <a:lnTo>
                  <a:pt x="686502" y="51589"/>
                </a:lnTo>
                <a:lnTo>
                  <a:pt x="657796" y="13144"/>
                </a:lnTo>
                <a:lnTo>
                  <a:pt x="628650" y="0"/>
                </a:lnTo>
                <a:lnTo>
                  <a:pt x="625602" y="8382"/>
                </a:lnTo>
                <a:lnTo>
                  <a:pt x="637889" y="13835"/>
                </a:lnTo>
                <a:lnTo>
                  <a:pt x="648462" y="21145"/>
                </a:lnTo>
                <a:lnTo>
                  <a:pt x="669905" y="55209"/>
                </a:lnTo>
                <a:lnTo>
                  <a:pt x="676656" y="104394"/>
                </a:lnTo>
                <a:lnTo>
                  <a:pt x="676656" y="177605"/>
                </a:lnTo>
                <a:lnTo>
                  <a:pt x="678942" y="174498"/>
                </a:lnTo>
                <a:lnTo>
                  <a:pt x="686502" y="159496"/>
                </a:lnTo>
                <a:lnTo>
                  <a:pt x="691991" y="143065"/>
                </a:lnTo>
                <a:lnTo>
                  <a:pt x="695336" y="125206"/>
                </a:lnTo>
                <a:lnTo>
                  <a:pt x="696468" y="105918"/>
                </a:lnTo>
                <a:close/>
              </a:path>
              <a:path w="696595" h="212089">
                <a:moveTo>
                  <a:pt x="676656" y="177605"/>
                </a:moveTo>
                <a:lnTo>
                  <a:pt x="676656" y="104394"/>
                </a:lnTo>
                <a:lnTo>
                  <a:pt x="675929" y="123086"/>
                </a:lnTo>
                <a:lnTo>
                  <a:pt x="673703" y="140208"/>
                </a:lnTo>
                <a:lnTo>
                  <a:pt x="657320" y="180737"/>
                </a:lnTo>
                <a:lnTo>
                  <a:pt x="626364" y="202692"/>
                </a:lnTo>
                <a:lnTo>
                  <a:pt x="628650" y="211836"/>
                </a:lnTo>
                <a:lnTo>
                  <a:pt x="644223" y="206109"/>
                </a:lnTo>
                <a:lnTo>
                  <a:pt x="657796" y="198024"/>
                </a:lnTo>
                <a:lnTo>
                  <a:pt x="669369" y="187511"/>
                </a:lnTo>
                <a:lnTo>
                  <a:pt x="676656" y="177605"/>
                </a:lnTo>
                <a:close/>
              </a:path>
              <a:path w="696595" h="212089">
                <a:moveTo>
                  <a:pt x="70865" y="8382"/>
                </a:moveTo>
                <a:lnTo>
                  <a:pt x="67818" y="0"/>
                </a:lnTo>
                <a:lnTo>
                  <a:pt x="52244" y="5286"/>
                </a:lnTo>
                <a:lnTo>
                  <a:pt x="38671" y="13144"/>
                </a:lnTo>
                <a:lnTo>
                  <a:pt x="9965" y="51589"/>
                </a:lnTo>
                <a:lnTo>
                  <a:pt x="0" y="105918"/>
                </a:lnTo>
                <a:lnTo>
                  <a:pt x="1131" y="125206"/>
                </a:lnTo>
                <a:lnTo>
                  <a:pt x="4476" y="143065"/>
                </a:lnTo>
                <a:lnTo>
                  <a:pt x="9965" y="159496"/>
                </a:lnTo>
                <a:lnTo>
                  <a:pt x="17526" y="174498"/>
                </a:lnTo>
                <a:lnTo>
                  <a:pt x="19050" y="176569"/>
                </a:lnTo>
                <a:lnTo>
                  <a:pt x="19050" y="104394"/>
                </a:lnTo>
                <a:lnTo>
                  <a:pt x="19895" y="86379"/>
                </a:lnTo>
                <a:lnTo>
                  <a:pt x="32004" y="41910"/>
                </a:lnTo>
                <a:lnTo>
                  <a:pt x="58578" y="13835"/>
                </a:lnTo>
                <a:lnTo>
                  <a:pt x="70865" y="8382"/>
                </a:lnTo>
                <a:close/>
              </a:path>
              <a:path w="696595" h="212089">
                <a:moveTo>
                  <a:pt x="70104" y="202692"/>
                </a:moveTo>
                <a:lnTo>
                  <a:pt x="32004" y="169164"/>
                </a:lnTo>
                <a:lnTo>
                  <a:pt x="19895" y="123086"/>
                </a:lnTo>
                <a:lnTo>
                  <a:pt x="19050" y="104394"/>
                </a:lnTo>
                <a:lnTo>
                  <a:pt x="19050" y="176569"/>
                </a:lnTo>
                <a:lnTo>
                  <a:pt x="27098" y="187511"/>
                </a:lnTo>
                <a:lnTo>
                  <a:pt x="38671" y="198024"/>
                </a:lnTo>
                <a:lnTo>
                  <a:pt x="52244" y="206109"/>
                </a:lnTo>
                <a:lnTo>
                  <a:pt x="67818" y="211836"/>
                </a:lnTo>
                <a:lnTo>
                  <a:pt x="70104" y="2026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0326116" y="5321300"/>
            <a:ext cx="5695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85" dirty="0">
                <a:latin typeface="Cambria Math"/>
                <a:cs typeface="Cambria Math"/>
              </a:rPr>
              <a:t>1+</a:t>
            </a:r>
            <a:r>
              <a:rPr sz="1800" spc="10" dirty="0">
                <a:latin typeface="Cambria Math"/>
                <a:cs typeface="Cambria Math"/>
              </a:rPr>
              <a:t> </a:t>
            </a:r>
            <a:r>
              <a:rPr sz="1800" spc="-60" dirty="0">
                <a:latin typeface="Cambria Math"/>
                <a:cs typeface="Cambria Math"/>
              </a:rPr>
              <a:t>𝐴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525775" y="5647443"/>
            <a:ext cx="170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𝐴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0243566" y="5662421"/>
            <a:ext cx="737235" cy="14604"/>
          </a:xfrm>
          <a:custGeom>
            <a:avLst/>
            <a:gdLst/>
            <a:ahLst/>
            <a:cxnLst/>
            <a:rect l="l" t="t" r="r" b="b"/>
            <a:pathLst>
              <a:path w="737234" h="14604">
                <a:moveTo>
                  <a:pt x="0" y="14477"/>
                </a:moveTo>
                <a:lnTo>
                  <a:pt x="0" y="0"/>
                </a:lnTo>
                <a:lnTo>
                  <a:pt x="736853" y="0"/>
                </a:lnTo>
                <a:lnTo>
                  <a:pt x="736853" y="14477"/>
                </a:lnTo>
                <a:lnTo>
                  <a:pt x="0" y="144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7906011" y="1010658"/>
            <a:ext cx="299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𝑑𝑉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316723" y="1183640"/>
            <a:ext cx="8902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𝑖</a:t>
            </a:r>
            <a:r>
              <a:rPr sz="1800" spc="15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𝐶</a:t>
            </a:r>
            <a:r>
              <a:rPr sz="1800" spc="185" dirty="0">
                <a:latin typeface="Cambria Math"/>
                <a:cs typeface="Cambria Math"/>
              </a:rPr>
              <a:t> </a:t>
            </a:r>
            <a:r>
              <a:rPr sz="2700" spc="-52" baseline="-37037" dirty="0">
                <a:latin typeface="Cambria Math"/>
                <a:cs typeface="Cambria Math"/>
              </a:rPr>
              <a:t>𝑑𝑡</a:t>
            </a:r>
            <a:endParaRPr sz="2700" baseline="-37037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917942" y="1352550"/>
            <a:ext cx="281940" cy="14604"/>
          </a:xfrm>
          <a:custGeom>
            <a:avLst/>
            <a:gdLst/>
            <a:ahLst/>
            <a:cxnLst/>
            <a:rect l="l" t="t" r="r" b="b"/>
            <a:pathLst>
              <a:path w="281940" h="14605">
                <a:moveTo>
                  <a:pt x="0" y="14478"/>
                </a:moveTo>
                <a:lnTo>
                  <a:pt x="0" y="0"/>
                </a:lnTo>
                <a:lnTo>
                  <a:pt x="281940" y="0"/>
                </a:lnTo>
                <a:lnTo>
                  <a:pt x="281940" y="14478"/>
                </a:lnTo>
                <a:lnTo>
                  <a:pt x="0" y="144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137654" y="2792976"/>
            <a:ext cx="4109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-41666" dirty="0">
                <a:latin typeface="Cambria Math"/>
                <a:cs typeface="Cambria Math"/>
              </a:rPr>
              <a:t>𝑖</a:t>
            </a:r>
            <a:r>
              <a:rPr sz="2700" spc="262" baseline="-41666" dirty="0">
                <a:latin typeface="Cambria Math"/>
                <a:cs typeface="Cambria Math"/>
              </a:rPr>
              <a:t> </a:t>
            </a:r>
            <a:r>
              <a:rPr sz="2700" baseline="-41666" dirty="0">
                <a:latin typeface="Cambria Math"/>
                <a:cs typeface="Cambria Math"/>
              </a:rPr>
              <a:t>=</a:t>
            </a:r>
            <a:r>
              <a:rPr sz="2700" spc="187" baseline="-41666" dirty="0">
                <a:latin typeface="Cambria Math"/>
                <a:cs typeface="Cambria Math"/>
              </a:rPr>
              <a:t> </a:t>
            </a:r>
            <a:r>
              <a:rPr sz="2700" baseline="-41666" dirty="0">
                <a:latin typeface="Cambria Math"/>
                <a:cs typeface="Cambria Math"/>
              </a:rPr>
              <a:t>𝐶</a:t>
            </a:r>
            <a:r>
              <a:rPr sz="2700" spc="-15" baseline="-41666" dirty="0">
                <a:latin typeface="Cambria Math"/>
                <a:cs typeface="Cambria Math"/>
              </a:rPr>
              <a:t> </a:t>
            </a:r>
            <a:r>
              <a:rPr sz="1800" spc="60" dirty="0">
                <a:latin typeface="Cambria Math"/>
                <a:cs typeface="Cambria Math"/>
              </a:rPr>
              <a:t>𝑑[𝑣−</a:t>
            </a:r>
            <a:r>
              <a:rPr sz="1800" spc="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(−𝐴</a:t>
            </a:r>
            <a:r>
              <a:rPr sz="1950" baseline="-14957" dirty="0">
                <a:latin typeface="Cambria Math"/>
                <a:cs typeface="Cambria Math"/>
              </a:rPr>
              <a:t>𝑉</a:t>
            </a:r>
            <a:r>
              <a:rPr sz="1800" dirty="0">
                <a:latin typeface="Cambria Math"/>
                <a:cs typeface="Cambria Math"/>
              </a:rPr>
              <a:t>𝑣)]</a:t>
            </a:r>
            <a:r>
              <a:rPr sz="1800" spc="110" dirty="0">
                <a:latin typeface="Cambria Math"/>
                <a:cs typeface="Cambria Math"/>
              </a:rPr>
              <a:t> </a:t>
            </a:r>
            <a:r>
              <a:rPr sz="2700" baseline="-41666" dirty="0">
                <a:latin typeface="Cambria Math"/>
                <a:cs typeface="Cambria Math"/>
              </a:rPr>
              <a:t>=</a:t>
            </a:r>
            <a:r>
              <a:rPr sz="2700" spc="187" baseline="-41666" dirty="0">
                <a:latin typeface="Cambria Math"/>
                <a:cs typeface="Cambria Math"/>
              </a:rPr>
              <a:t> </a:t>
            </a:r>
            <a:r>
              <a:rPr sz="2700" baseline="-41666" dirty="0">
                <a:latin typeface="Cambria Math"/>
                <a:cs typeface="Cambria Math"/>
              </a:rPr>
              <a:t>𝐶</a:t>
            </a:r>
            <a:r>
              <a:rPr sz="2700" spc="-7" baseline="-41666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𝑑𝑣[1</a:t>
            </a:r>
            <a:r>
              <a:rPr sz="1800" spc="1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</a:t>
            </a:r>
            <a:r>
              <a:rPr sz="1800" spc="10" dirty="0">
                <a:latin typeface="Cambria Math"/>
                <a:cs typeface="Cambria Math"/>
              </a:rPr>
              <a:t> </a:t>
            </a:r>
            <a:r>
              <a:rPr sz="1800" spc="50" dirty="0">
                <a:latin typeface="Cambria Math"/>
                <a:cs typeface="Cambria Math"/>
              </a:rPr>
              <a:t>𝐴</a:t>
            </a:r>
            <a:r>
              <a:rPr sz="1950" spc="75" baseline="-14957" dirty="0">
                <a:latin typeface="Cambria Math"/>
                <a:cs typeface="Cambria Math"/>
              </a:rPr>
              <a:t>𝑉</a:t>
            </a:r>
            <a:r>
              <a:rPr sz="1800" spc="50" dirty="0">
                <a:latin typeface="Cambria Math"/>
                <a:cs typeface="Cambria Math"/>
              </a:rPr>
              <a:t>]</a:t>
            </a:r>
            <a:r>
              <a:rPr sz="1800" spc="110" dirty="0">
                <a:latin typeface="Cambria Math"/>
                <a:cs typeface="Cambria Math"/>
              </a:rPr>
              <a:t> </a:t>
            </a:r>
            <a:r>
              <a:rPr sz="2700" baseline="-41666" dirty="0">
                <a:latin typeface="Cambria Math"/>
                <a:cs typeface="Cambria Math"/>
              </a:rPr>
              <a:t>=</a:t>
            </a:r>
            <a:r>
              <a:rPr sz="2700" spc="187" baseline="-41666" dirty="0">
                <a:latin typeface="Cambria Math"/>
                <a:cs typeface="Cambria Math"/>
              </a:rPr>
              <a:t> </a:t>
            </a:r>
            <a:r>
              <a:rPr sz="2700" spc="-75" baseline="-41666" dirty="0">
                <a:latin typeface="Cambria Math"/>
                <a:cs typeface="Cambria Math"/>
              </a:rPr>
              <a:t>𝐶</a:t>
            </a:r>
            <a:endParaRPr sz="2700" baseline="-41666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738871" y="3134867"/>
            <a:ext cx="1462405" cy="14604"/>
          </a:xfrm>
          <a:custGeom>
            <a:avLst/>
            <a:gdLst/>
            <a:ahLst/>
            <a:cxnLst/>
            <a:rect l="l" t="t" r="r" b="b"/>
            <a:pathLst>
              <a:path w="1462404" h="14605">
                <a:moveTo>
                  <a:pt x="0" y="14478"/>
                </a:moveTo>
                <a:lnTo>
                  <a:pt x="0" y="0"/>
                </a:lnTo>
                <a:lnTo>
                  <a:pt x="1462277" y="0"/>
                </a:lnTo>
                <a:lnTo>
                  <a:pt x="1462277" y="14478"/>
                </a:lnTo>
                <a:lnTo>
                  <a:pt x="0" y="144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9684257" y="3134867"/>
            <a:ext cx="1089660" cy="14604"/>
          </a:xfrm>
          <a:custGeom>
            <a:avLst/>
            <a:gdLst/>
            <a:ahLst/>
            <a:cxnLst/>
            <a:rect l="l" t="t" r="r" b="b"/>
            <a:pathLst>
              <a:path w="1089659" h="14605">
                <a:moveTo>
                  <a:pt x="1089659" y="14478"/>
                </a:moveTo>
                <a:lnTo>
                  <a:pt x="1089659" y="0"/>
                </a:lnTo>
                <a:lnTo>
                  <a:pt x="0" y="0"/>
                </a:lnTo>
                <a:lnTo>
                  <a:pt x="0" y="14478"/>
                </a:lnTo>
                <a:lnTo>
                  <a:pt x="1089659" y="144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8317999" y="3119127"/>
            <a:ext cx="3366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796414" algn="l"/>
                <a:tab pos="2877185" algn="l"/>
              </a:tabLst>
            </a:pPr>
            <a:r>
              <a:rPr sz="1800" spc="-25" dirty="0">
                <a:latin typeface="Cambria Math"/>
                <a:cs typeface="Cambria Math"/>
              </a:rPr>
              <a:t>𝑑𝑡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25" dirty="0">
                <a:latin typeface="Cambria Math"/>
                <a:cs typeface="Cambria Math"/>
              </a:rPr>
              <a:t>𝑑𝑡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950" baseline="36324" dirty="0">
                <a:latin typeface="Cambria Math"/>
                <a:cs typeface="Cambria Math"/>
              </a:rPr>
              <a:t>𝑀</a:t>
            </a:r>
            <a:r>
              <a:rPr sz="1950" spc="412" baseline="36324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𝑑𝑡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1380723" y="2792984"/>
            <a:ext cx="281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𝑑𝑣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1393423" y="3134867"/>
            <a:ext cx="262255" cy="14604"/>
          </a:xfrm>
          <a:custGeom>
            <a:avLst/>
            <a:gdLst/>
            <a:ahLst/>
            <a:cxnLst/>
            <a:rect l="l" t="t" r="r" b="b"/>
            <a:pathLst>
              <a:path w="262254" h="14605">
                <a:moveTo>
                  <a:pt x="262127" y="14478"/>
                </a:moveTo>
                <a:lnTo>
                  <a:pt x="262127" y="0"/>
                </a:lnTo>
                <a:lnTo>
                  <a:pt x="0" y="0"/>
                </a:lnTo>
                <a:lnTo>
                  <a:pt x="0" y="14478"/>
                </a:lnTo>
                <a:lnTo>
                  <a:pt x="262127" y="144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A1C300D3-5A2A-4864-8D22-9DA57BECE760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  <p:sp>
        <p:nvSpPr>
          <p:cNvPr id="39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1598" y="3246120"/>
            <a:ext cx="3757965" cy="285985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250663" y="3253740"/>
            <a:ext cx="3691890" cy="2848610"/>
            <a:chOff x="1250663" y="3253740"/>
            <a:chExt cx="3691890" cy="284861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50663" y="3253740"/>
              <a:ext cx="3691591" cy="284835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416045" y="4423231"/>
              <a:ext cx="755650" cy="171450"/>
            </a:xfrm>
            <a:custGeom>
              <a:avLst/>
              <a:gdLst/>
              <a:ahLst/>
              <a:cxnLst/>
              <a:rect l="l" t="t" r="r" b="b"/>
              <a:pathLst>
                <a:path w="755650" h="171450">
                  <a:moveTo>
                    <a:pt x="170866" y="16478"/>
                  </a:moveTo>
                  <a:lnTo>
                    <a:pt x="168401" y="9322"/>
                  </a:lnTo>
                  <a:lnTo>
                    <a:pt x="163282" y="3643"/>
                  </a:lnTo>
                  <a:lnTo>
                    <a:pt x="156590" y="464"/>
                  </a:lnTo>
                  <a:lnTo>
                    <a:pt x="149328" y="0"/>
                  </a:lnTo>
                  <a:lnTo>
                    <a:pt x="142493" y="2464"/>
                  </a:lnTo>
                  <a:lnTo>
                    <a:pt x="0" y="85522"/>
                  </a:lnTo>
                  <a:lnTo>
                    <a:pt x="37337" y="107286"/>
                  </a:lnTo>
                  <a:lnTo>
                    <a:pt x="37337" y="66472"/>
                  </a:lnTo>
                  <a:lnTo>
                    <a:pt x="108290" y="66472"/>
                  </a:lnTo>
                  <a:lnTo>
                    <a:pt x="161543" y="35230"/>
                  </a:lnTo>
                  <a:lnTo>
                    <a:pt x="167223" y="30218"/>
                  </a:lnTo>
                  <a:lnTo>
                    <a:pt x="170402" y="23705"/>
                  </a:lnTo>
                  <a:lnTo>
                    <a:pt x="170866" y="16478"/>
                  </a:lnTo>
                  <a:close/>
                </a:path>
                <a:path w="755650" h="171450">
                  <a:moveTo>
                    <a:pt x="108290" y="66472"/>
                  </a:moveTo>
                  <a:lnTo>
                    <a:pt x="37337" y="66472"/>
                  </a:lnTo>
                  <a:lnTo>
                    <a:pt x="37337" y="104572"/>
                  </a:lnTo>
                  <a:lnTo>
                    <a:pt x="47243" y="104572"/>
                  </a:lnTo>
                  <a:lnTo>
                    <a:pt x="47243" y="69520"/>
                  </a:lnTo>
                  <a:lnTo>
                    <a:pt x="75329" y="85809"/>
                  </a:lnTo>
                  <a:lnTo>
                    <a:pt x="108290" y="66472"/>
                  </a:lnTo>
                  <a:close/>
                </a:path>
                <a:path w="755650" h="171450">
                  <a:moveTo>
                    <a:pt x="170866" y="154566"/>
                  </a:moveTo>
                  <a:lnTo>
                    <a:pt x="170402" y="147339"/>
                  </a:lnTo>
                  <a:lnTo>
                    <a:pt x="167223" y="140827"/>
                  </a:lnTo>
                  <a:lnTo>
                    <a:pt x="161543" y="135814"/>
                  </a:lnTo>
                  <a:lnTo>
                    <a:pt x="107678" y="104572"/>
                  </a:lnTo>
                  <a:lnTo>
                    <a:pt x="37337" y="104572"/>
                  </a:lnTo>
                  <a:lnTo>
                    <a:pt x="37337" y="107286"/>
                  </a:lnTo>
                  <a:lnTo>
                    <a:pt x="142493" y="168580"/>
                  </a:lnTo>
                  <a:lnTo>
                    <a:pt x="149328" y="171045"/>
                  </a:lnTo>
                  <a:lnTo>
                    <a:pt x="156590" y="170580"/>
                  </a:lnTo>
                  <a:lnTo>
                    <a:pt x="163282" y="167401"/>
                  </a:lnTo>
                  <a:lnTo>
                    <a:pt x="168401" y="161722"/>
                  </a:lnTo>
                  <a:lnTo>
                    <a:pt x="170866" y="154566"/>
                  </a:lnTo>
                  <a:close/>
                </a:path>
                <a:path w="755650" h="171450">
                  <a:moveTo>
                    <a:pt x="75329" y="85809"/>
                  </a:moveTo>
                  <a:lnTo>
                    <a:pt x="47243" y="69520"/>
                  </a:lnTo>
                  <a:lnTo>
                    <a:pt x="47243" y="102286"/>
                  </a:lnTo>
                  <a:lnTo>
                    <a:pt x="75329" y="85809"/>
                  </a:lnTo>
                  <a:close/>
                </a:path>
                <a:path w="755650" h="171450">
                  <a:moveTo>
                    <a:pt x="107678" y="104572"/>
                  </a:moveTo>
                  <a:lnTo>
                    <a:pt x="75329" y="85809"/>
                  </a:lnTo>
                  <a:lnTo>
                    <a:pt x="47243" y="102286"/>
                  </a:lnTo>
                  <a:lnTo>
                    <a:pt x="47243" y="104572"/>
                  </a:lnTo>
                  <a:lnTo>
                    <a:pt x="107678" y="104572"/>
                  </a:lnTo>
                  <a:close/>
                </a:path>
                <a:path w="755650" h="171450">
                  <a:moveTo>
                    <a:pt x="755141" y="104572"/>
                  </a:moveTo>
                  <a:lnTo>
                    <a:pt x="755141" y="66472"/>
                  </a:lnTo>
                  <a:lnTo>
                    <a:pt x="108290" y="66472"/>
                  </a:lnTo>
                  <a:lnTo>
                    <a:pt x="75329" y="85809"/>
                  </a:lnTo>
                  <a:lnTo>
                    <a:pt x="107678" y="104572"/>
                  </a:lnTo>
                  <a:lnTo>
                    <a:pt x="755141" y="104572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05405" y="3492246"/>
              <a:ext cx="171450" cy="462280"/>
            </a:xfrm>
            <a:custGeom>
              <a:avLst/>
              <a:gdLst/>
              <a:ahLst/>
              <a:cxnLst/>
              <a:rect l="l" t="t" r="r" b="b"/>
              <a:pathLst>
                <a:path w="171450" h="462279">
                  <a:moveTo>
                    <a:pt x="171045" y="149649"/>
                  </a:moveTo>
                  <a:lnTo>
                    <a:pt x="168580" y="142493"/>
                  </a:lnTo>
                  <a:lnTo>
                    <a:pt x="85522" y="0"/>
                  </a:lnTo>
                  <a:lnTo>
                    <a:pt x="2464" y="142493"/>
                  </a:lnTo>
                  <a:lnTo>
                    <a:pt x="0" y="149649"/>
                  </a:lnTo>
                  <a:lnTo>
                    <a:pt x="464" y="156876"/>
                  </a:lnTo>
                  <a:lnTo>
                    <a:pt x="3643" y="163389"/>
                  </a:lnTo>
                  <a:lnTo>
                    <a:pt x="9322" y="168401"/>
                  </a:lnTo>
                  <a:lnTo>
                    <a:pt x="16156" y="170866"/>
                  </a:lnTo>
                  <a:lnTo>
                    <a:pt x="23419" y="170402"/>
                  </a:lnTo>
                  <a:lnTo>
                    <a:pt x="30110" y="167223"/>
                  </a:lnTo>
                  <a:lnTo>
                    <a:pt x="35230" y="161543"/>
                  </a:lnTo>
                  <a:lnTo>
                    <a:pt x="66472" y="107678"/>
                  </a:lnTo>
                  <a:lnTo>
                    <a:pt x="66472" y="37337"/>
                  </a:lnTo>
                  <a:lnTo>
                    <a:pt x="104572" y="37337"/>
                  </a:lnTo>
                  <a:lnTo>
                    <a:pt x="104572" y="108290"/>
                  </a:lnTo>
                  <a:lnTo>
                    <a:pt x="135814" y="161543"/>
                  </a:lnTo>
                  <a:lnTo>
                    <a:pt x="140505" y="167223"/>
                  </a:lnTo>
                  <a:lnTo>
                    <a:pt x="147054" y="170402"/>
                  </a:lnTo>
                  <a:lnTo>
                    <a:pt x="154459" y="170866"/>
                  </a:lnTo>
                  <a:lnTo>
                    <a:pt x="161722" y="168401"/>
                  </a:lnTo>
                  <a:lnTo>
                    <a:pt x="167401" y="163389"/>
                  </a:lnTo>
                  <a:lnTo>
                    <a:pt x="170580" y="156876"/>
                  </a:lnTo>
                  <a:lnTo>
                    <a:pt x="171045" y="149649"/>
                  </a:lnTo>
                  <a:close/>
                </a:path>
                <a:path w="171450" h="462279">
                  <a:moveTo>
                    <a:pt x="104572" y="108290"/>
                  </a:moveTo>
                  <a:lnTo>
                    <a:pt x="104572" y="37337"/>
                  </a:lnTo>
                  <a:lnTo>
                    <a:pt x="66472" y="37337"/>
                  </a:lnTo>
                  <a:lnTo>
                    <a:pt x="66472" y="107678"/>
                  </a:lnTo>
                  <a:lnTo>
                    <a:pt x="68758" y="103737"/>
                  </a:lnTo>
                  <a:lnTo>
                    <a:pt x="68758" y="47243"/>
                  </a:lnTo>
                  <a:lnTo>
                    <a:pt x="101524" y="47243"/>
                  </a:lnTo>
                  <a:lnTo>
                    <a:pt x="101524" y="103095"/>
                  </a:lnTo>
                  <a:lnTo>
                    <a:pt x="104572" y="108290"/>
                  </a:lnTo>
                  <a:close/>
                </a:path>
                <a:path w="171450" h="462279">
                  <a:moveTo>
                    <a:pt x="104572" y="461771"/>
                  </a:moveTo>
                  <a:lnTo>
                    <a:pt x="104572" y="108290"/>
                  </a:lnTo>
                  <a:lnTo>
                    <a:pt x="85235" y="75329"/>
                  </a:lnTo>
                  <a:lnTo>
                    <a:pt x="66472" y="107678"/>
                  </a:lnTo>
                  <a:lnTo>
                    <a:pt x="66472" y="461771"/>
                  </a:lnTo>
                  <a:lnTo>
                    <a:pt x="104572" y="461771"/>
                  </a:lnTo>
                  <a:close/>
                </a:path>
                <a:path w="171450" h="462279">
                  <a:moveTo>
                    <a:pt x="101524" y="47243"/>
                  </a:moveTo>
                  <a:lnTo>
                    <a:pt x="68758" y="47243"/>
                  </a:lnTo>
                  <a:lnTo>
                    <a:pt x="85235" y="75329"/>
                  </a:lnTo>
                  <a:lnTo>
                    <a:pt x="101524" y="47243"/>
                  </a:lnTo>
                  <a:close/>
                </a:path>
                <a:path w="171450" h="462279">
                  <a:moveTo>
                    <a:pt x="85235" y="75329"/>
                  </a:moveTo>
                  <a:lnTo>
                    <a:pt x="68758" y="47243"/>
                  </a:lnTo>
                  <a:lnTo>
                    <a:pt x="68758" y="103737"/>
                  </a:lnTo>
                  <a:lnTo>
                    <a:pt x="85235" y="75329"/>
                  </a:lnTo>
                  <a:close/>
                </a:path>
                <a:path w="171450" h="462279">
                  <a:moveTo>
                    <a:pt x="101524" y="103095"/>
                  </a:moveTo>
                  <a:lnTo>
                    <a:pt x="101524" y="47243"/>
                  </a:lnTo>
                  <a:lnTo>
                    <a:pt x="85235" y="75329"/>
                  </a:lnTo>
                  <a:lnTo>
                    <a:pt x="101524" y="103095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dirty="0"/>
              <a:t>Miller</a:t>
            </a:r>
            <a:r>
              <a:rPr spc="-95" dirty="0"/>
              <a:t> </a:t>
            </a:r>
            <a:r>
              <a:rPr spc="-10" dirty="0"/>
              <a:t>Capacitor</a:t>
            </a:r>
          </a:p>
        </p:txBody>
      </p:sp>
      <p:sp>
        <p:nvSpPr>
          <p:cNvPr id="8" name="object 8"/>
          <p:cNvSpPr/>
          <p:nvPr/>
        </p:nvSpPr>
        <p:spPr>
          <a:xfrm>
            <a:off x="9249739" y="4449317"/>
            <a:ext cx="171450" cy="375285"/>
          </a:xfrm>
          <a:custGeom>
            <a:avLst/>
            <a:gdLst/>
            <a:ahLst/>
            <a:cxnLst/>
            <a:rect l="l" t="t" r="r" b="b"/>
            <a:pathLst>
              <a:path w="171450" h="375285">
                <a:moveTo>
                  <a:pt x="171045" y="149756"/>
                </a:moveTo>
                <a:lnTo>
                  <a:pt x="168580" y="142494"/>
                </a:lnTo>
                <a:lnTo>
                  <a:pt x="85522" y="0"/>
                </a:lnTo>
                <a:lnTo>
                  <a:pt x="2464" y="142494"/>
                </a:lnTo>
                <a:lnTo>
                  <a:pt x="0" y="149756"/>
                </a:lnTo>
                <a:lnTo>
                  <a:pt x="464" y="157162"/>
                </a:lnTo>
                <a:lnTo>
                  <a:pt x="3643" y="163710"/>
                </a:lnTo>
                <a:lnTo>
                  <a:pt x="9322" y="168402"/>
                </a:lnTo>
                <a:lnTo>
                  <a:pt x="16478" y="170866"/>
                </a:lnTo>
                <a:lnTo>
                  <a:pt x="23705" y="170402"/>
                </a:lnTo>
                <a:lnTo>
                  <a:pt x="30218" y="167223"/>
                </a:lnTo>
                <a:lnTo>
                  <a:pt x="35230" y="161544"/>
                </a:lnTo>
                <a:lnTo>
                  <a:pt x="66473" y="108643"/>
                </a:lnTo>
                <a:lnTo>
                  <a:pt x="66473" y="38100"/>
                </a:lnTo>
                <a:lnTo>
                  <a:pt x="104572" y="38100"/>
                </a:lnTo>
                <a:lnTo>
                  <a:pt x="104572" y="108037"/>
                </a:lnTo>
                <a:lnTo>
                  <a:pt x="135814" y="161544"/>
                </a:lnTo>
                <a:lnTo>
                  <a:pt x="140827" y="167223"/>
                </a:lnTo>
                <a:lnTo>
                  <a:pt x="147339" y="170402"/>
                </a:lnTo>
                <a:lnTo>
                  <a:pt x="154566" y="170866"/>
                </a:lnTo>
                <a:lnTo>
                  <a:pt x="161722" y="168402"/>
                </a:lnTo>
                <a:lnTo>
                  <a:pt x="167401" y="163710"/>
                </a:lnTo>
                <a:lnTo>
                  <a:pt x="170580" y="157162"/>
                </a:lnTo>
                <a:lnTo>
                  <a:pt x="171045" y="149756"/>
                </a:lnTo>
                <a:close/>
              </a:path>
              <a:path w="171450" h="375285">
                <a:moveTo>
                  <a:pt x="104572" y="108037"/>
                </a:moveTo>
                <a:lnTo>
                  <a:pt x="104572" y="38100"/>
                </a:lnTo>
                <a:lnTo>
                  <a:pt x="66473" y="38100"/>
                </a:lnTo>
                <a:lnTo>
                  <a:pt x="66473" y="108643"/>
                </a:lnTo>
                <a:lnTo>
                  <a:pt x="69520" y="103484"/>
                </a:lnTo>
                <a:lnTo>
                  <a:pt x="69520" y="48006"/>
                </a:lnTo>
                <a:lnTo>
                  <a:pt x="102286" y="48006"/>
                </a:lnTo>
                <a:lnTo>
                  <a:pt x="102286" y="104122"/>
                </a:lnTo>
                <a:lnTo>
                  <a:pt x="104572" y="108037"/>
                </a:lnTo>
                <a:close/>
              </a:path>
              <a:path w="171450" h="375285">
                <a:moveTo>
                  <a:pt x="104572" y="374904"/>
                </a:moveTo>
                <a:lnTo>
                  <a:pt x="104572" y="108037"/>
                </a:lnTo>
                <a:lnTo>
                  <a:pt x="85809" y="75903"/>
                </a:lnTo>
                <a:lnTo>
                  <a:pt x="66473" y="108643"/>
                </a:lnTo>
                <a:lnTo>
                  <a:pt x="66473" y="374904"/>
                </a:lnTo>
                <a:lnTo>
                  <a:pt x="104572" y="374904"/>
                </a:lnTo>
                <a:close/>
              </a:path>
              <a:path w="171450" h="375285">
                <a:moveTo>
                  <a:pt x="102286" y="48006"/>
                </a:moveTo>
                <a:lnTo>
                  <a:pt x="69520" y="48006"/>
                </a:lnTo>
                <a:lnTo>
                  <a:pt x="85809" y="75903"/>
                </a:lnTo>
                <a:lnTo>
                  <a:pt x="102286" y="48006"/>
                </a:lnTo>
                <a:close/>
              </a:path>
              <a:path w="171450" h="375285">
                <a:moveTo>
                  <a:pt x="85809" y="75903"/>
                </a:moveTo>
                <a:lnTo>
                  <a:pt x="69520" y="48006"/>
                </a:lnTo>
                <a:lnTo>
                  <a:pt x="69520" y="103484"/>
                </a:lnTo>
                <a:lnTo>
                  <a:pt x="85809" y="75903"/>
                </a:lnTo>
                <a:close/>
              </a:path>
              <a:path w="171450" h="375285">
                <a:moveTo>
                  <a:pt x="102286" y="104122"/>
                </a:moveTo>
                <a:lnTo>
                  <a:pt x="102286" y="48006"/>
                </a:lnTo>
                <a:lnTo>
                  <a:pt x="85809" y="75903"/>
                </a:lnTo>
                <a:lnTo>
                  <a:pt x="102286" y="104122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898635" y="4531867"/>
            <a:ext cx="39814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37" baseline="13888" dirty="0">
                <a:latin typeface="Verdana"/>
                <a:cs typeface="Verdana"/>
              </a:rPr>
              <a:t>C</a:t>
            </a:r>
            <a:r>
              <a:rPr sz="1050" spc="-25" dirty="0">
                <a:latin typeface="Verdana"/>
                <a:cs typeface="Verdana"/>
              </a:rPr>
              <a:t>LD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64778" y="2911094"/>
            <a:ext cx="6597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Verdana"/>
                <a:cs typeface="Verdana"/>
              </a:rPr>
              <a:t>|Zin|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999803" y="4824221"/>
            <a:ext cx="171450" cy="810260"/>
          </a:xfrm>
          <a:custGeom>
            <a:avLst/>
            <a:gdLst/>
            <a:ahLst/>
            <a:cxnLst/>
            <a:rect l="l" t="t" r="r" b="b"/>
            <a:pathLst>
              <a:path w="171450" h="810260">
                <a:moveTo>
                  <a:pt x="171045" y="149649"/>
                </a:moveTo>
                <a:lnTo>
                  <a:pt x="168580" y="142493"/>
                </a:lnTo>
                <a:lnTo>
                  <a:pt x="85522" y="0"/>
                </a:lnTo>
                <a:lnTo>
                  <a:pt x="2464" y="142493"/>
                </a:lnTo>
                <a:lnTo>
                  <a:pt x="0" y="149649"/>
                </a:lnTo>
                <a:lnTo>
                  <a:pt x="464" y="156876"/>
                </a:lnTo>
                <a:lnTo>
                  <a:pt x="3643" y="163389"/>
                </a:lnTo>
                <a:lnTo>
                  <a:pt x="9322" y="168401"/>
                </a:lnTo>
                <a:lnTo>
                  <a:pt x="16478" y="170866"/>
                </a:lnTo>
                <a:lnTo>
                  <a:pt x="23705" y="170402"/>
                </a:lnTo>
                <a:lnTo>
                  <a:pt x="30218" y="167223"/>
                </a:lnTo>
                <a:lnTo>
                  <a:pt x="35230" y="161543"/>
                </a:lnTo>
                <a:lnTo>
                  <a:pt x="66472" y="108290"/>
                </a:lnTo>
                <a:lnTo>
                  <a:pt x="66472" y="37337"/>
                </a:lnTo>
                <a:lnTo>
                  <a:pt x="104572" y="37337"/>
                </a:lnTo>
                <a:lnTo>
                  <a:pt x="104572" y="108290"/>
                </a:lnTo>
                <a:lnTo>
                  <a:pt x="135814" y="161543"/>
                </a:lnTo>
                <a:lnTo>
                  <a:pt x="140827" y="167223"/>
                </a:lnTo>
                <a:lnTo>
                  <a:pt x="147339" y="170402"/>
                </a:lnTo>
                <a:lnTo>
                  <a:pt x="154566" y="170866"/>
                </a:lnTo>
                <a:lnTo>
                  <a:pt x="161722" y="168401"/>
                </a:lnTo>
                <a:lnTo>
                  <a:pt x="167401" y="163389"/>
                </a:lnTo>
                <a:lnTo>
                  <a:pt x="170580" y="156876"/>
                </a:lnTo>
                <a:lnTo>
                  <a:pt x="171045" y="149649"/>
                </a:lnTo>
                <a:close/>
              </a:path>
              <a:path w="171450" h="810260">
                <a:moveTo>
                  <a:pt x="85522" y="733424"/>
                </a:moveTo>
                <a:lnTo>
                  <a:pt x="35230" y="647700"/>
                </a:lnTo>
                <a:lnTo>
                  <a:pt x="30218" y="642449"/>
                </a:lnTo>
                <a:lnTo>
                  <a:pt x="23705" y="639413"/>
                </a:lnTo>
                <a:lnTo>
                  <a:pt x="16478" y="638806"/>
                </a:lnTo>
                <a:lnTo>
                  <a:pt x="9322" y="640841"/>
                </a:lnTo>
                <a:lnTo>
                  <a:pt x="3643" y="645973"/>
                </a:lnTo>
                <a:lnTo>
                  <a:pt x="464" y="652748"/>
                </a:lnTo>
                <a:lnTo>
                  <a:pt x="0" y="660237"/>
                </a:lnTo>
                <a:lnTo>
                  <a:pt x="2464" y="667512"/>
                </a:lnTo>
                <a:lnTo>
                  <a:pt x="66472" y="777323"/>
                </a:lnTo>
                <a:lnTo>
                  <a:pt x="66472" y="771905"/>
                </a:lnTo>
                <a:lnTo>
                  <a:pt x="68758" y="771905"/>
                </a:lnTo>
                <a:lnTo>
                  <a:pt x="68758" y="762000"/>
                </a:lnTo>
                <a:lnTo>
                  <a:pt x="85522" y="733424"/>
                </a:lnTo>
                <a:close/>
              </a:path>
              <a:path w="171450" h="810260">
                <a:moveTo>
                  <a:pt x="104572" y="108290"/>
                </a:moveTo>
                <a:lnTo>
                  <a:pt x="104572" y="37337"/>
                </a:lnTo>
                <a:lnTo>
                  <a:pt x="66472" y="37337"/>
                </a:lnTo>
                <a:lnTo>
                  <a:pt x="66472" y="108290"/>
                </a:lnTo>
                <a:lnTo>
                  <a:pt x="68758" y="104394"/>
                </a:lnTo>
                <a:lnTo>
                  <a:pt x="68758" y="47243"/>
                </a:lnTo>
                <a:lnTo>
                  <a:pt x="102286" y="47243"/>
                </a:lnTo>
                <a:lnTo>
                  <a:pt x="102286" y="104394"/>
                </a:lnTo>
                <a:lnTo>
                  <a:pt x="104572" y="108290"/>
                </a:lnTo>
                <a:close/>
              </a:path>
              <a:path w="171450" h="810260">
                <a:moveTo>
                  <a:pt x="104572" y="700953"/>
                </a:moveTo>
                <a:lnTo>
                  <a:pt x="104572" y="108290"/>
                </a:lnTo>
                <a:lnTo>
                  <a:pt x="85522" y="75819"/>
                </a:lnTo>
                <a:lnTo>
                  <a:pt x="66472" y="108290"/>
                </a:lnTo>
                <a:lnTo>
                  <a:pt x="66472" y="700953"/>
                </a:lnTo>
                <a:lnTo>
                  <a:pt x="85522" y="733424"/>
                </a:lnTo>
                <a:lnTo>
                  <a:pt x="104572" y="700953"/>
                </a:lnTo>
                <a:close/>
              </a:path>
              <a:path w="171450" h="810260">
                <a:moveTo>
                  <a:pt x="104572" y="777323"/>
                </a:moveTo>
                <a:lnTo>
                  <a:pt x="104572" y="771905"/>
                </a:lnTo>
                <a:lnTo>
                  <a:pt x="66472" y="771905"/>
                </a:lnTo>
                <a:lnTo>
                  <a:pt x="66472" y="777323"/>
                </a:lnTo>
                <a:lnTo>
                  <a:pt x="85522" y="810005"/>
                </a:lnTo>
                <a:lnTo>
                  <a:pt x="104572" y="777323"/>
                </a:lnTo>
                <a:close/>
              </a:path>
              <a:path w="171450" h="810260">
                <a:moveTo>
                  <a:pt x="102286" y="47243"/>
                </a:moveTo>
                <a:lnTo>
                  <a:pt x="68758" y="47243"/>
                </a:lnTo>
                <a:lnTo>
                  <a:pt x="85522" y="75819"/>
                </a:lnTo>
                <a:lnTo>
                  <a:pt x="102286" y="47243"/>
                </a:lnTo>
                <a:close/>
              </a:path>
              <a:path w="171450" h="810260">
                <a:moveTo>
                  <a:pt x="85522" y="75819"/>
                </a:moveTo>
                <a:lnTo>
                  <a:pt x="68758" y="47243"/>
                </a:lnTo>
                <a:lnTo>
                  <a:pt x="68758" y="104394"/>
                </a:lnTo>
                <a:lnTo>
                  <a:pt x="85522" y="75819"/>
                </a:lnTo>
                <a:close/>
              </a:path>
              <a:path w="171450" h="810260">
                <a:moveTo>
                  <a:pt x="102286" y="762000"/>
                </a:moveTo>
                <a:lnTo>
                  <a:pt x="85522" y="733424"/>
                </a:lnTo>
                <a:lnTo>
                  <a:pt x="68758" y="762000"/>
                </a:lnTo>
                <a:lnTo>
                  <a:pt x="102286" y="762000"/>
                </a:lnTo>
                <a:close/>
              </a:path>
              <a:path w="171450" h="810260">
                <a:moveTo>
                  <a:pt x="102286" y="771905"/>
                </a:moveTo>
                <a:lnTo>
                  <a:pt x="102286" y="762000"/>
                </a:lnTo>
                <a:lnTo>
                  <a:pt x="68758" y="762000"/>
                </a:lnTo>
                <a:lnTo>
                  <a:pt x="68758" y="771905"/>
                </a:lnTo>
                <a:lnTo>
                  <a:pt x="102286" y="771905"/>
                </a:lnTo>
                <a:close/>
              </a:path>
              <a:path w="171450" h="810260">
                <a:moveTo>
                  <a:pt x="102286" y="104394"/>
                </a:moveTo>
                <a:lnTo>
                  <a:pt x="102286" y="47243"/>
                </a:lnTo>
                <a:lnTo>
                  <a:pt x="85522" y="75819"/>
                </a:lnTo>
                <a:lnTo>
                  <a:pt x="102286" y="104394"/>
                </a:lnTo>
                <a:close/>
              </a:path>
              <a:path w="171450" h="810260">
                <a:moveTo>
                  <a:pt x="171045" y="660237"/>
                </a:moveTo>
                <a:lnTo>
                  <a:pt x="170580" y="652748"/>
                </a:lnTo>
                <a:lnTo>
                  <a:pt x="167401" y="645973"/>
                </a:lnTo>
                <a:lnTo>
                  <a:pt x="161722" y="640841"/>
                </a:lnTo>
                <a:lnTo>
                  <a:pt x="154566" y="638806"/>
                </a:lnTo>
                <a:lnTo>
                  <a:pt x="147339" y="639413"/>
                </a:lnTo>
                <a:lnTo>
                  <a:pt x="140827" y="642449"/>
                </a:lnTo>
                <a:lnTo>
                  <a:pt x="135814" y="647700"/>
                </a:lnTo>
                <a:lnTo>
                  <a:pt x="85522" y="733424"/>
                </a:lnTo>
                <a:lnTo>
                  <a:pt x="102286" y="762000"/>
                </a:lnTo>
                <a:lnTo>
                  <a:pt x="102286" y="771905"/>
                </a:lnTo>
                <a:lnTo>
                  <a:pt x="104572" y="771905"/>
                </a:lnTo>
                <a:lnTo>
                  <a:pt x="104572" y="777323"/>
                </a:lnTo>
                <a:lnTo>
                  <a:pt x="168580" y="667512"/>
                </a:lnTo>
                <a:lnTo>
                  <a:pt x="171045" y="660237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187690" y="3654044"/>
            <a:ext cx="39814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37" baseline="13888" dirty="0">
                <a:latin typeface="Verdana"/>
                <a:cs typeface="Verdana"/>
              </a:rPr>
              <a:t>R</a:t>
            </a:r>
            <a:r>
              <a:rPr sz="1050" spc="-25" dirty="0">
                <a:latin typeface="Verdana"/>
                <a:cs typeface="Verdana"/>
              </a:rPr>
              <a:t>LD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32569" y="5094985"/>
            <a:ext cx="209105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Verdana"/>
                <a:cs typeface="Verdana"/>
              </a:rPr>
              <a:t>R</a:t>
            </a:r>
            <a:r>
              <a:rPr sz="1575" baseline="-21164" dirty="0">
                <a:latin typeface="Verdana"/>
                <a:cs typeface="Verdana"/>
              </a:rPr>
              <a:t>IN</a:t>
            </a:r>
            <a:r>
              <a:rPr sz="1600" dirty="0">
                <a:latin typeface="Verdana"/>
                <a:cs typeface="Verdana"/>
              </a:rPr>
              <a:t>’~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C</a:t>
            </a:r>
            <a:r>
              <a:rPr sz="1575" spc="-15" baseline="-21164" dirty="0">
                <a:latin typeface="Verdana"/>
                <a:cs typeface="Verdana"/>
              </a:rPr>
              <a:t>LD</a:t>
            </a:r>
            <a:r>
              <a:rPr sz="1600" spc="-10" dirty="0">
                <a:latin typeface="Verdana"/>
                <a:cs typeface="Verdana"/>
              </a:rPr>
              <a:t>/(Cm*Gm)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360152" y="2256282"/>
            <a:ext cx="998219" cy="0"/>
          </a:xfrm>
          <a:custGeom>
            <a:avLst/>
            <a:gdLst/>
            <a:ahLst/>
            <a:cxnLst/>
            <a:rect l="l" t="t" r="r" b="b"/>
            <a:pathLst>
              <a:path w="998220">
                <a:moveTo>
                  <a:pt x="0" y="0"/>
                </a:moveTo>
                <a:lnTo>
                  <a:pt x="998219" y="0"/>
                </a:lnTo>
              </a:path>
            </a:pathLst>
          </a:custGeom>
          <a:ln w="92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0355822" y="2250579"/>
            <a:ext cx="1003300" cy="294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i="1" dirty="0">
                <a:latin typeface="Times New Roman"/>
                <a:cs typeface="Times New Roman"/>
              </a:rPr>
              <a:t>Cpar</a:t>
            </a:r>
            <a:r>
              <a:rPr sz="1750" i="1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Symbol"/>
                <a:cs typeface="Symbol"/>
              </a:rPr>
              <a:t></a:t>
            </a:r>
            <a:r>
              <a:rPr sz="1750" spc="-160" dirty="0">
                <a:latin typeface="Times New Roman"/>
                <a:cs typeface="Times New Roman"/>
              </a:rPr>
              <a:t> </a:t>
            </a:r>
            <a:r>
              <a:rPr sz="1750" i="1" spc="-25" dirty="0">
                <a:latin typeface="Times New Roman"/>
                <a:cs typeface="Times New Roman"/>
              </a:rPr>
              <a:t>Cm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688811" y="1934359"/>
            <a:ext cx="336550" cy="294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i="1" spc="-25" dirty="0">
                <a:latin typeface="Times New Roman"/>
                <a:cs typeface="Times New Roman"/>
              </a:rPr>
              <a:t>Cm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293072" y="2075319"/>
            <a:ext cx="2048510" cy="294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i="1" spc="-10" dirty="0">
                <a:latin typeface="Times New Roman"/>
                <a:cs typeface="Times New Roman"/>
              </a:rPr>
              <a:t>ML</a:t>
            </a:r>
            <a:r>
              <a:rPr sz="1750" i="1" spc="-1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_</a:t>
            </a:r>
            <a:r>
              <a:rPr sz="1750" spc="-160" dirty="0">
                <a:latin typeface="Times New Roman"/>
                <a:cs typeface="Times New Roman"/>
              </a:rPr>
              <a:t> </a:t>
            </a:r>
            <a:r>
              <a:rPr sz="1750" i="1" dirty="0">
                <a:latin typeface="Times New Roman"/>
                <a:cs typeface="Times New Roman"/>
              </a:rPr>
              <a:t>Gain</a:t>
            </a:r>
            <a:r>
              <a:rPr sz="1750" i="1" spc="-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~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i="1" spc="-10" dirty="0">
                <a:latin typeface="Times New Roman"/>
                <a:cs typeface="Times New Roman"/>
              </a:rPr>
              <a:t>Gm</a:t>
            </a:r>
            <a:r>
              <a:rPr sz="1750" i="1" spc="-2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Symbol"/>
                <a:cs typeface="Symbol"/>
              </a:rPr>
              <a:t></a:t>
            </a:r>
            <a:r>
              <a:rPr sz="1750" spc="-165" dirty="0">
                <a:latin typeface="Times New Roman"/>
                <a:cs typeface="Times New Roman"/>
              </a:rPr>
              <a:t> </a:t>
            </a:r>
            <a:r>
              <a:rPr sz="1750" i="1" dirty="0">
                <a:latin typeface="Times New Roman"/>
                <a:cs typeface="Times New Roman"/>
              </a:rPr>
              <a:t>Rld</a:t>
            </a:r>
            <a:r>
              <a:rPr sz="1750" i="1" spc="-45" dirty="0">
                <a:latin typeface="Times New Roman"/>
                <a:cs typeface="Times New Roman"/>
              </a:rPr>
              <a:t> </a:t>
            </a:r>
            <a:r>
              <a:rPr sz="1750" spc="-50" dirty="0">
                <a:latin typeface="Symbol"/>
                <a:cs typeface="Symbol"/>
              </a:rPr>
              <a:t></a:t>
            </a:r>
            <a:endParaRPr sz="1750">
              <a:latin typeface="Symbol"/>
              <a:cs typeface="Symbo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336763" y="1514854"/>
            <a:ext cx="1180465" cy="0"/>
          </a:xfrm>
          <a:custGeom>
            <a:avLst/>
            <a:gdLst/>
            <a:ahLst/>
            <a:cxnLst/>
            <a:rect l="l" t="t" r="r" b="b"/>
            <a:pathLst>
              <a:path w="1180465">
                <a:moveTo>
                  <a:pt x="0" y="0"/>
                </a:moveTo>
                <a:lnTo>
                  <a:pt x="1180335" y="0"/>
                </a:lnTo>
              </a:path>
            </a:pathLst>
          </a:custGeom>
          <a:ln w="90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629110" y="1514854"/>
            <a:ext cx="915669" cy="0"/>
          </a:xfrm>
          <a:custGeom>
            <a:avLst/>
            <a:gdLst/>
            <a:ahLst/>
            <a:cxnLst/>
            <a:rect l="l" t="t" r="r" b="b"/>
            <a:pathLst>
              <a:path w="915670">
                <a:moveTo>
                  <a:pt x="0" y="0"/>
                </a:moveTo>
                <a:lnTo>
                  <a:pt x="915155" y="0"/>
                </a:lnTo>
              </a:path>
            </a:pathLst>
          </a:custGeom>
          <a:ln w="90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9765278" y="1201580"/>
            <a:ext cx="1492885" cy="2870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177290" algn="l"/>
              </a:tabLst>
            </a:pPr>
            <a:r>
              <a:rPr sz="1700" i="1" spc="-25" dirty="0">
                <a:latin typeface="Times New Roman"/>
                <a:cs typeface="Times New Roman"/>
              </a:rPr>
              <a:t>Gm</a:t>
            </a:r>
            <a:r>
              <a:rPr sz="1700" i="1" dirty="0">
                <a:latin typeface="Times New Roman"/>
                <a:cs typeface="Times New Roman"/>
              </a:rPr>
              <a:t>	</a:t>
            </a:r>
            <a:r>
              <a:rPr sz="1700" i="1" spc="-25" dirty="0">
                <a:latin typeface="Times New Roman"/>
                <a:cs typeface="Times New Roman"/>
              </a:rPr>
              <a:t>Cm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322041" y="1338745"/>
            <a:ext cx="984250" cy="2870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00" i="1" dirty="0">
                <a:latin typeface="Times New Roman"/>
                <a:cs typeface="Times New Roman"/>
              </a:rPr>
              <a:t>ML</a:t>
            </a:r>
            <a:r>
              <a:rPr sz="1700" dirty="0">
                <a:latin typeface="Times New Roman"/>
                <a:cs typeface="Times New Roman"/>
              </a:rPr>
              <a:t>_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BW</a:t>
            </a:r>
            <a:r>
              <a:rPr sz="1700" i="1" spc="114" dirty="0">
                <a:latin typeface="Times New Roman"/>
                <a:cs typeface="Times New Roman"/>
              </a:rPr>
              <a:t> </a:t>
            </a:r>
            <a:r>
              <a:rPr sz="1700" spc="-50" dirty="0">
                <a:latin typeface="Symbol"/>
                <a:cs typeface="Symbol"/>
              </a:rPr>
              <a:t>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536414" y="1338745"/>
            <a:ext cx="80010" cy="2870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00" spc="-50" dirty="0">
                <a:latin typeface="Symbol"/>
                <a:cs typeface="Symbol"/>
              </a:rPr>
              <a:t>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337773" y="1496298"/>
            <a:ext cx="222567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00" spc="-95" dirty="0">
                <a:latin typeface="Times New Roman"/>
                <a:cs typeface="Times New Roman"/>
              </a:rPr>
              <a:t>2</a:t>
            </a:r>
            <a:r>
              <a:rPr sz="1800" spc="-95" dirty="0">
                <a:latin typeface="Symbol"/>
                <a:cs typeface="Symbol"/>
              </a:rPr>
              <a:t></a:t>
            </a:r>
            <a:r>
              <a:rPr sz="1800" spc="-26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(</a:t>
            </a:r>
            <a:r>
              <a:rPr sz="1700" i="1" spc="-10" dirty="0">
                <a:latin typeface="Times New Roman"/>
                <a:cs typeface="Times New Roman"/>
              </a:rPr>
              <a:t>Cld</a:t>
            </a:r>
            <a:r>
              <a:rPr sz="1700" i="1" spc="-1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Symbol"/>
                <a:cs typeface="Symbol"/>
              </a:rPr>
              <a:t></a:t>
            </a:r>
            <a:r>
              <a:rPr sz="1700" spc="-235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Cm</a:t>
            </a:r>
            <a:r>
              <a:rPr sz="1700" dirty="0">
                <a:latin typeface="Times New Roman"/>
                <a:cs typeface="Times New Roman"/>
              </a:rPr>
              <a:t>)</a:t>
            </a:r>
            <a:r>
              <a:rPr sz="1700" spc="484" dirty="0">
                <a:latin typeface="Times New Roman"/>
                <a:cs typeface="Times New Roman"/>
              </a:rPr>
              <a:t> </a:t>
            </a:r>
            <a:r>
              <a:rPr sz="1700" i="1" spc="-10" dirty="0">
                <a:latin typeface="Times New Roman"/>
                <a:cs typeface="Times New Roman"/>
              </a:rPr>
              <a:t>Cpar</a:t>
            </a:r>
            <a:r>
              <a:rPr sz="1700" i="1" spc="-2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Symbol"/>
                <a:cs typeface="Symbol"/>
              </a:rPr>
              <a:t></a:t>
            </a:r>
            <a:r>
              <a:rPr sz="1700" spc="-235" dirty="0">
                <a:latin typeface="Times New Roman"/>
                <a:cs typeface="Times New Roman"/>
              </a:rPr>
              <a:t> </a:t>
            </a:r>
            <a:r>
              <a:rPr sz="1700" i="1" spc="-25" dirty="0">
                <a:latin typeface="Times New Roman"/>
                <a:cs typeface="Times New Roman"/>
              </a:rPr>
              <a:t>Cm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041395" y="2885186"/>
            <a:ext cx="61087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Verdana"/>
                <a:cs typeface="Verdana"/>
              </a:rPr>
              <a:t>|ML|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917942" y="3809821"/>
            <a:ext cx="512445" cy="171450"/>
          </a:xfrm>
          <a:custGeom>
            <a:avLst/>
            <a:gdLst/>
            <a:ahLst/>
            <a:cxnLst/>
            <a:rect l="l" t="t" r="r" b="b"/>
            <a:pathLst>
              <a:path w="512445" h="171450">
                <a:moveTo>
                  <a:pt x="170866" y="16478"/>
                </a:moveTo>
                <a:lnTo>
                  <a:pt x="168401" y="9322"/>
                </a:lnTo>
                <a:lnTo>
                  <a:pt x="163389" y="3643"/>
                </a:lnTo>
                <a:lnTo>
                  <a:pt x="156876" y="464"/>
                </a:lnTo>
                <a:lnTo>
                  <a:pt x="149649" y="0"/>
                </a:lnTo>
                <a:lnTo>
                  <a:pt x="142493" y="2464"/>
                </a:lnTo>
                <a:lnTo>
                  <a:pt x="0" y="85522"/>
                </a:lnTo>
                <a:lnTo>
                  <a:pt x="37337" y="107286"/>
                </a:lnTo>
                <a:lnTo>
                  <a:pt x="37337" y="66472"/>
                </a:lnTo>
                <a:lnTo>
                  <a:pt x="108290" y="66472"/>
                </a:lnTo>
                <a:lnTo>
                  <a:pt x="161543" y="35230"/>
                </a:lnTo>
                <a:lnTo>
                  <a:pt x="167223" y="30218"/>
                </a:lnTo>
                <a:lnTo>
                  <a:pt x="170402" y="23705"/>
                </a:lnTo>
                <a:lnTo>
                  <a:pt x="170866" y="16478"/>
                </a:lnTo>
                <a:close/>
              </a:path>
              <a:path w="512445" h="171450">
                <a:moveTo>
                  <a:pt x="108290" y="66472"/>
                </a:moveTo>
                <a:lnTo>
                  <a:pt x="37337" y="66472"/>
                </a:lnTo>
                <a:lnTo>
                  <a:pt x="37337" y="104572"/>
                </a:lnTo>
                <a:lnTo>
                  <a:pt x="47243" y="104572"/>
                </a:lnTo>
                <a:lnTo>
                  <a:pt x="47243" y="69520"/>
                </a:lnTo>
                <a:lnTo>
                  <a:pt x="75329" y="85809"/>
                </a:lnTo>
                <a:lnTo>
                  <a:pt x="108290" y="66472"/>
                </a:lnTo>
                <a:close/>
              </a:path>
              <a:path w="512445" h="171450">
                <a:moveTo>
                  <a:pt x="170866" y="154566"/>
                </a:moveTo>
                <a:lnTo>
                  <a:pt x="170402" y="147339"/>
                </a:lnTo>
                <a:lnTo>
                  <a:pt x="167223" y="140827"/>
                </a:lnTo>
                <a:lnTo>
                  <a:pt x="161543" y="135814"/>
                </a:lnTo>
                <a:lnTo>
                  <a:pt x="107678" y="104572"/>
                </a:lnTo>
                <a:lnTo>
                  <a:pt x="37337" y="104572"/>
                </a:lnTo>
                <a:lnTo>
                  <a:pt x="37337" y="107286"/>
                </a:lnTo>
                <a:lnTo>
                  <a:pt x="142493" y="168580"/>
                </a:lnTo>
                <a:lnTo>
                  <a:pt x="149649" y="171045"/>
                </a:lnTo>
                <a:lnTo>
                  <a:pt x="156876" y="170580"/>
                </a:lnTo>
                <a:lnTo>
                  <a:pt x="163389" y="167401"/>
                </a:lnTo>
                <a:lnTo>
                  <a:pt x="168401" y="161722"/>
                </a:lnTo>
                <a:lnTo>
                  <a:pt x="170866" y="154566"/>
                </a:lnTo>
                <a:close/>
              </a:path>
              <a:path w="512445" h="171450">
                <a:moveTo>
                  <a:pt x="75329" y="85809"/>
                </a:moveTo>
                <a:lnTo>
                  <a:pt x="47243" y="69520"/>
                </a:lnTo>
                <a:lnTo>
                  <a:pt x="47243" y="102286"/>
                </a:lnTo>
                <a:lnTo>
                  <a:pt x="75329" y="85809"/>
                </a:lnTo>
                <a:close/>
              </a:path>
              <a:path w="512445" h="171450">
                <a:moveTo>
                  <a:pt x="107678" y="104572"/>
                </a:moveTo>
                <a:lnTo>
                  <a:pt x="75329" y="85809"/>
                </a:lnTo>
                <a:lnTo>
                  <a:pt x="47243" y="102286"/>
                </a:lnTo>
                <a:lnTo>
                  <a:pt x="47243" y="104572"/>
                </a:lnTo>
                <a:lnTo>
                  <a:pt x="107678" y="104572"/>
                </a:lnTo>
                <a:close/>
              </a:path>
              <a:path w="512445" h="171450">
                <a:moveTo>
                  <a:pt x="512063" y="104572"/>
                </a:moveTo>
                <a:lnTo>
                  <a:pt x="512063" y="66472"/>
                </a:lnTo>
                <a:lnTo>
                  <a:pt x="108290" y="66472"/>
                </a:lnTo>
                <a:lnTo>
                  <a:pt x="75329" y="85809"/>
                </a:lnTo>
                <a:lnTo>
                  <a:pt x="107678" y="104572"/>
                </a:lnTo>
                <a:lnTo>
                  <a:pt x="512063" y="104572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2125979" y="3635755"/>
            <a:ext cx="39814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37" baseline="13888" dirty="0">
                <a:latin typeface="Verdana"/>
                <a:cs typeface="Verdana"/>
              </a:rPr>
              <a:t>R</a:t>
            </a:r>
            <a:r>
              <a:rPr sz="1050" spc="-25" dirty="0">
                <a:latin typeface="Verdana"/>
                <a:cs typeface="Verdana"/>
              </a:rPr>
              <a:t>LD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643884" y="4531867"/>
            <a:ext cx="39814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37" baseline="13888" dirty="0">
                <a:latin typeface="Verdana"/>
                <a:cs typeface="Verdana"/>
              </a:rPr>
              <a:t>C</a:t>
            </a:r>
            <a:r>
              <a:rPr sz="1050" spc="-25" dirty="0">
                <a:latin typeface="Verdana"/>
                <a:cs typeface="Verdana"/>
              </a:rPr>
              <a:t>LD</a:t>
            </a:r>
            <a:endParaRPr sz="1050">
              <a:latin typeface="Verdana"/>
              <a:cs typeface="Verdana"/>
            </a:endParaRPr>
          </a:p>
        </p:txBody>
      </p:sp>
      <p:pic>
        <p:nvPicPr>
          <p:cNvPr id="28" name="object 2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00984" y="3655135"/>
            <a:ext cx="229362" cy="171045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3556253" y="3635755"/>
            <a:ext cx="44259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30" baseline="13888" dirty="0">
                <a:latin typeface="Verdana"/>
                <a:cs typeface="Verdana"/>
              </a:rPr>
              <a:t>C</a:t>
            </a:r>
            <a:r>
              <a:rPr sz="1050" spc="-20" dirty="0">
                <a:latin typeface="Verdana"/>
                <a:cs typeface="Verdana"/>
              </a:rPr>
              <a:t>par</a:t>
            </a:r>
            <a:endParaRPr sz="1050">
              <a:latin typeface="Verdana"/>
              <a:cs typeface="Verdana"/>
            </a:endParaRPr>
          </a:p>
        </p:txBody>
      </p:sp>
      <p:pic>
        <p:nvPicPr>
          <p:cNvPr id="30" name="object 3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62271" y="1223772"/>
            <a:ext cx="2723388" cy="2066544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5435600" y="2057653"/>
            <a:ext cx="535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C0000"/>
                </a:solidFill>
                <a:latin typeface="Verdana"/>
                <a:cs typeface="Verdana"/>
              </a:rPr>
              <a:t>-</a:t>
            </a:r>
            <a:r>
              <a:rPr sz="1800" spc="-25" dirty="0">
                <a:latin typeface="Verdana"/>
                <a:cs typeface="Verdana"/>
              </a:rPr>
              <a:t>Gm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124450" y="2796032"/>
            <a:ext cx="487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13888" dirty="0">
                <a:latin typeface="Verdana"/>
                <a:cs typeface="Verdana"/>
              </a:rPr>
              <a:t>C</a:t>
            </a:r>
            <a:r>
              <a:rPr sz="1200" spc="-20" dirty="0">
                <a:latin typeface="Verdana"/>
                <a:cs typeface="Verdana"/>
              </a:rPr>
              <a:t>par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088379" y="2831846"/>
            <a:ext cx="437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C</a:t>
            </a:r>
            <a:r>
              <a:rPr sz="1200" spc="-25" dirty="0">
                <a:latin typeface="Verdana"/>
                <a:cs typeface="Verdana"/>
              </a:rPr>
              <a:t>LD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663438" y="1356614"/>
            <a:ext cx="185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C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822696" y="1489202"/>
            <a:ext cx="1739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Verdana"/>
                <a:cs typeface="Verdana"/>
              </a:rPr>
              <a:t>m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158228" y="2114041"/>
            <a:ext cx="556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13888" dirty="0">
                <a:latin typeface="Verdana"/>
                <a:cs typeface="Verdana"/>
              </a:rPr>
              <a:t>V</a:t>
            </a:r>
            <a:r>
              <a:rPr sz="1200" spc="-20" dirty="0">
                <a:latin typeface="Verdana"/>
                <a:cs typeface="Verdana"/>
              </a:rPr>
              <a:t>OUT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034028" y="2092705"/>
            <a:ext cx="408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V</a:t>
            </a:r>
            <a:r>
              <a:rPr sz="1200" spc="-25" dirty="0">
                <a:latin typeface="Verdana"/>
                <a:cs typeface="Verdana"/>
              </a:rPr>
              <a:t>IN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051553" y="2534411"/>
            <a:ext cx="585470" cy="114300"/>
          </a:xfrm>
          <a:custGeom>
            <a:avLst/>
            <a:gdLst/>
            <a:ahLst/>
            <a:cxnLst/>
            <a:rect l="l" t="t" r="r" b="b"/>
            <a:pathLst>
              <a:path w="585470" h="114300">
                <a:moveTo>
                  <a:pt x="413765" y="76200"/>
                </a:moveTo>
                <a:lnTo>
                  <a:pt x="413765" y="38100"/>
                </a:lnTo>
                <a:lnTo>
                  <a:pt x="0" y="38100"/>
                </a:lnTo>
                <a:lnTo>
                  <a:pt x="0" y="76200"/>
                </a:lnTo>
                <a:lnTo>
                  <a:pt x="413765" y="76200"/>
                </a:lnTo>
                <a:close/>
              </a:path>
              <a:path w="585470" h="114300">
                <a:moveTo>
                  <a:pt x="585216" y="57150"/>
                </a:moveTo>
                <a:lnTo>
                  <a:pt x="394716" y="0"/>
                </a:lnTo>
                <a:lnTo>
                  <a:pt x="394716" y="38100"/>
                </a:lnTo>
                <a:lnTo>
                  <a:pt x="413765" y="38100"/>
                </a:lnTo>
                <a:lnTo>
                  <a:pt x="413765" y="108585"/>
                </a:lnTo>
                <a:lnTo>
                  <a:pt x="585216" y="57150"/>
                </a:lnTo>
                <a:close/>
              </a:path>
              <a:path w="585470" h="114300">
                <a:moveTo>
                  <a:pt x="413765" y="108585"/>
                </a:moveTo>
                <a:lnTo>
                  <a:pt x="413765" y="76200"/>
                </a:lnTo>
                <a:lnTo>
                  <a:pt x="394716" y="76200"/>
                </a:lnTo>
                <a:lnTo>
                  <a:pt x="394716" y="114300"/>
                </a:lnTo>
                <a:lnTo>
                  <a:pt x="413765" y="108585"/>
                </a:lnTo>
                <a:close/>
              </a:path>
            </a:pathLst>
          </a:custGeom>
          <a:solidFill>
            <a:srgbClr val="CB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4105655" y="2745740"/>
            <a:ext cx="409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Z</a:t>
            </a:r>
            <a:r>
              <a:rPr sz="1200" spc="-25" dirty="0">
                <a:latin typeface="Verdana"/>
                <a:cs typeface="Verdana"/>
              </a:rPr>
              <a:t>IN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943343" y="2847085"/>
            <a:ext cx="437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R</a:t>
            </a:r>
            <a:r>
              <a:rPr sz="1200" spc="-25" dirty="0">
                <a:latin typeface="Verdana"/>
                <a:cs typeface="Verdana"/>
              </a:rPr>
              <a:t>LD</a:t>
            </a:r>
            <a:endParaRPr sz="1200">
              <a:latin typeface="Verdana"/>
              <a:cs typeface="Verdana"/>
            </a:endParaRPr>
          </a:p>
        </p:txBody>
      </p:sp>
      <p:pic>
        <p:nvPicPr>
          <p:cNvPr id="41" name="object 4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06990" y="4904922"/>
            <a:ext cx="230124" cy="171700"/>
          </a:xfrm>
          <a:prstGeom prst="rect">
            <a:avLst/>
          </a:prstGeom>
        </p:spPr>
      </p:pic>
      <p:sp>
        <p:nvSpPr>
          <p:cNvPr id="42" name="object 42"/>
          <p:cNvSpPr txBox="1"/>
          <p:nvPr/>
        </p:nvSpPr>
        <p:spPr>
          <a:xfrm>
            <a:off x="10099547" y="4636261"/>
            <a:ext cx="44259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30" baseline="13888" dirty="0">
                <a:latin typeface="Verdana"/>
                <a:cs typeface="Verdana"/>
              </a:rPr>
              <a:t>C</a:t>
            </a:r>
            <a:r>
              <a:rPr sz="1050" spc="-20" dirty="0">
                <a:latin typeface="Verdana"/>
                <a:cs typeface="Verdana"/>
              </a:rPr>
              <a:t>par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D61D45B5-578C-4C8B-B208-2A2908699632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45" name="object 4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  <p:sp>
        <p:nvSpPr>
          <p:cNvPr id="47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dirty="0"/>
              <a:t>Two</a:t>
            </a:r>
            <a:r>
              <a:rPr spc="-100" dirty="0"/>
              <a:t> </a:t>
            </a:r>
            <a:r>
              <a:rPr dirty="0"/>
              <a:t>stage</a:t>
            </a:r>
            <a:r>
              <a:rPr spc="-114" dirty="0"/>
              <a:t> </a:t>
            </a:r>
            <a:r>
              <a:rPr dirty="0"/>
              <a:t>amplifier:</a:t>
            </a:r>
            <a:r>
              <a:rPr spc="-75" dirty="0"/>
              <a:t> </a:t>
            </a:r>
            <a:r>
              <a:rPr dirty="0"/>
              <a:t>Miller</a:t>
            </a:r>
            <a:r>
              <a:rPr spc="-85" dirty="0"/>
              <a:t> </a:t>
            </a:r>
            <a:r>
              <a:rPr spc="-10" dirty="0"/>
              <a:t>compensation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06973" y="1263395"/>
            <a:ext cx="6313932" cy="473887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847580" y="1570735"/>
            <a:ext cx="1866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Uncompensated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38015" y="1738368"/>
            <a:ext cx="155384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Miller compensated CM=6pF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0591038" y="2625089"/>
            <a:ext cx="203200" cy="2315845"/>
            <a:chOff x="10591038" y="2625089"/>
            <a:chExt cx="203200" cy="2315845"/>
          </a:xfrm>
        </p:grpSpPr>
        <p:sp>
          <p:nvSpPr>
            <p:cNvPr id="7" name="object 7"/>
            <p:cNvSpPr/>
            <p:nvPr/>
          </p:nvSpPr>
          <p:spPr>
            <a:xfrm>
              <a:off x="10789158" y="2625089"/>
              <a:ext cx="0" cy="2276475"/>
            </a:xfrm>
            <a:custGeom>
              <a:avLst/>
              <a:gdLst/>
              <a:ahLst/>
              <a:cxnLst/>
              <a:rect l="l" t="t" r="r" b="b"/>
              <a:pathLst>
                <a:path h="2276475">
                  <a:moveTo>
                    <a:pt x="0" y="0"/>
                  </a:moveTo>
                  <a:lnTo>
                    <a:pt x="0" y="2276094"/>
                  </a:lnTo>
                </a:path>
              </a:pathLst>
            </a:custGeom>
            <a:ln w="9144">
              <a:solidFill>
                <a:srgbClr val="7E7E7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591038" y="2625089"/>
              <a:ext cx="203200" cy="2315845"/>
            </a:xfrm>
            <a:custGeom>
              <a:avLst/>
              <a:gdLst/>
              <a:ahLst/>
              <a:cxnLst/>
              <a:rect l="l" t="t" r="r" b="b"/>
              <a:pathLst>
                <a:path w="203200" h="2315845">
                  <a:moveTo>
                    <a:pt x="9144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9144" y="76200"/>
                  </a:lnTo>
                  <a:lnTo>
                    <a:pt x="9144" y="0"/>
                  </a:lnTo>
                  <a:close/>
                </a:path>
                <a:path w="203200" h="2315845">
                  <a:moveTo>
                    <a:pt x="202692" y="2304288"/>
                  </a:moveTo>
                  <a:lnTo>
                    <a:pt x="193548" y="2304288"/>
                  </a:lnTo>
                  <a:lnTo>
                    <a:pt x="193548" y="2315718"/>
                  </a:lnTo>
                  <a:lnTo>
                    <a:pt x="202692" y="2315718"/>
                  </a:lnTo>
                  <a:lnTo>
                    <a:pt x="202692" y="2304288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595610" y="2729483"/>
              <a:ext cx="0" cy="2171700"/>
            </a:xfrm>
            <a:custGeom>
              <a:avLst/>
              <a:gdLst/>
              <a:ahLst/>
              <a:cxnLst/>
              <a:rect l="l" t="t" r="r" b="b"/>
              <a:pathLst>
                <a:path h="2171700">
                  <a:moveTo>
                    <a:pt x="0" y="0"/>
                  </a:moveTo>
                  <a:lnTo>
                    <a:pt x="0" y="2171700"/>
                  </a:lnTo>
                </a:path>
              </a:pathLst>
            </a:custGeom>
            <a:ln w="9144">
              <a:solidFill>
                <a:srgbClr val="7E7E7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591038" y="4929377"/>
              <a:ext cx="9525" cy="11430"/>
            </a:xfrm>
            <a:custGeom>
              <a:avLst/>
              <a:gdLst/>
              <a:ahLst/>
              <a:cxnLst/>
              <a:rect l="l" t="t" r="r" b="b"/>
              <a:pathLst>
                <a:path w="9525" h="11429">
                  <a:moveTo>
                    <a:pt x="9144" y="11429"/>
                  </a:moveTo>
                  <a:lnTo>
                    <a:pt x="9144" y="0"/>
                  </a:lnTo>
                  <a:lnTo>
                    <a:pt x="0" y="0"/>
                  </a:lnTo>
                  <a:lnTo>
                    <a:pt x="0" y="11429"/>
                  </a:lnTo>
                  <a:lnTo>
                    <a:pt x="9144" y="11429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559033" y="3974846"/>
            <a:ext cx="1031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Symbol"/>
                <a:cs typeface="Symbol"/>
              </a:rPr>
              <a:t></a:t>
            </a:r>
            <a:r>
              <a:rPr sz="1800" spc="-15" baseline="-20833" dirty="0">
                <a:latin typeface="Verdana"/>
                <a:cs typeface="Verdana"/>
              </a:rPr>
              <a:t>M</a:t>
            </a:r>
            <a:r>
              <a:rPr sz="1800" spc="-10" dirty="0">
                <a:latin typeface="Verdana"/>
                <a:cs typeface="Verdana"/>
              </a:rPr>
              <a:t>=45</a:t>
            </a:r>
            <a:r>
              <a:rPr sz="1800" spc="-10" dirty="0">
                <a:latin typeface="MS PGothic"/>
                <a:cs typeface="MS PGothic"/>
              </a:rPr>
              <a:t>°</a:t>
            </a:r>
            <a:endParaRPr sz="1800">
              <a:latin typeface="MS PGothic"/>
              <a:cs typeface="MS P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862302" y="4344423"/>
            <a:ext cx="885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Symbol"/>
                <a:cs typeface="Symbol"/>
              </a:rPr>
              <a:t></a:t>
            </a:r>
            <a:r>
              <a:rPr sz="1800" spc="-15" baseline="-20833" dirty="0">
                <a:latin typeface="Verdana"/>
                <a:cs typeface="Verdana"/>
              </a:rPr>
              <a:t>M</a:t>
            </a:r>
            <a:r>
              <a:rPr sz="1800" spc="-10" dirty="0">
                <a:latin typeface="Verdana"/>
                <a:cs typeface="Verdana"/>
              </a:rPr>
              <a:t>=0</a:t>
            </a:r>
            <a:r>
              <a:rPr sz="1800" spc="-10" dirty="0">
                <a:latin typeface="MS PGothic"/>
                <a:cs typeface="MS PGothic"/>
              </a:rPr>
              <a:t>°</a:t>
            </a:r>
            <a:endParaRPr sz="1800">
              <a:latin typeface="MS PGothic"/>
              <a:cs typeface="MS P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98474" y="5230621"/>
            <a:ext cx="405320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2550" marR="5080" indent="-70485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Verdana"/>
                <a:cs typeface="Verdana"/>
              </a:rPr>
              <a:t>Very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effective.</a:t>
            </a:r>
            <a:r>
              <a:rPr sz="2000" spc="-2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Most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commonly </a:t>
            </a:r>
            <a:r>
              <a:rPr sz="2000" dirty="0">
                <a:latin typeface="Verdana"/>
                <a:cs typeface="Verdana"/>
              </a:rPr>
              <a:t>used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compensation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technique.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2386" y="1930907"/>
            <a:ext cx="4142232" cy="2532888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161288" y="2958338"/>
            <a:ext cx="4794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13888" dirty="0">
                <a:latin typeface="Verdana"/>
                <a:cs typeface="Verdana"/>
              </a:rPr>
              <a:t>V</a:t>
            </a:r>
            <a:r>
              <a:rPr sz="1200" dirty="0">
                <a:latin typeface="Verdana"/>
                <a:cs typeface="Verdana"/>
              </a:rPr>
              <a:t>IN-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19D2E697-1AC9-417D-AADD-C138FB72A1AB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  <p:sp>
        <p:nvSpPr>
          <p:cNvPr id="16" name="object 16"/>
          <p:cNvSpPr txBox="1"/>
          <p:nvPr/>
        </p:nvSpPr>
        <p:spPr>
          <a:xfrm>
            <a:off x="4619244" y="2867659"/>
            <a:ext cx="556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13888" dirty="0">
                <a:latin typeface="Verdana"/>
                <a:cs typeface="Verdana"/>
              </a:rPr>
              <a:t>V</a:t>
            </a:r>
            <a:r>
              <a:rPr sz="1200" spc="-20" dirty="0">
                <a:latin typeface="Verdana"/>
                <a:cs typeface="Verdana"/>
              </a:rPr>
              <a:t>OUT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24783" y="3904742"/>
            <a:ext cx="45148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C</a:t>
            </a:r>
            <a:r>
              <a:rPr sz="1200" spc="-25" dirty="0">
                <a:latin typeface="Verdana"/>
                <a:cs typeface="Verdana"/>
              </a:rPr>
              <a:t>EQ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944367" y="2958338"/>
            <a:ext cx="534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13888" dirty="0">
                <a:latin typeface="Verdana"/>
                <a:cs typeface="Verdana"/>
              </a:rPr>
              <a:t>V</a:t>
            </a:r>
            <a:r>
              <a:rPr sz="1200" spc="-20" dirty="0">
                <a:latin typeface="Verdana"/>
                <a:cs typeface="Verdana"/>
              </a:rPr>
              <a:t>IN+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46879" y="3873500"/>
            <a:ext cx="1055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642620" algn="l"/>
              </a:tabLst>
            </a:pPr>
            <a:r>
              <a:rPr sz="2700" spc="-37" baseline="13888" dirty="0">
                <a:latin typeface="Verdana"/>
                <a:cs typeface="Verdana"/>
              </a:rPr>
              <a:t>C</a:t>
            </a:r>
            <a:r>
              <a:rPr sz="1200" spc="-25" dirty="0">
                <a:latin typeface="Verdana"/>
                <a:cs typeface="Verdana"/>
              </a:rPr>
              <a:t>LD</a:t>
            </a:r>
            <a:r>
              <a:rPr sz="1200" dirty="0">
                <a:latin typeface="Verdana"/>
                <a:cs typeface="Verdana"/>
              </a:rPr>
              <a:t>	</a:t>
            </a:r>
            <a:r>
              <a:rPr sz="2700" spc="-37" baseline="13888" dirty="0">
                <a:latin typeface="Verdana"/>
                <a:cs typeface="Verdana"/>
              </a:rPr>
              <a:t>R</a:t>
            </a:r>
            <a:r>
              <a:rPr sz="1200" spc="-25" dirty="0">
                <a:latin typeface="Verdana"/>
                <a:cs typeface="Verdana"/>
              </a:rPr>
              <a:t>LD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774442" y="1960879"/>
            <a:ext cx="4832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gm</a:t>
            </a:r>
            <a:r>
              <a:rPr sz="1800" spc="-37" baseline="-20833" dirty="0">
                <a:latin typeface="Verdana"/>
                <a:cs typeface="Verdana"/>
              </a:rPr>
              <a:t>i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228338" y="1960879"/>
            <a:ext cx="534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gm</a:t>
            </a:r>
            <a:r>
              <a:rPr sz="1800" spc="-37" baseline="-20833" dirty="0">
                <a:latin typeface="Verdana"/>
                <a:cs typeface="Verdana"/>
              </a:rPr>
              <a:t>o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476244" y="3226561"/>
            <a:ext cx="342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C</a:t>
            </a:r>
            <a:r>
              <a:rPr sz="1800" spc="-37" baseline="-20833" dirty="0">
                <a:latin typeface="Verdana"/>
                <a:cs typeface="Verdana"/>
              </a:rPr>
              <a:t>C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27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595" y="1312925"/>
            <a:ext cx="6318503" cy="473887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010923" y="1787913"/>
            <a:ext cx="15538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Miller compensated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dirty="0"/>
              <a:t>Two</a:t>
            </a:r>
            <a:r>
              <a:rPr spc="-100" dirty="0"/>
              <a:t> </a:t>
            </a:r>
            <a:r>
              <a:rPr dirty="0"/>
              <a:t>stage</a:t>
            </a:r>
            <a:r>
              <a:rPr spc="-114" dirty="0"/>
              <a:t> </a:t>
            </a:r>
            <a:r>
              <a:rPr dirty="0"/>
              <a:t>amplifier:</a:t>
            </a:r>
            <a:r>
              <a:rPr spc="-75" dirty="0"/>
              <a:t> </a:t>
            </a:r>
            <a:r>
              <a:rPr dirty="0"/>
              <a:t>Miller</a:t>
            </a:r>
            <a:r>
              <a:rPr spc="-85" dirty="0"/>
              <a:t> </a:t>
            </a:r>
            <a:r>
              <a:rPr spc="-10" dirty="0"/>
              <a:t>compensation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284207" y="2473705"/>
            <a:ext cx="2006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47839" dirty="0">
                <a:solidFill>
                  <a:srgbClr val="001F5F"/>
                </a:solidFill>
                <a:latin typeface="Cambria Math"/>
                <a:cs typeface="Cambria Math"/>
              </a:rPr>
              <a:t>𝑝</a:t>
            </a:r>
            <a:r>
              <a:rPr sz="1950" baseline="51282" dirty="0">
                <a:solidFill>
                  <a:srgbClr val="001F5F"/>
                </a:solidFill>
                <a:latin typeface="Cambria Math"/>
                <a:cs typeface="Cambria Math"/>
              </a:rPr>
              <a:t>1</a:t>
            </a:r>
            <a:r>
              <a:rPr sz="1950" spc="359" baseline="51282" dirty="0">
                <a:solidFill>
                  <a:srgbClr val="001F5F"/>
                </a:solidFill>
                <a:latin typeface="Cambria Math"/>
                <a:cs typeface="Cambria Math"/>
              </a:rPr>
              <a:t> </a:t>
            </a:r>
            <a:r>
              <a:rPr sz="2700" baseline="47839" dirty="0">
                <a:solidFill>
                  <a:srgbClr val="001F5F"/>
                </a:solidFill>
                <a:latin typeface="Cambria Math"/>
                <a:cs typeface="Cambria Math"/>
              </a:rPr>
              <a:t>=</a:t>
            </a:r>
            <a:r>
              <a:rPr sz="2700" spc="104" baseline="47839" dirty="0">
                <a:solidFill>
                  <a:srgbClr val="001F5F"/>
                </a:solidFill>
                <a:latin typeface="Cambria Math"/>
                <a:cs typeface="Cambria Math"/>
              </a:rPr>
              <a:t> </a:t>
            </a:r>
            <a:r>
              <a:rPr sz="2700" spc="-15" baseline="10802" dirty="0">
                <a:solidFill>
                  <a:srgbClr val="001F5F"/>
                </a:solidFill>
                <a:latin typeface="Cambria Math"/>
                <a:cs typeface="Cambria Math"/>
              </a:rPr>
              <a:t>𝑔𝑚</a:t>
            </a:r>
            <a:r>
              <a:rPr sz="1300" spc="-10" dirty="0">
                <a:solidFill>
                  <a:srgbClr val="001F5F"/>
                </a:solidFill>
                <a:latin typeface="Cambria Math"/>
                <a:cs typeface="Cambria Math"/>
              </a:rPr>
              <a:t>𝑜</a:t>
            </a:r>
            <a:r>
              <a:rPr sz="2700" spc="-15" baseline="10802" dirty="0">
                <a:solidFill>
                  <a:srgbClr val="001F5F"/>
                </a:solidFill>
                <a:latin typeface="Cambria Math"/>
                <a:cs typeface="Cambria Math"/>
              </a:rPr>
              <a:t>𝑅</a:t>
            </a:r>
            <a:r>
              <a:rPr sz="1300" spc="-10" dirty="0">
                <a:solidFill>
                  <a:srgbClr val="001F5F"/>
                </a:solidFill>
                <a:latin typeface="Cambria Math"/>
                <a:cs typeface="Cambria Math"/>
              </a:rPr>
              <a:t>𝐸Q</a:t>
            </a:r>
            <a:r>
              <a:rPr sz="2700" spc="-15" baseline="10802" dirty="0">
                <a:solidFill>
                  <a:srgbClr val="001F5F"/>
                </a:solidFill>
                <a:latin typeface="Cambria Math"/>
                <a:cs typeface="Cambria Math"/>
              </a:rPr>
              <a:t>𝑅</a:t>
            </a:r>
            <a:r>
              <a:rPr sz="1300" spc="-10" dirty="0">
                <a:solidFill>
                  <a:srgbClr val="001F5F"/>
                </a:solidFill>
                <a:latin typeface="Cambria Math"/>
                <a:cs typeface="Cambria Math"/>
              </a:rPr>
              <a:t>𝐿𝐷</a:t>
            </a:r>
            <a:r>
              <a:rPr sz="2700" spc="-15" baseline="10802" dirty="0">
                <a:solidFill>
                  <a:srgbClr val="001F5F"/>
                </a:solidFill>
                <a:latin typeface="Cambria Math"/>
                <a:cs typeface="Cambria Math"/>
              </a:rPr>
              <a:t>𝐶</a:t>
            </a:r>
            <a:r>
              <a:rPr sz="1300" spc="-10" dirty="0">
                <a:solidFill>
                  <a:srgbClr val="001F5F"/>
                </a:solidFill>
                <a:latin typeface="Cambria Math"/>
                <a:cs typeface="Cambria Math"/>
              </a:rPr>
              <a:t>𝐶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438899" y="2101080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001F5F"/>
                </a:solidFill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841992" y="2442972"/>
            <a:ext cx="1428115" cy="14604"/>
          </a:xfrm>
          <a:custGeom>
            <a:avLst/>
            <a:gdLst/>
            <a:ahLst/>
            <a:cxnLst/>
            <a:rect l="l" t="t" r="r" b="b"/>
            <a:pathLst>
              <a:path w="1428115" h="14605">
                <a:moveTo>
                  <a:pt x="0" y="14477"/>
                </a:moveTo>
                <a:lnTo>
                  <a:pt x="0" y="0"/>
                </a:lnTo>
                <a:lnTo>
                  <a:pt x="1427988" y="0"/>
                </a:lnTo>
                <a:lnTo>
                  <a:pt x="1427988" y="14477"/>
                </a:lnTo>
                <a:lnTo>
                  <a:pt x="0" y="14477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263888" y="319150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001F5F"/>
                </a:solidFill>
                <a:latin typeface="Cambria Math"/>
                <a:cs typeface="Cambria Math"/>
              </a:rPr>
              <a:t>𝑝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83521" y="3299713"/>
            <a:ext cx="122555" cy="2260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00" spc="-50" dirty="0">
                <a:solidFill>
                  <a:srgbClr val="001F5F"/>
                </a:solidFill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528047" y="3018528"/>
            <a:ext cx="741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-41666" dirty="0">
                <a:solidFill>
                  <a:srgbClr val="001F5F"/>
                </a:solidFill>
                <a:latin typeface="Cambria Math"/>
                <a:cs typeface="Cambria Math"/>
              </a:rPr>
              <a:t>=</a:t>
            </a:r>
            <a:r>
              <a:rPr sz="2700" spc="135" baseline="-41666" dirty="0">
                <a:solidFill>
                  <a:srgbClr val="001F5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001F5F"/>
                </a:solidFill>
                <a:latin typeface="Cambria Math"/>
                <a:cs typeface="Cambria Math"/>
              </a:rPr>
              <a:t>𝑔𝑚</a:t>
            </a:r>
            <a:r>
              <a:rPr sz="1950" spc="-37" baseline="-14957" dirty="0">
                <a:solidFill>
                  <a:srgbClr val="001F5F"/>
                </a:solidFill>
                <a:latin typeface="Cambria Math"/>
                <a:cs typeface="Cambria Math"/>
              </a:rPr>
              <a:t>𝑜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851897" y="3391154"/>
            <a:ext cx="41020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0802" dirty="0">
                <a:solidFill>
                  <a:srgbClr val="001F5F"/>
                </a:solidFill>
                <a:latin typeface="Cambria Math"/>
                <a:cs typeface="Cambria Math"/>
              </a:rPr>
              <a:t>𝐶</a:t>
            </a:r>
            <a:r>
              <a:rPr sz="1300" spc="-25" dirty="0">
                <a:solidFill>
                  <a:srgbClr val="001F5F"/>
                </a:solidFill>
                <a:latin typeface="Cambria Math"/>
                <a:cs typeface="Cambria Math"/>
              </a:rPr>
              <a:t>𝐿𝐷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800843" y="3360420"/>
            <a:ext cx="524510" cy="14604"/>
          </a:xfrm>
          <a:custGeom>
            <a:avLst/>
            <a:gdLst/>
            <a:ahLst/>
            <a:cxnLst/>
            <a:rect l="l" t="t" r="r" b="b"/>
            <a:pathLst>
              <a:path w="524509" h="14604">
                <a:moveTo>
                  <a:pt x="0" y="14477"/>
                </a:moveTo>
                <a:lnTo>
                  <a:pt x="0" y="0"/>
                </a:lnTo>
                <a:lnTo>
                  <a:pt x="524255" y="0"/>
                </a:lnTo>
                <a:lnTo>
                  <a:pt x="524255" y="14477"/>
                </a:lnTo>
                <a:lnTo>
                  <a:pt x="0" y="14477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968736" y="4565396"/>
            <a:ext cx="136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001F5F"/>
                </a:solidFill>
                <a:latin typeface="Cambria Math"/>
                <a:cs typeface="Cambria Math"/>
              </a:rPr>
              <a:t>𝑧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068559" y="4673600"/>
            <a:ext cx="122555" cy="2260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00" spc="-50" dirty="0">
                <a:solidFill>
                  <a:srgbClr val="001F5F"/>
                </a:solidFill>
                <a:latin typeface="Cambria Math"/>
                <a:cs typeface="Cambria Math"/>
              </a:rPr>
              <a:t>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589521" y="4718565"/>
            <a:ext cx="300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001F5F"/>
                </a:solidFill>
                <a:latin typeface="Cambria Math"/>
                <a:cs typeface="Cambria Math"/>
              </a:rPr>
              <a:t>𝐶</a:t>
            </a:r>
            <a:r>
              <a:rPr sz="1950" spc="-37" baseline="-14957" dirty="0">
                <a:solidFill>
                  <a:srgbClr val="001F5F"/>
                </a:solidFill>
                <a:latin typeface="Cambria Math"/>
                <a:cs typeface="Cambria Math"/>
              </a:rPr>
              <a:t>𝐶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0486643" y="4734305"/>
            <a:ext cx="524510" cy="14604"/>
          </a:xfrm>
          <a:custGeom>
            <a:avLst/>
            <a:gdLst/>
            <a:ahLst/>
            <a:cxnLst/>
            <a:rect l="l" t="t" r="r" b="b"/>
            <a:pathLst>
              <a:path w="524509" h="14604">
                <a:moveTo>
                  <a:pt x="0" y="14477"/>
                </a:moveTo>
                <a:lnTo>
                  <a:pt x="0" y="0"/>
                </a:lnTo>
                <a:lnTo>
                  <a:pt x="524255" y="0"/>
                </a:lnTo>
                <a:lnTo>
                  <a:pt x="524255" y="14477"/>
                </a:lnTo>
                <a:lnTo>
                  <a:pt x="0" y="14477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105142" y="3855973"/>
            <a:ext cx="44272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But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introduced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right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half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plane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zero </a:t>
            </a:r>
            <a:r>
              <a:rPr sz="1800" dirty="0">
                <a:latin typeface="Verdana"/>
                <a:cs typeface="Verdana"/>
              </a:rPr>
              <a:t>that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increases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magnitude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reduces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079742" y="4404614"/>
            <a:ext cx="3888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171190" algn="l"/>
              </a:tabLst>
            </a:pPr>
            <a:r>
              <a:rPr sz="1800" spc="-10" dirty="0">
                <a:latin typeface="Verdana"/>
                <a:cs typeface="Verdana"/>
              </a:rPr>
              <a:t>phase: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2700" baseline="-38580" dirty="0">
                <a:solidFill>
                  <a:srgbClr val="001F5F"/>
                </a:solidFill>
                <a:latin typeface="Cambria Math"/>
                <a:cs typeface="Cambria Math"/>
              </a:rPr>
              <a:t>=</a:t>
            </a:r>
            <a:r>
              <a:rPr sz="2700" spc="142" baseline="-38580" dirty="0">
                <a:solidFill>
                  <a:srgbClr val="001F5F"/>
                </a:solidFill>
                <a:latin typeface="Cambria Math"/>
                <a:cs typeface="Cambria Math"/>
              </a:rPr>
              <a:t> </a:t>
            </a:r>
            <a:r>
              <a:rPr sz="2700" spc="-37" baseline="3086" dirty="0">
                <a:solidFill>
                  <a:srgbClr val="001F5F"/>
                </a:solidFill>
                <a:latin typeface="Cambria Math"/>
                <a:cs typeface="Cambria Math"/>
              </a:rPr>
              <a:t>𝑔𝑚</a:t>
            </a:r>
            <a:r>
              <a:rPr sz="1950" spc="-37" baseline="-10683" dirty="0">
                <a:solidFill>
                  <a:srgbClr val="001F5F"/>
                </a:solidFill>
                <a:latin typeface="Cambria Math"/>
                <a:cs typeface="Cambria Math"/>
              </a:rPr>
              <a:t>𝑜</a:t>
            </a:r>
            <a:endParaRPr sz="1950" baseline="-10683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157712" y="5502655"/>
            <a:ext cx="127000" cy="2260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00" spc="-50" dirty="0">
                <a:solidFill>
                  <a:srgbClr val="001F5F"/>
                </a:solidFill>
                <a:latin typeface="Cambria Math"/>
                <a:cs typeface="Cambria Math"/>
              </a:rPr>
              <a:t>𝐶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105142" y="5394452"/>
            <a:ext cx="3079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99410" algn="l"/>
              </a:tabLst>
            </a:pPr>
            <a:r>
              <a:rPr sz="1800" dirty="0">
                <a:latin typeface="Verdana"/>
                <a:cs typeface="Verdana"/>
              </a:rPr>
              <a:t>Unity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gain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bandwidth: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50" dirty="0">
                <a:solidFill>
                  <a:srgbClr val="001F5F"/>
                </a:solidFill>
                <a:latin typeface="Cambria Math"/>
                <a:cs typeface="Cambria Math"/>
              </a:rPr>
              <a:t>𝜔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313669" y="5221470"/>
            <a:ext cx="701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-41666" dirty="0">
                <a:solidFill>
                  <a:srgbClr val="001F5F"/>
                </a:solidFill>
                <a:latin typeface="Cambria Math"/>
                <a:cs typeface="Cambria Math"/>
              </a:rPr>
              <a:t>=</a:t>
            </a:r>
            <a:r>
              <a:rPr sz="2700" spc="135" baseline="-41666" dirty="0">
                <a:solidFill>
                  <a:srgbClr val="001F5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001F5F"/>
                </a:solidFill>
                <a:latin typeface="Cambria Math"/>
                <a:cs typeface="Cambria Math"/>
              </a:rPr>
              <a:t>𝑔𝑚</a:t>
            </a:r>
            <a:r>
              <a:rPr sz="1950" spc="-37" baseline="-14957" dirty="0">
                <a:solidFill>
                  <a:srgbClr val="001F5F"/>
                </a:solidFill>
                <a:latin typeface="Cambria Math"/>
                <a:cs typeface="Cambria Math"/>
              </a:rPr>
              <a:t>𝑖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671047" y="5547621"/>
            <a:ext cx="300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001F5F"/>
                </a:solidFill>
                <a:latin typeface="Cambria Math"/>
                <a:cs typeface="Cambria Math"/>
              </a:rPr>
              <a:t>𝐶</a:t>
            </a:r>
            <a:r>
              <a:rPr sz="1950" spc="-37" baseline="-14957" dirty="0">
                <a:solidFill>
                  <a:srgbClr val="001F5F"/>
                </a:solidFill>
                <a:latin typeface="Cambria Math"/>
                <a:cs typeface="Cambria Math"/>
              </a:rPr>
              <a:t>𝐶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0586466" y="5563361"/>
            <a:ext cx="487045" cy="14604"/>
          </a:xfrm>
          <a:custGeom>
            <a:avLst/>
            <a:gdLst/>
            <a:ahLst/>
            <a:cxnLst/>
            <a:rect l="l" t="t" r="r" b="b"/>
            <a:pathLst>
              <a:path w="487045" h="14604">
                <a:moveTo>
                  <a:pt x="0" y="14477"/>
                </a:moveTo>
                <a:lnTo>
                  <a:pt x="0" y="0"/>
                </a:lnTo>
                <a:lnTo>
                  <a:pt x="486918" y="0"/>
                </a:lnTo>
                <a:lnTo>
                  <a:pt x="486918" y="14477"/>
                </a:lnTo>
                <a:lnTo>
                  <a:pt x="0" y="14477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105142" y="2351785"/>
            <a:ext cx="18072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Dominant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pole: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105142" y="3224283"/>
            <a:ext cx="1482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Output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pole: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105142" y="1496067"/>
            <a:ext cx="36633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Poles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moved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apart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due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Miller Compensation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300984" y="1239773"/>
            <a:ext cx="2423160" cy="918210"/>
          </a:xfrm>
          <a:custGeom>
            <a:avLst/>
            <a:gdLst/>
            <a:ahLst/>
            <a:cxnLst/>
            <a:rect l="l" t="t" r="r" b="b"/>
            <a:pathLst>
              <a:path w="2423160" h="918210">
                <a:moveTo>
                  <a:pt x="73914" y="161544"/>
                </a:moveTo>
                <a:lnTo>
                  <a:pt x="47180" y="154660"/>
                </a:lnTo>
                <a:lnTo>
                  <a:pt x="47929" y="152527"/>
                </a:lnTo>
                <a:lnTo>
                  <a:pt x="48768" y="151155"/>
                </a:lnTo>
                <a:lnTo>
                  <a:pt x="53340" y="144018"/>
                </a:lnTo>
                <a:lnTo>
                  <a:pt x="36576" y="134112"/>
                </a:lnTo>
                <a:lnTo>
                  <a:pt x="31242" y="142494"/>
                </a:lnTo>
                <a:lnTo>
                  <a:pt x="30480" y="143256"/>
                </a:lnTo>
                <a:lnTo>
                  <a:pt x="30480" y="144018"/>
                </a:lnTo>
                <a:lnTo>
                  <a:pt x="28448" y="149834"/>
                </a:lnTo>
                <a:lnTo>
                  <a:pt x="0" y="142494"/>
                </a:lnTo>
                <a:lnTo>
                  <a:pt x="17526" y="226314"/>
                </a:lnTo>
                <a:lnTo>
                  <a:pt x="24384" y="218440"/>
                </a:lnTo>
                <a:lnTo>
                  <a:pt x="73914" y="161544"/>
                </a:lnTo>
                <a:close/>
              </a:path>
              <a:path w="2423160" h="918210">
                <a:moveTo>
                  <a:pt x="102870" y="91440"/>
                </a:moveTo>
                <a:lnTo>
                  <a:pt x="91440" y="76200"/>
                </a:lnTo>
                <a:lnTo>
                  <a:pt x="89154" y="76962"/>
                </a:lnTo>
                <a:lnTo>
                  <a:pt x="79248" y="85344"/>
                </a:lnTo>
                <a:lnTo>
                  <a:pt x="70104" y="94488"/>
                </a:lnTo>
                <a:lnTo>
                  <a:pt x="60960" y="102870"/>
                </a:lnTo>
                <a:lnTo>
                  <a:pt x="52578" y="112776"/>
                </a:lnTo>
                <a:lnTo>
                  <a:pt x="48768" y="117348"/>
                </a:lnTo>
                <a:lnTo>
                  <a:pt x="63246" y="129540"/>
                </a:lnTo>
                <a:lnTo>
                  <a:pt x="67056" y="124968"/>
                </a:lnTo>
                <a:lnTo>
                  <a:pt x="74676" y="116586"/>
                </a:lnTo>
                <a:lnTo>
                  <a:pt x="91440" y="99822"/>
                </a:lnTo>
                <a:lnTo>
                  <a:pt x="100584" y="92202"/>
                </a:lnTo>
                <a:lnTo>
                  <a:pt x="102870" y="91440"/>
                </a:lnTo>
                <a:close/>
              </a:path>
              <a:path w="2423160" h="918210">
                <a:moveTo>
                  <a:pt x="166116" y="53340"/>
                </a:moveTo>
                <a:lnTo>
                  <a:pt x="158496" y="36576"/>
                </a:lnTo>
                <a:lnTo>
                  <a:pt x="147828" y="41148"/>
                </a:lnTo>
                <a:lnTo>
                  <a:pt x="134874" y="47244"/>
                </a:lnTo>
                <a:lnTo>
                  <a:pt x="122682" y="54102"/>
                </a:lnTo>
                <a:lnTo>
                  <a:pt x="106680" y="64770"/>
                </a:lnTo>
                <a:lnTo>
                  <a:pt x="117348" y="80010"/>
                </a:lnTo>
                <a:lnTo>
                  <a:pt x="132588" y="70866"/>
                </a:lnTo>
                <a:lnTo>
                  <a:pt x="155448" y="58674"/>
                </a:lnTo>
                <a:lnTo>
                  <a:pt x="166116" y="53340"/>
                </a:lnTo>
                <a:close/>
              </a:path>
              <a:path w="2423160" h="918210">
                <a:moveTo>
                  <a:pt x="236220" y="30480"/>
                </a:moveTo>
                <a:lnTo>
                  <a:pt x="232410" y="11430"/>
                </a:lnTo>
                <a:lnTo>
                  <a:pt x="231648" y="12192"/>
                </a:lnTo>
                <a:lnTo>
                  <a:pt x="217170" y="15240"/>
                </a:lnTo>
                <a:lnTo>
                  <a:pt x="188214" y="24384"/>
                </a:lnTo>
                <a:lnTo>
                  <a:pt x="176784" y="28956"/>
                </a:lnTo>
                <a:lnTo>
                  <a:pt x="182880" y="46482"/>
                </a:lnTo>
                <a:lnTo>
                  <a:pt x="208026" y="38100"/>
                </a:lnTo>
                <a:lnTo>
                  <a:pt x="221742" y="34290"/>
                </a:lnTo>
                <a:lnTo>
                  <a:pt x="236220" y="30480"/>
                </a:lnTo>
                <a:close/>
              </a:path>
              <a:path w="2423160" h="918210">
                <a:moveTo>
                  <a:pt x="310896" y="19812"/>
                </a:moveTo>
                <a:lnTo>
                  <a:pt x="309372" y="762"/>
                </a:lnTo>
                <a:lnTo>
                  <a:pt x="296418" y="1447"/>
                </a:lnTo>
                <a:lnTo>
                  <a:pt x="294894" y="1524"/>
                </a:lnTo>
                <a:lnTo>
                  <a:pt x="262890" y="6096"/>
                </a:lnTo>
                <a:lnTo>
                  <a:pt x="251460" y="7620"/>
                </a:lnTo>
                <a:lnTo>
                  <a:pt x="254508" y="26670"/>
                </a:lnTo>
                <a:lnTo>
                  <a:pt x="265176" y="24384"/>
                </a:lnTo>
                <a:lnTo>
                  <a:pt x="280416" y="22860"/>
                </a:lnTo>
                <a:lnTo>
                  <a:pt x="296418" y="20574"/>
                </a:lnTo>
                <a:lnTo>
                  <a:pt x="309372" y="19900"/>
                </a:lnTo>
                <a:lnTo>
                  <a:pt x="310896" y="19812"/>
                </a:lnTo>
                <a:close/>
              </a:path>
              <a:path w="2423160" h="918210">
                <a:moveTo>
                  <a:pt x="387096" y="2286"/>
                </a:moveTo>
                <a:lnTo>
                  <a:pt x="377952" y="1524"/>
                </a:lnTo>
                <a:lnTo>
                  <a:pt x="344424" y="0"/>
                </a:lnTo>
                <a:lnTo>
                  <a:pt x="329184" y="0"/>
                </a:lnTo>
                <a:lnTo>
                  <a:pt x="329184" y="19050"/>
                </a:lnTo>
                <a:lnTo>
                  <a:pt x="344424" y="19088"/>
                </a:lnTo>
                <a:lnTo>
                  <a:pt x="360426" y="19812"/>
                </a:lnTo>
                <a:lnTo>
                  <a:pt x="375666" y="20574"/>
                </a:lnTo>
                <a:lnTo>
                  <a:pt x="384810" y="21336"/>
                </a:lnTo>
                <a:lnTo>
                  <a:pt x="387096" y="2286"/>
                </a:lnTo>
                <a:close/>
              </a:path>
              <a:path w="2423160" h="918210">
                <a:moveTo>
                  <a:pt x="463296" y="17526"/>
                </a:moveTo>
                <a:lnTo>
                  <a:pt x="456438" y="15240"/>
                </a:lnTo>
                <a:lnTo>
                  <a:pt x="441198" y="11430"/>
                </a:lnTo>
                <a:lnTo>
                  <a:pt x="425958" y="8382"/>
                </a:lnTo>
                <a:lnTo>
                  <a:pt x="409956" y="5334"/>
                </a:lnTo>
                <a:lnTo>
                  <a:pt x="406146" y="5334"/>
                </a:lnTo>
                <a:lnTo>
                  <a:pt x="403860" y="23622"/>
                </a:lnTo>
                <a:lnTo>
                  <a:pt x="406908" y="24384"/>
                </a:lnTo>
                <a:lnTo>
                  <a:pt x="422148" y="26670"/>
                </a:lnTo>
                <a:lnTo>
                  <a:pt x="436626" y="29718"/>
                </a:lnTo>
                <a:lnTo>
                  <a:pt x="451104" y="33528"/>
                </a:lnTo>
                <a:lnTo>
                  <a:pt x="457962" y="35814"/>
                </a:lnTo>
                <a:lnTo>
                  <a:pt x="463296" y="17526"/>
                </a:lnTo>
                <a:close/>
              </a:path>
              <a:path w="2423160" h="918210">
                <a:moveTo>
                  <a:pt x="535686" y="45720"/>
                </a:moveTo>
                <a:lnTo>
                  <a:pt x="525780" y="40386"/>
                </a:lnTo>
                <a:lnTo>
                  <a:pt x="512826" y="35052"/>
                </a:lnTo>
                <a:lnTo>
                  <a:pt x="499110" y="28956"/>
                </a:lnTo>
                <a:lnTo>
                  <a:pt x="485394" y="24384"/>
                </a:lnTo>
                <a:lnTo>
                  <a:pt x="481584" y="22860"/>
                </a:lnTo>
                <a:lnTo>
                  <a:pt x="476250" y="41148"/>
                </a:lnTo>
                <a:lnTo>
                  <a:pt x="492252" y="46482"/>
                </a:lnTo>
                <a:lnTo>
                  <a:pt x="505206" y="51816"/>
                </a:lnTo>
                <a:lnTo>
                  <a:pt x="517398" y="57912"/>
                </a:lnTo>
                <a:lnTo>
                  <a:pt x="527304" y="62484"/>
                </a:lnTo>
                <a:lnTo>
                  <a:pt x="535686" y="45720"/>
                </a:lnTo>
                <a:close/>
              </a:path>
              <a:path w="2423160" h="918210">
                <a:moveTo>
                  <a:pt x="600456" y="89916"/>
                </a:moveTo>
                <a:lnTo>
                  <a:pt x="594360" y="84582"/>
                </a:lnTo>
                <a:lnTo>
                  <a:pt x="584454" y="76962"/>
                </a:lnTo>
                <a:lnTo>
                  <a:pt x="573786" y="68580"/>
                </a:lnTo>
                <a:lnTo>
                  <a:pt x="562356" y="60960"/>
                </a:lnTo>
                <a:lnTo>
                  <a:pt x="553212" y="55626"/>
                </a:lnTo>
                <a:lnTo>
                  <a:pt x="543306" y="71628"/>
                </a:lnTo>
                <a:lnTo>
                  <a:pt x="551688" y="76962"/>
                </a:lnTo>
                <a:lnTo>
                  <a:pt x="562356" y="83820"/>
                </a:lnTo>
                <a:lnTo>
                  <a:pt x="582168" y="99060"/>
                </a:lnTo>
                <a:lnTo>
                  <a:pt x="587502" y="104394"/>
                </a:lnTo>
                <a:lnTo>
                  <a:pt x="600456" y="89916"/>
                </a:lnTo>
                <a:close/>
              </a:path>
              <a:path w="2423160" h="918210">
                <a:moveTo>
                  <a:pt x="649224" y="153162"/>
                </a:moveTo>
                <a:lnTo>
                  <a:pt x="648462" y="152400"/>
                </a:lnTo>
                <a:lnTo>
                  <a:pt x="636270" y="131064"/>
                </a:lnTo>
                <a:lnTo>
                  <a:pt x="629412" y="121158"/>
                </a:lnTo>
                <a:lnTo>
                  <a:pt x="621792" y="112014"/>
                </a:lnTo>
                <a:lnTo>
                  <a:pt x="614934" y="104394"/>
                </a:lnTo>
                <a:lnTo>
                  <a:pt x="600456" y="117348"/>
                </a:lnTo>
                <a:lnTo>
                  <a:pt x="606552" y="123444"/>
                </a:lnTo>
                <a:lnTo>
                  <a:pt x="614172" y="132588"/>
                </a:lnTo>
                <a:lnTo>
                  <a:pt x="626364" y="150876"/>
                </a:lnTo>
                <a:lnTo>
                  <a:pt x="631698" y="161544"/>
                </a:lnTo>
                <a:lnTo>
                  <a:pt x="649224" y="153162"/>
                </a:lnTo>
                <a:close/>
              </a:path>
              <a:path w="2423160" h="918210">
                <a:moveTo>
                  <a:pt x="665988" y="219456"/>
                </a:moveTo>
                <a:lnTo>
                  <a:pt x="665226" y="208026"/>
                </a:lnTo>
                <a:lnTo>
                  <a:pt x="663702" y="196596"/>
                </a:lnTo>
                <a:lnTo>
                  <a:pt x="657606" y="173736"/>
                </a:lnTo>
                <a:lnTo>
                  <a:pt x="656844" y="171450"/>
                </a:lnTo>
                <a:lnTo>
                  <a:pt x="638556" y="178308"/>
                </a:lnTo>
                <a:lnTo>
                  <a:pt x="639318" y="179070"/>
                </a:lnTo>
                <a:lnTo>
                  <a:pt x="642366" y="188976"/>
                </a:lnTo>
                <a:lnTo>
                  <a:pt x="644652" y="198882"/>
                </a:lnTo>
                <a:lnTo>
                  <a:pt x="646176" y="209550"/>
                </a:lnTo>
                <a:lnTo>
                  <a:pt x="646938" y="219456"/>
                </a:lnTo>
                <a:lnTo>
                  <a:pt x="646938" y="230886"/>
                </a:lnTo>
                <a:lnTo>
                  <a:pt x="665988" y="230886"/>
                </a:lnTo>
                <a:lnTo>
                  <a:pt x="665988" y="219456"/>
                </a:lnTo>
                <a:close/>
              </a:path>
              <a:path w="2423160" h="918210">
                <a:moveTo>
                  <a:pt x="1976628" y="690372"/>
                </a:moveTo>
                <a:lnTo>
                  <a:pt x="1965960" y="675132"/>
                </a:lnTo>
                <a:lnTo>
                  <a:pt x="1963674" y="676656"/>
                </a:lnTo>
                <a:lnTo>
                  <a:pt x="1955292" y="683514"/>
                </a:lnTo>
                <a:lnTo>
                  <a:pt x="1946148" y="691896"/>
                </a:lnTo>
                <a:lnTo>
                  <a:pt x="1938528" y="699516"/>
                </a:lnTo>
                <a:lnTo>
                  <a:pt x="1930908" y="708660"/>
                </a:lnTo>
                <a:lnTo>
                  <a:pt x="1924050" y="717042"/>
                </a:lnTo>
                <a:lnTo>
                  <a:pt x="1938528" y="729234"/>
                </a:lnTo>
                <a:lnTo>
                  <a:pt x="1945386" y="720090"/>
                </a:lnTo>
                <a:lnTo>
                  <a:pt x="1952244" y="712470"/>
                </a:lnTo>
                <a:lnTo>
                  <a:pt x="1959864" y="704850"/>
                </a:lnTo>
                <a:lnTo>
                  <a:pt x="1968246" y="697992"/>
                </a:lnTo>
                <a:lnTo>
                  <a:pt x="1975866" y="691134"/>
                </a:lnTo>
                <a:lnTo>
                  <a:pt x="1976628" y="690372"/>
                </a:lnTo>
                <a:close/>
              </a:path>
              <a:path w="2423160" h="918210">
                <a:moveTo>
                  <a:pt x="2041398" y="654558"/>
                </a:moveTo>
                <a:lnTo>
                  <a:pt x="2034540" y="637032"/>
                </a:lnTo>
                <a:lnTo>
                  <a:pt x="2024634" y="640842"/>
                </a:lnTo>
                <a:lnTo>
                  <a:pt x="2013966" y="645414"/>
                </a:lnTo>
                <a:lnTo>
                  <a:pt x="2003298" y="650748"/>
                </a:lnTo>
                <a:lnTo>
                  <a:pt x="1992630" y="656844"/>
                </a:lnTo>
                <a:lnTo>
                  <a:pt x="1982724" y="662940"/>
                </a:lnTo>
                <a:lnTo>
                  <a:pt x="1981200" y="663702"/>
                </a:lnTo>
                <a:lnTo>
                  <a:pt x="1991868" y="679704"/>
                </a:lnTo>
                <a:lnTo>
                  <a:pt x="1993392" y="678180"/>
                </a:lnTo>
                <a:lnTo>
                  <a:pt x="2003298" y="672846"/>
                </a:lnTo>
                <a:lnTo>
                  <a:pt x="2012442" y="667512"/>
                </a:lnTo>
                <a:lnTo>
                  <a:pt x="2032254" y="658368"/>
                </a:lnTo>
                <a:lnTo>
                  <a:pt x="2041398" y="654558"/>
                </a:lnTo>
                <a:close/>
              </a:path>
              <a:path w="2423160" h="918210">
                <a:moveTo>
                  <a:pt x="2113026" y="638556"/>
                </a:moveTo>
                <a:lnTo>
                  <a:pt x="2110740" y="619506"/>
                </a:lnTo>
                <a:lnTo>
                  <a:pt x="2106168" y="619506"/>
                </a:lnTo>
                <a:lnTo>
                  <a:pt x="2093976" y="621030"/>
                </a:lnTo>
                <a:lnTo>
                  <a:pt x="2081784" y="623316"/>
                </a:lnTo>
                <a:lnTo>
                  <a:pt x="2058924" y="629412"/>
                </a:lnTo>
                <a:lnTo>
                  <a:pt x="2052828" y="630936"/>
                </a:lnTo>
                <a:lnTo>
                  <a:pt x="2058162" y="649224"/>
                </a:lnTo>
                <a:lnTo>
                  <a:pt x="2064258" y="646938"/>
                </a:lnTo>
                <a:lnTo>
                  <a:pt x="2074926" y="644652"/>
                </a:lnTo>
                <a:lnTo>
                  <a:pt x="2086356" y="642366"/>
                </a:lnTo>
                <a:lnTo>
                  <a:pt x="2097024" y="640080"/>
                </a:lnTo>
                <a:lnTo>
                  <a:pt x="2108454" y="638556"/>
                </a:lnTo>
                <a:lnTo>
                  <a:pt x="2113026" y="638556"/>
                </a:lnTo>
                <a:close/>
              </a:path>
              <a:path w="2423160" h="918210">
                <a:moveTo>
                  <a:pt x="2189226" y="621792"/>
                </a:moveTo>
                <a:lnTo>
                  <a:pt x="2179320" y="620268"/>
                </a:lnTo>
                <a:lnTo>
                  <a:pt x="2167128" y="618744"/>
                </a:lnTo>
                <a:lnTo>
                  <a:pt x="2154936" y="617982"/>
                </a:lnTo>
                <a:lnTo>
                  <a:pt x="2130552" y="617982"/>
                </a:lnTo>
                <a:lnTo>
                  <a:pt x="2131314" y="637032"/>
                </a:lnTo>
                <a:lnTo>
                  <a:pt x="2154936" y="637032"/>
                </a:lnTo>
                <a:lnTo>
                  <a:pt x="2166366" y="637794"/>
                </a:lnTo>
                <a:lnTo>
                  <a:pt x="2177796" y="639318"/>
                </a:lnTo>
                <a:lnTo>
                  <a:pt x="2186178" y="640080"/>
                </a:lnTo>
                <a:lnTo>
                  <a:pt x="2189226" y="621792"/>
                </a:lnTo>
                <a:close/>
              </a:path>
              <a:path w="2423160" h="918210">
                <a:moveTo>
                  <a:pt x="2264664" y="643890"/>
                </a:moveTo>
                <a:lnTo>
                  <a:pt x="2263140" y="643128"/>
                </a:lnTo>
                <a:lnTo>
                  <a:pt x="2240280" y="633984"/>
                </a:lnTo>
                <a:lnTo>
                  <a:pt x="2228088" y="630174"/>
                </a:lnTo>
                <a:lnTo>
                  <a:pt x="2215896" y="627126"/>
                </a:lnTo>
                <a:lnTo>
                  <a:pt x="2208276" y="624840"/>
                </a:lnTo>
                <a:lnTo>
                  <a:pt x="2204466" y="643890"/>
                </a:lnTo>
                <a:lnTo>
                  <a:pt x="2212086" y="645414"/>
                </a:lnTo>
                <a:lnTo>
                  <a:pt x="2223516" y="648462"/>
                </a:lnTo>
                <a:lnTo>
                  <a:pt x="2244852" y="656082"/>
                </a:lnTo>
                <a:lnTo>
                  <a:pt x="2256282" y="660654"/>
                </a:lnTo>
                <a:lnTo>
                  <a:pt x="2264664" y="643890"/>
                </a:lnTo>
                <a:close/>
              </a:path>
              <a:path w="2423160" h="918210">
                <a:moveTo>
                  <a:pt x="2330196" y="685800"/>
                </a:moveTo>
                <a:lnTo>
                  <a:pt x="2295144" y="659892"/>
                </a:lnTo>
                <a:lnTo>
                  <a:pt x="2282190" y="652272"/>
                </a:lnTo>
                <a:lnTo>
                  <a:pt x="2273046" y="669036"/>
                </a:lnTo>
                <a:lnTo>
                  <a:pt x="2276094" y="670560"/>
                </a:lnTo>
                <a:lnTo>
                  <a:pt x="2285238" y="675894"/>
                </a:lnTo>
                <a:lnTo>
                  <a:pt x="2294382" y="681990"/>
                </a:lnTo>
                <a:lnTo>
                  <a:pt x="2302764" y="688086"/>
                </a:lnTo>
                <a:lnTo>
                  <a:pt x="2318004" y="700278"/>
                </a:lnTo>
                <a:lnTo>
                  <a:pt x="2330196" y="685800"/>
                </a:lnTo>
                <a:close/>
              </a:path>
              <a:path w="2423160" h="918210">
                <a:moveTo>
                  <a:pt x="2374392" y="841413"/>
                </a:moveTo>
                <a:lnTo>
                  <a:pt x="2351532" y="833628"/>
                </a:lnTo>
                <a:lnTo>
                  <a:pt x="2362200" y="918210"/>
                </a:lnTo>
                <a:lnTo>
                  <a:pt x="2374392" y="906170"/>
                </a:lnTo>
                <a:lnTo>
                  <a:pt x="2374392" y="854964"/>
                </a:lnTo>
                <a:lnTo>
                  <a:pt x="2374392" y="841413"/>
                </a:lnTo>
                <a:close/>
              </a:path>
              <a:path w="2423160" h="918210">
                <a:moveTo>
                  <a:pt x="2378964" y="749046"/>
                </a:moveTo>
                <a:lnTo>
                  <a:pt x="2375154" y="742188"/>
                </a:lnTo>
                <a:lnTo>
                  <a:pt x="2370582" y="733806"/>
                </a:lnTo>
                <a:lnTo>
                  <a:pt x="2365248" y="725424"/>
                </a:lnTo>
                <a:lnTo>
                  <a:pt x="2359152" y="717042"/>
                </a:lnTo>
                <a:lnTo>
                  <a:pt x="2352294" y="708660"/>
                </a:lnTo>
                <a:lnTo>
                  <a:pt x="2345436" y="701040"/>
                </a:lnTo>
                <a:lnTo>
                  <a:pt x="2344674" y="700278"/>
                </a:lnTo>
                <a:lnTo>
                  <a:pt x="2330958" y="713232"/>
                </a:lnTo>
                <a:lnTo>
                  <a:pt x="2331720" y="713994"/>
                </a:lnTo>
                <a:lnTo>
                  <a:pt x="2338578" y="721614"/>
                </a:lnTo>
                <a:lnTo>
                  <a:pt x="2343912" y="729234"/>
                </a:lnTo>
                <a:lnTo>
                  <a:pt x="2349246" y="736092"/>
                </a:lnTo>
                <a:lnTo>
                  <a:pt x="2354580" y="744474"/>
                </a:lnTo>
                <a:lnTo>
                  <a:pt x="2359152" y="752094"/>
                </a:lnTo>
                <a:lnTo>
                  <a:pt x="2362200" y="758190"/>
                </a:lnTo>
                <a:lnTo>
                  <a:pt x="2378964" y="749046"/>
                </a:lnTo>
                <a:close/>
              </a:path>
              <a:path w="2423160" h="918210">
                <a:moveTo>
                  <a:pt x="2398014" y="826770"/>
                </a:moveTo>
                <a:lnTo>
                  <a:pt x="2396490" y="807720"/>
                </a:lnTo>
                <a:lnTo>
                  <a:pt x="2394966" y="797814"/>
                </a:lnTo>
                <a:lnTo>
                  <a:pt x="2392680" y="788670"/>
                </a:lnTo>
                <a:lnTo>
                  <a:pt x="2390394" y="778764"/>
                </a:lnTo>
                <a:lnTo>
                  <a:pt x="2386584" y="767334"/>
                </a:lnTo>
                <a:lnTo>
                  <a:pt x="2369058" y="774192"/>
                </a:lnTo>
                <a:lnTo>
                  <a:pt x="2369820" y="776478"/>
                </a:lnTo>
                <a:lnTo>
                  <a:pt x="2376678" y="801624"/>
                </a:lnTo>
                <a:lnTo>
                  <a:pt x="2378964" y="827532"/>
                </a:lnTo>
                <a:lnTo>
                  <a:pt x="2390394" y="827074"/>
                </a:lnTo>
                <a:lnTo>
                  <a:pt x="2392680" y="826985"/>
                </a:lnTo>
                <a:lnTo>
                  <a:pt x="2394966" y="826897"/>
                </a:lnTo>
                <a:lnTo>
                  <a:pt x="2398014" y="826770"/>
                </a:lnTo>
                <a:close/>
              </a:path>
              <a:path w="2423160" h="918210">
                <a:moveTo>
                  <a:pt x="2423160" y="858012"/>
                </a:moveTo>
                <a:lnTo>
                  <a:pt x="2396464" y="848931"/>
                </a:lnTo>
                <a:lnTo>
                  <a:pt x="2391918" y="847344"/>
                </a:lnTo>
                <a:lnTo>
                  <a:pt x="2378202" y="842772"/>
                </a:lnTo>
                <a:lnTo>
                  <a:pt x="2378202" y="856297"/>
                </a:lnTo>
                <a:lnTo>
                  <a:pt x="2378202" y="902411"/>
                </a:lnTo>
                <a:lnTo>
                  <a:pt x="2423160" y="858012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887215" y="1075436"/>
            <a:ext cx="28130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E7E7E"/>
                </a:solidFill>
                <a:latin typeface="Verdana"/>
                <a:cs typeface="Verdana"/>
              </a:rPr>
              <a:t>p1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D19BCF36-E02D-4E64-95B0-CD8017057648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  <p:sp>
        <p:nvSpPr>
          <p:cNvPr id="29" name="object 29"/>
          <p:cNvSpPr txBox="1"/>
          <p:nvPr/>
        </p:nvSpPr>
        <p:spPr>
          <a:xfrm>
            <a:off x="4746752" y="1464055"/>
            <a:ext cx="1866900" cy="702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Uncompensated</a:t>
            </a:r>
            <a:endParaRPr sz="1800">
              <a:latin typeface="Verdana"/>
              <a:cs typeface="Verdana"/>
            </a:endParaRPr>
          </a:p>
          <a:p>
            <a:pPr marL="1047115">
              <a:lnSpc>
                <a:spcPct val="100000"/>
              </a:lnSpc>
              <a:spcBef>
                <a:spcPts val="1250"/>
              </a:spcBef>
            </a:pPr>
            <a:r>
              <a:rPr sz="1600" spc="-25" dirty="0">
                <a:solidFill>
                  <a:srgbClr val="7E7E7E"/>
                </a:solidFill>
                <a:latin typeface="Verdana"/>
                <a:cs typeface="Verdana"/>
              </a:rPr>
              <a:t>p2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4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1816" y="5096509"/>
            <a:ext cx="122555" cy="2260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00" spc="-50" dirty="0">
                <a:latin typeface="Cambria Math"/>
                <a:cs typeface="Cambria Math"/>
              </a:rPr>
              <a:t>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91994" y="4988305"/>
            <a:ext cx="46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2575" algn="l"/>
              </a:tabLst>
            </a:pPr>
            <a:r>
              <a:rPr sz="1800" spc="-50" dirty="0">
                <a:latin typeface="Cambria Math"/>
                <a:cs typeface="Cambria Math"/>
              </a:rPr>
              <a:t>𝑧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89281" y="4815324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19882" y="5355589"/>
            <a:ext cx="127000" cy="2260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00" spc="-50" dirty="0">
                <a:latin typeface="Cambria Math"/>
                <a:cs typeface="Cambria Math"/>
              </a:rPr>
              <a:t>𝐶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08611" y="5362440"/>
            <a:ext cx="506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𝑔𝑚</a:t>
            </a:r>
            <a:r>
              <a:rPr sz="1950" spc="-37" baseline="-14957" dirty="0">
                <a:latin typeface="Cambria Math"/>
                <a:cs typeface="Cambria Math"/>
              </a:rPr>
              <a:t>𝑜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92015" y="5355589"/>
            <a:ext cx="114300" cy="2260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00" spc="15" dirty="0">
                <a:latin typeface="Cambria Math"/>
                <a:cs typeface="Cambria Math"/>
              </a:rPr>
              <a:t>𝑧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71807" y="5247378"/>
            <a:ext cx="1468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818515" algn="l"/>
              </a:tabLst>
            </a:pPr>
            <a:r>
              <a:rPr sz="1800" dirty="0">
                <a:latin typeface="Cambria Math"/>
                <a:cs typeface="Cambria Math"/>
              </a:rPr>
              <a:t>𝐶</a:t>
            </a:r>
            <a:r>
              <a:rPr sz="1800" spc="42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(</a:t>
            </a:r>
            <a:r>
              <a:rPr sz="2700" u="heavy" spc="322" baseline="32407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 </a:t>
            </a:r>
            <a:r>
              <a:rPr sz="2700" u="heavy" spc="-75" baseline="32407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1</a:t>
            </a:r>
            <a:r>
              <a:rPr sz="2700" u="heavy" baseline="32407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	</a:t>
            </a:r>
            <a:r>
              <a:rPr sz="2700" baseline="3240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− 𝑅</a:t>
            </a:r>
            <a:r>
              <a:rPr sz="1800" spc="25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010661" y="5157215"/>
            <a:ext cx="1393190" cy="14604"/>
          </a:xfrm>
          <a:custGeom>
            <a:avLst/>
            <a:gdLst/>
            <a:ahLst/>
            <a:cxnLst/>
            <a:rect l="l" t="t" r="r" b="b"/>
            <a:pathLst>
              <a:path w="1393189" h="14604">
                <a:moveTo>
                  <a:pt x="0" y="14477"/>
                </a:moveTo>
                <a:lnTo>
                  <a:pt x="0" y="0"/>
                </a:lnTo>
                <a:lnTo>
                  <a:pt x="1392935" y="0"/>
                </a:lnTo>
                <a:lnTo>
                  <a:pt x="1392935" y="14477"/>
                </a:lnTo>
                <a:lnTo>
                  <a:pt x="0" y="144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Methods</a:t>
            </a:r>
            <a:r>
              <a:rPr spc="-25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eliminate</a:t>
            </a:r>
            <a:r>
              <a:rPr spc="5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RHP</a:t>
            </a:r>
            <a:r>
              <a:rPr spc="-10" dirty="0"/>
              <a:t> </a:t>
            </a:r>
            <a:r>
              <a:rPr spc="-20" dirty="0"/>
              <a:t>zero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73683" y="1282700"/>
            <a:ext cx="6508750" cy="3197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82600" marR="5080" indent="-470534">
              <a:lnSpc>
                <a:spcPct val="100200"/>
              </a:lnSpc>
              <a:spcBef>
                <a:spcPts val="9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There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are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two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parallel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paths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two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output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Symbol"/>
                <a:cs typeface="Symbol"/>
              </a:rPr>
              <a:t>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Verdana"/>
                <a:cs typeface="Verdana"/>
              </a:rPr>
              <a:t>RHP </a:t>
            </a:r>
            <a:r>
              <a:rPr sz="2000" dirty="0">
                <a:latin typeface="Verdana"/>
                <a:cs typeface="Verdana"/>
              </a:rPr>
              <a:t>zero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frequency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response.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RHPZ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provides </a:t>
            </a:r>
            <a:r>
              <a:rPr sz="2000" dirty="0">
                <a:latin typeface="Verdana"/>
                <a:cs typeface="Verdana"/>
              </a:rPr>
              <a:t>gain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but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phase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loss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Symbol"/>
                <a:cs typeface="Symbol"/>
              </a:rPr>
              <a:t>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Verdana"/>
                <a:cs typeface="Verdana"/>
              </a:rPr>
              <a:t>strong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degradation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of </a:t>
            </a:r>
            <a:r>
              <a:rPr sz="2000" spc="-10" dirty="0">
                <a:latin typeface="Verdana"/>
                <a:cs typeface="Verdana"/>
              </a:rPr>
              <a:t>stability</a:t>
            </a:r>
            <a:endParaRPr sz="2000">
              <a:latin typeface="Verdana"/>
              <a:cs typeface="Verdana"/>
            </a:endParaRPr>
          </a:p>
          <a:p>
            <a:pPr marL="920750" marR="665480" lvl="1" indent="-437515">
              <a:lnSpc>
                <a:spcPct val="100000"/>
              </a:lnSpc>
              <a:spcBef>
                <a:spcPts val="1205"/>
              </a:spcBef>
              <a:buClr>
                <a:srgbClr val="CC0000"/>
              </a:buClr>
              <a:buFont typeface="Wingdings"/>
              <a:buChar char=""/>
              <a:tabLst>
                <a:tab pos="920750" algn="l"/>
              </a:tabLst>
            </a:pPr>
            <a:r>
              <a:rPr sz="1800" dirty="0">
                <a:latin typeface="Verdana"/>
                <a:cs typeface="Verdana"/>
              </a:rPr>
              <a:t>Can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use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buffer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eliminate </a:t>
            </a:r>
            <a:r>
              <a:rPr sz="1800" spc="-10" dirty="0">
                <a:latin typeface="Verdana"/>
                <a:cs typeface="Verdana"/>
              </a:rPr>
              <a:t>feed-forward </a:t>
            </a:r>
            <a:r>
              <a:rPr sz="1800" dirty="0">
                <a:latin typeface="Verdana"/>
                <a:cs typeface="Verdana"/>
              </a:rPr>
              <a:t>action.</a:t>
            </a:r>
            <a:r>
              <a:rPr sz="1800" spc="-35" dirty="0">
                <a:latin typeface="Verdana"/>
                <a:cs typeface="Verdana"/>
              </a:rPr>
              <a:t>  </a:t>
            </a:r>
            <a:r>
              <a:rPr sz="1800" dirty="0">
                <a:latin typeface="Verdana"/>
                <a:cs typeface="Verdana"/>
              </a:rPr>
              <a:t>Output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impedance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buffer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-25" dirty="0">
                <a:latin typeface="Verdana"/>
                <a:cs typeface="Verdana"/>
              </a:rPr>
              <a:t> not </a:t>
            </a:r>
            <a:r>
              <a:rPr sz="1800" spc="-10" dirty="0">
                <a:latin typeface="Verdana"/>
                <a:cs typeface="Verdana"/>
              </a:rPr>
              <a:t>negligible.</a:t>
            </a:r>
            <a:endParaRPr sz="1800">
              <a:latin typeface="Verdana"/>
              <a:cs typeface="Verdana"/>
            </a:endParaRPr>
          </a:p>
          <a:p>
            <a:pPr marL="920750" marR="800735" lvl="1" indent="-437515">
              <a:lnSpc>
                <a:spcPct val="100000"/>
              </a:lnSpc>
              <a:spcBef>
                <a:spcPts val="1200"/>
              </a:spcBef>
              <a:buClr>
                <a:srgbClr val="CC0000"/>
              </a:buClr>
              <a:buFont typeface="Wingdings"/>
              <a:buChar char=""/>
              <a:tabLst>
                <a:tab pos="920750" algn="l"/>
              </a:tabLst>
            </a:pPr>
            <a:r>
              <a:rPr sz="1800" dirty="0">
                <a:latin typeface="Verdana"/>
                <a:cs typeface="Verdana"/>
              </a:rPr>
              <a:t>Can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add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resistor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cancel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out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zero. </a:t>
            </a:r>
            <a:r>
              <a:rPr sz="1800" dirty="0">
                <a:latin typeface="Verdana"/>
                <a:cs typeface="Verdana"/>
              </a:rPr>
              <a:t>Typically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select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Rz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equal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output </a:t>
            </a:r>
            <a:r>
              <a:rPr sz="1800" dirty="0">
                <a:latin typeface="Verdana"/>
                <a:cs typeface="Verdana"/>
              </a:rPr>
              <a:t>transistor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transconductance.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69146" y="4434078"/>
            <a:ext cx="1983007" cy="158953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82710" y="4322826"/>
            <a:ext cx="1967863" cy="1709927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0059923" y="4096004"/>
            <a:ext cx="342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C</a:t>
            </a:r>
            <a:r>
              <a:rPr sz="1800" spc="-37" baseline="-20833" dirty="0">
                <a:latin typeface="Verdana"/>
                <a:cs typeface="Verdana"/>
              </a:rPr>
              <a:t>C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360411" y="4096004"/>
            <a:ext cx="1006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691515" algn="l"/>
              </a:tabLst>
            </a:pPr>
            <a:r>
              <a:rPr sz="1800" spc="-25" dirty="0">
                <a:latin typeface="Verdana"/>
                <a:cs typeface="Verdana"/>
              </a:rPr>
              <a:t>C</a:t>
            </a:r>
            <a:r>
              <a:rPr sz="1800" spc="-37" baseline="-20833" dirty="0">
                <a:latin typeface="Verdana"/>
                <a:cs typeface="Verdana"/>
              </a:rPr>
              <a:t>C</a:t>
            </a:r>
            <a:r>
              <a:rPr sz="1800" baseline="-20833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R</a:t>
            </a:r>
            <a:r>
              <a:rPr sz="1800" spc="-37" baseline="-20833" dirty="0">
                <a:latin typeface="Verdana"/>
                <a:cs typeface="Verdana"/>
              </a:rPr>
              <a:t>Z</a:t>
            </a:r>
            <a:endParaRPr sz="1800" baseline="-20833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571993" y="1206246"/>
            <a:ext cx="3789045" cy="2898140"/>
            <a:chOff x="7571993" y="1206246"/>
            <a:chExt cx="3789045" cy="2898140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47766" y="1206246"/>
              <a:ext cx="3712890" cy="2841498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571993" y="1223771"/>
              <a:ext cx="3789045" cy="2880360"/>
            </a:xfrm>
            <a:custGeom>
              <a:avLst/>
              <a:gdLst/>
              <a:ahLst/>
              <a:cxnLst/>
              <a:rect l="l" t="t" r="r" b="b"/>
              <a:pathLst>
                <a:path w="3789045" h="2880360">
                  <a:moveTo>
                    <a:pt x="3788664" y="2441448"/>
                  </a:moveTo>
                  <a:lnTo>
                    <a:pt x="548640" y="2441448"/>
                  </a:lnTo>
                  <a:lnTo>
                    <a:pt x="548640" y="0"/>
                  </a:lnTo>
                  <a:lnTo>
                    <a:pt x="0" y="0"/>
                  </a:lnTo>
                  <a:lnTo>
                    <a:pt x="0" y="2608326"/>
                  </a:lnTo>
                  <a:lnTo>
                    <a:pt x="345948" y="2608326"/>
                  </a:lnTo>
                  <a:lnTo>
                    <a:pt x="345948" y="2880360"/>
                  </a:lnTo>
                  <a:lnTo>
                    <a:pt x="3788664" y="2880360"/>
                  </a:lnTo>
                  <a:lnTo>
                    <a:pt x="3788664" y="24414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0627868" y="3719576"/>
            <a:ext cx="5372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Verdana"/>
                <a:cs typeface="Verdana"/>
              </a:rPr>
              <a:t>time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714276" y="1303502"/>
            <a:ext cx="303530" cy="866140"/>
          </a:xfrm>
          <a:prstGeom prst="rect">
            <a:avLst/>
          </a:prstGeom>
        </p:spPr>
        <p:txBody>
          <a:bodyPr vert="vert270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10" dirty="0">
                <a:latin typeface="Verdana"/>
                <a:cs typeface="Verdana"/>
              </a:rPr>
              <a:t>voltage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082534" y="1223771"/>
            <a:ext cx="3169285" cy="2468245"/>
          </a:xfrm>
          <a:custGeom>
            <a:avLst/>
            <a:gdLst/>
            <a:ahLst/>
            <a:cxnLst/>
            <a:rect l="l" t="t" r="r" b="b"/>
            <a:pathLst>
              <a:path w="3169284" h="2468245">
                <a:moveTo>
                  <a:pt x="3169158" y="2430018"/>
                </a:moveTo>
                <a:lnTo>
                  <a:pt x="3041904" y="2391918"/>
                </a:lnTo>
                <a:lnTo>
                  <a:pt x="3041904" y="2417064"/>
                </a:lnTo>
                <a:lnTo>
                  <a:pt x="51054" y="2417064"/>
                </a:lnTo>
                <a:lnTo>
                  <a:pt x="51054" y="127254"/>
                </a:lnTo>
                <a:lnTo>
                  <a:pt x="76200" y="127254"/>
                </a:lnTo>
                <a:lnTo>
                  <a:pt x="38100" y="0"/>
                </a:lnTo>
                <a:lnTo>
                  <a:pt x="0" y="127254"/>
                </a:lnTo>
                <a:lnTo>
                  <a:pt x="25146" y="127254"/>
                </a:lnTo>
                <a:lnTo>
                  <a:pt x="25146" y="2423160"/>
                </a:lnTo>
                <a:lnTo>
                  <a:pt x="25146" y="2436876"/>
                </a:lnTo>
                <a:lnTo>
                  <a:pt x="31242" y="2442972"/>
                </a:lnTo>
                <a:lnTo>
                  <a:pt x="44958" y="2442972"/>
                </a:lnTo>
                <a:lnTo>
                  <a:pt x="3041904" y="2442972"/>
                </a:lnTo>
                <a:lnTo>
                  <a:pt x="3041904" y="2468118"/>
                </a:lnTo>
                <a:lnTo>
                  <a:pt x="3067812" y="2460371"/>
                </a:lnTo>
                <a:lnTo>
                  <a:pt x="3169158" y="2430018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E3E195E4-9F6A-445E-9BAA-C68388B3C44A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24" name="object 24"/>
          <p:cNvSpPr txBox="1"/>
          <p:nvPr/>
        </p:nvSpPr>
        <p:spPr>
          <a:xfrm>
            <a:off x="11401297" y="6370516"/>
            <a:ext cx="219075" cy="2108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25" dirty="0">
                <a:latin typeface="Verdana"/>
                <a:cs typeface="Verdana"/>
              </a:rPr>
              <a:t>42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462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lang="en-US" spc="-50" smtClean="0"/>
              <a:t>41</a:t>
            </a:fld>
            <a:endParaRPr lang="en-US" spc="-50" dirty="0"/>
          </a:p>
        </p:txBody>
      </p:sp>
      <p:sp>
        <p:nvSpPr>
          <p:cNvPr id="27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dirty="0"/>
              <a:t>Two</a:t>
            </a:r>
            <a:r>
              <a:rPr spc="-80" dirty="0"/>
              <a:t> </a:t>
            </a:r>
            <a:r>
              <a:rPr dirty="0"/>
              <a:t>Stage</a:t>
            </a:r>
            <a:r>
              <a:rPr spc="-100" dirty="0"/>
              <a:t> </a:t>
            </a:r>
            <a:r>
              <a:rPr dirty="0"/>
              <a:t>Amplifier:</a:t>
            </a:r>
            <a:r>
              <a:rPr spc="-60" dirty="0"/>
              <a:t> </a:t>
            </a:r>
            <a:r>
              <a:rPr dirty="0"/>
              <a:t>Compensation</a:t>
            </a:r>
            <a:r>
              <a:rPr spc="-95" dirty="0"/>
              <a:t> </a:t>
            </a:r>
            <a:r>
              <a:rPr spc="-10" dirty="0"/>
              <a:t>Comparison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9160" y="2081022"/>
            <a:ext cx="4142232" cy="25328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58061" y="3108452"/>
            <a:ext cx="4794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13888" dirty="0">
                <a:latin typeface="Verdana"/>
                <a:cs typeface="Verdana"/>
              </a:rPr>
              <a:t>V</a:t>
            </a:r>
            <a:r>
              <a:rPr sz="1200" dirty="0">
                <a:latin typeface="Verdana"/>
                <a:cs typeface="Verdana"/>
              </a:rPr>
              <a:t>IN-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16017" y="3017773"/>
            <a:ext cx="556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13888" dirty="0">
                <a:latin typeface="Verdana"/>
                <a:cs typeface="Verdana"/>
              </a:rPr>
              <a:t>V</a:t>
            </a:r>
            <a:r>
              <a:rPr sz="1200" spc="-20" dirty="0">
                <a:latin typeface="Verdana"/>
                <a:cs typeface="Verdana"/>
              </a:rPr>
              <a:t>OUT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21558" y="4054855"/>
            <a:ext cx="45148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C</a:t>
            </a:r>
            <a:r>
              <a:rPr sz="1200" spc="-25" dirty="0">
                <a:latin typeface="Verdana"/>
                <a:cs typeface="Verdana"/>
              </a:rPr>
              <a:t>EQ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41142" y="3108452"/>
            <a:ext cx="534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13888" dirty="0">
                <a:latin typeface="Verdana"/>
                <a:cs typeface="Verdana"/>
              </a:rPr>
              <a:t>V</a:t>
            </a:r>
            <a:r>
              <a:rPr sz="1200" spc="-20" dirty="0">
                <a:latin typeface="Verdana"/>
                <a:cs typeface="Verdana"/>
              </a:rPr>
              <a:t>IN+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43653" y="4023614"/>
            <a:ext cx="1055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642620" algn="l"/>
              </a:tabLst>
            </a:pPr>
            <a:r>
              <a:rPr sz="2700" spc="-37" baseline="13888" dirty="0">
                <a:latin typeface="Verdana"/>
                <a:cs typeface="Verdana"/>
              </a:rPr>
              <a:t>C</a:t>
            </a:r>
            <a:r>
              <a:rPr sz="1200" spc="-25" dirty="0">
                <a:latin typeface="Verdana"/>
                <a:cs typeface="Verdana"/>
              </a:rPr>
              <a:t>LD</a:t>
            </a:r>
            <a:r>
              <a:rPr sz="1200" dirty="0">
                <a:latin typeface="Verdana"/>
                <a:cs typeface="Verdana"/>
              </a:rPr>
              <a:t>	</a:t>
            </a:r>
            <a:r>
              <a:rPr sz="2700" spc="-37" baseline="13888" dirty="0">
                <a:latin typeface="Verdana"/>
                <a:cs typeface="Verdana"/>
              </a:rPr>
              <a:t>R</a:t>
            </a:r>
            <a:r>
              <a:rPr sz="1200" spc="-25" dirty="0">
                <a:latin typeface="Verdana"/>
                <a:cs typeface="Verdana"/>
              </a:rPr>
              <a:t>LD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71216" y="2110994"/>
            <a:ext cx="4832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gm</a:t>
            </a:r>
            <a:r>
              <a:rPr sz="1800" spc="-37" baseline="-20833" dirty="0">
                <a:latin typeface="Verdana"/>
                <a:cs typeface="Verdana"/>
              </a:rPr>
              <a:t>i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25111" y="2110994"/>
            <a:ext cx="534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gm</a:t>
            </a:r>
            <a:r>
              <a:rPr sz="1800" spc="-37" baseline="-20833" dirty="0">
                <a:latin typeface="Verdana"/>
                <a:cs typeface="Verdana"/>
              </a:rPr>
              <a:t>o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73017" y="3376676"/>
            <a:ext cx="342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C</a:t>
            </a:r>
            <a:r>
              <a:rPr sz="1800" spc="-37" baseline="-20833" dirty="0">
                <a:latin typeface="Verdana"/>
                <a:cs typeface="Verdana"/>
              </a:rPr>
              <a:t>C</a:t>
            </a:r>
            <a:endParaRPr sz="1800" baseline="-20833">
              <a:latin typeface="Verdana"/>
              <a:cs typeface="Verdan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40444" y="1358807"/>
            <a:ext cx="6052407" cy="4626412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464046" y="4228591"/>
            <a:ext cx="2973705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2410" indent="-19431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Char char="o"/>
              <a:tabLst>
                <a:tab pos="232410" algn="l"/>
              </a:tabLst>
            </a:pPr>
            <a:r>
              <a:rPr sz="1600" spc="-10" dirty="0">
                <a:latin typeface="Verdana"/>
                <a:cs typeface="Verdana"/>
              </a:rPr>
              <a:t>Uncompensated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spc="-20" dirty="0">
                <a:latin typeface="Verdana"/>
                <a:cs typeface="Verdana"/>
              </a:rPr>
              <a:t>C</a:t>
            </a:r>
            <a:r>
              <a:rPr sz="1575" spc="-30" baseline="-21164" dirty="0">
                <a:latin typeface="Verdana"/>
                <a:cs typeface="Verdana"/>
              </a:rPr>
              <a:t>LD</a:t>
            </a:r>
            <a:r>
              <a:rPr sz="1600" spc="-20" dirty="0">
                <a:latin typeface="Verdana"/>
                <a:cs typeface="Verdana"/>
              </a:rPr>
              <a:t>=0</a:t>
            </a:r>
            <a:endParaRPr sz="1600">
              <a:latin typeface="Verdana"/>
              <a:cs typeface="Verdana"/>
            </a:endParaRPr>
          </a:p>
          <a:p>
            <a:pPr marL="232410" indent="-194310">
              <a:lnSpc>
                <a:spcPct val="100000"/>
              </a:lnSpc>
              <a:buClr>
                <a:srgbClr val="CC0000"/>
              </a:buClr>
              <a:buChar char="o"/>
              <a:tabLst>
                <a:tab pos="232410" algn="l"/>
              </a:tabLst>
            </a:pPr>
            <a:r>
              <a:rPr sz="1600" spc="-10" dirty="0">
                <a:latin typeface="Verdana"/>
                <a:cs typeface="Verdana"/>
              </a:rPr>
              <a:t>Uncompensated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C</a:t>
            </a:r>
            <a:r>
              <a:rPr sz="1575" spc="-15" baseline="-21164" dirty="0">
                <a:latin typeface="Verdana"/>
                <a:cs typeface="Verdana"/>
              </a:rPr>
              <a:t>LD</a:t>
            </a:r>
            <a:r>
              <a:rPr sz="1600" spc="-10" dirty="0">
                <a:latin typeface="Verdana"/>
                <a:cs typeface="Verdana"/>
              </a:rPr>
              <a:t>=50pF</a:t>
            </a:r>
            <a:endParaRPr sz="1600">
              <a:latin typeface="Verdana"/>
              <a:cs typeface="Verdana"/>
            </a:endParaRPr>
          </a:p>
          <a:p>
            <a:pPr marL="232410" indent="-194310">
              <a:lnSpc>
                <a:spcPct val="100000"/>
              </a:lnSpc>
              <a:buClr>
                <a:srgbClr val="00B04F"/>
              </a:buClr>
              <a:buChar char="o"/>
              <a:tabLst>
                <a:tab pos="232410" algn="l"/>
              </a:tabLst>
            </a:pPr>
            <a:r>
              <a:rPr sz="1600" dirty="0">
                <a:latin typeface="Verdana"/>
                <a:cs typeface="Verdana"/>
              </a:rPr>
              <a:t>Shunt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Compensated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(5nF)</a:t>
            </a:r>
            <a:endParaRPr sz="1600">
              <a:latin typeface="Verdana"/>
              <a:cs typeface="Verdana"/>
            </a:endParaRPr>
          </a:p>
          <a:p>
            <a:pPr marL="232410" indent="-194310">
              <a:lnSpc>
                <a:spcPct val="100000"/>
              </a:lnSpc>
              <a:buClr>
                <a:srgbClr val="0000FF"/>
              </a:buClr>
              <a:buChar char="o"/>
              <a:tabLst>
                <a:tab pos="232410" algn="l"/>
              </a:tabLst>
            </a:pPr>
            <a:r>
              <a:rPr sz="1600" dirty="0">
                <a:latin typeface="Verdana"/>
                <a:cs typeface="Verdana"/>
              </a:rPr>
              <a:t>Miller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Compensated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(5pF)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25E2C775-324F-43CD-9045-0E7DD4A0A650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  <p:sp>
        <p:nvSpPr>
          <p:cNvPr id="18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73683" y="1334516"/>
            <a:ext cx="7032625" cy="2341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2600" indent="-469900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Introduction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background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0"/>
              </a:spcBef>
              <a:buClr>
                <a:srgbClr val="CC0000"/>
              </a:buClr>
              <a:buFont typeface="Wingdings"/>
              <a:buChar char=""/>
            </a:pPr>
            <a:endParaRPr sz="20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Refresher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on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feedback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theory,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bode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plots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0"/>
              </a:spcBef>
              <a:buClr>
                <a:srgbClr val="CC0000"/>
              </a:buClr>
              <a:buFont typeface="Wingdings"/>
              <a:buChar char=""/>
            </a:pPr>
            <a:endParaRPr sz="20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Types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frequency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compensation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0"/>
              </a:spcBef>
              <a:buClr>
                <a:srgbClr val="CC0000"/>
              </a:buClr>
              <a:buFont typeface="Wingdings"/>
              <a:buChar char=""/>
            </a:pPr>
            <a:endParaRPr sz="20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A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practical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design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example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two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stage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amplifier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0663" y="3878579"/>
            <a:ext cx="10647680" cy="675640"/>
          </a:xfrm>
          <a:prstGeom prst="rect">
            <a:avLst/>
          </a:prstGeom>
          <a:solidFill>
            <a:srgbClr val="CB0000"/>
          </a:solidFill>
        </p:spPr>
        <p:txBody>
          <a:bodyPr vert="horz" wrap="square" lIns="0" tIns="150495" rIns="0" bIns="0" rtlCol="0">
            <a:spAutoFit/>
          </a:bodyPr>
          <a:lstStyle/>
          <a:p>
            <a:pPr marL="515620" indent="-469900">
              <a:lnSpc>
                <a:spcPct val="100000"/>
              </a:lnSpc>
              <a:spcBef>
                <a:spcPts val="1185"/>
              </a:spcBef>
              <a:buFont typeface="Wingdings"/>
              <a:buChar char=""/>
              <a:tabLst>
                <a:tab pos="515620" algn="l"/>
              </a:tabLst>
            </a:pP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Alternative</a:t>
            </a:r>
            <a:r>
              <a:rPr sz="20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(advanced)</a:t>
            </a:r>
            <a:r>
              <a:rPr sz="2000" spc="-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compensation</a:t>
            </a:r>
            <a:r>
              <a:rPr sz="20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schemes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3709" y="4687261"/>
            <a:ext cx="42691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2600" indent="-469900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Practical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tips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suggestions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45423" y="4553711"/>
            <a:ext cx="3042920" cy="1224280"/>
          </a:xfrm>
          <a:custGeom>
            <a:avLst/>
            <a:gdLst/>
            <a:ahLst/>
            <a:cxnLst/>
            <a:rect l="l" t="t" r="r" b="b"/>
            <a:pathLst>
              <a:path w="3042920" h="1224279">
                <a:moveTo>
                  <a:pt x="3042666" y="1124711"/>
                </a:moveTo>
                <a:lnTo>
                  <a:pt x="3042666" y="0"/>
                </a:lnTo>
                <a:lnTo>
                  <a:pt x="0" y="0"/>
                </a:lnTo>
                <a:lnTo>
                  <a:pt x="0" y="1124712"/>
                </a:lnTo>
                <a:lnTo>
                  <a:pt x="7750" y="1163335"/>
                </a:lnTo>
                <a:lnTo>
                  <a:pt x="60114" y="1216009"/>
                </a:lnTo>
                <a:lnTo>
                  <a:pt x="98298" y="1223772"/>
                </a:lnTo>
                <a:lnTo>
                  <a:pt x="2944368" y="1223771"/>
                </a:lnTo>
                <a:lnTo>
                  <a:pt x="2982551" y="1216009"/>
                </a:lnTo>
                <a:lnTo>
                  <a:pt x="3013805" y="1194815"/>
                </a:lnTo>
                <a:lnTo>
                  <a:pt x="3034915" y="1163335"/>
                </a:lnTo>
                <a:lnTo>
                  <a:pt x="3042666" y="1124711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453119" y="4585208"/>
            <a:ext cx="264096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Nested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Miller</a:t>
            </a:r>
            <a:r>
              <a:rPr sz="1800" spc="50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Multipath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nested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Miller </a:t>
            </a:r>
            <a:r>
              <a:rPr sz="1800" dirty="0">
                <a:latin typeface="Verdana"/>
                <a:cs typeface="Verdana"/>
              </a:rPr>
              <a:t>Advanced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Miller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topics </a:t>
            </a:r>
            <a:r>
              <a:rPr sz="1800" dirty="0">
                <a:latin typeface="Verdana"/>
                <a:cs typeface="Verdana"/>
              </a:rPr>
              <a:t>Useful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combinations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0FDCDEFF-5DD5-48CB-9738-FC2531B2D02D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  <p:sp>
        <p:nvSpPr>
          <p:cNvPr id="12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Two</a:t>
            </a:r>
            <a:r>
              <a:rPr spc="-75" dirty="0"/>
              <a:t> </a:t>
            </a:r>
            <a:r>
              <a:rPr dirty="0"/>
              <a:t>Stage</a:t>
            </a:r>
            <a:r>
              <a:rPr spc="-100" dirty="0"/>
              <a:t> </a:t>
            </a:r>
            <a:r>
              <a:rPr dirty="0"/>
              <a:t>Amplifier</a:t>
            </a:r>
            <a:r>
              <a:rPr spc="-50" dirty="0"/>
              <a:t> </a:t>
            </a:r>
            <a:r>
              <a:rPr dirty="0"/>
              <a:t>Miller</a:t>
            </a:r>
            <a:r>
              <a:rPr spc="-55" dirty="0"/>
              <a:t> </a:t>
            </a:r>
            <a:r>
              <a:rPr dirty="0"/>
              <a:t>Comp</a:t>
            </a:r>
            <a:r>
              <a:rPr spc="-90" dirty="0"/>
              <a:t> </a:t>
            </a:r>
            <a:r>
              <a:rPr spc="-10" dirty="0"/>
              <a:t>(revisited)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12561" y="1390142"/>
            <a:ext cx="6245860" cy="3378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8800" marR="93980" indent="-470534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Font typeface="Wingdings"/>
              <a:buChar char=""/>
              <a:tabLst>
                <a:tab pos="558800" algn="l"/>
              </a:tabLst>
            </a:pPr>
            <a:r>
              <a:rPr sz="2000" dirty="0">
                <a:latin typeface="Verdana"/>
                <a:cs typeface="Verdana"/>
              </a:rPr>
              <a:t>Single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dominant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pole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response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set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by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1950" baseline="-21367" dirty="0">
                <a:latin typeface="Verdana"/>
                <a:cs typeface="Verdana"/>
              </a:rPr>
              <a:t>M</a:t>
            </a:r>
            <a:r>
              <a:rPr sz="1950" spc="307" baseline="-21367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as </a:t>
            </a:r>
            <a:r>
              <a:rPr sz="2000" dirty="0">
                <a:latin typeface="Verdana"/>
                <a:cs typeface="Verdana"/>
              </a:rPr>
              <a:t>long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as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Miller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loopgain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(ML)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above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50" dirty="0">
                <a:latin typeface="Verdana"/>
                <a:cs typeface="Verdana"/>
              </a:rPr>
              <a:t>1</a:t>
            </a:r>
            <a:endParaRPr sz="2000">
              <a:latin typeface="Verdana"/>
              <a:cs typeface="Verdana"/>
            </a:endParaRPr>
          </a:p>
          <a:p>
            <a:pPr marL="558800" marR="1943100" indent="-470534">
              <a:lnSpc>
                <a:spcPct val="100000"/>
              </a:lnSpc>
              <a:spcBef>
                <a:spcPts val="1800"/>
              </a:spcBef>
              <a:buClr>
                <a:srgbClr val="CC0000"/>
              </a:buClr>
              <a:buFont typeface="Wingdings"/>
              <a:buChar char=""/>
              <a:tabLst>
                <a:tab pos="558800" algn="l"/>
              </a:tabLst>
            </a:pPr>
            <a:r>
              <a:rPr sz="2000" dirty="0">
                <a:latin typeface="Verdana"/>
                <a:cs typeface="Verdana"/>
              </a:rPr>
              <a:t>Second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pole,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at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output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node: ω</a:t>
            </a:r>
            <a:r>
              <a:rPr sz="1950" spc="-15" baseline="-21367" dirty="0">
                <a:latin typeface="Verdana"/>
                <a:cs typeface="Verdana"/>
              </a:rPr>
              <a:t>2</a:t>
            </a:r>
            <a:r>
              <a:rPr sz="2000" spc="-10" dirty="0">
                <a:latin typeface="Verdana"/>
                <a:cs typeface="Verdana"/>
              </a:rPr>
              <a:t>~G2/(C</a:t>
            </a:r>
            <a:r>
              <a:rPr sz="1950" spc="-15" baseline="-21367" dirty="0">
                <a:latin typeface="Verdana"/>
                <a:cs typeface="Verdana"/>
              </a:rPr>
              <a:t>LD</a:t>
            </a:r>
            <a:r>
              <a:rPr sz="2000" spc="-10" dirty="0">
                <a:latin typeface="Verdana"/>
                <a:cs typeface="Verdana"/>
              </a:rPr>
              <a:t>(1+Cpar/C</a:t>
            </a:r>
            <a:r>
              <a:rPr sz="1950" spc="-15" baseline="-21367" dirty="0">
                <a:latin typeface="Verdana"/>
                <a:cs typeface="Verdana"/>
              </a:rPr>
              <a:t>M</a:t>
            </a:r>
            <a:r>
              <a:rPr sz="2000" spc="-10" dirty="0">
                <a:latin typeface="Verdana"/>
                <a:cs typeface="Verdana"/>
              </a:rPr>
              <a:t>))</a:t>
            </a:r>
            <a:endParaRPr sz="2000">
              <a:latin typeface="Verdana"/>
              <a:cs typeface="Verdana"/>
            </a:endParaRPr>
          </a:p>
          <a:p>
            <a:pPr marL="558800" marR="240665" indent="-470534">
              <a:lnSpc>
                <a:spcPct val="100000"/>
              </a:lnSpc>
              <a:spcBef>
                <a:spcPts val="1800"/>
              </a:spcBef>
              <a:buClr>
                <a:srgbClr val="CC0000"/>
              </a:buClr>
              <a:buFont typeface="Wingdings"/>
              <a:buChar char=""/>
              <a:tabLst>
                <a:tab pos="558800" algn="l"/>
              </a:tabLst>
            </a:pPr>
            <a:r>
              <a:rPr sz="2000" dirty="0">
                <a:latin typeface="Verdana"/>
                <a:cs typeface="Verdana"/>
              </a:rPr>
              <a:t>Load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capacitance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parasitics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impact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ML </a:t>
            </a:r>
            <a:r>
              <a:rPr sz="2000" dirty="0">
                <a:latin typeface="Verdana"/>
                <a:cs typeface="Verdana"/>
              </a:rPr>
              <a:t>bandwidth!</a:t>
            </a:r>
            <a:r>
              <a:rPr sz="2000" spc="-4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Make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1950" baseline="-21367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&gt;Cpar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maximize.</a:t>
            </a:r>
            <a:endParaRPr sz="2000">
              <a:latin typeface="Verdana"/>
              <a:cs typeface="Verdana"/>
            </a:endParaRPr>
          </a:p>
          <a:p>
            <a:pPr marL="558800" indent="-469900">
              <a:lnSpc>
                <a:spcPct val="100000"/>
              </a:lnSpc>
              <a:spcBef>
                <a:spcPts val="1800"/>
              </a:spcBef>
              <a:buClr>
                <a:srgbClr val="CC0000"/>
              </a:buClr>
              <a:buFont typeface="Wingdings"/>
              <a:buChar char=""/>
              <a:tabLst>
                <a:tab pos="558800" algn="l"/>
              </a:tabLst>
            </a:pPr>
            <a:r>
              <a:rPr sz="2000" dirty="0">
                <a:latin typeface="Verdana"/>
                <a:cs typeface="Verdana"/>
              </a:rPr>
              <a:t>Feedforward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causes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RHP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zero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ωz=G2/C</a:t>
            </a:r>
            <a:r>
              <a:rPr sz="1950" spc="-15" baseline="-21367" dirty="0">
                <a:latin typeface="Verdana"/>
                <a:cs typeface="Verdana"/>
              </a:rPr>
              <a:t>M</a:t>
            </a:r>
            <a:endParaRPr sz="1950" baseline="-21367">
              <a:latin typeface="Verdana"/>
              <a:cs typeface="Verdana"/>
            </a:endParaRPr>
          </a:p>
          <a:p>
            <a:pPr marL="558800" indent="-469900">
              <a:lnSpc>
                <a:spcPct val="100000"/>
              </a:lnSpc>
              <a:spcBef>
                <a:spcPts val="1800"/>
              </a:spcBef>
              <a:buClr>
                <a:srgbClr val="CC0000"/>
              </a:buClr>
              <a:buFont typeface="Wingdings"/>
              <a:buChar char=""/>
              <a:tabLst>
                <a:tab pos="558800" algn="l"/>
              </a:tabLst>
            </a:pPr>
            <a:r>
              <a:rPr sz="2000" dirty="0">
                <a:latin typeface="Verdana"/>
                <a:cs typeface="Verdana"/>
              </a:rPr>
              <a:t>Load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resistance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lowers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Miller-</a:t>
            </a:r>
            <a:r>
              <a:rPr sz="2000" dirty="0">
                <a:latin typeface="Verdana"/>
                <a:cs typeface="Verdana"/>
              </a:rPr>
              <a:t>loop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gain!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33527" y="4742941"/>
            <a:ext cx="26517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Verdana"/>
                <a:cs typeface="Verdana"/>
              </a:rPr>
              <a:t>Keep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ML</a:t>
            </a:r>
            <a:r>
              <a:rPr sz="1950" baseline="-21367" dirty="0">
                <a:latin typeface="Verdana"/>
                <a:cs typeface="Verdana"/>
              </a:rPr>
              <a:t>Gain</a:t>
            </a:r>
            <a:r>
              <a:rPr sz="1950" spc="352" baseline="-21367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above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50" dirty="0">
                <a:latin typeface="Verdana"/>
                <a:cs typeface="Verdana"/>
              </a:rPr>
              <a:t>1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3213" y="4493767"/>
            <a:ext cx="341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𝑀𝐿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39444" y="4626355"/>
            <a:ext cx="7816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mbria Math"/>
                <a:cs typeface="Cambria Math"/>
              </a:rPr>
              <a:t>𝐵𝑎𝑛𝑑𝑤𝑖𝑑𝑡ℎ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36495" y="4493767"/>
            <a:ext cx="1885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~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151888" y="4662678"/>
            <a:ext cx="1492250" cy="14604"/>
          </a:xfrm>
          <a:custGeom>
            <a:avLst/>
            <a:gdLst/>
            <a:ahLst/>
            <a:cxnLst/>
            <a:rect l="l" t="t" r="r" b="b"/>
            <a:pathLst>
              <a:path w="1492250" h="14604">
                <a:moveTo>
                  <a:pt x="0" y="14477"/>
                </a:moveTo>
                <a:lnTo>
                  <a:pt x="0" y="0"/>
                </a:lnTo>
                <a:lnTo>
                  <a:pt x="1491995" y="0"/>
                </a:lnTo>
                <a:lnTo>
                  <a:pt x="1491995" y="14477"/>
                </a:lnTo>
                <a:lnTo>
                  <a:pt x="0" y="144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680714" y="4493767"/>
            <a:ext cx="90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⋅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23380" y="4320786"/>
            <a:ext cx="1790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473200" algn="l"/>
              </a:tabLst>
            </a:pPr>
            <a:r>
              <a:rPr sz="1800" spc="-25" dirty="0">
                <a:latin typeface="Cambria Math"/>
                <a:cs typeface="Cambria Math"/>
              </a:rPr>
              <a:t>𝐺2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25" dirty="0">
                <a:latin typeface="Cambria Math"/>
                <a:cs typeface="Cambria Math"/>
              </a:rPr>
              <a:t>𝐶</a:t>
            </a:r>
            <a:r>
              <a:rPr sz="1800" spc="-37" baseline="-20833" dirty="0">
                <a:latin typeface="Cambria Math"/>
                <a:cs typeface="Cambria Math"/>
              </a:rPr>
              <a:t>𝑀</a:t>
            </a:r>
            <a:endParaRPr sz="1800" baseline="-20833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13018" y="4646929"/>
            <a:ext cx="27774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696085" algn="l"/>
              </a:tabLst>
            </a:pPr>
            <a:r>
              <a:rPr sz="1800" dirty="0">
                <a:latin typeface="Cambria Math"/>
                <a:cs typeface="Cambria Math"/>
              </a:rPr>
              <a:t>2𝜋(𝐶𝐿𝐷</a:t>
            </a:r>
            <a:r>
              <a:rPr sz="1800" spc="4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</a:t>
            </a:r>
            <a:r>
              <a:rPr sz="1800" spc="-5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𝐶𝑀)</a:t>
            </a:r>
            <a:r>
              <a:rPr sz="1800" dirty="0">
                <a:latin typeface="Cambria Math"/>
                <a:cs typeface="Cambria Math"/>
              </a:rPr>
              <a:t>	𝐶𝑝𝑎𝑟</a:t>
            </a:r>
            <a:r>
              <a:rPr sz="1800" spc="2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</a:t>
            </a:r>
            <a:r>
              <a:rPr sz="1800" spc="-15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𝐶</a:t>
            </a:r>
            <a:r>
              <a:rPr sz="1800" spc="-37" baseline="-20833" dirty="0">
                <a:latin typeface="Cambria Math"/>
                <a:cs typeface="Cambria Math"/>
              </a:rPr>
              <a:t>𝑀</a:t>
            </a:r>
            <a:endParaRPr sz="1800" baseline="-20833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810000" y="4662678"/>
            <a:ext cx="1049020" cy="14604"/>
          </a:xfrm>
          <a:custGeom>
            <a:avLst/>
            <a:gdLst/>
            <a:ahLst/>
            <a:cxnLst/>
            <a:rect l="l" t="t" r="r" b="b"/>
            <a:pathLst>
              <a:path w="1049020" h="14604">
                <a:moveTo>
                  <a:pt x="1048512" y="14477"/>
                </a:moveTo>
                <a:lnTo>
                  <a:pt x="1048512" y="0"/>
                </a:lnTo>
                <a:lnTo>
                  <a:pt x="0" y="0"/>
                </a:lnTo>
                <a:lnTo>
                  <a:pt x="0" y="14477"/>
                </a:lnTo>
                <a:lnTo>
                  <a:pt x="1048512" y="144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514347" y="5494273"/>
            <a:ext cx="336550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-25" dirty="0">
                <a:latin typeface="Cambria Math"/>
                <a:cs typeface="Cambria Math"/>
              </a:rPr>
              <a:t>𝑀𝐿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18385" y="5596382"/>
            <a:ext cx="384810" cy="215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50" spc="-20" dirty="0">
                <a:latin typeface="Cambria Math"/>
                <a:cs typeface="Cambria Math"/>
              </a:rPr>
              <a:t>𝐺𝑎𝑖𝑛</a:t>
            </a:r>
            <a:endParaRPr sz="125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87294" y="5619241"/>
            <a:ext cx="202565" cy="198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00" spc="-25" dirty="0">
                <a:latin typeface="Cambria Math"/>
                <a:cs typeface="Cambria Math"/>
              </a:rPr>
              <a:t>𝐿𝐷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36684" y="5494273"/>
            <a:ext cx="1068070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93775" algn="l"/>
              </a:tabLst>
            </a:pPr>
            <a:r>
              <a:rPr sz="1700" dirty="0">
                <a:latin typeface="Cambria Math"/>
                <a:cs typeface="Cambria Math"/>
              </a:rPr>
              <a:t>~</a:t>
            </a:r>
            <a:r>
              <a:rPr sz="1700" spc="-10" dirty="0">
                <a:latin typeface="Cambria Math"/>
                <a:cs typeface="Cambria Math"/>
              </a:rPr>
              <a:t> </a:t>
            </a:r>
            <a:r>
              <a:rPr sz="1700" dirty="0">
                <a:latin typeface="Cambria Math"/>
                <a:cs typeface="Cambria Math"/>
              </a:rPr>
              <a:t>𝐺2</a:t>
            </a:r>
            <a:r>
              <a:rPr sz="1700" spc="-5" dirty="0">
                <a:latin typeface="Cambria Math"/>
                <a:cs typeface="Cambria Math"/>
              </a:rPr>
              <a:t> </a:t>
            </a:r>
            <a:r>
              <a:rPr sz="1700" dirty="0">
                <a:latin typeface="Cambria Math"/>
                <a:cs typeface="Cambria Math"/>
              </a:rPr>
              <a:t>⋅</a:t>
            </a:r>
            <a:r>
              <a:rPr sz="1700" spc="-15" dirty="0">
                <a:latin typeface="Cambria Math"/>
                <a:cs typeface="Cambria Math"/>
              </a:rPr>
              <a:t> </a:t>
            </a:r>
            <a:r>
              <a:rPr sz="1700" spc="-50" dirty="0">
                <a:latin typeface="Cambria Math"/>
                <a:cs typeface="Cambria Math"/>
              </a:rPr>
              <a:t>𝑅</a:t>
            </a:r>
            <a:r>
              <a:rPr sz="1700" dirty="0">
                <a:latin typeface="Cambria Math"/>
                <a:cs typeface="Cambria Math"/>
              </a:rPr>
              <a:t>	</a:t>
            </a:r>
            <a:r>
              <a:rPr sz="1700" spc="-50" dirty="0">
                <a:latin typeface="Cambria Math"/>
                <a:cs typeface="Cambria Math"/>
              </a:rPr>
              <a:t>⋅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99504" y="5331202"/>
            <a:ext cx="327660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700" spc="-25" dirty="0">
                <a:latin typeface="Cambria Math"/>
                <a:cs typeface="Cambria Math"/>
              </a:rPr>
              <a:t>𝐶</a:t>
            </a:r>
            <a:r>
              <a:rPr sz="1650" spc="-37" baseline="-20202" dirty="0">
                <a:latin typeface="Cambria Math"/>
                <a:cs typeface="Cambria Math"/>
              </a:rPr>
              <a:t>𝑀</a:t>
            </a:r>
            <a:endParaRPr sz="1650" baseline="-20202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26384" y="5638291"/>
            <a:ext cx="1074420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dirty="0">
                <a:latin typeface="Cambria Math"/>
                <a:cs typeface="Cambria Math"/>
              </a:rPr>
              <a:t>𝐶𝑝𝑎𝑟</a:t>
            </a:r>
            <a:r>
              <a:rPr sz="1700" spc="10" dirty="0">
                <a:latin typeface="Cambria Math"/>
                <a:cs typeface="Cambria Math"/>
              </a:rPr>
              <a:t> </a:t>
            </a:r>
            <a:r>
              <a:rPr sz="1700" dirty="0">
                <a:latin typeface="Cambria Math"/>
                <a:cs typeface="Cambria Math"/>
              </a:rPr>
              <a:t>+</a:t>
            </a:r>
            <a:r>
              <a:rPr sz="1700" spc="-15" dirty="0">
                <a:latin typeface="Cambria Math"/>
                <a:cs typeface="Cambria Math"/>
              </a:rPr>
              <a:t> </a:t>
            </a:r>
            <a:r>
              <a:rPr sz="1700" spc="-35" dirty="0">
                <a:latin typeface="Cambria Math"/>
                <a:cs typeface="Cambria Math"/>
              </a:rPr>
              <a:t>𝐶𝑀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339084" y="5654802"/>
            <a:ext cx="1054100" cy="13970"/>
          </a:xfrm>
          <a:custGeom>
            <a:avLst/>
            <a:gdLst/>
            <a:ahLst/>
            <a:cxnLst/>
            <a:rect l="l" t="t" r="r" b="b"/>
            <a:pathLst>
              <a:path w="1054100" h="13970">
                <a:moveTo>
                  <a:pt x="0" y="13715"/>
                </a:moveTo>
                <a:lnTo>
                  <a:pt x="0" y="0"/>
                </a:lnTo>
                <a:lnTo>
                  <a:pt x="1053846" y="0"/>
                </a:lnTo>
                <a:lnTo>
                  <a:pt x="1053846" y="13715"/>
                </a:lnTo>
                <a:lnTo>
                  <a:pt x="0" y="137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5963" y="1746504"/>
            <a:ext cx="3599688" cy="1942720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809242" y="2559811"/>
            <a:ext cx="348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G1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3DF37CBC-8EB3-4C43-9521-1995CD29FCD6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44</a:t>
            </a:fld>
            <a:endParaRPr spc="-25" dirty="0"/>
          </a:p>
        </p:txBody>
      </p:sp>
      <p:sp>
        <p:nvSpPr>
          <p:cNvPr id="22" name="object 22"/>
          <p:cNvSpPr txBox="1"/>
          <p:nvPr/>
        </p:nvSpPr>
        <p:spPr>
          <a:xfrm>
            <a:off x="3145808" y="2559811"/>
            <a:ext cx="452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-</a:t>
            </a:r>
            <a:r>
              <a:rPr sz="1800" spc="-25" dirty="0">
                <a:latin typeface="Verdana"/>
                <a:cs typeface="Verdana"/>
              </a:rPr>
              <a:t>G2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53973" y="3248652"/>
            <a:ext cx="185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C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713223" y="3381247"/>
            <a:ext cx="22732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Verdana"/>
                <a:cs typeface="Verdana"/>
              </a:rPr>
              <a:t>LD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25750" y="3248659"/>
            <a:ext cx="185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C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985007" y="3381247"/>
            <a:ext cx="2774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Verdana"/>
                <a:cs typeface="Verdana"/>
              </a:rPr>
              <a:t>par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673602" y="1493773"/>
            <a:ext cx="3644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C</a:t>
            </a:r>
            <a:r>
              <a:rPr sz="1800" spc="-37" baseline="-20833" dirty="0">
                <a:latin typeface="Verdana"/>
                <a:cs typeface="Verdana"/>
              </a:rPr>
              <a:t>M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864355" y="2123947"/>
            <a:ext cx="346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CC0000"/>
                </a:solidFill>
                <a:latin typeface="Verdana"/>
                <a:cs typeface="Verdana"/>
              </a:rPr>
              <a:t>ML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3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9538" y="4601210"/>
            <a:ext cx="341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𝑀𝐿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45767" y="4733798"/>
            <a:ext cx="7816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mbria Math"/>
                <a:cs typeface="Cambria Math"/>
              </a:rPr>
              <a:t>𝐵𝑎𝑛𝑑𝑤𝑖𝑑𝑡ℎ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42820" y="4601210"/>
            <a:ext cx="1885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~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57450" y="4770120"/>
            <a:ext cx="1492250" cy="14604"/>
          </a:xfrm>
          <a:custGeom>
            <a:avLst/>
            <a:gdLst/>
            <a:ahLst/>
            <a:cxnLst/>
            <a:rect l="l" t="t" r="r" b="b"/>
            <a:pathLst>
              <a:path w="1492250" h="14604">
                <a:moveTo>
                  <a:pt x="0" y="14477"/>
                </a:moveTo>
                <a:lnTo>
                  <a:pt x="0" y="0"/>
                </a:lnTo>
                <a:lnTo>
                  <a:pt x="1491995" y="0"/>
                </a:lnTo>
                <a:lnTo>
                  <a:pt x="1491995" y="14477"/>
                </a:lnTo>
                <a:lnTo>
                  <a:pt x="0" y="144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987038" y="4601210"/>
            <a:ext cx="90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⋅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29704" y="4428228"/>
            <a:ext cx="1790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473200" algn="l"/>
              </a:tabLst>
            </a:pPr>
            <a:r>
              <a:rPr sz="1800" spc="-25" dirty="0">
                <a:latin typeface="Cambria Math"/>
                <a:cs typeface="Cambria Math"/>
              </a:rPr>
              <a:t>𝐺2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25" dirty="0">
                <a:latin typeface="Cambria Math"/>
                <a:cs typeface="Cambria Math"/>
              </a:rPr>
              <a:t>𝐶</a:t>
            </a:r>
            <a:r>
              <a:rPr sz="1800" spc="-37" baseline="-20833" dirty="0">
                <a:latin typeface="Cambria Math"/>
                <a:cs typeface="Cambria Math"/>
              </a:rPr>
              <a:t>𝑀</a:t>
            </a:r>
            <a:endParaRPr sz="1800" baseline="-20833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115561" y="4770120"/>
            <a:ext cx="1049020" cy="14604"/>
          </a:xfrm>
          <a:custGeom>
            <a:avLst/>
            <a:gdLst/>
            <a:ahLst/>
            <a:cxnLst/>
            <a:rect l="l" t="t" r="r" b="b"/>
            <a:pathLst>
              <a:path w="1049020" h="14604">
                <a:moveTo>
                  <a:pt x="1048512" y="14477"/>
                </a:moveTo>
                <a:lnTo>
                  <a:pt x="1048512" y="0"/>
                </a:lnTo>
                <a:lnTo>
                  <a:pt x="0" y="0"/>
                </a:lnTo>
                <a:lnTo>
                  <a:pt x="0" y="14477"/>
                </a:lnTo>
                <a:lnTo>
                  <a:pt x="1048512" y="144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419342" y="4678172"/>
            <a:ext cx="2777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696085" algn="l"/>
              </a:tabLst>
            </a:pPr>
            <a:r>
              <a:rPr sz="1800" dirty="0">
                <a:latin typeface="Cambria Math"/>
                <a:cs typeface="Cambria Math"/>
              </a:rPr>
              <a:t>2𝜋(𝐶𝐿𝐷</a:t>
            </a:r>
            <a:r>
              <a:rPr sz="1800" spc="4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</a:t>
            </a:r>
            <a:r>
              <a:rPr sz="1800" spc="-5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𝐶𝑀)</a:t>
            </a:r>
            <a:r>
              <a:rPr sz="1800" dirty="0">
                <a:latin typeface="Cambria Math"/>
                <a:cs typeface="Cambria Math"/>
              </a:rPr>
              <a:t>	𝐶𝑝𝑎𝑟</a:t>
            </a:r>
            <a:r>
              <a:rPr sz="1800" spc="10" dirty="0">
                <a:latin typeface="Cambria Math"/>
                <a:cs typeface="Cambria Math"/>
              </a:rPr>
              <a:t> </a:t>
            </a:r>
            <a:r>
              <a:rPr sz="1800" spc="-160" dirty="0">
                <a:latin typeface="Cambria Math"/>
                <a:cs typeface="Cambria Math"/>
              </a:rPr>
              <a:t>+</a:t>
            </a:r>
            <a:r>
              <a:rPr sz="3600" spc="-1754" baseline="-12731" dirty="0">
                <a:solidFill>
                  <a:srgbClr val="CC0000"/>
                </a:solidFill>
                <a:latin typeface="Verdana"/>
                <a:cs typeface="Verdana"/>
              </a:rPr>
              <a:t>X</a:t>
            </a:r>
            <a:r>
              <a:rPr sz="1800" spc="-40" dirty="0">
                <a:latin typeface="Cambria Math"/>
                <a:cs typeface="Cambria Math"/>
              </a:rPr>
              <a:t>𝐶</a:t>
            </a:r>
            <a:r>
              <a:rPr sz="1800" spc="-44" baseline="-20833" dirty="0">
                <a:latin typeface="Cambria Math"/>
                <a:cs typeface="Cambria Math"/>
              </a:rPr>
              <a:t>𝑀</a:t>
            </a:r>
            <a:endParaRPr sz="1800" baseline="-20833">
              <a:latin typeface="Cambria Math"/>
              <a:cs typeface="Cambria Math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Cascoded</a:t>
            </a:r>
            <a:r>
              <a:rPr spc="-70" dirty="0"/>
              <a:t> </a:t>
            </a:r>
            <a:r>
              <a:rPr dirty="0"/>
              <a:t>Miller</a:t>
            </a:r>
            <a:r>
              <a:rPr spc="-35" dirty="0"/>
              <a:t> </a:t>
            </a:r>
            <a:r>
              <a:rPr sz="3375" spc="-15" baseline="24691" dirty="0"/>
              <a:t>[8,9]</a:t>
            </a:r>
            <a:endParaRPr sz="3375" baseline="24691"/>
          </a:p>
        </p:txBody>
      </p:sp>
      <p:sp>
        <p:nvSpPr>
          <p:cNvPr id="11" name="object 11"/>
          <p:cNvSpPr txBox="1"/>
          <p:nvPr/>
        </p:nvSpPr>
        <p:spPr>
          <a:xfrm>
            <a:off x="5828029" y="1363472"/>
            <a:ext cx="5599430" cy="414147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558800" marR="839469" indent="-470534">
              <a:lnSpc>
                <a:spcPct val="100499"/>
              </a:lnSpc>
              <a:spcBef>
                <a:spcPts val="85"/>
              </a:spcBef>
              <a:buClr>
                <a:srgbClr val="CC0000"/>
              </a:buClr>
              <a:buFont typeface="Wingdings"/>
              <a:buChar char=""/>
              <a:tabLst>
                <a:tab pos="558800" algn="l"/>
              </a:tabLst>
            </a:pPr>
            <a:r>
              <a:rPr sz="2000" dirty="0">
                <a:latin typeface="Verdana"/>
                <a:cs typeface="Verdana"/>
              </a:rPr>
              <a:t>Adds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gain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Miller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Loop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Symbol"/>
                <a:cs typeface="Symbol"/>
              </a:rPr>
              <a:t>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Verdana"/>
                <a:cs typeface="Verdana"/>
              </a:rPr>
              <a:t>much </a:t>
            </a:r>
            <a:r>
              <a:rPr sz="2000" dirty="0">
                <a:latin typeface="Verdana"/>
                <a:cs typeface="Verdana"/>
              </a:rPr>
              <a:t>improved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load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capacitance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drive</a:t>
            </a:r>
            <a:endParaRPr sz="2000">
              <a:latin typeface="Verdana"/>
              <a:cs typeface="Verdana"/>
            </a:endParaRPr>
          </a:p>
          <a:p>
            <a:pPr marL="558800" indent="-470534">
              <a:lnSpc>
                <a:spcPct val="100000"/>
              </a:lnSpc>
              <a:spcBef>
                <a:spcPts val="1200"/>
              </a:spcBef>
              <a:buClr>
                <a:srgbClr val="CC0000"/>
              </a:buClr>
              <a:buFont typeface="Wingdings"/>
              <a:buChar char=""/>
              <a:tabLst>
                <a:tab pos="558800" algn="l"/>
              </a:tabLst>
            </a:pPr>
            <a:r>
              <a:rPr sz="2000" dirty="0">
                <a:latin typeface="Verdana"/>
                <a:cs typeface="Verdana"/>
              </a:rPr>
              <a:t>Blocks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RHP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zero</a:t>
            </a:r>
            <a:endParaRPr sz="2000">
              <a:latin typeface="Verdana"/>
              <a:cs typeface="Verdana"/>
            </a:endParaRPr>
          </a:p>
          <a:p>
            <a:pPr marL="558800" marR="101600" indent="-470534">
              <a:lnSpc>
                <a:spcPct val="100000"/>
              </a:lnSpc>
              <a:spcBef>
                <a:spcPts val="1200"/>
              </a:spcBef>
              <a:buClr>
                <a:srgbClr val="CC0000"/>
              </a:buClr>
              <a:buFont typeface="Wingdings"/>
              <a:buChar char=""/>
              <a:tabLst>
                <a:tab pos="558800" algn="l"/>
              </a:tabLst>
            </a:pPr>
            <a:r>
              <a:rPr sz="2000" dirty="0">
                <a:latin typeface="Verdana"/>
                <a:cs typeface="Verdana"/>
              </a:rPr>
              <a:t>Cascode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gm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(MP)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must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higher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than </a:t>
            </a:r>
            <a:r>
              <a:rPr sz="2000" dirty="0">
                <a:latin typeface="Verdana"/>
                <a:cs typeface="Verdana"/>
              </a:rPr>
              <a:t>G1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effective</a:t>
            </a:r>
            <a:endParaRPr sz="2000">
              <a:latin typeface="Verdana"/>
              <a:cs typeface="Verdana"/>
            </a:endParaRPr>
          </a:p>
          <a:p>
            <a:pPr marL="558800" marR="981075" indent="-470534">
              <a:lnSpc>
                <a:spcPct val="100000"/>
              </a:lnSpc>
              <a:spcBef>
                <a:spcPts val="1200"/>
              </a:spcBef>
              <a:buClr>
                <a:srgbClr val="CC0000"/>
              </a:buClr>
              <a:buFont typeface="Wingdings"/>
              <a:buChar char=""/>
              <a:tabLst>
                <a:tab pos="558800" algn="l"/>
              </a:tabLst>
            </a:pPr>
            <a:r>
              <a:rPr sz="2000" dirty="0">
                <a:latin typeface="Verdana"/>
                <a:cs typeface="Verdana"/>
              </a:rPr>
              <a:t>Adds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LHP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zero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(improves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phase margin)</a:t>
            </a:r>
            <a:endParaRPr sz="2000">
              <a:latin typeface="Verdana"/>
              <a:cs typeface="Verdana"/>
            </a:endParaRPr>
          </a:p>
          <a:p>
            <a:pPr marL="558800" marR="93980" indent="-470534">
              <a:lnSpc>
                <a:spcPct val="100000"/>
              </a:lnSpc>
              <a:spcBef>
                <a:spcPts val="1200"/>
              </a:spcBef>
              <a:buClr>
                <a:srgbClr val="CC0000"/>
              </a:buClr>
              <a:buFont typeface="Wingdings"/>
              <a:buChar char=""/>
              <a:tabLst>
                <a:tab pos="558800" algn="l"/>
              </a:tabLst>
            </a:pPr>
            <a:r>
              <a:rPr sz="2000" dirty="0">
                <a:latin typeface="Verdana"/>
                <a:cs typeface="Verdana"/>
              </a:rPr>
              <a:t>Can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have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stability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issues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when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</a:t>
            </a:r>
            <a:r>
              <a:rPr sz="1950" spc="-15" baseline="-21367" dirty="0">
                <a:latin typeface="Verdana"/>
                <a:cs typeface="Verdana"/>
              </a:rPr>
              <a:t>LD</a:t>
            </a:r>
            <a:r>
              <a:rPr sz="2000" spc="-10" dirty="0">
                <a:latin typeface="Verdana"/>
                <a:cs typeface="Verdana"/>
              </a:rPr>
              <a:t>=C</a:t>
            </a:r>
            <a:r>
              <a:rPr sz="1950" spc="-15" baseline="-21367" dirty="0">
                <a:latin typeface="Verdana"/>
                <a:cs typeface="Verdana"/>
              </a:rPr>
              <a:t>M </a:t>
            </a:r>
            <a:r>
              <a:rPr sz="2000" dirty="0">
                <a:latin typeface="Verdana"/>
                <a:cs typeface="Verdana"/>
              </a:rPr>
              <a:t>(poor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damping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Miller-</a:t>
            </a:r>
            <a:r>
              <a:rPr sz="2000" spc="-10" dirty="0">
                <a:latin typeface="Verdana"/>
                <a:cs typeface="Verdana"/>
              </a:rPr>
              <a:t>loop)</a:t>
            </a:r>
            <a:endParaRPr sz="2000">
              <a:latin typeface="Verdana"/>
              <a:cs typeface="Verdana"/>
            </a:endParaRPr>
          </a:p>
          <a:p>
            <a:pPr marL="558800" marR="260985" indent="-470534">
              <a:lnSpc>
                <a:spcPct val="100000"/>
              </a:lnSpc>
              <a:spcBef>
                <a:spcPts val="1200"/>
              </a:spcBef>
              <a:buClr>
                <a:srgbClr val="CC0000"/>
              </a:buClr>
              <a:buFont typeface="Wingdings"/>
              <a:buChar char=""/>
              <a:tabLst>
                <a:tab pos="558800" algn="l"/>
              </a:tabLst>
            </a:pPr>
            <a:r>
              <a:rPr sz="2000" dirty="0">
                <a:latin typeface="Verdana"/>
                <a:cs typeface="Verdana"/>
              </a:rPr>
              <a:t>Watch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for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stability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during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slew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(avoid </a:t>
            </a:r>
            <a:r>
              <a:rPr sz="2000" dirty="0">
                <a:latin typeface="Verdana"/>
                <a:cs typeface="Verdana"/>
              </a:rPr>
              <a:t>operating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MP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w/o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current)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05100" y="5591810"/>
            <a:ext cx="1203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37037" dirty="0">
                <a:latin typeface="Cambria Math"/>
                <a:cs typeface="Cambria Math"/>
              </a:rPr>
              <a:t>𝜔</a:t>
            </a:r>
            <a:r>
              <a:rPr sz="1950" baseline="36324" dirty="0">
                <a:latin typeface="Cambria Math"/>
                <a:cs typeface="Cambria Math"/>
              </a:rPr>
              <a:t>𝑧</a:t>
            </a:r>
            <a:r>
              <a:rPr sz="1950" spc="450" baseline="36324" dirty="0">
                <a:latin typeface="Cambria Math"/>
                <a:cs typeface="Cambria Math"/>
              </a:rPr>
              <a:t> </a:t>
            </a:r>
            <a:r>
              <a:rPr sz="2700" baseline="37037" dirty="0">
                <a:latin typeface="Cambria Math"/>
                <a:cs typeface="Cambria Math"/>
              </a:rPr>
              <a:t>=</a:t>
            </a:r>
            <a:r>
              <a:rPr sz="2700" spc="157" baseline="37037" dirty="0">
                <a:latin typeface="Cambria Math"/>
                <a:cs typeface="Cambria Math"/>
              </a:rPr>
              <a:t> </a:t>
            </a:r>
            <a:r>
              <a:rPr sz="1800" spc="65" dirty="0">
                <a:latin typeface="Cambria Math"/>
                <a:cs typeface="Cambria Math"/>
              </a:rPr>
              <a:t>2𝜋⋅</a:t>
            </a:r>
            <a:r>
              <a:rPr sz="180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𝐶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32988" y="5265666"/>
            <a:ext cx="6324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mbria Math"/>
                <a:cs typeface="Cambria Math"/>
              </a:rPr>
              <a:t>𝑔𝑚</a:t>
            </a:r>
            <a:r>
              <a:rPr sz="1800" spc="-30" baseline="-20833" dirty="0">
                <a:latin typeface="Cambria Math"/>
                <a:cs typeface="Cambria Math"/>
              </a:rPr>
              <a:t>𝑀𝑃</a:t>
            </a:r>
            <a:endParaRPr sz="1800" baseline="-20833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57497" y="5724397"/>
            <a:ext cx="1555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mbria Math"/>
                <a:cs typeface="Cambria Math"/>
              </a:rPr>
              <a:t>𝑀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300984" y="5607558"/>
            <a:ext cx="706120" cy="14604"/>
          </a:xfrm>
          <a:custGeom>
            <a:avLst/>
            <a:gdLst/>
            <a:ahLst/>
            <a:cxnLst/>
            <a:rect l="l" t="t" r="r" b="b"/>
            <a:pathLst>
              <a:path w="706120" h="14604">
                <a:moveTo>
                  <a:pt x="0" y="14477"/>
                </a:moveTo>
                <a:lnTo>
                  <a:pt x="0" y="0"/>
                </a:lnTo>
                <a:lnTo>
                  <a:pt x="705612" y="0"/>
                </a:lnTo>
                <a:lnTo>
                  <a:pt x="705612" y="14477"/>
                </a:lnTo>
                <a:lnTo>
                  <a:pt x="0" y="144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3311" y="1200911"/>
            <a:ext cx="3600450" cy="303809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914398" y="3002534"/>
            <a:ext cx="348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G1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66209FE7-C4FF-4E11-A1E2-AFC73FC76C17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45</a:t>
            </a:fld>
            <a:endParaRPr spc="-25" dirty="0"/>
          </a:p>
        </p:txBody>
      </p:sp>
      <p:sp>
        <p:nvSpPr>
          <p:cNvPr id="18" name="object 18"/>
          <p:cNvSpPr txBox="1"/>
          <p:nvPr/>
        </p:nvSpPr>
        <p:spPr>
          <a:xfrm>
            <a:off x="3251718" y="3002534"/>
            <a:ext cx="452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-</a:t>
            </a:r>
            <a:r>
              <a:rPr sz="1800" spc="-25" dirty="0">
                <a:latin typeface="Verdana"/>
                <a:cs typeface="Verdana"/>
              </a:rPr>
              <a:t>G2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34484" y="3747770"/>
            <a:ext cx="437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C</a:t>
            </a:r>
            <a:r>
              <a:rPr sz="1200" spc="-25" dirty="0">
                <a:latin typeface="Verdana"/>
                <a:cs typeface="Verdana"/>
              </a:rPr>
              <a:t>LD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906267" y="3747770"/>
            <a:ext cx="487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13888" dirty="0">
                <a:latin typeface="Verdana"/>
                <a:cs typeface="Verdana"/>
              </a:rPr>
              <a:t>C</a:t>
            </a:r>
            <a:r>
              <a:rPr sz="1200" spc="-20" dirty="0">
                <a:latin typeface="Verdana"/>
                <a:cs typeface="Verdana"/>
              </a:rPr>
              <a:t>par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73602" y="1630934"/>
            <a:ext cx="3644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C</a:t>
            </a:r>
            <a:r>
              <a:rPr sz="1800" spc="-37" baseline="-20833" dirty="0">
                <a:latin typeface="Verdana"/>
                <a:cs typeface="Verdana"/>
              </a:rPr>
              <a:t>M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970273" y="2566670"/>
            <a:ext cx="346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CC0000"/>
                </a:solidFill>
                <a:latin typeface="Verdana"/>
                <a:cs typeface="Verdana"/>
              </a:rPr>
              <a:t>ML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622288" y="2161293"/>
            <a:ext cx="356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MP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8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Split</a:t>
            </a:r>
            <a:r>
              <a:rPr spc="-20" dirty="0"/>
              <a:t> </a:t>
            </a:r>
            <a:r>
              <a:rPr dirty="0"/>
              <a:t>Cascoded</a:t>
            </a:r>
            <a:r>
              <a:rPr spc="-35" dirty="0"/>
              <a:t> </a:t>
            </a:r>
            <a:r>
              <a:rPr spc="-10" dirty="0"/>
              <a:t>Miller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38876" y="1664462"/>
            <a:ext cx="425894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2600" indent="-469900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Improved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stability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at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Cld=CM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13476" y="2197861"/>
            <a:ext cx="6042660" cy="3149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0" indent="-469900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Font typeface="Wingdings"/>
              <a:buChar char=""/>
              <a:tabLst>
                <a:tab pos="508000" algn="l"/>
              </a:tabLst>
            </a:pPr>
            <a:r>
              <a:rPr sz="2000" spc="-10" dirty="0">
                <a:latin typeface="Verdana"/>
                <a:cs typeface="Verdana"/>
              </a:rPr>
              <a:t>CM=CMa+CMb</a:t>
            </a:r>
            <a:endParaRPr sz="2000">
              <a:latin typeface="Verdana"/>
              <a:cs typeface="Verdana"/>
            </a:endParaRPr>
          </a:p>
          <a:p>
            <a:pPr marL="508000" indent="-469900">
              <a:lnSpc>
                <a:spcPct val="100000"/>
              </a:lnSpc>
              <a:spcBef>
                <a:spcPts val="1800"/>
              </a:spcBef>
              <a:buClr>
                <a:srgbClr val="CC0000"/>
              </a:buClr>
              <a:buFont typeface="Wingdings"/>
              <a:buChar char=""/>
              <a:tabLst>
                <a:tab pos="508000" algn="l"/>
              </a:tabLst>
            </a:pPr>
            <a:r>
              <a:rPr sz="2000" dirty="0">
                <a:latin typeface="Verdana"/>
                <a:cs typeface="Verdana"/>
              </a:rPr>
              <a:t>CMa/CMb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typically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around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1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50" dirty="0">
                <a:latin typeface="Verdana"/>
                <a:cs typeface="Verdana"/>
              </a:rPr>
              <a:t>6</a:t>
            </a:r>
            <a:endParaRPr sz="2000">
              <a:latin typeface="Verdana"/>
              <a:cs typeface="Verdana"/>
            </a:endParaRPr>
          </a:p>
          <a:p>
            <a:pPr marL="508000" marR="245745" indent="-470534">
              <a:lnSpc>
                <a:spcPct val="100000"/>
              </a:lnSpc>
              <a:spcBef>
                <a:spcPts val="1800"/>
              </a:spcBef>
              <a:buClr>
                <a:srgbClr val="CC0000"/>
              </a:buClr>
              <a:buFont typeface="Wingdings"/>
              <a:buChar char=""/>
              <a:tabLst>
                <a:tab pos="508000" algn="l"/>
              </a:tabLst>
            </a:pPr>
            <a:r>
              <a:rPr sz="2000" dirty="0">
                <a:latin typeface="Verdana"/>
                <a:cs typeface="Verdana"/>
              </a:rPr>
              <a:t>CMb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reduces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cap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load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drive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but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improves </a:t>
            </a:r>
            <a:r>
              <a:rPr sz="2000" dirty="0">
                <a:latin typeface="Verdana"/>
                <a:cs typeface="Verdana"/>
              </a:rPr>
              <a:t>Miller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loop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damping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at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small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C</a:t>
            </a:r>
            <a:r>
              <a:rPr sz="1950" spc="-37" baseline="-21367" dirty="0">
                <a:latin typeface="Verdana"/>
                <a:cs typeface="Verdana"/>
              </a:rPr>
              <a:t>LD</a:t>
            </a:r>
            <a:endParaRPr sz="1950" baseline="-21367">
              <a:latin typeface="Verdana"/>
              <a:cs typeface="Verdana"/>
            </a:endParaRPr>
          </a:p>
          <a:p>
            <a:pPr marL="508000" marR="30480" indent="-470534">
              <a:lnSpc>
                <a:spcPct val="100000"/>
              </a:lnSpc>
              <a:spcBef>
                <a:spcPts val="1800"/>
              </a:spcBef>
              <a:buClr>
                <a:srgbClr val="CC0000"/>
              </a:buClr>
              <a:buFont typeface="Wingdings"/>
              <a:buChar char=""/>
              <a:tabLst>
                <a:tab pos="508000" algn="l"/>
              </a:tabLst>
            </a:pPr>
            <a:r>
              <a:rPr sz="2000" dirty="0">
                <a:latin typeface="Verdana"/>
                <a:cs typeface="Verdana"/>
              </a:rPr>
              <a:t>Feedback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around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cascode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(to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increase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gm) </a:t>
            </a:r>
            <a:r>
              <a:rPr sz="2000" dirty="0">
                <a:latin typeface="Verdana"/>
                <a:cs typeface="Verdana"/>
              </a:rPr>
              <a:t>can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eliminate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need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for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CMb,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but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requires </a:t>
            </a:r>
            <a:r>
              <a:rPr sz="2000" dirty="0">
                <a:latin typeface="Verdana"/>
                <a:cs typeface="Verdana"/>
              </a:rPr>
              <a:t>extremely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high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BW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loop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stability </a:t>
            </a:r>
            <a:r>
              <a:rPr sz="2000" dirty="0">
                <a:latin typeface="Verdana"/>
                <a:cs typeface="Verdana"/>
              </a:rPr>
              <a:t>during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slewing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not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addressed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1005" y="1898904"/>
            <a:ext cx="3599688" cy="303809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764283" y="3661664"/>
            <a:ext cx="348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G1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D13CEA5B-FDEE-4D08-8713-E146C500BD2A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46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3100850" y="3661664"/>
            <a:ext cx="452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-</a:t>
            </a:r>
            <a:r>
              <a:rPr sz="1800" spc="-25" dirty="0">
                <a:latin typeface="Verdana"/>
                <a:cs typeface="Verdana"/>
              </a:rPr>
              <a:t>G2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83615" y="4406900"/>
            <a:ext cx="437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C</a:t>
            </a:r>
            <a:r>
              <a:rPr sz="1200" spc="-25" dirty="0">
                <a:latin typeface="Verdana"/>
                <a:cs typeface="Verdana"/>
              </a:rPr>
              <a:t>LD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01873" y="4406900"/>
            <a:ext cx="487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13888" dirty="0">
                <a:latin typeface="Verdana"/>
                <a:cs typeface="Verdana"/>
              </a:rPr>
              <a:t>C</a:t>
            </a:r>
            <a:r>
              <a:rPr sz="1200" spc="-20" dirty="0">
                <a:latin typeface="Verdana"/>
                <a:cs typeface="Verdana"/>
              </a:rPr>
              <a:t>par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76828" y="2290064"/>
            <a:ext cx="520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CM</a:t>
            </a:r>
            <a:r>
              <a:rPr sz="1800" spc="-37" baseline="-20833" dirty="0">
                <a:latin typeface="Verdana"/>
                <a:cs typeface="Verdana"/>
              </a:rPr>
              <a:t>a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71420" y="2820415"/>
            <a:ext cx="356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MP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76835" y="2920245"/>
            <a:ext cx="523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CM</a:t>
            </a:r>
            <a:r>
              <a:rPr sz="1800" spc="-37" baseline="-20833" dirty="0">
                <a:latin typeface="Verdana"/>
                <a:cs typeface="Verdana"/>
              </a:rPr>
              <a:t>b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17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“Hybrid”</a:t>
            </a:r>
            <a:r>
              <a:rPr spc="-50" dirty="0"/>
              <a:t> </a:t>
            </a:r>
            <a:r>
              <a:rPr dirty="0"/>
              <a:t>Cascoded</a:t>
            </a:r>
            <a:r>
              <a:rPr spc="-40" dirty="0"/>
              <a:t> </a:t>
            </a:r>
            <a:r>
              <a:rPr spc="-10" dirty="0"/>
              <a:t>Miller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52615" y="1714449"/>
            <a:ext cx="5382895" cy="36830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546100" indent="-469900">
              <a:lnSpc>
                <a:spcPct val="100000"/>
              </a:lnSpc>
              <a:spcBef>
                <a:spcPts val="1300"/>
              </a:spcBef>
              <a:buClr>
                <a:srgbClr val="CC0000"/>
              </a:buClr>
              <a:buFont typeface="Wingdings"/>
              <a:buChar char=""/>
              <a:tabLst>
                <a:tab pos="546100" algn="l"/>
              </a:tabLst>
            </a:pPr>
            <a:r>
              <a:rPr sz="2000" dirty="0">
                <a:latin typeface="Verdana"/>
                <a:cs typeface="Verdana"/>
              </a:rPr>
              <a:t>Increased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(2x)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effective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35" dirty="0">
                <a:latin typeface="Verdana"/>
                <a:cs typeface="Verdana"/>
              </a:rPr>
              <a:t>Gm</a:t>
            </a:r>
            <a:endParaRPr sz="2000">
              <a:latin typeface="Verdana"/>
              <a:cs typeface="Verdana"/>
            </a:endParaRPr>
          </a:p>
          <a:p>
            <a:pPr marL="546100" indent="-469900">
              <a:lnSpc>
                <a:spcPct val="100000"/>
              </a:lnSpc>
              <a:spcBef>
                <a:spcPts val="1200"/>
              </a:spcBef>
              <a:buClr>
                <a:srgbClr val="CC0000"/>
              </a:buClr>
              <a:buFont typeface="Wingdings"/>
              <a:buChar char=""/>
              <a:tabLst>
                <a:tab pos="546100" algn="l"/>
              </a:tabLst>
            </a:pPr>
            <a:r>
              <a:rPr sz="2000" dirty="0">
                <a:latin typeface="Verdana"/>
                <a:cs typeface="Verdana"/>
              </a:rPr>
              <a:t>Cascode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Gm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&gt;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input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Gm</a:t>
            </a:r>
            <a:endParaRPr sz="2000">
              <a:latin typeface="Verdana"/>
              <a:cs typeface="Verdana"/>
            </a:endParaRPr>
          </a:p>
          <a:p>
            <a:pPr marL="546100" indent="-469900">
              <a:lnSpc>
                <a:spcPct val="100000"/>
              </a:lnSpc>
              <a:spcBef>
                <a:spcPts val="1200"/>
              </a:spcBef>
              <a:buClr>
                <a:srgbClr val="CC0000"/>
              </a:buClr>
              <a:buFont typeface="Wingdings"/>
              <a:buChar char=""/>
              <a:tabLst>
                <a:tab pos="546100" algn="l"/>
              </a:tabLst>
            </a:pPr>
            <a:r>
              <a:rPr sz="2000" dirty="0">
                <a:latin typeface="Verdana"/>
                <a:cs typeface="Verdana"/>
              </a:rPr>
              <a:t>CM2x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&gt;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CM1x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for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improved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Cld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drive</a:t>
            </a:r>
            <a:endParaRPr sz="2000">
              <a:latin typeface="Verdana"/>
              <a:cs typeface="Verdana"/>
            </a:endParaRPr>
          </a:p>
          <a:p>
            <a:pPr marL="546100" marR="240029" indent="-470534">
              <a:lnSpc>
                <a:spcPct val="120500"/>
              </a:lnSpc>
              <a:spcBef>
                <a:spcPts val="705"/>
              </a:spcBef>
              <a:buClr>
                <a:srgbClr val="CC0000"/>
              </a:buClr>
              <a:buFont typeface="Wingdings"/>
              <a:buChar char=""/>
              <a:tabLst>
                <a:tab pos="546100" algn="l"/>
              </a:tabLst>
            </a:pPr>
            <a:r>
              <a:rPr sz="2000" dirty="0">
                <a:latin typeface="Verdana"/>
                <a:cs typeface="Verdana"/>
              </a:rPr>
              <a:t>Avoid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LHP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zero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by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CM2a=CM2b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and </a:t>
            </a:r>
            <a:r>
              <a:rPr sz="3000" spc="-15" baseline="13888" dirty="0">
                <a:latin typeface="Verdana"/>
                <a:cs typeface="Verdana"/>
              </a:rPr>
              <a:t>Gm</a:t>
            </a:r>
            <a:r>
              <a:rPr sz="1300" spc="-10" dirty="0">
                <a:latin typeface="Verdana"/>
                <a:cs typeface="Verdana"/>
              </a:rPr>
              <a:t>MNC</a:t>
            </a:r>
            <a:r>
              <a:rPr sz="3000" spc="-15" baseline="13888" dirty="0">
                <a:latin typeface="Verdana"/>
                <a:cs typeface="Verdana"/>
              </a:rPr>
              <a:t>=Gm</a:t>
            </a:r>
            <a:r>
              <a:rPr sz="1300" spc="-10" dirty="0">
                <a:latin typeface="Verdana"/>
                <a:cs typeface="Verdana"/>
              </a:rPr>
              <a:t>MPC</a:t>
            </a:r>
            <a:endParaRPr sz="1300">
              <a:latin typeface="Verdana"/>
              <a:cs typeface="Verdana"/>
            </a:endParaRPr>
          </a:p>
          <a:p>
            <a:pPr marL="546100" marR="488950" indent="-470534">
              <a:lnSpc>
                <a:spcPct val="100000"/>
              </a:lnSpc>
              <a:spcBef>
                <a:spcPts val="710"/>
              </a:spcBef>
              <a:buClr>
                <a:srgbClr val="CC0000"/>
              </a:buClr>
              <a:buFont typeface="Wingdings"/>
              <a:buChar char=""/>
              <a:tabLst>
                <a:tab pos="546100" algn="l"/>
              </a:tabLst>
            </a:pPr>
            <a:r>
              <a:rPr sz="2000" dirty="0">
                <a:latin typeface="Verdana"/>
                <a:cs typeface="Verdana"/>
              </a:rPr>
              <a:t>Pole/zero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doublets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exist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if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not met</a:t>
            </a:r>
            <a:endParaRPr sz="2000">
              <a:latin typeface="Verdana"/>
              <a:cs typeface="Verdana"/>
            </a:endParaRPr>
          </a:p>
          <a:p>
            <a:pPr marL="546100" marR="260350" indent="-470534">
              <a:lnSpc>
                <a:spcPct val="100000"/>
              </a:lnSpc>
              <a:spcBef>
                <a:spcPts val="1200"/>
              </a:spcBef>
              <a:buClr>
                <a:srgbClr val="CC0000"/>
              </a:buClr>
              <a:buFont typeface="Wingdings"/>
              <a:buChar char=""/>
              <a:tabLst>
                <a:tab pos="546100" algn="l"/>
              </a:tabLst>
            </a:pPr>
            <a:r>
              <a:rPr sz="2000" dirty="0">
                <a:latin typeface="Verdana"/>
                <a:cs typeface="Verdana"/>
              </a:rPr>
              <a:t>Must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evaluated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for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different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load </a:t>
            </a:r>
            <a:r>
              <a:rPr sz="2000" dirty="0">
                <a:latin typeface="Verdana"/>
                <a:cs typeface="Verdana"/>
              </a:rPr>
              <a:t>capacitances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load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currents!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5790" y="2017776"/>
            <a:ext cx="5199887" cy="33718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83919" y="3426205"/>
            <a:ext cx="4794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13888" dirty="0">
                <a:latin typeface="Verdana"/>
                <a:cs typeface="Verdana"/>
              </a:rPr>
              <a:t>V</a:t>
            </a:r>
            <a:r>
              <a:rPr sz="1200" dirty="0">
                <a:latin typeface="Verdana"/>
                <a:cs typeface="Verdana"/>
              </a:rPr>
              <a:t>IN-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A4D83EDE-9409-4E16-872E-9543432E88FF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47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5818885" y="3436873"/>
            <a:ext cx="182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V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75096" y="3569461"/>
            <a:ext cx="3498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Verdana"/>
                <a:cs typeface="Verdana"/>
              </a:rPr>
              <a:t>OUT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03932" y="3426205"/>
            <a:ext cx="534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13888" dirty="0">
                <a:latin typeface="Verdana"/>
                <a:cs typeface="Verdana"/>
              </a:rPr>
              <a:t>V</a:t>
            </a:r>
            <a:r>
              <a:rPr sz="1200" spc="-20" dirty="0">
                <a:latin typeface="Verdana"/>
                <a:cs typeface="Verdana"/>
              </a:rPr>
              <a:t>IN+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63440" y="2786888"/>
            <a:ext cx="556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13888" dirty="0">
                <a:solidFill>
                  <a:srgbClr val="006FC0"/>
                </a:solidFill>
                <a:latin typeface="Verdana"/>
                <a:cs typeface="Verdana"/>
              </a:rPr>
              <a:t>C</a:t>
            </a:r>
            <a:r>
              <a:rPr sz="1200" spc="-20" dirty="0">
                <a:solidFill>
                  <a:srgbClr val="006FC0"/>
                </a:solidFill>
                <a:latin typeface="Verdana"/>
                <a:cs typeface="Verdana"/>
              </a:rPr>
              <a:t>M2b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88840" y="4269740"/>
            <a:ext cx="185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006FC0"/>
                </a:solidFill>
                <a:latin typeface="Verdana"/>
                <a:cs typeface="Verdana"/>
              </a:rPr>
              <a:t>C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48097" y="4402328"/>
            <a:ext cx="3429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6FC0"/>
                </a:solidFill>
                <a:latin typeface="Verdana"/>
                <a:cs typeface="Verdana"/>
              </a:rPr>
              <a:t>M2a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88229" y="3286760"/>
            <a:ext cx="556260" cy="655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14700"/>
              </a:lnSpc>
              <a:spcBef>
                <a:spcPts val="100"/>
              </a:spcBef>
            </a:pPr>
            <a:r>
              <a:rPr sz="2700" spc="-30" baseline="13888" dirty="0">
                <a:solidFill>
                  <a:srgbClr val="006FC0"/>
                </a:solidFill>
                <a:latin typeface="Verdana"/>
                <a:cs typeface="Verdana"/>
              </a:rPr>
              <a:t>C</a:t>
            </a:r>
            <a:r>
              <a:rPr sz="1200" spc="-20" dirty="0">
                <a:solidFill>
                  <a:srgbClr val="006FC0"/>
                </a:solidFill>
                <a:latin typeface="Verdana"/>
                <a:cs typeface="Verdana"/>
              </a:rPr>
              <a:t>M1b </a:t>
            </a:r>
            <a:r>
              <a:rPr sz="2700" spc="-30" baseline="13888" dirty="0">
                <a:solidFill>
                  <a:srgbClr val="006FC0"/>
                </a:solidFill>
                <a:latin typeface="Verdana"/>
                <a:cs typeface="Verdana"/>
              </a:rPr>
              <a:t>C</a:t>
            </a:r>
            <a:r>
              <a:rPr sz="1200" spc="-20" dirty="0">
                <a:solidFill>
                  <a:srgbClr val="006FC0"/>
                </a:solidFill>
                <a:latin typeface="Verdana"/>
                <a:cs typeface="Verdana"/>
              </a:rPr>
              <a:t>M1a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88308" y="2841752"/>
            <a:ext cx="467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M</a:t>
            </a:r>
            <a:r>
              <a:rPr sz="1200" spc="-25" dirty="0">
                <a:latin typeface="Verdana"/>
                <a:cs typeface="Verdana"/>
              </a:rPr>
              <a:t>PC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88308" y="4182110"/>
            <a:ext cx="490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M</a:t>
            </a:r>
            <a:r>
              <a:rPr sz="1200" spc="-25" dirty="0">
                <a:latin typeface="Verdana"/>
                <a:cs typeface="Verdana"/>
              </a:rPr>
              <a:t>NC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9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Pole-</a:t>
            </a:r>
            <a:r>
              <a:rPr dirty="0"/>
              <a:t>Zero</a:t>
            </a:r>
            <a:r>
              <a:rPr spc="20" dirty="0"/>
              <a:t> </a:t>
            </a:r>
            <a:r>
              <a:rPr spc="-10" dirty="0"/>
              <a:t>Doublets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946647" y="1284732"/>
            <a:ext cx="5484495" cy="4663440"/>
            <a:chOff x="5946647" y="1284732"/>
            <a:chExt cx="5484495" cy="46634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72555" y="1400556"/>
              <a:ext cx="5458205" cy="450570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946648" y="1284731"/>
              <a:ext cx="5305425" cy="4663440"/>
            </a:xfrm>
            <a:custGeom>
              <a:avLst/>
              <a:gdLst/>
              <a:ahLst/>
              <a:cxnLst/>
              <a:rect l="l" t="t" r="r" b="b"/>
              <a:pathLst>
                <a:path w="5305425" h="4663440">
                  <a:moveTo>
                    <a:pt x="5305044" y="4224528"/>
                  </a:moveTo>
                  <a:lnTo>
                    <a:pt x="688848" y="4224528"/>
                  </a:lnTo>
                  <a:lnTo>
                    <a:pt x="688848" y="0"/>
                  </a:lnTo>
                  <a:lnTo>
                    <a:pt x="0" y="0"/>
                  </a:lnTo>
                  <a:lnTo>
                    <a:pt x="0" y="4373118"/>
                  </a:lnTo>
                  <a:lnTo>
                    <a:pt x="630923" y="4373118"/>
                  </a:lnTo>
                  <a:lnTo>
                    <a:pt x="630923" y="4663440"/>
                  </a:lnTo>
                  <a:lnTo>
                    <a:pt x="5305044" y="4663440"/>
                  </a:lnTo>
                  <a:lnTo>
                    <a:pt x="5305044" y="42245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0476" y="1400555"/>
            <a:ext cx="4867655" cy="469315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714735" y="5553710"/>
            <a:ext cx="5372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Verdana"/>
                <a:cs typeface="Verdana"/>
              </a:rPr>
              <a:t>time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29900" y="1527530"/>
            <a:ext cx="303530" cy="866140"/>
          </a:xfrm>
          <a:prstGeom prst="rect">
            <a:avLst/>
          </a:prstGeom>
        </p:spPr>
        <p:txBody>
          <a:bodyPr vert="vert270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10" dirty="0">
                <a:latin typeface="Verdana"/>
                <a:cs typeface="Verdana"/>
              </a:rPr>
              <a:t>voltage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605016" y="1449323"/>
            <a:ext cx="4646930" cy="4098290"/>
          </a:xfrm>
          <a:custGeom>
            <a:avLst/>
            <a:gdLst/>
            <a:ahLst/>
            <a:cxnLst/>
            <a:rect l="l" t="t" r="r" b="b"/>
            <a:pathLst>
              <a:path w="4646930" h="4098290">
                <a:moveTo>
                  <a:pt x="4646676" y="4059936"/>
                </a:moveTo>
                <a:lnTo>
                  <a:pt x="4519422" y="4021836"/>
                </a:lnTo>
                <a:lnTo>
                  <a:pt x="4519422" y="4046956"/>
                </a:lnTo>
                <a:lnTo>
                  <a:pt x="59372" y="4037126"/>
                </a:lnTo>
                <a:lnTo>
                  <a:pt x="50317" y="126492"/>
                </a:lnTo>
                <a:lnTo>
                  <a:pt x="76200" y="126492"/>
                </a:lnTo>
                <a:lnTo>
                  <a:pt x="37338" y="0"/>
                </a:lnTo>
                <a:lnTo>
                  <a:pt x="0" y="126492"/>
                </a:lnTo>
                <a:lnTo>
                  <a:pt x="25146" y="126492"/>
                </a:lnTo>
                <a:lnTo>
                  <a:pt x="25146" y="114300"/>
                </a:lnTo>
                <a:lnTo>
                  <a:pt x="25171" y="126492"/>
                </a:lnTo>
                <a:lnTo>
                  <a:pt x="33451" y="4037076"/>
                </a:lnTo>
                <a:lnTo>
                  <a:pt x="30480" y="4037076"/>
                </a:lnTo>
                <a:lnTo>
                  <a:pt x="25146" y="4042410"/>
                </a:lnTo>
                <a:lnTo>
                  <a:pt x="25146" y="4056888"/>
                </a:lnTo>
                <a:lnTo>
                  <a:pt x="30480" y="4062222"/>
                </a:lnTo>
                <a:lnTo>
                  <a:pt x="33502" y="4062222"/>
                </a:lnTo>
                <a:lnTo>
                  <a:pt x="33528" y="4070604"/>
                </a:lnTo>
                <a:lnTo>
                  <a:pt x="39624" y="4075938"/>
                </a:lnTo>
                <a:lnTo>
                  <a:pt x="53340" y="4075938"/>
                </a:lnTo>
                <a:lnTo>
                  <a:pt x="59436" y="4070604"/>
                </a:lnTo>
                <a:lnTo>
                  <a:pt x="59436" y="4062984"/>
                </a:lnTo>
                <a:lnTo>
                  <a:pt x="59423" y="4062272"/>
                </a:lnTo>
                <a:lnTo>
                  <a:pt x="4519422" y="4072102"/>
                </a:lnTo>
                <a:lnTo>
                  <a:pt x="4519422" y="4098036"/>
                </a:lnTo>
                <a:lnTo>
                  <a:pt x="4545330" y="4090289"/>
                </a:lnTo>
                <a:lnTo>
                  <a:pt x="4646676" y="4059936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A4E86AE0-F415-4F00-BBB4-9F60010B77C5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48</a:t>
            </a:fld>
            <a:endParaRPr spc="-25" dirty="0"/>
          </a:p>
        </p:txBody>
      </p:sp>
      <p:sp>
        <p:nvSpPr>
          <p:cNvPr id="14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Cascoded</a:t>
            </a:r>
            <a:r>
              <a:rPr spc="-75" dirty="0"/>
              <a:t> </a:t>
            </a:r>
            <a:r>
              <a:rPr dirty="0"/>
              <a:t>Miller:</a:t>
            </a:r>
            <a:r>
              <a:rPr spc="-10" dirty="0"/>
              <a:t> </a:t>
            </a:r>
            <a:r>
              <a:rPr dirty="0"/>
              <a:t>Reduce</a:t>
            </a:r>
            <a:r>
              <a:rPr spc="-45" dirty="0"/>
              <a:t> </a:t>
            </a:r>
            <a:r>
              <a:rPr spc="-10" dirty="0"/>
              <a:t>Gain</a:t>
            </a:r>
            <a:r>
              <a:rPr spc="-395" dirty="0"/>
              <a:t> </a:t>
            </a:r>
            <a:r>
              <a:rPr sz="3375" spc="-30" baseline="24691" dirty="0"/>
              <a:t>[10]</a:t>
            </a:r>
            <a:endParaRPr sz="3375" baseline="24691"/>
          </a:p>
        </p:txBody>
      </p:sp>
      <p:sp>
        <p:nvSpPr>
          <p:cNvPr id="3" name="object 3"/>
          <p:cNvSpPr txBox="1"/>
          <p:nvPr/>
        </p:nvSpPr>
        <p:spPr>
          <a:xfrm>
            <a:off x="5480303" y="1342593"/>
            <a:ext cx="6240145" cy="42926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546100" indent="-469900">
              <a:lnSpc>
                <a:spcPct val="100000"/>
              </a:lnSpc>
              <a:spcBef>
                <a:spcPts val="1300"/>
              </a:spcBef>
              <a:buClr>
                <a:srgbClr val="CC0000"/>
              </a:buClr>
              <a:buFont typeface="Wingdings"/>
              <a:buChar char=""/>
              <a:tabLst>
                <a:tab pos="546100" algn="l"/>
              </a:tabLst>
            </a:pPr>
            <a:r>
              <a:rPr sz="2000" dirty="0">
                <a:latin typeface="Verdana"/>
                <a:cs typeface="Verdana"/>
              </a:rPr>
              <a:t>Reduce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1st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stage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gain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by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R</a:t>
            </a:r>
            <a:r>
              <a:rPr sz="1950" spc="-37" baseline="-21367" dirty="0">
                <a:latin typeface="Verdana"/>
                <a:cs typeface="Verdana"/>
              </a:rPr>
              <a:t>S</a:t>
            </a:r>
            <a:endParaRPr sz="1950" baseline="-21367">
              <a:latin typeface="Verdana"/>
              <a:cs typeface="Verdana"/>
            </a:endParaRPr>
          </a:p>
          <a:p>
            <a:pPr marL="546100" marR="81280" indent="-470534">
              <a:lnSpc>
                <a:spcPct val="100000"/>
              </a:lnSpc>
              <a:spcBef>
                <a:spcPts val="1200"/>
              </a:spcBef>
              <a:buClr>
                <a:srgbClr val="CC0000"/>
              </a:buClr>
              <a:buFont typeface="Wingdings"/>
              <a:buChar char=""/>
              <a:tabLst>
                <a:tab pos="546100" algn="l"/>
              </a:tabLst>
            </a:pPr>
            <a:r>
              <a:rPr sz="2000" dirty="0">
                <a:latin typeface="Verdana"/>
                <a:cs typeface="Verdana"/>
              </a:rPr>
              <a:t>Cascoded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Miller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reduces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cap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loading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on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first </a:t>
            </a:r>
            <a:r>
              <a:rPr sz="2000" dirty="0">
                <a:latin typeface="Verdana"/>
                <a:cs typeface="Verdana"/>
              </a:rPr>
              <a:t>stage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increases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Miller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loop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gain</a:t>
            </a:r>
            <a:endParaRPr sz="2000">
              <a:latin typeface="Verdana"/>
              <a:cs typeface="Verdana"/>
            </a:endParaRPr>
          </a:p>
          <a:p>
            <a:pPr marL="546100" marR="217804" indent="-470534">
              <a:lnSpc>
                <a:spcPct val="100000"/>
              </a:lnSpc>
              <a:spcBef>
                <a:spcPts val="1200"/>
              </a:spcBef>
              <a:buClr>
                <a:srgbClr val="CC0000"/>
              </a:buClr>
              <a:buFont typeface="Wingdings"/>
              <a:buChar char=""/>
              <a:tabLst>
                <a:tab pos="546100" algn="l"/>
              </a:tabLst>
            </a:pPr>
            <a:r>
              <a:rPr sz="2000" dirty="0">
                <a:latin typeface="Verdana"/>
                <a:cs typeface="Verdana"/>
              </a:rPr>
              <a:t>Cld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sets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dominant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pole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at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high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1950" baseline="-21367" dirty="0">
                <a:latin typeface="Verdana"/>
                <a:cs typeface="Verdana"/>
              </a:rPr>
              <a:t>LD</a:t>
            </a:r>
            <a:r>
              <a:rPr sz="1950" spc="284" baseline="-21367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BW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10" dirty="0">
                <a:latin typeface="Verdana"/>
                <a:cs typeface="Verdana"/>
              </a:rPr>
              <a:t> reduced</a:t>
            </a:r>
            <a:endParaRPr sz="2000">
              <a:latin typeface="Verdana"/>
              <a:cs typeface="Verdana"/>
            </a:endParaRPr>
          </a:p>
          <a:p>
            <a:pPr marL="546100" marR="159385" indent="-470534">
              <a:lnSpc>
                <a:spcPct val="100000"/>
              </a:lnSpc>
              <a:spcBef>
                <a:spcPts val="1200"/>
              </a:spcBef>
              <a:buClr>
                <a:srgbClr val="CC0000"/>
              </a:buClr>
              <a:buFont typeface="Wingdings"/>
              <a:buChar char=""/>
              <a:tabLst>
                <a:tab pos="546100" algn="l"/>
              </a:tabLst>
            </a:pPr>
            <a:r>
              <a:rPr sz="2000" dirty="0">
                <a:latin typeface="Verdana"/>
                <a:cs typeface="Verdana"/>
              </a:rPr>
              <a:t>Can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have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issue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drive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resistive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loads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(not </a:t>
            </a:r>
            <a:r>
              <a:rPr sz="2000" dirty="0">
                <a:latin typeface="Verdana"/>
                <a:cs typeface="Verdana"/>
              </a:rPr>
              <a:t>enough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gain)</a:t>
            </a:r>
            <a:endParaRPr sz="2000">
              <a:latin typeface="Verdana"/>
              <a:cs typeface="Verdana"/>
            </a:endParaRPr>
          </a:p>
          <a:p>
            <a:pPr marL="546100" indent="-470534">
              <a:lnSpc>
                <a:spcPct val="100000"/>
              </a:lnSpc>
              <a:spcBef>
                <a:spcPts val="1200"/>
              </a:spcBef>
              <a:buClr>
                <a:srgbClr val="CC0000"/>
              </a:buClr>
              <a:buFont typeface="Wingdings"/>
              <a:buChar char=""/>
              <a:tabLst>
                <a:tab pos="546100" algn="l"/>
              </a:tabLst>
            </a:pPr>
            <a:r>
              <a:rPr sz="2000" dirty="0">
                <a:latin typeface="Verdana"/>
                <a:cs typeface="Verdana"/>
              </a:rPr>
              <a:t>Watch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for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stability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issues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at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</a:t>
            </a:r>
            <a:r>
              <a:rPr sz="1950" spc="-15" baseline="-21367" dirty="0">
                <a:latin typeface="Verdana"/>
                <a:cs typeface="Verdana"/>
              </a:rPr>
              <a:t>LD</a:t>
            </a:r>
            <a:r>
              <a:rPr sz="2000" spc="-10" dirty="0">
                <a:latin typeface="Verdana"/>
                <a:cs typeface="Verdana"/>
              </a:rPr>
              <a:t>=C</a:t>
            </a:r>
            <a:r>
              <a:rPr sz="1950" spc="-15" baseline="-21367" dirty="0">
                <a:latin typeface="Verdana"/>
                <a:cs typeface="Verdana"/>
              </a:rPr>
              <a:t>M</a:t>
            </a:r>
            <a:r>
              <a:rPr sz="2000" spc="-10" dirty="0">
                <a:latin typeface="Verdana"/>
                <a:cs typeface="Verdana"/>
              </a:rPr>
              <a:t>!</a:t>
            </a:r>
            <a:endParaRPr sz="2000">
              <a:latin typeface="Verdana"/>
              <a:cs typeface="Verdana"/>
            </a:endParaRPr>
          </a:p>
          <a:p>
            <a:pPr marL="546100" marR="271780" indent="-470534">
              <a:lnSpc>
                <a:spcPct val="100000"/>
              </a:lnSpc>
              <a:spcBef>
                <a:spcPts val="1200"/>
              </a:spcBef>
              <a:buClr>
                <a:srgbClr val="CC0000"/>
              </a:buClr>
              <a:buFont typeface="Wingdings"/>
              <a:buChar char=""/>
              <a:tabLst>
                <a:tab pos="546100" algn="l"/>
              </a:tabLst>
            </a:pPr>
            <a:r>
              <a:rPr sz="2000" dirty="0">
                <a:latin typeface="Verdana"/>
                <a:cs typeface="Verdana"/>
              </a:rPr>
              <a:t>Many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examples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literature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control </a:t>
            </a:r>
            <a:r>
              <a:rPr sz="2000" dirty="0">
                <a:latin typeface="Verdana"/>
                <a:cs typeface="Verdana"/>
              </a:rPr>
              <a:t>impedance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over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frequency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internal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high </a:t>
            </a:r>
            <a:r>
              <a:rPr sz="2000" dirty="0">
                <a:latin typeface="Verdana"/>
                <a:cs typeface="Verdana"/>
              </a:rPr>
              <a:t>impedance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node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[10,12,13,14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..]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363" y="1853945"/>
            <a:ext cx="3781044" cy="303809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538732" y="3691382"/>
            <a:ext cx="348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G1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F907EA85-7D84-4700-B95F-B9294006F4E2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49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3128267" y="3691382"/>
            <a:ext cx="452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-</a:t>
            </a:r>
            <a:r>
              <a:rPr sz="1800" spc="-25" dirty="0">
                <a:latin typeface="Verdana"/>
                <a:cs typeface="Verdana"/>
              </a:rPr>
              <a:t>G2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73702" y="4436617"/>
            <a:ext cx="437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C</a:t>
            </a:r>
            <a:r>
              <a:rPr sz="1200" spc="-25" dirty="0">
                <a:latin typeface="Verdana"/>
                <a:cs typeface="Verdana"/>
              </a:rPr>
              <a:t>LD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45485" y="4436617"/>
            <a:ext cx="487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13888" dirty="0">
                <a:latin typeface="Verdana"/>
                <a:cs typeface="Verdana"/>
              </a:rPr>
              <a:t>C</a:t>
            </a:r>
            <a:r>
              <a:rPr sz="1200" spc="-20" dirty="0">
                <a:latin typeface="Verdana"/>
                <a:cs typeface="Verdana"/>
              </a:rPr>
              <a:t>par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12820" y="2245105"/>
            <a:ext cx="3644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C</a:t>
            </a:r>
            <a:r>
              <a:rPr sz="1800" spc="-37" baseline="-20833" dirty="0">
                <a:latin typeface="Verdana"/>
                <a:cs typeface="Verdana"/>
              </a:rPr>
              <a:t>M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09491" y="3255517"/>
            <a:ext cx="346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CC0000"/>
                </a:solidFill>
                <a:latin typeface="Verdana"/>
                <a:cs typeface="Verdana"/>
              </a:rPr>
              <a:t>ML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61506" y="2785356"/>
            <a:ext cx="356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MP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85934" y="4351266"/>
            <a:ext cx="339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R</a:t>
            </a:r>
            <a:r>
              <a:rPr sz="1800" spc="-37" baseline="-20833" dirty="0">
                <a:latin typeface="Verdana"/>
                <a:cs typeface="Verdana"/>
              </a:rPr>
              <a:t>S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17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7813" y="1578863"/>
            <a:ext cx="5769864" cy="433197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dirty="0"/>
              <a:t>Cascoded</a:t>
            </a:r>
            <a:r>
              <a:rPr spc="-65" dirty="0"/>
              <a:t> </a:t>
            </a:r>
            <a:r>
              <a:rPr dirty="0"/>
              <a:t>Miller</a:t>
            </a:r>
            <a:r>
              <a:rPr spc="-20" dirty="0"/>
              <a:t> </a:t>
            </a:r>
            <a:r>
              <a:rPr dirty="0"/>
              <a:t>Comparison</a:t>
            </a:r>
            <a:r>
              <a:rPr spc="-60" dirty="0"/>
              <a:t> </a:t>
            </a:r>
            <a:r>
              <a:rPr spc="-10" dirty="0"/>
              <a:t>Simulations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23288" y="2529077"/>
            <a:ext cx="2266315" cy="83058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4450" rIns="0" bIns="0" rtlCol="0">
            <a:spAutoFit/>
          </a:bodyPr>
          <a:lstStyle/>
          <a:p>
            <a:pPr marL="90805" marR="381000">
              <a:lnSpc>
                <a:spcPct val="100000"/>
              </a:lnSpc>
              <a:spcBef>
                <a:spcPts val="350"/>
              </a:spcBef>
            </a:pPr>
            <a:r>
              <a:rPr sz="1200" b="1" dirty="0">
                <a:solidFill>
                  <a:srgbClr val="CC0000"/>
                </a:solidFill>
                <a:latin typeface="Verdana"/>
                <a:cs typeface="Verdana"/>
              </a:rPr>
              <a:t>Miller</a:t>
            </a:r>
            <a:r>
              <a:rPr sz="1200" b="1" spc="-10" dirty="0">
                <a:solidFill>
                  <a:srgbClr val="CC0000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CC0000"/>
                </a:solidFill>
                <a:latin typeface="Verdana"/>
                <a:cs typeface="Verdana"/>
              </a:rPr>
              <a:t>–</a:t>
            </a:r>
            <a:r>
              <a:rPr sz="1200" b="1" spc="-30" dirty="0">
                <a:solidFill>
                  <a:srgbClr val="CC0000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CC0000"/>
                </a:solidFill>
                <a:latin typeface="Verdana"/>
                <a:cs typeface="Verdana"/>
              </a:rPr>
              <a:t>no</a:t>
            </a:r>
            <a:r>
              <a:rPr sz="1200" b="1" spc="-25" dirty="0">
                <a:solidFill>
                  <a:srgbClr val="CC0000"/>
                </a:solidFill>
                <a:latin typeface="Verdana"/>
                <a:cs typeface="Verdana"/>
              </a:rPr>
              <a:t> </a:t>
            </a:r>
            <a:r>
              <a:rPr sz="1200" b="1" spc="-10" dirty="0">
                <a:solidFill>
                  <a:srgbClr val="CC0000"/>
                </a:solidFill>
                <a:latin typeface="Verdana"/>
                <a:cs typeface="Verdana"/>
              </a:rPr>
              <a:t>Cload </a:t>
            </a:r>
            <a:r>
              <a:rPr sz="1200" b="1" dirty="0">
                <a:solidFill>
                  <a:srgbClr val="CC0000"/>
                </a:solidFill>
                <a:latin typeface="Verdana"/>
                <a:cs typeface="Verdana"/>
              </a:rPr>
              <a:t>Miller</a:t>
            </a:r>
            <a:r>
              <a:rPr sz="1200" b="1" spc="-10" dirty="0">
                <a:solidFill>
                  <a:srgbClr val="CC0000"/>
                </a:solidFill>
                <a:latin typeface="Verdana"/>
                <a:cs typeface="Verdana"/>
              </a:rPr>
              <a:t> -</a:t>
            </a:r>
            <a:r>
              <a:rPr sz="1200" b="1" dirty="0">
                <a:solidFill>
                  <a:srgbClr val="CC0000"/>
                </a:solidFill>
                <a:latin typeface="Verdana"/>
                <a:cs typeface="Verdana"/>
              </a:rPr>
              <a:t>-</a:t>
            </a:r>
            <a:r>
              <a:rPr sz="1200" b="1" spc="-30" dirty="0">
                <a:solidFill>
                  <a:srgbClr val="CC0000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CC0000"/>
                </a:solidFill>
                <a:latin typeface="Verdana"/>
                <a:cs typeface="Verdana"/>
              </a:rPr>
              <a:t>500pF</a:t>
            </a:r>
            <a:r>
              <a:rPr sz="1200" b="1" spc="-35" dirty="0">
                <a:solidFill>
                  <a:srgbClr val="CC0000"/>
                </a:solidFill>
                <a:latin typeface="Verdana"/>
                <a:cs typeface="Verdana"/>
              </a:rPr>
              <a:t> </a:t>
            </a:r>
            <a:r>
              <a:rPr sz="1200" b="1" spc="-10" dirty="0">
                <a:solidFill>
                  <a:srgbClr val="CC0000"/>
                </a:solidFill>
                <a:latin typeface="Verdana"/>
                <a:cs typeface="Verdana"/>
              </a:rPr>
              <a:t>Cload </a:t>
            </a:r>
            <a:r>
              <a:rPr sz="1200" b="1" dirty="0">
                <a:solidFill>
                  <a:srgbClr val="0000FF"/>
                </a:solidFill>
                <a:latin typeface="Verdana"/>
                <a:cs typeface="Verdana"/>
              </a:rPr>
              <a:t>Cascode</a:t>
            </a:r>
            <a:r>
              <a:rPr sz="1200" b="1" spc="-1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0000FF"/>
                </a:solidFill>
                <a:latin typeface="Verdana"/>
                <a:cs typeface="Verdana"/>
              </a:rPr>
              <a:t>–</a:t>
            </a:r>
            <a:r>
              <a:rPr sz="1200" b="1" spc="-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0000FF"/>
                </a:solidFill>
                <a:latin typeface="Verdana"/>
                <a:cs typeface="Verdana"/>
              </a:rPr>
              <a:t>no</a:t>
            </a:r>
            <a:r>
              <a:rPr sz="1200" b="1" spc="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00" b="1" spc="-20" dirty="0">
                <a:solidFill>
                  <a:srgbClr val="0000FF"/>
                </a:solidFill>
                <a:latin typeface="Verdana"/>
                <a:cs typeface="Verdana"/>
              </a:rPr>
              <a:t>Cload</a:t>
            </a:r>
            <a:endParaRPr sz="1200">
              <a:latin typeface="Verdana"/>
              <a:cs typeface="Verdana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solidFill>
                  <a:srgbClr val="0000FF"/>
                </a:solidFill>
                <a:latin typeface="Verdana"/>
                <a:cs typeface="Verdana"/>
              </a:rPr>
              <a:t>Cascode</a:t>
            </a:r>
            <a:r>
              <a:rPr sz="1200" b="1" spc="-2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0000FF"/>
                </a:solidFill>
                <a:latin typeface="Verdana"/>
                <a:cs typeface="Verdana"/>
              </a:rPr>
              <a:t>--</a:t>
            </a:r>
            <a:r>
              <a:rPr sz="1200" b="1" spc="-1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0000FF"/>
                </a:solidFill>
                <a:latin typeface="Verdana"/>
                <a:cs typeface="Verdana"/>
              </a:rPr>
              <a:t>500pF</a:t>
            </a:r>
            <a:r>
              <a:rPr sz="1200" b="1" spc="-1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00" b="1" spc="-10" dirty="0">
                <a:solidFill>
                  <a:srgbClr val="0000FF"/>
                </a:solidFill>
                <a:latin typeface="Verdana"/>
                <a:cs typeface="Verdana"/>
              </a:rPr>
              <a:t>Cload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04885" y="4991354"/>
            <a:ext cx="331279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05585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CC0000"/>
                </a:solidFill>
                <a:latin typeface="Verdana"/>
                <a:cs typeface="Verdana"/>
              </a:rPr>
              <a:t>Miller</a:t>
            </a:r>
            <a:r>
              <a:rPr sz="1200" b="1" spc="-10" dirty="0">
                <a:solidFill>
                  <a:srgbClr val="CC0000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CC0000"/>
                </a:solidFill>
                <a:latin typeface="Verdana"/>
                <a:cs typeface="Verdana"/>
              </a:rPr>
              <a:t>–</a:t>
            </a:r>
            <a:r>
              <a:rPr sz="1200" b="1" spc="-30" dirty="0">
                <a:solidFill>
                  <a:srgbClr val="CC0000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CC0000"/>
                </a:solidFill>
                <a:latin typeface="Verdana"/>
                <a:cs typeface="Verdana"/>
              </a:rPr>
              <a:t>no</a:t>
            </a:r>
            <a:r>
              <a:rPr sz="1200" b="1" spc="-25" dirty="0">
                <a:solidFill>
                  <a:srgbClr val="CC0000"/>
                </a:solidFill>
                <a:latin typeface="Verdana"/>
                <a:cs typeface="Verdana"/>
              </a:rPr>
              <a:t> </a:t>
            </a:r>
            <a:r>
              <a:rPr sz="1200" b="1" spc="-10" dirty="0">
                <a:solidFill>
                  <a:srgbClr val="CC0000"/>
                </a:solidFill>
                <a:latin typeface="Verdana"/>
                <a:cs typeface="Verdana"/>
              </a:rPr>
              <a:t>Cload </a:t>
            </a:r>
            <a:r>
              <a:rPr sz="1200" b="1" dirty="0">
                <a:solidFill>
                  <a:srgbClr val="CC0000"/>
                </a:solidFill>
                <a:latin typeface="Verdana"/>
                <a:cs typeface="Verdana"/>
              </a:rPr>
              <a:t>Miller</a:t>
            </a:r>
            <a:r>
              <a:rPr sz="1200" b="1" spc="-10" dirty="0">
                <a:solidFill>
                  <a:srgbClr val="CC0000"/>
                </a:solidFill>
                <a:latin typeface="Verdana"/>
                <a:cs typeface="Verdana"/>
              </a:rPr>
              <a:t> -</a:t>
            </a:r>
            <a:r>
              <a:rPr sz="1200" b="1" dirty="0">
                <a:solidFill>
                  <a:srgbClr val="CC0000"/>
                </a:solidFill>
                <a:latin typeface="Verdana"/>
                <a:cs typeface="Verdana"/>
              </a:rPr>
              <a:t>-</a:t>
            </a:r>
            <a:r>
              <a:rPr sz="1200" b="1" spc="-30" dirty="0">
                <a:solidFill>
                  <a:srgbClr val="CC0000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CC0000"/>
                </a:solidFill>
                <a:latin typeface="Verdana"/>
                <a:cs typeface="Verdana"/>
              </a:rPr>
              <a:t>500pF</a:t>
            </a:r>
            <a:r>
              <a:rPr sz="1200" b="1" spc="-35" dirty="0">
                <a:solidFill>
                  <a:srgbClr val="CC0000"/>
                </a:solidFill>
                <a:latin typeface="Verdana"/>
                <a:cs typeface="Verdana"/>
              </a:rPr>
              <a:t> </a:t>
            </a:r>
            <a:r>
              <a:rPr sz="1200" b="1" spc="-10" dirty="0">
                <a:solidFill>
                  <a:srgbClr val="CC0000"/>
                </a:solidFill>
                <a:latin typeface="Verdana"/>
                <a:cs typeface="Verdana"/>
              </a:rPr>
              <a:t>Cload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solidFill>
                  <a:srgbClr val="0000FF"/>
                </a:solidFill>
                <a:latin typeface="Verdana"/>
                <a:cs typeface="Verdana"/>
              </a:rPr>
              <a:t>Cascode</a:t>
            </a:r>
            <a:r>
              <a:rPr sz="1200" b="1" spc="-2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0000FF"/>
                </a:solidFill>
                <a:latin typeface="Verdana"/>
                <a:cs typeface="Verdana"/>
              </a:rPr>
              <a:t>–</a:t>
            </a:r>
            <a:r>
              <a:rPr sz="1200" b="1" spc="-1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0000FF"/>
                </a:solidFill>
                <a:latin typeface="Verdana"/>
                <a:cs typeface="Verdana"/>
              </a:rPr>
              <a:t>500pF</a:t>
            </a:r>
            <a:r>
              <a:rPr sz="1200" b="1" spc="-1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00" b="1" spc="-10" dirty="0">
                <a:solidFill>
                  <a:srgbClr val="0000FF"/>
                </a:solidFill>
                <a:latin typeface="Verdana"/>
                <a:cs typeface="Verdana"/>
              </a:rPr>
              <a:t>Cload</a:t>
            </a:r>
            <a:endParaRPr sz="12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</a:pPr>
            <a:r>
              <a:rPr sz="1200" b="1" dirty="0">
                <a:solidFill>
                  <a:srgbClr val="0000FF"/>
                </a:solidFill>
                <a:latin typeface="Verdana"/>
                <a:cs typeface="Verdana"/>
              </a:rPr>
              <a:t>Hybrid</a:t>
            </a:r>
            <a:r>
              <a:rPr sz="1200" b="1" spc="-3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0000FF"/>
                </a:solidFill>
                <a:latin typeface="Verdana"/>
                <a:cs typeface="Verdana"/>
              </a:rPr>
              <a:t>Cascode</a:t>
            </a:r>
            <a:r>
              <a:rPr sz="1200" b="1" spc="-4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0000FF"/>
                </a:solidFill>
                <a:latin typeface="Verdana"/>
                <a:cs typeface="Verdana"/>
              </a:rPr>
              <a:t>0.5:0.5</a:t>
            </a:r>
            <a:r>
              <a:rPr sz="1200" b="1" spc="-1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00" b="1" spc="-10" dirty="0">
                <a:solidFill>
                  <a:srgbClr val="0000FF"/>
                </a:solidFill>
                <a:latin typeface="Verdana"/>
                <a:cs typeface="Verdana"/>
              </a:rPr>
              <a:t>-</a:t>
            </a:r>
            <a:r>
              <a:rPr sz="1200" b="1" dirty="0">
                <a:solidFill>
                  <a:srgbClr val="0000FF"/>
                </a:solidFill>
                <a:latin typeface="Verdana"/>
                <a:cs typeface="Verdana"/>
              </a:rPr>
              <a:t>-</a:t>
            </a:r>
            <a:r>
              <a:rPr sz="1200" b="1" spc="-3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0000FF"/>
                </a:solidFill>
                <a:latin typeface="Verdana"/>
                <a:cs typeface="Verdana"/>
              </a:rPr>
              <a:t>500pF</a:t>
            </a:r>
            <a:r>
              <a:rPr sz="1200" b="1" spc="-3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00" b="1" spc="-10" dirty="0">
                <a:solidFill>
                  <a:srgbClr val="0000FF"/>
                </a:solidFill>
                <a:latin typeface="Verdana"/>
                <a:cs typeface="Verdana"/>
              </a:rPr>
              <a:t>Cload </a:t>
            </a:r>
            <a:r>
              <a:rPr sz="1200" b="1" dirty="0">
                <a:solidFill>
                  <a:srgbClr val="0000FF"/>
                </a:solidFill>
                <a:latin typeface="Verdana"/>
                <a:cs typeface="Verdana"/>
              </a:rPr>
              <a:t>Hybrid</a:t>
            </a:r>
            <a:r>
              <a:rPr sz="1200" b="1" spc="-3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0000FF"/>
                </a:solidFill>
                <a:latin typeface="Verdana"/>
                <a:cs typeface="Verdana"/>
              </a:rPr>
              <a:t>Cascode</a:t>
            </a:r>
            <a:r>
              <a:rPr sz="1200" b="1" spc="-4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0000FF"/>
                </a:solidFill>
                <a:latin typeface="Verdana"/>
                <a:cs typeface="Verdana"/>
              </a:rPr>
              <a:t>0.9:0.1</a:t>
            </a:r>
            <a:r>
              <a:rPr sz="1200" b="1" spc="-1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00" b="1" spc="-10" dirty="0">
                <a:solidFill>
                  <a:srgbClr val="0000FF"/>
                </a:solidFill>
                <a:latin typeface="Verdana"/>
                <a:cs typeface="Verdana"/>
              </a:rPr>
              <a:t>-</a:t>
            </a:r>
            <a:r>
              <a:rPr sz="1200" b="1" dirty="0">
                <a:solidFill>
                  <a:srgbClr val="0000FF"/>
                </a:solidFill>
                <a:latin typeface="Verdana"/>
                <a:cs typeface="Verdana"/>
              </a:rPr>
              <a:t>-</a:t>
            </a:r>
            <a:r>
              <a:rPr sz="1200" b="1" spc="-3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0000FF"/>
                </a:solidFill>
                <a:latin typeface="Verdana"/>
                <a:cs typeface="Verdana"/>
              </a:rPr>
              <a:t>500pF</a:t>
            </a:r>
            <a:r>
              <a:rPr sz="1200" b="1" spc="-3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00" b="1" spc="-10" dirty="0">
                <a:solidFill>
                  <a:srgbClr val="0000FF"/>
                </a:solidFill>
                <a:latin typeface="Verdana"/>
                <a:cs typeface="Verdana"/>
              </a:rPr>
              <a:t>Cload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123938" y="1223772"/>
            <a:ext cx="4601845" cy="3806190"/>
            <a:chOff x="7123938" y="1223772"/>
            <a:chExt cx="4601845" cy="380619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23938" y="1578864"/>
              <a:ext cx="4601717" cy="345109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130796" y="1223771"/>
              <a:ext cx="4589145" cy="3801745"/>
            </a:xfrm>
            <a:custGeom>
              <a:avLst/>
              <a:gdLst/>
              <a:ahLst/>
              <a:cxnLst/>
              <a:rect l="l" t="t" r="r" b="b"/>
              <a:pathLst>
                <a:path w="4589145" h="3801745">
                  <a:moveTo>
                    <a:pt x="4588764" y="3342894"/>
                  </a:moveTo>
                  <a:lnTo>
                    <a:pt x="606552" y="3342894"/>
                  </a:lnTo>
                  <a:lnTo>
                    <a:pt x="606552" y="0"/>
                  </a:lnTo>
                  <a:lnTo>
                    <a:pt x="0" y="0"/>
                  </a:lnTo>
                  <a:lnTo>
                    <a:pt x="0" y="3628644"/>
                  </a:lnTo>
                  <a:lnTo>
                    <a:pt x="511302" y="3628644"/>
                  </a:lnTo>
                  <a:lnTo>
                    <a:pt x="511302" y="3801618"/>
                  </a:lnTo>
                  <a:lnTo>
                    <a:pt x="4588764" y="3801618"/>
                  </a:lnTo>
                  <a:lnTo>
                    <a:pt x="4588764" y="33428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642097" y="4598923"/>
            <a:ext cx="4077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69875" algn="r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Verdana"/>
                <a:cs typeface="Verdana"/>
              </a:rPr>
              <a:t>time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85091" y="1795311"/>
            <a:ext cx="303530" cy="544195"/>
          </a:xfrm>
          <a:prstGeom prst="rect">
            <a:avLst/>
          </a:prstGeom>
        </p:spPr>
        <p:txBody>
          <a:bodyPr vert="vert270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20" dirty="0">
                <a:latin typeface="Verdana"/>
                <a:cs typeface="Verdana"/>
              </a:rPr>
              <a:t>Vout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792974" y="1604009"/>
            <a:ext cx="3760470" cy="2962910"/>
          </a:xfrm>
          <a:custGeom>
            <a:avLst/>
            <a:gdLst/>
            <a:ahLst/>
            <a:cxnLst/>
            <a:rect l="l" t="t" r="r" b="b"/>
            <a:pathLst>
              <a:path w="3760470" h="2962910">
                <a:moveTo>
                  <a:pt x="3760470" y="2942844"/>
                </a:moveTo>
                <a:lnTo>
                  <a:pt x="3754374" y="2937510"/>
                </a:lnTo>
                <a:lnTo>
                  <a:pt x="25146" y="2937510"/>
                </a:lnTo>
                <a:lnTo>
                  <a:pt x="25146" y="5334"/>
                </a:lnTo>
                <a:lnTo>
                  <a:pt x="19812" y="0"/>
                </a:lnTo>
                <a:lnTo>
                  <a:pt x="5334" y="0"/>
                </a:lnTo>
                <a:lnTo>
                  <a:pt x="0" y="5334"/>
                </a:lnTo>
                <a:lnTo>
                  <a:pt x="0" y="2942844"/>
                </a:lnTo>
                <a:lnTo>
                  <a:pt x="0" y="2949702"/>
                </a:lnTo>
                <a:lnTo>
                  <a:pt x="0" y="2956560"/>
                </a:lnTo>
                <a:lnTo>
                  <a:pt x="5334" y="2962656"/>
                </a:lnTo>
                <a:lnTo>
                  <a:pt x="19812" y="2962656"/>
                </a:lnTo>
                <a:lnTo>
                  <a:pt x="3754374" y="2962656"/>
                </a:lnTo>
                <a:lnTo>
                  <a:pt x="3760470" y="2956560"/>
                </a:lnTo>
                <a:lnTo>
                  <a:pt x="3760470" y="2942844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53CC787B-FD22-4CBA-AA1F-9CB0FCB414EC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50</a:t>
            </a:fld>
            <a:endParaRPr spc="-25" dirty="0"/>
          </a:p>
        </p:txBody>
      </p:sp>
      <p:sp>
        <p:nvSpPr>
          <p:cNvPr id="16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6572" y="3249167"/>
            <a:ext cx="10998835" cy="584835"/>
          </a:xfrm>
          <a:prstGeom prst="rect">
            <a:avLst/>
          </a:prstGeom>
          <a:solidFill>
            <a:srgbClr val="CB0000"/>
          </a:solidFill>
        </p:spPr>
        <p:txBody>
          <a:bodyPr vert="horz" wrap="square" lIns="0" tIns="17780" rIns="0" bIns="0" rtlCol="0">
            <a:spAutoFit/>
          </a:bodyPr>
          <a:lstStyle/>
          <a:p>
            <a:pPr marL="394970">
              <a:lnSpc>
                <a:spcPct val="100000"/>
              </a:lnSpc>
              <a:spcBef>
                <a:spcPts val="140"/>
              </a:spcBef>
            </a:pPr>
            <a:r>
              <a:rPr sz="3400" dirty="0">
                <a:solidFill>
                  <a:srgbClr val="FFFFFF"/>
                </a:solidFill>
                <a:latin typeface="Verdana"/>
                <a:cs typeface="Verdana"/>
              </a:rPr>
              <a:t>Need</a:t>
            </a:r>
            <a:r>
              <a:rPr sz="34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400" dirty="0">
                <a:solidFill>
                  <a:srgbClr val="FFFFFF"/>
                </a:solidFill>
                <a:latin typeface="Verdana"/>
                <a:cs typeface="Verdana"/>
              </a:rPr>
              <a:t>more</a:t>
            </a:r>
            <a:r>
              <a:rPr sz="34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400" dirty="0">
                <a:solidFill>
                  <a:srgbClr val="FFFFFF"/>
                </a:solidFill>
                <a:latin typeface="Verdana"/>
                <a:cs typeface="Verdana"/>
              </a:rPr>
              <a:t>gain</a:t>
            </a:r>
            <a:r>
              <a:rPr sz="34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400" spc="-25" dirty="0">
                <a:solidFill>
                  <a:srgbClr val="FFFFFF"/>
                </a:solidFill>
                <a:latin typeface="Verdana"/>
                <a:cs typeface="Verdana"/>
              </a:rPr>
              <a:t>….</a:t>
            </a:r>
            <a:endParaRPr sz="34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5F6213ED-A2A7-4E56-B999-2B0AE795BA36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51</a:t>
            </a:fld>
            <a:endParaRPr spc="-25" dirty="0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dirty="0"/>
              <a:t>Additional</a:t>
            </a:r>
            <a:r>
              <a:rPr spc="-35" dirty="0"/>
              <a:t> </a:t>
            </a:r>
            <a:r>
              <a:rPr dirty="0"/>
              <a:t>gain</a:t>
            </a:r>
            <a:r>
              <a:rPr spc="-30" dirty="0"/>
              <a:t> </a:t>
            </a:r>
            <a:r>
              <a:rPr spc="-10" dirty="0"/>
              <a:t>stages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1812" y="2815082"/>
            <a:ext cx="6760845" cy="313436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546100" marR="157480" indent="-470534">
              <a:lnSpc>
                <a:spcPts val="1920"/>
              </a:lnSpc>
              <a:spcBef>
                <a:spcPts val="560"/>
              </a:spcBef>
              <a:buClr>
                <a:srgbClr val="CC0000"/>
              </a:buClr>
              <a:buFont typeface="Wingdings"/>
              <a:buChar char=""/>
              <a:tabLst>
                <a:tab pos="546100" algn="l"/>
              </a:tabLst>
            </a:pPr>
            <a:r>
              <a:rPr sz="2000" dirty="0">
                <a:latin typeface="Verdana"/>
                <a:cs typeface="Verdana"/>
              </a:rPr>
              <a:t>3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stages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provide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more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gain,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lower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offset,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wider </a:t>
            </a:r>
            <a:r>
              <a:rPr sz="2000" dirty="0">
                <a:latin typeface="Verdana"/>
                <a:cs typeface="Verdana"/>
              </a:rPr>
              <a:t>input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/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output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ranges,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more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current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drive </a:t>
            </a:r>
            <a:r>
              <a:rPr sz="2000" dirty="0">
                <a:latin typeface="Verdana"/>
                <a:cs typeface="Verdana"/>
              </a:rPr>
              <a:t>capability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lower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distortion</a:t>
            </a:r>
            <a:endParaRPr sz="2000">
              <a:latin typeface="Verdana"/>
              <a:cs typeface="Verdana"/>
            </a:endParaRPr>
          </a:p>
          <a:p>
            <a:pPr marL="546100" marR="427990" indent="-470534">
              <a:lnSpc>
                <a:spcPts val="1920"/>
              </a:lnSpc>
              <a:spcBef>
                <a:spcPts val="1200"/>
              </a:spcBef>
              <a:buClr>
                <a:srgbClr val="CC0000"/>
              </a:buClr>
              <a:buFont typeface="Wingdings"/>
              <a:buChar char=""/>
              <a:tabLst>
                <a:tab pos="546100" algn="l"/>
              </a:tabLst>
            </a:pPr>
            <a:r>
              <a:rPr sz="2000" dirty="0">
                <a:latin typeface="Verdana"/>
                <a:cs typeface="Verdana"/>
              </a:rPr>
              <a:t>They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also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lead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3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high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frequency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poles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that </a:t>
            </a:r>
            <a:r>
              <a:rPr sz="2000" dirty="0">
                <a:latin typeface="Verdana"/>
                <a:cs typeface="Verdana"/>
              </a:rPr>
              <a:t>need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compensated</a:t>
            </a:r>
            <a:endParaRPr sz="2000">
              <a:latin typeface="Verdana"/>
              <a:cs typeface="Verdana"/>
            </a:endParaRPr>
          </a:p>
          <a:p>
            <a:pPr marL="546100" marR="81280" indent="-470534">
              <a:lnSpc>
                <a:spcPts val="2160"/>
              </a:lnSpc>
              <a:spcBef>
                <a:spcPts val="1250"/>
              </a:spcBef>
              <a:buClr>
                <a:srgbClr val="CC0000"/>
              </a:buClr>
              <a:buFont typeface="Wingdings"/>
              <a:buChar char=""/>
              <a:tabLst>
                <a:tab pos="546100" algn="l"/>
              </a:tabLst>
            </a:pPr>
            <a:r>
              <a:rPr sz="2000" dirty="0">
                <a:latin typeface="Verdana"/>
                <a:cs typeface="Verdana"/>
              </a:rPr>
              <a:t>For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power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efficiency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always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explore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adding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gain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existing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stages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(i.e.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gain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boost)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before </a:t>
            </a:r>
            <a:r>
              <a:rPr sz="2000" dirty="0">
                <a:latin typeface="Verdana"/>
                <a:cs typeface="Verdana"/>
              </a:rPr>
              <a:t>adding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additional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stages</a:t>
            </a:r>
            <a:endParaRPr sz="2000">
              <a:latin typeface="Verdana"/>
              <a:cs typeface="Verdana"/>
            </a:endParaRPr>
          </a:p>
          <a:p>
            <a:pPr marL="546100" marR="669290" indent="-470534">
              <a:lnSpc>
                <a:spcPts val="2160"/>
              </a:lnSpc>
              <a:spcBef>
                <a:spcPts val="1200"/>
              </a:spcBef>
              <a:buClr>
                <a:srgbClr val="CC0000"/>
              </a:buClr>
              <a:buFont typeface="Wingdings"/>
              <a:buChar char=""/>
              <a:tabLst>
                <a:tab pos="546100" algn="l"/>
              </a:tabLst>
            </a:pPr>
            <a:r>
              <a:rPr sz="2000" dirty="0">
                <a:latin typeface="Verdana"/>
                <a:cs typeface="Verdana"/>
              </a:rPr>
              <a:t>More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difficult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achieve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bipolar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amplifier </a:t>
            </a:r>
            <a:r>
              <a:rPr sz="2000" dirty="0">
                <a:latin typeface="Verdana"/>
                <a:cs typeface="Verdana"/>
              </a:rPr>
              <a:t>especially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if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need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rail-to-</a:t>
            </a:r>
            <a:r>
              <a:rPr sz="2000" dirty="0">
                <a:latin typeface="Verdana"/>
                <a:cs typeface="Verdana"/>
              </a:rPr>
              <a:t>rail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operation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(R</a:t>
            </a:r>
            <a:r>
              <a:rPr sz="1950" spc="-30" baseline="-21367" dirty="0">
                <a:latin typeface="Symbol"/>
                <a:cs typeface="Symbol"/>
              </a:rPr>
              <a:t></a:t>
            </a:r>
            <a:r>
              <a:rPr sz="2000" spc="-20" dirty="0">
                <a:latin typeface="Verdana"/>
                <a:cs typeface="Verdana"/>
              </a:rPr>
              <a:t>)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760207" y="1808988"/>
            <a:ext cx="4003675" cy="3865245"/>
            <a:chOff x="7760207" y="1808988"/>
            <a:chExt cx="4003675" cy="38652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84733" y="1899250"/>
              <a:ext cx="3662161" cy="374114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760208" y="1808987"/>
              <a:ext cx="4003675" cy="3865245"/>
            </a:xfrm>
            <a:custGeom>
              <a:avLst/>
              <a:gdLst/>
              <a:ahLst/>
              <a:cxnLst/>
              <a:rect l="l" t="t" r="r" b="b"/>
              <a:pathLst>
                <a:path w="4003675" h="3865245">
                  <a:moveTo>
                    <a:pt x="4003548" y="3599688"/>
                  </a:moveTo>
                  <a:lnTo>
                    <a:pt x="265176" y="3599688"/>
                  </a:lnTo>
                  <a:lnTo>
                    <a:pt x="265176" y="0"/>
                  </a:lnTo>
                  <a:lnTo>
                    <a:pt x="0" y="0"/>
                  </a:lnTo>
                  <a:lnTo>
                    <a:pt x="0" y="3833622"/>
                  </a:lnTo>
                  <a:lnTo>
                    <a:pt x="169926" y="3833622"/>
                  </a:lnTo>
                  <a:lnTo>
                    <a:pt x="169926" y="3864864"/>
                  </a:lnTo>
                  <a:lnTo>
                    <a:pt x="4003548" y="3864864"/>
                  </a:lnTo>
                  <a:lnTo>
                    <a:pt x="4003548" y="35996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987284" y="1898903"/>
              <a:ext cx="3390900" cy="3529965"/>
            </a:xfrm>
            <a:custGeom>
              <a:avLst/>
              <a:gdLst/>
              <a:ahLst/>
              <a:cxnLst/>
              <a:rect l="l" t="t" r="r" b="b"/>
              <a:pathLst>
                <a:path w="3390900" h="3529965">
                  <a:moveTo>
                    <a:pt x="3390900" y="3491484"/>
                  </a:moveTo>
                  <a:lnTo>
                    <a:pt x="3263646" y="3453384"/>
                  </a:lnTo>
                  <a:lnTo>
                    <a:pt x="3263646" y="3479292"/>
                  </a:lnTo>
                  <a:lnTo>
                    <a:pt x="51054" y="3479292"/>
                  </a:lnTo>
                  <a:lnTo>
                    <a:pt x="51054" y="127254"/>
                  </a:lnTo>
                  <a:lnTo>
                    <a:pt x="76200" y="127254"/>
                  </a:lnTo>
                  <a:lnTo>
                    <a:pt x="38100" y="0"/>
                  </a:lnTo>
                  <a:lnTo>
                    <a:pt x="0" y="127254"/>
                  </a:lnTo>
                  <a:lnTo>
                    <a:pt x="25908" y="127254"/>
                  </a:lnTo>
                  <a:lnTo>
                    <a:pt x="25908" y="3484626"/>
                  </a:lnTo>
                  <a:lnTo>
                    <a:pt x="25908" y="3498342"/>
                  </a:lnTo>
                  <a:lnTo>
                    <a:pt x="25908" y="3509010"/>
                  </a:lnTo>
                  <a:lnTo>
                    <a:pt x="31242" y="3515106"/>
                  </a:lnTo>
                  <a:lnTo>
                    <a:pt x="45720" y="3515106"/>
                  </a:lnTo>
                  <a:lnTo>
                    <a:pt x="51054" y="3509010"/>
                  </a:lnTo>
                  <a:lnTo>
                    <a:pt x="51054" y="3504438"/>
                  </a:lnTo>
                  <a:lnTo>
                    <a:pt x="3263646" y="3504438"/>
                  </a:lnTo>
                  <a:lnTo>
                    <a:pt x="3263646" y="3529584"/>
                  </a:lnTo>
                  <a:lnTo>
                    <a:pt x="3289554" y="3521837"/>
                  </a:lnTo>
                  <a:lnTo>
                    <a:pt x="3390900" y="3491484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269728" y="5431028"/>
            <a:ext cx="1106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Log</a:t>
            </a:r>
            <a:r>
              <a:rPr sz="1800" spc="-10" dirty="0">
                <a:latin typeface="Verdana"/>
                <a:cs typeface="Verdana"/>
              </a:rPr>
              <a:t> Freq.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31979" y="2038674"/>
            <a:ext cx="303530" cy="389255"/>
          </a:xfrm>
          <a:prstGeom prst="rect">
            <a:avLst/>
          </a:prstGeom>
        </p:spPr>
        <p:txBody>
          <a:bodyPr vert="vert270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25" dirty="0">
                <a:latin typeface="Verdana"/>
                <a:cs typeface="Verdana"/>
              </a:rPr>
              <a:t>|A|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61210" y="1296162"/>
            <a:ext cx="3812285" cy="137236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328926" y="1771904"/>
            <a:ext cx="18351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Verdana"/>
                <a:cs typeface="Verdana"/>
              </a:rPr>
              <a:t>G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79E984A0-38ED-4E34-8E5C-02CB5A1CBB65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52</a:t>
            </a:fld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2486660" y="1890014"/>
            <a:ext cx="111760" cy="188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50" spc="-50" dirty="0">
                <a:latin typeface="Verdana"/>
                <a:cs typeface="Verdana"/>
              </a:rPr>
              <a:t>1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90008" y="1975357"/>
            <a:ext cx="18351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Verdana"/>
                <a:cs typeface="Verdana"/>
              </a:rPr>
              <a:t>G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47741" y="2093467"/>
            <a:ext cx="111760" cy="188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50" spc="-50" dirty="0">
                <a:latin typeface="Verdana"/>
                <a:cs typeface="Verdana"/>
              </a:rPr>
              <a:t>3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05070" y="1586737"/>
            <a:ext cx="16764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Verdana"/>
                <a:cs typeface="Verdana"/>
              </a:rPr>
              <a:t>C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46802" y="1704848"/>
            <a:ext cx="226060" cy="188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50" spc="-25" dirty="0">
                <a:latin typeface="Verdana"/>
                <a:cs typeface="Verdana"/>
              </a:rPr>
              <a:t>M1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581400" y="1486154"/>
            <a:ext cx="511809" cy="669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0810">
              <a:lnSpc>
                <a:spcPct val="100000"/>
              </a:lnSpc>
              <a:spcBef>
                <a:spcPts val="100"/>
              </a:spcBef>
            </a:pPr>
            <a:r>
              <a:rPr sz="2400" spc="-37" baseline="13888" dirty="0">
                <a:latin typeface="Verdana"/>
                <a:cs typeface="Verdana"/>
              </a:rPr>
              <a:t>C</a:t>
            </a:r>
            <a:r>
              <a:rPr sz="1050" spc="-25" dirty="0">
                <a:latin typeface="Verdana"/>
                <a:cs typeface="Verdana"/>
              </a:rPr>
              <a:t>M2</a:t>
            </a:r>
            <a:endParaRPr sz="105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1225"/>
              </a:spcBef>
            </a:pPr>
            <a:r>
              <a:rPr sz="1600" spc="-25" dirty="0">
                <a:latin typeface="Verdana"/>
                <a:cs typeface="Verdana"/>
              </a:rPr>
              <a:t>G</a:t>
            </a:r>
            <a:r>
              <a:rPr sz="1575" spc="-37" baseline="-21164" dirty="0">
                <a:latin typeface="Verdana"/>
                <a:cs typeface="Verdana"/>
              </a:rPr>
              <a:t>2</a:t>
            </a:r>
            <a:endParaRPr sz="1575" baseline="-21164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83511" y="1807717"/>
            <a:ext cx="16510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Verdana"/>
                <a:cs typeface="Verdana"/>
              </a:rPr>
              <a:t>V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22957" y="1925828"/>
            <a:ext cx="184150" cy="188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50" spc="-25" dirty="0">
                <a:latin typeface="Verdana"/>
                <a:cs typeface="Verdana"/>
              </a:rPr>
              <a:t>IN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831585" y="2404363"/>
            <a:ext cx="39814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37" baseline="13888" dirty="0">
                <a:latin typeface="Verdana"/>
                <a:cs typeface="Verdana"/>
              </a:rPr>
              <a:t>C</a:t>
            </a:r>
            <a:r>
              <a:rPr sz="1050" spc="-25" dirty="0">
                <a:latin typeface="Verdana"/>
                <a:cs typeface="Verdana"/>
              </a:rPr>
              <a:t>LD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44292" y="2354072"/>
            <a:ext cx="294195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  <a:tabLst>
                <a:tab pos="1372870" algn="l"/>
                <a:tab pos="2662555" algn="l"/>
              </a:tabLst>
            </a:pPr>
            <a:r>
              <a:rPr sz="1600" dirty="0">
                <a:latin typeface="Verdana"/>
                <a:cs typeface="Verdana"/>
              </a:rPr>
              <a:t>R</a:t>
            </a:r>
            <a:r>
              <a:rPr sz="1575" baseline="-21164" dirty="0">
                <a:latin typeface="Verdana"/>
                <a:cs typeface="Verdana"/>
              </a:rPr>
              <a:t>0</a:t>
            </a:r>
            <a:r>
              <a:rPr sz="1575" spc="202" baseline="-21164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C</a:t>
            </a:r>
            <a:r>
              <a:rPr sz="1575" spc="-37" baseline="-21164" dirty="0">
                <a:latin typeface="Verdana"/>
                <a:cs typeface="Verdana"/>
              </a:rPr>
              <a:t>0</a:t>
            </a:r>
            <a:r>
              <a:rPr sz="1575" baseline="-21164" dirty="0">
                <a:latin typeface="Verdana"/>
                <a:cs typeface="Verdana"/>
              </a:rPr>
              <a:t>	</a:t>
            </a:r>
            <a:r>
              <a:rPr sz="1600" dirty="0">
                <a:latin typeface="Verdana"/>
                <a:cs typeface="Verdana"/>
              </a:rPr>
              <a:t>R</a:t>
            </a:r>
            <a:r>
              <a:rPr sz="1575" baseline="-21164" dirty="0">
                <a:latin typeface="Verdana"/>
                <a:cs typeface="Verdana"/>
              </a:rPr>
              <a:t>0</a:t>
            </a:r>
            <a:r>
              <a:rPr sz="1575" spc="202" baseline="-21164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C</a:t>
            </a:r>
            <a:r>
              <a:rPr sz="1575" spc="-37" baseline="-21164" dirty="0">
                <a:latin typeface="Verdana"/>
                <a:cs typeface="Verdana"/>
              </a:rPr>
              <a:t>0</a:t>
            </a:r>
            <a:r>
              <a:rPr sz="1575" baseline="-21164" dirty="0">
                <a:latin typeface="Verdana"/>
                <a:cs typeface="Verdana"/>
              </a:rPr>
              <a:t>	</a:t>
            </a:r>
            <a:r>
              <a:rPr sz="1600" spc="-25" dirty="0">
                <a:latin typeface="Verdana"/>
                <a:cs typeface="Verdana"/>
              </a:rPr>
              <a:t>R</a:t>
            </a:r>
            <a:r>
              <a:rPr sz="1575" spc="-37" baseline="-21164" dirty="0">
                <a:latin typeface="Verdana"/>
                <a:cs typeface="Verdana"/>
              </a:rPr>
              <a:t>0</a:t>
            </a:r>
            <a:endParaRPr sz="1575" baseline="-21164">
              <a:latin typeface="Verdana"/>
              <a:cs typeface="Verdana"/>
            </a:endParaRPr>
          </a:p>
        </p:txBody>
      </p:sp>
      <p:sp>
        <p:nvSpPr>
          <p:cNvPr id="26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125206" y="1264158"/>
            <a:ext cx="2665095" cy="2740660"/>
            <a:chOff x="8125206" y="1264158"/>
            <a:chExt cx="2665095" cy="27406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67048" y="1338004"/>
              <a:ext cx="2623142" cy="265224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25206" y="1264158"/>
              <a:ext cx="265430" cy="2740660"/>
            </a:xfrm>
            <a:custGeom>
              <a:avLst/>
              <a:gdLst/>
              <a:ahLst/>
              <a:cxnLst/>
              <a:rect l="l" t="t" r="r" b="b"/>
              <a:pathLst>
                <a:path w="265429" h="2740660">
                  <a:moveTo>
                    <a:pt x="265175" y="2740152"/>
                  </a:moveTo>
                  <a:lnTo>
                    <a:pt x="265175" y="0"/>
                  </a:lnTo>
                  <a:lnTo>
                    <a:pt x="0" y="0"/>
                  </a:lnTo>
                  <a:lnTo>
                    <a:pt x="0" y="2740152"/>
                  </a:lnTo>
                  <a:lnTo>
                    <a:pt x="265175" y="27401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354568" y="1335786"/>
              <a:ext cx="76200" cy="2472055"/>
            </a:xfrm>
            <a:custGeom>
              <a:avLst/>
              <a:gdLst/>
              <a:ahLst/>
              <a:cxnLst/>
              <a:rect l="l" t="t" r="r" b="b"/>
              <a:pathLst>
                <a:path w="76200" h="2472054">
                  <a:moveTo>
                    <a:pt x="76199" y="126492"/>
                  </a:moveTo>
                  <a:lnTo>
                    <a:pt x="38099" y="0"/>
                  </a:lnTo>
                  <a:lnTo>
                    <a:pt x="0" y="126492"/>
                  </a:lnTo>
                  <a:lnTo>
                    <a:pt x="25907" y="126492"/>
                  </a:lnTo>
                  <a:lnTo>
                    <a:pt x="25907" y="106680"/>
                  </a:lnTo>
                  <a:lnTo>
                    <a:pt x="31241" y="101346"/>
                  </a:lnTo>
                  <a:lnTo>
                    <a:pt x="44957" y="101346"/>
                  </a:lnTo>
                  <a:lnTo>
                    <a:pt x="51053" y="106680"/>
                  </a:lnTo>
                  <a:lnTo>
                    <a:pt x="51053" y="126492"/>
                  </a:lnTo>
                  <a:lnTo>
                    <a:pt x="76199" y="126492"/>
                  </a:lnTo>
                  <a:close/>
                </a:path>
                <a:path w="76200" h="2472054">
                  <a:moveTo>
                    <a:pt x="51053" y="126492"/>
                  </a:moveTo>
                  <a:lnTo>
                    <a:pt x="51053" y="106680"/>
                  </a:lnTo>
                  <a:lnTo>
                    <a:pt x="44957" y="101346"/>
                  </a:lnTo>
                  <a:lnTo>
                    <a:pt x="31241" y="101346"/>
                  </a:lnTo>
                  <a:lnTo>
                    <a:pt x="25907" y="106680"/>
                  </a:lnTo>
                  <a:lnTo>
                    <a:pt x="25907" y="126492"/>
                  </a:lnTo>
                  <a:lnTo>
                    <a:pt x="51053" y="126492"/>
                  </a:lnTo>
                  <a:close/>
                </a:path>
                <a:path w="76200" h="2472054">
                  <a:moveTo>
                    <a:pt x="51053" y="2466594"/>
                  </a:moveTo>
                  <a:lnTo>
                    <a:pt x="51053" y="126492"/>
                  </a:lnTo>
                  <a:lnTo>
                    <a:pt x="25907" y="126492"/>
                  </a:lnTo>
                  <a:lnTo>
                    <a:pt x="25907" y="2466594"/>
                  </a:lnTo>
                  <a:lnTo>
                    <a:pt x="31241" y="2471928"/>
                  </a:lnTo>
                  <a:lnTo>
                    <a:pt x="44957" y="2471928"/>
                  </a:lnTo>
                  <a:lnTo>
                    <a:pt x="51053" y="2466594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051841" y="1370400"/>
            <a:ext cx="303530" cy="389255"/>
          </a:xfrm>
          <a:prstGeom prst="rect">
            <a:avLst/>
          </a:prstGeom>
        </p:spPr>
        <p:txBody>
          <a:bodyPr vert="vert270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25" dirty="0">
                <a:latin typeface="Verdana"/>
                <a:cs typeface="Verdana"/>
              </a:rPr>
              <a:t>|A|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380476" y="3756659"/>
            <a:ext cx="2395220" cy="323850"/>
            <a:chOff x="8380476" y="3756659"/>
            <a:chExt cx="2395220" cy="323850"/>
          </a:xfrm>
        </p:grpSpPr>
        <p:sp>
          <p:nvSpPr>
            <p:cNvPr id="8" name="object 8"/>
            <p:cNvSpPr/>
            <p:nvPr/>
          </p:nvSpPr>
          <p:spPr>
            <a:xfrm>
              <a:off x="8392668" y="3824477"/>
              <a:ext cx="2383155" cy="256540"/>
            </a:xfrm>
            <a:custGeom>
              <a:avLst/>
              <a:gdLst/>
              <a:ahLst/>
              <a:cxnLst/>
              <a:rect l="l" t="t" r="r" b="b"/>
              <a:pathLst>
                <a:path w="2383154" h="256539">
                  <a:moveTo>
                    <a:pt x="2382774" y="256032"/>
                  </a:moveTo>
                  <a:lnTo>
                    <a:pt x="2382774" y="0"/>
                  </a:lnTo>
                  <a:lnTo>
                    <a:pt x="0" y="0"/>
                  </a:lnTo>
                  <a:lnTo>
                    <a:pt x="0" y="256032"/>
                  </a:lnTo>
                  <a:lnTo>
                    <a:pt x="2382774" y="2560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380476" y="3756659"/>
              <a:ext cx="2395220" cy="76200"/>
            </a:xfrm>
            <a:custGeom>
              <a:avLst/>
              <a:gdLst/>
              <a:ahLst/>
              <a:cxnLst/>
              <a:rect l="l" t="t" r="r" b="b"/>
              <a:pathLst>
                <a:path w="2395220" h="76200">
                  <a:moveTo>
                    <a:pt x="2293620" y="45720"/>
                  </a:moveTo>
                  <a:lnTo>
                    <a:pt x="2293620" y="31242"/>
                  </a:lnTo>
                  <a:lnTo>
                    <a:pt x="2287524" y="25908"/>
                  </a:lnTo>
                  <a:lnTo>
                    <a:pt x="5334" y="25908"/>
                  </a:lnTo>
                  <a:lnTo>
                    <a:pt x="0" y="31242"/>
                  </a:lnTo>
                  <a:lnTo>
                    <a:pt x="0" y="45720"/>
                  </a:lnTo>
                  <a:lnTo>
                    <a:pt x="5334" y="51054"/>
                  </a:lnTo>
                  <a:lnTo>
                    <a:pt x="2287524" y="51054"/>
                  </a:lnTo>
                  <a:lnTo>
                    <a:pt x="2293620" y="45720"/>
                  </a:lnTo>
                  <a:close/>
                </a:path>
                <a:path w="2395220" h="76200">
                  <a:moveTo>
                    <a:pt x="2394966" y="38100"/>
                  </a:moveTo>
                  <a:lnTo>
                    <a:pt x="2267712" y="0"/>
                  </a:lnTo>
                  <a:lnTo>
                    <a:pt x="2267712" y="25908"/>
                  </a:lnTo>
                  <a:lnTo>
                    <a:pt x="2287524" y="25908"/>
                  </a:lnTo>
                  <a:lnTo>
                    <a:pt x="2293620" y="31242"/>
                  </a:lnTo>
                  <a:lnTo>
                    <a:pt x="2293620" y="68443"/>
                  </a:lnTo>
                  <a:lnTo>
                    <a:pt x="2394966" y="38100"/>
                  </a:lnTo>
                  <a:close/>
                </a:path>
                <a:path w="2395220" h="76200">
                  <a:moveTo>
                    <a:pt x="2293620" y="68443"/>
                  </a:moveTo>
                  <a:lnTo>
                    <a:pt x="2293620" y="45720"/>
                  </a:lnTo>
                  <a:lnTo>
                    <a:pt x="2287524" y="51054"/>
                  </a:lnTo>
                  <a:lnTo>
                    <a:pt x="2267712" y="51054"/>
                  </a:lnTo>
                  <a:lnTo>
                    <a:pt x="2267712" y="76200"/>
                  </a:lnTo>
                  <a:lnTo>
                    <a:pt x="2293620" y="68443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43204" y="3856735"/>
            <a:ext cx="10882630" cy="2056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871855" algn="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Log</a:t>
            </a:r>
            <a:r>
              <a:rPr sz="1800" spc="-10" dirty="0">
                <a:latin typeface="Verdana"/>
                <a:cs typeface="Verdana"/>
              </a:rPr>
              <a:t> Freq.</a:t>
            </a:r>
            <a:endParaRPr sz="1800">
              <a:latin typeface="Verdana"/>
              <a:cs typeface="Verdana"/>
            </a:endParaRPr>
          </a:p>
          <a:p>
            <a:pPr marL="520700" indent="-469900">
              <a:lnSpc>
                <a:spcPct val="100000"/>
              </a:lnSpc>
              <a:spcBef>
                <a:spcPts val="1720"/>
              </a:spcBef>
              <a:buClr>
                <a:srgbClr val="CC0000"/>
              </a:buClr>
              <a:buFont typeface="Wingdings"/>
              <a:buChar char=""/>
              <a:tabLst>
                <a:tab pos="520700" algn="l"/>
              </a:tabLst>
            </a:pPr>
            <a:r>
              <a:rPr sz="2000" dirty="0">
                <a:latin typeface="Verdana"/>
                <a:cs typeface="Verdana"/>
              </a:rPr>
              <a:t>3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stages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Symbol"/>
                <a:cs typeface="Symbol"/>
              </a:rPr>
              <a:t>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Verdana"/>
                <a:cs typeface="Verdana"/>
              </a:rPr>
              <a:t>3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high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frequency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poles</a:t>
            </a:r>
            <a:r>
              <a:rPr sz="2000" spc="-40" dirty="0">
                <a:latin typeface="Verdana"/>
                <a:cs typeface="Verdana"/>
              </a:rPr>
              <a:t>  </a:t>
            </a:r>
            <a:r>
              <a:rPr sz="2000" dirty="0">
                <a:latin typeface="Symbol"/>
                <a:cs typeface="Symbol"/>
              </a:rPr>
              <a:t>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Verdana"/>
                <a:cs typeface="Verdana"/>
              </a:rPr>
              <a:t>“Nested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Miller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compensation”</a:t>
            </a:r>
            <a:endParaRPr sz="2000">
              <a:latin typeface="Verdana"/>
              <a:cs typeface="Verdana"/>
            </a:endParaRPr>
          </a:p>
          <a:p>
            <a:pPr marL="958850" lvl="1" indent="-437515">
              <a:lnSpc>
                <a:spcPct val="100000"/>
              </a:lnSpc>
              <a:spcBef>
                <a:spcPts val="180"/>
              </a:spcBef>
              <a:buClr>
                <a:srgbClr val="CC0000"/>
              </a:buClr>
              <a:buFont typeface="Wingdings"/>
              <a:buChar char=""/>
              <a:tabLst>
                <a:tab pos="958850" algn="l"/>
              </a:tabLst>
            </a:pPr>
            <a:r>
              <a:rPr sz="1800" dirty="0">
                <a:latin typeface="Verdana"/>
                <a:cs typeface="Verdana"/>
              </a:rPr>
              <a:t>Set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inner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loop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(G2-</a:t>
            </a:r>
            <a:r>
              <a:rPr sz="1800" spc="-20" dirty="0">
                <a:latin typeface="Verdana"/>
                <a:cs typeface="Verdana"/>
              </a:rPr>
              <a:t>C</a:t>
            </a:r>
            <a:r>
              <a:rPr sz="1800" spc="-30" baseline="-20833" dirty="0">
                <a:latin typeface="Verdana"/>
                <a:cs typeface="Verdana"/>
              </a:rPr>
              <a:t>M2</a:t>
            </a:r>
            <a:r>
              <a:rPr sz="1800" spc="-20" dirty="0">
                <a:latin typeface="Verdana"/>
                <a:cs typeface="Verdana"/>
              </a:rPr>
              <a:t>-</a:t>
            </a:r>
            <a:r>
              <a:rPr sz="1800" dirty="0">
                <a:latin typeface="Verdana"/>
                <a:cs typeface="Verdana"/>
              </a:rPr>
              <a:t>G3)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~2x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amplifier bandwidth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assure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</a:t>
            </a:r>
            <a:r>
              <a:rPr sz="1800" baseline="-20833" dirty="0">
                <a:latin typeface="Verdana"/>
                <a:cs typeface="Verdana"/>
              </a:rPr>
              <a:t>M1</a:t>
            </a:r>
            <a:r>
              <a:rPr sz="1800" spc="292" baseline="-20833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ML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gain.</a:t>
            </a:r>
            <a:endParaRPr sz="1800">
              <a:latin typeface="Verdana"/>
              <a:cs typeface="Verdana"/>
            </a:endParaRPr>
          </a:p>
          <a:p>
            <a:pPr marL="958850" lvl="1" indent="-437515">
              <a:lnSpc>
                <a:spcPct val="100000"/>
              </a:lnSpc>
              <a:spcBef>
                <a:spcPts val="170"/>
              </a:spcBef>
              <a:buClr>
                <a:srgbClr val="CC0000"/>
              </a:buClr>
              <a:buFont typeface="Wingdings"/>
              <a:buChar char=""/>
              <a:tabLst>
                <a:tab pos="958850" algn="l"/>
              </a:tabLst>
            </a:pPr>
            <a:r>
              <a:rPr sz="1800" dirty="0">
                <a:latin typeface="Verdana"/>
                <a:cs typeface="Verdana"/>
              </a:rPr>
              <a:t>Output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pole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(G3/C</a:t>
            </a:r>
            <a:r>
              <a:rPr sz="1800" baseline="-20833" dirty="0">
                <a:latin typeface="Verdana"/>
                <a:cs typeface="Verdana"/>
              </a:rPr>
              <a:t>LD</a:t>
            </a:r>
            <a:r>
              <a:rPr sz="1800" dirty="0">
                <a:latin typeface="Verdana"/>
                <a:cs typeface="Verdana"/>
              </a:rPr>
              <a:t>)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should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be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yet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~2x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higher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than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that</a:t>
            </a:r>
            <a:endParaRPr sz="1800">
              <a:latin typeface="Verdana"/>
              <a:cs typeface="Verdana"/>
            </a:endParaRPr>
          </a:p>
          <a:p>
            <a:pPr marL="520700" marR="43180" indent="-470534">
              <a:lnSpc>
                <a:spcPts val="1920"/>
              </a:lnSpc>
              <a:spcBef>
                <a:spcPts val="1180"/>
              </a:spcBef>
              <a:buClr>
                <a:srgbClr val="CC0000"/>
              </a:buClr>
              <a:buFont typeface="Wingdings"/>
              <a:buChar char=""/>
              <a:tabLst>
                <a:tab pos="520700" algn="l"/>
              </a:tabLst>
            </a:pPr>
            <a:r>
              <a:rPr sz="2000" dirty="0">
                <a:latin typeface="Verdana"/>
                <a:cs typeface="Verdana"/>
              </a:rPr>
              <a:t>Concept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extends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4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or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more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stages,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with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BW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inner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loops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~doubling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with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addition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each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gain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stage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dirty="0"/>
              <a:t>Nested</a:t>
            </a:r>
            <a:r>
              <a:rPr spc="-80" dirty="0"/>
              <a:t> </a:t>
            </a:r>
            <a:r>
              <a:rPr dirty="0"/>
              <a:t>Miller</a:t>
            </a:r>
            <a:r>
              <a:rPr spc="-50" dirty="0"/>
              <a:t> </a:t>
            </a:r>
            <a:r>
              <a:rPr spc="-10" dirty="0"/>
              <a:t>Compensation</a:t>
            </a: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21418" y="1175766"/>
            <a:ext cx="2033016" cy="806958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9960356" y="1282700"/>
            <a:ext cx="17538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3990" marR="5080" indent="-161925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Each</a:t>
            </a:r>
            <a:r>
              <a:rPr sz="14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stage</a:t>
            </a:r>
            <a:r>
              <a:rPr sz="1400" spc="-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Verdana"/>
                <a:cs typeface="Verdana"/>
              </a:rPr>
              <a:t>reduces </a:t>
            </a: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bandwidth</a:t>
            </a:r>
            <a:r>
              <a:rPr sz="14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Verdana"/>
                <a:cs typeface="Verdana"/>
              </a:rPr>
              <a:t>2-</a:t>
            </a:r>
            <a:r>
              <a:rPr sz="1400" spc="-25" dirty="0">
                <a:solidFill>
                  <a:srgbClr val="FFFFFF"/>
                </a:solidFill>
                <a:latin typeface="Verdana"/>
                <a:cs typeface="Verdana"/>
              </a:rPr>
              <a:t>3x</a:t>
            </a:r>
            <a:endParaRPr sz="1400">
              <a:latin typeface="Verdana"/>
              <a:cs typeface="Verdan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5453" y="1508759"/>
            <a:ext cx="5076444" cy="242849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3179064" y="1300988"/>
            <a:ext cx="4616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C</a:t>
            </a:r>
            <a:r>
              <a:rPr sz="1200" spc="-25" dirty="0">
                <a:latin typeface="Verdana"/>
                <a:cs typeface="Verdana"/>
              </a:rPr>
              <a:t>M1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39494" y="2690876"/>
            <a:ext cx="3492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G1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46677" y="2690876"/>
            <a:ext cx="3492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G2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11773" y="3428492"/>
            <a:ext cx="437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C</a:t>
            </a:r>
            <a:r>
              <a:rPr sz="1200" spc="-25" dirty="0">
                <a:latin typeface="Verdana"/>
                <a:cs typeface="Verdana"/>
              </a:rPr>
              <a:t>LD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20923" y="3428492"/>
            <a:ext cx="487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13888" dirty="0">
                <a:latin typeface="Verdana"/>
                <a:cs typeface="Verdana"/>
              </a:rPr>
              <a:t>C</a:t>
            </a:r>
            <a:r>
              <a:rPr sz="1200" spc="-20" dirty="0">
                <a:latin typeface="Verdana"/>
                <a:cs typeface="Verdana"/>
              </a:rPr>
              <a:t>par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433570" y="2690876"/>
            <a:ext cx="452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-</a:t>
            </a:r>
            <a:r>
              <a:rPr sz="1800" spc="-25" dirty="0">
                <a:latin typeface="Verdana"/>
                <a:cs typeface="Verdana"/>
              </a:rPr>
              <a:t>G3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191754" y="3428492"/>
            <a:ext cx="487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13888" dirty="0">
                <a:latin typeface="Verdana"/>
                <a:cs typeface="Verdana"/>
              </a:rPr>
              <a:t>C</a:t>
            </a:r>
            <a:r>
              <a:rPr sz="1200" spc="-20" dirty="0">
                <a:latin typeface="Verdana"/>
                <a:cs typeface="Verdana"/>
              </a:rPr>
              <a:t>par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22697" y="1669796"/>
            <a:ext cx="4616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C</a:t>
            </a:r>
            <a:r>
              <a:rPr sz="1200" spc="-25" dirty="0">
                <a:latin typeface="Verdana"/>
                <a:cs typeface="Verdana"/>
              </a:rPr>
              <a:t>M2</a:t>
            </a:r>
            <a:endParaRPr sz="1200">
              <a:latin typeface="Verdana"/>
              <a:cs typeface="Verdan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64529" y="1226058"/>
            <a:ext cx="2033016" cy="819150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6151879" y="1227074"/>
            <a:ext cx="1258570" cy="665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6990" algn="just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Assure</a:t>
            </a:r>
            <a:r>
              <a:rPr sz="140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Verdana"/>
                <a:cs typeface="Verdana"/>
              </a:rPr>
              <a:t>Miller </a:t>
            </a: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always</a:t>
            </a:r>
            <a:r>
              <a:rPr sz="14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Verdana"/>
                <a:cs typeface="Verdana"/>
              </a:rPr>
              <a:t>across </a:t>
            </a: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negative</a:t>
            </a:r>
            <a:r>
              <a:rPr sz="14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Verdana"/>
                <a:cs typeface="Verdana"/>
              </a:rPr>
              <a:t>FB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849117" y="1760220"/>
            <a:ext cx="2926080" cy="2255520"/>
          </a:xfrm>
          <a:custGeom>
            <a:avLst/>
            <a:gdLst/>
            <a:ahLst/>
            <a:cxnLst/>
            <a:rect l="l" t="t" r="r" b="b"/>
            <a:pathLst>
              <a:path w="2926079" h="2255520">
                <a:moveTo>
                  <a:pt x="12954" y="2076450"/>
                </a:moveTo>
                <a:lnTo>
                  <a:pt x="12954" y="2025396"/>
                </a:lnTo>
                <a:lnTo>
                  <a:pt x="0" y="2025396"/>
                </a:lnTo>
                <a:lnTo>
                  <a:pt x="0" y="2076450"/>
                </a:lnTo>
                <a:lnTo>
                  <a:pt x="12954" y="2076450"/>
                </a:lnTo>
                <a:close/>
              </a:path>
              <a:path w="2926079" h="2255520">
                <a:moveTo>
                  <a:pt x="12954" y="1987296"/>
                </a:moveTo>
                <a:lnTo>
                  <a:pt x="12954" y="1937004"/>
                </a:lnTo>
                <a:lnTo>
                  <a:pt x="0" y="1937004"/>
                </a:lnTo>
                <a:lnTo>
                  <a:pt x="0" y="1987296"/>
                </a:lnTo>
                <a:lnTo>
                  <a:pt x="12954" y="1987296"/>
                </a:lnTo>
                <a:close/>
              </a:path>
              <a:path w="2926079" h="2255520">
                <a:moveTo>
                  <a:pt x="12954" y="1898904"/>
                </a:moveTo>
                <a:lnTo>
                  <a:pt x="12954" y="1847850"/>
                </a:lnTo>
                <a:lnTo>
                  <a:pt x="0" y="1847850"/>
                </a:lnTo>
                <a:lnTo>
                  <a:pt x="0" y="1898904"/>
                </a:lnTo>
                <a:lnTo>
                  <a:pt x="12954" y="1898904"/>
                </a:lnTo>
                <a:close/>
              </a:path>
              <a:path w="2926079" h="2255520">
                <a:moveTo>
                  <a:pt x="12954" y="1809750"/>
                </a:moveTo>
                <a:lnTo>
                  <a:pt x="12954" y="1758696"/>
                </a:lnTo>
                <a:lnTo>
                  <a:pt x="0" y="1758696"/>
                </a:lnTo>
                <a:lnTo>
                  <a:pt x="0" y="1809750"/>
                </a:lnTo>
                <a:lnTo>
                  <a:pt x="12954" y="1809750"/>
                </a:lnTo>
                <a:close/>
              </a:path>
              <a:path w="2926079" h="2255520">
                <a:moveTo>
                  <a:pt x="12954" y="1720596"/>
                </a:moveTo>
                <a:lnTo>
                  <a:pt x="12954" y="1670304"/>
                </a:lnTo>
                <a:lnTo>
                  <a:pt x="0" y="1670304"/>
                </a:lnTo>
                <a:lnTo>
                  <a:pt x="0" y="1720596"/>
                </a:lnTo>
                <a:lnTo>
                  <a:pt x="12954" y="1720596"/>
                </a:lnTo>
                <a:close/>
              </a:path>
              <a:path w="2926079" h="2255520">
                <a:moveTo>
                  <a:pt x="12954" y="1632204"/>
                </a:moveTo>
                <a:lnTo>
                  <a:pt x="12954" y="1581150"/>
                </a:lnTo>
                <a:lnTo>
                  <a:pt x="0" y="1581150"/>
                </a:lnTo>
                <a:lnTo>
                  <a:pt x="0" y="1632204"/>
                </a:lnTo>
                <a:lnTo>
                  <a:pt x="12954" y="1632204"/>
                </a:lnTo>
                <a:close/>
              </a:path>
              <a:path w="2926079" h="2255520">
                <a:moveTo>
                  <a:pt x="12954" y="1543050"/>
                </a:moveTo>
                <a:lnTo>
                  <a:pt x="12954" y="1491996"/>
                </a:lnTo>
                <a:lnTo>
                  <a:pt x="0" y="1491996"/>
                </a:lnTo>
                <a:lnTo>
                  <a:pt x="0" y="1543050"/>
                </a:lnTo>
                <a:lnTo>
                  <a:pt x="12954" y="1543050"/>
                </a:lnTo>
                <a:close/>
              </a:path>
              <a:path w="2926079" h="2255520">
                <a:moveTo>
                  <a:pt x="12954" y="1453896"/>
                </a:moveTo>
                <a:lnTo>
                  <a:pt x="12954" y="1403604"/>
                </a:lnTo>
                <a:lnTo>
                  <a:pt x="0" y="1403604"/>
                </a:lnTo>
                <a:lnTo>
                  <a:pt x="0" y="1453896"/>
                </a:lnTo>
                <a:lnTo>
                  <a:pt x="12954" y="1453896"/>
                </a:lnTo>
                <a:close/>
              </a:path>
              <a:path w="2926079" h="2255520">
                <a:moveTo>
                  <a:pt x="12954" y="1365504"/>
                </a:moveTo>
                <a:lnTo>
                  <a:pt x="12954" y="1314450"/>
                </a:lnTo>
                <a:lnTo>
                  <a:pt x="0" y="1314450"/>
                </a:lnTo>
                <a:lnTo>
                  <a:pt x="0" y="1365504"/>
                </a:lnTo>
                <a:lnTo>
                  <a:pt x="12954" y="1365504"/>
                </a:lnTo>
                <a:close/>
              </a:path>
              <a:path w="2926079" h="2255520">
                <a:moveTo>
                  <a:pt x="12954" y="1276350"/>
                </a:moveTo>
                <a:lnTo>
                  <a:pt x="12954" y="1226058"/>
                </a:lnTo>
                <a:lnTo>
                  <a:pt x="0" y="1226058"/>
                </a:lnTo>
                <a:lnTo>
                  <a:pt x="0" y="1276350"/>
                </a:lnTo>
                <a:lnTo>
                  <a:pt x="12954" y="1276350"/>
                </a:lnTo>
                <a:close/>
              </a:path>
              <a:path w="2926079" h="2255520">
                <a:moveTo>
                  <a:pt x="12954" y="1187958"/>
                </a:moveTo>
                <a:lnTo>
                  <a:pt x="12954" y="1136904"/>
                </a:lnTo>
                <a:lnTo>
                  <a:pt x="0" y="1136904"/>
                </a:lnTo>
                <a:lnTo>
                  <a:pt x="0" y="1187958"/>
                </a:lnTo>
                <a:lnTo>
                  <a:pt x="12954" y="1187958"/>
                </a:lnTo>
                <a:close/>
              </a:path>
              <a:path w="2926079" h="2255520">
                <a:moveTo>
                  <a:pt x="12954" y="1098804"/>
                </a:moveTo>
                <a:lnTo>
                  <a:pt x="12954" y="1047750"/>
                </a:lnTo>
                <a:lnTo>
                  <a:pt x="0" y="1047750"/>
                </a:lnTo>
                <a:lnTo>
                  <a:pt x="0" y="1098804"/>
                </a:lnTo>
                <a:lnTo>
                  <a:pt x="12954" y="1098804"/>
                </a:lnTo>
                <a:close/>
              </a:path>
              <a:path w="2926079" h="2255520">
                <a:moveTo>
                  <a:pt x="12954" y="1009650"/>
                </a:moveTo>
                <a:lnTo>
                  <a:pt x="12954" y="959358"/>
                </a:lnTo>
                <a:lnTo>
                  <a:pt x="0" y="959358"/>
                </a:lnTo>
                <a:lnTo>
                  <a:pt x="0" y="1009650"/>
                </a:lnTo>
                <a:lnTo>
                  <a:pt x="12954" y="1009650"/>
                </a:lnTo>
                <a:close/>
              </a:path>
              <a:path w="2926079" h="2255520">
                <a:moveTo>
                  <a:pt x="12954" y="921258"/>
                </a:moveTo>
                <a:lnTo>
                  <a:pt x="12954" y="870204"/>
                </a:lnTo>
                <a:lnTo>
                  <a:pt x="0" y="870204"/>
                </a:lnTo>
                <a:lnTo>
                  <a:pt x="0" y="921258"/>
                </a:lnTo>
                <a:lnTo>
                  <a:pt x="12954" y="921258"/>
                </a:lnTo>
                <a:close/>
              </a:path>
              <a:path w="2926079" h="2255520">
                <a:moveTo>
                  <a:pt x="12954" y="832104"/>
                </a:moveTo>
                <a:lnTo>
                  <a:pt x="12954" y="781050"/>
                </a:lnTo>
                <a:lnTo>
                  <a:pt x="0" y="781050"/>
                </a:lnTo>
                <a:lnTo>
                  <a:pt x="0" y="832104"/>
                </a:lnTo>
                <a:lnTo>
                  <a:pt x="12954" y="832104"/>
                </a:lnTo>
                <a:close/>
              </a:path>
              <a:path w="2926079" h="2255520">
                <a:moveTo>
                  <a:pt x="12954" y="742950"/>
                </a:moveTo>
                <a:lnTo>
                  <a:pt x="12954" y="692658"/>
                </a:lnTo>
                <a:lnTo>
                  <a:pt x="0" y="692658"/>
                </a:lnTo>
                <a:lnTo>
                  <a:pt x="0" y="742950"/>
                </a:lnTo>
                <a:lnTo>
                  <a:pt x="12954" y="742950"/>
                </a:lnTo>
                <a:close/>
              </a:path>
              <a:path w="2926079" h="2255520">
                <a:moveTo>
                  <a:pt x="12954" y="654558"/>
                </a:moveTo>
                <a:lnTo>
                  <a:pt x="12954" y="603504"/>
                </a:lnTo>
                <a:lnTo>
                  <a:pt x="0" y="603504"/>
                </a:lnTo>
                <a:lnTo>
                  <a:pt x="0" y="654558"/>
                </a:lnTo>
                <a:lnTo>
                  <a:pt x="12954" y="654558"/>
                </a:lnTo>
                <a:close/>
              </a:path>
              <a:path w="2926079" h="2255520">
                <a:moveTo>
                  <a:pt x="12954" y="565404"/>
                </a:moveTo>
                <a:lnTo>
                  <a:pt x="12954" y="514350"/>
                </a:lnTo>
                <a:lnTo>
                  <a:pt x="0" y="514350"/>
                </a:lnTo>
                <a:lnTo>
                  <a:pt x="0" y="565404"/>
                </a:lnTo>
                <a:lnTo>
                  <a:pt x="12954" y="565404"/>
                </a:lnTo>
                <a:close/>
              </a:path>
              <a:path w="2926079" h="2255520">
                <a:moveTo>
                  <a:pt x="12954" y="476250"/>
                </a:moveTo>
                <a:lnTo>
                  <a:pt x="12954" y="425958"/>
                </a:lnTo>
                <a:lnTo>
                  <a:pt x="0" y="425958"/>
                </a:lnTo>
                <a:lnTo>
                  <a:pt x="0" y="476250"/>
                </a:lnTo>
                <a:lnTo>
                  <a:pt x="12954" y="476250"/>
                </a:lnTo>
                <a:close/>
              </a:path>
              <a:path w="2926079" h="2255520">
                <a:moveTo>
                  <a:pt x="12954" y="387858"/>
                </a:moveTo>
                <a:lnTo>
                  <a:pt x="12954" y="336804"/>
                </a:lnTo>
                <a:lnTo>
                  <a:pt x="0" y="336804"/>
                </a:lnTo>
                <a:lnTo>
                  <a:pt x="0" y="387858"/>
                </a:lnTo>
                <a:lnTo>
                  <a:pt x="12954" y="387858"/>
                </a:lnTo>
                <a:close/>
              </a:path>
              <a:path w="2926079" h="2255520">
                <a:moveTo>
                  <a:pt x="12954" y="298704"/>
                </a:moveTo>
                <a:lnTo>
                  <a:pt x="12954" y="247650"/>
                </a:lnTo>
                <a:lnTo>
                  <a:pt x="0" y="247650"/>
                </a:lnTo>
                <a:lnTo>
                  <a:pt x="0" y="298704"/>
                </a:lnTo>
                <a:lnTo>
                  <a:pt x="12954" y="298704"/>
                </a:lnTo>
                <a:close/>
              </a:path>
              <a:path w="2926079" h="2255520">
                <a:moveTo>
                  <a:pt x="13715" y="161544"/>
                </a:moveTo>
                <a:lnTo>
                  <a:pt x="13715" y="160020"/>
                </a:lnTo>
                <a:lnTo>
                  <a:pt x="1524" y="158496"/>
                </a:lnTo>
                <a:lnTo>
                  <a:pt x="762" y="160782"/>
                </a:lnTo>
                <a:lnTo>
                  <a:pt x="762" y="169926"/>
                </a:lnTo>
                <a:lnTo>
                  <a:pt x="0" y="179070"/>
                </a:lnTo>
                <a:lnTo>
                  <a:pt x="0" y="209550"/>
                </a:lnTo>
                <a:lnTo>
                  <a:pt x="12954" y="209550"/>
                </a:lnTo>
                <a:lnTo>
                  <a:pt x="12954" y="169926"/>
                </a:lnTo>
                <a:lnTo>
                  <a:pt x="13715" y="161544"/>
                </a:lnTo>
                <a:close/>
              </a:path>
              <a:path w="2926079" h="2255520">
                <a:moveTo>
                  <a:pt x="44957" y="80772"/>
                </a:moveTo>
                <a:lnTo>
                  <a:pt x="34289" y="73914"/>
                </a:lnTo>
                <a:lnTo>
                  <a:pt x="30480" y="79248"/>
                </a:lnTo>
                <a:lnTo>
                  <a:pt x="25907" y="86106"/>
                </a:lnTo>
                <a:lnTo>
                  <a:pt x="21336" y="93726"/>
                </a:lnTo>
                <a:lnTo>
                  <a:pt x="17525" y="101346"/>
                </a:lnTo>
                <a:lnTo>
                  <a:pt x="14477" y="109728"/>
                </a:lnTo>
                <a:lnTo>
                  <a:pt x="10668" y="117348"/>
                </a:lnTo>
                <a:lnTo>
                  <a:pt x="9906" y="119634"/>
                </a:lnTo>
                <a:lnTo>
                  <a:pt x="22098" y="124206"/>
                </a:lnTo>
                <a:lnTo>
                  <a:pt x="22859" y="121920"/>
                </a:lnTo>
                <a:lnTo>
                  <a:pt x="28956" y="106680"/>
                </a:lnTo>
                <a:lnTo>
                  <a:pt x="32765" y="99822"/>
                </a:lnTo>
                <a:lnTo>
                  <a:pt x="37337" y="92202"/>
                </a:lnTo>
                <a:lnTo>
                  <a:pt x="41148" y="86106"/>
                </a:lnTo>
                <a:lnTo>
                  <a:pt x="44957" y="80772"/>
                </a:lnTo>
                <a:close/>
              </a:path>
              <a:path w="2926079" h="2255520">
                <a:moveTo>
                  <a:pt x="110489" y="27431"/>
                </a:moveTo>
                <a:lnTo>
                  <a:pt x="105156" y="16002"/>
                </a:lnTo>
                <a:lnTo>
                  <a:pt x="101345" y="17525"/>
                </a:lnTo>
                <a:lnTo>
                  <a:pt x="93725" y="21336"/>
                </a:lnTo>
                <a:lnTo>
                  <a:pt x="86106" y="25908"/>
                </a:lnTo>
                <a:lnTo>
                  <a:pt x="79248" y="30480"/>
                </a:lnTo>
                <a:lnTo>
                  <a:pt x="71627" y="35814"/>
                </a:lnTo>
                <a:lnTo>
                  <a:pt x="65531" y="41148"/>
                </a:lnTo>
                <a:lnTo>
                  <a:pt x="60959" y="44196"/>
                </a:lnTo>
                <a:lnTo>
                  <a:pt x="69342" y="54102"/>
                </a:lnTo>
                <a:lnTo>
                  <a:pt x="73151" y="50292"/>
                </a:lnTo>
                <a:lnTo>
                  <a:pt x="80009" y="45720"/>
                </a:lnTo>
                <a:lnTo>
                  <a:pt x="86106" y="41148"/>
                </a:lnTo>
                <a:lnTo>
                  <a:pt x="92963" y="36576"/>
                </a:lnTo>
                <a:lnTo>
                  <a:pt x="99821" y="32766"/>
                </a:lnTo>
                <a:lnTo>
                  <a:pt x="110489" y="27431"/>
                </a:lnTo>
                <a:close/>
              </a:path>
              <a:path w="2926079" h="2255520">
                <a:moveTo>
                  <a:pt x="194309" y="12954"/>
                </a:moveTo>
                <a:lnTo>
                  <a:pt x="194309" y="0"/>
                </a:lnTo>
                <a:lnTo>
                  <a:pt x="169925" y="0"/>
                </a:lnTo>
                <a:lnTo>
                  <a:pt x="160781" y="762"/>
                </a:lnTo>
                <a:lnTo>
                  <a:pt x="151637" y="2286"/>
                </a:lnTo>
                <a:lnTo>
                  <a:pt x="143256" y="3810"/>
                </a:lnTo>
                <a:lnTo>
                  <a:pt x="142494" y="3810"/>
                </a:lnTo>
                <a:lnTo>
                  <a:pt x="145542" y="16002"/>
                </a:lnTo>
                <a:lnTo>
                  <a:pt x="153924" y="14478"/>
                </a:lnTo>
                <a:lnTo>
                  <a:pt x="169925" y="13023"/>
                </a:lnTo>
                <a:lnTo>
                  <a:pt x="194309" y="12954"/>
                </a:lnTo>
                <a:close/>
              </a:path>
              <a:path w="2926079" h="2255520">
                <a:moveTo>
                  <a:pt x="283463" y="12954"/>
                </a:moveTo>
                <a:lnTo>
                  <a:pt x="283463" y="0"/>
                </a:lnTo>
                <a:lnTo>
                  <a:pt x="232409" y="0"/>
                </a:lnTo>
                <a:lnTo>
                  <a:pt x="232409" y="12954"/>
                </a:lnTo>
                <a:lnTo>
                  <a:pt x="283463" y="12954"/>
                </a:lnTo>
                <a:close/>
              </a:path>
              <a:path w="2926079" h="2255520">
                <a:moveTo>
                  <a:pt x="372618" y="12954"/>
                </a:moveTo>
                <a:lnTo>
                  <a:pt x="372618" y="0"/>
                </a:lnTo>
                <a:lnTo>
                  <a:pt x="321563" y="0"/>
                </a:lnTo>
                <a:lnTo>
                  <a:pt x="321563" y="12954"/>
                </a:lnTo>
                <a:lnTo>
                  <a:pt x="372618" y="12954"/>
                </a:lnTo>
                <a:close/>
              </a:path>
              <a:path w="2926079" h="2255520">
                <a:moveTo>
                  <a:pt x="461009" y="12954"/>
                </a:moveTo>
                <a:lnTo>
                  <a:pt x="461009" y="0"/>
                </a:lnTo>
                <a:lnTo>
                  <a:pt x="410718" y="0"/>
                </a:lnTo>
                <a:lnTo>
                  <a:pt x="410718" y="12954"/>
                </a:lnTo>
                <a:lnTo>
                  <a:pt x="461009" y="12954"/>
                </a:lnTo>
                <a:close/>
              </a:path>
              <a:path w="2926079" h="2255520">
                <a:moveTo>
                  <a:pt x="550163" y="12954"/>
                </a:moveTo>
                <a:lnTo>
                  <a:pt x="550163" y="0"/>
                </a:lnTo>
                <a:lnTo>
                  <a:pt x="499109" y="0"/>
                </a:lnTo>
                <a:lnTo>
                  <a:pt x="499109" y="12954"/>
                </a:lnTo>
                <a:lnTo>
                  <a:pt x="550163" y="12954"/>
                </a:lnTo>
                <a:close/>
              </a:path>
              <a:path w="2926079" h="2255520">
                <a:moveTo>
                  <a:pt x="638556" y="12954"/>
                </a:moveTo>
                <a:lnTo>
                  <a:pt x="638556" y="0"/>
                </a:lnTo>
                <a:lnTo>
                  <a:pt x="588264" y="0"/>
                </a:lnTo>
                <a:lnTo>
                  <a:pt x="588264" y="12954"/>
                </a:lnTo>
                <a:lnTo>
                  <a:pt x="638556" y="12954"/>
                </a:lnTo>
                <a:close/>
              </a:path>
              <a:path w="2926079" h="2255520">
                <a:moveTo>
                  <a:pt x="727709" y="12954"/>
                </a:moveTo>
                <a:lnTo>
                  <a:pt x="727709" y="0"/>
                </a:lnTo>
                <a:lnTo>
                  <a:pt x="676656" y="0"/>
                </a:lnTo>
                <a:lnTo>
                  <a:pt x="676656" y="12954"/>
                </a:lnTo>
                <a:lnTo>
                  <a:pt x="727709" y="12954"/>
                </a:lnTo>
                <a:close/>
              </a:path>
              <a:path w="2926079" h="2255520">
                <a:moveTo>
                  <a:pt x="816863" y="12954"/>
                </a:moveTo>
                <a:lnTo>
                  <a:pt x="816863" y="0"/>
                </a:lnTo>
                <a:lnTo>
                  <a:pt x="765809" y="0"/>
                </a:lnTo>
                <a:lnTo>
                  <a:pt x="765809" y="12954"/>
                </a:lnTo>
                <a:lnTo>
                  <a:pt x="816863" y="12954"/>
                </a:lnTo>
                <a:close/>
              </a:path>
              <a:path w="2926079" h="2255520">
                <a:moveTo>
                  <a:pt x="905256" y="12954"/>
                </a:moveTo>
                <a:lnTo>
                  <a:pt x="905256" y="0"/>
                </a:lnTo>
                <a:lnTo>
                  <a:pt x="854964" y="0"/>
                </a:lnTo>
                <a:lnTo>
                  <a:pt x="854964" y="12954"/>
                </a:lnTo>
                <a:lnTo>
                  <a:pt x="905256" y="12954"/>
                </a:lnTo>
                <a:close/>
              </a:path>
              <a:path w="2926079" h="2255520">
                <a:moveTo>
                  <a:pt x="994409" y="12954"/>
                </a:moveTo>
                <a:lnTo>
                  <a:pt x="994409" y="0"/>
                </a:lnTo>
                <a:lnTo>
                  <a:pt x="943356" y="0"/>
                </a:lnTo>
                <a:lnTo>
                  <a:pt x="943356" y="12954"/>
                </a:lnTo>
                <a:lnTo>
                  <a:pt x="994409" y="12954"/>
                </a:lnTo>
                <a:close/>
              </a:path>
              <a:path w="2926079" h="2255520">
                <a:moveTo>
                  <a:pt x="1083563" y="12954"/>
                </a:moveTo>
                <a:lnTo>
                  <a:pt x="1083563" y="0"/>
                </a:lnTo>
                <a:lnTo>
                  <a:pt x="1032509" y="0"/>
                </a:lnTo>
                <a:lnTo>
                  <a:pt x="1032509" y="12954"/>
                </a:lnTo>
                <a:lnTo>
                  <a:pt x="1083563" y="12954"/>
                </a:lnTo>
                <a:close/>
              </a:path>
              <a:path w="2926079" h="2255520">
                <a:moveTo>
                  <a:pt x="1171956" y="12954"/>
                </a:moveTo>
                <a:lnTo>
                  <a:pt x="1171956" y="0"/>
                </a:lnTo>
                <a:lnTo>
                  <a:pt x="1121664" y="0"/>
                </a:lnTo>
                <a:lnTo>
                  <a:pt x="1121664" y="12954"/>
                </a:lnTo>
                <a:lnTo>
                  <a:pt x="1171956" y="12954"/>
                </a:lnTo>
                <a:close/>
              </a:path>
              <a:path w="2926079" h="2255520">
                <a:moveTo>
                  <a:pt x="1261109" y="12954"/>
                </a:moveTo>
                <a:lnTo>
                  <a:pt x="1261109" y="0"/>
                </a:lnTo>
                <a:lnTo>
                  <a:pt x="1210056" y="0"/>
                </a:lnTo>
                <a:lnTo>
                  <a:pt x="1210056" y="12954"/>
                </a:lnTo>
                <a:lnTo>
                  <a:pt x="1261109" y="12954"/>
                </a:lnTo>
                <a:close/>
              </a:path>
              <a:path w="2926079" h="2255520">
                <a:moveTo>
                  <a:pt x="1350263" y="12954"/>
                </a:moveTo>
                <a:lnTo>
                  <a:pt x="1350263" y="0"/>
                </a:lnTo>
                <a:lnTo>
                  <a:pt x="1299209" y="0"/>
                </a:lnTo>
                <a:lnTo>
                  <a:pt x="1299209" y="12954"/>
                </a:lnTo>
                <a:lnTo>
                  <a:pt x="1350263" y="12954"/>
                </a:lnTo>
                <a:close/>
              </a:path>
              <a:path w="2926079" h="2255520">
                <a:moveTo>
                  <a:pt x="1438656" y="12954"/>
                </a:moveTo>
                <a:lnTo>
                  <a:pt x="1438656" y="0"/>
                </a:lnTo>
                <a:lnTo>
                  <a:pt x="1388364" y="0"/>
                </a:lnTo>
                <a:lnTo>
                  <a:pt x="1388364" y="12954"/>
                </a:lnTo>
                <a:lnTo>
                  <a:pt x="1438656" y="12954"/>
                </a:lnTo>
                <a:close/>
              </a:path>
              <a:path w="2926079" h="2255520">
                <a:moveTo>
                  <a:pt x="1527809" y="12954"/>
                </a:moveTo>
                <a:lnTo>
                  <a:pt x="1527809" y="0"/>
                </a:lnTo>
                <a:lnTo>
                  <a:pt x="1476756" y="0"/>
                </a:lnTo>
                <a:lnTo>
                  <a:pt x="1476756" y="12954"/>
                </a:lnTo>
                <a:lnTo>
                  <a:pt x="1527809" y="12954"/>
                </a:lnTo>
                <a:close/>
              </a:path>
              <a:path w="2926079" h="2255520">
                <a:moveTo>
                  <a:pt x="1616963" y="12954"/>
                </a:moveTo>
                <a:lnTo>
                  <a:pt x="1616963" y="0"/>
                </a:lnTo>
                <a:lnTo>
                  <a:pt x="1565909" y="0"/>
                </a:lnTo>
                <a:lnTo>
                  <a:pt x="1565909" y="12954"/>
                </a:lnTo>
                <a:lnTo>
                  <a:pt x="1616963" y="12954"/>
                </a:lnTo>
                <a:close/>
              </a:path>
              <a:path w="2926079" h="2255520">
                <a:moveTo>
                  <a:pt x="1705356" y="12954"/>
                </a:moveTo>
                <a:lnTo>
                  <a:pt x="1705356" y="0"/>
                </a:lnTo>
                <a:lnTo>
                  <a:pt x="1655064" y="0"/>
                </a:lnTo>
                <a:lnTo>
                  <a:pt x="1655064" y="12954"/>
                </a:lnTo>
                <a:lnTo>
                  <a:pt x="1705356" y="12954"/>
                </a:lnTo>
                <a:close/>
              </a:path>
              <a:path w="2926079" h="2255520">
                <a:moveTo>
                  <a:pt x="1794509" y="12954"/>
                </a:moveTo>
                <a:lnTo>
                  <a:pt x="1794509" y="0"/>
                </a:lnTo>
                <a:lnTo>
                  <a:pt x="1743456" y="0"/>
                </a:lnTo>
                <a:lnTo>
                  <a:pt x="1743456" y="12954"/>
                </a:lnTo>
                <a:lnTo>
                  <a:pt x="1794509" y="12954"/>
                </a:lnTo>
                <a:close/>
              </a:path>
              <a:path w="2926079" h="2255520">
                <a:moveTo>
                  <a:pt x="1883663" y="12954"/>
                </a:moveTo>
                <a:lnTo>
                  <a:pt x="1883663" y="0"/>
                </a:lnTo>
                <a:lnTo>
                  <a:pt x="1832609" y="0"/>
                </a:lnTo>
                <a:lnTo>
                  <a:pt x="1832609" y="12954"/>
                </a:lnTo>
                <a:lnTo>
                  <a:pt x="1883663" y="12954"/>
                </a:lnTo>
                <a:close/>
              </a:path>
              <a:path w="2926079" h="2255520">
                <a:moveTo>
                  <a:pt x="1972056" y="12954"/>
                </a:moveTo>
                <a:lnTo>
                  <a:pt x="1972056" y="0"/>
                </a:lnTo>
                <a:lnTo>
                  <a:pt x="1921764" y="0"/>
                </a:lnTo>
                <a:lnTo>
                  <a:pt x="1921764" y="12954"/>
                </a:lnTo>
                <a:lnTo>
                  <a:pt x="1972056" y="12954"/>
                </a:lnTo>
                <a:close/>
              </a:path>
              <a:path w="2926079" h="2255520">
                <a:moveTo>
                  <a:pt x="2061209" y="12954"/>
                </a:moveTo>
                <a:lnTo>
                  <a:pt x="2061209" y="0"/>
                </a:lnTo>
                <a:lnTo>
                  <a:pt x="2010156" y="0"/>
                </a:lnTo>
                <a:lnTo>
                  <a:pt x="2010156" y="12954"/>
                </a:lnTo>
                <a:lnTo>
                  <a:pt x="2061209" y="12954"/>
                </a:lnTo>
                <a:close/>
              </a:path>
              <a:path w="2926079" h="2255520">
                <a:moveTo>
                  <a:pt x="2150363" y="12954"/>
                </a:moveTo>
                <a:lnTo>
                  <a:pt x="2150363" y="0"/>
                </a:lnTo>
                <a:lnTo>
                  <a:pt x="2099310" y="0"/>
                </a:lnTo>
                <a:lnTo>
                  <a:pt x="2099310" y="12954"/>
                </a:lnTo>
                <a:lnTo>
                  <a:pt x="2150363" y="12954"/>
                </a:lnTo>
                <a:close/>
              </a:path>
              <a:path w="2926079" h="2255520">
                <a:moveTo>
                  <a:pt x="2238756" y="12954"/>
                </a:moveTo>
                <a:lnTo>
                  <a:pt x="2238756" y="0"/>
                </a:lnTo>
                <a:lnTo>
                  <a:pt x="2188464" y="0"/>
                </a:lnTo>
                <a:lnTo>
                  <a:pt x="2188464" y="12954"/>
                </a:lnTo>
                <a:lnTo>
                  <a:pt x="2238756" y="12954"/>
                </a:lnTo>
                <a:close/>
              </a:path>
              <a:path w="2926079" h="2255520">
                <a:moveTo>
                  <a:pt x="2327910" y="12954"/>
                </a:moveTo>
                <a:lnTo>
                  <a:pt x="2327910" y="0"/>
                </a:lnTo>
                <a:lnTo>
                  <a:pt x="2276856" y="0"/>
                </a:lnTo>
                <a:lnTo>
                  <a:pt x="2276856" y="12954"/>
                </a:lnTo>
                <a:lnTo>
                  <a:pt x="2327910" y="12954"/>
                </a:lnTo>
                <a:close/>
              </a:path>
              <a:path w="2926079" h="2255520">
                <a:moveTo>
                  <a:pt x="2417063" y="12954"/>
                </a:moveTo>
                <a:lnTo>
                  <a:pt x="2417063" y="0"/>
                </a:lnTo>
                <a:lnTo>
                  <a:pt x="2366010" y="0"/>
                </a:lnTo>
                <a:lnTo>
                  <a:pt x="2366010" y="12954"/>
                </a:lnTo>
                <a:lnTo>
                  <a:pt x="2417063" y="12954"/>
                </a:lnTo>
                <a:close/>
              </a:path>
              <a:path w="2926079" h="2255520">
                <a:moveTo>
                  <a:pt x="2505456" y="12954"/>
                </a:moveTo>
                <a:lnTo>
                  <a:pt x="2505456" y="0"/>
                </a:lnTo>
                <a:lnTo>
                  <a:pt x="2455164" y="0"/>
                </a:lnTo>
                <a:lnTo>
                  <a:pt x="2455164" y="12954"/>
                </a:lnTo>
                <a:lnTo>
                  <a:pt x="2505456" y="12954"/>
                </a:lnTo>
                <a:close/>
              </a:path>
              <a:path w="2926079" h="2255520">
                <a:moveTo>
                  <a:pt x="2594610" y="12954"/>
                </a:moveTo>
                <a:lnTo>
                  <a:pt x="2594610" y="0"/>
                </a:lnTo>
                <a:lnTo>
                  <a:pt x="2543556" y="0"/>
                </a:lnTo>
                <a:lnTo>
                  <a:pt x="2543556" y="12954"/>
                </a:lnTo>
                <a:lnTo>
                  <a:pt x="2594610" y="12954"/>
                </a:lnTo>
                <a:close/>
              </a:path>
              <a:path w="2926079" h="2255520">
                <a:moveTo>
                  <a:pt x="2683001" y="12954"/>
                </a:moveTo>
                <a:lnTo>
                  <a:pt x="2683001" y="0"/>
                </a:lnTo>
                <a:lnTo>
                  <a:pt x="2632710" y="0"/>
                </a:lnTo>
                <a:lnTo>
                  <a:pt x="2632710" y="12954"/>
                </a:lnTo>
                <a:lnTo>
                  <a:pt x="2683001" y="12954"/>
                </a:lnTo>
                <a:close/>
              </a:path>
              <a:path w="2926079" h="2255520">
                <a:moveTo>
                  <a:pt x="2772918" y="1524"/>
                </a:moveTo>
                <a:lnTo>
                  <a:pt x="2765297" y="762"/>
                </a:lnTo>
                <a:lnTo>
                  <a:pt x="2756154" y="0"/>
                </a:lnTo>
                <a:lnTo>
                  <a:pt x="2721102" y="0"/>
                </a:lnTo>
                <a:lnTo>
                  <a:pt x="2721102" y="12954"/>
                </a:lnTo>
                <a:lnTo>
                  <a:pt x="2756154" y="13023"/>
                </a:lnTo>
                <a:lnTo>
                  <a:pt x="2763773" y="13716"/>
                </a:lnTo>
                <a:lnTo>
                  <a:pt x="2771394" y="14478"/>
                </a:lnTo>
                <a:lnTo>
                  <a:pt x="2772918" y="1524"/>
                </a:lnTo>
                <a:close/>
              </a:path>
              <a:path w="2926079" h="2255520">
                <a:moveTo>
                  <a:pt x="2856737" y="38100"/>
                </a:moveTo>
                <a:lnTo>
                  <a:pt x="2853690" y="35052"/>
                </a:lnTo>
                <a:lnTo>
                  <a:pt x="2846832" y="30480"/>
                </a:lnTo>
                <a:lnTo>
                  <a:pt x="2839211" y="25907"/>
                </a:lnTo>
                <a:lnTo>
                  <a:pt x="2832354" y="21336"/>
                </a:lnTo>
                <a:lnTo>
                  <a:pt x="2823972" y="17525"/>
                </a:lnTo>
                <a:lnTo>
                  <a:pt x="2816352" y="13716"/>
                </a:lnTo>
                <a:lnTo>
                  <a:pt x="2811018" y="12192"/>
                </a:lnTo>
                <a:lnTo>
                  <a:pt x="2806446" y="23622"/>
                </a:lnTo>
                <a:lnTo>
                  <a:pt x="2811780" y="25907"/>
                </a:lnTo>
                <a:lnTo>
                  <a:pt x="2819399" y="28956"/>
                </a:lnTo>
                <a:lnTo>
                  <a:pt x="2833116" y="36575"/>
                </a:lnTo>
                <a:lnTo>
                  <a:pt x="2839973" y="41148"/>
                </a:lnTo>
                <a:lnTo>
                  <a:pt x="2849118" y="48006"/>
                </a:lnTo>
                <a:lnTo>
                  <a:pt x="2856737" y="38100"/>
                </a:lnTo>
                <a:close/>
              </a:path>
              <a:path w="2926079" h="2255520">
                <a:moveTo>
                  <a:pt x="2912364" y="110490"/>
                </a:moveTo>
                <a:lnTo>
                  <a:pt x="2903982" y="93725"/>
                </a:lnTo>
                <a:lnTo>
                  <a:pt x="2894837" y="78486"/>
                </a:lnTo>
                <a:lnTo>
                  <a:pt x="2890266" y="71628"/>
                </a:lnTo>
                <a:lnTo>
                  <a:pt x="2884932" y="65531"/>
                </a:lnTo>
                <a:lnTo>
                  <a:pt x="2875026" y="73152"/>
                </a:lnTo>
                <a:lnTo>
                  <a:pt x="2880360" y="79248"/>
                </a:lnTo>
                <a:lnTo>
                  <a:pt x="2884932" y="86106"/>
                </a:lnTo>
                <a:lnTo>
                  <a:pt x="2888742" y="92963"/>
                </a:lnTo>
                <a:lnTo>
                  <a:pt x="2893314" y="99822"/>
                </a:lnTo>
                <a:lnTo>
                  <a:pt x="2896361" y="106680"/>
                </a:lnTo>
                <a:lnTo>
                  <a:pt x="2900172" y="114300"/>
                </a:lnTo>
                <a:lnTo>
                  <a:pt x="2900172" y="115062"/>
                </a:lnTo>
                <a:lnTo>
                  <a:pt x="2912364" y="110490"/>
                </a:lnTo>
                <a:close/>
              </a:path>
              <a:path w="2926079" h="2255520">
                <a:moveTo>
                  <a:pt x="2926080" y="199644"/>
                </a:moveTo>
                <a:lnTo>
                  <a:pt x="2926080" y="179069"/>
                </a:lnTo>
                <a:lnTo>
                  <a:pt x="2925318" y="169163"/>
                </a:lnTo>
                <a:lnTo>
                  <a:pt x="2923794" y="151637"/>
                </a:lnTo>
                <a:lnTo>
                  <a:pt x="2923032" y="147828"/>
                </a:lnTo>
                <a:lnTo>
                  <a:pt x="2910840" y="150113"/>
                </a:lnTo>
                <a:lnTo>
                  <a:pt x="2910840" y="153924"/>
                </a:lnTo>
                <a:lnTo>
                  <a:pt x="2912364" y="162306"/>
                </a:lnTo>
                <a:lnTo>
                  <a:pt x="2913126" y="170687"/>
                </a:lnTo>
                <a:lnTo>
                  <a:pt x="2913126" y="199644"/>
                </a:lnTo>
                <a:lnTo>
                  <a:pt x="2926080" y="199644"/>
                </a:lnTo>
                <a:close/>
              </a:path>
              <a:path w="2926079" h="2255520">
                <a:moveTo>
                  <a:pt x="2926080" y="288798"/>
                </a:moveTo>
                <a:lnTo>
                  <a:pt x="2926080" y="237744"/>
                </a:lnTo>
                <a:lnTo>
                  <a:pt x="2913126" y="237744"/>
                </a:lnTo>
                <a:lnTo>
                  <a:pt x="2913126" y="288798"/>
                </a:lnTo>
                <a:lnTo>
                  <a:pt x="2926080" y="288798"/>
                </a:lnTo>
                <a:close/>
              </a:path>
              <a:path w="2926079" h="2255520">
                <a:moveTo>
                  <a:pt x="2926080" y="377952"/>
                </a:moveTo>
                <a:lnTo>
                  <a:pt x="2926080" y="326898"/>
                </a:lnTo>
                <a:lnTo>
                  <a:pt x="2913126" y="326898"/>
                </a:lnTo>
                <a:lnTo>
                  <a:pt x="2913126" y="377952"/>
                </a:lnTo>
                <a:lnTo>
                  <a:pt x="2926080" y="377952"/>
                </a:lnTo>
                <a:close/>
              </a:path>
              <a:path w="2926079" h="2255520">
                <a:moveTo>
                  <a:pt x="2926080" y="466344"/>
                </a:moveTo>
                <a:lnTo>
                  <a:pt x="2926080" y="416052"/>
                </a:lnTo>
                <a:lnTo>
                  <a:pt x="2913126" y="416052"/>
                </a:lnTo>
                <a:lnTo>
                  <a:pt x="2913126" y="466344"/>
                </a:lnTo>
                <a:lnTo>
                  <a:pt x="2926080" y="466344"/>
                </a:lnTo>
                <a:close/>
              </a:path>
              <a:path w="2926079" h="2255520">
                <a:moveTo>
                  <a:pt x="2926080" y="555498"/>
                </a:moveTo>
                <a:lnTo>
                  <a:pt x="2926080" y="504444"/>
                </a:lnTo>
                <a:lnTo>
                  <a:pt x="2913126" y="504444"/>
                </a:lnTo>
                <a:lnTo>
                  <a:pt x="2913126" y="555498"/>
                </a:lnTo>
                <a:lnTo>
                  <a:pt x="2926080" y="555498"/>
                </a:lnTo>
                <a:close/>
              </a:path>
              <a:path w="2926079" h="2255520">
                <a:moveTo>
                  <a:pt x="2926080" y="644652"/>
                </a:moveTo>
                <a:lnTo>
                  <a:pt x="2926080" y="593598"/>
                </a:lnTo>
                <a:lnTo>
                  <a:pt x="2913126" y="593598"/>
                </a:lnTo>
                <a:lnTo>
                  <a:pt x="2913126" y="644652"/>
                </a:lnTo>
                <a:lnTo>
                  <a:pt x="2926080" y="644652"/>
                </a:lnTo>
                <a:close/>
              </a:path>
              <a:path w="2926079" h="2255520">
                <a:moveTo>
                  <a:pt x="2926080" y="733044"/>
                </a:moveTo>
                <a:lnTo>
                  <a:pt x="2926080" y="682752"/>
                </a:lnTo>
                <a:lnTo>
                  <a:pt x="2913126" y="682752"/>
                </a:lnTo>
                <a:lnTo>
                  <a:pt x="2913126" y="733044"/>
                </a:lnTo>
                <a:lnTo>
                  <a:pt x="2926080" y="733044"/>
                </a:lnTo>
                <a:close/>
              </a:path>
              <a:path w="2926079" h="2255520">
                <a:moveTo>
                  <a:pt x="2926080" y="822198"/>
                </a:moveTo>
                <a:lnTo>
                  <a:pt x="2926080" y="771144"/>
                </a:lnTo>
                <a:lnTo>
                  <a:pt x="2913126" y="771144"/>
                </a:lnTo>
                <a:lnTo>
                  <a:pt x="2913126" y="822198"/>
                </a:lnTo>
                <a:lnTo>
                  <a:pt x="2926080" y="822198"/>
                </a:lnTo>
                <a:close/>
              </a:path>
              <a:path w="2926079" h="2255520">
                <a:moveTo>
                  <a:pt x="2926080" y="910590"/>
                </a:moveTo>
                <a:lnTo>
                  <a:pt x="2926080" y="860298"/>
                </a:lnTo>
                <a:lnTo>
                  <a:pt x="2913126" y="860298"/>
                </a:lnTo>
                <a:lnTo>
                  <a:pt x="2913126" y="910590"/>
                </a:lnTo>
                <a:lnTo>
                  <a:pt x="2926080" y="910590"/>
                </a:lnTo>
                <a:close/>
              </a:path>
              <a:path w="2926079" h="2255520">
                <a:moveTo>
                  <a:pt x="2926080" y="999744"/>
                </a:moveTo>
                <a:lnTo>
                  <a:pt x="2926080" y="948690"/>
                </a:lnTo>
                <a:lnTo>
                  <a:pt x="2913126" y="948690"/>
                </a:lnTo>
                <a:lnTo>
                  <a:pt x="2913126" y="999744"/>
                </a:lnTo>
                <a:lnTo>
                  <a:pt x="2926080" y="999744"/>
                </a:lnTo>
                <a:close/>
              </a:path>
              <a:path w="2926079" h="2255520">
                <a:moveTo>
                  <a:pt x="2926080" y="1088898"/>
                </a:moveTo>
                <a:lnTo>
                  <a:pt x="2926080" y="1037844"/>
                </a:lnTo>
                <a:lnTo>
                  <a:pt x="2913126" y="1037844"/>
                </a:lnTo>
                <a:lnTo>
                  <a:pt x="2913126" y="1088898"/>
                </a:lnTo>
                <a:lnTo>
                  <a:pt x="2926080" y="1088898"/>
                </a:lnTo>
                <a:close/>
              </a:path>
              <a:path w="2926079" h="2255520">
                <a:moveTo>
                  <a:pt x="2926080" y="1177290"/>
                </a:moveTo>
                <a:lnTo>
                  <a:pt x="2926080" y="1126998"/>
                </a:lnTo>
                <a:lnTo>
                  <a:pt x="2913126" y="1126998"/>
                </a:lnTo>
                <a:lnTo>
                  <a:pt x="2913126" y="1177290"/>
                </a:lnTo>
                <a:lnTo>
                  <a:pt x="2926080" y="1177290"/>
                </a:lnTo>
                <a:close/>
              </a:path>
              <a:path w="2926079" h="2255520">
                <a:moveTo>
                  <a:pt x="2926080" y="1266444"/>
                </a:moveTo>
                <a:lnTo>
                  <a:pt x="2926080" y="1215390"/>
                </a:lnTo>
                <a:lnTo>
                  <a:pt x="2913126" y="1215390"/>
                </a:lnTo>
                <a:lnTo>
                  <a:pt x="2913126" y="1266444"/>
                </a:lnTo>
                <a:lnTo>
                  <a:pt x="2926080" y="1266444"/>
                </a:lnTo>
                <a:close/>
              </a:path>
              <a:path w="2926079" h="2255520">
                <a:moveTo>
                  <a:pt x="2926080" y="1355598"/>
                </a:moveTo>
                <a:lnTo>
                  <a:pt x="2926080" y="1304544"/>
                </a:lnTo>
                <a:lnTo>
                  <a:pt x="2913126" y="1304544"/>
                </a:lnTo>
                <a:lnTo>
                  <a:pt x="2913126" y="1355598"/>
                </a:lnTo>
                <a:lnTo>
                  <a:pt x="2926080" y="1355598"/>
                </a:lnTo>
                <a:close/>
              </a:path>
              <a:path w="2926079" h="2255520">
                <a:moveTo>
                  <a:pt x="2926080" y="1443990"/>
                </a:moveTo>
                <a:lnTo>
                  <a:pt x="2926080" y="1393698"/>
                </a:lnTo>
                <a:lnTo>
                  <a:pt x="2913126" y="1393698"/>
                </a:lnTo>
                <a:lnTo>
                  <a:pt x="2913126" y="1443990"/>
                </a:lnTo>
                <a:lnTo>
                  <a:pt x="2926080" y="1443990"/>
                </a:lnTo>
                <a:close/>
              </a:path>
              <a:path w="2926079" h="2255520">
                <a:moveTo>
                  <a:pt x="2926080" y="1533144"/>
                </a:moveTo>
                <a:lnTo>
                  <a:pt x="2926080" y="1482090"/>
                </a:lnTo>
                <a:lnTo>
                  <a:pt x="2913126" y="1482090"/>
                </a:lnTo>
                <a:lnTo>
                  <a:pt x="2913126" y="1533144"/>
                </a:lnTo>
                <a:lnTo>
                  <a:pt x="2926080" y="1533144"/>
                </a:lnTo>
                <a:close/>
              </a:path>
              <a:path w="2926079" h="2255520">
                <a:moveTo>
                  <a:pt x="2926080" y="1622298"/>
                </a:moveTo>
                <a:lnTo>
                  <a:pt x="2926080" y="1571244"/>
                </a:lnTo>
                <a:lnTo>
                  <a:pt x="2913126" y="1571244"/>
                </a:lnTo>
                <a:lnTo>
                  <a:pt x="2913126" y="1622298"/>
                </a:lnTo>
                <a:lnTo>
                  <a:pt x="2926080" y="1622298"/>
                </a:lnTo>
                <a:close/>
              </a:path>
              <a:path w="2926079" h="2255520">
                <a:moveTo>
                  <a:pt x="2926080" y="1710689"/>
                </a:moveTo>
                <a:lnTo>
                  <a:pt x="2926080" y="1660398"/>
                </a:lnTo>
                <a:lnTo>
                  <a:pt x="2913126" y="1660398"/>
                </a:lnTo>
                <a:lnTo>
                  <a:pt x="2913126" y="1710689"/>
                </a:lnTo>
                <a:lnTo>
                  <a:pt x="2926080" y="1710689"/>
                </a:lnTo>
                <a:close/>
              </a:path>
              <a:path w="2926079" h="2255520">
                <a:moveTo>
                  <a:pt x="2926080" y="1799844"/>
                </a:moveTo>
                <a:lnTo>
                  <a:pt x="2926080" y="1748790"/>
                </a:lnTo>
                <a:lnTo>
                  <a:pt x="2913126" y="1748790"/>
                </a:lnTo>
                <a:lnTo>
                  <a:pt x="2913126" y="1799844"/>
                </a:lnTo>
                <a:lnTo>
                  <a:pt x="2926080" y="1799844"/>
                </a:lnTo>
                <a:close/>
              </a:path>
              <a:path w="2926079" h="2255520">
                <a:moveTo>
                  <a:pt x="2926080" y="1888998"/>
                </a:moveTo>
                <a:lnTo>
                  <a:pt x="2926080" y="1837944"/>
                </a:lnTo>
                <a:lnTo>
                  <a:pt x="2913126" y="1837944"/>
                </a:lnTo>
                <a:lnTo>
                  <a:pt x="2913126" y="1888998"/>
                </a:lnTo>
                <a:lnTo>
                  <a:pt x="2926080" y="1888998"/>
                </a:lnTo>
                <a:close/>
              </a:path>
              <a:path w="2926079" h="2255520">
                <a:moveTo>
                  <a:pt x="2926080" y="1977389"/>
                </a:moveTo>
                <a:lnTo>
                  <a:pt x="2926080" y="1927098"/>
                </a:lnTo>
                <a:lnTo>
                  <a:pt x="2913126" y="1927098"/>
                </a:lnTo>
                <a:lnTo>
                  <a:pt x="2913126" y="1977389"/>
                </a:lnTo>
                <a:lnTo>
                  <a:pt x="2926080" y="1977389"/>
                </a:lnTo>
                <a:close/>
              </a:path>
              <a:path w="2926079" h="2255520">
                <a:moveTo>
                  <a:pt x="2926080" y="2066544"/>
                </a:moveTo>
                <a:lnTo>
                  <a:pt x="2926080" y="2015490"/>
                </a:lnTo>
                <a:lnTo>
                  <a:pt x="2913126" y="2015490"/>
                </a:lnTo>
                <a:lnTo>
                  <a:pt x="2913126" y="2066544"/>
                </a:lnTo>
                <a:lnTo>
                  <a:pt x="2926080" y="2066544"/>
                </a:lnTo>
                <a:close/>
              </a:path>
              <a:path w="2926079" h="2255520">
                <a:moveTo>
                  <a:pt x="2923032" y="2105406"/>
                </a:moveTo>
                <a:lnTo>
                  <a:pt x="2910840" y="2103120"/>
                </a:lnTo>
                <a:lnTo>
                  <a:pt x="2909316" y="2109978"/>
                </a:lnTo>
                <a:lnTo>
                  <a:pt x="2907792" y="2118360"/>
                </a:lnTo>
                <a:lnTo>
                  <a:pt x="2903220" y="2133600"/>
                </a:lnTo>
                <a:lnTo>
                  <a:pt x="2900172" y="2141220"/>
                </a:lnTo>
                <a:lnTo>
                  <a:pt x="2896361" y="2148840"/>
                </a:lnTo>
                <a:lnTo>
                  <a:pt x="2896361" y="2149602"/>
                </a:lnTo>
                <a:lnTo>
                  <a:pt x="2907030" y="2155698"/>
                </a:lnTo>
                <a:lnTo>
                  <a:pt x="2908554" y="2154174"/>
                </a:lnTo>
                <a:lnTo>
                  <a:pt x="2911602" y="2145792"/>
                </a:lnTo>
                <a:lnTo>
                  <a:pt x="2914649" y="2138172"/>
                </a:lnTo>
                <a:lnTo>
                  <a:pt x="2917697" y="2129790"/>
                </a:lnTo>
                <a:lnTo>
                  <a:pt x="2919984" y="2120646"/>
                </a:lnTo>
                <a:lnTo>
                  <a:pt x="2922270" y="2112264"/>
                </a:lnTo>
                <a:lnTo>
                  <a:pt x="2923032" y="2105406"/>
                </a:lnTo>
                <a:close/>
              </a:path>
              <a:path w="2926079" h="2255520">
                <a:moveTo>
                  <a:pt x="2886456" y="2188464"/>
                </a:moveTo>
                <a:lnTo>
                  <a:pt x="2876549" y="2180844"/>
                </a:lnTo>
                <a:lnTo>
                  <a:pt x="2875026" y="2182368"/>
                </a:lnTo>
                <a:lnTo>
                  <a:pt x="2869692" y="2188464"/>
                </a:lnTo>
                <a:lnTo>
                  <a:pt x="2858261" y="2199894"/>
                </a:lnTo>
                <a:lnTo>
                  <a:pt x="2852166" y="2205228"/>
                </a:lnTo>
                <a:lnTo>
                  <a:pt x="2846070" y="2209800"/>
                </a:lnTo>
                <a:lnTo>
                  <a:pt x="2840735" y="2213610"/>
                </a:lnTo>
                <a:lnTo>
                  <a:pt x="2847594" y="2224278"/>
                </a:lnTo>
                <a:lnTo>
                  <a:pt x="2853690" y="2219706"/>
                </a:lnTo>
                <a:lnTo>
                  <a:pt x="2867406" y="2209038"/>
                </a:lnTo>
                <a:lnTo>
                  <a:pt x="2879597" y="2196846"/>
                </a:lnTo>
                <a:lnTo>
                  <a:pt x="2884932" y="2189988"/>
                </a:lnTo>
                <a:lnTo>
                  <a:pt x="2886456" y="2188464"/>
                </a:lnTo>
                <a:close/>
              </a:path>
              <a:path w="2926079" h="2255520">
                <a:moveTo>
                  <a:pt x="2812542" y="2242566"/>
                </a:moveTo>
                <a:lnTo>
                  <a:pt x="2807970" y="2231136"/>
                </a:lnTo>
                <a:lnTo>
                  <a:pt x="2804160" y="2232660"/>
                </a:lnTo>
                <a:lnTo>
                  <a:pt x="2795778" y="2234946"/>
                </a:lnTo>
                <a:lnTo>
                  <a:pt x="2780537" y="2239518"/>
                </a:lnTo>
                <a:lnTo>
                  <a:pt x="2772156" y="2241042"/>
                </a:lnTo>
                <a:lnTo>
                  <a:pt x="2763773" y="2241804"/>
                </a:lnTo>
                <a:lnTo>
                  <a:pt x="2760726" y="2241804"/>
                </a:lnTo>
                <a:lnTo>
                  <a:pt x="2761487" y="2254758"/>
                </a:lnTo>
                <a:lnTo>
                  <a:pt x="2765297" y="2254758"/>
                </a:lnTo>
                <a:lnTo>
                  <a:pt x="2774442" y="2253234"/>
                </a:lnTo>
                <a:lnTo>
                  <a:pt x="2782823" y="2251710"/>
                </a:lnTo>
                <a:lnTo>
                  <a:pt x="2791968" y="2249424"/>
                </a:lnTo>
                <a:lnTo>
                  <a:pt x="2800349" y="2247138"/>
                </a:lnTo>
                <a:lnTo>
                  <a:pt x="2808732" y="2244090"/>
                </a:lnTo>
                <a:lnTo>
                  <a:pt x="2812542" y="2242566"/>
                </a:lnTo>
                <a:close/>
              </a:path>
              <a:path w="2926079" h="2255520">
                <a:moveTo>
                  <a:pt x="2723387" y="2255520"/>
                </a:moveTo>
                <a:lnTo>
                  <a:pt x="2723387" y="2242566"/>
                </a:lnTo>
                <a:lnTo>
                  <a:pt x="2672334" y="2242566"/>
                </a:lnTo>
                <a:lnTo>
                  <a:pt x="2672334" y="2255520"/>
                </a:lnTo>
                <a:lnTo>
                  <a:pt x="2723387" y="2255520"/>
                </a:lnTo>
                <a:close/>
              </a:path>
              <a:path w="2926079" h="2255520">
                <a:moveTo>
                  <a:pt x="2634234" y="2255520"/>
                </a:moveTo>
                <a:lnTo>
                  <a:pt x="2634234" y="2242566"/>
                </a:lnTo>
                <a:lnTo>
                  <a:pt x="2583180" y="2242566"/>
                </a:lnTo>
                <a:lnTo>
                  <a:pt x="2583180" y="2255520"/>
                </a:lnTo>
                <a:lnTo>
                  <a:pt x="2634234" y="2255520"/>
                </a:lnTo>
                <a:close/>
              </a:path>
              <a:path w="2926079" h="2255520">
                <a:moveTo>
                  <a:pt x="2545080" y="2255520"/>
                </a:moveTo>
                <a:lnTo>
                  <a:pt x="2545080" y="2242566"/>
                </a:lnTo>
                <a:lnTo>
                  <a:pt x="2494788" y="2242566"/>
                </a:lnTo>
                <a:lnTo>
                  <a:pt x="2494788" y="2255520"/>
                </a:lnTo>
                <a:lnTo>
                  <a:pt x="2545080" y="2255520"/>
                </a:lnTo>
                <a:close/>
              </a:path>
              <a:path w="2926079" h="2255520">
                <a:moveTo>
                  <a:pt x="2456687" y="2255520"/>
                </a:moveTo>
                <a:lnTo>
                  <a:pt x="2456687" y="2242566"/>
                </a:lnTo>
                <a:lnTo>
                  <a:pt x="2405634" y="2242566"/>
                </a:lnTo>
                <a:lnTo>
                  <a:pt x="2405634" y="2255520"/>
                </a:lnTo>
                <a:lnTo>
                  <a:pt x="2456687" y="2255520"/>
                </a:lnTo>
                <a:close/>
              </a:path>
              <a:path w="2926079" h="2255520">
                <a:moveTo>
                  <a:pt x="2367534" y="2255520"/>
                </a:moveTo>
                <a:lnTo>
                  <a:pt x="2367534" y="2242566"/>
                </a:lnTo>
                <a:lnTo>
                  <a:pt x="2316480" y="2242566"/>
                </a:lnTo>
                <a:lnTo>
                  <a:pt x="2316480" y="2255520"/>
                </a:lnTo>
                <a:lnTo>
                  <a:pt x="2367534" y="2255520"/>
                </a:lnTo>
                <a:close/>
              </a:path>
              <a:path w="2926079" h="2255520">
                <a:moveTo>
                  <a:pt x="2278380" y="2255520"/>
                </a:moveTo>
                <a:lnTo>
                  <a:pt x="2278380" y="2242566"/>
                </a:lnTo>
                <a:lnTo>
                  <a:pt x="2228088" y="2242566"/>
                </a:lnTo>
                <a:lnTo>
                  <a:pt x="2228088" y="2255520"/>
                </a:lnTo>
                <a:lnTo>
                  <a:pt x="2278380" y="2255520"/>
                </a:lnTo>
                <a:close/>
              </a:path>
              <a:path w="2926079" h="2255520">
                <a:moveTo>
                  <a:pt x="2189987" y="2255520"/>
                </a:moveTo>
                <a:lnTo>
                  <a:pt x="2189987" y="2242566"/>
                </a:lnTo>
                <a:lnTo>
                  <a:pt x="2138934" y="2242566"/>
                </a:lnTo>
                <a:lnTo>
                  <a:pt x="2138934" y="2255520"/>
                </a:lnTo>
                <a:lnTo>
                  <a:pt x="2189987" y="2255520"/>
                </a:lnTo>
                <a:close/>
              </a:path>
              <a:path w="2926079" h="2255520">
                <a:moveTo>
                  <a:pt x="2100834" y="2255520"/>
                </a:moveTo>
                <a:lnTo>
                  <a:pt x="2100834" y="2242566"/>
                </a:lnTo>
                <a:lnTo>
                  <a:pt x="2049780" y="2242566"/>
                </a:lnTo>
                <a:lnTo>
                  <a:pt x="2049780" y="2255520"/>
                </a:lnTo>
                <a:lnTo>
                  <a:pt x="2100834" y="2255520"/>
                </a:lnTo>
                <a:close/>
              </a:path>
              <a:path w="2926079" h="2255520">
                <a:moveTo>
                  <a:pt x="2011680" y="2255520"/>
                </a:moveTo>
                <a:lnTo>
                  <a:pt x="2011680" y="2242566"/>
                </a:lnTo>
                <a:lnTo>
                  <a:pt x="1961388" y="2242566"/>
                </a:lnTo>
                <a:lnTo>
                  <a:pt x="1961388" y="2255520"/>
                </a:lnTo>
                <a:lnTo>
                  <a:pt x="2011680" y="2255520"/>
                </a:lnTo>
                <a:close/>
              </a:path>
              <a:path w="2926079" h="2255520">
                <a:moveTo>
                  <a:pt x="1923287" y="2255520"/>
                </a:moveTo>
                <a:lnTo>
                  <a:pt x="1923287" y="2242566"/>
                </a:lnTo>
                <a:lnTo>
                  <a:pt x="1872233" y="2242566"/>
                </a:lnTo>
                <a:lnTo>
                  <a:pt x="1872233" y="2255520"/>
                </a:lnTo>
                <a:lnTo>
                  <a:pt x="1923287" y="2255520"/>
                </a:lnTo>
                <a:close/>
              </a:path>
              <a:path w="2926079" h="2255520">
                <a:moveTo>
                  <a:pt x="1834133" y="2255520"/>
                </a:moveTo>
                <a:lnTo>
                  <a:pt x="1834133" y="2242566"/>
                </a:lnTo>
                <a:lnTo>
                  <a:pt x="1783842" y="2242566"/>
                </a:lnTo>
                <a:lnTo>
                  <a:pt x="1783842" y="2255520"/>
                </a:lnTo>
                <a:lnTo>
                  <a:pt x="1834133" y="2255520"/>
                </a:lnTo>
                <a:close/>
              </a:path>
              <a:path w="2926079" h="2255520">
                <a:moveTo>
                  <a:pt x="1745742" y="2255520"/>
                </a:moveTo>
                <a:lnTo>
                  <a:pt x="1745742" y="2242566"/>
                </a:lnTo>
                <a:lnTo>
                  <a:pt x="1694688" y="2242566"/>
                </a:lnTo>
                <a:lnTo>
                  <a:pt x="1694688" y="2255520"/>
                </a:lnTo>
                <a:lnTo>
                  <a:pt x="1745742" y="2255520"/>
                </a:lnTo>
                <a:close/>
              </a:path>
              <a:path w="2926079" h="2255520">
                <a:moveTo>
                  <a:pt x="1656587" y="2255520"/>
                </a:moveTo>
                <a:lnTo>
                  <a:pt x="1656587" y="2242566"/>
                </a:lnTo>
                <a:lnTo>
                  <a:pt x="1605533" y="2242566"/>
                </a:lnTo>
                <a:lnTo>
                  <a:pt x="1605533" y="2255520"/>
                </a:lnTo>
                <a:lnTo>
                  <a:pt x="1656587" y="2255520"/>
                </a:lnTo>
                <a:close/>
              </a:path>
              <a:path w="2926079" h="2255520">
                <a:moveTo>
                  <a:pt x="1567433" y="2255520"/>
                </a:moveTo>
                <a:lnTo>
                  <a:pt x="1567433" y="2242566"/>
                </a:lnTo>
                <a:lnTo>
                  <a:pt x="1517142" y="2242566"/>
                </a:lnTo>
                <a:lnTo>
                  <a:pt x="1517142" y="2255520"/>
                </a:lnTo>
                <a:lnTo>
                  <a:pt x="1567433" y="2255520"/>
                </a:lnTo>
                <a:close/>
              </a:path>
              <a:path w="2926079" h="2255520">
                <a:moveTo>
                  <a:pt x="1479042" y="2255520"/>
                </a:moveTo>
                <a:lnTo>
                  <a:pt x="1479042" y="2242566"/>
                </a:lnTo>
                <a:lnTo>
                  <a:pt x="1427988" y="2242566"/>
                </a:lnTo>
                <a:lnTo>
                  <a:pt x="1427988" y="2255520"/>
                </a:lnTo>
                <a:lnTo>
                  <a:pt x="1479042" y="2255520"/>
                </a:lnTo>
                <a:close/>
              </a:path>
              <a:path w="2926079" h="2255520">
                <a:moveTo>
                  <a:pt x="1389887" y="2255520"/>
                </a:moveTo>
                <a:lnTo>
                  <a:pt x="1389887" y="2242566"/>
                </a:lnTo>
                <a:lnTo>
                  <a:pt x="1338833" y="2242566"/>
                </a:lnTo>
                <a:lnTo>
                  <a:pt x="1338833" y="2255520"/>
                </a:lnTo>
                <a:lnTo>
                  <a:pt x="1389887" y="2255520"/>
                </a:lnTo>
                <a:close/>
              </a:path>
              <a:path w="2926079" h="2255520">
                <a:moveTo>
                  <a:pt x="1300733" y="2255520"/>
                </a:moveTo>
                <a:lnTo>
                  <a:pt x="1300733" y="2242566"/>
                </a:lnTo>
                <a:lnTo>
                  <a:pt x="1250442" y="2242566"/>
                </a:lnTo>
                <a:lnTo>
                  <a:pt x="1250442" y="2255520"/>
                </a:lnTo>
                <a:lnTo>
                  <a:pt x="1300733" y="2255520"/>
                </a:lnTo>
                <a:close/>
              </a:path>
              <a:path w="2926079" h="2255520">
                <a:moveTo>
                  <a:pt x="1212342" y="2255520"/>
                </a:moveTo>
                <a:lnTo>
                  <a:pt x="1212342" y="2242566"/>
                </a:lnTo>
                <a:lnTo>
                  <a:pt x="1161288" y="2242566"/>
                </a:lnTo>
                <a:lnTo>
                  <a:pt x="1161288" y="2255520"/>
                </a:lnTo>
                <a:lnTo>
                  <a:pt x="1212342" y="2255520"/>
                </a:lnTo>
                <a:close/>
              </a:path>
              <a:path w="2926079" h="2255520">
                <a:moveTo>
                  <a:pt x="1123187" y="2255520"/>
                </a:moveTo>
                <a:lnTo>
                  <a:pt x="1123187" y="2242566"/>
                </a:lnTo>
                <a:lnTo>
                  <a:pt x="1072133" y="2242566"/>
                </a:lnTo>
                <a:lnTo>
                  <a:pt x="1072133" y="2255520"/>
                </a:lnTo>
                <a:lnTo>
                  <a:pt x="1123187" y="2255520"/>
                </a:lnTo>
                <a:close/>
              </a:path>
              <a:path w="2926079" h="2255520">
                <a:moveTo>
                  <a:pt x="1034033" y="2255520"/>
                </a:moveTo>
                <a:lnTo>
                  <a:pt x="1034033" y="2242566"/>
                </a:lnTo>
                <a:lnTo>
                  <a:pt x="983742" y="2242566"/>
                </a:lnTo>
                <a:lnTo>
                  <a:pt x="983742" y="2255520"/>
                </a:lnTo>
                <a:lnTo>
                  <a:pt x="1034033" y="2255520"/>
                </a:lnTo>
                <a:close/>
              </a:path>
              <a:path w="2926079" h="2255520">
                <a:moveTo>
                  <a:pt x="945642" y="2255520"/>
                </a:moveTo>
                <a:lnTo>
                  <a:pt x="945642" y="2242566"/>
                </a:lnTo>
                <a:lnTo>
                  <a:pt x="894588" y="2242566"/>
                </a:lnTo>
                <a:lnTo>
                  <a:pt x="894588" y="2255520"/>
                </a:lnTo>
                <a:lnTo>
                  <a:pt x="945642" y="2255520"/>
                </a:lnTo>
                <a:close/>
              </a:path>
              <a:path w="2926079" h="2255520">
                <a:moveTo>
                  <a:pt x="856487" y="2255520"/>
                </a:moveTo>
                <a:lnTo>
                  <a:pt x="856487" y="2242566"/>
                </a:lnTo>
                <a:lnTo>
                  <a:pt x="805433" y="2242566"/>
                </a:lnTo>
                <a:lnTo>
                  <a:pt x="805433" y="2255520"/>
                </a:lnTo>
                <a:lnTo>
                  <a:pt x="856487" y="2255520"/>
                </a:lnTo>
                <a:close/>
              </a:path>
              <a:path w="2926079" h="2255520">
                <a:moveTo>
                  <a:pt x="767333" y="2255520"/>
                </a:moveTo>
                <a:lnTo>
                  <a:pt x="767333" y="2242566"/>
                </a:lnTo>
                <a:lnTo>
                  <a:pt x="717042" y="2242566"/>
                </a:lnTo>
                <a:lnTo>
                  <a:pt x="717042" y="2255520"/>
                </a:lnTo>
                <a:lnTo>
                  <a:pt x="767333" y="2255520"/>
                </a:lnTo>
                <a:close/>
              </a:path>
              <a:path w="2926079" h="2255520">
                <a:moveTo>
                  <a:pt x="678942" y="2255520"/>
                </a:moveTo>
                <a:lnTo>
                  <a:pt x="678942" y="2242566"/>
                </a:lnTo>
                <a:lnTo>
                  <a:pt x="627888" y="2242566"/>
                </a:lnTo>
                <a:lnTo>
                  <a:pt x="627888" y="2255520"/>
                </a:lnTo>
                <a:lnTo>
                  <a:pt x="678942" y="2255520"/>
                </a:lnTo>
                <a:close/>
              </a:path>
              <a:path w="2926079" h="2255520">
                <a:moveTo>
                  <a:pt x="589787" y="2255520"/>
                </a:moveTo>
                <a:lnTo>
                  <a:pt x="589787" y="2242566"/>
                </a:lnTo>
                <a:lnTo>
                  <a:pt x="538733" y="2242566"/>
                </a:lnTo>
                <a:lnTo>
                  <a:pt x="538733" y="2255520"/>
                </a:lnTo>
                <a:lnTo>
                  <a:pt x="589787" y="2255520"/>
                </a:lnTo>
                <a:close/>
              </a:path>
              <a:path w="2926079" h="2255520">
                <a:moveTo>
                  <a:pt x="500633" y="2255520"/>
                </a:moveTo>
                <a:lnTo>
                  <a:pt x="500633" y="2242566"/>
                </a:lnTo>
                <a:lnTo>
                  <a:pt x="450342" y="2242566"/>
                </a:lnTo>
                <a:lnTo>
                  <a:pt x="450342" y="2255520"/>
                </a:lnTo>
                <a:lnTo>
                  <a:pt x="500633" y="2255520"/>
                </a:lnTo>
                <a:close/>
              </a:path>
              <a:path w="2926079" h="2255520">
                <a:moveTo>
                  <a:pt x="412242" y="2255520"/>
                </a:moveTo>
                <a:lnTo>
                  <a:pt x="412242" y="2242566"/>
                </a:lnTo>
                <a:lnTo>
                  <a:pt x="361188" y="2242566"/>
                </a:lnTo>
                <a:lnTo>
                  <a:pt x="361188" y="2255520"/>
                </a:lnTo>
                <a:lnTo>
                  <a:pt x="412242" y="2255520"/>
                </a:lnTo>
                <a:close/>
              </a:path>
              <a:path w="2926079" h="2255520">
                <a:moveTo>
                  <a:pt x="323088" y="2255520"/>
                </a:moveTo>
                <a:lnTo>
                  <a:pt x="323088" y="2242566"/>
                </a:lnTo>
                <a:lnTo>
                  <a:pt x="272034" y="2242566"/>
                </a:lnTo>
                <a:lnTo>
                  <a:pt x="272034" y="2255520"/>
                </a:lnTo>
                <a:lnTo>
                  <a:pt x="323088" y="2255520"/>
                </a:lnTo>
                <a:close/>
              </a:path>
              <a:path w="2926079" h="2255520">
                <a:moveTo>
                  <a:pt x="233934" y="2255520"/>
                </a:moveTo>
                <a:lnTo>
                  <a:pt x="233934" y="2242566"/>
                </a:lnTo>
                <a:lnTo>
                  <a:pt x="183642" y="2242566"/>
                </a:lnTo>
                <a:lnTo>
                  <a:pt x="183642" y="2255520"/>
                </a:lnTo>
                <a:lnTo>
                  <a:pt x="233934" y="2255520"/>
                </a:lnTo>
                <a:close/>
              </a:path>
              <a:path w="2926079" h="2255520">
                <a:moveTo>
                  <a:pt x="147066" y="2239518"/>
                </a:moveTo>
                <a:lnTo>
                  <a:pt x="145542" y="2239518"/>
                </a:lnTo>
                <a:lnTo>
                  <a:pt x="137160" y="2237232"/>
                </a:lnTo>
                <a:lnTo>
                  <a:pt x="121920" y="2232660"/>
                </a:lnTo>
                <a:lnTo>
                  <a:pt x="106680" y="2226564"/>
                </a:lnTo>
                <a:lnTo>
                  <a:pt x="100584" y="2222754"/>
                </a:lnTo>
                <a:lnTo>
                  <a:pt x="95250" y="2234184"/>
                </a:lnTo>
                <a:lnTo>
                  <a:pt x="101346" y="2237994"/>
                </a:lnTo>
                <a:lnTo>
                  <a:pt x="109728" y="2241042"/>
                </a:lnTo>
                <a:lnTo>
                  <a:pt x="118110" y="2244852"/>
                </a:lnTo>
                <a:lnTo>
                  <a:pt x="125730" y="2247138"/>
                </a:lnTo>
                <a:lnTo>
                  <a:pt x="134874" y="2249424"/>
                </a:lnTo>
                <a:lnTo>
                  <a:pt x="143256" y="2251710"/>
                </a:lnTo>
                <a:lnTo>
                  <a:pt x="144780" y="2251710"/>
                </a:lnTo>
                <a:lnTo>
                  <a:pt x="147066" y="2239518"/>
                </a:lnTo>
                <a:close/>
              </a:path>
              <a:path w="2926079" h="2255520">
                <a:moveTo>
                  <a:pt x="70866" y="2202180"/>
                </a:moveTo>
                <a:lnTo>
                  <a:pt x="67056" y="2199132"/>
                </a:lnTo>
                <a:lnTo>
                  <a:pt x="61722" y="2193798"/>
                </a:lnTo>
                <a:lnTo>
                  <a:pt x="55626" y="2188464"/>
                </a:lnTo>
                <a:lnTo>
                  <a:pt x="51054" y="2182368"/>
                </a:lnTo>
                <a:lnTo>
                  <a:pt x="45720" y="2175510"/>
                </a:lnTo>
                <a:lnTo>
                  <a:pt x="41148" y="2169414"/>
                </a:lnTo>
                <a:lnTo>
                  <a:pt x="38862" y="2165604"/>
                </a:lnTo>
                <a:lnTo>
                  <a:pt x="28194" y="2172462"/>
                </a:lnTo>
                <a:lnTo>
                  <a:pt x="30480" y="2177034"/>
                </a:lnTo>
                <a:lnTo>
                  <a:pt x="41148" y="2190750"/>
                </a:lnTo>
                <a:lnTo>
                  <a:pt x="46482" y="2196846"/>
                </a:lnTo>
                <a:lnTo>
                  <a:pt x="58674" y="2209038"/>
                </a:lnTo>
                <a:lnTo>
                  <a:pt x="62484" y="2212086"/>
                </a:lnTo>
                <a:lnTo>
                  <a:pt x="70866" y="2202180"/>
                </a:lnTo>
                <a:close/>
              </a:path>
              <a:path w="2926079" h="2255520">
                <a:moveTo>
                  <a:pt x="22860" y="2132838"/>
                </a:moveTo>
                <a:lnTo>
                  <a:pt x="20574" y="2125980"/>
                </a:lnTo>
                <a:lnTo>
                  <a:pt x="18288" y="2117598"/>
                </a:lnTo>
                <a:lnTo>
                  <a:pt x="16002" y="2109978"/>
                </a:lnTo>
                <a:lnTo>
                  <a:pt x="14478" y="2101596"/>
                </a:lnTo>
                <a:lnTo>
                  <a:pt x="12954" y="2084832"/>
                </a:lnTo>
                <a:lnTo>
                  <a:pt x="762" y="2085549"/>
                </a:lnTo>
                <a:lnTo>
                  <a:pt x="0" y="2085594"/>
                </a:lnTo>
                <a:lnTo>
                  <a:pt x="762" y="2094738"/>
                </a:lnTo>
                <a:lnTo>
                  <a:pt x="3810" y="2113026"/>
                </a:lnTo>
                <a:lnTo>
                  <a:pt x="8382" y="2129790"/>
                </a:lnTo>
                <a:lnTo>
                  <a:pt x="10668" y="2136648"/>
                </a:lnTo>
                <a:lnTo>
                  <a:pt x="22860" y="2132838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CBD258F9-4E5B-480E-B20E-701F34D08091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53</a:t>
            </a:fld>
            <a:endParaRPr spc="-25" dirty="0"/>
          </a:p>
        </p:txBody>
      </p:sp>
      <p:sp>
        <p:nvSpPr>
          <p:cNvPr id="30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09600" y="4038600"/>
            <a:ext cx="7454265" cy="2319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0700" indent="-469900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Font typeface="Wingdings"/>
              <a:buChar char=""/>
              <a:tabLst>
                <a:tab pos="520700" algn="l"/>
              </a:tabLst>
            </a:pPr>
            <a:r>
              <a:rPr sz="2000" dirty="0">
                <a:latin typeface="Verdana"/>
                <a:cs typeface="Verdana"/>
              </a:rPr>
              <a:t>Good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for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power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efficiency</a:t>
            </a:r>
            <a:endParaRPr sz="2000" dirty="0">
              <a:latin typeface="Verdana"/>
              <a:cs typeface="Verdana"/>
            </a:endParaRPr>
          </a:p>
          <a:p>
            <a:pPr marL="520700" indent="-469900">
              <a:lnSpc>
                <a:spcPct val="100000"/>
              </a:lnSpc>
              <a:spcBef>
                <a:spcPts val="1680"/>
              </a:spcBef>
              <a:buClr>
                <a:srgbClr val="CC0000"/>
              </a:buClr>
              <a:buFont typeface="Wingdings"/>
              <a:buChar char=""/>
              <a:tabLst>
                <a:tab pos="520700" algn="l"/>
              </a:tabLst>
            </a:pPr>
            <a:r>
              <a:rPr sz="2000" dirty="0">
                <a:latin typeface="Verdana"/>
                <a:cs typeface="Verdana"/>
              </a:rPr>
              <a:t>Strong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1950" baseline="-21367" dirty="0">
                <a:latin typeface="Verdana"/>
                <a:cs typeface="Verdana"/>
              </a:rPr>
              <a:t>LD</a:t>
            </a:r>
            <a:r>
              <a:rPr sz="1950" spc="284" baseline="-21367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dependency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due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limited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gain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G3</a:t>
            </a:r>
            <a:endParaRPr sz="2000" dirty="0">
              <a:latin typeface="Verdana"/>
              <a:cs typeface="Verdana"/>
            </a:endParaRPr>
          </a:p>
          <a:p>
            <a:pPr marL="520700" indent="-469900">
              <a:lnSpc>
                <a:spcPct val="100000"/>
              </a:lnSpc>
              <a:spcBef>
                <a:spcPts val="1680"/>
              </a:spcBef>
              <a:buClr>
                <a:srgbClr val="CC0000"/>
              </a:buClr>
              <a:buFont typeface="Wingdings"/>
              <a:buChar char=""/>
              <a:tabLst>
                <a:tab pos="520700" algn="l"/>
              </a:tabLst>
            </a:pPr>
            <a:r>
              <a:rPr sz="2000" dirty="0">
                <a:latin typeface="Verdana"/>
                <a:cs typeface="Verdana"/>
              </a:rPr>
              <a:t>Loading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effects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can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mitigated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by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isolation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resistors</a:t>
            </a:r>
            <a:endParaRPr sz="2000" dirty="0">
              <a:latin typeface="Verdana"/>
              <a:cs typeface="Verdana"/>
            </a:endParaRPr>
          </a:p>
          <a:p>
            <a:pPr marL="520700" indent="-469900">
              <a:lnSpc>
                <a:spcPct val="100000"/>
              </a:lnSpc>
              <a:spcBef>
                <a:spcPts val="1680"/>
              </a:spcBef>
              <a:buClr>
                <a:srgbClr val="CC0000"/>
              </a:buClr>
              <a:buFont typeface="Wingdings"/>
              <a:buChar char=""/>
              <a:tabLst>
                <a:tab pos="520700" algn="l"/>
              </a:tabLst>
            </a:pPr>
            <a:r>
              <a:rPr sz="2000" spc="-25" dirty="0">
                <a:latin typeface="Verdana"/>
                <a:cs typeface="Verdana"/>
              </a:rPr>
              <a:t>Non-</a:t>
            </a:r>
            <a:r>
              <a:rPr sz="2000" dirty="0">
                <a:latin typeface="Verdana"/>
                <a:cs typeface="Verdana"/>
              </a:rPr>
              <a:t>inverting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output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stage!</a:t>
            </a:r>
            <a:endParaRPr sz="2000" dirty="0">
              <a:latin typeface="Verdana"/>
              <a:cs typeface="Verdana"/>
            </a:endParaRPr>
          </a:p>
          <a:p>
            <a:pPr marL="258445">
              <a:lnSpc>
                <a:spcPct val="100000"/>
              </a:lnSpc>
              <a:spcBef>
                <a:spcPts val="1985"/>
              </a:spcBef>
              <a:tabLst>
                <a:tab pos="4897755" algn="l"/>
              </a:tabLst>
            </a:pPr>
            <a:r>
              <a:rPr sz="1200" dirty="0">
                <a:latin typeface="Verdana"/>
                <a:cs typeface="Verdana"/>
              </a:rPr>
              <a:t>	</a:t>
            </a: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Reverse</a:t>
            </a:r>
            <a:r>
              <a:rPr spc="-60" dirty="0"/>
              <a:t> </a:t>
            </a:r>
            <a:r>
              <a:rPr dirty="0"/>
              <a:t>Nested</a:t>
            </a:r>
            <a:r>
              <a:rPr spc="-55" dirty="0"/>
              <a:t> </a:t>
            </a:r>
            <a:r>
              <a:rPr dirty="0"/>
              <a:t>Miller</a:t>
            </a:r>
            <a:r>
              <a:rPr spc="-25" dirty="0"/>
              <a:t> </a:t>
            </a:r>
            <a:r>
              <a:rPr spc="-10" dirty="0"/>
              <a:t>Compensation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078380" y="6276846"/>
            <a:ext cx="2197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Verdana"/>
                <a:cs typeface="Verdana"/>
              </a:rPr>
              <a:t>55</a:t>
            </a:r>
            <a:endParaRPr sz="12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08603" y="1449324"/>
            <a:ext cx="5076444" cy="242849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878834" y="2611628"/>
            <a:ext cx="348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G1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53899" y="2611628"/>
            <a:ext cx="452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-</a:t>
            </a:r>
            <a:r>
              <a:rPr sz="1800" spc="-25" dirty="0">
                <a:latin typeface="Verdana"/>
                <a:cs typeface="Verdana"/>
              </a:rPr>
              <a:t>G2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18355" y="3349244"/>
            <a:ext cx="437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C</a:t>
            </a:r>
            <a:r>
              <a:rPr sz="1200" spc="-25" dirty="0">
                <a:latin typeface="Verdana"/>
                <a:cs typeface="Verdana"/>
              </a:rPr>
              <a:t>LD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05221" y="3349244"/>
            <a:ext cx="487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13888" dirty="0">
                <a:latin typeface="Verdana"/>
                <a:cs typeface="Verdana"/>
              </a:rPr>
              <a:t>C</a:t>
            </a:r>
            <a:r>
              <a:rPr sz="1200" spc="-20" dirty="0">
                <a:latin typeface="Verdana"/>
                <a:cs typeface="Verdana"/>
              </a:rPr>
              <a:t>par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17868" y="2611628"/>
            <a:ext cx="3492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G3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76052" y="3349244"/>
            <a:ext cx="487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13888" dirty="0">
                <a:latin typeface="Verdana"/>
                <a:cs typeface="Verdana"/>
              </a:rPr>
              <a:t>C</a:t>
            </a:r>
            <a:r>
              <a:rPr sz="1200" spc="-20" dirty="0">
                <a:latin typeface="Verdana"/>
                <a:cs typeface="Verdana"/>
              </a:rPr>
              <a:t>par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63361" y="1113536"/>
            <a:ext cx="476884" cy="790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05" marR="30480" indent="-15240">
              <a:lnSpc>
                <a:spcPct val="1394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C</a:t>
            </a:r>
            <a:r>
              <a:rPr sz="1200" spc="-25" dirty="0">
                <a:latin typeface="Verdana"/>
                <a:cs typeface="Verdana"/>
              </a:rPr>
              <a:t>M1 </a:t>
            </a:r>
            <a:r>
              <a:rPr sz="2700" spc="-37" baseline="13888" dirty="0">
                <a:latin typeface="Verdana"/>
                <a:cs typeface="Verdana"/>
              </a:rPr>
              <a:t>C</a:t>
            </a:r>
            <a:r>
              <a:rPr sz="1200" spc="-25" dirty="0">
                <a:latin typeface="Verdana"/>
                <a:cs typeface="Verdana"/>
              </a:rPr>
              <a:t>M2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741164" y="1714500"/>
            <a:ext cx="3114675" cy="2251710"/>
          </a:xfrm>
          <a:custGeom>
            <a:avLst/>
            <a:gdLst/>
            <a:ahLst/>
            <a:cxnLst/>
            <a:rect l="l" t="t" r="r" b="b"/>
            <a:pathLst>
              <a:path w="3114675" h="2251710">
                <a:moveTo>
                  <a:pt x="9143" y="2074926"/>
                </a:moveTo>
                <a:lnTo>
                  <a:pt x="9143" y="2036826"/>
                </a:lnTo>
                <a:lnTo>
                  <a:pt x="0" y="2036826"/>
                </a:lnTo>
                <a:lnTo>
                  <a:pt x="0" y="2074926"/>
                </a:lnTo>
                <a:lnTo>
                  <a:pt x="9143" y="2074926"/>
                </a:lnTo>
                <a:close/>
              </a:path>
              <a:path w="3114675" h="2251710">
                <a:moveTo>
                  <a:pt x="9143" y="2007870"/>
                </a:moveTo>
                <a:lnTo>
                  <a:pt x="9143" y="1969770"/>
                </a:lnTo>
                <a:lnTo>
                  <a:pt x="0" y="1969770"/>
                </a:lnTo>
                <a:lnTo>
                  <a:pt x="0" y="2007870"/>
                </a:lnTo>
                <a:lnTo>
                  <a:pt x="9143" y="2007870"/>
                </a:lnTo>
                <a:close/>
              </a:path>
              <a:path w="3114675" h="2251710">
                <a:moveTo>
                  <a:pt x="9143" y="1941576"/>
                </a:moveTo>
                <a:lnTo>
                  <a:pt x="9143" y="1903476"/>
                </a:lnTo>
                <a:lnTo>
                  <a:pt x="0" y="1903476"/>
                </a:lnTo>
                <a:lnTo>
                  <a:pt x="0" y="1941576"/>
                </a:lnTo>
                <a:lnTo>
                  <a:pt x="9143" y="1941576"/>
                </a:lnTo>
                <a:close/>
              </a:path>
              <a:path w="3114675" h="2251710">
                <a:moveTo>
                  <a:pt x="9143" y="1874520"/>
                </a:moveTo>
                <a:lnTo>
                  <a:pt x="9143" y="1836420"/>
                </a:lnTo>
                <a:lnTo>
                  <a:pt x="0" y="1836420"/>
                </a:lnTo>
                <a:lnTo>
                  <a:pt x="0" y="1874520"/>
                </a:lnTo>
                <a:lnTo>
                  <a:pt x="9143" y="1874520"/>
                </a:lnTo>
                <a:close/>
              </a:path>
              <a:path w="3114675" h="2251710">
                <a:moveTo>
                  <a:pt x="9143" y="1808226"/>
                </a:moveTo>
                <a:lnTo>
                  <a:pt x="9143" y="1770126"/>
                </a:lnTo>
                <a:lnTo>
                  <a:pt x="0" y="1770126"/>
                </a:lnTo>
                <a:lnTo>
                  <a:pt x="0" y="1808226"/>
                </a:lnTo>
                <a:lnTo>
                  <a:pt x="9143" y="1808226"/>
                </a:lnTo>
                <a:close/>
              </a:path>
              <a:path w="3114675" h="2251710">
                <a:moveTo>
                  <a:pt x="9143" y="1741170"/>
                </a:moveTo>
                <a:lnTo>
                  <a:pt x="9143" y="1703070"/>
                </a:lnTo>
                <a:lnTo>
                  <a:pt x="0" y="1703070"/>
                </a:lnTo>
                <a:lnTo>
                  <a:pt x="0" y="1741170"/>
                </a:lnTo>
                <a:lnTo>
                  <a:pt x="9143" y="1741170"/>
                </a:lnTo>
                <a:close/>
              </a:path>
              <a:path w="3114675" h="2251710">
                <a:moveTo>
                  <a:pt x="9143" y="1674876"/>
                </a:moveTo>
                <a:lnTo>
                  <a:pt x="9143" y="1636776"/>
                </a:lnTo>
                <a:lnTo>
                  <a:pt x="0" y="1636776"/>
                </a:lnTo>
                <a:lnTo>
                  <a:pt x="0" y="1674876"/>
                </a:lnTo>
                <a:lnTo>
                  <a:pt x="9143" y="1674876"/>
                </a:lnTo>
                <a:close/>
              </a:path>
              <a:path w="3114675" h="2251710">
                <a:moveTo>
                  <a:pt x="9143" y="1607820"/>
                </a:moveTo>
                <a:lnTo>
                  <a:pt x="9143" y="1569720"/>
                </a:lnTo>
                <a:lnTo>
                  <a:pt x="0" y="1569720"/>
                </a:lnTo>
                <a:lnTo>
                  <a:pt x="0" y="1607820"/>
                </a:lnTo>
                <a:lnTo>
                  <a:pt x="9143" y="1607820"/>
                </a:lnTo>
                <a:close/>
              </a:path>
              <a:path w="3114675" h="2251710">
                <a:moveTo>
                  <a:pt x="9143" y="1541526"/>
                </a:moveTo>
                <a:lnTo>
                  <a:pt x="9143" y="1503425"/>
                </a:lnTo>
                <a:lnTo>
                  <a:pt x="0" y="1503425"/>
                </a:lnTo>
                <a:lnTo>
                  <a:pt x="0" y="1541526"/>
                </a:lnTo>
                <a:lnTo>
                  <a:pt x="9143" y="1541526"/>
                </a:lnTo>
                <a:close/>
              </a:path>
              <a:path w="3114675" h="2251710">
                <a:moveTo>
                  <a:pt x="9143" y="1474469"/>
                </a:moveTo>
                <a:lnTo>
                  <a:pt x="9143" y="1436369"/>
                </a:lnTo>
                <a:lnTo>
                  <a:pt x="0" y="1436369"/>
                </a:lnTo>
                <a:lnTo>
                  <a:pt x="0" y="1474469"/>
                </a:lnTo>
                <a:lnTo>
                  <a:pt x="9143" y="1474469"/>
                </a:lnTo>
                <a:close/>
              </a:path>
              <a:path w="3114675" h="2251710">
                <a:moveTo>
                  <a:pt x="9143" y="1408175"/>
                </a:moveTo>
                <a:lnTo>
                  <a:pt x="9143" y="1370075"/>
                </a:lnTo>
                <a:lnTo>
                  <a:pt x="0" y="1370075"/>
                </a:lnTo>
                <a:lnTo>
                  <a:pt x="0" y="1408175"/>
                </a:lnTo>
                <a:lnTo>
                  <a:pt x="9143" y="1408175"/>
                </a:lnTo>
                <a:close/>
              </a:path>
              <a:path w="3114675" h="2251710">
                <a:moveTo>
                  <a:pt x="9143" y="1341119"/>
                </a:moveTo>
                <a:lnTo>
                  <a:pt x="9143" y="1303019"/>
                </a:lnTo>
                <a:lnTo>
                  <a:pt x="0" y="1303019"/>
                </a:lnTo>
                <a:lnTo>
                  <a:pt x="0" y="1341119"/>
                </a:lnTo>
                <a:lnTo>
                  <a:pt x="9143" y="1341119"/>
                </a:lnTo>
                <a:close/>
              </a:path>
              <a:path w="3114675" h="2251710">
                <a:moveTo>
                  <a:pt x="9143" y="1274825"/>
                </a:moveTo>
                <a:lnTo>
                  <a:pt x="9143" y="1236725"/>
                </a:lnTo>
                <a:lnTo>
                  <a:pt x="0" y="1236725"/>
                </a:lnTo>
                <a:lnTo>
                  <a:pt x="0" y="1274825"/>
                </a:lnTo>
                <a:lnTo>
                  <a:pt x="9143" y="1274825"/>
                </a:lnTo>
                <a:close/>
              </a:path>
              <a:path w="3114675" h="2251710">
                <a:moveTo>
                  <a:pt x="9143" y="1207769"/>
                </a:moveTo>
                <a:lnTo>
                  <a:pt x="9143" y="1169669"/>
                </a:lnTo>
                <a:lnTo>
                  <a:pt x="0" y="1169669"/>
                </a:lnTo>
                <a:lnTo>
                  <a:pt x="0" y="1207769"/>
                </a:lnTo>
                <a:lnTo>
                  <a:pt x="9143" y="1207769"/>
                </a:lnTo>
                <a:close/>
              </a:path>
              <a:path w="3114675" h="2251710">
                <a:moveTo>
                  <a:pt x="9143" y="1141475"/>
                </a:moveTo>
                <a:lnTo>
                  <a:pt x="9143" y="1103375"/>
                </a:lnTo>
                <a:lnTo>
                  <a:pt x="0" y="1103375"/>
                </a:lnTo>
                <a:lnTo>
                  <a:pt x="0" y="1141475"/>
                </a:lnTo>
                <a:lnTo>
                  <a:pt x="9143" y="1141475"/>
                </a:lnTo>
                <a:close/>
              </a:path>
              <a:path w="3114675" h="2251710">
                <a:moveTo>
                  <a:pt x="9143" y="1074419"/>
                </a:moveTo>
                <a:lnTo>
                  <a:pt x="9143" y="1036319"/>
                </a:lnTo>
                <a:lnTo>
                  <a:pt x="0" y="1036319"/>
                </a:lnTo>
                <a:lnTo>
                  <a:pt x="0" y="1074419"/>
                </a:lnTo>
                <a:lnTo>
                  <a:pt x="9143" y="1074419"/>
                </a:lnTo>
                <a:close/>
              </a:path>
              <a:path w="3114675" h="2251710">
                <a:moveTo>
                  <a:pt x="9143" y="1008125"/>
                </a:moveTo>
                <a:lnTo>
                  <a:pt x="9143" y="970025"/>
                </a:lnTo>
                <a:lnTo>
                  <a:pt x="0" y="970025"/>
                </a:lnTo>
                <a:lnTo>
                  <a:pt x="0" y="1008125"/>
                </a:lnTo>
                <a:lnTo>
                  <a:pt x="9143" y="1008125"/>
                </a:lnTo>
                <a:close/>
              </a:path>
              <a:path w="3114675" h="2251710">
                <a:moveTo>
                  <a:pt x="9143" y="941069"/>
                </a:moveTo>
                <a:lnTo>
                  <a:pt x="9143" y="902969"/>
                </a:lnTo>
                <a:lnTo>
                  <a:pt x="0" y="902969"/>
                </a:lnTo>
                <a:lnTo>
                  <a:pt x="0" y="941069"/>
                </a:lnTo>
                <a:lnTo>
                  <a:pt x="9143" y="941069"/>
                </a:lnTo>
                <a:close/>
              </a:path>
              <a:path w="3114675" h="2251710">
                <a:moveTo>
                  <a:pt x="9143" y="874775"/>
                </a:moveTo>
                <a:lnTo>
                  <a:pt x="9143" y="836675"/>
                </a:lnTo>
                <a:lnTo>
                  <a:pt x="0" y="836675"/>
                </a:lnTo>
                <a:lnTo>
                  <a:pt x="0" y="874775"/>
                </a:lnTo>
                <a:lnTo>
                  <a:pt x="9143" y="874775"/>
                </a:lnTo>
                <a:close/>
              </a:path>
              <a:path w="3114675" h="2251710">
                <a:moveTo>
                  <a:pt x="9143" y="807719"/>
                </a:moveTo>
                <a:lnTo>
                  <a:pt x="9143" y="769619"/>
                </a:lnTo>
                <a:lnTo>
                  <a:pt x="0" y="769619"/>
                </a:lnTo>
                <a:lnTo>
                  <a:pt x="0" y="807719"/>
                </a:lnTo>
                <a:lnTo>
                  <a:pt x="9143" y="807719"/>
                </a:lnTo>
                <a:close/>
              </a:path>
              <a:path w="3114675" h="2251710">
                <a:moveTo>
                  <a:pt x="9143" y="741425"/>
                </a:moveTo>
                <a:lnTo>
                  <a:pt x="9143" y="703325"/>
                </a:lnTo>
                <a:lnTo>
                  <a:pt x="0" y="703325"/>
                </a:lnTo>
                <a:lnTo>
                  <a:pt x="0" y="741425"/>
                </a:lnTo>
                <a:lnTo>
                  <a:pt x="9143" y="741425"/>
                </a:lnTo>
                <a:close/>
              </a:path>
              <a:path w="3114675" h="2251710">
                <a:moveTo>
                  <a:pt x="9143" y="674369"/>
                </a:moveTo>
                <a:lnTo>
                  <a:pt x="9143" y="636269"/>
                </a:lnTo>
                <a:lnTo>
                  <a:pt x="0" y="636269"/>
                </a:lnTo>
                <a:lnTo>
                  <a:pt x="0" y="674369"/>
                </a:lnTo>
                <a:lnTo>
                  <a:pt x="9143" y="674369"/>
                </a:lnTo>
                <a:close/>
              </a:path>
              <a:path w="3114675" h="2251710">
                <a:moveTo>
                  <a:pt x="9143" y="608075"/>
                </a:moveTo>
                <a:lnTo>
                  <a:pt x="9143" y="569975"/>
                </a:lnTo>
                <a:lnTo>
                  <a:pt x="0" y="569975"/>
                </a:lnTo>
                <a:lnTo>
                  <a:pt x="0" y="608075"/>
                </a:lnTo>
                <a:lnTo>
                  <a:pt x="9143" y="608075"/>
                </a:lnTo>
                <a:close/>
              </a:path>
              <a:path w="3114675" h="2251710">
                <a:moveTo>
                  <a:pt x="9143" y="541019"/>
                </a:moveTo>
                <a:lnTo>
                  <a:pt x="9143" y="502919"/>
                </a:lnTo>
                <a:lnTo>
                  <a:pt x="0" y="502919"/>
                </a:lnTo>
                <a:lnTo>
                  <a:pt x="0" y="541019"/>
                </a:lnTo>
                <a:lnTo>
                  <a:pt x="9143" y="541019"/>
                </a:lnTo>
                <a:close/>
              </a:path>
              <a:path w="3114675" h="2251710">
                <a:moveTo>
                  <a:pt x="9143" y="474725"/>
                </a:moveTo>
                <a:lnTo>
                  <a:pt x="9143" y="436625"/>
                </a:lnTo>
                <a:lnTo>
                  <a:pt x="0" y="436625"/>
                </a:lnTo>
                <a:lnTo>
                  <a:pt x="0" y="474725"/>
                </a:lnTo>
                <a:lnTo>
                  <a:pt x="9143" y="474725"/>
                </a:lnTo>
                <a:close/>
              </a:path>
              <a:path w="3114675" h="2251710">
                <a:moveTo>
                  <a:pt x="9143" y="407669"/>
                </a:moveTo>
                <a:lnTo>
                  <a:pt x="9143" y="369569"/>
                </a:lnTo>
                <a:lnTo>
                  <a:pt x="0" y="369569"/>
                </a:lnTo>
                <a:lnTo>
                  <a:pt x="0" y="407669"/>
                </a:lnTo>
                <a:lnTo>
                  <a:pt x="9143" y="407669"/>
                </a:lnTo>
                <a:close/>
              </a:path>
              <a:path w="3114675" h="2251710">
                <a:moveTo>
                  <a:pt x="9143" y="341375"/>
                </a:moveTo>
                <a:lnTo>
                  <a:pt x="9143" y="303275"/>
                </a:lnTo>
                <a:lnTo>
                  <a:pt x="0" y="303275"/>
                </a:lnTo>
                <a:lnTo>
                  <a:pt x="0" y="341375"/>
                </a:lnTo>
                <a:lnTo>
                  <a:pt x="9143" y="341375"/>
                </a:lnTo>
                <a:close/>
              </a:path>
              <a:path w="3114675" h="2251710">
                <a:moveTo>
                  <a:pt x="9143" y="274319"/>
                </a:moveTo>
                <a:lnTo>
                  <a:pt x="9143" y="236219"/>
                </a:lnTo>
                <a:lnTo>
                  <a:pt x="0" y="236219"/>
                </a:lnTo>
                <a:lnTo>
                  <a:pt x="0" y="274319"/>
                </a:lnTo>
                <a:lnTo>
                  <a:pt x="9143" y="274319"/>
                </a:lnTo>
                <a:close/>
              </a:path>
              <a:path w="3114675" h="2251710">
                <a:moveTo>
                  <a:pt x="9143" y="208025"/>
                </a:moveTo>
                <a:lnTo>
                  <a:pt x="9143" y="169925"/>
                </a:lnTo>
                <a:lnTo>
                  <a:pt x="0" y="169925"/>
                </a:lnTo>
                <a:lnTo>
                  <a:pt x="0" y="208025"/>
                </a:lnTo>
                <a:lnTo>
                  <a:pt x="9143" y="208025"/>
                </a:lnTo>
                <a:close/>
              </a:path>
              <a:path w="3114675" h="2251710">
                <a:moveTo>
                  <a:pt x="24384" y="107441"/>
                </a:moveTo>
                <a:lnTo>
                  <a:pt x="3810" y="140207"/>
                </a:lnTo>
                <a:lnTo>
                  <a:pt x="12953" y="142493"/>
                </a:lnTo>
                <a:lnTo>
                  <a:pt x="14477" y="134873"/>
                </a:lnTo>
                <a:lnTo>
                  <a:pt x="16763" y="127253"/>
                </a:lnTo>
                <a:lnTo>
                  <a:pt x="19050" y="118871"/>
                </a:lnTo>
                <a:lnTo>
                  <a:pt x="22098" y="112013"/>
                </a:lnTo>
                <a:lnTo>
                  <a:pt x="24384" y="107441"/>
                </a:lnTo>
                <a:close/>
              </a:path>
              <a:path w="3114675" h="2251710">
                <a:moveTo>
                  <a:pt x="61722" y="54863"/>
                </a:moveTo>
                <a:lnTo>
                  <a:pt x="55625" y="48005"/>
                </a:lnTo>
                <a:lnTo>
                  <a:pt x="45720" y="57911"/>
                </a:lnTo>
                <a:lnTo>
                  <a:pt x="40386" y="64007"/>
                </a:lnTo>
                <a:lnTo>
                  <a:pt x="29718" y="77723"/>
                </a:lnTo>
                <a:lnTo>
                  <a:pt x="38100" y="83057"/>
                </a:lnTo>
                <a:lnTo>
                  <a:pt x="42672" y="76199"/>
                </a:lnTo>
                <a:lnTo>
                  <a:pt x="47244" y="70103"/>
                </a:lnTo>
                <a:lnTo>
                  <a:pt x="52577" y="64007"/>
                </a:lnTo>
                <a:lnTo>
                  <a:pt x="58674" y="58673"/>
                </a:lnTo>
                <a:lnTo>
                  <a:pt x="61722" y="54863"/>
                </a:lnTo>
                <a:close/>
              </a:path>
              <a:path w="3114675" h="2251710">
                <a:moveTo>
                  <a:pt x="116586" y="20573"/>
                </a:moveTo>
                <a:lnTo>
                  <a:pt x="112775" y="11429"/>
                </a:lnTo>
                <a:lnTo>
                  <a:pt x="108203" y="13715"/>
                </a:lnTo>
                <a:lnTo>
                  <a:pt x="99822" y="17525"/>
                </a:lnTo>
                <a:lnTo>
                  <a:pt x="92201" y="21335"/>
                </a:lnTo>
                <a:lnTo>
                  <a:pt x="85344" y="25145"/>
                </a:lnTo>
                <a:lnTo>
                  <a:pt x="78486" y="29717"/>
                </a:lnTo>
                <a:lnTo>
                  <a:pt x="83058" y="38099"/>
                </a:lnTo>
                <a:lnTo>
                  <a:pt x="89915" y="33527"/>
                </a:lnTo>
                <a:lnTo>
                  <a:pt x="97536" y="29717"/>
                </a:lnTo>
                <a:lnTo>
                  <a:pt x="104394" y="25907"/>
                </a:lnTo>
                <a:lnTo>
                  <a:pt x="112013" y="22097"/>
                </a:lnTo>
                <a:lnTo>
                  <a:pt x="116586" y="20573"/>
                </a:lnTo>
                <a:close/>
              </a:path>
              <a:path w="3114675" h="2251710">
                <a:moveTo>
                  <a:pt x="179832" y="9143"/>
                </a:moveTo>
                <a:lnTo>
                  <a:pt x="179832" y="0"/>
                </a:lnTo>
                <a:lnTo>
                  <a:pt x="167639" y="0"/>
                </a:lnTo>
                <a:lnTo>
                  <a:pt x="160020" y="634"/>
                </a:lnTo>
                <a:lnTo>
                  <a:pt x="150113" y="1523"/>
                </a:lnTo>
                <a:lnTo>
                  <a:pt x="140970" y="3047"/>
                </a:lnTo>
                <a:lnTo>
                  <a:pt x="143256" y="12953"/>
                </a:lnTo>
                <a:lnTo>
                  <a:pt x="143256" y="12191"/>
                </a:lnTo>
                <a:lnTo>
                  <a:pt x="151637" y="11429"/>
                </a:lnTo>
                <a:lnTo>
                  <a:pt x="160020" y="9905"/>
                </a:lnTo>
                <a:lnTo>
                  <a:pt x="167639" y="9213"/>
                </a:lnTo>
                <a:lnTo>
                  <a:pt x="179832" y="9143"/>
                </a:lnTo>
                <a:close/>
              </a:path>
              <a:path w="3114675" h="2251710">
                <a:moveTo>
                  <a:pt x="246125" y="9143"/>
                </a:moveTo>
                <a:lnTo>
                  <a:pt x="246125" y="0"/>
                </a:lnTo>
                <a:lnTo>
                  <a:pt x="208025" y="0"/>
                </a:lnTo>
                <a:lnTo>
                  <a:pt x="208025" y="9143"/>
                </a:lnTo>
                <a:lnTo>
                  <a:pt x="246125" y="9143"/>
                </a:lnTo>
                <a:close/>
              </a:path>
              <a:path w="3114675" h="2251710">
                <a:moveTo>
                  <a:pt x="313182" y="9143"/>
                </a:moveTo>
                <a:lnTo>
                  <a:pt x="313182" y="0"/>
                </a:lnTo>
                <a:lnTo>
                  <a:pt x="275082" y="0"/>
                </a:lnTo>
                <a:lnTo>
                  <a:pt x="275082" y="9143"/>
                </a:lnTo>
                <a:lnTo>
                  <a:pt x="313182" y="9143"/>
                </a:lnTo>
                <a:close/>
              </a:path>
              <a:path w="3114675" h="2251710">
                <a:moveTo>
                  <a:pt x="379475" y="9143"/>
                </a:moveTo>
                <a:lnTo>
                  <a:pt x="379475" y="0"/>
                </a:lnTo>
                <a:lnTo>
                  <a:pt x="341375" y="0"/>
                </a:lnTo>
                <a:lnTo>
                  <a:pt x="341375" y="9143"/>
                </a:lnTo>
                <a:lnTo>
                  <a:pt x="379475" y="9143"/>
                </a:lnTo>
                <a:close/>
              </a:path>
              <a:path w="3114675" h="2251710">
                <a:moveTo>
                  <a:pt x="446532" y="9143"/>
                </a:moveTo>
                <a:lnTo>
                  <a:pt x="446532" y="0"/>
                </a:lnTo>
                <a:lnTo>
                  <a:pt x="408432" y="0"/>
                </a:lnTo>
                <a:lnTo>
                  <a:pt x="408432" y="9143"/>
                </a:lnTo>
                <a:lnTo>
                  <a:pt x="446532" y="9143"/>
                </a:lnTo>
                <a:close/>
              </a:path>
              <a:path w="3114675" h="2251710">
                <a:moveTo>
                  <a:pt x="512825" y="9143"/>
                </a:moveTo>
                <a:lnTo>
                  <a:pt x="512825" y="0"/>
                </a:lnTo>
                <a:lnTo>
                  <a:pt x="474725" y="0"/>
                </a:lnTo>
                <a:lnTo>
                  <a:pt x="474725" y="9143"/>
                </a:lnTo>
                <a:lnTo>
                  <a:pt x="512825" y="9143"/>
                </a:lnTo>
                <a:close/>
              </a:path>
              <a:path w="3114675" h="2251710">
                <a:moveTo>
                  <a:pt x="579882" y="9143"/>
                </a:moveTo>
                <a:lnTo>
                  <a:pt x="579882" y="0"/>
                </a:lnTo>
                <a:lnTo>
                  <a:pt x="541782" y="0"/>
                </a:lnTo>
                <a:lnTo>
                  <a:pt x="541782" y="9143"/>
                </a:lnTo>
                <a:lnTo>
                  <a:pt x="579882" y="9143"/>
                </a:lnTo>
                <a:close/>
              </a:path>
              <a:path w="3114675" h="2251710">
                <a:moveTo>
                  <a:pt x="646176" y="9143"/>
                </a:moveTo>
                <a:lnTo>
                  <a:pt x="646176" y="0"/>
                </a:lnTo>
                <a:lnTo>
                  <a:pt x="608076" y="0"/>
                </a:lnTo>
                <a:lnTo>
                  <a:pt x="608076" y="9143"/>
                </a:lnTo>
                <a:lnTo>
                  <a:pt x="646176" y="9143"/>
                </a:lnTo>
                <a:close/>
              </a:path>
              <a:path w="3114675" h="2251710">
                <a:moveTo>
                  <a:pt x="713232" y="9143"/>
                </a:moveTo>
                <a:lnTo>
                  <a:pt x="713232" y="0"/>
                </a:lnTo>
                <a:lnTo>
                  <a:pt x="675132" y="0"/>
                </a:lnTo>
                <a:lnTo>
                  <a:pt x="675132" y="9143"/>
                </a:lnTo>
                <a:lnTo>
                  <a:pt x="713232" y="9143"/>
                </a:lnTo>
                <a:close/>
              </a:path>
              <a:path w="3114675" h="2251710">
                <a:moveTo>
                  <a:pt x="779526" y="9143"/>
                </a:moveTo>
                <a:lnTo>
                  <a:pt x="779526" y="0"/>
                </a:lnTo>
                <a:lnTo>
                  <a:pt x="741426" y="0"/>
                </a:lnTo>
                <a:lnTo>
                  <a:pt x="741426" y="9143"/>
                </a:lnTo>
                <a:lnTo>
                  <a:pt x="779526" y="9143"/>
                </a:lnTo>
                <a:close/>
              </a:path>
              <a:path w="3114675" h="2251710">
                <a:moveTo>
                  <a:pt x="846582" y="9143"/>
                </a:moveTo>
                <a:lnTo>
                  <a:pt x="846582" y="0"/>
                </a:lnTo>
                <a:lnTo>
                  <a:pt x="808482" y="0"/>
                </a:lnTo>
                <a:lnTo>
                  <a:pt x="808482" y="9143"/>
                </a:lnTo>
                <a:lnTo>
                  <a:pt x="846582" y="9143"/>
                </a:lnTo>
                <a:close/>
              </a:path>
              <a:path w="3114675" h="2251710">
                <a:moveTo>
                  <a:pt x="912876" y="9143"/>
                </a:moveTo>
                <a:lnTo>
                  <a:pt x="912876" y="0"/>
                </a:lnTo>
                <a:lnTo>
                  <a:pt x="874776" y="0"/>
                </a:lnTo>
                <a:lnTo>
                  <a:pt x="874776" y="9143"/>
                </a:lnTo>
                <a:lnTo>
                  <a:pt x="912876" y="9143"/>
                </a:lnTo>
                <a:close/>
              </a:path>
              <a:path w="3114675" h="2251710">
                <a:moveTo>
                  <a:pt x="979932" y="9143"/>
                </a:moveTo>
                <a:lnTo>
                  <a:pt x="979932" y="0"/>
                </a:lnTo>
                <a:lnTo>
                  <a:pt x="941832" y="0"/>
                </a:lnTo>
                <a:lnTo>
                  <a:pt x="941832" y="9143"/>
                </a:lnTo>
                <a:lnTo>
                  <a:pt x="979932" y="9143"/>
                </a:lnTo>
                <a:close/>
              </a:path>
              <a:path w="3114675" h="2251710">
                <a:moveTo>
                  <a:pt x="1046226" y="9143"/>
                </a:moveTo>
                <a:lnTo>
                  <a:pt x="1046226" y="0"/>
                </a:lnTo>
                <a:lnTo>
                  <a:pt x="1008126" y="0"/>
                </a:lnTo>
                <a:lnTo>
                  <a:pt x="1008126" y="9143"/>
                </a:lnTo>
                <a:lnTo>
                  <a:pt x="1046226" y="9143"/>
                </a:lnTo>
                <a:close/>
              </a:path>
              <a:path w="3114675" h="2251710">
                <a:moveTo>
                  <a:pt x="1113282" y="9143"/>
                </a:moveTo>
                <a:lnTo>
                  <a:pt x="1113282" y="0"/>
                </a:lnTo>
                <a:lnTo>
                  <a:pt x="1075182" y="0"/>
                </a:lnTo>
                <a:lnTo>
                  <a:pt x="1075182" y="9143"/>
                </a:lnTo>
                <a:lnTo>
                  <a:pt x="1113282" y="9143"/>
                </a:lnTo>
                <a:close/>
              </a:path>
              <a:path w="3114675" h="2251710">
                <a:moveTo>
                  <a:pt x="1179576" y="9143"/>
                </a:moveTo>
                <a:lnTo>
                  <a:pt x="1179576" y="0"/>
                </a:lnTo>
                <a:lnTo>
                  <a:pt x="1141476" y="0"/>
                </a:lnTo>
                <a:lnTo>
                  <a:pt x="1141476" y="9143"/>
                </a:lnTo>
                <a:lnTo>
                  <a:pt x="1179576" y="9143"/>
                </a:lnTo>
                <a:close/>
              </a:path>
              <a:path w="3114675" h="2251710">
                <a:moveTo>
                  <a:pt x="1246632" y="9143"/>
                </a:moveTo>
                <a:lnTo>
                  <a:pt x="1246632" y="0"/>
                </a:lnTo>
                <a:lnTo>
                  <a:pt x="1208532" y="0"/>
                </a:lnTo>
                <a:lnTo>
                  <a:pt x="1208532" y="9143"/>
                </a:lnTo>
                <a:lnTo>
                  <a:pt x="1246632" y="9143"/>
                </a:lnTo>
                <a:close/>
              </a:path>
              <a:path w="3114675" h="2251710">
                <a:moveTo>
                  <a:pt x="1312926" y="9143"/>
                </a:moveTo>
                <a:lnTo>
                  <a:pt x="1312926" y="0"/>
                </a:lnTo>
                <a:lnTo>
                  <a:pt x="1274826" y="0"/>
                </a:lnTo>
                <a:lnTo>
                  <a:pt x="1274826" y="9143"/>
                </a:lnTo>
                <a:lnTo>
                  <a:pt x="1312926" y="9143"/>
                </a:lnTo>
                <a:close/>
              </a:path>
              <a:path w="3114675" h="2251710">
                <a:moveTo>
                  <a:pt x="1379982" y="9143"/>
                </a:moveTo>
                <a:lnTo>
                  <a:pt x="1379982" y="0"/>
                </a:lnTo>
                <a:lnTo>
                  <a:pt x="1341882" y="0"/>
                </a:lnTo>
                <a:lnTo>
                  <a:pt x="1341882" y="9143"/>
                </a:lnTo>
                <a:lnTo>
                  <a:pt x="1379982" y="9143"/>
                </a:lnTo>
                <a:close/>
              </a:path>
              <a:path w="3114675" h="2251710">
                <a:moveTo>
                  <a:pt x="1446276" y="9143"/>
                </a:moveTo>
                <a:lnTo>
                  <a:pt x="1446276" y="0"/>
                </a:lnTo>
                <a:lnTo>
                  <a:pt x="1408176" y="0"/>
                </a:lnTo>
                <a:lnTo>
                  <a:pt x="1408176" y="9143"/>
                </a:lnTo>
                <a:lnTo>
                  <a:pt x="1446276" y="9143"/>
                </a:lnTo>
                <a:close/>
              </a:path>
              <a:path w="3114675" h="2251710">
                <a:moveTo>
                  <a:pt x="1513332" y="9143"/>
                </a:moveTo>
                <a:lnTo>
                  <a:pt x="1513332" y="0"/>
                </a:lnTo>
                <a:lnTo>
                  <a:pt x="1475232" y="0"/>
                </a:lnTo>
                <a:lnTo>
                  <a:pt x="1475232" y="9143"/>
                </a:lnTo>
                <a:lnTo>
                  <a:pt x="1513332" y="9143"/>
                </a:lnTo>
                <a:close/>
              </a:path>
              <a:path w="3114675" h="2251710">
                <a:moveTo>
                  <a:pt x="1579626" y="9143"/>
                </a:moveTo>
                <a:lnTo>
                  <a:pt x="1579626" y="0"/>
                </a:lnTo>
                <a:lnTo>
                  <a:pt x="1541526" y="0"/>
                </a:lnTo>
                <a:lnTo>
                  <a:pt x="1541526" y="9143"/>
                </a:lnTo>
                <a:lnTo>
                  <a:pt x="1579626" y="9143"/>
                </a:lnTo>
                <a:close/>
              </a:path>
              <a:path w="3114675" h="2251710">
                <a:moveTo>
                  <a:pt x="1646682" y="9143"/>
                </a:moveTo>
                <a:lnTo>
                  <a:pt x="1646682" y="0"/>
                </a:lnTo>
                <a:lnTo>
                  <a:pt x="1608582" y="0"/>
                </a:lnTo>
                <a:lnTo>
                  <a:pt x="1608582" y="9143"/>
                </a:lnTo>
                <a:lnTo>
                  <a:pt x="1646682" y="9143"/>
                </a:lnTo>
                <a:close/>
              </a:path>
              <a:path w="3114675" h="2251710">
                <a:moveTo>
                  <a:pt x="1712976" y="9143"/>
                </a:moveTo>
                <a:lnTo>
                  <a:pt x="1712976" y="0"/>
                </a:lnTo>
                <a:lnTo>
                  <a:pt x="1674876" y="0"/>
                </a:lnTo>
                <a:lnTo>
                  <a:pt x="1674876" y="9143"/>
                </a:lnTo>
                <a:lnTo>
                  <a:pt x="1712976" y="9143"/>
                </a:lnTo>
                <a:close/>
              </a:path>
              <a:path w="3114675" h="2251710">
                <a:moveTo>
                  <a:pt x="1780032" y="9143"/>
                </a:moveTo>
                <a:lnTo>
                  <a:pt x="1780032" y="0"/>
                </a:lnTo>
                <a:lnTo>
                  <a:pt x="1741932" y="0"/>
                </a:lnTo>
                <a:lnTo>
                  <a:pt x="1741932" y="9143"/>
                </a:lnTo>
                <a:lnTo>
                  <a:pt x="1780032" y="9143"/>
                </a:lnTo>
                <a:close/>
              </a:path>
              <a:path w="3114675" h="2251710">
                <a:moveTo>
                  <a:pt x="1846326" y="9143"/>
                </a:moveTo>
                <a:lnTo>
                  <a:pt x="1846326" y="0"/>
                </a:lnTo>
                <a:lnTo>
                  <a:pt x="1808226" y="0"/>
                </a:lnTo>
                <a:lnTo>
                  <a:pt x="1808226" y="9143"/>
                </a:lnTo>
                <a:lnTo>
                  <a:pt x="1846326" y="9143"/>
                </a:lnTo>
                <a:close/>
              </a:path>
              <a:path w="3114675" h="2251710">
                <a:moveTo>
                  <a:pt x="1913382" y="9143"/>
                </a:moveTo>
                <a:lnTo>
                  <a:pt x="1913382" y="0"/>
                </a:lnTo>
                <a:lnTo>
                  <a:pt x="1875282" y="0"/>
                </a:lnTo>
                <a:lnTo>
                  <a:pt x="1875282" y="9143"/>
                </a:lnTo>
                <a:lnTo>
                  <a:pt x="1913382" y="9143"/>
                </a:lnTo>
                <a:close/>
              </a:path>
              <a:path w="3114675" h="2251710">
                <a:moveTo>
                  <a:pt x="1979676" y="9143"/>
                </a:moveTo>
                <a:lnTo>
                  <a:pt x="1979676" y="0"/>
                </a:lnTo>
                <a:lnTo>
                  <a:pt x="1941576" y="0"/>
                </a:lnTo>
                <a:lnTo>
                  <a:pt x="1941576" y="9143"/>
                </a:lnTo>
                <a:lnTo>
                  <a:pt x="1979676" y="9143"/>
                </a:lnTo>
                <a:close/>
              </a:path>
              <a:path w="3114675" h="2251710">
                <a:moveTo>
                  <a:pt x="2046732" y="9143"/>
                </a:moveTo>
                <a:lnTo>
                  <a:pt x="2046732" y="0"/>
                </a:lnTo>
                <a:lnTo>
                  <a:pt x="2008632" y="0"/>
                </a:lnTo>
                <a:lnTo>
                  <a:pt x="2008632" y="9143"/>
                </a:lnTo>
                <a:lnTo>
                  <a:pt x="2046732" y="9143"/>
                </a:lnTo>
                <a:close/>
              </a:path>
              <a:path w="3114675" h="2251710">
                <a:moveTo>
                  <a:pt x="2113026" y="9143"/>
                </a:moveTo>
                <a:lnTo>
                  <a:pt x="2113026" y="0"/>
                </a:lnTo>
                <a:lnTo>
                  <a:pt x="2074926" y="0"/>
                </a:lnTo>
                <a:lnTo>
                  <a:pt x="2074926" y="9143"/>
                </a:lnTo>
                <a:lnTo>
                  <a:pt x="2113026" y="9143"/>
                </a:lnTo>
                <a:close/>
              </a:path>
              <a:path w="3114675" h="2251710">
                <a:moveTo>
                  <a:pt x="2179319" y="9143"/>
                </a:moveTo>
                <a:lnTo>
                  <a:pt x="2179319" y="0"/>
                </a:lnTo>
                <a:lnTo>
                  <a:pt x="2141219" y="0"/>
                </a:lnTo>
                <a:lnTo>
                  <a:pt x="2141219" y="9143"/>
                </a:lnTo>
                <a:lnTo>
                  <a:pt x="2179319" y="9143"/>
                </a:lnTo>
                <a:close/>
              </a:path>
              <a:path w="3114675" h="2251710">
                <a:moveTo>
                  <a:pt x="2246376" y="9143"/>
                </a:moveTo>
                <a:lnTo>
                  <a:pt x="2246376" y="0"/>
                </a:lnTo>
                <a:lnTo>
                  <a:pt x="2208276" y="0"/>
                </a:lnTo>
                <a:lnTo>
                  <a:pt x="2208276" y="9143"/>
                </a:lnTo>
                <a:lnTo>
                  <a:pt x="2246376" y="9143"/>
                </a:lnTo>
                <a:close/>
              </a:path>
              <a:path w="3114675" h="2251710">
                <a:moveTo>
                  <a:pt x="2312669" y="9143"/>
                </a:moveTo>
                <a:lnTo>
                  <a:pt x="2312669" y="0"/>
                </a:lnTo>
                <a:lnTo>
                  <a:pt x="2274569" y="0"/>
                </a:lnTo>
                <a:lnTo>
                  <a:pt x="2274569" y="9143"/>
                </a:lnTo>
                <a:lnTo>
                  <a:pt x="2312669" y="9143"/>
                </a:lnTo>
                <a:close/>
              </a:path>
              <a:path w="3114675" h="2251710">
                <a:moveTo>
                  <a:pt x="2379726" y="9143"/>
                </a:moveTo>
                <a:lnTo>
                  <a:pt x="2379726" y="0"/>
                </a:lnTo>
                <a:lnTo>
                  <a:pt x="2341626" y="0"/>
                </a:lnTo>
                <a:lnTo>
                  <a:pt x="2341626" y="9143"/>
                </a:lnTo>
                <a:lnTo>
                  <a:pt x="2379726" y="9143"/>
                </a:lnTo>
                <a:close/>
              </a:path>
              <a:path w="3114675" h="2251710">
                <a:moveTo>
                  <a:pt x="2446019" y="9143"/>
                </a:moveTo>
                <a:lnTo>
                  <a:pt x="2446019" y="0"/>
                </a:lnTo>
                <a:lnTo>
                  <a:pt x="2407919" y="0"/>
                </a:lnTo>
                <a:lnTo>
                  <a:pt x="2407919" y="9143"/>
                </a:lnTo>
                <a:lnTo>
                  <a:pt x="2446019" y="9143"/>
                </a:lnTo>
                <a:close/>
              </a:path>
              <a:path w="3114675" h="2251710">
                <a:moveTo>
                  <a:pt x="2513076" y="9143"/>
                </a:moveTo>
                <a:lnTo>
                  <a:pt x="2513076" y="0"/>
                </a:lnTo>
                <a:lnTo>
                  <a:pt x="2474976" y="0"/>
                </a:lnTo>
                <a:lnTo>
                  <a:pt x="2474976" y="9143"/>
                </a:lnTo>
                <a:lnTo>
                  <a:pt x="2513076" y="9143"/>
                </a:lnTo>
                <a:close/>
              </a:path>
              <a:path w="3114675" h="2251710">
                <a:moveTo>
                  <a:pt x="2579369" y="9143"/>
                </a:moveTo>
                <a:lnTo>
                  <a:pt x="2579369" y="0"/>
                </a:lnTo>
                <a:lnTo>
                  <a:pt x="2541269" y="0"/>
                </a:lnTo>
                <a:lnTo>
                  <a:pt x="2541269" y="9143"/>
                </a:lnTo>
                <a:lnTo>
                  <a:pt x="2579369" y="9143"/>
                </a:lnTo>
                <a:close/>
              </a:path>
              <a:path w="3114675" h="2251710">
                <a:moveTo>
                  <a:pt x="2646426" y="9143"/>
                </a:moveTo>
                <a:lnTo>
                  <a:pt x="2646426" y="0"/>
                </a:lnTo>
                <a:lnTo>
                  <a:pt x="2608326" y="0"/>
                </a:lnTo>
                <a:lnTo>
                  <a:pt x="2608326" y="9143"/>
                </a:lnTo>
                <a:lnTo>
                  <a:pt x="2646426" y="9143"/>
                </a:lnTo>
                <a:close/>
              </a:path>
              <a:path w="3114675" h="2251710">
                <a:moveTo>
                  <a:pt x="2712719" y="9143"/>
                </a:moveTo>
                <a:lnTo>
                  <a:pt x="2712719" y="0"/>
                </a:lnTo>
                <a:lnTo>
                  <a:pt x="2674619" y="0"/>
                </a:lnTo>
                <a:lnTo>
                  <a:pt x="2674619" y="9143"/>
                </a:lnTo>
                <a:lnTo>
                  <a:pt x="2712719" y="9143"/>
                </a:lnTo>
                <a:close/>
              </a:path>
              <a:path w="3114675" h="2251710">
                <a:moveTo>
                  <a:pt x="2779776" y="9143"/>
                </a:moveTo>
                <a:lnTo>
                  <a:pt x="2779776" y="0"/>
                </a:lnTo>
                <a:lnTo>
                  <a:pt x="2741676" y="0"/>
                </a:lnTo>
                <a:lnTo>
                  <a:pt x="2741676" y="9143"/>
                </a:lnTo>
                <a:lnTo>
                  <a:pt x="2779776" y="9143"/>
                </a:lnTo>
                <a:close/>
              </a:path>
              <a:path w="3114675" h="2251710">
                <a:moveTo>
                  <a:pt x="2846069" y="9143"/>
                </a:moveTo>
                <a:lnTo>
                  <a:pt x="2846069" y="0"/>
                </a:lnTo>
                <a:lnTo>
                  <a:pt x="2807969" y="0"/>
                </a:lnTo>
                <a:lnTo>
                  <a:pt x="2807969" y="9143"/>
                </a:lnTo>
                <a:lnTo>
                  <a:pt x="2846069" y="9143"/>
                </a:lnTo>
                <a:close/>
              </a:path>
              <a:path w="3114675" h="2251710">
                <a:moveTo>
                  <a:pt x="2913126" y="9143"/>
                </a:moveTo>
                <a:lnTo>
                  <a:pt x="2913126" y="0"/>
                </a:lnTo>
                <a:lnTo>
                  <a:pt x="2875026" y="0"/>
                </a:lnTo>
                <a:lnTo>
                  <a:pt x="2875026" y="9143"/>
                </a:lnTo>
                <a:lnTo>
                  <a:pt x="2913126" y="9143"/>
                </a:lnTo>
                <a:close/>
              </a:path>
              <a:path w="3114675" h="2251710">
                <a:moveTo>
                  <a:pt x="2980182" y="5333"/>
                </a:moveTo>
                <a:lnTo>
                  <a:pt x="2972562" y="3047"/>
                </a:lnTo>
                <a:lnTo>
                  <a:pt x="2963417" y="1523"/>
                </a:lnTo>
                <a:lnTo>
                  <a:pt x="2955036" y="761"/>
                </a:lnTo>
                <a:lnTo>
                  <a:pt x="2945891" y="0"/>
                </a:lnTo>
                <a:lnTo>
                  <a:pt x="2942082" y="0"/>
                </a:lnTo>
                <a:lnTo>
                  <a:pt x="2941319" y="9143"/>
                </a:lnTo>
                <a:lnTo>
                  <a:pt x="2945891" y="9143"/>
                </a:lnTo>
                <a:lnTo>
                  <a:pt x="2954274" y="9905"/>
                </a:lnTo>
                <a:lnTo>
                  <a:pt x="2971038" y="12953"/>
                </a:lnTo>
                <a:lnTo>
                  <a:pt x="2977895" y="14477"/>
                </a:lnTo>
                <a:lnTo>
                  <a:pt x="2980182" y="5333"/>
                </a:lnTo>
                <a:close/>
              </a:path>
              <a:path w="3114675" h="2251710">
                <a:moveTo>
                  <a:pt x="3041904" y="34289"/>
                </a:moveTo>
                <a:lnTo>
                  <a:pt x="3035808" y="29717"/>
                </a:lnTo>
                <a:lnTo>
                  <a:pt x="3028950" y="25145"/>
                </a:lnTo>
                <a:lnTo>
                  <a:pt x="3021330" y="21335"/>
                </a:lnTo>
                <a:lnTo>
                  <a:pt x="3013710" y="16763"/>
                </a:lnTo>
                <a:lnTo>
                  <a:pt x="3008376" y="14477"/>
                </a:lnTo>
                <a:lnTo>
                  <a:pt x="3004566" y="23621"/>
                </a:lnTo>
                <a:lnTo>
                  <a:pt x="3009900" y="25907"/>
                </a:lnTo>
                <a:lnTo>
                  <a:pt x="3023616" y="33527"/>
                </a:lnTo>
                <a:lnTo>
                  <a:pt x="3030474" y="38099"/>
                </a:lnTo>
                <a:lnTo>
                  <a:pt x="3036569" y="41909"/>
                </a:lnTo>
                <a:lnTo>
                  <a:pt x="3041904" y="34289"/>
                </a:lnTo>
                <a:close/>
              </a:path>
              <a:path w="3114675" h="2251710">
                <a:moveTo>
                  <a:pt x="3087624" y="84581"/>
                </a:moveTo>
                <a:lnTo>
                  <a:pt x="3083814" y="77723"/>
                </a:lnTo>
                <a:lnTo>
                  <a:pt x="3078480" y="70865"/>
                </a:lnTo>
                <a:lnTo>
                  <a:pt x="3073908" y="64007"/>
                </a:lnTo>
                <a:lnTo>
                  <a:pt x="3067812" y="57911"/>
                </a:lnTo>
                <a:lnTo>
                  <a:pt x="3064002" y="53339"/>
                </a:lnTo>
                <a:lnTo>
                  <a:pt x="3057143" y="60197"/>
                </a:lnTo>
                <a:lnTo>
                  <a:pt x="3080004" y="89153"/>
                </a:lnTo>
                <a:lnTo>
                  <a:pt x="3087624" y="84581"/>
                </a:lnTo>
                <a:close/>
              </a:path>
              <a:path w="3114675" h="2251710">
                <a:moveTo>
                  <a:pt x="3112008" y="147827"/>
                </a:moveTo>
                <a:lnTo>
                  <a:pt x="3110484" y="140969"/>
                </a:lnTo>
                <a:lnTo>
                  <a:pt x="3103626" y="115823"/>
                </a:lnTo>
                <a:lnTo>
                  <a:pt x="3101340" y="110489"/>
                </a:lnTo>
                <a:lnTo>
                  <a:pt x="3092195" y="114299"/>
                </a:lnTo>
                <a:lnTo>
                  <a:pt x="3094482" y="119633"/>
                </a:lnTo>
                <a:lnTo>
                  <a:pt x="3099054" y="134873"/>
                </a:lnTo>
                <a:lnTo>
                  <a:pt x="3101340" y="143255"/>
                </a:lnTo>
                <a:lnTo>
                  <a:pt x="3102102" y="150113"/>
                </a:lnTo>
                <a:lnTo>
                  <a:pt x="3112008" y="147827"/>
                </a:lnTo>
                <a:close/>
              </a:path>
              <a:path w="3114675" h="2251710">
                <a:moveTo>
                  <a:pt x="3114293" y="215645"/>
                </a:moveTo>
                <a:lnTo>
                  <a:pt x="3114293" y="177545"/>
                </a:lnTo>
                <a:lnTo>
                  <a:pt x="3104388" y="177545"/>
                </a:lnTo>
                <a:lnTo>
                  <a:pt x="3104388" y="215645"/>
                </a:lnTo>
                <a:lnTo>
                  <a:pt x="3114293" y="215645"/>
                </a:lnTo>
                <a:close/>
              </a:path>
              <a:path w="3114675" h="2251710">
                <a:moveTo>
                  <a:pt x="3114293" y="281939"/>
                </a:moveTo>
                <a:lnTo>
                  <a:pt x="3114293" y="243839"/>
                </a:lnTo>
                <a:lnTo>
                  <a:pt x="3104388" y="243839"/>
                </a:lnTo>
                <a:lnTo>
                  <a:pt x="3104388" y="281939"/>
                </a:lnTo>
                <a:lnTo>
                  <a:pt x="3114293" y="281939"/>
                </a:lnTo>
                <a:close/>
              </a:path>
              <a:path w="3114675" h="2251710">
                <a:moveTo>
                  <a:pt x="3114293" y="348995"/>
                </a:moveTo>
                <a:lnTo>
                  <a:pt x="3114293" y="310895"/>
                </a:lnTo>
                <a:lnTo>
                  <a:pt x="3104388" y="310895"/>
                </a:lnTo>
                <a:lnTo>
                  <a:pt x="3104388" y="348995"/>
                </a:lnTo>
                <a:lnTo>
                  <a:pt x="3114293" y="348995"/>
                </a:lnTo>
                <a:close/>
              </a:path>
              <a:path w="3114675" h="2251710">
                <a:moveTo>
                  <a:pt x="3114293" y="415289"/>
                </a:moveTo>
                <a:lnTo>
                  <a:pt x="3114293" y="377189"/>
                </a:lnTo>
                <a:lnTo>
                  <a:pt x="3104388" y="377189"/>
                </a:lnTo>
                <a:lnTo>
                  <a:pt x="3104388" y="415289"/>
                </a:lnTo>
                <a:lnTo>
                  <a:pt x="3114293" y="415289"/>
                </a:lnTo>
                <a:close/>
              </a:path>
              <a:path w="3114675" h="2251710">
                <a:moveTo>
                  <a:pt x="3114293" y="482345"/>
                </a:moveTo>
                <a:lnTo>
                  <a:pt x="3114293" y="444245"/>
                </a:lnTo>
                <a:lnTo>
                  <a:pt x="3104388" y="444245"/>
                </a:lnTo>
                <a:lnTo>
                  <a:pt x="3104388" y="482345"/>
                </a:lnTo>
                <a:lnTo>
                  <a:pt x="3114293" y="482345"/>
                </a:lnTo>
                <a:close/>
              </a:path>
              <a:path w="3114675" h="2251710">
                <a:moveTo>
                  <a:pt x="3114293" y="548639"/>
                </a:moveTo>
                <a:lnTo>
                  <a:pt x="3114293" y="510539"/>
                </a:lnTo>
                <a:lnTo>
                  <a:pt x="3104388" y="510539"/>
                </a:lnTo>
                <a:lnTo>
                  <a:pt x="3104388" y="548639"/>
                </a:lnTo>
                <a:lnTo>
                  <a:pt x="3114293" y="548639"/>
                </a:lnTo>
                <a:close/>
              </a:path>
              <a:path w="3114675" h="2251710">
                <a:moveTo>
                  <a:pt x="3114293" y="615695"/>
                </a:moveTo>
                <a:lnTo>
                  <a:pt x="3114293" y="577595"/>
                </a:lnTo>
                <a:lnTo>
                  <a:pt x="3104388" y="577595"/>
                </a:lnTo>
                <a:lnTo>
                  <a:pt x="3104388" y="615695"/>
                </a:lnTo>
                <a:lnTo>
                  <a:pt x="3114293" y="615695"/>
                </a:lnTo>
                <a:close/>
              </a:path>
              <a:path w="3114675" h="2251710">
                <a:moveTo>
                  <a:pt x="3114293" y="681989"/>
                </a:moveTo>
                <a:lnTo>
                  <a:pt x="3114293" y="643889"/>
                </a:lnTo>
                <a:lnTo>
                  <a:pt x="3104388" y="643889"/>
                </a:lnTo>
                <a:lnTo>
                  <a:pt x="3104388" y="681989"/>
                </a:lnTo>
                <a:lnTo>
                  <a:pt x="3114293" y="681989"/>
                </a:lnTo>
                <a:close/>
              </a:path>
              <a:path w="3114675" h="2251710">
                <a:moveTo>
                  <a:pt x="3114293" y="749045"/>
                </a:moveTo>
                <a:lnTo>
                  <a:pt x="3114293" y="710945"/>
                </a:lnTo>
                <a:lnTo>
                  <a:pt x="3104388" y="710945"/>
                </a:lnTo>
                <a:lnTo>
                  <a:pt x="3104388" y="749045"/>
                </a:lnTo>
                <a:lnTo>
                  <a:pt x="3114293" y="749045"/>
                </a:lnTo>
                <a:close/>
              </a:path>
              <a:path w="3114675" h="2251710">
                <a:moveTo>
                  <a:pt x="3114293" y="815339"/>
                </a:moveTo>
                <a:lnTo>
                  <a:pt x="3114293" y="777239"/>
                </a:lnTo>
                <a:lnTo>
                  <a:pt x="3104388" y="777239"/>
                </a:lnTo>
                <a:lnTo>
                  <a:pt x="3104388" y="815339"/>
                </a:lnTo>
                <a:lnTo>
                  <a:pt x="3114293" y="815339"/>
                </a:lnTo>
                <a:close/>
              </a:path>
              <a:path w="3114675" h="2251710">
                <a:moveTo>
                  <a:pt x="3114293" y="882395"/>
                </a:moveTo>
                <a:lnTo>
                  <a:pt x="3114293" y="844295"/>
                </a:lnTo>
                <a:lnTo>
                  <a:pt x="3104388" y="844295"/>
                </a:lnTo>
                <a:lnTo>
                  <a:pt x="3104388" y="882395"/>
                </a:lnTo>
                <a:lnTo>
                  <a:pt x="3114293" y="882395"/>
                </a:lnTo>
                <a:close/>
              </a:path>
              <a:path w="3114675" h="2251710">
                <a:moveTo>
                  <a:pt x="3114293" y="948689"/>
                </a:moveTo>
                <a:lnTo>
                  <a:pt x="3114293" y="910589"/>
                </a:lnTo>
                <a:lnTo>
                  <a:pt x="3104388" y="910589"/>
                </a:lnTo>
                <a:lnTo>
                  <a:pt x="3104388" y="948689"/>
                </a:lnTo>
                <a:lnTo>
                  <a:pt x="3114293" y="948689"/>
                </a:lnTo>
                <a:close/>
              </a:path>
              <a:path w="3114675" h="2251710">
                <a:moveTo>
                  <a:pt x="3114293" y="1015745"/>
                </a:moveTo>
                <a:lnTo>
                  <a:pt x="3114293" y="977645"/>
                </a:lnTo>
                <a:lnTo>
                  <a:pt x="3104388" y="977645"/>
                </a:lnTo>
                <a:lnTo>
                  <a:pt x="3104388" y="1015745"/>
                </a:lnTo>
                <a:lnTo>
                  <a:pt x="3114293" y="1015745"/>
                </a:lnTo>
                <a:close/>
              </a:path>
              <a:path w="3114675" h="2251710">
                <a:moveTo>
                  <a:pt x="3114293" y="1082039"/>
                </a:moveTo>
                <a:lnTo>
                  <a:pt x="3114293" y="1043939"/>
                </a:lnTo>
                <a:lnTo>
                  <a:pt x="3104388" y="1043939"/>
                </a:lnTo>
                <a:lnTo>
                  <a:pt x="3104388" y="1082039"/>
                </a:lnTo>
                <a:lnTo>
                  <a:pt x="3114293" y="1082039"/>
                </a:lnTo>
                <a:close/>
              </a:path>
              <a:path w="3114675" h="2251710">
                <a:moveTo>
                  <a:pt x="3114293" y="1149095"/>
                </a:moveTo>
                <a:lnTo>
                  <a:pt x="3114293" y="1110995"/>
                </a:lnTo>
                <a:lnTo>
                  <a:pt x="3104388" y="1110995"/>
                </a:lnTo>
                <a:lnTo>
                  <a:pt x="3104388" y="1149095"/>
                </a:lnTo>
                <a:lnTo>
                  <a:pt x="3114293" y="1149095"/>
                </a:lnTo>
                <a:close/>
              </a:path>
              <a:path w="3114675" h="2251710">
                <a:moveTo>
                  <a:pt x="3114293" y="1215389"/>
                </a:moveTo>
                <a:lnTo>
                  <a:pt x="3114293" y="1177289"/>
                </a:lnTo>
                <a:lnTo>
                  <a:pt x="3104388" y="1177289"/>
                </a:lnTo>
                <a:lnTo>
                  <a:pt x="3104388" y="1215389"/>
                </a:lnTo>
                <a:lnTo>
                  <a:pt x="3114293" y="1215389"/>
                </a:lnTo>
                <a:close/>
              </a:path>
              <a:path w="3114675" h="2251710">
                <a:moveTo>
                  <a:pt x="3114293" y="1282445"/>
                </a:moveTo>
                <a:lnTo>
                  <a:pt x="3114293" y="1244345"/>
                </a:lnTo>
                <a:lnTo>
                  <a:pt x="3104388" y="1244345"/>
                </a:lnTo>
                <a:lnTo>
                  <a:pt x="3104388" y="1282445"/>
                </a:lnTo>
                <a:lnTo>
                  <a:pt x="3114293" y="1282445"/>
                </a:lnTo>
                <a:close/>
              </a:path>
              <a:path w="3114675" h="2251710">
                <a:moveTo>
                  <a:pt x="3114293" y="1348739"/>
                </a:moveTo>
                <a:lnTo>
                  <a:pt x="3114293" y="1310639"/>
                </a:lnTo>
                <a:lnTo>
                  <a:pt x="3104388" y="1310639"/>
                </a:lnTo>
                <a:lnTo>
                  <a:pt x="3104388" y="1348739"/>
                </a:lnTo>
                <a:lnTo>
                  <a:pt x="3114293" y="1348739"/>
                </a:lnTo>
                <a:close/>
              </a:path>
              <a:path w="3114675" h="2251710">
                <a:moveTo>
                  <a:pt x="3114293" y="1415795"/>
                </a:moveTo>
                <a:lnTo>
                  <a:pt x="3114293" y="1377695"/>
                </a:lnTo>
                <a:lnTo>
                  <a:pt x="3104388" y="1377695"/>
                </a:lnTo>
                <a:lnTo>
                  <a:pt x="3104388" y="1415795"/>
                </a:lnTo>
                <a:lnTo>
                  <a:pt x="3114293" y="1415795"/>
                </a:lnTo>
                <a:close/>
              </a:path>
              <a:path w="3114675" h="2251710">
                <a:moveTo>
                  <a:pt x="3114293" y="1482089"/>
                </a:moveTo>
                <a:lnTo>
                  <a:pt x="3114293" y="1443989"/>
                </a:lnTo>
                <a:lnTo>
                  <a:pt x="3104388" y="1443989"/>
                </a:lnTo>
                <a:lnTo>
                  <a:pt x="3104388" y="1482089"/>
                </a:lnTo>
                <a:lnTo>
                  <a:pt x="3114293" y="1482089"/>
                </a:lnTo>
                <a:close/>
              </a:path>
              <a:path w="3114675" h="2251710">
                <a:moveTo>
                  <a:pt x="3114293" y="1549145"/>
                </a:moveTo>
                <a:lnTo>
                  <a:pt x="3114293" y="1511045"/>
                </a:lnTo>
                <a:lnTo>
                  <a:pt x="3104388" y="1511045"/>
                </a:lnTo>
                <a:lnTo>
                  <a:pt x="3104388" y="1549145"/>
                </a:lnTo>
                <a:lnTo>
                  <a:pt x="3114293" y="1549145"/>
                </a:lnTo>
                <a:close/>
              </a:path>
              <a:path w="3114675" h="2251710">
                <a:moveTo>
                  <a:pt x="3114293" y="1615439"/>
                </a:moveTo>
                <a:lnTo>
                  <a:pt x="3114293" y="1577339"/>
                </a:lnTo>
                <a:lnTo>
                  <a:pt x="3104388" y="1577339"/>
                </a:lnTo>
                <a:lnTo>
                  <a:pt x="3104388" y="1615439"/>
                </a:lnTo>
                <a:lnTo>
                  <a:pt x="3114293" y="1615439"/>
                </a:lnTo>
                <a:close/>
              </a:path>
              <a:path w="3114675" h="2251710">
                <a:moveTo>
                  <a:pt x="3114293" y="1682495"/>
                </a:moveTo>
                <a:lnTo>
                  <a:pt x="3114293" y="1644395"/>
                </a:lnTo>
                <a:lnTo>
                  <a:pt x="3104388" y="1644395"/>
                </a:lnTo>
                <a:lnTo>
                  <a:pt x="3104388" y="1682495"/>
                </a:lnTo>
                <a:lnTo>
                  <a:pt x="3114293" y="1682495"/>
                </a:lnTo>
                <a:close/>
              </a:path>
              <a:path w="3114675" h="2251710">
                <a:moveTo>
                  <a:pt x="3114293" y="1748789"/>
                </a:moveTo>
                <a:lnTo>
                  <a:pt x="3114293" y="1710689"/>
                </a:lnTo>
                <a:lnTo>
                  <a:pt x="3104388" y="1710689"/>
                </a:lnTo>
                <a:lnTo>
                  <a:pt x="3104388" y="1748789"/>
                </a:lnTo>
                <a:lnTo>
                  <a:pt x="3114293" y="1748789"/>
                </a:lnTo>
                <a:close/>
              </a:path>
              <a:path w="3114675" h="2251710">
                <a:moveTo>
                  <a:pt x="3114293" y="1815845"/>
                </a:moveTo>
                <a:lnTo>
                  <a:pt x="3114293" y="1777745"/>
                </a:lnTo>
                <a:lnTo>
                  <a:pt x="3104388" y="1777745"/>
                </a:lnTo>
                <a:lnTo>
                  <a:pt x="3104388" y="1815845"/>
                </a:lnTo>
                <a:lnTo>
                  <a:pt x="3114293" y="1815845"/>
                </a:lnTo>
                <a:close/>
              </a:path>
              <a:path w="3114675" h="2251710">
                <a:moveTo>
                  <a:pt x="3114293" y="1882139"/>
                </a:moveTo>
                <a:lnTo>
                  <a:pt x="3114293" y="1844039"/>
                </a:lnTo>
                <a:lnTo>
                  <a:pt x="3104388" y="1844039"/>
                </a:lnTo>
                <a:lnTo>
                  <a:pt x="3104388" y="1882139"/>
                </a:lnTo>
                <a:lnTo>
                  <a:pt x="3114293" y="1882139"/>
                </a:lnTo>
                <a:close/>
              </a:path>
              <a:path w="3114675" h="2251710">
                <a:moveTo>
                  <a:pt x="3114293" y="1948433"/>
                </a:moveTo>
                <a:lnTo>
                  <a:pt x="3114293" y="1910333"/>
                </a:lnTo>
                <a:lnTo>
                  <a:pt x="3104388" y="1910333"/>
                </a:lnTo>
                <a:lnTo>
                  <a:pt x="3104388" y="1948433"/>
                </a:lnTo>
                <a:lnTo>
                  <a:pt x="3114293" y="1948433"/>
                </a:lnTo>
                <a:close/>
              </a:path>
              <a:path w="3114675" h="2251710">
                <a:moveTo>
                  <a:pt x="3114293" y="2015489"/>
                </a:moveTo>
                <a:lnTo>
                  <a:pt x="3114293" y="1977389"/>
                </a:lnTo>
                <a:lnTo>
                  <a:pt x="3104388" y="1977389"/>
                </a:lnTo>
                <a:lnTo>
                  <a:pt x="3104388" y="2015489"/>
                </a:lnTo>
                <a:lnTo>
                  <a:pt x="3114293" y="2015489"/>
                </a:lnTo>
                <a:close/>
              </a:path>
              <a:path w="3114675" h="2251710">
                <a:moveTo>
                  <a:pt x="3114293" y="2082545"/>
                </a:moveTo>
                <a:lnTo>
                  <a:pt x="3114293" y="2043683"/>
                </a:lnTo>
                <a:lnTo>
                  <a:pt x="3104388" y="2043683"/>
                </a:lnTo>
                <a:lnTo>
                  <a:pt x="3104388" y="2081783"/>
                </a:lnTo>
                <a:lnTo>
                  <a:pt x="3114293" y="2082545"/>
                </a:lnTo>
                <a:close/>
              </a:path>
              <a:path w="3114675" h="2251710">
                <a:moveTo>
                  <a:pt x="3110484" y="2111501"/>
                </a:moveTo>
                <a:lnTo>
                  <a:pt x="3101340" y="2109215"/>
                </a:lnTo>
                <a:lnTo>
                  <a:pt x="3096767" y="2124455"/>
                </a:lnTo>
                <a:lnTo>
                  <a:pt x="3094482" y="2132837"/>
                </a:lnTo>
                <a:lnTo>
                  <a:pt x="3091434" y="2139695"/>
                </a:lnTo>
                <a:lnTo>
                  <a:pt x="3089147" y="2144267"/>
                </a:lnTo>
                <a:lnTo>
                  <a:pt x="3098291" y="2148839"/>
                </a:lnTo>
                <a:lnTo>
                  <a:pt x="3100578" y="2143505"/>
                </a:lnTo>
                <a:lnTo>
                  <a:pt x="3103626" y="2135885"/>
                </a:lnTo>
                <a:lnTo>
                  <a:pt x="3105912" y="2127503"/>
                </a:lnTo>
                <a:lnTo>
                  <a:pt x="3108960" y="2119121"/>
                </a:lnTo>
                <a:lnTo>
                  <a:pt x="3110484" y="2111501"/>
                </a:lnTo>
                <a:close/>
              </a:path>
              <a:path w="3114675" h="2251710">
                <a:moveTo>
                  <a:pt x="3083814" y="2173985"/>
                </a:moveTo>
                <a:lnTo>
                  <a:pt x="3076193" y="2168651"/>
                </a:lnTo>
                <a:lnTo>
                  <a:pt x="3070860" y="2175509"/>
                </a:lnTo>
                <a:lnTo>
                  <a:pt x="3066288" y="2181605"/>
                </a:lnTo>
                <a:lnTo>
                  <a:pt x="3060954" y="2187701"/>
                </a:lnTo>
                <a:lnTo>
                  <a:pt x="3051810" y="2196845"/>
                </a:lnTo>
                <a:lnTo>
                  <a:pt x="3058667" y="2203703"/>
                </a:lnTo>
                <a:lnTo>
                  <a:pt x="3062478" y="2199893"/>
                </a:lnTo>
                <a:lnTo>
                  <a:pt x="3067812" y="2193797"/>
                </a:lnTo>
                <a:lnTo>
                  <a:pt x="3073908" y="2187701"/>
                </a:lnTo>
                <a:lnTo>
                  <a:pt x="3079241" y="2180843"/>
                </a:lnTo>
                <a:lnTo>
                  <a:pt x="3083814" y="2173985"/>
                </a:lnTo>
                <a:close/>
              </a:path>
              <a:path w="3114675" h="2251710">
                <a:moveTo>
                  <a:pt x="3035045" y="2221991"/>
                </a:moveTo>
                <a:lnTo>
                  <a:pt x="3030474" y="2214371"/>
                </a:lnTo>
                <a:lnTo>
                  <a:pt x="3016758" y="2221991"/>
                </a:lnTo>
                <a:lnTo>
                  <a:pt x="3009138" y="2225801"/>
                </a:lnTo>
                <a:lnTo>
                  <a:pt x="3002280" y="2229611"/>
                </a:lnTo>
                <a:lnTo>
                  <a:pt x="2996945" y="2231135"/>
                </a:lnTo>
                <a:lnTo>
                  <a:pt x="3000756" y="2240279"/>
                </a:lnTo>
                <a:lnTo>
                  <a:pt x="3006090" y="2237993"/>
                </a:lnTo>
                <a:lnTo>
                  <a:pt x="3028950" y="2226563"/>
                </a:lnTo>
                <a:lnTo>
                  <a:pt x="3035045" y="2221991"/>
                </a:lnTo>
                <a:close/>
              </a:path>
              <a:path w="3114675" h="2251710">
                <a:moveTo>
                  <a:pt x="2972562" y="2248661"/>
                </a:moveTo>
                <a:lnTo>
                  <a:pt x="2971038" y="2238755"/>
                </a:lnTo>
                <a:lnTo>
                  <a:pt x="2961893" y="2240279"/>
                </a:lnTo>
                <a:lnTo>
                  <a:pt x="2953512" y="2241803"/>
                </a:lnTo>
                <a:lnTo>
                  <a:pt x="2945891" y="2242496"/>
                </a:lnTo>
                <a:lnTo>
                  <a:pt x="2933700" y="2242565"/>
                </a:lnTo>
                <a:lnTo>
                  <a:pt x="2933700" y="2251709"/>
                </a:lnTo>
                <a:lnTo>
                  <a:pt x="2945891" y="2251709"/>
                </a:lnTo>
                <a:lnTo>
                  <a:pt x="2964180" y="2250185"/>
                </a:lnTo>
                <a:lnTo>
                  <a:pt x="2972562" y="2248661"/>
                </a:lnTo>
                <a:close/>
              </a:path>
              <a:path w="3114675" h="2251710">
                <a:moveTo>
                  <a:pt x="2905506" y="2251710"/>
                </a:moveTo>
                <a:lnTo>
                  <a:pt x="2905506" y="2242565"/>
                </a:lnTo>
                <a:lnTo>
                  <a:pt x="2867406" y="2242565"/>
                </a:lnTo>
                <a:lnTo>
                  <a:pt x="2867406" y="2251710"/>
                </a:lnTo>
                <a:lnTo>
                  <a:pt x="2905506" y="2251710"/>
                </a:lnTo>
                <a:close/>
              </a:path>
              <a:path w="3114675" h="2251710">
                <a:moveTo>
                  <a:pt x="2838450" y="2251710"/>
                </a:moveTo>
                <a:lnTo>
                  <a:pt x="2838450" y="2242565"/>
                </a:lnTo>
                <a:lnTo>
                  <a:pt x="2800350" y="2242565"/>
                </a:lnTo>
                <a:lnTo>
                  <a:pt x="2800350" y="2251710"/>
                </a:lnTo>
                <a:lnTo>
                  <a:pt x="2838450" y="2251710"/>
                </a:lnTo>
                <a:close/>
              </a:path>
              <a:path w="3114675" h="2251710">
                <a:moveTo>
                  <a:pt x="2772156" y="2251710"/>
                </a:moveTo>
                <a:lnTo>
                  <a:pt x="2772156" y="2242565"/>
                </a:lnTo>
                <a:lnTo>
                  <a:pt x="2734056" y="2242565"/>
                </a:lnTo>
                <a:lnTo>
                  <a:pt x="2734056" y="2251710"/>
                </a:lnTo>
                <a:lnTo>
                  <a:pt x="2772156" y="2251710"/>
                </a:lnTo>
                <a:close/>
              </a:path>
              <a:path w="3114675" h="2251710">
                <a:moveTo>
                  <a:pt x="2705100" y="2251710"/>
                </a:moveTo>
                <a:lnTo>
                  <a:pt x="2705100" y="2242565"/>
                </a:lnTo>
                <a:lnTo>
                  <a:pt x="2667000" y="2242565"/>
                </a:lnTo>
                <a:lnTo>
                  <a:pt x="2667000" y="2251710"/>
                </a:lnTo>
                <a:lnTo>
                  <a:pt x="2705100" y="2251710"/>
                </a:lnTo>
                <a:close/>
              </a:path>
              <a:path w="3114675" h="2251710">
                <a:moveTo>
                  <a:pt x="2638806" y="2251710"/>
                </a:moveTo>
                <a:lnTo>
                  <a:pt x="2638806" y="2242565"/>
                </a:lnTo>
                <a:lnTo>
                  <a:pt x="2600706" y="2242565"/>
                </a:lnTo>
                <a:lnTo>
                  <a:pt x="2600706" y="2251710"/>
                </a:lnTo>
                <a:lnTo>
                  <a:pt x="2638806" y="2251710"/>
                </a:lnTo>
                <a:close/>
              </a:path>
              <a:path w="3114675" h="2251710">
                <a:moveTo>
                  <a:pt x="2571750" y="2251710"/>
                </a:moveTo>
                <a:lnTo>
                  <a:pt x="2571750" y="2242565"/>
                </a:lnTo>
                <a:lnTo>
                  <a:pt x="2533650" y="2242565"/>
                </a:lnTo>
                <a:lnTo>
                  <a:pt x="2533650" y="2251710"/>
                </a:lnTo>
                <a:lnTo>
                  <a:pt x="2571750" y="2251710"/>
                </a:lnTo>
                <a:close/>
              </a:path>
              <a:path w="3114675" h="2251710">
                <a:moveTo>
                  <a:pt x="2505456" y="2251710"/>
                </a:moveTo>
                <a:lnTo>
                  <a:pt x="2505456" y="2242565"/>
                </a:lnTo>
                <a:lnTo>
                  <a:pt x="2467356" y="2242565"/>
                </a:lnTo>
                <a:lnTo>
                  <a:pt x="2467356" y="2251710"/>
                </a:lnTo>
                <a:lnTo>
                  <a:pt x="2505456" y="2251710"/>
                </a:lnTo>
                <a:close/>
              </a:path>
              <a:path w="3114675" h="2251710">
                <a:moveTo>
                  <a:pt x="2438400" y="2251710"/>
                </a:moveTo>
                <a:lnTo>
                  <a:pt x="2438400" y="2242565"/>
                </a:lnTo>
                <a:lnTo>
                  <a:pt x="2400300" y="2242565"/>
                </a:lnTo>
                <a:lnTo>
                  <a:pt x="2400300" y="2251710"/>
                </a:lnTo>
                <a:lnTo>
                  <a:pt x="2438400" y="2251710"/>
                </a:lnTo>
                <a:close/>
              </a:path>
              <a:path w="3114675" h="2251710">
                <a:moveTo>
                  <a:pt x="2372106" y="2251710"/>
                </a:moveTo>
                <a:lnTo>
                  <a:pt x="2372106" y="2242565"/>
                </a:lnTo>
                <a:lnTo>
                  <a:pt x="2334006" y="2242565"/>
                </a:lnTo>
                <a:lnTo>
                  <a:pt x="2334006" y="2251710"/>
                </a:lnTo>
                <a:lnTo>
                  <a:pt x="2372106" y="2251710"/>
                </a:lnTo>
                <a:close/>
              </a:path>
              <a:path w="3114675" h="2251710">
                <a:moveTo>
                  <a:pt x="2305050" y="2251710"/>
                </a:moveTo>
                <a:lnTo>
                  <a:pt x="2305050" y="2242565"/>
                </a:lnTo>
                <a:lnTo>
                  <a:pt x="2266950" y="2242565"/>
                </a:lnTo>
                <a:lnTo>
                  <a:pt x="2266950" y="2251710"/>
                </a:lnTo>
                <a:lnTo>
                  <a:pt x="2305050" y="2251710"/>
                </a:lnTo>
                <a:close/>
              </a:path>
              <a:path w="3114675" h="2251710">
                <a:moveTo>
                  <a:pt x="2238756" y="2251710"/>
                </a:moveTo>
                <a:lnTo>
                  <a:pt x="2238756" y="2242565"/>
                </a:lnTo>
                <a:lnTo>
                  <a:pt x="2200656" y="2242565"/>
                </a:lnTo>
                <a:lnTo>
                  <a:pt x="2200656" y="2251710"/>
                </a:lnTo>
                <a:lnTo>
                  <a:pt x="2238756" y="2251710"/>
                </a:lnTo>
                <a:close/>
              </a:path>
              <a:path w="3114675" h="2251710">
                <a:moveTo>
                  <a:pt x="2171700" y="2251710"/>
                </a:moveTo>
                <a:lnTo>
                  <a:pt x="2171700" y="2242565"/>
                </a:lnTo>
                <a:lnTo>
                  <a:pt x="2133600" y="2242565"/>
                </a:lnTo>
                <a:lnTo>
                  <a:pt x="2133600" y="2251710"/>
                </a:lnTo>
                <a:lnTo>
                  <a:pt x="2171700" y="2251710"/>
                </a:lnTo>
                <a:close/>
              </a:path>
              <a:path w="3114675" h="2251710">
                <a:moveTo>
                  <a:pt x="2105406" y="2251710"/>
                </a:moveTo>
                <a:lnTo>
                  <a:pt x="2105406" y="2242565"/>
                </a:lnTo>
                <a:lnTo>
                  <a:pt x="2067306" y="2242565"/>
                </a:lnTo>
                <a:lnTo>
                  <a:pt x="2067306" y="2251710"/>
                </a:lnTo>
                <a:lnTo>
                  <a:pt x="2105406" y="2251710"/>
                </a:lnTo>
                <a:close/>
              </a:path>
              <a:path w="3114675" h="2251710">
                <a:moveTo>
                  <a:pt x="2038350" y="2251710"/>
                </a:moveTo>
                <a:lnTo>
                  <a:pt x="2038350" y="2242565"/>
                </a:lnTo>
                <a:lnTo>
                  <a:pt x="2000250" y="2242565"/>
                </a:lnTo>
                <a:lnTo>
                  <a:pt x="2000250" y="2251710"/>
                </a:lnTo>
                <a:lnTo>
                  <a:pt x="2038350" y="2251710"/>
                </a:lnTo>
                <a:close/>
              </a:path>
              <a:path w="3114675" h="2251710">
                <a:moveTo>
                  <a:pt x="1972056" y="2251710"/>
                </a:moveTo>
                <a:lnTo>
                  <a:pt x="1972056" y="2242565"/>
                </a:lnTo>
                <a:lnTo>
                  <a:pt x="1933956" y="2242565"/>
                </a:lnTo>
                <a:lnTo>
                  <a:pt x="1933956" y="2251710"/>
                </a:lnTo>
                <a:lnTo>
                  <a:pt x="1972056" y="2251710"/>
                </a:lnTo>
                <a:close/>
              </a:path>
              <a:path w="3114675" h="2251710">
                <a:moveTo>
                  <a:pt x="1905000" y="2251710"/>
                </a:moveTo>
                <a:lnTo>
                  <a:pt x="1905000" y="2242565"/>
                </a:lnTo>
                <a:lnTo>
                  <a:pt x="1866900" y="2242565"/>
                </a:lnTo>
                <a:lnTo>
                  <a:pt x="1866900" y="2251710"/>
                </a:lnTo>
                <a:lnTo>
                  <a:pt x="1905000" y="2251710"/>
                </a:lnTo>
                <a:close/>
              </a:path>
              <a:path w="3114675" h="2251710">
                <a:moveTo>
                  <a:pt x="1838706" y="2251710"/>
                </a:moveTo>
                <a:lnTo>
                  <a:pt x="1838706" y="2242565"/>
                </a:lnTo>
                <a:lnTo>
                  <a:pt x="1800606" y="2242565"/>
                </a:lnTo>
                <a:lnTo>
                  <a:pt x="1800606" y="2251710"/>
                </a:lnTo>
                <a:lnTo>
                  <a:pt x="1838706" y="2251710"/>
                </a:lnTo>
                <a:close/>
              </a:path>
              <a:path w="3114675" h="2251710">
                <a:moveTo>
                  <a:pt x="1771650" y="2251710"/>
                </a:moveTo>
                <a:lnTo>
                  <a:pt x="1771650" y="2242565"/>
                </a:lnTo>
                <a:lnTo>
                  <a:pt x="1733550" y="2242565"/>
                </a:lnTo>
                <a:lnTo>
                  <a:pt x="1733550" y="2251710"/>
                </a:lnTo>
                <a:lnTo>
                  <a:pt x="1771650" y="2251710"/>
                </a:lnTo>
                <a:close/>
              </a:path>
              <a:path w="3114675" h="2251710">
                <a:moveTo>
                  <a:pt x="1705356" y="2251710"/>
                </a:moveTo>
                <a:lnTo>
                  <a:pt x="1705356" y="2242565"/>
                </a:lnTo>
                <a:lnTo>
                  <a:pt x="1667256" y="2242565"/>
                </a:lnTo>
                <a:lnTo>
                  <a:pt x="1667256" y="2251710"/>
                </a:lnTo>
                <a:lnTo>
                  <a:pt x="1705356" y="2251710"/>
                </a:lnTo>
                <a:close/>
              </a:path>
              <a:path w="3114675" h="2251710">
                <a:moveTo>
                  <a:pt x="1638300" y="2251710"/>
                </a:moveTo>
                <a:lnTo>
                  <a:pt x="1638300" y="2242565"/>
                </a:lnTo>
                <a:lnTo>
                  <a:pt x="1600200" y="2242565"/>
                </a:lnTo>
                <a:lnTo>
                  <a:pt x="1600200" y="2251710"/>
                </a:lnTo>
                <a:lnTo>
                  <a:pt x="1638300" y="2251710"/>
                </a:lnTo>
                <a:close/>
              </a:path>
              <a:path w="3114675" h="2251710">
                <a:moveTo>
                  <a:pt x="1572006" y="2251710"/>
                </a:moveTo>
                <a:lnTo>
                  <a:pt x="1572006" y="2242565"/>
                </a:lnTo>
                <a:lnTo>
                  <a:pt x="1533906" y="2242565"/>
                </a:lnTo>
                <a:lnTo>
                  <a:pt x="1533906" y="2251710"/>
                </a:lnTo>
                <a:lnTo>
                  <a:pt x="1572006" y="2251710"/>
                </a:lnTo>
                <a:close/>
              </a:path>
              <a:path w="3114675" h="2251710">
                <a:moveTo>
                  <a:pt x="1504950" y="2251710"/>
                </a:moveTo>
                <a:lnTo>
                  <a:pt x="1504950" y="2242565"/>
                </a:lnTo>
                <a:lnTo>
                  <a:pt x="1466850" y="2242565"/>
                </a:lnTo>
                <a:lnTo>
                  <a:pt x="1466850" y="2251710"/>
                </a:lnTo>
                <a:lnTo>
                  <a:pt x="1504950" y="2251710"/>
                </a:lnTo>
                <a:close/>
              </a:path>
              <a:path w="3114675" h="2251710">
                <a:moveTo>
                  <a:pt x="1438656" y="2251710"/>
                </a:moveTo>
                <a:lnTo>
                  <a:pt x="1438656" y="2242565"/>
                </a:lnTo>
                <a:lnTo>
                  <a:pt x="1400556" y="2242565"/>
                </a:lnTo>
                <a:lnTo>
                  <a:pt x="1400556" y="2251710"/>
                </a:lnTo>
                <a:lnTo>
                  <a:pt x="1438656" y="2251710"/>
                </a:lnTo>
                <a:close/>
              </a:path>
              <a:path w="3114675" h="2251710">
                <a:moveTo>
                  <a:pt x="1371600" y="2251710"/>
                </a:moveTo>
                <a:lnTo>
                  <a:pt x="1371600" y="2242565"/>
                </a:lnTo>
                <a:lnTo>
                  <a:pt x="1333500" y="2242565"/>
                </a:lnTo>
                <a:lnTo>
                  <a:pt x="1333500" y="2251710"/>
                </a:lnTo>
                <a:lnTo>
                  <a:pt x="1371600" y="2251710"/>
                </a:lnTo>
                <a:close/>
              </a:path>
              <a:path w="3114675" h="2251710">
                <a:moveTo>
                  <a:pt x="1305306" y="2251710"/>
                </a:moveTo>
                <a:lnTo>
                  <a:pt x="1305306" y="2242565"/>
                </a:lnTo>
                <a:lnTo>
                  <a:pt x="1267206" y="2242565"/>
                </a:lnTo>
                <a:lnTo>
                  <a:pt x="1267206" y="2251710"/>
                </a:lnTo>
                <a:lnTo>
                  <a:pt x="1305306" y="2251710"/>
                </a:lnTo>
                <a:close/>
              </a:path>
              <a:path w="3114675" h="2251710">
                <a:moveTo>
                  <a:pt x="1238250" y="2251710"/>
                </a:moveTo>
                <a:lnTo>
                  <a:pt x="1238250" y="2242565"/>
                </a:lnTo>
                <a:lnTo>
                  <a:pt x="1200150" y="2242565"/>
                </a:lnTo>
                <a:lnTo>
                  <a:pt x="1200150" y="2251710"/>
                </a:lnTo>
                <a:lnTo>
                  <a:pt x="1238250" y="2251710"/>
                </a:lnTo>
                <a:close/>
              </a:path>
              <a:path w="3114675" h="2251710">
                <a:moveTo>
                  <a:pt x="1171956" y="2251710"/>
                </a:moveTo>
                <a:lnTo>
                  <a:pt x="1171956" y="2242565"/>
                </a:lnTo>
                <a:lnTo>
                  <a:pt x="1133856" y="2242566"/>
                </a:lnTo>
                <a:lnTo>
                  <a:pt x="1133856" y="2251710"/>
                </a:lnTo>
                <a:lnTo>
                  <a:pt x="1171956" y="2251710"/>
                </a:lnTo>
                <a:close/>
              </a:path>
              <a:path w="3114675" h="2251710">
                <a:moveTo>
                  <a:pt x="1104900" y="2251710"/>
                </a:moveTo>
                <a:lnTo>
                  <a:pt x="1104900" y="2242566"/>
                </a:lnTo>
                <a:lnTo>
                  <a:pt x="1066800" y="2242566"/>
                </a:lnTo>
                <a:lnTo>
                  <a:pt x="1066800" y="2251710"/>
                </a:lnTo>
                <a:lnTo>
                  <a:pt x="1104900" y="2251710"/>
                </a:lnTo>
                <a:close/>
              </a:path>
              <a:path w="3114675" h="2251710">
                <a:moveTo>
                  <a:pt x="1038606" y="2251710"/>
                </a:moveTo>
                <a:lnTo>
                  <a:pt x="1038606" y="2242566"/>
                </a:lnTo>
                <a:lnTo>
                  <a:pt x="1000506" y="2242566"/>
                </a:lnTo>
                <a:lnTo>
                  <a:pt x="1000506" y="2251710"/>
                </a:lnTo>
                <a:lnTo>
                  <a:pt x="1038606" y="2251710"/>
                </a:lnTo>
                <a:close/>
              </a:path>
              <a:path w="3114675" h="2251710">
                <a:moveTo>
                  <a:pt x="971550" y="2251710"/>
                </a:moveTo>
                <a:lnTo>
                  <a:pt x="971550" y="2242566"/>
                </a:lnTo>
                <a:lnTo>
                  <a:pt x="933450" y="2242566"/>
                </a:lnTo>
                <a:lnTo>
                  <a:pt x="933450" y="2251710"/>
                </a:lnTo>
                <a:lnTo>
                  <a:pt x="971550" y="2251710"/>
                </a:lnTo>
                <a:close/>
              </a:path>
              <a:path w="3114675" h="2251710">
                <a:moveTo>
                  <a:pt x="905256" y="2251710"/>
                </a:moveTo>
                <a:lnTo>
                  <a:pt x="905256" y="2242566"/>
                </a:lnTo>
                <a:lnTo>
                  <a:pt x="867156" y="2242566"/>
                </a:lnTo>
                <a:lnTo>
                  <a:pt x="867156" y="2251710"/>
                </a:lnTo>
                <a:lnTo>
                  <a:pt x="905256" y="2251710"/>
                </a:lnTo>
                <a:close/>
              </a:path>
              <a:path w="3114675" h="2251710">
                <a:moveTo>
                  <a:pt x="838200" y="2251710"/>
                </a:moveTo>
                <a:lnTo>
                  <a:pt x="838200" y="2242566"/>
                </a:lnTo>
                <a:lnTo>
                  <a:pt x="800100" y="2242566"/>
                </a:lnTo>
                <a:lnTo>
                  <a:pt x="800100" y="2251710"/>
                </a:lnTo>
                <a:lnTo>
                  <a:pt x="838200" y="2251710"/>
                </a:lnTo>
                <a:close/>
              </a:path>
              <a:path w="3114675" h="2251710">
                <a:moveTo>
                  <a:pt x="771906" y="2251710"/>
                </a:moveTo>
                <a:lnTo>
                  <a:pt x="771906" y="2242566"/>
                </a:lnTo>
                <a:lnTo>
                  <a:pt x="733806" y="2242566"/>
                </a:lnTo>
                <a:lnTo>
                  <a:pt x="733806" y="2251710"/>
                </a:lnTo>
                <a:lnTo>
                  <a:pt x="771906" y="2251710"/>
                </a:lnTo>
                <a:close/>
              </a:path>
              <a:path w="3114675" h="2251710">
                <a:moveTo>
                  <a:pt x="704850" y="2251710"/>
                </a:moveTo>
                <a:lnTo>
                  <a:pt x="704850" y="2242566"/>
                </a:lnTo>
                <a:lnTo>
                  <a:pt x="666750" y="2242566"/>
                </a:lnTo>
                <a:lnTo>
                  <a:pt x="666750" y="2251710"/>
                </a:lnTo>
                <a:lnTo>
                  <a:pt x="704850" y="2251710"/>
                </a:lnTo>
                <a:close/>
              </a:path>
              <a:path w="3114675" h="2251710">
                <a:moveTo>
                  <a:pt x="638556" y="2251710"/>
                </a:moveTo>
                <a:lnTo>
                  <a:pt x="638556" y="2242566"/>
                </a:lnTo>
                <a:lnTo>
                  <a:pt x="600456" y="2242566"/>
                </a:lnTo>
                <a:lnTo>
                  <a:pt x="600456" y="2251710"/>
                </a:lnTo>
                <a:lnTo>
                  <a:pt x="638556" y="2251710"/>
                </a:lnTo>
                <a:close/>
              </a:path>
              <a:path w="3114675" h="2251710">
                <a:moveTo>
                  <a:pt x="571500" y="2251710"/>
                </a:moveTo>
                <a:lnTo>
                  <a:pt x="571500" y="2242566"/>
                </a:lnTo>
                <a:lnTo>
                  <a:pt x="533400" y="2242566"/>
                </a:lnTo>
                <a:lnTo>
                  <a:pt x="533400" y="2251710"/>
                </a:lnTo>
                <a:lnTo>
                  <a:pt x="571500" y="2251710"/>
                </a:lnTo>
                <a:close/>
              </a:path>
              <a:path w="3114675" h="2251710">
                <a:moveTo>
                  <a:pt x="505206" y="2251710"/>
                </a:moveTo>
                <a:lnTo>
                  <a:pt x="505206" y="2242566"/>
                </a:lnTo>
                <a:lnTo>
                  <a:pt x="467106" y="2242566"/>
                </a:lnTo>
                <a:lnTo>
                  <a:pt x="467106" y="2251710"/>
                </a:lnTo>
                <a:lnTo>
                  <a:pt x="505206" y="2251710"/>
                </a:lnTo>
                <a:close/>
              </a:path>
              <a:path w="3114675" h="2251710">
                <a:moveTo>
                  <a:pt x="438150" y="2251710"/>
                </a:moveTo>
                <a:lnTo>
                  <a:pt x="438150" y="2242566"/>
                </a:lnTo>
                <a:lnTo>
                  <a:pt x="400050" y="2242566"/>
                </a:lnTo>
                <a:lnTo>
                  <a:pt x="400050" y="2251710"/>
                </a:lnTo>
                <a:lnTo>
                  <a:pt x="438150" y="2251710"/>
                </a:lnTo>
                <a:close/>
              </a:path>
              <a:path w="3114675" h="2251710">
                <a:moveTo>
                  <a:pt x="371856" y="2251710"/>
                </a:moveTo>
                <a:lnTo>
                  <a:pt x="371856" y="2242566"/>
                </a:lnTo>
                <a:lnTo>
                  <a:pt x="333756" y="2242566"/>
                </a:lnTo>
                <a:lnTo>
                  <a:pt x="333756" y="2251710"/>
                </a:lnTo>
                <a:lnTo>
                  <a:pt x="371856" y="2251710"/>
                </a:lnTo>
                <a:close/>
              </a:path>
              <a:path w="3114675" h="2251710">
                <a:moveTo>
                  <a:pt x="304800" y="2251710"/>
                </a:moveTo>
                <a:lnTo>
                  <a:pt x="304800" y="2242566"/>
                </a:lnTo>
                <a:lnTo>
                  <a:pt x="266700" y="2242566"/>
                </a:lnTo>
                <a:lnTo>
                  <a:pt x="266700" y="2251710"/>
                </a:lnTo>
                <a:lnTo>
                  <a:pt x="304800" y="2251710"/>
                </a:lnTo>
                <a:close/>
              </a:path>
              <a:path w="3114675" h="2251710">
                <a:moveTo>
                  <a:pt x="238506" y="2251710"/>
                </a:moveTo>
                <a:lnTo>
                  <a:pt x="238506" y="2242566"/>
                </a:lnTo>
                <a:lnTo>
                  <a:pt x="200406" y="2242566"/>
                </a:lnTo>
                <a:lnTo>
                  <a:pt x="200406" y="2251710"/>
                </a:lnTo>
                <a:lnTo>
                  <a:pt x="238506" y="2251710"/>
                </a:lnTo>
                <a:close/>
              </a:path>
              <a:path w="3114675" h="2251710">
                <a:moveTo>
                  <a:pt x="172212" y="2242566"/>
                </a:moveTo>
                <a:lnTo>
                  <a:pt x="168401" y="2242566"/>
                </a:lnTo>
                <a:lnTo>
                  <a:pt x="160020" y="2241804"/>
                </a:lnTo>
                <a:lnTo>
                  <a:pt x="134874" y="2237232"/>
                </a:lnTo>
                <a:lnTo>
                  <a:pt x="133350" y="2246376"/>
                </a:lnTo>
                <a:lnTo>
                  <a:pt x="141732" y="2248662"/>
                </a:lnTo>
                <a:lnTo>
                  <a:pt x="150113" y="2250186"/>
                </a:lnTo>
                <a:lnTo>
                  <a:pt x="168401" y="2251710"/>
                </a:lnTo>
                <a:lnTo>
                  <a:pt x="171450" y="2251710"/>
                </a:lnTo>
                <a:lnTo>
                  <a:pt x="172212" y="2242566"/>
                </a:lnTo>
                <a:close/>
              </a:path>
              <a:path w="3114675" h="2251710">
                <a:moveTo>
                  <a:pt x="108965" y="2228088"/>
                </a:moveTo>
                <a:lnTo>
                  <a:pt x="96774" y="2221991"/>
                </a:lnTo>
                <a:lnTo>
                  <a:pt x="89915" y="2218182"/>
                </a:lnTo>
                <a:lnTo>
                  <a:pt x="83058" y="2213610"/>
                </a:lnTo>
                <a:lnTo>
                  <a:pt x="76962" y="2209800"/>
                </a:lnTo>
                <a:lnTo>
                  <a:pt x="71627" y="2217420"/>
                </a:lnTo>
                <a:lnTo>
                  <a:pt x="77724" y="2221991"/>
                </a:lnTo>
                <a:lnTo>
                  <a:pt x="85344" y="2226564"/>
                </a:lnTo>
                <a:lnTo>
                  <a:pt x="105156" y="2236470"/>
                </a:lnTo>
                <a:lnTo>
                  <a:pt x="108965" y="2228088"/>
                </a:lnTo>
                <a:close/>
              </a:path>
              <a:path w="3114675" h="2251710">
                <a:moveTo>
                  <a:pt x="56387" y="2191512"/>
                </a:moveTo>
                <a:lnTo>
                  <a:pt x="52577" y="2187702"/>
                </a:lnTo>
                <a:lnTo>
                  <a:pt x="47244" y="2181605"/>
                </a:lnTo>
                <a:lnTo>
                  <a:pt x="42672" y="2174748"/>
                </a:lnTo>
                <a:lnTo>
                  <a:pt x="38100" y="2168652"/>
                </a:lnTo>
                <a:lnTo>
                  <a:pt x="33527" y="2161794"/>
                </a:lnTo>
                <a:lnTo>
                  <a:pt x="25908" y="2167128"/>
                </a:lnTo>
                <a:lnTo>
                  <a:pt x="29718" y="2173986"/>
                </a:lnTo>
                <a:lnTo>
                  <a:pt x="40386" y="2187702"/>
                </a:lnTo>
                <a:lnTo>
                  <a:pt x="45720" y="2193798"/>
                </a:lnTo>
                <a:lnTo>
                  <a:pt x="49530" y="2197608"/>
                </a:lnTo>
                <a:lnTo>
                  <a:pt x="56387" y="2191512"/>
                </a:lnTo>
                <a:close/>
              </a:path>
              <a:path w="3114675" h="2251710">
                <a:moveTo>
                  <a:pt x="21336" y="2137410"/>
                </a:moveTo>
                <a:lnTo>
                  <a:pt x="19050" y="2132076"/>
                </a:lnTo>
                <a:lnTo>
                  <a:pt x="16763" y="2124455"/>
                </a:lnTo>
                <a:lnTo>
                  <a:pt x="14477" y="2116074"/>
                </a:lnTo>
                <a:lnTo>
                  <a:pt x="12191" y="2108454"/>
                </a:lnTo>
                <a:lnTo>
                  <a:pt x="11430" y="2101596"/>
                </a:lnTo>
                <a:lnTo>
                  <a:pt x="3048" y="2102993"/>
                </a:lnTo>
                <a:lnTo>
                  <a:pt x="2286" y="2103120"/>
                </a:lnTo>
                <a:lnTo>
                  <a:pt x="3048" y="2110740"/>
                </a:lnTo>
                <a:lnTo>
                  <a:pt x="7620" y="2127504"/>
                </a:lnTo>
                <a:lnTo>
                  <a:pt x="10668" y="2135886"/>
                </a:lnTo>
                <a:lnTo>
                  <a:pt x="12191" y="2140458"/>
                </a:lnTo>
                <a:lnTo>
                  <a:pt x="21336" y="213741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D29F1033-5A93-4604-87A4-C90092678653}" type="datetime1">
              <a:rPr lang="en-US" spc="-10" smtClean="0"/>
              <a:t>8/17/2026</a:t>
            </a:fld>
            <a:endParaRPr lang="en-US" spc="-10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462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lang="en-US" spc="-50" smtClean="0"/>
              <a:t>54</a:t>
            </a:fld>
            <a:endParaRPr lang="en-US" spc="-50" dirty="0"/>
          </a:p>
        </p:txBody>
      </p:sp>
      <p:sp>
        <p:nvSpPr>
          <p:cNvPr id="18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1794" y="6276846"/>
            <a:ext cx="1085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Verdana"/>
                <a:cs typeface="Verdana"/>
              </a:rPr>
              <a:t>Viola</a:t>
            </a:r>
            <a:r>
              <a:rPr sz="1200" spc="-4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Schaffer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77626" y="6279894"/>
            <a:ext cx="219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Verdana"/>
                <a:cs typeface="Verdana"/>
              </a:rPr>
              <a:t>56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Feed-</a:t>
            </a:r>
            <a:r>
              <a:rPr dirty="0"/>
              <a:t>forward</a:t>
            </a:r>
            <a:r>
              <a:rPr spc="-20" dirty="0"/>
              <a:t> </a:t>
            </a:r>
            <a:r>
              <a:rPr spc="-10" dirty="0"/>
              <a:t>Compensation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19144" y="4320794"/>
            <a:ext cx="6877684" cy="136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0" indent="-469900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Font typeface="Wingdings"/>
              <a:buChar char=""/>
              <a:tabLst>
                <a:tab pos="508000" algn="l"/>
              </a:tabLst>
            </a:pPr>
            <a:r>
              <a:rPr sz="2000" dirty="0">
                <a:latin typeface="Verdana"/>
                <a:cs typeface="Verdana"/>
              </a:rPr>
              <a:t>C</a:t>
            </a:r>
            <a:r>
              <a:rPr sz="1950" baseline="-21367" dirty="0">
                <a:latin typeface="Verdana"/>
                <a:cs typeface="Verdana"/>
              </a:rPr>
              <a:t>ff</a:t>
            </a:r>
            <a:r>
              <a:rPr sz="1950" spc="300" baseline="-21367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bypasses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G2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at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high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frequencies</a:t>
            </a:r>
            <a:endParaRPr sz="2000">
              <a:latin typeface="Verdana"/>
              <a:cs typeface="Verdana"/>
            </a:endParaRPr>
          </a:p>
          <a:p>
            <a:pPr marL="508000" indent="-469900">
              <a:lnSpc>
                <a:spcPct val="100000"/>
              </a:lnSpc>
              <a:spcBef>
                <a:spcPts val="1680"/>
              </a:spcBef>
              <a:buClr>
                <a:srgbClr val="CC0000"/>
              </a:buClr>
              <a:buFont typeface="Wingdings"/>
              <a:buChar char=""/>
              <a:tabLst>
                <a:tab pos="508000" algn="l"/>
              </a:tabLst>
            </a:pPr>
            <a:r>
              <a:rPr sz="2000" dirty="0">
                <a:latin typeface="Verdana"/>
                <a:cs typeface="Verdana"/>
              </a:rPr>
              <a:t>Impedance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looking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into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second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stage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negative!</a:t>
            </a:r>
            <a:endParaRPr sz="2000">
              <a:latin typeface="Verdana"/>
              <a:cs typeface="Verdana"/>
            </a:endParaRPr>
          </a:p>
          <a:p>
            <a:pPr marL="508000" indent="-469900">
              <a:lnSpc>
                <a:spcPct val="100000"/>
              </a:lnSpc>
              <a:spcBef>
                <a:spcPts val="1680"/>
              </a:spcBef>
              <a:buClr>
                <a:srgbClr val="CC0000"/>
              </a:buClr>
              <a:buFont typeface="Wingdings"/>
              <a:buChar char=""/>
              <a:tabLst>
                <a:tab pos="508000" algn="l"/>
              </a:tabLst>
            </a:pPr>
            <a:r>
              <a:rPr sz="2000" dirty="0">
                <a:latin typeface="Verdana"/>
                <a:cs typeface="Verdana"/>
              </a:rPr>
              <a:t>Look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for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distortion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effects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40429" y="1539239"/>
            <a:ext cx="5076444" cy="242849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54855" y="2724403"/>
            <a:ext cx="3492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G1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62039" y="2724403"/>
            <a:ext cx="3492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G2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49411" y="3462020"/>
            <a:ext cx="437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C</a:t>
            </a:r>
            <a:r>
              <a:rPr sz="1200" spc="-25" dirty="0">
                <a:latin typeface="Verdana"/>
                <a:cs typeface="Verdana"/>
              </a:rPr>
              <a:t>LD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36285" y="3462020"/>
            <a:ext cx="487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13888" dirty="0">
                <a:latin typeface="Verdana"/>
                <a:cs typeface="Verdana"/>
              </a:rPr>
              <a:t>C</a:t>
            </a:r>
            <a:r>
              <a:rPr sz="1200" spc="-20" dirty="0">
                <a:latin typeface="Verdana"/>
                <a:cs typeface="Verdana"/>
              </a:rPr>
              <a:t>par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948931" y="2724403"/>
            <a:ext cx="452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-</a:t>
            </a:r>
            <a:r>
              <a:rPr sz="1800" spc="-25" dirty="0">
                <a:latin typeface="Verdana"/>
                <a:cs typeface="Verdana"/>
              </a:rPr>
              <a:t>G3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07116" y="3462020"/>
            <a:ext cx="487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13888" dirty="0">
                <a:latin typeface="Verdana"/>
                <a:cs typeface="Verdana"/>
              </a:rPr>
              <a:t>C</a:t>
            </a:r>
            <a:r>
              <a:rPr sz="1200" spc="-20" dirty="0">
                <a:latin typeface="Verdana"/>
                <a:cs typeface="Verdana"/>
              </a:rPr>
              <a:t>par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94426" y="1226311"/>
            <a:ext cx="461645" cy="790575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0"/>
              </a:spcBef>
            </a:pPr>
            <a:r>
              <a:rPr sz="2700" spc="-37" baseline="13888" dirty="0">
                <a:latin typeface="Verdana"/>
                <a:cs typeface="Verdana"/>
              </a:rPr>
              <a:t>C</a:t>
            </a:r>
            <a:r>
              <a:rPr sz="1200" spc="-25" dirty="0">
                <a:latin typeface="Verdana"/>
                <a:cs typeface="Verdana"/>
              </a:rPr>
              <a:t>M1</a:t>
            </a:r>
            <a:endParaRPr sz="1200">
              <a:latin typeface="Verdana"/>
              <a:cs typeface="Verdana"/>
            </a:endParaRPr>
          </a:p>
          <a:p>
            <a:pPr marL="52705">
              <a:lnSpc>
                <a:spcPct val="100000"/>
              </a:lnSpc>
              <a:spcBef>
                <a:spcPts val="855"/>
              </a:spcBef>
            </a:pPr>
            <a:r>
              <a:rPr sz="2700" spc="-37" baseline="13888" dirty="0">
                <a:latin typeface="Verdana"/>
                <a:cs typeface="Verdana"/>
              </a:rPr>
              <a:t>C</a:t>
            </a:r>
            <a:r>
              <a:rPr sz="1200" spc="-25" dirty="0">
                <a:latin typeface="Verdana"/>
                <a:cs typeface="Verdana"/>
              </a:rPr>
              <a:t>ff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C895E82D-3B5D-4258-9121-84936B2B0495}" type="datetime1">
              <a:rPr lang="en-US" spc="-10" smtClean="0"/>
              <a:t>8/17/2026</a:t>
            </a:fld>
            <a:endParaRPr lang="en-US" spc="-10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462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lang="en-US" spc="-50" smtClean="0"/>
              <a:t>55</a:t>
            </a:fld>
            <a:endParaRPr lang="en-US" spc="-50" dirty="0"/>
          </a:p>
        </p:txBody>
      </p:sp>
      <p:sp>
        <p:nvSpPr>
          <p:cNvPr id="18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58256" y="1336649"/>
            <a:ext cx="3254395" cy="243220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548878" y="3076448"/>
            <a:ext cx="16605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Verdana"/>
                <a:cs typeface="Verdana"/>
              </a:rPr>
              <a:t>LHP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zero</a:t>
            </a:r>
            <a:r>
              <a:rPr sz="1600" spc="-1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G2/C</a:t>
            </a:r>
            <a:r>
              <a:rPr sz="1575" spc="-15" baseline="-21164" dirty="0">
                <a:latin typeface="Verdana"/>
                <a:cs typeface="Verdana"/>
              </a:rPr>
              <a:t>ff</a:t>
            </a:r>
            <a:endParaRPr sz="1575" baseline="-21164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025383" y="1303782"/>
            <a:ext cx="3408045" cy="2094864"/>
            <a:chOff x="8025383" y="1303782"/>
            <a:chExt cx="3408045" cy="2094864"/>
          </a:xfrm>
        </p:grpSpPr>
        <p:sp>
          <p:nvSpPr>
            <p:cNvPr id="5" name="object 5"/>
            <p:cNvSpPr/>
            <p:nvPr/>
          </p:nvSpPr>
          <p:spPr>
            <a:xfrm>
              <a:off x="8025384" y="1303781"/>
              <a:ext cx="3408045" cy="111760"/>
            </a:xfrm>
            <a:custGeom>
              <a:avLst/>
              <a:gdLst/>
              <a:ahLst/>
              <a:cxnLst/>
              <a:rect l="l" t="t" r="r" b="b"/>
              <a:pathLst>
                <a:path w="3408045" h="111759">
                  <a:moveTo>
                    <a:pt x="470916" y="0"/>
                  </a:moveTo>
                  <a:lnTo>
                    <a:pt x="0" y="0"/>
                  </a:lnTo>
                  <a:lnTo>
                    <a:pt x="0" y="111252"/>
                  </a:lnTo>
                  <a:lnTo>
                    <a:pt x="470916" y="111252"/>
                  </a:lnTo>
                  <a:lnTo>
                    <a:pt x="470916" y="0"/>
                  </a:lnTo>
                  <a:close/>
                </a:path>
                <a:path w="3408045" h="111759">
                  <a:moveTo>
                    <a:pt x="3407664" y="0"/>
                  </a:moveTo>
                  <a:lnTo>
                    <a:pt x="3155442" y="0"/>
                  </a:lnTo>
                  <a:lnTo>
                    <a:pt x="3155442" y="111252"/>
                  </a:lnTo>
                  <a:lnTo>
                    <a:pt x="3407664" y="111252"/>
                  </a:lnTo>
                  <a:lnTo>
                    <a:pt x="34076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470136" y="2173046"/>
              <a:ext cx="1617980" cy="1225550"/>
            </a:xfrm>
            <a:custGeom>
              <a:avLst/>
              <a:gdLst/>
              <a:ahLst/>
              <a:cxnLst/>
              <a:rect l="l" t="t" r="r" b="b"/>
              <a:pathLst>
                <a:path w="1617979" h="1225550">
                  <a:moveTo>
                    <a:pt x="585216" y="66471"/>
                  </a:moveTo>
                  <a:lnTo>
                    <a:pt x="109753" y="66471"/>
                  </a:lnTo>
                  <a:lnTo>
                    <a:pt x="162306" y="35991"/>
                  </a:lnTo>
                  <a:lnTo>
                    <a:pt x="167551" y="30861"/>
                  </a:lnTo>
                  <a:lnTo>
                    <a:pt x="170586" y="24091"/>
                  </a:lnTo>
                  <a:lnTo>
                    <a:pt x="171196" y="16598"/>
                  </a:lnTo>
                  <a:lnTo>
                    <a:pt x="169164" y="9321"/>
                  </a:lnTo>
                  <a:lnTo>
                    <a:pt x="164020" y="3644"/>
                  </a:lnTo>
                  <a:lnTo>
                    <a:pt x="157251" y="469"/>
                  </a:lnTo>
                  <a:lnTo>
                    <a:pt x="149758" y="0"/>
                  </a:lnTo>
                  <a:lnTo>
                    <a:pt x="142494" y="2463"/>
                  </a:lnTo>
                  <a:lnTo>
                    <a:pt x="0" y="85521"/>
                  </a:lnTo>
                  <a:lnTo>
                    <a:pt x="38100" y="107937"/>
                  </a:lnTo>
                  <a:lnTo>
                    <a:pt x="142494" y="169341"/>
                  </a:lnTo>
                  <a:lnTo>
                    <a:pt x="149758" y="171704"/>
                  </a:lnTo>
                  <a:lnTo>
                    <a:pt x="157251" y="171056"/>
                  </a:lnTo>
                  <a:lnTo>
                    <a:pt x="164020" y="167843"/>
                  </a:lnTo>
                  <a:lnTo>
                    <a:pt x="169164" y="162483"/>
                  </a:lnTo>
                  <a:lnTo>
                    <a:pt x="171196" y="155219"/>
                  </a:lnTo>
                  <a:lnTo>
                    <a:pt x="170586" y="147726"/>
                  </a:lnTo>
                  <a:lnTo>
                    <a:pt x="167551" y="140957"/>
                  </a:lnTo>
                  <a:lnTo>
                    <a:pt x="162306" y="135813"/>
                  </a:lnTo>
                  <a:lnTo>
                    <a:pt x="108432" y="104571"/>
                  </a:lnTo>
                  <a:lnTo>
                    <a:pt x="585216" y="104571"/>
                  </a:lnTo>
                  <a:lnTo>
                    <a:pt x="585216" y="66471"/>
                  </a:lnTo>
                  <a:close/>
                </a:path>
                <a:path w="1617979" h="1225550">
                  <a:moveTo>
                    <a:pt x="1101852" y="850569"/>
                  </a:moveTo>
                  <a:lnTo>
                    <a:pt x="938784" y="871905"/>
                  </a:lnTo>
                  <a:lnTo>
                    <a:pt x="922020" y="893241"/>
                  </a:lnTo>
                  <a:lnTo>
                    <a:pt x="924598" y="900582"/>
                  </a:lnTo>
                  <a:lnTo>
                    <a:pt x="929538" y="906195"/>
                  </a:lnTo>
                  <a:lnTo>
                    <a:pt x="936053" y="909535"/>
                  </a:lnTo>
                  <a:lnTo>
                    <a:pt x="943356" y="910005"/>
                  </a:lnTo>
                  <a:lnTo>
                    <a:pt x="1005078" y="901763"/>
                  </a:lnTo>
                  <a:lnTo>
                    <a:pt x="1005268" y="901738"/>
                  </a:lnTo>
                  <a:lnTo>
                    <a:pt x="1060704" y="858951"/>
                  </a:lnTo>
                  <a:lnTo>
                    <a:pt x="1005268" y="901750"/>
                  </a:lnTo>
                  <a:lnTo>
                    <a:pt x="843534" y="1026591"/>
                  </a:lnTo>
                  <a:lnTo>
                    <a:pt x="867156" y="1056309"/>
                  </a:lnTo>
                  <a:lnTo>
                    <a:pt x="1028192" y="932002"/>
                  </a:lnTo>
                  <a:lnTo>
                    <a:pt x="1005078" y="989253"/>
                  </a:lnTo>
                  <a:lnTo>
                    <a:pt x="1003744" y="996835"/>
                  </a:lnTo>
                  <a:lnTo>
                    <a:pt x="1005268" y="1004112"/>
                  </a:lnTo>
                  <a:lnTo>
                    <a:pt x="1009357" y="1010259"/>
                  </a:lnTo>
                  <a:lnTo>
                    <a:pt x="1015746" y="1014399"/>
                  </a:lnTo>
                  <a:lnTo>
                    <a:pt x="1022870" y="1015733"/>
                  </a:lnTo>
                  <a:lnTo>
                    <a:pt x="1029931" y="1014209"/>
                  </a:lnTo>
                  <a:lnTo>
                    <a:pt x="1035989" y="1010119"/>
                  </a:lnTo>
                  <a:lnTo>
                    <a:pt x="1040130" y="1003731"/>
                  </a:lnTo>
                  <a:lnTo>
                    <a:pt x="1084326" y="894067"/>
                  </a:lnTo>
                  <a:lnTo>
                    <a:pt x="1101852" y="850569"/>
                  </a:lnTo>
                  <a:close/>
                </a:path>
                <a:path w="1617979" h="1225550">
                  <a:moveTo>
                    <a:pt x="1615617" y="1082636"/>
                  </a:moveTo>
                  <a:lnTo>
                    <a:pt x="1613154" y="1075359"/>
                  </a:lnTo>
                  <a:lnTo>
                    <a:pt x="1530096" y="932865"/>
                  </a:lnTo>
                  <a:lnTo>
                    <a:pt x="1447038" y="1075359"/>
                  </a:lnTo>
                  <a:lnTo>
                    <a:pt x="1444561" y="1082636"/>
                  </a:lnTo>
                  <a:lnTo>
                    <a:pt x="1445031" y="1090129"/>
                  </a:lnTo>
                  <a:lnTo>
                    <a:pt x="1448206" y="1096899"/>
                  </a:lnTo>
                  <a:lnTo>
                    <a:pt x="1453896" y="1102029"/>
                  </a:lnTo>
                  <a:lnTo>
                    <a:pt x="1461046" y="1104074"/>
                  </a:lnTo>
                  <a:lnTo>
                    <a:pt x="1468272" y="1103464"/>
                  </a:lnTo>
                  <a:lnTo>
                    <a:pt x="1474787" y="1100429"/>
                  </a:lnTo>
                  <a:lnTo>
                    <a:pt x="1479804" y="1095171"/>
                  </a:lnTo>
                  <a:lnTo>
                    <a:pt x="1511046" y="1041920"/>
                  </a:lnTo>
                  <a:lnTo>
                    <a:pt x="1511046" y="1225473"/>
                  </a:lnTo>
                  <a:lnTo>
                    <a:pt x="1549146" y="1225473"/>
                  </a:lnTo>
                  <a:lnTo>
                    <a:pt x="1549146" y="1041311"/>
                  </a:lnTo>
                  <a:lnTo>
                    <a:pt x="1580388" y="1095171"/>
                  </a:lnTo>
                  <a:lnTo>
                    <a:pt x="1585391" y="1100429"/>
                  </a:lnTo>
                  <a:lnTo>
                    <a:pt x="1591906" y="1103464"/>
                  </a:lnTo>
                  <a:lnTo>
                    <a:pt x="1599133" y="1104074"/>
                  </a:lnTo>
                  <a:lnTo>
                    <a:pt x="1606296" y="1102029"/>
                  </a:lnTo>
                  <a:lnTo>
                    <a:pt x="1611972" y="1096899"/>
                  </a:lnTo>
                  <a:lnTo>
                    <a:pt x="1615147" y="1090129"/>
                  </a:lnTo>
                  <a:lnTo>
                    <a:pt x="1615617" y="1082636"/>
                  </a:lnTo>
                  <a:close/>
                </a:path>
                <a:path w="1617979" h="1225550">
                  <a:moveTo>
                    <a:pt x="1617903" y="655205"/>
                  </a:moveTo>
                  <a:lnTo>
                    <a:pt x="1617433" y="647979"/>
                  </a:lnTo>
                  <a:lnTo>
                    <a:pt x="1614258" y="641464"/>
                  </a:lnTo>
                  <a:lnTo>
                    <a:pt x="1608582" y="636447"/>
                  </a:lnTo>
                  <a:lnTo>
                    <a:pt x="1601419" y="633984"/>
                  </a:lnTo>
                  <a:lnTo>
                    <a:pt x="1594192" y="634453"/>
                  </a:lnTo>
                  <a:lnTo>
                    <a:pt x="1587677" y="637628"/>
                  </a:lnTo>
                  <a:lnTo>
                    <a:pt x="1582674" y="643305"/>
                  </a:lnTo>
                  <a:lnTo>
                    <a:pt x="1551940" y="697611"/>
                  </a:lnTo>
                  <a:lnTo>
                    <a:pt x="1549146" y="500049"/>
                  </a:lnTo>
                  <a:lnTo>
                    <a:pt x="1511046" y="500049"/>
                  </a:lnTo>
                  <a:lnTo>
                    <a:pt x="1513840" y="697420"/>
                  </a:lnTo>
                  <a:lnTo>
                    <a:pt x="1482090" y="644829"/>
                  </a:lnTo>
                  <a:lnTo>
                    <a:pt x="1477073" y="639279"/>
                  </a:lnTo>
                  <a:lnTo>
                    <a:pt x="1470558" y="636358"/>
                  </a:lnTo>
                  <a:lnTo>
                    <a:pt x="1463332" y="636155"/>
                  </a:lnTo>
                  <a:lnTo>
                    <a:pt x="1456182" y="638733"/>
                  </a:lnTo>
                  <a:lnTo>
                    <a:pt x="1450492" y="643750"/>
                  </a:lnTo>
                  <a:lnTo>
                    <a:pt x="1447317" y="650265"/>
                  </a:lnTo>
                  <a:lnTo>
                    <a:pt x="1446847" y="657491"/>
                  </a:lnTo>
                  <a:lnTo>
                    <a:pt x="1449324" y="664641"/>
                  </a:lnTo>
                  <a:lnTo>
                    <a:pt x="1534668" y="805611"/>
                  </a:lnTo>
                  <a:lnTo>
                    <a:pt x="1552956" y="773188"/>
                  </a:lnTo>
                  <a:lnTo>
                    <a:pt x="1615440" y="662355"/>
                  </a:lnTo>
                  <a:lnTo>
                    <a:pt x="1617903" y="655205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163811" y="1045718"/>
            <a:ext cx="2530475" cy="1558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Verdana"/>
                <a:cs typeface="Verdana"/>
              </a:rPr>
              <a:t>|Vout/Vin|</a:t>
            </a:r>
            <a:endParaRPr sz="2000">
              <a:latin typeface="Verdana"/>
              <a:cs typeface="Verdana"/>
            </a:endParaRPr>
          </a:p>
          <a:p>
            <a:pPr marL="758190">
              <a:lnSpc>
                <a:spcPct val="100000"/>
              </a:lnSpc>
              <a:spcBef>
                <a:spcPts val="1805"/>
              </a:spcBef>
            </a:pPr>
            <a:r>
              <a:rPr sz="1600" spc="-10" dirty="0">
                <a:solidFill>
                  <a:srgbClr val="FF0000"/>
                </a:solidFill>
                <a:latin typeface="Verdana"/>
                <a:cs typeface="Verdana"/>
              </a:rPr>
              <a:t>Rs=R’!</a:t>
            </a:r>
            <a:endParaRPr sz="1600">
              <a:latin typeface="Verdana"/>
              <a:cs typeface="Verdana"/>
            </a:endParaRPr>
          </a:p>
          <a:p>
            <a:pPr marL="472440">
              <a:lnSpc>
                <a:spcPct val="100000"/>
              </a:lnSpc>
              <a:spcBef>
                <a:spcPts val="1505"/>
              </a:spcBef>
            </a:pPr>
            <a:r>
              <a:rPr sz="2400" spc="-37" baseline="13888" dirty="0">
                <a:latin typeface="Verdana"/>
                <a:cs typeface="Verdana"/>
              </a:rPr>
              <a:t>C</a:t>
            </a:r>
            <a:r>
              <a:rPr sz="1050" spc="-25" dirty="0">
                <a:latin typeface="Verdana"/>
                <a:cs typeface="Verdana"/>
              </a:rPr>
              <a:t>LD</a:t>
            </a:r>
            <a:endParaRPr sz="1050">
              <a:latin typeface="Verdana"/>
              <a:cs typeface="Verdana"/>
            </a:endParaRPr>
          </a:p>
          <a:p>
            <a:pPr marL="1252220">
              <a:lnSpc>
                <a:spcPct val="100000"/>
              </a:lnSpc>
              <a:spcBef>
                <a:spcPts val="605"/>
              </a:spcBef>
            </a:pPr>
            <a:r>
              <a:rPr sz="1600" spc="-10" dirty="0">
                <a:latin typeface="Verdana"/>
                <a:cs typeface="Verdana"/>
              </a:rPr>
              <a:t>C</a:t>
            </a:r>
            <a:r>
              <a:rPr sz="1575" spc="-15" baseline="-21164" dirty="0">
                <a:latin typeface="Verdana"/>
                <a:cs typeface="Verdana"/>
              </a:rPr>
              <a:t>ff</a:t>
            </a:r>
            <a:r>
              <a:rPr sz="1600" spc="-10" dirty="0">
                <a:latin typeface="Verdana"/>
                <a:cs typeface="Verdana"/>
              </a:rPr>
              <a:t>/(C</a:t>
            </a:r>
            <a:r>
              <a:rPr sz="1575" spc="-15" baseline="-21164" dirty="0">
                <a:latin typeface="Verdana"/>
                <a:cs typeface="Verdana"/>
              </a:rPr>
              <a:t>ff</a:t>
            </a:r>
            <a:r>
              <a:rPr sz="1600" spc="-10" dirty="0">
                <a:latin typeface="Verdana"/>
                <a:cs typeface="Verdana"/>
              </a:rPr>
              <a:t>+C</a:t>
            </a:r>
            <a:r>
              <a:rPr sz="1575" spc="-15" baseline="-21164" dirty="0">
                <a:latin typeface="Verdana"/>
                <a:cs typeface="Verdana"/>
              </a:rPr>
              <a:t>LD</a:t>
            </a:r>
            <a:r>
              <a:rPr sz="1600" spc="-10" dirty="0">
                <a:latin typeface="Verdana"/>
                <a:cs typeface="Verdana"/>
              </a:rPr>
              <a:t>)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58397" y="6278371"/>
            <a:ext cx="1384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Arial MT"/>
                <a:cs typeface="Arial MT"/>
              </a:rPr>
              <a:t>57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Feed-</a:t>
            </a:r>
            <a:r>
              <a:rPr dirty="0"/>
              <a:t>forward</a:t>
            </a:r>
            <a:r>
              <a:rPr spc="-35" dirty="0"/>
              <a:t> </a:t>
            </a:r>
            <a:r>
              <a:rPr dirty="0"/>
              <a:t>around</a:t>
            </a:r>
            <a:r>
              <a:rPr spc="-20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gain</a:t>
            </a:r>
            <a:r>
              <a:rPr spc="-20" dirty="0"/>
              <a:t> </a:t>
            </a:r>
            <a:r>
              <a:rPr spc="-10" dirty="0"/>
              <a:t>stage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28726" y="4391659"/>
            <a:ext cx="652081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2600" indent="-469900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Also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known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as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negative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impedance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converter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3326" y="4909809"/>
            <a:ext cx="6087110" cy="848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0" indent="-469900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Font typeface="Wingdings"/>
              <a:buChar char=""/>
              <a:tabLst>
                <a:tab pos="508000" algn="l"/>
              </a:tabLst>
            </a:pPr>
            <a:r>
              <a:rPr sz="2000" dirty="0">
                <a:latin typeface="Verdana"/>
                <a:cs typeface="Verdana"/>
              </a:rPr>
              <a:t>R’=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-</a:t>
            </a:r>
            <a:r>
              <a:rPr sz="2000" spc="-10" dirty="0">
                <a:latin typeface="Verdana"/>
                <a:cs typeface="Verdana"/>
              </a:rPr>
              <a:t>(C</a:t>
            </a:r>
            <a:r>
              <a:rPr sz="1950" spc="-15" baseline="-21367" dirty="0">
                <a:latin typeface="Verdana"/>
                <a:cs typeface="Verdana"/>
              </a:rPr>
              <a:t>ff</a:t>
            </a:r>
            <a:r>
              <a:rPr sz="2000" spc="-10" dirty="0">
                <a:latin typeface="Verdana"/>
                <a:cs typeface="Verdana"/>
              </a:rPr>
              <a:t>+C</a:t>
            </a:r>
            <a:r>
              <a:rPr sz="1950" spc="-15" baseline="-21367" dirty="0">
                <a:latin typeface="Verdana"/>
                <a:cs typeface="Verdana"/>
              </a:rPr>
              <a:t>LD</a:t>
            </a:r>
            <a:r>
              <a:rPr sz="2000" spc="-10" dirty="0">
                <a:latin typeface="Verdana"/>
                <a:cs typeface="Verdana"/>
              </a:rPr>
              <a:t>)/(C</a:t>
            </a:r>
            <a:r>
              <a:rPr sz="1950" spc="-15" baseline="-21367" dirty="0">
                <a:latin typeface="Verdana"/>
                <a:cs typeface="Verdana"/>
              </a:rPr>
              <a:t>ff</a:t>
            </a:r>
            <a:r>
              <a:rPr sz="2000" spc="-10" dirty="0">
                <a:latin typeface="Verdana"/>
                <a:cs typeface="Verdana"/>
              </a:rPr>
              <a:t>*G2)</a:t>
            </a:r>
            <a:endParaRPr sz="2000">
              <a:latin typeface="Verdana"/>
              <a:cs typeface="Verdana"/>
            </a:endParaRPr>
          </a:p>
          <a:p>
            <a:pPr marL="508000" indent="-469900">
              <a:lnSpc>
                <a:spcPct val="100000"/>
              </a:lnSpc>
              <a:spcBef>
                <a:spcPts val="1680"/>
              </a:spcBef>
              <a:buClr>
                <a:srgbClr val="CC0000"/>
              </a:buClr>
              <a:buFont typeface="Wingdings"/>
              <a:buChar char=""/>
              <a:tabLst>
                <a:tab pos="508000" algn="l"/>
              </a:tabLst>
            </a:pPr>
            <a:r>
              <a:rPr sz="2000" dirty="0">
                <a:latin typeface="Verdana"/>
                <a:cs typeface="Verdana"/>
              </a:rPr>
              <a:t>Source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impedance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must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larger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than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|R’|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111490" y="3743705"/>
            <a:ext cx="3204210" cy="2403475"/>
            <a:chOff x="8111490" y="3743705"/>
            <a:chExt cx="3204210" cy="2403475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11490" y="3743705"/>
              <a:ext cx="3204209" cy="240334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0014787" y="4816602"/>
              <a:ext cx="171450" cy="585470"/>
            </a:xfrm>
            <a:custGeom>
              <a:avLst/>
              <a:gdLst/>
              <a:ahLst/>
              <a:cxnLst/>
              <a:rect l="l" t="t" r="r" b="b"/>
              <a:pathLst>
                <a:path w="171450" h="585470">
                  <a:moveTo>
                    <a:pt x="171045" y="149649"/>
                  </a:moveTo>
                  <a:lnTo>
                    <a:pt x="168580" y="142494"/>
                  </a:lnTo>
                  <a:lnTo>
                    <a:pt x="85522" y="0"/>
                  </a:lnTo>
                  <a:lnTo>
                    <a:pt x="2464" y="142494"/>
                  </a:lnTo>
                  <a:lnTo>
                    <a:pt x="0" y="149649"/>
                  </a:lnTo>
                  <a:lnTo>
                    <a:pt x="464" y="156876"/>
                  </a:lnTo>
                  <a:lnTo>
                    <a:pt x="3643" y="163389"/>
                  </a:lnTo>
                  <a:lnTo>
                    <a:pt x="9322" y="168401"/>
                  </a:lnTo>
                  <a:lnTo>
                    <a:pt x="16478" y="170866"/>
                  </a:lnTo>
                  <a:lnTo>
                    <a:pt x="23705" y="170402"/>
                  </a:lnTo>
                  <a:lnTo>
                    <a:pt x="30218" y="167223"/>
                  </a:lnTo>
                  <a:lnTo>
                    <a:pt x="35230" y="161544"/>
                  </a:lnTo>
                  <a:lnTo>
                    <a:pt x="66472" y="108290"/>
                  </a:lnTo>
                  <a:lnTo>
                    <a:pt x="66472" y="38100"/>
                  </a:lnTo>
                  <a:lnTo>
                    <a:pt x="104572" y="38100"/>
                  </a:lnTo>
                  <a:lnTo>
                    <a:pt x="104572" y="107678"/>
                  </a:lnTo>
                  <a:lnTo>
                    <a:pt x="135814" y="161544"/>
                  </a:lnTo>
                  <a:lnTo>
                    <a:pt x="140827" y="167223"/>
                  </a:lnTo>
                  <a:lnTo>
                    <a:pt x="147339" y="170402"/>
                  </a:lnTo>
                  <a:lnTo>
                    <a:pt x="154566" y="170866"/>
                  </a:lnTo>
                  <a:lnTo>
                    <a:pt x="161722" y="168401"/>
                  </a:lnTo>
                  <a:lnTo>
                    <a:pt x="167401" y="163389"/>
                  </a:lnTo>
                  <a:lnTo>
                    <a:pt x="170580" y="156876"/>
                  </a:lnTo>
                  <a:lnTo>
                    <a:pt x="171045" y="149649"/>
                  </a:lnTo>
                  <a:close/>
                </a:path>
                <a:path w="171450" h="585470">
                  <a:moveTo>
                    <a:pt x="104572" y="107678"/>
                  </a:moveTo>
                  <a:lnTo>
                    <a:pt x="104572" y="38100"/>
                  </a:lnTo>
                  <a:lnTo>
                    <a:pt x="66472" y="38100"/>
                  </a:lnTo>
                  <a:lnTo>
                    <a:pt x="66472" y="108290"/>
                  </a:lnTo>
                  <a:lnTo>
                    <a:pt x="69520" y="103095"/>
                  </a:lnTo>
                  <a:lnTo>
                    <a:pt x="69520" y="47244"/>
                  </a:lnTo>
                  <a:lnTo>
                    <a:pt x="102286" y="47244"/>
                  </a:lnTo>
                  <a:lnTo>
                    <a:pt x="102286" y="103737"/>
                  </a:lnTo>
                  <a:lnTo>
                    <a:pt x="104572" y="107678"/>
                  </a:lnTo>
                  <a:close/>
                </a:path>
                <a:path w="171450" h="585470">
                  <a:moveTo>
                    <a:pt x="104572" y="585215"/>
                  </a:moveTo>
                  <a:lnTo>
                    <a:pt x="104572" y="107678"/>
                  </a:lnTo>
                  <a:lnTo>
                    <a:pt x="85809" y="75329"/>
                  </a:lnTo>
                  <a:lnTo>
                    <a:pt x="66472" y="108290"/>
                  </a:lnTo>
                  <a:lnTo>
                    <a:pt x="66472" y="585215"/>
                  </a:lnTo>
                  <a:lnTo>
                    <a:pt x="104572" y="585215"/>
                  </a:lnTo>
                  <a:close/>
                </a:path>
                <a:path w="171450" h="585470">
                  <a:moveTo>
                    <a:pt x="102286" y="47244"/>
                  </a:moveTo>
                  <a:lnTo>
                    <a:pt x="69520" y="47244"/>
                  </a:lnTo>
                  <a:lnTo>
                    <a:pt x="85809" y="75329"/>
                  </a:lnTo>
                  <a:lnTo>
                    <a:pt x="102286" y="47244"/>
                  </a:lnTo>
                  <a:close/>
                </a:path>
                <a:path w="171450" h="585470">
                  <a:moveTo>
                    <a:pt x="85809" y="75329"/>
                  </a:moveTo>
                  <a:lnTo>
                    <a:pt x="69520" y="47244"/>
                  </a:lnTo>
                  <a:lnTo>
                    <a:pt x="69520" y="103095"/>
                  </a:lnTo>
                  <a:lnTo>
                    <a:pt x="85809" y="75329"/>
                  </a:lnTo>
                  <a:close/>
                </a:path>
                <a:path w="171450" h="585470">
                  <a:moveTo>
                    <a:pt x="102286" y="103737"/>
                  </a:moveTo>
                  <a:lnTo>
                    <a:pt x="102286" y="47244"/>
                  </a:lnTo>
                  <a:lnTo>
                    <a:pt x="85809" y="75329"/>
                  </a:lnTo>
                  <a:lnTo>
                    <a:pt x="102286" y="103737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9666985" y="4976876"/>
            <a:ext cx="3492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Verdana"/>
                <a:cs typeface="Verdana"/>
              </a:rPr>
              <a:t>Cld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507728" y="3900932"/>
            <a:ext cx="6597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Verdana"/>
                <a:cs typeface="Verdana"/>
              </a:rPr>
              <a:t>|Zin|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0262449" y="5183885"/>
            <a:ext cx="176530" cy="588645"/>
          </a:xfrm>
          <a:custGeom>
            <a:avLst/>
            <a:gdLst/>
            <a:ahLst/>
            <a:cxnLst/>
            <a:rect l="l" t="t" r="r" b="b"/>
            <a:pathLst>
              <a:path w="176529" h="588645">
                <a:moveTo>
                  <a:pt x="171045" y="148125"/>
                </a:moveTo>
                <a:lnTo>
                  <a:pt x="168568" y="140969"/>
                </a:lnTo>
                <a:lnTo>
                  <a:pt x="83224" y="0"/>
                </a:lnTo>
                <a:lnTo>
                  <a:pt x="2452" y="144017"/>
                </a:lnTo>
                <a:lnTo>
                  <a:pt x="0" y="151173"/>
                </a:lnTo>
                <a:lnTo>
                  <a:pt x="547" y="158400"/>
                </a:lnTo>
                <a:lnTo>
                  <a:pt x="3952" y="164913"/>
                </a:lnTo>
                <a:lnTo>
                  <a:pt x="10072" y="169925"/>
                </a:lnTo>
                <a:lnTo>
                  <a:pt x="17228" y="171950"/>
                </a:lnTo>
                <a:lnTo>
                  <a:pt x="24455" y="171259"/>
                </a:lnTo>
                <a:lnTo>
                  <a:pt x="30968" y="167997"/>
                </a:lnTo>
                <a:lnTo>
                  <a:pt x="35980" y="162305"/>
                </a:lnTo>
                <a:lnTo>
                  <a:pt x="64936" y="110866"/>
                </a:lnTo>
                <a:lnTo>
                  <a:pt x="64936" y="38099"/>
                </a:lnTo>
                <a:lnTo>
                  <a:pt x="100750" y="37383"/>
                </a:lnTo>
                <a:lnTo>
                  <a:pt x="103036" y="37337"/>
                </a:lnTo>
                <a:lnTo>
                  <a:pt x="104199" y="108460"/>
                </a:lnTo>
                <a:lnTo>
                  <a:pt x="135802" y="160781"/>
                </a:lnTo>
                <a:lnTo>
                  <a:pt x="140934" y="166449"/>
                </a:lnTo>
                <a:lnTo>
                  <a:pt x="147708" y="169544"/>
                </a:lnTo>
                <a:lnTo>
                  <a:pt x="151899" y="169678"/>
                </a:lnTo>
                <a:lnTo>
                  <a:pt x="155197" y="169783"/>
                </a:lnTo>
                <a:lnTo>
                  <a:pt x="162472" y="166877"/>
                </a:lnTo>
                <a:lnTo>
                  <a:pt x="167711" y="161865"/>
                </a:lnTo>
                <a:lnTo>
                  <a:pt x="170664" y="155352"/>
                </a:lnTo>
                <a:lnTo>
                  <a:pt x="171045" y="148125"/>
                </a:lnTo>
                <a:close/>
              </a:path>
              <a:path w="176529" h="588645">
                <a:moveTo>
                  <a:pt x="111418" y="555656"/>
                </a:moveTo>
                <a:lnTo>
                  <a:pt x="111418" y="550163"/>
                </a:lnTo>
                <a:lnTo>
                  <a:pt x="73318" y="550163"/>
                </a:lnTo>
                <a:lnTo>
                  <a:pt x="72182" y="480748"/>
                </a:lnTo>
                <a:lnTo>
                  <a:pt x="39790" y="427481"/>
                </a:lnTo>
                <a:lnTo>
                  <a:pt x="34778" y="421802"/>
                </a:lnTo>
                <a:lnTo>
                  <a:pt x="28265" y="418623"/>
                </a:lnTo>
                <a:lnTo>
                  <a:pt x="21038" y="418159"/>
                </a:lnTo>
                <a:lnTo>
                  <a:pt x="13882" y="420623"/>
                </a:lnTo>
                <a:lnTo>
                  <a:pt x="8203" y="425743"/>
                </a:lnTo>
                <a:lnTo>
                  <a:pt x="5024" y="432434"/>
                </a:lnTo>
                <a:lnTo>
                  <a:pt x="4560" y="439697"/>
                </a:lnTo>
                <a:lnTo>
                  <a:pt x="7024" y="446531"/>
                </a:lnTo>
                <a:lnTo>
                  <a:pt x="93130" y="588263"/>
                </a:lnTo>
                <a:lnTo>
                  <a:pt x="111418" y="555656"/>
                </a:lnTo>
                <a:close/>
              </a:path>
              <a:path w="176529" h="588645">
                <a:moveTo>
                  <a:pt x="104199" y="108460"/>
                </a:moveTo>
                <a:lnTo>
                  <a:pt x="103036" y="37337"/>
                </a:lnTo>
                <a:lnTo>
                  <a:pt x="75604" y="37886"/>
                </a:lnTo>
                <a:lnTo>
                  <a:pt x="73318" y="37932"/>
                </a:lnTo>
                <a:lnTo>
                  <a:pt x="67222" y="38054"/>
                </a:lnTo>
                <a:lnTo>
                  <a:pt x="64936" y="38099"/>
                </a:lnTo>
                <a:lnTo>
                  <a:pt x="66094" y="108810"/>
                </a:lnTo>
                <a:lnTo>
                  <a:pt x="67222" y="106805"/>
                </a:lnTo>
                <a:lnTo>
                  <a:pt x="67222" y="47243"/>
                </a:lnTo>
                <a:lnTo>
                  <a:pt x="100750" y="47243"/>
                </a:lnTo>
                <a:lnTo>
                  <a:pt x="100750" y="102751"/>
                </a:lnTo>
                <a:lnTo>
                  <a:pt x="104199" y="108460"/>
                </a:lnTo>
                <a:close/>
              </a:path>
              <a:path w="176529" h="588645">
                <a:moveTo>
                  <a:pt x="66094" y="108810"/>
                </a:moveTo>
                <a:lnTo>
                  <a:pt x="64936" y="38099"/>
                </a:lnTo>
                <a:lnTo>
                  <a:pt x="64936" y="110866"/>
                </a:lnTo>
                <a:lnTo>
                  <a:pt x="66094" y="108810"/>
                </a:lnTo>
                <a:close/>
              </a:path>
              <a:path w="176529" h="588645">
                <a:moveTo>
                  <a:pt x="110256" y="479054"/>
                </a:moveTo>
                <a:lnTo>
                  <a:pt x="104199" y="108460"/>
                </a:lnTo>
                <a:lnTo>
                  <a:pt x="84577" y="75975"/>
                </a:lnTo>
                <a:lnTo>
                  <a:pt x="66094" y="108810"/>
                </a:lnTo>
                <a:lnTo>
                  <a:pt x="72182" y="480748"/>
                </a:lnTo>
                <a:lnTo>
                  <a:pt x="91523" y="512553"/>
                </a:lnTo>
                <a:lnTo>
                  <a:pt x="110256" y="479054"/>
                </a:lnTo>
                <a:close/>
              </a:path>
              <a:path w="176529" h="588645">
                <a:moveTo>
                  <a:pt x="100750" y="47243"/>
                </a:moveTo>
                <a:lnTo>
                  <a:pt x="67222" y="47243"/>
                </a:lnTo>
                <a:lnTo>
                  <a:pt x="84577" y="75975"/>
                </a:lnTo>
                <a:lnTo>
                  <a:pt x="100750" y="47243"/>
                </a:lnTo>
                <a:close/>
              </a:path>
              <a:path w="176529" h="588645">
                <a:moveTo>
                  <a:pt x="84577" y="75975"/>
                </a:moveTo>
                <a:lnTo>
                  <a:pt x="67222" y="47243"/>
                </a:lnTo>
                <a:lnTo>
                  <a:pt x="67222" y="106805"/>
                </a:lnTo>
                <a:lnTo>
                  <a:pt x="84577" y="75975"/>
                </a:lnTo>
                <a:close/>
              </a:path>
              <a:path w="176529" h="588645">
                <a:moveTo>
                  <a:pt x="91523" y="512553"/>
                </a:moveTo>
                <a:lnTo>
                  <a:pt x="72182" y="480748"/>
                </a:lnTo>
                <a:lnTo>
                  <a:pt x="73318" y="550163"/>
                </a:lnTo>
                <a:lnTo>
                  <a:pt x="75604" y="550163"/>
                </a:lnTo>
                <a:lnTo>
                  <a:pt x="75604" y="541019"/>
                </a:lnTo>
                <a:lnTo>
                  <a:pt x="91523" y="512553"/>
                </a:lnTo>
                <a:close/>
              </a:path>
              <a:path w="176529" h="588645">
                <a:moveTo>
                  <a:pt x="108370" y="540257"/>
                </a:moveTo>
                <a:lnTo>
                  <a:pt x="91523" y="512553"/>
                </a:lnTo>
                <a:lnTo>
                  <a:pt x="75604" y="541019"/>
                </a:lnTo>
                <a:lnTo>
                  <a:pt x="100750" y="540435"/>
                </a:lnTo>
                <a:lnTo>
                  <a:pt x="104199" y="540355"/>
                </a:lnTo>
                <a:lnTo>
                  <a:pt x="108370" y="540257"/>
                </a:lnTo>
                <a:close/>
              </a:path>
              <a:path w="176529" h="588645">
                <a:moveTo>
                  <a:pt x="108370" y="550163"/>
                </a:moveTo>
                <a:lnTo>
                  <a:pt x="108370" y="540257"/>
                </a:lnTo>
                <a:lnTo>
                  <a:pt x="75604" y="541019"/>
                </a:lnTo>
                <a:lnTo>
                  <a:pt x="75604" y="550163"/>
                </a:lnTo>
                <a:lnTo>
                  <a:pt x="108370" y="550163"/>
                </a:lnTo>
                <a:close/>
              </a:path>
              <a:path w="176529" h="588645">
                <a:moveTo>
                  <a:pt x="100750" y="102751"/>
                </a:moveTo>
                <a:lnTo>
                  <a:pt x="100750" y="47243"/>
                </a:lnTo>
                <a:lnTo>
                  <a:pt x="84577" y="75975"/>
                </a:lnTo>
                <a:lnTo>
                  <a:pt x="100750" y="102751"/>
                </a:lnTo>
                <a:close/>
              </a:path>
              <a:path w="176529" h="588645">
                <a:moveTo>
                  <a:pt x="111418" y="550163"/>
                </a:moveTo>
                <a:lnTo>
                  <a:pt x="110256" y="479054"/>
                </a:lnTo>
                <a:lnTo>
                  <a:pt x="91523" y="512553"/>
                </a:lnTo>
                <a:lnTo>
                  <a:pt x="108370" y="540257"/>
                </a:lnTo>
                <a:lnTo>
                  <a:pt x="108370" y="550163"/>
                </a:lnTo>
                <a:lnTo>
                  <a:pt x="111418" y="550163"/>
                </a:lnTo>
                <a:close/>
              </a:path>
              <a:path w="176529" h="588645">
                <a:moveTo>
                  <a:pt x="175926" y="437090"/>
                </a:moveTo>
                <a:lnTo>
                  <a:pt x="175236" y="429863"/>
                </a:lnTo>
                <a:lnTo>
                  <a:pt x="171973" y="423350"/>
                </a:lnTo>
                <a:lnTo>
                  <a:pt x="166282" y="418337"/>
                </a:lnTo>
                <a:lnTo>
                  <a:pt x="159127" y="415873"/>
                </a:lnTo>
                <a:lnTo>
                  <a:pt x="151899" y="416337"/>
                </a:lnTo>
                <a:lnTo>
                  <a:pt x="145387" y="419516"/>
                </a:lnTo>
                <a:lnTo>
                  <a:pt x="140374" y="425195"/>
                </a:lnTo>
                <a:lnTo>
                  <a:pt x="110256" y="479054"/>
                </a:lnTo>
                <a:lnTo>
                  <a:pt x="111418" y="550163"/>
                </a:lnTo>
                <a:lnTo>
                  <a:pt x="111418" y="555656"/>
                </a:lnTo>
                <a:lnTo>
                  <a:pt x="173902" y="444245"/>
                </a:lnTo>
                <a:lnTo>
                  <a:pt x="175926" y="43709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0524997" y="5389879"/>
            <a:ext cx="20891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Verdana"/>
                <a:cs typeface="Verdana"/>
              </a:rPr>
              <a:t>R’</a:t>
            </a:r>
            <a:endParaRPr sz="1600">
              <a:latin typeface="Verdana"/>
              <a:cs typeface="Verdan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29305" y="1808988"/>
            <a:ext cx="2437638" cy="2066544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3743959" y="2639821"/>
            <a:ext cx="547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CC0000"/>
                </a:solidFill>
                <a:latin typeface="Verdana"/>
                <a:cs typeface="Verdana"/>
              </a:rPr>
              <a:t>+</a:t>
            </a:r>
            <a:r>
              <a:rPr sz="1800" spc="-25" dirty="0">
                <a:latin typeface="Verdana"/>
                <a:cs typeface="Verdana"/>
              </a:rPr>
              <a:t>G2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432055" y="3377438"/>
            <a:ext cx="487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13888" dirty="0">
                <a:latin typeface="Verdana"/>
                <a:cs typeface="Verdana"/>
              </a:rPr>
              <a:t>C</a:t>
            </a:r>
            <a:r>
              <a:rPr sz="1200" spc="-20" dirty="0">
                <a:latin typeface="Verdana"/>
                <a:cs typeface="Verdana"/>
              </a:rPr>
              <a:t>par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052059" y="3377438"/>
            <a:ext cx="437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C</a:t>
            </a:r>
            <a:r>
              <a:rPr sz="1200" spc="-25" dirty="0">
                <a:latin typeface="Verdana"/>
                <a:cs typeface="Verdana"/>
              </a:rPr>
              <a:t>LD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938015" y="1581403"/>
            <a:ext cx="342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C</a:t>
            </a:r>
            <a:r>
              <a:rPr sz="1200" spc="-25" dirty="0">
                <a:latin typeface="Verdana"/>
                <a:cs typeface="Verdana"/>
              </a:rPr>
              <a:t>ff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330952" y="2696209"/>
            <a:ext cx="556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13888" dirty="0">
                <a:latin typeface="Verdana"/>
                <a:cs typeface="Verdana"/>
              </a:rPr>
              <a:t>V</a:t>
            </a:r>
            <a:r>
              <a:rPr sz="1200" spc="-20" dirty="0">
                <a:latin typeface="Verdana"/>
                <a:cs typeface="Verdana"/>
              </a:rPr>
              <a:t>OUT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342388" y="2674111"/>
            <a:ext cx="408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V</a:t>
            </a:r>
            <a:r>
              <a:rPr sz="1200" spc="-25" dirty="0">
                <a:latin typeface="Verdana"/>
                <a:cs typeface="Verdana"/>
              </a:rPr>
              <a:t>IN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360676" y="3116579"/>
            <a:ext cx="585470" cy="114300"/>
          </a:xfrm>
          <a:custGeom>
            <a:avLst/>
            <a:gdLst/>
            <a:ahLst/>
            <a:cxnLst/>
            <a:rect l="l" t="t" r="r" b="b"/>
            <a:pathLst>
              <a:path w="585469" h="114300">
                <a:moveTo>
                  <a:pt x="413765" y="76200"/>
                </a:moveTo>
                <a:lnTo>
                  <a:pt x="413765" y="38100"/>
                </a:lnTo>
                <a:lnTo>
                  <a:pt x="0" y="38100"/>
                </a:lnTo>
                <a:lnTo>
                  <a:pt x="0" y="76200"/>
                </a:lnTo>
                <a:lnTo>
                  <a:pt x="413765" y="76200"/>
                </a:lnTo>
                <a:close/>
              </a:path>
              <a:path w="585469" h="114300">
                <a:moveTo>
                  <a:pt x="585216" y="57150"/>
                </a:moveTo>
                <a:lnTo>
                  <a:pt x="394716" y="0"/>
                </a:lnTo>
                <a:lnTo>
                  <a:pt x="394716" y="38100"/>
                </a:lnTo>
                <a:lnTo>
                  <a:pt x="413765" y="38100"/>
                </a:lnTo>
                <a:lnTo>
                  <a:pt x="413765" y="108585"/>
                </a:lnTo>
                <a:lnTo>
                  <a:pt x="585216" y="57150"/>
                </a:lnTo>
                <a:close/>
              </a:path>
              <a:path w="585469" h="114300">
                <a:moveTo>
                  <a:pt x="413765" y="108585"/>
                </a:moveTo>
                <a:lnTo>
                  <a:pt x="413765" y="76200"/>
                </a:lnTo>
                <a:lnTo>
                  <a:pt x="394716" y="76200"/>
                </a:lnTo>
                <a:lnTo>
                  <a:pt x="394716" y="114300"/>
                </a:lnTo>
                <a:lnTo>
                  <a:pt x="413765" y="108585"/>
                </a:lnTo>
                <a:close/>
              </a:path>
            </a:pathLst>
          </a:custGeom>
          <a:solidFill>
            <a:srgbClr val="CB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2413254" y="3327146"/>
            <a:ext cx="409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Z</a:t>
            </a:r>
            <a:r>
              <a:rPr sz="1200" spc="-25" dirty="0">
                <a:latin typeface="Verdana"/>
                <a:cs typeface="Verdana"/>
              </a:rPr>
              <a:t>IN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6"/>
          </p:nvPr>
        </p:nvSpPr>
        <p:spPr>
          <a:xfrm>
            <a:off x="838200" y="6400800"/>
            <a:ext cx="1085214" cy="211583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A75F1C07-AB29-48E7-99A4-121C82CD7C12}" type="datetime1">
              <a:rPr lang="en-US" spc="-10" smtClean="0"/>
              <a:t>8/17/2026</a:t>
            </a:fld>
            <a:endParaRPr lang="en-US" spc="-10" dirty="0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462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lang="en-US" spc="-50" smtClean="0"/>
              <a:t>56</a:t>
            </a:fld>
            <a:endParaRPr lang="en-US" spc="-50" dirty="0"/>
          </a:p>
        </p:txBody>
      </p:sp>
      <p:sp>
        <p:nvSpPr>
          <p:cNvPr id="33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622" y="1826513"/>
            <a:ext cx="5209794" cy="344728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161538" y="2067559"/>
            <a:ext cx="4616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C</a:t>
            </a:r>
            <a:r>
              <a:rPr sz="1200" spc="-25" dirty="0">
                <a:latin typeface="Verdana"/>
                <a:cs typeface="Verdana"/>
              </a:rPr>
              <a:t>M1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25600" y="3036823"/>
            <a:ext cx="3492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G1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14665" y="3036823"/>
            <a:ext cx="3492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G2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20155" y="3775202"/>
            <a:ext cx="437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C</a:t>
            </a:r>
            <a:r>
              <a:rPr sz="1200" spc="-25" dirty="0">
                <a:latin typeface="Verdana"/>
                <a:cs typeface="Verdana"/>
              </a:rPr>
              <a:t>LD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06267" y="3775202"/>
            <a:ext cx="487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13888" dirty="0">
                <a:latin typeface="Verdana"/>
                <a:cs typeface="Verdana"/>
              </a:rPr>
              <a:t>C</a:t>
            </a:r>
            <a:r>
              <a:rPr sz="1200" spc="-20" dirty="0">
                <a:latin typeface="Verdana"/>
                <a:cs typeface="Verdana"/>
              </a:rPr>
              <a:t>par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91659" y="3036823"/>
            <a:ext cx="452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-</a:t>
            </a:r>
            <a:r>
              <a:rPr sz="1800" spc="-25" dirty="0">
                <a:latin typeface="Verdana"/>
                <a:cs typeface="Verdana"/>
              </a:rPr>
              <a:t>G3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77860" y="3775202"/>
            <a:ext cx="487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13888" dirty="0">
                <a:latin typeface="Verdana"/>
                <a:cs typeface="Verdana"/>
              </a:rPr>
              <a:t>C</a:t>
            </a:r>
            <a:r>
              <a:rPr sz="1200" spc="-20" dirty="0">
                <a:latin typeface="Verdana"/>
                <a:cs typeface="Verdana"/>
              </a:rPr>
              <a:t>par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54117" y="2482088"/>
            <a:ext cx="4616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C</a:t>
            </a:r>
            <a:r>
              <a:rPr sz="1200" spc="-25" dirty="0">
                <a:latin typeface="Verdana"/>
                <a:cs typeface="Verdana"/>
              </a:rPr>
              <a:t>M2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25600" y="4581398"/>
            <a:ext cx="363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Gff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dirty="0"/>
              <a:t>Multipath</a:t>
            </a:r>
            <a:r>
              <a:rPr spc="-60" dirty="0"/>
              <a:t> </a:t>
            </a:r>
            <a:r>
              <a:rPr dirty="0"/>
              <a:t>NM</a:t>
            </a:r>
            <a:r>
              <a:rPr spc="-45" dirty="0"/>
              <a:t> </a:t>
            </a:r>
            <a:r>
              <a:rPr dirty="0"/>
              <a:t>(Feedforward)</a:t>
            </a:r>
            <a:r>
              <a:rPr spc="-45" dirty="0"/>
              <a:t> </a:t>
            </a:r>
            <a:r>
              <a:rPr dirty="0"/>
              <a:t>Compensation</a:t>
            </a:r>
            <a:r>
              <a:rPr spc="-55" dirty="0"/>
              <a:t> </a:t>
            </a:r>
            <a:r>
              <a:rPr sz="3600" spc="-15" baseline="25462" dirty="0"/>
              <a:t>[3,4]</a:t>
            </a:r>
            <a:endParaRPr sz="3600" baseline="25462"/>
          </a:p>
        </p:txBody>
      </p:sp>
      <p:sp>
        <p:nvSpPr>
          <p:cNvPr id="13" name="object 13"/>
          <p:cNvSpPr txBox="1"/>
          <p:nvPr/>
        </p:nvSpPr>
        <p:spPr>
          <a:xfrm>
            <a:off x="6309614" y="1375663"/>
            <a:ext cx="5202555" cy="406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2600" marR="5080" indent="-470534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Combines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dynamic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response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and speed-</a:t>
            </a:r>
            <a:r>
              <a:rPr sz="2000" spc="-20" dirty="0">
                <a:latin typeface="Verdana"/>
                <a:cs typeface="Verdana"/>
              </a:rPr>
              <a:t>to-</a:t>
            </a:r>
            <a:r>
              <a:rPr sz="2000" dirty="0">
                <a:latin typeface="Verdana"/>
                <a:cs typeface="Verdana"/>
              </a:rPr>
              <a:t>power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ratio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advantage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50" dirty="0">
                <a:latin typeface="Verdana"/>
                <a:cs typeface="Verdana"/>
              </a:rPr>
              <a:t>a </a:t>
            </a:r>
            <a:r>
              <a:rPr sz="2000" spc="-25" dirty="0">
                <a:latin typeface="Verdana"/>
                <a:cs typeface="Verdana"/>
              </a:rPr>
              <a:t>two-</a:t>
            </a:r>
            <a:r>
              <a:rPr sz="2000" dirty="0">
                <a:latin typeface="Verdana"/>
                <a:cs typeface="Verdana"/>
              </a:rPr>
              <a:t>stage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structure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with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the </a:t>
            </a:r>
            <a:r>
              <a:rPr sz="2000" dirty="0">
                <a:latin typeface="Verdana"/>
                <a:cs typeface="Verdana"/>
              </a:rPr>
              <a:t>additional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gain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better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distortion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three-</a:t>
            </a:r>
            <a:r>
              <a:rPr sz="2000" dirty="0">
                <a:latin typeface="Verdana"/>
                <a:cs typeface="Verdana"/>
              </a:rPr>
              <a:t>stage</a:t>
            </a:r>
            <a:r>
              <a:rPr sz="2000" spc="1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amplifier</a:t>
            </a:r>
            <a:endParaRPr sz="2000">
              <a:latin typeface="Verdana"/>
              <a:cs typeface="Verdana"/>
            </a:endParaRPr>
          </a:p>
          <a:p>
            <a:pPr marL="482600" marR="106680" indent="-470534">
              <a:lnSpc>
                <a:spcPct val="100000"/>
              </a:lnSpc>
              <a:spcBef>
                <a:spcPts val="180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High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frequency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response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dominated </a:t>
            </a:r>
            <a:r>
              <a:rPr sz="2000" dirty="0">
                <a:latin typeface="Verdana"/>
                <a:cs typeface="Verdana"/>
              </a:rPr>
              <a:t>by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feed-</a:t>
            </a:r>
            <a:r>
              <a:rPr sz="2000" dirty="0">
                <a:latin typeface="Verdana"/>
                <a:cs typeface="Verdana"/>
              </a:rPr>
              <a:t>forward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stage;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offset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and </a:t>
            </a:r>
            <a:r>
              <a:rPr sz="2000" dirty="0">
                <a:latin typeface="Verdana"/>
                <a:cs typeface="Verdana"/>
              </a:rPr>
              <a:t>offset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drift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by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high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gain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path</a:t>
            </a:r>
            <a:endParaRPr sz="20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spcBef>
                <a:spcPts val="180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Can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be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extended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multiple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stages</a:t>
            </a:r>
            <a:endParaRPr sz="2000">
              <a:latin typeface="Verdana"/>
              <a:cs typeface="Verdana"/>
            </a:endParaRPr>
          </a:p>
          <a:p>
            <a:pPr marL="482600" marR="824865" indent="-470534">
              <a:lnSpc>
                <a:spcPct val="100000"/>
              </a:lnSpc>
              <a:spcBef>
                <a:spcPts val="180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Watch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for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large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signal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stability issues!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5330" y="1217676"/>
            <a:ext cx="2361438" cy="1122425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977905" y="1271269"/>
            <a:ext cx="1875789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Low</a:t>
            </a:r>
            <a:r>
              <a:rPr sz="1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frequency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behavior</a:t>
            </a:r>
            <a:r>
              <a:rPr sz="1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determined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by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high</a:t>
            </a:r>
            <a:r>
              <a:rPr sz="1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gain</a:t>
            </a:r>
            <a:r>
              <a:rPr sz="1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path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16202" y="5182361"/>
            <a:ext cx="3695700" cy="90678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747520" y="5321300"/>
            <a:ext cx="343344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High</a:t>
            </a:r>
            <a:r>
              <a:rPr sz="1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frequency</a:t>
            </a: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behavior</a:t>
            </a:r>
            <a:r>
              <a:rPr sz="1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dominated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by</a:t>
            </a:r>
            <a:r>
              <a:rPr sz="1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feedforward</a:t>
            </a:r>
            <a:r>
              <a:rPr sz="1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path.</a:t>
            </a:r>
            <a:r>
              <a:rPr sz="1600" spc="4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Introduces</a:t>
            </a:r>
            <a:r>
              <a:rPr sz="1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LHP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zero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into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frequency</a:t>
            </a:r>
            <a:r>
              <a:rPr sz="1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response.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49040" y="1217675"/>
            <a:ext cx="1546860" cy="1030986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3958847" y="1271269"/>
            <a:ext cx="113220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Each</a:t>
            </a: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stage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introduces</a:t>
            </a:r>
            <a:r>
              <a:rPr sz="1600" spc="-50" dirty="0">
                <a:solidFill>
                  <a:srgbClr val="FFFFFF"/>
                </a:solidFill>
                <a:latin typeface="Arial MT"/>
                <a:cs typeface="Arial MT"/>
              </a:rPr>
              <a:t> a 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pole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1D0304E7-0B50-4690-B68B-A914B4104C81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57</a:t>
            </a:fld>
            <a:endParaRPr spc="-25" dirty="0"/>
          </a:p>
        </p:txBody>
      </p:sp>
      <p:sp>
        <p:nvSpPr>
          <p:cNvPr id="24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Multipath</a:t>
            </a:r>
            <a:r>
              <a:rPr spc="-65" dirty="0"/>
              <a:t> </a:t>
            </a:r>
            <a:r>
              <a:rPr dirty="0"/>
              <a:t>Nested</a:t>
            </a:r>
            <a:r>
              <a:rPr spc="-65" dirty="0"/>
              <a:t> </a:t>
            </a:r>
            <a:r>
              <a:rPr dirty="0"/>
              <a:t>Miller</a:t>
            </a:r>
            <a:r>
              <a:rPr spc="-30" dirty="0"/>
              <a:t> </a:t>
            </a:r>
            <a:r>
              <a:rPr spc="-10" dirty="0"/>
              <a:t>Compensation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482600" indent="-469900">
              <a:lnSpc>
                <a:spcPct val="100000"/>
              </a:lnSpc>
              <a:spcBef>
                <a:spcPts val="130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dirty="0"/>
              <a:t>Great</a:t>
            </a:r>
            <a:r>
              <a:rPr spc="-45" dirty="0"/>
              <a:t> </a:t>
            </a:r>
            <a:r>
              <a:rPr dirty="0"/>
              <a:t>for</a:t>
            </a:r>
            <a:r>
              <a:rPr spc="-40" dirty="0"/>
              <a:t> </a:t>
            </a:r>
            <a:r>
              <a:rPr dirty="0"/>
              <a:t>power</a:t>
            </a:r>
            <a:r>
              <a:rPr spc="-45" dirty="0"/>
              <a:t> </a:t>
            </a:r>
            <a:r>
              <a:rPr spc="-10" dirty="0"/>
              <a:t>efficiency</a:t>
            </a:r>
          </a:p>
          <a:p>
            <a:pPr marL="482600" marR="5080" indent="-470534">
              <a:lnSpc>
                <a:spcPct val="100000"/>
              </a:lnSpc>
              <a:spcBef>
                <a:spcPts val="120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dirty="0"/>
              <a:t>Introduces</a:t>
            </a:r>
            <a:r>
              <a:rPr spc="-50" dirty="0"/>
              <a:t> </a:t>
            </a:r>
            <a:r>
              <a:rPr spc="-25" dirty="0"/>
              <a:t>pole-</a:t>
            </a:r>
            <a:r>
              <a:rPr dirty="0"/>
              <a:t>zero</a:t>
            </a:r>
            <a:r>
              <a:rPr spc="-30" dirty="0"/>
              <a:t> </a:t>
            </a:r>
            <a:r>
              <a:rPr dirty="0"/>
              <a:t>doublet</a:t>
            </a:r>
            <a:r>
              <a:rPr spc="-35" dirty="0"/>
              <a:t> </a:t>
            </a:r>
            <a:r>
              <a:rPr dirty="0"/>
              <a:t>that</a:t>
            </a:r>
            <a:r>
              <a:rPr spc="-45" dirty="0"/>
              <a:t> </a:t>
            </a:r>
            <a:r>
              <a:rPr spc="-25" dirty="0"/>
              <a:t>can </a:t>
            </a:r>
            <a:r>
              <a:rPr dirty="0"/>
              <a:t>lead</a:t>
            </a:r>
            <a:r>
              <a:rPr spc="-45" dirty="0"/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dirty="0"/>
              <a:t>settling</a:t>
            </a:r>
            <a:r>
              <a:rPr spc="-45" dirty="0"/>
              <a:t> </a:t>
            </a:r>
            <a:r>
              <a:rPr dirty="0"/>
              <a:t>issues.</a:t>
            </a:r>
            <a:r>
              <a:rPr spc="-55" dirty="0"/>
              <a:t> 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exactly</a:t>
            </a:r>
            <a:r>
              <a:rPr spc="-45" dirty="0"/>
              <a:t> </a:t>
            </a:r>
            <a:r>
              <a:rPr spc="-10" dirty="0"/>
              <a:t>cancel </a:t>
            </a:r>
            <a:r>
              <a:rPr spc="-25" dirty="0"/>
              <a:t>pole-</a:t>
            </a:r>
            <a:r>
              <a:rPr dirty="0"/>
              <a:t>zero </a:t>
            </a:r>
            <a:r>
              <a:rPr spc="-10" dirty="0"/>
              <a:t>doublet: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44550" y="3918455"/>
            <a:ext cx="5763895" cy="1701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2600" marR="52069" indent="-470534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Keep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stich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frequency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close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bandwidth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mitigate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effects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imperfect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matching</a:t>
            </a:r>
            <a:endParaRPr sz="2000">
              <a:latin typeface="Verdana"/>
              <a:cs typeface="Verdana"/>
            </a:endParaRPr>
          </a:p>
          <a:p>
            <a:pPr marL="482600" marR="5080" indent="-470534">
              <a:lnSpc>
                <a:spcPct val="100000"/>
              </a:lnSpc>
              <a:spcBef>
                <a:spcPts val="120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Output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impedance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complex!</a:t>
            </a:r>
            <a:r>
              <a:rPr sz="2000" spc="-5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Can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have </a:t>
            </a:r>
            <a:r>
              <a:rPr sz="2000" dirty="0">
                <a:latin typeface="Verdana"/>
                <a:cs typeface="Verdana"/>
              </a:rPr>
              <a:t>issues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with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large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load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caps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driving ADCs.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24022" y="3408426"/>
            <a:ext cx="382270" cy="0"/>
          </a:xfrm>
          <a:custGeom>
            <a:avLst/>
            <a:gdLst/>
            <a:ahLst/>
            <a:cxnLst/>
            <a:rect l="l" t="t" r="r" b="b"/>
            <a:pathLst>
              <a:path w="382270">
                <a:moveTo>
                  <a:pt x="0" y="0"/>
                </a:moveTo>
                <a:lnTo>
                  <a:pt x="381762" y="0"/>
                </a:lnTo>
              </a:path>
            </a:pathLst>
          </a:custGeom>
          <a:ln w="107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82390" y="3408426"/>
            <a:ext cx="448309" cy="0"/>
          </a:xfrm>
          <a:custGeom>
            <a:avLst/>
            <a:gdLst/>
            <a:ahLst/>
            <a:cxnLst/>
            <a:rect l="l" t="t" r="r" b="b"/>
            <a:pathLst>
              <a:path w="448310">
                <a:moveTo>
                  <a:pt x="0" y="0"/>
                </a:moveTo>
                <a:lnTo>
                  <a:pt x="448056" y="0"/>
                </a:lnTo>
              </a:path>
            </a:pathLst>
          </a:custGeom>
          <a:ln w="107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225051" y="3403883"/>
            <a:ext cx="854710" cy="332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670560" algn="l"/>
              </a:tabLst>
            </a:pPr>
            <a:r>
              <a:rPr sz="2000" spc="-50" dirty="0">
                <a:latin typeface="Times New Roman"/>
                <a:cs typeface="Times New Roman"/>
              </a:rPr>
              <a:t>G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50" dirty="0">
                <a:latin typeface="Times New Roman"/>
                <a:cs typeface="Times New Roman"/>
              </a:rPr>
              <a:t>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36237" y="3043458"/>
            <a:ext cx="342900" cy="332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000" spc="-25" dirty="0">
                <a:latin typeface="Times New Roman"/>
                <a:cs typeface="Times New Roman"/>
              </a:rPr>
              <a:t>G</a:t>
            </a:r>
            <a:r>
              <a:rPr sz="1725" spc="-37" baseline="-24154" dirty="0">
                <a:latin typeface="Times New Roman"/>
                <a:cs typeface="Times New Roman"/>
              </a:rPr>
              <a:t>1</a:t>
            </a:r>
            <a:endParaRPr sz="1725" baseline="-24154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31542" y="3574348"/>
            <a:ext cx="869950" cy="2044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649605" algn="l"/>
              </a:tabLst>
            </a:pPr>
            <a:r>
              <a:rPr sz="1150" spc="-25" dirty="0">
                <a:latin typeface="Times New Roman"/>
                <a:cs typeface="Times New Roman"/>
              </a:rPr>
              <a:t>ff</a:t>
            </a:r>
            <a:r>
              <a:rPr sz="1150" dirty="0">
                <a:latin typeface="Times New Roman"/>
                <a:cs typeface="Times New Roman"/>
              </a:rPr>
              <a:t>	</a:t>
            </a:r>
            <a:r>
              <a:rPr sz="1150" spc="-25" dirty="0">
                <a:latin typeface="Times New Roman"/>
                <a:cs typeface="Times New Roman"/>
              </a:rPr>
              <a:t>M2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37026" y="3106701"/>
            <a:ext cx="695325" cy="332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3000" baseline="-20833" dirty="0">
                <a:latin typeface="Symbol"/>
                <a:cs typeface="Symbol"/>
              </a:rPr>
              <a:t></a:t>
            </a:r>
            <a:r>
              <a:rPr sz="3000" spc="262" baseline="-20833" dirty="0">
                <a:latin typeface="Times New Roman"/>
                <a:cs typeface="Times New Roman"/>
              </a:rPr>
              <a:t> </a:t>
            </a:r>
            <a:r>
              <a:rPr sz="3000" spc="-37" baseline="13888" dirty="0">
                <a:latin typeface="Times New Roman"/>
                <a:cs typeface="Times New Roman"/>
              </a:rPr>
              <a:t>C</a:t>
            </a:r>
            <a:r>
              <a:rPr sz="1150" spc="-25" dirty="0">
                <a:latin typeface="Times New Roman"/>
                <a:cs typeface="Times New Roman"/>
              </a:rPr>
              <a:t>M1</a:t>
            </a:r>
            <a:endParaRPr sz="115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4709" y="3848100"/>
            <a:ext cx="128016" cy="74066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192009" y="1466341"/>
            <a:ext cx="3092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Verdana"/>
                <a:cs typeface="Verdana"/>
              </a:rPr>
              <a:t>|A|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792459" y="3557270"/>
            <a:ext cx="3581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20" dirty="0">
                <a:latin typeface="Verdana"/>
                <a:cs typeface="Verdana"/>
              </a:rPr>
              <a:t>[Hz]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671752" y="1514855"/>
            <a:ext cx="107950" cy="1905000"/>
            <a:chOff x="7671752" y="1514855"/>
            <a:chExt cx="107950" cy="1905000"/>
          </a:xfrm>
        </p:grpSpPr>
        <p:sp>
          <p:nvSpPr>
            <p:cNvPr id="15" name="object 15"/>
            <p:cNvSpPr/>
            <p:nvPr/>
          </p:nvSpPr>
          <p:spPr>
            <a:xfrm>
              <a:off x="7730490" y="1533905"/>
              <a:ext cx="0" cy="1866900"/>
            </a:xfrm>
            <a:custGeom>
              <a:avLst/>
              <a:gdLst/>
              <a:ahLst/>
              <a:cxnLst/>
              <a:rect l="l" t="t" r="r" b="b"/>
              <a:pathLst>
                <a:path h="1866900">
                  <a:moveTo>
                    <a:pt x="0" y="1866900"/>
                  </a:moveTo>
                  <a:lnTo>
                    <a:pt x="0" y="0"/>
                  </a:lnTo>
                </a:path>
              </a:pathLst>
            </a:custGeom>
            <a:ln w="38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673340" y="1667255"/>
              <a:ext cx="104775" cy="0"/>
            </a:xfrm>
            <a:custGeom>
              <a:avLst/>
              <a:gdLst/>
              <a:ahLst/>
              <a:cxnLst/>
              <a:rect l="l" t="t" r="r" b="b"/>
              <a:pathLst>
                <a:path w="104775">
                  <a:moveTo>
                    <a:pt x="0" y="0"/>
                  </a:moveTo>
                  <a:lnTo>
                    <a:pt x="1043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374891" y="1740357"/>
            <a:ext cx="296545" cy="1653539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555"/>
              </a:spcBef>
            </a:pPr>
            <a:r>
              <a:rPr sz="1400" spc="-25" dirty="0">
                <a:latin typeface="Calibri"/>
                <a:cs typeface="Calibri"/>
              </a:rPr>
              <a:t>100</a:t>
            </a:r>
            <a:endParaRPr sz="1400">
              <a:latin typeface="Calibri"/>
              <a:cs typeface="Calibri"/>
            </a:endParaRPr>
          </a:p>
          <a:p>
            <a:pPr marR="50165" algn="r">
              <a:lnSpc>
                <a:spcPct val="100000"/>
              </a:lnSpc>
              <a:spcBef>
                <a:spcPts val="455"/>
              </a:spcBef>
            </a:pPr>
            <a:r>
              <a:rPr sz="1400" spc="-25" dirty="0">
                <a:latin typeface="Calibri"/>
                <a:cs typeface="Calibri"/>
              </a:rPr>
              <a:t>80</a:t>
            </a:r>
            <a:endParaRPr sz="1400">
              <a:latin typeface="Calibri"/>
              <a:cs typeface="Calibri"/>
            </a:endParaRPr>
          </a:p>
          <a:p>
            <a:pPr marR="50165" algn="r">
              <a:lnSpc>
                <a:spcPct val="100000"/>
              </a:lnSpc>
              <a:spcBef>
                <a:spcPts val="450"/>
              </a:spcBef>
            </a:pPr>
            <a:r>
              <a:rPr sz="1400" spc="-25" dirty="0">
                <a:latin typeface="Calibri"/>
                <a:cs typeface="Calibri"/>
              </a:rPr>
              <a:t>60</a:t>
            </a:r>
            <a:endParaRPr sz="1400">
              <a:latin typeface="Calibri"/>
              <a:cs typeface="Calibri"/>
            </a:endParaRPr>
          </a:p>
          <a:p>
            <a:pPr marR="50165" algn="r">
              <a:lnSpc>
                <a:spcPct val="100000"/>
              </a:lnSpc>
              <a:spcBef>
                <a:spcPts val="455"/>
              </a:spcBef>
            </a:pPr>
            <a:r>
              <a:rPr sz="1400" spc="-25" dirty="0">
                <a:latin typeface="Calibri"/>
                <a:cs typeface="Calibri"/>
              </a:rPr>
              <a:t>40</a:t>
            </a:r>
            <a:endParaRPr sz="1400">
              <a:latin typeface="Calibri"/>
              <a:cs typeface="Calibri"/>
            </a:endParaRPr>
          </a:p>
          <a:p>
            <a:pPr marR="50165" algn="r">
              <a:lnSpc>
                <a:spcPct val="100000"/>
              </a:lnSpc>
              <a:spcBef>
                <a:spcPts val="450"/>
              </a:spcBef>
            </a:pPr>
            <a:r>
              <a:rPr sz="1400" spc="-25" dirty="0">
                <a:latin typeface="Calibri"/>
                <a:cs typeface="Calibri"/>
              </a:rPr>
              <a:t>20</a:t>
            </a:r>
            <a:endParaRPr sz="1400">
              <a:latin typeface="Calibri"/>
              <a:cs typeface="Calibri"/>
            </a:endParaRPr>
          </a:p>
          <a:p>
            <a:pPr marR="60325" algn="r">
              <a:lnSpc>
                <a:spcPct val="100000"/>
              </a:lnSpc>
              <a:spcBef>
                <a:spcPts val="470"/>
              </a:spcBef>
            </a:pPr>
            <a:r>
              <a:rPr sz="1400" spc="-50" dirty="0">
                <a:latin typeface="Calibri"/>
                <a:cs typeface="Calibri"/>
              </a:rPr>
              <a:t>0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635240" y="1932368"/>
            <a:ext cx="3076575" cy="1411605"/>
            <a:chOff x="7635240" y="1932368"/>
            <a:chExt cx="3076575" cy="1411605"/>
          </a:xfrm>
        </p:grpSpPr>
        <p:sp>
          <p:nvSpPr>
            <p:cNvPr id="19" name="object 19"/>
            <p:cNvSpPr/>
            <p:nvPr/>
          </p:nvSpPr>
          <p:spPr>
            <a:xfrm>
              <a:off x="7673340" y="3019805"/>
              <a:ext cx="104775" cy="0"/>
            </a:xfrm>
            <a:custGeom>
              <a:avLst/>
              <a:gdLst/>
              <a:ahLst/>
              <a:cxnLst/>
              <a:rect l="l" t="t" r="r" b="b"/>
              <a:pathLst>
                <a:path w="104775">
                  <a:moveTo>
                    <a:pt x="0" y="0"/>
                  </a:moveTo>
                  <a:lnTo>
                    <a:pt x="1043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673340" y="2743200"/>
              <a:ext cx="104775" cy="0"/>
            </a:xfrm>
            <a:custGeom>
              <a:avLst/>
              <a:gdLst/>
              <a:ahLst/>
              <a:cxnLst/>
              <a:rect l="l" t="t" r="r" b="b"/>
              <a:pathLst>
                <a:path w="104775">
                  <a:moveTo>
                    <a:pt x="0" y="0"/>
                  </a:moveTo>
                  <a:lnTo>
                    <a:pt x="1043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673340" y="2476500"/>
              <a:ext cx="104775" cy="0"/>
            </a:xfrm>
            <a:custGeom>
              <a:avLst/>
              <a:gdLst/>
              <a:ahLst/>
              <a:cxnLst/>
              <a:rect l="l" t="t" r="r" b="b"/>
              <a:pathLst>
                <a:path w="104775">
                  <a:moveTo>
                    <a:pt x="0" y="0"/>
                  </a:moveTo>
                  <a:lnTo>
                    <a:pt x="1043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673340" y="2209799"/>
              <a:ext cx="104775" cy="0"/>
            </a:xfrm>
            <a:custGeom>
              <a:avLst/>
              <a:gdLst/>
              <a:ahLst/>
              <a:cxnLst/>
              <a:rect l="l" t="t" r="r" b="b"/>
              <a:pathLst>
                <a:path w="104775">
                  <a:moveTo>
                    <a:pt x="0" y="0"/>
                  </a:moveTo>
                  <a:lnTo>
                    <a:pt x="1043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673340" y="1933955"/>
              <a:ext cx="104775" cy="0"/>
            </a:xfrm>
            <a:custGeom>
              <a:avLst/>
              <a:gdLst/>
              <a:ahLst/>
              <a:cxnLst/>
              <a:rect l="l" t="t" r="r" b="b"/>
              <a:pathLst>
                <a:path w="104775">
                  <a:moveTo>
                    <a:pt x="0" y="0"/>
                  </a:moveTo>
                  <a:lnTo>
                    <a:pt x="1043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635240" y="3286505"/>
              <a:ext cx="3076575" cy="0"/>
            </a:xfrm>
            <a:custGeom>
              <a:avLst/>
              <a:gdLst/>
              <a:ahLst/>
              <a:cxnLst/>
              <a:rect l="l" t="t" r="r" b="b"/>
              <a:pathLst>
                <a:path w="3076575">
                  <a:moveTo>
                    <a:pt x="0" y="0"/>
                  </a:moveTo>
                  <a:lnTo>
                    <a:pt x="3076194" y="0"/>
                  </a:lnTo>
                </a:path>
              </a:pathLst>
            </a:custGeom>
            <a:ln w="38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816340" y="3238500"/>
              <a:ext cx="0" cy="105410"/>
            </a:xfrm>
            <a:custGeom>
              <a:avLst/>
              <a:gdLst/>
              <a:ahLst/>
              <a:cxnLst/>
              <a:rect l="l" t="t" r="r" b="b"/>
              <a:pathLst>
                <a:path h="105410">
                  <a:moveTo>
                    <a:pt x="0" y="0"/>
                  </a:moveTo>
                  <a:lnTo>
                    <a:pt x="0" y="10515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083040" y="3238500"/>
              <a:ext cx="0" cy="105410"/>
            </a:xfrm>
            <a:custGeom>
              <a:avLst/>
              <a:gdLst/>
              <a:ahLst/>
              <a:cxnLst/>
              <a:rect l="l" t="t" r="r" b="b"/>
              <a:pathLst>
                <a:path h="105410">
                  <a:moveTo>
                    <a:pt x="0" y="0"/>
                  </a:moveTo>
                  <a:lnTo>
                    <a:pt x="0" y="10515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358884" y="3238500"/>
              <a:ext cx="0" cy="105410"/>
            </a:xfrm>
            <a:custGeom>
              <a:avLst/>
              <a:gdLst/>
              <a:ahLst/>
              <a:cxnLst/>
              <a:rect l="l" t="t" r="r" b="b"/>
              <a:pathLst>
                <a:path h="105410">
                  <a:moveTo>
                    <a:pt x="0" y="0"/>
                  </a:moveTo>
                  <a:lnTo>
                    <a:pt x="0" y="10515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625584" y="3238500"/>
              <a:ext cx="0" cy="105410"/>
            </a:xfrm>
            <a:custGeom>
              <a:avLst/>
              <a:gdLst/>
              <a:ahLst/>
              <a:cxnLst/>
              <a:rect l="l" t="t" r="r" b="b"/>
              <a:pathLst>
                <a:path h="105410">
                  <a:moveTo>
                    <a:pt x="0" y="0"/>
                  </a:moveTo>
                  <a:lnTo>
                    <a:pt x="0" y="10515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901428" y="3238500"/>
              <a:ext cx="0" cy="105410"/>
            </a:xfrm>
            <a:custGeom>
              <a:avLst/>
              <a:gdLst/>
              <a:ahLst/>
              <a:cxnLst/>
              <a:rect l="l" t="t" r="r" b="b"/>
              <a:pathLst>
                <a:path h="105410">
                  <a:moveTo>
                    <a:pt x="0" y="0"/>
                  </a:moveTo>
                  <a:lnTo>
                    <a:pt x="0" y="10515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0168128" y="3238500"/>
              <a:ext cx="0" cy="105410"/>
            </a:xfrm>
            <a:custGeom>
              <a:avLst/>
              <a:gdLst/>
              <a:ahLst/>
              <a:cxnLst/>
              <a:rect l="l" t="t" r="r" b="b"/>
              <a:pathLst>
                <a:path h="105410">
                  <a:moveTo>
                    <a:pt x="0" y="0"/>
                  </a:moveTo>
                  <a:lnTo>
                    <a:pt x="0" y="10515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997190" y="3238500"/>
              <a:ext cx="0" cy="105410"/>
            </a:xfrm>
            <a:custGeom>
              <a:avLst/>
              <a:gdLst/>
              <a:ahLst/>
              <a:cxnLst/>
              <a:rect l="l" t="t" r="r" b="b"/>
              <a:pathLst>
                <a:path h="105410">
                  <a:moveTo>
                    <a:pt x="0" y="0"/>
                  </a:moveTo>
                  <a:lnTo>
                    <a:pt x="0" y="10515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273034" y="3238500"/>
              <a:ext cx="0" cy="105410"/>
            </a:xfrm>
            <a:custGeom>
              <a:avLst/>
              <a:gdLst/>
              <a:ahLst/>
              <a:cxnLst/>
              <a:rect l="l" t="t" r="r" b="b"/>
              <a:pathLst>
                <a:path h="105410">
                  <a:moveTo>
                    <a:pt x="0" y="0"/>
                  </a:moveTo>
                  <a:lnTo>
                    <a:pt x="0" y="10515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539734" y="3238500"/>
              <a:ext cx="0" cy="105410"/>
            </a:xfrm>
            <a:custGeom>
              <a:avLst/>
              <a:gdLst/>
              <a:ahLst/>
              <a:cxnLst/>
              <a:rect l="l" t="t" r="r" b="b"/>
              <a:pathLst>
                <a:path h="105410">
                  <a:moveTo>
                    <a:pt x="0" y="0"/>
                  </a:moveTo>
                  <a:lnTo>
                    <a:pt x="0" y="10515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7635240" y="3724655"/>
            <a:ext cx="3076575" cy="1876425"/>
            <a:chOff x="7635240" y="3724655"/>
            <a:chExt cx="3076575" cy="1876425"/>
          </a:xfrm>
        </p:grpSpPr>
        <p:sp>
          <p:nvSpPr>
            <p:cNvPr id="35" name="object 35"/>
            <p:cNvSpPr/>
            <p:nvPr/>
          </p:nvSpPr>
          <p:spPr>
            <a:xfrm>
              <a:off x="7635240" y="3838955"/>
              <a:ext cx="3076575" cy="0"/>
            </a:xfrm>
            <a:custGeom>
              <a:avLst/>
              <a:gdLst/>
              <a:ahLst/>
              <a:cxnLst/>
              <a:rect l="l" t="t" r="r" b="b"/>
              <a:pathLst>
                <a:path w="3076575">
                  <a:moveTo>
                    <a:pt x="0" y="0"/>
                  </a:moveTo>
                  <a:lnTo>
                    <a:pt x="3076194" y="0"/>
                  </a:lnTo>
                </a:path>
              </a:pathLst>
            </a:custGeom>
            <a:ln w="38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816340" y="3781805"/>
              <a:ext cx="0" cy="104775"/>
            </a:xfrm>
            <a:custGeom>
              <a:avLst/>
              <a:gdLst/>
              <a:ahLst/>
              <a:cxnLst/>
              <a:rect l="l" t="t" r="r" b="b"/>
              <a:pathLst>
                <a:path h="104775">
                  <a:moveTo>
                    <a:pt x="0" y="0"/>
                  </a:moveTo>
                  <a:lnTo>
                    <a:pt x="0" y="10439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9083040" y="3781805"/>
              <a:ext cx="0" cy="104775"/>
            </a:xfrm>
            <a:custGeom>
              <a:avLst/>
              <a:gdLst/>
              <a:ahLst/>
              <a:cxnLst/>
              <a:rect l="l" t="t" r="r" b="b"/>
              <a:pathLst>
                <a:path h="104775">
                  <a:moveTo>
                    <a:pt x="0" y="0"/>
                  </a:moveTo>
                  <a:lnTo>
                    <a:pt x="0" y="10439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9358884" y="3781805"/>
              <a:ext cx="0" cy="104775"/>
            </a:xfrm>
            <a:custGeom>
              <a:avLst/>
              <a:gdLst/>
              <a:ahLst/>
              <a:cxnLst/>
              <a:rect l="l" t="t" r="r" b="b"/>
              <a:pathLst>
                <a:path h="104775">
                  <a:moveTo>
                    <a:pt x="0" y="0"/>
                  </a:moveTo>
                  <a:lnTo>
                    <a:pt x="0" y="10439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9625584" y="3781805"/>
              <a:ext cx="0" cy="104775"/>
            </a:xfrm>
            <a:custGeom>
              <a:avLst/>
              <a:gdLst/>
              <a:ahLst/>
              <a:cxnLst/>
              <a:rect l="l" t="t" r="r" b="b"/>
              <a:pathLst>
                <a:path h="104775">
                  <a:moveTo>
                    <a:pt x="0" y="0"/>
                  </a:moveTo>
                  <a:lnTo>
                    <a:pt x="0" y="10439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9901428" y="3781805"/>
              <a:ext cx="0" cy="104775"/>
            </a:xfrm>
            <a:custGeom>
              <a:avLst/>
              <a:gdLst/>
              <a:ahLst/>
              <a:cxnLst/>
              <a:rect l="l" t="t" r="r" b="b"/>
              <a:pathLst>
                <a:path h="104775">
                  <a:moveTo>
                    <a:pt x="0" y="0"/>
                  </a:moveTo>
                  <a:lnTo>
                    <a:pt x="0" y="10439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0168128" y="3781805"/>
              <a:ext cx="0" cy="104775"/>
            </a:xfrm>
            <a:custGeom>
              <a:avLst/>
              <a:gdLst/>
              <a:ahLst/>
              <a:cxnLst/>
              <a:rect l="l" t="t" r="r" b="b"/>
              <a:pathLst>
                <a:path h="104775">
                  <a:moveTo>
                    <a:pt x="0" y="0"/>
                  </a:moveTo>
                  <a:lnTo>
                    <a:pt x="0" y="10439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997190" y="3781805"/>
              <a:ext cx="0" cy="104775"/>
            </a:xfrm>
            <a:custGeom>
              <a:avLst/>
              <a:gdLst/>
              <a:ahLst/>
              <a:cxnLst/>
              <a:rect l="l" t="t" r="r" b="b"/>
              <a:pathLst>
                <a:path h="104775">
                  <a:moveTo>
                    <a:pt x="0" y="0"/>
                  </a:moveTo>
                  <a:lnTo>
                    <a:pt x="0" y="10439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273034" y="3781805"/>
              <a:ext cx="0" cy="104775"/>
            </a:xfrm>
            <a:custGeom>
              <a:avLst/>
              <a:gdLst/>
              <a:ahLst/>
              <a:cxnLst/>
              <a:rect l="l" t="t" r="r" b="b"/>
              <a:pathLst>
                <a:path h="104775">
                  <a:moveTo>
                    <a:pt x="0" y="0"/>
                  </a:moveTo>
                  <a:lnTo>
                    <a:pt x="0" y="10439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539734" y="3781805"/>
              <a:ext cx="0" cy="104775"/>
            </a:xfrm>
            <a:custGeom>
              <a:avLst/>
              <a:gdLst/>
              <a:ahLst/>
              <a:cxnLst/>
              <a:rect l="l" t="t" r="r" b="b"/>
              <a:pathLst>
                <a:path h="104775">
                  <a:moveTo>
                    <a:pt x="0" y="0"/>
                  </a:moveTo>
                  <a:lnTo>
                    <a:pt x="0" y="10439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730490" y="3724655"/>
              <a:ext cx="0" cy="1876425"/>
            </a:xfrm>
            <a:custGeom>
              <a:avLst/>
              <a:gdLst/>
              <a:ahLst/>
              <a:cxnLst/>
              <a:rect l="l" t="t" r="r" b="b"/>
              <a:pathLst>
                <a:path h="1876425">
                  <a:moveTo>
                    <a:pt x="0" y="1876043"/>
                  </a:moveTo>
                  <a:lnTo>
                    <a:pt x="0" y="0"/>
                  </a:lnTo>
                </a:path>
              </a:pathLst>
            </a:custGeom>
            <a:ln w="38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673340" y="4362450"/>
              <a:ext cx="104775" cy="0"/>
            </a:xfrm>
            <a:custGeom>
              <a:avLst/>
              <a:gdLst/>
              <a:ahLst/>
              <a:cxnLst/>
              <a:rect l="l" t="t" r="r" b="b"/>
              <a:pathLst>
                <a:path w="104775">
                  <a:moveTo>
                    <a:pt x="0" y="0"/>
                  </a:moveTo>
                  <a:lnTo>
                    <a:pt x="1043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673340" y="4895850"/>
              <a:ext cx="104775" cy="0"/>
            </a:xfrm>
            <a:custGeom>
              <a:avLst/>
              <a:gdLst/>
              <a:ahLst/>
              <a:cxnLst/>
              <a:rect l="l" t="t" r="r" b="b"/>
              <a:pathLst>
                <a:path w="104775">
                  <a:moveTo>
                    <a:pt x="0" y="0"/>
                  </a:moveTo>
                  <a:lnTo>
                    <a:pt x="1043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673340" y="5438394"/>
              <a:ext cx="104775" cy="0"/>
            </a:xfrm>
            <a:custGeom>
              <a:avLst/>
              <a:gdLst/>
              <a:ahLst/>
              <a:cxnLst/>
              <a:rect l="l" t="t" r="r" b="b"/>
              <a:pathLst>
                <a:path w="104775">
                  <a:moveTo>
                    <a:pt x="0" y="0"/>
                  </a:moveTo>
                  <a:lnTo>
                    <a:pt x="1043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7874000" y="3465067"/>
            <a:ext cx="1993264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593090" algn="l"/>
                <a:tab pos="1135380" algn="l"/>
                <a:tab pos="1678305" algn="l"/>
              </a:tabLst>
            </a:pPr>
            <a:r>
              <a:rPr sz="1400" spc="-25" dirty="0">
                <a:latin typeface="Calibri"/>
                <a:cs typeface="Calibri"/>
              </a:rPr>
              <a:t>10</a:t>
            </a:r>
            <a:r>
              <a:rPr sz="1350" spc="-37" baseline="40123" dirty="0">
                <a:latin typeface="Calibri"/>
                <a:cs typeface="Calibri"/>
              </a:rPr>
              <a:t>0</a:t>
            </a:r>
            <a:r>
              <a:rPr sz="1350" baseline="40123" dirty="0">
                <a:latin typeface="Calibri"/>
                <a:cs typeface="Calibri"/>
              </a:rPr>
              <a:t>	</a:t>
            </a:r>
            <a:r>
              <a:rPr sz="1400" spc="-25" dirty="0">
                <a:latin typeface="Calibri"/>
                <a:cs typeface="Calibri"/>
              </a:rPr>
              <a:t>10</a:t>
            </a:r>
            <a:r>
              <a:rPr sz="1350" spc="-37" baseline="40123" dirty="0">
                <a:latin typeface="Calibri"/>
                <a:cs typeface="Calibri"/>
              </a:rPr>
              <a:t>2</a:t>
            </a:r>
            <a:r>
              <a:rPr sz="1350" baseline="40123" dirty="0">
                <a:latin typeface="Calibri"/>
                <a:cs typeface="Calibri"/>
              </a:rPr>
              <a:t>	</a:t>
            </a:r>
            <a:r>
              <a:rPr sz="1400" spc="-25" dirty="0">
                <a:latin typeface="Calibri"/>
                <a:cs typeface="Calibri"/>
              </a:rPr>
              <a:t>10</a:t>
            </a:r>
            <a:r>
              <a:rPr sz="1350" spc="-37" baseline="40123" dirty="0">
                <a:latin typeface="Calibri"/>
                <a:cs typeface="Calibri"/>
              </a:rPr>
              <a:t>4</a:t>
            </a:r>
            <a:r>
              <a:rPr sz="1350" baseline="40123" dirty="0">
                <a:latin typeface="Calibri"/>
                <a:cs typeface="Calibri"/>
              </a:rPr>
              <a:t>	</a:t>
            </a:r>
            <a:r>
              <a:rPr sz="1400" spc="-25" dirty="0">
                <a:latin typeface="Calibri"/>
                <a:cs typeface="Calibri"/>
              </a:rPr>
              <a:t>10</a:t>
            </a:r>
            <a:r>
              <a:rPr sz="1350" spc="-37" baseline="40123" dirty="0">
                <a:latin typeface="Calibri"/>
                <a:cs typeface="Calibri"/>
              </a:rPr>
              <a:t>6</a:t>
            </a:r>
            <a:endParaRPr sz="1350" baseline="40123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0056876" y="3349244"/>
            <a:ext cx="151193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100" baseline="-37698" dirty="0">
                <a:latin typeface="Calibri"/>
                <a:cs typeface="Calibri"/>
              </a:rPr>
              <a:t>10</a:t>
            </a:r>
            <a:r>
              <a:rPr sz="1350" baseline="-15432" dirty="0">
                <a:latin typeface="Calibri"/>
                <a:cs typeface="Calibri"/>
              </a:rPr>
              <a:t>8</a:t>
            </a:r>
            <a:r>
              <a:rPr sz="1350" spc="585" baseline="-15432" dirty="0">
                <a:latin typeface="Calibri"/>
                <a:cs typeface="Calibri"/>
              </a:rPr>
              <a:t> </a:t>
            </a:r>
            <a:r>
              <a:rPr sz="1200" i="1" dirty="0">
                <a:latin typeface="Verdana"/>
                <a:cs typeface="Verdana"/>
              </a:rPr>
              <a:t>Log </a:t>
            </a:r>
            <a:r>
              <a:rPr sz="1200" i="1" spc="-10" dirty="0">
                <a:latin typeface="Verdana"/>
                <a:cs typeface="Verdana"/>
              </a:rPr>
              <a:t>Frequency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161608" y="2358439"/>
            <a:ext cx="180340" cy="307340"/>
          </a:xfrm>
          <a:prstGeom prst="rect">
            <a:avLst/>
          </a:prstGeom>
        </p:spPr>
        <p:txBody>
          <a:bodyPr vert="vert270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i="1" spc="-20" dirty="0">
                <a:latin typeface="Verdana"/>
                <a:cs typeface="Verdana"/>
              </a:rPr>
              <a:t>[dB]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137226" y="4484558"/>
            <a:ext cx="180340" cy="374650"/>
          </a:xfrm>
          <a:prstGeom prst="rect">
            <a:avLst/>
          </a:prstGeom>
        </p:spPr>
        <p:txBody>
          <a:bodyPr vert="vert270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i="1" spc="-10" dirty="0">
                <a:latin typeface="Verdana"/>
                <a:cs typeface="Verdana"/>
              </a:rPr>
              <a:t>[deg]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296150" y="3699002"/>
            <a:ext cx="36322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100" b="1" baseline="-25793" dirty="0">
                <a:latin typeface="Calibri"/>
                <a:cs typeface="Calibri"/>
              </a:rPr>
              <a:t>A</a:t>
            </a:r>
            <a:r>
              <a:rPr sz="2100" b="1" spc="547" baseline="-25793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406132" y="4241546"/>
            <a:ext cx="25971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Calibri"/>
                <a:cs typeface="Calibri"/>
              </a:rPr>
              <a:t>-</a:t>
            </a:r>
            <a:r>
              <a:rPr sz="1400" spc="-25" dirty="0">
                <a:latin typeface="Calibri"/>
                <a:cs typeface="Calibri"/>
              </a:rPr>
              <a:t>90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319258" y="4784092"/>
            <a:ext cx="35052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Calibri"/>
                <a:cs typeface="Calibri"/>
              </a:rPr>
              <a:t>-</a:t>
            </a:r>
            <a:r>
              <a:rPr sz="1400" spc="-25" dirty="0">
                <a:latin typeface="Calibri"/>
                <a:cs typeface="Calibri"/>
              </a:rPr>
              <a:t>180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319258" y="5326637"/>
            <a:ext cx="35052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Calibri"/>
                <a:cs typeface="Calibri"/>
              </a:rPr>
              <a:t>-</a:t>
            </a:r>
            <a:r>
              <a:rPr sz="1400" spc="-25" dirty="0">
                <a:latin typeface="Calibri"/>
                <a:cs typeface="Calibri"/>
              </a:rPr>
              <a:t>270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6904481" y="1453896"/>
            <a:ext cx="4920615" cy="4241800"/>
            <a:chOff x="6904481" y="1453896"/>
            <a:chExt cx="4920615" cy="4241800"/>
          </a:xfrm>
        </p:grpSpPr>
        <p:sp>
          <p:nvSpPr>
            <p:cNvPr id="58" name="object 58"/>
            <p:cNvSpPr/>
            <p:nvPr/>
          </p:nvSpPr>
          <p:spPr>
            <a:xfrm>
              <a:off x="7777733" y="2476500"/>
              <a:ext cx="2514600" cy="933450"/>
            </a:xfrm>
            <a:custGeom>
              <a:avLst/>
              <a:gdLst/>
              <a:ahLst/>
              <a:cxnLst/>
              <a:rect l="l" t="t" r="r" b="b"/>
              <a:pathLst>
                <a:path w="2514600" h="933450">
                  <a:moveTo>
                    <a:pt x="0" y="0"/>
                  </a:moveTo>
                  <a:lnTo>
                    <a:pt x="1572006" y="0"/>
                  </a:lnTo>
                  <a:lnTo>
                    <a:pt x="2514600" y="933449"/>
                  </a:lnTo>
                </a:path>
              </a:pathLst>
            </a:custGeom>
            <a:ln w="28575">
              <a:solidFill>
                <a:srgbClr val="FFB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9330689" y="2476500"/>
              <a:ext cx="485775" cy="933450"/>
            </a:xfrm>
            <a:custGeom>
              <a:avLst/>
              <a:gdLst/>
              <a:ahLst/>
              <a:cxnLst/>
              <a:rect l="l" t="t" r="r" b="b"/>
              <a:pathLst>
                <a:path w="485775" h="933450">
                  <a:moveTo>
                    <a:pt x="0" y="0"/>
                  </a:moveTo>
                  <a:lnTo>
                    <a:pt x="485394" y="933450"/>
                  </a:lnTo>
                </a:path>
              </a:pathLst>
            </a:custGeom>
            <a:ln w="28574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8816339" y="1962150"/>
              <a:ext cx="485775" cy="495300"/>
            </a:xfrm>
            <a:custGeom>
              <a:avLst/>
              <a:gdLst/>
              <a:ahLst/>
              <a:cxnLst/>
              <a:rect l="l" t="t" r="r" b="b"/>
              <a:pathLst>
                <a:path w="485775" h="495300">
                  <a:moveTo>
                    <a:pt x="0" y="0"/>
                  </a:moveTo>
                  <a:lnTo>
                    <a:pt x="485394" y="495300"/>
                  </a:lnTo>
                </a:path>
              </a:pathLst>
            </a:custGeom>
            <a:ln w="28575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768589" y="1962150"/>
              <a:ext cx="1009650" cy="0"/>
            </a:xfrm>
            <a:custGeom>
              <a:avLst/>
              <a:gdLst/>
              <a:ahLst/>
              <a:cxnLst/>
              <a:rect l="l" t="t" r="r" b="b"/>
              <a:pathLst>
                <a:path w="1009650">
                  <a:moveTo>
                    <a:pt x="0" y="0"/>
                  </a:moveTo>
                  <a:lnTo>
                    <a:pt x="1009650" y="0"/>
                  </a:lnTo>
                </a:path>
              </a:pathLst>
            </a:custGeom>
            <a:ln w="28575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9330689" y="2476500"/>
              <a:ext cx="923925" cy="914400"/>
            </a:xfrm>
            <a:custGeom>
              <a:avLst/>
              <a:gdLst/>
              <a:ahLst/>
              <a:cxnLst/>
              <a:rect l="l" t="t" r="r" b="b"/>
              <a:pathLst>
                <a:path w="923925" h="914400">
                  <a:moveTo>
                    <a:pt x="0" y="0"/>
                  </a:moveTo>
                  <a:lnTo>
                    <a:pt x="923544" y="914400"/>
                  </a:lnTo>
                </a:path>
              </a:pathLst>
            </a:custGeom>
            <a:ln w="28574">
              <a:solidFill>
                <a:srgbClr val="FFB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730489" y="1933956"/>
              <a:ext cx="2562225" cy="1476375"/>
            </a:xfrm>
            <a:custGeom>
              <a:avLst/>
              <a:gdLst/>
              <a:ahLst/>
              <a:cxnLst/>
              <a:rect l="l" t="t" r="r" b="b"/>
              <a:pathLst>
                <a:path w="2562225" h="1476375">
                  <a:moveTo>
                    <a:pt x="0" y="0"/>
                  </a:moveTo>
                  <a:lnTo>
                    <a:pt x="1085850" y="0"/>
                  </a:lnTo>
                  <a:lnTo>
                    <a:pt x="2561844" y="1475993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8520683" y="3858005"/>
              <a:ext cx="1066800" cy="1038225"/>
            </a:xfrm>
            <a:custGeom>
              <a:avLst/>
              <a:gdLst/>
              <a:ahLst/>
              <a:cxnLst/>
              <a:rect l="l" t="t" r="r" b="b"/>
              <a:pathLst>
                <a:path w="1066800" h="1038225">
                  <a:moveTo>
                    <a:pt x="0" y="0"/>
                  </a:moveTo>
                  <a:lnTo>
                    <a:pt x="1066800" y="1037844"/>
                  </a:lnTo>
                </a:path>
              </a:pathLst>
            </a:custGeom>
            <a:ln w="28575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9073133" y="4362450"/>
              <a:ext cx="1266825" cy="0"/>
            </a:xfrm>
            <a:custGeom>
              <a:avLst/>
              <a:gdLst/>
              <a:ahLst/>
              <a:cxnLst/>
              <a:rect l="l" t="t" r="r" b="b"/>
              <a:pathLst>
                <a:path w="1266825">
                  <a:moveTo>
                    <a:pt x="0" y="0"/>
                  </a:moveTo>
                  <a:lnTo>
                    <a:pt x="1266444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9606533" y="4895850"/>
              <a:ext cx="733425" cy="0"/>
            </a:xfrm>
            <a:custGeom>
              <a:avLst/>
              <a:gdLst/>
              <a:ahLst/>
              <a:cxnLst/>
              <a:rect l="l" t="t" r="r" b="b"/>
              <a:pathLst>
                <a:path w="733425">
                  <a:moveTo>
                    <a:pt x="733044" y="0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730489" y="3852862"/>
              <a:ext cx="809625" cy="28575"/>
            </a:xfrm>
            <a:custGeom>
              <a:avLst/>
              <a:gdLst/>
              <a:ahLst/>
              <a:cxnLst/>
              <a:rect l="l" t="t" r="r" b="b"/>
              <a:pathLst>
                <a:path w="809625" h="28575">
                  <a:moveTo>
                    <a:pt x="0" y="0"/>
                  </a:moveTo>
                  <a:lnTo>
                    <a:pt x="0" y="28575"/>
                  </a:lnTo>
                  <a:lnTo>
                    <a:pt x="809244" y="28575"/>
                  </a:lnTo>
                  <a:lnTo>
                    <a:pt x="80924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730489" y="3843718"/>
              <a:ext cx="809625" cy="28575"/>
            </a:xfrm>
            <a:custGeom>
              <a:avLst/>
              <a:gdLst/>
              <a:ahLst/>
              <a:cxnLst/>
              <a:rect l="l" t="t" r="r" b="b"/>
              <a:pathLst>
                <a:path w="809625" h="28575">
                  <a:moveTo>
                    <a:pt x="0" y="0"/>
                  </a:moveTo>
                  <a:lnTo>
                    <a:pt x="0" y="28575"/>
                  </a:lnTo>
                  <a:lnTo>
                    <a:pt x="809244" y="28575"/>
                  </a:lnTo>
                  <a:lnTo>
                    <a:pt x="80924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539733" y="3858005"/>
              <a:ext cx="533400" cy="504825"/>
            </a:xfrm>
            <a:custGeom>
              <a:avLst/>
              <a:gdLst/>
              <a:ahLst/>
              <a:cxnLst/>
              <a:rect l="l" t="t" r="r" b="b"/>
              <a:pathLst>
                <a:path w="533400" h="504825">
                  <a:moveTo>
                    <a:pt x="0" y="0"/>
                  </a:moveTo>
                  <a:lnTo>
                    <a:pt x="533400" y="504444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04481" y="1453896"/>
              <a:ext cx="4920233" cy="4241291"/>
            </a:xfrm>
            <a:prstGeom prst="rect">
              <a:avLst/>
            </a:prstGeom>
          </p:spPr>
        </p:pic>
      </p:grpSp>
      <p:sp>
        <p:nvSpPr>
          <p:cNvPr id="71" name="object 7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639C810C-01B8-458F-BAEB-9B83A3BBD9D7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73" name="object 7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58</a:t>
            </a:fld>
            <a:endParaRPr spc="-25" dirty="0"/>
          </a:p>
        </p:txBody>
      </p:sp>
      <p:sp>
        <p:nvSpPr>
          <p:cNvPr id="75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Multipath</a:t>
            </a:r>
            <a:r>
              <a:rPr spc="-65" dirty="0"/>
              <a:t> </a:t>
            </a:r>
            <a:r>
              <a:rPr dirty="0"/>
              <a:t>Nested</a:t>
            </a:r>
            <a:r>
              <a:rPr spc="-65" dirty="0"/>
              <a:t> </a:t>
            </a:r>
            <a:r>
              <a:rPr dirty="0"/>
              <a:t>Miller</a:t>
            </a:r>
            <a:r>
              <a:rPr spc="-30" dirty="0"/>
              <a:t> </a:t>
            </a:r>
            <a:r>
              <a:rPr spc="-10" dirty="0"/>
              <a:t>Compensation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4004" y="1310555"/>
            <a:ext cx="4594225" cy="3364865"/>
          </a:xfrm>
          <a:prstGeom prst="rect">
            <a:avLst/>
          </a:prstGeom>
        </p:spPr>
        <p:txBody>
          <a:bodyPr vert="horz" wrap="square" lIns="0" tIns="181610" rIns="0" bIns="0" rtlCol="0">
            <a:spAutoFit/>
          </a:bodyPr>
          <a:lstStyle/>
          <a:p>
            <a:pPr marL="508000" indent="-469900">
              <a:lnSpc>
                <a:spcPct val="100000"/>
              </a:lnSpc>
              <a:spcBef>
                <a:spcPts val="1430"/>
              </a:spcBef>
              <a:buClr>
                <a:srgbClr val="CC0000"/>
              </a:buClr>
              <a:buFont typeface="Wingdings"/>
              <a:buChar char=""/>
              <a:tabLst>
                <a:tab pos="508000" algn="l"/>
              </a:tabLst>
            </a:pPr>
            <a:r>
              <a:rPr sz="2000" dirty="0">
                <a:latin typeface="Verdana"/>
                <a:cs typeface="Verdana"/>
              </a:rPr>
              <a:t>Compare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3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stage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amplifiers</a:t>
            </a:r>
            <a:endParaRPr sz="2000">
              <a:latin typeface="Verdana"/>
              <a:cs typeface="Verdana"/>
            </a:endParaRPr>
          </a:p>
          <a:p>
            <a:pPr marL="946150" lvl="1" indent="-437515">
              <a:lnSpc>
                <a:spcPct val="100000"/>
              </a:lnSpc>
              <a:spcBef>
                <a:spcPts val="1205"/>
              </a:spcBef>
              <a:buFont typeface="Wingdings"/>
              <a:buChar char=""/>
              <a:tabLst>
                <a:tab pos="946150" algn="l"/>
              </a:tabLst>
            </a:pPr>
            <a:r>
              <a:rPr sz="1800" spc="-10" dirty="0">
                <a:solidFill>
                  <a:srgbClr val="CC0000"/>
                </a:solidFill>
                <a:latin typeface="Verdana"/>
                <a:cs typeface="Verdana"/>
              </a:rPr>
              <a:t>Uncompensated</a:t>
            </a:r>
            <a:endParaRPr sz="1800">
              <a:latin typeface="Verdana"/>
              <a:cs typeface="Verdana"/>
            </a:endParaRPr>
          </a:p>
          <a:p>
            <a:pPr marL="946150" lvl="1" indent="-437515">
              <a:lnSpc>
                <a:spcPct val="100000"/>
              </a:lnSpc>
              <a:spcBef>
                <a:spcPts val="1200"/>
              </a:spcBef>
              <a:buClr>
                <a:srgbClr val="CC0000"/>
              </a:buClr>
              <a:buFont typeface="Wingdings"/>
              <a:buChar char=""/>
              <a:tabLst>
                <a:tab pos="946150" algn="l"/>
              </a:tabLst>
            </a:pPr>
            <a:r>
              <a:rPr sz="1800" dirty="0">
                <a:solidFill>
                  <a:srgbClr val="32CCCC"/>
                </a:solidFill>
                <a:latin typeface="Verdana"/>
                <a:cs typeface="Verdana"/>
              </a:rPr>
              <a:t>Nested</a:t>
            </a:r>
            <a:r>
              <a:rPr sz="1800" spc="-50" dirty="0">
                <a:solidFill>
                  <a:srgbClr val="32CCCC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2CCCC"/>
                </a:solidFill>
                <a:latin typeface="Verdana"/>
                <a:cs typeface="Verdana"/>
              </a:rPr>
              <a:t>Miller</a:t>
            </a:r>
            <a:r>
              <a:rPr sz="1800" spc="-50" dirty="0">
                <a:solidFill>
                  <a:srgbClr val="32CCCC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2CCCC"/>
                </a:solidFill>
                <a:latin typeface="Verdana"/>
                <a:cs typeface="Verdana"/>
              </a:rPr>
              <a:t>compensated</a:t>
            </a:r>
            <a:endParaRPr sz="1800">
              <a:latin typeface="Verdana"/>
              <a:cs typeface="Verdana"/>
            </a:endParaRPr>
          </a:p>
          <a:p>
            <a:pPr marL="946150" marR="997585" lvl="1" indent="-437515">
              <a:lnSpc>
                <a:spcPct val="100000"/>
              </a:lnSpc>
              <a:spcBef>
                <a:spcPts val="1200"/>
              </a:spcBef>
              <a:buClr>
                <a:srgbClr val="CC0000"/>
              </a:buClr>
              <a:buFont typeface="Wingdings"/>
              <a:buChar char=""/>
              <a:tabLst>
                <a:tab pos="946150" algn="l"/>
              </a:tabLst>
            </a:pPr>
            <a:r>
              <a:rPr sz="1800" dirty="0">
                <a:solidFill>
                  <a:srgbClr val="00B04F"/>
                </a:solidFill>
                <a:latin typeface="Verdana"/>
                <a:cs typeface="Verdana"/>
              </a:rPr>
              <a:t>Multipath</a:t>
            </a:r>
            <a:r>
              <a:rPr sz="1800" spc="-75" dirty="0">
                <a:solidFill>
                  <a:srgbClr val="00B04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B04F"/>
                </a:solidFill>
                <a:latin typeface="Verdana"/>
                <a:cs typeface="Verdana"/>
              </a:rPr>
              <a:t>Nested</a:t>
            </a:r>
            <a:r>
              <a:rPr sz="1800" spc="-70" dirty="0">
                <a:solidFill>
                  <a:srgbClr val="00B04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B04F"/>
                </a:solidFill>
                <a:latin typeface="Verdana"/>
                <a:cs typeface="Verdana"/>
              </a:rPr>
              <a:t>Miller compensated</a:t>
            </a:r>
            <a:endParaRPr sz="1800">
              <a:latin typeface="Verdana"/>
              <a:cs typeface="Verdana"/>
            </a:endParaRPr>
          </a:p>
          <a:p>
            <a:pPr marL="508000" indent="-469900">
              <a:lnSpc>
                <a:spcPct val="100000"/>
              </a:lnSpc>
              <a:spcBef>
                <a:spcPts val="1195"/>
              </a:spcBef>
              <a:buClr>
                <a:srgbClr val="CC0000"/>
              </a:buClr>
              <a:buFont typeface="Wingdings"/>
              <a:buChar char=""/>
              <a:tabLst>
                <a:tab pos="508000" algn="l"/>
              </a:tabLst>
            </a:pPr>
            <a:r>
              <a:rPr sz="2000" dirty="0">
                <a:latin typeface="Verdana"/>
                <a:cs typeface="Verdana"/>
              </a:rPr>
              <a:t>In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example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(50pF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C</a:t>
            </a:r>
            <a:r>
              <a:rPr sz="1950" spc="-30" baseline="-21367" dirty="0">
                <a:latin typeface="Verdana"/>
                <a:cs typeface="Verdana"/>
              </a:rPr>
              <a:t>LD</a:t>
            </a:r>
            <a:r>
              <a:rPr sz="2000" spc="-20" dirty="0">
                <a:latin typeface="Verdana"/>
                <a:cs typeface="Verdana"/>
              </a:rPr>
              <a:t>)</a:t>
            </a:r>
            <a:endParaRPr sz="2000">
              <a:latin typeface="Verdana"/>
              <a:cs typeface="Verdana"/>
            </a:endParaRPr>
          </a:p>
          <a:p>
            <a:pPr marL="946150" lvl="1" indent="-437515">
              <a:lnSpc>
                <a:spcPct val="100000"/>
              </a:lnSpc>
              <a:spcBef>
                <a:spcPts val="1205"/>
              </a:spcBef>
              <a:buClr>
                <a:srgbClr val="CC0000"/>
              </a:buClr>
              <a:buFont typeface="Wingdings"/>
              <a:buChar char=""/>
              <a:tabLst>
                <a:tab pos="946150" algn="l"/>
              </a:tabLst>
            </a:pPr>
            <a:r>
              <a:rPr sz="1800" dirty="0">
                <a:latin typeface="Verdana"/>
                <a:cs typeface="Verdana"/>
              </a:rPr>
              <a:t>3x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better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bandwidth</a:t>
            </a:r>
            <a:endParaRPr sz="1800">
              <a:latin typeface="Verdana"/>
              <a:cs typeface="Verdana"/>
            </a:endParaRPr>
          </a:p>
          <a:p>
            <a:pPr marL="946150" lvl="1" indent="-437515">
              <a:lnSpc>
                <a:spcPct val="100000"/>
              </a:lnSpc>
              <a:spcBef>
                <a:spcPts val="1200"/>
              </a:spcBef>
              <a:buClr>
                <a:srgbClr val="CC0000"/>
              </a:buClr>
              <a:buFont typeface="Wingdings"/>
              <a:buChar char=""/>
              <a:tabLst>
                <a:tab pos="946150" algn="l"/>
              </a:tabLst>
            </a:pPr>
            <a:r>
              <a:rPr sz="1800" dirty="0">
                <a:latin typeface="Verdana"/>
                <a:cs typeface="Verdana"/>
              </a:rPr>
              <a:t>40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degrees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more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phase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margin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45460" y="1358646"/>
            <a:ext cx="5939988" cy="450037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D5AAF48F-67F1-47D1-8BB0-206B5AD8B6BD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59</a:t>
            </a:fld>
            <a:endParaRPr spc="-25" dirty="0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dirty="0"/>
              <a:t>External</a:t>
            </a:r>
            <a:r>
              <a:rPr spc="-35" dirty="0"/>
              <a:t> </a:t>
            </a:r>
            <a:r>
              <a:rPr dirty="0"/>
              <a:t>Techniques</a:t>
            </a:r>
            <a:r>
              <a:rPr spc="-20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Improve</a:t>
            </a:r>
            <a:r>
              <a:rPr spc="-20" dirty="0"/>
              <a:t> </a:t>
            </a:r>
            <a:r>
              <a:rPr dirty="0"/>
              <a:t>C</a:t>
            </a:r>
            <a:r>
              <a:rPr sz="3375" baseline="-20987" dirty="0"/>
              <a:t>L</a:t>
            </a:r>
            <a:r>
              <a:rPr sz="3375" spc="577" baseline="-20987" dirty="0"/>
              <a:t> </a:t>
            </a:r>
            <a:r>
              <a:rPr sz="3400" spc="-10" dirty="0"/>
              <a:t>Drive</a:t>
            </a:r>
            <a:endParaRPr sz="3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4583" y="1524762"/>
            <a:ext cx="2848355" cy="231190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497579" y="2247391"/>
            <a:ext cx="320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C</a:t>
            </a:r>
            <a:r>
              <a:rPr sz="1800" spc="-37" baseline="-20833" dirty="0">
                <a:latin typeface="Verdana"/>
                <a:cs typeface="Verdana"/>
              </a:rPr>
              <a:t>L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09109" y="2247391"/>
            <a:ext cx="320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R</a:t>
            </a:r>
            <a:r>
              <a:rPr sz="1800" spc="-37" baseline="-20833" dirty="0">
                <a:latin typeface="Verdana"/>
                <a:cs typeface="Verdana"/>
              </a:rPr>
              <a:t>L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77845" y="2382265"/>
            <a:ext cx="323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C</a:t>
            </a:r>
            <a:r>
              <a:rPr sz="1800" spc="-37" baseline="-20833" dirty="0">
                <a:latin typeface="Verdana"/>
                <a:cs typeface="Verdana"/>
              </a:rPr>
              <a:t>F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62605" y="3057397"/>
            <a:ext cx="323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R</a:t>
            </a:r>
            <a:r>
              <a:rPr sz="1800" spc="-37" baseline="-20833" dirty="0">
                <a:latin typeface="Verdana"/>
                <a:cs typeface="Verdana"/>
              </a:rPr>
              <a:t>F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82700" y="3228085"/>
            <a:ext cx="1847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R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41958" y="3360673"/>
            <a:ext cx="2019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Verdana"/>
                <a:cs typeface="Verdana"/>
              </a:rPr>
              <a:t>IN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71850" y="1608073"/>
            <a:ext cx="3403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R</a:t>
            </a:r>
            <a:r>
              <a:rPr sz="1800" spc="-37" baseline="-20833" dirty="0">
                <a:latin typeface="Verdana"/>
                <a:cs typeface="Verdana"/>
              </a:rPr>
              <a:t>X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9282" y="1084427"/>
            <a:ext cx="6439535" cy="880110"/>
          </a:xfrm>
          <a:prstGeom prst="rect">
            <a:avLst/>
          </a:prstGeom>
        </p:spPr>
        <p:txBody>
          <a:bodyPr vert="horz" wrap="square" lIns="0" tIns="15748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240"/>
              </a:spcBef>
              <a:tabLst>
                <a:tab pos="5318125" algn="l"/>
              </a:tabLst>
            </a:pPr>
            <a:r>
              <a:rPr sz="3000" spc="-37" baseline="1388" dirty="0">
                <a:latin typeface="Verdana"/>
                <a:cs typeface="Verdana"/>
              </a:rPr>
              <a:t>In-</a:t>
            </a:r>
            <a:r>
              <a:rPr sz="3000" spc="-30" baseline="1388" dirty="0">
                <a:latin typeface="Verdana"/>
                <a:cs typeface="Verdana"/>
              </a:rPr>
              <a:t>loop</a:t>
            </a:r>
            <a:r>
              <a:rPr sz="3000" baseline="1388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Snubber</a:t>
            </a:r>
            <a:endParaRPr sz="2000">
              <a:latin typeface="Verdana"/>
              <a:cs typeface="Verdana"/>
            </a:endParaRPr>
          </a:p>
          <a:p>
            <a:pPr marL="390525">
              <a:lnSpc>
                <a:spcPct val="100000"/>
              </a:lnSpc>
              <a:spcBef>
                <a:spcPts val="1025"/>
              </a:spcBef>
              <a:tabLst>
                <a:tab pos="1787525" algn="l"/>
              </a:tabLst>
            </a:pPr>
            <a:r>
              <a:rPr sz="2700" spc="-37" baseline="13888" dirty="0">
                <a:latin typeface="Verdana"/>
                <a:cs typeface="Verdana"/>
              </a:rPr>
              <a:t>V</a:t>
            </a:r>
            <a:r>
              <a:rPr sz="1200" spc="-25" dirty="0">
                <a:latin typeface="Verdana"/>
                <a:cs typeface="Verdana"/>
              </a:rPr>
              <a:t>IN</a:t>
            </a:r>
            <a:r>
              <a:rPr sz="1200" dirty="0">
                <a:latin typeface="Verdana"/>
                <a:cs typeface="Verdana"/>
              </a:rPr>
              <a:t>	</a:t>
            </a:r>
            <a:r>
              <a:rPr sz="2700" spc="-30" baseline="13888" dirty="0">
                <a:latin typeface="Verdana"/>
                <a:cs typeface="Verdana"/>
              </a:rPr>
              <a:t>Z</a:t>
            </a:r>
            <a:r>
              <a:rPr sz="1200" spc="-20" dirty="0">
                <a:latin typeface="Verdana"/>
                <a:cs typeface="Verdana"/>
              </a:rPr>
              <a:t>OUT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49394" y="1877821"/>
            <a:ext cx="182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V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05603" y="2010409"/>
            <a:ext cx="3498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Verdana"/>
                <a:cs typeface="Verdana"/>
              </a:rPr>
              <a:t>OUT</a:t>
            </a:r>
            <a:endParaRPr sz="1200">
              <a:latin typeface="Verdana"/>
              <a:cs typeface="Verdan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9155" y="4367784"/>
            <a:ext cx="2984754" cy="1401317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3512820" y="5140705"/>
            <a:ext cx="320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C</a:t>
            </a:r>
            <a:r>
              <a:rPr sz="1800" spc="-37" baseline="-20833" dirty="0">
                <a:latin typeface="Verdana"/>
                <a:cs typeface="Verdana"/>
              </a:rPr>
              <a:t>L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48811" y="4557776"/>
            <a:ext cx="523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13888" dirty="0">
                <a:latin typeface="Verdana"/>
                <a:cs typeface="Verdana"/>
              </a:rPr>
              <a:t>R</a:t>
            </a:r>
            <a:r>
              <a:rPr sz="1200" spc="-20" dirty="0">
                <a:latin typeface="Verdana"/>
                <a:cs typeface="Verdana"/>
              </a:rPr>
              <a:t>ISO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98117" y="4450334"/>
            <a:ext cx="182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V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51415" y="4057150"/>
            <a:ext cx="1123950" cy="734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Verdana"/>
                <a:cs typeface="Verdana"/>
              </a:rPr>
              <a:t>Isolation</a:t>
            </a:r>
            <a:endParaRPr sz="2000">
              <a:latin typeface="Verdana"/>
              <a:cs typeface="Verdana"/>
            </a:endParaRPr>
          </a:p>
          <a:p>
            <a:pPr marL="83820" algn="ctr">
              <a:lnSpc>
                <a:spcPct val="100000"/>
              </a:lnSpc>
              <a:spcBef>
                <a:spcPts val="1745"/>
              </a:spcBef>
            </a:pPr>
            <a:r>
              <a:rPr sz="1200" spc="-25" dirty="0">
                <a:latin typeface="Verdana"/>
                <a:cs typeface="Verdana"/>
              </a:rPr>
              <a:t>IN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04182" y="4790185"/>
            <a:ext cx="676910" cy="650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indent="119380">
              <a:lnSpc>
                <a:spcPct val="113900"/>
              </a:lnSpc>
              <a:spcBef>
                <a:spcPts val="100"/>
              </a:spcBef>
            </a:pPr>
            <a:r>
              <a:rPr sz="2700" cap="small" spc="-277" baseline="13888" dirty="0">
                <a:latin typeface="Verdana"/>
                <a:cs typeface="Verdana"/>
              </a:rPr>
              <a:t>V</a:t>
            </a:r>
            <a:r>
              <a:rPr sz="1800" cap="small" spc="-185" dirty="0">
                <a:latin typeface="Verdana"/>
                <a:cs typeface="Verdana"/>
              </a:rPr>
              <a:t>out </a:t>
            </a:r>
            <a:r>
              <a:rPr sz="1800" cap="small" spc="-25" dirty="0">
                <a:latin typeface="Verdana"/>
                <a:cs typeface="Verdana"/>
              </a:rPr>
              <a:t>R</a:t>
            </a:r>
            <a:r>
              <a:rPr sz="2700" cap="small" spc="-37" baseline="-13888" dirty="0">
                <a:latin typeface="Verdana"/>
                <a:cs typeface="Verdana"/>
              </a:rPr>
              <a:t>l</a:t>
            </a:r>
            <a:endParaRPr sz="2700" baseline="-13888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70301" y="4450334"/>
            <a:ext cx="182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Z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24988" y="4582922"/>
            <a:ext cx="3498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Verdana"/>
                <a:cs typeface="Verdana"/>
              </a:rPr>
              <a:t>OUT</a:t>
            </a:r>
            <a:endParaRPr sz="1200">
              <a:latin typeface="Verdana"/>
              <a:cs typeface="Verdana"/>
            </a:endParaRPr>
          </a:p>
        </p:txBody>
      </p:sp>
      <p:pic>
        <p:nvPicPr>
          <p:cNvPr id="22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05869" y="1600133"/>
            <a:ext cx="2906334" cy="1463520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9913873" y="2461514"/>
            <a:ext cx="577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4495" algn="l"/>
              </a:tabLst>
            </a:pPr>
            <a:r>
              <a:rPr sz="1800" spc="-50" dirty="0">
                <a:latin typeface="Verdana"/>
                <a:cs typeface="Verdana"/>
              </a:rPr>
              <a:t>C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50" dirty="0">
                <a:latin typeface="Verdana"/>
                <a:cs typeface="Verdana"/>
              </a:rPr>
              <a:t>R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073131" y="2594102"/>
            <a:ext cx="5029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4495" algn="l"/>
              </a:tabLst>
            </a:pPr>
            <a:r>
              <a:rPr sz="1200" spc="-50" dirty="0">
                <a:latin typeface="Verdana"/>
                <a:cs typeface="Verdana"/>
              </a:rPr>
              <a:t>L</a:t>
            </a:r>
            <a:r>
              <a:rPr sz="1200" dirty="0">
                <a:latin typeface="Verdana"/>
                <a:cs typeface="Verdana"/>
              </a:rPr>
              <a:t>	</a:t>
            </a:r>
            <a:r>
              <a:rPr sz="1200" spc="-50" dirty="0">
                <a:latin typeface="Verdana"/>
                <a:cs typeface="Verdana"/>
              </a:rPr>
              <a:t>L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184135" y="1760473"/>
            <a:ext cx="408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V</a:t>
            </a:r>
            <a:r>
              <a:rPr sz="1200" spc="-25" dirty="0">
                <a:latin typeface="Verdana"/>
                <a:cs typeface="Verdana"/>
              </a:rPr>
              <a:t>IN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495786" y="2030221"/>
            <a:ext cx="556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13888" dirty="0">
                <a:latin typeface="Verdana"/>
                <a:cs typeface="Verdana"/>
              </a:rPr>
              <a:t>V</a:t>
            </a:r>
            <a:r>
              <a:rPr sz="1200" spc="-20" dirty="0">
                <a:latin typeface="Verdana"/>
                <a:cs typeface="Verdana"/>
              </a:rPr>
              <a:t>OUT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167621" y="2176526"/>
            <a:ext cx="339725" cy="764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347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R</a:t>
            </a:r>
            <a:r>
              <a:rPr sz="1800" spc="-37" baseline="-20833" dirty="0">
                <a:latin typeface="Verdana"/>
                <a:cs typeface="Verdana"/>
              </a:rPr>
              <a:t>S </a:t>
            </a:r>
            <a:r>
              <a:rPr sz="1800" spc="-35" dirty="0">
                <a:latin typeface="Verdana"/>
                <a:cs typeface="Verdana"/>
              </a:rPr>
              <a:t>C</a:t>
            </a:r>
            <a:r>
              <a:rPr sz="1800" spc="-52" baseline="-20833" dirty="0">
                <a:latin typeface="Verdana"/>
                <a:cs typeface="Verdana"/>
              </a:rPr>
              <a:t>S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726423" y="3756152"/>
            <a:ext cx="342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C</a:t>
            </a:r>
            <a:r>
              <a:rPr sz="1800" spc="-37" baseline="-20833" dirty="0">
                <a:latin typeface="Verdana"/>
                <a:cs typeface="Verdana"/>
              </a:rPr>
              <a:t>C</a:t>
            </a:r>
            <a:endParaRPr sz="1800" baseline="-20833">
              <a:latin typeface="Verdana"/>
              <a:cs typeface="Verdana"/>
            </a:endParaRPr>
          </a:p>
        </p:txBody>
      </p:sp>
      <p:pic>
        <p:nvPicPr>
          <p:cNvPr id="29" name="object 2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61276" y="4006596"/>
            <a:ext cx="2644139" cy="1762505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7697723" y="5124703"/>
            <a:ext cx="412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C</a:t>
            </a:r>
            <a:r>
              <a:rPr sz="1200" spc="-25" dirty="0">
                <a:latin typeface="Verdana"/>
                <a:cs typeface="Verdana"/>
              </a:rPr>
              <a:t>IN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7AE92269-A4D9-488F-A967-D409FD454BA1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60</a:t>
            </a:fld>
            <a:endParaRPr spc="-25" dirty="0"/>
          </a:p>
        </p:txBody>
      </p:sp>
      <p:sp>
        <p:nvSpPr>
          <p:cNvPr id="31" name="object 31"/>
          <p:cNvSpPr txBox="1"/>
          <p:nvPr/>
        </p:nvSpPr>
        <p:spPr>
          <a:xfrm>
            <a:off x="8757919" y="4444238"/>
            <a:ext cx="1847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R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917178" y="4576826"/>
            <a:ext cx="1130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Verdana"/>
                <a:cs typeface="Verdana"/>
              </a:rPr>
              <a:t>F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139431" y="3465845"/>
            <a:ext cx="2350135" cy="1170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Verdana"/>
                <a:cs typeface="Verdana"/>
              </a:rPr>
              <a:t>Input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Cap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loading</a:t>
            </a:r>
            <a:endParaRPr sz="2000">
              <a:latin typeface="Verdana"/>
              <a:cs typeface="Verdana"/>
            </a:endParaRPr>
          </a:p>
          <a:p>
            <a:pPr marL="544195" algn="ctr">
              <a:lnSpc>
                <a:spcPct val="100000"/>
              </a:lnSpc>
              <a:spcBef>
                <a:spcPts val="2200"/>
              </a:spcBef>
            </a:pPr>
            <a:r>
              <a:rPr sz="2700" spc="-37" baseline="13888" dirty="0">
                <a:latin typeface="Verdana"/>
                <a:cs typeface="Verdana"/>
              </a:rPr>
              <a:t>R</a:t>
            </a:r>
            <a:r>
              <a:rPr sz="1200" spc="-25" dirty="0">
                <a:latin typeface="Verdana"/>
                <a:cs typeface="Verdana"/>
              </a:rPr>
              <a:t>IN</a:t>
            </a:r>
            <a:endParaRPr sz="1200">
              <a:latin typeface="Verdana"/>
              <a:cs typeface="Verdana"/>
            </a:endParaRPr>
          </a:p>
          <a:p>
            <a:pPr marR="909319" algn="ctr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V</a:t>
            </a:r>
            <a:r>
              <a:rPr sz="1200" spc="-25" dirty="0">
                <a:latin typeface="Verdana"/>
                <a:cs typeface="Verdana"/>
              </a:rPr>
              <a:t>IN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853421" y="5121655"/>
            <a:ext cx="556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13888" dirty="0">
                <a:latin typeface="Verdana"/>
                <a:cs typeface="Verdana"/>
              </a:rPr>
              <a:t>V</a:t>
            </a:r>
            <a:r>
              <a:rPr sz="1200" spc="-20" dirty="0">
                <a:latin typeface="Verdana"/>
                <a:cs typeface="Verdana"/>
              </a:rPr>
              <a:t>OUT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9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dirty="0"/>
              <a:t>Output</a:t>
            </a:r>
            <a:r>
              <a:rPr spc="-45" dirty="0"/>
              <a:t> </a:t>
            </a:r>
            <a:r>
              <a:rPr dirty="0"/>
              <a:t>Impedance</a:t>
            </a:r>
            <a:r>
              <a:rPr spc="-30" dirty="0"/>
              <a:t> </a:t>
            </a:r>
            <a:r>
              <a:rPr dirty="0"/>
              <a:t>Frequency</a:t>
            </a:r>
            <a:r>
              <a:rPr spc="-25" dirty="0"/>
              <a:t> </a:t>
            </a:r>
            <a:r>
              <a:rPr dirty="0"/>
              <a:t>Response</a:t>
            </a:r>
            <a:r>
              <a:rPr spc="-480" dirty="0"/>
              <a:t> </a:t>
            </a:r>
            <a:r>
              <a:rPr sz="3150" spc="-30" baseline="25132" dirty="0"/>
              <a:t>[16]</a:t>
            </a:r>
            <a:endParaRPr sz="3150" baseline="25132"/>
          </a:p>
        </p:txBody>
      </p:sp>
      <p:grpSp>
        <p:nvGrpSpPr>
          <p:cNvPr id="3" name="object 3"/>
          <p:cNvGrpSpPr/>
          <p:nvPr/>
        </p:nvGrpSpPr>
        <p:grpSpPr>
          <a:xfrm>
            <a:off x="1043177" y="1396133"/>
            <a:ext cx="4739005" cy="2802890"/>
            <a:chOff x="1043177" y="1396133"/>
            <a:chExt cx="4739005" cy="28028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9566" y="1396133"/>
              <a:ext cx="4722449" cy="276065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43178" y="1401317"/>
              <a:ext cx="4737735" cy="2797810"/>
            </a:xfrm>
            <a:custGeom>
              <a:avLst/>
              <a:gdLst/>
              <a:ahLst/>
              <a:cxnLst/>
              <a:rect l="l" t="t" r="r" b="b"/>
              <a:pathLst>
                <a:path w="4737735" h="2797810">
                  <a:moveTo>
                    <a:pt x="4737354" y="2713482"/>
                  </a:moveTo>
                  <a:lnTo>
                    <a:pt x="4610862" y="2674620"/>
                  </a:lnTo>
                  <a:lnTo>
                    <a:pt x="4610595" y="2700502"/>
                  </a:lnTo>
                  <a:lnTo>
                    <a:pt x="70104" y="2689999"/>
                  </a:lnTo>
                  <a:lnTo>
                    <a:pt x="70104" y="126492"/>
                  </a:lnTo>
                  <a:lnTo>
                    <a:pt x="95250" y="126492"/>
                  </a:lnTo>
                  <a:lnTo>
                    <a:pt x="57150" y="0"/>
                  </a:lnTo>
                  <a:lnTo>
                    <a:pt x="19050" y="126492"/>
                  </a:lnTo>
                  <a:lnTo>
                    <a:pt x="44958" y="126492"/>
                  </a:lnTo>
                  <a:lnTo>
                    <a:pt x="44958" y="2689936"/>
                  </a:lnTo>
                  <a:lnTo>
                    <a:pt x="12192" y="2689860"/>
                  </a:lnTo>
                  <a:lnTo>
                    <a:pt x="5334" y="2689860"/>
                  </a:lnTo>
                  <a:lnTo>
                    <a:pt x="0" y="2695194"/>
                  </a:lnTo>
                  <a:lnTo>
                    <a:pt x="0" y="2709672"/>
                  </a:lnTo>
                  <a:lnTo>
                    <a:pt x="5334" y="2715006"/>
                  </a:lnTo>
                  <a:lnTo>
                    <a:pt x="12192" y="2715006"/>
                  </a:lnTo>
                  <a:lnTo>
                    <a:pt x="44958" y="2715082"/>
                  </a:lnTo>
                  <a:lnTo>
                    <a:pt x="44958" y="2791968"/>
                  </a:lnTo>
                  <a:lnTo>
                    <a:pt x="50292" y="2797302"/>
                  </a:lnTo>
                  <a:lnTo>
                    <a:pt x="64770" y="2797302"/>
                  </a:lnTo>
                  <a:lnTo>
                    <a:pt x="70104" y="2791968"/>
                  </a:lnTo>
                  <a:lnTo>
                    <a:pt x="70104" y="2715145"/>
                  </a:lnTo>
                  <a:lnTo>
                    <a:pt x="4610100" y="2725648"/>
                  </a:lnTo>
                  <a:lnTo>
                    <a:pt x="4610341" y="2725648"/>
                  </a:lnTo>
                  <a:lnTo>
                    <a:pt x="4610100" y="2750820"/>
                  </a:lnTo>
                  <a:lnTo>
                    <a:pt x="4636008" y="2743225"/>
                  </a:lnTo>
                  <a:lnTo>
                    <a:pt x="4737354" y="2713482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16246" y="1486740"/>
            <a:ext cx="344170" cy="507365"/>
          </a:xfrm>
          <a:prstGeom prst="rect">
            <a:avLst/>
          </a:prstGeom>
        </p:spPr>
        <p:txBody>
          <a:bodyPr vert="vert270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20" dirty="0">
                <a:latin typeface="Verdana"/>
                <a:cs typeface="Verdana"/>
              </a:rPr>
              <a:t>|Z</a:t>
            </a:r>
            <a:r>
              <a:rPr sz="1800" spc="-30" baseline="-20833" dirty="0">
                <a:latin typeface="Verdana"/>
                <a:cs typeface="Verdana"/>
              </a:rPr>
              <a:t>O</a:t>
            </a:r>
            <a:r>
              <a:rPr sz="1800" spc="-20" dirty="0">
                <a:latin typeface="Verdana"/>
                <a:cs typeface="Verdana"/>
              </a:rPr>
              <a:t>|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64917" y="2081276"/>
            <a:ext cx="1205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Capacitive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33647" y="2992635"/>
            <a:ext cx="1095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Inductive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500122" y="2388107"/>
            <a:ext cx="1795780" cy="1139190"/>
            <a:chOff x="2500122" y="2388107"/>
            <a:chExt cx="1795780" cy="1139190"/>
          </a:xfrm>
        </p:grpSpPr>
        <p:sp>
          <p:nvSpPr>
            <p:cNvPr id="10" name="object 10"/>
            <p:cNvSpPr/>
            <p:nvPr/>
          </p:nvSpPr>
          <p:spPr>
            <a:xfrm>
              <a:off x="2500122" y="2388107"/>
              <a:ext cx="283845" cy="290830"/>
            </a:xfrm>
            <a:custGeom>
              <a:avLst/>
              <a:gdLst/>
              <a:ahLst/>
              <a:cxnLst/>
              <a:rect l="l" t="t" r="r" b="b"/>
              <a:pathLst>
                <a:path w="283844" h="290830">
                  <a:moveTo>
                    <a:pt x="77176" y="131695"/>
                  </a:moveTo>
                  <a:lnTo>
                    <a:pt x="74675" y="124872"/>
                  </a:lnTo>
                  <a:lnTo>
                    <a:pt x="69889" y="119622"/>
                  </a:lnTo>
                  <a:lnTo>
                    <a:pt x="63245" y="116586"/>
                  </a:lnTo>
                  <a:lnTo>
                    <a:pt x="55483" y="115943"/>
                  </a:lnTo>
                  <a:lnTo>
                    <a:pt x="48577" y="118300"/>
                  </a:lnTo>
                  <a:lnTo>
                    <a:pt x="43100" y="123229"/>
                  </a:lnTo>
                  <a:lnTo>
                    <a:pt x="39623" y="130302"/>
                  </a:lnTo>
                  <a:lnTo>
                    <a:pt x="0" y="290322"/>
                  </a:lnTo>
                  <a:lnTo>
                    <a:pt x="12953" y="286727"/>
                  </a:lnTo>
                  <a:lnTo>
                    <a:pt x="12953" y="249936"/>
                  </a:lnTo>
                  <a:lnTo>
                    <a:pt x="61928" y="199579"/>
                  </a:lnTo>
                  <a:lnTo>
                    <a:pt x="76961" y="139446"/>
                  </a:lnTo>
                  <a:lnTo>
                    <a:pt x="77176" y="131695"/>
                  </a:lnTo>
                  <a:close/>
                </a:path>
                <a:path w="283844" h="290830">
                  <a:moveTo>
                    <a:pt x="61928" y="199579"/>
                  </a:moveTo>
                  <a:lnTo>
                    <a:pt x="12953" y="249936"/>
                  </a:lnTo>
                  <a:lnTo>
                    <a:pt x="21335" y="258318"/>
                  </a:lnTo>
                  <a:lnTo>
                    <a:pt x="21335" y="244602"/>
                  </a:lnTo>
                  <a:lnTo>
                    <a:pt x="52842" y="235923"/>
                  </a:lnTo>
                  <a:lnTo>
                    <a:pt x="61928" y="199579"/>
                  </a:lnTo>
                  <a:close/>
                </a:path>
                <a:path w="283844" h="290830">
                  <a:moveTo>
                    <a:pt x="172866" y="230266"/>
                  </a:moveTo>
                  <a:lnTo>
                    <a:pt x="172211" y="222504"/>
                  </a:lnTo>
                  <a:lnTo>
                    <a:pt x="168628" y="215872"/>
                  </a:lnTo>
                  <a:lnTo>
                    <a:pt x="162972" y="211169"/>
                  </a:lnTo>
                  <a:lnTo>
                    <a:pt x="156031" y="208895"/>
                  </a:lnTo>
                  <a:lnTo>
                    <a:pt x="148589" y="209550"/>
                  </a:lnTo>
                  <a:lnTo>
                    <a:pt x="88836" y="226008"/>
                  </a:lnTo>
                  <a:lnTo>
                    <a:pt x="39623" y="276606"/>
                  </a:lnTo>
                  <a:lnTo>
                    <a:pt x="12953" y="249936"/>
                  </a:lnTo>
                  <a:lnTo>
                    <a:pt x="12953" y="286727"/>
                  </a:lnTo>
                  <a:lnTo>
                    <a:pt x="159257" y="246126"/>
                  </a:lnTo>
                  <a:lnTo>
                    <a:pt x="165889" y="242649"/>
                  </a:lnTo>
                  <a:lnTo>
                    <a:pt x="170592" y="237172"/>
                  </a:lnTo>
                  <a:lnTo>
                    <a:pt x="172866" y="230266"/>
                  </a:lnTo>
                  <a:close/>
                </a:path>
                <a:path w="283844" h="290830">
                  <a:moveTo>
                    <a:pt x="52842" y="235923"/>
                  </a:moveTo>
                  <a:lnTo>
                    <a:pt x="21335" y="244602"/>
                  </a:lnTo>
                  <a:lnTo>
                    <a:pt x="44957" y="267462"/>
                  </a:lnTo>
                  <a:lnTo>
                    <a:pt x="52842" y="235923"/>
                  </a:lnTo>
                  <a:close/>
                </a:path>
                <a:path w="283844" h="290830">
                  <a:moveTo>
                    <a:pt x="88836" y="226008"/>
                  </a:moveTo>
                  <a:lnTo>
                    <a:pt x="52842" y="235923"/>
                  </a:lnTo>
                  <a:lnTo>
                    <a:pt x="44957" y="267462"/>
                  </a:lnTo>
                  <a:lnTo>
                    <a:pt x="21335" y="244602"/>
                  </a:lnTo>
                  <a:lnTo>
                    <a:pt x="21335" y="258318"/>
                  </a:lnTo>
                  <a:lnTo>
                    <a:pt x="39623" y="276606"/>
                  </a:lnTo>
                  <a:lnTo>
                    <a:pt x="88836" y="226008"/>
                  </a:lnTo>
                  <a:close/>
                </a:path>
                <a:path w="283844" h="290830">
                  <a:moveTo>
                    <a:pt x="283463" y="25907"/>
                  </a:moveTo>
                  <a:lnTo>
                    <a:pt x="256031" y="0"/>
                  </a:lnTo>
                  <a:lnTo>
                    <a:pt x="61928" y="199579"/>
                  </a:lnTo>
                  <a:lnTo>
                    <a:pt x="52842" y="235923"/>
                  </a:lnTo>
                  <a:lnTo>
                    <a:pt x="88836" y="226008"/>
                  </a:lnTo>
                  <a:lnTo>
                    <a:pt x="283463" y="25907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74413" y="3316223"/>
              <a:ext cx="220980" cy="211074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865886" y="3628135"/>
            <a:ext cx="10361295" cy="2106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9758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Resistive</a:t>
            </a:r>
            <a:endParaRPr sz="1800">
              <a:latin typeface="Verdana"/>
              <a:cs typeface="Verdana"/>
            </a:endParaRPr>
          </a:p>
          <a:p>
            <a:pPr marR="942975" algn="ctr">
              <a:lnSpc>
                <a:spcPct val="100000"/>
              </a:lnSpc>
              <a:spcBef>
                <a:spcPts val="1930"/>
              </a:spcBef>
            </a:pPr>
            <a:r>
              <a:rPr sz="1800" dirty="0">
                <a:latin typeface="Verdana"/>
                <a:cs typeface="Verdana"/>
              </a:rPr>
              <a:t>Log</a:t>
            </a:r>
            <a:r>
              <a:rPr sz="1800" spc="-10" dirty="0">
                <a:latin typeface="Verdana"/>
                <a:cs typeface="Verdana"/>
              </a:rPr>
              <a:t> Freq.</a:t>
            </a:r>
            <a:endParaRPr sz="1800">
              <a:latin typeface="Verdana"/>
              <a:cs typeface="Verdana"/>
            </a:endParaRPr>
          </a:p>
          <a:p>
            <a:pPr marL="520700" marR="43180" indent="-470534">
              <a:lnSpc>
                <a:spcPct val="100000"/>
              </a:lnSpc>
              <a:spcBef>
                <a:spcPts val="1739"/>
              </a:spcBef>
              <a:buClr>
                <a:srgbClr val="CC0000"/>
              </a:buClr>
              <a:buFont typeface="Wingdings"/>
              <a:buChar char=""/>
              <a:tabLst>
                <a:tab pos="520700" algn="l"/>
              </a:tabLst>
            </a:pPr>
            <a:r>
              <a:rPr sz="2000" spc="-20" dirty="0">
                <a:latin typeface="Verdana"/>
                <a:cs typeface="Verdana"/>
              </a:rPr>
              <a:t>Rail-to-</a:t>
            </a:r>
            <a:r>
              <a:rPr sz="2000" dirty="0">
                <a:latin typeface="Verdana"/>
                <a:cs typeface="Verdana"/>
              </a:rPr>
              <a:t>rail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output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stages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multipath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structures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introduce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complex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output impedance</a:t>
            </a:r>
            <a:endParaRPr sz="2000">
              <a:latin typeface="Verdana"/>
              <a:cs typeface="Verdana"/>
            </a:endParaRPr>
          </a:p>
          <a:p>
            <a:pPr marL="520700" indent="-469900">
              <a:lnSpc>
                <a:spcPct val="100000"/>
              </a:lnSpc>
              <a:spcBef>
                <a:spcPts val="1200"/>
              </a:spcBef>
              <a:buClr>
                <a:srgbClr val="CC0000"/>
              </a:buClr>
              <a:buFont typeface="Wingdings"/>
              <a:buChar char=""/>
              <a:tabLst>
                <a:tab pos="520700" algn="l"/>
              </a:tabLst>
            </a:pPr>
            <a:r>
              <a:rPr sz="2000" dirty="0">
                <a:latin typeface="Verdana"/>
                <a:cs typeface="Verdana"/>
              </a:rPr>
              <a:t>Region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</a:t>
            </a:r>
            <a:r>
              <a:rPr sz="1950" baseline="-21367" dirty="0">
                <a:latin typeface="Verdana"/>
                <a:cs typeface="Verdana"/>
              </a:rPr>
              <a:t>O</a:t>
            </a:r>
            <a:r>
              <a:rPr sz="1950" spc="277" baseline="-21367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appears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inductive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can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interact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with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capacitive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loading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906267" y="3617214"/>
            <a:ext cx="319405" cy="195580"/>
          </a:xfrm>
          <a:custGeom>
            <a:avLst/>
            <a:gdLst/>
            <a:ahLst/>
            <a:cxnLst/>
            <a:rect l="l" t="t" r="r" b="b"/>
            <a:pathLst>
              <a:path w="319405" h="195579">
                <a:moveTo>
                  <a:pt x="254264" y="38676"/>
                </a:moveTo>
                <a:lnTo>
                  <a:pt x="236982" y="38577"/>
                </a:lnTo>
                <a:lnTo>
                  <a:pt x="216728" y="38460"/>
                </a:lnTo>
                <a:lnTo>
                  <a:pt x="0" y="162306"/>
                </a:lnTo>
                <a:lnTo>
                  <a:pt x="19050" y="195072"/>
                </a:lnTo>
                <a:lnTo>
                  <a:pt x="235190" y="71562"/>
                </a:lnTo>
                <a:lnTo>
                  <a:pt x="254264" y="38676"/>
                </a:lnTo>
                <a:close/>
              </a:path>
              <a:path w="319405" h="195579">
                <a:moveTo>
                  <a:pt x="319278" y="1524"/>
                </a:moveTo>
                <a:lnTo>
                  <a:pt x="154685" y="0"/>
                </a:lnTo>
                <a:lnTo>
                  <a:pt x="147208" y="1476"/>
                </a:lnTo>
                <a:lnTo>
                  <a:pt x="141160" y="5524"/>
                </a:lnTo>
                <a:lnTo>
                  <a:pt x="137112" y="11572"/>
                </a:lnTo>
                <a:lnTo>
                  <a:pt x="135636" y="19050"/>
                </a:lnTo>
                <a:lnTo>
                  <a:pt x="136779" y="26527"/>
                </a:lnTo>
                <a:lnTo>
                  <a:pt x="201751" y="38374"/>
                </a:lnTo>
                <a:lnTo>
                  <a:pt x="216728" y="38460"/>
                </a:lnTo>
                <a:lnTo>
                  <a:pt x="277368" y="3810"/>
                </a:lnTo>
                <a:lnTo>
                  <a:pt x="296418" y="36576"/>
                </a:lnTo>
                <a:lnTo>
                  <a:pt x="296418" y="41105"/>
                </a:lnTo>
                <a:lnTo>
                  <a:pt x="319278" y="1524"/>
                </a:lnTo>
                <a:close/>
              </a:path>
              <a:path w="319405" h="195579">
                <a:moveTo>
                  <a:pt x="296418" y="41105"/>
                </a:moveTo>
                <a:lnTo>
                  <a:pt x="296418" y="36576"/>
                </a:lnTo>
                <a:lnTo>
                  <a:pt x="235190" y="71562"/>
                </a:lnTo>
                <a:lnTo>
                  <a:pt x="204215" y="124968"/>
                </a:lnTo>
                <a:lnTo>
                  <a:pt x="201751" y="132230"/>
                </a:lnTo>
                <a:lnTo>
                  <a:pt x="202215" y="139636"/>
                </a:lnTo>
                <a:lnTo>
                  <a:pt x="205394" y="146184"/>
                </a:lnTo>
                <a:lnTo>
                  <a:pt x="211073" y="150876"/>
                </a:lnTo>
                <a:lnTo>
                  <a:pt x="218229" y="153340"/>
                </a:lnTo>
                <a:lnTo>
                  <a:pt x="225456" y="152876"/>
                </a:lnTo>
                <a:lnTo>
                  <a:pt x="231969" y="149697"/>
                </a:lnTo>
                <a:lnTo>
                  <a:pt x="236982" y="144018"/>
                </a:lnTo>
                <a:lnTo>
                  <a:pt x="296418" y="41105"/>
                </a:lnTo>
                <a:close/>
              </a:path>
              <a:path w="319405" h="195579">
                <a:moveTo>
                  <a:pt x="296418" y="36576"/>
                </a:moveTo>
                <a:lnTo>
                  <a:pt x="277368" y="3810"/>
                </a:lnTo>
                <a:lnTo>
                  <a:pt x="216728" y="38460"/>
                </a:lnTo>
                <a:lnTo>
                  <a:pt x="236982" y="38577"/>
                </a:lnTo>
                <a:lnTo>
                  <a:pt x="254264" y="38676"/>
                </a:lnTo>
                <a:lnTo>
                  <a:pt x="270510" y="10668"/>
                </a:lnTo>
                <a:lnTo>
                  <a:pt x="286512" y="38862"/>
                </a:lnTo>
                <a:lnTo>
                  <a:pt x="286512" y="42236"/>
                </a:lnTo>
                <a:lnTo>
                  <a:pt x="296418" y="36576"/>
                </a:lnTo>
                <a:close/>
              </a:path>
              <a:path w="319405" h="195579">
                <a:moveTo>
                  <a:pt x="286512" y="42236"/>
                </a:moveTo>
                <a:lnTo>
                  <a:pt x="286512" y="38862"/>
                </a:lnTo>
                <a:lnTo>
                  <a:pt x="270510" y="38770"/>
                </a:lnTo>
                <a:lnTo>
                  <a:pt x="254264" y="38676"/>
                </a:lnTo>
                <a:lnTo>
                  <a:pt x="235190" y="71562"/>
                </a:lnTo>
                <a:lnTo>
                  <a:pt x="286512" y="42236"/>
                </a:lnTo>
                <a:close/>
              </a:path>
              <a:path w="319405" h="195579">
                <a:moveTo>
                  <a:pt x="286512" y="38862"/>
                </a:moveTo>
                <a:lnTo>
                  <a:pt x="270510" y="10668"/>
                </a:lnTo>
                <a:lnTo>
                  <a:pt x="254264" y="38676"/>
                </a:lnTo>
                <a:lnTo>
                  <a:pt x="270510" y="38770"/>
                </a:lnTo>
                <a:lnTo>
                  <a:pt x="286512" y="38862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73993" y="1558637"/>
            <a:ext cx="3612709" cy="2544385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0723626" y="3251708"/>
            <a:ext cx="43560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Z</a:t>
            </a:r>
            <a:r>
              <a:rPr sz="1200" spc="-25" dirty="0">
                <a:latin typeface="Verdana"/>
                <a:cs typeface="Verdana"/>
              </a:rPr>
              <a:t>LD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1E1B15A0-1ABD-42C2-8CB9-3EFE27770449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61</a:t>
            </a:fld>
            <a:endParaRPr spc="-25" dirty="0"/>
          </a:p>
        </p:txBody>
      </p:sp>
      <p:sp>
        <p:nvSpPr>
          <p:cNvPr id="16" name="object 16"/>
          <p:cNvSpPr txBox="1"/>
          <p:nvPr/>
        </p:nvSpPr>
        <p:spPr>
          <a:xfrm>
            <a:off x="9085326" y="2561335"/>
            <a:ext cx="3511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Z</a:t>
            </a:r>
            <a:r>
              <a:rPr sz="1800" spc="-37" baseline="-20833" dirty="0">
                <a:latin typeface="Verdana"/>
                <a:cs typeface="Verdana"/>
              </a:rPr>
              <a:t>O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904226" y="2819653"/>
            <a:ext cx="2978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Z</a:t>
            </a:r>
            <a:r>
              <a:rPr sz="1800" spc="-37" baseline="-20833" dirty="0">
                <a:latin typeface="Verdana"/>
                <a:cs typeface="Verdana"/>
              </a:rPr>
              <a:t>I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477250" y="3280664"/>
            <a:ext cx="4464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AV</a:t>
            </a:r>
            <a:r>
              <a:rPr sz="1800" spc="-37" baseline="-20833" dirty="0">
                <a:latin typeface="Verdana"/>
                <a:cs typeface="Verdana"/>
              </a:rPr>
              <a:t>I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23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C5FDCD6B-C87F-4CB9-9309-B9759DA04C8A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62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73683" y="1334516"/>
            <a:ext cx="7032625" cy="3012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2600" indent="-469900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Introduction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background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0"/>
              </a:spcBef>
              <a:buClr>
                <a:srgbClr val="CC0000"/>
              </a:buClr>
              <a:buFont typeface="Wingdings"/>
              <a:buChar char=""/>
            </a:pPr>
            <a:endParaRPr sz="20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Refresher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on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feedback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theory,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bode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plots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0"/>
              </a:spcBef>
              <a:buClr>
                <a:srgbClr val="CC0000"/>
              </a:buClr>
              <a:buFont typeface="Wingdings"/>
              <a:buChar char=""/>
            </a:pPr>
            <a:endParaRPr sz="20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Types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frequency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compensation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0"/>
              </a:spcBef>
              <a:buClr>
                <a:srgbClr val="CC0000"/>
              </a:buClr>
              <a:buFont typeface="Wingdings"/>
              <a:buChar char=""/>
            </a:pPr>
            <a:endParaRPr sz="20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A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practical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design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example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two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stage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amplifier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0"/>
              </a:spcBef>
              <a:buClr>
                <a:srgbClr val="CC0000"/>
              </a:buClr>
              <a:buFont typeface="Wingdings"/>
              <a:buChar char=""/>
            </a:pPr>
            <a:endParaRPr sz="20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Alternative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(advanced)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compensation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schemes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0663" y="4508753"/>
            <a:ext cx="10647680" cy="675640"/>
          </a:xfrm>
          <a:prstGeom prst="rect">
            <a:avLst/>
          </a:prstGeom>
          <a:solidFill>
            <a:srgbClr val="CB0000"/>
          </a:solidFill>
        </p:spPr>
        <p:txBody>
          <a:bodyPr vert="horz" wrap="square" lIns="0" tIns="190500" rIns="0" bIns="0" rtlCol="0">
            <a:spAutoFit/>
          </a:bodyPr>
          <a:lstStyle/>
          <a:p>
            <a:pPr marL="515620" indent="-469900">
              <a:lnSpc>
                <a:spcPct val="100000"/>
              </a:lnSpc>
              <a:spcBef>
                <a:spcPts val="1500"/>
              </a:spcBef>
              <a:buFont typeface="Wingdings"/>
              <a:buChar char=""/>
              <a:tabLst>
                <a:tab pos="515620" algn="l"/>
              </a:tabLst>
            </a:pP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Practical</a:t>
            </a:r>
            <a:r>
              <a:rPr sz="20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tips</a:t>
            </a:r>
            <a:r>
              <a:rPr sz="20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suggestions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dirty="0"/>
              <a:t>Amplifiers</a:t>
            </a:r>
            <a:r>
              <a:rPr spc="-50" dirty="0"/>
              <a:t> </a:t>
            </a:r>
            <a:r>
              <a:rPr dirty="0"/>
              <a:t>have</a:t>
            </a:r>
            <a:r>
              <a:rPr spc="-90" dirty="0"/>
              <a:t> </a:t>
            </a:r>
            <a:r>
              <a:rPr dirty="0"/>
              <a:t>multiple</a:t>
            </a:r>
            <a:r>
              <a:rPr spc="-45" dirty="0"/>
              <a:t> </a:t>
            </a:r>
            <a:r>
              <a:rPr dirty="0"/>
              <a:t>feedback</a:t>
            </a:r>
            <a:r>
              <a:rPr spc="-90" dirty="0"/>
              <a:t> </a:t>
            </a:r>
            <a:r>
              <a:rPr spc="-10" dirty="0"/>
              <a:t>loops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959602" y="1982185"/>
            <a:ext cx="5537835" cy="2727325"/>
            <a:chOff x="5959602" y="1982185"/>
            <a:chExt cx="5537835" cy="27273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59602" y="1982185"/>
              <a:ext cx="5537588" cy="272724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903464" y="2483357"/>
              <a:ext cx="1751964" cy="1878330"/>
            </a:xfrm>
            <a:custGeom>
              <a:avLst/>
              <a:gdLst/>
              <a:ahLst/>
              <a:cxnLst/>
              <a:rect l="l" t="t" r="r" b="b"/>
              <a:pathLst>
                <a:path w="1751965" h="1878329">
                  <a:moveTo>
                    <a:pt x="244602" y="1632204"/>
                  </a:moveTo>
                  <a:lnTo>
                    <a:pt x="243840" y="1629156"/>
                  </a:lnTo>
                  <a:lnTo>
                    <a:pt x="220218" y="1565148"/>
                  </a:lnTo>
                  <a:lnTo>
                    <a:pt x="218694" y="1561338"/>
                  </a:lnTo>
                  <a:lnTo>
                    <a:pt x="216408" y="1559623"/>
                  </a:lnTo>
                  <a:lnTo>
                    <a:pt x="216408" y="1770888"/>
                  </a:lnTo>
                  <a:lnTo>
                    <a:pt x="214884" y="1789938"/>
                  </a:lnTo>
                  <a:lnTo>
                    <a:pt x="215646" y="1780032"/>
                  </a:lnTo>
                  <a:lnTo>
                    <a:pt x="216408" y="1770888"/>
                  </a:lnTo>
                  <a:lnTo>
                    <a:pt x="216408" y="1559623"/>
                  </a:lnTo>
                  <a:lnTo>
                    <a:pt x="215646" y="1559052"/>
                  </a:lnTo>
                  <a:lnTo>
                    <a:pt x="207264" y="1559052"/>
                  </a:lnTo>
                  <a:lnTo>
                    <a:pt x="207264" y="1642110"/>
                  </a:lnTo>
                  <a:lnTo>
                    <a:pt x="198348" y="1633207"/>
                  </a:lnTo>
                  <a:lnTo>
                    <a:pt x="206502" y="1641348"/>
                  </a:lnTo>
                  <a:lnTo>
                    <a:pt x="207264" y="1642110"/>
                  </a:lnTo>
                  <a:lnTo>
                    <a:pt x="207264" y="1559052"/>
                  </a:lnTo>
                  <a:lnTo>
                    <a:pt x="203454" y="1561338"/>
                  </a:lnTo>
                  <a:lnTo>
                    <a:pt x="202692" y="1565148"/>
                  </a:lnTo>
                  <a:lnTo>
                    <a:pt x="179070" y="1629156"/>
                  </a:lnTo>
                  <a:lnTo>
                    <a:pt x="178308" y="1632204"/>
                  </a:lnTo>
                  <a:lnTo>
                    <a:pt x="178308" y="1635252"/>
                  </a:lnTo>
                  <a:lnTo>
                    <a:pt x="180594" y="1638300"/>
                  </a:lnTo>
                  <a:lnTo>
                    <a:pt x="182118" y="1640586"/>
                  </a:lnTo>
                  <a:lnTo>
                    <a:pt x="185166" y="1642110"/>
                  </a:lnTo>
                  <a:lnTo>
                    <a:pt x="188214" y="1642110"/>
                  </a:lnTo>
                  <a:lnTo>
                    <a:pt x="197358" y="1642110"/>
                  </a:lnTo>
                  <a:lnTo>
                    <a:pt x="197358" y="1779270"/>
                  </a:lnTo>
                  <a:lnTo>
                    <a:pt x="195834" y="1787652"/>
                  </a:lnTo>
                  <a:lnTo>
                    <a:pt x="193548" y="1794510"/>
                  </a:lnTo>
                  <a:lnTo>
                    <a:pt x="191262" y="1802130"/>
                  </a:lnTo>
                  <a:lnTo>
                    <a:pt x="167640" y="1832610"/>
                  </a:lnTo>
                  <a:lnTo>
                    <a:pt x="133350" y="1849374"/>
                  </a:lnTo>
                  <a:lnTo>
                    <a:pt x="116586" y="1850898"/>
                  </a:lnTo>
                  <a:lnTo>
                    <a:pt x="4572" y="1850898"/>
                  </a:lnTo>
                  <a:lnTo>
                    <a:pt x="0" y="1854708"/>
                  </a:lnTo>
                  <a:lnTo>
                    <a:pt x="0" y="1874520"/>
                  </a:lnTo>
                  <a:lnTo>
                    <a:pt x="4572" y="1878330"/>
                  </a:lnTo>
                  <a:lnTo>
                    <a:pt x="9906" y="1878330"/>
                  </a:lnTo>
                  <a:lnTo>
                    <a:pt x="128016" y="1878330"/>
                  </a:lnTo>
                  <a:lnTo>
                    <a:pt x="168402" y="1866138"/>
                  </a:lnTo>
                  <a:lnTo>
                    <a:pt x="200406" y="1839468"/>
                  </a:lnTo>
                  <a:lnTo>
                    <a:pt x="220218" y="1802892"/>
                  </a:lnTo>
                  <a:lnTo>
                    <a:pt x="225552" y="1770888"/>
                  </a:lnTo>
                  <a:lnTo>
                    <a:pt x="225552" y="1642110"/>
                  </a:lnTo>
                  <a:lnTo>
                    <a:pt x="234696" y="1642110"/>
                  </a:lnTo>
                  <a:lnTo>
                    <a:pt x="237744" y="1642110"/>
                  </a:lnTo>
                  <a:lnTo>
                    <a:pt x="240792" y="1640586"/>
                  </a:lnTo>
                  <a:lnTo>
                    <a:pt x="242316" y="1638300"/>
                  </a:lnTo>
                  <a:lnTo>
                    <a:pt x="244602" y="1635252"/>
                  </a:lnTo>
                  <a:lnTo>
                    <a:pt x="244602" y="1632204"/>
                  </a:lnTo>
                  <a:close/>
                </a:path>
                <a:path w="1751965" h="1878329">
                  <a:moveTo>
                    <a:pt x="1145286" y="640842"/>
                  </a:moveTo>
                  <a:lnTo>
                    <a:pt x="1117092" y="640842"/>
                  </a:lnTo>
                  <a:lnTo>
                    <a:pt x="1117092" y="1125474"/>
                  </a:lnTo>
                  <a:lnTo>
                    <a:pt x="1145286" y="1125474"/>
                  </a:lnTo>
                  <a:lnTo>
                    <a:pt x="1145286" y="640842"/>
                  </a:lnTo>
                  <a:close/>
                </a:path>
                <a:path w="1751965" h="1878329">
                  <a:moveTo>
                    <a:pt x="1751838" y="438912"/>
                  </a:moveTo>
                  <a:lnTo>
                    <a:pt x="1751076" y="438150"/>
                  </a:lnTo>
                  <a:lnTo>
                    <a:pt x="1750314" y="436626"/>
                  </a:lnTo>
                  <a:lnTo>
                    <a:pt x="1748790" y="435864"/>
                  </a:lnTo>
                  <a:lnTo>
                    <a:pt x="1725168" y="435864"/>
                  </a:lnTo>
                  <a:lnTo>
                    <a:pt x="1725168" y="134874"/>
                  </a:lnTo>
                  <a:lnTo>
                    <a:pt x="1724406" y="128016"/>
                  </a:lnTo>
                  <a:lnTo>
                    <a:pt x="1723644" y="120396"/>
                  </a:lnTo>
                  <a:lnTo>
                    <a:pt x="1719072" y="99822"/>
                  </a:lnTo>
                  <a:lnTo>
                    <a:pt x="1716786" y="93726"/>
                  </a:lnTo>
                  <a:lnTo>
                    <a:pt x="1713738" y="86868"/>
                  </a:lnTo>
                  <a:lnTo>
                    <a:pt x="1711452" y="80772"/>
                  </a:lnTo>
                  <a:lnTo>
                    <a:pt x="1707642" y="74676"/>
                  </a:lnTo>
                  <a:lnTo>
                    <a:pt x="1700784" y="62484"/>
                  </a:lnTo>
                  <a:lnTo>
                    <a:pt x="1692402" y="51816"/>
                  </a:lnTo>
                  <a:lnTo>
                    <a:pt x="1650492" y="16764"/>
                  </a:lnTo>
                  <a:lnTo>
                    <a:pt x="1631442" y="8382"/>
                  </a:lnTo>
                  <a:lnTo>
                    <a:pt x="1625346" y="6096"/>
                  </a:lnTo>
                  <a:lnTo>
                    <a:pt x="1611630" y="3048"/>
                  </a:lnTo>
                  <a:lnTo>
                    <a:pt x="1604010" y="1524"/>
                  </a:lnTo>
                  <a:lnTo>
                    <a:pt x="1590294" y="0"/>
                  </a:lnTo>
                  <a:lnTo>
                    <a:pt x="1429512" y="0"/>
                  </a:lnTo>
                  <a:lnTo>
                    <a:pt x="1427226" y="2286"/>
                  </a:lnTo>
                  <a:lnTo>
                    <a:pt x="1427226" y="19812"/>
                  </a:lnTo>
                  <a:lnTo>
                    <a:pt x="1429512" y="22098"/>
                  </a:lnTo>
                  <a:lnTo>
                    <a:pt x="1431798" y="22098"/>
                  </a:lnTo>
                  <a:lnTo>
                    <a:pt x="1437132" y="22098"/>
                  </a:lnTo>
                  <a:lnTo>
                    <a:pt x="1594866" y="22098"/>
                  </a:lnTo>
                  <a:lnTo>
                    <a:pt x="1600962" y="22860"/>
                  </a:lnTo>
                  <a:lnTo>
                    <a:pt x="1639824" y="36576"/>
                  </a:lnTo>
                  <a:lnTo>
                    <a:pt x="1675638" y="65532"/>
                  </a:lnTo>
                  <a:lnTo>
                    <a:pt x="1697736" y="106680"/>
                  </a:lnTo>
                  <a:lnTo>
                    <a:pt x="1703070" y="130302"/>
                  </a:lnTo>
                  <a:lnTo>
                    <a:pt x="1703070" y="435864"/>
                  </a:lnTo>
                  <a:lnTo>
                    <a:pt x="1680210" y="435864"/>
                  </a:lnTo>
                  <a:lnTo>
                    <a:pt x="1678686" y="436626"/>
                  </a:lnTo>
                  <a:lnTo>
                    <a:pt x="1677924" y="438150"/>
                  </a:lnTo>
                  <a:lnTo>
                    <a:pt x="1677162" y="438912"/>
                  </a:lnTo>
                  <a:lnTo>
                    <a:pt x="1676400" y="440436"/>
                  </a:lnTo>
                  <a:lnTo>
                    <a:pt x="1677162" y="441960"/>
                  </a:lnTo>
                  <a:lnTo>
                    <a:pt x="1681734" y="454507"/>
                  </a:lnTo>
                  <a:lnTo>
                    <a:pt x="1709928" y="531876"/>
                  </a:lnTo>
                  <a:lnTo>
                    <a:pt x="1710690" y="534162"/>
                  </a:lnTo>
                  <a:lnTo>
                    <a:pt x="1712214" y="534924"/>
                  </a:lnTo>
                  <a:lnTo>
                    <a:pt x="1716024" y="534924"/>
                  </a:lnTo>
                  <a:lnTo>
                    <a:pt x="1718310" y="534162"/>
                  </a:lnTo>
                  <a:lnTo>
                    <a:pt x="1719072" y="531876"/>
                  </a:lnTo>
                  <a:lnTo>
                    <a:pt x="1747266" y="454507"/>
                  </a:lnTo>
                  <a:lnTo>
                    <a:pt x="1751838" y="441960"/>
                  </a:lnTo>
                  <a:lnTo>
                    <a:pt x="1751838" y="438912"/>
                  </a:lnTo>
                  <a:close/>
                </a:path>
              </a:pathLst>
            </a:custGeom>
            <a:solidFill>
              <a:srgbClr val="CB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75882" y="2487167"/>
              <a:ext cx="1729105" cy="1874520"/>
            </a:xfrm>
            <a:custGeom>
              <a:avLst/>
              <a:gdLst/>
              <a:ahLst/>
              <a:cxnLst/>
              <a:rect l="l" t="t" r="r" b="b"/>
              <a:pathLst>
                <a:path w="1729104" h="1874520">
                  <a:moveTo>
                    <a:pt x="324612" y="2286"/>
                  </a:moveTo>
                  <a:lnTo>
                    <a:pt x="322326" y="0"/>
                  </a:lnTo>
                  <a:lnTo>
                    <a:pt x="161544" y="0"/>
                  </a:lnTo>
                  <a:lnTo>
                    <a:pt x="155448" y="685"/>
                  </a:lnTo>
                  <a:lnTo>
                    <a:pt x="147066" y="1524"/>
                  </a:lnTo>
                  <a:lnTo>
                    <a:pt x="126492" y="6096"/>
                  </a:lnTo>
                  <a:lnTo>
                    <a:pt x="120396" y="8382"/>
                  </a:lnTo>
                  <a:lnTo>
                    <a:pt x="113538" y="10668"/>
                  </a:lnTo>
                  <a:lnTo>
                    <a:pt x="78486" y="32004"/>
                  </a:lnTo>
                  <a:lnTo>
                    <a:pt x="51054" y="62484"/>
                  </a:lnTo>
                  <a:lnTo>
                    <a:pt x="35052" y="93726"/>
                  </a:lnTo>
                  <a:lnTo>
                    <a:pt x="32766" y="99822"/>
                  </a:lnTo>
                  <a:lnTo>
                    <a:pt x="31242" y="106680"/>
                  </a:lnTo>
                  <a:lnTo>
                    <a:pt x="28956" y="113538"/>
                  </a:lnTo>
                  <a:lnTo>
                    <a:pt x="28194" y="120396"/>
                  </a:lnTo>
                  <a:lnTo>
                    <a:pt x="27432" y="128016"/>
                  </a:lnTo>
                  <a:lnTo>
                    <a:pt x="26670" y="134874"/>
                  </a:lnTo>
                  <a:lnTo>
                    <a:pt x="26670" y="435864"/>
                  </a:lnTo>
                  <a:lnTo>
                    <a:pt x="3048" y="435864"/>
                  </a:lnTo>
                  <a:lnTo>
                    <a:pt x="1524" y="436626"/>
                  </a:lnTo>
                  <a:lnTo>
                    <a:pt x="762" y="438150"/>
                  </a:lnTo>
                  <a:lnTo>
                    <a:pt x="0" y="438912"/>
                  </a:lnTo>
                  <a:lnTo>
                    <a:pt x="0" y="441960"/>
                  </a:lnTo>
                  <a:lnTo>
                    <a:pt x="4572" y="454507"/>
                  </a:lnTo>
                  <a:lnTo>
                    <a:pt x="32766" y="531876"/>
                  </a:lnTo>
                  <a:lnTo>
                    <a:pt x="33528" y="534162"/>
                  </a:lnTo>
                  <a:lnTo>
                    <a:pt x="35052" y="534924"/>
                  </a:lnTo>
                  <a:lnTo>
                    <a:pt x="39624" y="534924"/>
                  </a:lnTo>
                  <a:lnTo>
                    <a:pt x="41148" y="534162"/>
                  </a:lnTo>
                  <a:lnTo>
                    <a:pt x="41910" y="531876"/>
                  </a:lnTo>
                  <a:lnTo>
                    <a:pt x="70104" y="454507"/>
                  </a:lnTo>
                  <a:lnTo>
                    <a:pt x="74676" y="441960"/>
                  </a:lnTo>
                  <a:lnTo>
                    <a:pt x="74676" y="438912"/>
                  </a:lnTo>
                  <a:lnTo>
                    <a:pt x="73914" y="438150"/>
                  </a:lnTo>
                  <a:lnTo>
                    <a:pt x="73152" y="436626"/>
                  </a:lnTo>
                  <a:lnTo>
                    <a:pt x="71628" y="435864"/>
                  </a:lnTo>
                  <a:lnTo>
                    <a:pt x="48006" y="435864"/>
                  </a:lnTo>
                  <a:lnTo>
                    <a:pt x="48006" y="142494"/>
                  </a:lnTo>
                  <a:lnTo>
                    <a:pt x="48768" y="136398"/>
                  </a:lnTo>
                  <a:lnTo>
                    <a:pt x="48768" y="130302"/>
                  </a:lnTo>
                  <a:lnTo>
                    <a:pt x="49530" y="124206"/>
                  </a:lnTo>
                  <a:lnTo>
                    <a:pt x="51054" y="118110"/>
                  </a:lnTo>
                  <a:lnTo>
                    <a:pt x="51816" y="112014"/>
                  </a:lnTo>
                  <a:lnTo>
                    <a:pt x="54102" y="106680"/>
                  </a:lnTo>
                  <a:lnTo>
                    <a:pt x="76200" y="65532"/>
                  </a:lnTo>
                  <a:lnTo>
                    <a:pt x="111252" y="36576"/>
                  </a:lnTo>
                  <a:lnTo>
                    <a:pt x="150876" y="22860"/>
                  </a:lnTo>
                  <a:lnTo>
                    <a:pt x="156972" y="22098"/>
                  </a:lnTo>
                  <a:lnTo>
                    <a:pt x="314706" y="22098"/>
                  </a:lnTo>
                  <a:lnTo>
                    <a:pt x="320040" y="22098"/>
                  </a:lnTo>
                  <a:lnTo>
                    <a:pt x="322326" y="22098"/>
                  </a:lnTo>
                  <a:lnTo>
                    <a:pt x="324612" y="19812"/>
                  </a:lnTo>
                  <a:lnTo>
                    <a:pt x="324612" y="2286"/>
                  </a:lnTo>
                  <a:close/>
                </a:path>
                <a:path w="1729104" h="1874520">
                  <a:moveTo>
                    <a:pt x="554736" y="1650492"/>
                  </a:moveTo>
                  <a:lnTo>
                    <a:pt x="553974" y="1648206"/>
                  </a:lnTo>
                  <a:lnTo>
                    <a:pt x="530352" y="1583436"/>
                  </a:lnTo>
                  <a:lnTo>
                    <a:pt x="528828" y="1580388"/>
                  </a:lnTo>
                  <a:lnTo>
                    <a:pt x="525018" y="1577340"/>
                  </a:lnTo>
                  <a:lnTo>
                    <a:pt x="517398" y="1577340"/>
                  </a:lnTo>
                  <a:lnTo>
                    <a:pt x="516636" y="1577949"/>
                  </a:lnTo>
                  <a:lnTo>
                    <a:pt x="516636" y="1660398"/>
                  </a:lnTo>
                  <a:lnTo>
                    <a:pt x="507746" y="1651520"/>
                  </a:lnTo>
                  <a:lnTo>
                    <a:pt x="515874" y="1659636"/>
                  </a:lnTo>
                  <a:lnTo>
                    <a:pt x="516636" y="1660398"/>
                  </a:lnTo>
                  <a:lnTo>
                    <a:pt x="516636" y="1577949"/>
                  </a:lnTo>
                  <a:lnTo>
                    <a:pt x="513588" y="1580388"/>
                  </a:lnTo>
                  <a:lnTo>
                    <a:pt x="512064" y="1583436"/>
                  </a:lnTo>
                  <a:lnTo>
                    <a:pt x="489204" y="1648206"/>
                  </a:lnTo>
                  <a:lnTo>
                    <a:pt x="487680" y="1650492"/>
                  </a:lnTo>
                  <a:lnTo>
                    <a:pt x="488442" y="1654302"/>
                  </a:lnTo>
                  <a:lnTo>
                    <a:pt x="489966" y="1656588"/>
                  </a:lnTo>
                  <a:lnTo>
                    <a:pt x="492252" y="1658874"/>
                  </a:lnTo>
                  <a:lnTo>
                    <a:pt x="494538" y="1660398"/>
                  </a:lnTo>
                  <a:lnTo>
                    <a:pt x="498348" y="1660398"/>
                  </a:lnTo>
                  <a:lnTo>
                    <a:pt x="507492" y="1660398"/>
                  </a:lnTo>
                  <a:lnTo>
                    <a:pt x="507492" y="1767078"/>
                  </a:lnTo>
                  <a:lnTo>
                    <a:pt x="505968" y="1783842"/>
                  </a:lnTo>
                  <a:lnTo>
                    <a:pt x="488442" y="1818132"/>
                  </a:lnTo>
                  <a:lnTo>
                    <a:pt x="483870" y="1823466"/>
                  </a:lnTo>
                  <a:lnTo>
                    <a:pt x="442722" y="1845564"/>
                  </a:lnTo>
                  <a:lnTo>
                    <a:pt x="314706" y="1847088"/>
                  </a:lnTo>
                  <a:lnTo>
                    <a:pt x="310134" y="1850898"/>
                  </a:lnTo>
                  <a:lnTo>
                    <a:pt x="310134" y="1870710"/>
                  </a:lnTo>
                  <a:lnTo>
                    <a:pt x="314706" y="1874520"/>
                  </a:lnTo>
                  <a:lnTo>
                    <a:pt x="319278" y="1874520"/>
                  </a:lnTo>
                  <a:lnTo>
                    <a:pt x="438150" y="1874520"/>
                  </a:lnTo>
                  <a:lnTo>
                    <a:pt x="478536" y="1862328"/>
                  </a:lnTo>
                  <a:lnTo>
                    <a:pt x="510540" y="1835658"/>
                  </a:lnTo>
                  <a:lnTo>
                    <a:pt x="530352" y="1799082"/>
                  </a:lnTo>
                  <a:lnTo>
                    <a:pt x="534924" y="1778508"/>
                  </a:lnTo>
                  <a:lnTo>
                    <a:pt x="534924" y="1660398"/>
                  </a:lnTo>
                  <a:lnTo>
                    <a:pt x="544830" y="1660398"/>
                  </a:lnTo>
                  <a:lnTo>
                    <a:pt x="547878" y="1660398"/>
                  </a:lnTo>
                  <a:lnTo>
                    <a:pt x="550926" y="1658874"/>
                  </a:lnTo>
                  <a:lnTo>
                    <a:pt x="553974" y="1654302"/>
                  </a:lnTo>
                  <a:lnTo>
                    <a:pt x="554736" y="1650492"/>
                  </a:lnTo>
                  <a:close/>
                </a:path>
                <a:path w="1729104" h="1874520">
                  <a:moveTo>
                    <a:pt x="1360170" y="1568196"/>
                  </a:moveTo>
                  <a:lnTo>
                    <a:pt x="1358646" y="1565148"/>
                  </a:lnTo>
                  <a:lnTo>
                    <a:pt x="1341120" y="1516075"/>
                  </a:lnTo>
                  <a:lnTo>
                    <a:pt x="1341120" y="1571244"/>
                  </a:lnTo>
                  <a:lnTo>
                    <a:pt x="1340091" y="1568488"/>
                  </a:lnTo>
                  <a:lnTo>
                    <a:pt x="1340358" y="1569186"/>
                  </a:lnTo>
                  <a:lnTo>
                    <a:pt x="1341120" y="1571244"/>
                  </a:lnTo>
                  <a:lnTo>
                    <a:pt x="1341120" y="1516075"/>
                  </a:lnTo>
                  <a:lnTo>
                    <a:pt x="1335786" y="1501140"/>
                  </a:lnTo>
                  <a:lnTo>
                    <a:pt x="1334262" y="1497330"/>
                  </a:lnTo>
                  <a:lnTo>
                    <a:pt x="1330452" y="1495044"/>
                  </a:lnTo>
                  <a:lnTo>
                    <a:pt x="1322832" y="1495044"/>
                  </a:lnTo>
                  <a:lnTo>
                    <a:pt x="1322070" y="1495501"/>
                  </a:lnTo>
                  <a:lnTo>
                    <a:pt x="1322070" y="1578102"/>
                  </a:lnTo>
                  <a:lnTo>
                    <a:pt x="1312976" y="1569021"/>
                  </a:lnTo>
                  <a:lnTo>
                    <a:pt x="1321308" y="1577340"/>
                  </a:lnTo>
                  <a:lnTo>
                    <a:pt x="1322070" y="1578102"/>
                  </a:lnTo>
                  <a:lnTo>
                    <a:pt x="1322070" y="1495501"/>
                  </a:lnTo>
                  <a:lnTo>
                    <a:pt x="1319022" y="1497330"/>
                  </a:lnTo>
                  <a:lnTo>
                    <a:pt x="1317498" y="1501140"/>
                  </a:lnTo>
                  <a:lnTo>
                    <a:pt x="1293876" y="1565148"/>
                  </a:lnTo>
                  <a:lnTo>
                    <a:pt x="1293114" y="1568196"/>
                  </a:lnTo>
                  <a:lnTo>
                    <a:pt x="1293876" y="1571244"/>
                  </a:lnTo>
                  <a:lnTo>
                    <a:pt x="1295400" y="1573530"/>
                  </a:lnTo>
                  <a:lnTo>
                    <a:pt x="1296924" y="1576578"/>
                  </a:lnTo>
                  <a:lnTo>
                    <a:pt x="1299972" y="1578102"/>
                  </a:lnTo>
                  <a:lnTo>
                    <a:pt x="1303020" y="1578102"/>
                  </a:lnTo>
                  <a:lnTo>
                    <a:pt x="1312164" y="1578102"/>
                  </a:lnTo>
                  <a:lnTo>
                    <a:pt x="1312164" y="1692402"/>
                  </a:lnTo>
                  <a:lnTo>
                    <a:pt x="1310640" y="1700784"/>
                  </a:lnTo>
                  <a:lnTo>
                    <a:pt x="1309116" y="1708404"/>
                  </a:lnTo>
                  <a:lnTo>
                    <a:pt x="1306068" y="1715262"/>
                  </a:lnTo>
                  <a:lnTo>
                    <a:pt x="1303020" y="1722882"/>
                  </a:lnTo>
                  <a:lnTo>
                    <a:pt x="1270254" y="1754886"/>
                  </a:lnTo>
                  <a:lnTo>
                    <a:pt x="1240536" y="1764030"/>
                  </a:lnTo>
                  <a:lnTo>
                    <a:pt x="1119378" y="1764030"/>
                  </a:lnTo>
                  <a:lnTo>
                    <a:pt x="1115568" y="1768602"/>
                  </a:lnTo>
                  <a:lnTo>
                    <a:pt x="1115568" y="1787652"/>
                  </a:lnTo>
                  <a:lnTo>
                    <a:pt x="1119378" y="1792224"/>
                  </a:lnTo>
                  <a:lnTo>
                    <a:pt x="1124712" y="1792224"/>
                  </a:lnTo>
                  <a:lnTo>
                    <a:pt x="1232916" y="1792173"/>
                  </a:lnTo>
                  <a:lnTo>
                    <a:pt x="1240536" y="1791627"/>
                  </a:lnTo>
                  <a:lnTo>
                    <a:pt x="1242060" y="1791525"/>
                  </a:lnTo>
                  <a:lnTo>
                    <a:pt x="1283208" y="1779270"/>
                  </a:lnTo>
                  <a:lnTo>
                    <a:pt x="1315212" y="1753362"/>
                  </a:lnTo>
                  <a:lnTo>
                    <a:pt x="1335786" y="1716786"/>
                  </a:lnTo>
                  <a:lnTo>
                    <a:pt x="1340358" y="1684782"/>
                  </a:lnTo>
                  <a:lnTo>
                    <a:pt x="1340358" y="1578102"/>
                  </a:lnTo>
                  <a:lnTo>
                    <a:pt x="1349502" y="1578102"/>
                  </a:lnTo>
                  <a:lnTo>
                    <a:pt x="1353312" y="1578102"/>
                  </a:lnTo>
                  <a:lnTo>
                    <a:pt x="1355598" y="1576578"/>
                  </a:lnTo>
                  <a:lnTo>
                    <a:pt x="1357884" y="1573530"/>
                  </a:lnTo>
                  <a:lnTo>
                    <a:pt x="1359408" y="1571244"/>
                  </a:lnTo>
                  <a:lnTo>
                    <a:pt x="1360170" y="1568196"/>
                  </a:lnTo>
                  <a:close/>
                </a:path>
                <a:path w="1729104" h="1874520">
                  <a:moveTo>
                    <a:pt x="1728978" y="657606"/>
                  </a:moveTo>
                  <a:lnTo>
                    <a:pt x="1700022" y="657606"/>
                  </a:lnTo>
                  <a:lnTo>
                    <a:pt x="1700022" y="1142238"/>
                  </a:lnTo>
                  <a:lnTo>
                    <a:pt x="1728978" y="1142238"/>
                  </a:lnTo>
                  <a:lnTo>
                    <a:pt x="1728978" y="657606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354571" y="5306059"/>
            <a:ext cx="4391660" cy="665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latin typeface="Verdana"/>
                <a:cs typeface="Verdana"/>
              </a:rPr>
              <a:t>[*]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M.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Degranuwe,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J.Rijmenants,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E.A.Vittoz,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and </a:t>
            </a:r>
            <a:r>
              <a:rPr sz="1400" spc="-10" dirty="0">
                <a:latin typeface="Verdana"/>
                <a:cs typeface="Verdana"/>
              </a:rPr>
              <a:t>D.Man,“Adaptive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biasing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CMOS</a:t>
            </a:r>
            <a:r>
              <a:rPr sz="1400" spc="-8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amplifiers,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”IEEE </a:t>
            </a:r>
            <a:r>
              <a:rPr sz="1400" spc="-20" dirty="0">
                <a:latin typeface="Verdana"/>
                <a:cs typeface="Verdana"/>
              </a:rPr>
              <a:t>JSSC,vol.SC-17,pp522–</a:t>
            </a:r>
            <a:r>
              <a:rPr sz="1400" dirty="0">
                <a:latin typeface="Verdana"/>
                <a:cs typeface="Verdana"/>
              </a:rPr>
              <a:t>528,</a:t>
            </a:r>
            <a:r>
              <a:rPr sz="1400" spc="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Jun</a:t>
            </a:r>
            <a:r>
              <a:rPr sz="1400" spc="30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1982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35245" y="1915877"/>
            <a:ext cx="4839335" cy="3171825"/>
            <a:chOff x="635245" y="1915877"/>
            <a:chExt cx="4839335" cy="317182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5245" y="1915877"/>
              <a:ext cx="4838886" cy="317157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360932" y="2478785"/>
              <a:ext cx="3624579" cy="2514600"/>
            </a:xfrm>
            <a:custGeom>
              <a:avLst/>
              <a:gdLst/>
              <a:ahLst/>
              <a:cxnLst/>
              <a:rect l="l" t="t" r="r" b="b"/>
              <a:pathLst>
                <a:path w="3624579" h="2514600">
                  <a:moveTo>
                    <a:pt x="244602" y="1776984"/>
                  </a:moveTo>
                  <a:lnTo>
                    <a:pt x="240030" y="1772412"/>
                  </a:lnTo>
                  <a:lnTo>
                    <a:pt x="119634" y="1772412"/>
                  </a:lnTo>
                  <a:lnTo>
                    <a:pt x="111252" y="1770888"/>
                  </a:lnTo>
                  <a:lnTo>
                    <a:pt x="76200" y="1754124"/>
                  </a:lnTo>
                  <a:lnTo>
                    <a:pt x="53340" y="1723644"/>
                  </a:lnTo>
                  <a:lnTo>
                    <a:pt x="47244" y="1700784"/>
                  </a:lnTo>
                  <a:lnTo>
                    <a:pt x="47244" y="1473708"/>
                  </a:lnTo>
                  <a:lnTo>
                    <a:pt x="56388" y="1473708"/>
                  </a:lnTo>
                  <a:lnTo>
                    <a:pt x="59436" y="1473708"/>
                  </a:lnTo>
                  <a:lnTo>
                    <a:pt x="62484" y="1472184"/>
                  </a:lnTo>
                  <a:lnTo>
                    <a:pt x="64008" y="1469898"/>
                  </a:lnTo>
                  <a:lnTo>
                    <a:pt x="66294" y="1466850"/>
                  </a:lnTo>
                  <a:lnTo>
                    <a:pt x="66294" y="1463802"/>
                  </a:lnTo>
                  <a:lnTo>
                    <a:pt x="65532" y="1460754"/>
                  </a:lnTo>
                  <a:lnTo>
                    <a:pt x="49237" y="1416608"/>
                  </a:lnTo>
                  <a:lnTo>
                    <a:pt x="96012" y="1416659"/>
                  </a:lnTo>
                  <a:lnTo>
                    <a:pt x="101346" y="1417320"/>
                  </a:lnTo>
                  <a:lnTo>
                    <a:pt x="108204" y="1418082"/>
                  </a:lnTo>
                  <a:lnTo>
                    <a:pt x="113538" y="1419606"/>
                  </a:lnTo>
                  <a:lnTo>
                    <a:pt x="147066" y="1443990"/>
                  </a:lnTo>
                  <a:lnTo>
                    <a:pt x="157734" y="1472184"/>
                  </a:lnTo>
                  <a:lnTo>
                    <a:pt x="157734" y="1684782"/>
                  </a:lnTo>
                  <a:lnTo>
                    <a:pt x="149352" y="1684782"/>
                  </a:lnTo>
                  <a:lnTo>
                    <a:pt x="146304" y="1686306"/>
                  </a:lnTo>
                  <a:lnTo>
                    <a:pt x="144780" y="1689354"/>
                  </a:lnTo>
                  <a:lnTo>
                    <a:pt x="142494" y="1691640"/>
                  </a:lnTo>
                  <a:lnTo>
                    <a:pt x="142494" y="1694688"/>
                  </a:lnTo>
                  <a:lnTo>
                    <a:pt x="162306" y="1748790"/>
                  </a:lnTo>
                  <a:lnTo>
                    <a:pt x="166878" y="1755648"/>
                  </a:lnTo>
                  <a:lnTo>
                    <a:pt x="175260" y="1755648"/>
                  </a:lnTo>
                  <a:lnTo>
                    <a:pt x="198882" y="1697736"/>
                  </a:lnTo>
                  <a:lnTo>
                    <a:pt x="199644" y="1694688"/>
                  </a:lnTo>
                  <a:lnTo>
                    <a:pt x="199644" y="1691640"/>
                  </a:lnTo>
                  <a:lnTo>
                    <a:pt x="197358" y="1689354"/>
                  </a:lnTo>
                  <a:lnTo>
                    <a:pt x="195834" y="1686306"/>
                  </a:lnTo>
                  <a:lnTo>
                    <a:pt x="192786" y="1684782"/>
                  </a:lnTo>
                  <a:lnTo>
                    <a:pt x="184404" y="1684782"/>
                  </a:lnTo>
                  <a:lnTo>
                    <a:pt x="184404" y="1478280"/>
                  </a:lnTo>
                  <a:lnTo>
                    <a:pt x="172974" y="1436370"/>
                  </a:lnTo>
                  <a:lnTo>
                    <a:pt x="144780" y="1405128"/>
                  </a:lnTo>
                  <a:lnTo>
                    <a:pt x="96012" y="1390650"/>
                  </a:lnTo>
                  <a:lnTo>
                    <a:pt x="37338" y="1390650"/>
                  </a:lnTo>
                  <a:lnTo>
                    <a:pt x="28956" y="1390650"/>
                  </a:lnTo>
                  <a:lnTo>
                    <a:pt x="4572" y="1390650"/>
                  </a:lnTo>
                  <a:lnTo>
                    <a:pt x="0" y="1395222"/>
                  </a:lnTo>
                  <a:lnTo>
                    <a:pt x="0" y="1412748"/>
                  </a:lnTo>
                  <a:lnTo>
                    <a:pt x="4572" y="1416558"/>
                  </a:lnTo>
                  <a:lnTo>
                    <a:pt x="9906" y="1416558"/>
                  </a:lnTo>
                  <a:lnTo>
                    <a:pt x="17056" y="1416570"/>
                  </a:lnTo>
                  <a:lnTo>
                    <a:pt x="762" y="1460754"/>
                  </a:lnTo>
                  <a:lnTo>
                    <a:pt x="0" y="1463802"/>
                  </a:lnTo>
                  <a:lnTo>
                    <a:pt x="0" y="1466850"/>
                  </a:lnTo>
                  <a:lnTo>
                    <a:pt x="2286" y="1469898"/>
                  </a:lnTo>
                  <a:lnTo>
                    <a:pt x="3810" y="1472184"/>
                  </a:lnTo>
                  <a:lnTo>
                    <a:pt x="6858" y="1473708"/>
                  </a:lnTo>
                  <a:lnTo>
                    <a:pt x="9906" y="1473708"/>
                  </a:lnTo>
                  <a:lnTo>
                    <a:pt x="19050" y="1473708"/>
                  </a:lnTo>
                  <a:lnTo>
                    <a:pt x="19050" y="1693164"/>
                  </a:lnTo>
                  <a:lnTo>
                    <a:pt x="19812" y="1703832"/>
                  </a:lnTo>
                  <a:lnTo>
                    <a:pt x="38100" y="1753362"/>
                  </a:lnTo>
                  <a:lnTo>
                    <a:pt x="67056" y="1782318"/>
                  </a:lnTo>
                  <a:lnTo>
                    <a:pt x="105918" y="1798320"/>
                  </a:lnTo>
                  <a:lnTo>
                    <a:pt x="234696" y="1800606"/>
                  </a:lnTo>
                  <a:lnTo>
                    <a:pt x="240030" y="1800606"/>
                  </a:lnTo>
                  <a:lnTo>
                    <a:pt x="244602" y="1796034"/>
                  </a:lnTo>
                  <a:lnTo>
                    <a:pt x="244602" y="1776984"/>
                  </a:lnTo>
                  <a:close/>
                </a:path>
                <a:path w="3624579" h="2514600">
                  <a:moveTo>
                    <a:pt x="1274826" y="630174"/>
                  </a:moveTo>
                  <a:lnTo>
                    <a:pt x="1272540" y="627888"/>
                  </a:lnTo>
                  <a:lnTo>
                    <a:pt x="1106424" y="627888"/>
                  </a:lnTo>
                  <a:lnTo>
                    <a:pt x="1101090" y="627126"/>
                  </a:lnTo>
                  <a:lnTo>
                    <a:pt x="1061466" y="613410"/>
                  </a:lnTo>
                  <a:lnTo>
                    <a:pt x="1025652" y="584454"/>
                  </a:lnTo>
                  <a:lnTo>
                    <a:pt x="1003554" y="543306"/>
                  </a:lnTo>
                  <a:lnTo>
                    <a:pt x="998220" y="513588"/>
                  </a:lnTo>
                  <a:lnTo>
                    <a:pt x="998220" y="214122"/>
                  </a:lnTo>
                  <a:lnTo>
                    <a:pt x="1020318" y="214122"/>
                  </a:lnTo>
                  <a:lnTo>
                    <a:pt x="1021842" y="214122"/>
                  </a:lnTo>
                  <a:lnTo>
                    <a:pt x="1023366" y="213360"/>
                  </a:lnTo>
                  <a:lnTo>
                    <a:pt x="1024128" y="211836"/>
                  </a:lnTo>
                  <a:lnTo>
                    <a:pt x="1024890" y="211074"/>
                  </a:lnTo>
                  <a:lnTo>
                    <a:pt x="1024890" y="208026"/>
                  </a:lnTo>
                  <a:lnTo>
                    <a:pt x="992124" y="118110"/>
                  </a:lnTo>
                  <a:lnTo>
                    <a:pt x="991362" y="115824"/>
                  </a:lnTo>
                  <a:lnTo>
                    <a:pt x="989076" y="115062"/>
                  </a:lnTo>
                  <a:lnTo>
                    <a:pt x="985266" y="115062"/>
                  </a:lnTo>
                  <a:lnTo>
                    <a:pt x="983742" y="115824"/>
                  </a:lnTo>
                  <a:lnTo>
                    <a:pt x="982980" y="118110"/>
                  </a:lnTo>
                  <a:lnTo>
                    <a:pt x="950214" y="208026"/>
                  </a:lnTo>
                  <a:lnTo>
                    <a:pt x="949452" y="209550"/>
                  </a:lnTo>
                  <a:lnTo>
                    <a:pt x="950214" y="211074"/>
                  </a:lnTo>
                  <a:lnTo>
                    <a:pt x="950976" y="211836"/>
                  </a:lnTo>
                  <a:lnTo>
                    <a:pt x="951738" y="213360"/>
                  </a:lnTo>
                  <a:lnTo>
                    <a:pt x="953262" y="214122"/>
                  </a:lnTo>
                  <a:lnTo>
                    <a:pt x="954786" y="214122"/>
                  </a:lnTo>
                  <a:lnTo>
                    <a:pt x="976122" y="214122"/>
                  </a:lnTo>
                  <a:lnTo>
                    <a:pt x="976122" y="507492"/>
                  </a:lnTo>
                  <a:lnTo>
                    <a:pt x="976884" y="515112"/>
                  </a:lnTo>
                  <a:lnTo>
                    <a:pt x="976884" y="521970"/>
                  </a:lnTo>
                  <a:lnTo>
                    <a:pt x="978408" y="529590"/>
                  </a:lnTo>
                  <a:lnTo>
                    <a:pt x="979170" y="536448"/>
                  </a:lnTo>
                  <a:lnTo>
                    <a:pt x="980694" y="543306"/>
                  </a:lnTo>
                  <a:lnTo>
                    <a:pt x="981456" y="545592"/>
                  </a:lnTo>
                  <a:lnTo>
                    <a:pt x="985266" y="557022"/>
                  </a:lnTo>
                  <a:lnTo>
                    <a:pt x="987552" y="563118"/>
                  </a:lnTo>
                  <a:lnTo>
                    <a:pt x="1008888" y="598170"/>
                  </a:lnTo>
                  <a:lnTo>
                    <a:pt x="1039368" y="625602"/>
                  </a:lnTo>
                  <a:lnTo>
                    <a:pt x="1057656" y="636270"/>
                  </a:lnTo>
                  <a:lnTo>
                    <a:pt x="1063752" y="639318"/>
                  </a:lnTo>
                  <a:lnTo>
                    <a:pt x="1069848" y="641604"/>
                  </a:lnTo>
                  <a:lnTo>
                    <a:pt x="1076706" y="643890"/>
                  </a:lnTo>
                  <a:lnTo>
                    <a:pt x="1097280" y="648462"/>
                  </a:lnTo>
                  <a:lnTo>
                    <a:pt x="1104900" y="649224"/>
                  </a:lnTo>
                  <a:lnTo>
                    <a:pt x="1111758" y="649986"/>
                  </a:lnTo>
                  <a:lnTo>
                    <a:pt x="1264920" y="649986"/>
                  </a:lnTo>
                  <a:lnTo>
                    <a:pt x="1269492" y="649986"/>
                  </a:lnTo>
                  <a:lnTo>
                    <a:pt x="1272540" y="649986"/>
                  </a:lnTo>
                  <a:lnTo>
                    <a:pt x="1274826" y="647700"/>
                  </a:lnTo>
                  <a:lnTo>
                    <a:pt x="1274826" y="630174"/>
                  </a:lnTo>
                  <a:close/>
                </a:path>
                <a:path w="3624579" h="2514600">
                  <a:moveTo>
                    <a:pt x="1311402" y="443484"/>
                  </a:moveTo>
                  <a:lnTo>
                    <a:pt x="1310640" y="442722"/>
                  </a:lnTo>
                  <a:lnTo>
                    <a:pt x="1309878" y="441198"/>
                  </a:lnTo>
                  <a:lnTo>
                    <a:pt x="1308354" y="440436"/>
                  </a:lnTo>
                  <a:lnTo>
                    <a:pt x="1284732" y="440436"/>
                  </a:lnTo>
                  <a:lnTo>
                    <a:pt x="1284732" y="139446"/>
                  </a:lnTo>
                  <a:lnTo>
                    <a:pt x="1283970" y="132588"/>
                  </a:lnTo>
                  <a:lnTo>
                    <a:pt x="1283208" y="124968"/>
                  </a:lnTo>
                  <a:lnTo>
                    <a:pt x="1278636" y="104394"/>
                  </a:lnTo>
                  <a:lnTo>
                    <a:pt x="1276350" y="98298"/>
                  </a:lnTo>
                  <a:lnTo>
                    <a:pt x="1273302" y="91440"/>
                  </a:lnTo>
                  <a:lnTo>
                    <a:pt x="1271016" y="85344"/>
                  </a:lnTo>
                  <a:lnTo>
                    <a:pt x="1242822" y="45720"/>
                  </a:lnTo>
                  <a:lnTo>
                    <a:pt x="1210056" y="21336"/>
                  </a:lnTo>
                  <a:lnTo>
                    <a:pt x="1191006" y="12954"/>
                  </a:lnTo>
                  <a:lnTo>
                    <a:pt x="1184910" y="10668"/>
                  </a:lnTo>
                  <a:lnTo>
                    <a:pt x="1171194" y="7620"/>
                  </a:lnTo>
                  <a:lnTo>
                    <a:pt x="1163574" y="6096"/>
                  </a:lnTo>
                  <a:lnTo>
                    <a:pt x="1149858" y="4572"/>
                  </a:lnTo>
                  <a:lnTo>
                    <a:pt x="989076" y="4572"/>
                  </a:lnTo>
                  <a:lnTo>
                    <a:pt x="986790" y="6858"/>
                  </a:lnTo>
                  <a:lnTo>
                    <a:pt x="986790" y="24384"/>
                  </a:lnTo>
                  <a:lnTo>
                    <a:pt x="989076" y="26670"/>
                  </a:lnTo>
                  <a:lnTo>
                    <a:pt x="991362" y="26670"/>
                  </a:lnTo>
                  <a:lnTo>
                    <a:pt x="996696" y="26670"/>
                  </a:lnTo>
                  <a:lnTo>
                    <a:pt x="1154430" y="26670"/>
                  </a:lnTo>
                  <a:lnTo>
                    <a:pt x="1160526" y="27432"/>
                  </a:lnTo>
                  <a:lnTo>
                    <a:pt x="1199388" y="41148"/>
                  </a:lnTo>
                  <a:lnTo>
                    <a:pt x="1235202" y="70104"/>
                  </a:lnTo>
                  <a:lnTo>
                    <a:pt x="1257300" y="111252"/>
                  </a:lnTo>
                  <a:lnTo>
                    <a:pt x="1262634" y="134874"/>
                  </a:lnTo>
                  <a:lnTo>
                    <a:pt x="1262634" y="440436"/>
                  </a:lnTo>
                  <a:lnTo>
                    <a:pt x="1239774" y="440436"/>
                  </a:lnTo>
                  <a:lnTo>
                    <a:pt x="1238250" y="441198"/>
                  </a:lnTo>
                  <a:lnTo>
                    <a:pt x="1237488" y="442722"/>
                  </a:lnTo>
                  <a:lnTo>
                    <a:pt x="1236726" y="443484"/>
                  </a:lnTo>
                  <a:lnTo>
                    <a:pt x="1235964" y="445008"/>
                  </a:lnTo>
                  <a:lnTo>
                    <a:pt x="1236726" y="446532"/>
                  </a:lnTo>
                  <a:lnTo>
                    <a:pt x="1241298" y="459079"/>
                  </a:lnTo>
                  <a:lnTo>
                    <a:pt x="1269492" y="536448"/>
                  </a:lnTo>
                  <a:lnTo>
                    <a:pt x="1270254" y="538734"/>
                  </a:lnTo>
                  <a:lnTo>
                    <a:pt x="1271778" y="539496"/>
                  </a:lnTo>
                  <a:lnTo>
                    <a:pt x="1275588" y="539496"/>
                  </a:lnTo>
                  <a:lnTo>
                    <a:pt x="1277874" y="538734"/>
                  </a:lnTo>
                  <a:lnTo>
                    <a:pt x="1278636" y="536448"/>
                  </a:lnTo>
                  <a:lnTo>
                    <a:pt x="1306830" y="459079"/>
                  </a:lnTo>
                  <a:lnTo>
                    <a:pt x="1311402" y="446532"/>
                  </a:lnTo>
                  <a:lnTo>
                    <a:pt x="1311402" y="443484"/>
                  </a:lnTo>
                  <a:close/>
                </a:path>
                <a:path w="3624579" h="2514600">
                  <a:moveTo>
                    <a:pt x="1463802" y="2029968"/>
                  </a:moveTo>
                  <a:lnTo>
                    <a:pt x="1435608" y="2029968"/>
                  </a:lnTo>
                  <a:lnTo>
                    <a:pt x="1435608" y="2514600"/>
                  </a:lnTo>
                  <a:lnTo>
                    <a:pt x="1463802" y="2514600"/>
                  </a:lnTo>
                  <a:lnTo>
                    <a:pt x="1463802" y="2029968"/>
                  </a:lnTo>
                  <a:close/>
                </a:path>
                <a:path w="3624579" h="2514600">
                  <a:moveTo>
                    <a:pt x="2688336" y="1001268"/>
                  </a:moveTo>
                  <a:lnTo>
                    <a:pt x="2684526" y="996696"/>
                  </a:lnTo>
                  <a:lnTo>
                    <a:pt x="2521458" y="996594"/>
                  </a:lnTo>
                  <a:lnTo>
                    <a:pt x="2516886" y="995934"/>
                  </a:lnTo>
                  <a:lnTo>
                    <a:pt x="2473452" y="982980"/>
                  </a:lnTo>
                  <a:lnTo>
                    <a:pt x="2439162" y="954786"/>
                  </a:lnTo>
                  <a:lnTo>
                    <a:pt x="2417826" y="915924"/>
                  </a:lnTo>
                  <a:lnTo>
                    <a:pt x="2416302" y="909828"/>
                  </a:lnTo>
                  <a:lnTo>
                    <a:pt x="2414778" y="904494"/>
                  </a:lnTo>
                  <a:lnTo>
                    <a:pt x="2414016" y="899160"/>
                  </a:lnTo>
                  <a:lnTo>
                    <a:pt x="2412492" y="886968"/>
                  </a:lnTo>
                  <a:lnTo>
                    <a:pt x="2412492" y="592074"/>
                  </a:lnTo>
                  <a:lnTo>
                    <a:pt x="2429256" y="592074"/>
                  </a:lnTo>
                  <a:lnTo>
                    <a:pt x="2432304" y="592074"/>
                  </a:lnTo>
                  <a:lnTo>
                    <a:pt x="2435352" y="590550"/>
                  </a:lnTo>
                  <a:lnTo>
                    <a:pt x="2436876" y="588264"/>
                  </a:lnTo>
                  <a:lnTo>
                    <a:pt x="2439162" y="585978"/>
                  </a:lnTo>
                  <a:lnTo>
                    <a:pt x="2439162" y="582168"/>
                  </a:lnTo>
                  <a:lnTo>
                    <a:pt x="2438400" y="579882"/>
                  </a:lnTo>
                  <a:lnTo>
                    <a:pt x="2405634" y="489966"/>
                  </a:lnTo>
                  <a:lnTo>
                    <a:pt x="2404110" y="486156"/>
                  </a:lnTo>
                  <a:lnTo>
                    <a:pt x="2400300" y="483108"/>
                  </a:lnTo>
                  <a:lnTo>
                    <a:pt x="2392680" y="483108"/>
                  </a:lnTo>
                  <a:lnTo>
                    <a:pt x="2388870" y="486156"/>
                  </a:lnTo>
                  <a:lnTo>
                    <a:pt x="2387346" y="489966"/>
                  </a:lnTo>
                  <a:lnTo>
                    <a:pt x="2355342" y="579882"/>
                  </a:lnTo>
                  <a:lnTo>
                    <a:pt x="2353818" y="582168"/>
                  </a:lnTo>
                  <a:lnTo>
                    <a:pt x="2354580" y="585978"/>
                  </a:lnTo>
                  <a:lnTo>
                    <a:pt x="2357628" y="590550"/>
                  </a:lnTo>
                  <a:lnTo>
                    <a:pt x="2360676" y="592074"/>
                  </a:lnTo>
                  <a:lnTo>
                    <a:pt x="2363724" y="592074"/>
                  </a:lnTo>
                  <a:lnTo>
                    <a:pt x="2381250" y="592074"/>
                  </a:lnTo>
                  <a:lnTo>
                    <a:pt x="2381250" y="888492"/>
                  </a:lnTo>
                  <a:lnTo>
                    <a:pt x="2382774" y="903732"/>
                  </a:lnTo>
                  <a:lnTo>
                    <a:pt x="2384298" y="910590"/>
                  </a:lnTo>
                  <a:lnTo>
                    <a:pt x="2385822" y="918210"/>
                  </a:lnTo>
                  <a:lnTo>
                    <a:pt x="2387346" y="925068"/>
                  </a:lnTo>
                  <a:lnTo>
                    <a:pt x="2389632" y="931926"/>
                  </a:lnTo>
                  <a:lnTo>
                    <a:pt x="2390394" y="933450"/>
                  </a:lnTo>
                  <a:lnTo>
                    <a:pt x="2392680" y="938022"/>
                  </a:lnTo>
                  <a:lnTo>
                    <a:pt x="2393442" y="939736"/>
                  </a:lnTo>
                  <a:lnTo>
                    <a:pt x="2398776" y="951738"/>
                  </a:lnTo>
                  <a:lnTo>
                    <a:pt x="2406396" y="963930"/>
                  </a:lnTo>
                  <a:lnTo>
                    <a:pt x="2434590" y="995172"/>
                  </a:lnTo>
                  <a:lnTo>
                    <a:pt x="2478024" y="1019556"/>
                  </a:lnTo>
                  <a:lnTo>
                    <a:pt x="2513838" y="1027176"/>
                  </a:lnTo>
                  <a:lnTo>
                    <a:pt x="2520696" y="1027938"/>
                  </a:lnTo>
                  <a:lnTo>
                    <a:pt x="2669286" y="1027938"/>
                  </a:lnTo>
                  <a:lnTo>
                    <a:pt x="2679192" y="1027938"/>
                  </a:lnTo>
                  <a:lnTo>
                    <a:pt x="2684526" y="1027938"/>
                  </a:lnTo>
                  <a:lnTo>
                    <a:pt x="2688336" y="1024128"/>
                  </a:lnTo>
                  <a:lnTo>
                    <a:pt x="2688336" y="1001268"/>
                  </a:lnTo>
                  <a:close/>
                </a:path>
                <a:path w="3624579" h="2514600">
                  <a:moveTo>
                    <a:pt x="2699004" y="1805178"/>
                  </a:moveTo>
                  <a:lnTo>
                    <a:pt x="2694432" y="1801368"/>
                  </a:lnTo>
                  <a:lnTo>
                    <a:pt x="2582418" y="1801368"/>
                  </a:lnTo>
                  <a:lnTo>
                    <a:pt x="2565654" y="1799844"/>
                  </a:lnTo>
                  <a:lnTo>
                    <a:pt x="2531364" y="1783080"/>
                  </a:lnTo>
                  <a:lnTo>
                    <a:pt x="2507742" y="1752600"/>
                  </a:lnTo>
                  <a:lnTo>
                    <a:pt x="2501646" y="1721358"/>
                  </a:lnTo>
                  <a:lnTo>
                    <a:pt x="2501646" y="1502664"/>
                  </a:lnTo>
                  <a:lnTo>
                    <a:pt x="2510790" y="1502664"/>
                  </a:lnTo>
                  <a:lnTo>
                    <a:pt x="2513838" y="1502664"/>
                  </a:lnTo>
                  <a:lnTo>
                    <a:pt x="2516886" y="1501140"/>
                  </a:lnTo>
                  <a:lnTo>
                    <a:pt x="2519172" y="1498854"/>
                  </a:lnTo>
                  <a:lnTo>
                    <a:pt x="2520696" y="1495806"/>
                  </a:lnTo>
                  <a:lnTo>
                    <a:pt x="2520696" y="1492758"/>
                  </a:lnTo>
                  <a:lnTo>
                    <a:pt x="2519934" y="1489710"/>
                  </a:lnTo>
                  <a:lnTo>
                    <a:pt x="2502408" y="1442224"/>
                  </a:lnTo>
                  <a:lnTo>
                    <a:pt x="2502408" y="1496568"/>
                  </a:lnTo>
                  <a:lnTo>
                    <a:pt x="2501176" y="1493227"/>
                  </a:lnTo>
                  <a:lnTo>
                    <a:pt x="2501646" y="1494485"/>
                  </a:lnTo>
                  <a:lnTo>
                    <a:pt x="2502408" y="1496568"/>
                  </a:lnTo>
                  <a:lnTo>
                    <a:pt x="2502408" y="1442224"/>
                  </a:lnTo>
                  <a:lnTo>
                    <a:pt x="2496312" y="1425702"/>
                  </a:lnTo>
                  <a:lnTo>
                    <a:pt x="2495550" y="1421892"/>
                  </a:lnTo>
                  <a:lnTo>
                    <a:pt x="2491740" y="1419606"/>
                  </a:lnTo>
                  <a:lnTo>
                    <a:pt x="2484120" y="1419606"/>
                  </a:lnTo>
                  <a:lnTo>
                    <a:pt x="2484120" y="1740408"/>
                  </a:lnTo>
                  <a:lnTo>
                    <a:pt x="2482596" y="1721358"/>
                  </a:lnTo>
                  <a:lnTo>
                    <a:pt x="2483358" y="1730502"/>
                  </a:lnTo>
                  <a:lnTo>
                    <a:pt x="2484120" y="1740408"/>
                  </a:lnTo>
                  <a:lnTo>
                    <a:pt x="2484120" y="1419606"/>
                  </a:lnTo>
                  <a:lnTo>
                    <a:pt x="2483358" y="1419606"/>
                  </a:lnTo>
                  <a:lnTo>
                    <a:pt x="2483358" y="1502664"/>
                  </a:lnTo>
                  <a:lnTo>
                    <a:pt x="2474442" y="1493761"/>
                  </a:lnTo>
                  <a:lnTo>
                    <a:pt x="2482596" y="1501902"/>
                  </a:lnTo>
                  <a:lnTo>
                    <a:pt x="2483358" y="1502664"/>
                  </a:lnTo>
                  <a:lnTo>
                    <a:pt x="2483358" y="1419606"/>
                  </a:lnTo>
                  <a:lnTo>
                    <a:pt x="2480310" y="1421892"/>
                  </a:lnTo>
                  <a:lnTo>
                    <a:pt x="2478786" y="1425702"/>
                  </a:lnTo>
                  <a:lnTo>
                    <a:pt x="2455164" y="1489710"/>
                  </a:lnTo>
                  <a:lnTo>
                    <a:pt x="2454402" y="1492758"/>
                  </a:lnTo>
                  <a:lnTo>
                    <a:pt x="2454402" y="1495806"/>
                  </a:lnTo>
                  <a:lnTo>
                    <a:pt x="2456688" y="1498854"/>
                  </a:lnTo>
                  <a:lnTo>
                    <a:pt x="2458212" y="1501140"/>
                  </a:lnTo>
                  <a:lnTo>
                    <a:pt x="2461260" y="1502664"/>
                  </a:lnTo>
                  <a:lnTo>
                    <a:pt x="2464308" y="1502664"/>
                  </a:lnTo>
                  <a:lnTo>
                    <a:pt x="2473452" y="1502664"/>
                  </a:lnTo>
                  <a:lnTo>
                    <a:pt x="2473452" y="1721358"/>
                  </a:lnTo>
                  <a:lnTo>
                    <a:pt x="2474214" y="1732788"/>
                  </a:lnTo>
                  <a:lnTo>
                    <a:pt x="2487168" y="1773174"/>
                  </a:lnTo>
                  <a:lnTo>
                    <a:pt x="2513076" y="1804416"/>
                  </a:lnTo>
                  <a:lnTo>
                    <a:pt x="2550414" y="1824228"/>
                  </a:lnTo>
                  <a:lnTo>
                    <a:pt x="2570988" y="1828800"/>
                  </a:lnTo>
                  <a:lnTo>
                    <a:pt x="2689098" y="1828800"/>
                  </a:lnTo>
                  <a:lnTo>
                    <a:pt x="2694432" y="1828800"/>
                  </a:lnTo>
                  <a:lnTo>
                    <a:pt x="2699004" y="1824990"/>
                  </a:lnTo>
                  <a:lnTo>
                    <a:pt x="2699004" y="1805178"/>
                  </a:lnTo>
                  <a:close/>
                </a:path>
                <a:path w="3624579" h="2514600">
                  <a:moveTo>
                    <a:pt x="2725674" y="815340"/>
                  </a:moveTo>
                  <a:lnTo>
                    <a:pt x="2723388" y="813054"/>
                  </a:lnTo>
                  <a:lnTo>
                    <a:pt x="2721864" y="810768"/>
                  </a:lnTo>
                  <a:lnTo>
                    <a:pt x="2718816" y="809244"/>
                  </a:lnTo>
                  <a:lnTo>
                    <a:pt x="2699004" y="809244"/>
                  </a:lnTo>
                  <a:lnTo>
                    <a:pt x="2699004" y="512826"/>
                  </a:lnTo>
                  <a:lnTo>
                    <a:pt x="2697480" y="497586"/>
                  </a:lnTo>
                  <a:lnTo>
                    <a:pt x="2695956" y="490728"/>
                  </a:lnTo>
                  <a:lnTo>
                    <a:pt x="2694432" y="483108"/>
                  </a:lnTo>
                  <a:lnTo>
                    <a:pt x="2687574" y="462534"/>
                  </a:lnTo>
                  <a:lnTo>
                    <a:pt x="2664714" y="425958"/>
                  </a:lnTo>
                  <a:lnTo>
                    <a:pt x="2633472" y="397764"/>
                  </a:lnTo>
                  <a:lnTo>
                    <a:pt x="2621280" y="390906"/>
                  </a:lnTo>
                  <a:lnTo>
                    <a:pt x="2615184" y="387096"/>
                  </a:lnTo>
                  <a:lnTo>
                    <a:pt x="2608326" y="384810"/>
                  </a:lnTo>
                  <a:lnTo>
                    <a:pt x="2602230" y="381762"/>
                  </a:lnTo>
                  <a:lnTo>
                    <a:pt x="2588514" y="377190"/>
                  </a:lnTo>
                  <a:lnTo>
                    <a:pt x="2580894" y="375666"/>
                  </a:lnTo>
                  <a:lnTo>
                    <a:pt x="2574798" y="374992"/>
                  </a:lnTo>
                  <a:lnTo>
                    <a:pt x="2574036" y="374904"/>
                  </a:lnTo>
                  <a:lnTo>
                    <a:pt x="2566416" y="373380"/>
                  </a:lnTo>
                  <a:lnTo>
                    <a:pt x="2558796" y="373380"/>
                  </a:lnTo>
                  <a:lnTo>
                    <a:pt x="2551938" y="372618"/>
                  </a:lnTo>
                  <a:lnTo>
                    <a:pt x="2395728" y="372618"/>
                  </a:lnTo>
                  <a:lnTo>
                    <a:pt x="2391156" y="377190"/>
                  </a:lnTo>
                  <a:lnTo>
                    <a:pt x="2391156" y="400050"/>
                  </a:lnTo>
                  <a:lnTo>
                    <a:pt x="2395728" y="404622"/>
                  </a:lnTo>
                  <a:lnTo>
                    <a:pt x="2401062" y="404622"/>
                  </a:lnTo>
                  <a:lnTo>
                    <a:pt x="2410206" y="404622"/>
                  </a:lnTo>
                  <a:lnTo>
                    <a:pt x="2557272" y="404622"/>
                  </a:lnTo>
                  <a:lnTo>
                    <a:pt x="2563368" y="405384"/>
                  </a:lnTo>
                  <a:lnTo>
                    <a:pt x="2568702" y="405384"/>
                  </a:lnTo>
                  <a:lnTo>
                    <a:pt x="2574798" y="406908"/>
                  </a:lnTo>
                  <a:lnTo>
                    <a:pt x="2580132" y="408432"/>
                  </a:lnTo>
                  <a:lnTo>
                    <a:pt x="2585466" y="409194"/>
                  </a:lnTo>
                  <a:lnTo>
                    <a:pt x="2625090" y="430530"/>
                  </a:lnTo>
                  <a:lnTo>
                    <a:pt x="2653284" y="464820"/>
                  </a:lnTo>
                  <a:lnTo>
                    <a:pt x="2664714" y="496824"/>
                  </a:lnTo>
                  <a:lnTo>
                    <a:pt x="2666238" y="502158"/>
                  </a:lnTo>
                  <a:lnTo>
                    <a:pt x="2667000" y="508254"/>
                  </a:lnTo>
                  <a:lnTo>
                    <a:pt x="2667000" y="514350"/>
                  </a:lnTo>
                  <a:lnTo>
                    <a:pt x="2667762" y="520446"/>
                  </a:lnTo>
                  <a:lnTo>
                    <a:pt x="2667762" y="809244"/>
                  </a:lnTo>
                  <a:lnTo>
                    <a:pt x="2647188" y="809244"/>
                  </a:lnTo>
                  <a:lnTo>
                    <a:pt x="2644902" y="810768"/>
                  </a:lnTo>
                  <a:lnTo>
                    <a:pt x="2642616" y="813054"/>
                  </a:lnTo>
                  <a:lnTo>
                    <a:pt x="2641092" y="815340"/>
                  </a:lnTo>
                  <a:lnTo>
                    <a:pt x="2640330" y="818388"/>
                  </a:lnTo>
                  <a:lnTo>
                    <a:pt x="2641854" y="821436"/>
                  </a:lnTo>
                  <a:lnTo>
                    <a:pt x="2650236" y="844448"/>
                  </a:lnTo>
                  <a:lnTo>
                    <a:pt x="2674620" y="911352"/>
                  </a:lnTo>
                  <a:lnTo>
                    <a:pt x="2675382" y="915162"/>
                  </a:lnTo>
                  <a:lnTo>
                    <a:pt x="2679192" y="917448"/>
                  </a:lnTo>
                  <a:lnTo>
                    <a:pt x="2687574" y="917448"/>
                  </a:lnTo>
                  <a:lnTo>
                    <a:pt x="2690622" y="915162"/>
                  </a:lnTo>
                  <a:lnTo>
                    <a:pt x="2692146" y="911352"/>
                  </a:lnTo>
                  <a:lnTo>
                    <a:pt x="2715768" y="846531"/>
                  </a:lnTo>
                  <a:lnTo>
                    <a:pt x="2724912" y="821436"/>
                  </a:lnTo>
                  <a:lnTo>
                    <a:pt x="2725674" y="818388"/>
                  </a:lnTo>
                  <a:lnTo>
                    <a:pt x="2725674" y="815340"/>
                  </a:lnTo>
                  <a:close/>
                </a:path>
                <a:path w="3624579" h="2514600">
                  <a:moveTo>
                    <a:pt x="2748534" y="1739646"/>
                  </a:moveTo>
                  <a:lnTo>
                    <a:pt x="2747772" y="1736598"/>
                  </a:lnTo>
                  <a:lnTo>
                    <a:pt x="2746248" y="1734312"/>
                  </a:lnTo>
                  <a:lnTo>
                    <a:pt x="2744724" y="1731264"/>
                  </a:lnTo>
                  <a:lnTo>
                    <a:pt x="2741676" y="1729740"/>
                  </a:lnTo>
                  <a:lnTo>
                    <a:pt x="2732532" y="1729740"/>
                  </a:lnTo>
                  <a:lnTo>
                    <a:pt x="2732532" y="1514094"/>
                  </a:lnTo>
                  <a:lnTo>
                    <a:pt x="2717292" y="1474470"/>
                  </a:lnTo>
                  <a:lnTo>
                    <a:pt x="2678430" y="1442466"/>
                  </a:lnTo>
                  <a:lnTo>
                    <a:pt x="2644902" y="1435671"/>
                  </a:lnTo>
                  <a:lnTo>
                    <a:pt x="2644902" y="1454734"/>
                  </a:lnTo>
                  <a:lnTo>
                    <a:pt x="2558034" y="1454658"/>
                  </a:lnTo>
                  <a:lnTo>
                    <a:pt x="2567940" y="1454658"/>
                  </a:lnTo>
                  <a:lnTo>
                    <a:pt x="2644902" y="1454734"/>
                  </a:lnTo>
                  <a:lnTo>
                    <a:pt x="2644902" y="1435671"/>
                  </a:lnTo>
                  <a:lnTo>
                    <a:pt x="2553462" y="1435608"/>
                  </a:lnTo>
                  <a:lnTo>
                    <a:pt x="2548890" y="1440180"/>
                  </a:lnTo>
                  <a:lnTo>
                    <a:pt x="2548890" y="1457706"/>
                  </a:lnTo>
                  <a:lnTo>
                    <a:pt x="2553462" y="1461516"/>
                  </a:lnTo>
                  <a:lnTo>
                    <a:pt x="2558034" y="1461516"/>
                  </a:lnTo>
                  <a:lnTo>
                    <a:pt x="2644902" y="1461617"/>
                  </a:lnTo>
                  <a:lnTo>
                    <a:pt x="2688336" y="1479804"/>
                  </a:lnTo>
                  <a:lnTo>
                    <a:pt x="2706624" y="1517142"/>
                  </a:lnTo>
                  <a:lnTo>
                    <a:pt x="2706624" y="1729740"/>
                  </a:lnTo>
                  <a:lnTo>
                    <a:pt x="2698242" y="1729740"/>
                  </a:lnTo>
                  <a:lnTo>
                    <a:pt x="2695194" y="1731264"/>
                  </a:lnTo>
                  <a:lnTo>
                    <a:pt x="2692908" y="1734312"/>
                  </a:lnTo>
                  <a:lnTo>
                    <a:pt x="2691384" y="1736598"/>
                  </a:lnTo>
                  <a:lnTo>
                    <a:pt x="2691384" y="1739646"/>
                  </a:lnTo>
                  <a:lnTo>
                    <a:pt x="2692146" y="1742694"/>
                  </a:lnTo>
                  <a:lnTo>
                    <a:pt x="2701290" y="1768221"/>
                  </a:lnTo>
                  <a:lnTo>
                    <a:pt x="2710434" y="1793748"/>
                  </a:lnTo>
                  <a:lnTo>
                    <a:pt x="2711958" y="1797558"/>
                  </a:lnTo>
                  <a:lnTo>
                    <a:pt x="2715768" y="1800606"/>
                  </a:lnTo>
                  <a:lnTo>
                    <a:pt x="2723388" y="1800606"/>
                  </a:lnTo>
                  <a:lnTo>
                    <a:pt x="2727198" y="1797558"/>
                  </a:lnTo>
                  <a:lnTo>
                    <a:pt x="2728722" y="1793748"/>
                  </a:lnTo>
                  <a:lnTo>
                    <a:pt x="2738628" y="1766100"/>
                  </a:lnTo>
                  <a:lnTo>
                    <a:pt x="2747010" y="1742694"/>
                  </a:lnTo>
                  <a:lnTo>
                    <a:pt x="2748534" y="1739646"/>
                  </a:lnTo>
                  <a:close/>
                </a:path>
                <a:path w="3624579" h="2514600">
                  <a:moveTo>
                    <a:pt x="3574542" y="385572"/>
                  </a:moveTo>
                  <a:lnTo>
                    <a:pt x="3569970" y="381762"/>
                  </a:lnTo>
                  <a:lnTo>
                    <a:pt x="3456432" y="381685"/>
                  </a:lnTo>
                  <a:lnTo>
                    <a:pt x="3449574" y="381000"/>
                  </a:lnTo>
                  <a:lnTo>
                    <a:pt x="3412236" y="368046"/>
                  </a:lnTo>
                  <a:lnTo>
                    <a:pt x="3383280" y="332994"/>
                  </a:lnTo>
                  <a:lnTo>
                    <a:pt x="3377184" y="310134"/>
                  </a:lnTo>
                  <a:lnTo>
                    <a:pt x="3377184" y="83058"/>
                  </a:lnTo>
                  <a:lnTo>
                    <a:pt x="3386328" y="83058"/>
                  </a:lnTo>
                  <a:lnTo>
                    <a:pt x="3389376" y="83058"/>
                  </a:lnTo>
                  <a:lnTo>
                    <a:pt x="3392424" y="81534"/>
                  </a:lnTo>
                  <a:lnTo>
                    <a:pt x="3393948" y="78486"/>
                  </a:lnTo>
                  <a:lnTo>
                    <a:pt x="3396234" y="76200"/>
                  </a:lnTo>
                  <a:lnTo>
                    <a:pt x="3396234" y="73152"/>
                  </a:lnTo>
                  <a:lnTo>
                    <a:pt x="3395472" y="70104"/>
                  </a:lnTo>
                  <a:lnTo>
                    <a:pt x="3371850" y="6096"/>
                  </a:lnTo>
                  <a:lnTo>
                    <a:pt x="3370326" y="2286"/>
                  </a:lnTo>
                  <a:lnTo>
                    <a:pt x="3367278" y="0"/>
                  </a:lnTo>
                  <a:lnTo>
                    <a:pt x="3358896" y="0"/>
                  </a:lnTo>
                  <a:lnTo>
                    <a:pt x="3358896" y="83058"/>
                  </a:lnTo>
                  <a:lnTo>
                    <a:pt x="3349447" y="73621"/>
                  </a:lnTo>
                  <a:lnTo>
                    <a:pt x="3358134" y="82296"/>
                  </a:lnTo>
                  <a:lnTo>
                    <a:pt x="3358896" y="83058"/>
                  </a:lnTo>
                  <a:lnTo>
                    <a:pt x="3358896" y="0"/>
                  </a:lnTo>
                  <a:lnTo>
                    <a:pt x="3355086" y="2286"/>
                  </a:lnTo>
                  <a:lnTo>
                    <a:pt x="3354324" y="6096"/>
                  </a:lnTo>
                  <a:lnTo>
                    <a:pt x="3330702" y="70104"/>
                  </a:lnTo>
                  <a:lnTo>
                    <a:pt x="3329940" y="73152"/>
                  </a:lnTo>
                  <a:lnTo>
                    <a:pt x="3329940" y="76200"/>
                  </a:lnTo>
                  <a:lnTo>
                    <a:pt x="3332226" y="78486"/>
                  </a:lnTo>
                  <a:lnTo>
                    <a:pt x="3333750" y="81534"/>
                  </a:lnTo>
                  <a:lnTo>
                    <a:pt x="3336798" y="83058"/>
                  </a:lnTo>
                  <a:lnTo>
                    <a:pt x="3339846" y="83058"/>
                  </a:lnTo>
                  <a:lnTo>
                    <a:pt x="3348990" y="83058"/>
                  </a:lnTo>
                  <a:lnTo>
                    <a:pt x="3348990" y="301752"/>
                  </a:lnTo>
                  <a:lnTo>
                    <a:pt x="3349752" y="313182"/>
                  </a:lnTo>
                  <a:lnTo>
                    <a:pt x="3351276" y="323850"/>
                  </a:lnTo>
                  <a:lnTo>
                    <a:pt x="3357372" y="343662"/>
                  </a:lnTo>
                  <a:lnTo>
                    <a:pt x="3358134" y="345313"/>
                  </a:lnTo>
                  <a:lnTo>
                    <a:pt x="3361944" y="353568"/>
                  </a:lnTo>
                  <a:lnTo>
                    <a:pt x="3388614" y="384810"/>
                  </a:lnTo>
                  <a:lnTo>
                    <a:pt x="3425190" y="404622"/>
                  </a:lnTo>
                  <a:lnTo>
                    <a:pt x="3446526" y="409194"/>
                  </a:lnTo>
                  <a:lnTo>
                    <a:pt x="3564636" y="409194"/>
                  </a:lnTo>
                  <a:lnTo>
                    <a:pt x="3569970" y="409194"/>
                  </a:lnTo>
                  <a:lnTo>
                    <a:pt x="3574542" y="405384"/>
                  </a:lnTo>
                  <a:lnTo>
                    <a:pt x="3574542" y="385572"/>
                  </a:lnTo>
                  <a:close/>
                </a:path>
                <a:path w="3624579" h="2514600">
                  <a:moveTo>
                    <a:pt x="3624072" y="320040"/>
                  </a:moveTo>
                  <a:lnTo>
                    <a:pt x="3623310" y="316992"/>
                  </a:lnTo>
                  <a:lnTo>
                    <a:pt x="3621786" y="314706"/>
                  </a:lnTo>
                  <a:lnTo>
                    <a:pt x="3619500" y="311658"/>
                  </a:lnTo>
                  <a:lnTo>
                    <a:pt x="3616452" y="310134"/>
                  </a:lnTo>
                  <a:lnTo>
                    <a:pt x="3608070" y="310134"/>
                  </a:lnTo>
                  <a:lnTo>
                    <a:pt x="3608070" y="103632"/>
                  </a:lnTo>
                  <a:lnTo>
                    <a:pt x="3597402" y="61722"/>
                  </a:lnTo>
                  <a:lnTo>
                    <a:pt x="3587496" y="48006"/>
                  </a:lnTo>
                  <a:lnTo>
                    <a:pt x="3582162" y="41148"/>
                  </a:lnTo>
                  <a:lnTo>
                    <a:pt x="3545586" y="19812"/>
                  </a:lnTo>
                  <a:lnTo>
                    <a:pt x="3528060" y="16002"/>
                  </a:lnTo>
                  <a:lnTo>
                    <a:pt x="3428238" y="16002"/>
                  </a:lnTo>
                  <a:lnTo>
                    <a:pt x="3424428" y="19812"/>
                  </a:lnTo>
                  <a:lnTo>
                    <a:pt x="3424428" y="38100"/>
                  </a:lnTo>
                  <a:lnTo>
                    <a:pt x="3428238" y="41910"/>
                  </a:lnTo>
                  <a:lnTo>
                    <a:pt x="3433572" y="41910"/>
                  </a:lnTo>
                  <a:lnTo>
                    <a:pt x="3520440" y="42011"/>
                  </a:lnTo>
                  <a:lnTo>
                    <a:pt x="3553968" y="52578"/>
                  </a:lnTo>
                  <a:lnTo>
                    <a:pt x="3559302" y="55626"/>
                  </a:lnTo>
                  <a:lnTo>
                    <a:pt x="3563112" y="60198"/>
                  </a:lnTo>
                  <a:lnTo>
                    <a:pt x="3567684" y="64008"/>
                  </a:lnTo>
                  <a:lnTo>
                    <a:pt x="3571494" y="69342"/>
                  </a:lnTo>
                  <a:lnTo>
                    <a:pt x="3582162" y="104394"/>
                  </a:lnTo>
                  <a:lnTo>
                    <a:pt x="3582162" y="310134"/>
                  </a:lnTo>
                  <a:lnTo>
                    <a:pt x="3573018" y="310134"/>
                  </a:lnTo>
                  <a:lnTo>
                    <a:pt x="3570732" y="311658"/>
                  </a:lnTo>
                  <a:lnTo>
                    <a:pt x="3568446" y="314706"/>
                  </a:lnTo>
                  <a:lnTo>
                    <a:pt x="3566922" y="316992"/>
                  </a:lnTo>
                  <a:lnTo>
                    <a:pt x="3566160" y="320040"/>
                  </a:lnTo>
                  <a:lnTo>
                    <a:pt x="3567684" y="323088"/>
                  </a:lnTo>
                  <a:lnTo>
                    <a:pt x="3576066" y="346494"/>
                  </a:lnTo>
                  <a:lnTo>
                    <a:pt x="3585972" y="374142"/>
                  </a:lnTo>
                  <a:lnTo>
                    <a:pt x="3587496" y="377952"/>
                  </a:lnTo>
                  <a:lnTo>
                    <a:pt x="3591306" y="381000"/>
                  </a:lnTo>
                  <a:lnTo>
                    <a:pt x="3598926" y="381000"/>
                  </a:lnTo>
                  <a:lnTo>
                    <a:pt x="3602736" y="377952"/>
                  </a:lnTo>
                  <a:lnTo>
                    <a:pt x="3604260" y="374142"/>
                  </a:lnTo>
                  <a:lnTo>
                    <a:pt x="3613404" y="348615"/>
                  </a:lnTo>
                  <a:lnTo>
                    <a:pt x="3622548" y="323088"/>
                  </a:lnTo>
                  <a:lnTo>
                    <a:pt x="3624072" y="32004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359661" y="5306059"/>
            <a:ext cx="18910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latin typeface="Verdana"/>
                <a:cs typeface="Verdana"/>
              </a:rPr>
              <a:t>[*]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LM741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datasheet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BAF96B60-7325-4467-AA70-20186EE9986C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63</a:t>
            </a:fld>
            <a:endParaRPr spc="-25" dirty="0"/>
          </a:p>
        </p:txBody>
      </p:sp>
      <p:sp>
        <p:nvSpPr>
          <p:cNvPr id="16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Tips</a:t>
            </a:r>
            <a:r>
              <a:rPr spc="-15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design</a:t>
            </a:r>
            <a:r>
              <a:rPr spc="-30" dirty="0"/>
              <a:t> </a:t>
            </a:r>
            <a:r>
              <a:rPr dirty="0"/>
              <a:t>for</a:t>
            </a:r>
            <a:r>
              <a:rPr spc="-25" dirty="0"/>
              <a:t> </a:t>
            </a:r>
            <a:r>
              <a:rPr spc="-10" dirty="0"/>
              <a:t>stability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E1285C2-7084-418C-9DF2-6E4381448921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64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73683" y="1303728"/>
            <a:ext cx="10759440" cy="43053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482600" indent="-469900">
              <a:lnSpc>
                <a:spcPct val="100000"/>
              </a:lnSpc>
              <a:spcBef>
                <a:spcPts val="34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Limit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number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gain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stages</a:t>
            </a:r>
            <a:endParaRPr sz="2000">
              <a:latin typeface="Verdana"/>
              <a:cs typeface="Verdana"/>
            </a:endParaRPr>
          </a:p>
          <a:p>
            <a:pPr marL="920750" lvl="1" indent="-437515">
              <a:lnSpc>
                <a:spcPct val="100000"/>
              </a:lnSpc>
              <a:spcBef>
                <a:spcPts val="215"/>
              </a:spcBef>
              <a:buClr>
                <a:srgbClr val="CC0000"/>
              </a:buClr>
              <a:buFont typeface="Wingdings"/>
              <a:buChar char=""/>
              <a:tabLst>
                <a:tab pos="920750" algn="l"/>
              </a:tabLst>
            </a:pPr>
            <a:r>
              <a:rPr sz="1800" dirty="0">
                <a:latin typeface="Verdana"/>
                <a:cs typeface="Verdana"/>
              </a:rPr>
              <a:t>Each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gain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stage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decreases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achievable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bandwidth</a:t>
            </a:r>
            <a:endParaRPr sz="1800">
              <a:latin typeface="Verdana"/>
              <a:cs typeface="Verdana"/>
            </a:endParaRPr>
          </a:p>
          <a:p>
            <a:pPr marL="920750" lvl="1" indent="-437515">
              <a:lnSpc>
                <a:spcPct val="100000"/>
              </a:lnSpc>
              <a:spcBef>
                <a:spcPts val="219"/>
              </a:spcBef>
              <a:buClr>
                <a:srgbClr val="CC0000"/>
              </a:buClr>
              <a:buFont typeface="Wingdings"/>
              <a:buChar char=""/>
              <a:tabLst>
                <a:tab pos="920750" algn="l"/>
              </a:tabLst>
            </a:pPr>
            <a:r>
              <a:rPr sz="1800" dirty="0">
                <a:latin typeface="Verdana"/>
                <a:cs typeface="Verdana"/>
              </a:rPr>
              <a:t>Consider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gain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(impedance)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boost</a:t>
            </a:r>
            <a:endParaRPr sz="1800">
              <a:latin typeface="Verdana"/>
              <a:cs typeface="Verdana"/>
            </a:endParaRPr>
          </a:p>
          <a:p>
            <a:pPr marL="920750" lvl="1" indent="-437515">
              <a:lnSpc>
                <a:spcPct val="100000"/>
              </a:lnSpc>
              <a:spcBef>
                <a:spcPts val="215"/>
              </a:spcBef>
              <a:buClr>
                <a:srgbClr val="CC0000"/>
              </a:buClr>
              <a:buFont typeface="Wingdings"/>
              <a:buChar char=""/>
              <a:tabLst>
                <a:tab pos="920750" algn="l"/>
              </a:tabLst>
            </a:pPr>
            <a:r>
              <a:rPr sz="1800" dirty="0">
                <a:latin typeface="Verdana"/>
                <a:cs typeface="Verdana"/>
              </a:rPr>
              <a:t>Consider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nested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gain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structure</a:t>
            </a:r>
            <a:endParaRPr sz="18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spcBef>
                <a:spcPts val="955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Three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or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more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stages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lead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conditional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stability</a:t>
            </a:r>
            <a:endParaRPr sz="2000">
              <a:latin typeface="Verdana"/>
              <a:cs typeface="Verdana"/>
            </a:endParaRPr>
          </a:p>
          <a:p>
            <a:pPr marL="920750" lvl="1" indent="-437515">
              <a:lnSpc>
                <a:spcPct val="100000"/>
              </a:lnSpc>
              <a:spcBef>
                <a:spcPts val="220"/>
              </a:spcBef>
              <a:buClr>
                <a:srgbClr val="CC0000"/>
              </a:buClr>
              <a:buFont typeface="Wingdings"/>
              <a:buChar char=""/>
              <a:tabLst>
                <a:tab pos="920750" algn="l"/>
              </a:tabLst>
            </a:pPr>
            <a:r>
              <a:rPr sz="1800" dirty="0">
                <a:latin typeface="Verdana"/>
                <a:cs typeface="Verdana"/>
              </a:rPr>
              <a:t>Use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clamps</a:t>
            </a:r>
            <a:endParaRPr sz="1800">
              <a:latin typeface="Verdana"/>
              <a:cs typeface="Verdana"/>
            </a:endParaRPr>
          </a:p>
          <a:p>
            <a:pPr marL="920750" lvl="1" indent="-437515">
              <a:lnSpc>
                <a:spcPct val="100000"/>
              </a:lnSpc>
              <a:spcBef>
                <a:spcPts val="215"/>
              </a:spcBef>
              <a:buClr>
                <a:srgbClr val="CC0000"/>
              </a:buClr>
              <a:buFont typeface="Wingdings"/>
              <a:buChar char=""/>
              <a:tabLst>
                <a:tab pos="920750" algn="l"/>
              </a:tabLst>
            </a:pPr>
            <a:r>
              <a:rPr sz="1800" dirty="0">
                <a:latin typeface="Verdana"/>
                <a:cs typeface="Verdana"/>
              </a:rPr>
              <a:t>Control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gain</a:t>
            </a:r>
            <a:endParaRPr sz="18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spcBef>
                <a:spcPts val="96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Assure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stability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each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FB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loop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for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overall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system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stability</a:t>
            </a:r>
            <a:endParaRPr sz="2000">
              <a:latin typeface="Verdana"/>
              <a:cs typeface="Verdana"/>
            </a:endParaRPr>
          </a:p>
          <a:p>
            <a:pPr marL="436880" marR="5285105" lvl="1" indent="-436880" algn="r">
              <a:lnSpc>
                <a:spcPct val="100000"/>
              </a:lnSpc>
              <a:spcBef>
                <a:spcPts val="215"/>
              </a:spcBef>
              <a:buClr>
                <a:srgbClr val="CC0000"/>
              </a:buClr>
              <a:buFont typeface="Wingdings"/>
              <a:buChar char=""/>
              <a:tabLst>
                <a:tab pos="436880" algn="l"/>
              </a:tabLst>
            </a:pPr>
            <a:r>
              <a:rPr sz="1800" dirty="0">
                <a:latin typeface="Verdana"/>
                <a:cs typeface="Verdana"/>
              </a:rPr>
              <a:t>Keep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local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loops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single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stage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if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possible</a:t>
            </a:r>
            <a:endParaRPr sz="1800">
              <a:latin typeface="Verdana"/>
              <a:cs typeface="Verdana"/>
            </a:endParaRPr>
          </a:p>
          <a:p>
            <a:pPr marL="469900" marR="5311775" indent="-469900" algn="r">
              <a:lnSpc>
                <a:spcPct val="100000"/>
              </a:lnSpc>
              <a:spcBef>
                <a:spcPts val="960"/>
              </a:spcBef>
              <a:buClr>
                <a:srgbClr val="CC0000"/>
              </a:buClr>
              <a:buFont typeface="Wingdings"/>
              <a:buChar char=""/>
              <a:tabLst>
                <a:tab pos="469900" algn="l"/>
              </a:tabLst>
            </a:pPr>
            <a:r>
              <a:rPr sz="2000" dirty="0">
                <a:latin typeface="Verdana"/>
                <a:cs typeface="Verdana"/>
              </a:rPr>
              <a:t>Use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compensation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capacitors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sparingly</a:t>
            </a:r>
            <a:endParaRPr sz="20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spcBef>
                <a:spcPts val="96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Consider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gain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reduction</a:t>
            </a:r>
            <a:endParaRPr sz="20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spcBef>
                <a:spcPts val="96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Watch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for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transient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states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(i.e.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start-</a:t>
            </a:r>
            <a:r>
              <a:rPr sz="2000" dirty="0">
                <a:latin typeface="Verdana"/>
                <a:cs typeface="Verdana"/>
              </a:rPr>
              <a:t>up;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saturation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bipolar;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current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limit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etc.)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dirty="0"/>
              <a:t>Gain</a:t>
            </a:r>
            <a:r>
              <a:rPr spc="-10" dirty="0"/>
              <a:t> </a:t>
            </a:r>
            <a:r>
              <a:rPr dirty="0"/>
              <a:t>(impedance</a:t>
            </a:r>
            <a:r>
              <a:rPr spc="-5" dirty="0"/>
              <a:t> </a:t>
            </a:r>
            <a:r>
              <a:rPr spc="-10" dirty="0"/>
              <a:t>boost)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00543" y="1442262"/>
            <a:ext cx="4378452" cy="410128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87411" y="3775964"/>
            <a:ext cx="2705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>
                <a:latin typeface="Verdana"/>
                <a:cs typeface="Verdana"/>
              </a:rPr>
              <a:t>a.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69877" y="3150353"/>
            <a:ext cx="27114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>
                <a:latin typeface="Verdana"/>
                <a:cs typeface="Verdana"/>
              </a:rPr>
              <a:t>b.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70638" y="2273280"/>
            <a:ext cx="249554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>
                <a:latin typeface="Verdana"/>
                <a:cs typeface="Verdana"/>
              </a:rPr>
              <a:t>c.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66832" y="1570708"/>
            <a:ext cx="1779905" cy="632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390"/>
              </a:lnSpc>
              <a:spcBef>
                <a:spcPts val="95"/>
              </a:spcBef>
            </a:pPr>
            <a:r>
              <a:rPr sz="2000" spc="-25" dirty="0">
                <a:latin typeface="Verdana"/>
                <a:cs typeface="Verdana"/>
              </a:rPr>
              <a:t>d.</a:t>
            </a:r>
            <a:endParaRPr sz="2000">
              <a:latin typeface="Verdana"/>
              <a:cs typeface="Verdana"/>
            </a:endParaRPr>
          </a:p>
          <a:p>
            <a:pPr marL="1099820">
              <a:lnSpc>
                <a:spcPts val="2390"/>
              </a:lnSpc>
            </a:pPr>
            <a:r>
              <a:rPr sz="2000" spc="-20" dirty="0">
                <a:latin typeface="Verdana"/>
                <a:cs typeface="Verdana"/>
              </a:rPr>
              <a:t>GAIN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5225" y="4848066"/>
            <a:ext cx="2705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>
                <a:latin typeface="Verdana"/>
                <a:cs typeface="Verdana"/>
              </a:rPr>
              <a:t>a.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81495" y="4850350"/>
            <a:ext cx="27114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>
                <a:latin typeface="Verdana"/>
                <a:cs typeface="Verdana"/>
              </a:rPr>
              <a:t>b.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40944" y="4848066"/>
            <a:ext cx="249554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>
                <a:latin typeface="Verdana"/>
                <a:cs typeface="Verdana"/>
              </a:rPr>
              <a:t>c.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26125" y="4833577"/>
            <a:ext cx="27559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>
                <a:latin typeface="Verdana"/>
                <a:cs typeface="Verdana"/>
              </a:rPr>
              <a:t>d.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4687" y="2306508"/>
            <a:ext cx="6351753" cy="212493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652016" y="3109976"/>
            <a:ext cx="320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C</a:t>
            </a:r>
            <a:r>
              <a:rPr sz="1800" spc="-37" baseline="-20833" dirty="0">
                <a:latin typeface="Verdana"/>
                <a:cs typeface="Verdana"/>
              </a:rPr>
              <a:t>L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D224E075-4271-4929-ADB6-30A68CB19A49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65</a:t>
            </a:fld>
            <a:endParaRPr spc="-25" dirty="0"/>
          </a:p>
        </p:txBody>
      </p:sp>
      <p:sp>
        <p:nvSpPr>
          <p:cNvPr id="14" name="object 14"/>
          <p:cNvSpPr txBox="1"/>
          <p:nvPr/>
        </p:nvSpPr>
        <p:spPr>
          <a:xfrm>
            <a:off x="305561" y="3895598"/>
            <a:ext cx="408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V</a:t>
            </a:r>
            <a:r>
              <a:rPr sz="1200" spc="-25" dirty="0">
                <a:latin typeface="Verdana"/>
                <a:cs typeface="Verdana"/>
              </a:rPr>
              <a:t>IN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65758" y="2501900"/>
            <a:ext cx="182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V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21967" y="2634488"/>
            <a:ext cx="3498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Verdana"/>
                <a:cs typeface="Verdana"/>
              </a:rPr>
              <a:t>OUT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52016" y="3926078"/>
            <a:ext cx="408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V</a:t>
            </a:r>
            <a:r>
              <a:rPr sz="1200" spc="-25" dirty="0">
                <a:latin typeface="Verdana"/>
                <a:cs typeface="Verdana"/>
              </a:rPr>
              <a:t>IN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84447" y="3926078"/>
            <a:ext cx="408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V</a:t>
            </a:r>
            <a:r>
              <a:rPr sz="1200" spc="-25" dirty="0">
                <a:latin typeface="Verdana"/>
                <a:cs typeface="Verdana"/>
              </a:rPr>
              <a:t>IN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98235" y="3980179"/>
            <a:ext cx="408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V</a:t>
            </a:r>
            <a:r>
              <a:rPr sz="1200" spc="-25" dirty="0">
                <a:latin typeface="Verdana"/>
                <a:cs typeface="Verdana"/>
              </a:rPr>
              <a:t>IN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715260" y="2482088"/>
            <a:ext cx="182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V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71470" y="2614676"/>
            <a:ext cx="3498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Verdana"/>
                <a:cs typeface="Verdana"/>
              </a:rPr>
              <a:t>OUT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31690" y="2498852"/>
            <a:ext cx="182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V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787900" y="2631440"/>
            <a:ext cx="3498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Verdana"/>
                <a:cs typeface="Verdana"/>
              </a:rPr>
              <a:t>OUT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711950" y="2474467"/>
            <a:ext cx="182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V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868159" y="2607055"/>
            <a:ext cx="3498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Verdana"/>
                <a:cs typeface="Verdana"/>
              </a:rPr>
              <a:t>OUT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995422" y="3106165"/>
            <a:ext cx="320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C</a:t>
            </a:r>
            <a:r>
              <a:rPr sz="1800" spc="-37" baseline="-20833" dirty="0">
                <a:latin typeface="Verdana"/>
                <a:cs typeface="Verdana"/>
              </a:rPr>
              <a:t>L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973823" y="3124453"/>
            <a:ext cx="320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C</a:t>
            </a:r>
            <a:r>
              <a:rPr sz="1800" spc="-37" baseline="-20833" dirty="0">
                <a:latin typeface="Verdana"/>
                <a:cs typeface="Verdana"/>
              </a:rPr>
              <a:t>L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882901" y="2748788"/>
            <a:ext cx="337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V</a:t>
            </a:r>
            <a:r>
              <a:rPr sz="1800" spc="-37" baseline="-20833" dirty="0">
                <a:latin typeface="Verdana"/>
                <a:cs typeface="Verdana"/>
              </a:rPr>
              <a:t>B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840985" y="3001009"/>
            <a:ext cx="655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-29320" dirty="0">
                <a:latin typeface="Verdana"/>
                <a:cs typeface="Verdana"/>
              </a:rPr>
              <a:t>C</a:t>
            </a:r>
            <a:r>
              <a:rPr sz="1800" baseline="-64814" dirty="0">
                <a:latin typeface="Verdana"/>
                <a:cs typeface="Verdana"/>
              </a:rPr>
              <a:t>L</a:t>
            </a:r>
            <a:r>
              <a:rPr sz="1800" spc="209" baseline="-64814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V</a:t>
            </a:r>
            <a:r>
              <a:rPr sz="1800" spc="-37" baseline="-20833" dirty="0">
                <a:latin typeface="Verdana"/>
                <a:cs typeface="Verdana"/>
              </a:rPr>
              <a:t>B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34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13053" y="5626608"/>
            <a:ext cx="10565130" cy="622300"/>
            <a:chOff x="813053" y="5626608"/>
            <a:chExt cx="10565130" cy="6223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43287" y="5663184"/>
              <a:ext cx="198120" cy="58521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35589" y="5662422"/>
              <a:ext cx="205740" cy="58597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51775" y="5627370"/>
              <a:ext cx="198120" cy="58521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44077" y="5626608"/>
              <a:ext cx="205740" cy="585978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Building</a:t>
            </a:r>
            <a:r>
              <a:rPr spc="-30" dirty="0"/>
              <a:t> </a:t>
            </a:r>
            <a:r>
              <a:rPr dirty="0"/>
              <a:t>blocks</a:t>
            </a:r>
            <a:r>
              <a:rPr spc="-25" dirty="0"/>
              <a:t> </a:t>
            </a:r>
            <a:r>
              <a:rPr dirty="0"/>
              <a:t>for</a:t>
            </a:r>
            <a:r>
              <a:rPr spc="-25" dirty="0"/>
              <a:t> </a:t>
            </a:r>
            <a:r>
              <a:rPr dirty="0"/>
              <a:t>fast</a:t>
            </a:r>
            <a:r>
              <a:rPr spc="-30" dirty="0"/>
              <a:t> </a:t>
            </a:r>
            <a:r>
              <a:rPr dirty="0"/>
              <a:t>local</a:t>
            </a:r>
            <a:r>
              <a:rPr spc="-25" dirty="0"/>
              <a:t> </a:t>
            </a:r>
            <a:r>
              <a:rPr spc="-10" dirty="0"/>
              <a:t>loops</a:t>
            </a:r>
            <a:r>
              <a:rPr sz="3375" spc="-15" baseline="24691" dirty="0"/>
              <a:t>[5,6]</a:t>
            </a:r>
            <a:endParaRPr sz="3375" baseline="24691"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25880" y="1506474"/>
            <a:ext cx="2018538" cy="25527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10940" y="1257300"/>
            <a:ext cx="7694675" cy="2171700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9112757" y="4062228"/>
            <a:ext cx="1997710" cy="1517015"/>
            <a:chOff x="9112757" y="4062228"/>
            <a:chExt cx="1997710" cy="1517015"/>
          </a:xfrm>
        </p:grpSpPr>
        <p:sp>
          <p:nvSpPr>
            <p:cNvPr id="11" name="object 11"/>
            <p:cNvSpPr/>
            <p:nvPr/>
          </p:nvSpPr>
          <p:spPr>
            <a:xfrm>
              <a:off x="9854945" y="5052060"/>
              <a:ext cx="143510" cy="0"/>
            </a:xfrm>
            <a:custGeom>
              <a:avLst/>
              <a:gdLst/>
              <a:ahLst/>
              <a:cxnLst/>
              <a:rect l="l" t="t" r="r" b="b"/>
              <a:pathLst>
                <a:path w="143509">
                  <a:moveTo>
                    <a:pt x="143255" y="0"/>
                  </a:moveTo>
                  <a:lnTo>
                    <a:pt x="0" y="0"/>
                  </a:lnTo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826751" y="4871466"/>
              <a:ext cx="28575" cy="352425"/>
            </a:xfrm>
            <a:custGeom>
              <a:avLst/>
              <a:gdLst/>
              <a:ahLst/>
              <a:cxnLst/>
              <a:rect l="l" t="t" r="r" b="b"/>
              <a:pathLst>
                <a:path w="28575" h="352425">
                  <a:moveTo>
                    <a:pt x="28194" y="352043"/>
                  </a:moveTo>
                  <a:lnTo>
                    <a:pt x="28194" y="0"/>
                  </a:lnTo>
                  <a:lnTo>
                    <a:pt x="0" y="0"/>
                  </a:lnTo>
                  <a:lnTo>
                    <a:pt x="0" y="352043"/>
                  </a:lnTo>
                  <a:lnTo>
                    <a:pt x="28194" y="3520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646157" y="5195316"/>
              <a:ext cx="180975" cy="123825"/>
            </a:xfrm>
            <a:custGeom>
              <a:avLst/>
              <a:gdLst/>
              <a:ahLst/>
              <a:cxnLst/>
              <a:rect l="l" t="t" r="r" b="b"/>
              <a:pathLst>
                <a:path w="180975" h="123825">
                  <a:moveTo>
                    <a:pt x="0" y="123444"/>
                  </a:moveTo>
                  <a:lnTo>
                    <a:pt x="0" y="0"/>
                  </a:lnTo>
                  <a:lnTo>
                    <a:pt x="180594" y="0"/>
                  </a:lnTo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646157" y="4776216"/>
              <a:ext cx="180975" cy="124460"/>
            </a:xfrm>
            <a:custGeom>
              <a:avLst/>
              <a:gdLst/>
              <a:ahLst/>
              <a:cxnLst/>
              <a:rect l="l" t="t" r="r" b="b"/>
              <a:pathLst>
                <a:path w="180975" h="124460">
                  <a:moveTo>
                    <a:pt x="0" y="0"/>
                  </a:moveTo>
                  <a:lnTo>
                    <a:pt x="0" y="124206"/>
                  </a:lnTo>
                  <a:lnTo>
                    <a:pt x="180594" y="124206"/>
                  </a:lnTo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722357" y="5195316"/>
              <a:ext cx="85725" cy="0"/>
            </a:xfrm>
            <a:custGeom>
              <a:avLst/>
              <a:gdLst/>
              <a:ahLst/>
              <a:cxnLst/>
              <a:rect l="l" t="t" r="r" b="b"/>
              <a:pathLst>
                <a:path w="85725">
                  <a:moveTo>
                    <a:pt x="85344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655301" y="5147310"/>
              <a:ext cx="86360" cy="86360"/>
            </a:xfrm>
            <a:custGeom>
              <a:avLst/>
              <a:gdLst/>
              <a:ahLst/>
              <a:cxnLst/>
              <a:rect l="l" t="t" r="r" b="b"/>
              <a:pathLst>
                <a:path w="86359" h="86360">
                  <a:moveTo>
                    <a:pt x="86106" y="86105"/>
                  </a:moveTo>
                  <a:lnTo>
                    <a:pt x="84582" y="86105"/>
                  </a:lnTo>
                  <a:lnTo>
                    <a:pt x="77295" y="65841"/>
                  </a:lnTo>
                  <a:lnTo>
                    <a:pt x="74866" y="44576"/>
                  </a:lnTo>
                  <a:lnTo>
                    <a:pt x="77295" y="23312"/>
                  </a:lnTo>
                  <a:lnTo>
                    <a:pt x="84582" y="3047"/>
                  </a:lnTo>
                  <a:lnTo>
                    <a:pt x="86106" y="0"/>
                  </a:lnTo>
                  <a:lnTo>
                    <a:pt x="0" y="48005"/>
                  </a:lnTo>
                  <a:lnTo>
                    <a:pt x="86106" y="861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178795" y="5052060"/>
              <a:ext cx="143510" cy="0"/>
            </a:xfrm>
            <a:custGeom>
              <a:avLst/>
              <a:gdLst/>
              <a:ahLst/>
              <a:cxnLst/>
              <a:rect l="l" t="t" r="r" b="b"/>
              <a:pathLst>
                <a:path w="143509">
                  <a:moveTo>
                    <a:pt x="0" y="0"/>
                  </a:moveTo>
                  <a:lnTo>
                    <a:pt x="143256" y="0"/>
                  </a:lnTo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322051" y="4871466"/>
              <a:ext cx="38100" cy="352425"/>
            </a:xfrm>
            <a:custGeom>
              <a:avLst/>
              <a:gdLst/>
              <a:ahLst/>
              <a:cxnLst/>
              <a:rect l="l" t="t" r="r" b="b"/>
              <a:pathLst>
                <a:path w="38100" h="352425">
                  <a:moveTo>
                    <a:pt x="38100" y="352043"/>
                  </a:moveTo>
                  <a:lnTo>
                    <a:pt x="38100" y="0"/>
                  </a:lnTo>
                  <a:lnTo>
                    <a:pt x="0" y="0"/>
                  </a:lnTo>
                  <a:lnTo>
                    <a:pt x="0" y="352043"/>
                  </a:lnTo>
                  <a:lnTo>
                    <a:pt x="38100" y="3520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360151" y="5195316"/>
              <a:ext cx="171450" cy="123825"/>
            </a:xfrm>
            <a:custGeom>
              <a:avLst/>
              <a:gdLst/>
              <a:ahLst/>
              <a:cxnLst/>
              <a:rect l="l" t="t" r="r" b="b"/>
              <a:pathLst>
                <a:path w="171450" h="123825">
                  <a:moveTo>
                    <a:pt x="171450" y="123444"/>
                  </a:moveTo>
                  <a:lnTo>
                    <a:pt x="171450" y="0"/>
                  </a:lnTo>
                  <a:lnTo>
                    <a:pt x="0" y="0"/>
                  </a:lnTo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0360151" y="4776216"/>
              <a:ext cx="171450" cy="124460"/>
            </a:xfrm>
            <a:custGeom>
              <a:avLst/>
              <a:gdLst/>
              <a:ahLst/>
              <a:cxnLst/>
              <a:rect l="l" t="t" r="r" b="b"/>
              <a:pathLst>
                <a:path w="171450" h="124460">
                  <a:moveTo>
                    <a:pt x="171450" y="0"/>
                  </a:moveTo>
                  <a:lnTo>
                    <a:pt x="171450" y="124206"/>
                  </a:lnTo>
                  <a:lnTo>
                    <a:pt x="0" y="124206"/>
                  </a:lnTo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369295" y="5195316"/>
              <a:ext cx="86360" cy="0"/>
            </a:xfrm>
            <a:custGeom>
              <a:avLst/>
              <a:gdLst/>
              <a:ahLst/>
              <a:cxnLst/>
              <a:rect l="l" t="t" r="r" b="b"/>
              <a:pathLst>
                <a:path w="86359">
                  <a:moveTo>
                    <a:pt x="0" y="0"/>
                  </a:moveTo>
                  <a:lnTo>
                    <a:pt x="86106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436351" y="5147310"/>
              <a:ext cx="85725" cy="86360"/>
            </a:xfrm>
            <a:custGeom>
              <a:avLst/>
              <a:gdLst/>
              <a:ahLst/>
              <a:cxnLst/>
              <a:rect l="l" t="t" r="r" b="b"/>
              <a:pathLst>
                <a:path w="85725" h="86360">
                  <a:moveTo>
                    <a:pt x="85344" y="48005"/>
                  </a:moveTo>
                  <a:lnTo>
                    <a:pt x="0" y="0"/>
                  </a:lnTo>
                  <a:lnTo>
                    <a:pt x="2286" y="3047"/>
                  </a:lnTo>
                  <a:lnTo>
                    <a:pt x="9572" y="23312"/>
                  </a:lnTo>
                  <a:lnTo>
                    <a:pt x="12001" y="44576"/>
                  </a:lnTo>
                  <a:lnTo>
                    <a:pt x="9572" y="65841"/>
                  </a:lnTo>
                  <a:lnTo>
                    <a:pt x="2286" y="86105"/>
                  </a:lnTo>
                  <a:lnTo>
                    <a:pt x="0" y="86105"/>
                  </a:lnTo>
                  <a:lnTo>
                    <a:pt x="85344" y="480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998201" y="5052060"/>
              <a:ext cx="180975" cy="0"/>
            </a:xfrm>
            <a:custGeom>
              <a:avLst/>
              <a:gdLst/>
              <a:ahLst/>
              <a:cxnLst/>
              <a:rect l="l" t="t" r="r" b="b"/>
              <a:pathLst>
                <a:path w="180975">
                  <a:moveTo>
                    <a:pt x="0" y="0"/>
                  </a:moveTo>
                  <a:lnTo>
                    <a:pt x="180594" y="0"/>
                  </a:lnTo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646157" y="4652772"/>
              <a:ext cx="447675" cy="399415"/>
            </a:xfrm>
            <a:custGeom>
              <a:avLst/>
              <a:gdLst/>
              <a:ahLst/>
              <a:cxnLst/>
              <a:rect l="l" t="t" r="r" b="b"/>
              <a:pathLst>
                <a:path w="447675" h="399414">
                  <a:moveTo>
                    <a:pt x="447294" y="399288"/>
                  </a:moveTo>
                  <a:lnTo>
                    <a:pt x="447294" y="0"/>
                  </a:lnTo>
                  <a:lnTo>
                    <a:pt x="0" y="0"/>
                  </a:lnTo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074401" y="5029962"/>
              <a:ext cx="40005" cy="36195"/>
            </a:xfrm>
            <a:custGeom>
              <a:avLst/>
              <a:gdLst/>
              <a:ahLst/>
              <a:cxnLst/>
              <a:rect l="l" t="t" r="r" b="b"/>
              <a:pathLst>
                <a:path w="40004" h="36195">
                  <a:moveTo>
                    <a:pt x="39624" y="18287"/>
                  </a:moveTo>
                  <a:lnTo>
                    <a:pt x="38135" y="11251"/>
                  </a:lnTo>
                  <a:lnTo>
                    <a:pt x="34004" y="5429"/>
                  </a:lnTo>
                  <a:lnTo>
                    <a:pt x="27729" y="1464"/>
                  </a:lnTo>
                  <a:lnTo>
                    <a:pt x="19812" y="0"/>
                  </a:lnTo>
                  <a:lnTo>
                    <a:pt x="12215" y="1464"/>
                  </a:lnTo>
                  <a:lnTo>
                    <a:pt x="5905" y="5429"/>
                  </a:lnTo>
                  <a:lnTo>
                    <a:pt x="1595" y="11251"/>
                  </a:lnTo>
                  <a:lnTo>
                    <a:pt x="0" y="18287"/>
                  </a:lnTo>
                  <a:lnTo>
                    <a:pt x="1595" y="25205"/>
                  </a:lnTo>
                  <a:lnTo>
                    <a:pt x="5905" y="30765"/>
                  </a:lnTo>
                  <a:lnTo>
                    <a:pt x="12215" y="34468"/>
                  </a:lnTo>
                  <a:lnTo>
                    <a:pt x="19812" y="35813"/>
                  </a:lnTo>
                  <a:lnTo>
                    <a:pt x="27729" y="34468"/>
                  </a:lnTo>
                  <a:lnTo>
                    <a:pt x="34004" y="30765"/>
                  </a:lnTo>
                  <a:lnTo>
                    <a:pt x="38135" y="25205"/>
                  </a:lnTo>
                  <a:lnTo>
                    <a:pt x="39624" y="182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074401" y="5029962"/>
              <a:ext cx="40005" cy="36195"/>
            </a:xfrm>
            <a:custGeom>
              <a:avLst/>
              <a:gdLst/>
              <a:ahLst/>
              <a:cxnLst/>
              <a:rect l="l" t="t" r="r" b="b"/>
              <a:pathLst>
                <a:path w="40004" h="36195">
                  <a:moveTo>
                    <a:pt x="39624" y="18287"/>
                  </a:moveTo>
                  <a:lnTo>
                    <a:pt x="38135" y="11251"/>
                  </a:lnTo>
                  <a:lnTo>
                    <a:pt x="34004" y="5429"/>
                  </a:lnTo>
                  <a:lnTo>
                    <a:pt x="27729" y="1464"/>
                  </a:lnTo>
                  <a:lnTo>
                    <a:pt x="19812" y="0"/>
                  </a:lnTo>
                  <a:lnTo>
                    <a:pt x="12215" y="1464"/>
                  </a:lnTo>
                  <a:lnTo>
                    <a:pt x="5905" y="5429"/>
                  </a:lnTo>
                  <a:lnTo>
                    <a:pt x="1595" y="11251"/>
                  </a:lnTo>
                  <a:lnTo>
                    <a:pt x="0" y="18287"/>
                  </a:lnTo>
                  <a:lnTo>
                    <a:pt x="1595" y="25205"/>
                  </a:lnTo>
                  <a:lnTo>
                    <a:pt x="5905" y="30765"/>
                  </a:lnTo>
                  <a:lnTo>
                    <a:pt x="12215" y="34468"/>
                  </a:lnTo>
                  <a:lnTo>
                    <a:pt x="19812" y="35813"/>
                  </a:lnTo>
                  <a:lnTo>
                    <a:pt x="27729" y="34468"/>
                  </a:lnTo>
                  <a:lnTo>
                    <a:pt x="34004" y="30765"/>
                  </a:lnTo>
                  <a:lnTo>
                    <a:pt x="38135" y="25205"/>
                  </a:lnTo>
                  <a:lnTo>
                    <a:pt x="39624" y="18287"/>
                  </a:lnTo>
                  <a:close/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0066781" y="4634484"/>
              <a:ext cx="40005" cy="36195"/>
            </a:xfrm>
            <a:custGeom>
              <a:avLst/>
              <a:gdLst/>
              <a:ahLst/>
              <a:cxnLst/>
              <a:rect l="l" t="t" r="r" b="b"/>
              <a:pathLst>
                <a:path w="40004" h="36195">
                  <a:moveTo>
                    <a:pt x="39624" y="17525"/>
                  </a:moveTo>
                  <a:lnTo>
                    <a:pt x="38135" y="10608"/>
                  </a:lnTo>
                  <a:lnTo>
                    <a:pt x="34004" y="5048"/>
                  </a:lnTo>
                  <a:lnTo>
                    <a:pt x="27729" y="1345"/>
                  </a:lnTo>
                  <a:lnTo>
                    <a:pt x="19812" y="0"/>
                  </a:lnTo>
                  <a:lnTo>
                    <a:pt x="12215" y="1345"/>
                  </a:lnTo>
                  <a:lnTo>
                    <a:pt x="5905" y="5048"/>
                  </a:lnTo>
                  <a:lnTo>
                    <a:pt x="1595" y="10608"/>
                  </a:lnTo>
                  <a:lnTo>
                    <a:pt x="0" y="17525"/>
                  </a:lnTo>
                  <a:lnTo>
                    <a:pt x="1595" y="24562"/>
                  </a:lnTo>
                  <a:lnTo>
                    <a:pt x="5905" y="30384"/>
                  </a:lnTo>
                  <a:lnTo>
                    <a:pt x="12215" y="34349"/>
                  </a:lnTo>
                  <a:lnTo>
                    <a:pt x="19812" y="35813"/>
                  </a:lnTo>
                  <a:lnTo>
                    <a:pt x="27729" y="34349"/>
                  </a:lnTo>
                  <a:lnTo>
                    <a:pt x="34004" y="30384"/>
                  </a:lnTo>
                  <a:lnTo>
                    <a:pt x="38135" y="24562"/>
                  </a:lnTo>
                  <a:lnTo>
                    <a:pt x="39624" y="175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066781" y="4634484"/>
              <a:ext cx="40005" cy="36195"/>
            </a:xfrm>
            <a:custGeom>
              <a:avLst/>
              <a:gdLst/>
              <a:ahLst/>
              <a:cxnLst/>
              <a:rect l="l" t="t" r="r" b="b"/>
              <a:pathLst>
                <a:path w="40004" h="36195">
                  <a:moveTo>
                    <a:pt x="39624" y="17525"/>
                  </a:moveTo>
                  <a:lnTo>
                    <a:pt x="38135" y="10608"/>
                  </a:lnTo>
                  <a:lnTo>
                    <a:pt x="34004" y="5048"/>
                  </a:lnTo>
                  <a:lnTo>
                    <a:pt x="27729" y="1345"/>
                  </a:lnTo>
                  <a:lnTo>
                    <a:pt x="19812" y="0"/>
                  </a:lnTo>
                  <a:lnTo>
                    <a:pt x="12215" y="1345"/>
                  </a:lnTo>
                  <a:lnTo>
                    <a:pt x="5905" y="5048"/>
                  </a:lnTo>
                  <a:lnTo>
                    <a:pt x="1595" y="10608"/>
                  </a:lnTo>
                  <a:lnTo>
                    <a:pt x="0" y="17525"/>
                  </a:lnTo>
                  <a:lnTo>
                    <a:pt x="1595" y="24562"/>
                  </a:lnTo>
                  <a:lnTo>
                    <a:pt x="5905" y="30384"/>
                  </a:lnTo>
                  <a:lnTo>
                    <a:pt x="12215" y="34349"/>
                  </a:lnTo>
                  <a:lnTo>
                    <a:pt x="19812" y="35813"/>
                  </a:lnTo>
                  <a:lnTo>
                    <a:pt x="27729" y="34349"/>
                  </a:lnTo>
                  <a:lnTo>
                    <a:pt x="34004" y="30384"/>
                  </a:lnTo>
                  <a:lnTo>
                    <a:pt x="38135" y="24562"/>
                  </a:lnTo>
                  <a:lnTo>
                    <a:pt x="39624" y="17525"/>
                  </a:lnTo>
                  <a:close/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646157" y="4652772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h="123825">
                  <a:moveTo>
                    <a:pt x="0" y="0"/>
                  </a:moveTo>
                  <a:lnTo>
                    <a:pt x="0" y="123444"/>
                  </a:lnTo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0531601" y="4652772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h="123825">
                  <a:moveTo>
                    <a:pt x="0" y="0"/>
                  </a:moveTo>
                  <a:lnTo>
                    <a:pt x="0" y="123444"/>
                  </a:lnTo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646157" y="5299710"/>
              <a:ext cx="0" cy="181610"/>
            </a:xfrm>
            <a:custGeom>
              <a:avLst/>
              <a:gdLst/>
              <a:ahLst/>
              <a:cxnLst/>
              <a:rect l="l" t="t" r="r" b="b"/>
              <a:pathLst>
                <a:path h="181610">
                  <a:moveTo>
                    <a:pt x="0" y="181356"/>
                  </a:moveTo>
                  <a:lnTo>
                    <a:pt x="0" y="0"/>
                  </a:lnTo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597389" y="5479542"/>
              <a:ext cx="90170" cy="90170"/>
            </a:xfrm>
            <a:custGeom>
              <a:avLst/>
              <a:gdLst/>
              <a:ahLst/>
              <a:cxnLst/>
              <a:rect l="l" t="t" r="r" b="b"/>
              <a:pathLst>
                <a:path w="90170" h="90170">
                  <a:moveTo>
                    <a:pt x="89916" y="44958"/>
                  </a:moveTo>
                  <a:lnTo>
                    <a:pt x="86427" y="27646"/>
                  </a:lnTo>
                  <a:lnTo>
                    <a:pt x="76866" y="13335"/>
                  </a:lnTo>
                  <a:lnTo>
                    <a:pt x="62591" y="3595"/>
                  </a:lnTo>
                  <a:lnTo>
                    <a:pt x="44958" y="0"/>
                  </a:lnTo>
                  <a:lnTo>
                    <a:pt x="27324" y="3595"/>
                  </a:lnTo>
                  <a:lnTo>
                    <a:pt x="13049" y="13335"/>
                  </a:lnTo>
                  <a:lnTo>
                    <a:pt x="3488" y="27646"/>
                  </a:lnTo>
                  <a:lnTo>
                    <a:pt x="0" y="44958"/>
                  </a:lnTo>
                  <a:lnTo>
                    <a:pt x="3488" y="62591"/>
                  </a:lnTo>
                  <a:lnTo>
                    <a:pt x="13049" y="76866"/>
                  </a:lnTo>
                  <a:lnTo>
                    <a:pt x="27324" y="86427"/>
                  </a:lnTo>
                  <a:lnTo>
                    <a:pt x="44958" y="89916"/>
                  </a:lnTo>
                  <a:lnTo>
                    <a:pt x="62591" y="86427"/>
                  </a:lnTo>
                  <a:lnTo>
                    <a:pt x="76866" y="76866"/>
                  </a:lnTo>
                  <a:lnTo>
                    <a:pt x="86427" y="62591"/>
                  </a:lnTo>
                  <a:lnTo>
                    <a:pt x="89916" y="44958"/>
                  </a:lnTo>
                  <a:close/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0531601" y="5299710"/>
              <a:ext cx="0" cy="181610"/>
            </a:xfrm>
            <a:custGeom>
              <a:avLst/>
              <a:gdLst/>
              <a:ahLst/>
              <a:cxnLst/>
              <a:rect l="l" t="t" r="r" b="b"/>
              <a:pathLst>
                <a:path h="181610">
                  <a:moveTo>
                    <a:pt x="0" y="181355"/>
                  </a:moveTo>
                  <a:lnTo>
                    <a:pt x="0" y="0"/>
                  </a:lnTo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0489691" y="5479542"/>
              <a:ext cx="90170" cy="90170"/>
            </a:xfrm>
            <a:custGeom>
              <a:avLst/>
              <a:gdLst/>
              <a:ahLst/>
              <a:cxnLst/>
              <a:rect l="l" t="t" r="r" b="b"/>
              <a:pathLst>
                <a:path w="90170" h="90170">
                  <a:moveTo>
                    <a:pt x="89916" y="44958"/>
                  </a:moveTo>
                  <a:lnTo>
                    <a:pt x="86427" y="27646"/>
                  </a:lnTo>
                  <a:lnTo>
                    <a:pt x="76866" y="13335"/>
                  </a:lnTo>
                  <a:lnTo>
                    <a:pt x="62591" y="3595"/>
                  </a:lnTo>
                  <a:lnTo>
                    <a:pt x="44958" y="0"/>
                  </a:lnTo>
                  <a:lnTo>
                    <a:pt x="27646" y="3595"/>
                  </a:lnTo>
                  <a:lnTo>
                    <a:pt x="13335" y="13335"/>
                  </a:lnTo>
                  <a:lnTo>
                    <a:pt x="3595" y="27646"/>
                  </a:lnTo>
                  <a:lnTo>
                    <a:pt x="0" y="44958"/>
                  </a:lnTo>
                  <a:lnTo>
                    <a:pt x="3595" y="62591"/>
                  </a:lnTo>
                  <a:lnTo>
                    <a:pt x="13335" y="76866"/>
                  </a:lnTo>
                  <a:lnTo>
                    <a:pt x="27646" y="86427"/>
                  </a:lnTo>
                  <a:lnTo>
                    <a:pt x="44958" y="89916"/>
                  </a:lnTo>
                  <a:lnTo>
                    <a:pt x="62591" y="86427"/>
                  </a:lnTo>
                  <a:lnTo>
                    <a:pt x="76866" y="76866"/>
                  </a:lnTo>
                  <a:lnTo>
                    <a:pt x="86427" y="62591"/>
                  </a:lnTo>
                  <a:lnTo>
                    <a:pt x="89916" y="44958"/>
                  </a:lnTo>
                  <a:close/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0093451" y="4205478"/>
              <a:ext cx="428625" cy="447675"/>
            </a:xfrm>
            <a:custGeom>
              <a:avLst/>
              <a:gdLst/>
              <a:ahLst/>
              <a:cxnLst/>
              <a:rect l="l" t="t" r="r" b="b"/>
              <a:pathLst>
                <a:path w="428625" h="447675">
                  <a:moveTo>
                    <a:pt x="0" y="447293"/>
                  </a:moveTo>
                  <a:lnTo>
                    <a:pt x="428244" y="447293"/>
                  </a:lnTo>
                </a:path>
                <a:path w="428625" h="447675">
                  <a:moveTo>
                    <a:pt x="0" y="447293"/>
                  </a:moveTo>
                  <a:lnTo>
                    <a:pt x="0" y="0"/>
                  </a:lnTo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961625" y="4292346"/>
              <a:ext cx="262255" cy="269875"/>
            </a:xfrm>
            <a:custGeom>
              <a:avLst/>
              <a:gdLst/>
              <a:ahLst/>
              <a:cxnLst/>
              <a:rect l="l" t="t" r="r" b="b"/>
              <a:pathLst>
                <a:path w="262254" h="269875">
                  <a:moveTo>
                    <a:pt x="262127" y="134874"/>
                  </a:moveTo>
                  <a:lnTo>
                    <a:pt x="255446" y="92464"/>
                  </a:lnTo>
                  <a:lnTo>
                    <a:pt x="236841" y="55467"/>
                  </a:lnTo>
                  <a:lnTo>
                    <a:pt x="208471" y="26188"/>
                  </a:lnTo>
                  <a:lnTo>
                    <a:pt x="172492" y="6931"/>
                  </a:lnTo>
                  <a:lnTo>
                    <a:pt x="131063" y="0"/>
                  </a:lnTo>
                  <a:lnTo>
                    <a:pt x="89635" y="6931"/>
                  </a:lnTo>
                  <a:lnTo>
                    <a:pt x="53656" y="26188"/>
                  </a:lnTo>
                  <a:lnTo>
                    <a:pt x="25286" y="55467"/>
                  </a:lnTo>
                  <a:lnTo>
                    <a:pt x="6681" y="92464"/>
                  </a:lnTo>
                  <a:lnTo>
                    <a:pt x="0" y="134874"/>
                  </a:lnTo>
                  <a:lnTo>
                    <a:pt x="6681" y="177576"/>
                  </a:lnTo>
                  <a:lnTo>
                    <a:pt x="25286" y="214609"/>
                  </a:lnTo>
                  <a:lnTo>
                    <a:pt x="53656" y="243779"/>
                  </a:lnTo>
                  <a:lnTo>
                    <a:pt x="89635" y="262890"/>
                  </a:lnTo>
                  <a:lnTo>
                    <a:pt x="131063" y="269748"/>
                  </a:lnTo>
                  <a:lnTo>
                    <a:pt x="172492" y="262890"/>
                  </a:lnTo>
                  <a:lnTo>
                    <a:pt x="208471" y="243779"/>
                  </a:lnTo>
                  <a:lnTo>
                    <a:pt x="236841" y="214609"/>
                  </a:lnTo>
                  <a:lnTo>
                    <a:pt x="255446" y="177576"/>
                  </a:lnTo>
                  <a:lnTo>
                    <a:pt x="262127" y="1348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9961625" y="4292346"/>
              <a:ext cx="262255" cy="269875"/>
            </a:xfrm>
            <a:custGeom>
              <a:avLst/>
              <a:gdLst/>
              <a:ahLst/>
              <a:cxnLst/>
              <a:rect l="l" t="t" r="r" b="b"/>
              <a:pathLst>
                <a:path w="262254" h="269875">
                  <a:moveTo>
                    <a:pt x="262127" y="134874"/>
                  </a:moveTo>
                  <a:lnTo>
                    <a:pt x="255446" y="92464"/>
                  </a:lnTo>
                  <a:lnTo>
                    <a:pt x="236841" y="55467"/>
                  </a:lnTo>
                  <a:lnTo>
                    <a:pt x="208471" y="26188"/>
                  </a:lnTo>
                  <a:lnTo>
                    <a:pt x="172492" y="6931"/>
                  </a:lnTo>
                  <a:lnTo>
                    <a:pt x="131063" y="0"/>
                  </a:lnTo>
                  <a:lnTo>
                    <a:pt x="89635" y="6931"/>
                  </a:lnTo>
                  <a:lnTo>
                    <a:pt x="53656" y="26188"/>
                  </a:lnTo>
                  <a:lnTo>
                    <a:pt x="25286" y="55467"/>
                  </a:lnTo>
                  <a:lnTo>
                    <a:pt x="6681" y="92464"/>
                  </a:lnTo>
                  <a:lnTo>
                    <a:pt x="0" y="134874"/>
                  </a:lnTo>
                  <a:lnTo>
                    <a:pt x="6681" y="177576"/>
                  </a:lnTo>
                  <a:lnTo>
                    <a:pt x="25286" y="214609"/>
                  </a:lnTo>
                  <a:lnTo>
                    <a:pt x="53656" y="243779"/>
                  </a:lnTo>
                  <a:lnTo>
                    <a:pt x="89635" y="262890"/>
                  </a:lnTo>
                  <a:lnTo>
                    <a:pt x="131063" y="269748"/>
                  </a:lnTo>
                  <a:lnTo>
                    <a:pt x="172492" y="262890"/>
                  </a:lnTo>
                  <a:lnTo>
                    <a:pt x="208471" y="243779"/>
                  </a:lnTo>
                  <a:lnTo>
                    <a:pt x="236841" y="214609"/>
                  </a:lnTo>
                  <a:lnTo>
                    <a:pt x="255446" y="177576"/>
                  </a:lnTo>
                  <a:lnTo>
                    <a:pt x="262127" y="134874"/>
                  </a:lnTo>
                  <a:close/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0093451" y="4357878"/>
              <a:ext cx="0" cy="85725"/>
            </a:xfrm>
            <a:custGeom>
              <a:avLst/>
              <a:gdLst/>
              <a:ahLst/>
              <a:cxnLst/>
              <a:rect l="l" t="t" r="r" b="b"/>
              <a:pathLst>
                <a:path h="85725">
                  <a:moveTo>
                    <a:pt x="0" y="0"/>
                  </a:moveTo>
                  <a:lnTo>
                    <a:pt x="0" y="85344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0050779" y="4424172"/>
              <a:ext cx="83185" cy="85725"/>
            </a:xfrm>
            <a:custGeom>
              <a:avLst/>
              <a:gdLst/>
              <a:ahLst/>
              <a:cxnLst/>
              <a:rect l="l" t="t" r="r" b="b"/>
              <a:pathLst>
                <a:path w="83184" h="85725">
                  <a:moveTo>
                    <a:pt x="6238" y="3732"/>
                  </a:moveTo>
                  <a:lnTo>
                    <a:pt x="4572" y="0"/>
                  </a:lnTo>
                  <a:lnTo>
                    <a:pt x="0" y="1524"/>
                  </a:lnTo>
                  <a:lnTo>
                    <a:pt x="6238" y="3732"/>
                  </a:lnTo>
                  <a:close/>
                </a:path>
                <a:path w="83184" h="85725">
                  <a:moveTo>
                    <a:pt x="79520" y="2802"/>
                  </a:moveTo>
                  <a:lnTo>
                    <a:pt x="62900" y="8810"/>
                  </a:lnTo>
                  <a:lnTo>
                    <a:pt x="42672" y="11140"/>
                  </a:lnTo>
                  <a:lnTo>
                    <a:pt x="41814" y="11239"/>
                  </a:lnTo>
                  <a:lnTo>
                    <a:pt x="20585" y="8810"/>
                  </a:lnTo>
                  <a:lnTo>
                    <a:pt x="6238" y="3732"/>
                  </a:lnTo>
                  <a:lnTo>
                    <a:pt x="42672" y="85344"/>
                  </a:lnTo>
                  <a:lnTo>
                    <a:pt x="79520" y="2802"/>
                  </a:lnTo>
                  <a:close/>
                </a:path>
                <a:path w="83184" h="85725">
                  <a:moveTo>
                    <a:pt x="83058" y="1524"/>
                  </a:moveTo>
                  <a:lnTo>
                    <a:pt x="80772" y="0"/>
                  </a:lnTo>
                  <a:lnTo>
                    <a:pt x="79520" y="2802"/>
                  </a:lnTo>
                  <a:lnTo>
                    <a:pt x="83058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9455657" y="5052060"/>
              <a:ext cx="142875" cy="0"/>
            </a:xfrm>
            <a:custGeom>
              <a:avLst/>
              <a:gdLst/>
              <a:ahLst/>
              <a:cxnLst/>
              <a:rect l="l" t="t" r="r" b="b"/>
              <a:pathLst>
                <a:path w="142875">
                  <a:moveTo>
                    <a:pt x="142494" y="0"/>
                  </a:moveTo>
                  <a:lnTo>
                    <a:pt x="0" y="0"/>
                  </a:lnTo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9417557" y="4871466"/>
              <a:ext cx="38100" cy="352425"/>
            </a:xfrm>
            <a:custGeom>
              <a:avLst/>
              <a:gdLst/>
              <a:ahLst/>
              <a:cxnLst/>
              <a:rect l="l" t="t" r="r" b="b"/>
              <a:pathLst>
                <a:path w="38100" h="352425">
                  <a:moveTo>
                    <a:pt x="38100" y="352043"/>
                  </a:moveTo>
                  <a:lnTo>
                    <a:pt x="38100" y="0"/>
                  </a:lnTo>
                  <a:lnTo>
                    <a:pt x="0" y="0"/>
                  </a:lnTo>
                  <a:lnTo>
                    <a:pt x="0" y="352043"/>
                  </a:lnTo>
                  <a:lnTo>
                    <a:pt x="38100" y="3520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9236201" y="5195316"/>
              <a:ext cx="181610" cy="123825"/>
            </a:xfrm>
            <a:custGeom>
              <a:avLst/>
              <a:gdLst/>
              <a:ahLst/>
              <a:cxnLst/>
              <a:rect l="l" t="t" r="r" b="b"/>
              <a:pathLst>
                <a:path w="181609" h="123825">
                  <a:moveTo>
                    <a:pt x="0" y="123444"/>
                  </a:moveTo>
                  <a:lnTo>
                    <a:pt x="0" y="0"/>
                  </a:lnTo>
                  <a:lnTo>
                    <a:pt x="181356" y="0"/>
                  </a:lnTo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9236201" y="4776216"/>
              <a:ext cx="181610" cy="124460"/>
            </a:xfrm>
            <a:custGeom>
              <a:avLst/>
              <a:gdLst/>
              <a:ahLst/>
              <a:cxnLst/>
              <a:rect l="l" t="t" r="r" b="b"/>
              <a:pathLst>
                <a:path w="181609" h="124460">
                  <a:moveTo>
                    <a:pt x="0" y="0"/>
                  </a:moveTo>
                  <a:lnTo>
                    <a:pt x="0" y="124206"/>
                  </a:lnTo>
                  <a:lnTo>
                    <a:pt x="181356" y="124206"/>
                  </a:lnTo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9312401" y="5195316"/>
              <a:ext cx="86360" cy="0"/>
            </a:xfrm>
            <a:custGeom>
              <a:avLst/>
              <a:gdLst/>
              <a:ahLst/>
              <a:cxnLst/>
              <a:rect l="l" t="t" r="r" b="b"/>
              <a:pathLst>
                <a:path w="86359">
                  <a:moveTo>
                    <a:pt x="86105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9255251" y="5147310"/>
              <a:ext cx="86360" cy="86360"/>
            </a:xfrm>
            <a:custGeom>
              <a:avLst/>
              <a:gdLst/>
              <a:ahLst/>
              <a:cxnLst/>
              <a:rect l="l" t="t" r="r" b="b"/>
              <a:pathLst>
                <a:path w="86359" h="86360">
                  <a:moveTo>
                    <a:pt x="86106" y="86105"/>
                  </a:moveTo>
                  <a:lnTo>
                    <a:pt x="82296" y="86105"/>
                  </a:lnTo>
                  <a:lnTo>
                    <a:pt x="74580" y="65841"/>
                  </a:lnTo>
                  <a:lnTo>
                    <a:pt x="72009" y="44576"/>
                  </a:lnTo>
                  <a:lnTo>
                    <a:pt x="74580" y="23312"/>
                  </a:lnTo>
                  <a:lnTo>
                    <a:pt x="82296" y="3047"/>
                  </a:lnTo>
                  <a:lnTo>
                    <a:pt x="86106" y="0"/>
                  </a:lnTo>
                  <a:lnTo>
                    <a:pt x="0" y="48005"/>
                  </a:lnTo>
                  <a:lnTo>
                    <a:pt x="86106" y="861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0578845" y="5052060"/>
              <a:ext cx="143510" cy="0"/>
            </a:xfrm>
            <a:custGeom>
              <a:avLst/>
              <a:gdLst/>
              <a:ahLst/>
              <a:cxnLst/>
              <a:rect l="l" t="t" r="r" b="b"/>
              <a:pathLst>
                <a:path w="143509">
                  <a:moveTo>
                    <a:pt x="0" y="0"/>
                  </a:moveTo>
                  <a:lnTo>
                    <a:pt x="143256" y="0"/>
                  </a:lnTo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0722101" y="4871466"/>
              <a:ext cx="38100" cy="352425"/>
            </a:xfrm>
            <a:custGeom>
              <a:avLst/>
              <a:gdLst/>
              <a:ahLst/>
              <a:cxnLst/>
              <a:rect l="l" t="t" r="r" b="b"/>
              <a:pathLst>
                <a:path w="38100" h="352425">
                  <a:moveTo>
                    <a:pt x="38100" y="352043"/>
                  </a:moveTo>
                  <a:lnTo>
                    <a:pt x="38100" y="0"/>
                  </a:lnTo>
                  <a:lnTo>
                    <a:pt x="0" y="0"/>
                  </a:lnTo>
                  <a:lnTo>
                    <a:pt x="0" y="352043"/>
                  </a:lnTo>
                  <a:lnTo>
                    <a:pt x="38100" y="3520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0760201" y="5195316"/>
              <a:ext cx="180975" cy="123825"/>
            </a:xfrm>
            <a:custGeom>
              <a:avLst/>
              <a:gdLst/>
              <a:ahLst/>
              <a:cxnLst/>
              <a:rect l="l" t="t" r="r" b="b"/>
              <a:pathLst>
                <a:path w="180975" h="123825">
                  <a:moveTo>
                    <a:pt x="180594" y="123444"/>
                  </a:moveTo>
                  <a:lnTo>
                    <a:pt x="180594" y="0"/>
                  </a:lnTo>
                  <a:lnTo>
                    <a:pt x="0" y="0"/>
                  </a:lnTo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0760201" y="4776216"/>
              <a:ext cx="180975" cy="124460"/>
            </a:xfrm>
            <a:custGeom>
              <a:avLst/>
              <a:gdLst/>
              <a:ahLst/>
              <a:cxnLst/>
              <a:rect l="l" t="t" r="r" b="b"/>
              <a:pathLst>
                <a:path w="180975" h="124460">
                  <a:moveTo>
                    <a:pt x="180594" y="0"/>
                  </a:moveTo>
                  <a:lnTo>
                    <a:pt x="180594" y="124206"/>
                  </a:lnTo>
                  <a:lnTo>
                    <a:pt x="0" y="124206"/>
                  </a:lnTo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0779251" y="5195316"/>
              <a:ext cx="85725" cy="0"/>
            </a:xfrm>
            <a:custGeom>
              <a:avLst/>
              <a:gdLst/>
              <a:ahLst/>
              <a:cxnLst/>
              <a:rect l="l" t="t" r="r" b="b"/>
              <a:pathLst>
                <a:path w="85725">
                  <a:moveTo>
                    <a:pt x="0" y="0"/>
                  </a:moveTo>
                  <a:lnTo>
                    <a:pt x="85344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0840973" y="5147310"/>
              <a:ext cx="81280" cy="86360"/>
            </a:xfrm>
            <a:custGeom>
              <a:avLst/>
              <a:gdLst/>
              <a:ahLst/>
              <a:cxnLst/>
              <a:rect l="l" t="t" r="r" b="b"/>
              <a:pathLst>
                <a:path w="81279" h="86360">
                  <a:moveTo>
                    <a:pt x="80772" y="48005"/>
                  </a:moveTo>
                  <a:lnTo>
                    <a:pt x="4572" y="0"/>
                  </a:lnTo>
                  <a:lnTo>
                    <a:pt x="0" y="3047"/>
                  </a:lnTo>
                  <a:lnTo>
                    <a:pt x="7715" y="23312"/>
                  </a:lnTo>
                  <a:lnTo>
                    <a:pt x="10287" y="44576"/>
                  </a:lnTo>
                  <a:lnTo>
                    <a:pt x="7715" y="65841"/>
                  </a:lnTo>
                  <a:lnTo>
                    <a:pt x="0" y="86105"/>
                  </a:lnTo>
                  <a:lnTo>
                    <a:pt x="4572" y="86105"/>
                  </a:lnTo>
                  <a:lnTo>
                    <a:pt x="80772" y="480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9236201" y="4585716"/>
              <a:ext cx="0" cy="181610"/>
            </a:xfrm>
            <a:custGeom>
              <a:avLst/>
              <a:gdLst/>
              <a:ahLst/>
              <a:cxnLst/>
              <a:rect l="l" t="t" r="r" b="b"/>
              <a:pathLst>
                <a:path h="181610">
                  <a:moveTo>
                    <a:pt x="0" y="0"/>
                  </a:moveTo>
                  <a:lnTo>
                    <a:pt x="0" y="181356"/>
                  </a:lnTo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9194291" y="4499610"/>
              <a:ext cx="90170" cy="90170"/>
            </a:xfrm>
            <a:custGeom>
              <a:avLst/>
              <a:gdLst/>
              <a:ahLst/>
              <a:cxnLst/>
              <a:rect l="l" t="t" r="r" b="b"/>
              <a:pathLst>
                <a:path w="90170" h="90170">
                  <a:moveTo>
                    <a:pt x="0" y="44957"/>
                  </a:moveTo>
                  <a:lnTo>
                    <a:pt x="3488" y="62269"/>
                  </a:lnTo>
                  <a:lnTo>
                    <a:pt x="13049" y="76580"/>
                  </a:lnTo>
                  <a:lnTo>
                    <a:pt x="27324" y="86320"/>
                  </a:lnTo>
                  <a:lnTo>
                    <a:pt x="44958" y="89915"/>
                  </a:lnTo>
                  <a:lnTo>
                    <a:pt x="62591" y="86320"/>
                  </a:lnTo>
                  <a:lnTo>
                    <a:pt x="76866" y="76580"/>
                  </a:lnTo>
                  <a:lnTo>
                    <a:pt x="86427" y="62269"/>
                  </a:lnTo>
                  <a:lnTo>
                    <a:pt x="89916" y="44957"/>
                  </a:lnTo>
                  <a:lnTo>
                    <a:pt x="86427" y="27324"/>
                  </a:lnTo>
                  <a:lnTo>
                    <a:pt x="76866" y="13049"/>
                  </a:lnTo>
                  <a:lnTo>
                    <a:pt x="62591" y="3488"/>
                  </a:lnTo>
                  <a:lnTo>
                    <a:pt x="44958" y="0"/>
                  </a:lnTo>
                  <a:lnTo>
                    <a:pt x="27324" y="3488"/>
                  </a:lnTo>
                  <a:lnTo>
                    <a:pt x="13049" y="13049"/>
                  </a:lnTo>
                  <a:lnTo>
                    <a:pt x="3488" y="27324"/>
                  </a:lnTo>
                  <a:lnTo>
                    <a:pt x="0" y="44957"/>
                  </a:lnTo>
                  <a:close/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0940795" y="4595622"/>
              <a:ext cx="0" cy="180975"/>
            </a:xfrm>
            <a:custGeom>
              <a:avLst/>
              <a:gdLst/>
              <a:ahLst/>
              <a:cxnLst/>
              <a:rect l="l" t="t" r="r" b="b"/>
              <a:pathLst>
                <a:path h="180975">
                  <a:moveTo>
                    <a:pt x="0" y="0"/>
                  </a:moveTo>
                  <a:lnTo>
                    <a:pt x="0" y="180594"/>
                  </a:lnTo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0892789" y="4508754"/>
              <a:ext cx="90170" cy="90170"/>
            </a:xfrm>
            <a:custGeom>
              <a:avLst/>
              <a:gdLst/>
              <a:ahLst/>
              <a:cxnLst/>
              <a:rect l="l" t="t" r="r" b="b"/>
              <a:pathLst>
                <a:path w="90170" h="90170">
                  <a:moveTo>
                    <a:pt x="0" y="44957"/>
                  </a:moveTo>
                  <a:lnTo>
                    <a:pt x="3595" y="62269"/>
                  </a:lnTo>
                  <a:lnTo>
                    <a:pt x="13335" y="76580"/>
                  </a:lnTo>
                  <a:lnTo>
                    <a:pt x="27646" y="86320"/>
                  </a:lnTo>
                  <a:lnTo>
                    <a:pt x="44958" y="89915"/>
                  </a:lnTo>
                  <a:lnTo>
                    <a:pt x="62591" y="86320"/>
                  </a:lnTo>
                  <a:lnTo>
                    <a:pt x="76866" y="76580"/>
                  </a:lnTo>
                  <a:lnTo>
                    <a:pt x="86427" y="62269"/>
                  </a:lnTo>
                  <a:lnTo>
                    <a:pt x="89916" y="44957"/>
                  </a:lnTo>
                  <a:lnTo>
                    <a:pt x="86427" y="27324"/>
                  </a:lnTo>
                  <a:lnTo>
                    <a:pt x="76866" y="13049"/>
                  </a:lnTo>
                  <a:lnTo>
                    <a:pt x="62591" y="3488"/>
                  </a:lnTo>
                  <a:lnTo>
                    <a:pt x="44958" y="0"/>
                  </a:lnTo>
                  <a:lnTo>
                    <a:pt x="27646" y="3488"/>
                  </a:lnTo>
                  <a:lnTo>
                    <a:pt x="13334" y="13049"/>
                  </a:lnTo>
                  <a:lnTo>
                    <a:pt x="3595" y="27324"/>
                  </a:lnTo>
                  <a:lnTo>
                    <a:pt x="0" y="44957"/>
                  </a:lnTo>
                  <a:close/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9236201" y="5318760"/>
              <a:ext cx="410209" cy="67310"/>
            </a:xfrm>
            <a:custGeom>
              <a:avLst/>
              <a:gdLst/>
              <a:ahLst/>
              <a:cxnLst/>
              <a:rect l="l" t="t" r="r" b="b"/>
              <a:pathLst>
                <a:path w="410209" h="67310">
                  <a:moveTo>
                    <a:pt x="0" y="0"/>
                  </a:moveTo>
                  <a:lnTo>
                    <a:pt x="0" y="67056"/>
                  </a:lnTo>
                  <a:lnTo>
                    <a:pt x="409956" y="67055"/>
                  </a:lnTo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0540745" y="5318760"/>
              <a:ext cx="400050" cy="67310"/>
            </a:xfrm>
            <a:custGeom>
              <a:avLst/>
              <a:gdLst/>
              <a:ahLst/>
              <a:cxnLst/>
              <a:rect l="l" t="t" r="r" b="b"/>
              <a:pathLst>
                <a:path w="400050" h="67310">
                  <a:moveTo>
                    <a:pt x="400050" y="0"/>
                  </a:moveTo>
                  <a:lnTo>
                    <a:pt x="400050" y="67055"/>
                  </a:lnTo>
                  <a:lnTo>
                    <a:pt x="0" y="67055"/>
                  </a:lnTo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9598151" y="5052060"/>
              <a:ext cx="1000125" cy="0"/>
            </a:xfrm>
            <a:custGeom>
              <a:avLst/>
              <a:gdLst/>
              <a:ahLst/>
              <a:cxnLst/>
              <a:rect l="l" t="t" r="r" b="b"/>
              <a:pathLst>
                <a:path w="1000125">
                  <a:moveTo>
                    <a:pt x="0" y="0"/>
                  </a:moveTo>
                  <a:lnTo>
                    <a:pt x="999744" y="0"/>
                  </a:lnTo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9622535" y="5375148"/>
              <a:ext cx="40005" cy="36830"/>
            </a:xfrm>
            <a:custGeom>
              <a:avLst/>
              <a:gdLst/>
              <a:ahLst/>
              <a:cxnLst/>
              <a:rect l="l" t="t" r="r" b="b"/>
              <a:pathLst>
                <a:path w="40004" h="36829">
                  <a:moveTo>
                    <a:pt x="39624" y="18287"/>
                  </a:moveTo>
                  <a:lnTo>
                    <a:pt x="38028" y="11251"/>
                  </a:lnTo>
                  <a:lnTo>
                    <a:pt x="33718" y="5429"/>
                  </a:lnTo>
                  <a:lnTo>
                    <a:pt x="27408" y="1464"/>
                  </a:lnTo>
                  <a:lnTo>
                    <a:pt x="19812" y="0"/>
                  </a:lnTo>
                  <a:lnTo>
                    <a:pt x="12215" y="1464"/>
                  </a:lnTo>
                  <a:lnTo>
                    <a:pt x="5905" y="5429"/>
                  </a:lnTo>
                  <a:lnTo>
                    <a:pt x="1595" y="11251"/>
                  </a:lnTo>
                  <a:lnTo>
                    <a:pt x="0" y="18287"/>
                  </a:lnTo>
                  <a:lnTo>
                    <a:pt x="1595" y="25324"/>
                  </a:lnTo>
                  <a:lnTo>
                    <a:pt x="5905" y="31146"/>
                  </a:lnTo>
                  <a:lnTo>
                    <a:pt x="12215" y="35111"/>
                  </a:lnTo>
                  <a:lnTo>
                    <a:pt x="19812" y="36575"/>
                  </a:lnTo>
                  <a:lnTo>
                    <a:pt x="27408" y="35111"/>
                  </a:lnTo>
                  <a:lnTo>
                    <a:pt x="33718" y="31146"/>
                  </a:lnTo>
                  <a:lnTo>
                    <a:pt x="38028" y="25324"/>
                  </a:lnTo>
                  <a:lnTo>
                    <a:pt x="39624" y="182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9622535" y="5375148"/>
              <a:ext cx="40005" cy="36830"/>
            </a:xfrm>
            <a:custGeom>
              <a:avLst/>
              <a:gdLst/>
              <a:ahLst/>
              <a:cxnLst/>
              <a:rect l="l" t="t" r="r" b="b"/>
              <a:pathLst>
                <a:path w="40004" h="36829">
                  <a:moveTo>
                    <a:pt x="39624" y="18287"/>
                  </a:moveTo>
                  <a:lnTo>
                    <a:pt x="38028" y="11251"/>
                  </a:lnTo>
                  <a:lnTo>
                    <a:pt x="33718" y="5429"/>
                  </a:lnTo>
                  <a:lnTo>
                    <a:pt x="27408" y="1464"/>
                  </a:lnTo>
                  <a:lnTo>
                    <a:pt x="19812" y="0"/>
                  </a:lnTo>
                  <a:lnTo>
                    <a:pt x="12215" y="1464"/>
                  </a:lnTo>
                  <a:lnTo>
                    <a:pt x="5905" y="5429"/>
                  </a:lnTo>
                  <a:lnTo>
                    <a:pt x="1595" y="11251"/>
                  </a:lnTo>
                  <a:lnTo>
                    <a:pt x="0" y="18287"/>
                  </a:lnTo>
                  <a:lnTo>
                    <a:pt x="1595" y="25324"/>
                  </a:lnTo>
                  <a:lnTo>
                    <a:pt x="5905" y="31146"/>
                  </a:lnTo>
                  <a:lnTo>
                    <a:pt x="12215" y="35111"/>
                  </a:lnTo>
                  <a:lnTo>
                    <a:pt x="19812" y="36575"/>
                  </a:lnTo>
                  <a:lnTo>
                    <a:pt x="27408" y="35111"/>
                  </a:lnTo>
                  <a:lnTo>
                    <a:pt x="33718" y="31146"/>
                  </a:lnTo>
                  <a:lnTo>
                    <a:pt x="38028" y="25324"/>
                  </a:lnTo>
                  <a:lnTo>
                    <a:pt x="39624" y="18287"/>
                  </a:lnTo>
                  <a:close/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0517123" y="5372100"/>
              <a:ext cx="40005" cy="36195"/>
            </a:xfrm>
            <a:custGeom>
              <a:avLst/>
              <a:gdLst/>
              <a:ahLst/>
              <a:cxnLst/>
              <a:rect l="l" t="t" r="r" b="b"/>
              <a:pathLst>
                <a:path w="40004" h="36195">
                  <a:moveTo>
                    <a:pt x="39624" y="17525"/>
                  </a:moveTo>
                  <a:lnTo>
                    <a:pt x="38028" y="10608"/>
                  </a:lnTo>
                  <a:lnTo>
                    <a:pt x="33718" y="5048"/>
                  </a:lnTo>
                  <a:lnTo>
                    <a:pt x="27408" y="1345"/>
                  </a:lnTo>
                  <a:lnTo>
                    <a:pt x="19812" y="0"/>
                  </a:lnTo>
                  <a:lnTo>
                    <a:pt x="11894" y="1345"/>
                  </a:lnTo>
                  <a:lnTo>
                    <a:pt x="5619" y="5048"/>
                  </a:lnTo>
                  <a:lnTo>
                    <a:pt x="1488" y="10608"/>
                  </a:lnTo>
                  <a:lnTo>
                    <a:pt x="0" y="17525"/>
                  </a:lnTo>
                  <a:lnTo>
                    <a:pt x="1488" y="24562"/>
                  </a:lnTo>
                  <a:lnTo>
                    <a:pt x="5619" y="30384"/>
                  </a:lnTo>
                  <a:lnTo>
                    <a:pt x="11894" y="34349"/>
                  </a:lnTo>
                  <a:lnTo>
                    <a:pt x="19812" y="35813"/>
                  </a:lnTo>
                  <a:lnTo>
                    <a:pt x="27408" y="34349"/>
                  </a:lnTo>
                  <a:lnTo>
                    <a:pt x="33718" y="30384"/>
                  </a:lnTo>
                  <a:lnTo>
                    <a:pt x="38028" y="24562"/>
                  </a:lnTo>
                  <a:lnTo>
                    <a:pt x="39624" y="175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0517123" y="5372100"/>
              <a:ext cx="40005" cy="36195"/>
            </a:xfrm>
            <a:custGeom>
              <a:avLst/>
              <a:gdLst/>
              <a:ahLst/>
              <a:cxnLst/>
              <a:rect l="l" t="t" r="r" b="b"/>
              <a:pathLst>
                <a:path w="40004" h="36195">
                  <a:moveTo>
                    <a:pt x="39624" y="17525"/>
                  </a:moveTo>
                  <a:lnTo>
                    <a:pt x="38028" y="10608"/>
                  </a:lnTo>
                  <a:lnTo>
                    <a:pt x="33718" y="5048"/>
                  </a:lnTo>
                  <a:lnTo>
                    <a:pt x="27408" y="1345"/>
                  </a:lnTo>
                  <a:lnTo>
                    <a:pt x="19812" y="0"/>
                  </a:lnTo>
                  <a:lnTo>
                    <a:pt x="11894" y="1345"/>
                  </a:lnTo>
                  <a:lnTo>
                    <a:pt x="5619" y="5048"/>
                  </a:lnTo>
                  <a:lnTo>
                    <a:pt x="1488" y="10608"/>
                  </a:lnTo>
                  <a:lnTo>
                    <a:pt x="0" y="17525"/>
                  </a:lnTo>
                  <a:lnTo>
                    <a:pt x="1488" y="24562"/>
                  </a:lnTo>
                  <a:lnTo>
                    <a:pt x="5619" y="30384"/>
                  </a:lnTo>
                  <a:lnTo>
                    <a:pt x="11894" y="34349"/>
                  </a:lnTo>
                  <a:lnTo>
                    <a:pt x="19812" y="35813"/>
                  </a:lnTo>
                  <a:lnTo>
                    <a:pt x="27408" y="34349"/>
                  </a:lnTo>
                  <a:lnTo>
                    <a:pt x="33718" y="30384"/>
                  </a:lnTo>
                  <a:lnTo>
                    <a:pt x="38028" y="24562"/>
                  </a:lnTo>
                  <a:lnTo>
                    <a:pt x="39624" y="17525"/>
                  </a:lnTo>
                  <a:close/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12757" y="4330446"/>
              <a:ext cx="330708" cy="581406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771631" y="4329684"/>
              <a:ext cx="274320" cy="297179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036807" y="4329684"/>
              <a:ext cx="73152" cy="585216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10093451" y="4081272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0036301" y="4081272"/>
              <a:ext cx="104775" cy="0"/>
            </a:xfrm>
            <a:custGeom>
              <a:avLst/>
              <a:gdLst/>
              <a:ahLst/>
              <a:cxnLst/>
              <a:rect l="l" t="t" r="r" b="b"/>
              <a:pathLst>
                <a:path w="104775">
                  <a:moveTo>
                    <a:pt x="104394" y="0"/>
                  </a:moveTo>
                  <a:lnTo>
                    <a:pt x="0" y="0"/>
                  </a:lnTo>
                </a:path>
              </a:pathLst>
            </a:custGeom>
            <a:ln w="38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8" name="object 68"/>
          <p:cNvGrpSpPr/>
          <p:nvPr/>
        </p:nvGrpSpPr>
        <p:grpSpPr>
          <a:xfrm>
            <a:off x="7279773" y="4091184"/>
            <a:ext cx="1312545" cy="1487805"/>
            <a:chOff x="7279773" y="4091184"/>
            <a:chExt cx="1312545" cy="1487805"/>
          </a:xfrm>
        </p:grpSpPr>
        <p:sp>
          <p:nvSpPr>
            <p:cNvPr id="69" name="object 69"/>
            <p:cNvSpPr/>
            <p:nvPr/>
          </p:nvSpPr>
          <p:spPr>
            <a:xfrm>
              <a:off x="7636764" y="5052060"/>
              <a:ext cx="143510" cy="0"/>
            </a:xfrm>
            <a:custGeom>
              <a:avLst/>
              <a:gdLst/>
              <a:ahLst/>
              <a:cxnLst/>
              <a:rect l="l" t="t" r="r" b="b"/>
              <a:pathLst>
                <a:path w="143509">
                  <a:moveTo>
                    <a:pt x="143255" y="0"/>
                  </a:moveTo>
                  <a:lnTo>
                    <a:pt x="0" y="0"/>
                  </a:lnTo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7598664" y="4871466"/>
              <a:ext cx="38100" cy="352425"/>
            </a:xfrm>
            <a:custGeom>
              <a:avLst/>
              <a:gdLst/>
              <a:ahLst/>
              <a:cxnLst/>
              <a:rect l="l" t="t" r="r" b="b"/>
              <a:pathLst>
                <a:path w="38100" h="352425">
                  <a:moveTo>
                    <a:pt x="38100" y="352043"/>
                  </a:moveTo>
                  <a:lnTo>
                    <a:pt x="38100" y="0"/>
                  </a:lnTo>
                  <a:lnTo>
                    <a:pt x="0" y="0"/>
                  </a:lnTo>
                  <a:lnTo>
                    <a:pt x="0" y="352043"/>
                  </a:lnTo>
                  <a:lnTo>
                    <a:pt x="38100" y="3520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7418070" y="5195316"/>
              <a:ext cx="180975" cy="123825"/>
            </a:xfrm>
            <a:custGeom>
              <a:avLst/>
              <a:gdLst/>
              <a:ahLst/>
              <a:cxnLst/>
              <a:rect l="l" t="t" r="r" b="b"/>
              <a:pathLst>
                <a:path w="180975" h="123825">
                  <a:moveTo>
                    <a:pt x="0" y="123444"/>
                  </a:moveTo>
                  <a:lnTo>
                    <a:pt x="0" y="0"/>
                  </a:lnTo>
                  <a:lnTo>
                    <a:pt x="180594" y="0"/>
                  </a:lnTo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7418070" y="4776216"/>
              <a:ext cx="180975" cy="124460"/>
            </a:xfrm>
            <a:custGeom>
              <a:avLst/>
              <a:gdLst/>
              <a:ahLst/>
              <a:cxnLst/>
              <a:rect l="l" t="t" r="r" b="b"/>
              <a:pathLst>
                <a:path w="180975" h="124460">
                  <a:moveTo>
                    <a:pt x="0" y="0"/>
                  </a:moveTo>
                  <a:lnTo>
                    <a:pt x="0" y="124206"/>
                  </a:lnTo>
                  <a:lnTo>
                    <a:pt x="180594" y="124206"/>
                  </a:lnTo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7494270" y="5195316"/>
              <a:ext cx="85725" cy="0"/>
            </a:xfrm>
            <a:custGeom>
              <a:avLst/>
              <a:gdLst/>
              <a:ahLst/>
              <a:cxnLst/>
              <a:rect l="l" t="t" r="r" b="b"/>
              <a:pathLst>
                <a:path w="85725">
                  <a:moveTo>
                    <a:pt x="85344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7437120" y="5147310"/>
              <a:ext cx="81280" cy="86360"/>
            </a:xfrm>
            <a:custGeom>
              <a:avLst/>
              <a:gdLst/>
              <a:ahLst/>
              <a:cxnLst/>
              <a:rect l="l" t="t" r="r" b="b"/>
              <a:pathLst>
                <a:path w="81279" h="86360">
                  <a:moveTo>
                    <a:pt x="80772" y="86105"/>
                  </a:moveTo>
                  <a:lnTo>
                    <a:pt x="73485" y="65841"/>
                  </a:lnTo>
                  <a:lnTo>
                    <a:pt x="71056" y="44576"/>
                  </a:lnTo>
                  <a:lnTo>
                    <a:pt x="73485" y="23312"/>
                  </a:lnTo>
                  <a:lnTo>
                    <a:pt x="80772" y="3047"/>
                  </a:lnTo>
                  <a:lnTo>
                    <a:pt x="76200" y="0"/>
                  </a:lnTo>
                  <a:lnTo>
                    <a:pt x="0" y="48005"/>
                  </a:lnTo>
                  <a:lnTo>
                    <a:pt x="76200" y="86105"/>
                  </a:lnTo>
                  <a:lnTo>
                    <a:pt x="80772" y="861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7950708" y="5052060"/>
              <a:ext cx="143510" cy="0"/>
            </a:xfrm>
            <a:custGeom>
              <a:avLst/>
              <a:gdLst/>
              <a:ahLst/>
              <a:cxnLst/>
              <a:rect l="l" t="t" r="r" b="b"/>
              <a:pathLst>
                <a:path w="143509">
                  <a:moveTo>
                    <a:pt x="0" y="0"/>
                  </a:moveTo>
                  <a:lnTo>
                    <a:pt x="143256" y="0"/>
                  </a:lnTo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8103108" y="4871466"/>
              <a:ext cx="29209" cy="352425"/>
            </a:xfrm>
            <a:custGeom>
              <a:avLst/>
              <a:gdLst/>
              <a:ahLst/>
              <a:cxnLst/>
              <a:rect l="l" t="t" r="r" b="b"/>
              <a:pathLst>
                <a:path w="29209" h="352425">
                  <a:moveTo>
                    <a:pt x="28955" y="352043"/>
                  </a:moveTo>
                  <a:lnTo>
                    <a:pt x="28955" y="0"/>
                  </a:lnTo>
                  <a:lnTo>
                    <a:pt x="0" y="0"/>
                  </a:lnTo>
                  <a:lnTo>
                    <a:pt x="0" y="352043"/>
                  </a:lnTo>
                  <a:lnTo>
                    <a:pt x="28955" y="3520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8132064" y="5195316"/>
              <a:ext cx="180975" cy="123825"/>
            </a:xfrm>
            <a:custGeom>
              <a:avLst/>
              <a:gdLst/>
              <a:ahLst/>
              <a:cxnLst/>
              <a:rect l="l" t="t" r="r" b="b"/>
              <a:pathLst>
                <a:path w="180975" h="123825">
                  <a:moveTo>
                    <a:pt x="180594" y="123444"/>
                  </a:moveTo>
                  <a:lnTo>
                    <a:pt x="180594" y="0"/>
                  </a:lnTo>
                  <a:lnTo>
                    <a:pt x="0" y="0"/>
                  </a:lnTo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8132064" y="4776216"/>
              <a:ext cx="180975" cy="124460"/>
            </a:xfrm>
            <a:custGeom>
              <a:avLst/>
              <a:gdLst/>
              <a:ahLst/>
              <a:cxnLst/>
              <a:rect l="l" t="t" r="r" b="b"/>
              <a:pathLst>
                <a:path w="180975" h="124460">
                  <a:moveTo>
                    <a:pt x="180594" y="0"/>
                  </a:moveTo>
                  <a:lnTo>
                    <a:pt x="180594" y="124206"/>
                  </a:lnTo>
                  <a:lnTo>
                    <a:pt x="0" y="124206"/>
                  </a:lnTo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8151114" y="5195316"/>
              <a:ext cx="85725" cy="0"/>
            </a:xfrm>
            <a:custGeom>
              <a:avLst/>
              <a:gdLst/>
              <a:ahLst/>
              <a:cxnLst/>
              <a:rect l="l" t="t" r="r" b="b"/>
              <a:pathLst>
                <a:path w="85725">
                  <a:moveTo>
                    <a:pt x="0" y="0"/>
                  </a:moveTo>
                  <a:lnTo>
                    <a:pt x="85344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8216646" y="5147310"/>
              <a:ext cx="86995" cy="86360"/>
            </a:xfrm>
            <a:custGeom>
              <a:avLst/>
              <a:gdLst/>
              <a:ahLst/>
              <a:cxnLst/>
              <a:rect l="l" t="t" r="r" b="b"/>
              <a:pathLst>
                <a:path w="86995" h="86360">
                  <a:moveTo>
                    <a:pt x="86868" y="48005"/>
                  </a:moveTo>
                  <a:lnTo>
                    <a:pt x="762" y="0"/>
                  </a:lnTo>
                  <a:lnTo>
                    <a:pt x="0" y="3047"/>
                  </a:lnTo>
                  <a:lnTo>
                    <a:pt x="7286" y="23312"/>
                  </a:lnTo>
                  <a:lnTo>
                    <a:pt x="9715" y="44576"/>
                  </a:lnTo>
                  <a:lnTo>
                    <a:pt x="7286" y="65841"/>
                  </a:lnTo>
                  <a:lnTo>
                    <a:pt x="0" y="86105"/>
                  </a:lnTo>
                  <a:lnTo>
                    <a:pt x="762" y="86105"/>
                  </a:lnTo>
                  <a:lnTo>
                    <a:pt x="86868" y="480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7780020" y="5052060"/>
              <a:ext cx="170815" cy="0"/>
            </a:xfrm>
            <a:custGeom>
              <a:avLst/>
              <a:gdLst/>
              <a:ahLst/>
              <a:cxnLst/>
              <a:rect l="l" t="t" r="r" b="b"/>
              <a:pathLst>
                <a:path w="170815">
                  <a:moveTo>
                    <a:pt x="0" y="0"/>
                  </a:moveTo>
                  <a:lnTo>
                    <a:pt x="170688" y="0"/>
                  </a:lnTo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7418070" y="4652772"/>
              <a:ext cx="457200" cy="399415"/>
            </a:xfrm>
            <a:custGeom>
              <a:avLst/>
              <a:gdLst/>
              <a:ahLst/>
              <a:cxnLst/>
              <a:rect l="l" t="t" r="r" b="b"/>
              <a:pathLst>
                <a:path w="457200" h="399414">
                  <a:moveTo>
                    <a:pt x="457200" y="399288"/>
                  </a:moveTo>
                  <a:lnTo>
                    <a:pt x="457200" y="0"/>
                  </a:lnTo>
                  <a:lnTo>
                    <a:pt x="0" y="0"/>
                  </a:lnTo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7852410" y="5029962"/>
              <a:ext cx="40005" cy="36195"/>
            </a:xfrm>
            <a:custGeom>
              <a:avLst/>
              <a:gdLst/>
              <a:ahLst/>
              <a:cxnLst/>
              <a:rect l="l" t="t" r="r" b="b"/>
              <a:pathLst>
                <a:path w="40004" h="36195">
                  <a:moveTo>
                    <a:pt x="39624" y="18287"/>
                  </a:moveTo>
                  <a:lnTo>
                    <a:pt x="38028" y="11251"/>
                  </a:lnTo>
                  <a:lnTo>
                    <a:pt x="33718" y="5429"/>
                  </a:lnTo>
                  <a:lnTo>
                    <a:pt x="27408" y="1464"/>
                  </a:lnTo>
                  <a:lnTo>
                    <a:pt x="19812" y="0"/>
                  </a:lnTo>
                  <a:lnTo>
                    <a:pt x="12215" y="1464"/>
                  </a:lnTo>
                  <a:lnTo>
                    <a:pt x="5905" y="5429"/>
                  </a:lnTo>
                  <a:lnTo>
                    <a:pt x="1595" y="11251"/>
                  </a:lnTo>
                  <a:lnTo>
                    <a:pt x="0" y="18287"/>
                  </a:lnTo>
                  <a:lnTo>
                    <a:pt x="1595" y="25205"/>
                  </a:lnTo>
                  <a:lnTo>
                    <a:pt x="5905" y="30765"/>
                  </a:lnTo>
                  <a:lnTo>
                    <a:pt x="12215" y="34468"/>
                  </a:lnTo>
                  <a:lnTo>
                    <a:pt x="19812" y="35813"/>
                  </a:lnTo>
                  <a:lnTo>
                    <a:pt x="27408" y="34468"/>
                  </a:lnTo>
                  <a:lnTo>
                    <a:pt x="33718" y="30765"/>
                  </a:lnTo>
                  <a:lnTo>
                    <a:pt x="38028" y="25205"/>
                  </a:lnTo>
                  <a:lnTo>
                    <a:pt x="39624" y="182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852410" y="5029962"/>
              <a:ext cx="40005" cy="36195"/>
            </a:xfrm>
            <a:custGeom>
              <a:avLst/>
              <a:gdLst/>
              <a:ahLst/>
              <a:cxnLst/>
              <a:rect l="l" t="t" r="r" b="b"/>
              <a:pathLst>
                <a:path w="40004" h="36195">
                  <a:moveTo>
                    <a:pt x="39624" y="18287"/>
                  </a:moveTo>
                  <a:lnTo>
                    <a:pt x="38028" y="11251"/>
                  </a:lnTo>
                  <a:lnTo>
                    <a:pt x="33718" y="5429"/>
                  </a:lnTo>
                  <a:lnTo>
                    <a:pt x="27408" y="1464"/>
                  </a:lnTo>
                  <a:lnTo>
                    <a:pt x="19812" y="0"/>
                  </a:lnTo>
                  <a:lnTo>
                    <a:pt x="12215" y="1464"/>
                  </a:lnTo>
                  <a:lnTo>
                    <a:pt x="5905" y="5429"/>
                  </a:lnTo>
                  <a:lnTo>
                    <a:pt x="1595" y="11251"/>
                  </a:lnTo>
                  <a:lnTo>
                    <a:pt x="0" y="18287"/>
                  </a:lnTo>
                  <a:lnTo>
                    <a:pt x="1595" y="25205"/>
                  </a:lnTo>
                  <a:lnTo>
                    <a:pt x="5905" y="30765"/>
                  </a:lnTo>
                  <a:lnTo>
                    <a:pt x="12215" y="34468"/>
                  </a:lnTo>
                  <a:lnTo>
                    <a:pt x="19812" y="35813"/>
                  </a:lnTo>
                  <a:lnTo>
                    <a:pt x="27408" y="34468"/>
                  </a:lnTo>
                  <a:lnTo>
                    <a:pt x="33718" y="30765"/>
                  </a:lnTo>
                  <a:lnTo>
                    <a:pt x="38028" y="25205"/>
                  </a:lnTo>
                  <a:lnTo>
                    <a:pt x="39624" y="18287"/>
                  </a:lnTo>
                  <a:close/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402830" y="4634484"/>
              <a:ext cx="40005" cy="36195"/>
            </a:xfrm>
            <a:custGeom>
              <a:avLst/>
              <a:gdLst/>
              <a:ahLst/>
              <a:cxnLst/>
              <a:rect l="l" t="t" r="r" b="b"/>
              <a:pathLst>
                <a:path w="40004" h="36195">
                  <a:moveTo>
                    <a:pt x="39624" y="17525"/>
                  </a:moveTo>
                  <a:lnTo>
                    <a:pt x="38028" y="10608"/>
                  </a:lnTo>
                  <a:lnTo>
                    <a:pt x="33718" y="5048"/>
                  </a:lnTo>
                  <a:lnTo>
                    <a:pt x="27408" y="1345"/>
                  </a:lnTo>
                  <a:lnTo>
                    <a:pt x="19812" y="0"/>
                  </a:lnTo>
                  <a:lnTo>
                    <a:pt x="11894" y="1345"/>
                  </a:lnTo>
                  <a:lnTo>
                    <a:pt x="5619" y="5048"/>
                  </a:lnTo>
                  <a:lnTo>
                    <a:pt x="1488" y="10608"/>
                  </a:lnTo>
                  <a:lnTo>
                    <a:pt x="0" y="17525"/>
                  </a:lnTo>
                  <a:lnTo>
                    <a:pt x="1488" y="24562"/>
                  </a:lnTo>
                  <a:lnTo>
                    <a:pt x="5619" y="30384"/>
                  </a:lnTo>
                  <a:lnTo>
                    <a:pt x="11894" y="34349"/>
                  </a:lnTo>
                  <a:lnTo>
                    <a:pt x="19812" y="35813"/>
                  </a:lnTo>
                  <a:lnTo>
                    <a:pt x="27408" y="34349"/>
                  </a:lnTo>
                  <a:lnTo>
                    <a:pt x="33718" y="30384"/>
                  </a:lnTo>
                  <a:lnTo>
                    <a:pt x="38028" y="24562"/>
                  </a:lnTo>
                  <a:lnTo>
                    <a:pt x="39624" y="175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402830" y="4634484"/>
              <a:ext cx="40005" cy="36195"/>
            </a:xfrm>
            <a:custGeom>
              <a:avLst/>
              <a:gdLst/>
              <a:ahLst/>
              <a:cxnLst/>
              <a:rect l="l" t="t" r="r" b="b"/>
              <a:pathLst>
                <a:path w="40004" h="36195">
                  <a:moveTo>
                    <a:pt x="39624" y="17525"/>
                  </a:moveTo>
                  <a:lnTo>
                    <a:pt x="38028" y="10608"/>
                  </a:lnTo>
                  <a:lnTo>
                    <a:pt x="33718" y="5048"/>
                  </a:lnTo>
                  <a:lnTo>
                    <a:pt x="27408" y="1345"/>
                  </a:lnTo>
                  <a:lnTo>
                    <a:pt x="19812" y="0"/>
                  </a:lnTo>
                  <a:lnTo>
                    <a:pt x="11894" y="1345"/>
                  </a:lnTo>
                  <a:lnTo>
                    <a:pt x="5619" y="5048"/>
                  </a:lnTo>
                  <a:lnTo>
                    <a:pt x="1488" y="10608"/>
                  </a:lnTo>
                  <a:lnTo>
                    <a:pt x="0" y="17525"/>
                  </a:lnTo>
                  <a:lnTo>
                    <a:pt x="1488" y="24562"/>
                  </a:lnTo>
                  <a:lnTo>
                    <a:pt x="5619" y="30384"/>
                  </a:lnTo>
                  <a:lnTo>
                    <a:pt x="11894" y="34349"/>
                  </a:lnTo>
                  <a:lnTo>
                    <a:pt x="19812" y="35813"/>
                  </a:lnTo>
                  <a:lnTo>
                    <a:pt x="27408" y="34349"/>
                  </a:lnTo>
                  <a:lnTo>
                    <a:pt x="33718" y="30384"/>
                  </a:lnTo>
                  <a:lnTo>
                    <a:pt x="38028" y="24562"/>
                  </a:lnTo>
                  <a:lnTo>
                    <a:pt x="39624" y="17525"/>
                  </a:lnTo>
                  <a:close/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7418070" y="4652772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h="123825">
                  <a:moveTo>
                    <a:pt x="0" y="0"/>
                  </a:moveTo>
                  <a:lnTo>
                    <a:pt x="0" y="123444"/>
                  </a:lnTo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312658" y="4509516"/>
              <a:ext cx="0" cy="266700"/>
            </a:xfrm>
            <a:custGeom>
              <a:avLst/>
              <a:gdLst/>
              <a:ahLst/>
              <a:cxnLst/>
              <a:rect l="l" t="t" r="r" b="b"/>
              <a:pathLst>
                <a:path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7418070" y="5299710"/>
              <a:ext cx="0" cy="181610"/>
            </a:xfrm>
            <a:custGeom>
              <a:avLst/>
              <a:gdLst/>
              <a:ahLst/>
              <a:cxnLst/>
              <a:rect l="l" t="t" r="r" b="b"/>
              <a:pathLst>
                <a:path h="181610">
                  <a:moveTo>
                    <a:pt x="0" y="181356"/>
                  </a:moveTo>
                  <a:lnTo>
                    <a:pt x="0" y="0"/>
                  </a:lnTo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7376922" y="5479542"/>
              <a:ext cx="90170" cy="90170"/>
            </a:xfrm>
            <a:custGeom>
              <a:avLst/>
              <a:gdLst/>
              <a:ahLst/>
              <a:cxnLst/>
              <a:rect l="l" t="t" r="r" b="b"/>
              <a:pathLst>
                <a:path w="90170" h="90170">
                  <a:moveTo>
                    <a:pt x="89916" y="44958"/>
                  </a:moveTo>
                  <a:lnTo>
                    <a:pt x="86427" y="27646"/>
                  </a:lnTo>
                  <a:lnTo>
                    <a:pt x="76866" y="13335"/>
                  </a:lnTo>
                  <a:lnTo>
                    <a:pt x="62591" y="3595"/>
                  </a:lnTo>
                  <a:lnTo>
                    <a:pt x="44958" y="0"/>
                  </a:lnTo>
                  <a:lnTo>
                    <a:pt x="27646" y="3595"/>
                  </a:lnTo>
                  <a:lnTo>
                    <a:pt x="13335" y="13335"/>
                  </a:lnTo>
                  <a:lnTo>
                    <a:pt x="3595" y="27646"/>
                  </a:lnTo>
                  <a:lnTo>
                    <a:pt x="0" y="44958"/>
                  </a:lnTo>
                  <a:lnTo>
                    <a:pt x="3595" y="62591"/>
                  </a:lnTo>
                  <a:lnTo>
                    <a:pt x="13335" y="76866"/>
                  </a:lnTo>
                  <a:lnTo>
                    <a:pt x="27646" y="86427"/>
                  </a:lnTo>
                  <a:lnTo>
                    <a:pt x="44958" y="89916"/>
                  </a:lnTo>
                  <a:lnTo>
                    <a:pt x="62591" y="86427"/>
                  </a:lnTo>
                  <a:lnTo>
                    <a:pt x="76866" y="76866"/>
                  </a:lnTo>
                  <a:lnTo>
                    <a:pt x="86427" y="62591"/>
                  </a:lnTo>
                  <a:lnTo>
                    <a:pt x="89916" y="44958"/>
                  </a:lnTo>
                  <a:close/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8312658" y="5299710"/>
              <a:ext cx="0" cy="181610"/>
            </a:xfrm>
            <a:custGeom>
              <a:avLst/>
              <a:gdLst/>
              <a:ahLst/>
              <a:cxnLst/>
              <a:rect l="l" t="t" r="r" b="b"/>
              <a:pathLst>
                <a:path h="181610">
                  <a:moveTo>
                    <a:pt x="0" y="181355"/>
                  </a:moveTo>
                  <a:lnTo>
                    <a:pt x="0" y="0"/>
                  </a:lnTo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8267700" y="5479542"/>
              <a:ext cx="90170" cy="90170"/>
            </a:xfrm>
            <a:custGeom>
              <a:avLst/>
              <a:gdLst/>
              <a:ahLst/>
              <a:cxnLst/>
              <a:rect l="l" t="t" r="r" b="b"/>
              <a:pathLst>
                <a:path w="90170" h="90170">
                  <a:moveTo>
                    <a:pt x="89916" y="44958"/>
                  </a:moveTo>
                  <a:lnTo>
                    <a:pt x="86427" y="27646"/>
                  </a:lnTo>
                  <a:lnTo>
                    <a:pt x="76866" y="13335"/>
                  </a:lnTo>
                  <a:lnTo>
                    <a:pt x="62591" y="3595"/>
                  </a:lnTo>
                  <a:lnTo>
                    <a:pt x="44958" y="0"/>
                  </a:lnTo>
                  <a:lnTo>
                    <a:pt x="27324" y="3595"/>
                  </a:lnTo>
                  <a:lnTo>
                    <a:pt x="13049" y="13335"/>
                  </a:lnTo>
                  <a:lnTo>
                    <a:pt x="3488" y="27646"/>
                  </a:lnTo>
                  <a:lnTo>
                    <a:pt x="0" y="44958"/>
                  </a:lnTo>
                  <a:lnTo>
                    <a:pt x="3488" y="62591"/>
                  </a:lnTo>
                  <a:lnTo>
                    <a:pt x="13049" y="76866"/>
                  </a:lnTo>
                  <a:lnTo>
                    <a:pt x="27324" y="86427"/>
                  </a:lnTo>
                  <a:lnTo>
                    <a:pt x="44958" y="89916"/>
                  </a:lnTo>
                  <a:lnTo>
                    <a:pt x="62591" y="86427"/>
                  </a:lnTo>
                  <a:lnTo>
                    <a:pt x="76866" y="76866"/>
                  </a:lnTo>
                  <a:lnTo>
                    <a:pt x="86427" y="62591"/>
                  </a:lnTo>
                  <a:lnTo>
                    <a:pt x="89916" y="44958"/>
                  </a:lnTo>
                  <a:close/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7418070" y="4205478"/>
              <a:ext cx="0" cy="447675"/>
            </a:xfrm>
            <a:custGeom>
              <a:avLst/>
              <a:gdLst/>
              <a:ahLst/>
              <a:cxnLst/>
              <a:rect l="l" t="t" r="r" b="b"/>
              <a:pathLst>
                <a:path h="447675">
                  <a:moveTo>
                    <a:pt x="0" y="447293"/>
                  </a:moveTo>
                  <a:lnTo>
                    <a:pt x="0" y="0"/>
                  </a:lnTo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7289292" y="4292346"/>
              <a:ext cx="262890" cy="269875"/>
            </a:xfrm>
            <a:custGeom>
              <a:avLst/>
              <a:gdLst/>
              <a:ahLst/>
              <a:cxnLst/>
              <a:rect l="l" t="t" r="r" b="b"/>
              <a:pathLst>
                <a:path w="262890" h="269875">
                  <a:moveTo>
                    <a:pt x="262890" y="134874"/>
                  </a:moveTo>
                  <a:lnTo>
                    <a:pt x="256202" y="92464"/>
                  </a:lnTo>
                  <a:lnTo>
                    <a:pt x="237555" y="55467"/>
                  </a:lnTo>
                  <a:lnTo>
                    <a:pt x="209068" y="26188"/>
                  </a:lnTo>
                  <a:lnTo>
                    <a:pt x="172864" y="6931"/>
                  </a:lnTo>
                  <a:lnTo>
                    <a:pt x="131064" y="0"/>
                  </a:lnTo>
                  <a:lnTo>
                    <a:pt x="89635" y="6931"/>
                  </a:lnTo>
                  <a:lnTo>
                    <a:pt x="53656" y="26188"/>
                  </a:lnTo>
                  <a:lnTo>
                    <a:pt x="25286" y="55467"/>
                  </a:lnTo>
                  <a:lnTo>
                    <a:pt x="6681" y="92464"/>
                  </a:lnTo>
                  <a:lnTo>
                    <a:pt x="0" y="134874"/>
                  </a:lnTo>
                  <a:lnTo>
                    <a:pt x="6681" y="177576"/>
                  </a:lnTo>
                  <a:lnTo>
                    <a:pt x="25286" y="214609"/>
                  </a:lnTo>
                  <a:lnTo>
                    <a:pt x="53656" y="243779"/>
                  </a:lnTo>
                  <a:lnTo>
                    <a:pt x="89635" y="262890"/>
                  </a:lnTo>
                  <a:lnTo>
                    <a:pt x="131064" y="269748"/>
                  </a:lnTo>
                  <a:lnTo>
                    <a:pt x="172864" y="262890"/>
                  </a:lnTo>
                  <a:lnTo>
                    <a:pt x="209068" y="243779"/>
                  </a:lnTo>
                  <a:lnTo>
                    <a:pt x="237555" y="214609"/>
                  </a:lnTo>
                  <a:lnTo>
                    <a:pt x="256202" y="177576"/>
                  </a:lnTo>
                  <a:lnTo>
                    <a:pt x="262890" y="1348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7289292" y="4292346"/>
              <a:ext cx="262890" cy="269875"/>
            </a:xfrm>
            <a:custGeom>
              <a:avLst/>
              <a:gdLst/>
              <a:ahLst/>
              <a:cxnLst/>
              <a:rect l="l" t="t" r="r" b="b"/>
              <a:pathLst>
                <a:path w="262890" h="269875">
                  <a:moveTo>
                    <a:pt x="262890" y="134874"/>
                  </a:moveTo>
                  <a:lnTo>
                    <a:pt x="256202" y="92464"/>
                  </a:lnTo>
                  <a:lnTo>
                    <a:pt x="237555" y="55467"/>
                  </a:lnTo>
                  <a:lnTo>
                    <a:pt x="209068" y="26188"/>
                  </a:lnTo>
                  <a:lnTo>
                    <a:pt x="172864" y="6931"/>
                  </a:lnTo>
                  <a:lnTo>
                    <a:pt x="131064" y="0"/>
                  </a:lnTo>
                  <a:lnTo>
                    <a:pt x="89635" y="6931"/>
                  </a:lnTo>
                  <a:lnTo>
                    <a:pt x="53656" y="26188"/>
                  </a:lnTo>
                  <a:lnTo>
                    <a:pt x="25286" y="55467"/>
                  </a:lnTo>
                  <a:lnTo>
                    <a:pt x="6681" y="92464"/>
                  </a:lnTo>
                  <a:lnTo>
                    <a:pt x="0" y="134874"/>
                  </a:lnTo>
                  <a:lnTo>
                    <a:pt x="6681" y="177576"/>
                  </a:lnTo>
                  <a:lnTo>
                    <a:pt x="25286" y="214609"/>
                  </a:lnTo>
                  <a:lnTo>
                    <a:pt x="53656" y="243779"/>
                  </a:lnTo>
                  <a:lnTo>
                    <a:pt x="89635" y="262890"/>
                  </a:lnTo>
                  <a:lnTo>
                    <a:pt x="131064" y="269748"/>
                  </a:lnTo>
                  <a:lnTo>
                    <a:pt x="172864" y="262890"/>
                  </a:lnTo>
                  <a:lnTo>
                    <a:pt x="209068" y="243779"/>
                  </a:lnTo>
                  <a:lnTo>
                    <a:pt x="237555" y="214609"/>
                  </a:lnTo>
                  <a:lnTo>
                    <a:pt x="256202" y="177576"/>
                  </a:lnTo>
                  <a:lnTo>
                    <a:pt x="262890" y="134874"/>
                  </a:lnTo>
                  <a:close/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7418070" y="4357878"/>
              <a:ext cx="0" cy="85725"/>
            </a:xfrm>
            <a:custGeom>
              <a:avLst/>
              <a:gdLst/>
              <a:ahLst/>
              <a:cxnLst/>
              <a:rect l="l" t="t" r="r" b="b"/>
              <a:pathLst>
                <a:path h="85725">
                  <a:moveTo>
                    <a:pt x="0" y="0"/>
                  </a:moveTo>
                  <a:lnTo>
                    <a:pt x="0" y="85344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7379208" y="4424172"/>
              <a:ext cx="86360" cy="85725"/>
            </a:xfrm>
            <a:custGeom>
              <a:avLst/>
              <a:gdLst/>
              <a:ahLst/>
              <a:cxnLst/>
              <a:rect l="l" t="t" r="r" b="b"/>
              <a:pathLst>
                <a:path w="86359" h="85725">
                  <a:moveTo>
                    <a:pt x="1718" y="2141"/>
                  </a:moveTo>
                  <a:lnTo>
                    <a:pt x="761" y="0"/>
                  </a:lnTo>
                  <a:lnTo>
                    <a:pt x="0" y="1524"/>
                  </a:lnTo>
                  <a:lnTo>
                    <a:pt x="1718" y="2141"/>
                  </a:lnTo>
                  <a:close/>
                </a:path>
                <a:path w="86359" h="85725">
                  <a:moveTo>
                    <a:pt x="86105" y="0"/>
                  </a:moveTo>
                  <a:lnTo>
                    <a:pt x="83057" y="1524"/>
                  </a:lnTo>
                  <a:lnTo>
                    <a:pt x="62793" y="8810"/>
                  </a:lnTo>
                  <a:lnTo>
                    <a:pt x="41528" y="11239"/>
                  </a:lnTo>
                  <a:lnTo>
                    <a:pt x="20264" y="8810"/>
                  </a:lnTo>
                  <a:lnTo>
                    <a:pt x="1718" y="2141"/>
                  </a:lnTo>
                  <a:lnTo>
                    <a:pt x="38861" y="85344"/>
                  </a:lnTo>
                  <a:lnTo>
                    <a:pt x="861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8312658" y="4205478"/>
              <a:ext cx="0" cy="447675"/>
            </a:xfrm>
            <a:custGeom>
              <a:avLst/>
              <a:gdLst/>
              <a:ahLst/>
              <a:cxnLst/>
              <a:rect l="l" t="t" r="r" b="b"/>
              <a:pathLst>
                <a:path h="447675">
                  <a:moveTo>
                    <a:pt x="0" y="447293"/>
                  </a:moveTo>
                  <a:lnTo>
                    <a:pt x="0" y="0"/>
                  </a:lnTo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8181594" y="4292346"/>
              <a:ext cx="262255" cy="269875"/>
            </a:xfrm>
            <a:custGeom>
              <a:avLst/>
              <a:gdLst/>
              <a:ahLst/>
              <a:cxnLst/>
              <a:rect l="l" t="t" r="r" b="b"/>
              <a:pathLst>
                <a:path w="262254" h="269875">
                  <a:moveTo>
                    <a:pt x="262127" y="134874"/>
                  </a:moveTo>
                  <a:lnTo>
                    <a:pt x="255446" y="92464"/>
                  </a:lnTo>
                  <a:lnTo>
                    <a:pt x="236841" y="55467"/>
                  </a:lnTo>
                  <a:lnTo>
                    <a:pt x="208471" y="26188"/>
                  </a:lnTo>
                  <a:lnTo>
                    <a:pt x="172492" y="6931"/>
                  </a:lnTo>
                  <a:lnTo>
                    <a:pt x="131063" y="0"/>
                  </a:lnTo>
                  <a:lnTo>
                    <a:pt x="89635" y="6931"/>
                  </a:lnTo>
                  <a:lnTo>
                    <a:pt x="53656" y="26188"/>
                  </a:lnTo>
                  <a:lnTo>
                    <a:pt x="25286" y="55467"/>
                  </a:lnTo>
                  <a:lnTo>
                    <a:pt x="6681" y="92464"/>
                  </a:lnTo>
                  <a:lnTo>
                    <a:pt x="0" y="134874"/>
                  </a:lnTo>
                  <a:lnTo>
                    <a:pt x="6681" y="177576"/>
                  </a:lnTo>
                  <a:lnTo>
                    <a:pt x="25286" y="214609"/>
                  </a:lnTo>
                  <a:lnTo>
                    <a:pt x="53656" y="243779"/>
                  </a:lnTo>
                  <a:lnTo>
                    <a:pt x="89635" y="262890"/>
                  </a:lnTo>
                  <a:lnTo>
                    <a:pt x="131063" y="269748"/>
                  </a:lnTo>
                  <a:lnTo>
                    <a:pt x="172492" y="262890"/>
                  </a:lnTo>
                  <a:lnTo>
                    <a:pt x="208471" y="243779"/>
                  </a:lnTo>
                  <a:lnTo>
                    <a:pt x="236841" y="214609"/>
                  </a:lnTo>
                  <a:lnTo>
                    <a:pt x="255446" y="177576"/>
                  </a:lnTo>
                  <a:lnTo>
                    <a:pt x="262127" y="1348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8181594" y="4292346"/>
              <a:ext cx="262255" cy="269875"/>
            </a:xfrm>
            <a:custGeom>
              <a:avLst/>
              <a:gdLst/>
              <a:ahLst/>
              <a:cxnLst/>
              <a:rect l="l" t="t" r="r" b="b"/>
              <a:pathLst>
                <a:path w="262254" h="269875">
                  <a:moveTo>
                    <a:pt x="262127" y="134874"/>
                  </a:moveTo>
                  <a:lnTo>
                    <a:pt x="255446" y="92464"/>
                  </a:lnTo>
                  <a:lnTo>
                    <a:pt x="236841" y="55467"/>
                  </a:lnTo>
                  <a:lnTo>
                    <a:pt x="208471" y="26188"/>
                  </a:lnTo>
                  <a:lnTo>
                    <a:pt x="172492" y="6931"/>
                  </a:lnTo>
                  <a:lnTo>
                    <a:pt x="131063" y="0"/>
                  </a:lnTo>
                  <a:lnTo>
                    <a:pt x="89635" y="6931"/>
                  </a:lnTo>
                  <a:lnTo>
                    <a:pt x="53656" y="26188"/>
                  </a:lnTo>
                  <a:lnTo>
                    <a:pt x="25286" y="55467"/>
                  </a:lnTo>
                  <a:lnTo>
                    <a:pt x="6681" y="92464"/>
                  </a:lnTo>
                  <a:lnTo>
                    <a:pt x="0" y="134874"/>
                  </a:lnTo>
                  <a:lnTo>
                    <a:pt x="6681" y="177576"/>
                  </a:lnTo>
                  <a:lnTo>
                    <a:pt x="25286" y="214609"/>
                  </a:lnTo>
                  <a:lnTo>
                    <a:pt x="53656" y="243779"/>
                  </a:lnTo>
                  <a:lnTo>
                    <a:pt x="89635" y="262890"/>
                  </a:lnTo>
                  <a:lnTo>
                    <a:pt x="131063" y="269748"/>
                  </a:lnTo>
                  <a:lnTo>
                    <a:pt x="172492" y="262890"/>
                  </a:lnTo>
                  <a:lnTo>
                    <a:pt x="208471" y="243779"/>
                  </a:lnTo>
                  <a:lnTo>
                    <a:pt x="236841" y="214609"/>
                  </a:lnTo>
                  <a:lnTo>
                    <a:pt x="255446" y="177576"/>
                  </a:lnTo>
                  <a:lnTo>
                    <a:pt x="262127" y="134874"/>
                  </a:lnTo>
                  <a:close/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8312658" y="4357878"/>
              <a:ext cx="0" cy="85725"/>
            </a:xfrm>
            <a:custGeom>
              <a:avLst/>
              <a:gdLst/>
              <a:ahLst/>
              <a:cxnLst/>
              <a:rect l="l" t="t" r="r" b="b"/>
              <a:pathLst>
                <a:path h="85725">
                  <a:moveTo>
                    <a:pt x="0" y="0"/>
                  </a:moveTo>
                  <a:lnTo>
                    <a:pt x="0" y="85344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8271510" y="4424172"/>
              <a:ext cx="83185" cy="85725"/>
            </a:xfrm>
            <a:custGeom>
              <a:avLst/>
              <a:gdLst/>
              <a:ahLst/>
              <a:cxnLst/>
              <a:rect l="l" t="t" r="r" b="b"/>
              <a:pathLst>
                <a:path w="83184" h="85725">
                  <a:moveTo>
                    <a:pt x="4445" y="3131"/>
                  </a:moveTo>
                  <a:lnTo>
                    <a:pt x="3048" y="0"/>
                  </a:lnTo>
                  <a:lnTo>
                    <a:pt x="0" y="1524"/>
                  </a:lnTo>
                  <a:lnTo>
                    <a:pt x="4445" y="3131"/>
                  </a:lnTo>
                  <a:close/>
                </a:path>
                <a:path w="83184" h="85725">
                  <a:moveTo>
                    <a:pt x="77724" y="3411"/>
                  </a:moveTo>
                  <a:lnTo>
                    <a:pt x="62472" y="8810"/>
                  </a:lnTo>
                  <a:lnTo>
                    <a:pt x="41148" y="11228"/>
                  </a:lnTo>
                  <a:lnTo>
                    <a:pt x="20157" y="8810"/>
                  </a:lnTo>
                  <a:lnTo>
                    <a:pt x="4445" y="3131"/>
                  </a:lnTo>
                  <a:lnTo>
                    <a:pt x="41148" y="85344"/>
                  </a:lnTo>
                  <a:lnTo>
                    <a:pt x="77724" y="3411"/>
                  </a:lnTo>
                  <a:close/>
                </a:path>
                <a:path w="83184" h="85725">
                  <a:moveTo>
                    <a:pt x="83058" y="1524"/>
                  </a:moveTo>
                  <a:lnTo>
                    <a:pt x="79248" y="0"/>
                  </a:lnTo>
                  <a:lnTo>
                    <a:pt x="77724" y="3411"/>
                  </a:lnTo>
                  <a:lnTo>
                    <a:pt x="83058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418070" y="4110228"/>
              <a:ext cx="0" cy="180975"/>
            </a:xfrm>
            <a:custGeom>
              <a:avLst/>
              <a:gdLst/>
              <a:ahLst/>
              <a:cxnLst/>
              <a:rect l="l" t="t" r="r" b="b"/>
              <a:pathLst>
                <a:path h="180975">
                  <a:moveTo>
                    <a:pt x="0" y="0"/>
                  </a:moveTo>
                  <a:lnTo>
                    <a:pt x="0" y="180594"/>
                  </a:lnTo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370064" y="4110228"/>
              <a:ext cx="105410" cy="0"/>
            </a:xfrm>
            <a:custGeom>
              <a:avLst/>
              <a:gdLst/>
              <a:ahLst/>
              <a:cxnLst/>
              <a:rect l="l" t="t" r="r" b="b"/>
              <a:pathLst>
                <a:path w="105409">
                  <a:moveTo>
                    <a:pt x="105155" y="0"/>
                  </a:moveTo>
                  <a:lnTo>
                    <a:pt x="0" y="0"/>
                  </a:lnTo>
                </a:path>
              </a:pathLst>
            </a:custGeom>
            <a:ln w="38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312658" y="4110228"/>
              <a:ext cx="0" cy="180975"/>
            </a:xfrm>
            <a:custGeom>
              <a:avLst/>
              <a:gdLst/>
              <a:ahLst/>
              <a:cxnLst/>
              <a:rect l="l" t="t" r="r" b="b"/>
              <a:pathLst>
                <a:path h="180975">
                  <a:moveTo>
                    <a:pt x="0" y="0"/>
                  </a:moveTo>
                  <a:lnTo>
                    <a:pt x="0" y="180594"/>
                  </a:lnTo>
                </a:path>
              </a:pathLst>
            </a:custGeom>
            <a:ln w="1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255508" y="4110228"/>
              <a:ext cx="105410" cy="0"/>
            </a:xfrm>
            <a:custGeom>
              <a:avLst/>
              <a:gdLst/>
              <a:ahLst/>
              <a:cxnLst/>
              <a:rect l="l" t="t" r="r" b="b"/>
              <a:pathLst>
                <a:path w="105409">
                  <a:moveTo>
                    <a:pt x="105155" y="0"/>
                  </a:moveTo>
                  <a:lnTo>
                    <a:pt x="0" y="0"/>
                  </a:lnTo>
                </a:path>
              </a:pathLst>
            </a:custGeom>
            <a:ln w="38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7" name="object 10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283327" y="4606677"/>
              <a:ext cx="308597" cy="108953"/>
            </a:xfrm>
            <a:prstGeom prst="rect">
              <a:avLst/>
            </a:prstGeom>
          </p:spPr>
        </p:pic>
      </p:grpSp>
      <p:pic>
        <p:nvPicPr>
          <p:cNvPr id="108" name="object 10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672321" y="4609338"/>
            <a:ext cx="274320" cy="297179"/>
          </a:xfrm>
          <a:prstGeom prst="rect">
            <a:avLst/>
          </a:prstGeom>
        </p:spPr>
      </p:pic>
      <p:sp>
        <p:nvSpPr>
          <p:cNvPr id="109" name="object 109"/>
          <p:cNvSpPr txBox="1"/>
          <p:nvPr/>
        </p:nvSpPr>
        <p:spPr>
          <a:xfrm>
            <a:off x="844550" y="4540250"/>
            <a:ext cx="559181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2600" marR="8255" indent="-470534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Useful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blocks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implement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local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control </a:t>
            </a:r>
            <a:r>
              <a:rPr sz="2000" dirty="0">
                <a:latin typeface="Verdana"/>
                <a:cs typeface="Verdana"/>
              </a:rPr>
              <a:t>loops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such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current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limit</a:t>
            </a:r>
            <a:endParaRPr sz="2000">
              <a:latin typeface="Verdana"/>
              <a:cs typeface="Verdana"/>
            </a:endParaRPr>
          </a:p>
          <a:p>
            <a:pPr marL="482600" marR="5080" indent="-470534">
              <a:lnSpc>
                <a:spcPct val="100000"/>
              </a:lnSpc>
              <a:spcBef>
                <a:spcPts val="48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Don’t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neglect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common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gate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current </a:t>
            </a:r>
            <a:r>
              <a:rPr sz="2000" dirty="0">
                <a:latin typeface="Verdana"/>
                <a:cs typeface="Verdana"/>
              </a:rPr>
              <a:t>mode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amplifiers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10" name="object 1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6DC3C242-6CA9-4192-A5FE-7E3DDD35673B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112" name="object 1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66</a:t>
            </a:fld>
            <a:endParaRPr spc="-25" dirty="0"/>
          </a:p>
        </p:txBody>
      </p:sp>
      <p:sp>
        <p:nvSpPr>
          <p:cNvPr id="114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dirty="0"/>
              <a:t>Decreasing</a:t>
            </a:r>
            <a:r>
              <a:rPr spc="-45" dirty="0"/>
              <a:t> </a:t>
            </a:r>
            <a:r>
              <a:rPr spc="-20" dirty="0"/>
              <a:t>gain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5311" y="1181127"/>
            <a:ext cx="7104380" cy="119761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482600" indent="-469900">
              <a:lnSpc>
                <a:spcPct val="100000"/>
              </a:lnSpc>
              <a:spcBef>
                <a:spcPts val="68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400" dirty="0">
                <a:latin typeface="Verdana"/>
                <a:cs typeface="Verdana"/>
              </a:rPr>
              <a:t>A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way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reduce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impact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secondary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poles</a:t>
            </a:r>
            <a:endParaRPr sz="2400">
              <a:latin typeface="Verdana"/>
              <a:cs typeface="Verdana"/>
            </a:endParaRPr>
          </a:p>
          <a:p>
            <a:pPr marL="920750" lvl="1" indent="-437515">
              <a:lnSpc>
                <a:spcPct val="100000"/>
              </a:lnSpc>
              <a:spcBef>
                <a:spcPts val="484"/>
              </a:spcBef>
              <a:buClr>
                <a:srgbClr val="CC0000"/>
              </a:buClr>
              <a:buFont typeface="Wingdings"/>
              <a:buChar char=""/>
              <a:tabLst>
                <a:tab pos="920750" algn="l"/>
              </a:tabLst>
            </a:pPr>
            <a:r>
              <a:rPr sz="2000" dirty="0">
                <a:latin typeface="Verdana"/>
                <a:cs typeface="Verdana"/>
              </a:rPr>
              <a:t>Decrease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gain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by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resistor</a:t>
            </a:r>
            <a:endParaRPr sz="2000">
              <a:latin typeface="Verdana"/>
              <a:cs typeface="Verdana"/>
            </a:endParaRPr>
          </a:p>
          <a:p>
            <a:pPr marL="920750" lvl="1" indent="-437515">
              <a:lnSpc>
                <a:spcPct val="100000"/>
              </a:lnSpc>
              <a:spcBef>
                <a:spcPts val="480"/>
              </a:spcBef>
              <a:buClr>
                <a:srgbClr val="CC0000"/>
              </a:buClr>
              <a:buFont typeface="Wingdings"/>
              <a:buChar char=""/>
              <a:tabLst>
                <a:tab pos="920750" algn="l"/>
              </a:tabLst>
            </a:pPr>
            <a:r>
              <a:rPr sz="2000" dirty="0">
                <a:latin typeface="Verdana"/>
                <a:cs typeface="Verdana"/>
              </a:rPr>
              <a:t>Add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capacitance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/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impedance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stabilize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7509" y="2751168"/>
            <a:ext cx="8055240" cy="31966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484120" y="5305297"/>
            <a:ext cx="269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I</a:t>
            </a:r>
            <a:r>
              <a:rPr sz="1800" spc="-37" baseline="-20833" dirty="0">
                <a:latin typeface="Verdana"/>
                <a:cs typeface="Verdana"/>
              </a:rPr>
              <a:t>0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19209" y="5296153"/>
            <a:ext cx="269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I</a:t>
            </a:r>
            <a:r>
              <a:rPr sz="1800" spc="-37" baseline="-20833" dirty="0">
                <a:latin typeface="Verdana"/>
                <a:cs typeface="Verdana"/>
              </a:rPr>
              <a:t>0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77890" y="5320538"/>
            <a:ext cx="342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R</a:t>
            </a:r>
            <a:r>
              <a:rPr sz="1800" spc="-37" baseline="-20833" dirty="0">
                <a:latin typeface="Verdana"/>
                <a:cs typeface="Verdana"/>
              </a:rPr>
              <a:t>C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16468" y="5336540"/>
            <a:ext cx="342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R</a:t>
            </a:r>
            <a:r>
              <a:rPr sz="1800" spc="-37" baseline="-20833" dirty="0">
                <a:latin typeface="Verdana"/>
                <a:cs typeface="Verdana"/>
              </a:rPr>
              <a:t>C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16468" y="4681982"/>
            <a:ext cx="342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C</a:t>
            </a:r>
            <a:r>
              <a:rPr sz="1800" spc="-37" baseline="-20833" dirty="0">
                <a:latin typeface="Verdana"/>
                <a:cs typeface="Verdana"/>
              </a:rPr>
              <a:t>C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96945" y="2921000"/>
            <a:ext cx="320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R</a:t>
            </a:r>
            <a:r>
              <a:rPr sz="1800" spc="-37" baseline="-20833" dirty="0">
                <a:latin typeface="Verdana"/>
                <a:cs typeface="Verdana"/>
              </a:rPr>
              <a:t>L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44361" y="2921000"/>
            <a:ext cx="320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R</a:t>
            </a:r>
            <a:r>
              <a:rPr sz="1800" spc="-37" baseline="-20833" dirty="0">
                <a:latin typeface="Verdana"/>
                <a:cs typeface="Verdana"/>
              </a:rPr>
              <a:t>L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868918" y="2921000"/>
            <a:ext cx="320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R</a:t>
            </a:r>
            <a:r>
              <a:rPr sz="1800" spc="-37" baseline="-20833" dirty="0">
                <a:latin typeface="Verdana"/>
                <a:cs typeface="Verdana"/>
              </a:rPr>
              <a:t>L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90354" y="4148849"/>
            <a:ext cx="344170" cy="1154430"/>
          </a:xfrm>
          <a:prstGeom prst="rect">
            <a:avLst/>
          </a:prstGeom>
        </p:spPr>
        <p:txBody>
          <a:bodyPr vert="vert270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10" dirty="0">
                <a:latin typeface="Verdana"/>
                <a:cs typeface="Verdana"/>
              </a:rPr>
              <a:t>I</a:t>
            </a:r>
            <a:r>
              <a:rPr sz="1800" spc="-15" baseline="-20833" dirty="0">
                <a:latin typeface="Verdana"/>
                <a:cs typeface="Verdana"/>
              </a:rPr>
              <a:t>0</a:t>
            </a:r>
            <a:r>
              <a:rPr sz="1800" spc="-10" dirty="0">
                <a:latin typeface="Verdana"/>
                <a:cs typeface="Verdana"/>
              </a:rPr>
              <a:t>=V</a:t>
            </a:r>
            <a:r>
              <a:rPr sz="1800" spc="-15" baseline="-20833" dirty="0">
                <a:latin typeface="Verdana"/>
                <a:cs typeface="Verdana"/>
              </a:rPr>
              <a:t>GS</a:t>
            </a:r>
            <a:r>
              <a:rPr sz="1800" spc="-10" dirty="0">
                <a:latin typeface="Verdana"/>
                <a:cs typeface="Verdana"/>
              </a:rPr>
              <a:t>/R</a:t>
            </a:r>
            <a:r>
              <a:rPr sz="1800" spc="-15" baseline="-20833" dirty="0">
                <a:latin typeface="Verdana"/>
                <a:cs typeface="Verdana"/>
              </a:rPr>
              <a:t>C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647944" y="4463796"/>
            <a:ext cx="85725" cy="495300"/>
          </a:xfrm>
          <a:custGeom>
            <a:avLst/>
            <a:gdLst/>
            <a:ahLst/>
            <a:cxnLst/>
            <a:rect l="l" t="t" r="r" b="b"/>
            <a:pathLst>
              <a:path w="85725" h="495300">
                <a:moveTo>
                  <a:pt x="85343" y="409193"/>
                </a:moveTo>
                <a:lnTo>
                  <a:pt x="0" y="409193"/>
                </a:lnTo>
                <a:lnTo>
                  <a:pt x="28194" y="466085"/>
                </a:lnTo>
                <a:lnTo>
                  <a:pt x="28194" y="423672"/>
                </a:lnTo>
                <a:lnTo>
                  <a:pt x="57150" y="423672"/>
                </a:lnTo>
                <a:lnTo>
                  <a:pt x="57150" y="466085"/>
                </a:lnTo>
                <a:lnTo>
                  <a:pt x="85343" y="409193"/>
                </a:lnTo>
                <a:close/>
              </a:path>
              <a:path w="85725" h="495300">
                <a:moveTo>
                  <a:pt x="57150" y="409193"/>
                </a:moveTo>
                <a:lnTo>
                  <a:pt x="57150" y="0"/>
                </a:lnTo>
                <a:lnTo>
                  <a:pt x="28194" y="0"/>
                </a:lnTo>
                <a:lnTo>
                  <a:pt x="28194" y="409193"/>
                </a:lnTo>
                <a:lnTo>
                  <a:pt x="57150" y="409193"/>
                </a:lnTo>
                <a:close/>
              </a:path>
              <a:path w="85725" h="495300">
                <a:moveTo>
                  <a:pt x="57150" y="466085"/>
                </a:moveTo>
                <a:lnTo>
                  <a:pt x="57150" y="423672"/>
                </a:lnTo>
                <a:lnTo>
                  <a:pt x="28194" y="423672"/>
                </a:lnTo>
                <a:lnTo>
                  <a:pt x="28194" y="466085"/>
                </a:lnTo>
                <a:lnTo>
                  <a:pt x="42671" y="495300"/>
                </a:lnTo>
                <a:lnTo>
                  <a:pt x="57150" y="466085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256282" y="3105403"/>
            <a:ext cx="274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V</a:t>
            </a:r>
            <a:r>
              <a:rPr sz="1800" spc="-37" baseline="-20833" dirty="0">
                <a:latin typeface="Verdana"/>
                <a:cs typeface="Verdana"/>
              </a:rPr>
              <a:t>i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276EA6FD-2876-4ABE-A49E-6DC71339B989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67</a:t>
            </a:fld>
            <a:endParaRPr spc="-25" dirty="0"/>
          </a:p>
        </p:txBody>
      </p:sp>
      <p:sp>
        <p:nvSpPr>
          <p:cNvPr id="16" name="object 16"/>
          <p:cNvSpPr txBox="1"/>
          <p:nvPr/>
        </p:nvSpPr>
        <p:spPr>
          <a:xfrm>
            <a:off x="5204459" y="3101594"/>
            <a:ext cx="274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V</a:t>
            </a:r>
            <a:r>
              <a:rPr sz="1800" spc="-37" baseline="-20833" dirty="0">
                <a:latin typeface="Verdana"/>
                <a:cs typeface="Verdana"/>
              </a:rPr>
              <a:t>i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158733" y="3123691"/>
            <a:ext cx="274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V</a:t>
            </a:r>
            <a:r>
              <a:rPr sz="1800" spc="-37" baseline="-20833" dirty="0">
                <a:latin typeface="Verdana"/>
                <a:cs typeface="Verdana"/>
              </a:rPr>
              <a:t>i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22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dirty="0"/>
              <a:t>Nested</a:t>
            </a:r>
            <a:r>
              <a:rPr spc="-25" dirty="0"/>
              <a:t> </a:t>
            </a:r>
            <a:r>
              <a:rPr dirty="0"/>
              <a:t>gain</a:t>
            </a:r>
            <a:r>
              <a:rPr spc="-25" dirty="0"/>
              <a:t> </a:t>
            </a:r>
            <a:r>
              <a:rPr spc="-10" dirty="0"/>
              <a:t>structure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12969" y="2136237"/>
            <a:ext cx="4148648" cy="287231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53694" y="1210309"/>
            <a:ext cx="103200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2600" marR="5080" indent="-470534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400" dirty="0">
                <a:latin typeface="Verdana"/>
                <a:cs typeface="Verdana"/>
              </a:rPr>
              <a:t>Parallel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low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gain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path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for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speed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stability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high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gain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path </a:t>
            </a:r>
            <a:r>
              <a:rPr sz="2400" dirty="0">
                <a:latin typeface="Verdana"/>
                <a:cs typeface="Verdana"/>
              </a:rPr>
              <a:t>for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accuracy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393314" y="2848229"/>
            <a:ext cx="1569720" cy="2633980"/>
            <a:chOff x="2393314" y="2848229"/>
            <a:chExt cx="1569720" cy="2633980"/>
          </a:xfrm>
        </p:grpSpPr>
        <p:sp>
          <p:nvSpPr>
            <p:cNvPr id="6" name="object 6"/>
            <p:cNvSpPr/>
            <p:nvPr/>
          </p:nvSpPr>
          <p:spPr>
            <a:xfrm>
              <a:off x="2924555" y="3789426"/>
              <a:ext cx="95250" cy="0"/>
            </a:xfrm>
            <a:custGeom>
              <a:avLst/>
              <a:gdLst/>
              <a:ahLst/>
              <a:cxnLst/>
              <a:rect l="l" t="t" r="r" b="b"/>
              <a:pathLst>
                <a:path w="95250">
                  <a:moveTo>
                    <a:pt x="95250" y="0"/>
                  </a:moveTo>
                  <a:lnTo>
                    <a:pt x="0" y="0"/>
                  </a:lnTo>
                </a:path>
              </a:pathLst>
            </a:custGeom>
            <a:ln w="105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50641" y="3746754"/>
              <a:ext cx="95250" cy="96520"/>
            </a:xfrm>
            <a:custGeom>
              <a:avLst/>
              <a:gdLst/>
              <a:ahLst/>
              <a:cxnLst/>
              <a:rect l="l" t="t" r="r" b="b"/>
              <a:pathLst>
                <a:path w="95250" h="96520">
                  <a:moveTo>
                    <a:pt x="94922" y="905"/>
                  </a:moveTo>
                  <a:lnTo>
                    <a:pt x="0" y="42672"/>
                  </a:lnTo>
                  <a:lnTo>
                    <a:pt x="84391" y="89931"/>
                  </a:lnTo>
                  <a:lnTo>
                    <a:pt x="84391" y="46101"/>
                  </a:lnTo>
                  <a:lnTo>
                    <a:pt x="87106" y="22550"/>
                  </a:lnTo>
                  <a:lnTo>
                    <a:pt x="94922" y="905"/>
                  </a:lnTo>
                  <a:close/>
                </a:path>
                <a:path w="95250" h="96520">
                  <a:moveTo>
                    <a:pt x="95250" y="96012"/>
                  </a:moveTo>
                  <a:lnTo>
                    <a:pt x="95250" y="92202"/>
                  </a:lnTo>
                  <a:lnTo>
                    <a:pt x="87106" y="69651"/>
                  </a:lnTo>
                  <a:lnTo>
                    <a:pt x="84391" y="46101"/>
                  </a:lnTo>
                  <a:lnTo>
                    <a:pt x="84391" y="89931"/>
                  </a:lnTo>
                  <a:lnTo>
                    <a:pt x="95250" y="96012"/>
                  </a:lnTo>
                  <a:close/>
                </a:path>
                <a:path w="95250" h="96520">
                  <a:moveTo>
                    <a:pt x="95250" y="762"/>
                  </a:moveTo>
                  <a:lnTo>
                    <a:pt x="95250" y="0"/>
                  </a:lnTo>
                  <a:lnTo>
                    <a:pt x="94922" y="905"/>
                  </a:lnTo>
                  <a:lnTo>
                    <a:pt x="95250" y="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50235" y="3948684"/>
              <a:ext cx="158750" cy="0"/>
            </a:xfrm>
            <a:custGeom>
              <a:avLst/>
              <a:gdLst/>
              <a:ahLst/>
              <a:cxnLst/>
              <a:rect l="l" t="t" r="r" b="b"/>
              <a:pathLst>
                <a:path w="158750">
                  <a:moveTo>
                    <a:pt x="0" y="0"/>
                  </a:moveTo>
                  <a:lnTo>
                    <a:pt x="158496" y="0"/>
                  </a:lnTo>
                </a:path>
              </a:pathLst>
            </a:custGeom>
            <a:ln w="21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18637" y="3747516"/>
              <a:ext cx="32384" cy="401955"/>
            </a:xfrm>
            <a:custGeom>
              <a:avLst/>
              <a:gdLst/>
              <a:ahLst/>
              <a:cxnLst/>
              <a:rect l="l" t="t" r="r" b="b"/>
              <a:pathLst>
                <a:path w="32385" h="401954">
                  <a:moveTo>
                    <a:pt x="32004" y="401574"/>
                  </a:moveTo>
                  <a:lnTo>
                    <a:pt x="32004" y="0"/>
                  </a:lnTo>
                  <a:lnTo>
                    <a:pt x="0" y="0"/>
                  </a:lnTo>
                  <a:lnTo>
                    <a:pt x="0" y="401574"/>
                  </a:lnTo>
                  <a:lnTo>
                    <a:pt x="32004" y="4015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850641" y="4117848"/>
              <a:ext cx="201295" cy="137160"/>
            </a:xfrm>
            <a:custGeom>
              <a:avLst/>
              <a:gdLst/>
              <a:ahLst/>
              <a:cxnLst/>
              <a:rect l="l" t="t" r="r" b="b"/>
              <a:pathLst>
                <a:path w="201294" h="137160">
                  <a:moveTo>
                    <a:pt x="201168" y="137160"/>
                  </a:moveTo>
                  <a:lnTo>
                    <a:pt x="201168" y="0"/>
                  </a:lnTo>
                  <a:lnTo>
                    <a:pt x="0" y="0"/>
                  </a:lnTo>
                </a:path>
              </a:pathLst>
            </a:custGeom>
            <a:ln w="21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850641" y="3652266"/>
              <a:ext cx="201295" cy="137160"/>
            </a:xfrm>
            <a:custGeom>
              <a:avLst/>
              <a:gdLst/>
              <a:ahLst/>
              <a:cxnLst/>
              <a:rect l="l" t="t" r="r" b="b"/>
              <a:pathLst>
                <a:path w="201294" h="137160">
                  <a:moveTo>
                    <a:pt x="201168" y="0"/>
                  </a:moveTo>
                  <a:lnTo>
                    <a:pt x="201168" y="137159"/>
                  </a:lnTo>
                  <a:lnTo>
                    <a:pt x="0" y="137159"/>
                  </a:lnTo>
                </a:path>
              </a:pathLst>
            </a:custGeom>
            <a:ln w="21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52215" y="4360926"/>
              <a:ext cx="158750" cy="0"/>
            </a:xfrm>
            <a:custGeom>
              <a:avLst/>
              <a:gdLst/>
              <a:ahLst/>
              <a:cxnLst/>
              <a:rect l="l" t="t" r="r" b="b"/>
              <a:pathLst>
                <a:path w="158750">
                  <a:moveTo>
                    <a:pt x="0" y="0"/>
                  </a:moveTo>
                  <a:lnTo>
                    <a:pt x="158496" y="0"/>
                  </a:lnTo>
                </a:path>
              </a:pathLst>
            </a:custGeom>
            <a:ln w="21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421379" y="4159758"/>
              <a:ext cx="32384" cy="401955"/>
            </a:xfrm>
            <a:custGeom>
              <a:avLst/>
              <a:gdLst/>
              <a:ahLst/>
              <a:cxnLst/>
              <a:rect l="l" t="t" r="r" b="b"/>
              <a:pathLst>
                <a:path w="32385" h="401954">
                  <a:moveTo>
                    <a:pt x="32003" y="401574"/>
                  </a:moveTo>
                  <a:lnTo>
                    <a:pt x="32003" y="0"/>
                  </a:lnTo>
                  <a:lnTo>
                    <a:pt x="0" y="0"/>
                  </a:lnTo>
                  <a:lnTo>
                    <a:pt x="0" y="401574"/>
                  </a:lnTo>
                  <a:lnTo>
                    <a:pt x="32003" y="4015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453383" y="4519422"/>
              <a:ext cx="200660" cy="137160"/>
            </a:xfrm>
            <a:custGeom>
              <a:avLst/>
              <a:gdLst/>
              <a:ahLst/>
              <a:cxnLst/>
              <a:rect l="l" t="t" r="r" b="b"/>
              <a:pathLst>
                <a:path w="200660" h="137160">
                  <a:moveTo>
                    <a:pt x="200405" y="137160"/>
                  </a:moveTo>
                  <a:lnTo>
                    <a:pt x="200405" y="0"/>
                  </a:lnTo>
                  <a:lnTo>
                    <a:pt x="0" y="0"/>
                  </a:lnTo>
                </a:path>
              </a:pathLst>
            </a:custGeom>
            <a:ln w="21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453383" y="4064508"/>
              <a:ext cx="200660" cy="138430"/>
            </a:xfrm>
            <a:custGeom>
              <a:avLst/>
              <a:gdLst/>
              <a:ahLst/>
              <a:cxnLst/>
              <a:rect l="l" t="t" r="r" b="b"/>
              <a:pathLst>
                <a:path w="200660" h="138429">
                  <a:moveTo>
                    <a:pt x="200405" y="0"/>
                  </a:moveTo>
                  <a:lnTo>
                    <a:pt x="200405" y="137922"/>
                  </a:lnTo>
                  <a:lnTo>
                    <a:pt x="0" y="137922"/>
                  </a:lnTo>
                </a:path>
              </a:pathLst>
            </a:custGeom>
            <a:ln w="21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473957" y="4519422"/>
              <a:ext cx="95250" cy="0"/>
            </a:xfrm>
            <a:custGeom>
              <a:avLst/>
              <a:gdLst/>
              <a:ahLst/>
              <a:cxnLst/>
              <a:rect l="l" t="t" r="r" b="b"/>
              <a:pathLst>
                <a:path w="95250">
                  <a:moveTo>
                    <a:pt x="0" y="0"/>
                  </a:moveTo>
                  <a:lnTo>
                    <a:pt x="95250" y="0"/>
                  </a:lnTo>
                </a:path>
              </a:pathLst>
            </a:custGeom>
            <a:ln w="105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544823" y="4475988"/>
              <a:ext cx="87630" cy="96520"/>
            </a:xfrm>
            <a:custGeom>
              <a:avLst/>
              <a:gdLst/>
              <a:ahLst/>
              <a:cxnLst/>
              <a:rect l="l" t="t" r="r" b="b"/>
              <a:pathLst>
                <a:path w="87629" h="96520">
                  <a:moveTo>
                    <a:pt x="87629" y="43433"/>
                  </a:moveTo>
                  <a:lnTo>
                    <a:pt x="3047" y="761"/>
                  </a:lnTo>
                  <a:lnTo>
                    <a:pt x="0" y="0"/>
                  </a:lnTo>
                  <a:lnTo>
                    <a:pt x="8143" y="22550"/>
                  </a:lnTo>
                  <a:lnTo>
                    <a:pt x="10858" y="46100"/>
                  </a:lnTo>
                  <a:lnTo>
                    <a:pt x="8143" y="69651"/>
                  </a:lnTo>
                  <a:lnTo>
                    <a:pt x="0" y="92201"/>
                  </a:lnTo>
                  <a:lnTo>
                    <a:pt x="3047" y="96011"/>
                  </a:lnTo>
                  <a:lnTo>
                    <a:pt x="87629" y="434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653789" y="2859024"/>
              <a:ext cx="0" cy="508000"/>
            </a:xfrm>
            <a:custGeom>
              <a:avLst/>
              <a:gdLst/>
              <a:ahLst/>
              <a:cxnLst/>
              <a:rect l="l" t="t" r="r" b="b"/>
              <a:pathLst>
                <a:path h="508000">
                  <a:moveTo>
                    <a:pt x="0" y="507491"/>
                  </a:moveTo>
                  <a:lnTo>
                    <a:pt x="0" y="0"/>
                  </a:lnTo>
                </a:path>
              </a:pathLst>
            </a:custGeom>
            <a:ln w="21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506723" y="2963418"/>
              <a:ext cx="291465" cy="299720"/>
            </a:xfrm>
            <a:custGeom>
              <a:avLst/>
              <a:gdLst/>
              <a:ahLst/>
              <a:cxnLst/>
              <a:rect l="l" t="t" r="r" b="b"/>
              <a:pathLst>
                <a:path w="291464" h="299720">
                  <a:moveTo>
                    <a:pt x="291084" y="150113"/>
                  </a:moveTo>
                  <a:lnTo>
                    <a:pt x="283701" y="102607"/>
                  </a:lnTo>
                  <a:lnTo>
                    <a:pt x="263115" y="61392"/>
                  </a:lnTo>
                  <a:lnTo>
                    <a:pt x="231666" y="28919"/>
                  </a:lnTo>
                  <a:lnTo>
                    <a:pt x="191694" y="7638"/>
                  </a:lnTo>
                  <a:lnTo>
                    <a:pt x="145542" y="0"/>
                  </a:lnTo>
                  <a:lnTo>
                    <a:pt x="99389" y="7638"/>
                  </a:lnTo>
                  <a:lnTo>
                    <a:pt x="59417" y="28919"/>
                  </a:lnTo>
                  <a:lnTo>
                    <a:pt x="27968" y="61392"/>
                  </a:lnTo>
                  <a:lnTo>
                    <a:pt x="7382" y="102607"/>
                  </a:lnTo>
                  <a:lnTo>
                    <a:pt x="0" y="150113"/>
                  </a:lnTo>
                  <a:lnTo>
                    <a:pt x="7382" y="197248"/>
                  </a:lnTo>
                  <a:lnTo>
                    <a:pt x="27968" y="238237"/>
                  </a:lnTo>
                  <a:lnTo>
                    <a:pt x="59417" y="270595"/>
                  </a:lnTo>
                  <a:lnTo>
                    <a:pt x="99389" y="291833"/>
                  </a:lnTo>
                  <a:lnTo>
                    <a:pt x="145542" y="299465"/>
                  </a:lnTo>
                  <a:lnTo>
                    <a:pt x="191694" y="291833"/>
                  </a:lnTo>
                  <a:lnTo>
                    <a:pt x="231666" y="270595"/>
                  </a:lnTo>
                  <a:lnTo>
                    <a:pt x="263115" y="238237"/>
                  </a:lnTo>
                  <a:lnTo>
                    <a:pt x="283701" y="197248"/>
                  </a:lnTo>
                  <a:lnTo>
                    <a:pt x="291084" y="1501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506723" y="2963418"/>
              <a:ext cx="291465" cy="299720"/>
            </a:xfrm>
            <a:custGeom>
              <a:avLst/>
              <a:gdLst/>
              <a:ahLst/>
              <a:cxnLst/>
              <a:rect l="l" t="t" r="r" b="b"/>
              <a:pathLst>
                <a:path w="291464" h="299720">
                  <a:moveTo>
                    <a:pt x="291084" y="150113"/>
                  </a:moveTo>
                  <a:lnTo>
                    <a:pt x="283701" y="102607"/>
                  </a:lnTo>
                  <a:lnTo>
                    <a:pt x="263115" y="61392"/>
                  </a:lnTo>
                  <a:lnTo>
                    <a:pt x="231666" y="28919"/>
                  </a:lnTo>
                  <a:lnTo>
                    <a:pt x="191694" y="7638"/>
                  </a:lnTo>
                  <a:lnTo>
                    <a:pt x="145542" y="0"/>
                  </a:lnTo>
                  <a:lnTo>
                    <a:pt x="99389" y="7638"/>
                  </a:lnTo>
                  <a:lnTo>
                    <a:pt x="59417" y="28919"/>
                  </a:lnTo>
                  <a:lnTo>
                    <a:pt x="27968" y="61392"/>
                  </a:lnTo>
                  <a:lnTo>
                    <a:pt x="7382" y="102607"/>
                  </a:lnTo>
                  <a:lnTo>
                    <a:pt x="0" y="150113"/>
                  </a:lnTo>
                  <a:lnTo>
                    <a:pt x="7382" y="197248"/>
                  </a:lnTo>
                  <a:lnTo>
                    <a:pt x="27968" y="238237"/>
                  </a:lnTo>
                  <a:lnTo>
                    <a:pt x="59417" y="270595"/>
                  </a:lnTo>
                  <a:lnTo>
                    <a:pt x="99389" y="291833"/>
                  </a:lnTo>
                  <a:lnTo>
                    <a:pt x="145542" y="299465"/>
                  </a:lnTo>
                  <a:lnTo>
                    <a:pt x="191694" y="291833"/>
                  </a:lnTo>
                  <a:lnTo>
                    <a:pt x="231666" y="270595"/>
                  </a:lnTo>
                  <a:lnTo>
                    <a:pt x="263115" y="238237"/>
                  </a:lnTo>
                  <a:lnTo>
                    <a:pt x="283701" y="197248"/>
                  </a:lnTo>
                  <a:lnTo>
                    <a:pt x="291084" y="150113"/>
                  </a:lnTo>
                  <a:close/>
                </a:path>
              </a:pathLst>
            </a:custGeom>
            <a:ln w="21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653789" y="3038856"/>
              <a:ext cx="0" cy="95250"/>
            </a:xfrm>
            <a:custGeom>
              <a:avLst/>
              <a:gdLst/>
              <a:ahLst/>
              <a:cxnLst/>
              <a:rect l="l" t="t" r="r" b="b"/>
              <a:pathLst>
                <a:path h="95250">
                  <a:moveTo>
                    <a:pt x="0" y="0"/>
                  </a:moveTo>
                  <a:lnTo>
                    <a:pt x="0" y="95250"/>
                  </a:lnTo>
                </a:path>
              </a:pathLst>
            </a:custGeom>
            <a:ln w="105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01211" y="3111246"/>
              <a:ext cx="97790" cy="97155"/>
            </a:xfrm>
            <a:custGeom>
              <a:avLst/>
              <a:gdLst/>
              <a:ahLst/>
              <a:cxnLst/>
              <a:rect l="l" t="t" r="r" b="b"/>
              <a:pathLst>
                <a:path w="97789" h="97155">
                  <a:moveTo>
                    <a:pt x="97535" y="0"/>
                  </a:moveTo>
                  <a:lnTo>
                    <a:pt x="74985" y="8143"/>
                  </a:lnTo>
                  <a:lnTo>
                    <a:pt x="51434" y="10858"/>
                  </a:lnTo>
                  <a:lnTo>
                    <a:pt x="27884" y="8143"/>
                  </a:lnTo>
                  <a:lnTo>
                    <a:pt x="5333" y="0"/>
                  </a:lnTo>
                  <a:lnTo>
                    <a:pt x="0" y="1524"/>
                  </a:lnTo>
                  <a:lnTo>
                    <a:pt x="52577" y="96774"/>
                  </a:lnTo>
                  <a:lnTo>
                    <a:pt x="95249" y="1524"/>
                  </a:lnTo>
                  <a:lnTo>
                    <a:pt x="975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051809" y="4762500"/>
              <a:ext cx="0" cy="497205"/>
            </a:xfrm>
            <a:custGeom>
              <a:avLst/>
              <a:gdLst/>
              <a:ahLst/>
              <a:cxnLst/>
              <a:rect l="l" t="t" r="r" b="b"/>
              <a:pathLst>
                <a:path h="497204">
                  <a:moveTo>
                    <a:pt x="0" y="496824"/>
                  </a:moveTo>
                  <a:lnTo>
                    <a:pt x="0" y="0"/>
                  </a:lnTo>
                </a:path>
              </a:pathLst>
            </a:custGeom>
            <a:ln w="21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907791" y="4861560"/>
              <a:ext cx="291465" cy="299720"/>
            </a:xfrm>
            <a:custGeom>
              <a:avLst/>
              <a:gdLst/>
              <a:ahLst/>
              <a:cxnLst/>
              <a:rect l="l" t="t" r="r" b="b"/>
              <a:pathLst>
                <a:path w="291464" h="299720">
                  <a:moveTo>
                    <a:pt x="291083" y="150113"/>
                  </a:moveTo>
                  <a:lnTo>
                    <a:pt x="283701" y="102607"/>
                  </a:lnTo>
                  <a:lnTo>
                    <a:pt x="263115" y="61392"/>
                  </a:lnTo>
                  <a:lnTo>
                    <a:pt x="231666" y="28919"/>
                  </a:lnTo>
                  <a:lnTo>
                    <a:pt x="191694" y="7638"/>
                  </a:lnTo>
                  <a:lnTo>
                    <a:pt x="145541" y="0"/>
                  </a:lnTo>
                  <a:lnTo>
                    <a:pt x="99389" y="7638"/>
                  </a:lnTo>
                  <a:lnTo>
                    <a:pt x="59417" y="28919"/>
                  </a:lnTo>
                  <a:lnTo>
                    <a:pt x="27968" y="61392"/>
                  </a:lnTo>
                  <a:lnTo>
                    <a:pt x="7382" y="102607"/>
                  </a:lnTo>
                  <a:lnTo>
                    <a:pt x="0" y="150113"/>
                  </a:lnTo>
                  <a:lnTo>
                    <a:pt x="7382" y="197248"/>
                  </a:lnTo>
                  <a:lnTo>
                    <a:pt x="27968" y="238237"/>
                  </a:lnTo>
                  <a:lnTo>
                    <a:pt x="59417" y="270595"/>
                  </a:lnTo>
                  <a:lnTo>
                    <a:pt x="99389" y="291833"/>
                  </a:lnTo>
                  <a:lnTo>
                    <a:pt x="145541" y="299465"/>
                  </a:lnTo>
                  <a:lnTo>
                    <a:pt x="191694" y="291833"/>
                  </a:lnTo>
                  <a:lnTo>
                    <a:pt x="231666" y="270595"/>
                  </a:lnTo>
                  <a:lnTo>
                    <a:pt x="263115" y="238237"/>
                  </a:lnTo>
                  <a:lnTo>
                    <a:pt x="283701" y="197248"/>
                  </a:lnTo>
                  <a:lnTo>
                    <a:pt x="291083" y="1501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907791" y="4861560"/>
              <a:ext cx="291465" cy="299720"/>
            </a:xfrm>
            <a:custGeom>
              <a:avLst/>
              <a:gdLst/>
              <a:ahLst/>
              <a:cxnLst/>
              <a:rect l="l" t="t" r="r" b="b"/>
              <a:pathLst>
                <a:path w="291464" h="299720">
                  <a:moveTo>
                    <a:pt x="291083" y="150113"/>
                  </a:moveTo>
                  <a:lnTo>
                    <a:pt x="283701" y="102607"/>
                  </a:lnTo>
                  <a:lnTo>
                    <a:pt x="263115" y="61392"/>
                  </a:lnTo>
                  <a:lnTo>
                    <a:pt x="231666" y="28919"/>
                  </a:lnTo>
                  <a:lnTo>
                    <a:pt x="191694" y="7638"/>
                  </a:lnTo>
                  <a:lnTo>
                    <a:pt x="145541" y="0"/>
                  </a:lnTo>
                  <a:lnTo>
                    <a:pt x="99389" y="7638"/>
                  </a:lnTo>
                  <a:lnTo>
                    <a:pt x="59417" y="28919"/>
                  </a:lnTo>
                  <a:lnTo>
                    <a:pt x="27968" y="61392"/>
                  </a:lnTo>
                  <a:lnTo>
                    <a:pt x="7382" y="102607"/>
                  </a:lnTo>
                  <a:lnTo>
                    <a:pt x="0" y="150113"/>
                  </a:lnTo>
                  <a:lnTo>
                    <a:pt x="7382" y="197248"/>
                  </a:lnTo>
                  <a:lnTo>
                    <a:pt x="27968" y="238237"/>
                  </a:lnTo>
                  <a:lnTo>
                    <a:pt x="59417" y="270595"/>
                  </a:lnTo>
                  <a:lnTo>
                    <a:pt x="99389" y="291833"/>
                  </a:lnTo>
                  <a:lnTo>
                    <a:pt x="145541" y="299465"/>
                  </a:lnTo>
                  <a:lnTo>
                    <a:pt x="191694" y="291833"/>
                  </a:lnTo>
                  <a:lnTo>
                    <a:pt x="231666" y="270595"/>
                  </a:lnTo>
                  <a:lnTo>
                    <a:pt x="263115" y="238237"/>
                  </a:lnTo>
                  <a:lnTo>
                    <a:pt x="283701" y="197248"/>
                  </a:lnTo>
                  <a:lnTo>
                    <a:pt x="291083" y="150113"/>
                  </a:lnTo>
                  <a:close/>
                </a:path>
              </a:pathLst>
            </a:custGeom>
            <a:ln w="21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051809" y="4942332"/>
              <a:ext cx="0" cy="85090"/>
            </a:xfrm>
            <a:custGeom>
              <a:avLst/>
              <a:gdLst/>
              <a:ahLst/>
              <a:cxnLst/>
              <a:rect l="l" t="t" r="r" b="b"/>
              <a:pathLst>
                <a:path h="85089">
                  <a:moveTo>
                    <a:pt x="0" y="0"/>
                  </a:moveTo>
                  <a:lnTo>
                    <a:pt x="0" y="84582"/>
                  </a:lnTo>
                </a:path>
              </a:pathLst>
            </a:custGeom>
            <a:ln w="105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006851" y="5005577"/>
              <a:ext cx="97790" cy="95250"/>
            </a:xfrm>
            <a:custGeom>
              <a:avLst/>
              <a:gdLst/>
              <a:ahLst/>
              <a:cxnLst/>
              <a:rect l="l" t="t" r="r" b="b"/>
              <a:pathLst>
                <a:path w="97789" h="95250">
                  <a:moveTo>
                    <a:pt x="4763" y="5530"/>
                  </a:moveTo>
                  <a:lnTo>
                    <a:pt x="2285" y="0"/>
                  </a:lnTo>
                  <a:lnTo>
                    <a:pt x="0" y="3809"/>
                  </a:lnTo>
                  <a:lnTo>
                    <a:pt x="4763" y="5530"/>
                  </a:lnTo>
                  <a:close/>
                </a:path>
                <a:path w="97789" h="95250">
                  <a:moveTo>
                    <a:pt x="97535" y="0"/>
                  </a:moveTo>
                  <a:lnTo>
                    <a:pt x="92201" y="3809"/>
                  </a:lnTo>
                  <a:lnTo>
                    <a:pt x="69651" y="11953"/>
                  </a:lnTo>
                  <a:lnTo>
                    <a:pt x="46100" y="14668"/>
                  </a:lnTo>
                  <a:lnTo>
                    <a:pt x="22550" y="11953"/>
                  </a:lnTo>
                  <a:lnTo>
                    <a:pt x="4763" y="5530"/>
                  </a:lnTo>
                  <a:lnTo>
                    <a:pt x="44957" y="95250"/>
                  </a:lnTo>
                  <a:lnTo>
                    <a:pt x="975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051809" y="5259324"/>
              <a:ext cx="0" cy="201295"/>
            </a:xfrm>
            <a:custGeom>
              <a:avLst/>
              <a:gdLst/>
              <a:ahLst/>
              <a:cxnLst/>
              <a:rect l="l" t="t" r="r" b="b"/>
              <a:pathLst>
                <a:path h="201295">
                  <a:moveTo>
                    <a:pt x="0" y="201167"/>
                  </a:moveTo>
                  <a:lnTo>
                    <a:pt x="0" y="0"/>
                  </a:lnTo>
                </a:path>
              </a:pathLst>
            </a:custGeom>
            <a:ln w="21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998469" y="5460492"/>
              <a:ext cx="116839" cy="0"/>
            </a:xfrm>
            <a:custGeom>
              <a:avLst/>
              <a:gdLst/>
              <a:ahLst/>
              <a:cxnLst/>
              <a:rect l="l" t="t" r="r" b="b"/>
              <a:pathLst>
                <a:path w="116839">
                  <a:moveTo>
                    <a:pt x="0" y="0"/>
                  </a:moveTo>
                  <a:lnTo>
                    <a:pt x="116586" y="0"/>
                  </a:lnTo>
                </a:path>
              </a:pathLst>
            </a:custGeom>
            <a:ln w="42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653789" y="5259324"/>
              <a:ext cx="0" cy="201295"/>
            </a:xfrm>
            <a:custGeom>
              <a:avLst/>
              <a:gdLst/>
              <a:ahLst/>
              <a:cxnLst/>
              <a:rect l="l" t="t" r="r" b="b"/>
              <a:pathLst>
                <a:path h="201295">
                  <a:moveTo>
                    <a:pt x="0" y="201167"/>
                  </a:moveTo>
                  <a:lnTo>
                    <a:pt x="0" y="0"/>
                  </a:lnTo>
                </a:path>
              </a:pathLst>
            </a:custGeom>
            <a:ln w="21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590543" y="5460492"/>
              <a:ext cx="116205" cy="0"/>
            </a:xfrm>
            <a:custGeom>
              <a:avLst/>
              <a:gdLst/>
              <a:ahLst/>
              <a:cxnLst/>
              <a:rect l="l" t="t" r="r" b="b"/>
              <a:pathLst>
                <a:path w="116204">
                  <a:moveTo>
                    <a:pt x="0" y="0"/>
                  </a:moveTo>
                  <a:lnTo>
                    <a:pt x="115823" y="0"/>
                  </a:lnTo>
                </a:path>
              </a:pathLst>
            </a:custGeom>
            <a:ln w="42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051809" y="3461766"/>
              <a:ext cx="601980" cy="190500"/>
            </a:xfrm>
            <a:custGeom>
              <a:avLst/>
              <a:gdLst/>
              <a:ahLst/>
              <a:cxnLst/>
              <a:rect l="l" t="t" r="r" b="b"/>
              <a:pathLst>
                <a:path w="601979" h="190500">
                  <a:moveTo>
                    <a:pt x="0" y="190500"/>
                  </a:moveTo>
                  <a:lnTo>
                    <a:pt x="0" y="0"/>
                  </a:lnTo>
                  <a:lnTo>
                    <a:pt x="601980" y="0"/>
                  </a:lnTo>
                </a:path>
              </a:pathLst>
            </a:custGeom>
            <a:ln w="21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653789" y="3366516"/>
              <a:ext cx="0" cy="698500"/>
            </a:xfrm>
            <a:custGeom>
              <a:avLst/>
              <a:gdLst/>
              <a:ahLst/>
              <a:cxnLst/>
              <a:rect l="l" t="t" r="r" b="b"/>
              <a:pathLst>
                <a:path h="698500">
                  <a:moveTo>
                    <a:pt x="0" y="0"/>
                  </a:moveTo>
                  <a:lnTo>
                    <a:pt x="0" y="697992"/>
                  </a:lnTo>
                </a:path>
              </a:pathLst>
            </a:custGeom>
            <a:ln w="21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051809" y="4255008"/>
              <a:ext cx="0" cy="508000"/>
            </a:xfrm>
            <a:custGeom>
              <a:avLst/>
              <a:gdLst/>
              <a:ahLst/>
              <a:cxnLst/>
              <a:rect l="l" t="t" r="r" b="b"/>
              <a:pathLst>
                <a:path h="508000">
                  <a:moveTo>
                    <a:pt x="0" y="507492"/>
                  </a:moveTo>
                  <a:lnTo>
                    <a:pt x="0" y="0"/>
                  </a:lnTo>
                </a:path>
              </a:pathLst>
            </a:custGeom>
            <a:ln w="21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051809" y="4360926"/>
              <a:ext cx="200660" cy="0"/>
            </a:xfrm>
            <a:custGeom>
              <a:avLst/>
              <a:gdLst/>
              <a:ahLst/>
              <a:cxnLst/>
              <a:rect l="l" t="t" r="r" b="b"/>
              <a:pathLst>
                <a:path w="200660">
                  <a:moveTo>
                    <a:pt x="200406" y="0"/>
                  </a:moveTo>
                  <a:lnTo>
                    <a:pt x="0" y="0"/>
                  </a:lnTo>
                </a:path>
              </a:pathLst>
            </a:custGeom>
            <a:ln w="21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653789" y="4656582"/>
              <a:ext cx="0" cy="603250"/>
            </a:xfrm>
            <a:custGeom>
              <a:avLst/>
              <a:gdLst/>
              <a:ahLst/>
              <a:cxnLst/>
              <a:rect l="l" t="t" r="r" b="b"/>
              <a:pathLst>
                <a:path h="603250">
                  <a:moveTo>
                    <a:pt x="0" y="0"/>
                  </a:moveTo>
                  <a:lnTo>
                    <a:pt x="0" y="602742"/>
                  </a:lnTo>
                </a:path>
              </a:pathLst>
            </a:custGeom>
            <a:ln w="21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653789" y="3461766"/>
              <a:ext cx="201295" cy="0"/>
            </a:xfrm>
            <a:custGeom>
              <a:avLst/>
              <a:gdLst/>
              <a:ahLst/>
              <a:cxnLst/>
              <a:rect l="l" t="t" r="r" b="b"/>
              <a:pathLst>
                <a:path w="201295">
                  <a:moveTo>
                    <a:pt x="201167" y="0"/>
                  </a:moveTo>
                  <a:lnTo>
                    <a:pt x="0" y="0"/>
                  </a:lnTo>
                </a:path>
              </a:pathLst>
            </a:custGeom>
            <a:ln w="21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51909" y="3412998"/>
              <a:ext cx="100330" cy="100330"/>
            </a:xfrm>
            <a:custGeom>
              <a:avLst/>
              <a:gdLst/>
              <a:ahLst/>
              <a:cxnLst/>
              <a:rect l="l" t="t" r="r" b="b"/>
              <a:pathLst>
                <a:path w="100329" h="100329">
                  <a:moveTo>
                    <a:pt x="50291" y="0"/>
                  </a:moveTo>
                  <a:lnTo>
                    <a:pt x="30860" y="3893"/>
                  </a:lnTo>
                  <a:lnTo>
                    <a:pt x="14858" y="14573"/>
                  </a:lnTo>
                  <a:lnTo>
                    <a:pt x="4000" y="30539"/>
                  </a:lnTo>
                  <a:lnTo>
                    <a:pt x="0" y="50292"/>
                  </a:lnTo>
                  <a:lnTo>
                    <a:pt x="4000" y="69603"/>
                  </a:lnTo>
                  <a:lnTo>
                    <a:pt x="14858" y="85344"/>
                  </a:lnTo>
                  <a:lnTo>
                    <a:pt x="30860" y="95940"/>
                  </a:lnTo>
                  <a:lnTo>
                    <a:pt x="50291" y="99822"/>
                  </a:lnTo>
                  <a:lnTo>
                    <a:pt x="69603" y="95940"/>
                  </a:lnTo>
                  <a:lnTo>
                    <a:pt x="85343" y="85344"/>
                  </a:lnTo>
                  <a:lnTo>
                    <a:pt x="95940" y="69603"/>
                  </a:lnTo>
                  <a:lnTo>
                    <a:pt x="99821" y="50291"/>
                  </a:lnTo>
                  <a:lnTo>
                    <a:pt x="95940" y="30539"/>
                  </a:lnTo>
                  <a:lnTo>
                    <a:pt x="85343" y="14573"/>
                  </a:lnTo>
                  <a:lnTo>
                    <a:pt x="69603" y="3893"/>
                  </a:lnTo>
                  <a:lnTo>
                    <a:pt x="50291" y="0"/>
                  </a:lnTo>
                  <a:close/>
                </a:path>
              </a:pathLst>
            </a:custGeom>
            <a:ln w="21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028949" y="4341876"/>
              <a:ext cx="44450" cy="40640"/>
            </a:xfrm>
            <a:custGeom>
              <a:avLst/>
              <a:gdLst/>
              <a:ahLst/>
              <a:cxnLst/>
              <a:rect l="l" t="t" r="r" b="b"/>
              <a:pathLst>
                <a:path w="44450" h="40639">
                  <a:moveTo>
                    <a:pt x="44195" y="19812"/>
                  </a:moveTo>
                  <a:lnTo>
                    <a:pt x="42457" y="12215"/>
                  </a:lnTo>
                  <a:lnTo>
                    <a:pt x="37718" y="5905"/>
                  </a:lnTo>
                  <a:lnTo>
                    <a:pt x="30694" y="1595"/>
                  </a:lnTo>
                  <a:lnTo>
                    <a:pt x="22097" y="0"/>
                  </a:lnTo>
                  <a:lnTo>
                    <a:pt x="13501" y="1595"/>
                  </a:lnTo>
                  <a:lnTo>
                    <a:pt x="6476" y="5905"/>
                  </a:lnTo>
                  <a:lnTo>
                    <a:pt x="1738" y="12215"/>
                  </a:lnTo>
                  <a:lnTo>
                    <a:pt x="0" y="19812"/>
                  </a:lnTo>
                  <a:lnTo>
                    <a:pt x="1738" y="27848"/>
                  </a:lnTo>
                  <a:lnTo>
                    <a:pt x="6476" y="34385"/>
                  </a:lnTo>
                  <a:lnTo>
                    <a:pt x="13501" y="38778"/>
                  </a:lnTo>
                  <a:lnTo>
                    <a:pt x="22097" y="40386"/>
                  </a:lnTo>
                  <a:lnTo>
                    <a:pt x="30694" y="38778"/>
                  </a:lnTo>
                  <a:lnTo>
                    <a:pt x="37718" y="34385"/>
                  </a:lnTo>
                  <a:lnTo>
                    <a:pt x="42457" y="27848"/>
                  </a:lnTo>
                  <a:lnTo>
                    <a:pt x="44195" y="198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028949" y="4341876"/>
              <a:ext cx="44450" cy="40640"/>
            </a:xfrm>
            <a:custGeom>
              <a:avLst/>
              <a:gdLst/>
              <a:ahLst/>
              <a:cxnLst/>
              <a:rect l="l" t="t" r="r" b="b"/>
              <a:pathLst>
                <a:path w="44450" h="40639">
                  <a:moveTo>
                    <a:pt x="44195" y="19812"/>
                  </a:moveTo>
                  <a:lnTo>
                    <a:pt x="42457" y="12215"/>
                  </a:lnTo>
                  <a:lnTo>
                    <a:pt x="37718" y="5905"/>
                  </a:lnTo>
                  <a:lnTo>
                    <a:pt x="30694" y="1595"/>
                  </a:lnTo>
                  <a:lnTo>
                    <a:pt x="22097" y="0"/>
                  </a:lnTo>
                  <a:lnTo>
                    <a:pt x="13501" y="1595"/>
                  </a:lnTo>
                  <a:lnTo>
                    <a:pt x="6476" y="5905"/>
                  </a:lnTo>
                  <a:lnTo>
                    <a:pt x="1738" y="12215"/>
                  </a:lnTo>
                  <a:lnTo>
                    <a:pt x="0" y="19812"/>
                  </a:lnTo>
                  <a:lnTo>
                    <a:pt x="1738" y="27848"/>
                  </a:lnTo>
                  <a:lnTo>
                    <a:pt x="6476" y="34385"/>
                  </a:lnTo>
                  <a:lnTo>
                    <a:pt x="13501" y="38778"/>
                  </a:lnTo>
                  <a:lnTo>
                    <a:pt x="22097" y="40386"/>
                  </a:lnTo>
                  <a:lnTo>
                    <a:pt x="30694" y="38778"/>
                  </a:lnTo>
                  <a:lnTo>
                    <a:pt x="37718" y="34385"/>
                  </a:lnTo>
                  <a:lnTo>
                    <a:pt x="42457" y="27848"/>
                  </a:lnTo>
                  <a:lnTo>
                    <a:pt x="44195" y="19812"/>
                  </a:lnTo>
                  <a:close/>
                </a:path>
              </a:pathLst>
            </a:custGeom>
            <a:ln w="21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630167" y="3442716"/>
              <a:ext cx="44450" cy="40640"/>
            </a:xfrm>
            <a:custGeom>
              <a:avLst/>
              <a:gdLst/>
              <a:ahLst/>
              <a:cxnLst/>
              <a:rect l="l" t="t" r="r" b="b"/>
              <a:pathLst>
                <a:path w="44450" h="40639">
                  <a:moveTo>
                    <a:pt x="44196" y="20574"/>
                  </a:moveTo>
                  <a:lnTo>
                    <a:pt x="42457" y="12537"/>
                  </a:lnTo>
                  <a:lnTo>
                    <a:pt x="37719" y="6000"/>
                  </a:lnTo>
                  <a:lnTo>
                    <a:pt x="30694" y="1607"/>
                  </a:lnTo>
                  <a:lnTo>
                    <a:pt x="22098" y="0"/>
                  </a:lnTo>
                  <a:lnTo>
                    <a:pt x="13501" y="1607"/>
                  </a:lnTo>
                  <a:lnTo>
                    <a:pt x="6477" y="6000"/>
                  </a:lnTo>
                  <a:lnTo>
                    <a:pt x="1738" y="12537"/>
                  </a:lnTo>
                  <a:lnTo>
                    <a:pt x="0" y="20574"/>
                  </a:lnTo>
                  <a:lnTo>
                    <a:pt x="1738" y="28170"/>
                  </a:lnTo>
                  <a:lnTo>
                    <a:pt x="6477" y="34480"/>
                  </a:lnTo>
                  <a:lnTo>
                    <a:pt x="13501" y="38790"/>
                  </a:lnTo>
                  <a:lnTo>
                    <a:pt x="22098" y="40386"/>
                  </a:lnTo>
                  <a:lnTo>
                    <a:pt x="30694" y="38790"/>
                  </a:lnTo>
                  <a:lnTo>
                    <a:pt x="37719" y="34480"/>
                  </a:lnTo>
                  <a:lnTo>
                    <a:pt x="42457" y="28170"/>
                  </a:lnTo>
                  <a:lnTo>
                    <a:pt x="44196" y="205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630167" y="3442716"/>
              <a:ext cx="44450" cy="40640"/>
            </a:xfrm>
            <a:custGeom>
              <a:avLst/>
              <a:gdLst/>
              <a:ahLst/>
              <a:cxnLst/>
              <a:rect l="l" t="t" r="r" b="b"/>
              <a:pathLst>
                <a:path w="44450" h="40639">
                  <a:moveTo>
                    <a:pt x="44196" y="20574"/>
                  </a:moveTo>
                  <a:lnTo>
                    <a:pt x="42457" y="12537"/>
                  </a:lnTo>
                  <a:lnTo>
                    <a:pt x="37719" y="6000"/>
                  </a:lnTo>
                  <a:lnTo>
                    <a:pt x="30694" y="1607"/>
                  </a:lnTo>
                  <a:lnTo>
                    <a:pt x="22098" y="0"/>
                  </a:lnTo>
                  <a:lnTo>
                    <a:pt x="13501" y="1607"/>
                  </a:lnTo>
                  <a:lnTo>
                    <a:pt x="6477" y="6000"/>
                  </a:lnTo>
                  <a:lnTo>
                    <a:pt x="1738" y="12537"/>
                  </a:lnTo>
                  <a:lnTo>
                    <a:pt x="0" y="20574"/>
                  </a:lnTo>
                  <a:lnTo>
                    <a:pt x="1738" y="28170"/>
                  </a:lnTo>
                  <a:lnTo>
                    <a:pt x="6477" y="34480"/>
                  </a:lnTo>
                  <a:lnTo>
                    <a:pt x="13501" y="38790"/>
                  </a:lnTo>
                  <a:lnTo>
                    <a:pt x="22098" y="40386"/>
                  </a:lnTo>
                  <a:lnTo>
                    <a:pt x="30694" y="38790"/>
                  </a:lnTo>
                  <a:lnTo>
                    <a:pt x="37719" y="34480"/>
                  </a:lnTo>
                  <a:lnTo>
                    <a:pt x="42457" y="28170"/>
                  </a:lnTo>
                  <a:lnTo>
                    <a:pt x="44196" y="20574"/>
                  </a:lnTo>
                  <a:close/>
                </a:path>
              </a:pathLst>
            </a:custGeom>
            <a:ln w="21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501645" y="3948684"/>
              <a:ext cx="201295" cy="0"/>
            </a:xfrm>
            <a:custGeom>
              <a:avLst/>
              <a:gdLst/>
              <a:ahLst/>
              <a:cxnLst/>
              <a:rect l="l" t="t" r="r" b="b"/>
              <a:pathLst>
                <a:path w="201294">
                  <a:moveTo>
                    <a:pt x="0" y="0"/>
                  </a:moveTo>
                  <a:lnTo>
                    <a:pt x="201168" y="0"/>
                  </a:lnTo>
                </a:path>
              </a:pathLst>
            </a:custGeom>
            <a:ln w="21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404109" y="3902202"/>
              <a:ext cx="100330" cy="100330"/>
            </a:xfrm>
            <a:custGeom>
              <a:avLst/>
              <a:gdLst/>
              <a:ahLst/>
              <a:cxnLst/>
              <a:rect l="l" t="t" r="r" b="b"/>
              <a:pathLst>
                <a:path w="100330" h="100329">
                  <a:moveTo>
                    <a:pt x="50292" y="99822"/>
                  </a:moveTo>
                  <a:lnTo>
                    <a:pt x="69603" y="95940"/>
                  </a:lnTo>
                  <a:lnTo>
                    <a:pt x="85344" y="85344"/>
                  </a:lnTo>
                  <a:lnTo>
                    <a:pt x="95940" y="69603"/>
                  </a:lnTo>
                  <a:lnTo>
                    <a:pt x="99822" y="50292"/>
                  </a:lnTo>
                  <a:lnTo>
                    <a:pt x="95940" y="30861"/>
                  </a:lnTo>
                  <a:lnTo>
                    <a:pt x="85344" y="14859"/>
                  </a:lnTo>
                  <a:lnTo>
                    <a:pt x="69603" y="4000"/>
                  </a:lnTo>
                  <a:lnTo>
                    <a:pt x="50292" y="0"/>
                  </a:lnTo>
                  <a:lnTo>
                    <a:pt x="30539" y="4000"/>
                  </a:lnTo>
                  <a:lnTo>
                    <a:pt x="14573" y="14859"/>
                  </a:lnTo>
                  <a:lnTo>
                    <a:pt x="3893" y="30861"/>
                  </a:lnTo>
                  <a:lnTo>
                    <a:pt x="0" y="50292"/>
                  </a:lnTo>
                  <a:lnTo>
                    <a:pt x="3893" y="69603"/>
                  </a:lnTo>
                  <a:lnTo>
                    <a:pt x="14573" y="85344"/>
                  </a:lnTo>
                  <a:lnTo>
                    <a:pt x="30539" y="95940"/>
                  </a:lnTo>
                  <a:lnTo>
                    <a:pt x="50292" y="99822"/>
                  </a:lnTo>
                  <a:close/>
                </a:path>
              </a:pathLst>
            </a:custGeom>
            <a:ln w="21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3572509" y="4192015"/>
            <a:ext cx="28003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i="1" spc="-25" dirty="0">
                <a:latin typeface="Calibri"/>
                <a:cs typeface="Calibri"/>
              </a:rPr>
              <a:t>MN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964433" y="3791960"/>
            <a:ext cx="256540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i="1" spc="-25" dirty="0">
                <a:latin typeface="Calibri"/>
                <a:cs typeface="Calibri"/>
              </a:rPr>
              <a:t>MP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032509" y="3355339"/>
            <a:ext cx="32194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950" i="1" spc="-30" baseline="8547" dirty="0">
                <a:latin typeface="Calibri"/>
                <a:cs typeface="Calibri"/>
              </a:rPr>
              <a:t>V</a:t>
            </a:r>
            <a:r>
              <a:rPr sz="850" i="1" spc="-20" dirty="0">
                <a:latin typeface="Calibri"/>
                <a:cs typeface="Calibri"/>
              </a:rPr>
              <a:t>out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067305" y="3844544"/>
            <a:ext cx="254000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950" i="1" spc="-37" baseline="8547" dirty="0">
                <a:latin typeface="Calibri"/>
                <a:cs typeface="Calibri"/>
              </a:rPr>
              <a:t>V</a:t>
            </a:r>
            <a:r>
              <a:rPr sz="850" i="1" spc="-25" dirty="0">
                <a:latin typeface="Calibri"/>
                <a:cs typeface="Calibri"/>
              </a:rPr>
              <a:t>in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601211" y="2648146"/>
            <a:ext cx="116205" cy="211454"/>
            <a:chOff x="3601211" y="2648146"/>
            <a:chExt cx="116205" cy="211454"/>
          </a:xfrm>
        </p:grpSpPr>
        <p:sp>
          <p:nvSpPr>
            <p:cNvPr id="50" name="object 50"/>
            <p:cNvSpPr/>
            <p:nvPr/>
          </p:nvSpPr>
          <p:spPr>
            <a:xfrm>
              <a:off x="3653789" y="2669286"/>
              <a:ext cx="0" cy="189865"/>
            </a:xfrm>
            <a:custGeom>
              <a:avLst/>
              <a:gdLst/>
              <a:ahLst/>
              <a:cxnLst/>
              <a:rect l="l" t="t" r="r" b="b"/>
              <a:pathLst>
                <a:path h="189864">
                  <a:moveTo>
                    <a:pt x="0" y="0"/>
                  </a:moveTo>
                  <a:lnTo>
                    <a:pt x="0" y="189738"/>
                  </a:lnTo>
                </a:path>
              </a:pathLst>
            </a:custGeom>
            <a:ln w="21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601211" y="2669286"/>
              <a:ext cx="116205" cy="0"/>
            </a:xfrm>
            <a:custGeom>
              <a:avLst/>
              <a:gdLst/>
              <a:ahLst/>
              <a:cxnLst/>
              <a:rect l="l" t="t" r="r" b="b"/>
              <a:pathLst>
                <a:path w="116204">
                  <a:moveTo>
                    <a:pt x="0" y="0"/>
                  </a:moveTo>
                  <a:lnTo>
                    <a:pt x="115823" y="0"/>
                  </a:lnTo>
                </a:path>
              </a:pathLst>
            </a:custGeom>
            <a:ln w="42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6357620" y="5508752"/>
            <a:ext cx="53162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Verdana"/>
                <a:cs typeface="Verdana"/>
              </a:rPr>
              <a:t>[*]</a:t>
            </a:r>
            <a:r>
              <a:rPr sz="1200" spc="-40" dirty="0">
                <a:latin typeface="Verdana"/>
                <a:cs typeface="Verdana"/>
              </a:rPr>
              <a:t> </a:t>
            </a:r>
            <a:r>
              <a:rPr sz="1200" spc="-35" dirty="0">
                <a:latin typeface="Verdana"/>
                <a:cs typeface="Verdana"/>
              </a:rPr>
              <a:t>V.Schaffer,</a:t>
            </a:r>
            <a:r>
              <a:rPr sz="1200" spc="-2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M.Snoeij,</a:t>
            </a:r>
            <a:r>
              <a:rPr sz="1200" spc="-4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M.Ivanov,</a:t>
            </a:r>
            <a:r>
              <a:rPr sz="1200" spc="-25" dirty="0">
                <a:latin typeface="Verdana"/>
                <a:cs typeface="Verdana"/>
              </a:rPr>
              <a:t> D.Trifonov, </a:t>
            </a:r>
            <a:r>
              <a:rPr sz="1200" dirty="0">
                <a:latin typeface="Verdana"/>
                <a:cs typeface="Verdana"/>
              </a:rPr>
              <a:t>“A</a:t>
            </a:r>
            <a:r>
              <a:rPr sz="1200" spc="-4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36V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Programmable </a:t>
            </a:r>
            <a:r>
              <a:rPr sz="1200" dirty="0">
                <a:latin typeface="Verdana"/>
                <a:cs typeface="Verdana"/>
              </a:rPr>
              <a:t>Instrumentation</a:t>
            </a:r>
            <a:r>
              <a:rPr sz="1200" spc="-3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Amplifier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with</a:t>
            </a:r>
            <a:r>
              <a:rPr sz="1200" spc="-3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Sub-</a:t>
            </a:r>
            <a:r>
              <a:rPr sz="1200" dirty="0">
                <a:latin typeface="Verdana"/>
                <a:cs typeface="Verdana"/>
              </a:rPr>
              <a:t>20uV</a:t>
            </a:r>
            <a:r>
              <a:rPr sz="1200" spc="-2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Offset</a:t>
            </a:r>
            <a:r>
              <a:rPr sz="1200" spc="-2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and</a:t>
            </a:r>
            <a:r>
              <a:rPr sz="1200" spc="-3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CMRR</a:t>
            </a:r>
            <a:r>
              <a:rPr sz="1200" spc="-3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in</a:t>
            </a:r>
            <a:r>
              <a:rPr sz="1200" spc="-3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Excess </a:t>
            </a:r>
            <a:r>
              <a:rPr sz="1200" dirty="0">
                <a:latin typeface="Verdana"/>
                <a:cs typeface="Verdana"/>
              </a:rPr>
              <a:t>of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120dB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at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All</a:t>
            </a:r>
            <a:r>
              <a:rPr sz="1200" spc="-3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Gain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Settings”</a:t>
            </a:r>
            <a:r>
              <a:rPr sz="1200" spc="-4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IEEE</a:t>
            </a:r>
            <a:r>
              <a:rPr sz="1200" spc="-1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JSSC,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vol.44,</a:t>
            </a:r>
            <a:r>
              <a:rPr sz="1200" spc="-3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July</a:t>
            </a:r>
            <a:r>
              <a:rPr sz="1200" spc="-2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2009.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E65229CA-4338-467E-BB8F-627DC1DB0E32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55" name="object 5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68</a:t>
            </a:fld>
            <a:endParaRPr spc="-25" dirty="0"/>
          </a:p>
        </p:txBody>
      </p:sp>
      <p:sp>
        <p:nvSpPr>
          <p:cNvPr id="57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9244" y="1291148"/>
            <a:ext cx="9336405" cy="42316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508000" indent="-469900">
              <a:lnSpc>
                <a:spcPct val="100000"/>
              </a:lnSpc>
              <a:spcBef>
                <a:spcPts val="675"/>
              </a:spcBef>
              <a:buClr>
                <a:srgbClr val="CC0000"/>
              </a:buClr>
              <a:buFont typeface="Wingdings"/>
              <a:buChar char=""/>
              <a:tabLst>
                <a:tab pos="508000" algn="l"/>
              </a:tabLst>
            </a:pPr>
            <a:r>
              <a:rPr sz="2400" dirty="0">
                <a:latin typeface="Verdana"/>
                <a:cs typeface="Verdana"/>
              </a:rPr>
              <a:t>Output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stage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operating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conditions</a:t>
            </a:r>
            <a:endParaRPr sz="2400">
              <a:latin typeface="Verdana"/>
              <a:cs typeface="Verdana"/>
            </a:endParaRPr>
          </a:p>
          <a:p>
            <a:pPr marL="946150" lvl="1" indent="-437515">
              <a:lnSpc>
                <a:spcPct val="100000"/>
              </a:lnSpc>
              <a:spcBef>
                <a:spcPts val="530"/>
              </a:spcBef>
              <a:buClr>
                <a:srgbClr val="CC0000"/>
              </a:buClr>
              <a:buFont typeface="Wingdings"/>
              <a:buChar char=""/>
              <a:tabLst>
                <a:tab pos="946150" algn="l"/>
              </a:tabLst>
            </a:pPr>
            <a:r>
              <a:rPr sz="2200" dirty="0">
                <a:latin typeface="Verdana"/>
                <a:cs typeface="Verdana"/>
              </a:rPr>
              <a:t>Voltage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levels</a:t>
            </a:r>
            <a:endParaRPr sz="2200">
              <a:latin typeface="Verdana"/>
              <a:cs typeface="Verdana"/>
            </a:endParaRPr>
          </a:p>
          <a:p>
            <a:pPr marL="946150" lvl="1" indent="-437515">
              <a:lnSpc>
                <a:spcPct val="100000"/>
              </a:lnSpc>
              <a:spcBef>
                <a:spcPts val="525"/>
              </a:spcBef>
              <a:buClr>
                <a:srgbClr val="CC0000"/>
              </a:buClr>
              <a:buFont typeface="Wingdings"/>
              <a:buChar char=""/>
              <a:tabLst>
                <a:tab pos="946150" algn="l"/>
              </a:tabLst>
            </a:pPr>
            <a:r>
              <a:rPr sz="2200" dirty="0">
                <a:latin typeface="Verdana"/>
                <a:cs typeface="Verdana"/>
              </a:rPr>
              <a:t>Sourcing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sinking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current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(change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transconductance)</a:t>
            </a:r>
            <a:endParaRPr sz="2200">
              <a:latin typeface="Verdana"/>
              <a:cs typeface="Verdana"/>
            </a:endParaRPr>
          </a:p>
          <a:p>
            <a:pPr marL="946150" lvl="1" indent="-437515">
              <a:lnSpc>
                <a:spcPct val="100000"/>
              </a:lnSpc>
              <a:spcBef>
                <a:spcPts val="530"/>
              </a:spcBef>
              <a:buClr>
                <a:srgbClr val="CC0000"/>
              </a:buClr>
              <a:buFont typeface="Wingdings"/>
              <a:buChar char=""/>
              <a:tabLst>
                <a:tab pos="946150" algn="l"/>
              </a:tabLst>
            </a:pPr>
            <a:r>
              <a:rPr sz="2200" dirty="0">
                <a:latin typeface="Verdana"/>
                <a:cs typeface="Verdana"/>
              </a:rPr>
              <a:t>Close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triode</a:t>
            </a:r>
            <a:endParaRPr sz="2200">
              <a:latin typeface="Verdana"/>
              <a:cs typeface="Verdana"/>
            </a:endParaRPr>
          </a:p>
          <a:p>
            <a:pPr marL="946150" lvl="1" indent="-437515">
              <a:lnSpc>
                <a:spcPct val="100000"/>
              </a:lnSpc>
              <a:spcBef>
                <a:spcPts val="530"/>
              </a:spcBef>
              <a:buClr>
                <a:srgbClr val="CC0000"/>
              </a:buClr>
              <a:buFont typeface="Wingdings"/>
              <a:buChar char=""/>
              <a:tabLst>
                <a:tab pos="946150" algn="l"/>
              </a:tabLst>
            </a:pPr>
            <a:r>
              <a:rPr sz="2200" dirty="0">
                <a:latin typeface="Verdana"/>
                <a:cs typeface="Verdana"/>
              </a:rPr>
              <a:t>C</a:t>
            </a:r>
            <a:r>
              <a:rPr sz="2175" baseline="-21072" dirty="0">
                <a:latin typeface="Verdana"/>
                <a:cs typeface="Verdana"/>
              </a:rPr>
              <a:t>GS</a:t>
            </a:r>
            <a:r>
              <a:rPr sz="2175" spc="419" baseline="-21072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changes</a:t>
            </a:r>
            <a:endParaRPr sz="2200">
              <a:latin typeface="Verdana"/>
              <a:cs typeface="Verdana"/>
            </a:endParaRPr>
          </a:p>
          <a:p>
            <a:pPr marL="946150" lvl="1" indent="-437515">
              <a:lnSpc>
                <a:spcPct val="100000"/>
              </a:lnSpc>
              <a:spcBef>
                <a:spcPts val="525"/>
              </a:spcBef>
              <a:buClr>
                <a:srgbClr val="CC0000"/>
              </a:buClr>
              <a:buFont typeface="Wingdings"/>
              <a:buChar char=""/>
              <a:tabLst>
                <a:tab pos="946150" algn="l"/>
              </a:tabLst>
            </a:pPr>
            <a:r>
              <a:rPr sz="2200" dirty="0">
                <a:latin typeface="Verdana"/>
                <a:cs typeface="Verdana"/>
              </a:rPr>
              <a:t>Class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AB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circuit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can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introduce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delays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non-symmetricity</a:t>
            </a:r>
            <a:endParaRPr sz="2200">
              <a:latin typeface="Verdana"/>
              <a:cs typeface="Verdana"/>
            </a:endParaRPr>
          </a:p>
          <a:p>
            <a:pPr marL="508000" indent="-46990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Wingdings"/>
              <a:buChar char=""/>
              <a:tabLst>
                <a:tab pos="508000" algn="l"/>
              </a:tabLst>
            </a:pPr>
            <a:r>
              <a:rPr sz="2400" spc="-20" dirty="0">
                <a:latin typeface="Verdana"/>
                <a:cs typeface="Verdana"/>
              </a:rPr>
              <a:t>Start-</a:t>
            </a:r>
            <a:r>
              <a:rPr sz="2400" dirty="0">
                <a:latin typeface="Verdana"/>
                <a:cs typeface="Verdana"/>
              </a:rPr>
              <a:t>up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conditions</a:t>
            </a:r>
            <a:endParaRPr sz="2400">
              <a:latin typeface="Verdana"/>
              <a:cs typeface="Verdana"/>
            </a:endParaRPr>
          </a:p>
          <a:p>
            <a:pPr marL="508000" indent="-46990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Wingdings"/>
              <a:buChar char=""/>
              <a:tabLst>
                <a:tab pos="508000" algn="l"/>
              </a:tabLst>
            </a:pPr>
            <a:r>
              <a:rPr sz="2400" dirty="0">
                <a:latin typeface="Verdana"/>
                <a:cs typeface="Verdana"/>
              </a:rPr>
              <a:t>Loading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effects</a:t>
            </a:r>
            <a:r>
              <a:rPr sz="2400" spc="-8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(voltage</a:t>
            </a:r>
            <a:r>
              <a:rPr sz="2400" spc="-8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-8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current</a:t>
            </a:r>
            <a:r>
              <a:rPr sz="2400" spc="-9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dependency)</a:t>
            </a:r>
            <a:endParaRPr sz="2400">
              <a:latin typeface="Verdana"/>
              <a:cs typeface="Verdana"/>
            </a:endParaRPr>
          </a:p>
          <a:p>
            <a:pPr marL="508000" indent="-46990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Wingdings"/>
              <a:buChar char=""/>
              <a:tabLst>
                <a:tab pos="508000" algn="l"/>
              </a:tabLst>
            </a:pPr>
            <a:r>
              <a:rPr sz="2400" dirty="0">
                <a:latin typeface="Verdana"/>
                <a:cs typeface="Verdana"/>
              </a:rPr>
              <a:t>Parasitic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capacitances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(C</a:t>
            </a:r>
            <a:r>
              <a:rPr sz="2400" baseline="-20833" dirty="0">
                <a:latin typeface="Verdana"/>
                <a:cs typeface="Verdana"/>
              </a:rPr>
              <a:t>GS</a:t>
            </a:r>
            <a:r>
              <a:rPr sz="2400" spc="322" baseline="-20833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</a:t>
            </a:r>
            <a:r>
              <a:rPr sz="2400" baseline="-20833" dirty="0">
                <a:latin typeface="Verdana"/>
                <a:cs typeface="Verdana"/>
              </a:rPr>
              <a:t>CB</a:t>
            </a:r>
            <a:r>
              <a:rPr sz="2400" spc="345" baseline="-20833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are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voltage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dependent)</a:t>
            </a:r>
            <a:endParaRPr sz="2400">
              <a:latin typeface="Verdana"/>
              <a:cs typeface="Verdana"/>
            </a:endParaRPr>
          </a:p>
          <a:p>
            <a:pPr marL="508000" indent="-469900">
              <a:lnSpc>
                <a:spcPct val="100000"/>
              </a:lnSpc>
              <a:spcBef>
                <a:spcPts val="580"/>
              </a:spcBef>
              <a:buClr>
                <a:srgbClr val="CC0000"/>
              </a:buClr>
              <a:buFont typeface="Wingdings"/>
              <a:buChar char=""/>
              <a:tabLst>
                <a:tab pos="508000" algn="l"/>
              </a:tabLst>
            </a:pPr>
            <a:r>
              <a:rPr sz="2400" dirty="0">
                <a:latin typeface="Verdana"/>
                <a:cs typeface="Verdana"/>
              </a:rPr>
              <a:t>Parasitic</a:t>
            </a:r>
            <a:r>
              <a:rPr sz="2400" spc="-1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inductances</a:t>
            </a:r>
            <a:r>
              <a:rPr sz="2400" spc="-10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(i.e.</a:t>
            </a:r>
            <a:r>
              <a:rPr sz="2400" spc="-12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wirebonds)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5D812096-4151-415E-B6E2-88C08EF2A3B3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69</a:t>
            </a:fld>
            <a:endParaRPr spc="-25" dirty="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Common</a:t>
            </a:r>
            <a:r>
              <a:rPr spc="-25" dirty="0"/>
              <a:t> </a:t>
            </a:r>
            <a:r>
              <a:rPr dirty="0"/>
              <a:t>conditions</a:t>
            </a:r>
            <a:r>
              <a:rPr spc="-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watch</a:t>
            </a:r>
            <a:r>
              <a:rPr spc="-20" dirty="0"/>
              <a:t> </a:t>
            </a:r>
            <a:r>
              <a:rPr spc="-25" dirty="0"/>
              <a:t>for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dirty="0"/>
              <a:t>Pulsing</a:t>
            </a:r>
            <a:r>
              <a:rPr spc="-10" dirty="0"/>
              <a:t> nodes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4644" y="1210309"/>
            <a:ext cx="9443720" cy="1635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2600" marR="5080" indent="-470534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400" dirty="0">
                <a:latin typeface="Verdana"/>
                <a:cs typeface="Verdana"/>
              </a:rPr>
              <a:t>Apply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current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pulse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high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impedance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nodes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observe </a:t>
            </a:r>
            <a:r>
              <a:rPr sz="2400" dirty="0">
                <a:latin typeface="Verdana"/>
                <a:cs typeface="Verdana"/>
              </a:rPr>
              <a:t>settling</a:t>
            </a:r>
            <a:r>
              <a:rPr sz="2400" spc="-9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behavior</a:t>
            </a:r>
            <a:endParaRPr sz="24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400" dirty="0">
                <a:latin typeface="Verdana"/>
                <a:cs typeface="Verdana"/>
              </a:rPr>
              <a:t>Use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~10%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bias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current</a:t>
            </a:r>
            <a:endParaRPr sz="24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400" dirty="0">
                <a:latin typeface="Verdana"/>
                <a:cs typeface="Verdana"/>
              </a:rPr>
              <a:t>Cadence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–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‘Loop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finder’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or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‘STB’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analysis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05711" y="3294126"/>
            <a:ext cx="3857625" cy="2562225"/>
            <a:chOff x="1505711" y="3294126"/>
            <a:chExt cx="3857625" cy="25622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05711" y="3294126"/>
              <a:ext cx="3857244" cy="256184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685543" y="3690366"/>
              <a:ext cx="224790" cy="300990"/>
            </a:xfrm>
            <a:custGeom>
              <a:avLst/>
              <a:gdLst/>
              <a:ahLst/>
              <a:cxnLst/>
              <a:rect l="l" t="t" r="r" b="b"/>
              <a:pathLst>
                <a:path w="224789" h="300989">
                  <a:moveTo>
                    <a:pt x="224789" y="9144"/>
                  </a:moveTo>
                  <a:lnTo>
                    <a:pt x="224789" y="0"/>
                  </a:lnTo>
                  <a:lnTo>
                    <a:pt x="117347" y="0"/>
                  </a:lnTo>
                  <a:lnTo>
                    <a:pt x="79164" y="7762"/>
                  </a:lnTo>
                  <a:lnTo>
                    <a:pt x="47910" y="28956"/>
                  </a:lnTo>
                  <a:lnTo>
                    <a:pt x="26800" y="60436"/>
                  </a:lnTo>
                  <a:lnTo>
                    <a:pt x="19049" y="99060"/>
                  </a:lnTo>
                  <a:lnTo>
                    <a:pt x="19049" y="236982"/>
                  </a:lnTo>
                  <a:lnTo>
                    <a:pt x="0" y="236982"/>
                  </a:lnTo>
                  <a:lnTo>
                    <a:pt x="23621" y="300990"/>
                  </a:lnTo>
                  <a:lnTo>
                    <a:pt x="46481" y="236982"/>
                  </a:lnTo>
                  <a:lnTo>
                    <a:pt x="28193" y="236982"/>
                  </a:lnTo>
                  <a:lnTo>
                    <a:pt x="28193" y="99060"/>
                  </a:lnTo>
                  <a:lnTo>
                    <a:pt x="35159" y="64115"/>
                  </a:lnTo>
                  <a:lnTo>
                    <a:pt x="54197" y="35528"/>
                  </a:lnTo>
                  <a:lnTo>
                    <a:pt x="82522" y="16228"/>
                  </a:lnTo>
                  <a:lnTo>
                    <a:pt x="117347" y="9144"/>
                  </a:lnTo>
                  <a:lnTo>
                    <a:pt x="224789" y="9144"/>
                  </a:lnTo>
                  <a:close/>
                </a:path>
              </a:pathLst>
            </a:custGeom>
            <a:solidFill>
              <a:srgbClr val="CB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43172" y="4557522"/>
              <a:ext cx="487679" cy="50215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675638" y="3681221"/>
              <a:ext cx="2180590" cy="1812289"/>
            </a:xfrm>
            <a:custGeom>
              <a:avLst/>
              <a:gdLst/>
              <a:ahLst/>
              <a:cxnLst/>
              <a:rect l="l" t="t" r="r" b="b"/>
              <a:pathLst>
                <a:path w="2180590" h="1812289">
                  <a:moveTo>
                    <a:pt x="244602" y="4572"/>
                  </a:moveTo>
                  <a:lnTo>
                    <a:pt x="240030" y="0"/>
                  </a:lnTo>
                  <a:lnTo>
                    <a:pt x="229933" y="0"/>
                  </a:lnTo>
                  <a:lnTo>
                    <a:pt x="229933" y="13906"/>
                  </a:lnTo>
                  <a:lnTo>
                    <a:pt x="229933" y="19050"/>
                  </a:lnTo>
                  <a:lnTo>
                    <a:pt x="225552" y="19050"/>
                  </a:lnTo>
                  <a:lnTo>
                    <a:pt x="225552" y="18288"/>
                  </a:lnTo>
                  <a:lnTo>
                    <a:pt x="225552" y="9144"/>
                  </a:lnTo>
                  <a:lnTo>
                    <a:pt x="229933" y="13906"/>
                  </a:lnTo>
                  <a:lnTo>
                    <a:pt x="229933" y="0"/>
                  </a:lnTo>
                  <a:lnTo>
                    <a:pt x="127254" y="0"/>
                  </a:lnTo>
                  <a:lnTo>
                    <a:pt x="116586" y="762"/>
                  </a:lnTo>
                  <a:lnTo>
                    <a:pt x="106680" y="2184"/>
                  </a:lnTo>
                  <a:lnTo>
                    <a:pt x="105918" y="2286"/>
                  </a:lnTo>
                  <a:lnTo>
                    <a:pt x="67056" y="18288"/>
                  </a:lnTo>
                  <a:lnTo>
                    <a:pt x="43497" y="39827"/>
                  </a:lnTo>
                  <a:lnTo>
                    <a:pt x="43497" y="255270"/>
                  </a:lnTo>
                  <a:lnTo>
                    <a:pt x="33528" y="282321"/>
                  </a:lnTo>
                  <a:lnTo>
                    <a:pt x="23545" y="255270"/>
                  </a:lnTo>
                  <a:lnTo>
                    <a:pt x="28194" y="255270"/>
                  </a:lnTo>
                  <a:lnTo>
                    <a:pt x="32766" y="255270"/>
                  </a:lnTo>
                  <a:lnTo>
                    <a:pt x="34290" y="255270"/>
                  </a:lnTo>
                  <a:lnTo>
                    <a:pt x="43497" y="255270"/>
                  </a:lnTo>
                  <a:lnTo>
                    <a:pt x="43497" y="39827"/>
                  </a:lnTo>
                  <a:lnTo>
                    <a:pt x="24384" y="75438"/>
                  </a:lnTo>
                  <a:lnTo>
                    <a:pt x="19050" y="107442"/>
                  </a:lnTo>
                  <a:lnTo>
                    <a:pt x="19050" y="236220"/>
                  </a:lnTo>
                  <a:lnTo>
                    <a:pt x="6858" y="236220"/>
                  </a:lnTo>
                  <a:lnTo>
                    <a:pt x="3810" y="237744"/>
                  </a:lnTo>
                  <a:lnTo>
                    <a:pt x="2286" y="240792"/>
                  </a:lnTo>
                  <a:lnTo>
                    <a:pt x="762" y="243078"/>
                  </a:lnTo>
                  <a:lnTo>
                    <a:pt x="0" y="246126"/>
                  </a:lnTo>
                  <a:lnTo>
                    <a:pt x="762" y="249174"/>
                  </a:lnTo>
                  <a:lnTo>
                    <a:pt x="9906" y="273951"/>
                  </a:lnTo>
                  <a:lnTo>
                    <a:pt x="24384" y="313182"/>
                  </a:lnTo>
                  <a:lnTo>
                    <a:pt x="25908" y="316992"/>
                  </a:lnTo>
                  <a:lnTo>
                    <a:pt x="29718" y="320040"/>
                  </a:lnTo>
                  <a:lnTo>
                    <a:pt x="37338" y="320040"/>
                  </a:lnTo>
                  <a:lnTo>
                    <a:pt x="41148" y="316992"/>
                  </a:lnTo>
                  <a:lnTo>
                    <a:pt x="42672" y="313182"/>
                  </a:lnTo>
                  <a:lnTo>
                    <a:pt x="56388" y="274777"/>
                  </a:lnTo>
                  <a:lnTo>
                    <a:pt x="65532" y="249174"/>
                  </a:lnTo>
                  <a:lnTo>
                    <a:pt x="67056" y="246126"/>
                  </a:lnTo>
                  <a:lnTo>
                    <a:pt x="66294" y="243078"/>
                  </a:lnTo>
                  <a:lnTo>
                    <a:pt x="64770" y="240792"/>
                  </a:lnTo>
                  <a:lnTo>
                    <a:pt x="62484" y="237744"/>
                  </a:lnTo>
                  <a:lnTo>
                    <a:pt x="59436" y="236220"/>
                  </a:lnTo>
                  <a:lnTo>
                    <a:pt x="47244" y="236220"/>
                  </a:lnTo>
                  <a:lnTo>
                    <a:pt x="47244" y="108204"/>
                  </a:lnTo>
                  <a:lnTo>
                    <a:pt x="57150" y="69342"/>
                  </a:lnTo>
                  <a:lnTo>
                    <a:pt x="83058" y="41148"/>
                  </a:lnTo>
                  <a:lnTo>
                    <a:pt x="112014" y="29718"/>
                  </a:lnTo>
                  <a:lnTo>
                    <a:pt x="119634" y="28194"/>
                  </a:lnTo>
                  <a:lnTo>
                    <a:pt x="234696" y="28194"/>
                  </a:lnTo>
                  <a:lnTo>
                    <a:pt x="240030" y="28194"/>
                  </a:lnTo>
                  <a:lnTo>
                    <a:pt x="244602" y="23622"/>
                  </a:lnTo>
                  <a:lnTo>
                    <a:pt x="244602" y="4572"/>
                  </a:lnTo>
                  <a:close/>
                </a:path>
                <a:path w="2180590" h="1812289">
                  <a:moveTo>
                    <a:pt x="2180082" y="1565148"/>
                  </a:moveTo>
                  <a:lnTo>
                    <a:pt x="2178558" y="1562100"/>
                  </a:lnTo>
                  <a:lnTo>
                    <a:pt x="2155698" y="1498092"/>
                  </a:lnTo>
                  <a:lnTo>
                    <a:pt x="2154174" y="1494282"/>
                  </a:lnTo>
                  <a:lnTo>
                    <a:pt x="2150364" y="1491996"/>
                  </a:lnTo>
                  <a:lnTo>
                    <a:pt x="2142744" y="1491996"/>
                  </a:lnTo>
                  <a:lnTo>
                    <a:pt x="2141982" y="1492453"/>
                  </a:lnTo>
                  <a:lnTo>
                    <a:pt x="2141982" y="1575054"/>
                  </a:lnTo>
                  <a:lnTo>
                    <a:pt x="2133092" y="1566176"/>
                  </a:lnTo>
                  <a:lnTo>
                    <a:pt x="2141220" y="1574292"/>
                  </a:lnTo>
                  <a:lnTo>
                    <a:pt x="2141982" y="1575054"/>
                  </a:lnTo>
                  <a:lnTo>
                    <a:pt x="2141982" y="1492453"/>
                  </a:lnTo>
                  <a:lnTo>
                    <a:pt x="2138934" y="1494282"/>
                  </a:lnTo>
                  <a:lnTo>
                    <a:pt x="2137410" y="1498092"/>
                  </a:lnTo>
                  <a:lnTo>
                    <a:pt x="2114550" y="1562100"/>
                  </a:lnTo>
                  <a:lnTo>
                    <a:pt x="2113026" y="1565148"/>
                  </a:lnTo>
                  <a:lnTo>
                    <a:pt x="2113788" y="1568958"/>
                  </a:lnTo>
                  <a:lnTo>
                    <a:pt x="2115312" y="1571244"/>
                  </a:lnTo>
                  <a:lnTo>
                    <a:pt x="2117598" y="1573530"/>
                  </a:lnTo>
                  <a:lnTo>
                    <a:pt x="2119884" y="1575054"/>
                  </a:lnTo>
                  <a:lnTo>
                    <a:pt x="2122932" y="1575054"/>
                  </a:lnTo>
                  <a:lnTo>
                    <a:pt x="2132838" y="1575054"/>
                  </a:lnTo>
                  <a:lnTo>
                    <a:pt x="2132838" y="1703832"/>
                  </a:lnTo>
                  <a:lnTo>
                    <a:pt x="2131314" y="1720596"/>
                  </a:lnTo>
                  <a:lnTo>
                    <a:pt x="2129028" y="1728216"/>
                  </a:lnTo>
                  <a:lnTo>
                    <a:pt x="2125980" y="1735074"/>
                  </a:lnTo>
                  <a:lnTo>
                    <a:pt x="2122932" y="1742694"/>
                  </a:lnTo>
                  <a:lnTo>
                    <a:pt x="2119122" y="1748790"/>
                  </a:lnTo>
                  <a:lnTo>
                    <a:pt x="2113788" y="1754886"/>
                  </a:lnTo>
                  <a:lnTo>
                    <a:pt x="2109216" y="1760982"/>
                  </a:lnTo>
                  <a:lnTo>
                    <a:pt x="2068068" y="1782318"/>
                  </a:lnTo>
                  <a:lnTo>
                    <a:pt x="2060448" y="1783842"/>
                  </a:lnTo>
                  <a:lnTo>
                    <a:pt x="1940052" y="1783842"/>
                  </a:lnTo>
                  <a:lnTo>
                    <a:pt x="1935480" y="1788414"/>
                  </a:lnTo>
                  <a:lnTo>
                    <a:pt x="1935480" y="1807464"/>
                  </a:lnTo>
                  <a:lnTo>
                    <a:pt x="1940052" y="1812036"/>
                  </a:lnTo>
                  <a:lnTo>
                    <a:pt x="1944624" y="1812036"/>
                  </a:lnTo>
                  <a:lnTo>
                    <a:pt x="2052828" y="1812036"/>
                  </a:lnTo>
                  <a:lnTo>
                    <a:pt x="2060448" y="1811502"/>
                  </a:lnTo>
                  <a:lnTo>
                    <a:pt x="2061972" y="1811388"/>
                  </a:lnTo>
                  <a:lnTo>
                    <a:pt x="2063496" y="1811274"/>
                  </a:lnTo>
                  <a:lnTo>
                    <a:pt x="2103882" y="1799082"/>
                  </a:lnTo>
                  <a:lnTo>
                    <a:pt x="2128266" y="1780032"/>
                  </a:lnTo>
                  <a:lnTo>
                    <a:pt x="2135886" y="1773174"/>
                  </a:lnTo>
                  <a:lnTo>
                    <a:pt x="2155698" y="1736598"/>
                  </a:lnTo>
                  <a:lnTo>
                    <a:pt x="2160270" y="1715262"/>
                  </a:lnTo>
                  <a:lnTo>
                    <a:pt x="2160270" y="1575054"/>
                  </a:lnTo>
                  <a:lnTo>
                    <a:pt x="2170176" y="1575054"/>
                  </a:lnTo>
                  <a:lnTo>
                    <a:pt x="2173224" y="1575054"/>
                  </a:lnTo>
                  <a:lnTo>
                    <a:pt x="2176272" y="1573530"/>
                  </a:lnTo>
                  <a:lnTo>
                    <a:pt x="2179320" y="1568958"/>
                  </a:lnTo>
                  <a:lnTo>
                    <a:pt x="2180082" y="1565148"/>
                  </a:lnTo>
                  <a:close/>
                </a:path>
              </a:pathLst>
            </a:custGeom>
            <a:solidFill>
              <a:srgbClr val="CB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75560" y="3694188"/>
              <a:ext cx="245110" cy="297180"/>
            </a:xfrm>
            <a:custGeom>
              <a:avLst/>
              <a:gdLst/>
              <a:ahLst/>
              <a:cxnLst/>
              <a:rect l="l" t="t" r="r" b="b"/>
              <a:pathLst>
                <a:path w="245110" h="297179">
                  <a:moveTo>
                    <a:pt x="244602" y="4572"/>
                  </a:moveTo>
                  <a:lnTo>
                    <a:pt x="240030" y="0"/>
                  </a:lnTo>
                  <a:lnTo>
                    <a:pt x="127254" y="0"/>
                  </a:lnTo>
                  <a:lnTo>
                    <a:pt x="119634" y="533"/>
                  </a:lnTo>
                  <a:lnTo>
                    <a:pt x="118110" y="647"/>
                  </a:lnTo>
                  <a:lnTo>
                    <a:pt x="116586" y="762"/>
                  </a:lnTo>
                  <a:lnTo>
                    <a:pt x="76200" y="12954"/>
                  </a:lnTo>
                  <a:lnTo>
                    <a:pt x="44196" y="38862"/>
                  </a:lnTo>
                  <a:lnTo>
                    <a:pt x="24384" y="75438"/>
                  </a:lnTo>
                  <a:lnTo>
                    <a:pt x="19812" y="96774"/>
                  </a:lnTo>
                  <a:lnTo>
                    <a:pt x="19812" y="214122"/>
                  </a:lnTo>
                  <a:lnTo>
                    <a:pt x="6858" y="214122"/>
                  </a:lnTo>
                  <a:lnTo>
                    <a:pt x="3810" y="215646"/>
                  </a:lnTo>
                  <a:lnTo>
                    <a:pt x="2286" y="218694"/>
                  </a:lnTo>
                  <a:lnTo>
                    <a:pt x="762" y="220980"/>
                  </a:lnTo>
                  <a:lnTo>
                    <a:pt x="0" y="224028"/>
                  </a:lnTo>
                  <a:lnTo>
                    <a:pt x="762" y="227076"/>
                  </a:lnTo>
                  <a:lnTo>
                    <a:pt x="9906" y="251841"/>
                  </a:lnTo>
                  <a:lnTo>
                    <a:pt x="24384" y="291084"/>
                  </a:lnTo>
                  <a:lnTo>
                    <a:pt x="25908" y="294894"/>
                  </a:lnTo>
                  <a:lnTo>
                    <a:pt x="29718" y="297180"/>
                  </a:lnTo>
                  <a:lnTo>
                    <a:pt x="37338" y="297180"/>
                  </a:lnTo>
                  <a:lnTo>
                    <a:pt x="41148" y="294894"/>
                  </a:lnTo>
                  <a:lnTo>
                    <a:pt x="42672" y="291084"/>
                  </a:lnTo>
                  <a:lnTo>
                    <a:pt x="56388" y="252679"/>
                  </a:lnTo>
                  <a:lnTo>
                    <a:pt x="65532" y="227076"/>
                  </a:lnTo>
                  <a:lnTo>
                    <a:pt x="67056" y="224028"/>
                  </a:lnTo>
                  <a:lnTo>
                    <a:pt x="66294" y="220980"/>
                  </a:lnTo>
                  <a:lnTo>
                    <a:pt x="64770" y="218694"/>
                  </a:lnTo>
                  <a:lnTo>
                    <a:pt x="62484" y="215646"/>
                  </a:lnTo>
                  <a:lnTo>
                    <a:pt x="60198" y="214122"/>
                  </a:lnTo>
                  <a:lnTo>
                    <a:pt x="47244" y="214122"/>
                  </a:lnTo>
                  <a:lnTo>
                    <a:pt x="47244" y="108204"/>
                  </a:lnTo>
                  <a:lnTo>
                    <a:pt x="48768" y="91440"/>
                  </a:lnTo>
                  <a:lnTo>
                    <a:pt x="51054" y="83820"/>
                  </a:lnTo>
                  <a:lnTo>
                    <a:pt x="54102" y="76962"/>
                  </a:lnTo>
                  <a:lnTo>
                    <a:pt x="57150" y="69342"/>
                  </a:lnTo>
                  <a:lnTo>
                    <a:pt x="89916" y="37338"/>
                  </a:lnTo>
                  <a:lnTo>
                    <a:pt x="119634" y="28194"/>
                  </a:lnTo>
                  <a:lnTo>
                    <a:pt x="235458" y="28194"/>
                  </a:lnTo>
                  <a:lnTo>
                    <a:pt x="240030" y="28194"/>
                  </a:lnTo>
                  <a:lnTo>
                    <a:pt x="244602" y="23622"/>
                  </a:lnTo>
                  <a:lnTo>
                    <a:pt x="244602" y="4572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891028" y="4557522"/>
              <a:ext cx="245110" cy="297180"/>
            </a:xfrm>
            <a:custGeom>
              <a:avLst/>
              <a:gdLst/>
              <a:ahLst/>
              <a:cxnLst/>
              <a:rect l="l" t="t" r="r" b="b"/>
              <a:pathLst>
                <a:path w="245110" h="297179">
                  <a:moveTo>
                    <a:pt x="244602" y="224028"/>
                  </a:moveTo>
                  <a:lnTo>
                    <a:pt x="243840" y="220980"/>
                  </a:lnTo>
                  <a:lnTo>
                    <a:pt x="242316" y="217932"/>
                  </a:lnTo>
                  <a:lnTo>
                    <a:pt x="240792" y="215646"/>
                  </a:lnTo>
                  <a:lnTo>
                    <a:pt x="237744" y="214122"/>
                  </a:lnTo>
                  <a:lnTo>
                    <a:pt x="225552" y="214122"/>
                  </a:lnTo>
                  <a:lnTo>
                    <a:pt x="225552" y="107442"/>
                  </a:lnTo>
                  <a:lnTo>
                    <a:pt x="216408" y="65532"/>
                  </a:lnTo>
                  <a:lnTo>
                    <a:pt x="193548" y="31242"/>
                  </a:lnTo>
                  <a:lnTo>
                    <a:pt x="158496" y="8382"/>
                  </a:lnTo>
                  <a:lnTo>
                    <a:pt x="117348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23622"/>
                  </a:lnTo>
                  <a:lnTo>
                    <a:pt x="4572" y="28194"/>
                  </a:lnTo>
                  <a:lnTo>
                    <a:pt x="9906" y="28194"/>
                  </a:lnTo>
                  <a:lnTo>
                    <a:pt x="124968" y="28194"/>
                  </a:lnTo>
                  <a:lnTo>
                    <a:pt x="132588" y="29718"/>
                  </a:lnTo>
                  <a:lnTo>
                    <a:pt x="140970" y="31242"/>
                  </a:lnTo>
                  <a:lnTo>
                    <a:pt x="154686" y="37338"/>
                  </a:lnTo>
                  <a:lnTo>
                    <a:pt x="183642" y="62484"/>
                  </a:lnTo>
                  <a:lnTo>
                    <a:pt x="196596" y="99060"/>
                  </a:lnTo>
                  <a:lnTo>
                    <a:pt x="197358" y="108204"/>
                  </a:lnTo>
                  <a:lnTo>
                    <a:pt x="197358" y="214122"/>
                  </a:lnTo>
                  <a:lnTo>
                    <a:pt x="185166" y="214122"/>
                  </a:lnTo>
                  <a:lnTo>
                    <a:pt x="182118" y="215646"/>
                  </a:lnTo>
                  <a:lnTo>
                    <a:pt x="179832" y="217932"/>
                  </a:lnTo>
                  <a:lnTo>
                    <a:pt x="178308" y="220980"/>
                  </a:lnTo>
                  <a:lnTo>
                    <a:pt x="177546" y="224028"/>
                  </a:lnTo>
                  <a:lnTo>
                    <a:pt x="179070" y="227076"/>
                  </a:lnTo>
                  <a:lnTo>
                    <a:pt x="188214" y="252679"/>
                  </a:lnTo>
                  <a:lnTo>
                    <a:pt x="201930" y="291084"/>
                  </a:lnTo>
                  <a:lnTo>
                    <a:pt x="203454" y="294894"/>
                  </a:lnTo>
                  <a:lnTo>
                    <a:pt x="207264" y="297180"/>
                  </a:lnTo>
                  <a:lnTo>
                    <a:pt x="214884" y="297180"/>
                  </a:lnTo>
                  <a:lnTo>
                    <a:pt x="218694" y="294894"/>
                  </a:lnTo>
                  <a:lnTo>
                    <a:pt x="220218" y="291084"/>
                  </a:lnTo>
                  <a:lnTo>
                    <a:pt x="234696" y="251853"/>
                  </a:lnTo>
                  <a:lnTo>
                    <a:pt x="243840" y="227076"/>
                  </a:lnTo>
                  <a:lnTo>
                    <a:pt x="244602" y="224028"/>
                  </a:lnTo>
                  <a:close/>
                </a:path>
              </a:pathLst>
            </a:custGeom>
            <a:solidFill>
              <a:srgbClr val="CB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474208" y="5236717"/>
            <a:ext cx="5613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15" baseline="13888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TEST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994768" y="3464814"/>
            <a:ext cx="4231640" cy="2545080"/>
            <a:chOff x="6994768" y="3464814"/>
            <a:chExt cx="4231640" cy="2545080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94768" y="3503686"/>
              <a:ext cx="4223911" cy="246941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995922" y="3464813"/>
              <a:ext cx="4230370" cy="2545080"/>
            </a:xfrm>
            <a:custGeom>
              <a:avLst/>
              <a:gdLst/>
              <a:ahLst/>
              <a:cxnLst/>
              <a:rect l="l" t="t" r="r" b="b"/>
              <a:pathLst>
                <a:path w="4230370" h="2545079">
                  <a:moveTo>
                    <a:pt x="4229862" y="2204466"/>
                  </a:moveTo>
                  <a:lnTo>
                    <a:pt x="584454" y="2204466"/>
                  </a:lnTo>
                  <a:lnTo>
                    <a:pt x="584454" y="0"/>
                  </a:lnTo>
                  <a:lnTo>
                    <a:pt x="0" y="0"/>
                  </a:lnTo>
                  <a:lnTo>
                    <a:pt x="0" y="2213610"/>
                  </a:lnTo>
                  <a:lnTo>
                    <a:pt x="494538" y="2213610"/>
                  </a:lnTo>
                  <a:lnTo>
                    <a:pt x="494538" y="2545080"/>
                  </a:lnTo>
                  <a:lnTo>
                    <a:pt x="4229862" y="2545080"/>
                  </a:lnTo>
                  <a:lnTo>
                    <a:pt x="4229862" y="220446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587234" y="3464813"/>
              <a:ext cx="3594100" cy="2251710"/>
            </a:xfrm>
            <a:custGeom>
              <a:avLst/>
              <a:gdLst/>
              <a:ahLst/>
              <a:cxnLst/>
              <a:rect l="l" t="t" r="r" b="b"/>
              <a:pathLst>
                <a:path w="3594100" h="2251710">
                  <a:moveTo>
                    <a:pt x="3593592" y="2213610"/>
                  </a:moveTo>
                  <a:lnTo>
                    <a:pt x="3466338" y="2175510"/>
                  </a:lnTo>
                  <a:lnTo>
                    <a:pt x="3466338" y="2201418"/>
                  </a:lnTo>
                  <a:lnTo>
                    <a:pt x="51054" y="2201418"/>
                  </a:lnTo>
                  <a:lnTo>
                    <a:pt x="51054" y="126492"/>
                  </a:lnTo>
                  <a:lnTo>
                    <a:pt x="76200" y="126492"/>
                  </a:lnTo>
                  <a:lnTo>
                    <a:pt x="38100" y="0"/>
                  </a:lnTo>
                  <a:lnTo>
                    <a:pt x="0" y="126492"/>
                  </a:lnTo>
                  <a:lnTo>
                    <a:pt x="25908" y="126492"/>
                  </a:lnTo>
                  <a:lnTo>
                    <a:pt x="25908" y="2206752"/>
                  </a:lnTo>
                  <a:lnTo>
                    <a:pt x="25908" y="2212086"/>
                  </a:lnTo>
                  <a:lnTo>
                    <a:pt x="25908" y="2221230"/>
                  </a:lnTo>
                  <a:lnTo>
                    <a:pt x="31242" y="2226564"/>
                  </a:lnTo>
                  <a:lnTo>
                    <a:pt x="3466338" y="2226564"/>
                  </a:lnTo>
                  <a:lnTo>
                    <a:pt x="3466338" y="2251710"/>
                  </a:lnTo>
                  <a:lnTo>
                    <a:pt x="3491484" y="2244191"/>
                  </a:lnTo>
                  <a:lnTo>
                    <a:pt x="3593592" y="221361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0557002" y="5746496"/>
            <a:ext cx="5372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Verdana"/>
                <a:cs typeface="Verdana"/>
              </a:rPr>
              <a:t>time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F9E6B222-602C-4BE5-8D69-443256842011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70</a:t>
            </a:fld>
            <a:endParaRPr spc="-25" dirty="0"/>
          </a:p>
        </p:txBody>
      </p:sp>
      <p:sp>
        <p:nvSpPr>
          <p:cNvPr id="17" name="object 17"/>
          <p:cNvSpPr txBox="1"/>
          <p:nvPr/>
        </p:nvSpPr>
        <p:spPr>
          <a:xfrm>
            <a:off x="7241834" y="3320279"/>
            <a:ext cx="344170" cy="1302385"/>
          </a:xfrm>
          <a:prstGeom prst="rect">
            <a:avLst/>
          </a:prstGeom>
        </p:spPr>
        <p:txBody>
          <a:bodyPr vert="vert270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dirty="0">
                <a:latin typeface="Verdana"/>
                <a:cs typeface="Verdana"/>
              </a:rPr>
              <a:t>Voltage,</a:t>
            </a:r>
            <a:r>
              <a:rPr sz="1800" spc="-15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V</a:t>
            </a:r>
            <a:r>
              <a:rPr sz="1800" spc="-37" baseline="-20833" dirty="0">
                <a:latin typeface="Verdana"/>
                <a:cs typeface="Verdana"/>
              </a:rPr>
              <a:t>X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41647" y="5166614"/>
            <a:ext cx="337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V</a:t>
            </a:r>
            <a:r>
              <a:rPr sz="1800" spc="-37" baseline="-20833" dirty="0">
                <a:latin typeface="Verdana"/>
                <a:cs typeface="Verdana"/>
              </a:rPr>
              <a:t>X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23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Loading</a:t>
            </a:r>
            <a:r>
              <a:rPr spc="-40" dirty="0"/>
              <a:t> </a:t>
            </a:r>
            <a:r>
              <a:rPr spc="-10" dirty="0"/>
              <a:t>effects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4644" y="1364995"/>
            <a:ext cx="5225415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2600" marR="5080" indent="-470534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Even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simplest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stage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will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introduce </a:t>
            </a:r>
            <a:r>
              <a:rPr sz="2000" dirty="0">
                <a:latin typeface="Verdana"/>
                <a:cs typeface="Verdana"/>
              </a:rPr>
              <a:t>loading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effects,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parasitics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can </a:t>
            </a:r>
            <a:r>
              <a:rPr sz="2000" dirty="0">
                <a:latin typeface="Verdana"/>
                <a:cs typeface="Verdana"/>
              </a:rPr>
              <a:t>transfer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effects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subsequent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stages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83705" y="1364995"/>
            <a:ext cx="4914900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2600" marR="5080" indent="-470534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An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ideal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voltage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controlled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voltage </a:t>
            </a:r>
            <a:r>
              <a:rPr sz="2000" dirty="0">
                <a:latin typeface="Verdana"/>
                <a:cs typeface="Verdana"/>
              </a:rPr>
              <a:t>source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very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helpful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for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quick </a:t>
            </a:r>
            <a:r>
              <a:rPr sz="2000" dirty="0">
                <a:latin typeface="Verdana"/>
                <a:cs typeface="Verdana"/>
              </a:rPr>
              <a:t>investigation</a:t>
            </a:r>
            <a:r>
              <a:rPr sz="2000" spc="-1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(simulation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only)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67393" y="3361944"/>
            <a:ext cx="2113794" cy="149504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01005" y="3108198"/>
            <a:ext cx="2438400" cy="206654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916421" y="3938270"/>
            <a:ext cx="547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CC0000"/>
                </a:solidFill>
                <a:latin typeface="Verdana"/>
                <a:cs typeface="Verdana"/>
              </a:rPr>
              <a:t>+</a:t>
            </a:r>
            <a:r>
              <a:rPr sz="1800" spc="-25" dirty="0">
                <a:latin typeface="Verdana"/>
                <a:cs typeface="Verdana"/>
              </a:rPr>
              <a:t>G2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04517" y="4676648"/>
            <a:ext cx="487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13888" dirty="0">
                <a:latin typeface="Verdana"/>
                <a:cs typeface="Verdana"/>
              </a:rPr>
              <a:t>C</a:t>
            </a:r>
            <a:r>
              <a:rPr sz="1200" spc="-20" dirty="0">
                <a:latin typeface="Verdana"/>
                <a:cs typeface="Verdana"/>
              </a:rPr>
              <a:t>par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24521" y="4676648"/>
            <a:ext cx="437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C</a:t>
            </a:r>
            <a:r>
              <a:rPr sz="1200" spc="-25" dirty="0">
                <a:latin typeface="Verdana"/>
                <a:cs typeface="Verdana"/>
              </a:rPr>
              <a:t>LD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10478" y="2880614"/>
            <a:ext cx="342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C</a:t>
            </a:r>
            <a:r>
              <a:rPr sz="1200" spc="-25" dirty="0">
                <a:latin typeface="Verdana"/>
                <a:cs typeface="Verdana"/>
              </a:rPr>
              <a:t>ff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03412" y="3994658"/>
            <a:ext cx="556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13888" dirty="0">
                <a:latin typeface="Verdana"/>
                <a:cs typeface="Verdana"/>
              </a:rPr>
              <a:t>V</a:t>
            </a:r>
            <a:r>
              <a:rPr sz="1200" spc="-20" dirty="0">
                <a:latin typeface="Verdana"/>
                <a:cs typeface="Verdana"/>
              </a:rPr>
              <a:t>OUT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14850" y="3973322"/>
            <a:ext cx="408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V</a:t>
            </a:r>
            <a:r>
              <a:rPr sz="1200" spc="-25" dirty="0">
                <a:latin typeface="Verdana"/>
                <a:cs typeface="Verdana"/>
              </a:rPr>
              <a:t>IN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533138" y="4415790"/>
            <a:ext cx="584835" cy="114300"/>
          </a:xfrm>
          <a:custGeom>
            <a:avLst/>
            <a:gdLst/>
            <a:ahLst/>
            <a:cxnLst/>
            <a:rect l="l" t="t" r="r" b="b"/>
            <a:pathLst>
              <a:path w="584835" h="114300">
                <a:moveTo>
                  <a:pt x="413003" y="76200"/>
                </a:moveTo>
                <a:lnTo>
                  <a:pt x="413003" y="38100"/>
                </a:lnTo>
                <a:lnTo>
                  <a:pt x="0" y="38100"/>
                </a:lnTo>
                <a:lnTo>
                  <a:pt x="0" y="76200"/>
                </a:lnTo>
                <a:lnTo>
                  <a:pt x="413003" y="76200"/>
                </a:lnTo>
                <a:close/>
              </a:path>
              <a:path w="584835" h="114300">
                <a:moveTo>
                  <a:pt x="584453" y="57150"/>
                </a:moveTo>
                <a:lnTo>
                  <a:pt x="393953" y="0"/>
                </a:lnTo>
                <a:lnTo>
                  <a:pt x="393953" y="38100"/>
                </a:lnTo>
                <a:lnTo>
                  <a:pt x="413003" y="38100"/>
                </a:lnTo>
                <a:lnTo>
                  <a:pt x="413003" y="108585"/>
                </a:lnTo>
                <a:lnTo>
                  <a:pt x="584453" y="57150"/>
                </a:lnTo>
                <a:close/>
              </a:path>
              <a:path w="584835" h="114300">
                <a:moveTo>
                  <a:pt x="413003" y="108585"/>
                </a:moveTo>
                <a:lnTo>
                  <a:pt x="413003" y="76200"/>
                </a:lnTo>
                <a:lnTo>
                  <a:pt x="393953" y="76200"/>
                </a:lnTo>
                <a:lnTo>
                  <a:pt x="393953" y="114300"/>
                </a:lnTo>
                <a:lnTo>
                  <a:pt x="413003" y="108585"/>
                </a:lnTo>
                <a:close/>
              </a:path>
            </a:pathLst>
          </a:custGeom>
          <a:solidFill>
            <a:srgbClr val="CB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585715" y="4626355"/>
            <a:ext cx="409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Z</a:t>
            </a:r>
            <a:r>
              <a:rPr sz="1200" spc="-25" dirty="0">
                <a:latin typeface="Verdana"/>
                <a:cs typeface="Verdana"/>
              </a:rPr>
              <a:t>IN</a:t>
            </a:r>
            <a:endParaRPr sz="1200">
              <a:latin typeface="Verdana"/>
              <a:cs typeface="Verdan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92708" y="2804160"/>
            <a:ext cx="2167889" cy="2705861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537716" y="4628642"/>
            <a:ext cx="4578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C</a:t>
            </a:r>
            <a:r>
              <a:rPr sz="1200" spc="-25" dirty="0">
                <a:latin typeface="Verdana"/>
                <a:cs typeface="Verdana"/>
              </a:rPr>
              <a:t>GS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C7C9E5A9-0D95-4321-9029-2E33E6B76459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71</a:t>
            </a:fld>
            <a:endParaRPr spc="-25" dirty="0"/>
          </a:p>
        </p:txBody>
      </p:sp>
      <p:sp>
        <p:nvSpPr>
          <p:cNvPr id="17" name="object 17"/>
          <p:cNvSpPr txBox="1"/>
          <p:nvPr/>
        </p:nvSpPr>
        <p:spPr>
          <a:xfrm>
            <a:off x="3133344" y="4810760"/>
            <a:ext cx="4451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C</a:t>
            </a:r>
            <a:r>
              <a:rPr sz="1200" spc="-25" dirty="0">
                <a:latin typeface="Verdana"/>
                <a:cs typeface="Verdana"/>
              </a:rPr>
              <a:t>SB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10461" y="3779773"/>
            <a:ext cx="339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R</a:t>
            </a:r>
            <a:r>
              <a:rPr sz="1800" spc="-37" baseline="-20833" dirty="0">
                <a:latin typeface="Verdana"/>
                <a:cs typeface="Verdana"/>
              </a:rPr>
              <a:t>S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956307" y="2915665"/>
            <a:ext cx="1450340" cy="1357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962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R</a:t>
            </a:r>
            <a:r>
              <a:rPr sz="1800" spc="-37" baseline="-20833" dirty="0">
                <a:latin typeface="Verdana"/>
                <a:cs typeface="Verdana"/>
              </a:rPr>
              <a:t>L</a:t>
            </a:r>
            <a:endParaRPr sz="1800" baseline="-20833">
              <a:latin typeface="Verdana"/>
              <a:cs typeface="Verdana"/>
            </a:endParaRPr>
          </a:p>
          <a:p>
            <a:pPr marL="818515" marR="43180" indent="-768350">
              <a:lnSpc>
                <a:spcPct val="184700"/>
              </a:lnSpc>
              <a:spcBef>
                <a:spcPts val="345"/>
              </a:spcBef>
              <a:tabLst>
                <a:tab pos="918210" algn="l"/>
              </a:tabLst>
            </a:pPr>
            <a:r>
              <a:rPr sz="2700" spc="-37" baseline="13888" dirty="0">
                <a:latin typeface="Verdana"/>
                <a:cs typeface="Verdana"/>
              </a:rPr>
              <a:t>C</a:t>
            </a:r>
            <a:r>
              <a:rPr sz="1200" spc="-25" dirty="0">
                <a:latin typeface="Verdana"/>
                <a:cs typeface="Verdana"/>
              </a:rPr>
              <a:t>GD</a:t>
            </a:r>
            <a:r>
              <a:rPr sz="1200" dirty="0">
                <a:latin typeface="Verdana"/>
                <a:cs typeface="Verdana"/>
              </a:rPr>
              <a:t>		</a:t>
            </a:r>
            <a:r>
              <a:rPr sz="2700" spc="-30" baseline="13888" dirty="0">
                <a:latin typeface="Verdana"/>
                <a:cs typeface="Verdana"/>
              </a:rPr>
              <a:t>V</a:t>
            </a:r>
            <a:r>
              <a:rPr sz="1200" spc="-20" dirty="0">
                <a:latin typeface="Verdana"/>
                <a:cs typeface="Verdana"/>
              </a:rPr>
              <a:t>OUT </a:t>
            </a:r>
            <a:r>
              <a:rPr sz="2700" spc="-37" baseline="13888" dirty="0">
                <a:latin typeface="Verdana"/>
                <a:cs typeface="Verdana"/>
              </a:rPr>
              <a:t>C</a:t>
            </a:r>
            <a:r>
              <a:rPr sz="1200" spc="-25" dirty="0">
                <a:latin typeface="Verdana"/>
                <a:cs typeface="Verdana"/>
              </a:rPr>
              <a:t>GD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4077" y="4157726"/>
            <a:ext cx="408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V</a:t>
            </a:r>
            <a:r>
              <a:rPr sz="1200" spc="-25" dirty="0">
                <a:latin typeface="Verdana"/>
                <a:cs typeface="Verdana"/>
              </a:rPr>
              <a:t>IN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5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dirty="0"/>
              <a:t>Taming</a:t>
            </a:r>
            <a:r>
              <a:rPr spc="-10" dirty="0"/>
              <a:t> </a:t>
            </a:r>
            <a:r>
              <a:rPr dirty="0"/>
              <a:t>High</a:t>
            </a:r>
            <a:r>
              <a:rPr spc="-10" dirty="0"/>
              <a:t> </a:t>
            </a:r>
            <a:r>
              <a:rPr dirty="0"/>
              <a:t>Impedance</a:t>
            </a:r>
            <a:r>
              <a:rPr spc="-5" dirty="0"/>
              <a:t> </a:t>
            </a:r>
            <a:r>
              <a:rPr spc="-10" dirty="0"/>
              <a:t>Nodes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62040" y="1704847"/>
            <a:ext cx="5111115" cy="2464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5300" marR="18415" indent="-470534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Wingdings"/>
              <a:buChar char=""/>
              <a:tabLst>
                <a:tab pos="495300" algn="l"/>
              </a:tabLst>
            </a:pPr>
            <a:r>
              <a:rPr sz="2400" dirty="0">
                <a:latin typeface="Verdana"/>
                <a:cs typeface="Verdana"/>
              </a:rPr>
              <a:t>A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practical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method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for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taming </a:t>
            </a:r>
            <a:r>
              <a:rPr sz="2400" dirty="0">
                <a:latin typeface="Verdana"/>
                <a:cs typeface="Verdana"/>
              </a:rPr>
              <a:t>high</a:t>
            </a:r>
            <a:r>
              <a:rPr sz="2400" spc="-9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impedance</a:t>
            </a:r>
            <a:r>
              <a:rPr sz="2400" spc="-9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nodes:</a:t>
            </a:r>
            <a:endParaRPr sz="2400">
              <a:latin typeface="Verdana"/>
              <a:cs typeface="Verdana"/>
            </a:endParaRPr>
          </a:p>
          <a:p>
            <a:pPr marL="933450" lvl="1" indent="-437515">
              <a:lnSpc>
                <a:spcPct val="100000"/>
              </a:lnSpc>
              <a:spcBef>
                <a:spcPts val="484"/>
              </a:spcBef>
              <a:buClr>
                <a:srgbClr val="CC0000"/>
              </a:buClr>
              <a:buFont typeface="Wingdings"/>
              <a:buChar char=""/>
              <a:tabLst>
                <a:tab pos="933450" algn="l"/>
              </a:tabLst>
            </a:pPr>
            <a:r>
              <a:rPr sz="2000" dirty="0">
                <a:latin typeface="Verdana"/>
                <a:cs typeface="Verdana"/>
              </a:rPr>
              <a:t>Set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1950" baseline="-21367" dirty="0">
                <a:latin typeface="Verdana"/>
                <a:cs typeface="Verdana"/>
              </a:rPr>
              <a:t>c </a:t>
            </a:r>
            <a:r>
              <a:rPr sz="2000" dirty="0">
                <a:latin typeface="Verdana"/>
                <a:cs typeface="Verdana"/>
              </a:rPr>
              <a:t>very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large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(1F)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-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BFC</a:t>
            </a:r>
            <a:endParaRPr sz="2000">
              <a:latin typeface="Verdana"/>
              <a:cs typeface="Verdana"/>
            </a:endParaRPr>
          </a:p>
          <a:p>
            <a:pPr marL="933450" marR="68580" lvl="1" indent="-437515">
              <a:lnSpc>
                <a:spcPct val="100000"/>
              </a:lnSpc>
              <a:spcBef>
                <a:spcPts val="475"/>
              </a:spcBef>
              <a:buClr>
                <a:srgbClr val="CC0000"/>
              </a:buClr>
              <a:buFont typeface="Wingdings"/>
              <a:buChar char=""/>
              <a:tabLst>
                <a:tab pos="933450" algn="l"/>
              </a:tabLst>
            </a:pPr>
            <a:r>
              <a:rPr sz="2000" dirty="0">
                <a:latin typeface="Verdana"/>
                <a:cs typeface="Verdana"/>
              </a:rPr>
              <a:t>Choose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largest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</a:t>
            </a:r>
            <a:r>
              <a:rPr sz="1950" baseline="-21367" dirty="0">
                <a:latin typeface="Verdana"/>
                <a:cs typeface="Verdana"/>
              </a:rPr>
              <a:t>c</a:t>
            </a:r>
            <a:r>
              <a:rPr sz="1950" spc="330" baseline="-21367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get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desired </a:t>
            </a:r>
            <a:r>
              <a:rPr sz="2000" dirty="0">
                <a:latin typeface="Verdana"/>
                <a:cs typeface="Verdana"/>
              </a:rPr>
              <a:t>step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response</a:t>
            </a:r>
            <a:endParaRPr sz="2000">
              <a:latin typeface="Verdana"/>
              <a:cs typeface="Verdana"/>
            </a:endParaRPr>
          </a:p>
          <a:p>
            <a:pPr marL="933450" marR="126364" lvl="1" indent="-437515">
              <a:lnSpc>
                <a:spcPct val="100000"/>
              </a:lnSpc>
              <a:spcBef>
                <a:spcPts val="480"/>
              </a:spcBef>
              <a:buClr>
                <a:srgbClr val="CC0000"/>
              </a:buClr>
              <a:buFont typeface="Wingdings"/>
              <a:buChar char=""/>
              <a:tabLst>
                <a:tab pos="933450" algn="l"/>
              </a:tabLst>
            </a:pPr>
            <a:r>
              <a:rPr sz="2000" dirty="0">
                <a:latin typeface="Verdana"/>
                <a:cs typeface="Verdana"/>
              </a:rPr>
              <a:t>Decrease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1950" baseline="-21367" dirty="0">
                <a:latin typeface="Verdana"/>
                <a:cs typeface="Verdana"/>
              </a:rPr>
              <a:t>c</a:t>
            </a:r>
            <a:r>
              <a:rPr sz="1950" spc="359" baseline="-21367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until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step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response </a:t>
            </a:r>
            <a:r>
              <a:rPr sz="2000" dirty="0">
                <a:latin typeface="Verdana"/>
                <a:cs typeface="Verdana"/>
              </a:rPr>
              <a:t>starts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changing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5465" y="1745673"/>
            <a:ext cx="4244407" cy="330451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314703" y="5425694"/>
            <a:ext cx="4031615" cy="665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latin typeface="Verdana"/>
                <a:cs typeface="Verdana"/>
              </a:rPr>
              <a:t>[*]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M.Ivanov,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M.Ismail,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spc="-40" dirty="0">
                <a:latin typeface="Verdana"/>
                <a:cs typeface="Verdana"/>
              </a:rPr>
              <a:t>V.Ivanov,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“High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Slew </a:t>
            </a:r>
            <a:r>
              <a:rPr sz="1400" dirty="0">
                <a:latin typeface="Verdana"/>
                <a:cs typeface="Verdana"/>
              </a:rPr>
              <a:t>Rate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Micro-</a:t>
            </a:r>
            <a:r>
              <a:rPr sz="1400" dirty="0">
                <a:latin typeface="Verdana"/>
                <a:cs typeface="Verdana"/>
              </a:rPr>
              <a:t>Power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CMOS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OTA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with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Class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AB </a:t>
            </a:r>
            <a:r>
              <a:rPr sz="1400" dirty="0">
                <a:latin typeface="Verdana"/>
                <a:cs typeface="Verdana"/>
              </a:rPr>
              <a:t>Input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Stage”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IEEE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Xplore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B79FCB08-8BAA-4A64-B383-6313AD449F81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72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1829561" y="2021078"/>
            <a:ext cx="342265" cy="781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C</a:t>
            </a:r>
            <a:r>
              <a:rPr sz="1800" spc="-37" baseline="-20833" dirty="0">
                <a:latin typeface="Verdana"/>
                <a:cs typeface="Verdana"/>
              </a:rPr>
              <a:t>C</a:t>
            </a:r>
            <a:endParaRPr sz="1800" baseline="-20833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20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</a:pPr>
            <a:r>
              <a:rPr sz="1800" spc="-25" dirty="0">
                <a:latin typeface="Verdana"/>
                <a:cs typeface="Verdana"/>
              </a:rPr>
              <a:t>R</a:t>
            </a:r>
            <a:r>
              <a:rPr sz="1800" spc="-37" baseline="-20833" dirty="0">
                <a:latin typeface="Verdana"/>
                <a:cs typeface="Verdana"/>
              </a:rPr>
              <a:t>C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11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Miller-</a:t>
            </a:r>
            <a:r>
              <a:rPr dirty="0"/>
              <a:t>Loop</a:t>
            </a:r>
            <a:r>
              <a:rPr spc="40" dirty="0"/>
              <a:t> </a:t>
            </a:r>
            <a:r>
              <a:rPr spc="-10" dirty="0"/>
              <a:t>damping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3EBB1D19-EE08-41E6-80EB-BFFB6D9A20F7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73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73683" y="1057605"/>
            <a:ext cx="10318750" cy="417131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482600" indent="-469900">
              <a:lnSpc>
                <a:spcPct val="100000"/>
              </a:lnSpc>
              <a:spcBef>
                <a:spcPts val="130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Multiple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gain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stages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Miller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Loop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require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special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attention</a:t>
            </a:r>
            <a:endParaRPr sz="2000">
              <a:latin typeface="Verdana"/>
              <a:cs typeface="Verdana"/>
            </a:endParaRPr>
          </a:p>
          <a:p>
            <a:pPr marL="482600" marR="927735" indent="-470534">
              <a:lnSpc>
                <a:spcPct val="100000"/>
              </a:lnSpc>
              <a:spcBef>
                <a:spcPts val="120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Many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techniques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exist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control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impedance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high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impedance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nodes </a:t>
            </a:r>
            <a:r>
              <a:rPr sz="2000" dirty="0">
                <a:latin typeface="Verdana"/>
                <a:cs typeface="Verdana"/>
              </a:rPr>
              <a:t>[10,12,13,14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..]</a:t>
            </a:r>
            <a:endParaRPr sz="20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spcBef>
                <a:spcPts val="120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Worst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case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may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not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at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max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or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min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load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current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capacitance!</a:t>
            </a:r>
            <a:endParaRPr sz="20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spcBef>
                <a:spcPts val="120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Class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AB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biasing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loop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degrade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damping.</a:t>
            </a:r>
            <a:r>
              <a:rPr sz="2000" spc="-4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This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load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current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dependent!</a:t>
            </a:r>
            <a:endParaRPr sz="20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spcBef>
                <a:spcPts val="120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A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suggested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design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approach:</a:t>
            </a:r>
            <a:endParaRPr sz="2000">
              <a:latin typeface="Verdana"/>
              <a:cs typeface="Verdana"/>
            </a:endParaRPr>
          </a:p>
          <a:p>
            <a:pPr marL="920750" lvl="1" indent="-437515">
              <a:lnSpc>
                <a:spcPct val="100000"/>
              </a:lnSpc>
              <a:spcBef>
                <a:spcPts val="1200"/>
              </a:spcBef>
              <a:buClr>
                <a:srgbClr val="CC0000"/>
              </a:buClr>
              <a:buFont typeface="Wingdings"/>
              <a:buChar char=""/>
              <a:tabLst>
                <a:tab pos="920750" algn="l"/>
              </a:tabLst>
            </a:pPr>
            <a:r>
              <a:rPr sz="1800" dirty="0">
                <a:latin typeface="Verdana"/>
                <a:cs typeface="Verdana"/>
              </a:rPr>
              <a:t>Find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worse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case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Iload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Cload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using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parametric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analysis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step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responses</a:t>
            </a:r>
            <a:endParaRPr sz="1800">
              <a:latin typeface="Verdana"/>
              <a:cs typeface="Verdana"/>
            </a:endParaRPr>
          </a:p>
          <a:p>
            <a:pPr marL="920750" lvl="1" indent="-437515">
              <a:lnSpc>
                <a:spcPct val="100000"/>
              </a:lnSpc>
              <a:spcBef>
                <a:spcPts val="1200"/>
              </a:spcBef>
              <a:buClr>
                <a:srgbClr val="CC0000"/>
              </a:buClr>
              <a:buFont typeface="Wingdings"/>
              <a:buChar char=""/>
              <a:tabLst>
                <a:tab pos="920750" algn="l"/>
              </a:tabLst>
            </a:pPr>
            <a:r>
              <a:rPr sz="1800" dirty="0">
                <a:latin typeface="Verdana"/>
                <a:cs typeface="Verdana"/>
              </a:rPr>
              <a:t>Look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for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peaking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unity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gain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response</a:t>
            </a:r>
            <a:endParaRPr sz="1800">
              <a:latin typeface="Verdana"/>
              <a:cs typeface="Verdana"/>
            </a:endParaRPr>
          </a:p>
          <a:p>
            <a:pPr marL="920750" marR="107314" lvl="1" indent="-437515">
              <a:lnSpc>
                <a:spcPct val="100000"/>
              </a:lnSpc>
              <a:spcBef>
                <a:spcPts val="1200"/>
              </a:spcBef>
              <a:buClr>
                <a:srgbClr val="CC0000"/>
              </a:buClr>
              <a:buFont typeface="Wingdings"/>
              <a:buChar char=""/>
              <a:tabLst>
                <a:tab pos="920750" algn="l"/>
              </a:tabLst>
            </a:pPr>
            <a:r>
              <a:rPr sz="1800" dirty="0">
                <a:latin typeface="Verdana"/>
                <a:cs typeface="Verdana"/>
              </a:rPr>
              <a:t>Use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STB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analysis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Miller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Loop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(with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all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other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outer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loops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opened)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at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worst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case </a:t>
            </a:r>
            <a:r>
              <a:rPr sz="1800" dirty="0">
                <a:latin typeface="Verdana"/>
                <a:cs typeface="Verdana"/>
              </a:rPr>
              <a:t>point.</a:t>
            </a:r>
            <a:r>
              <a:rPr sz="1800" spc="-35" dirty="0">
                <a:latin typeface="Verdana"/>
                <a:cs typeface="Verdana"/>
              </a:rPr>
              <a:t>  </a:t>
            </a:r>
            <a:r>
              <a:rPr sz="1800" dirty="0">
                <a:latin typeface="Verdana"/>
                <a:cs typeface="Verdana"/>
              </a:rPr>
              <a:t>Keep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phase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margin&gt;30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degrees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(over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corners).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Large</a:t>
            </a:r>
            <a:r>
              <a:rPr spc="-25" dirty="0"/>
              <a:t> </a:t>
            </a:r>
            <a:r>
              <a:rPr dirty="0"/>
              <a:t>signal</a:t>
            </a:r>
            <a:r>
              <a:rPr spc="-20" dirty="0"/>
              <a:t> </a:t>
            </a:r>
            <a:r>
              <a:rPr spc="-10" dirty="0"/>
              <a:t>instability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4644" y="1303741"/>
            <a:ext cx="10895330" cy="246126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482600" indent="-469900">
              <a:lnSpc>
                <a:spcPct val="100000"/>
              </a:lnSpc>
              <a:spcBef>
                <a:spcPts val="58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Stable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for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small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input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signal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/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unstable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for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large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step</a:t>
            </a:r>
            <a:endParaRPr sz="20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spcBef>
                <a:spcPts val="48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Caused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by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linear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range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mismatch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3-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more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stage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structures</a:t>
            </a:r>
            <a:endParaRPr sz="20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spcBef>
                <a:spcPts val="48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Common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cause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silicon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revision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20"/>
              </a:spcBef>
              <a:buClr>
                <a:srgbClr val="CC0000"/>
              </a:buClr>
              <a:buFont typeface="Wingdings"/>
              <a:buChar char=""/>
            </a:pPr>
            <a:endParaRPr sz="2000">
              <a:latin typeface="Verdana"/>
              <a:cs typeface="Verdana"/>
            </a:endParaRPr>
          </a:p>
          <a:p>
            <a:pPr marL="6001385" lvl="1" indent="-469900">
              <a:lnSpc>
                <a:spcPct val="100000"/>
              </a:lnSpc>
              <a:buClr>
                <a:srgbClr val="CC0000"/>
              </a:buClr>
              <a:buFont typeface="Wingdings"/>
              <a:buChar char=""/>
              <a:tabLst>
                <a:tab pos="6001385" algn="l"/>
              </a:tabLst>
            </a:pPr>
            <a:r>
              <a:rPr sz="2000" dirty="0">
                <a:latin typeface="Verdana"/>
                <a:cs typeface="Verdana"/>
              </a:rPr>
              <a:t>To</a:t>
            </a:r>
            <a:r>
              <a:rPr sz="2000" spc="-20" dirty="0">
                <a:latin typeface="Verdana"/>
                <a:cs typeface="Verdana"/>
              </a:rPr>
              <a:t> fix:</a:t>
            </a:r>
            <a:endParaRPr sz="2000">
              <a:latin typeface="Verdana"/>
              <a:cs typeface="Verdana"/>
            </a:endParaRPr>
          </a:p>
          <a:p>
            <a:pPr marL="6439535" lvl="2" indent="-436880">
              <a:lnSpc>
                <a:spcPct val="100000"/>
              </a:lnSpc>
              <a:spcBef>
                <a:spcPts val="434"/>
              </a:spcBef>
              <a:buClr>
                <a:srgbClr val="CC0000"/>
              </a:buClr>
              <a:buFont typeface="Wingdings"/>
              <a:buChar char=""/>
              <a:tabLst>
                <a:tab pos="6439535" algn="l"/>
              </a:tabLst>
            </a:pPr>
            <a:r>
              <a:rPr sz="1800" dirty="0">
                <a:latin typeface="Verdana"/>
                <a:cs typeface="Verdana"/>
              </a:rPr>
              <a:t>Use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passive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or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active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clamps</a:t>
            </a:r>
            <a:endParaRPr sz="1800">
              <a:latin typeface="Verdana"/>
              <a:cs typeface="Verdana"/>
            </a:endParaRPr>
          </a:p>
          <a:p>
            <a:pPr marL="6439535" lvl="2" indent="-436880">
              <a:lnSpc>
                <a:spcPct val="100000"/>
              </a:lnSpc>
              <a:spcBef>
                <a:spcPts val="430"/>
              </a:spcBef>
              <a:buClr>
                <a:srgbClr val="CC0000"/>
              </a:buClr>
              <a:buFont typeface="Wingdings"/>
              <a:buChar char=""/>
              <a:tabLst>
                <a:tab pos="6439535" algn="l"/>
              </a:tabLst>
            </a:pPr>
            <a:r>
              <a:rPr sz="1800" dirty="0">
                <a:latin typeface="Verdana"/>
                <a:cs typeface="Verdana"/>
              </a:rPr>
              <a:t>Transconductors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with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wide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input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stage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163" y="2602992"/>
            <a:ext cx="5209032" cy="344728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758950" y="3814826"/>
            <a:ext cx="348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G1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5997993A-EF72-47D1-82D5-75A8E7350365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74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3247947" y="3814826"/>
            <a:ext cx="348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G2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25123" y="3814826"/>
            <a:ext cx="452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-</a:t>
            </a:r>
            <a:r>
              <a:rPr sz="1800" spc="-25" dirty="0">
                <a:latin typeface="Verdana"/>
                <a:cs typeface="Verdana"/>
              </a:rPr>
              <a:t>G3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58950" y="5358630"/>
            <a:ext cx="363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Gff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3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100"/>
              </a:spcBef>
            </a:pPr>
            <a:r>
              <a:rPr dirty="0"/>
              <a:t>Large</a:t>
            </a:r>
            <a:r>
              <a:rPr spc="-25" dirty="0"/>
              <a:t> </a:t>
            </a:r>
            <a:r>
              <a:rPr dirty="0"/>
              <a:t>signal</a:t>
            </a:r>
            <a:r>
              <a:rPr spc="-20" dirty="0"/>
              <a:t> </a:t>
            </a:r>
            <a:r>
              <a:rPr spc="-10" dirty="0"/>
              <a:t>stability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84533" y="6405624"/>
            <a:ext cx="219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Verdana"/>
                <a:cs typeface="Verdana"/>
              </a:rPr>
              <a:t>76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18972" y="2049017"/>
            <a:ext cx="4861560" cy="3700779"/>
            <a:chOff x="918972" y="2049017"/>
            <a:chExt cx="4861560" cy="370077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1656" y="2049018"/>
              <a:ext cx="4628875" cy="363016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18972" y="2049017"/>
              <a:ext cx="585470" cy="3473450"/>
            </a:xfrm>
            <a:custGeom>
              <a:avLst/>
              <a:gdLst/>
              <a:ahLst/>
              <a:cxnLst/>
              <a:rect l="l" t="t" r="r" b="b"/>
              <a:pathLst>
                <a:path w="585469" h="3473450">
                  <a:moveTo>
                    <a:pt x="585216" y="3473196"/>
                  </a:moveTo>
                  <a:lnTo>
                    <a:pt x="585216" y="0"/>
                  </a:lnTo>
                  <a:lnTo>
                    <a:pt x="0" y="0"/>
                  </a:lnTo>
                  <a:lnTo>
                    <a:pt x="0" y="3473196"/>
                  </a:lnTo>
                  <a:lnTo>
                    <a:pt x="585216" y="34731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476755" y="2049017"/>
              <a:ext cx="76200" cy="3373120"/>
            </a:xfrm>
            <a:custGeom>
              <a:avLst/>
              <a:gdLst/>
              <a:ahLst/>
              <a:cxnLst/>
              <a:rect l="l" t="t" r="r" b="b"/>
              <a:pathLst>
                <a:path w="76200" h="3373120">
                  <a:moveTo>
                    <a:pt x="76199" y="126492"/>
                  </a:moveTo>
                  <a:lnTo>
                    <a:pt x="38099" y="0"/>
                  </a:lnTo>
                  <a:lnTo>
                    <a:pt x="0" y="126492"/>
                  </a:lnTo>
                  <a:lnTo>
                    <a:pt x="25145" y="126492"/>
                  </a:lnTo>
                  <a:lnTo>
                    <a:pt x="25145" y="107442"/>
                  </a:lnTo>
                  <a:lnTo>
                    <a:pt x="31241" y="101346"/>
                  </a:lnTo>
                  <a:lnTo>
                    <a:pt x="44957" y="101346"/>
                  </a:lnTo>
                  <a:lnTo>
                    <a:pt x="51053" y="107442"/>
                  </a:lnTo>
                  <a:lnTo>
                    <a:pt x="51053" y="126492"/>
                  </a:lnTo>
                  <a:lnTo>
                    <a:pt x="76199" y="126492"/>
                  </a:lnTo>
                  <a:close/>
                </a:path>
                <a:path w="76200" h="3373120">
                  <a:moveTo>
                    <a:pt x="51053" y="126492"/>
                  </a:moveTo>
                  <a:lnTo>
                    <a:pt x="51053" y="107442"/>
                  </a:lnTo>
                  <a:lnTo>
                    <a:pt x="44957" y="101346"/>
                  </a:lnTo>
                  <a:lnTo>
                    <a:pt x="31241" y="101346"/>
                  </a:lnTo>
                  <a:lnTo>
                    <a:pt x="25145" y="107442"/>
                  </a:lnTo>
                  <a:lnTo>
                    <a:pt x="25145" y="126492"/>
                  </a:lnTo>
                  <a:lnTo>
                    <a:pt x="51053" y="126492"/>
                  </a:lnTo>
                  <a:close/>
                </a:path>
                <a:path w="76200" h="3373120">
                  <a:moveTo>
                    <a:pt x="51054" y="3366516"/>
                  </a:moveTo>
                  <a:lnTo>
                    <a:pt x="51053" y="126492"/>
                  </a:lnTo>
                  <a:lnTo>
                    <a:pt x="25145" y="126492"/>
                  </a:lnTo>
                  <a:lnTo>
                    <a:pt x="25146" y="3366516"/>
                  </a:lnTo>
                  <a:lnTo>
                    <a:pt x="31242" y="3372612"/>
                  </a:lnTo>
                  <a:lnTo>
                    <a:pt x="44958" y="3372612"/>
                  </a:lnTo>
                  <a:lnTo>
                    <a:pt x="51054" y="3366516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69898" y="5408676"/>
              <a:ext cx="3906520" cy="340995"/>
            </a:xfrm>
            <a:custGeom>
              <a:avLst/>
              <a:gdLst/>
              <a:ahLst/>
              <a:cxnLst/>
              <a:rect l="l" t="t" r="r" b="b"/>
              <a:pathLst>
                <a:path w="3906520" h="340995">
                  <a:moveTo>
                    <a:pt x="3906012" y="340613"/>
                  </a:moveTo>
                  <a:lnTo>
                    <a:pt x="3906012" y="0"/>
                  </a:lnTo>
                  <a:lnTo>
                    <a:pt x="0" y="0"/>
                  </a:lnTo>
                  <a:lnTo>
                    <a:pt x="0" y="340613"/>
                  </a:lnTo>
                  <a:lnTo>
                    <a:pt x="3906012" y="3406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01902" y="5370576"/>
              <a:ext cx="3874135" cy="76200"/>
            </a:xfrm>
            <a:custGeom>
              <a:avLst/>
              <a:gdLst/>
              <a:ahLst/>
              <a:cxnLst/>
              <a:rect l="l" t="t" r="r" b="b"/>
              <a:pathLst>
                <a:path w="3874135" h="76200">
                  <a:moveTo>
                    <a:pt x="3771900" y="44958"/>
                  </a:moveTo>
                  <a:lnTo>
                    <a:pt x="3771900" y="31242"/>
                  </a:lnTo>
                  <a:lnTo>
                    <a:pt x="3766566" y="25908"/>
                  </a:lnTo>
                  <a:lnTo>
                    <a:pt x="6095" y="25908"/>
                  </a:lnTo>
                  <a:lnTo>
                    <a:pt x="0" y="31242"/>
                  </a:lnTo>
                  <a:lnTo>
                    <a:pt x="0" y="44958"/>
                  </a:lnTo>
                  <a:lnTo>
                    <a:pt x="6095" y="51054"/>
                  </a:lnTo>
                  <a:lnTo>
                    <a:pt x="3766566" y="51054"/>
                  </a:lnTo>
                  <a:lnTo>
                    <a:pt x="3771900" y="44958"/>
                  </a:lnTo>
                  <a:close/>
                </a:path>
                <a:path w="3874135" h="76200">
                  <a:moveTo>
                    <a:pt x="3874007" y="38100"/>
                  </a:moveTo>
                  <a:lnTo>
                    <a:pt x="3746754" y="0"/>
                  </a:lnTo>
                  <a:lnTo>
                    <a:pt x="3746754" y="25908"/>
                  </a:lnTo>
                  <a:lnTo>
                    <a:pt x="3766566" y="25908"/>
                  </a:lnTo>
                  <a:lnTo>
                    <a:pt x="3771900" y="31242"/>
                  </a:lnTo>
                  <a:lnTo>
                    <a:pt x="3771900" y="68671"/>
                  </a:lnTo>
                  <a:lnTo>
                    <a:pt x="3874007" y="38100"/>
                  </a:lnTo>
                  <a:close/>
                </a:path>
                <a:path w="3874135" h="76200">
                  <a:moveTo>
                    <a:pt x="3771900" y="68671"/>
                  </a:moveTo>
                  <a:lnTo>
                    <a:pt x="3771900" y="44958"/>
                  </a:lnTo>
                  <a:lnTo>
                    <a:pt x="3766566" y="51054"/>
                  </a:lnTo>
                  <a:lnTo>
                    <a:pt x="3746754" y="51054"/>
                  </a:lnTo>
                  <a:lnTo>
                    <a:pt x="3746754" y="76200"/>
                  </a:lnTo>
                  <a:lnTo>
                    <a:pt x="3771900" y="68671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680970" y="1679701"/>
            <a:ext cx="127127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Verdana"/>
                <a:cs typeface="Verdana"/>
              </a:rPr>
              <a:t>Stable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AC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275832" y="2023872"/>
            <a:ext cx="4658360" cy="3725545"/>
            <a:chOff x="6275832" y="2023872"/>
            <a:chExt cx="4658360" cy="372554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9413" y="2023872"/>
              <a:ext cx="4474585" cy="365531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275832" y="2049017"/>
              <a:ext cx="4634865" cy="3700779"/>
            </a:xfrm>
            <a:custGeom>
              <a:avLst/>
              <a:gdLst/>
              <a:ahLst/>
              <a:cxnLst/>
              <a:rect l="l" t="t" r="r" b="b"/>
              <a:pathLst>
                <a:path w="4634865" h="3700779">
                  <a:moveTo>
                    <a:pt x="4634471" y="3359658"/>
                  </a:moveTo>
                  <a:lnTo>
                    <a:pt x="584454" y="3359658"/>
                  </a:lnTo>
                  <a:lnTo>
                    <a:pt x="584454" y="0"/>
                  </a:lnTo>
                  <a:lnTo>
                    <a:pt x="0" y="0"/>
                  </a:lnTo>
                  <a:lnTo>
                    <a:pt x="0" y="3473196"/>
                  </a:lnTo>
                  <a:lnTo>
                    <a:pt x="515874" y="3473196"/>
                  </a:lnTo>
                  <a:lnTo>
                    <a:pt x="515874" y="3700272"/>
                  </a:lnTo>
                  <a:lnTo>
                    <a:pt x="4634471" y="3700272"/>
                  </a:lnTo>
                  <a:lnTo>
                    <a:pt x="4634471" y="33596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895338" y="5370575"/>
              <a:ext cx="4015104" cy="76200"/>
            </a:xfrm>
            <a:custGeom>
              <a:avLst/>
              <a:gdLst/>
              <a:ahLst/>
              <a:cxnLst/>
              <a:rect l="l" t="t" r="r" b="b"/>
              <a:pathLst>
                <a:path w="4015104" h="76200">
                  <a:moveTo>
                    <a:pt x="3913631" y="44958"/>
                  </a:moveTo>
                  <a:lnTo>
                    <a:pt x="3913631" y="31242"/>
                  </a:lnTo>
                  <a:lnTo>
                    <a:pt x="3907536" y="25908"/>
                  </a:lnTo>
                  <a:lnTo>
                    <a:pt x="6095" y="25908"/>
                  </a:lnTo>
                  <a:lnTo>
                    <a:pt x="0" y="31242"/>
                  </a:lnTo>
                  <a:lnTo>
                    <a:pt x="0" y="44958"/>
                  </a:lnTo>
                  <a:lnTo>
                    <a:pt x="6095" y="51054"/>
                  </a:lnTo>
                  <a:lnTo>
                    <a:pt x="3907536" y="51054"/>
                  </a:lnTo>
                  <a:lnTo>
                    <a:pt x="3913631" y="44958"/>
                  </a:lnTo>
                  <a:close/>
                </a:path>
                <a:path w="4015104" h="76200">
                  <a:moveTo>
                    <a:pt x="4014978" y="38100"/>
                  </a:moveTo>
                  <a:lnTo>
                    <a:pt x="3888486" y="0"/>
                  </a:lnTo>
                  <a:lnTo>
                    <a:pt x="3888486" y="25908"/>
                  </a:lnTo>
                  <a:lnTo>
                    <a:pt x="3907536" y="25908"/>
                  </a:lnTo>
                  <a:lnTo>
                    <a:pt x="3913631" y="31242"/>
                  </a:lnTo>
                  <a:lnTo>
                    <a:pt x="3913631" y="68625"/>
                  </a:lnTo>
                  <a:lnTo>
                    <a:pt x="4014978" y="38100"/>
                  </a:lnTo>
                  <a:close/>
                </a:path>
                <a:path w="4015104" h="76200">
                  <a:moveTo>
                    <a:pt x="3913631" y="68625"/>
                  </a:moveTo>
                  <a:lnTo>
                    <a:pt x="3913631" y="44958"/>
                  </a:lnTo>
                  <a:lnTo>
                    <a:pt x="3907536" y="51054"/>
                  </a:lnTo>
                  <a:lnTo>
                    <a:pt x="3888486" y="51054"/>
                  </a:lnTo>
                  <a:lnTo>
                    <a:pt x="3888486" y="76200"/>
                  </a:lnTo>
                  <a:lnTo>
                    <a:pt x="3913631" y="68625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704073" y="1679701"/>
            <a:ext cx="23545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Verdana"/>
                <a:cs typeface="Verdana"/>
              </a:rPr>
              <a:t>Unstable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transient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94302" y="5411216"/>
            <a:ext cx="1162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frequency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28013" y="2010335"/>
            <a:ext cx="323850" cy="800100"/>
          </a:xfrm>
          <a:prstGeom prst="rect">
            <a:avLst/>
          </a:prstGeom>
        </p:spPr>
        <p:txBody>
          <a:bodyPr vert="vert270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00" dirty="0">
                <a:latin typeface="Verdana"/>
                <a:cs typeface="Verdana"/>
              </a:rPr>
              <a:t>|A|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25" dirty="0">
                <a:latin typeface="Symbol"/>
                <a:cs typeface="Symbol"/>
              </a:rPr>
              <a:t></a:t>
            </a:r>
            <a:r>
              <a:rPr sz="1800" spc="-25" dirty="0">
                <a:latin typeface="Verdana"/>
                <a:cs typeface="Verdana"/>
              </a:rPr>
              <a:t>A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375909" y="1977389"/>
            <a:ext cx="584835" cy="3474085"/>
          </a:xfrm>
          <a:custGeom>
            <a:avLst/>
            <a:gdLst/>
            <a:ahLst/>
            <a:cxnLst/>
            <a:rect l="l" t="t" r="r" b="b"/>
            <a:pathLst>
              <a:path w="584835" h="3474085">
                <a:moveTo>
                  <a:pt x="584453" y="3473958"/>
                </a:moveTo>
                <a:lnTo>
                  <a:pt x="584453" y="0"/>
                </a:lnTo>
                <a:lnTo>
                  <a:pt x="0" y="0"/>
                </a:lnTo>
                <a:lnTo>
                  <a:pt x="0" y="3473958"/>
                </a:lnTo>
                <a:lnTo>
                  <a:pt x="584453" y="34739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997711" y="3977132"/>
            <a:ext cx="471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0dB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19403" y="5169669"/>
            <a:ext cx="711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-</a:t>
            </a:r>
            <a:r>
              <a:rPr sz="1800" spc="-20" dirty="0">
                <a:latin typeface="Verdana"/>
                <a:cs typeface="Verdana"/>
              </a:rPr>
              <a:t>180˚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241533" y="5411216"/>
            <a:ext cx="5372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Verdana"/>
                <a:cs typeface="Verdana"/>
              </a:rPr>
              <a:t>time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485932" y="2066265"/>
            <a:ext cx="303530" cy="877569"/>
          </a:xfrm>
          <a:prstGeom prst="rect">
            <a:avLst/>
          </a:prstGeom>
        </p:spPr>
        <p:txBody>
          <a:bodyPr vert="vert270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10" dirty="0">
                <a:latin typeface="Verdana"/>
                <a:cs typeface="Verdana"/>
              </a:rPr>
              <a:t>Voltage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862571" y="2049017"/>
            <a:ext cx="76200" cy="3373120"/>
          </a:xfrm>
          <a:custGeom>
            <a:avLst/>
            <a:gdLst/>
            <a:ahLst/>
            <a:cxnLst/>
            <a:rect l="l" t="t" r="r" b="b"/>
            <a:pathLst>
              <a:path w="76200" h="3373120">
                <a:moveTo>
                  <a:pt x="76200" y="126492"/>
                </a:moveTo>
                <a:lnTo>
                  <a:pt x="38100" y="0"/>
                </a:lnTo>
                <a:lnTo>
                  <a:pt x="0" y="126492"/>
                </a:lnTo>
                <a:lnTo>
                  <a:pt x="25146" y="126492"/>
                </a:lnTo>
                <a:lnTo>
                  <a:pt x="25146" y="107442"/>
                </a:lnTo>
                <a:lnTo>
                  <a:pt x="30480" y="101346"/>
                </a:lnTo>
                <a:lnTo>
                  <a:pt x="44958" y="101346"/>
                </a:lnTo>
                <a:lnTo>
                  <a:pt x="50292" y="107442"/>
                </a:lnTo>
                <a:lnTo>
                  <a:pt x="50292" y="126492"/>
                </a:lnTo>
                <a:lnTo>
                  <a:pt x="76200" y="126492"/>
                </a:lnTo>
                <a:close/>
              </a:path>
              <a:path w="76200" h="3373120">
                <a:moveTo>
                  <a:pt x="50292" y="126492"/>
                </a:moveTo>
                <a:lnTo>
                  <a:pt x="50292" y="107442"/>
                </a:lnTo>
                <a:lnTo>
                  <a:pt x="44958" y="101346"/>
                </a:lnTo>
                <a:lnTo>
                  <a:pt x="30480" y="101346"/>
                </a:lnTo>
                <a:lnTo>
                  <a:pt x="25146" y="107442"/>
                </a:lnTo>
                <a:lnTo>
                  <a:pt x="25146" y="126492"/>
                </a:lnTo>
                <a:lnTo>
                  <a:pt x="50292" y="126492"/>
                </a:lnTo>
                <a:close/>
              </a:path>
              <a:path w="76200" h="3373120">
                <a:moveTo>
                  <a:pt x="50292" y="3366516"/>
                </a:moveTo>
                <a:lnTo>
                  <a:pt x="50292" y="126492"/>
                </a:lnTo>
                <a:lnTo>
                  <a:pt x="25146" y="126492"/>
                </a:lnTo>
                <a:lnTo>
                  <a:pt x="25146" y="3366516"/>
                </a:lnTo>
                <a:lnTo>
                  <a:pt x="30480" y="3372612"/>
                </a:lnTo>
                <a:lnTo>
                  <a:pt x="44958" y="3372612"/>
                </a:lnTo>
                <a:lnTo>
                  <a:pt x="50292" y="3366516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51D12CC2-09B5-4B8D-8F90-61C726185FFA}" type="datetime1">
              <a:rPr lang="en-US" spc="-10" smtClean="0"/>
              <a:t>8/17/2026</a:t>
            </a:fld>
            <a:endParaRPr lang="en-US" spc="-10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462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lang="en-US" spc="-50" smtClean="0"/>
              <a:t>75</a:t>
            </a:fld>
            <a:endParaRPr lang="en-US" spc="-50" dirty="0"/>
          </a:p>
        </p:txBody>
      </p:sp>
      <p:sp>
        <p:nvSpPr>
          <p:cNvPr id="29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dirty="0"/>
              <a:t>Beware</a:t>
            </a:r>
            <a:r>
              <a:rPr spc="-4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Parasitic</a:t>
            </a:r>
            <a:r>
              <a:rPr spc="-15" dirty="0"/>
              <a:t> </a:t>
            </a:r>
            <a:r>
              <a:rPr spc="-10" dirty="0"/>
              <a:t>Effects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92580" y="1304503"/>
            <a:ext cx="3197225" cy="112268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508000" indent="-469900">
              <a:lnSpc>
                <a:spcPct val="100000"/>
              </a:lnSpc>
              <a:spcBef>
                <a:spcPts val="580"/>
              </a:spcBef>
              <a:buClr>
                <a:srgbClr val="CC0000"/>
              </a:buClr>
              <a:buFont typeface="Wingdings"/>
              <a:buChar char=""/>
              <a:tabLst>
                <a:tab pos="508000" algn="l"/>
              </a:tabLst>
            </a:pPr>
            <a:r>
              <a:rPr sz="2000" dirty="0">
                <a:latin typeface="Verdana"/>
                <a:cs typeface="Verdana"/>
              </a:rPr>
              <a:t>Bondwire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inductance</a:t>
            </a:r>
            <a:endParaRPr sz="2000">
              <a:latin typeface="Verdana"/>
              <a:cs typeface="Verdana"/>
            </a:endParaRPr>
          </a:p>
          <a:p>
            <a:pPr marL="508000" indent="-469900">
              <a:lnSpc>
                <a:spcPct val="100000"/>
              </a:lnSpc>
              <a:spcBef>
                <a:spcPts val="480"/>
              </a:spcBef>
              <a:buClr>
                <a:srgbClr val="CC0000"/>
              </a:buClr>
              <a:buFont typeface="Wingdings"/>
              <a:buChar char=""/>
              <a:tabLst>
                <a:tab pos="508000" algn="l"/>
              </a:tabLst>
            </a:pPr>
            <a:r>
              <a:rPr sz="2000" dirty="0">
                <a:latin typeface="Verdana"/>
                <a:cs typeface="Verdana"/>
              </a:rPr>
              <a:t>Pad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capacitance</a:t>
            </a:r>
            <a:endParaRPr sz="2000">
              <a:latin typeface="Verdana"/>
              <a:cs typeface="Verdana"/>
            </a:endParaRPr>
          </a:p>
          <a:p>
            <a:pPr marL="508000" indent="-469900">
              <a:lnSpc>
                <a:spcPct val="100000"/>
              </a:lnSpc>
              <a:spcBef>
                <a:spcPts val="480"/>
              </a:spcBef>
              <a:buClr>
                <a:srgbClr val="CC0000"/>
              </a:buClr>
              <a:buFont typeface="Wingdings"/>
              <a:buChar char=""/>
              <a:tabLst>
                <a:tab pos="508000" algn="l"/>
              </a:tabLst>
            </a:pPr>
            <a:r>
              <a:rPr sz="2000" dirty="0">
                <a:latin typeface="Verdana"/>
                <a:cs typeface="Verdana"/>
              </a:rPr>
              <a:t>C</a:t>
            </a:r>
            <a:r>
              <a:rPr sz="1950" baseline="-21367" dirty="0">
                <a:latin typeface="Verdana"/>
                <a:cs typeface="Verdana"/>
              </a:rPr>
              <a:t>DG</a:t>
            </a:r>
            <a:r>
              <a:rPr sz="2000" dirty="0">
                <a:latin typeface="Verdana"/>
                <a:cs typeface="Verdana"/>
              </a:rPr>
              <a:t>,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1950" baseline="-21367" dirty="0">
                <a:latin typeface="Verdana"/>
                <a:cs typeface="Verdana"/>
              </a:rPr>
              <a:t>CB</a:t>
            </a:r>
            <a:r>
              <a:rPr sz="1950" spc="367" baseline="-21367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vs </a:t>
            </a:r>
            <a:r>
              <a:rPr sz="2000" spc="-10" dirty="0">
                <a:latin typeface="Verdana"/>
                <a:cs typeface="Verdana"/>
              </a:rPr>
              <a:t>voltage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123869" y="1658044"/>
            <a:ext cx="3658235" cy="4020185"/>
            <a:chOff x="7123869" y="1658044"/>
            <a:chExt cx="3658235" cy="40201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23869" y="1658044"/>
              <a:ext cx="3658083" cy="402003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371588" y="3841241"/>
              <a:ext cx="2715895" cy="1636395"/>
            </a:xfrm>
            <a:custGeom>
              <a:avLst/>
              <a:gdLst/>
              <a:ahLst/>
              <a:cxnLst/>
              <a:rect l="l" t="t" r="r" b="b"/>
              <a:pathLst>
                <a:path w="2715895" h="1636395">
                  <a:moveTo>
                    <a:pt x="12954" y="345186"/>
                  </a:moveTo>
                  <a:lnTo>
                    <a:pt x="0" y="345186"/>
                  </a:lnTo>
                  <a:lnTo>
                    <a:pt x="0" y="395478"/>
                  </a:lnTo>
                  <a:lnTo>
                    <a:pt x="12954" y="395478"/>
                  </a:lnTo>
                  <a:lnTo>
                    <a:pt x="12954" y="345186"/>
                  </a:lnTo>
                  <a:close/>
                </a:path>
                <a:path w="2715895" h="1636395">
                  <a:moveTo>
                    <a:pt x="12954" y="256032"/>
                  </a:moveTo>
                  <a:lnTo>
                    <a:pt x="0" y="256032"/>
                  </a:lnTo>
                  <a:lnTo>
                    <a:pt x="0" y="307086"/>
                  </a:lnTo>
                  <a:lnTo>
                    <a:pt x="12954" y="307086"/>
                  </a:lnTo>
                  <a:lnTo>
                    <a:pt x="12954" y="256032"/>
                  </a:lnTo>
                  <a:close/>
                </a:path>
                <a:path w="2715895" h="1636395">
                  <a:moveTo>
                    <a:pt x="12954" y="167640"/>
                  </a:moveTo>
                  <a:lnTo>
                    <a:pt x="0" y="167640"/>
                  </a:lnTo>
                  <a:lnTo>
                    <a:pt x="0" y="217932"/>
                  </a:lnTo>
                  <a:lnTo>
                    <a:pt x="12954" y="217932"/>
                  </a:lnTo>
                  <a:lnTo>
                    <a:pt x="12954" y="167640"/>
                  </a:lnTo>
                  <a:close/>
                </a:path>
                <a:path w="2715895" h="1636395">
                  <a:moveTo>
                    <a:pt x="12954" y="78486"/>
                  </a:moveTo>
                  <a:lnTo>
                    <a:pt x="0" y="77724"/>
                  </a:lnTo>
                  <a:lnTo>
                    <a:pt x="0" y="129540"/>
                  </a:lnTo>
                  <a:lnTo>
                    <a:pt x="12954" y="129540"/>
                  </a:lnTo>
                  <a:lnTo>
                    <a:pt x="12954" y="78486"/>
                  </a:lnTo>
                  <a:close/>
                </a:path>
                <a:path w="2715895" h="1636395">
                  <a:moveTo>
                    <a:pt x="45720" y="456438"/>
                  </a:moveTo>
                  <a:lnTo>
                    <a:pt x="44196" y="454914"/>
                  </a:lnTo>
                  <a:lnTo>
                    <a:pt x="38862" y="451104"/>
                  </a:lnTo>
                  <a:lnTo>
                    <a:pt x="33528" y="446532"/>
                  </a:lnTo>
                  <a:lnTo>
                    <a:pt x="17526" y="420624"/>
                  </a:lnTo>
                  <a:lnTo>
                    <a:pt x="5334" y="425196"/>
                  </a:lnTo>
                  <a:lnTo>
                    <a:pt x="31242" y="461010"/>
                  </a:lnTo>
                  <a:lnTo>
                    <a:pt x="39624" y="467106"/>
                  </a:lnTo>
                  <a:lnTo>
                    <a:pt x="45720" y="456438"/>
                  </a:lnTo>
                  <a:close/>
                </a:path>
                <a:path w="2715895" h="1636395">
                  <a:moveTo>
                    <a:pt x="59436" y="16764"/>
                  </a:moveTo>
                  <a:lnTo>
                    <a:pt x="54864" y="5334"/>
                  </a:lnTo>
                  <a:lnTo>
                    <a:pt x="51054" y="6858"/>
                  </a:lnTo>
                  <a:lnTo>
                    <a:pt x="44196" y="9906"/>
                  </a:lnTo>
                  <a:lnTo>
                    <a:pt x="12954" y="39624"/>
                  </a:lnTo>
                  <a:lnTo>
                    <a:pt x="23622" y="45720"/>
                  </a:lnTo>
                  <a:lnTo>
                    <a:pt x="25146" y="43434"/>
                  </a:lnTo>
                  <a:lnTo>
                    <a:pt x="28956" y="38100"/>
                  </a:lnTo>
                  <a:lnTo>
                    <a:pt x="33528" y="32766"/>
                  </a:lnTo>
                  <a:lnTo>
                    <a:pt x="38862" y="28956"/>
                  </a:lnTo>
                  <a:lnTo>
                    <a:pt x="44196" y="24384"/>
                  </a:lnTo>
                  <a:lnTo>
                    <a:pt x="50292" y="20574"/>
                  </a:lnTo>
                  <a:lnTo>
                    <a:pt x="56388" y="18288"/>
                  </a:lnTo>
                  <a:lnTo>
                    <a:pt x="59436" y="16764"/>
                  </a:lnTo>
                  <a:close/>
                </a:path>
                <a:path w="2715895" h="1636395">
                  <a:moveTo>
                    <a:pt x="129540" y="467106"/>
                  </a:moveTo>
                  <a:lnTo>
                    <a:pt x="78486" y="467106"/>
                  </a:lnTo>
                  <a:lnTo>
                    <a:pt x="78486" y="480060"/>
                  </a:lnTo>
                  <a:lnTo>
                    <a:pt x="129540" y="480060"/>
                  </a:lnTo>
                  <a:lnTo>
                    <a:pt x="129540" y="467106"/>
                  </a:lnTo>
                  <a:close/>
                </a:path>
                <a:path w="2715895" h="1636395">
                  <a:moveTo>
                    <a:pt x="145542" y="0"/>
                  </a:moveTo>
                  <a:lnTo>
                    <a:pt x="94488" y="0"/>
                  </a:lnTo>
                  <a:lnTo>
                    <a:pt x="94488" y="12192"/>
                  </a:lnTo>
                  <a:lnTo>
                    <a:pt x="145542" y="12192"/>
                  </a:lnTo>
                  <a:lnTo>
                    <a:pt x="145542" y="0"/>
                  </a:lnTo>
                  <a:close/>
                </a:path>
                <a:path w="2715895" h="1636395">
                  <a:moveTo>
                    <a:pt x="217932" y="467106"/>
                  </a:moveTo>
                  <a:lnTo>
                    <a:pt x="167640" y="467106"/>
                  </a:lnTo>
                  <a:lnTo>
                    <a:pt x="167640" y="480060"/>
                  </a:lnTo>
                  <a:lnTo>
                    <a:pt x="217932" y="480060"/>
                  </a:lnTo>
                  <a:lnTo>
                    <a:pt x="217932" y="467106"/>
                  </a:lnTo>
                  <a:close/>
                </a:path>
                <a:path w="2715895" h="1636395">
                  <a:moveTo>
                    <a:pt x="233934" y="0"/>
                  </a:moveTo>
                  <a:lnTo>
                    <a:pt x="183642" y="0"/>
                  </a:lnTo>
                  <a:lnTo>
                    <a:pt x="183642" y="12192"/>
                  </a:lnTo>
                  <a:lnTo>
                    <a:pt x="233934" y="12192"/>
                  </a:lnTo>
                  <a:lnTo>
                    <a:pt x="233934" y="0"/>
                  </a:lnTo>
                  <a:close/>
                </a:path>
                <a:path w="2715895" h="1636395">
                  <a:moveTo>
                    <a:pt x="307086" y="467106"/>
                  </a:moveTo>
                  <a:lnTo>
                    <a:pt x="256032" y="467106"/>
                  </a:lnTo>
                  <a:lnTo>
                    <a:pt x="256032" y="480060"/>
                  </a:lnTo>
                  <a:lnTo>
                    <a:pt x="307086" y="480060"/>
                  </a:lnTo>
                  <a:lnTo>
                    <a:pt x="307086" y="467106"/>
                  </a:lnTo>
                  <a:close/>
                </a:path>
                <a:path w="2715895" h="1636395">
                  <a:moveTo>
                    <a:pt x="323088" y="0"/>
                  </a:moveTo>
                  <a:lnTo>
                    <a:pt x="272034" y="0"/>
                  </a:lnTo>
                  <a:lnTo>
                    <a:pt x="272034" y="12192"/>
                  </a:lnTo>
                  <a:lnTo>
                    <a:pt x="323088" y="12192"/>
                  </a:lnTo>
                  <a:lnTo>
                    <a:pt x="323088" y="0"/>
                  </a:lnTo>
                  <a:close/>
                </a:path>
                <a:path w="2715895" h="1636395">
                  <a:moveTo>
                    <a:pt x="396240" y="467106"/>
                  </a:moveTo>
                  <a:lnTo>
                    <a:pt x="345186" y="467106"/>
                  </a:lnTo>
                  <a:lnTo>
                    <a:pt x="345186" y="480060"/>
                  </a:lnTo>
                  <a:lnTo>
                    <a:pt x="396240" y="480060"/>
                  </a:lnTo>
                  <a:lnTo>
                    <a:pt x="396240" y="467106"/>
                  </a:lnTo>
                  <a:close/>
                </a:path>
                <a:path w="2715895" h="1636395">
                  <a:moveTo>
                    <a:pt x="412242" y="0"/>
                  </a:moveTo>
                  <a:lnTo>
                    <a:pt x="361188" y="0"/>
                  </a:lnTo>
                  <a:lnTo>
                    <a:pt x="361188" y="12192"/>
                  </a:lnTo>
                  <a:lnTo>
                    <a:pt x="412242" y="12192"/>
                  </a:lnTo>
                  <a:lnTo>
                    <a:pt x="412242" y="0"/>
                  </a:lnTo>
                  <a:close/>
                </a:path>
                <a:path w="2715895" h="1636395">
                  <a:moveTo>
                    <a:pt x="484632" y="467106"/>
                  </a:moveTo>
                  <a:lnTo>
                    <a:pt x="434340" y="467106"/>
                  </a:lnTo>
                  <a:lnTo>
                    <a:pt x="434340" y="480060"/>
                  </a:lnTo>
                  <a:lnTo>
                    <a:pt x="484632" y="480060"/>
                  </a:lnTo>
                  <a:lnTo>
                    <a:pt x="484632" y="467106"/>
                  </a:lnTo>
                  <a:close/>
                </a:path>
                <a:path w="2715895" h="1636395">
                  <a:moveTo>
                    <a:pt x="500634" y="0"/>
                  </a:moveTo>
                  <a:lnTo>
                    <a:pt x="450342" y="0"/>
                  </a:lnTo>
                  <a:lnTo>
                    <a:pt x="450342" y="12192"/>
                  </a:lnTo>
                  <a:lnTo>
                    <a:pt x="500634" y="12192"/>
                  </a:lnTo>
                  <a:lnTo>
                    <a:pt x="500634" y="0"/>
                  </a:lnTo>
                  <a:close/>
                </a:path>
                <a:path w="2715895" h="1636395">
                  <a:moveTo>
                    <a:pt x="573786" y="467106"/>
                  </a:moveTo>
                  <a:lnTo>
                    <a:pt x="522732" y="467106"/>
                  </a:lnTo>
                  <a:lnTo>
                    <a:pt x="522732" y="480060"/>
                  </a:lnTo>
                  <a:lnTo>
                    <a:pt x="573786" y="480060"/>
                  </a:lnTo>
                  <a:lnTo>
                    <a:pt x="573786" y="467106"/>
                  </a:lnTo>
                  <a:close/>
                </a:path>
                <a:path w="2715895" h="1636395">
                  <a:moveTo>
                    <a:pt x="589788" y="0"/>
                  </a:moveTo>
                  <a:lnTo>
                    <a:pt x="538734" y="0"/>
                  </a:lnTo>
                  <a:lnTo>
                    <a:pt x="538734" y="12192"/>
                  </a:lnTo>
                  <a:lnTo>
                    <a:pt x="589788" y="12192"/>
                  </a:lnTo>
                  <a:lnTo>
                    <a:pt x="589788" y="0"/>
                  </a:lnTo>
                  <a:close/>
                </a:path>
                <a:path w="2715895" h="1636395">
                  <a:moveTo>
                    <a:pt x="662178" y="467106"/>
                  </a:moveTo>
                  <a:lnTo>
                    <a:pt x="611886" y="467106"/>
                  </a:lnTo>
                  <a:lnTo>
                    <a:pt x="611886" y="480060"/>
                  </a:lnTo>
                  <a:lnTo>
                    <a:pt x="662178" y="480060"/>
                  </a:lnTo>
                  <a:lnTo>
                    <a:pt x="662178" y="467106"/>
                  </a:lnTo>
                  <a:close/>
                </a:path>
                <a:path w="2715895" h="1636395">
                  <a:moveTo>
                    <a:pt x="678942" y="0"/>
                  </a:moveTo>
                  <a:lnTo>
                    <a:pt x="627888" y="0"/>
                  </a:lnTo>
                  <a:lnTo>
                    <a:pt x="627888" y="12192"/>
                  </a:lnTo>
                  <a:lnTo>
                    <a:pt x="678942" y="12192"/>
                  </a:lnTo>
                  <a:lnTo>
                    <a:pt x="678942" y="0"/>
                  </a:lnTo>
                  <a:close/>
                </a:path>
                <a:path w="2715895" h="1636395">
                  <a:moveTo>
                    <a:pt x="751332" y="467106"/>
                  </a:moveTo>
                  <a:lnTo>
                    <a:pt x="700278" y="467106"/>
                  </a:lnTo>
                  <a:lnTo>
                    <a:pt x="700278" y="480060"/>
                  </a:lnTo>
                  <a:lnTo>
                    <a:pt x="751332" y="480060"/>
                  </a:lnTo>
                  <a:lnTo>
                    <a:pt x="751332" y="467106"/>
                  </a:lnTo>
                  <a:close/>
                </a:path>
                <a:path w="2715895" h="1636395">
                  <a:moveTo>
                    <a:pt x="768096" y="0"/>
                  </a:moveTo>
                  <a:lnTo>
                    <a:pt x="717042" y="0"/>
                  </a:lnTo>
                  <a:lnTo>
                    <a:pt x="717042" y="12192"/>
                  </a:lnTo>
                  <a:lnTo>
                    <a:pt x="767334" y="12192"/>
                  </a:lnTo>
                  <a:lnTo>
                    <a:pt x="768096" y="0"/>
                  </a:lnTo>
                  <a:close/>
                </a:path>
                <a:path w="2715895" h="1636395">
                  <a:moveTo>
                    <a:pt x="835152" y="445770"/>
                  </a:moveTo>
                  <a:lnTo>
                    <a:pt x="824484" y="438150"/>
                  </a:lnTo>
                  <a:lnTo>
                    <a:pt x="822198" y="441960"/>
                  </a:lnTo>
                  <a:lnTo>
                    <a:pt x="817626" y="446532"/>
                  </a:lnTo>
                  <a:lnTo>
                    <a:pt x="806958" y="455676"/>
                  </a:lnTo>
                  <a:lnTo>
                    <a:pt x="794766" y="461772"/>
                  </a:lnTo>
                  <a:lnTo>
                    <a:pt x="787908" y="464058"/>
                  </a:lnTo>
                  <a:lnTo>
                    <a:pt x="790956" y="477012"/>
                  </a:lnTo>
                  <a:lnTo>
                    <a:pt x="792480" y="476250"/>
                  </a:lnTo>
                  <a:lnTo>
                    <a:pt x="800100" y="473202"/>
                  </a:lnTo>
                  <a:lnTo>
                    <a:pt x="806958" y="470154"/>
                  </a:lnTo>
                  <a:lnTo>
                    <a:pt x="814578" y="465582"/>
                  </a:lnTo>
                  <a:lnTo>
                    <a:pt x="820674" y="461010"/>
                  </a:lnTo>
                  <a:lnTo>
                    <a:pt x="832104" y="449580"/>
                  </a:lnTo>
                  <a:lnTo>
                    <a:pt x="835152" y="445770"/>
                  </a:lnTo>
                  <a:close/>
                </a:path>
                <a:path w="2715895" h="1636395">
                  <a:moveTo>
                    <a:pt x="843534" y="49530"/>
                  </a:moveTo>
                  <a:lnTo>
                    <a:pt x="813816" y="13716"/>
                  </a:lnTo>
                  <a:lnTo>
                    <a:pt x="807720" y="9906"/>
                  </a:lnTo>
                  <a:lnTo>
                    <a:pt x="800862" y="20574"/>
                  </a:lnTo>
                  <a:lnTo>
                    <a:pt x="806958" y="25146"/>
                  </a:lnTo>
                  <a:lnTo>
                    <a:pt x="812292" y="28956"/>
                  </a:lnTo>
                  <a:lnTo>
                    <a:pt x="817626" y="33528"/>
                  </a:lnTo>
                  <a:lnTo>
                    <a:pt x="826770" y="44196"/>
                  </a:lnTo>
                  <a:lnTo>
                    <a:pt x="832104" y="54864"/>
                  </a:lnTo>
                  <a:lnTo>
                    <a:pt x="843534" y="49530"/>
                  </a:lnTo>
                  <a:close/>
                </a:path>
                <a:path w="2715895" h="1636395">
                  <a:moveTo>
                    <a:pt x="851154" y="1251966"/>
                  </a:moveTo>
                  <a:lnTo>
                    <a:pt x="838200" y="1251966"/>
                  </a:lnTo>
                  <a:lnTo>
                    <a:pt x="838200" y="1303020"/>
                  </a:lnTo>
                  <a:lnTo>
                    <a:pt x="851154" y="1303020"/>
                  </a:lnTo>
                  <a:lnTo>
                    <a:pt x="851154" y="1251966"/>
                  </a:lnTo>
                  <a:close/>
                </a:path>
                <a:path w="2715895" h="1636395">
                  <a:moveTo>
                    <a:pt x="851154" y="1163574"/>
                  </a:moveTo>
                  <a:lnTo>
                    <a:pt x="838200" y="1163574"/>
                  </a:lnTo>
                  <a:lnTo>
                    <a:pt x="838200" y="1213866"/>
                  </a:lnTo>
                  <a:lnTo>
                    <a:pt x="851154" y="1213866"/>
                  </a:lnTo>
                  <a:lnTo>
                    <a:pt x="851154" y="1163574"/>
                  </a:lnTo>
                  <a:close/>
                </a:path>
                <a:path w="2715895" h="1636395">
                  <a:moveTo>
                    <a:pt x="851154" y="1074420"/>
                  </a:moveTo>
                  <a:lnTo>
                    <a:pt x="838200" y="1074420"/>
                  </a:lnTo>
                  <a:lnTo>
                    <a:pt x="838200" y="1125474"/>
                  </a:lnTo>
                  <a:lnTo>
                    <a:pt x="851154" y="1125474"/>
                  </a:lnTo>
                  <a:lnTo>
                    <a:pt x="851154" y="1074420"/>
                  </a:lnTo>
                  <a:close/>
                </a:path>
                <a:path w="2715895" h="1636395">
                  <a:moveTo>
                    <a:pt x="851154" y="985266"/>
                  </a:moveTo>
                  <a:lnTo>
                    <a:pt x="838200" y="985266"/>
                  </a:lnTo>
                  <a:lnTo>
                    <a:pt x="838200" y="1036320"/>
                  </a:lnTo>
                  <a:lnTo>
                    <a:pt x="851154" y="1036320"/>
                  </a:lnTo>
                  <a:lnTo>
                    <a:pt x="851154" y="985266"/>
                  </a:lnTo>
                  <a:close/>
                </a:path>
                <a:path w="2715895" h="1636395">
                  <a:moveTo>
                    <a:pt x="851154" y="896874"/>
                  </a:moveTo>
                  <a:lnTo>
                    <a:pt x="838200" y="896874"/>
                  </a:lnTo>
                  <a:lnTo>
                    <a:pt x="838200" y="947166"/>
                  </a:lnTo>
                  <a:lnTo>
                    <a:pt x="851154" y="947166"/>
                  </a:lnTo>
                  <a:lnTo>
                    <a:pt x="851154" y="896874"/>
                  </a:lnTo>
                  <a:close/>
                </a:path>
                <a:path w="2715895" h="1636395">
                  <a:moveTo>
                    <a:pt x="851154" y="355854"/>
                  </a:moveTo>
                  <a:lnTo>
                    <a:pt x="838200" y="355854"/>
                  </a:lnTo>
                  <a:lnTo>
                    <a:pt x="838200" y="403860"/>
                  </a:lnTo>
                  <a:lnTo>
                    <a:pt x="837438" y="405384"/>
                  </a:lnTo>
                  <a:lnTo>
                    <a:pt x="850392" y="407670"/>
                  </a:lnTo>
                  <a:lnTo>
                    <a:pt x="851154" y="403860"/>
                  </a:lnTo>
                  <a:lnTo>
                    <a:pt x="851154" y="355854"/>
                  </a:lnTo>
                  <a:close/>
                </a:path>
                <a:path w="2715895" h="1636395">
                  <a:moveTo>
                    <a:pt x="851154" y="266700"/>
                  </a:moveTo>
                  <a:lnTo>
                    <a:pt x="838200" y="266700"/>
                  </a:lnTo>
                  <a:lnTo>
                    <a:pt x="838200" y="317754"/>
                  </a:lnTo>
                  <a:lnTo>
                    <a:pt x="851154" y="317754"/>
                  </a:lnTo>
                  <a:lnTo>
                    <a:pt x="851154" y="266700"/>
                  </a:lnTo>
                  <a:close/>
                </a:path>
                <a:path w="2715895" h="1636395">
                  <a:moveTo>
                    <a:pt x="851154" y="178308"/>
                  </a:moveTo>
                  <a:lnTo>
                    <a:pt x="838200" y="178308"/>
                  </a:lnTo>
                  <a:lnTo>
                    <a:pt x="838200" y="228600"/>
                  </a:lnTo>
                  <a:lnTo>
                    <a:pt x="851154" y="228600"/>
                  </a:lnTo>
                  <a:lnTo>
                    <a:pt x="851154" y="178308"/>
                  </a:lnTo>
                  <a:close/>
                </a:path>
                <a:path w="2715895" h="1636395">
                  <a:moveTo>
                    <a:pt x="851154" y="89154"/>
                  </a:moveTo>
                  <a:lnTo>
                    <a:pt x="838200" y="89154"/>
                  </a:lnTo>
                  <a:lnTo>
                    <a:pt x="838200" y="140208"/>
                  </a:lnTo>
                  <a:lnTo>
                    <a:pt x="851154" y="140208"/>
                  </a:lnTo>
                  <a:lnTo>
                    <a:pt x="851154" y="89154"/>
                  </a:lnTo>
                  <a:close/>
                </a:path>
                <a:path w="2715895" h="1636395">
                  <a:moveTo>
                    <a:pt x="851916" y="1400556"/>
                  </a:moveTo>
                  <a:lnTo>
                    <a:pt x="851154" y="1399794"/>
                  </a:lnTo>
                  <a:lnTo>
                    <a:pt x="851154" y="1392174"/>
                  </a:lnTo>
                  <a:lnTo>
                    <a:pt x="838962" y="1392174"/>
                  </a:lnTo>
                  <a:lnTo>
                    <a:pt x="839533" y="1392148"/>
                  </a:lnTo>
                  <a:lnTo>
                    <a:pt x="851154" y="1392174"/>
                  </a:lnTo>
                  <a:lnTo>
                    <a:pt x="851154" y="1391412"/>
                  </a:lnTo>
                  <a:lnTo>
                    <a:pt x="851154" y="1341120"/>
                  </a:lnTo>
                  <a:lnTo>
                    <a:pt x="838200" y="1341120"/>
                  </a:lnTo>
                  <a:lnTo>
                    <a:pt x="838200" y="1392174"/>
                  </a:lnTo>
                  <a:lnTo>
                    <a:pt x="838962" y="1401318"/>
                  </a:lnTo>
                  <a:lnTo>
                    <a:pt x="838962" y="1402080"/>
                  </a:lnTo>
                  <a:lnTo>
                    <a:pt x="851154" y="1400657"/>
                  </a:lnTo>
                  <a:lnTo>
                    <a:pt x="851916" y="1400556"/>
                  </a:lnTo>
                  <a:close/>
                </a:path>
                <a:path w="2715895" h="1636395">
                  <a:moveTo>
                    <a:pt x="883920" y="824484"/>
                  </a:moveTo>
                  <a:lnTo>
                    <a:pt x="876300" y="813816"/>
                  </a:lnTo>
                  <a:lnTo>
                    <a:pt x="871728" y="817626"/>
                  </a:lnTo>
                  <a:lnTo>
                    <a:pt x="864870" y="823722"/>
                  </a:lnTo>
                  <a:lnTo>
                    <a:pt x="844296" y="857250"/>
                  </a:lnTo>
                  <a:lnTo>
                    <a:pt x="855726" y="861060"/>
                  </a:lnTo>
                  <a:lnTo>
                    <a:pt x="857250" y="857250"/>
                  </a:lnTo>
                  <a:lnTo>
                    <a:pt x="864870" y="843534"/>
                  </a:lnTo>
                  <a:lnTo>
                    <a:pt x="869442" y="837438"/>
                  </a:lnTo>
                  <a:lnTo>
                    <a:pt x="880110" y="826770"/>
                  </a:lnTo>
                  <a:lnTo>
                    <a:pt x="883920" y="824484"/>
                  </a:lnTo>
                  <a:close/>
                </a:path>
                <a:path w="2715895" h="1636395">
                  <a:moveTo>
                    <a:pt x="897636" y="1464564"/>
                  </a:moveTo>
                  <a:lnTo>
                    <a:pt x="864870" y="1436370"/>
                  </a:lnTo>
                  <a:lnTo>
                    <a:pt x="863346" y="1433322"/>
                  </a:lnTo>
                  <a:lnTo>
                    <a:pt x="851916" y="1440180"/>
                  </a:lnTo>
                  <a:lnTo>
                    <a:pt x="879348" y="1468374"/>
                  </a:lnTo>
                  <a:lnTo>
                    <a:pt x="892302" y="1475994"/>
                  </a:lnTo>
                  <a:lnTo>
                    <a:pt x="897636" y="1464564"/>
                  </a:lnTo>
                  <a:close/>
                </a:path>
                <a:path w="2715895" h="1636395">
                  <a:moveTo>
                    <a:pt x="965454" y="796290"/>
                  </a:moveTo>
                  <a:lnTo>
                    <a:pt x="930402" y="796290"/>
                  </a:lnTo>
                  <a:lnTo>
                    <a:pt x="920496" y="797052"/>
                  </a:lnTo>
                  <a:lnTo>
                    <a:pt x="913638" y="797814"/>
                  </a:lnTo>
                  <a:lnTo>
                    <a:pt x="915924" y="810768"/>
                  </a:lnTo>
                  <a:lnTo>
                    <a:pt x="922782" y="809244"/>
                  </a:lnTo>
                  <a:lnTo>
                    <a:pt x="965454" y="809244"/>
                  </a:lnTo>
                  <a:lnTo>
                    <a:pt x="965454" y="796290"/>
                  </a:lnTo>
                  <a:close/>
                </a:path>
                <a:path w="2715895" h="1636395">
                  <a:moveTo>
                    <a:pt x="982980" y="1471422"/>
                  </a:moveTo>
                  <a:lnTo>
                    <a:pt x="931926" y="1471422"/>
                  </a:lnTo>
                  <a:lnTo>
                    <a:pt x="931926" y="1483614"/>
                  </a:lnTo>
                  <a:lnTo>
                    <a:pt x="982980" y="1483614"/>
                  </a:lnTo>
                  <a:lnTo>
                    <a:pt x="982980" y="1471422"/>
                  </a:lnTo>
                  <a:close/>
                </a:path>
                <a:path w="2715895" h="1636395">
                  <a:moveTo>
                    <a:pt x="1054608" y="796290"/>
                  </a:moveTo>
                  <a:lnTo>
                    <a:pt x="1003554" y="796290"/>
                  </a:lnTo>
                  <a:lnTo>
                    <a:pt x="1003554" y="809244"/>
                  </a:lnTo>
                  <a:lnTo>
                    <a:pt x="1054608" y="809244"/>
                  </a:lnTo>
                  <a:lnTo>
                    <a:pt x="1054608" y="796290"/>
                  </a:lnTo>
                  <a:close/>
                </a:path>
                <a:path w="2715895" h="1636395">
                  <a:moveTo>
                    <a:pt x="1072134" y="1471422"/>
                  </a:moveTo>
                  <a:lnTo>
                    <a:pt x="1021080" y="1471422"/>
                  </a:lnTo>
                  <a:lnTo>
                    <a:pt x="1021080" y="1483614"/>
                  </a:lnTo>
                  <a:lnTo>
                    <a:pt x="1072134" y="1483614"/>
                  </a:lnTo>
                  <a:lnTo>
                    <a:pt x="1072134" y="1471422"/>
                  </a:lnTo>
                  <a:close/>
                </a:path>
                <a:path w="2715895" h="1636395">
                  <a:moveTo>
                    <a:pt x="1143000" y="796290"/>
                  </a:moveTo>
                  <a:lnTo>
                    <a:pt x="1092708" y="796290"/>
                  </a:lnTo>
                  <a:lnTo>
                    <a:pt x="1092708" y="809244"/>
                  </a:lnTo>
                  <a:lnTo>
                    <a:pt x="1143000" y="809244"/>
                  </a:lnTo>
                  <a:lnTo>
                    <a:pt x="1143000" y="796290"/>
                  </a:lnTo>
                  <a:close/>
                </a:path>
                <a:path w="2715895" h="1636395">
                  <a:moveTo>
                    <a:pt x="1160526" y="1471422"/>
                  </a:moveTo>
                  <a:lnTo>
                    <a:pt x="1110234" y="1471422"/>
                  </a:lnTo>
                  <a:lnTo>
                    <a:pt x="1110234" y="1483614"/>
                  </a:lnTo>
                  <a:lnTo>
                    <a:pt x="1160526" y="1483614"/>
                  </a:lnTo>
                  <a:lnTo>
                    <a:pt x="1160526" y="1471422"/>
                  </a:lnTo>
                  <a:close/>
                </a:path>
                <a:path w="2715895" h="1636395">
                  <a:moveTo>
                    <a:pt x="1232154" y="796290"/>
                  </a:moveTo>
                  <a:lnTo>
                    <a:pt x="1181100" y="796290"/>
                  </a:lnTo>
                  <a:lnTo>
                    <a:pt x="1181100" y="809244"/>
                  </a:lnTo>
                  <a:lnTo>
                    <a:pt x="1232154" y="809244"/>
                  </a:lnTo>
                  <a:lnTo>
                    <a:pt x="1232154" y="796290"/>
                  </a:lnTo>
                  <a:close/>
                </a:path>
                <a:path w="2715895" h="1636395">
                  <a:moveTo>
                    <a:pt x="1249680" y="1471422"/>
                  </a:moveTo>
                  <a:lnTo>
                    <a:pt x="1198626" y="1471422"/>
                  </a:lnTo>
                  <a:lnTo>
                    <a:pt x="1198626" y="1483614"/>
                  </a:lnTo>
                  <a:lnTo>
                    <a:pt x="1249680" y="1483614"/>
                  </a:lnTo>
                  <a:lnTo>
                    <a:pt x="1249680" y="1471422"/>
                  </a:lnTo>
                  <a:close/>
                </a:path>
                <a:path w="2715895" h="1636395">
                  <a:moveTo>
                    <a:pt x="1322070" y="810006"/>
                  </a:moveTo>
                  <a:lnTo>
                    <a:pt x="1273302" y="796290"/>
                  </a:lnTo>
                  <a:lnTo>
                    <a:pt x="1270254" y="796290"/>
                  </a:lnTo>
                  <a:lnTo>
                    <a:pt x="1270254" y="809244"/>
                  </a:lnTo>
                  <a:lnTo>
                    <a:pt x="1281684" y="809244"/>
                  </a:lnTo>
                  <a:lnTo>
                    <a:pt x="1290066" y="810768"/>
                  </a:lnTo>
                  <a:lnTo>
                    <a:pt x="1297686" y="812292"/>
                  </a:lnTo>
                  <a:lnTo>
                    <a:pt x="1311402" y="818388"/>
                  </a:lnTo>
                  <a:lnTo>
                    <a:pt x="1315212" y="820674"/>
                  </a:lnTo>
                  <a:lnTo>
                    <a:pt x="1322070" y="810006"/>
                  </a:lnTo>
                  <a:close/>
                </a:path>
                <a:path w="2715895" h="1636395">
                  <a:moveTo>
                    <a:pt x="1336548" y="1458468"/>
                  </a:moveTo>
                  <a:lnTo>
                    <a:pt x="1328166" y="1449324"/>
                  </a:lnTo>
                  <a:lnTo>
                    <a:pt x="1323594" y="1453134"/>
                  </a:lnTo>
                  <a:lnTo>
                    <a:pt x="1317498" y="1457706"/>
                  </a:lnTo>
                  <a:lnTo>
                    <a:pt x="1311402" y="1461516"/>
                  </a:lnTo>
                  <a:lnTo>
                    <a:pt x="1303782" y="1465326"/>
                  </a:lnTo>
                  <a:lnTo>
                    <a:pt x="1296924" y="1467612"/>
                  </a:lnTo>
                  <a:lnTo>
                    <a:pt x="1289304" y="1469898"/>
                  </a:lnTo>
                  <a:lnTo>
                    <a:pt x="1287018" y="1469898"/>
                  </a:lnTo>
                  <a:lnTo>
                    <a:pt x="1288542" y="1482852"/>
                  </a:lnTo>
                  <a:lnTo>
                    <a:pt x="1325118" y="1468374"/>
                  </a:lnTo>
                  <a:lnTo>
                    <a:pt x="1331976" y="1463040"/>
                  </a:lnTo>
                  <a:lnTo>
                    <a:pt x="1336548" y="1458468"/>
                  </a:lnTo>
                  <a:close/>
                </a:path>
                <a:path w="2715895" h="1636395">
                  <a:moveTo>
                    <a:pt x="1365504" y="1372362"/>
                  </a:moveTo>
                  <a:lnTo>
                    <a:pt x="1352550" y="1372362"/>
                  </a:lnTo>
                  <a:lnTo>
                    <a:pt x="1352550" y="1400556"/>
                  </a:lnTo>
                  <a:lnTo>
                    <a:pt x="1349502" y="1415796"/>
                  </a:lnTo>
                  <a:lnTo>
                    <a:pt x="1347216" y="1420368"/>
                  </a:lnTo>
                  <a:lnTo>
                    <a:pt x="1359408" y="1424940"/>
                  </a:lnTo>
                  <a:lnTo>
                    <a:pt x="1361694" y="1418844"/>
                  </a:lnTo>
                  <a:lnTo>
                    <a:pt x="1363980" y="1410462"/>
                  </a:lnTo>
                  <a:lnTo>
                    <a:pt x="1365504" y="1401318"/>
                  </a:lnTo>
                  <a:lnTo>
                    <a:pt x="1365504" y="1372362"/>
                  </a:lnTo>
                  <a:close/>
                </a:path>
                <a:path w="2715895" h="1636395">
                  <a:moveTo>
                    <a:pt x="1365504" y="1283970"/>
                  </a:moveTo>
                  <a:lnTo>
                    <a:pt x="1352550" y="1283970"/>
                  </a:lnTo>
                  <a:lnTo>
                    <a:pt x="1352550" y="1334262"/>
                  </a:lnTo>
                  <a:lnTo>
                    <a:pt x="1365504" y="1334262"/>
                  </a:lnTo>
                  <a:lnTo>
                    <a:pt x="1365504" y="1283970"/>
                  </a:lnTo>
                  <a:close/>
                </a:path>
                <a:path w="2715895" h="1636395">
                  <a:moveTo>
                    <a:pt x="1365504" y="1194816"/>
                  </a:moveTo>
                  <a:lnTo>
                    <a:pt x="1352550" y="1194816"/>
                  </a:lnTo>
                  <a:lnTo>
                    <a:pt x="1352550" y="1245870"/>
                  </a:lnTo>
                  <a:lnTo>
                    <a:pt x="1365504" y="1245870"/>
                  </a:lnTo>
                  <a:lnTo>
                    <a:pt x="1365504" y="1194816"/>
                  </a:lnTo>
                  <a:close/>
                </a:path>
                <a:path w="2715895" h="1636395">
                  <a:moveTo>
                    <a:pt x="1365504" y="1105662"/>
                  </a:moveTo>
                  <a:lnTo>
                    <a:pt x="1352550" y="1105662"/>
                  </a:lnTo>
                  <a:lnTo>
                    <a:pt x="1352550" y="1156716"/>
                  </a:lnTo>
                  <a:lnTo>
                    <a:pt x="1365504" y="1156716"/>
                  </a:lnTo>
                  <a:lnTo>
                    <a:pt x="1365504" y="1105662"/>
                  </a:lnTo>
                  <a:close/>
                </a:path>
                <a:path w="2715895" h="1636395">
                  <a:moveTo>
                    <a:pt x="1365504" y="1017270"/>
                  </a:moveTo>
                  <a:lnTo>
                    <a:pt x="1352550" y="1017270"/>
                  </a:lnTo>
                  <a:lnTo>
                    <a:pt x="1352550" y="1067562"/>
                  </a:lnTo>
                  <a:lnTo>
                    <a:pt x="1365504" y="1067562"/>
                  </a:lnTo>
                  <a:lnTo>
                    <a:pt x="1365504" y="1017270"/>
                  </a:lnTo>
                  <a:close/>
                </a:path>
                <a:path w="2715895" h="1636395">
                  <a:moveTo>
                    <a:pt x="1365504" y="928116"/>
                  </a:moveTo>
                  <a:lnTo>
                    <a:pt x="1352550" y="928116"/>
                  </a:lnTo>
                  <a:lnTo>
                    <a:pt x="1352550" y="979170"/>
                  </a:lnTo>
                  <a:lnTo>
                    <a:pt x="1365504" y="979170"/>
                  </a:lnTo>
                  <a:lnTo>
                    <a:pt x="1365504" y="928116"/>
                  </a:lnTo>
                  <a:close/>
                </a:path>
                <a:path w="2715895" h="1636395">
                  <a:moveTo>
                    <a:pt x="1365504" y="887730"/>
                  </a:moveTo>
                  <a:lnTo>
                    <a:pt x="1354074" y="844296"/>
                  </a:lnTo>
                  <a:lnTo>
                    <a:pt x="1351026" y="838962"/>
                  </a:lnTo>
                  <a:lnTo>
                    <a:pt x="1340358" y="845058"/>
                  </a:lnTo>
                  <a:lnTo>
                    <a:pt x="1343406" y="851154"/>
                  </a:lnTo>
                  <a:lnTo>
                    <a:pt x="1349502" y="864870"/>
                  </a:lnTo>
                  <a:lnTo>
                    <a:pt x="1351026" y="872490"/>
                  </a:lnTo>
                  <a:lnTo>
                    <a:pt x="1352550" y="880872"/>
                  </a:lnTo>
                  <a:lnTo>
                    <a:pt x="1352550" y="890016"/>
                  </a:lnTo>
                  <a:lnTo>
                    <a:pt x="1365504" y="890016"/>
                  </a:lnTo>
                  <a:lnTo>
                    <a:pt x="1365504" y="887730"/>
                  </a:lnTo>
                  <a:close/>
                </a:path>
                <a:path w="2715895" h="1636395">
                  <a:moveTo>
                    <a:pt x="2201418" y="1404366"/>
                  </a:moveTo>
                  <a:lnTo>
                    <a:pt x="2188464" y="1404366"/>
                  </a:lnTo>
                  <a:lnTo>
                    <a:pt x="2188464" y="1455420"/>
                  </a:lnTo>
                  <a:lnTo>
                    <a:pt x="2201418" y="1455420"/>
                  </a:lnTo>
                  <a:lnTo>
                    <a:pt x="2201418" y="1404366"/>
                  </a:lnTo>
                  <a:close/>
                </a:path>
                <a:path w="2715895" h="1636395">
                  <a:moveTo>
                    <a:pt x="2201418" y="1315974"/>
                  </a:moveTo>
                  <a:lnTo>
                    <a:pt x="2188464" y="1315974"/>
                  </a:lnTo>
                  <a:lnTo>
                    <a:pt x="2188464" y="1366266"/>
                  </a:lnTo>
                  <a:lnTo>
                    <a:pt x="2201418" y="1366266"/>
                  </a:lnTo>
                  <a:lnTo>
                    <a:pt x="2201418" y="1315974"/>
                  </a:lnTo>
                  <a:close/>
                </a:path>
                <a:path w="2715895" h="1636395">
                  <a:moveTo>
                    <a:pt x="2201418" y="1226820"/>
                  </a:moveTo>
                  <a:lnTo>
                    <a:pt x="2188464" y="1226820"/>
                  </a:lnTo>
                  <a:lnTo>
                    <a:pt x="2188464" y="1277874"/>
                  </a:lnTo>
                  <a:lnTo>
                    <a:pt x="2201418" y="1277874"/>
                  </a:lnTo>
                  <a:lnTo>
                    <a:pt x="2201418" y="1226820"/>
                  </a:lnTo>
                  <a:close/>
                </a:path>
                <a:path w="2715895" h="1636395">
                  <a:moveTo>
                    <a:pt x="2201418" y="1137666"/>
                  </a:moveTo>
                  <a:lnTo>
                    <a:pt x="2188464" y="1137666"/>
                  </a:lnTo>
                  <a:lnTo>
                    <a:pt x="2188464" y="1188720"/>
                  </a:lnTo>
                  <a:lnTo>
                    <a:pt x="2201418" y="1188720"/>
                  </a:lnTo>
                  <a:lnTo>
                    <a:pt x="2201418" y="1137666"/>
                  </a:lnTo>
                  <a:close/>
                </a:path>
                <a:path w="2715895" h="1636395">
                  <a:moveTo>
                    <a:pt x="2201418" y="1049274"/>
                  </a:moveTo>
                  <a:lnTo>
                    <a:pt x="2188464" y="1049274"/>
                  </a:lnTo>
                  <a:lnTo>
                    <a:pt x="2188464" y="1099566"/>
                  </a:lnTo>
                  <a:lnTo>
                    <a:pt x="2201418" y="1099566"/>
                  </a:lnTo>
                  <a:lnTo>
                    <a:pt x="2201418" y="1049274"/>
                  </a:lnTo>
                  <a:close/>
                </a:path>
                <a:path w="2715895" h="1636395">
                  <a:moveTo>
                    <a:pt x="2202180" y="1552194"/>
                  </a:moveTo>
                  <a:lnTo>
                    <a:pt x="2201418" y="1552194"/>
                  </a:lnTo>
                  <a:lnTo>
                    <a:pt x="2201418" y="1544574"/>
                  </a:lnTo>
                  <a:lnTo>
                    <a:pt x="2189226" y="1544574"/>
                  </a:lnTo>
                  <a:lnTo>
                    <a:pt x="2189797" y="1544548"/>
                  </a:lnTo>
                  <a:lnTo>
                    <a:pt x="2201418" y="1544574"/>
                  </a:lnTo>
                  <a:lnTo>
                    <a:pt x="2201418" y="1543812"/>
                  </a:lnTo>
                  <a:lnTo>
                    <a:pt x="2201418" y="1493520"/>
                  </a:lnTo>
                  <a:lnTo>
                    <a:pt x="2188464" y="1493520"/>
                  </a:lnTo>
                  <a:lnTo>
                    <a:pt x="2188464" y="1544574"/>
                  </a:lnTo>
                  <a:lnTo>
                    <a:pt x="2189226" y="1553718"/>
                  </a:lnTo>
                  <a:lnTo>
                    <a:pt x="2189226" y="1554480"/>
                  </a:lnTo>
                  <a:lnTo>
                    <a:pt x="2202180" y="1552194"/>
                  </a:lnTo>
                  <a:close/>
                </a:path>
                <a:path w="2715895" h="1636395">
                  <a:moveTo>
                    <a:pt x="2234184" y="976884"/>
                  </a:moveTo>
                  <a:lnTo>
                    <a:pt x="2226564" y="966216"/>
                  </a:lnTo>
                  <a:lnTo>
                    <a:pt x="2221992" y="970026"/>
                  </a:lnTo>
                  <a:lnTo>
                    <a:pt x="2215134" y="976122"/>
                  </a:lnTo>
                  <a:lnTo>
                    <a:pt x="2194560" y="1009650"/>
                  </a:lnTo>
                  <a:lnTo>
                    <a:pt x="2205990" y="1013460"/>
                  </a:lnTo>
                  <a:lnTo>
                    <a:pt x="2207514" y="1009650"/>
                  </a:lnTo>
                  <a:lnTo>
                    <a:pt x="2215134" y="995934"/>
                  </a:lnTo>
                  <a:lnTo>
                    <a:pt x="2219706" y="989838"/>
                  </a:lnTo>
                  <a:lnTo>
                    <a:pt x="2230374" y="979170"/>
                  </a:lnTo>
                  <a:lnTo>
                    <a:pt x="2234184" y="976884"/>
                  </a:lnTo>
                  <a:close/>
                </a:path>
                <a:path w="2715895" h="1636395">
                  <a:moveTo>
                    <a:pt x="2247900" y="1616964"/>
                  </a:moveTo>
                  <a:lnTo>
                    <a:pt x="2215134" y="1588770"/>
                  </a:lnTo>
                  <a:lnTo>
                    <a:pt x="2213610" y="1585722"/>
                  </a:lnTo>
                  <a:lnTo>
                    <a:pt x="2202180" y="1592580"/>
                  </a:lnTo>
                  <a:lnTo>
                    <a:pt x="2204466" y="1595628"/>
                  </a:lnTo>
                  <a:lnTo>
                    <a:pt x="2209800" y="1603248"/>
                  </a:lnTo>
                  <a:lnTo>
                    <a:pt x="2215896" y="1609344"/>
                  </a:lnTo>
                  <a:lnTo>
                    <a:pt x="2222754" y="1615440"/>
                  </a:lnTo>
                  <a:lnTo>
                    <a:pt x="2229612" y="1620774"/>
                  </a:lnTo>
                  <a:lnTo>
                    <a:pt x="2237232" y="1625346"/>
                  </a:lnTo>
                  <a:lnTo>
                    <a:pt x="2242566" y="1628394"/>
                  </a:lnTo>
                  <a:lnTo>
                    <a:pt x="2247900" y="1616964"/>
                  </a:lnTo>
                  <a:close/>
                </a:path>
                <a:path w="2715895" h="1636395">
                  <a:moveTo>
                    <a:pt x="2315718" y="948690"/>
                  </a:moveTo>
                  <a:lnTo>
                    <a:pt x="2280666" y="948690"/>
                  </a:lnTo>
                  <a:lnTo>
                    <a:pt x="2270760" y="949452"/>
                  </a:lnTo>
                  <a:lnTo>
                    <a:pt x="2263902" y="950214"/>
                  </a:lnTo>
                  <a:lnTo>
                    <a:pt x="2266188" y="963168"/>
                  </a:lnTo>
                  <a:lnTo>
                    <a:pt x="2273046" y="961644"/>
                  </a:lnTo>
                  <a:lnTo>
                    <a:pt x="2315718" y="961644"/>
                  </a:lnTo>
                  <a:lnTo>
                    <a:pt x="2315718" y="948690"/>
                  </a:lnTo>
                  <a:close/>
                </a:path>
                <a:path w="2715895" h="1636395">
                  <a:moveTo>
                    <a:pt x="2333244" y="1623822"/>
                  </a:moveTo>
                  <a:lnTo>
                    <a:pt x="2282190" y="1623822"/>
                  </a:lnTo>
                  <a:lnTo>
                    <a:pt x="2282190" y="1636014"/>
                  </a:lnTo>
                  <a:lnTo>
                    <a:pt x="2333244" y="1636014"/>
                  </a:lnTo>
                  <a:lnTo>
                    <a:pt x="2333244" y="1623822"/>
                  </a:lnTo>
                  <a:close/>
                </a:path>
                <a:path w="2715895" h="1636395">
                  <a:moveTo>
                    <a:pt x="2404872" y="948690"/>
                  </a:moveTo>
                  <a:lnTo>
                    <a:pt x="2353818" y="948690"/>
                  </a:lnTo>
                  <a:lnTo>
                    <a:pt x="2353818" y="961644"/>
                  </a:lnTo>
                  <a:lnTo>
                    <a:pt x="2404872" y="961644"/>
                  </a:lnTo>
                  <a:lnTo>
                    <a:pt x="2404872" y="948690"/>
                  </a:lnTo>
                  <a:close/>
                </a:path>
                <a:path w="2715895" h="1636395">
                  <a:moveTo>
                    <a:pt x="2422398" y="1623822"/>
                  </a:moveTo>
                  <a:lnTo>
                    <a:pt x="2371344" y="1623822"/>
                  </a:lnTo>
                  <a:lnTo>
                    <a:pt x="2371344" y="1636014"/>
                  </a:lnTo>
                  <a:lnTo>
                    <a:pt x="2422398" y="1636014"/>
                  </a:lnTo>
                  <a:lnTo>
                    <a:pt x="2422398" y="1623822"/>
                  </a:lnTo>
                  <a:close/>
                </a:path>
                <a:path w="2715895" h="1636395">
                  <a:moveTo>
                    <a:pt x="2493264" y="948690"/>
                  </a:moveTo>
                  <a:lnTo>
                    <a:pt x="2442972" y="948690"/>
                  </a:lnTo>
                  <a:lnTo>
                    <a:pt x="2442972" y="961644"/>
                  </a:lnTo>
                  <a:lnTo>
                    <a:pt x="2493264" y="961644"/>
                  </a:lnTo>
                  <a:lnTo>
                    <a:pt x="2493264" y="948690"/>
                  </a:lnTo>
                  <a:close/>
                </a:path>
                <a:path w="2715895" h="1636395">
                  <a:moveTo>
                    <a:pt x="2510790" y="1623822"/>
                  </a:moveTo>
                  <a:lnTo>
                    <a:pt x="2460498" y="1623822"/>
                  </a:lnTo>
                  <a:lnTo>
                    <a:pt x="2460498" y="1636014"/>
                  </a:lnTo>
                  <a:lnTo>
                    <a:pt x="2510790" y="1636014"/>
                  </a:lnTo>
                  <a:lnTo>
                    <a:pt x="2510790" y="1623822"/>
                  </a:lnTo>
                  <a:close/>
                </a:path>
                <a:path w="2715895" h="1636395">
                  <a:moveTo>
                    <a:pt x="2582418" y="948690"/>
                  </a:moveTo>
                  <a:lnTo>
                    <a:pt x="2531364" y="948690"/>
                  </a:lnTo>
                  <a:lnTo>
                    <a:pt x="2531364" y="961644"/>
                  </a:lnTo>
                  <a:lnTo>
                    <a:pt x="2582418" y="961644"/>
                  </a:lnTo>
                  <a:lnTo>
                    <a:pt x="2582418" y="948690"/>
                  </a:lnTo>
                  <a:close/>
                </a:path>
                <a:path w="2715895" h="1636395">
                  <a:moveTo>
                    <a:pt x="2599944" y="1623822"/>
                  </a:moveTo>
                  <a:lnTo>
                    <a:pt x="2548890" y="1623822"/>
                  </a:lnTo>
                  <a:lnTo>
                    <a:pt x="2548890" y="1636014"/>
                  </a:lnTo>
                  <a:lnTo>
                    <a:pt x="2599944" y="1636014"/>
                  </a:lnTo>
                  <a:lnTo>
                    <a:pt x="2599944" y="1623822"/>
                  </a:lnTo>
                  <a:close/>
                </a:path>
                <a:path w="2715895" h="1636395">
                  <a:moveTo>
                    <a:pt x="2672334" y="962406"/>
                  </a:moveTo>
                  <a:lnTo>
                    <a:pt x="2623566" y="948690"/>
                  </a:lnTo>
                  <a:lnTo>
                    <a:pt x="2620518" y="948690"/>
                  </a:lnTo>
                  <a:lnTo>
                    <a:pt x="2620518" y="961644"/>
                  </a:lnTo>
                  <a:lnTo>
                    <a:pt x="2631948" y="961644"/>
                  </a:lnTo>
                  <a:lnTo>
                    <a:pt x="2640330" y="963168"/>
                  </a:lnTo>
                  <a:lnTo>
                    <a:pt x="2647950" y="964692"/>
                  </a:lnTo>
                  <a:lnTo>
                    <a:pt x="2661666" y="970788"/>
                  </a:lnTo>
                  <a:lnTo>
                    <a:pt x="2665476" y="973074"/>
                  </a:lnTo>
                  <a:lnTo>
                    <a:pt x="2672334" y="962406"/>
                  </a:lnTo>
                  <a:close/>
                </a:path>
                <a:path w="2715895" h="1636395">
                  <a:moveTo>
                    <a:pt x="2686812" y="1610868"/>
                  </a:moveTo>
                  <a:lnTo>
                    <a:pt x="2678430" y="1601724"/>
                  </a:lnTo>
                  <a:lnTo>
                    <a:pt x="2673858" y="1605534"/>
                  </a:lnTo>
                  <a:lnTo>
                    <a:pt x="2667762" y="1610106"/>
                  </a:lnTo>
                  <a:lnTo>
                    <a:pt x="2661666" y="1613916"/>
                  </a:lnTo>
                  <a:lnTo>
                    <a:pt x="2654046" y="1617726"/>
                  </a:lnTo>
                  <a:lnTo>
                    <a:pt x="2647188" y="1620012"/>
                  </a:lnTo>
                  <a:lnTo>
                    <a:pt x="2639568" y="1622298"/>
                  </a:lnTo>
                  <a:lnTo>
                    <a:pt x="2637282" y="1622298"/>
                  </a:lnTo>
                  <a:lnTo>
                    <a:pt x="2638806" y="1635252"/>
                  </a:lnTo>
                  <a:lnTo>
                    <a:pt x="2675382" y="1620774"/>
                  </a:lnTo>
                  <a:lnTo>
                    <a:pt x="2682240" y="1615440"/>
                  </a:lnTo>
                  <a:lnTo>
                    <a:pt x="2686812" y="1610868"/>
                  </a:lnTo>
                  <a:close/>
                </a:path>
                <a:path w="2715895" h="1636395">
                  <a:moveTo>
                    <a:pt x="2715768" y="1524762"/>
                  </a:moveTo>
                  <a:lnTo>
                    <a:pt x="2702814" y="1524762"/>
                  </a:lnTo>
                  <a:lnTo>
                    <a:pt x="2702814" y="1552956"/>
                  </a:lnTo>
                  <a:lnTo>
                    <a:pt x="2699766" y="1568196"/>
                  </a:lnTo>
                  <a:lnTo>
                    <a:pt x="2697480" y="1572768"/>
                  </a:lnTo>
                  <a:lnTo>
                    <a:pt x="2709672" y="1577340"/>
                  </a:lnTo>
                  <a:lnTo>
                    <a:pt x="2711958" y="1571244"/>
                  </a:lnTo>
                  <a:lnTo>
                    <a:pt x="2714244" y="1562862"/>
                  </a:lnTo>
                  <a:lnTo>
                    <a:pt x="2715768" y="1544574"/>
                  </a:lnTo>
                  <a:lnTo>
                    <a:pt x="2715768" y="1524762"/>
                  </a:lnTo>
                  <a:close/>
                </a:path>
                <a:path w="2715895" h="1636395">
                  <a:moveTo>
                    <a:pt x="2715768" y="1436370"/>
                  </a:moveTo>
                  <a:lnTo>
                    <a:pt x="2702814" y="1436370"/>
                  </a:lnTo>
                  <a:lnTo>
                    <a:pt x="2702814" y="1486662"/>
                  </a:lnTo>
                  <a:lnTo>
                    <a:pt x="2715768" y="1486662"/>
                  </a:lnTo>
                  <a:lnTo>
                    <a:pt x="2715768" y="1436370"/>
                  </a:lnTo>
                  <a:close/>
                </a:path>
                <a:path w="2715895" h="1636395">
                  <a:moveTo>
                    <a:pt x="2715768" y="1347216"/>
                  </a:moveTo>
                  <a:lnTo>
                    <a:pt x="2702814" y="1347216"/>
                  </a:lnTo>
                  <a:lnTo>
                    <a:pt x="2702814" y="1398270"/>
                  </a:lnTo>
                  <a:lnTo>
                    <a:pt x="2715768" y="1398270"/>
                  </a:lnTo>
                  <a:lnTo>
                    <a:pt x="2715768" y="1347216"/>
                  </a:lnTo>
                  <a:close/>
                </a:path>
                <a:path w="2715895" h="1636395">
                  <a:moveTo>
                    <a:pt x="2715768" y="1258062"/>
                  </a:moveTo>
                  <a:lnTo>
                    <a:pt x="2702814" y="1258062"/>
                  </a:lnTo>
                  <a:lnTo>
                    <a:pt x="2702814" y="1309116"/>
                  </a:lnTo>
                  <a:lnTo>
                    <a:pt x="2715768" y="1309116"/>
                  </a:lnTo>
                  <a:lnTo>
                    <a:pt x="2715768" y="1258062"/>
                  </a:lnTo>
                  <a:close/>
                </a:path>
                <a:path w="2715895" h="1636395">
                  <a:moveTo>
                    <a:pt x="2715768" y="1169670"/>
                  </a:moveTo>
                  <a:lnTo>
                    <a:pt x="2702814" y="1169670"/>
                  </a:lnTo>
                  <a:lnTo>
                    <a:pt x="2702814" y="1219962"/>
                  </a:lnTo>
                  <a:lnTo>
                    <a:pt x="2715768" y="1219962"/>
                  </a:lnTo>
                  <a:lnTo>
                    <a:pt x="2715768" y="1169670"/>
                  </a:lnTo>
                  <a:close/>
                </a:path>
                <a:path w="2715895" h="1636395">
                  <a:moveTo>
                    <a:pt x="2715768" y="1080516"/>
                  </a:moveTo>
                  <a:lnTo>
                    <a:pt x="2702814" y="1080516"/>
                  </a:lnTo>
                  <a:lnTo>
                    <a:pt x="2702814" y="1131570"/>
                  </a:lnTo>
                  <a:lnTo>
                    <a:pt x="2715768" y="1131570"/>
                  </a:lnTo>
                  <a:lnTo>
                    <a:pt x="2715768" y="1080516"/>
                  </a:lnTo>
                  <a:close/>
                </a:path>
                <a:path w="2715895" h="1636395">
                  <a:moveTo>
                    <a:pt x="2715768" y="1040130"/>
                  </a:moveTo>
                  <a:lnTo>
                    <a:pt x="2704338" y="996696"/>
                  </a:lnTo>
                  <a:lnTo>
                    <a:pt x="2701290" y="991362"/>
                  </a:lnTo>
                  <a:lnTo>
                    <a:pt x="2690622" y="997458"/>
                  </a:lnTo>
                  <a:lnTo>
                    <a:pt x="2693670" y="1003554"/>
                  </a:lnTo>
                  <a:lnTo>
                    <a:pt x="2699766" y="1017270"/>
                  </a:lnTo>
                  <a:lnTo>
                    <a:pt x="2701290" y="1024890"/>
                  </a:lnTo>
                  <a:lnTo>
                    <a:pt x="2702814" y="1033272"/>
                  </a:lnTo>
                  <a:lnTo>
                    <a:pt x="2702814" y="1042416"/>
                  </a:lnTo>
                  <a:lnTo>
                    <a:pt x="2715768" y="1042416"/>
                  </a:lnTo>
                  <a:lnTo>
                    <a:pt x="2715768" y="1040130"/>
                  </a:lnTo>
                  <a:close/>
                </a:path>
              </a:pathLst>
            </a:custGeom>
            <a:solidFill>
              <a:srgbClr val="A2B1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956550" y="3338576"/>
            <a:ext cx="1092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Bondwire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49863" y="4813046"/>
            <a:ext cx="1030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Bondpad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239761" y="3711702"/>
            <a:ext cx="977265" cy="1607185"/>
            <a:chOff x="7239761" y="3711702"/>
            <a:chExt cx="977265" cy="160718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39761" y="3711702"/>
              <a:ext cx="191261" cy="21259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83473" y="5132070"/>
              <a:ext cx="233172" cy="186690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1338072" y="2800846"/>
            <a:ext cx="3757929" cy="3007995"/>
            <a:chOff x="1338072" y="2800846"/>
            <a:chExt cx="3757929" cy="3007995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38072" y="2800846"/>
              <a:ext cx="3757696" cy="299358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539240" y="5408675"/>
              <a:ext cx="3509010" cy="400050"/>
            </a:xfrm>
            <a:custGeom>
              <a:avLst/>
              <a:gdLst/>
              <a:ahLst/>
              <a:cxnLst/>
              <a:rect l="l" t="t" r="r" b="b"/>
              <a:pathLst>
                <a:path w="3509010" h="400050">
                  <a:moveTo>
                    <a:pt x="3509009" y="400050"/>
                  </a:moveTo>
                  <a:lnTo>
                    <a:pt x="3509009" y="0"/>
                  </a:lnTo>
                  <a:lnTo>
                    <a:pt x="0" y="0"/>
                  </a:lnTo>
                  <a:lnTo>
                    <a:pt x="0" y="400050"/>
                  </a:lnTo>
                  <a:lnTo>
                    <a:pt x="3509009" y="4000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250439" y="5380735"/>
            <a:ext cx="2464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Verdana"/>
                <a:cs typeface="Verdana"/>
              </a:rPr>
              <a:t>Drain-</a:t>
            </a:r>
            <a:r>
              <a:rPr sz="1800" dirty="0">
                <a:latin typeface="Verdana"/>
                <a:cs typeface="Verdana"/>
              </a:rPr>
              <a:t>Source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Voltage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354074" y="2771394"/>
            <a:ext cx="421640" cy="2708275"/>
          </a:xfrm>
          <a:custGeom>
            <a:avLst/>
            <a:gdLst/>
            <a:ahLst/>
            <a:cxnLst/>
            <a:rect l="l" t="t" r="r" b="b"/>
            <a:pathLst>
              <a:path w="421639" h="2708275">
                <a:moveTo>
                  <a:pt x="421386" y="2708148"/>
                </a:moveTo>
                <a:lnTo>
                  <a:pt x="421385" y="0"/>
                </a:lnTo>
                <a:lnTo>
                  <a:pt x="0" y="0"/>
                </a:lnTo>
                <a:lnTo>
                  <a:pt x="0" y="2708148"/>
                </a:lnTo>
                <a:lnTo>
                  <a:pt x="421386" y="27081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463590" y="2883964"/>
            <a:ext cx="303530" cy="1410970"/>
          </a:xfrm>
          <a:prstGeom prst="rect">
            <a:avLst/>
          </a:prstGeom>
        </p:spPr>
        <p:txBody>
          <a:bodyPr vert="vert270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10" dirty="0">
                <a:latin typeface="Verdana"/>
                <a:cs typeface="Verdana"/>
              </a:rPr>
              <a:t>Capacitance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321051" y="4320540"/>
            <a:ext cx="584200" cy="369570"/>
          </a:xfrm>
          <a:custGeom>
            <a:avLst/>
            <a:gdLst/>
            <a:ahLst/>
            <a:cxnLst/>
            <a:rect l="l" t="t" r="r" b="b"/>
            <a:pathLst>
              <a:path w="584200" h="369570">
                <a:moveTo>
                  <a:pt x="583692" y="369570"/>
                </a:moveTo>
                <a:lnTo>
                  <a:pt x="583692" y="0"/>
                </a:lnTo>
                <a:lnTo>
                  <a:pt x="0" y="0"/>
                </a:lnTo>
                <a:lnTo>
                  <a:pt x="0" y="369570"/>
                </a:lnTo>
                <a:lnTo>
                  <a:pt x="583692" y="3695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374392" y="4409185"/>
            <a:ext cx="471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3888" dirty="0">
                <a:latin typeface="Verdana"/>
                <a:cs typeface="Verdana"/>
              </a:rPr>
              <a:t>C</a:t>
            </a:r>
            <a:r>
              <a:rPr sz="1200" spc="-25" dirty="0">
                <a:latin typeface="Verdana"/>
                <a:cs typeface="Verdana"/>
              </a:rPr>
              <a:t>GD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840230" y="3121913"/>
            <a:ext cx="1915795" cy="944880"/>
          </a:xfrm>
          <a:custGeom>
            <a:avLst/>
            <a:gdLst/>
            <a:ahLst/>
            <a:cxnLst/>
            <a:rect l="l" t="t" r="r" b="b"/>
            <a:pathLst>
              <a:path w="1915795" h="944879">
                <a:moveTo>
                  <a:pt x="1153668" y="575310"/>
                </a:moveTo>
                <a:lnTo>
                  <a:pt x="0" y="575310"/>
                </a:lnTo>
                <a:lnTo>
                  <a:pt x="0" y="944880"/>
                </a:lnTo>
                <a:lnTo>
                  <a:pt x="1153668" y="944880"/>
                </a:lnTo>
                <a:lnTo>
                  <a:pt x="1153668" y="575310"/>
                </a:lnTo>
                <a:close/>
              </a:path>
              <a:path w="1915795" h="944879">
                <a:moveTo>
                  <a:pt x="1915668" y="0"/>
                </a:moveTo>
                <a:lnTo>
                  <a:pt x="624078" y="0"/>
                </a:lnTo>
                <a:lnTo>
                  <a:pt x="624078" y="369570"/>
                </a:lnTo>
                <a:lnTo>
                  <a:pt x="1915668" y="369570"/>
                </a:lnTo>
                <a:lnTo>
                  <a:pt x="19156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893570" y="3785870"/>
            <a:ext cx="1040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15" baseline="13888" dirty="0">
                <a:latin typeface="Verdana"/>
                <a:cs typeface="Verdana"/>
              </a:rPr>
              <a:t>C</a:t>
            </a:r>
            <a:r>
              <a:rPr sz="1200" spc="-10" dirty="0">
                <a:latin typeface="Verdana"/>
                <a:cs typeface="Verdana"/>
              </a:rPr>
              <a:t>GS</a:t>
            </a:r>
            <a:r>
              <a:rPr sz="2700" spc="-15" baseline="13888" dirty="0">
                <a:latin typeface="Verdana"/>
                <a:cs typeface="Verdana"/>
              </a:rPr>
              <a:t>+C</a:t>
            </a:r>
            <a:r>
              <a:rPr sz="1200" spc="-10" dirty="0">
                <a:latin typeface="Verdana"/>
                <a:cs typeface="Verdana"/>
              </a:rPr>
              <a:t>GD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521202" y="2834639"/>
            <a:ext cx="1548765" cy="480059"/>
            <a:chOff x="3521202" y="2834639"/>
            <a:chExt cx="1548765" cy="480059"/>
          </a:xfrm>
        </p:grpSpPr>
        <p:sp>
          <p:nvSpPr>
            <p:cNvPr id="23" name="object 23"/>
            <p:cNvSpPr/>
            <p:nvPr/>
          </p:nvSpPr>
          <p:spPr>
            <a:xfrm>
              <a:off x="3530346" y="2843783"/>
              <a:ext cx="1529715" cy="462280"/>
            </a:xfrm>
            <a:custGeom>
              <a:avLst/>
              <a:gdLst/>
              <a:ahLst/>
              <a:cxnLst/>
              <a:rect l="l" t="t" r="r" b="b"/>
              <a:pathLst>
                <a:path w="1529714" h="462279">
                  <a:moveTo>
                    <a:pt x="1529334" y="461772"/>
                  </a:moveTo>
                  <a:lnTo>
                    <a:pt x="1529334" y="0"/>
                  </a:lnTo>
                  <a:lnTo>
                    <a:pt x="0" y="0"/>
                  </a:lnTo>
                  <a:lnTo>
                    <a:pt x="0" y="461772"/>
                  </a:lnTo>
                  <a:lnTo>
                    <a:pt x="1529334" y="4617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521202" y="2834639"/>
              <a:ext cx="1548765" cy="480059"/>
            </a:xfrm>
            <a:custGeom>
              <a:avLst/>
              <a:gdLst/>
              <a:ahLst/>
              <a:cxnLst/>
              <a:rect l="l" t="t" r="r" b="b"/>
              <a:pathLst>
                <a:path w="1548764" h="480060">
                  <a:moveTo>
                    <a:pt x="1548384" y="476250"/>
                  </a:moveTo>
                  <a:lnTo>
                    <a:pt x="1548384" y="3810"/>
                  </a:lnTo>
                  <a:lnTo>
                    <a:pt x="1543812" y="0"/>
                  </a:lnTo>
                  <a:lnTo>
                    <a:pt x="3809" y="0"/>
                  </a:lnTo>
                  <a:lnTo>
                    <a:pt x="0" y="3810"/>
                  </a:lnTo>
                  <a:lnTo>
                    <a:pt x="0" y="476250"/>
                  </a:lnTo>
                  <a:lnTo>
                    <a:pt x="3810" y="480060"/>
                  </a:lnTo>
                  <a:lnTo>
                    <a:pt x="9143" y="480060"/>
                  </a:lnTo>
                  <a:lnTo>
                    <a:pt x="9144" y="19050"/>
                  </a:lnTo>
                  <a:lnTo>
                    <a:pt x="19050" y="9144"/>
                  </a:lnTo>
                  <a:lnTo>
                    <a:pt x="19049" y="19050"/>
                  </a:lnTo>
                  <a:lnTo>
                    <a:pt x="1529334" y="19050"/>
                  </a:lnTo>
                  <a:lnTo>
                    <a:pt x="1529334" y="9144"/>
                  </a:lnTo>
                  <a:lnTo>
                    <a:pt x="1538478" y="19050"/>
                  </a:lnTo>
                  <a:lnTo>
                    <a:pt x="1538478" y="480060"/>
                  </a:lnTo>
                  <a:lnTo>
                    <a:pt x="1543812" y="480060"/>
                  </a:lnTo>
                  <a:lnTo>
                    <a:pt x="1548384" y="476250"/>
                  </a:lnTo>
                  <a:close/>
                </a:path>
                <a:path w="1548764" h="480060">
                  <a:moveTo>
                    <a:pt x="19050" y="19050"/>
                  </a:moveTo>
                  <a:lnTo>
                    <a:pt x="19050" y="9144"/>
                  </a:lnTo>
                  <a:lnTo>
                    <a:pt x="9144" y="19050"/>
                  </a:lnTo>
                  <a:lnTo>
                    <a:pt x="19050" y="19050"/>
                  </a:lnTo>
                  <a:close/>
                </a:path>
                <a:path w="1548764" h="480060">
                  <a:moveTo>
                    <a:pt x="19050" y="461010"/>
                  </a:moveTo>
                  <a:lnTo>
                    <a:pt x="19050" y="19050"/>
                  </a:lnTo>
                  <a:lnTo>
                    <a:pt x="9144" y="19050"/>
                  </a:lnTo>
                  <a:lnTo>
                    <a:pt x="9144" y="461010"/>
                  </a:lnTo>
                  <a:lnTo>
                    <a:pt x="19050" y="461010"/>
                  </a:lnTo>
                  <a:close/>
                </a:path>
                <a:path w="1548764" h="480060">
                  <a:moveTo>
                    <a:pt x="1538478" y="461010"/>
                  </a:moveTo>
                  <a:lnTo>
                    <a:pt x="9144" y="461010"/>
                  </a:lnTo>
                  <a:lnTo>
                    <a:pt x="19050" y="470916"/>
                  </a:lnTo>
                  <a:lnTo>
                    <a:pt x="19049" y="480060"/>
                  </a:lnTo>
                  <a:lnTo>
                    <a:pt x="1529334" y="480060"/>
                  </a:lnTo>
                  <a:lnTo>
                    <a:pt x="1529334" y="470916"/>
                  </a:lnTo>
                  <a:lnTo>
                    <a:pt x="1538478" y="461010"/>
                  </a:lnTo>
                  <a:close/>
                </a:path>
                <a:path w="1548764" h="480060">
                  <a:moveTo>
                    <a:pt x="19049" y="480060"/>
                  </a:moveTo>
                  <a:lnTo>
                    <a:pt x="19050" y="470916"/>
                  </a:lnTo>
                  <a:lnTo>
                    <a:pt x="9144" y="461010"/>
                  </a:lnTo>
                  <a:lnTo>
                    <a:pt x="9143" y="480060"/>
                  </a:lnTo>
                  <a:lnTo>
                    <a:pt x="19049" y="480060"/>
                  </a:lnTo>
                  <a:close/>
                </a:path>
                <a:path w="1548764" h="480060">
                  <a:moveTo>
                    <a:pt x="1538478" y="19050"/>
                  </a:moveTo>
                  <a:lnTo>
                    <a:pt x="1529334" y="9144"/>
                  </a:lnTo>
                  <a:lnTo>
                    <a:pt x="1529334" y="19050"/>
                  </a:lnTo>
                  <a:lnTo>
                    <a:pt x="1538478" y="19050"/>
                  </a:lnTo>
                  <a:close/>
                </a:path>
                <a:path w="1548764" h="480060">
                  <a:moveTo>
                    <a:pt x="1538478" y="461010"/>
                  </a:moveTo>
                  <a:lnTo>
                    <a:pt x="1538478" y="19050"/>
                  </a:lnTo>
                  <a:lnTo>
                    <a:pt x="1529334" y="19050"/>
                  </a:lnTo>
                  <a:lnTo>
                    <a:pt x="1529334" y="461010"/>
                  </a:lnTo>
                  <a:lnTo>
                    <a:pt x="1538478" y="461010"/>
                  </a:lnTo>
                  <a:close/>
                </a:path>
                <a:path w="1548764" h="480060">
                  <a:moveTo>
                    <a:pt x="1538478" y="480060"/>
                  </a:moveTo>
                  <a:lnTo>
                    <a:pt x="1538478" y="461010"/>
                  </a:lnTo>
                  <a:lnTo>
                    <a:pt x="1529334" y="470916"/>
                  </a:lnTo>
                  <a:lnTo>
                    <a:pt x="1529334" y="480060"/>
                  </a:lnTo>
                  <a:lnTo>
                    <a:pt x="1538478" y="480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517648" y="2907284"/>
            <a:ext cx="2473325" cy="603250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104265">
              <a:lnSpc>
                <a:spcPct val="100000"/>
              </a:lnSpc>
              <a:spcBef>
                <a:spcPts val="210"/>
              </a:spcBef>
            </a:pPr>
            <a:r>
              <a:rPr sz="1800" spc="-10" dirty="0">
                <a:latin typeface="Verdana"/>
                <a:cs typeface="Verdana"/>
              </a:rPr>
              <a:t>FQP30N06L</a:t>
            </a:r>
            <a:endParaRPr sz="180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2700" spc="-15" baseline="13888" dirty="0">
                <a:latin typeface="Verdana"/>
                <a:cs typeface="Verdana"/>
              </a:rPr>
              <a:t>C</a:t>
            </a:r>
            <a:r>
              <a:rPr sz="1200" spc="-10" dirty="0">
                <a:latin typeface="Verdana"/>
                <a:cs typeface="Verdana"/>
              </a:rPr>
              <a:t>DS</a:t>
            </a:r>
            <a:r>
              <a:rPr sz="2700" spc="-15" baseline="13888" dirty="0">
                <a:latin typeface="Verdana"/>
                <a:cs typeface="Verdana"/>
              </a:rPr>
              <a:t>+C</a:t>
            </a:r>
            <a:r>
              <a:rPr sz="1200" spc="-10" dirty="0">
                <a:latin typeface="Verdana"/>
                <a:cs typeface="Verdana"/>
              </a:rPr>
              <a:t>GD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160520" y="3824478"/>
            <a:ext cx="881380" cy="368935"/>
          </a:xfrm>
          <a:custGeom>
            <a:avLst/>
            <a:gdLst/>
            <a:ahLst/>
            <a:cxnLst/>
            <a:rect l="l" t="t" r="r" b="b"/>
            <a:pathLst>
              <a:path w="881379" h="368935">
                <a:moveTo>
                  <a:pt x="880872" y="368808"/>
                </a:moveTo>
                <a:lnTo>
                  <a:pt x="880872" y="0"/>
                </a:lnTo>
                <a:lnTo>
                  <a:pt x="0" y="0"/>
                </a:lnTo>
                <a:lnTo>
                  <a:pt x="0" y="368808"/>
                </a:lnTo>
                <a:lnTo>
                  <a:pt x="880872" y="3688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123182" y="3855973"/>
            <a:ext cx="948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</a:t>
            </a:r>
            <a:r>
              <a:rPr sz="1800" spc="-15" baseline="-20833" dirty="0">
                <a:latin typeface="Verdana"/>
                <a:cs typeface="Verdana"/>
              </a:rPr>
              <a:t>GS</a:t>
            </a:r>
            <a:r>
              <a:rPr sz="1800" spc="-10" dirty="0">
                <a:latin typeface="Verdana"/>
                <a:cs typeface="Verdana"/>
              </a:rPr>
              <a:t>=0V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511551" y="3514344"/>
            <a:ext cx="228600" cy="306705"/>
            <a:chOff x="2511551" y="3514344"/>
            <a:chExt cx="228600" cy="306705"/>
          </a:xfrm>
        </p:grpSpPr>
        <p:sp>
          <p:nvSpPr>
            <p:cNvPr id="29" name="object 29"/>
            <p:cNvSpPr/>
            <p:nvPr/>
          </p:nvSpPr>
          <p:spPr>
            <a:xfrm>
              <a:off x="2540507" y="3514344"/>
              <a:ext cx="180340" cy="184785"/>
            </a:xfrm>
            <a:custGeom>
              <a:avLst/>
              <a:gdLst/>
              <a:ahLst/>
              <a:cxnLst/>
              <a:rect l="l" t="t" r="r" b="b"/>
              <a:pathLst>
                <a:path w="180339" h="184785">
                  <a:moveTo>
                    <a:pt x="179831" y="184403"/>
                  </a:moveTo>
                  <a:lnTo>
                    <a:pt x="179831" y="0"/>
                  </a:lnTo>
                  <a:lnTo>
                    <a:pt x="0" y="0"/>
                  </a:lnTo>
                  <a:lnTo>
                    <a:pt x="0" y="184403"/>
                  </a:lnTo>
                  <a:lnTo>
                    <a:pt x="179831" y="1844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558033" y="3544824"/>
              <a:ext cx="165735" cy="276225"/>
            </a:xfrm>
            <a:custGeom>
              <a:avLst/>
              <a:gdLst/>
              <a:ahLst/>
              <a:cxnLst/>
              <a:rect l="l" t="t" r="r" b="b"/>
              <a:pathLst>
                <a:path w="165735" h="276225">
                  <a:moveTo>
                    <a:pt x="154876" y="104858"/>
                  </a:moveTo>
                  <a:lnTo>
                    <a:pt x="154495" y="97631"/>
                  </a:lnTo>
                  <a:lnTo>
                    <a:pt x="151542" y="91118"/>
                  </a:lnTo>
                  <a:lnTo>
                    <a:pt x="146303" y="86105"/>
                  </a:lnTo>
                  <a:lnTo>
                    <a:pt x="5333" y="0"/>
                  </a:lnTo>
                  <a:lnTo>
                    <a:pt x="0" y="164591"/>
                  </a:lnTo>
                  <a:lnTo>
                    <a:pt x="1035" y="172081"/>
                  </a:lnTo>
                  <a:lnTo>
                    <a:pt x="4857" y="178212"/>
                  </a:lnTo>
                  <a:lnTo>
                    <a:pt x="6857" y="179646"/>
                  </a:lnTo>
                  <a:lnTo>
                    <a:pt x="6857" y="41909"/>
                  </a:lnTo>
                  <a:lnTo>
                    <a:pt x="40385" y="24383"/>
                  </a:lnTo>
                  <a:lnTo>
                    <a:pt x="73273" y="85747"/>
                  </a:lnTo>
                  <a:lnTo>
                    <a:pt x="126491" y="118109"/>
                  </a:lnTo>
                  <a:lnTo>
                    <a:pt x="133326" y="121015"/>
                  </a:lnTo>
                  <a:lnTo>
                    <a:pt x="140588" y="120776"/>
                  </a:lnTo>
                  <a:lnTo>
                    <a:pt x="147280" y="117681"/>
                  </a:lnTo>
                  <a:lnTo>
                    <a:pt x="152399" y="112013"/>
                  </a:lnTo>
                  <a:lnTo>
                    <a:pt x="154876" y="104858"/>
                  </a:lnTo>
                  <a:close/>
                </a:path>
                <a:path w="165735" h="276225">
                  <a:moveTo>
                    <a:pt x="73273" y="85747"/>
                  </a:moveTo>
                  <a:lnTo>
                    <a:pt x="40385" y="24383"/>
                  </a:lnTo>
                  <a:lnTo>
                    <a:pt x="6857" y="41909"/>
                  </a:lnTo>
                  <a:lnTo>
                    <a:pt x="13715" y="54747"/>
                  </a:lnTo>
                  <a:lnTo>
                    <a:pt x="13715" y="49529"/>
                  </a:lnTo>
                  <a:lnTo>
                    <a:pt x="42671" y="33527"/>
                  </a:lnTo>
                  <a:lnTo>
                    <a:pt x="42671" y="67138"/>
                  </a:lnTo>
                  <a:lnTo>
                    <a:pt x="73273" y="85747"/>
                  </a:lnTo>
                  <a:close/>
                </a:path>
                <a:path w="165735" h="276225">
                  <a:moveTo>
                    <a:pt x="39850" y="103669"/>
                  </a:moveTo>
                  <a:lnTo>
                    <a:pt x="6857" y="41909"/>
                  </a:lnTo>
                  <a:lnTo>
                    <a:pt x="6857" y="179646"/>
                  </a:lnTo>
                  <a:lnTo>
                    <a:pt x="10822" y="182487"/>
                  </a:lnTo>
                  <a:lnTo>
                    <a:pt x="18287" y="184403"/>
                  </a:lnTo>
                  <a:lnTo>
                    <a:pt x="25443" y="183046"/>
                  </a:lnTo>
                  <a:lnTo>
                    <a:pt x="31527" y="179260"/>
                  </a:lnTo>
                  <a:lnTo>
                    <a:pt x="35754" y="173474"/>
                  </a:lnTo>
                  <a:lnTo>
                    <a:pt x="37337" y="166115"/>
                  </a:lnTo>
                  <a:lnTo>
                    <a:pt x="39850" y="103669"/>
                  </a:lnTo>
                  <a:close/>
                </a:path>
                <a:path w="165735" h="276225">
                  <a:moveTo>
                    <a:pt x="42671" y="33527"/>
                  </a:moveTo>
                  <a:lnTo>
                    <a:pt x="13715" y="49529"/>
                  </a:lnTo>
                  <a:lnTo>
                    <a:pt x="41352" y="66335"/>
                  </a:lnTo>
                  <a:lnTo>
                    <a:pt x="42671" y="33527"/>
                  </a:lnTo>
                  <a:close/>
                </a:path>
                <a:path w="165735" h="276225">
                  <a:moveTo>
                    <a:pt x="41352" y="66335"/>
                  </a:moveTo>
                  <a:lnTo>
                    <a:pt x="13715" y="49529"/>
                  </a:lnTo>
                  <a:lnTo>
                    <a:pt x="13715" y="54747"/>
                  </a:lnTo>
                  <a:lnTo>
                    <a:pt x="39850" y="103669"/>
                  </a:lnTo>
                  <a:lnTo>
                    <a:pt x="41352" y="66335"/>
                  </a:lnTo>
                  <a:close/>
                </a:path>
                <a:path w="165735" h="276225">
                  <a:moveTo>
                    <a:pt x="165353" y="257555"/>
                  </a:moveTo>
                  <a:lnTo>
                    <a:pt x="73273" y="85747"/>
                  </a:lnTo>
                  <a:lnTo>
                    <a:pt x="41352" y="66335"/>
                  </a:lnTo>
                  <a:lnTo>
                    <a:pt x="39850" y="103669"/>
                  </a:lnTo>
                  <a:lnTo>
                    <a:pt x="131825" y="275843"/>
                  </a:lnTo>
                  <a:lnTo>
                    <a:pt x="165353" y="257555"/>
                  </a:lnTo>
                  <a:close/>
                </a:path>
                <a:path w="165735" h="276225">
                  <a:moveTo>
                    <a:pt x="42671" y="67138"/>
                  </a:moveTo>
                  <a:lnTo>
                    <a:pt x="42671" y="33527"/>
                  </a:lnTo>
                  <a:lnTo>
                    <a:pt x="41352" y="66335"/>
                  </a:lnTo>
                  <a:lnTo>
                    <a:pt x="42671" y="67138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511551" y="3514344"/>
              <a:ext cx="228600" cy="106045"/>
            </a:xfrm>
            <a:custGeom>
              <a:avLst/>
              <a:gdLst/>
              <a:ahLst/>
              <a:cxnLst/>
              <a:rect l="l" t="t" r="r" b="b"/>
              <a:pathLst>
                <a:path w="228600" h="106045">
                  <a:moveTo>
                    <a:pt x="228600" y="97535"/>
                  </a:moveTo>
                  <a:lnTo>
                    <a:pt x="3810" y="0"/>
                  </a:lnTo>
                  <a:lnTo>
                    <a:pt x="0" y="9144"/>
                  </a:lnTo>
                  <a:lnTo>
                    <a:pt x="224790" y="105917"/>
                  </a:lnTo>
                  <a:lnTo>
                    <a:pt x="228600" y="975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C57D87F6-8890-42D1-B665-A2BF2B8C9E3F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76</a:t>
            </a:fld>
            <a:endParaRPr spc="-25" dirty="0"/>
          </a:p>
        </p:txBody>
      </p:sp>
      <p:sp>
        <p:nvSpPr>
          <p:cNvPr id="36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Still</a:t>
            </a:r>
            <a:r>
              <a:rPr spc="-45" dirty="0"/>
              <a:t> </a:t>
            </a:r>
            <a:r>
              <a:rPr dirty="0"/>
              <a:t>Oscillates</a:t>
            </a:r>
            <a:r>
              <a:rPr spc="-40" dirty="0"/>
              <a:t> </a:t>
            </a:r>
            <a:r>
              <a:rPr dirty="0"/>
              <a:t>–</a:t>
            </a:r>
            <a:r>
              <a:rPr spc="-65" dirty="0"/>
              <a:t> </a:t>
            </a:r>
            <a:r>
              <a:rPr dirty="0"/>
              <a:t>where</a:t>
            </a:r>
            <a:r>
              <a:rPr spc="-80" dirty="0"/>
              <a:t> </a:t>
            </a:r>
            <a:r>
              <a:rPr dirty="0"/>
              <a:t>to</a:t>
            </a:r>
            <a:r>
              <a:rPr spc="-65" dirty="0"/>
              <a:t> </a:t>
            </a:r>
            <a:r>
              <a:rPr spc="-10" dirty="0"/>
              <a:t>start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21D95BA4-06CA-4218-8C8B-B38AECF45A2F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77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34644" y="1149055"/>
            <a:ext cx="7269480" cy="473519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482600" indent="-469900">
              <a:lnSpc>
                <a:spcPct val="100000"/>
              </a:lnSpc>
              <a:spcBef>
                <a:spcPts val="58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Disconnect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“unnecessary”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loops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if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possible</a:t>
            </a:r>
            <a:endParaRPr sz="20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spcBef>
                <a:spcPts val="48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2000" dirty="0">
                <a:latin typeface="Verdana"/>
                <a:cs typeface="Verdana"/>
              </a:rPr>
              <a:t>Oscillation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frequency</a:t>
            </a:r>
            <a:endParaRPr sz="2000">
              <a:latin typeface="Verdana"/>
              <a:cs typeface="Verdana"/>
            </a:endParaRPr>
          </a:p>
          <a:p>
            <a:pPr marL="920750" lvl="1" indent="-437515">
              <a:lnSpc>
                <a:spcPct val="100000"/>
              </a:lnSpc>
              <a:spcBef>
                <a:spcPts val="600"/>
              </a:spcBef>
              <a:buClr>
                <a:srgbClr val="CC0000"/>
              </a:buClr>
              <a:buFont typeface="Wingdings"/>
              <a:buChar char=""/>
              <a:tabLst>
                <a:tab pos="920750" algn="l"/>
              </a:tabLst>
            </a:pPr>
            <a:r>
              <a:rPr sz="1800" dirty="0">
                <a:latin typeface="Verdana"/>
                <a:cs typeface="Verdana"/>
              </a:rPr>
              <a:t>Close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unity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gain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bandwidth</a:t>
            </a:r>
            <a:endParaRPr sz="1800">
              <a:latin typeface="Verdana"/>
              <a:cs typeface="Verdana"/>
            </a:endParaRPr>
          </a:p>
          <a:p>
            <a:pPr marL="1317625" lvl="2" indent="-396240">
              <a:lnSpc>
                <a:spcPct val="100000"/>
              </a:lnSpc>
              <a:spcBef>
                <a:spcPts val="385"/>
              </a:spcBef>
              <a:buClr>
                <a:srgbClr val="CC0000"/>
              </a:buClr>
              <a:buFont typeface="Wingdings"/>
              <a:buChar char=""/>
              <a:tabLst>
                <a:tab pos="1317625" algn="l"/>
              </a:tabLst>
            </a:pPr>
            <a:r>
              <a:rPr sz="1600" spc="-10" dirty="0">
                <a:latin typeface="Verdana"/>
                <a:cs typeface="Verdana"/>
              </a:rPr>
              <a:t>Parasitics</a:t>
            </a:r>
            <a:endParaRPr sz="1600">
              <a:latin typeface="Verdana"/>
              <a:cs typeface="Verdana"/>
            </a:endParaRPr>
          </a:p>
          <a:p>
            <a:pPr marL="1317625" lvl="2" indent="-396240">
              <a:lnSpc>
                <a:spcPct val="100000"/>
              </a:lnSpc>
              <a:spcBef>
                <a:spcPts val="385"/>
              </a:spcBef>
              <a:buClr>
                <a:srgbClr val="CC0000"/>
              </a:buClr>
              <a:buFont typeface="Wingdings"/>
              <a:buChar char=""/>
              <a:tabLst>
                <a:tab pos="1317625" algn="l"/>
              </a:tabLst>
            </a:pPr>
            <a:r>
              <a:rPr sz="1600" dirty="0">
                <a:latin typeface="Verdana"/>
                <a:cs typeface="Verdana"/>
              </a:rPr>
              <a:t>Feedforward</a:t>
            </a:r>
            <a:r>
              <a:rPr sz="1600" spc="-6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RHP</a:t>
            </a:r>
            <a:r>
              <a:rPr sz="1600" spc="-95" dirty="0">
                <a:latin typeface="Verdana"/>
                <a:cs typeface="Verdana"/>
              </a:rPr>
              <a:t> </a:t>
            </a:r>
            <a:r>
              <a:rPr sz="1600" spc="-20" dirty="0">
                <a:latin typeface="Verdana"/>
                <a:cs typeface="Verdana"/>
              </a:rPr>
              <a:t>zero</a:t>
            </a:r>
            <a:endParaRPr sz="1600">
              <a:latin typeface="Verdana"/>
              <a:cs typeface="Verdana"/>
            </a:endParaRPr>
          </a:p>
          <a:p>
            <a:pPr marL="1317625" lvl="2" indent="-396240">
              <a:lnSpc>
                <a:spcPct val="100000"/>
              </a:lnSpc>
              <a:spcBef>
                <a:spcPts val="385"/>
              </a:spcBef>
              <a:buClr>
                <a:srgbClr val="CC0000"/>
              </a:buClr>
              <a:buFont typeface="Wingdings"/>
              <a:buChar char=""/>
              <a:tabLst>
                <a:tab pos="1317625" algn="l"/>
              </a:tabLst>
            </a:pPr>
            <a:r>
              <a:rPr sz="1600" dirty="0">
                <a:latin typeface="Verdana"/>
                <a:cs typeface="Verdana"/>
              </a:rPr>
              <a:t>Loss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of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Miller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loop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spc="-20" dirty="0">
                <a:latin typeface="Verdana"/>
                <a:cs typeface="Verdana"/>
              </a:rPr>
              <a:t>gain</a:t>
            </a:r>
            <a:endParaRPr sz="1600">
              <a:latin typeface="Verdana"/>
              <a:cs typeface="Verdana"/>
            </a:endParaRPr>
          </a:p>
          <a:p>
            <a:pPr marL="920750" lvl="1" indent="-437515">
              <a:lnSpc>
                <a:spcPct val="100000"/>
              </a:lnSpc>
              <a:spcBef>
                <a:spcPts val="600"/>
              </a:spcBef>
              <a:buClr>
                <a:srgbClr val="CC0000"/>
              </a:buClr>
              <a:buFont typeface="Wingdings"/>
              <a:buChar char=""/>
              <a:tabLst>
                <a:tab pos="920750" algn="l"/>
              </a:tabLst>
            </a:pPr>
            <a:r>
              <a:rPr sz="1800" dirty="0">
                <a:latin typeface="Verdana"/>
                <a:cs typeface="Verdana"/>
              </a:rPr>
              <a:t>Lower</a:t>
            </a:r>
            <a:r>
              <a:rPr sz="1800" spc="-10" dirty="0">
                <a:latin typeface="Verdana"/>
                <a:cs typeface="Verdana"/>
              </a:rPr>
              <a:t> frequency</a:t>
            </a:r>
            <a:endParaRPr sz="1800">
              <a:latin typeface="Verdana"/>
              <a:cs typeface="Verdana"/>
            </a:endParaRPr>
          </a:p>
          <a:p>
            <a:pPr marL="1317625" lvl="2" indent="-396240">
              <a:lnSpc>
                <a:spcPct val="100000"/>
              </a:lnSpc>
              <a:spcBef>
                <a:spcPts val="385"/>
              </a:spcBef>
              <a:buClr>
                <a:srgbClr val="CC0000"/>
              </a:buClr>
              <a:buFont typeface="Wingdings"/>
              <a:buChar char=""/>
              <a:tabLst>
                <a:tab pos="1317625" algn="l"/>
              </a:tabLst>
            </a:pPr>
            <a:r>
              <a:rPr sz="1600" dirty="0">
                <a:latin typeface="Verdana"/>
                <a:cs typeface="Verdana"/>
              </a:rPr>
              <a:t>Conditional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stability</a:t>
            </a:r>
            <a:endParaRPr sz="1600">
              <a:latin typeface="Verdana"/>
              <a:cs typeface="Verdana"/>
            </a:endParaRPr>
          </a:p>
          <a:p>
            <a:pPr marL="1317625" lvl="2" indent="-396240">
              <a:lnSpc>
                <a:spcPct val="100000"/>
              </a:lnSpc>
              <a:spcBef>
                <a:spcPts val="384"/>
              </a:spcBef>
              <a:buClr>
                <a:srgbClr val="CC0000"/>
              </a:buClr>
              <a:buFont typeface="Wingdings"/>
              <a:buChar char=""/>
              <a:tabLst>
                <a:tab pos="1317625" algn="l"/>
              </a:tabLst>
            </a:pPr>
            <a:r>
              <a:rPr sz="1600" dirty="0">
                <a:latin typeface="Verdana"/>
                <a:cs typeface="Verdana"/>
              </a:rPr>
              <a:t>Overdriven</a:t>
            </a:r>
            <a:r>
              <a:rPr sz="1600" spc="-7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gain</a:t>
            </a:r>
            <a:r>
              <a:rPr sz="1600" spc="-7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stage</a:t>
            </a:r>
            <a:endParaRPr sz="1600">
              <a:latin typeface="Verdana"/>
              <a:cs typeface="Verdana"/>
            </a:endParaRPr>
          </a:p>
          <a:p>
            <a:pPr marL="1317625" lvl="2" indent="-396240">
              <a:lnSpc>
                <a:spcPct val="100000"/>
              </a:lnSpc>
              <a:spcBef>
                <a:spcPts val="380"/>
              </a:spcBef>
              <a:buClr>
                <a:srgbClr val="CC0000"/>
              </a:buClr>
              <a:buFont typeface="Wingdings"/>
              <a:buChar char=""/>
              <a:tabLst>
                <a:tab pos="1317625" algn="l"/>
              </a:tabLst>
            </a:pPr>
            <a:r>
              <a:rPr sz="1600" dirty="0">
                <a:latin typeface="Verdana"/>
                <a:cs typeface="Verdana"/>
              </a:rPr>
              <a:t>Saturated</a:t>
            </a:r>
            <a:r>
              <a:rPr sz="1600" spc="-6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bipolar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device</a:t>
            </a:r>
            <a:endParaRPr sz="1600">
              <a:latin typeface="Verdana"/>
              <a:cs typeface="Verdana"/>
            </a:endParaRPr>
          </a:p>
          <a:p>
            <a:pPr marL="1317625" lvl="2" indent="-396240">
              <a:lnSpc>
                <a:spcPct val="100000"/>
              </a:lnSpc>
              <a:spcBef>
                <a:spcPts val="385"/>
              </a:spcBef>
              <a:buClr>
                <a:srgbClr val="CC0000"/>
              </a:buClr>
              <a:buFont typeface="Wingdings"/>
              <a:buChar char=""/>
              <a:tabLst>
                <a:tab pos="1317625" algn="l"/>
              </a:tabLst>
            </a:pPr>
            <a:r>
              <a:rPr sz="1600" dirty="0">
                <a:latin typeface="Verdana"/>
                <a:cs typeface="Verdana"/>
              </a:rPr>
              <a:t>Significant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loss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of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Miller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loop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gain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(i.e.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cascode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transistor)</a:t>
            </a:r>
            <a:endParaRPr sz="1600">
              <a:latin typeface="Verdana"/>
              <a:cs typeface="Verdana"/>
            </a:endParaRPr>
          </a:p>
          <a:p>
            <a:pPr marL="920750" lvl="1" indent="-437515">
              <a:lnSpc>
                <a:spcPct val="100000"/>
              </a:lnSpc>
              <a:spcBef>
                <a:spcPts val="600"/>
              </a:spcBef>
              <a:buClr>
                <a:srgbClr val="CC0000"/>
              </a:buClr>
              <a:buFont typeface="Wingdings"/>
              <a:buChar char=""/>
              <a:tabLst>
                <a:tab pos="920750" algn="l"/>
              </a:tabLst>
            </a:pPr>
            <a:r>
              <a:rPr sz="1800" dirty="0">
                <a:latin typeface="Verdana"/>
                <a:cs typeface="Verdana"/>
              </a:rPr>
              <a:t>Higher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frequency</a:t>
            </a:r>
            <a:endParaRPr sz="1800">
              <a:latin typeface="Verdana"/>
              <a:cs typeface="Verdana"/>
            </a:endParaRPr>
          </a:p>
          <a:p>
            <a:pPr marL="1317625" lvl="2" indent="-396240">
              <a:lnSpc>
                <a:spcPct val="100000"/>
              </a:lnSpc>
              <a:spcBef>
                <a:spcPts val="385"/>
              </a:spcBef>
              <a:buClr>
                <a:srgbClr val="CC0000"/>
              </a:buClr>
              <a:buFont typeface="Wingdings"/>
              <a:buChar char=""/>
              <a:tabLst>
                <a:tab pos="1317625" algn="l"/>
              </a:tabLst>
            </a:pPr>
            <a:r>
              <a:rPr sz="1600" dirty="0">
                <a:latin typeface="Verdana"/>
                <a:cs typeface="Verdana"/>
              </a:rPr>
              <a:t>Parasitic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inductances,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negative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impedance</a:t>
            </a:r>
            <a:endParaRPr sz="1600">
              <a:latin typeface="Verdana"/>
              <a:cs typeface="Verdana"/>
            </a:endParaRPr>
          </a:p>
          <a:p>
            <a:pPr marL="1317625" lvl="2" indent="-396240">
              <a:lnSpc>
                <a:spcPct val="100000"/>
              </a:lnSpc>
              <a:spcBef>
                <a:spcPts val="385"/>
              </a:spcBef>
              <a:buClr>
                <a:srgbClr val="CC0000"/>
              </a:buClr>
              <a:buFont typeface="Wingdings"/>
              <a:buChar char=""/>
              <a:tabLst>
                <a:tab pos="1317625" algn="l"/>
              </a:tabLst>
            </a:pPr>
            <a:r>
              <a:rPr sz="1600" dirty="0">
                <a:latin typeface="Verdana"/>
                <a:cs typeface="Verdana"/>
              </a:rPr>
              <a:t>Unintended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positive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feedback</a:t>
            </a:r>
            <a:endParaRPr sz="1600">
              <a:latin typeface="Verdana"/>
              <a:cs typeface="Verdana"/>
            </a:endParaRPr>
          </a:p>
          <a:p>
            <a:pPr marL="1317625" lvl="2" indent="-396240">
              <a:lnSpc>
                <a:spcPct val="100000"/>
              </a:lnSpc>
              <a:spcBef>
                <a:spcPts val="384"/>
              </a:spcBef>
              <a:buClr>
                <a:srgbClr val="CC0000"/>
              </a:buClr>
              <a:buFont typeface="Wingdings"/>
              <a:buChar char=""/>
              <a:tabLst>
                <a:tab pos="1317625" algn="l"/>
              </a:tabLst>
            </a:pPr>
            <a:r>
              <a:rPr sz="1600" dirty="0">
                <a:latin typeface="Verdana"/>
                <a:cs typeface="Verdana"/>
              </a:rPr>
              <a:t>Local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feedback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spc="-20" dirty="0">
                <a:latin typeface="Verdana"/>
                <a:cs typeface="Verdana"/>
              </a:rPr>
              <a:t>loops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Papers</a:t>
            </a:r>
            <a:r>
              <a:rPr spc="-4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see</a:t>
            </a:r>
            <a:r>
              <a:rPr spc="-10" dirty="0"/>
              <a:t> </a:t>
            </a:r>
            <a:r>
              <a:rPr dirty="0"/>
              <a:t>at</a:t>
            </a:r>
            <a:r>
              <a:rPr spc="-15" dirty="0"/>
              <a:t> </a:t>
            </a:r>
            <a:r>
              <a:rPr dirty="0"/>
              <a:t>ISSCC</a:t>
            </a:r>
            <a:r>
              <a:rPr spc="-15" dirty="0"/>
              <a:t> </a:t>
            </a:r>
            <a:r>
              <a:rPr spc="-20" dirty="0"/>
              <a:t>2021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E8E807DE-7C24-48F9-BC16-B416EF1E7FEB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78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34644" y="1364995"/>
            <a:ext cx="10469880" cy="38658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2600" marR="27305" indent="-470534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  <a:tab pos="1840864" algn="l"/>
              </a:tabLst>
            </a:pPr>
            <a:r>
              <a:rPr sz="2000" spc="-20" dirty="0">
                <a:latin typeface="Verdana"/>
                <a:cs typeface="Verdana"/>
              </a:rPr>
              <a:t>31.4</a:t>
            </a:r>
            <a:r>
              <a:rPr sz="2000" dirty="0">
                <a:latin typeface="Verdana"/>
                <a:cs typeface="Verdana"/>
              </a:rPr>
              <a:t>	‘A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Chopper-</a:t>
            </a:r>
            <a:r>
              <a:rPr sz="2000" dirty="0">
                <a:latin typeface="Verdana"/>
                <a:cs typeface="Verdana"/>
              </a:rPr>
              <a:t>Stabilized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Amplifier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with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-</a:t>
            </a:r>
            <a:r>
              <a:rPr sz="2000" dirty="0">
                <a:latin typeface="Verdana"/>
                <a:cs typeface="Verdana"/>
              </a:rPr>
              <a:t>107dB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IMD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28dB </a:t>
            </a:r>
            <a:r>
              <a:rPr sz="2000" dirty="0">
                <a:latin typeface="Verdana"/>
                <a:cs typeface="Verdana"/>
              </a:rPr>
              <a:t>Suppression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Chopper-</a:t>
            </a:r>
            <a:r>
              <a:rPr sz="2000" dirty="0">
                <a:latin typeface="Verdana"/>
                <a:cs typeface="Verdana"/>
              </a:rPr>
              <a:t>Induced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IMD’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T.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Rooijers,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S.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Karmakar,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Y.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Kusuda,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J.</a:t>
            </a:r>
            <a:endParaRPr sz="2000">
              <a:latin typeface="Verdana"/>
              <a:cs typeface="Verdana"/>
            </a:endParaRPr>
          </a:p>
          <a:p>
            <a:pPr marL="4826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H.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Huijsing,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K.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A.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A.</a:t>
            </a:r>
            <a:r>
              <a:rPr sz="2000" spc="-10" dirty="0">
                <a:latin typeface="Verdana"/>
                <a:cs typeface="Verdana"/>
              </a:rPr>
              <a:t> Makinwa</a:t>
            </a:r>
            <a:endParaRPr sz="20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spcBef>
                <a:spcPts val="48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  <a:tab pos="1840864" algn="l"/>
              </a:tabLst>
            </a:pPr>
            <a:r>
              <a:rPr sz="2000" spc="-25" dirty="0">
                <a:latin typeface="Verdana"/>
                <a:cs typeface="Verdana"/>
              </a:rPr>
              <a:t>5.6</a:t>
            </a:r>
            <a:r>
              <a:rPr sz="2000" dirty="0">
                <a:latin typeface="Verdana"/>
                <a:cs typeface="Verdana"/>
              </a:rPr>
              <a:t>	‘A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25A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Hybrid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Magnetic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Current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Sensor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with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64mA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Resolution,</a:t>
            </a:r>
            <a:endParaRPr sz="2000">
              <a:latin typeface="Verdana"/>
              <a:cs typeface="Verdana"/>
            </a:endParaRPr>
          </a:p>
          <a:p>
            <a:pPr marL="482600" marR="1143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1.8MHz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Bandwidth,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Gain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Drift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Compensation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Scheme’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A.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Jouyaeian,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Q. </a:t>
            </a:r>
            <a:r>
              <a:rPr sz="2000" dirty="0">
                <a:latin typeface="Verdana"/>
                <a:cs typeface="Verdana"/>
              </a:rPr>
              <a:t>Fan,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M.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Motz,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U.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Ausserlechner,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K.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A.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A.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Makinwa</a:t>
            </a:r>
            <a:endParaRPr sz="2000">
              <a:latin typeface="Verdana"/>
              <a:cs typeface="Verdana"/>
            </a:endParaRPr>
          </a:p>
          <a:p>
            <a:pPr marL="482600" marR="469900" indent="-470534">
              <a:lnSpc>
                <a:spcPct val="100000"/>
              </a:lnSpc>
              <a:spcBef>
                <a:spcPts val="48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  <a:tab pos="1840864" algn="l"/>
              </a:tabLst>
            </a:pPr>
            <a:r>
              <a:rPr sz="2000" spc="-25" dirty="0">
                <a:latin typeface="Verdana"/>
                <a:cs typeface="Verdana"/>
              </a:rPr>
              <a:t>5.5</a:t>
            </a:r>
            <a:r>
              <a:rPr sz="2000" dirty="0">
                <a:latin typeface="Verdana"/>
                <a:cs typeface="Verdana"/>
              </a:rPr>
              <a:t>	‘A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770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kS/s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Duty-</a:t>
            </a:r>
            <a:r>
              <a:rPr sz="2000" dirty="0">
                <a:latin typeface="Verdana"/>
                <a:cs typeface="Verdana"/>
              </a:rPr>
              <a:t>Cycled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Integrated-</a:t>
            </a:r>
            <a:r>
              <a:rPr sz="2000" dirty="0">
                <a:latin typeface="Verdana"/>
                <a:cs typeface="Verdana"/>
              </a:rPr>
              <a:t>Fluxgate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Magnetometer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for </a:t>
            </a:r>
            <a:r>
              <a:rPr sz="2000" dirty="0">
                <a:latin typeface="Verdana"/>
                <a:cs typeface="Verdana"/>
              </a:rPr>
              <a:t>Contactless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Current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Sensing’</a:t>
            </a:r>
            <a:r>
              <a:rPr sz="2000" spc="-3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P.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Garcha,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V.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Schaffer,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B.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Haroun,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S. </a:t>
            </a:r>
            <a:r>
              <a:rPr sz="2000" dirty="0">
                <a:latin typeface="Verdana"/>
                <a:cs typeface="Verdana"/>
              </a:rPr>
              <a:t>Ramaswamy,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J.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Wieser,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J.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Lang,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A.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Chandrakasan</a:t>
            </a:r>
            <a:endParaRPr sz="2000">
              <a:latin typeface="Verdana"/>
              <a:cs typeface="Verdana"/>
            </a:endParaRPr>
          </a:p>
          <a:p>
            <a:pPr marL="482600" marR="5080" indent="-470534">
              <a:lnSpc>
                <a:spcPct val="100000"/>
              </a:lnSpc>
              <a:spcBef>
                <a:spcPts val="48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  <a:tab pos="1840864" algn="l"/>
              </a:tabLst>
            </a:pPr>
            <a:r>
              <a:rPr sz="2000" spc="-25" dirty="0">
                <a:latin typeface="Verdana"/>
                <a:cs typeface="Verdana"/>
              </a:rPr>
              <a:t>5.8</a:t>
            </a:r>
            <a:r>
              <a:rPr sz="2000" dirty="0">
                <a:latin typeface="Verdana"/>
                <a:cs typeface="Verdana"/>
              </a:rPr>
              <a:t>	‘A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5V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Dynamic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Class-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Paralleled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Single-</a:t>
            </a:r>
            <a:r>
              <a:rPr sz="2000" dirty="0">
                <a:latin typeface="Verdana"/>
                <a:cs typeface="Verdana"/>
              </a:rPr>
              <a:t>Stage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Amplifier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with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Near-</a:t>
            </a:r>
            <a:r>
              <a:rPr sz="2000" dirty="0">
                <a:latin typeface="Verdana"/>
                <a:cs typeface="Verdana"/>
              </a:rPr>
              <a:t>Zero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Dead-</a:t>
            </a:r>
            <a:r>
              <a:rPr sz="2000" dirty="0">
                <a:latin typeface="Verdana"/>
                <a:cs typeface="Verdana"/>
              </a:rPr>
              <a:t>Zone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Control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Current-</a:t>
            </a:r>
            <a:r>
              <a:rPr sz="2000" dirty="0">
                <a:latin typeface="Verdana"/>
                <a:cs typeface="Verdana"/>
              </a:rPr>
              <a:t>Redistributive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Rail-to-</a:t>
            </a:r>
            <a:r>
              <a:rPr sz="2000" dirty="0">
                <a:latin typeface="Verdana"/>
                <a:cs typeface="Verdana"/>
              </a:rPr>
              <a:t>Rail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Gm-</a:t>
            </a:r>
            <a:r>
              <a:rPr sz="2000" spc="-10" dirty="0">
                <a:latin typeface="Verdana"/>
                <a:cs typeface="Verdana"/>
              </a:rPr>
              <a:t>Boosting </a:t>
            </a:r>
            <a:r>
              <a:rPr sz="2000" dirty="0">
                <a:latin typeface="Verdana"/>
                <a:cs typeface="Verdana"/>
              </a:rPr>
              <a:t>Technique’</a:t>
            </a:r>
            <a:r>
              <a:rPr sz="2000" spc="-15" dirty="0">
                <a:latin typeface="Verdana"/>
                <a:cs typeface="Verdana"/>
              </a:rPr>
              <a:t>  </a:t>
            </a:r>
            <a:r>
              <a:rPr sz="2000" spc="-25" dirty="0">
                <a:latin typeface="Verdana"/>
                <a:cs typeface="Verdana"/>
              </a:rPr>
              <a:t>S-</a:t>
            </a:r>
            <a:r>
              <a:rPr sz="2000" dirty="0">
                <a:latin typeface="Verdana"/>
                <a:cs typeface="Verdana"/>
              </a:rPr>
              <a:t>T.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Koh,</a:t>
            </a:r>
            <a:r>
              <a:rPr sz="2000" spc="-20" dirty="0">
                <a:latin typeface="Verdana"/>
                <a:cs typeface="Verdana"/>
              </a:rPr>
              <a:t> J-</a:t>
            </a:r>
            <a:r>
              <a:rPr sz="2000" dirty="0">
                <a:latin typeface="Verdana"/>
                <a:cs typeface="Verdana"/>
              </a:rPr>
              <a:t>H.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Lee,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G-</a:t>
            </a:r>
            <a:r>
              <a:rPr sz="2000" dirty="0">
                <a:latin typeface="Verdana"/>
                <a:cs typeface="Verdana"/>
              </a:rPr>
              <a:t>G.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Kang,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H.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Han,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H-</a:t>
            </a:r>
            <a:r>
              <a:rPr sz="2000" dirty="0">
                <a:latin typeface="Verdana"/>
                <a:cs typeface="Verdana"/>
              </a:rPr>
              <a:t>S.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Kim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C8F34DDA-E207-45A6-884A-D3568BBA8806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79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91776" y="1213046"/>
            <a:ext cx="10308590" cy="484759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72745" indent="-360045">
              <a:lnSpc>
                <a:spcPct val="100000"/>
              </a:lnSpc>
              <a:spcBef>
                <a:spcPts val="434"/>
              </a:spcBef>
              <a:buClr>
                <a:srgbClr val="CC0000"/>
              </a:buClr>
              <a:buAutoNum type="arabicPeriod"/>
              <a:tabLst>
                <a:tab pos="372745" algn="l"/>
              </a:tabLst>
            </a:pPr>
            <a:r>
              <a:rPr sz="1400" dirty="0">
                <a:latin typeface="Verdana"/>
                <a:cs typeface="Verdana"/>
              </a:rPr>
              <a:t>H.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Nyquist,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“Regeneration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Theory,”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Bell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System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Technical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J.,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vol.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11,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no.1,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pp.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126-</a:t>
            </a:r>
            <a:r>
              <a:rPr sz="1400" dirty="0">
                <a:latin typeface="Verdana"/>
                <a:cs typeface="Verdana"/>
              </a:rPr>
              <a:t>147,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1932.</a:t>
            </a:r>
            <a:endParaRPr sz="1400">
              <a:latin typeface="Verdana"/>
              <a:cs typeface="Verdana"/>
            </a:endParaRPr>
          </a:p>
          <a:p>
            <a:pPr marL="372745" marR="319405" indent="-360680">
              <a:lnSpc>
                <a:spcPct val="100000"/>
              </a:lnSpc>
              <a:spcBef>
                <a:spcPts val="335"/>
              </a:spcBef>
              <a:buClr>
                <a:srgbClr val="CC0000"/>
              </a:buClr>
              <a:buAutoNum type="arabicPeriod"/>
              <a:tabLst>
                <a:tab pos="372745" algn="l"/>
              </a:tabLst>
            </a:pPr>
            <a:r>
              <a:rPr sz="1400" dirty="0">
                <a:latin typeface="Verdana"/>
                <a:cs typeface="Verdana"/>
              </a:rPr>
              <a:t>John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M.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Miller,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"Dependence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of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the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input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impedance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of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three-</a:t>
            </a:r>
            <a:r>
              <a:rPr sz="1400" dirty="0">
                <a:latin typeface="Verdana"/>
                <a:cs typeface="Verdana"/>
              </a:rPr>
              <a:t>electrode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vacuum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tube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upon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the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load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in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the </a:t>
            </a:r>
            <a:r>
              <a:rPr sz="1400" dirty="0">
                <a:latin typeface="Verdana"/>
                <a:cs typeface="Verdana"/>
              </a:rPr>
              <a:t>plate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circuit,"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Scientific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Papers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of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the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Bureau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of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Standards,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vol.15,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no.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351,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pages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367-</a:t>
            </a:r>
            <a:r>
              <a:rPr sz="1400" dirty="0">
                <a:latin typeface="Verdana"/>
                <a:cs typeface="Verdana"/>
              </a:rPr>
              <a:t>385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(1920)</a:t>
            </a:r>
            <a:endParaRPr sz="1400">
              <a:latin typeface="Verdana"/>
              <a:cs typeface="Verdana"/>
            </a:endParaRPr>
          </a:p>
          <a:p>
            <a:pPr marL="372745" indent="-360045">
              <a:lnSpc>
                <a:spcPct val="100000"/>
              </a:lnSpc>
              <a:spcBef>
                <a:spcPts val="335"/>
              </a:spcBef>
              <a:buClr>
                <a:srgbClr val="CC0000"/>
              </a:buClr>
              <a:buAutoNum type="arabicPeriod"/>
              <a:tabLst>
                <a:tab pos="372745" algn="l"/>
              </a:tabLst>
            </a:pPr>
            <a:r>
              <a:rPr sz="1400" dirty="0">
                <a:latin typeface="Verdana"/>
                <a:cs typeface="Verdana"/>
              </a:rPr>
              <a:t>R.Eschauzier</a:t>
            </a:r>
            <a:r>
              <a:rPr sz="1400" spc="3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“Wide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Bandwidth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Low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Power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Operational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Amplifiers”,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Delft</a:t>
            </a:r>
            <a:r>
              <a:rPr sz="1400" spc="-8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University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Press,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1994.</a:t>
            </a:r>
            <a:endParaRPr sz="1400">
              <a:latin typeface="Verdana"/>
              <a:cs typeface="Verdana"/>
            </a:endParaRPr>
          </a:p>
          <a:p>
            <a:pPr marL="372745" marR="247015" indent="-360680">
              <a:lnSpc>
                <a:spcPct val="100000"/>
              </a:lnSpc>
              <a:spcBef>
                <a:spcPts val="340"/>
              </a:spcBef>
              <a:buClr>
                <a:srgbClr val="CC0000"/>
              </a:buClr>
              <a:buAutoNum type="arabicPeriod"/>
              <a:tabLst>
                <a:tab pos="372745" algn="l"/>
              </a:tabLst>
            </a:pPr>
            <a:r>
              <a:rPr sz="1400" dirty="0">
                <a:latin typeface="Verdana"/>
                <a:cs typeface="Verdana"/>
              </a:rPr>
              <a:t>R.Eschauzier,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L.Kerklaan,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J.H.Huising,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“A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100-</a:t>
            </a:r>
            <a:r>
              <a:rPr sz="1400" dirty="0">
                <a:latin typeface="Verdana"/>
                <a:cs typeface="Verdana"/>
              </a:rPr>
              <a:t>MHz</a:t>
            </a:r>
            <a:r>
              <a:rPr sz="1400" spc="-8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100dB</a:t>
            </a:r>
            <a:r>
              <a:rPr sz="1400" spc="-8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Operational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Amplifier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with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Multipath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Nested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Miller Compensation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Structure”,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IEEE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JSSC,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Dec.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1992,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pp.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1709-1717.</a:t>
            </a:r>
            <a:endParaRPr sz="1400">
              <a:latin typeface="Verdana"/>
              <a:cs typeface="Verdana"/>
            </a:endParaRPr>
          </a:p>
          <a:p>
            <a:pPr marL="372745" indent="-360045">
              <a:lnSpc>
                <a:spcPct val="100000"/>
              </a:lnSpc>
              <a:spcBef>
                <a:spcPts val="335"/>
              </a:spcBef>
              <a:buClr>
                <a:srgbClr val="CC0000"/>
              </a:buClr>
              <a:buAutoNum type="arabicPeriod"/>
              <a:tabLst>
                <a:tab pos="372745" algn="l"/>
              </a:tabLst>
            </a:pPr>
            <a:r>
              <a:rPr sz="1400" dirty="0">
                <a:latin typeface="Verdana"/>
                <a:cs typeface="Verdana"/>
              </a:rPr>
              <a:t>V.Ivanov,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I.Filanovsky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,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“Operational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Amplifier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Speed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and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Accuracy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Improvement”,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Kluwer,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2004.</a:t>
            </a:r>
            <a:endParaRPr sz="1400">
              <a:latin typeface="Verdana"/>
              <a:cs typeface="Verdana"/>
            </a:endParaRPr>
          </a:p>
          <a:p>
            <a:pPr marL="372745" indent="-360045">
              <a:lnSpc>
                <a:spcPct val="100000"/>
              </a:lnSpc>
              <a:spcBef>
                <a:spcPts val="335"/>
              </a:spcBef>
              <a:buClr>
                <a:srgbClr val="CC0000"/>
              </a:buClr>
              <a:buAutoNum type="arabicPeriod"/>
              <a:tabLst>
                <a:tab pos="372745" algn="l"/>
              </a:tabLst>
            </a:pPr>
            <a:r>
              <a:rPr sz="1400" dirty="0">
                <a:latin typeface="Verdana"/>
                <a:cs typeface="Verdana"/>
              </a:rPr>
              <a:t>V.Ivanov,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“Analog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Design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Methodology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–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Practical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Techniques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for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Frequency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Compensation”,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Mead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2020</a:t>
            </a:r>
            <a:endParaRPr sz="1400">
              <a:latin typeface="Verdana"/>
              <a:cs typeface="Verdana"/>
            </a:endParaRPr>
          </a:p>
          <a:p>
            <a:pPr marL="372745" indent="-360045">
              <a:lnSpc>
                <a:spcPct val="100000"/>
              </a:lnSpc>
              <a:spcBef>
                <a:spcPts val="335"/>
              </a:spcBef>
              <a:buClr>
                <a:srgbClr val="CC0000"/>
              </a:buClr>
              <a:buAutoNum type="arabicPeriod"/>
              <a:tabLst>
                <a:tab pos="372745" algn="l"/>
              </a:tabLst>
            </a:pPr>
            <a:r>
              <a:rPr sz="1400" dirty="0">
                <a:latin typeface="Verdana"/>
                <a:cs typeface="Verdana"/>
              </a:rPr>
              <a:t>N.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Mehta,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J.H.Huijsing,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V.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Stojanovic,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“1-</a:t>
            </a:r>
            <a:r>
              <a:rPr sz="1400" dirty="0">
                <a:latin typeface="Verdana"/>
                <a:cs typeface="Verdana"/>
              </a:rPr>
              <a:t>mW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Class-</a:t>
            </a:r>
            <a:r>
              <a:rPr sz="1400" dirty="0">
                <a:latin typeface="Verdana"/>
                <a:cs typeface="Verdana"/>
              </a:rPr>
              <a:t>AB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Amplifier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with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-101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dB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THD+N”,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IEEE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JSSC,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Apr.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2019,</a:t>
            </a:r>
            <a:endParaRPr sz="1400">
              <a:latin typeface="Verdana"/>
              <a:cs typeface="Verdana"/>
            </a:endParaRPr>
          </a:p>
          <a:p>
            <a:pPr marL="372745">
              <a:lnSpc>
                <a:spcPct val="100000"/>
              </a:lnSpc>
            </a:pPr>
            <a:r>
              <a:rPr sz="1400" dirty="0">
                <a:latin typeface="Verdana"/>
                <a:cs typeface="Verdana"/>
              </a:rPr>
              <a:t>pp.</a:t>
            </a:r>
            <a:r>
              <a:rPr sz="1400" spc="-10" dirty="0">
                <a:latin typeface="Verdana"/>
                <a:cs typeface="Verdana"/>
              </a:rPr>
              <a:t> 948-</a:t>
            </a:r>
            <a:r>
              <a:rPr sz="1400" spc="-20" dirty="0">
                <a:latin typeface="Verdana"/>
                <a:cs typeface="Verdana"/>
              </a:rPr>
              <a:t>958.</a:t>
            </a:r>
            <a:endParaRPr sz="1400">
              <a:latin typeface="Verdana"/>
              <a:cs typeface="Verdana"/>
            </a:endParaRPr>
          </a:p>
          <a:p>
            <a:pPr marL="372745" indent="-360045">
              <a:lnSpc>
                <a:spcPct val="100000"/>
              </a:lnSpc>
              <a:spcBef>
                <a:spcPts val="335"/>
              </a:spcBef>
              <a:buClr>
                <a:srgbClr val="CC0000"/>
              </a:buClr>
              <a:buAutoNum type="arabicPeriod" startAt="8"/>
              <a:tabLst>
                <a:tab pos="372745" algn="l"/>
              </a:tabLst>
            </a:pPr>
            <a:r>
              <a:rPr sz="1400" dirty="0">
                <a:latin typeface="Verdana"/>
                <a:cs typeface="Verdana"/>
              </a:rPr>
              <a:t>J.Wieser,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R.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Reed,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“Current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Source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Frequency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Compensation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for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CMOS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Amplifier”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US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Patent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4,484,148.</a:t>
            </a:r>
            <a:endParaRPr sz="1400">
              <a:latin typeface="Verdana"/>
              <a:cs typeface="Verdana"/>
            </a:endParaRPr>
          </a:p>
          <a:p>
            <a:pPr marL="372745" marR="156845" indent="-360680">
              <a:lnSpc>
                <a:spcPct val="100000"/>
              </a:lnSpc>
              <a:spcBef>
                <a:spcPts val="340"/>
              </a:spcBef>
              <a:buClr>
                <a:srgbClr val="CC0000"/>
              </a:buClr>
              <a:buAutoNum type="arabicPeriod" startAt="8"/>
              <a:tabLst>
                <a:tab pos="372745" algn="l"/>
              </a:tabLst>
            </a:pPr>
            <a:r>
              <a:rPr sz="1400" dirty="0">
                <a:latin typeface="Verdana"/>
                <a:cs typeface="Verdana"/>
              </a:rPr>
              <a:t>B.K.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Ahuja,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“An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Improved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Frequency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Compensation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Technique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for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CMOS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Operational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Amplifiers”,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IEEE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JSSC, </a:t>
            </a:r>
            <a:r>
              <a:rPr sz="1400" dirty="0">
                <a:latin typeface="Verdana"/>
                <a:cs typeface="Verdana"/>
              </a:rPr>
              <a:t>Dec.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1983,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pp.629-633.</a:t>
            </a:r>
            <a:endParaRPr sz="1400">
              <a:latin typeface="Verdana"/>
              <a:cs typeface="Verdana"/>
            </a:endParaRPr>
          </a:p>
          <a:p>
            <a:pPr marL="370840" indent="-358140">
              <a:lnSpc>
                <a:spcPct val="100000"/>
              </a:lnSpc>
              <a:spcBef>
                <a:spcPts val="335"/>
              </a:spcBef>
              <a:buClr>
                <a:srgbClr val="CC0000"/>
              </a:buClr>
              <a:buAutoNum type="arabicPeriod" startAt="8"/>
              <a:tabLst>
                <a:tab pos="370840" algn="l"/>
              </a:tabLst>
            </a:pPr>
            <a:r>
              <a:rPr sz="1400" dirty="0">
                <a:latin typeface="Verdana"/>
                <a:cs typeface="Verdana"/>
              </a:rPr>
              <a:t>R.J.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Reay,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G.T.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Kovacs,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“An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Unconditionally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Stable</a:t>
            </a:r>
            <a:r>
              <a:rPr sz="1400" spc="-20" dirty="0">
                <a:latin typeface="Verdana"/>
                <a:cs typeface="Verdana"/>
              </a:rPr>
              <a:t> Two-</a:t>
            </a:r>
            <a:r>
              <a:rPr sz="1400" dirty="0">
                <a:latin typeface="Verdana"/>
                <a:cs typeface="Verdana"/>
              </a:rPr>
              <a:t>Stage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CMOS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Amplifier”,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JSSC,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May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1995,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pp.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591.</a:t>
            </a:r>
            <a:endParaRPr sz="1400">
              <a:latin typeface="Verdana"/>
              <a:cs typeface="Verdana"/>
            </a:endParaRPr>
          </a:p>
          <a:p>
            <a:pPr marL="370205" marR="1148715" indent="-358140">
              <a:lnSpc>
                <a:spcPct val="100000"/>
              </a:lnSpc>
              <a:spcBef>
                <a:spcPts val="335"/>
              </a:spcBef>
              <a:buClr>
                <a:srgbClr val="CC0000"/>
              </a:buClr>
              <a:buAutoNum type="arabicPeriod" startAt="8"/>
              <a:tabLst>
                <a:tab pos="372745" algn="l"/>
              </a:tabLst>
            </a:pPr>
            <a:r>
              <a:rPr sz="1400" dirty="0">
                <a:latin typeface="Verdana"/>
                <a:cs typeface="Verdana"/>
              </a:rPr>
              <a:t>G.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Palumbo,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S.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Pennisi,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“Design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Methodology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and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Advances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in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Nested-</a:t>
            </a:r>
            <a:r>
              <a:rPr sz="1400" dirty="0">
                <a:latin typeface="Verdana"/>
                <a:cs typeface="Verdana"/>
              </a:rPr>
              <a:t>Miller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Compensation”,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IEEE 	</a:t>
            </a:r>
            <a:r>
              <a:rPr sz="1400" spc="-10" dirty="0">
                <a:latin typeface="Verdana"/>
                <a:cs typeface="Verdana"/>
              </a:rPr>
              <a:t>Transactions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on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Circuits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and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Systems,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July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2002,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pp.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893-</a:t>
            </a:r>
            <a:r>
              <a:rPr sz="1400" spc="-20" dirty="0">
                <a:latin typeface="Verdana"/>
                <a:cs typeface="Verdana"/>
              </a:rPr>
              <a:t>903.</a:t>
            </a:r>
            <a:endParaRPr sz="1400">
              <a:latin typeface="Verdana"/>
              <a:cs typeface="Verdana"/>
            </a:endParaRPr>
          </a:p>
          <a:p>
            <a:pPr marL="370205" marR="304800" indent="-358140">
              <a:lnSpc>
                <a:spcPct val="100000"/>
              </a:lnSpc>
              <a:spcBef>
                <a:spcPts val="335"/>
              </a:spcBef>
              <a:buClr>
                <a:srgbClr val="CC0000"/>
              </a:buClr>
              <a:buAutoNum type="arabicPeriod" startAt="8"/>
              <a:tabLst>
                <a:tab pos="372745" algn="l"/>
              </a:tabLst>
            </a:pPr>
            <a:r>
              <a:rPr sz="1400" dirty="0">
                <a:latin typeface="Verdana"/>
                <a:cs typeface="Verdana"/>
              </a:rPr>
              <a:t>V.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Dhanasekaran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et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al.,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“Design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of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Three-</a:t>
            </a:r>
            <a:r>
              <a:rPr sz="1400" dirty="0">
                <a:latin typeface="Verdana"/>
                <a:cs typeface="Verdana"/>
              </a:rPr>
              <a:t>Stage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Class-</a:t>
            </a:r>
            <a:r>
              <a:rPr sz="1400" dirty="0">
                <a:latin typeface="Verdana"/>
                <a:cs typeface="Verdana"/>
              </a:rPr>
              <a:t>AB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16W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Headphone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Driver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Capable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of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Handling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Wide 	</a:t>
            </a:r>
            <a:r>
              <a:rPr sz="1400" dirty="0">
                <a:latin typeface="Verdana"/>
                <a:cs typeface="Verdana"/>
              </a:rPr>
              <a:t>Range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of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Load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Capacitance”,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IEEE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JSSC,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June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2009.</a:t>
            </a:r>
            <a:endParaRPr sz="1400">
              <a:latin typeface="Verdana"/>
              <a:cs typeface="Verdana"/>
            </a:endParaRPr>
          </a:p>
          <a:p>
            <a:pPr marL="370205" marR="245745" indent="-358140">
              <a:lnSpc>
                <a:spcPct val="100000"/>
              </a:lnSpc>
              <a:spcBef>
                <a:spcPts val="335"/>
              </a:spcBef>
              <a:buClr>
                <a:srgbClr val="CC0000"/>
              </a:buClr>
              <a:buAutoNum type="arabicPeriod" startAt="8"/>
              <a:tabLst>
                <a:tab pos="372745" algn="l"/>
              </a:tabLst>
            </a:pPr>
            <a:r>
              <a:rPr sz="1400" dirty="0">
                <a:latin typeface="Verdana"/>
                <a:cs typeface="Verdana"/>
              </a:rPr>
              <a:t>A.K.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Leung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et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al.,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“Damping-Factor-</a:t>
            </a:r>
            <a:r>
              <a:rPr sz="1400" dirty="0">
                <a:latin typeface="Verdana"/>
                <a:cs typeface="Verdana"/>
              </a:rPr>
              <a:t>Control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Frequency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Compensation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Technique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for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Low-</a:t>
            </a:r>
            <a:r>
              <a:rPr sz="1400" dirty="0">
                <a:latin typeface="Verdana"/>
                <a:cs typeface="Verdana"/>
              </a:rPr>
              <a:t>Voltage</a:t>
            </a:r>
            <a:r>
              <a:rPr sz="1400" spc="-20" dirty="0">
                <a:latin typeface="Verdana"/>
                <a:cs typeface="Verdana"/>
              </a:rPr>
              <a:t> Low-</a:t>
            </a:r>
            <a:r>
              <a:rPr sz="1400" spc="-10" dirty="0">
                <a:latin typeface="Verdana"/>
                <a:cs typeface="Verdana"/>
              </a:rPr>
              <a:t>Power 	</a:t>
            </a:r>
            <a:r>
              <a:rPr sz="1400" dirty="0">
                <a:latin typeface="Verdana"/>
                <a:cs typeface="Verdana"/>
              </a:rPr>
              <a:t>Large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Capacitive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Load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Applications”,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ISSCC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1999.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BC08FC78-3CBE-4E3D-9B3D-0F59A07EB183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80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91794" y="1256030"/>
            <a:ext cx="10003790" cy="2201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2425" marR="121285" indent="-340360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AutoNum type="arabicPeriod" startAt="14"/>
              <a:tabLst>
                <a:tab pos="354965" algn="l"/>
              </a:tabLst>
            </a:pPr>
            <a:r>
              <a:rPr sz="1400" dirty="0">
                <a:latin typeface="Verdana"/>
                <a:cs typeface="Verdana"/>
              </a:rPr>
              <a:t>X.Peng,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W.Sansen,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“AC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Boosting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Compensation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Scheme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for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Low-</a:t>
            </a:r>
            <a:r>
              <a:rPr sz="1400" dirty="0">
                <a:latin typeface="Verdana"/>
                <a:cs typeface="Verdana"/>
              </a:rPr>
              <a:t>Power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Multistage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Amplifiers”,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IEEE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JSSC, 	</a:t>
            </a:r>
            <a:r>
              <a:rPr sz="1400" dirty="0">
                <a:latin typeface="Verdana"/>
                <a:cs typeface="Verdana"/>
              </a:rPr>
              <a:t>Nov.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2004.</a:t>
            </a:r>
            <a:endParaRPr sz="1400">
              <a:latin typeface="Verdana"/>
              <a:cs typeface="Verdana"/>
            </a:endParaRPr>
          </a:p>
          <a:p>
            <a:pPr marL="353060" indent="-340360">
              <a:lnSpc>
                <a:spcPct val="100000"/>
              </a:lnSpc>
              <a:spcBef>
                <a:spcPts val="340"/>
              </a:spcBef>
              <a:buClr>
                <a:srgbClr val="CC0000"/>
              </a:buClr>
              <a:buAutoNum type="arabicPeriod" startAt="14"/>
              <a:tabLst>
                <a:tab pos="353060" algn="l"/>
              </a:tabLst>
            </a:pPr>
            <a:r>
              <a:rPr sz="1400" dirty="0">
                <a:latin typeface="Verdana"/>
                <a:cs typeface="Verdana"/>
              </a:rPr>
              <a:t>D.M.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Monticelli,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“A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quad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CMOS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single-</a:t>
            </a:r>
            <a:r>
              <a:rPr sz="1400" dirty="0">
                <a:latin typeface="Verdana"/>
                <a:cs typeface="Verdana"/>
              </a:rPr>
              <a:t>supply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op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amp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with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rail-</a:t>
            </a:r>
            <a:r>
              <a:rPr sz="1400" spc="-10" dirty="0">
                <a:latin typeface="Verdana"/>
                <a:cs typeface="Verdana"/>
              </a:rPr>
              <a:t>to-</a:t>
            </a:r>
            <a:r>
              <a:rPr sz="1400" dirty="0">
                <a:latin typeface="Verdana"/>
                <a:cs typeface="Verdana"/>
              </a:rPr>
              <a:t>rail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output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swing”,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IEEE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JSSC,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Dec.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1996.</a:t>
            </a:r>
            <a:endParaRPr sz="1400">
              <a:latin typeface="Verdana"/>
              <a:cs typeface="Verdana"/>
            </a:endParaRPr>
          </a:p>
          <a:p>
            <a:pPr marL="352425" marR="5080" indent="-340360">
              <a:lnSpc>
                <a:spcPct val="100000"/>
              </a:lnSpc>
              <a:spcBef>
                <a:spcPts val="335"/>
              </a:spcBef>
              <a:buClr>
                <a:srgbClr val="CC0000"/>
              </a:buClr>
              <a:buAutoNum type="arabicPeriod" startAt="14"/>
              <a:tabLst>
                <a:tab pos="354965" algn="l"/>
              </a:tabLst>
            </a:pPr>
            <a:r>
              <a:rPr sz="1400" dirty="0">
                <a:latin typeface="Verdana"/>
                <a:cs typeface="Verdana"/>
              </a:rPr>
              <a:t>C.Wells,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M.Oljaca,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“Modeling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the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output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impedance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of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an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op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amp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for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stability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analysis”,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Analog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Applications 	Journal</a:t>
            </a:r>
            <a:endParaRPr sz="1400">
              <a:latin typeface="Verdana"/>
              <a:cs typeface="Verdana"/>
            </a:endParaRPr>
          </a:p>
          <a:p>
            <a:pPr marL="353060" indent="-340360">
              <a:lnSpc>
                <a:spcPct val="100000"/>
              </a:lnSpc>
              <a:spcBef>
                <a:spcPts val="335"/>
              </a:spcBef>
              <a:buClr>
                <a:srgbClr val="CC0000"/>
              </a:buClr>
              <a:buAutoNum type="arabicPeriod" startAt="14"/>
              <a:tabLst>
                <a:tab pos="353060" algn="l"/>
              </a:tabLst>
            </a:pPr>
            <a:r>
              <a:rPr sz="1400" u="sng" spc="-10" dirty="0">
                <a:solidFill>
                  <a:srgbClr val="326599"/>
                </a:solidFill>
                <a:uFill>
                  <a:solidFill>
                    <a:srgbClr val="326598"/>
                  </a:solidFill>
                </a:uFill>
                <a:latin typeface="Verdana"/>
                <a:cs typeface="Verdana"/>
                <a:hlinkClick r:id="rId2"/>
              </a:rPr>
              <a:t>https://lpsa.swarthmore.edu/Nyquist/Nyquist.html</a:t>
            </a:r>
            <a:endParaRPr sz="1400">
              <a:latin typeface="Verdana"/>
              <a:cs typeface="Verdana"/>
            </a:endParaRPr>
          </a:p>
          <a:p>
            <a:pPr marL="353060" indent="-340360">
              <a:lnSpc>
                <a:spcPct val="100000"/>
              </a:lnSpc>
              <a:spcBef>
                <a:spcPts val="335"/>
              </a:spcBef>
              <a:buClr>
                <a:srgbClr val="CC0000"/>
              </a:buClr>
              <a:buAutoNum type="arabicPeriod" startAt="14"/>
              <a:tabLst>
                <a:tab pos="353060" algn="l"/>
              </a:tabLst>
            </a:pPr>
            <a:r>
              <a:rPr sz="1400" dirty="0">
                <a:latin typeface="Verdana"/>
                <a:cs typeface="Verdana"/>
              </a:rPr>
              <a:t>Dr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Phil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Allen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–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lecture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notes</a:t>
            </a:r>
            <a:endParaRPr sz="1400">
              <a:latin typeface="Verdana"/>
              <a:cs typeface="Verdana"/>
            </a:endParaRPr>
          </a:p>
          <a:p>
            <a:pPr marL="353060" indent="-340360">
              <a:lnSpc>
                <a:spcPct val="100000"/>
              </a:lnSpc>
              <a:spcBef>
                <a:spcPts val="335"/>
              </a:spcBef>
              <a:buClr>
                <a:srgbClr val="CC0000"/>
              </a:buClr>
              <a:buAutoNum type="arabicPeriod" startAt="14"/>
              <a:tabLst>
                <a:tab pos="353060" algn="l"/>
              </a:tabLst>
            </a:pPr>
            <a:r>
              <a:rPr sz="1400" dirty="0">
                <a:latin typeface="Verdana"/>
                <a:cs typeface="Verdana"/>
              </a:rPr>
              <a:t>Art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Key,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Tim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Green,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“Analog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Engineer’s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Pocket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Reference”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u="sng" spc="-10" dirty="0">
                <a:solidFill>
                  <a:srgbClr val="326599"/>
                </a:solidFill>
                <a:uFill>
                  <a:solidFill>
                    <a:srgbClr val="326598"/>
                  </a:solidFill>
                </a:uFill>
                <a:latin typeface="Verdana"/>
                <a:cs typeface="Verdana"/>
                <a:hlinkClick r:id="rId3"/>
              </a:rPr>
              <a:t>www.ti.com/analogrefguide</a:t>
            </a:r>
            <a:endParaRPr sz="1400">
              <a:latin typeface="Verdana"/>
              <a:cs typeface="Verdana"/>
            </a:endParaRPr>
          </a:p>
          <a:p>
            <a:pPr marL="353060" indent="-340360">
              <a:lnSpc>
                <a:spcPct val="100000"/>
              </a:lnSpc>
              <a:spcBef>
                <a:spcPts val="335"/>
              </a:spcBef>
              <a:buClr>
                <a:srgbClr val="CC0000"/>
              </a:buClr>
              <a:buAutoNum type="arabicPeriod" startAt="14"/>
              <a:tabLst>
                <a:tab pos="353060" algn="l"/>
              </a:tabLst>
            </a:pPr>
            <a:r>
              <a:rPr sz="1400" dirty="0">
                <a:latin typeface="Verdana"/>
                <a:cs typeface="Verdana"/>
              </a:rPr>
              <a:t>B.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Razavi,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“Design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of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Analog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CMOS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Integrated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Circuits”,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McGraw-</a:t>
            </a:r>
            <a:r>
              <a:rPr sz="1400" dirty="0">
                <a:latin typeface="Verdana"/>
                <a:cs typeface="Verdana"/>
              </a:rPr>
              <a:t>Hill,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2000,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2017.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Examples</a:t>
            </a:r>
            <a:r>
              <a:rPr spc="-2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impedance</a:t>
            </a:r>
            <a:r>
              <a:rPr spc="-20" dirty="0"/>
              <a:t> </a:t>
            </a:r>
            <a:r>
              <a:rPr spc="-10" dirty="0"/>
              <a:t>control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2461" y="1375491"/>
            <a:ext cx="4372976" cy="116833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1933" y="2967449"/>
            <a:ext cx="3757688" cy="30264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87353" y="2921730"/>
            <a:ext cx="3736965" cy="287243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14607" y="1396277"/>
            <a:ext cx="3167701" cy="137198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E63E0EA7-3017-47F2-ABAB-F1125B5B00EA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81</a:t>
            </a:fld>
            <a:endParaRPr spc="-25" dirty="0"/>
          </a:p>
        </p:txBody>
      </p:sp>
      <p:sp>
        <p:nvSpPr>
          <p:cNvPr id="11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Examples</a:t>
            </a:r>
            <a:r>
              <a:rPr spc="-1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improve</a:t>
            </a:r>
            <a:r>
              <a:rPr spc="-10" dirty="0"/>
              <a:t> </a:t>
            </a:r>
            <a:r>
              <a:rPr dirty="0"/>
              <a:t>load</a:t>
            </a:r>
            <a:r>
              <a:rPr spc="-10" dirty="0"/>
              <a:t> </a:t>
            </a:r>
            <a:r>
              <a:rPr dirty="0"/>
              <a:t>capacitance</a:t>
            </a:r>
            <a:r>
              <a:rPr spc="-10" dirty="0"/>
              <a:t> drive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0502" y="3096499"/>
            <a:ext cx="3516871" cy="196232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6195" y="1599740"/>
            <a:ext cx="5586773" cy="7616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44868" y="1479539"/>
            <a:ext cx="4988660" cy="99790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56693" y="3062962"/>
            <a:ext cx="3658241" cy="139725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530874" y="5112223"/>
            <a:ext cx="869227" cy="44917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218192" y="4958092"/>
            <a:ext cx="1796680" cy="882232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4CFC5B1A-84D5-4008-BC1D-E7DE2C2D1DCB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82</a:t>
            </a:fld>
            <a:endParaRPr spc="-25" dirty="0"/>
          </a:p>
        </p:txBody>
      </p:sp>
      <p:sp>
        <p:nvSpPr>
          <p:cNvPr id="13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7257" y="1196608"/>
            <a:ext cx="7220292" cy="92356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52352" y="2834639"/>
            <a:ext cx="4190254" cy="2856738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2-</a:t>
            </a:r>
            <a:r>
              <a:rPr dirty="0"/>
              <a:t>Stage</a:t>
            </a:r>
            <a:r>
              <a:rPr spc="-65" dirty="0"/>
              <a:t> </a:t>
            </a:r>
            <a:r>
              <a:rPr dirty="0"/>
              <a:t>Amplifier:</a:t>
            </a:r>
            <a:r>
              <a:rPr spc="-30" dirty="0"/>
              <a:t> </a:t>
            </a:r>
            <a:r>
              <a:rPr dirty="0"/>
              <a:t>Stable</a:t>
            </a:r>
            <a:r>
              <a:rPr spc="-65" dirty="0"/>
              <a:t> </a:t>
            </a:r>
            <a:r>
              <a:rPr dirty="0"/>
              <a:t>with</a:t>
            </a:r>
            <a:r>
              <a:rPr spc="-45" dirty="0"/>
              <a:t> </a:t>
            </a:r>
            <a:r>
              <a:rPr dirty="0"/>
              <a:t>any</a:t>
            </a:r>
            <a:r>
              <a:rPr spc="-65" dirty="0"/>
              <a:t> </a:t>
            </a:r>
            <a:r>
              <a:rPr spc="-25" dirty="0"/>
              <a:t>Cld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87744" y="2564272"/>
            <a:ext cx="5067287" cy="307195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FB6C5AA0-5A75-43D5-81C4-9E001A742410}" type="datetime1">
              <a:rPr lang="en-US" spc="-10" smtClean="0"/>
              <a:t>8/17/2026</a:t>
            </a:fld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11402059" y="6371278"/>
            <a:ext cx="219075" cy="2108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25" dirty="0">
                <a:latin typeface="Verdana"/>
                <a:cs typeface="Verdana"/>
              </a:rPr>
              <a:t>85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462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lang="en-US" spc="-50" smtClean="0"/>
              <a:t>83</a:t>
            </a:fld>
            <a:endParaRPr lang="en-US" spc="-50" dirty="0"/>
          </a:p>
        </p:txBody>
      </p:sp>
      <p:sp>
        <p:nvSpPr>
          <p:cNvPr id="11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572000" y="6400800"/>
            <a:ext cx="2774190" cy="20020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@Neeraj Mishra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5415</Words>
  <Application>Microsoft Office PowerPoint</Application>
  <PresentationFormat>Widescreen</PresentationFormat>
  <Paragraphs>1419</Paragraphs>
  <Slides>83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83</vt:i4>
      </vt:variant>
    </vt:vector>
  </HeadingPairs>
  <TitlesOfParts>
    <vt:vector size="96" baseType="lpstr">
      <vt:lpstr>MS PGothic</vt:lpstr>
      <vt:lpstr>Arial</vt:lpstr>
      <vt:lpstr>Arial MT</vt:lpstr>
      <vt:lpstr>Calibri</vt:lpstr>
      <vt:lpstr>Calibri Light</vt:lpstr>
      <vt:lpstr>Cambria Math</vt:lpstr>
      <vt:lpstr>fkGrotesk</vt:lpstr>
      <vt:lpstr>Symbol</vt:lpstr>
      <vt:lpstr>Times New Roman</vt:lpstr>
      <vt:lpstr>Verdana</vt:lpstr>
      <vt:lpstr>Wingdings</vt:lpstr>
      <vt:lpstr>Office Theme</vt:lpstr>
      <vt:lpstr>2_Office Theme</vt:lpstr>
      <vt:lpstr>PowerPoint Presentation</vt:lpstr>
      <vt:lpstr>Motivation</vt:lpstr>
      <vt:lpstr>Stability</vt:lpstr>
      <vt:lpstr>Benefits and Challenges</vt:lpstr>
      <vt:lpstr>Stable (enough?)</vt:lpstr>
      <vt:lpstr>Outline</vt:lpstr>
      <vt:lpstr>Outline</vt:lpstr>
      <vt:lpstr>Ideal Amplifier</vt:lpstr>
      <vt:lpstr>Feedback Concept</vt:lpstr>
      <vt:lpstr>Feedback Concept</vt:lpstr>
      <vt:lpstr>Frequency Dependence</vt:lpstr>
      <vt:lpstr>Negative and Positive Feedback</vt:lpstr>
      <vt:lpstr>Feedback Stability: Nyquist Stability Criterion</vt:lpstr>
      <vt:lpstr>A practical simplification</vt:lpstr>
      <vt:lpstr>Bode Plots: Refresher</vt:lpstr>
      <vt:lpstr>Bode Plots: LHP Pole and Zero</vt:lpstr>
      <vt:lpstr>Gain and Phase Margin</vt:lpstr>
      <vt:lpstr>Op amp Feedback Stability: Graphical Method</vt:lpstr>
      <vt:lpstr>Op amp Feedback Stability: Graphical Method</vt:lpstr>
      <vt:lpstr>Op amp Feedback: Conditional Stability</vt:lpstr>
      <vt:lpstr>Bode Plots: LHP vs RHP Pole and Zero</vt:lpstr>
      <vt:lpstr>Relating to Transient Response [19]</vt:lpstr>
      <vt:lpstr>Relating to Transient Response [19]</vt:lpstr>
      <vt:lpstr>Outline</vt:lpstr>
      <vt:lpstr>Trends to Remember</vt:lpstr>
      <vt:lpstr>Frequency response of an amplifier[20]</vt:lpstr>
      <vt:lpstr>Frequency compensation</vt:lpstr>
      <vt:lpstr>Amplifiers: Number of stages</vt:lpstr>
      <vt:lpstr>What is a gain stage in the signal path?</vt:lpstr>
      <vt:lpstr>More stages  lower achievable bandwidth</vt:lpstr>
      <vt:lpstr>Outline</vt:lpstr>
      <vt:lpstr>Types of compensation</vt:lpstr>
      <vt:lpstr>Load compensation (single stage amplifier)</vt:lpstr>
      <vt:lpstr>Two stage amplifier: Frequency response</vt:lpstr>
      <vt:lpstr>Two stage amplifier: Shunt compensation</vt:lpstr>
      <vt:lpstr>Parallel (lead) compensation [3]</vt:lpstr>
      <vt:lpstr>Miller Effect</vt:lpstr>
      <vt:lpstr>Miller Capacitor</vt:lpstr>
      <vt:lpstr>Two stage amplifier: Miller compensation</vt:lpstr>
      <vt:lpstr>Two stage amplifier: Miller compensation</vt:lpstr>
      <vt:lpstr>Methods to eliminate the RHP zero</vt:lpstr>
      <vt:lpstr>Two Stage Amplifier: Compensation Comparison</vt:lpstr>
      <vt:lpstr>Outline</vt:lpstr>
      <vt:lpstr>Two Stage Amplifier Miller Comp (revisited)</vt:lpstr>
      <vt:lpstr>Cascoded Miller [8,9]</vt:lpstr>
      <vt:lpstr>Split Cascoded Miller</vt:lpstr>
      <vt:lpstr>“Hybrid” Cascoded Miller</vt:lpstr>
      <vt:lpstr>Pole-Zero Doublets</vt:lpstr>
      <vt:lpstr>Cascoded Miller: Reduce Gain [10]</vt:lpstr>
      <vt:lpstr>Cascoded Miller Comparison Simulations</vt:lpstr>
      <vt:lpstr>PowerPoint Presentation</vt:lpstr>
      <vt:lpstr>Additional gain stages</vt:lpstr>
      <vt:lpstr>Nested Miller Compensation</vt:lpstr>
      <vt:lpstr>Reverse Nested Miller Compensation</vt:lpstr>
      <vt:lpstr>Feed-forward Compensation</vt:lpstr>
      <vt:lpstr>Feed-forward around a gain stage</vt:lpstr>
      <vt:lpstr>Multipath NM (Feedforward) Compensation [3,4]</vt:lpstr>
      <vt:lpstr>Multipath Nested Miller Compensation</vt:lpstr>
      <vt:lpstr>Multipath Nested Miller Compensation</vt:lpstr>
      <vt:lpstr>External Techniques to Improve CL Drive</vt:lpstr>
      <vt:lpstr>Output Impedance Frequency Response [16]</vt:lpstr>
      <vt:lpstr>Outline</vt:lpstr>
      <vt:lpstr>Amplifiers have multiple feedback loops</vt:lpstr>
      <vt:lpstr>Tips to design for stability</vt:lpstr>
      <vt:lpstr>Gain (impedance boost)</vt:lpstr>
      <vt:lpstr>Building blocks for fast local loops[5,6]</vt:lpstr>
      <vt:lpstr>Decreasing gain</vt:lpstr>
      <vt:lpstr>Nested gain structure</vt:lpstr>
      <vt:lpstr>Common conditions to watch for</vt:lpstr>
      <vt:lpstr>Pulsing nodes</vt:lpstr>
      <vt:lpstr>Loading effects</vt:lpstr>
      <vt:lpstr>Taming High Impedance Nodes</vt:lpstr>
      <vt:lpstr>Miller-Loop damping</vt:lpstr>
      <vt:lpstr>Large signal instability</vt:lpstr>
      <vt:lpstr>Large signal stability</vt:lpstr>
      <vt:lpstr>Beware of Parasitic Effects</vt:lpstr>
      <vt:lpstr>Still Oscillates – where to start</vt:lpstr>
      <vt:lpstr>Papers to see at ISSCC 2021</vt:lpstr>
      <vt:lpstr>References</vt:lpstr>
      <vt:lpstr>References</vt:lpstr>
      <vt:lpstr>Examples of impedance control</vt:lpstr>
      <vt:lpstr>Examples to improve load capacitance drive</vt:lpstr>
      <vt:lpstr>2-Stage Amplifier: Stable with any Cld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Neeraj Mishra</dc:creator>
  <cp:lastModifiedBy>Admin</cp:lastModifiedBy>
  <cp:revision>3</cp:revision>
  <dcterms:created xsi:type="dcterms:W3CDTF">2026-08-17T05:01:07Z</dcterms:created>
  <dcterms:modified xsi:type="dcterms:W3CDTF">2026-08-17T05:37:05Z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2021-01-18T00:00:00Z</vt:filetime>
  </property>
  <property fmtid="{D5CDD505-2E9C-101B-9397-08002B2CF9AE}" pid="4" name="Creator">
    <vt:lpwstr>PScript5.dll Version 5.2.2</vt:lpwstr>
  </property>
  <property fmtid="{D5CDD505-2E9C-101B-9397-08002B2CF9AE}" pid="5" name="LastSaved">
    <vt:filetime>2026-08-17T00:00:00Z</vt:filetime>
  </property>
  <property fmtid="{D5CDD505-2E9C-101B-9397-08002B2CF9AE}" pid="6" name="Producer">
    <vt:lpwstr>Acrobat Distiller 20.0 (Windows)</vt:lpwstr>
  </property>
</Properties>
</file>