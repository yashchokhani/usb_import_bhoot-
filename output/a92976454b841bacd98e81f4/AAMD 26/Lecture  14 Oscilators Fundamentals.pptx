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60" r:id="rId1"/>
    <p:sldMasterId id="2147483672" r:id="rId2"/>
  </p:sldMasterIdLst>
  <p:notesMasterIdLst>
    <p:notesMasterId r:id="rId165"/>
  </p:notesMasterIdLst>
  <p:sldIdLst>
    <p:sldId id="257" r:id="rId3"/>
    <p:sldId id="392" r:id="rId4"/>
    <p:sldId id="393" r:id="rId5"/>
    <p:sldId id="394" r:id="rId6"/>
    <p:sldId id="395" r:id="rId7"/>
    <p:sldId id="396" r:id="rId8"/>
    <p:sldId id="397" r:id="rId9"/>
    <p:sldId id="398" r:id="rId10"/>
    <p:sldId id="399" r:id="rId11"/>
    <p:sldId id="400" r:id="rId12"/>
    <p:sldId id="401" r:id="rId13"/>
    <p:sldId id="402" r:id="rId14"/>
    <p:sldId id="403" r:id="rId15"/>
    <p:sldId id="404" r:id="rId16"/>
    <p:sldId id="405" r:id="rId17"/>
    <p:sldId id="406" r:id="rId18"/>
    <p:sldId id="407" r:id="rId19"/>
    <p:sldId id="408" r:id="rId20"/>
    <p:sldId id="409" r:id="rId21"/>
    <p:sldId id="410" r:id="rId22"/>
    <p:sldId id="411" r:id="rId23"/>
    <p:sldId id="412" r:id="rId24"/>
    <p:sldId id="413" r:id="rId25"/>
    <p:sldId id="414" r:id="rId26"/>
    <p:sldId id="415" r:id="rId27"/>
    <p:sldId id="416" r:id="rId28"/>
    <p:sldId id="417" r:id="rId29"/>
    <p:sldId id="418" r:id="rId30"/>
    <p:sldId id="258" r:id="rId31"/>
    <p:sldId id="259" r:id="rId32"/>
    <p:sldId id="260" r:id="rId33"/>
    <p:sldId id="371" r:id="rId34"/>
    <p:sldId id="372" r:id="rId35"/>
    <p:sldId id="373" r:id="rId36"/>
    <p:sldId id="261" r:id="rId37"/>
    <p:sldId id="262" r:id="rId38"/>
    <p:sldId id="263" r:id="rId39"/>
    <p:sldId id="264" r:id="rId40"/>
    <p:sldId id="391" r:id="rId41"/>
    <p:sldId id="265" r:id="rId42"/>
    <p:sldId id="266" r:id="rId43"/>
    <p:sldId id="267" r:id="rId44"/>
    <p:sldId id="268" r:id="rId45"/>
    <p:sldId id="374" r:id="rId46"/>
    <p:sldId id="375" r:id="rId47"/>
    <p:sldId id="376" r:id="rId48"/>
    <p:sldId id="377" r:id="rId49"/>
    <p:sldId id="378" r:id="rId50"/>
    <p:sldId id="269" r:id="rId51"/>
    <p:sldId id="379" r:id="rId52"/>
    <p:sldId id="270" r:id="rId53"/>
    <p:sldId id="380" r:id="rId54"/>
    <p:sldId id="381" r:id="rId55"/>
    <p:sldId id="271" r:id="rId56"/>
    <p:sldId id="382" r:id="rId57"/>
    <p:sldId id="272" r:id="rId58"/>
    <p:sldId id="383" r:id="rId59"/>
    <p:sldId id="384" r:id="rId60"/>
    <p:sldId id="273" r:id="rId61"/>
    <p:sldId id="274" r:id="rId62"/>
    <p:sldId id="275" r:id="rId63"/>
    <p:sldId id="276" r:id="rId64"/>
    <p:sldId id="385" r:id="rId65"/>
    <p:sldId id="277" r:id="rId66"/>
    <p:sldId id="386" r:id="rId67"/>
    <p:sldId id="387" r:id="rId68"/>
    <p:sldId id="278" r:id="rId69"/>
    <p:sldId id="279" r:id="rId70"/>
    <p:sldId id="280" r:id="rId71"/>
    <p:sldId id="281" r:id="rId72"/>
    <p:sldId id="390" r:id="rId73"/>
    <p:sldId id="282" r:id="rId74"/>
    <p:sldId id="388" r:id="rId75"/>
    <p:sldId id="389" r:id="rId76"/>
    <p:sldId id="283" r:id="rId77"/>
    <p:sldId id="284" r:id="rId78"/>
    <p:sldId id="285" r:id="rId79"/>
    <p:sldId id="286" r:id="rId80"/>
    <p:sldId id="365" r:id="rId81"/>
    <p:sldId id="287" r:id="rId82"/>
    <p:sldId id="419" r:id="rId83"/>
    <p:sldId id="288" r:id="rId84"/>
    <p:sldId id="289" r:id="rId85"/>
    <p:sldId id="290" r:id="rId86"/>
    <p:sldId id="291" r:id="rId87"/>
    <p:sldId id="292" r:id="rId88"/>
    <p:sldId id="293" r:id="rId89"/>
    <p:sldId id="294" r:id="rId90"/>
    <p:sldId id="295" r:id="rId91"/>
    <p:sldId id="296" r:id="rId92"/>
    <p:sldId id="297" r:id="rId93"/>
    <p:sldId id="298" r:id="rId94"/>
    <p:sldId id="299" r:id="rId95"/>
    <p:sldId id="300" r:id="rId96"/>
    <p:sldId id="301" r:id="rId97"/>
    <p:sldId id="302" r:id="rId98"/>
    <p:sldId id="303" r:id="rId99"/>
    <p:sldId id="304" r:id="rId100"/>
    <p:sldId id="305" r:id="rId101"/>
    <p:sldId id="306" r:id="rId102"/>
    <p:sldId id="307" r:id="rId103"/>
    <p:sldId id="308" r:id="rId104"/>
    <p:sldId id="309" r:id="rId105"/>
    <p:sldId id="366" r:id="rId106"/>
    <p:sldId id="310" r:id="rId107"/>
    <p:sldId id="311" r:id="rId108"/>
    <p:sldId id="312" r:id="rId109"/>
    <p:sldId id="313" r:id="rId110"/>
    <p:sldId id="314" r:id="rId111"/>
    <p:sldId id="315" r:id="rId112"/>
    <p:sldId id="316" r:id="rId113"/>
    <p:sldId id="317" r:id="rId114"/>
    <p:sldId id="367" r:id="rId115"/>
    <p:sldId id="318" r:id="rId116"/>
    <p:sldId id="319" r:id="rId117"/>
    <p:sldId id="320" r:id="rId118"/>
    <p:sldId id="321" r:id="rId119"/>
    <p:sldId id="322" r:id="rId120"/>
    <p:sldId id="324" r:id="rId121"/>
    <p:sldId id="326" r:id="rId122"/>
    <p:sldId id="327" r:id="rId123"/>
    <p:sldId id="323" r:id="rId124"/>
    <p:sldId id="368" r:id="rId125"/>
    <p:sldId id="369" r:id="rId126"/>
    <p:sldId id="370" r:id="rId127"/>
    <p:sldId id="325" r:id="rId128"/>
    <p:sldId id="328" r:id="rId129"/>
    <p:sldId id="329" r:id="rId130"/>
    <p:sldId id="330" r:id="rId131"/>
    <p:sldId id="331" r:id="rId132"/>
    <p:sldId id="334" r:id="rId133"/>
    <p:sldId id="332" r:id="rId134"/>
    <p:sldId id="335" r:id="rId135"/>
    <p:sldId id="336" r:id="rId136"/>
    <p:sldId id="337" r:id="rId137"/>
    <p:sldId id="338" r:id="rId138"/>
    <p:sldId id="339" r:id="rId139"/>
    <p:sldId id="340" r:id="rId140"/>
    <p:sldId id="341" r:id="rId141"/>
    <p:sldId id="342" r:id="rId142"/>
    <p:sldId id="343" r:id="rId143"/>
    <p:sldId id="344" r:id="rId144"/>
    <p:sldId id="345" r:id="rId145"/>
    <p:sldId id="346" r:id="rId146"/>
    <p:sldId id="347" r:id="rId147"/>
    <p:sldId id="348" r:id="rId148"/>
    <p:sldId id="349" r:id="rId149"/>
    <p:sldId id="350" r:id="rId150"/>
    <p:sldId id="351" r:id="rId151"/>
    <p:sldId id="354" r:id="rId152"/>
    <p:sldId id="352" r:id="rId153"/>
    <p:sldId id="355" r:id="rId154"/>
    <p:sldId id="353" r:id="rId155"/>
    <p:sldId id="356" r:id="rId156"/>
    <p:sldId id="357" r:id="rId157"/>
    <p:sldId id="358" r:id="rId158"/>
    <p:sldId id="359" r:id="rId159"/>
    <p:sldId id="360" r:id="rId160"/>
    <p:sldId id="361" r:id="rId161"/>
    <p:sldId id="362" r:id="rId162"/>
    <p:sldId id="363" r:id="rId163"/>
    <p:sldId id="364" r:id="rId1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0D7D62-5430-46D1-9143-3CF816FB597A}">
          <p14:sldIdLst>
            <p14:sldId id="257"/>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Lst>
        </p14:section>
        <p14:section name="Lecture Detail" id="{C19A0A33-3987-4B00-865E-42D785251DF9}">
          <p14:sldIdLst>
            <p14:sldId id="258"/>
            <p14:sldId id="259"/>
            <p14:sldId id="260"/>
            <p14:sldId id="371"/>
            <p14:sldId id="372"/>
            <p14:sldId id="373"/>
            <p14:sldId id="261"/>
            <p14:sldId id="262"/>
            <p14:sldId id="263"/>
            <p14:sldId id="264"/>
            <p14:sldId id="391"/>
            <p14:sldId id="265"/>
            <p14:sldId id="266"/>
            <p14:sldId id="267"/>
            <p14:sldId id="268"/>
            <p14:sldId id="374"/>
            <p14:sldId id="375"/>
            <p14:sldId id="376"/>
            <p14:sldId id="377"/>
            <p14:sldId id="378"/>
            <p14:sldId id="269"/>
            <p14:sldId id="379"/>
            <p14:sldId id="270"/>
            <p14:sldId id="380"/>
            <p14:sldId id="381"/>
            <p14:sldId id="271"/>
            <p14:sldId id="382"/>
            <p14:sldId id="272"/>
            <p14:sldId id="383"/>
            <p14:sldId id="384"/>
            <p14:sldId id="273"/>
            <p14:sldId id="274"/>
            <p14:sldId id="275"/>
            <p14:sldId id="276"/>
            <p14:sldId id="385"/>
            <p14:sldId id="277"/>
            <p14:sldId id="386"/>
            <p14:sldId id="387"/>
            <p14:sldId id="278"/>
            <p14:sldId id="279"/>
            <p14:sldId id="280"/>
            <p14:sldId id="281"/>
            <p14:sldId id="390"/>
            <p14:sldId id="282"/>
            <p14:sldId id="388"/>
            <p14:sldId id="389"/>
            <p14:sldId id="283"/>
            <p14:sldId id="284"/>
            <p14:sldId id="285"/>
            <p14:sldId id="286"/>
            <p14:sldId id="365"/>
            <p14:sldId id="287"/>
            <p14:sldId id="419"/>
            <p14:sldId id="288"/>
            <p14:sldId id="289"/>
            <p14:sldId id="290"/>
            <p14:sldId id="291"/>
            <p14:sldId id="292"/>
            <p14:sldId id="293"/>
            <p14:sldId id="294"/>
            <p14:sldId id="295"/>
            <p14:sldId id="296"/>
            <p14:sldId id="297"/>
            <p14:sldId id="298"/>
            <p14:sldId id="299"/>
            <p14:sldId id="300"/>
            <p14:sldId id="301"/>
            <p14:sldId id="302"/>
          </p14:sldIdLst>
        </p14:section>
        <p14:section name="LC Oscillator basics" id="{4A7099C2-CFE2-41FD-9C5F-A0DF37B652C7}">
          <p14:sldIdLst>
            <p14:sldId id="303"/>
            <p14:sldId id="304"/>
            <p14:sldId id="305"/>
            <p14:sldId id="306"/>
            <p14:sldId id="307"/>
            <p14:sldId id="308"/>
            <p14:sldId id="309"/>
            <p14:sldId id="366"/>
            <p14:sldId id="310"/>
            <p14:sldId id="311"/>
            <p14:sldId id="312"/>
            <p14:sldId id="313"/>
            <p14:sldId id="314"/>
            <p14:sldId id="315"/>
            <p14:sldId id="316"/>
            <p14:sldId id="317"/>
            <p14:sldId id="367"/>
            <p14:sldId id="318"/>
            <p14:sldId id="319"/>
            <p14:sldId id="320"/>
            <p14:sldId id="321"/>
            <p14:sldId id="322"/>
            <p14:sldId id="324"/>
            <p14:sldId id="326"/>
            <p14:sldId id="327"/>
            <p14:sldId id="323"/>
            <p14:sldId id="368"/>
            <p14:sldId id="369"/>
            <p14:sldId id="370"/>
            <p14:sldId id="325"/>
            <p14:sldId id="328"/>
            <p14:sldId id="329"/>
            <p14:sldId id="330"/>
            <p14:sldId id="331"/>
            <p14:sldId id="334"/>
            <p14:sldId id="332"/>
            <p14:sldId id="335"/>
            <p14:sldId id="336"/>
            <p14:sldId id="337"/>
            <p14:sldId id="338"/>
            <p14:sldId id="339"/>
            <p14:sldId id="340"/>
            <p14:sldId id="341"/>
            <p14:sldId id="342"/>
            <p14:sldId id="343"/>
            <p14:sldId id="344"/>
            <p14:sldId id="345"/>
            <p14:sldId id="346"/>
            <p14:sldId id="347"/>
            <p14:sldId id="348"/>
            <p14:sldId id="349"/>
            <p14:sldId id="350"/>
            <p14:sldId id="351"/>
            <p14:sldId id="354"/>
            <p14:sldId id="352"/>
            <p14:sldId id="355"/>
            <p14:sldId id="353"/>
            <p14:sldId id="356"/>
            <p14:sldId id="357"/>
            <p14:sldId id="358"/>
            <p14:sldId id="359"/>
            <p14:sldId id="360"/>
            <p14:sldId id="361"/>
            <p14:sldId id="362"/>
            <p14:sldId id="363"/>
            <p14:sldId id="3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79" d="100"/>
          <a:sy n="79" d="100"/>
        </p:scale>
        <p:origin x="10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notesMaster" Target="notesMasters/notesMaster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C4493-AA21-4546-B0F4-C598C29E9612}"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5BFD81-A36C-436F-A2E2-3EA94F2DB842}" type="slidenum">
              <a:rPr lang="en-US" smtClean="0"/>
              <a:t>‹#›</a:t>
            </a:fld>
            <a:endParaRPr lang="en-US"/>
          </a:p>
        </p:txBody>
      </p:sp>
    </p:spTree>
    <p:extLst>
      <p:ext uri="{BB962C8B-B14F-4D97-AF65-F5344CB8AC3E}">
        <p14:creationId xmlns:p14="http://schemas.microsoft.com/office/powerpoint/2010/main" val="557742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3</a:t>
            </a:fld>
            <a:endParaRPr lang="en-US"/>
          </a:p>
        </p:txBody>
      </p:sp>
    </p:spTree>
    <p:extLst>
      <p:ext uri="{BB962C8B-B14F-4D97-AF65-F5344CB8AC3E}">
        <p14:creationId xmlns:p14="http://schemas.microsoft.com/office/powerpoint/2010/main" val="1435834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5</a:t>
            </a:fld>
            <a:endParaRPr lang="en-US"/>
          </a:p>
        </p:txBody>
      </p:sp>
    </p:spTree>
    <p:extLst>
      <p:ext uri="{BB962C8B-B14F-4D97-AF65-F5344CB8AC3E}">
        <p14:creationId xmlns:p14="http://schemas.microsoft.com/office/powerpoint/2010/main" val="2695191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6</a:t>
            </a:fld>
            <a:endParaRPr lang="en-US"/>
          </a:p>
        </p:txBody>
      </p:sp>
    </p:spTree>
    <p:extLst>
      <p:ext uri="{BB962C8B-B14F-4D97-AF65-F5344CB8AC3E}">
        <p14:creationId xmlns:p14="http://schemas.microsoft.com/office/powerpoint/2010/main" val="3067430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8</a:t>
            </a:fld>
            <a:endParaRPr lang="en-US"/>
          </a:p>
        </p:txBody>
      </p:sp>
    </p:spTree>
    <p:extLst>
      <p:ext uri="{BB962C8B-B14F-4D97-AF65-F5344CB8AC3E}">
        <p14:creationId xmlns:p14="http://schemas.microsoft.com/office/powerpoint/2010/main" val="3918115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9</a:t>
            </a:fld>
            <a:endParaRPr lang="en-US"/>
          </a:p>
        </p:txBody>
      </p:sp>
    </p:spTree>
    <p:extLst>
      <p:ext uri="{BB962C8B-B14F-4D97-AF65-F5344CB8AC3E}">
        <p14:creationId xmlns:p14="http://schemas.microsoft.com/office/powerpoint/2010/main" val="3455778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23</a:t>
            </a:fld>
            <a:endParaRPr lang="en-US"/>
          </a:p>
        </p:txBody>
      </p:sp>
    </p:spTree>
    <p:extLst>
      <p:ext uri="{BB962C8B-B14F-4D97-AF65-F5344CB8AC3E}">
        <p14:creationId xmlns:p14="http://schemas.microsoft.com/office/powerpoint/2010/main" val="728694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CD6FED5-01E5-4A2F-80E6-096D33326685}"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482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B374A5A-C77E-4FCA-8E84-BC28A32DEDD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520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C693479-3E5E-4ED7-BA10-2DC6928E1BBB}"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7189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8D1413F-9C8E-4A8C-81A5-88D952DAC3D4}"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720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00279A5-EA74-435A-93BD-8B02CBCE749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0751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BE26F7A-2005-45D7-98A0-42B7349F6C65}"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3021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BCBDE65-3D3B-46BC-85D2-AD30030EE07C}"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223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06B499C-961E-4B83-95E1-3CF975A900DC}"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561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E44529C-186E-46A2-8526-A6357DE3B18F}"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327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8A919F8-5BDB-4FCC-B7DA-A2C483B9F313}"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4463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CB284DE-3F31-4132-9189-C4A9DAA3DD57}"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5209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 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8D513BD-1724-4F4E-9108-A1036978E38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27091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 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870AE6C-F5F9-48C9-AE76-2DC414395648}"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16318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 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48AD530-94C7-44EE-B5F4-E81679D091F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7" name="Holder 7"/>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172275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 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92024E4-DE6C-4761-A91C-36E39D0EF5AC}"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88119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 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3" name="Holder 3"/>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CED5904-5CEB-4299-8987-6D014FCBD6BD}"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69270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C1E2F6D-4A2B-448B-AA71-14865E13379B}"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 AAMD BITS Pilani </a:t>
            </a:r>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1265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3054" y="984503"/>
            <a:ext cx="10609580" cy="114300"/>
          </a:xfrm>
          <a:custGeom>
            <a:avLst/>
            <a:gdLst/>
            <a:ahLst/>
            <a:cxnLst/>
            <a:rect l="l" t="t" r="r" b="b"/>
            <a:pathLst>
              <a:path w="10609580" h="114300">
                <a:moveTo>
                  <a:pt x="10609326" y="0"/>
                </a:moveTo>
                <a:lnTo>
                  <a:pt x="0" y="0"/>
                </a:lnTo>
                <a:lnTo>
                  <a:pt x="0" y="4572"/>
                </a:lnTo>
                <a:lnTo>
                  <a:pt x="0" y="9144"/>
                </a:lnTo>
                <a:lnTo>
                  <a:pt x="0" y="114300"/>
                </a:lnTo>
                <a:lnTo>
                  <a:pt x="6206490" y="114300"/>
                </a:lnTo>
                <a:lnTo>
                  <a:pt x="6206490" y="9144"/>
                </a:lnTo>
                <a:lnTo>
                  <a:pt x="10609326" y="9144"/>
                </a:lnTo>
                <a:lnTo>
                  <a:pt x="10609326" y="0"/>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bg object 17"/>
          <p:cNvSpPr/>
          <p:nvPr/>
        </p:nvSpPr>
        <p:spPr>
          <a:xfrm>
            <a:off x="813053" y="6169914"/>
            <a:ext cx="10565130" cy="3175"/>
          </a:xfrm>
          <a:custGeom>
            <a:avLst/>
            <a:gdLst/>
            <a:ahLst/>
            <a:cxnLst/>
            <a:rect l="l" t="t" r="r" b="b"/>
            <a:pathLst>
              <a:path w="10565130" h="3175">
                <a:moveTo>
                  <a:pt x="10565130" y="3048"/>
                </a:moveTo>
                <a:lnTo>
                  <a:pt x="10565130" y="0"/>
                </a:lnTo>
                <a:lnTo>
                  <a:pt x="0" y="0"/>
                </a:lnTo>
                <a:lnTo>
                  <a:pt x="0" y="3048"/>
                </a:lnTo>
                <a:lnTo>
                  <a:pt x="10565130" y="3048"/>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 name="Holder 2"/>
          <p:cNvSpPr>
            <a:spLocks noGrp="1"/>
          </p:cNvSpPr>
          <p:nvPr>
            <p:ph type="title"/>
          </p:nvPr>
        </p:nvSpPr>
        <p:spPr>
          <a:xfrm>
            <a:off x="819150" y="347725"/>
            <a:ext cx="10593196" cy="572389"/>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a:xfrm>
            <a:off x="844550" y="1327353"/>
            <a:ext cx="5730875" cy="15494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5531611" y="6276791"/>
            <a:ext cx="1130300" cy="210820"/>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 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a:xfrm>
            <a:off x="891794" y="6276028"/>
            <a:ext cx="1085214" cy="211583"/>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fld id="{776AFB37-618B-4B8E-BFF6-C019272604BA}"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a:xfrm>
            <a:off x="10952988" y="6276028"/>
            <a:ext cx="384399" cy="214631"/>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04212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microsoft.com/office/2007/relationships/hdphoto" Target="../media/hdphoto3.wdp"/><Relationship Id="rId5" Type="http://schemas.openxmlformats.org/officeDocument/2006/relationships/image" Target="../media/image7.png"/><Relationship Id="rId4" Type="http://schemas.microsoft.com/office/2007/relationships/hdphoto" Target="../media/hdphoto2.wdp"/><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0.png"/><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0.png"/><Relationship Id="rId1" Type="http://schemas.openxmlformats.org/officeDocument/2006/relationships/slideLayout" Target="../slideLayouts/slideLayout13.xml"/><Relationship Id="rId6"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6.xml"/><Relationship Id="rId5" Type="http://schemas.openxmlformats.org/officeDocument/2006/relationships/image" Target="../media/image18.png"/><Relationship Id="rId4" Type="http://schemas.microsoft.com/office/2007/relationships/hdphoto" Target="../media/hdphoto4.wdp"/></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16.png"/><Relationship Id="rId1" Type="http://schemas.openxmlformats.org/officeDocument/2006/relationships/slideLayout" Target="../slideLayouts/slideLayout1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1110.png"/><Relationship Id="rId2" Type="http://schemas.openxmlformats.org/officeDocument/2006/relationships/image" Target="../media/image1010.png"/><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40.png"/><Relationship Id="rId1" Type="http://schemas.openxmlformats.org/officeDocument/2006/relationships/slideLayout" Target="../slideLayouts/slideLayout13.xml"/><Relationship Id="rId4" Type="http://schemas.openxmlformats.org/officeDocument/2006/relationships/image" Target="../media/image160.png"/></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70.png"/><Relationship Id="rId1" Type="http://schemas.openxmlformats.org/officeDocument/2006/relationships/slideLayout" Target="../slideLayouts/slideLayout13.xml"/><Relationship Id="rId4" Type="http://schemas.openxmlformats.org/officeDocument/2006/relationships/image" Target="../media/image190.png"/></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 Id="rId4" Type="http://schemas.openxmlformats.org/officeDocument/2006/relationships/image" Target="../media/image220.png"/></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30.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50.png"/><Relationship Id="rId1" Type="http://schemas.openxmlformats.org/officeDocument/2006/relationships/slideLayout" Target="../slideLayouts/slideLayout13.xml"/><Relationship Id="rId4" Type="http://schemas.openxmlformats.org/officeDocument/2006/relationships/image" Target="../media/image270.png"/></Relationships>
</file>

<file path=ppt/slides/_rels/slide49.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0.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50.png"/><Relationship Id="rId1" Type="http://schemas.openxmlformats.org/officeDocument/2006/relationships/slideLayout" Target="../slideLayouts/slideLayout13.xml"/><Relationship Id="rId5" Type="http://schemas.openxmlformats.org/officeDocument/2006/relationships/image" Target="../media/image370.png"/><Relationship Id="rId4" Type="http://schemas.openxmlformats.org/officeDocument/2006/relationships/image" Target="../media/image360.png"/></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90.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420.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440.png"/></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 Id="rId4" Type="http://schemas.openxmlformats.org/officeDocument/2006/relationships/image" Target="../media/image490.png"/></Relationships>
</file>

<file path=ppt/slides/_rels/slide6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3.xml"/><Relationship Id="rId4" Type="http://schemas.openxmlformats.org/officeDocument/2006/relationships/image" Target="../media/image52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70.png"/><Relationship Id="rId1" Type="http://schemas.openxmlformats.org/officeDocument/2006/relationships/slideLayout" Target="../slideLayouts/slideLayout13.xml"/><Relationship Id="rId4" Type="http://schemas.openxmlformats.org/officeDocument/2006/relationships/image" Target="../media/image590.png"/></Relationships>
</file>

<file path=ppt/slides/_rels/slide7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0.png"/><Relationship Id="rId1" Type="http://schemas.openxmlformats.org/officeDocument/2006/relationships/slideLayout" Target="../slideLayouts/slideLayout13.xml"/><Relationship Id="rId4" Type="http://schemas.openxmlformats.org/officeDocument/2006/relationships/image" Target="../media/image620.png"/></Relationships>
</file>

<file path=ppt/slides/_rels/slide7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690.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60.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80.png"/><Relationship Id="rId1" Type="http://schemas.openxmlformats.org/officeDocument/2006/relationships/slideLayout" Target="../slideLayouts/slideLayout13.xml"/><Relationship Id="rId4" Type="http://schemas.openxmlformats.org/officeDocument/2006/relationships/image" Target="../media/image79.png"/></Relationships>
</file>

<file path=ppt/slides/_rels/slide10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3.xml"/><Relationship Id="rId5" Type="http://schemas.openxmlformats.org/officeDocument/2006/relationships/image" Target="../media/image89.png"/><Relationship Id="rId4" Type="http://schemas.openxmlformats.org/officeDocument/2006/relationships/image" Target="../media/image88.png"/></Relationships>
</file>

<file path=ppt/slides/_rels/slide11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3.xml"/><Relationship Id="rId5" Type="http://schemas.openxmlformats.org/officeDocument/2006/relationships/image" Target="../media/image99.png"/><Relationship Id="rId4" Type="http://schemas.openxmlformats.org/officeDocument/2006/relationships/image" Target="../media/image98.png"/></Relationships>
</file>

<file path=ppt/slides/_rels/slide11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3.xml"/><Relationship Id="rId5" Type="http://schemas.openxmlformats.org/officeDocument/2006/relationships/image" Target="../media/image106.png"/><Relationship Id="rId4" Type="http://schemas.openxmlformats.org/officeDocument/2006/relationships/image" Target="../media/image10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3.xml"/><Relationship Id="rId4" Type="http://schemas.openxmlformats.org/officeDocument/2006/relationships/image" Target="../media/image11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7.png"/><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1" y="1030287"/>
            <a:ext cx="6443133" cy="5790663"/>
          </a:xfrm>
          <a:prstGeom prst="rect">
            <a:avLst/>
          </a:prstGeom>
        </p:spPr>
      </p:pic>
      <p:sp>
        <p:nvSpPr>
          <p:cNvPr id="4" name="object 2"/>
          <p:cNvSpPr txBox="1"/>
          <p:nvPr/>
        </p:nvSpPr>
        <p:spPr>
          <a:xfrm>
            <a:off x="2169075" y="953173"/>
            <a:ext cx="8444910" cy="5793894"/>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r>
              <a:rPr kumimoji="0" lang="en-US" sz="3600" b="0" i="0" u="none" strike="noStrike" kern="1200" cap="none" spc="0" normalizeH="0" baseline="0" noProof="0" dirty="0" smtClean="0">
                <a:ln>
                  <a:noFill/>
                </a:ln>
                <a:solidFill>
                  <a:srgbClr val="EEB500"/>
                </a:solidFill>
                <a:effectLst/>
                <a:uLnTx/>
                <a:uFillTx/>
                <a:latin typeface="Calibri" panose="020F0502020204030204"/>
                <a:ea typeface="+mn-ea"/>
                <a:cs typeface="+mn-cs"/>
              </a:rPr>
              <a:t>Advance Analog and Mixed Signal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endParaRPr kumimoji="0" sz="3600" b="0" i="0" u="none" strike="noStrike" kern="0" cap="none" spc="0" normalizeH="0" baseline="0" noProof="0" dirty="0" smtClean="0">
              <a:ln>
                <a:noFill/>
              </a:ln>
              <a:solidFill>
                <a:sysClr val="windowText" lastClr="000000"/>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Lecture</a:t>
            </a:r>
            <a:r>
              <a:rPr kumimoji="0" sz="3600" b="1" i="0" u="none" strike="noStrike" kern="0" cap="none" spc="-165" normalizeH="0" baseline="0" noProof="0" dirty="0" smtClean="0">
                <a:ln>
                  <a:noFill/>
                </a:ln>
                <a:solidFill>
                  <a:srgbClr val="8AA7DA"/>
                </a:solidFill>
                <a:effectLst/>
                <a:uLnTx/>
                <a:uFillTx/>
                <a:latin typeface="Calibri Light"/>
                <a:ea typeface="+mn-ea"/>
                <a:cs typeface="Calibri Light"/>
              </a:rPr>
              <a:t> </a:t>
            </a: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 </a:t>
            </a:r>
            <a:r>
              <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rPr>
              <a:t>1</a:t>
            </a: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rPr>
              <a:t>Oscillator Fundamental</a:t>
            </a:r>
            <a:endParaRPr kumimoji="0" lang="en-US" sz="3600" b="0" i="0" u="none" strike="noStrike" kern="1200" cap="none" spc="-10" normalizeH="0" baseline="0" noProof="0" dirty="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2800" b="0" i="1" u="none" strike="noStrike" kern="0" cap="none" spc="0" normalizeH="0" baseline="0" noProof="0" dirty="0" smtClean="0">
                <a:ln>
                  <a:noFill/>
                </a:ln>
                <a:solidFill>
                  <a:prstClr val="black"/>
                </a:solidFill>
                <a:effectLst/>
                <a:uLnTx/>
                <a:uFillTx/>
                <a:latin typeface="Arial"/>
                <a:ea typeface="+mn-ea"/>
                <a:cs typeface="Arial"/>
              </a:rPr>
              <a:t> </a:t>
            </a:r>
            <a:r>
              <a:rPr kumimoji="0" sz="3200" b="1" i="0" u="none" strike="noStrike" kern="0" cap="none" spc="0" normalizeH="0" baseline="0" noProof="0" dirty="0" smtClean="0">
                <a:ln>
                  <a:noFill/>
                </a:ln>
                <a:solidFill>
                  <a:srgbClr val="00B050"/>
                </a:solidFill>
                <a:effectLst/>
                <a:uLnTx/>
                <a:uFillTx/>
                <a:latin typeface="Calibri Light"/>
                <a:ea typeface="+mn-ea"/>
                <a:cs typeface="Calibri Light"/>
              </a:rPr>
              <a:t>Dr.</a:t>
            </a:r>
            <a:r>
              <a:rPr kumimoji="0" sz="3200" b="1" i="0" u="none" strike="noStrike" kern="0" cap="none" spc="-75" normalizeH="0" baseline="0" noProof="0" dirty="0" smtClean="0">
                <a:ln>
                  <a:noFill/>
                </a:ln>
                <a:solidFill>
                  <a:srgbClr val="00B050"/>
                </a:solidFill>
                <a:effectLst/>
                <a:uLnTx/>
                <a:uFillTx/>
                <a:latin typeface="Calibri Light"/>
                <a:ea typeface="+mn-ea"/>
                <a:cs typeface="Calibri Light"/>
              </a:rPr>
              <a:t> </a:t>
            </a:r>
            <a:r>
              <a:rPr kumimoji="0" lang="en-US" sz="3200" b="1" i="0" u="none" strike="noStrike" kern="0" cap="none" spc="-30" normalizeH="0" baseline="0" noProof="0" dirty="0" smtClean="0">
                <a:ln>
                  <a:noFill/>
                </a:ln>
                <a:solidFill>
                  <a:srgbClr val="00B050"/>
                </a:solidFill>
                <a:effectLst/>
                <a:uLnTx/>
                <a:uFillTx/>
                <a:latin typeface="Calibri Light"/>
                <a:ea typeface="+mn-ea"/>
                <a:cs typeface="Calibri Light"/>
              </a:rPr>
              <a:t>Neeraj Mishra</a:t>
            </a:r>
            <a:endParaRPr kumimoji="0" sz="3200" b="1" i="0" u="none" strike="noStrike" kern="0" cap="none" spc="0" normalizeH="0" baseline="0" noProof="0" dirty="0" smtClean="0">
              <a:ln>
                <a:noFill/>
              </a:ln>
              <a:solidFill>
                <a:srgbClr val="00B05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1135"/>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High Performance Electronics Lab</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Electrical &amp; </a:t>
            </a:r>
            <a:r>
              <a:rPr kumimoji="0" sz="2400" b="0" i="0" u="none" strike="noStrike" kern="0" cap="none" spc="0" normalizeH="0" baseline="0" noProof="0" dirty="0" smtClean="0">
                <a:ln>
                  <a:noFill/>
                </a:ln>
                <a:solidFill>
                  <a:srgbClr val="FF0000"/>
                </a:solidFill>
                <a:effectLst/>
                <a:uLnTx/>
                <a:uFillTx/>
                <a:latin typeface="Calibri Light"/>
                <a:ea typeface="+mn-ea"/>
                <a:cs typeface="Calibri Light"/>
              </a:rPr>
              <a:t>Electronic</a:t>
            </a: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s</a:t>
            </a:r>
            <a:r>
              <a:rPr kumimoji="0" sz="2400" b="0" i="0" u="none" strike="noStrike" kern="0" cap="none" spc="-40" normalizeH="0" baseline="0" noProof="0" dirty="0" smtClean="0">
                <a:ln>
                  <a:noFill/>
                </a:ln>
                <a:solidFill>
                  <a:srgbClr val="FF0000"/>
                </a:solidFill>
                <a:effectLst/>
                <a:uLnTx/>
                <a:uFillTx/>
                <a:latin typeface="Calibri Light"/>
                <a:ea typeface="+mn-ea"/>
                <a:cs typeface="Calibri Light"/>
              </a:rPr>
              <a:t> </a:t>
            </a:r>
            <a:r>
              <a:rPr kumimoji="0" sz="2400" b="0" i="0" u="none" strike="noStrike" kern="0" cap="none" spc="0" normalizeH="0" baseline="0" noProof="0" dirty="0">
                <a:ln>
                  <a:noFill/>
                </a:ln>
                <a:solidFill>
                  <a:srgbClr val="FF0000"/>
                </a:solidFill>
                <a:effectLst/>
                <a:uLnTx/>
                <a:uFillTx/>
                <a:latin typeface="Calibri Light"/>
                <a:ea typeface="+mn-ea"/>
                <a:cs typeface="Calibri Light"/>
              </a:rPr>
              <a:t>Eng.</a:t>
            </a:r>
            <a:r>
              <a:rPr kumimoji="0" sz="2400" b="0" i="0" u="none" strike="noStrike" kern="0" cap="none" spc="-55" normalizeH="0" baseline="0" noProof="0" dirty="0">
                <a:ln>
                  <a:noFill/>
                </a:ln>
                <a:solidFill>
                  <a:srgbClr val="FF0000"/>
                </a:solidFill>
                <a:effectLst/>
                <a:uLnTx/>
                <a:uFillTx/>
                <a:latin typeface="Calibri Light"/>
                <a:ea typeface="+mn-ea"/>
                <a:cs typeface="Calibri Light"/>
              </a:rPr>
              <a:t> </a:t>
            </a:r>
            <a:r>
              <a:rPr kumimoji="0" sz="2400" b="0" i="0" u="none" strike="noStrike" kern="0" cap="none" spc="-10" normalizeH="0" baseline="0" noProof="0" dirty="0">
                <a:ln>
                  <a:noFill/>
                </a:ln>
                <a:solidFill>
                  <a:srgbClr val="FF0000"/>
                </a:solidFill>
                <a:effectLst/>
                <a:uLnTx/>
                <a:uFillTx/>
                <a:latin typeface="Calibri Light"/>
                <a:ea typeface="+mn-ea"/>
                <a:cs typeface="Calibri Light"/>
              </a:rPr>
              <a:t>Dept.</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1697355" marR="169418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Birla Institute of Technology &amp; Science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Campus</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p:txBody>
      </p:sp>
      <p:sp>
        <p:nvSpPr>
          <p:cNvPr id="5" name="object 3"/>
          <p:cNvSpPr/>
          <p:nvPr/>
        </p:nvSpPr>
        <p:spPr>
          <a:xfrm>
            <a:off x="10667" y="995172"/>
            <a:ext cx="12171045" cy="91440"/>
          </a:xfrm>
          <a:custGeom>
            <a:avLst/>
            <a:gdLst/>
            <a:ahLst/>
            <a:cxnLst/>
            <a:rect l="l" t="t" r="r" b="b"/>
            <a:pathLst>
              <a:path w="12171045" h="91440">
                <a:moveTo>
                  <a:pt x="12170664" y="0"/>
                </a:moveTo>
                <a:lnTo>
                  <a:pt x="0" y="0"/>
                </a:lnTo>
                <a:lnTo>
                  <a:pt x="0" y="91439"/>
                </a:lnTo>
                <a:lnTo>
                  <a:pt x="12170664" y="91439"/>
                </a:lnTo>
                <a:lnTo>
                  <a:pt x="12170664" y="0"/>
                </a:lnTo>
                <a:close/>
              </a:path>
            </a:pathLst>
          </a:custGeom>
          <a:solidFill>
            <a:srgbClr val="EEB5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6" name="object 4"/>
          <p:cNvSpPr/>
          <p:nvPr/>
        </p:nvSpPr>
        <p:spPr>
          <a:xfrm>
            <a:off x="10667" y="223570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91BC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7" name="object 5"/>
          <p:cNvSpPr/>
          <p:nvPr/>
        </p:nvSpPr>
        <p:spPr>
          <a:xfrm>
            <a:off x="20955" y="428397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pic>
        <p:nvPicPr>
          <p:cNvPr id="10" name="Picture 9"/>
          <p:cNvPicPr>
            <a:picLocks noChangeAspect="1"/>
          </p:cNvPicPr>
          <p:nvPr/>
        </p:nvPicPr>
        <p:blipFill>
          <a:blip r:embed="rId3"/>
          <a:stretch>
            <a:fillRect/>
          </a:stretch>
        </p:blipFill>
        <p:spPr>
          <a:xfrm>
            <a:off x="97196" y="87966"/>
            <a:ext cx="3093560" cy="802320"/>
          </a:xfrm>
          <a:prstGeom prst="rect">
            <a:avLst/>
          </a:prstGeom>
        </p:spPr>
      </p:pic>
      <p:pic>
        <p:nvPicPr>
          <p:cNvPr id="11" name="Picture 10"/>
          <p:cNvPicPr>
            <a:picLocks noChangeAspect="1"/>
          </p:cNvPicPr>
          <p:nvPr/>
        </p:nvPicPr>
        <p:blipFill>
          <a:blip r:embed="rId4"/>
          <a:stretch>
            <a:fillRect/>
          </a:stretch>
        </p:blipFill>
        <p:spPr>
          <a:xfrm>
            <a:off x="9078410" y="5828120"/>
            <a:ext cx="3113590" cy="1029880"/>
          </a:xfrm>
          <a:prstGeom prst="rect">
            <a:avLst/>
          </a:prstGeom>
        </p:spPr>
      </p:pic>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pic>
        <p:nvPicPr>
          <p:cNvPr id="12" name="Picture 11"/>
          <p:cNvPicPr>
            <a:picLocks noChangeAspect="1"/>
          </p:cNvPicPr>
          <p:nvPr/>
        </p:nvPicPr>
        <p:blipFill>
          <a:blip r:embed="rId5">
            <a:grayscl/>
            <a:extLst>
              <a:ext uri="{BEBA8EAE-BF5A-486C-A8C5-ECC9F3942E4B}">
                <a14:imgProps xmlns:a14="http://schemas.microsoft.com/office/drawing/2010/main">
                  <a14:imgLayer r:embed="rId6">
                    <a14:imgEffect>
                      <a14:colorTemperature colorTemp="7200"/>
                    </a14:imgEffect>
                    <a14:imgEffect>
                      <a14:brightnessContrast bright="40000" contrast="40000"/>
                    </a14:imgEffect>
                  </a14:imgLayer>
                </a14:imgProps>
              </a:ext>
            </a:extLst>
          </a:blip>
          <a:stretch>
            <a:fillRect/>
          </a:stretch>
        </p:blipFill>
        <p:spPr>
          <a:xfrm>
            <a:off x="9982200" y="0"/>
            <a:ext cx="2209800" cy="1657350"/>
          </a:xfrm>
          <a:prstGeom prst="rect">
            <a:avLst/>
          </a:prstGeom>
        </p:spPr>
      </p:pic>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971143E-0252-44E4-9AB9-CFD8BEA2FA8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93432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73E77142-F976-B387-DF46-63BDA13B4C91}"/>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10" name="Rectangle 9">
            <a:extLst>
              <a:ext uri="{FF2B5EF4-FFF2-40B4-BE49-F238E27FC236}">
                <a16:creationId xmlns:a16="http://schemas.microsoft.com/office/drawing/2014/main" id="{56728CF9-DFE0-7529-651F-5D054A9E010F}"/>
              </a:ext>
            </a:extLst>
          </p:cNvPr>
          <p:cNvSpPr/>
          <p:nvPr/>
        </p:nvSpPr>
        <p:spPr>
          <a:xfrm>
            <a:off x="541020" y="4888080"/>
            <a:ext cx="10561320" cy="1284120"/>
          </a:xfrm>
          <a:prstGeom prst="rect">
            <a:avLst/>
          </a:prstGeom>
          <a:solidFill>
            <a:schemeClr val="bg1">
              <a:lumMod val="95000"/>
            </a:schemeClr>
          </a:solid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a:ln>
                <a:solidFill>
                  <a:srgbClr val="00B050"/>
                </a:solidFill>
              </a:ln>
              <a:solidFill>
                <a:prstClr val="white"/>
              </a:solidFill>
              <a:effectLst/>
              <a:uLnTx/>
              <a:uFillTx/>
              <a:latin typeface="Calibri" panose="020F0502020204030204"/>
              <a:ea typeface="+mn-ea"/>
              <a:cs typeface="+mn-cs"/>
            </a:endParaRPr>
          </a:p>
        </p:txBody>
      </p:sp>
      <p:sp>
        <p:nvSpPr>
          <p:cNvPr id="4" name="object 2">
            <a:extLst>
              <a:ext uri="{FF2B5EF4-FFF2-40B4-BE49-F238E27FC236}">
                <a16:creationId xmlns:a16="http://schemas.microsoft.com/office/drawing/2014/main" id="{ED16B5C4-3B10-08F6-9C3E-999F63D68773}"/>
              </a:ext>
            </a:extLst>
          </p:cNvPr>
          <p:cNvSpPr txBox="1">
            <a:spLocks noGrp="1"/>
          </p:cNvSpPr>
          <p:nvPr>
            <p:ph type="title"/>
          </p:nvPr>
        </p:nvSpPr>
        <p:spPr>
          <a:xfrm>
            <a:off x="133351" y="-21173"/>
            <a:ext cx="7811769" cy="504625"/>
          </a:xfrm>
          <a:prstGeom prst="rect">
            <a:avLst/>
          </a:prstGeom>
        </p:spPr>
        <p:txBody>
          <a:bodyPr vert="horz" wrap="square" lIns="0" tIns="12065" rIns="0" bIns="0" rtlCol="0">
            <a:spAutoFit/>
          </a:bodyPr>
          <a:lstStyle/>
          <a:p>
            <a:pPr marL="13335">
              <a:lnSpc>
                <a:spcPct val="100000"/>
              </a:lnSpc>
              <a:spcBef>
                <a:spcPts val="95"/>
              </a:spcBef>
            </a:pPr>
            <a:r>
              <a:rPr sz="3200" b="1" dirty="0">
                <a:solidFill>
                  <a:srgbClr val="002060"/>
                </a:solidFill>
                <a:latin typeface="+mn-lt"/>
              </a:rPr>
              <a:t>Trend</a:t>
            </a:r>
            <a:r>
              <a:rPr sz="3200" b="1" spc="-40" dirty="0">
                <a:solidFill>
                  <a:srgbClr val="002060"/>
                </a:solidFill>
                <a:latin typeface="+mn-lt"/>
              </a:rPr>
              <a:t> </a:t>
            </a:r>
            <a:r>
              <a:rPr sz="3200" b="1" dirty="0">
                <a:solidFill>
                  <a:srgbClr val="002060"/>
                </a:solidFill>
                <a:latin typeface="+mn-lt"/>
              </a:rPr>
              <a:t>of</a:t>
            </a:r>
            <a:r>
              <a:rPr sz="3200" b="1" spc="-30" dirty="0">
                <a:solidFill>
                  <a:srgbClr val="002060"/>
                </a:solidFill>
                <a:latin typeface="+mn-lt"/>
              </a:rPr>
              <a:t> </a:t>
            </a:r>
            <a:r>
              <a:rPr sz="3200" b="1" spc="-10" dirty="0">
                <a:solidFill>
                  <a:srgbClr val="002060"/>
                </a:solidFill>
                <a:latin typeface="+mn-lt"/>
              </a:rPr>
              <a:t>Ever-</a:t>
            </a:r>
            <a:r>
              <a:rPr sz="3200" b="1" dirty="0">
                <a:solidFill>
                  <a:srgbClr val="002060"/>
                </a:solidFill>
                <a:latin typeface="+mn-lt"/>
              </a:rPr>
              <a:t>Increasing</a:t>
            </a:r>
            <a:r>
              <a:rPr sz="3200" b="1" spc="-35" dirty="0">
                <a:solidFill>
                  <a:srgbClr val="002060"/>
                </a:solidFill>
                <a:latin typeface="+mn-lt"/>
              </a:rPr>
              <a:t> </a:t>
            </a:r>
            <a:r>
              <a:rPr sz="3200" b="1" dirty="0">
                <a:solidFill>
                  <a:srgbClr val="002060"/>
                </a:solidFill>
                <a:latin typeface="+mn-lt"/>
              </a:rPr>
              <a:t>Data</a:t>
            </a:r>
            <a:r>
              <a:rPr sz="3200" b="1" spc="-35" dirty="0">
                <a:solidFill>
                  <a:srgbClr val="002060"/>
                </a:solidFill>
                <a:latin typeface="+mn-lt"/>
              </a:rPr>
              <a:t> </a:t>
            </a:r>
            <a:r>
              <a:rPr sz="3200" b="1" spc="-20" dirty="0">
                <a:solidFill>
                  <a:srgbClr val="002060"/>
                </a:solidFill>
                <a:latin typeface="+mn-lt"/>
              </a:rPr>
              <a:t>Rate</a:t>
            </a:r>
          </a:p>
        </p:txBody>
      </p:sp>
      <p:sp>
        <p:nvSpPr>
          <p:cNvPr id="5" name="object 3">
            <a:extLst>
              <a:ext uri="{FF2B5EF4-FFF2-40B4-BE49-F238E27FC236}">
                <a16:creationId xmlns:a16="http://schemas.microsoft.com/office/drawing/2014/main" id="{A5FE569A-9D99-7708-6F3B-391A4EF17968}"/>
              </a:ext>
            </a:extLst>
          </p:cNvPr>
          <p:cNvSpPr txBox="1"/>
          <p:nvPr/>
        </p:nvSpPr>
        <p:spPr>
          <a:xfrm>
            <a:off x="834644" y="4803140"/>
            <a:ext cx="10168255" cy="1342390"/>
          </a:xfrm>
          <a:prstGeom prst="rect">
            <a:avLst/>
          </a:prstGeom>
        </p:spPr>
        <p:txBody>
          <a:bodyPr vert="horz" wrap="square" lIns="0" tIns="85725" rIns="0" bIns="0" rtlCol="0">
            <a:spAutoFit/>
          </a:bodyPr>
          <a:lstStyle/>
          <a:p>
            <a:pPr marL="482600" indent="-469900">
              <a:lnSpc>
                <a:spcPct val="100000"/>
              </a:lnSpc>
              <a:spcBef>
                <a:spcPts val="675"/>
              </a:spcBef>
              <a:buClr>
                <a:srgbClr val="CC0000"/>
              </a:buClr>
              <a:buSzPct val="79166"/>
              <a:buFont typeface="Wingdings"/>
              <a:buChar char=""/>
              <a:tabLst>
                <a:tab pos="482600" algn="l"/>
              </a:tabLst>
            </a:pPr>
            <a:r>
              <a:rPr sz="2400" dirty="0">
                <a:solidFill>
                  <a:srgbClr val="FFC000"/>
                </a:solidFill>
                <a:latin typeface="Calibri" panose="020F0502020204030204" pitchFamily="34" charset="0"/>
                <a:cs typeface="Calibri" panose="020F0502020204030204" pitchFamily="34" charset="0"/>
              </a:rPr>
              <a:t>PAM4</a:t>
            </a:r>
            <a:r>
              <a:rPr sz="2400" spc="-65" dirty="0">
                <a:solidFill>
                  <a:srgbClr val="FFC000"/>
                </a:solidFill>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based</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transceivers</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drive</a:t>
            </a:r>
            <a:r>
              <a:rPr sz="2400" spc="-6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the</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data</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rate</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beyond</a:t>
            </a:r>
            <a:r>
              <a:rPr sz="2400" spc="-65" dirty="0">
                <a:latin typeface="Calibri" panose="020F0502020204030204" pitchFamily="34" charset="0"/>
                <a:cs typeface="Calibri" panose="020F0502020204030204" pitchFamily="34" charset="0"/>
              </a:rPr>
              <a:t> </a:t>
            </a:r>
            <a:r>
              <a:rPr sz="2400" spc="-10" dirty="0">
                <a:solidFill>
                  <a:srgbClr val="FFC000"/>
                </a:solidFill>
                <a:latin typeface="Calibri" panose="020F0502020204030204" pitchFamily="34" charset="0"/>
                <a:cs typeface="Calibri" panose="020F0502020204030204" pitchFamily="34" charset="0"/>
              </a:rPr>
              <a:t>100GBit/s</a:t>
            </a:r>
            <a:endParaRPr sz="2400" dirty="0">
              <a:latin typeface="Calibri" panose="020F0502020204030204" pitchFamily="34" charset="0"/>
              <a:cs typeface="Calibri" panose="020F0502020204030204" pitchFamily="34" charset="0"/>
            </a:endParaRPr>
          </a:p>
          <a:p>
            <a:pPr marL="482600" indent="-469900">
              <a:lnSpc>
                <a:spcPct val="100000"/>
              </a:lnSpc>
              <a:spcBef>
                <a:spcPts val="575"/>
              </a:spcBef>
              <a:buClr>
                <a:srgbClr val="CC0000"/>
              </a:buClr>
              <a:buSzPct val="79166"/>
              <a:buFont typeface="Wingdings"/>
              <a:buChar char=""/>
              <a:tabLst>
                <a:tab pos="482600" algn="l"/>
              </a:tabLst>
            </a:pPr>
            <a:r>
              <a:rPr sz="2400" dirty="0">
                <a:solidFill>
                  <a:srgbClr val="FFC000"/>
                </a:solidFill>
                <a:latin typeface="Calibri" panose="020F0502020204030204" pitchFamily="34" charset="0"/>
                <a:cs typeface="Calibri" panose="020F0502020204030204" pitchFamily="34" charset="0"/>
              </a:rPr>
              <a:t>7nm</a:t>
            </a:r>
            <a:r>
              <a:rPr sz="2400" spc="-60" dirty="0">
                <a:solidFill>
                  <a:srgbClr val="FFC000"/>
                </a:solidFill>
                <a:latin typeface="Calibri" panose="020F0502020204030204" pitchFamily="34" charset="0"/>
                <a:cs typeface="Calibri" panose="020F0502020204030204" pitchFamily="34" charset="0"/>
              </a:rPr>
              <a:t> </a:t>
            </a:r>
            <a:r>
              <a:rPr sz="2400" dirty="0">
                <a:solidFill>
                  <a:srgbClr val="FFC000"/>
                </a:solidFill>
                <a:latin typeface="Calibri" panose="020F0502020204030204" pitchFamily="34" charset="0"/>
                <a:cs typeface="Calibri" panose="020F0502020204030204" pitchFamily="34" charset="0"/>
              </a:rPr>
              <a:t>CMOS</a:t>
            </a:r>
            <a:r>
              <a:rPr sz="2400" spc="-90" dirty="0">
                <a:solidFill>
                  <a:srgbClr val="FFC000"/>
                </a:solidFill>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technology</a:t>
            </a:r>
            <a:r>
              <a:rPr sz="2400" spc="-4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enables</a:t>
            </a:r>
            <a:r>
              <a:rPr sz="2400" spc="-60" dirty="0">
                <a:latin typeface="Calibri" panose="020F0502020204030204" pitchFamily="34" charset="0"/>
                <a:cs typeface="Calibri" panose="020F0502020204030204" pitchFamily="34" charset="0"/>
              </a:rPr>
              <a:t> </a:t>
            </a:r>
            <a:r>
              <a:rPr sz="2400" spc="-20" dirty="0">
                <a:latin typeface="Calibri" panose="020F0502020204030204" pitchFamily="34" charset="0"/>
                <a:cs typeface="Calibri" panose="020F0502020204030204" pitchFamily="34" charset="0"/>
              </a:rPr>
              <a:t>power-</a:t>
            </a:r>
            <a:r>
              <a:rPr sz="2400" dirty="0">
                <a:latin typeface="Calibri" panose="020F0502020204030204" pitchFamily="34" charset="0"/>
                <a:cs typeface="Calibri" panose="020F0502020204030204" pitchFamily="34" charset="0"/>
              </a:rPr>
              <a:t>efficiency</a:t>
            </a:r>
            <a:r>
              <a:rPr sz="2400" spc="-55" dirty="0">
                <a:latin typeface="Calibri" panose="020F0502020204030204" pitchFamily="34" charset="0"/>
                <a:cs typeface="Calibri" panose="020F0502020204030204" pitchFamily="34" charset="0"/>
              </a:rPr>
              <a:t> </a:t>
            </a:r>
            <a:r>
              <a:rPr sz="2400" spc="-10" dirty="0">
                <a:solidFill>
                  <a:srgbClr val="FFC000"/>
                </a:solidFill>
                <a:latin typeface="Calibri" panose="020F0502020204030204" pitchFamily="34" charset="0"/>
                <a:cs typeface="Calibri" panose="020F0502020204030204" pitchFamily="34" charset="0"/>
              </a:rPr>
              <a:t>&lt;10pJ/conv.</a:t>
            </a:r>
            <a:endParaRPr sz="2400" dirty="0">
              <a:latin typeface="Calibri" panose="020F0502020204030204" pitchFamily="34" charset="0"/>
              <a:cs typeface="Calibri" panose="020F0502020204030204" pitchFamily="34" charset="0"/>
            </a:endParaRPr>
          </a:p>
          <a:p>
            <a:pPr marL="482600" indent="-469900">
              <a:lnSpc>
                <a:spcPct val="100000"/>
              </a:lnSpc>
              <a:spcBef>
                <a:spcPts val="575"/>
              </a:spcBef>
              <a:buClr>
                <a:srgbClr val="CC0000"/>
              </a:buClr>
              <a:buSzPct val="79166"/>
              <a:buFont typeface="Wingdings"/>
              <a:buChar char=""/>
              <a:tabLst>
                <a:tab pos="482600" algn="l"/>
              </a:tabLst>
            </a:pPr>
            <a:r>
              <a:rPr sz="2400" dirty="0">
                <a:latin typeface="Calibri" panose="020F0502020204030204" pitchFamily="34" charset="0"/>
                <a:cs typeface="Calibri" panose="020F0502020204030204" pitchFamily="34" charset="0"/>
              </a:rPr>
              <a:t>Details</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of</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the</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wireline</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transceiver</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survey</a:t>
            </a:r>
          </a:p>
        </p:txBody>
      </p:sp>
      <p:grpSp>
        <p:nvGrpSpPr>
          <p:cNvPr id="16" name="Group 15">
            <a:extLst>
              <a:ext uri="{FF2B5EF4-FFF2-40B4-BE49-F238E27FC236}">
                <a16:creationId xmlns:a16="http://schemas.microsoft.com/office/drawing/2014/main" id="{0C015582-3730-B74A-4248-EB91A3FEB756}"/>
              </a:ext>
            </a:extLst>
          </p:cNvPr>
          <p:cNvGrpSpPr/>
          <p:nvPr/>
        </p:nvGrpSpPr>
        <p:grpSpPr>
          <a:xfrm>
            <a:off x="547369" y="814954"/>
            <a:ext cx="11251692" cy="3675126"/>
            <a:chOff x="547369" y="814954"/>
            <a:chExt cx="11251692" cy="3675126"/>
          </a:xfrm>
        </p:grpSpPr>
        <p:pic>
          <p:nvPicPr>
            <p:cNvPr id="7" name="object 5">
              <a:extLst>
                <a:ext uri="{FF2B5EF4-FFF2-40B4-BE49-F238E27FC236}">
                  <a16:creationId xmlns:a16="http://schemas.microsoft.com/office/drawing/2014/main" id="{E23BBE1D-AA0F-6A3C-6EA9-0AF4AFA10F75}"/>
                </a:ext>
              </a:extLst>
            </p:cNvPr>
            <p:cNvPicPr/>
            <p:nvPr/>
          </p:nvPicPr>
          <p:blipFill>
            <a:blip r:embed="rId2" cstate="print"/>
            <a:stretch>
              <a:fillRect/>
            </a:stretch>
          </p:blipFill>
          <p:spPr>
            <a:xfrm>
              <a:off x="547369" y="814954"/>
              <a:ext cx="11251692" cy="3675126"/>
            </a:xfrm>
            <a:prstGeom prst="rect">
              <a:avLst/>
            </a:prstGeom>
            <a:ln w="38100">
              <a:solidFill>
                <a:srgbClr val="C00000"/>
              </a:solidFill>
            </a:ln>
          </p:spPr>
        </p:pic>
        <p:sp>
          <p:nvSpPr>
            <p:cNvPr id="8" name="object 6">
              <a:extLst>
                <a:ext uri="{FF2B5EF4-FFF2-40B4-BE49-F238E27FC236}">
                  <a16:creationId xmlns:a16="http://schemas.microsoft.com/office/drawing/2014/main" id="{E9B73A4D-B429-BD6D-EC19-04574D7B2BA1}"/>
                </a:ext>
              </a:extLst>
            </p:cNvPr>
            <p:cNvSpPr/>
            <p:nvPr/>
          </p:nvSpPr>
          <p:spPr>
            <a:xfrm>
              <a:off x="2935635" y="1212954"/>
              <a:ext cx="8243570" cy="1891030"/>
            </a:xfrm>
            <a:custGeom>
              <a:avLst/>
              <a:gdLst/>
              <a:ahLst/>
              <a:cxnLst/>
              <a:rect l="l" t="t" r="r" b="b"/>
              <a:pathLst>
                <a:path w="8243570" h="1891029">
                  <a:moveTo>
                    <a:pt x="1682496" y="216408"/>
                  </a:moveTo>
                  <a:lnTo>
                    <a:pt x="1662684" y="25908"/>
                  </a:lnTo>
                  <a:lnTo>
                    <a:pt x="1522476" y="156210"/>
                  </a:lnTo>
                  <a:lnTo>
                    <a:pt x="1575676" y="176225"/>
                  </a:lnTo>
                  <a:lnTo>
                    <a:pt x="1557528" y="224790"/>
                  </a:lnTo>
                  <a:lnTo>
                    <a:pt x="1538478" y="272796"/>
                  </a:lnTo>
                  <a:lnTo>
                    <a:pt x="1501140" y="363474"/>
                  </a:lnTo>
                  <a:lnTo>
                    <a:pt x="1482090" y="406908"/>
                  </a:lnTo>
                  <a:lnTo>
                    <a:pt x="1463802" y="449580"/>
                  </a:lnTo>
                  <a:lnTo>
                    <a:pt x="1427226" y="530352"/>
                  </a:lnTo>
                  <a:lnTo>
                    <a:pt x="1390650" y="606552"/>
                  </a:lnTo>
                  <a:lnTo>
                    <a:pt x="1371600" y="643128"/>
                  </a:lnTo>
                  <a:lnTo>
                    <a:pt x="1353312" y="678942"/>
                  </a:lnTo>
                  <a:lnTo>
                    <a:pt x="1334262" y="713994"/>
                  </a:lnTo>
                  <a:lnTo>
                    <a:pt x="1295400" y="781812"/>
                  </a:lnTo>
                  <a:lnTo>
                    <a:pt x="1255776" y="847344"/>
                  </a:lnTo>
                  <a:lnTo>
                    <a:pt x="1213866" y="911352"/>
                  </a:lnTo>
                  <a:lnTo>
                    <a:pt x="1170432" y="973836"/>
                  </a:lnTo>
                  <a:lnTo>
                    <a:pt x="1124712" y="1036320"/>
                  </a:lnTo>
                  <a:lnTo>
                    <a:pt x="1076706" y="1098804"/>
                  </a:lnTo>
                  <a:lnTo>
                    <a:pt x="1051560" y="1130046"/>
                  </a:lnTo>
                  <a:lnTo>
                    <a:pt x="998220" y="1194054"/>
                  </a:lnTo>
                  <a:lnTo>
                    <a:pt x="970788" y="1226058"/>
                  </a:lnTo>
                  <a:lnTo>
                    <a:pt x="942594" y="1258062"/>
                  </a:lnTo>
                  <a:lnTo>
                    <a:pt x="915162" y="1288542"/>
                  </a:lnTo>
                  <a:lnTo>
                    <a:pt x="886968" y="1318260"/>
                  </a:lnTo>
                  <a:lnTo>
                    <a:pt x="858774" y="1347216"/>
                  </a:lnTo>
                  <a:lnTo>
                    <a:pt x="803148" y="1401318"/>
                  </a:lnTo>
                  <a:lnTo>
                    <a:pt x="774954" y="1427226"/>
                  </a:lnTo>
                  <a:lnTo>
                    <a:pt x="718566" y="1475232"/>
                  </a:lnTo>
                  <a:lnTo>
                    <a:pt x="661416" y="1520190"/>
                  </a:lnTo>
                  <a:lnTo>
                    <a:pt x="603504" y="1562100"/>
                  </a:lnTo>
                  <a:lnTo>
                    <a:pt x="516636" y="1618488"/>
                  </a:lnTo>
                  <a:lnTo>
                    <a:pt x="456438" y="1652778"/>
                  </a:lnTo>
                  <a:lnTo>
                    <a:pt x="396240" y="1684782"/>
                  </a:lnTo>
                  <a:lnTo>
                    <a:pt x="333756" y="1714500"/>
                  </a:lnTo>
                  <a:lnTo>
                    <a:pt x="270510" y="1741932"/>
                  </a:lnTo>
                  <a:lnTo>
                    <a:pt x="205740" y="1767840"/>
                  </a:lnTo>
                  <a:lnTo>
                    <a:pt x="139446" y="1791462"/>
                  </a:lnTo>
                  <a:lnTo>
                    <a:pt x="70866" y="1814322"/>
                  </a:lnTo>
                  <a:lnTo>
                    <a:pt x="0" y="1835658"/>
                  </a:lnTo>
                  <a:lnTo>
                    <a:pt x="16764" y="1890522"/>
                  </a:lnTo>
                  <a:lnTo>
                    <a:pt x="87630" y="1869186"/>
                  </a:lnTo>
                  <a:lnTo>
                    <a:pt x="156972" y="1845564"/>
                  </a:lnTo>
                  <a:lnTo>
                    <a:pt x="224790" y="1821180"/>
                  </a:lnTo>
                  <a:lnTo>
                    <a:pt x="291846" y="1795272"/>
                  </a:lnTo>
                  <a:lnTo>
                    <a:pt x="356616" y="1767078"/>
                  </a:lnTo>
                  <a:lnTo>
                    <a:pt x="420624" y="1736598"/>
                  </a:lnTo>
                  <a:lnTo>
                    <a:pt x="483108" y="1703070"/>
                  </a:lnTo>
                  <a:lnTo>
                    <a:pt x="544830" y="1668018"/>
                  </a:lnTo>
                  <a:lnTo>
                    <a:pt x="605790" y="1629918"/>
                  </a:lnTo>
                  <a:lnTo>
                    <a:pt x="665988" y="1588008"/>
                  </a:lnTo>
                  <a:lnTo>
                    <a:pt x="754380" y="1519428"/>
                  </a:lnTo>
                  <a:lnTo>
                    <a:pt x="812292" y="1469898"/>
                  </a:lnTo>
                  <a:lnTo>
                    <a:pt x="841248" y="1443228"/>
                  </a:lnTo>
                  <a:lnTo>
                    <a:pt x="870204" y="1415796"/>
                  </a:lnTo>
                  <a:lnTo>
                    <a:pt x="899160" y="1387602"/>
                  </a:lnTo>
                  <a:lnTo>
                    <a:pt x="927354" y="1358646"/>
                  </a:lnTo>
                  <a:lnTo>
                    <a:pt x="956310" y="1328166"/>
                  </a:lnTo>
                  <a:lnTo>
                    <a:pt x="985266" y="1296924"/>
                  </a:lnTo>
                  <a:lnTo>
                    <a:pt x="1041654" y="1231392"/>
                  </a:lnTo>
                  <a:lnTo>
                    <a:pt x="1069086" y="1198626"/>
                  </a:lnTo>
                  <a:lnTo>
                    <a:pt x="1120902" y="1134618"/>
                  </a:lnTo>
                  <a:lnTo>
                    <a:pt x="1170432" y="1071372"/>
                  </a:lnTo>
                  <a:lnTo>
                    <a:pt x="1216914" y="1007364"/>
                  </a:lnTo>
                  <a:lnTo>
                    <a:pt x="1261110" y="943356"/>
                  </a:lnTo>
                  <a:lnTo>
                    <a:pt x="1303782" y="878586"/>
                  </a:lnTo>
                  <a:lnTo>
                    <a:pt x="1344168" y="811530"/>
                  </a:lnTo>
                  <a:lnTo>
                    <a:pt x="1383792" y="742188"/>
                  </a:lnTo>
                  <a:lnTo>
                    <a:pt x="1422654" y="669798"/>
                  </a:lnTo>
                  <a:lnTo>
                    <a:pt x="1479042" y="554736"/>
                  </a:lnTo>
                  <a:lnTo>
                    <a:pt x="1516380" y="472440"/>
                  </a:lnTo>
                  <a:lnTo>
                    <a:pt x="1534668" y="429768"/>
                  </a:lnTo>
                  <a:lnTo>
                    <a:pt x="1553718" y="386334"/>
                  </a:lnTo>
                  <a:lnTo>
                    <a:pt x="1591056" y="294132"/>
                  </a:lnTo>
                  <a:lnTo>
                    <a:pt x="1628940" y="196265"/>
                  </a:lnTo>
                  <a:lnTo>
                    <a:pt x="1639062" y="200075"/>
                  </a:lnTo>
                  <a:lnTo>
                    <a:pt x="1682496" y="216408"/>
                  </a:lnTo>
                  <a:close/>
                </a:path>
                <a:path w="8243570" h="1891029">
                  <a:moveTo>
                    <a:pt x="8243316" y="1094994"/>
                  </a:moveTo>
                  <a:lnTo>
                    <a:pt x="8118348" y="949452"/>
                  </a:lnTo>
                  <a:lnTo>
                    <a:pt x="8096339" y="1001814"/>
                  </a:lnTo>
                  <a:lnTo>
                    <a:pt x="5720334" y="0"/>
                  </a:lnTo>
                  <a:lnTo>
                    <a:pt x="5698236" y="52578"/>
                  </a:lnTo>
                  <a:lnTo>
                    <a:pt x="8074241" y="1054392"/>
                  </a:lnTo>
                  <a:lnTo>
                    <a:pt x="8052054" y="1107186"/>
                  </a:lnTo>
                  <a:lnTo>
                    <a:pt x="8122158" y="1102728"/>
                  </a:lnTo>
                  <a:lnTo>
                    <a:pt x="8243316" y="1094994"/>
                  </a:lnTo>
                  <a:close/>
                </a:path>
              </a:pathLst>
            </a:custGeom>
            <a:solidFill>
              <a:srgbClr val="FF0000"/>
            </a:solidFill>
            <a:ln w="38100">
              <a:solidFill>
                <a:srgbClr val="C00000"/>
              </a:solidFill>
            </a:ln>
          </p:spPr>
          <p:txBody>
            <a:bodyPr wrap="square" lIns="0" tIns="0" rIns="0" bIns="0" rtlCol="0"/>
            <a:lstStyle/>
            <a:p>
              <a:endParaRPr dirty="0"/>
            </a:p>
          </p:txBody>
        </p:sp>
      </p:grpSp>
      <p:sp>
        <p:nvSpPr>
          <p:cNvPr id="11" name="object 9">
            <a:extLst>
              <a:ext uri="{FF2B5EF4-FFF2-40B4-BE49-F238E27FC236}">
                <a16:creationId xmlns:a16="http://schemas.microsoft.com/office/drawing/2014/main" id="{7DE3A792-8D44-945C-8E7B-88D32EE0770B}"/>
              </a:ext>
            </a:extLst>
          </p:cNvPr>
          <p:cNvSpPr txBox="1"/>
          <p:nvPr/>
        </p:nvSpPr>
        <p:spPr>
          <a:xfrm>
            <a:off x="9922510" y="914145"/>
            <a:ext cx="1621155" cy="574040"/>
          </a:xfrm>
          <a:prstGeom prst="rect">
            <a:avLst/>
          </a:prstGeom>
        </p:spPr>
        <p:txBody>
          <a:bodyPr vert="horz" wrap="square" lIns="0" tIns="12700" rIns="0" bIns="0" rtlCol="0">
            <a:spAutoFit/>
          </a:bodyPr>
          <a:lstStyle/>
          <a:p>
            <a:pPr marL="137160" indent="-133350">
              <a:lnSpc>
                <a:spcPct val="100000"/>
              </a:lnSpc>
              <a:spcBef>
                <a:spcPts val="100"/>
              </a:spcBef>
              <a:buClr>
                <a:srgbClr val="0000FF"/>
              </a:buClr>
              <a:buSzPct val="91666"/>
              <a:buChar char="•"/>
              <a:tabLst>
                <a:tab pos="137160" algn="l"/>
              </a:tabLst>
            </a:pPr>
            <a:r>
              <a:rPr sz="1800" dirty="0">
                <a:latin typeface="Verdana"/>
                <a:cs typeface="Verdana"/>
              </a:rPr>
              <a:t>28nm:</a:t>
            </a:r>
            <a:r>
              <a:rPr sz="1800" spc="-55" dirty="0">
                <a:latin typeface="Verdana"/>
                <a:cs typeface="Verdana"/>
              </a:rPr>
              <a:t> </a:t>
            </a:r>
            <a:r>
              <a:rPr sz="1800" spc="-25" dirty="0">
                <a:solidFill>
                  <a:srgbClr val="0000FF"/>
                </a:solidFill>
                <a:latin typeface="Verdana"/>
                <a:cs typeface="Verdana"/>
              </a:rPr>
              <a:t>NRZ</a:t>
            </a:r>
            <a:endParaRPr sz="1800" dirty="0">
              <a:latin typeface="Verdana"/>
              <a:cs typeface="Verdana"/>
            </a:endParaRPr>
          </a:p>
          <a:p>
            <a:pPr marL="137160" indent="-133350">
              <a:lnSpc>
                <a:spcPct val="100000"/>
              </a:lnSpc>
              <a:buClr>
                <a:srgbClr val="FFC000"/>
              </a:buClr>
              <a:buSzPct val="91666"/>
              <a:buChar char="•"/>
              <a:tabLst>
                <a:tab pos="137160" algn="l"/>
              </a:tabLst>
            </a:pPr>
            <a:r>
              <a:rPr sz="1800" dirty="0">
                <a:latin typeface="Verdana"/>
                <a:cs typeface="Verdana"/>
              </a:rPr>
              <a:t>28nm:</a:t>
            </a:r>
            <a:r>
              <a:rPr sz="1800" spc="-60" dirty="0">
                <a:latin typeface="Verdana"/>
                <a:cs typeface="Verdana"/>
              </a:rPr>
              <a:t> </a:t>
            </a:r>
            <a:r>
              <a:rPr sz="1800" spc="-20" dirty="0">
                <a:solidFill>
                  <a:srgbClr val="FFC000"/>
                </a:solidFill>
                <a:latin typeface="Verdana"/>
                <a:cs typeface="Verdana"/>
              </a:rPr>
              <a:t>PAM4</a:t>
            </a:r>
            <a:endParaRPr sz="1800" dirty="0">
              <a:latin typeface="Verdana"/>
              <a:cs typeface="Verdana"/>
            </a:endParaRPr>
          </a:p>
        </p:txBody>
      </p:sp>
      <p:sp>
        <p:nvSpPr>
          <p:cNvPr id="6" name="Date Placeholder 5"/>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9CC3D25-955F-4031-94BC-C88B3FCA0F6D}"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13" name="Slide Number Placeholder 12"/>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2</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1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062831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AB59D1E-F41B-2C31-A190-C299C2BCDC8F}"/>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55" name="Rectangle 54">
            <a:extLst>
              <a:ext uri="{FF2B5EF4-FFF2-40B4-BE49-F238E27FC236}">
                <a16:creationId xmlns:a16="http://schemas.microsoft.com/office/drawing/2014/main" id="{6CAB17D3-EECC-DF88-0FD8-6C721CB51E58}"/>
              </a:ext>
            </a:extLst>
          </p:cNvPr>
          <p:cNvSpPr>
            <a:spLocks noChangeArrowheads="1"/>
          </p:cNvSpPr>
          <p:nvPr/>
        </p:nvSpPr>
        <p:spPr bwMode="auto">
          <a:xfrm>
            <a:off x="121090" y="0"/>
            <a:ext cx="2713550" cy="56169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ctr" fontAlgn="base">
              <a:spcBef>
                <a:spcPct val="0"/>
              </a:spcBef>
              <a:spcAft>
                <a:spcPct val="0"/>
              </a:spcAft>
            </a:pPr>
            <a:r>
              <a:rPr lang="en-GB" sz="3200" b="1" dirty="0">
                <a:solidFill>
                  <a:srgbClr val="002060"/>
                </a:solidFill>
              </a:rPr>
              <a:t>Motivation</a:t>
            </a:r>
            <a:endParaRPr lang="en-US" sz="3200" b="1" dirty="0">
              <a:solidFill>
                <a:srgbClr val="002060"/>
              </a:solidFill>
              <a:cs typeface="Arial" panose="020B0604020202020204" pitchFamily="34" charset="0"/>
            </a:endParaRPr>
          </a:p>
        </p:txBody>
      </p:sp>
      <p:grpSp>
        <p:nvGrpSpPr>
          <p:cNvPr id="57" name="Group 56">
            <a:extLst>
              <a:ext uri="{FF2B5EF4-FFF2-40B4-BE49-F238E27FC236}">
                <a16:creationId xmlns:a16="http://schemas.microsoft.com/office/drawing/2014/main" id="{5327572E-7C05-F865-935D-D7E7F26D0415}"/>
              </a:ext>
            </a:extLst>
          </p:cNvPr>
          <p:cNvGrpSpPr/>
          <p:nvPr/>
        </p:nvGrpSpPr>
        <p:grpSpPr>
          <a:xfrm>
            <a:off x="76199" y="636982"/>
            <a:ext cx="6121401" cy="3605164"/>
            <a:chOff x="76199" y="450369"/>
            <a:chExt cx="6121401" cy="3605164"/>
          </a:xfrm>
        </p:grpSpPr>
        <p:sp>
          <p:nvSpPr>
            <p:cNvPr id="58" name="Rectangle 57">
              <a:extLst>
                <a:ext uri="{FF2B5EF4-FFF2-40B4-BE49-F238E27FC236}">
                  <a16:creationId xmlns:a16="http://schemas.microsoft.com/office/drawing/2014/main" id="{A39C3EB5-4843-4D60-EEE3-328D01BA938A}"/>
                </a:ext>
              </a:extLst>
            </p:cNvPr>
            <p:cNvSpPr/>
            <p:nvPr/>
          </p:nvSpPr>
          <p:spPr>
            <a:xfrm>
              <a:off x="391886" y="2491740"/>
              <a:ext cx="5726974" cy="1231174"/>
            </a:xfrm>
            <a:prstGeom prst="rect">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pic>
          <p:nvPicPr>
            <p:cNvPr id="59" name="Picture 58">
              <a:extLst>
                <a:ext uri="{FF2B5EF4-FFF2-40B4-BE49-F238E27FC236}">
                  <a16:creationId xmlns:a16="http://schemas.microsoft.com/office/drawing/2014/main" id="{D7583A2B-7831-C3D0-5093-85FF3BBDD619}"/>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20000"/>
                      </a14:imgEffect>
                    </a14:imgLayer>
                  </a14:imgProps>
                </a:ext>
              </a:extLst>
            </a:blip>
            <a:srcRect l="2724" t="3872" r="1886" b="3010"/>
            <a:stretch/>
          </p:blipFill>
          <p:spPr>
            <a:xfrm>
              <a:off x="321111" y="478760"/>
              <a:ext cx="4955719" cy="1807240"/>
            </a:xfrm>
            <a:prstGeom prst="rect">
              <a:avLst/>
            </a:prstGeom>
          </p:spPr>
        </p:pic>
        <p:sp>
          <p:nvSpPr>
            <p:cNvPr id="60" name="TextBox 59">
              <a:extLst>
                <a:ext uri="{FF2B5EF4-FFF2-40B4-BE49-F238E27FC236}">
                  <a16:creationId xmlns:a16="http://schemas.microsoft.com/office/drawing/2014/main" id="{7DD5C928-4412-029B-589C-160E4C94F590}"/>
                </a:ext>
              </a:extLst>
            </p:cNvPr>
            <p:cNvSpPr txBox="1"/>
            <p:nvPr/>
          </p:nvSpPr>
          <p:spPr>
            <a:xfrm>
              <a:off x="377450" y="2231970"/>
              <a:ext cx="4587096" cy="279307"/>
            </a:xfrm>
            <a:prstGeom prst="rect">
              <a:avLst/>
            </a:prstGeom>
            <a:noFill/>
          </p:spPr>
          <p:txBody>
            <a:bodyPr wrap="square">
              <a:spAutoFit/>
            </a:bodyPr>
            <a:lstStyle/>
            <a:p>
              <a:pPr algn="ctr"/>
              <a:r>
                <a:rPr lang="en-GB" sz="1215" u="sng" dirty="0"/>
                <a:t>Block diagram of a serial link with embedded clocking</a:t>
              </a:r>
              <a:endParaRPr lang="en-IN" sz="1215" u="sng" dirty="0"/>
            </a:p>
          </p:txBody>
        </p:sp>
        <p:sp>
          <p:nvSpPr>
            <p:cNvPr id="61" name="TextBox 60">
              <a:extLst>
                <a:ext uri="{FF2B5EF4-FFF2-40B4-BE49-F238E27FC236}">
                  <a16:creationId xmlns:a16="http://schemas.microsoft.com/office/drawing/2014/main" id="{5FE7318B-FE5F-6A89-45FF-2FD4A7B819BA}"/>
                </a:ext>
              </a:extLst>
            </p:cNvPr>
            <p:cNvSpPr txBox="1"/>
            <p:nvPr/>
          </p:nvSpPr>
          <p:spPr>
            <a:xfrm>
              <a:off x="208134" y="2494991"/>
              <a:ext cx="5969146" cy="1401153"/>
            </a:xfrm>
            <a:prstGeom prst="rect">
              <a:avLst/>
            </a:prstGeom>
            <a:noFill/>
            <a:ln>
              <a:noFill/>
            </a:ln>
          </p:spPr>
          <p:txBody>
            <a:bodyPr wrap="square">
              <a:spAutoFit/>
            </a:bodyPr>
            <a:lstStyle/>
            <a:p>
              <a:pPr marL="128588" indent="-128588" algn="just">
                <a:buFont typeface="Arial" panose="020B0604020202020204" pitchFamily="34" charset="0"/>
                <a:buChar char="•"/>
              </a:pPr>
              <a:r>
                <a:rPr lang="en-GB" sz="1215" dirty="0"/>
                <a:t>Typical serial link architecture with embedded clocking used in data centre networks. </a:t>
              </a:r>
            </a:p>
            <a:p>
              <a:pPr marL="128588" indent="-128588" algn="just">
                <a:buFont typeface="Arial" panose="020B0604020202020204" pitchFamily="34" charset="0"/>
                <a:buChar char="•"/>
              </a:pPr>
              <a:r>
                <a:rPr lang="en-GB" sz="1215" dirty="0"/>
                <a:t>At the transmitter, a parallel data stream is serialized using a high-frequency clock.</a:t>
              </a:r>
            </a:p>
            <a:p>
              <a:pPr marL="128588" indent="-128588" algn="just">
                <a:buFont typeface="Arial" panose="020B0604020202020204" pitchFamily="34" charset="0"/>
                <a:buChar char="•"/>
              </a:pPr>
              <a:r>
                <a:rPr lang="en-GB" sz="1215" dirty="0"/>
                <a:t>A clock generator synthesizes this clock relying on an external crystal reference clock.</a:t>
              </a:r>
            </a:p>
            <a:p>
              <a:pPr marL="128588" indent="-128588" algn="just">
                <a:buFont typeface="Arial" panose="020B0604020202020204" pitchFamily="34" charset="0"/>
                <a:buChar char="•"/>
              </a:pPr>
              <a:r>
                <a:rPr lang="en-GB" sz="1215" dirty="0"/>
                <a:t> The receiver’s CDR retrieve the clock and data from the equalized signal. </a:t>
              </a:r>
            </a:p>
            <a:p>
              <a:pPr marL="128588" indent="-128588" algn="just">
                <a:buFont typeface="Arial" panose="020B0604020202020204" pitchFamily="34" charset="0"/>
                <a:buChar char="•"/>
              </a:pPr>
              <a:r>
                <a:rPr lang="en-GB" sz="1215" dirty="0">
                  <a:solidFill>
                    <a:srgbClr val="FF0000"/>
                  </a:solidFill>
                </a:rPr>
                <a:t>Clock generation at TX and clock and data recovery (CDR) at RX require </a:t>
              </a:r>
              <a:r>
                <a:rPr lang="en-GB" sz="1215" b="1" dirty="0">
                  <a:solidFill>
                    <a:srgbClr val="FF0000"/>
                  </a:solidFill>
                </a:rPr>
                <a:t>35-50%</a:t>
              </a:r>
              <a:r>
                <a:rPr lang="en-GB" sz="1215" dirty="0">
                  <a:solidFill>
                    <a:srgbClr val="FF0000"/>
                  </a:solidFill>
                </a:rPr>
                <a:t> of a link's power.</a:t>
              </a:r>
              <a:endParaRPr lang="en-IN" sz="1215" dirty="0">
                <a:solidFill>
                  <a:srgbClr val="FF0000"/>
                </a:solidFill>
              </a:endParaRPr>
            </a:p>
          </p:txBody>
        </p:sp>
        <p:sp>
          <p:nvSpPr>
            <p:cNvPr id="62" name="Rectangle 61">
              <a:extLst>
                <a:ext uri="{FF2B5EF4-FFF2-40B4-BE49-F238E27FC236}">
                  <a16:creationId xmlns:a16="http://schemas.microsoft.com/office/drawing/2014/main" id="{B1496BAE-4785-1C02-61B3-4163C5F646DD}"/>
                </a:ext>
              </a:extLst>
            </p:cNvPr>
            <p:cNvSpPr/>
            <p:nvPr/>
          </p:nvSpPr>
          <p:spPr>
            <a:xfrm>
              <a:off x="76199" y="450369"/>
              <a:ext cx="6121401" cy="3605164"/>
            </a:xfrm>
            <a:prstGeom prst="rect">
              <a:avLst/>
            </a:prstGeom>
            <a:noFill/>
            <a:ln w="38100" cap="flat" cmpd="sng" algn="ctr">
              <a:solidFill>
                <a:srgbClr val="C00000"/>
              </a:solidFill>
              <a:prstDash val="solid"/>
            </a:ln>
            <a:effectLst/>
          </p:spPr>
          <p:txBody>
            <a:bodyPr rtlCol="0" anchor="ctr"/>
            <a:lstStyle/>
            <a:p>
              <a:pPr marL="0" marR="0" lvl="0" indent="0" algn="ctr" defTabSz="41148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noFill/>
                <a:effectLst/>
                <a:uLnTx/>
                <a:uFillTx/>
                <a:latin typeface="Gill Sans MT" panose="020B0502020104020203"/>
                <a:ea typeface="+mn-ea"/>
                <a:cs typeface="+mn-cs"/>
              </a:endParaRPr>
            </a:p>
          </p:txBody>
        </p:sp>
      </p:grpSp>
      <p:grpSp>
        <p:nvGrpSpPr>
          <p:cNvPr id="63" name="Group 62">
            <a:extLst>
              <a:ext uri="{FF2B5EF4-FFF2-40B4-BE49-F238E27FC236}">
                <a16:creationId xmlns:a16="http://schemas.microsoft.com/office/drawing/2014/main" id="{49F97C92-5CEC-FFE5-3A46-7627177FC701}"/>
              </a:ext>
            </a:extLst>
          </p:cNvPr>
          <p:cNvGrpSpPr/>
          <p:nvPr/>
        </p:nvGrpSpPr>
        <p:grpSpPr>
          <a:xfrm>
            <a:off x="6256005" y="628515"/>
            <a:ext cx="5858932" cy="3605164"/>
            <a:chOff x="6265335" y="441902"/>
            <a:chExt cx="5858932" cy="3605164"/>
          </a:xfrm>
        </p:grpSpPr>
        <p:sp>
          <p:nvSpPr>
            <p:cNvPr id="64" name="Rectangle 63">
              <a:extLst>
                <a:ext uri="{FF2B5EF4-FFF2-40B4-BE49-F238E27FC236}">
                  <a16:creationId xmlns:a16="http://schemas.microsoft.com/office/drawing/2014/main" id="{F036A655-C222-2B17-4F33-8BB195C3FC5C}"/>
                </a:ext>
              </a:extLst>
            </p:cNvPr>
            <p:cNvSpPr/>
            <p:nvPr/>
          </p:nvSpPr>
          <p:spPr>
            <a:xfrm>
              <a:off x="6360160" y="2483923"/>
              <a:ext cx="5750560" cy="1425603"/>
            </a:xfrm>
            <a:prstGeom prst="rect">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pic>
          <p:nvPicPr>
            <p:cNvPr id="65" name="Picture 64">
              <a:extLst>
                <a:ext uri="{FF2B5EF4-FFF2-40B4-BE49-F238E27FC236}">
                  <a16:creationId xmlns:a16="http://schemas.microsoft.com/office/drawing/2014/main" id="{6FA2EFBE-C577-E39A-98FC-83AB68C054A3}"/>
                </a:ext>
              </a:extLst>
            </p:cNvPr>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20000" contrast="40000"/>
                      </a14:imgEffect>
                    </a14:imgLayer>
                  </a14:imgProps>
                </a:ext>
              </a:extLst>
            </a:blip>
            <a:srcRect l="2776" t="11452" r="3087" b="1012"/>
            <a:stretch/>
          </p:blipFill>
          <p:spPr>
            <a:xfrm>
              <a:off x="6859225" y="488424"/>
              <a:ext cx="3255843" cy="1746431"/>
            </a:xfrm>
            <a:prstGeom prst="rect">
              <a:avLst/>
            </a:prstGeom>
          </p:spPr>
        </p:pic>
        <p:sp>
          <p:nvSpPr>
            <p:cNvPr id="66" name="TextBox 65">
              <a:extLst>
                <a:ext uri="{FF2B5EF4-FFF2-40B4-BE49-F238E27FC236}">
                  <a16:creationId xmlns:a16="http://schemas.microsoft.com/office/drawing/2014/main" id="{97EBB1F1-2760-0213-F5D2-D28937579478}"/>
                </a:ext>
              </a:extLst>
            </p:cNvPr>
            <p:cNvSpPr txBox="1"/>
            <p:nvPr/>
          </p:nvSpPr>
          <p:spPr>
            <a:xfrm>
              <a:off x="6498177" y="2164884"/>
              <a:ext cx="4023998" cy="279307"/>
            </a:xfrm>
            <a:prstGeom prst="rect">
              <a:avLst/>
            </a:prstGeom>
            <a:noFill/>
          </p:spPr>
          <p:txBody>
            <a:bodyPr wrap="square">
              <a:spAutoFit/>
            </a:bodyPr>
            <a:lstStyle/>
            <a:p>
              <a:pPr algn="ctr"/>
              <a:r>
                <a:rPr lang="en-GB" sz="1215" u="sng" dirty="0"/>
                <a:t>Block diagram of a typical wireless transceiver</a:t>
              </a:r>
              <a:endParaRPr lang="en-IN" sz="1215" u="sng" dirty="0"/>
            </a:p>
          </p:txBody>
        </p:sp>
        <p:sp>
          <p:nvSpPr>
            <p:cNvPr id="67" name="TextBox 66">
              <a:extLst>
                <a:ext uri="{FF2B5EF4-FFF2-40B4-BE49-F238E27FC236}">
                  <a16:creationId xmlns:a16="http://schemas.microsoft.com/office/drawing/2014/main" id="{70168A02-A2A0-386D-0E5A-3823DB9331E3}"/>
                </a:ext>
              </a:extLst>
            </p:cNvPr>
            <p:cNvSpPr txBox="1"/>
            <p:nvPr/>
          </p:nvSpPr>
          <p:spPr>
            <a:xfrm>
              <a:off x="6268720" y="2461804"/>
              <a:ext cx="5709919" cy="1465786"/>
            </a:xfrm>
            <a:prstGeom prst="rect">
              <a:avLst/>
            </a:prstGeom>
            <a:noFill/>
          </p:spPr>
          <p:txBody>
            <a:bodyPr wrap="square">
              <a:spAutoFit/>
            </a:bodyPr>
            <a:lstStyle/>
            <a:p>
              <a:pPr marL="128588" indent="-128588" algn="just">
                <a:buFont typeface="Arial" panose="020B0604020202020204" pitchFamily="34" charset="0"/>
                <a:buChar char="•"/>
              </a:pPr>
              <a:r>
                <a:rPr lang="en-GB" sz="1275" dirty="0"/>
                <a:t>The frequency synthesiser synthesizes the RF carrier and down-conversion signal at the receiver.</a:t>
              </a:r>
            </a:p>
            <a:p>
              <a:pPr marL="128588" indent="-128588" algn="just">
                <a:buFont typeface="Arial" panose="020B0604020202020204" pitchFamily="34" charset="0"/>
                <a:buChar char="•"/>
              </a:pPr>
              <a:r>
                <a:rPr lang="en-GB" sz="1275" dirty="0">
                  <a:solidFill>
                    <a:srgbClr val="FF0000"/>
                  </a:solidFill>
                </a:rPr>
                <a:t>Synthesizers require </a:t>
              </a:r>
              <a:r>
                <a:rPr lang="en-GB" sz="1275" b="1" dirty="0">
                  <a:solidFill>
                    <a:srgbClr val="FF0000"/>
                  </a:solidFill>
                </a:rPr>
                <a:t>50%</a:t>
              </a:r>
              <a:r>
                <a:rPr lang="en-GB" sz="1275" dirty="0"/>
                <a:t> of transceiver power, and the rest is consumed by the CPU; mobile platforms include audio data converters and memory-required clocks.</a:t>
              </a:r>
            </a:p>
            <a:p>
              <a:pPr marL="128588" indent="-128588" algn="just">
                <a:buFont typeface="Arial" panose="020B0604020202020204" pitchFamily="34" charset="0"/>
                <a:buChar char="•"/>
              </a:pPr>
              <a:r>
                <a:rPr lang="en-GB" sz="1275" dirty="0">
                  <a:solidFill>
                    <a:srgbClr val="FF0000"/>
                  </a:solidFill>
                </a:rPr>
                <a:t>Clock and frequency synthesisers play a key role and limiting their performance and power.</a:t>
              </a:r>
            </a:p>
          </p:txBody>
        </p:sp>
        <p:sp>
          <p:nvSpPr>
            <p:cNvPr id="68" name="Rectangle 67">
              <a:extLst>
                <a:ext uri="{FF2B5EF4-FFF2-40B4-BE49-F238E27FC236}">
                  <a16:creationId xmlns:a16="http://schemas.microsoft.com/office/drawing/2014/main" id="{4356E007-BDA6-9AF7-389C-32D7226948D6}"/>
                </a:ext>
              </a:extLst>
            </p:cNvPr>
            <p:cNvSpPr/>
            <p:nvPr/>
          </p:nvSpPr>
          <p:spPr>
            <a:xfrm>
              <a:off x="6265335" y="441902"/>
              <a:ext cx="5858932" cy="3605164"/>
            </a:xfrm>
            <a:prstGeom prst="rect">
              <a:avLst/>
            </a:prstGeom>
            <a:noFill/>
            <a:ln w="38100" cap="flat" cmpd="sng" algn="ctr">
              <a:solidFill>
                <a:srgbClr val="C00000"/>
              </a:solidFill>
              <a:prstDash val="solid"/>
            </a:ln>
            <a:effectLst/>
          </p:spPr>
          <p:txBody>
            <a:bodyPr rtlCol="0" anchor="ctr"/>
            <a:lstStyle/>
            <a:p>
              <a:pPr marL="0" marR="0" lvl="0" indent="0" algn="ctr" defTabSz="41148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noFill/>
                <a:effectLst/>
                <a:uLnTx/>
                <a:uFillTx/>
                <a:latin typeface="Gill Sans MT" panose="020B0502020104020203"/>
                <a:ea typeface="+mn-ea"/>
                <a:cs typeface="+mn-cs"/>
              </a:endParaRPr>
            </a:p>
          </p:txBody>
        </p:sp>
      </p:grpSp>
      <p:sp>
        <p:nvSpPr>
          <p:cNvPr id="74" name="TextBox 73">
            <a:extLst>
              <a:ext uri="{FF2B5EF4-FFF2-40B4-BE49-F238E27FC236}">
                <a16:creationId xmlns:a16="http://schemas.microsoft.com/office/drawing/2014/main" id="{578072BC-A3DA-F165-0AB3-F1D48E8A7395}"/>
              </a:ext>
            </a:extLst>
          </p:cNvPr>
          <p:cNvSpPr txBox="1"/>
          <p:nvPr/>
        </p:nvSpPr>
        <p:spPr>
          <a:xfrm>
            <a:off x="73401" y="4755362"/>
            <a:ext cx="5176779" cy="1969770"/>
          </a:xfrm>
          <a:prstGeom prst="rect">
            <a:avLst/>
          </a:prstGeom>
          <a:solidFill>
            <a:schemeClr val="bg1">
              <a:lumMod val="95000"/>
            </a:schemeClr>
          </a:solidFill>
          <a:ln w="19050">
            <a:solidFill>
              <a:srgbClr val="C00000"/>
            </a:solidFill>
          </a:ln>
        </p:spPr>
        <p:txBody>
          <a:bodyPr wrap="square">
            <a:spAutoFit/>
          </a:bodyPr>
          <a:lstStyle/>
          <a:p>
            <a:pPr algn="l"/>
            <a:endParaRPr lang="en-BE" sz="1000" b="0" i="0" u="none" strike="noStrike" baseline="0" dirty="0">
              <a:solidFill>
                <a:srgbClr val="00B050"/>
              </a:solidFill>
              <a:latin typeface="Arial" panose="020B0604020202020204" pitchFamily="34" charset="0"/>
            </a:endParaRPr>
          </a:p>
          <a:p>
            <a:endParaRPr lang="en-BE" sz="1000" b="0" i="0" u="none" strike="noStrike" baseline="0" dirty="0">
              <a:solidFill>
                <a:srgbClr val="00B050"/>
              </a:solidFill>
              <a:latin typeface="Arial" panose="020B0604020202020204" pitchFamily="34" charset="0"/>
            </a:endParaRPr>
          </a:p>
          <a:p>
            <a:pPr marL="285750" marR="0" indent="-285750" algn="l">
              <a:buFont typeface="Arial" panose="020B0604020202020204" pitchFamily="34" charset="0"/>
              <a:buChar char="•"/>
            </a:pPr>
            <a:r>
              <a:rPr lang="en-US" sz="1800" b="1" i="0" u="none" strike="noStrike" baseline="0" dirty="0">
                <a:solidFill>
                  <a:srgbClr val="00B050"/>
                </a:solidFill>
              </a:rPr>
              <a:t>Wireline transceivers require many PLLs</a:t>
            </a:r>
            <a:endParaRPr lang="en-US" sz="1800" b="0" i="0" u="none" strike="noStrike" baseline="0" dirty="0">
              <a:solidFill>
                <a:srgbClr val="00B050"/>
              </a:solidFill>
            </a:endParaRPr>
          </a:p>
          <a:p>
            <a:pPr marL="285750" marR="0" indent="-285750" algn="l">
              <a:buFont typeface="Arial" panose="020B0604020202020204" pitchFamily="34" charset="0"/>
              <a:buChar char="•"/>
            </a:pPr>
            <a:r>
              <a:rPr lang="en-US" sz="1800" b="1" i="0" u="none" strike="noStrike" baseline="0" dirty="0">
                <a:solidFill>
                  <a:srgbClr val="FF0000"/>
                </a:solidFill>
              </a:rPr>
              <a:t>LC-PLLs are used for low jitter BUT…</a:t>
            </a:r>
          </a:p>
          <a:p>
            <a:pPr marR="0" algn="l"/>
            <a:r>
              <a:rPr lang="en-US" b="1" dirty="0">
                <a:solidFill>
                  <a:srgbClr val="FF0000"/>
                </a:solidFill>
              </a:rPr>
              <a:t>         1) </a:t>
            </a:r>
            <a:r>
              <a:rPr lang="en-US" sz="1600" b="0" i="0" u="none" strike="noStrike" baseline="0" dirty="0">
                <a:solidFill>
                  <a:srgbClr val="FF0000"/>
                </a:solidFill>
              </a:rPr>
              <a:t>Susceptible to electromagnetic coupling</a:t>
            </a:r>
          </a:p>
          <a:p>
            <a:pPr marR="0" algn="l"/>
            <a:r>
              <a:rPr lang="en-US" sz="1600" b="0" i="0" u="none" strike="noStrike" baseline="0" dirty="0">
                <a:solidFill>
                  <a:srgbClr val="FF0000"/>
                </a:solidFill>
              </a:rPr>
              <a:t>          2) Narrow frequency range</a:t>
            </a:r>
          </a:p>
          <a:p>
            <a:pPr marR="0" algn="l"/>
            <a:r>
              <a:rPr lang="en-US" sz="1600" b="0" i="0" u="none" strike="noStrike" baseline="0" dirty="0">
                <a:solidFill>
                  <a:srgbClr val="FF0000"/>
                </a:solidFill>
              </a:rPr>
              <a:t>          3) </a:t>
            </a:r>
            <a:r>
              <a:rPr lang="en-US" sz="1600" dirty="0">
                <a:solidFill>
                  <a:srgbClr val="FF0000"/>
                </a:solidFill>
              </a:rPr>
              <a:t>`Mostly</a:t>
            </a:r>
            <a:r>
              <a:rPr lang="en-US" sz="1600" b="0" i="0" u="none" strike="noStrike" baseline="0" dirty="0">
                <a:solidFill>
                  <a:srgbClr val="FF0000"/>
                </a:solidFill>
              </a:rPr>
              <a:t> provide two phases</a:t>
            </a:r>
          </a:p>
          <a:p>
            <a:pPr marR="0" algn="l"/>
            <a:endParaRPr lang="en-BE" sz="1600" b="0" i="0" u="none" strike="noStrike" baseline="0" dirty="0">
              <a:solidFill>
                <a:srgbClr val="00B050"/>
              </a:solidFill>
              <a:latin typeface="Arial" panose="020B0604020202020204" pitchFamily="34" charset="0"/>
            </a:endParaRPr>
          </a:p>
        </p:txBody>
      </p:sp>
      <p:pic>
        <p:nvPicPr>
          <p:cNvPr id="50" name="Picture 49">
            <a:extLst>
              <a:ext uri="{FF2B5EF4-FFF2-40B4-BE49-F238E27FC236}">
                <a16:creationId xmlns:a16="http://schemas.microsoft.com/office/drawing/2014/main" id="{88CC06C9-418C-A93E-243C-F4E6C68D5FED}"/>
              </a:ext>
            </a:extLst>
          </p:cNvPr>
          <p:cNvPicPr>
            <a:picLocks noChangeAspect="1"/>
          </p:cNvPicPr>
          <p:nvPr/>
        </p:nvPicPr>
        <p:blipFill>
          <a:blip r:embed="rId7"/>
          <a:stretch>
            <a:fillRect/>
          </a:stretch>
        </p:blipFill>
        <p:spPr>
          <a:xfrm>
            <a:off x="10506269" y="367742"/>
            <a:ext cx="1473703" cy="2160854"/>
          </a:xfrm>
          <a:prstGeom prst="rect">
            <a:avLst/>
          </a:prstGeom>
        </p:spPr>
      </p:pic>
      <p:sp>
        <p:nvSpPr>
          <p:cNvPr id="2" name="Date Placeholder 1"/>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0684ACB-5942-4C29-8924-AD5AB7C49E02}"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Slide Number Placeholder 4"/>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3</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grpSp>
        <p:nvGrpSpPr>
          <p:cNvPr id="75" name="Group 74">
            <a:extLst>
              <a:ext uri="{FF2B5EF4-FFF2-40B4-BE49-F238E27FC236}">
                <a16:creationId xmlns:a16="http://schemas.microsoft.com/office/drawing/2014/main" id="{29F456CC-0B04-02F7-F120-AB9F066E9EDC}"/>
              </a:ext>
            </a:extLst>
          </p:cNvPr>
          <p:cNvGrpSpPr/>
          <p:nvPr/>
        </p:nvGrpSpPr>
        <p:grpSpPr>
          <a:xfrm>
            <a:off x="5600233" y="4325683"/>
            <a:ext cx="6704131" cy="2532317"/>
            <a:chOff x="-91440" y="4325683"/>
            <a:chExt cx="6704131" cy="2532317"/>
          </a:xfrm>
        </p:grpSpPr>
        <p:pic>
          <p:nvPicPr>
            <p:cNvPr id="76" name="Picture 75">
              <a:extLst>
                <a:ext uri="{FF2B5EF4-FFF2-40B4-BE49-F238E27FC236}">
                  <a16:creationId xmlns:a16="http://schemas.microsoft.com/office/drawing/2014/main" id="{E802647D-72C9-167C-5192-FB2AF01CA153}"/>
                </a:ext>
              </a:extLst>
            </p:cNvPr>
            <p:cNvPicPr>
              <a:picLocks noChangeAspect="1"/>
            </p:cNvPicPr>
            <p:nvPr/>
          </p:nvPicPr>
          <p:blipFill>
            <a:blip r:embed="rId8"/>
            <a:stretch>
              <a:fillRect/>
            </a:stretch>
          </p:blipFill>
          <p:spPr>
            <a:xfrm>
              <a:off x="-91440" y="4398379"/>
              <a:ext cx="3313589" cy="2216645"/>
            </a:xfrm>
            <a:prstGeom prst="rect">
              <a:avLst/>
            </a:prstGeom>
          </p:spPr>
        </p:pic>
        <p:pic>
          <p:nvPicPr>
            <p:cNvPr id="77" name="Picture 76">
              <a:extLst>
                <a:ext uri="{FF2B5EF4-FFF2-40B4-BE49-F238E27FC236}">
                  <a16:creationId xmlns:a16="http://schemas.microsoft.com/office/drawing/2014/main" id="{DF198432-E7A7-0795-BFF1-796E7F87D0D4}"/>
                </a:ext>
              </a:extLst>
            </p:cNvPr>
            <p:cNvPicPr>
              <a:picLocks noChangeAspect="1"/>
            </p:cNvPicPr>
            <p:nvPr/>
          </p:nvPicPr>
          <p:blipFill>
            <a:blip r:embed="rId9"/>
            <a:stretch>
              <a:fillRect/>
            </a:stretch>
          </p:blipFill>
          <p:spPr>
            <a:xfrm>
              <a:off x="3010952" y="4396168"/>
              <a:ext cx="3601739" cy="2386810"/>
            </a:xfrm>
            <a:prstGeom prst="rect">
              <a:avLst/>
            </a:prstGeom>
          </p:spPr>
        </p:pic>
        <p:sp>
          <p:nvSpPr>
            <p:cNvPr id="78" name="Rectangle 77">
              <a:extLst>
                <a:ext uri="{FF2B5EF4-FFF2-40B4-BE49-F238E27FC236}">
                  <a16:creationId xmlns:a16="http://schemas.microsoft.com/office/drawing/2014/main" id="{5C251F94-A444-6445-F549-D25C359C9C37}"/>
                </a:ext>
              </a:extLst>
            </p:cNvPr>
            <p:cNvSpPr/>
            <p:nvPr/>
          </p:nvSpPr>
          <p:spPr>
            <a:xfrm>
              <a:off x="0" y="4325683"/>
              <a:ext cx="6466114" cy="2532317"/>
            </a:xfrm>
            <a:prstGeom prst="rect">
              <a:avLst/>
            </a:prstGeom>
            <a:noFill/>
            <a:ln w="38100" cap="flat" cmpd="sng" algn="ctr">
              <a:solidFill>
                <a:srgbClr val="C00000"/>
              </a:solidFill>
              <a:prstDash val="solid"/>
            </a:ln>
            <a:effectLst/>
          </p:spPr>
          <p:txBody>
            <a:bodyPr rtlCol="0" anchor="ctr"/>
            <a:lstStyle/>
            <a:p>
              <a:pPr marL="0" marR="0" lvl="0" indent="0" algn="ctr" defTabSz="41148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noFill/>
                <a:effectLst/>
                <a:uLnTx/>
                <a:uFillTx/>
                <a:latin typeface="Gill Sans MT" panose="020B0502020104020203"/>
                <a:ea typeface="+mn-ea"/>
                <a:cs typeface="+mn-cs"/>
              </a:endParaRPr>
            </a:p>
          </p:txBody>
        </p:sp>
      </p:grpSp>
      <p:sp>
        <p:nvSpPr>
          <p:cNvPr id="25"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9417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Problem Context and </a:t>
            </a:r>
            <a:r>
              <a:rPr lang="en-US" b="1" dirty="0" smtClean="0">
                <a:latin typeface="Calibri" panose="020F0502020204030204" pitchFamily="34" charset="0"/>
                <a:ea typeface="Calibri" panose="020F0502020204030204" pitchFamily="34" charset="0"/>
                <a:cs typeface="Times New Roman" panose="02020603050405020304" pitchFamily="18" charset="0"/>
              </a:rPr>
              <a:t>Motivation</a:t>
            </a:r>
            <a:endParaRPr lang="en-US" dirty="0"/>
          </a:p>
        </p:txBody>
      </p:sp>
      <p:pic>
        <p:nvPicPr>
          <p:cNvPr id="7" name="Picture 6"/>
          <p:cNvPicPr>
            <a:picLocks noChangeAspect="1"/>
          </p:cNvPicPr>
          <p:nvPr/>
        </p:nvPicPr>
        <p:blipFill>
          <a:blip r:embed="rId2"/>
          <a:stretch>
            <a:fillRect/>
          </a:stretch>
        </p:blipFill>
        <p:spPr>
          <a:xfrm>
            <a:off x="1045697" y="1148863"/>
            <a:ext cx="4729317" cy="2546252"/>
          </a:xfrm>
          <a:prstGeom prst="rect">
            <a:avLst/>
          </a:prstGeom>
        </p:spPr>
      </p:pic>
      <p:sp>
        <p:nvSpPr>
          <p:cNvPr id="3" name="Text Placeholder 2"/>
          <p:cNvSpPr>
            <a:spLocks noGrp="1"/>
          </p:cNvSpPr>
          <p:nvPr>
            <p:ph type="body" idx="1"/>
          </p:nvPr>
        </p:nvSpPr>
        <p:spPr>
          <a:xfrm>
            <a:off x="6250745" y="1276961"/>
            <a:ext cx="5457551" cy="4673328"/>
          </a:xfrm>
        </p:spPr>
        <p:txBody>
          <a:bodyPr>
            <a:normAutofit fontScale="70000" lnSpcReduction="20000"/>
          </a:bodyPr>
          <a:lstStyle/>
          <a:p>
            <a:pPr marL="0" indent="0" algn="just">
              <a:buNone/>
            </a:pPr>
            <a:endPar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buFont typeface="Wingdings" panose="05000000000000000000" pitchFamily="2" charset="2"/>
              <a:buChar char="q"/>
            </a:pP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Multi-phase clocks are critical for ADC/DAC-based wireline transceivers</a:t>
            </a: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a:t>
            </a:r>
          </a:p>
          <a:p>
            <a:pPr marL="457200" indent="-457200" algn="just">
              <a:buFont typeface="Wingdings" panose="05000000000000000000" pitchFamily="2" charset="2"/>
              <a:buChar char="q"/>
            </a:pPr>
            <a:endPar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buFont typeface="Wingdings" panose="05000000000000000000" pitchFamily="2" charset="2"/>
              <a:buChar char="q"/>
            </a:pP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As data rates rise, the need for accurate clock phases and low jitter becomes paramount</a:t>
            </a: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a:t>
            </a:r>
          </a:p>
          <a:p>
            <a:pPr marL="457200" indent="-457200" algn="just">
              <a:buFont typeface="Wingdings" panose="05000000000000000000" pitchFamily="2" charset="2"/>
              <a:buChar char="q"/>
            </a:pPr>
            <a:endPar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buFont typeface="Wingdings" panose="05000000000000000000" pitchFamily="2" charset="2"/>
              <a:buChar char="q"/>
            </a:pP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The </a:t>
            </a: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growing data rate increases the challenge due to the finiteness of transistor speed (</a:t>
            </a:r>
            <a:r>
              <a:rPr lang="en-US" sz="2900" i="1" dirty="0" err="1">
                <a:solidFill>
                  <a:srgbClr val="00B050"/>
                </a:solidFill>
                <a:latin typeface="Times New Roman" panose="02020603050405020304" pitchFamily="18" charset="0"/>
                <a:ea typeface="Calibri" panose="020F0502020204030204" pitchFamily="34" charset="0"/>
                <a:cs typeface="Times New Roman" panose="02020603050405020304" pitchFamily="18" charset="0"/>
              </a:rPr>
              <a:t>f</a:t>
            </a:r>
            <a:r>
              <a:rPr lang="en-US" sz="2900" i="1" baseline="-25000" dirty="0" err="1">
                <a:solidFill>
                  <a:srgbClr val="00B050"/>
                </a:solidFill>
                <a:latin typeface="Times New Roman" panose="02020603050405020304" pitchFamily="18" charset="0"/>
                <a:ea typeface="Calibri" panose="020F0502020204030204" pitchFamily="34" charset="0"/>
                <a:cs typeface="Times New Roman" panose="02020603050405020304" pitchFamily="18" charset="0"/>
              </a:rPr>
              <a:t>tr</a:t>
            </a: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 and clock circuit jitter needs </a:t>
            </a: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to </a:t>
            </a: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be </a:t>
            </a: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minimized</a:t>
            </a:r>
          </a:p>
          <a:p>
            <a:pPr marL="457200" indent="-457200" algn="just">
              <a:buFont typeface="Wingdings" panose="05000000000000000000" pitchFamily="2" charset="2"/>
              <a:buChar char="q"/>
            </a:pPr>
            <a:endPar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buFont typeface="Wingdings" panose="05000000000000000000" pitchFamily="2" charset="2"/>
              <a:buChar char="q"/>
            </a:pPr>
            <a:r>
              <a:rPr lang="en-US" sz="2900" dirty="0">
                <a:solidFill>
                  <a:srgbClr val="00B050"/>
                </a:solidFill>
                <a:latin typeface="Times New Roman" panose="02020603050405020304" pitchFamily="18" charset="0"/>
                <a:cs typeface="Times New Roman" panose="02020603050405020304" pitchFamily="18" charset="0"/>
              </a:rPr>
              <a:t>ADC/DAC data rate evolution over past 20 years (rising trend</a:t>
            </a:r>
            <a:r>
              <a:rPr lang="en-US" sz="2900" dirty="0" smtClean="0">
                <a:solidFill>
                  <a:srgbClr val="00B050"/>
                </a:solidFill>
                <a:latin typeface="Times New Roman" panose="02020603050405020304" pitchFamily="18" charset="0"/>
                <a:cs typeface="Times New Roman" panose="02020603050405020304" pitchFamily="18" charset="0"/>
              </a:rPr>
              <a:t>).</a:t>
            </a:r>
          </a:p>
          <a:p>
            <a:pPr marL="457200" lvl="0" indent="-457200" algn="just">
              <a:buFont typeface="Wingdings" panose="05000000000000000000" pitchFamily="2" charset="2"/>
              <a:buChar char="q"/>
            </a:pPr>
            <a:endParaRPr lang="en-US" sz="2900" dirty="0">
              <a:solidFill>
                <a:srgbClr val="00B050"/>
              </a:solidFill>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q"/>
            </a:pPr>
            <a:r>
              <a:rPr lang="en-US" sz="2900" dirty="0" smtClean="0">
                <a:solidFill>
                  <a:srgbClr val="00B050"/>
                </a:solidFill>
                <a:latin typeface="Times New Roman" panose="02020603050405020304" pitchFamily="18" charset="0"/>
                <a:cs typeface="Times New Roman" panose="02020603050405020304" pitchFamily="18" charset="0"/>
              </a:rPr>
              <a:t>Jitter </a:t>
            </a:r>
            <a:r>
              <a:rPr lang="en-US" sz="2900" dirty="0">
                <a:solidFill>
                  <a:srgbClr val="00B050"/>
                </a:solidFill>
                <a:latin typeface="Times New Roman" panose="02020603050405020304" pitchFamily="18" charset="0"/>
                <a:cs typeface="Times New Roman" panose="02020603050405020304" pitchFamily="18" charset="0"/>
              </a:rPr>
              <a:t>vs. data rate—shows technological constraints with respect to allowable jitter at high data rates.</a:t>
            </a:r>
          </a:p>
          <a:p>
            <a:pPr marL="0" indent="0">
              <a:buNone/>
            </a:pPr>
            <a:r>
              <a:rPr lang="en-US" dirty="0" smtClean="0">
                <a:latin typeface="Calibri" panose="020F0502020204030204" pitchFamily="34" charset="0"/>
                <a:ea typeface="Calibri" panose="020F0502020204030204" pitchFamily="34" charset="0"/>
                <a:cs typeface="Times New Roman" panose="02020603050405020304" pitchFamily="18" charset="0"/>
              </a:rPr>
              <a:t> </a:t>
            </a: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FF999E1-E304-43AF-8FAF-4479D0C5ADE1}"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4</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pic>
        <p:nvPicPr>
          <p:cNvPr id="8" name="Picture 7"/>
          <p:cNvPicPr>
            <a:picLocks noChangeAspect="1"/>
          </p:cNvPicPr>
          <p:nvPr/>
        </p:nvPicPr>
        <p:blipFill>
          <a:blip r:embed="rId3"/>
          <a:stretch>
            <a:fillRect/>
          </a:stretch>
        </p:blipFill>
        <p:spPr>
          <a:xfrm>
            <a:off x="929190" y="4131212"/>
            <a:ext cx="4992642" cy="1805428"/>
          </a:xfrm>
          <a:prstGeom prst="rect">
            <a:avLst/>
          </a:prstGeom>
        </p:spPr>
      </p:pic>
      <p:sp>
        <p:nvSpPr>
          <p:cNvPr id="9" name="Rectangle 8"/>
          <p:cNvSpPr/>
          <p:nvPr/>
        </p:nvSpPr>
        <p:spPr>
          <a:xfrm>
            <a:off x="858520" y="1143000"/>
            <a:ext cx="5156200" cy="497950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6207760" y="1259841"/>
            <a:ext cx="5613400" cy="44297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21024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A6C7E8F-0F96-4C66-B324-5B92F48552BC}"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5</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7" name="Rectangle 6">
            <a:extLst>
              <a:ext uri="{FF2B5EF4-FFF2-40B4-BE49-F238E27FC236}">
                <a16:creationId xmlns:a16="http://schemas.microsoft.com/office/drawing/2014/main" id="{D249D58B-22E5-EC51-04BE-783932C826C2}"/>
              </a:ext>
            </a:extLst>
          </p:cNvPr>
          <p:cNvSpPr/>
          <p:nvPr/>
        </p:nvSpPr>
        <p:spPr>
          <a:xfrm>
            <a:off x="4096101" y="4204855"/>
            <a:ext cx="4169059" cy="1574741"/>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8" name="Rectangle 7">
            <a:extLst>
              <a:ext uri="{FF2B5EF4-FFF2-40B4-BE49-F238E27FC236}">
                <a16:creationId xmlns:a16="http://schemas.microsoft.com/office/drawing/2014/main" id="{8BE3BD82-8F90-C816-65DA-51CDA0F82D83}"/>
              </a:ext>
            </a:extLst>
          </p:cNvPr>
          <p:cNvSpPr/>
          <p:nvPr/>
        </p:nvSpPr>
        <p:spPr>
          <a:xfrm>
            <a:off x="344401" y="4216915"/>
            <a:ext cx="3454069" cy="1574741"/>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9" name="Rectangle 8">
            <a:extLst>
              <a:ext uri="{FF2B5EF4-FFF2-40B4-BE49-F238E27FC236}">
                <a16:creationId xmlns:a16="http://schemas.microsoft.com/office/drawing/2014/main" id="{A47056A3-995D-64D5-6C49-A0C7489357CC}"/>
              </a:ext>
            </a:extLst>
          </p:cNvPr>
          <p:cNvSpPr/>
          <p:nvPr/>
        </p:nvSpPr>
        <p:spPr>
          <a:xfrm>
            <a:off x="4500172" y="1651563"/>
            <a:ext cx="2714582" cy="1585407"/>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10" name="Rectangle 9">
            <a:extLst>
              <a:ext uri="{FF2B5EF4-FFF2-40B4-BE49-F238E27FC236}">
                <a16:creationId xmlns:a16="http://schemas.microsoft.com/office/drawing/2014/main" id="{B39ED4B3-506D-FEAE-41AD-AAE51D4404F4}"/>
              </a:ext>
            </a:extLst>
          </p:cNvPr>
          <p:cNvSpPr/>
          <p:nvPr/>
        </p:nvSpPr>
        <p:spPr>
          <a:xfrm>
            <a:off x="480297" y="1346390"/>
            <a:ext cx="2882552" cy="1777360"/>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grpSp>
        <p:nvGrpSpPr>
          <p:cNvPr id="12" name="Group 11">
            <a:extLst>
              <a:ext uri="{FF2B5EF4-FFF2-40B4-BE49-F238E27FC236}">
                <a16:creationId xmlns:a16="http://schemas.microsoft.com/office/drawing/2014/main" id="{D6A0728D-FD15-281B-82CA-9125DA02FC81}"/>
              </a:ext>
            </a:extLst>
          </p:cNvPr>
          <p:cNvGrpSpPr/>
          <p:nvPr/>
        </p:nvGrpSpPr>
        <p:grpSpPr>
          <a:xfrm>
            <a:off x="552908" y="1392087"/>
            <a:ext cx="3981202" cy="1577340"/>
            <a:chOff x="4182505" y="4656536"/>
            <a:chExt cx="5464266" cy="2103120"/>
          </a:xfrm>
        </p:grpSpPr>
        <p:sp>
          <p:nvSpPr>
            <p:cNvPr id="13" name="Rounded Rectangle 165">
              <a:extLst>
                <a:ext uri="{FF2B5EF4-FFF2-40B4-BE49-F238E27FC236}">
                  <a16:creationId xmlns:a16="http://schemas.microsoft.com/office/drawing/2014/main" id="{91C1B0A5-361B-7DF8-73A5-492D6E18345D}"/>
                </a:ext>
              </a:extLst>
            </p:cNvPr>
            <p:cNvSpPr/>
            <p:nvPr/>
          </p:nvSpPr>
          <p:spPr>
            <a:xfrm>
              <a:off x="4182505" y="5161033"/>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4" name="Rectangle 13">
              <a:extLst>
                <a:ext uri="{FF2B5EF4-FFF2-40B4-BE49-F238E27FC236}">
                  <a16:creationId xmlns:a16="http://schemas.microsoft.com/office/drawing/2014/main" id="{94953F01-C852-FC1F-CF38-8DBDA185FA5D}"/>
                </a:ext>
              </a:extLst>
            </p:cNvPr>
            <p:cNvSpPr/>
            <p:nvPr/>
          </p:nvSpPr>
          <p:spPr>
            <a:xfrm>
              <a:off x="4290985" y="5407951"/>
              <a:ext cx="944437" cy="677108"/>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cxnSp>
          <p:nvCxnSpPr>
            <p:cNvPr id="15" name="Straight Arrow Connector 14">
              <a:extLst>
                <a:ext uri="{FF2B5EF4-FFF2-40B4-BE49-F238E27FC236}">
                  <a16:creationId xmlns:a16="http://schemas.microsoft.com/office/drawing/2014/main" id="{B8C2A5EC-681A-3CBB-37ED-3E2F451DF343}"/>
                </a:ext>
              </a:extLst>
            </p:cNvPr>
            <p:cNvCxnSpPr/>
            <p:nvPr/>
          </p:nvCxnSpPr>
          <p:spPr>
            <a:xfrm flipH="1">
              <a:off x="5318344" y="5623808"/>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51792FFC-50EF-6FD8-F04C-17B5C5BE6511}"/>
                </a:ext>
              </a:extLst>
            </p:cNvPr>
            <p:cNvCxnSpPr/>
            <p:nvPr/>
          </p:nvCxnSpPr>
          <p:spPr>
            <a:xfrm flipV="1">
              <a:off x="5297691" y="5860695"/>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nvGrpSpPr>
            <p:cNvPr id="17" name="Group 16">
              <a:extLst>
                <a:ext uri="{FF2B5EF4-FFF2-40B4-BE49-F238E27FC236}">
                  <a16:creationId xmlns:a16="http://schemas.microsoft.com/office/drawing/2014/main" id="{CE3EEB46-705F-C514-80CF-F16134A78A0E}"/>
                </a:ext>
              </a:extLst>
            </p:cNvPr>
            <p:cNvGrpSpPr>
              <a:grpSpLocks noChangeAspect="1"/>
            </p:cNvGrpSpPr>
            <p:nvPr/>
          </p:nvGrpSpPr>
          <p:grpSpPr>
            <a:xfrm>
              <a:off x="5563768" y="4656536"/>
              <a:ext cx="3154730" cy="2103120"/>
              <a:chOff x="5578236" y="4782645"/>
              <a:chExt cx="2946033" cy="1963989"/>
            </a:xfrm>
          </p:grpSpPr>
          <p:sp>
            <p:nvSpPr>
              <p:cNvPr id="20" name="Rounded Rectangle 108">
                <a:extLst>
                  <a:ext uri="{FF2B5EF4-FFF2-40B4-BE49-F238E27FC236}">
                    <a16:creationId xmlns:a16="http://schemas.microsoft.com/office/drawing/2014/main" id="{0BFD3C26-1128-1108-9536-E8472747BA00}"/>
                  </a:ext>
                </a:extLst>
              </p:cNvPr>
              <p:cNvSpPr/>
              <p:nvPr/>
            </p:nvSpPr>
            <p:spPr>
              <a:xfrm>
                <a:off x="5578236" y="4782645"/>
                <a:ext cx="2216326" cy="1963989"/>
              </a:xfrm>
              <a:prstGeom prst="roundRect">
                <a:avLst/>
              </a:prstGeom>
              <a:solidFill>
                <a:schemeClr val="accent5">
                  <a:lumMod val="20000"/>
                  <a:lumOff val="80000"/>
                </a:schemeClr>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1" name="Group 20">
                <a:extLst>
                  <a:ext uri="{FF2B5EF4-FFF2-40B4-BE49-F238E27FC236}">
                    <a16:creationId xmlns:a16="http://schemas.microsoft.com/office/drawing/2014/main" id="{9C5D8129-EB0B-0636-62FD-FA9117E05C41}"/>
                  </a:ext>
                </a:extLst>
              </p:cNvPr>
              <p:cNvGrpSpPr>
                <a:grpSpLocks noChangeAspect="1"/>
              </p:cNvGrpSpPr>
              <p:nvPr/>
            </p:nvGrpSpPr>
            <p:grpSpPr>
              <a:xfrm>
                <a:off x="5796206" y="4842592"/>
                <a:ext cx="2301092" cy="1787064"/>
                <a:chOff x="1729851" y="3755445"/>
                <a:chExt cx="1538664" cy="1194952"/>
              </a:xfrm>
            </p:grpSpPr>
            <p:sp>
              <p:nvSpPr>
                <p:cNvPr id="31" name="Oval 30">
                  <a:extLst>
                    <a:ext uri="{FF2B5EF4-FFF2-40B4-BE49-F238E27FC236}">
                      <a16:creationId xmlns:a16="http://schemas.microsoft.com/office/drawing/2014/main" id="{C2A46325-0667-607C-A095-4ACFF361C73B}"/>
                    </a:ext>
                  </a:extLst>
                </p:cNvPr>
                <p:cNvSpPr/>
                <p:nvPr/>
              </p:nvSpPr>
              <p:spPr>
                <a:xfrm>
                  <a:off x="1844235" y="3876947"/>
                  <a:ext cx="994689" cy="951948"/>
                </a:xfrm>
                <a:prstGeom prst="ellipse">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solidFill>
                      <a:schemeClr val="tx1"/>
                    </a:solidFill>
                  </a:endParaRPr>
                </a:p>
                <a:p>
                  <a:pPr algn="ctr"/>
                  <a:r>
                    <a:rPr lang="en-US" sz="1215" b="1">
                      <a:solidFill>
                        <a:schemeClr val="tx1"/>
                      </a:solidFill>
                    </a:rPr>
                    <a:t>Ring</a:t>
                  </a:r>
                </a:p>
                <a:p>
                  <a:pPr algn="ctr"/>
                  <a:r>
                    <a:rPr lang="en-US" sz="1215" b="1">
                      <a:solidFill>
                        <a:schemeClr val="tx1"/>
                      </a:solidFill>
                    </a:rPr>
                    <a:t>Oscillator</a:t>
                  </a:r>
                  <a:r>
                    <a:rPr lang="en-US" sz="1215" b="1"/>
                    <a:t> </a:t>
                  </a:r>
                </a:p>
                <a:p>
                  <a:pPr algn="ctr"/>
                  <a:endParaRPr lang="en-US" sz="1215"/>
                </a:p>
              </p:txBody>
            </p:sp>
            <p:grpSp>
              <p:nvGrpSpPr>
                <p:cNvPr id="32" name="Group 31">
                  <a:extLst>
                    <a:ext uri="{FF2B5EF4-FFF2-40B4-BE49-F238E27FC236}">
                      <a16:creationId xmlns:a16="http://schemas.microsoft.com/office/drawing/2014/main" id="{557DF5EC-D0B2-5A62-FA20-90894226D3A5}"/>
                    </a:ext>
                  </a:extLst>
                </p:cNvPr>
                <p:cNvGrpSpPr/>
                <p:nvPr/>
              </p:nvGrpSpPr>
              <p:grpSpPr>
                <a:xfrm>
                  <a:off x="2240164" y="3755445"/>
                  <a:ext cx="235344" cy="271275"/>
                  <a:chOff x="2671336" y="3081494"/>
                  <a:chExt cx="235344" cy="274320"/>
                </a:xfrm>
              </p:grpSpPr>
              <p:sp>
                <p:nvSpPr>
                  <p:cNvPr id="50" name="Isosceles Triangle 49">
                    <a:extLst>
                      <a:ext uri="{FF2B5EF4-FFF2-40B4-BE49-F238E27FC236}">
                        <a16:creationId xmlns:a16="http://schemas.microsoft.com/office/drawing/2014/main" id="{CADE061B-A509-6B1C-0A8A-F5E55ED3E0B1}"/>
                      </a:ext>
                    </a:extLst>
                  </p:cNvPr>
                  <p:cNvSpPr/>
                  <p:nvPr/>
                </p:nvSpPr>
                <p:spPr>
                  <a:xfrm rot="5400000">
                    <a:off x="2628035" y="3124795"/>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1" name="Oval 50">
                    <a:extLst>
                      <a:ext uri="{FF2B5EF4-FFF2-40B4-BE49-F238E27FC236}">
                        <a16:creationId xmlns:a16="http://schemas.microsoft.com/office/drawing/2014/main" id="{58A73455-A1C7-2C36-D9B7-613A81FA445A}"/>
                      </a:ext>
                    </a:extLst>
                  </p:cNvPr>
                  <p:cNvSpPr/>
                  <p:nvPr/>
                </p:nvSpPr>
                <p:spPr>
                  <a:xfrm>
                    <a:off x="2860960" y="3200058"/>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sp>
              <p:nvSpPr>
                <p:cNvPr id="33" name="Isosceles Triangle 32">
                  <a:extLst>
                    <a:ext uri="{FF2B5EF4-FFF2-40B4-BE49-F238E27FC236}">
                      <a16:creationId xmlns:a16="http://schemas.microsoft.com/office/drawing/2014/main" id="{24A71B96-ADBD-443D-2DD7-87847784E0CE}"/>
                    </a:ext>
                  </a:extLst>
                </p:cNvPr>
                <p:cNvSpPr/>
                <p:nvPr/>
              </p:nvSpPr>
              <p:spPr>
                <a:xfrm rot="16200000">
                  <a:off x="2212262" y="4710006"/>
                  <a:ext cx="274320" cy="206462"/>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4" name="Arc 59">
                  <a:extLst>
                    <a:ext uri="{FF2B5EF4-FFF2-40B4-BE49-F238E27FC236}">
                      <a16:creationId xmlns:a16="http://schemas.microsoft.com/office/drawing/2014/main" id="{D14C64AF-9A76-DA7B-3CCD-24BD53A1D44B}"/>
                    </a:ext>
                  </a:extLst>
                </p:cNvPr>
                <p:cNvSpPr/>
                <p:nvPr/>
              </p:nvSpPr>
              <p:spPr>
                <a:xfrm rot="20604334">
                  <a:off x="2530380" y="3857607"/>
                  <a:ext cx="228998" cy="349205"/>
                </a:xfrm>
                <a:custGeom>
                  <a:avLst/>
                  <a:gdLst>
                    <a:gd name="connsiteX0" fmla="*/ 125773 w 251546"/>
                    <a:gd name="connsiteY0" fmla="*/ 0 h 350036"/>
                    <a:gd name="connsiteX1" fmla="*/ 251546 w 251546"/>
                    <a:gd name="connsiteY1" fmla="*/ 175018 h 350036"/>
                    <a:gd name="connsiteX2" fmla="*/ 125773 w 251546"/>
                    <a:gd name="connsiteY2" fmla="*/ 175018 h 350036"/>
                    <a:gd name="connsiteX3" fmla="*/ 125773 w 251546"/>
                    <a:gd name="connsiteY3" fmla="*/ 0 h 350036"/>
                    <a:gd name="connsiteX0" fmla="*/ 125773 w 251546"/>
                    <a:gd name="connsiteY0" fmla="*/ 0 h 350036"/>
                    <a:gd name="connsiteX1" fmla="*/ 251546 w 251546"/>
                    <a:gd name="connsiteY1" fmla="*/ 175018 h 350036"/>
                    <a:gd name="connsiteX0" fmla="*/ 7001 w 132774"/>
                    <a:gd name="connsiteY0" fmla="*/ 0 h 175018"/>
                    <a:gd name="connsiteX1" fmla="*/ 132774 w 132774"/>
                    <a:gd name="connsiteY1" fmla="*/ 175018 h 175018"/>
                    <a:gd name="connsiteX2" fmla="*/ 7001 w 132774"/>
                    <a:gd name="connsiteY2" fmla="*/ 175018 h 175018"/>
                    <a:gd name="connsiteX3" fmla="*/ 7001 w 132774"/>
                    <a:gd name="connsiteY3" fmla="*/ 0 h 175018"/>
                    <a:gd name="connsiteX0" fmla="*/ 0 w 132774"/>
                    <a:gd name="connsiteY0" fmla="*/ 1420 h 175018"/>
                    <a:gd name="connsiteX1" fmla="*/ 132774 w 132774"/>
                    <a:gd name="connsiteY1" fmla="*/ 175018 h 175018"/>
                    <a:gd name="connsiteX0" fmla="*/ 7001 w 132774"/>
                    <a:gd name="connsiteY0" fmla="*/ 0 h 181579"/>
                    <a:gd name="connsiteX1" fmla="*/ 132774 w 132774"/>
                    <a:gd name="connsiteY1" fmla="*/ 175018 h 181579"/>
                    <a:gd name="connsiteX2" fmla="*/ 7001 w 132774"/>
                    <a:gd name="connsiteY2" fmla="*/ 175018 h 181579"/>
                    <a:gd name="connsiteX3" fmla="*/ 7001 w 132774"/>
                    <a:gd name="connsiteY3" fmla="*/ 0 h 181579"/>
                    <a:gd name="connsiteX0" fmla="*/ 0 w 132774"/>
                    <a:gd name="connsiteY0" fmla="*/ 1420 h 181579"/>
                    <a:gd name="connsiteX1" fmla="*/ 124387 w 132774"/>
                    <a:gd name="connsiteY1" fmla="*/ 181579 h 181579"/>
                    <a:gd name="connsiteX0" fmla="*/ 11736 w 137509"/>
                    <a:gd name="connsiteY0" fmla="*/ 21917 h 203496"/>
                    <a:gd name="connsiteX1" fmla="*/ 137509 w 137509"/>
                    <a:gd name="connsiteY1" fmla="*/ 196935 h 203496"/>
                    <a:gd name="connsiteX2" fmla="*/ 11736 w 137509"/>
                    <a:gd name="connsiteY2" fmla="*/ 196935 h 203496"/>
                    <a:gd name="connsiteX3" fmla="*/ 11736 w 137509"/>
                    <a:gd name="connsiteY3" fmla="*/ 21917 h 203496"/>
                    <a:gd name="connsiteX0" fmla="*/ 0 w 137509"/>
                    <a:gd name="connsiteY0" fmla="*/ 0 h 203496"/>
                    <a:gd name="connsiteX1" fmla="*/ 129122 w 137509"/>
                    <a:gd name="connsiteY1" fmla="*/ 203496 h 203496"/>
                    <a:gd name="connsiteX0" fmla="*/ 11736 w 138897"/>
                    <a:gd name="connsiteY0" fmla="*/ 21917 h 196935"/>
                    <a:gd name="connsiteX1" fmla="*/ 137509 w 138897"/>
                    <a:gd name="connsiteY1" fmla="*/ 196935 h 196935"/>
                    <a:gd name="connsiteX2" fmla="*/ 11736 w 138897"/>
                    <a:gd name="connsiteY2" fmla="*/ 196935 h 196935"/>
                    <a:gd name="connsiteX3" fmla="*/ 11736 w 138897"/>
                    <a:gd name="connsiteY3" fmla="*/ 21917 h 196935"/>
                    <a:gd name="connsiteX0" fmla="*/ 0 w 138897"/>
                    <a:gd name="connsiteY0" fmla="*/ 0 h 196935"/>
                    <a:gd name="connsiteX1" fmla="*/ 138897 w 138897"/>
                    <a:gd name="connsiteY1" fmla="*/ 191793 h 196935"/>
                    <a:gd name="connsiteX0" fmla="*/ 23305 w 150466"/>
                    <a:gd name="connsiteY0" fmla="*/ 21917 h 196935"/>
                    <a:gd name="connsiteX1" fmla="*/ 149078 w 150466"/>
                    <a:gd name="connsiteY1" fmla="*/ 196935 h 196935"/>
                    <a:gd name="connsiteX2" fmla="*/ 0 w 150466"/>
                    <a:gd name="connsiteY2" fmla="*/ 175082 h 196935"/>
                    <a:gd name="connsiteX3" fmla="*/ 23305 w 150466"/>
                    <a:gd name="connsiteY3" fmla="*/ 21917 h 196935"/>
                    <a:gd name="connsiteX0" fmla="*/ 11569 w 150466"/>
                    <a:gd name="connsiteY0" fmla="*/ 0 h 196935"/>
                    <a:gd name="connsiteX1" fmla="*/ 150466 w 150466"/>
                    <a:gd name="connsiteY1" fmla="*/ 191793 h 196935"/>
                    <a:gd name="connsiteX0" fmla="*/ 37481 w 164642"/>
                    <a:gd name="connsiteY0" fmla="*/ 21917 h 196935"/>
                    <a:gd name="connsiteX1" fmla="*/ 163254 w 164642"/>
                    <a:gd name="connsiteY1" fmla="*/ 196935 h 196935"/>
                    <a:gd name="connsiteX2" fmla="*/ 0 w 164642"/>
                    <a:gd name="connsiteY2" fmla="*/ 155948 h 196935"/>
                    <a:gd name="connsiteX3" fmla="*/ 37481 w 164642"/>
                    <a:gd name="connsiteY3" fmla="*/ 21917 h 196935"/>
                    <a:gd name="connsiteX0" fmla="*/ 25745 w 164642"/>
                    <a:gd name="connsiteY0" fmla="*/ 0 h 196935"/>
                    <a:gd name="connsiteX1" fmla="*/ 164642 w 164642"/>
                    <a:gd name="connsiteY1" fmla="*/ 191793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180814 w 180814"/>
                    <a:gd name="connsiteY1" fmla="*/ 179219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50098 w 180814"/>
                    <a:gd name="connsiteY1" fmla="*/ 20709 h 196935"/>
                    <a:gd name="connsiteX2" fmla="*/ 180814 w 180814"/>
                    <a:gd name="connsiteY2" fmla="*/ 179219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50098 w 180814"/>
                    <a:gd name="connsiteY1" fmla="*/ 20709 h 196935"/>
                    <a:gd name="connsiteX2" fmla="*/ 141229 w 180814"/>
                    <a:gd name="connsiteY2" fmla="*/ 90107 h 196935"/>
                    <a:gd name="connsiteX3" fmla="*/ 180814 w 180814"/>
                    <a:gd name="connsiteY3" fmla="*/ 179219 h 196935"/>
                    <a:gd name="connsiteX0" fmla="*/ 37481 w 186738"/>
                    <a:gd name="connsiteY0" fmla="*/ 21917 h 196935"/>
                    <a:gd name="connsiteX1" fmla="*/ 163254 w 186738"/>
                    <a:gd name="connsiteY1" fmla="*/ 196935 h 196935"/>
                    <a:gd name="connsiteX2" fmla="*/ 0 w 186738"/>
                    <a:gd name="connsiteY2" fmla="*/ 155948 h 196935"/>
                    <a:gd name="connsiteX3" fmla="*/ 37481 w 186738"/>
                    <a:gd name="connsiteY3" fmla="*/ 21917 h 196935"/>
                    <a:gd name="connsiteX0" fmla="*/ 25745 w 186738"/>
                    <a:gd name="connsiteY0" fmla="*/ 0 h 196935"/>
                    <a:gd name="connsiteX1" fmla="*/ 50098 w 186738"/>
                    <a:gd name="connsiteY1" fmla="*/ 20709 h 196935"/>
                    <a:gd name="connsiteX2" fmla="*/ 141229 w 186738"/>
                    <a:gd name="connsiteY2" fmla="*/ 90107 h 196935"/>
                    <a:gd name="connsiteX3" fmla="*/ 186738 w 186738"/>
                    <a:gd name="connsiteY3" fmla="*/ 176015 h 196935"/>
                    <a:gd name="connsiteX0" fmla="*/ 37481 w 186738"/>
                    <a:gd name="connsiteY0" fmla="*/ 21917 h 196935"/>
                    <a:gd name="connsiteX1" fmla="*/ 163254 w 186738"/>
                    <a:gd name="connsiteY1" fmla="*/ 196935 h 196935"/>
                    <a:gd name="connsiteX2" fmla="*/ 0 w 186738"/>
                    <a:gd name="connsiteY2" fmla="*/ 155948 h 196935"/>
                    <a:gd name="connsiteX3" fmla="*/ 37481 w 186738"/>
                    <a:gd name="connsiteY3" fmla="*/ 21917 h 196935"/>
                    <a:gd name="connsiteX0" fmla="*/ 25745 w 186738"/>
                    <a:gd name="connsiteY0" fmla="*/ 0 h 196935"/>
                    <a:gd name="connsiteX1" fmla="*/ 50098 w 186738"/>
                    <a:gd name="connsiteY1" fmla="*/ 20709 h 196935"/>
                    <a:gd name="connsiteX2" fmla="*/ 133023 w 186738"/>
                    <a:gd name="connsiteY2" fmla="*/ 92631 h 196935"/>
                    <a:gd name="connsiteX3" fmla="*/ 186738 w 186738"/>
                    <a:gd name="connsiteY3" fmla="*/ 176015 h 196935"/>
                    <a:gd name="connsiteX0" fmla="*/ 37481 w 330659"/>
                    <a:gd name="connsiteY0" fmla="*/ 21917 h 427415"/>
                    <a:gd name="connsiteX1" fmla="*/ 163254 w 330659"/>
                    <a:gd name="connsiteY1" fmla="*/ 196935 h 427415"/>
                    <a:gd name="connsiteX2" fmla="*/ 0 w 330659"/>
                    <a:gd name="connsiteY2" fmla="*/ 155948 h 427415"/>
                    <a:gd name="connsiteX3" fmla="*/ 37481 w 330659"/>
                    <a:gd name="connsiteY3"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30659"/>
                    <a:gd name="connsiteY0" fmla="*/ 21917 h 427415"/>
                    <a:gd name="connsiteX1" fmla="*/ 67347 w 330659"/>
                    <a:gd name="connsiteY1" fmla="*/ 308309 h 427415"/>
                    <a:gd name="connsiteX2" fmla="*/ 0 w 330659"/>
                    <a:gd name="connsiteY2" fmla="*/ 155948 h 427415"/>
                    <a:gd name="connsiteX3" fmla="*/ 37481 w 330659"/>
                    <a:gd name="connsiteY3"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30659"/>
                    <a:gd name="connsiteY0" fmla="*/ 21917 h 427415"/>
                    <a:gd name="connsiteX1" fmla="*/ 0 w 330659"/>
                    <a:gd name="connsiteY1" fmla="*/ 155948 h 427415"/>
                    <a:gd name="connsiteX2" fmla="*/ 37481 w 330659"/>
                    <a:gd name="connsiteY2"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5" fmla="*/ 262569 w 362746"/>
                    <a:gd name="connsiteY5" fmla="*/ 258039 h 586180"/>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352628 w 352628"/>
                    <a:gd name="connsiteY3" fmla="*/ 576872 h 576872"/>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258544 w 352628"/>
                    <a:gd name="connsiteY3" fmla="*/ 262797 h 576872"/>
                    <a:gd name="connsiteX4" fmla="*/ 352628 w 352628"/>
                    <a:gd name="connsiteY4" fmla="*/ 576872 h 576872"/>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254517 w 352628"/>
                    <a:gd name="connsiteY3" fmla="*/ 267554 h 576872"/>
                    <a:gd name="connsiteX4" fmla="*/ 352628 w 352628"/>
                    <a:gd name="connsiteY4" fmla="*/ 576872 h 576872"/>
                    <a:gd name="connsiteX0" fmla="*/ 37481 w 371796"/>
                    <a:gd name="connsiteY0" fmla="*/ 21917 h 577111"/>
                    <a:gd name="connsiteX1" fmla="*/ 0 w 371796"/>
                    <a:gd name="connsiteY1" fmla="*/ 155948 h 577111"/>
                    <a:gd name="connsiteX2" fmla="*/ 37481 w 371796"/>
                    <a:gd name="connsiteY2" fmla="*/ 21917 h 577111"/>
                    <a:gd name="connsiteX0" fmla="*/ 25745 w 371796"/>
                    <a:gd name="connsiteY0" fmla="*/ 0 h 577111"/>
                    <a:gd name="connsiteX1" fmla="*/ 50098 w 371796"/>
                    <a:gd name="connsiteY1" fmla="*/ 20709 h 577111"/>
                    <a:gd name="connsiteX2" fmla="*/ 133023 w 371796"/>
                    <a:gd name="connsiteY2" fmla="*/ 92631 h 577111"/>
                    <a:gd name="connsiteX3" fmla="*/ 254517 w 371796"/>
                    <a:gd name="connsiteY3" fmla="*/ 267554 h 577111"/>
                    <a:gd name="connsiteX4" fmla="*/ 371797 w 371796"/>
                    <a:gd name="connsiteY4" fmla="*/ 577111 h 577111"/>
                    <a:gd name="connsiteX0" fmla="*/ 37481 w 371797"/>
                    <a:gd name="connsiteY0" fmla="*/ 21917 h 577111"/>
                    <a:gd name="connsiteX1" fmla="*/ 0 w 371797"/>
                    <a:gd name="connsiteY1" fmla="*/ 155948 h 577111"/>
                    <a:gd name="connsiteX2" fmla="*/ 37481 w 371797"/>
                    <a:gd name="connsiteY2" fmla="*/ 21917 h 577111"/>
                    <a:gd name="connsiteX0" fmla="*/ 25745 w 371797"/>
                    <a:gd name="connsiteY0" fmla="*/ 0 h 577111"/>
                    <a:gd name="connsiteX1" fmla="*/ 50098 w 371797"/>
                    <a:gd name="connsiteY1" fmla="*/ 20709 h 577111"/>
                    <a:gd name="connsiteX2" fmla="*/ 133023 w 371797"/>
                    <a:gd name="connsiteY2" fmla="*/ 92631 h 577111"/>
                    <a:gd name="connsiteX3" fmla="*/ 254517 w 371797"/>
                    <a:gd name="connsiteY3" fmla="*/ 267554 h 577111"/>
                    <a:gd name="connsiteX4" fmla="*/ 286134 w 371797"/>
                    <a:gd name="connsiteY4" fmla="*/ 323640 h 577111"/>
                    <a:gd name="connsiteX5" fmla="*/ 371797 w 371797"/>
                    <a:gd name="connsiteY5" fmla="*/ 577111 h 577111"/>
                    <a:gd name="connsiteX0" fmla="*/ 45075 w 379391"/>
                    <a:gd name="connsiteY0" fmla="*/ 51180 h 606374"/>
                    <a:gd name="connsiteX1" fmla="*/ 7594 w 379391"/>
                    <a:gd name="connsiteY1" fmla="*/ 185211 h 606374"/>
                    <a:gd name="connsiteX2" fmla="*/ 45075 w 379391"/>
                    <a:gd name="connsiteY2" fmla="*/ 51180 h 606374"/>
                    <a:gd name="connsiteX0" fmla="*/ 0 w 379391"/>
                    <a:gd name="connsiteY0" fmla="*/ 0 h 606374"/>
                    <a:gd name="connsiteX1" fmla="*/ 57692 w 379391"/>
                    <a:gd name="connsiteY1" fmla="*/ 49972 h 606374"/>
                    <a:gd name="connsiteX2" fmla="*/ 140617 w 379391"/>
                    <a:gd name="connsiteY2" fmla="*/ 121894 h 606374"/>
                    <a:gd name="connsiteX3" fmla="*/ 262111 w 379391"/>
                    <a:gd name="connsiteY3" fmla="*/ 296817 h 606374"/>
                    <a:gd name="connsiteX4" fmla="*/ 293728 w 379391"/>
                    <a:gd name="connsiteY4" fmla="*/ 352903 h 606374"/>
                    <a:gd name="connsiteX5" fmla="*/ 379391 w 379391"/>
                    <a:gd name="connsiteY5" fmla="*/ 606374 h 606374"/>
                    <a:gd name="connsiteX0" fmla="*/ 45075 w 378690"/>
                    <a:gd name="connsiteY0" fmla="*/ 51180 h 639619"/>
                    <a:gd name="connsiteX1" fmla="*/ 7594 w 378690"/>
                    <a:gd name="connsiteY1" fmla="*/ 185211 h 639619"/>
                    <a:gd name="connsiteX2" fmla="*/ 45075 w 378690"/>
                    <a:gd name="connsiteY2" fmla="*/ 51180 h 639619"/>
                    <a:gd name="connsiteX0" fmla="*/ 0 w 378690"/>
                    <a:gd name="connsiteY0" fmla="*/ 0 h 639619"/>
                    <a:gd name="connsiteX1" fmla="*/ 57692 w 378690"/>
                    <a:gd name="connsiteY1" fmla="*/ 49972 h 639619"/>
                    <a:gd name="connsiteX2" fmla="*/ 140617 w 378690"/>
                    <a:gd name="connsiteY2" fmla="*/ 121894 h 639619"/>
                    <a:gd name="connsiteX3" fmla="*/ 262111 w 378690"/>
                    <a:gd name="connsiteY3" fmla="*/ 296817 h 639619"/>
                    <a:gd name="connsiteX4" fmla="*/ 293728 w 378690"/>
                    <a:gd name="connsiteY4" fmla="*/ 352903 h 639619"/>
                    <a:gd name="connsiteX5" fmla="*/ 378690 w 378690"/>
                    <a:gd name="connsiteY5" fmla="*/ 639619 h 63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690" h="639619" stroke="0" extrusionOk="0">
                      <a:moveTo>
                        <a:pt x="45075" y="51180"/>
                      </a:moveTo>
                      <a:lnTo>
                        <a:pt x="7594" y="185211"/>
                      </a:lnTo>
                      <a:cubicBezTo>
                        <a:pt x="7594" y="126872"/>
                        <a:pt x="45075" y="109519"/>
                        <a:pt x="45075" y="51180"/>
                      </a:cubicBezTo>
                      <a:close/>
                    </a:path>
                    <a:path w="378690" h="639619" fill="none">
                      <a:moveTo>
                        <a:pt x="0" y="0"/>
                      </a:moveTo>
                      <a:cubicBezTo>
                        <a:pt x="8809" y="2797"/>
                        <a:pt x="46681" y="46476"/>
                        <a:pt x="57692" y="49972"/>
                      </a:cubicBezTo>
                      <a:cubicBezTo>
                        <a:pt x="78914" y="63922"/>
                        <a:pt x="118831" y="95476"/>
                        <a:pt x="140617" y="121894"/>
                      </a:cubicBezTo>
                      <a:cubicBezTo>
                        <a:pt x="169899" y="165512"/>
                        <a:pt x="225510" y="216110"/>
                        <a:pt x="262111" y="296817"/>
                      </a:cubicBezTo>
                      <a:cubicBezTo>
                        <a:pt x="285276" y="335556"/>
                        <a:pt x="274181" y="301310"/>
                        <a:pt x="293728" y="352903"/>
                      </a:cubicBezTo>
                      <a:cubicBezTo>
                        <a:pt x="313275" y="404496"/>
                        <a:pt x="362059" y="597611"/>
                        <a:pt x="378690" y="639619"/>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35" name="Group 34">
                  <a:extLst>
                    <a:ext uri="{FF2B5EF4-FFF2-40B4-BE49-F238E27FC236}">
                      <a16:creationId xmlns:a16="http://schemas.microsoft.com/office/drawing/2014/main" id="{477F0E85-4285-749A-3898-B4F455CC14E3}"/>
                    </a:ext>
                  </a:extLst>
                </p:cNvPr>
                <p:cNvGrpSpPr/>
                <p:nvPr/>
              </p:nvGrpSpPr>
              <p:grpSpPr>
                <a:xfrm rot="5690535">
                  <a:off x="2696103" y="4200375"/>
                  <a:ext cx="264600" cy="274320"/>
                  <a:chOff x="2629879" y="3095672"/>
                  <a:chExt cx="240577" cy="274320"/>
                </a:xfrm>
              </p:grpSpPr>
              <p:sp>
                <p:nvSpPr>
                  <p:cNvPr id="48" name="Isosceles Triangle 47">
                    <a:extLst>
                      <a:ext uri="{FF2B5EF4-FFF2-40B4-BE49-F238E27FC236}">
                        <a16:creationId xmlns:a16="http://schemas.microsoft.com/office/drawing/2014/main" id="{EF63F746-7165-FBA1-475E-AC98FD376EFC}"/>
                      </a:ext>
                    </a:extLst>
                  </p:cNvPr>
                  <p:cNvSpPr/>
                  <p:nvPr/>
                </p:nvSpPr>
                <p:spPr>
                  <a:xfrm rot="5109465">
                    <a:off x="2586578" y="3138973"/>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9" name="Oval 48">
                    <a:extLst>
                      <a:ext uri="{FF2B5EF4-FFF2-40B4-BE49-F238E27FC236}">
                        <a16:creationId xmlns:a16="http://schemas.microsoft.com/office/drawing/2014/main" id="{7C71723C-64A0-F469-11BE-43AF9E6F20F2}"/>
                      </a:ext>
                    </a:extLst>
                  </p:cNvPr>
                  <p:cNvSpPr/>
                  <p:nvPr/>
                </p:nvSpPr>
                <p:spPr>
                  <a:xfrm>
                    <a:off x="2824736" y="3204111"/>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grpSp>
              <p:nvGrpSpPr>
                <p:cNvPr id="36" name="Group 35">
                  <a:extLst>
                    <a:ext uri="{FF2B5EF4-FFF2-40B4-BE49-F238E27FC236}">
                      <a16:creationId xmlns:a16="http://schemas.microsoft.com/office/drawing/2014/main" id="{0B33F04E-75CB-2606-14BA-79AAAB7DD0A2}"/>
                    </a:ext>
                  </a:extLst>
                </p:cNvPr>
                <p:cNvGrpSpPr/>
                <p:nvPr/>
              </p:nvGrpSpPr>
              <p:grpSpPr>
                <a:xfrm rot="15736595">
                  <a:off x="1737589" y="4216586"/>
                  <a:ext cx="258844" cy="274320"/>
                  <a:chOff x="2671336" y="3081494"/>
                  <a:chExt cx="235344" cy="274320"/>
                </a:xfrm>
              </p:grpSpPr>
              <p:sp>
                <p:nvSpPr>
                  <p:cNvPr id="46" name="Isosceles Triangle 45">
                    <a:extLst>
                      <a:ext uri="{FF2B5EF4-FFF2-40B4-BE49-F238E27FC236}">
                        <a16:creationId xmlns:a16="http://schemas.microsoft.com/office/drawing/2014/main" id="{9F1AD671-9742-ADCE-2273-178FA8CFE8F3}"/>
                      </a:ext>
                    </a:extLst>
                  </p:cNvPr>
                  <p:cNvSpPr/>
                  <p:nvPr/>
                </p:nvSpPr>
                <p:spPr>
                  <a:xfrm rot="5400000">
                    <a:off x="2628035" y="3124795"/>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7" name="Oval 46">
                    <a:extLst>
                      <a:ext uri="{FF2B5EF4-FFF2-40B4-BE49-F238E27FC236}">
                        <a16:creationId xmlns:a16="http://schemas.microsoft.com/office/drawing/2014/main" id="{EA58D7B2-AD48-3DEA-A441-F03530D7E8C3}"/>
                      </a:ext>
                    </a:extLst>
                  </p:cNvPr>
                  <p:cNvSpPr/>
                  <p:nvPr/>
                </p:nvSpPr>
                <p:spPr>
                  <a:xfrm>
                    <a:off x="2860960" y="3200058"/>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cxnSp>
              <p:nvCxnSpPr>
                <p:cNvPr id="37" name="Straight Arrow Connector 36">
                  <a:extLst>
                    <a:ext uri="{FF2B5EF4-FFF2-40B4-BE49-F238E27FC236}">
                      <a16:creationId xmlns:a16="http://schemas.microsoft.com/office/drawing/2014/main" id="{81092F3A-DA81-1635-2573-CDB7A00953DF}"/>
                    </a:ext>
                  </a:extLst>
                </p:cNvPr>
                <p:cNvCxnSpPr/>
                <p:nvPr/>
              </p:nvCxnSpPr>
              <p:spPr>
                <a:xfrm flipH="1">
                  <a:off x="3067992" y="3986489"/>
                  <a:ext cx="200523"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87F0215A-C3BE-7FAA-129A-671B2D1FF548}"/>
                    </a:ext>
                  </a:extLst>
                </p:cNvPr>
                <p:cNvCxnSpPr/>
                <p:nvPr/>
              </p:nvCxnSpPr>
              <p:spPr>
                <a:xfrm flipH="1">
                  <a:off x="2698883" y="3913822"/>
                  <a:ext cx="115256" cy="94002"/>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9A3E0D02-8393-E063-BDA7-CE4C8EA90BA2}"/>
                    </a:ext>
                  </a:extLst>
                </p:cNvPr>
                <p:cNvCxnSpPr/>
                <p:nvPr/>
              </p:nvCxnSpPr>
              <p:spPr>
                <a:xfrm flipH="1" flipV="1">
                  <a:off x="2761760" y="4619084"/>
                  <a:ext cx="138254" cy="79454"/>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43AD9C40-2814-6B6E-EABB-92FE668FC7BE}"/>
                    </a:ext>
                  </a:extLst>
                </p:cNvPr>
                <p:cNvCxnSpPr/>
                <p:nvPr/>
              </p:nvCxnSpPr>
              <p:spPr>
                <a:xfrm flipV="1">
                  <a:off x="1870531" y="4693584"/>
                  <a:ext cx="128192" cy="13531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5A0727D9-0835-CE03-56EB-189271631E4A}"/>
                    </a:ext>
                  </a:extLst>
                </p:cNvPr>
                <p:cNvCxnSpPr/>
                <p:nvPr/>
              </p:nvCxnSpPr>
              <p:spPr>
                <a:xfrm>
                  <a:off x="1816746" y="3895299"/>
                  <a:ext cx="181637" cy="116814"/>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42" name="Oval 41">
                  <a:extLst>
                    <a:ext uri="{FF2B5EF4-FFF2-40B4-BE49-F238E27FC236}">
                      <a16:creationId xmlns:a16="http://schemas.microsoft.com/office/drawing/2014/main" id="{6E5B9212-4CF4-9684-56F5-8E3954B9C8EC}"/>
                    </a:ext>
                  </a:extLst>
                </p:cNvPr>
                <p:cNvSpPr/>
                <p:nvPr/>
              </p:nvSpPr>
              <p:spPr>
                <a:xfrm>
                  <a:off x="2665155" y="3986489"/>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3" name="Oval 42">
                  <a:extLst>
                    <a:ext uri="{FF2B5EF4-FFF2-40B4-BE49-F238E27FC236}">
                      <a16:creationId xmlns:a16="http://schemas.microsoft.com/office/drawing/2014/main" id="{B4808A9C-9289-93F0-53DE-94A5DB11D691}"/>
                    </a:ext>
                  </a:extLst>
                </p:cNvPr>
                <p:cNvSpPr/>
                <p:nvPr/>
              </p:nvSpPr>
              <p:spPr>
                <a:xfrm>
                  <a:off x="2725653" y="4590837"/>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4" name="Oval 43">
                  <a:extLst>
                    <a:ext uri="{FF2B5EF4-FFF2-40B4-BE49-F238E27FC236}">
                      <a16:creationId xmlns:a16="http://schemas.microsoft.com/office/drawing/2014/main" id="{1F142A6B-BA1E-9C9F-394D-C0E0B56B9B9A}"/>
                    </a:ext>
                  </a:extLst>
                </p:cNvPr>
                <p:cNvSpPr/>
                <p:nvPr/>
              </p:nvSpPr>
              <p:spPr>
                <a:xfrm>
                  <a:off x="1970350" y="4675476"/>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5" name="Oval 44">
                  <a:extLst>
                    <a:ext uri="{FF2B5EF4-FFF2-40B4-BE49-F238E27FC236}">
                      <a16:creationId xmlns:a16="http://schemas.microsoft.com/office/drawing/2014/main" id="{B508288F-BCD3-5202-E522-0783A6A58930}"/>
                    </a:ext>
                  </a:extLst>
                </p:cNvPr>
                <p:cNvSpPr/>
                <p:nvPr/>
              </p:nvSpPr>
              <p:spPr>
                <a:xfrm>
                  <a:off x="1975523" y="3993110"/>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sp>
            <p:nvSpPr>
              <p:cNvPr id="22" name="Oval 21">
                <a:extLst>
                  <a:ext uri="{FF2B5EF4-FFF2-40B4-BE49-F238E27FC236}">
                    <a16:creationId xmlns:a16="http://schemas.microsoft.com/office/drawing/2014/main" id="{0CD0FEED-41B7-5848-CF9B-D8FB7FFA09D3}"/>
                  </a:ext>
                </a:extLst>
              </p:cNvPr>
              <p:cNvSpPr/>
              <p:nvPr/>
            </p:nvSpPr>
            <p:spPr>
              <a:xfrm rot="15736595">
                <a:off x="6498771" y="6398007"/>
                <a:ext cx="75203" cy="68375"/>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cxnSp>
            <p:nvCxnSpPr>
              <p:cNvPr id="23" name="Straight Arrow Connector 22">
                <a:extLst>
                  <a:ext uri="{FF2B5EF4-FFF2-40B4-BE49-F238E27FC236}">
                    <a16:creationId xmlns:a16="http://schemas.microsoft.com/office/drawing/2014/main" id="{15AEC058-6C79-C8C9-67B9-DA745A3481D8}"/>
                  </a:ext>
                </a:extLst>
              </p:cNvPr>
              <p:cNvCxnSpPr/>
              <p:nvPr/>
            </p:nvCxnSpPr>
            <p:spPr>
              <a:xfrm flipH="1">
                <a:off x="7797411" y="5432221"/>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284C8B30-2B6F-3ABD-5127-8EC19F894582}"/>
                  </a:ext>
                </a:extLst>
              </p:cNvPr>
              <p:cNvCxnSpPr/>
              <p:nvPr/>
            </p:nvCxnSpPr>
            <p:spPr>
              <a:xfrm flipH="1">
                <a:off x="7794556" y="5644756"/>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DED05F6B-543B-F9C7-F706-E1033FA4BE39}"/>
                  </a:ext>
                </a:extLst>
              </p:cNvPr>
              <p:cNvCxnSpPr/>
              <p:nvPr/>
            </p:nvCxnSpPr>
            <p:spPr>
              <a:xfrm flipH="1">
                <a:off x="7794560" y="6164229"/>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1237351E-64CA-24D3-969B-FB9BFB023CC8}"/>
                  </a:ext>
                </a:extLst>
              </p:cNvPr>
              <p:cNvCxnSpPr/>
              <p:nvPr/>
            </p:nvCxnSpPr>
            <p:spPr>
              <a:xfrm>
                <a:off x="7942479" y="5700477"/>
                <a:ext cx="0" cy="418523"/>
              </a:xfrm>
              <a:prstGeom prst="straightConnector1">
                <a:avLst/>
              </a:prstGeom>
              <a:ln w="2540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7214E63E-76EE-5E68-1424-539AC4DB6A64}"/>
                      </a:ext>
                    </a:extLst>
                  </p:cNvPr>
                  <p:cNvSpPr/>
                  <p:nvPr/>
                </p:nvSpPr>
                <p:spPr>
                  <a:xfrm>
                    <a:off x="8079253" y="5033170"/>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21" name="Rectangle 20">
                    <a:extLst>
                      <a:ext uri="{FF2B5EF4-FFF2-40B4-BE49-F238E27FC236}">
                        <a16:creationId xmlns:a16="http://schemas.microsoft.com/office/drawing/2014/main" id="{7214E63E-76EE-5E68-1424-539AC4DB6A64}"/>
                      </a:ext>
                    </a:extLst>
                  </p:cNvPr>
                  <p:cNvSpPr>
                    <a:spLocks noRot="1" noChangeAspect="1" noMove="1" noResize="1" noEditPoints="1" noAdjustHandles="1" noChangeArrowheads="1" noChangeShapeType="1" noTextEdit="1"/>
                  </p:cNvSpPr>
                  <p:nvPr/>
                </p:nvSpPr>
                <p:spPr>
                  <a:xfrm>
                    <a:off x="8079253" y="5033170"/>
                    <a:ext cx="429822" cy="28741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967C1893-9A2F-DB39-73F0-C92A6F52F123}"/>
                      </a:ext>
                    </a:extLst>
                  </p:cNvPr>
                  <p:cNvSpPr/>
                  <p:nvPr/>
                </p:nvSpPr>
                <p:spPr>
                  <a:xfrm>
                    <a:off x="8094447" y="5289198"/>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22" name="Rectangle 21">
                    <a:extLst>
                      <a:ext uri="{FF2B5EF4-FFF2-40B4-BE49-F238E27FC236}">
                        <a16:creationId xmlns:a16="http://schemas.microsoft.com/office/drawing/2014/main" id="{967C1893-9A2F-DB39-73F0-C92A6F52F123}"/>
                      </a:ext>
                    </a:extLst>
                  </p:cNvPr>
                  <p:cNvSpPr>
                    <a:spLocks noRot="1" noChangeAspect="1" noMove="1" noResize="1" noEditPoints="1" noAdjustHandles="1" noChangeArrowheads="1" noChangeShapeType="1" noTextEdit="1"/>
                  </p:cNvSpPr>
                  <p:nvPr/>
                </p:nvSpPr>
                <p:spPr>
                  <a:xfrm>
                    <a:off x="8094447" y="5289198"/>
                    <a:ext cx="429822" cy="28741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3E7FDE08-9B4E-7F49-21F6-FB0C64CD9FB1}"/>
                      </a:ext>
                    </a:extLst>
                  </p:cNvPr>
                  <p:cNvSpPr/>
                  <p:nvPr/>
                </p:nvSpPr>
                <p:spPr>
                  <a:xfrm>
                    <a:off x="8089173" y="5523004"/>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23" name="Rectangle 22">
                    <a:extLst>
                      <a:ext uri="{FF2B5EF4-FFF2-40B4-BE49-F238E27FC236}">
                        <a16:creationId xmlns:a16="http://schemas.microsoft.com/office/drawing/2014/main" id="{3E7FDE08-9B4E-7F49-21F6-FB0C64CD9FB1}"/>
                      </a:ext>
                    </a:extLst>
                  </p:cNvPr>
                  <p:cNvSpPr>
                    <a:spLocks noRot="1" noChangeAspect="1" noMove="1" noResize="1" noEditPoints="1" noAdjustHandles="1" noChangeArrowheads="1" noChangeShapeType="1" noTextEdit="1"/>
                  </p:cNvSpPr>
                  <p:nvPr/>
                </p:nvSpPr>
                <p:spPr>
                  <a:xfrm>
                    <a:off x="8089173" y="5523004"/>
                    <a:ext cx="429822" cy="28741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F294D3F6-91AE-4009-D12C-2CE69E5C0679}"/>
                      </a:ext>
                    </a:extLst>
                  </p:cNvPr>
                  <p:cNvSpPr/>
                  <p:nvPr/>
                </p:nvSpPr>
                <p:spPr>
                  <a:xfrm>
                    <a:off x="8042907" y="6011095"/>
                    <a:ext cx="444205"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24" name="Rectangle 23">
                    <a:extLst>
                      <a:ext uri="{FF2B5EF4-FFF2-40B4-BE49-F238E27FC236}">
                        <a16:creationId xmlns:a16="http://schemas.microsoft.com/office/drawing/2014/main" id="{F294D3F6-91AE-4009-D12C-2CE69E5C0679}"/>
                      </a:ext>
                    </a:extLst>
                  </p:cNvPr>
                  <p:cNvSpPr>
                    <a:spLocks noRot="1" noChangeAspect="1" noMove="1" noResize="1" noEditPoints="1" noAdjustHandles="1" noChangeArrowheads="1" noChangeShapeType="1" noTextEdit="1"/>
                  </p:cNvSpPr>
                  <p:nvPr/>
                </p:nvSpPr>
                <p:spPr>
                  <a:xfrm>
                    <a:off x="8042907" y="6011095"/>
                    <a:ext cx="444205" cy="287415"/>
                  </a:xfrm>
                  <a:prstGeom prst="rect">
                    <a:avLst/>
                  </a:prstGeom>
                  <a:blipFill>
                    <a:blip r:embed="rId6"/>
                    <a:stretch>
                      <a:fillRect/>
                    </a:stretch>
                  </a:blipFill>
                </p:spPr>
                <p:txBody>
                  <a:bodyPr/>
                  <a:lstStyle/>
                  <a:p>
                    <a:r>
                      <a:rPr lang="en-US">
                        <a:noFill/>
                      </a:rPr>
                      <a:t> </a:t>
                    </a:r>
                  </a:p>
                </p:txBody>
              </p:sp>
            </mc:Fallback>
          </mc:AlternateContent>
        </p:grpSp>
        <p:sp>
          <p:nvSpPr>
            <p:cNvPr id="18" name="Right Brace 278">
              <a:extLst>
                <a:ext uri="{FF2B5EF4-FFF2-40B4-BE49-F238E27FC236}">
                  <a16:creationId xmlns:a16="http://schemas.microsoft.com/office/drawing/2014/main" id="{3B144041-8367-9860-411C-9B5FA81F8376}"/>
                </a:ext>
              </a:extLst>
            </p:cNvPr>
            <p:cNvSpPr/>
            <p:nvPr/>
          </p:nvSpPr>
          <p:spPr>
            <a:xfrm>
              <a:off x="8495006" y="5075892"/>
              <a:ext cx="353468" cy="1062652"/>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9" name="Rectangle 18">
              <a:extLst>
                <a:ext uri="{FF2B5EF4-FFF2-40B4-BE49-F238E27FC236}">
                  <a16:creationId xmlns:a16="http://schemas.microsoft.com/office/drawing/2014/main" id="{21C2401C-4DA3-CADD-40C3-404AB69EF735}"/>
                </a:ext>
              </a:extLst>
            </p:cNvPr>
            <p:cNvSpPr/>
            <p:nvPr/>
          </p:nvSpPr>
          <p:spPr>
            <a:xfrm>
              <a:off x="8684865" y="5246541"/>
              <a:ext cx="961906" cy="677108"/>
            </a:xfrm>
            <a:prstGeom prst="rect">
              <a:avLst/>
            </a:prstGeom>
          </p:spPr>
          <p:txBody>
            <a:bodyPr wrap="none">
              <a:spAutoFit/>
            </a:bodyPr>
            <a:lstStyle/>
            <a:p>
              <a:pPr algn="ctr"/>
              <a:r>
                <a:rPr lang="en-US" sz="900" b="1">
                  <a:solidFill>
                    <a:srgbClr val="000099"/>
                  </a:solidFill>
                </a:rPr>
                <a:t>Multi </a:t>
              </a:r>
            </a:p>
            <a:p>
              <a:pPr algn="ctr"/>
              <a:r>
                <a:rPr lang="en-US" sz="900" b="1">
                  <a:solidFill>
                    <a:srgbClr val="000099"/>
                  </a:solidFill>
                </a:rPr>
                <a:t>Phase </a:t>
              </a:r>
            </a:p>
            <a:p>
              <a:pPr algn="ctr"/>
              <a:r>
                <a:rPr lang="en-US" sz="900" b="1">
                  <a:solidFill>
                    <a:srgbClr val="000099"/>
                  </a:solidFill>
                </a:rPr>
                <a:t>LO/Clock</a:t>
              </a:r>
            </a:p>
          </p:txBody>
        </p:sp>
      </p:grpSp>
      <p:sp>
        <p:nvSpPr>
          <p:cNvPr id="52" name="Rectangle 51">
            <a:extLst>
              <a:ext uri="{FF2B5EF4-FFF2-40B4-BE49-F238E27FC236}">
                <a16:creationId xmlns:a16="http://schemas.microsoft.com/office/drawing/2014/main" id="{E8A6FB8A-A47E-AA09-05EC-2622939BBF4E}"/>
              </a:ext>
            </a:extLst>
          </p:cNvPr>
          <p:cNvSpPr/>
          <p:nvPr/>
        </p:nvSpPr>
        <p:spPr>
          <a:xfrm>
            <a:off x="302220" y="3227901"/>
            <a:ext cx="3150593" cy="461665"/>
          </a:xfrm>
          <a:prstGeom prst="rect">
            <a:avLst/>
          </a:prstGeom>
        </p:spPr>
        <p:txBody>
          <a:bodyPr wrap="square">
            <a:spAutoFit/>
          </a:bodyPr>
          <a:lstStyle/>
          <a:p>
            <a:pPr algn="ctr"/>
            <a:r>
              <a:rPr lang="en-US" sz="1200" b="1" dirty="0">
                <a:solidFill>
                  <a:srgbClr val="002060"/>
                </a:solidFill>
              </a:rPr>
              <a:t>(a) </a:t>
            </a:r>
            <a:r>
              <a:rPr lang="en-US" sz="1200" u="sng" dirty="0">
                <a:solidFill>
                  <a:srgbClr val="002060"/>
                </a:solidFill>
              </a:rPr>
              <a:t>Multiphase LO/clock generation methods using Ring with inverters</a:t>
            </a:r>
            <a:endParaRPr lang="en-IN" sz="1200" u="sng" dirty="0">
              <a:solidFill>
                <a:srgbClr val="002060"/>
              </a:solidFill>
            </a:endParaRPr>
          </a:p>
        </p:txBody>
      </p:sp>
      <p:grpSp>
        <p:nvGrpSpPr>
          <p:cNvPr id="53" name="Group 52">
            <a:extLst>
              <a:ext uri="{FF2B5EF4-FFF2-40B4-BE49-F238E27FC236}">
                <a16:creationId xmlns:a16="http://schemas.microsoft.com/office/drawing/2014/main" id="{3C5147B0-3D04-89C8-8DB8-F719A1DAB61A}"/>
              </a:ext>
            </a:extLst>
          </p:cNvPr>
          <p:cNvGrpSpPr/>
          <p:nvPr/>
        </p:nvGrpSpPr>
        <p:grpSpPr>
          <a:xfrm>
            <a:off x="4575148" y="1666239"/>
            <a:ext cx="3786532" cy="1441647"/>
            <a:chOff x="637466" y="1585609"/>
            <a:chExt cx="5500551" cy="2262491"/>
          </a:xfrm>
        </p:grpSpPr>
        <p:sp>
          <p:nvSpPr>
            <p:cNvPr id="54" name="Rounded Rectangle 268">
              <a:extLst>
                <a:ext uri="{FF2B5EF4-FFF2-40B4-BE49-F238E27FC236}">
                  <a16:creationId xmlns:a16="http://schemas.microsoft.com/office/drawing/2014/main" id="{1174C3DF-8057-A11F-2691-00FA8A8FF3A5}"/>
                </a:ext>
              </a:extLst>
            </p:cNvPr>
            <p:cNvSpPr/>
            <p:nvPr/>
          </p:nvSpPr>
          <p:spPr>
            <a:xfrm>
              <a:off x="2043924" y="1585609"/>
              <a:ext cx="2374078" cy="2262491"/>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5" name="Rounded Rectangle 254">
              <a:extLst>
                <a:ext uri="{FF2B5EF4-FFF2-40B4-BE49-F238E27FC236}">
                  <a16:creationId xmlns:a16="http://schemas.microsoft.com/office/drawing/2014/main" id="{CB00394F-200A-3798-0DCD-E40D7C104EDB}"/>
                </a:ext>
              </a:extLst>
            </p:cNvPr>
            <p:cNvSpPr/>
            <p:nvPr/>
          </p:nvSpPr>
          <p:spPr>
            <a:xfrm>
              <a:off x="637466" y="2107578"/>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6" name="Rectangle 55">
              <a:extLst>
                <a:ext uri="{FF2B5EF4-FFF2-40B4-BE49-F238E27FC236}">
                  <a16:creationId xmlns:a16="http://schemas.microsoft.com/office/drawing/2014/main" id="{7B215F80-5999-3F39-D80F-D4FE114CBE16}"/>
                </a:ext>
              </a:extLst>
            </p:cNvPr>
            <p:cNvSpPr/>
            <p:nvPr/>
          </p:nvSpPr>
          <p:spPr>
            <a:xfrm>
              <a:off x="745946" y="2383680"/>
              <a:ext cx="944437" cy="710907"/>
            </a:xfrm>
            <a:prstGeom prst="rect">
              <a:avLst/>
            </a:prstGeom>
          </p:spPr>
          <p:txBody>
            <a:bodyPr wrap="square">
              <a:spAutoFit/>
            </a:bodyPr>
            <a:lstStyle/>
            <a:p>
              <a:pPr algn="ctr"/>
              <a:r>
                <a:rPr lang="en-US" sz="900" b="1" dirty="0">
                  <a:latin typeface="Arial" panose="020B0604020202020204" pitchFamily="34" charset="0"/>
                  <a:cs typeface="Arial" panose="020B0604020202020204" pitchFamily="34" charset="0"/>
                </a:rPr>
                <a:t>Phase-</a:t>
              </a:r>
            </a:p>
            <a:p>
              <a:pPr algn="ctr"/>
              <a:r>
                <a:rPr lang="en-US" sz="900" b="1" dirty="0">
                  <a:latin typeface="Arial" panose="020B0604020202020204" pitchFamily="34" charset="0"/>
                  <a:cs typeface="Arial" panose="020B0604020202020204" pitchFamily="34" charset="0"/>
                </a:rPr>
                <a:t>Locked </a:t>
              </a:r>
            </a:p>
            <a:p>
              <a:pPr algn="ctr"/>
              <a:r>
                <a:rPr lang="en-US" sz="900" b="1" dirty="0">
                  <a:latin typeface="Arial" panose="020B0604020202020204" pitchFamily="34" charset="0"/>
                  <a:cs typeface="Arial" panose="020B0604020202020204" pitchFamily="34" charset="0"/>
                </a:rPr>
                <a:t>Loop</a:t>
              </a:r>
            </a:p>
          </p:txBody>
        </p:sp>
        <p:grpSp>
          <p:nvGrpSpPr>
            <p:cNvPr id="57" name="Group 56">
              <a:extLst>
                <a:ext uri="{FF2B5EF4-FFF2-40B4-BE49-F238E27FC236}">
                  <a16:creationId xmlns:a16="http://schemas.microsoft.com/office/drawing/2014/main" id="{2475F882-8FA1-7AF8-C900-2128E6EBCCE8}"/>
                </a:ext>
              </a:extLst>
            </p:cNvPr>
            <p:cNvGrpSpPr>
              <a:grpSpLocks noChangeAspect="1"/>
            </p:cNvGrpSpPr>
            <p:nvPr/>
          </p:nvGrpSpPr>
          <p:grpSpPr>
            <a:xfrm>
              <a:off x="1740491" y="1702085"/>
              <a:ext cx="2543499" cy="2103120"/>
              <a:chOff x="1961702" y="1886899"/>
              <a:chExt cx="2230380" cy="1844214"/>
            </a:xfrm>
          </p:grpSpPr>
          <p:sp>
            <p:nvSpPr>
              <p:cNvPr id="74" name="Oval 73">
                <a:extLst>
                  <a:ext uri="{FF2B5EF4-FFF2-40B4-BE49-F238E27FC236}">
                    <a16:creationId xmlns:a16="http://schemas.microsoft.com/office/drawing/2014/main" id="{69849780-6C17-9BDC-3E9F-C70F9A5D269C}"/>
                  </a:ext>
                </a:extLst>
              </p:cNvPr>
              <p:cNvSpPr/>
              <p:nvPr/>
            </p:nvSpPr>
            <p:spPr>
              <a:xfrm>
                <a:off x="2433006" y="1986602"/>
                <a:ext cx="1604149" cy="1604147"/>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75" name="Oval 74">
                <a:extLst>
                  <a:ext uri="{FF2B5EF4-FFF2-40B4-BE49-F238E27FC236}">
                    <a16:creationId xmlns:a16="http://schemas.microsoft.com/office/drawing/2014/main" id="{DBBFDD38-1B2B-4CA1-EBAA-95D64C163AB3}"/>
                  </a:ext>
                </a:extLst>
              </p:cNvPr>
              <p:cNvSpPr/>
              <p:nvPr/>
            </p:nvSpPr>
            <p:spPr>
              <a:xfrm>
                <a:off x="2541383" y="2103840"/>
                <a:ext cx="1385401" cy="1385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76" name="Group 75">
                <a:extLst>
                  <a:ext uri="{FF2B5EF4-FFF2-40B4-BE49-F238E27FC236}">
                    <a16:creationId xmlns:a16="http://schemas.microsoft.com/office/drawing/2014/main" id="{44D9DA7E-C661-455F-D1D6-651E57E3524B}"/>
                  </a:ext>
                </a:extLst>
              </p:cNvPr>
              <p:cNvGrpSpPr>
                <a:grpSpLocks noChangeAspect="1"/>
              </p:cNvGrpSpPr>
              <p:nvPr/>
            </p:nvGrpSpPr>
            <p:grpSpPr>
              <a:xfrm>
                <a:off x="2996876" y="1886899"/>
                <a:ext cx="437495" cy="400269"/>
                <a:chOff x="2169506" y="4772026"/>
                <a:chExt cx="1145194" cy="1047750"/>
              </a:xfrm>
            </p:grpSpPr>
            <p:sp>
              <p:nvSpPr>
                <p:cNvPr id="270" name="Oval 269">
                  <a:extLst>
                    <a:ext uri="{FF2B5EF4-FFF2-40B4-BE49-F238E27FC236}">
                      <a16:creationId xmlns:a16="http://schemas.microsoft.com/office/drawing/2014/main" id="{2A66DA3E-A9DE-56DB-7ED7-061355B4B66A}"/>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71" name="Group 270">
                  <a:extLst>
                    <a:ext uri="{FF2B5EF4-FFF2-40B4-BE49-F238E27FC236}">
                      <a16:creationId xmlns:a16="http://schemas.microsoft.com/office/drawing/2014/main" id="{A12A7D9B-B0A5-D141-7BC3-96385905894C}"/>
                    </a:ext>
                  </a:extLst>
                </p:cNvPr>
                <p:cNvGrpSpPr/>
                <p:nvPr/>
              </p:nvGrpSpPr>
              <p:grpSpPr>
                <a:xfrm>
                  <a:off x="2243356" y="4913274"/>
                  <a:ext cx="933517" cy="730856"/>
                  <a:chOff x="1027600" y="4784489"/>
                  <a:chExt cx="933517" cy="730856"/>
                </a:xfrm>
              </p:grpSpPr>
              <p:grpSp>
                <p:nvGrpSpPr>
                  <p:cNvPr id="272" name="Group 271">
                    <a:extLst>
                      <a:ext uri="{FF2B5EF4-FFF2-40B4-BE49-F238E27FC236}">
                        <a16:creationId xmlns:a16="http://schemas.microsoft.com/office/drawing/2014/main" id="{840066DE-B89A-A2A2-D876-2F92FCD1C43B}"/>
                      </a:ext>
                    </a:extLst>
                  </p:cNvPr>
                  <p:cNvGrpSpPr/>
                  <p:nvPr/>
                </p:nvGrpSpPr>
                <p:grpSpPr>
                  <a:xfrm>
                    <a:off x="1027600" y="4965926"/>
                    <a:ext cx="362347" cy="380159"/>
                    <a:chOff x="1711577" y="4926883"/>
                    <a:chExt cx="274320" cy="274320"/>
                  </a:xfrm>
                </p:grpSpPr>
                <p:sp>
                  <p:nvSpPr>
                    <p:cNvPr id="323" name="Flowchart: Connector 322">
                      <a:extLst>
                        <a:ext uri="{FF2B5EF4-FFF2-40B4-BE49-F238E27FC236}">
                          <a16:creationId xmlns:a16="http://schemas.microsoft.com/office/drawing/2014/main" id="{32294CFF-8D95-391B-3E50-C057A971790E}"/>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24" name="Freeform 55">
                      <a:extLst>
                        <a:ext uri="{FF2B5EF4-FFF2-40B4-BE49-F238E27FC236}">
                          <a16:creationId xmlns:a16="http://schemas.microsoft.com/office/drawing/2014/main" id="{185DB6A6-3F39-A8C7-D707-29DF01E6997B}"/>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273" name="Straight Connector 272">
                    <a:extLst>
                      <a:ext uri="{FF2B5EF4-FFF2-40B4-BE49-F238E27FC236}">
                        <a16:creationId xmlns:a16="http://schemas.microsoft.com/office/drawing/2014/main" id="{4DB71327-259F-92E7-9642-B86B6CE0596C}"/>
                      </a:ext>
                    </a:extLst>
                  </p:cNvPr>
                  <p:cNvCxnSpPr>
                    <a:stCxn id="323"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A0A1A4-42EE-3668-3325-E19B2F006974}"/>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D171824-F8F6-6208-6E70-4D1073683AF3}"/>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3B60A730-AB75-626D-D575-6556ECE42103}"/>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9FCEA77A-BD9F-EFF0-6277-226E89D9E270}"/>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09DD6D22-090E-E16C-A4AE-325357B67B49}"/>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79" name="Group 278">
                    <a:extLst>
                      <a:ext uri="{FF2B5EF4-FFF2-40B4-BE49-F238E27FC236}">
                        <a16:creationId xmlns:a16="http://schemas.microsoft.com/office/drawing/2014/main" id="{691F114F-F780-DE57-7572-E2B79824E489}"/>
                      </a:ext>
                    </a:extLst>
                  </p:cNvPr>
                  <p:cNvGrpSpPr/>
                  <p:nvPr/>
                </p:nvGrpSpPr>
                <p:grpSpPr>
                  <a:xfrm>
                    <a:off x="1565526" y="4885688"/>
                    <a:ext cx="395591" cy="540633"/>
                    <a:chOff x="1715961" y="4885759"/>
                    <a:chExt cx="395591" cy="540633"/>
                  </a:xfrm>
                </p:grpSpPr>
                <p:grpSp>
                  <p:nvGrpSpPr>
                    <p:cNvPr id="282" name="Group 281">
                      <a:extLst>
                        <a:ext uri="{FF2B5EF4-FFF2-40B4-BE49-F238E27FC236}">
                          <a16:creationId xmlns:a16="http://schemas.microsoft.com/office/drawing/2014/main" id="{0024A1BB-4092-8705-F617-1AD74967E709}"/>
                        </a:ext>
                      </a:extLst>
                    </p:cNvPr>
                    <p:cNvGrpSpPr/>
                    <p:nvPr/>
                  </p:nvGrpSpPr>
                  <p:grpSpPr>
                    <a:xfrm>
                      <a:off x="1715961" y="4885759"/>
                      <a:ext cx="317479" cy="205665"/>
                      <a:chOff x="1548734" y="4857791"/>
                      <a:chExt cx="240352" cy="148406"/>
                    </a:xfrm>
                  </p:grpSpPr>
                  <p:cxnSp>
                    <p:nvCxnSpPr>
                      <p:cNvPr id="312" name="Straight Connector 311">
                        <a:extLst>
                          <a:ext uri="{FF2B5EF4-FFF2-40B4-BE49-F238E27FC236}">
                            <a16:creationId xmlns:a16="http://schemas.microsoft.com/office/drawing/2014/main" id="{D3D8DC29-90D9-530D-1EC2-C2760C50EC1A}"/>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82A14340-D3AE-8198-E4F9-E22A279059C5}"/>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38860E65-2D85-224C-2083-E9C1C71A842B}"/>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4E0BB051-D361-0777-C9BD-5028858C72E2}"/>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892AD711-3770-61F7-96CC-B0F53975F3CB}"/>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4282FEC3-2B96-B088-70E1-5C58E029C2DB}"/>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7D64D889-152F-648F-BA66-25BA4CBE6A42}"/>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4B53D0FC-3725-979B-69FE-CF0D50177AAD}"/>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F5544FBC-B803-0D86-216B-1BBB77EC8A5C}"/>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A62E1B91-0E51-A3EB-8D5D-0F1D97314330}"/>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4773F352-14AD-48AE-9AC9-86DAA64CDB04}"/>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283" name="Group 282">
                      <a:extLst>
                        <a:ext uri="{FF2B5EF4-FFF2-40B4-BE49-F238E27FC236}">
                          <a16:creationId xmlns:a16="http://schemas.microsoft.com/office/drawing/2014/main" id="{266C7B9A-AD42-2396-8A7E-A27B5CC7A938}"/>
                        </a:ext>
                      </a:extLst>
                    </p:cNvPr>
                    <p:cNvGrpSpPr/>
                    <p:nvPr/>
                  </p:nvGrpSpPr>
                  <p:grpSpPr>
                    <a:xfrm rot="10800000" flipH="1">
                      <a:off x="1715961" y="5219603"/>
                      <a:ext cx="317479" cy="206789"/>
                      <a:chOff x="1548734" y="4857791"/>
                      <a:chExt cx="240352" cy="149217"/>
                    </a:xfrm>
                  </p:grpSpPr>
                  <p:cxnSp>
                    <p:nvCxnSpPr>
                      <p:cNvPr id="301" name="Straight Connector 300">
                        <a:extLst>
                          <a:ext uri="{FF2B5EF4-FFF2-40B4-BE49-F238E27FC236}">
                            <a16:creationId xmlns:a16="http://schemas.microsoft.com/office/drawing/2014/main" id="{C2C4575F-ADE3-AA99-CBB1-9A4889AEAB21}"/>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C9C307C-3D1A-1B84-0C2F-938E89F5F3D5}"/>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6A02A858-D3D3-456E-FBE8-2D966B7583F7}"/>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497F9313-BC59-67A3-E670-27C2009A8563}"/>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96828AAA-DA77-C796-307E-9E6866DD6BD2}"/>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D4E9D423-000B-9712-3167-8C29972AA0A4}"/>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B2F32D23-E066-EC6A-0BFB-EB5796759E60}"/>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40CD123F-AA26-6550-CF7A-87A81C58FF8D}"/>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E3085AB7-2BB6-034D-67C0-ED97BD6004E3}"/>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7EDAAA49-C74B-D012-7644-0193D80C6FF5}"/>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CE2AA2AB-6B6B-6D97-5FA2-3981ABA72C35}"/>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84" name="Straight Connector 283">
                      <a:extLst>
                        <a:ext uri="{FF2B5EF4-FFF2-40B4-BE49-F238E27FC236}">
                          <a16:creationId xmlns:a16="http://schemas.microsoft.com/office/drawing/2014/main" id="{0FF138CB-6D2A-D2B1-9C60-EF2E3813EAFA}"/>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85" name="Group 284">
                      <a:extLst>
                        <a:ext uri="{FF2B5EF4-FFF2-40B4-BE49-F238E27FC236}">
                          <a16:creationId xmlns:a16="http://schemas.microsoft.com/office/drawing/2014/main" id="{34F97395-E4F5-5537-8800-A6DE06EF9278}"/>
                        </a:ext>
                      </a:extLst>
                    </p:cNvPr>
                    <p:cNvGrpSpPr/>
                    <p:nvPr/>
                  </p:nvGrpSpPr>
                  <p:grpSpPr>
                    <a:xfrm rot="5400000">
                      <a:off x="1879744" y="5102207"/>
                      <a:ext cx="335430" cy="128187"/>
                      <a:chOff x="7040920" y="3499872"/>
                      <a:chExt cx="973348" cy="287902"/>
                    </a:xfrm>
                  </p:grpSpPr>
                  <p:sp>
                    <p:nvSpPr>
                      <p:cNvPr id="288" name="Arc 287">
                        <a:extLst>
                          <a:ext uri="{FF2B5EF4-FFF2-40B4-BE49-F238E27FC236}">
                            <a16:creationId xmlns:a16="http://schemas.microsoft.com/office/drawing/2014/main" id="{7075F73A-0AFD-C03D-2F06-851055C9D466}"/>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289" name="Group 288">
                        <a:extLst>
                          <a:ext uri="{FF2B5EF4-FFF2-40B4-BE49-F238E27FC236}">
                            <a16:creationId xmlns:a16="http://schemas.microsoft.com/office/drawing/2014/main" id="{97E98F71-F8C8-6228-D062-028A3640BB9B}"/>
                          </a:ext>
                        </a:extLst>
                      </p:cNvPr>
                      <p:cNvGrpSpPr/>
                      <p:nvPr/>
                    </p:nvGrpSpPr>
                    <p:grpSpPr>
                      <a:xfrm>
                        <a:off x="7208043" y="3499872"/>
                        <a:ext cx="806225" cy="286012"/>
                        <a:chOff x="7208043" y="3499872"/>
                        <a:chExt cx="806225" cy="286012"/>
                      </a:xfrm>
                    </p:grpSpPr>
                    <p:sp>
                      <p:nvSpPr>
                        <p:cNvPr id="290" name="Arc 289">
                          <a:extLst>
                            <a:ext uri="{FF2B5EF4-FFF2-40B4-BE49-F238E27FC236}">
                              <a16:creationId xmlns:a16="http://schemas.microsoft.com/office/drawing/2014/main" id="{6F4EA0E9-68F9-7AFA-7D89-BC8D9339A5A8}"/>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1" name="Arc 290">
                          <a:extLst>
                            <a:ext uri="{FF2B5EF4-FFF2-40B4-BE49-F238E27FC236}">
                              <a16:creationId xmlns:a16="http://schemas.microsoft.com/office/drawing/2014/main" id="{CCFA3387-639E-87E9-132C-964AA0061FAC}"/>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2" name="Arc 291">
                          <a:extLst>
                            <a:ext uri="{FF2B5EF4-FFF2-40B4-BE49-F238E27FC236}">
                              <a16:creationId xmlns:a16="http://schemas.microsoft.com/office/drawing/2014/main" id="{E5F991FC-0BE4-E6EB-B7CE-D7A506EF72F0}"/>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3" name="Arc 292">
                          <a:extLst>
                            <a:ext uri="{FF2B5EF4-FFF2-40B4-BE49-F238E27FC236}">
                              <a16:creationId xmlns:a16="http://schemas.microsoft.com/office/drawing/2014/main" id="{9712E1F7-EADE-AB63-B495-1DBEB9BC5DB9}"/>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4" name="Arc 293">
                          <a:extLst>
                            <a:ext uri="{FF2B5EF4-FFF2-40B4-BE49-F238E27FC236}">
                              <a16:creationId xmlns:a16="http://schemas.microsoft.com/office/drawing/2014/main" id="{E6FAD8AE-8945-D080-127F-12594026BCF4}"/>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5" name="Arc 294">
                          <a:extLst>
                            <a:ext uri="{FF2B5EF4-FFF2-40B4-BE49-F238E27FC236}">
                              <a16:creationId xmlns:a16="http://schemas.microsoft.com/office/drawing/2014/main" id="{77C438ED-799A-4A53-6811-368DC953B885}"/>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6" name="Arc 295">
                          <a:extLst>
                            <a:ext uri="{FF2B5EF4-FFF2-40B4-BE49-F238E27FC236}">
                              <a16:creationId xmlns:a16="http://schemas.microsoft.com/office/drawing/2014/main" id="{C1E470B1-16F0-4A3B-FEC5-53C98EBA3E68}"/>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7" name="Arc 296">
                          <a:extLst>
                            <a:ext uri="{FF2B5EF4-FFF2-40B4-BE49-F238E27FC236}">
                              <a16:creationId xmlns:a16="http://schemas.microsoft.com/office/drawing/2014/main" id="{13511A73-2810-AFDA-2699-B8A55B68DF2C}"/>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8" name="Arc 297">
                          <a:extLst>
                            <a:ext uri="{FF2B5EF4-FFF2-40B4-BE49-F238E27FC236}">
                              <a16:creationId xmlns:a16="http://schemas.microsoft.com/office/drawing/2014/main" id="{C3F4D163-47FC-1E7D-EB1F-B518196746CB}"/>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9" name="Arc 298">
                          <a:extLst>
                            <a:ext uri="{FF2B5EF4-FFF2-40B4-BE49-F238E27FC236}">
                              <a16:creationId xmlns:a16="http://schemas.microsoft.com/office/drawing/2014/main" id="{663606E7-C907-6F40-3C03-1F26A9724488}"/>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00" name="Arc 299">
                          <a:extLst>
                            <a:ext uri="{FF2B5EF4-FFF2-40B4-BE49-F238E27FC236}">
                              <a16:creationId xmlns:a16="http://schemas.microsoft.com/office/drawing/2014/main" id="{C0DA6795-F709-1A44-5D29-94C9CF42B8E6}"/>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286" name="Straight Connector 285">
                      <a:extLst>
                        <a:ext uri="{FF2B5EF4-FFF2-40B4-BE49-F238E27FC236}">
                          <a16:creationId xmlns:a16="http://schemas.microsoft.com/office/drawing/2014/main" id="{CEA2DDD6-3B63-AB4A-9864-2EF213378D6D}"/>
                        </a:ext>
                      </a:extLst>
                    </p:cNvPr>
                    <p:cNvCxnSpPr>
                      <a:stCxn id="288"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C144B782-011E-0AEF-D33E-51D3D5BDC217}"/>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80" name="Straight Connector 279">
                    <a:extLst>
                      <a:ext uri="{FF2B5EF4-FFF2-40B4-BE49-F238E27FC236}">
                        <a16:creationId xmlns:a16="http://schemas.microsoft.com/office/drawing/2014/main" id="{2CC68C4C-530A-ECDB-24FE-F070C128A079}"/>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5D69103-E66D-303C-D2CB-83D7B8A1DAE7}"/>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28E5431F-ABBC-00FE-523C-BB66CF8C4E51}"/>
                  </a:ext>
                </a:extLst>
              </p:cNvPr>
              <p:cNvGrpSpPr>
                <a:grpSpLocks noChangeAspect="1"/>
              </p:cNvGrpSpPr>
              <p:nvPr/>
            </p:nvGrpSpPr>
            <p:grpSpPr>
              <a:xfrm>
                <a:off x="3754587" y="2562269"/>
                <a:ext cx="437495" cy="400269"/>
                <a:chOff x="2169506" y="4772026"/>
                <a:chExt cx="1145194" cy="1047750"/>
              </a:xfrm>
            </p:grpSpPr>
            <p:sp>
              <p:nvSpPr>
                <p:cNvPr id="215" name="Oval 214">
                  <a:extLst>
                    <a:ext uri="{FF2B5EF4-FFF2-40B4-BE49-F238E27FC236}">
                      <a16:creationId xmlns:a16="http://schemas.microsoft.com/office/drawing/2014/main" id="{269B3239-9D41-E4EE-1DD5-895665BAA8F2}"/>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16" name="Group 215">
                  <a:extLst>
                    <a:ext uri="{FF2B5EF4-FFF2-40B4-BE49-F238E27FC236}">
                      <a16:creationId xmlns:a16="http://schemas.microsoft.com/office/drawing/2014/main" id="{3994BF8C-1F14-8133-9881-EBD37069885C}"/>
                    </a:ext>
                  </a:extLst>
                </p:cNvPr>
                <p:cNvGrpSpPr/>
                <p:nvPr/>
              </p:nvGrpSpPr>
              <p:grpSpPr>
                <a:xfrm>
                  <a:off x="2243356" y="4913274"/>
                  <a:ext cx="933517" cy="730856"/>
                  <a:chOff x="1027600" y="4784489"/>
                  <a:chExt cx="933517" cy="730856"/>
                </a:xfrm>
              </p:grpSpPr>
              <p:grpSp>
                <p:nvGrpSpPr>
                  <p:cNvPr id="217" name="Group 216">
                    <a:extLst>
                      <a:ext uri="{FF2B5EF4-FFF2-40B4-BE49-F238E27FC236}">
                        <a16:creationId xmlns:a16="http://schemas.microsoft.com/office/drawing/2014/main" id="{75BFD0D8-F6DC-0D66-AC92-570B3C2D5DDC}"/>
                      </a:ext>
                    </a:extLst>
                  </p:cNvPr>
                  <p:cNvGrpSpPr/>
                  <p:nvPr/>
                </p:nvGrpSpPr>
                <p:grpSpPr>
                  <a:xfrm>
                    <a:off x="1027600" y="4965926"/>
                    <a:ext cx="362347" cy="380159"/>
                    <a:chOff x="1711577" y="4926883"/>
                    <a:chExt cx="274320" cy="274320"/>
                  </a:xfrm>
                </p:grpSpPr>
                <p:sp>
                  <p:nvSpPr>
                    <p:cNvPr id="268" name="Flowchart: Connector 267">
                      <a:extLst>
                        <a:ext uri="{FF2B5EF4-FFF2-40B4-BE49-F238E27FC236}">
                          <a16:creationId xmlns:a16="http://schemas.microsoft.com/office/drawing/2014/main" id="{F8E009AD-47C5-169F-6DE3-57240CBC8C47}"/>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69" name="Freeform 113">
                      <a:extLst>
                        <a:ext uri="{FF2B5EF4-FFF2-40B4-BE49-F238E27FC236}">
                          <a16:creationId xmlns:a16="http://schemas.microsoft.com/office/drawing/2014/main" id="{FBDC0F7F-044D-A76E-AAE5-3869FFCE1F0B}"/>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218" name="Straight Connector 217">
                    <a:extLst>
                      <a:ext uri="{FF2B5EF4-FFF2-40B4-BE49-F238E27FC236}">
                        <a16:creationId xmlns:a16="http://schemas.microsoft.com/office/drawing/2014/main" id="{B108F3C0-3268-F431-C428-00323C5CE13F}"/>
                      </a:ext>
                    </a:extLst>
                  </p:cNvPr>
                  <p:cNvCxnSpPr>
                    <a:stCxn id="268"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6127FD11-560F-B560-B80B-160CF0FEC752}"/>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44BA484F-A376-8A28-ACA7-39BE3CB517B2}"/>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EAFD9039-6693-9E22-F68D-1DA2AA51BCF2}"/>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13681D0A-DEA5-2AA0-1BDF-77994456C9B1}"/>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F4B09808-8535-1F7C-7949-FB31F1FC9B60}"/>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24" name="Group 223">
                    <a:extLst>
                      <a:ext uri="{FF2B5EF4-FFF2-40B4-BE49-F238E27FC236}">
                        <a16:creationId xmlns:a16="http://schemas.microsoft.com/office/drawing/2014/main" id="{EC54FCDD-20F5-1365-BB38-C9B6EBD44551}"/>
                      </a:ext>
                    </a:extLst>
                  </p:cNvPr>
                  <p:cNvGrpSpPr/>
                  <p:nvPr/>
                </p:nvGrpSpPr>
                <p:grpSpPr>
                  <a:xfrm>
                    <a:off x="1565526" y="4885688"/>
                    <a:ext cx="395591" cy="540633"/>
                    <a:chOff x="1715961" y="4885759"/>
                    <a:chExt cx="395591" cy="540633"/>
                  </a:xfrm>
                </p:grpSpPr>
                <p:grpSp>
                  <p:nvGrpSpPr>
                    <p:cNvPr id="227" name="Group 226">
                      <a:extLst>
                        <a:ext uri="{FF2B5EF4-FFF2-40B4-BE49-F238E27FC236}">
                          <a16:creationId xmlns:a16="http://schemas.microsoft.com/office/drawing/2014/main" id="{71403BF4-0247-E00D-C04E-4767DE58B06B}"/>
                        </a:ext>
                      </a:extLst>
                    </p:cNvPr>
                    <p:cNvGrpSpPr/>
                    <p:nvPr/>
                  </p:nvGrpSpPr>
                  <p:grpSpPr>
                    <a:xfrm>
                      <a:off x="1715961" y="4885759"/>
                      <a:ext cx="317479" cy="205665"/>
                      <a:chOff x="1548734" y="4857791"/>
                      <a:chExt cx="240352" cy="148406"/>
                    </a:xfrm>
                  </p:grpSpPr>
                  <p:cxnSp>
                    <p:nvCxnSpPr>
                      <p:cNvPr id="257" name="Straight Connector 256">
                        <a:extLst>
                          <a:ext uri="{FF2B5EF4-FFF2-40B4-BE49-F238E27FC236}">
                            <a16:creationId xmlns:a16="http://schemas.microsoft.com/office/drawing/2014/main" id="{3F46154B-5597-2E05-7E81-2662013A797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DA1290D-C428-570B-C471-3F986542CE17}"/>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0530ED5C-BEE7-40F2-B434-CC7EF388A08A}"/>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4670358B-0D74-A39D-082F-01E0E4B2BB56}"/>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8F7A151-E342-3EC5-1B42-75FF84E499D6}"/>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97AD7D9F-C903-D6C9-1C90-183938479857}"/>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E72E4081-0FA3-0797-995E-3E92E3A9CCB5}"/>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0898CADA-D5FF-268B-8B86-029196122C48}"/>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2D379BD6-B6BB-E57A-34D4-E733EC0031D4}"/>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4BE346FD-F679-D038-9FAE-09293200AE41}"/>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FC8A6E78-6BD4-0925-1503-F828C1EF3C6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228" name="Group 227">
                      <a:extLst>
                        <a:ext uri="{FF2B5EF4-FFF2-40B4-BE49-F238E27FC236}">
                          <a16:creationId xmlns:a16="http://schemas.microsoft.com/office/drawing/2014/main" id="{418DF829-A87C-3A3C-62DB-05E9F437B99F}"/>
                        </a:ext>
                      </a:extLst>
                    </p:cNvPr>
                    <p:cNvGrpSpPr/>
                    <p:nvPr/>
                  </p:nvGrpSpPr>
                  <p:grpSpPr>
                    <a:xfrm rot="10800000" flipH="1">
                      <a:off x="1715961" y="5219603"/>
                      <a:ext cx="317479" cy="206789"/>
                      <a:chOff x="1548734" y="4857791"/>
                      <a:chExt cx="240352" cy="149217"/>
                    </a:xfrm>
                  </p:grpSpPr>
                  <p:cxnSp>
                    <p:nvCxnSpPr>
                      <p:cNvPr id="246" name="Straight Connector 245">
                        <a:extLst>
                          <a:ext uri="{FF2B5EF4-FFF2-40B4-BE49-F238E27FC236}">
                            <a16:creationId xmlns:a16="http://schemas.microsoft.com/office/drawing/2014/main" id="{9CB158A7-AF12-FAC0-B6F2-3EB853D47F6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74CA94CA-9C94-FB48-AE6F-7F99DB30151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290791A1-98BF-2024-1914-659B8B8EBF91}"/>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87B0E63-78EE-5954-F20F-3E3E65A7E9F8}"/>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86199977-5B63-558A-3B6A-A6ED483DBB1A}"/>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070F5246-091D-59FD-3722-CC55FAF87452}"/>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D8A63FA1-B431-884D-E0CB-694F17239A2D}"/>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80E2E81A-D264-D639-EEE1-B866729E0243}"/>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412B10A0-58EC-76FD-F523-91AF3D8413A5}"/>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CBBDAF7-82A4-4432-8C73-41DBF48F2D3F}"/>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5D559B7C-4068-0D3A-626F-84FA628E10F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29" name="Straight Connector 228">
                      <a:extLst>
                        <a:ext uri="{FF2B5EF4-FFF2-40B4-BE49-F238E27FC236}">
                          <a16:creationId xmlns:a16="http://schemas.microsoft.com/office/drawing/2014/main" id="{B3C06F57-0B4B-F9F8-A294-C6C0671CC9C5}"/>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30" name="Group 229">
                      <a:extLst>
                        <a:ext uri="{FF2B5EF4-FFF2-40B4-BE49-F238E27FC236}">
                          <a16:creationId xmlns:a16="http://schemas.microsoft.com/office/drawing/2014/main" id="{38C4FA6E-4ED4-08D4-F725-C55E7BFA2B69}"/>
                        </a:ext>
                      </a:extLst>
                    </p:cNvPr>
                    <p:cNvGrpSpPr/>
                    <p:nvPr/>
                  </p:nvGrpSpPr>
                  <p:grpSpPr>
                    <a:xfrm rot="5400000">
                      <a:off x="1879744" y="5102207"/>
                      <a:ext cx="335430" cy="128187"/>
                      <a:chOff x="7040920" y="3499872"/>
                      <a:chExt cx="973348" cy="287902"/>
                    </a:xfrm>
                  </p:grpSpPr>
                  <p:sp>
                    <p:nvSpPr>
                      <p:cNvPr id="233" name="Arc 232">
                        <a:extLst>
                          <a:ext uri="{FF2B5EF4-FFF2-40B4-BE49-F238E27FC236}">
                            <a16:creationId xmlns:a16="http://schemas.microsoft.com/office/drawing/2014/main" id="{6A8C3F6B-EF12-4D56-82C6-422FC712B5F8}"/>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234" name="Group 233">
                        <a:extLst>
                          <a:ext uri="{FF2B5EF4-FFF2-40B4-BE49-F238E27FC236}">
                            <a16:creationId xmlns:a16="http://schemas.microsoft.com/office/drawing/2014/main" id="{EF0AF6EB-A066-303B-70BC-4E850867D00D}"/>
                          </a:ext>
                        </a:extLst>
                      </p:cNvPr>
                      <p:cNvGrpSpPr/>
                      <p:nvPr/>
                    </p:nvGrpSpPr>
                    <p:grpSpPr>
                      <a:xfrm>
                        <a:off x="7208043" y="3499872"/>
                        <a:ext cx="806225" cy="286012"/>
                        <a:chOff x="7208043" y="3499872"/>
                        <a:chExt cx="806225" cy="286012"/>
                      </a:xfrm>
                    </p:grpSpPr>
                    <p:sp>
                      <p:nvSpPr>
                        <p:cNvPr id="235" name="Arc 234">
                          <a:extLst>
                            <a:ext uri="{FF2B5EF4-FFF2-40B4-BE49-F238E27FC236}">
                              <a16:creationId xmlns:a16="http://schemas.microsoft.com/office/drawing/2014/main" id="{22E3AFB0-06D3-5B51-ED89-8FCE92FD680D}"/>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6" name="Arc 235">
                          <a:extLst>
                            <a:ext uri="{FF2B5EF4-FFF2-40B4-BE49-F238E27FC236}">
                              <a16:creationId xmlns:a16="http://schemas.microsoft.com/office/drawing/2014/main" id="{7582B550-0427-D352-AA57-36D29E511826}"/>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7" name="Arc 236">
                          <a:extLst>
                            <a:ext uri="{FF2B5EF4-FFF2-40B4-BE49-F238E27FC236}">
                              <a16:creationId xmlns:a16="http://schemas.microsoft.com/office/drawing/2014/main" id="{C8388CEB-C1B9-DB52-83B6-7C19EE4B25EC}"/>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8" name="Arc 237">
                          <a:extLst>
                            <a:ext uri="{FF2B5EF4-FFF2-40B4-BE49-F238E27FC236}">
                              <a16:creationId xmlns:a16="http://schemas.microsoft.com/office/drawing/2014/main" id="{A3872719-A045-2383-2784-DC8544A2389A}"/>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9" name="Arc 238">
                          <a:extLst>
                            <a:ext uri="{FF2B5EF4-FFF2-40B4-BE49-F238E27FC236}">
                              <a16:creationId xmlns:a16="http://schemas.microsoft.com/office/drawing/2014/main" id="{3EE109CA-6664-696A-697B-E85FE000D668}"/>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0" name="Arc 239">
                          <a:extLst>
                            <a:ext uri="{FF2B5EF4-FFF2-40B4-BE49-F238E27FC236}">
                              <a16:creationId xmlns:a16="http://schemas.microsoft.com/office/drawing/2014/main" id="{BB401CBF-75B6-D509-F037-A6CD4FA17576}"/>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1" name="Arc 240">
                          <a:extLst>
                            <a:ext uri="{FF2B5EF4-FFF2-40B4-BE49-F238E27FC236}">
                              <a16:creationId xmlns:a16="http://schemas.microsoft.com/office/drawing/2014/main" id="{921CED9F-CF71-B156-D6DF-48B6BBA78F74}"/>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2" name="Arc 241">
                          <a:extLst>
                            <a:ext uri="{FF2B5EF4-FFF2-40B4-BE49-F238E27FC236}">
                              <a16:creationId xmlns:a16="http://schemas.microsoft.com/office/drawing/2014/main" id="{3E5771BF-C893-B094-DC49-FCB7CF988E5D}"/>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3" name="Arc 242">
                          <a:extLst>
                            <a:ext uri="{FF2B5EF4-FFF2-40B4-BE49-F238E27FC236}">
                              <a16:creationId xmlns:a16="http://schemas.microsoft.com/office/drawing/2014/main" id="{CF3D780C-29FA-8B8D-67C3-49F7F373B6C2}"/>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4" name="Arc 243">
                          <a:extLst>
                            <a:ext uri="{FF2B5EF4-FFF2-40B4-BE49-F238E27FC236}">
                              <a16:creationId xmlns:a16="http://schemas.microsoft.com/office/drawing/2014/main" id="{22A4026A-55CF-6592-F721-0E95F3ED7E55}"/>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5" name="Arc 244">
                          <a:extLst>
                            <a:ext uri="{FF2B5EF4-FFF2-40B4-BE49-F238E27FC236}">
                              <a16:creationId xmlns:a16="http://schemas.microsoft.com/office/drawing/2014/main" id="{B96907F8-A966-D581-9D22-D1D8446677AF}"/>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231" name="Straight Connector 230">
                      <a:extLst>
                        <a:ext uri="{FF2B5EF4-FFF2-40B4-BE49-F238E27FC236}">
                          <a16:creationId xmlns:a16="http://schemas.microsoft.com/office/drawing/2014/main" id="{21DDF84E-45A0-DF83-A6FC-D18372F1CD1F}"/>
                        </a:ext>
                      </a:extLst>
                    </p:cNvPr>
                    <p:cNvCxnSpPr>
                      <a:stCxn id="233"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D787861F-A1FE-4356-D48B-A8732ACC3C84}"/>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25" name="Straight Connector 224">
                    <a:extLst>
                      <a:ext uri="{FF2B5EF4-FFF2-40B4-BE49-F238E27FC236}">
                        <a16:creationId xmlns:a16="http://schemas.microsoft.com/office/drawing/2014/main" id="{9A71CB55-E367-9B0B-874B-8676139AF471}"/>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E972CBCB-D842-526D-6670-4D7C0925489B}"/>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8" name="Group 77">
                <a:extLst>
                  <a:ext uri="{FF2B5EF4-FFF2-40B4-BE49-F238E27FC236}">
                    <a16:creationId xmlns:a16="http://schemas.microsoft.com/office/drawing/2014/main" id="{ADE111C5-D805-91AD-F4EF-692E1FEAC395}"/>
                  </a:ext>
                </a:extLst>
              </p:cNvPr>
              <p:cNvGrpSpPr>
                <a:grpSpLocks noChangeAspect="1"/>
              </p:cNvGrpSpPr>
              <p:nvPr/>
            </p:nvGrpSpPr>
            <p:grpSpPr>
              <a:xfrm>
                <a:off x="2996876" y="3330844"/>
                <a:ext cx="437495" cy="400269"/>
                <a:chOff x="2169506" y="4772026"/>
                <a:chExt cx="1145194" cy="1047750"/>
              </a:xfrm>
            </p:grpSpPr>
            <p:sp>
              <p:nvSpPr>
                <p:cNvPr id="160" name="Oval 159">
                  <a:extLst>
                    <a:ext uri="{FF2B5EF4-FFF2-40B4-BE49-F238E27FC236}">
                      <a16:creationId xmlns:a16="http://schemas.microsoft.com/office/drawing/2014/main" id="{AB5EB4A0-57B3-5962-5371-9F4DFD9CC933}"/>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161" name="Group 160">
                  <a:extLst>
                    <a:ext uri="{FF2B5EF4-FFF2-40B4-BE49-F238E27FC236}">
                      <a16:creationId xmlns:a16="http://schemas.microsoft.com/office/drawing/2014/main" id="{DEC3242B-5A79-5441-1C6D-A8E265269A0B}"/>
                    </a:ext>
                  </a:extLst>
                </p:cNvPr>
                <p:cNvGrpSpPr/>
                <p:nvPr/>
              </p:nvGrpSpPr>
              <p:grpSpPr>
                <a:xfrm>
                  <a:off x="2243356" y="4913274"/>
                  <a:ext cx="933517" cy="730856"/>
                  <a:chOff x="1027600" y="4784489"/>
                  <a:chExt cx="933517" cy="730856"/>
                </a:xfrm>
              </p:grpSpPr>
              <p:grpSp>
                <p:nvGrpSpPr>
                  <p:cNvPr id="162" name="Group 161">
                    <a:extLst>
                      <a:ext uri="{FF2B5EF4-FFF2-40B4-BE49-F238E27FC236}">
                        <a16:creationId xmlns:a16="http://schemas.microsoft.com/office/drawing/2014/main" id="{52B51FF8-C07A-AA25-1CAE-983255739B51}"/>
                      </a:ext>
                    </a:extLst>
                  </p:cNvPr>
                  <p:cNvGrpSpPr/>
                  <p:nvPr/>
                </p:nvGrpSpPr>
                <p:grpSpPr>
                  <a:xfrm>
                    <a:off x="1027600" y="4965926"/>
                    <a:ext cx="362347" cy="380159"/>
                    <a:chOff x="1711577" y="4926883"/>
                    <a:chExt cx="274320" cy="274320"/>
                  </a:xfrm>
                </p:grpSpPr>
                <p:sp>
                  <p:nvSpPr>
                    <p:cNvPr id="213" name="Flowchart: Connector 212">
                      <a:extLst>
                        <a:ext uri="{FF2B5EF4-FFF2-40B4-BE49-F238E27FC236}">
                          <a16:creationId xmlns:a16="http://schemas.microsoft.com/office/drawing/2014/main" id="{AA09F12A-5CB2-69AD-CCA9-5E3CDE0EA166}"/>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14" name="Freeform 169">
                      <a:extLst>
                        <a:ext uri="{FF2B5EF4-FFF2-40B4-BE49-F238E27FC236}">
                          <a16:creationId xmlns:a16="http://schemas.microsoft.com/office/drawing/2014/main" id="{43674D57-4105-3B9F-0B7A-DC4D96D6EDED}"/>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163" name="Straight Connector 162">
                    <a:extLst>
                      <a:ext uri="{FF2B5EF4-FFF2-40B4-BE49-F238E27FC236}">
                        <a16:creationId xmlns:a16="http://schemas.microsoft.com/office/drawing/2014/main" id="{B71C8713-972B-AF72-8D2B-8AF4DE81746D}"/>
                      </a:ext>
                    </a:extLst>
                  </p:cNvPr>
                  <p:cNvCxnSpPr>
                    <a:stCxn id="213"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86BF155D-460B-E4CE-67A1-FCA8837B9A8E}"/>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48F8CB3C-A030-E81F-2EB4-ACDD6C75FF2C}"/>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F3BD7C32-798F-4D1A-C45E-5CD4B0FF1066}"/>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B26FD73-F0D1-21E1-A230-05D2AD88A3ED}"/>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459054D4-9372-6C57-7C5A-841575F8B482}"/>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69" name="Group 168">
                    <a:extLst>
                      <a:ext uri="{FF2B5EF4-FFF2-40B4-BE49-F238E27FC236}">
                        <a16:creationId xmlns:a16="http://schemas.microsoft.com/office/drawing/2014/main" id="{DC3A6DCE-41EF-D503-0A3E-74A460CF11C9}"/>
                      </a:ext>
                    </a:extLst>
                  </p:cNvPr>
                  <p:cNvGrpSpPr/>
                  <p:nvPr/>
                </p:nvGrpSpPr>
                <p:grpSpPr>
                  <a:xfrm>
                    <a:off x="1565526" y="4885688"/>
                    <a:ext cx="395591" cy="540633"/>
                    <a:chOff x="1715961" y="4885759"/>
                    <a:chExt cx="395591" cy="540633"/>
                  </a:xfrm>
                </p:grpSpPr>
                <p:grpSp>
                  <p:nvGrpSpPr>
                    <p:cNvPr id="172" name="Group 171">
                      <a:extLst>
                        <a:ext uri="{FF2B5EF4-FFF2-40B4-BE49-F238E27FC236}">
                          <a16:creationId xmlns:a16="http://schemas.microsoft.com/office/drawing/2014/main" id="{FF00E8E2-F41E-1ECB-8869-7AC7B16C96EE}"/>
                        </a:ext>
                      </a:extLst>
                    </p:cNvPr>
                    <p:cNvGrpSpPr/>
                    <p:nvPr/>
                  </p:nvGrpSpPr>
                  <p:grpSpPr>
                    <a:xfrm>
                      <a:off x="1715961" y="4885759"/>
                      <a:ext cx="317479" cy="205665"/>
                      <a:chOff x="1548734" y="4857791"/>
                      <a:chExt cx="240352" cy="148406"/>
                    </a:xfrm>
                  </p:grpSpPr>
                  <p:cxnSp>
                    <p:nvCxnSpPr>
                      <p:cNvPr id="202" name="Straight Connector 201">
                        <a:extLst>
                          <a:ext uri="{FF2B5EF4-FFF2-40B4-BE49-F238E27FC236}">
                            <a16:creationId xmlns:a16="http://schemas.microsoft.com/office/drawing/2014/main" id="{1CF639E4-02A0-8AE5-A6AD-0499721EEDA2}"/>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A662511C-649B-F901-FA82-6C97334D683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2B6BBF55-4B8F-EF8C-41F0-2E2EA989FE2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2868353-7643-8BDA-25C5-B6F1B34DF9CA}"/>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4C2BA58-E840-7518-CC97-9022BAE5A51E}"/>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98FF3DBE-BB92-EB3B-8B87-69638215E38B}"/>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FF08DD70-7F44-DC27-119A-4FDE741475D5}"/>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53862097-935B-C9D7-01E7-D09EC29D9D2E}"/>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33CC54DB-9DE3-7370-BAC7-7A9C4A54088F}"/>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A2932CCB-48E9-BF02-1F54-B0FBF8D4DC87}"/>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C93F0903-D79B-DE66-20B9-A050A4EBEF56}"/>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73" name="Group 172">
                      <a:extLst>
                        <a:ext uri="{FF2B5EF4-FFF2-40B4-BE49-F238E27FC236}">
                          <a16:creationId xmlns:a16="http://schemas.microsoft.com/office/drawing/2014/main" id="{5E5B57B0-654D-84D4-AF07-A3175C5D66C7}"/>
                        </a:ext>
                      </a:extLst>
                    </p:cNvPr>
                    <p:cNvGrpSpPr/>
                    <p:nvPr/>
                  </p:nvGrpSpPr>
                  <p:grpSpPr>
                    <a:xfrm rot="10800000" flipH="1">
                      <a:off x="1715961" y="5219603"/>
                      <a:ext cx="317479" cy="206789"/>
                      <a:chOff x="1548734" y="4857791"/>
                      <a:chExt cx="240352" cy="149217"/>
                    </a:xfrm>
                  </p:grpSpPr>
                  <p:cxnSp>
                    <p:nvCxnSpPr>
                      <p:cNvPr id="191" name="Straight Connector 190">
                        <a:extLst>
                          <a:ext uri="{FF2B5EF4-FFF2-40B4-BE49-F238E27FC236}">
                            <a16:creationId xmlns:a16="http://schemas.microsoft.com/office/drawing/2014/main" id="{6B11A2C1-38E0-9D4B-A260-1EAF25B76624}"/>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863DE09-4BC6-3E0D-EC4A-E6A94F70C4C0}"/>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284840D6-E541-81D1-626D-20FB00FC7B9D}"/>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E93403E3-FD9F-4B4F-9CA5-833C0861F9D9}"/>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BA2A7490-D488-C831-5341-C6AB7924CDCD}"/>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CD76A5F-C10E-9E3C-BF98-476EF3772FE5}"/>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59522BDE-BF5C-580F-4ABC-056AE83ED669}"/>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F907C691-E08E-5874-5B53-9AEBCDE1D91C}"/>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0C991ADB-A1C3-5EA2-2F2D-440D64A82747}"/>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FB044B03-4466-A297-FF94-A7C3866D6A63}"/>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91186F48-E78F-EAB1-FA92-1A9C2155217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74" name="Straight Connector 173">
                      <a:extLst>
                        <a:ext uri="{FF2B5EF4-FFF2-40B4-BE49-F238E27FC236}">
                          <a16:creationId xmlns:a16="http://schemas.microsoft.com/office/drawing/2014/main" id="{28842958-3FCC-1A22-28AC-C854159A8133}"/>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75" name="Group 174">
                      <a:extLst>
                        <a:ext uri="{FF2B5EF4-FFF2-40B4-BE49-F238E27FC236}">
                          <a16:creationId xmlns:a16="http://schemas.microsoft.com/office/drawing/2014/main" id="{84CF9B30-AF90-FAD1-6433-CAFAB3A5D8FC}"/>
                        </a:ext>
                      </a:extLst>
                    </p:cNvPr>
                    <p:cNvGrpSpPr/>
                    <p:nvPr/>
                  </p:nvGrpSpPr>
                  <p:grpSpPr>
                    <a:xfrm rot="5400000">
                      <a:off x="1879744" y="5102207"/>
                      <a:ext cx="335430" cy="128187"/>
                      <a:chOff x="7040920" y="3499872"/>
                      <a:chExt cx="973348" cy="287902"/>
                    </a:xfrm>
                  </p:grpSpPr>
                  <p:sp>
                    <p:nvSpPr>
                      <p:cNvPr id="178" name="Arc 177">
                        <a:extLst>
                          <a:ext uri="{FF2B5EF4-FFF2-40B4-BE49-F238E27FC236}">
                            <a16:creationId xmlns:a16="http://schemas.microsoft.com/office/drawing/2014/main" id="{18658DBA-D0B3-39C8-C577-4B1CB20F46A4}"/>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179" name="Group 178">
                        <a:extLst>
                          <a:ext uri="{FF2B5EF4-FFF2-40B4-BE49-F238E27FC236}">
                            <a16:creationId xmlns:a16="http://schemas.microsoft.com/office/drawing/2014/main" id="{29F5ABB8-47BB-00DB-626B-53D47F0AF4C3}"/>
                          </a:ext>
                        </a:extLst>
                      </p:cNvPr>
                      <p:cNvGrpSpPr/>
                      <p:nvPr/>
                    </p:nvGrpSpPr>
                    <p:grpSpPr>
                      <a:xfrm>
                        <a:off x="7208043" y="3499872"/>
                        <a:ext cx="806225" cy="286012"/>
                        <a:chOff x="7208043" y="3499872"/>
                        <a:chExt cx="806225" cy="286012"/>
                      </a:xfrm>
                    </p:grpSpPr>
                    <p:sp>
                      <p:nvSpPr>
                        <p:cNvPr id="180" name="Arc 179">
                          <a:extLst>
                            <a:ext uri="{FF2B5EF4-FFF2-40B4-BE49-F238E27FC236}">
                              <a16:creationId xmlns:a16="http://schemas.microsoft.com/office/drawing/2014/main" id="{70BF3BB9-7832-7B03-50A0-A7712CA64846}"/>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1" name="Arc 180">
                          <a:extLst>
                            <a:ext uri="{FF2B5EF4-FFF2-40B4-BE49-F238E27FC236}">
                              <a16:creationId xmlns:a16="http://schemas.microsoft.com/office/drawing/2014/main" id="{9019182F-3286-65F0-6FE2-2A1E51BBFABA}"/>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2" name="Arc 181">
                          <a:extLst>
                            <a:ext uri="{FF2B5EF4-FFF2-40B4-BE49-F238E27FC236}">
                              <a16:creationId xmlns:a16="http://schemas.microsoft.com/office/drawing/2014/main" id="{5C5FB2D2-19AC-70D3-A7DC-61DF49448B28}"/>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3" name="Arc 182">
                          <a:extLst>
                            <a:ext uri="{FF2B5EF4-FFF2-40B4-BE49-F238E27FC236}">
                              <a16:creationId xmlns:a16="http://schemas.microsoft.com/office/drawing/2014/main" id="{ED57CB6E-CA22-7A2F-EDD0-50FF4473B306}"/>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4" name="Arc 183">
                          <a:extLst>
                            <a:ext uri="{FF2B5EF4-FFF2-40B4-BE49-F238E27FC236}">
                              <a16:creationId xmlns:a16="http://schemas.microsoft.com/office/drawing/2014/main" id="{E85B5BDB-1302-0AA2-0377-B65C7C7E2343}"/>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5" name="Arc 184">
                          <a:extLst>
                            <a:ext uri="{FF2B5EF4-FFF2-40B4-BE49-F238E27FC236}">
                              <a16:creationId xmlns:a16="http://schemas.microsoft.com/office/drawing/2014/main" id="{C0C169EC-33D4-30C0-064F-5A64760086D2}"/>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6" name="Arc 185">
                          <a:extLst>
                            <a:ext uri="{FF2B5EF4-FFF2-40B4-BE49-F238E27FC236}">
                              <a16:creationId xmlns:a16="http://schemas.microsoft.com/office/drawing/2014/main" id="{2FE92288-7990-42CA-B723-8205E7AD025D}"/>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7" name="Arc 186">
                          <a:extLst>
                            <a:ext uri="{FF2B5EF4-FFF2-40B4-BE49-F238E27FC236}">
                              <a16:creationId xmlns:a16="http://schemas.microsoft.com/office/drawing/2014/main" id="{4F5C6A4A-FEB9-8A06-3BF9-5431EDE39C4D}"/>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8" name="Arc 187">
                          <a:extLst>
                            <a:ext uri="{FF2B5EF4-FFF2-40B4-BE49-F238E27FC236}">
                              <a16:creationId xmlns:a16="http://schemas.microsoft.com/office/drawing/2014/main" id="{512A98DE-4D09-E1C5-84F9-6A7704CC09E3}"/>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9" name="Arc 188">
                          <a:extLst>
                            <a:ext uri="{FF2B5EF4-FFF2-40B4-BE49-F238E27FC236}">
                              <a16:creationId xmlns:a16="http://schemas.microsoft.com/office/drawing/2014/main" id="{F91C6F12-73FE-DD33-B03E-1C4EF593D58E}"/>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90" name="Arc 189">
                          <a:extLst>
                            <a:ext uri="{FF2B5EF4-FFF2-40B4-BE49-F238E27FC236}">
                              <a16:creationId xmlns:a16="http://schemas.microsoft.com/office/drawing/2014/main" id="{606E155A-7FE1-9679-B95B-4866D1D365EA}"/>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176" name="Straight Connector 175">
                      <a:extLst>
                        <a:ext uri="{FF2B5EF4-FFF2-40B4-BE49-F238E27FC236}">
                          <a16:creationId xmlns:a16="http://schemas.microsoft.com/office/drawing/2014/main" id="{878BD99F-08FD-9A42-3F12-ACBCB2AE6F9D}"/>
                        </a:ext>
                      </a:extLst>
                    </p:cNvPr>
                    <p:cNvCxnSpPr>
                      <a:stCxn id="178"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EDFE28D2-AA47-0242-4C18-66E28C83095E}"/>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70" name="Straight Connector 169">
                    <a:extLst>
                      <a:ext uri="{FF2B5EF4-FFF2-40B4-BE49-F238E27FC236}">
                        <a16:creationId xmlns:a16="http://schemas.microsoft.com/office/drawing/2014/main" id="{2482CB6A-E035-70B2-CB93-252E9AE32B3C}"/>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2289FD33-4780-B67C-F1BB-FCAE26801384}"/>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9" name="Group 78">
                <a:extLst>
                  <a:ext uri="{FF2B5EF4-FFF2-40B4-BE49-F238E27FC236}">
                    <a16:creationId xmlns:a16="http://schemas.microsoft.com/office/drawing/2014/main" id="{D001B4C4-03DC-C08A-43E9-E3FEE73F9EF2}"/>
                  </a:ext>
                </a:extLst>
              </p:cNvPr>
              <p:cNvGrpSpPr>
                <a:grpSpLocks noChangeAspect="1"/>
              </p:cNvGrpSpPr>
              <p:nvPr/>
            </p:nvGrpSpPr>
            <p:grpSpPr>
              <a:xfrm>
                <a:off x="2271842" y="2647278"/>
                <a:ext cx="437495" cy="400269"/>
                <a:chOff x="2169506" y="4772026"/>
                <a:chExt cx="1145194" cy="1047750"/>
              </a:xfrm>
            </p:grpSpPr>
            <p:sp>
              <p:nvSpPr>
                <p:cNvPr id="105" name="Oval 104">
                  <a:extLst>
                    <a:ext uri="{FF2B5EF4-FFF2-40B4-BE49-F238E27FC236}">
                      <a16:creationId xmlns:a16="http://schemas.microsoft.com/office/drawing/2014/main" id="{54ED09FD-FE60-1D04-DFB8-2CAEA09EEAD3}"/>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106" name="Group 105">
                  <a:extLst>
                    <a:ext uri="{FF2B5EF4-FFF2-40B4-BE49-F238E27FC236}">
                      <a16:creationId xmlns:a16="http://schemas.microsoft.com/office/drawing/2014/main" id="{505F4FBF-627D-7122-3326-2FE4A74EF39C}"/>
                    </a:ext>
                  </a:extLst>
                </p:cNvPr>
                <p:cNvGrpSpPr/>
                <p:nvPr/>
              </p:nvGrpSpPr>
              <p:grpSpPr>
                <a:xfrm>
                  <a:off x="2243356" y="4913274"/>
                  <a:ext cx="933517" cy="730856"/>
                  <a:chOff x="1027600" y="4784489"/>
                  <a:chExt cx="933517" cy="730856"/>
                </a:xfrm>
              </p:grpSpPr>
              <p:grpSp>
                <p:nvGrpSpPr>
                  <p:cNvPr id="107" name="Group 106">
                    <a:extLst>
                      <a:ext uri="{FF2B5EF4-FFF2-40B4-BE49-F238E27FC236}">
                        <a16:creationId xmlns:a16="http://schemas.microsoft.com/office/drawing/2014/main" id="{9763DB22-95C6-ABE6-440F-962D34A5B3A8}"/>
                      </a:ext>
                    </a:extLst>
                  </p:cNvPr>
                  <p:cNvGrpSpPr/>
                  <p:nvPr/>
                </p:nvGrpSpPr>
                <p:grpSpPr>
                  <a:xfrm>
                    <a:off x="1027600" y="4965926"/>
                    <a:ext cx="362347" cy="380159"/>
                    <a:chOff x="1711577" y="4926883"/>
                    <a:chExt cx="274320" cy="274320"/>
                  </a:xfrm>
                </p:grpSpPr>
                <p:sp>
                  <p:nvSpPr>
                    <p:cNvPr id="158" name="Flowchart: Connector 157">
                      <a:extLst>
                        <a:ext uri="{FF2B5EF4-FFF2-40B4-BE49-F238E27FC236}">
                          <a16:creationId xmlns:a16="http://schemas.microsoft.com/office/drawing/2014/main" id="{518A67EA-5E4F-7CFF-2634-3442DA71EB4E}"/>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59" name="Freeform 225">
                      <a:extLst>
                        <a:ext uri="{FF2B5EF4-FFF2-40B4-BE49-F238E27FC236}">
                          <a16:creationId xmlns:a16="http://schemas.microsoft.com/office/drawing/2014/main" id="{5C04487B-AC37-88B7-21E0-E0EBCDED9211}"/>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108" name="Straight Connector 107">
                    <a:extLst>
                      <a:ext uri="{FF2B5EF4-FFF2-40B4-BE49-F238E27FC236}">
                        <a16:creationId xmlns:a16="http://schemas.microsoft.com/office/drawing/2014/main" id="{6387650C-A739-98BF-08CD-A27A0324AE40}"/>
                      </a:ext>
                    </a:extLst>
                  </p:cNvPr>
                  <p:cNvCxnSpPr>
                    <a:stCxn id="158"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6FE25FA-0762-BC2D-A0A5-4F994088CE9E}"/>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E92C527-9FD8-3C9F-859F-60BE7B52509D}"/>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643905E6-050B-32C7-FDEB-1F9FC99B8487}"/>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76842C1-20D5-2F64-DDB0-037EB6FE58C4}"/>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6ECBE26E-F105-8C9E-3330-1E3F637AF388}"/>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14" name="Group 113">
                    <a:extLst>
                      <a:ext uri="{FF2B5EF4-FFF2-40B4-BE49-F238E27FC236}">
                        <a16:creationId xmlns:a16="http://schemas.microsoft.com/office/drawing/2014/main" id="{0010F934-A014-6ACF-34FC-451DFC20347E}"/>
                      </a:ext>
                    </a:extLst>
                  </p:cNvPr>
                  <p:cNvGrpSpPr/>
                  <p:nvPr/>
                </p:nvGrpSpPr>
                <p:grpSpPr>
                  <a:xfrm>
                    <a:off x="1565526" y="4885688"/>
                    <a:ext cx="395591" cy="540633"/>
                    <a:chOff x="1715961" y="4885759"/>
                    <a:chExt cx="395591" cy="540633"/>
                  </a:xfrm>
                </p:grpSpPr>
                <p:grpSp>
                  <p:nvGrpSpPr>
                    <p:cNvPr id="117" name="Group 116">
                      <a:extLst>
                        <a:ext uri="{FF2B5EF4-FFF2-40B4-BE49-F238E27FC236}">
                          <a16:creationId xmlns:a16="http://schemas.microsoft.com/office/drawing/2014/main" id="{D250E48E-33A1-77D7-155B-51A6701624A2}"/>
                        </a:ext>
                      </a:extLst>
                    </p:cNvPr>
                    <p:cNvGrpSpPr/>
                    <p:nvPr/>
                  </p:nvGrpSpPr>
                  <p:grpSpPr>
                    <a:xfrm>
                      <a:off x="1715961" y="4885759"/>
                      <a:ext cx="317479" cy="205665"/>
                      <a:chOff x="1548734" y="4857791"/>
                      <a:chExt cx="240352" cy="148406"/>
                    </a:xfrm>
                  </p:grpSpPr>
                  <p:cxnSp>
                    <p:nvCxnSpPr>
                      <p:cNvPr id="147" name="Straight Connector 146">
                        <a:extLst>
                          <a:ext uri="{FF2B5EF4-FFF2-40B4-BE49-F238E27FC236}">
                            <a16:creationId xmlns:a16="http://schemas.microsoft.com/office/drawing/2014/main" id="{9B8ED030-229F-89DB-734E-2C28DB5ED38B}"/>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1CB0ADD-703C-FAE2-C5F5-99E0C906E928}"/>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BE3B2A36-D58C-F5B9-7851-1C0E3A96290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5AC13DDE-23E1-EF88-0706-B566E543DD5E}"/>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9E001F5E-0ADA-DA11-67D2-3EFB9DBCAA5E}"/>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E194D1D-98F0-FDC7-7426-FC3670765339}"/>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643C0025-5101-820C-0334-8A6B77E2B0D6}"/>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CCFB93F8-2C95-88B4-412A-1A81A1D29C16}"/>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06CC611B-3282-CEDB-E9E6-75E7F7350BE1}"/>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A9D0FD7-AAB8-C9E0-8134-5708DA8AAE32}"/>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272599AE-76AF-AD8D-2FDD-B8958226B94E}"/>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18" name="Group 117">
                      <a:extLst>
                        <a:ext uri="{FF2B5EF4-FFF2-40B4-BE49-F238E27FC236}">
                          <a16:creationId xmlns:a16="http://schemas.microsoft.com/office/drawing/2014/main" id="{8872F0A4-0058-DB14-0A57-22325D8BE8CA}"/>
                        </a:ext>
                      </a:extLst>
                    </p:cNvPr>
                    <p:cNvGrpSpPr/>
                    <p:nvPr/>
                  </p:nvGrpSpPr>
                  <p:grpSpPr>
                    <a:xfrm rot="10800000" flipH="1">
                      <a:off x="1715961" y="5219603"/>
                      <a:ext cx="317479" cy="206789"/>
                      <a:chOff x="1548734" y="4857791"/>
                      <a:chExt cx="240352" cy="149217"/>
                    </a:xfrm>
                  </p:grpSpPr>
                  <p:cxnSp>
                    <p:nvCxnSpPr>
                      <p:cNvPr id="136" name="Straight Connector 135">
                        <a:extLst>
                          <a:ext uri="{FF2B5EF4-FFF2-40B4-BE49-F238E27FC236}">
                            <a16:creationId xmlns:a16="http://schemas.microsoft.com/office/drawing/2014/main" id="{832120B7-A348-575A-AABF-41C201978A9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C9AC870-F785-775F-A456-0A365C237D9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3E42442-88B7-F882-6BFC-CB410E5F9A8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2D223A2-1EC8-1A9D-227B-932EFDE4545A}"/>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7F3D2C61-6F0A-C285-6792-98480BC8EC52}"/>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63A56C1-A072-C9DD-AAE3-6527DA323EE2}"/>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6DA83760-ECCE-FD19-5716-2A60F9C5D5CE}"/>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E937AD1-421B-582A-1146-03F5571F91AF}"/>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C955CCCA-A51C-FE6A-2563-C925ABD6B344}"/>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D71D49A-5EE5-A90D-25E7-ED104B3CB6FF}"/>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7C4DE4B9-1C4C-E550-783D-FA2DDFFA9B20}"/>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19" name="Straight Connector 118">
                      <a:extLst>
                        <a:ext uri="{FF2B5EF4-FFF2-40B4-BE49-F238E27FC236}">
                          <a16:creationId xmlns:a16="http://schemas.microsoft.com/office/drawing/2014/main" id="{4829660A-624C-DB0C-4EAF-68B1ACE17B35}"/>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20" name="Group 119">
                      <a:extLst>
                        <a:ext uri="{FF2B5EF4-FFF2-40B4-BE49-F238E27FC236}">
                          <a16:creationId xmlns:a16="http://schemas.microsoft.com/office/drawing/2014/main" id="{3DB54234-5BC7-30D3-616D-CEFE47264AB7}"/>
                        </a:ext>
                      </a:extLst>
                    </p:cNvPr>
                    <p:cNvGrpSpPr/>
                    <p:nvPr/>
                  </p:nvGrpSpPr>
                  <p:grpSpPr>
                    <a:xfrm rot="5400000">
                      <a:off x="1879744" y="5102207"/>
                      <a:ext cx="335430" cy="128187"/>
                      <a:chOff x="7040920" y="3499872"/>
                      <a:chExt cx="973348" cy="287902"/>
                    </a:xfrm>
                  </p:grpSpPr>
                  <p:sp>
                    <p:nvSpPr>
                      <p:cNvPr id="123" name="Arc 122">
                        <a:extLst>
                          <a:ext uri="{FF2B5EF4-FFF2-40B4-BE49-F238E27FC236}">
                            <a16:creationId xmlns:a16="http://schemas.microsoft.com/office/drawing/2014/main" id="{4CBC57C7-2774-244A-2014-33B1E8E75B1B}"/>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124" name="Group 123">
                        <a:extLst>
                          <a:ext uri="{FF2B5EF4-FFF2-40B4-BE49-F238E27FC236}">
                            <a16:creationId xmlns:a16="http://schemas.microsoft.com/office/drawing/2014/main" id="{A98B5533-B5B7-F912-456C-CD8E495A84B9}"/>
                          </a:ext>
                        </a:extLst>
                      </p:cNvPr>
                      <p:cNvGrpSpPr/>
                      <p:nvPr/>
                    </p:nvGrpSpPr>
                    <p:grpSpPr>
                      <a:xfrm>
                        <a:off x="7208043" y="3499872"/>
                        <a:ext cx="806225" cy="286012"/>
                        <a:chOff x="7208043" y="3499872"/>
                        <a:chExt cx="806225" cy="286012"/>
                      </a:xfrm>
                    </p:grpSpPr>
                    <p:sp>
                      <p:nvSpPr>
                        <p:cNvPr id="125" name="Arc 124">
                          <a:extLst>
                            <a:ext uri="{FF2B5EF4-FFF2-40B4-BE49-F238E27FC236}">
                              <a16:creationId xmlns:a16="http://schemas.microsoft.com/office/drawing/2014/main" id="{DD66DE00-96A8-82A5-7F88-33707D717DC7}"/>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6" name="Arc 125">
                          <a:extLst>
                            <a:ext uri="{FF2B5EF4-FFF2-40B4-BE49-F238E27FC236}">
                              <a16:creationId xmlns:a16="http://schemas.microsoft.com/office/drawing/2014/main" id="{D53F0EB8-DB95-9D5A-AD6F-7F7E7DE17014}"/>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7" name="Arc 126">
                          <a:extLst>
                            <a:ext uri="{FF2B5EF4-FFF2-40B4-BE49-F238E27FC236}">
                              <a16:creationId xmlns:a16="http://schemas.microsoft.com/office/drawing/2014/main" id="{3CF469A1-5CD5-183E-0723-FDB8E9C52FD2}"/>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8" name="Arc 127">
                          <a:extLst>
                            <a:ext uri="{FF2B5EF4-FFF2-40B4-BE49-F238E27FC236}">
                              <a16:creationId xmlns:a16="http://schemas.microsoft.com/office/drawing/2014/main" id="{D723AC99-78DC-096C-B0DC-0E10F99E31B6}"/>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9" name="Arc 128">
                          <a:extLst>
                            <a:ext uri="{FF2B5EF4-FFF2-40B4-BE49-F238E27FC236}">
                              <a16:creationId xmlns:a16="http://schemas.microsoft.com/office/drawing/2014/main" id="{03E5DB24-70DC-F858-267A-5165A1C2BDBB}"/>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0" name="Arc 129">
                          <a:extLst>
                            <a:ext uri="{FF2B5EF4-FFF2-40B4-BE49-F238E27FC236}">
                              <a16:creationId xmlns:a16="http://schemas.microsoft.com/office/drawing/2014/main" id="{E5D11427-F8F8-7B2A-B7CF-6C708C776D23}"/>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1" name="Arc 130">
                          <a:extLst>
                            <a:ext uri="{FF2B5EF4-FFF2-40B4-BE49-F238E27FC236}">
                              <a16:creationId xmlns:a16="http://schemas.microsoft.com/office/drawing/2014/main" id="{F5EC3A27-3F27-E6F9-AFA7-2D5FB113C7FD}"/>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2" name="Arc 131">
                          <a:extLst>
                            <a:ext uri="{FF2B5EF4-FFF2-40B4-BE49-F238E27FC236}">
                              <a16:creationId xmlns:a16="http://schemas.microsoft.com/office/drawing/2014/main" id="{47EB196E-E02C-2AE0-EF53-EC782C05460C}"/>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3" name="Arc 132">
                          <a:extLst>
                            <a:ext uri="{FF2B5EF4-FFF2-40B4-BE49-F238E27FC236}">
                              <a16:creationId xmlns:a16="http://schemas.microsoft.com/office/drawing/2014/main" id="{8F24D27B-4E59-8352-EA48-FC41F43D1B31}"/>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4" name="Arc 133">
                          <a:extLst>
                            <a:ext uri="{FF2B5EF4-FFF2-40B4-BE49-F238E27FC236}">
                              <a16:creationId xmlns:a16="http://schemas.microsoft.com/office/drawing/2014/main" id="{B88F5F24-60A9-560B-FA53-8458BB8909E5}"/>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5" name="Arc 134">
                          <a:extLst>
                            <a:ext uri="{FF2B5EF4-FFF2-40B4-BE49-F238E27FC236}">
                              <a16:creationId xmlns:a16="http://schemas.microsoft.com/office/drawing/2014/main" id="{CD8440EB-BBD3-7A00-D66F-0707F1050094}"/>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121" name="Straight Connector 120">
                      <a:extLst>
                        <a:ext uri="{FF2B5EF4-FFF2-40B4-BE49-F238E27FC236}">
                          <a16:creationId xmlns:a16="http://schemas.microsoft.com/office/drawing/2014/main" id="{66E3247F-5737-1B4A-7D12-24A10AC73C06}"/>
                        </a:ext>
                      </a:extLst>
                    </p:cNvPr>
                    <p:cNvCxnSpPr>
                      <a:stCxn id="123"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B1A726F2-9BAC-6EF7-550B-87913B17EFFD}"/>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15" name="Straight Connector 114">
                    <a:extLst>
                      <a:ext uri="{FF2B5EF4-FFF2-40B4-BE49-F238E27FC236}">
                        <a16:creationId xmlns:a16="http://schemas.microsoft.com/office/drawing/2014/main" id="{213F6401-CF24-FB89-B670-087B1E1F38A1}"/>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9D6C5523-8600-404B-5BC0-EF1770461CDC}"/>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sp>
            <p:nvSpPr>
              <p:cNvPr id="80" name="Arc 229">
                <a:extLst>
                  <a:ext uri="{FF2B5EF4-FFF2-40B4-BE49-F238E27FC236}">
                    <a16:creationId xmlns:a16="http://schemas.microsoft.com/office/drawing/2014/main" id="{B4434BDA-FE5A-7B26-FD48-1F3BD03A414D}"/>
                  </a:ext>
                </a:extLst>
              </p:cNvPr>
              <p:cNvSpPr/>
              <p:nvPr/>
            </p:nvSpPr>
            <p:spPr>
              <a:xfrm>
                <a:off x="3404254" y="2012885"/>
                <a:ext cx="445597" cy="695255"/>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Lst>
                <a:ahLst/>
                <a:cxnLst>
                  <a:cxn ang="0">
                    <a:pos x="connsiteX0" y="connsiteY0"/>
                  </a:cxn>
                  <a:cxn ang="0">
                    <a:pos x="connsiteX1" y="connsiteY1"/>
                  </a:cxn>
                  <a:cxn ang="0">
                    <a:pos x="connsiteX2" y="connsiteY2"/>
                  </a:cxn>
                </a:cxnLst>
                <a:rect l="l" t="t" r="r" b="b"/>
                <a:pathLst>
                  <a:path w="445597" h="695255" stroke="0" extrusionOk="0">
                    <a:moveTo>
                      <a:pt x="74436" y="42862"/>
                    </a:moveTo>
                    <a:cubicBezTo>
                      <a:pt x="215359" y="60711"/>
                      <a:pt x="346289" y="135815"/>
                      <a:pt x="445597" y="242661"/>
                    </a:cubicBezTo>
                    <a:lnTo>
                      <a:pt x="0" y="695255"/>
                    </a:lnTo>
                    <a:lnTo>
                      <a:pt x="74436" y="42862"/>
                    </a:lnTo>
                    <a:close/>
                  </a:path>
                  <a:path w="445597" h="695255" fill="none">
                    <a:moveTo>
                      <a:pt x="38717" y="0"/>
                    </a:moveTo>
                    <a:cubicBezTo>
                      <a:pt x="96131" y="22651"/>
                      <a:pt x="153464" y="34654"/>
                      <a:pt x="210959" y="67954"/>
                    </a:cubicBezTo>
                    <a:cubicBezTo>
                      <a:pt x="268454" y="101254"/>
                      <a:pt x="326110" y="155850"/>
                      <a:pt x="383685" y="199798"/>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1" name="Arc 229">
                <a:extLst>
                  <a:ext uri="{FF2B5EF4-FFF2-40B4-BE49-F238E27FC236}">
                    <a16:creationId xmlns:a16="http://schemas.microsoft.com/office/drawing/2014/main" id="{BFE7498E-144D-BE23-9D3A-FD25DD2A1C10}"/>
                  </a:ext>
                </a:extLst>
              </p:cNvPr>
              <p:cNvSpPr/>
              <p:nvPr/>
            </p:nvSpPr>
            <p:spPr>
              <a:xfrm>
                <a:off x="3417574" y="2136762"/>
                <a:ext cx="445597" cy="707161"/>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31297 w 445597"/>
                  <a:gd name="connsiteY2" fmla="*/ 17836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00341 w 445597"/>
                  <a:gd name="connsiteY2" fmla="*/ 15455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283672 w 445597"/>
                  <a:gd name="connsiteY2" fmla="*/ 135504 h 695255"/>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83672 w 445597"/>
                  <a:gd name="connsiteY2" fmla="*/ 147410 h 707161"/>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74147 w 445597"/>
                  <a:gd name="connsiteY2" fmla="*/ 140266 h 707161"/>
                </a:gdLst>
                <a:ahLst/>
                <a:cxnLst>
                  <a:cxn ang="0">
                    <a:pos x="connsiteX0" y="connsiteY0"/>
                  </a:cxn>
                  <a:cxn ang="0">
                    <a:pos x="connsiteX1" y="connsiteY1"/>
                  </a:cxn>
                  <a:cxn ang="0">
                    <a:pos x="connsiteX2" y="connsiteY2"/>
                  </a:cxn>
                </a:cxnLst>
                <a:rect l="l" t="t" r="r" b="b"/>
                <a:pathLst>
                  <a:path w="445597" h="707161" stroke="0" extrusionOk="0">
                    <a:moveTo>
                      <a:pt x="74436" y="54768"/>
                    </a:moveTo>
                    <a:cubicBezTo>
                      <a:pt x="215359" y="72617"/>
                      <a:pt x="346289" y="147721"/>
                      <a:pt x="445597" y="254567"/>
                    </a:cubicBezTo>
                    <a:lnTo>
                      <a:pt x="0" y="707161"/>
                    </a:lnTo>
                    <a:lnTo>
                      <a:pt x="74436" y="54768"/>
                    </a:lnTo>
                    <a:close/>
                  </a:path>
                  <a:path w="445597" h="707161" fill="none">
                    <a:moveTo>
                      <a:pt x="33955" y="0"/>
                    </a:moveTo>
                    <a:cubicBezTo>
                      <a:pt x="91369" y="22651"/>
                      <a:pt x="148701" y="53703"/>
                      <a:pt x="206196" y="87003"/>
                    </a:cubicBezTo>
                    <a:cubicBezTo>
                      <a:pt x="263691" y="120303"/>
                      <a:pt x="216572" y="96318"/>
                      <a:pt x="274147" y="140266"/>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2" name="Arc 229">
                <a:extLst>
                  <a:ext uri="{FF2B5EF4-FFF2-40B4-BE49-F238E27FC236}">
                    <a16:creationId xmlns:a16="http://schemas.microsoft.com/office/drawing/2014/main" id="{6E209745-C4A6-BBBC-2EEB-82D778F74134}"/>
                  </a:ext>
                </a:extLst>
              </p:cNvPr>
              <p:cNvSpPr/>
              <p:nvPr/>
            </p:nvSpPr>
            <p:spPr>
              <a:xfrm rot="1579328">
                <a:off x="3519897" y="2386247"/>
                <a:ext cx="465863" cy="714530"/>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31297 w 445597"/>
                  <a:gd name="connsiteY2" fmla="*/ 17836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00341 w 445597"/>
                  <a:gd name="connsiteY2" fmla="*/ 15455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283672 w 445597"/>
                  <a:gd name="connsiteY2" fmla="*/ 135504 h 695255"/>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83672 w 445597"/>
                  <a:gd name="connsiteY2" fmla="*/ 147410 h 707161"/>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74147 w 445597"/>
                  <a:gd name="connsiteY2" fmla="*/ 140266 h 707161"/>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6462 w 465863"/>
                  <a:gd name="connsiteY1" fmla="*/ 87003 h 714530"/>
                  <a:gd name="connsiteX2" fmla="*/ 294413 w 465863"/>
                  <a:gd name="connsiteY2" fmla="*/ 140266 h 714530"/>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6462 w 465863"/>
                  <a:gd name="connsiteY1" fmla="*/ 87003 h 714530"/>
                  <a:gd name="connsiteX2" fmla="*/ 284820 w 465863"/>
                  <a:gd name="connsiteY2" fmla="*/ 142355 h 714530"/>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4328 w 465863"/>
                  <a:gd name="connsiteY1" fmla="*/ 88058 h 714530"/>
                  <a:gd name="connsiteX2" fmla="*/ 284820 w 465863"/>
                  <a:gd name="connsiteY2" fmla="*/ 142355 h 714530"/>
                </a:gdLst>
                <a:ahLst/>
                <a:cxnLst>
                  <a:cxn ang="0">
                    <a:pos x="connsiteX0" y="connsiteY0"/>
                  </a:cxn>
                  <a:cxn ang="0">
                    <a:pos x="connsiteX1" y="connsiteY1"/>
                  </a:cxn>
                  <a:cxn ang="0">
                    <a:pos x="connsiteX2" y="connsiteY2"/>
                  </a:cxn>
                </a:cxnLst>
                <a:rect l="l" t="t" r="r" b="b"/>
                <a:pathLst>
                  <a:path w="465863" h="714530" stroke="0" extrusionOk="0">
                    <a:moveTo>
                      <a:pt x="94702" y="54768"/>
                    </a:moveTo>
                    <a:cubicBezTo>
                      <a:pt x="235625" y="72617"/>
                      <a:pt x="366555" y="147721"/>
                      <a:pt x="465863" y="254567"/>
                    </a:cubicBezTo>
                    <a:lnTo>
                      <a:pt x="0" y="714530"/>
                    </a:lnTo>
                    <a:lnTo>
                      <a:pt x="94702" y="54768"/>
                    </a:lnTo>
                    <a:close/>
                  </a:path>
                  <a:path w="465863" h="714530" fill="none">
                    <a:moveTo>
                      <a:pt x="54221" y="0"/>
                    </a:moveTo>
                    <a:cubicBezTo>
                      <a:pt x="111635" y="22651"/>
                      <a:pt x="166833" y="54758"/>
                      <a:pt x="224328" y="88058"/>
                    </a:cubicBezTo>
                    <a:cubicBezTo>
                      <a:pt x="281823" y="121358"/>
                      <a:pt x="227245" y="98407"/>
                      <a:pt x="284820" y="142355"/>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3" name="Arc 229">
                <a:extLst>
                  <a:ext uri="{FF2B5EF4-FFF2-40B4-BE49-F238E27FC236}">
                    <a16:creationId xmlns:a16="http://schemas.microsoft.com/office/drawing/2014/main" id="{B03DC247-1BFD-1AB9-681E-2A2A7B3F9EA1}"/>
                  </a:ext>
                </a:extLst>
              </p:cNvPr>
              <p:cNvSpPr/>
              <p:nvPr/>
            </p:nvSpPr>
            <p:spPr>
              <a:xfrm rot="1802635">
                <a:off x="3580864" y="2301262"/>
                <a:ext cx="445597" cy="684825"/>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27663 h 680056"/>
                  <a:gd name="connsiteX1" fmla="*/ 445597 w 445597"/>
                  <a:gd name="connsiteY1" fmla="*/ 227462 h 680056"/>
                  <a:gd name="connsiteX2" fmla="*/ 0 w 445597"/>
                  <a:gd name="connsiteY2" fmla="*/ 680056 h 680056"/>
                  <a:gd name="connsiteX3" fmla="*/ 74436 w 445597"/>
                  <a:gd name="connsiteY3" fmla="*/ 27663 h 680056"/>
                  <a:gd name="connsiteX0" fmla="*/ 69514 w 445597"/>
                  <a:gd name="connsiteY0" fmla="*/ 0 h 680056"/>
                  <a:gd name="connsiteX1" fmla="*/ 210959 w 445597"/>
                  <a:gd name="connsiteY1" fmla="*/ 52755 h 680056"/>
                  <a:gd name="connsiteX2" fmla="*/ 383685 w 445597"/>
                  <a:gd name="connsiteY2" fmla="*/ 184599 h 680056"/>
                  <a:gd name="connsiteX0" fmla="*/ 74436 w 445597"/>
                  <a:gd name="connsiteY0" fmla="*/ 32432 h 684825"/>
                  <a:gd name="connsiteX1" fmla="*/ 445597 w 445597"/>
                  <a:gd name="connsiteY1" fmla="*/ 232231 h 684825"/>
                  <a:gd name="connsiteX2" fmla="*/ 0 w 445597"/>
                  <a:gd name="connsiteY2" fmla="*/ 684825 h 684825"/>
                  <a:gd name="connsiteX3" fmla="*/ 74436 w 445597"/>
                  <a:gd name="connsiteY3" fmla="*/ 32432 h 684825"/>
                  <a:gd name="connsiteX0" fmla="*/ 77759 w 445597"/>
                  <a:gd name="connsiteY0" fmla="*/ 0 h 684825"/>
                  <a:gd name="connsiteX1" fmla="*/ 210959 w 445597"/>
                  <a:gd name="connsiteY1" fmla="*/ 57524 h 684825"/>
                  <a:gd name="connsiteX2" fmla="*/ 383685 w 445597"/>
                  <a:gd name="connsiteY2" fmla="*/ 189368 h 684825"/>
                </a:gdLst>
                <a:ahLst/>
                <a:cxnLst>
                  <a:cxn ang="0">
                    <a:pos x="connsiteX0" y="connsiteY0"/>
                  </a:cxn>
                  <a:cxn ang="0">
                    <a:pos x="connsiteX1" y="connsiteY1"/>
                  </a:cxn>
                  <a:cxn ang="0">
                    <a:pos x="connsiteX2" y="connsiteY2"/>
                  </a:cxn>
                </a:cxnLst>
                <a:rect l="l" t="t" r="r" b="b"/>
                <a:pathLst>
                  <a:path w="445597" h="684825" stroke="0" extrusionOk="0">
                    <a:moveTo>
                      <a:pt x="74436" y="32432"/>
                    </a:moveTo>
                    <a:cubicBezTo>
                      <a:pt x="215359" y="50281"/>
                      <a:pt x="346289" y="125385"/>
                      <a:pt x="445597" y="232231"/>
                    </a:cubicBezTo>
                    <a:lnTo>
                      <a:pt x="0" y="684825"/>
                    </a:lnTo>
                    <a:lnTo>
                      <a:pt x="74436" y="32432"/>
                    </a:lnTo>
                    <a:close/>
                  </a:path>
                  <a:path w="445597" h="684825" fill="none">
                    <a:moveTo>
                      <a:pt x="77759" y="0"/>
                    </a:moveTo>
                    <a:cubicBezTo>
                      <a:pt x="135173" y="22651"/>
                      <a:pt x="153464" y="24224"/>
                      <a:pt x="210959" y="57524"/>
                    </a:cubicBezTo>
                    <a:cubicBezTo>
                      <a:pt x="268454" y="90824"/>
                      <a:pt x="326110" y="145420"/>
                      <a:pt x="383685" y="189368"/>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cxnSp>
            <p:nvCxnSpPr>
              <p:cNvPr id="84" name="Straight Arrow Connector 83">
                <a:extLst>
                  <a:ext uri="{FF2B5EF4-FFF2-40B4-BE49-F238E27FC236}">
                    <a16:creationId xmlns:a16="http://schemas.microsoft.com/office/drawing/2014/main" id="{51A6B52D-D157-E503-A41D-445CE8FD6F6B}"/>
                  </a:ext>
                </a:extLst>
              </p:cNvPr>
              <p:cNvCxnSpPr/>
              <p:nvPr/>
            </p:nvCxnSpPr>
            <p:spPr>
              <a:xfrm flipH="1">
                <a:off x="3787821" y="2033646"/>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85" name="Oval 84">
                <a:extLst>
                  <a:ext uri="{FF2B5EF4-FFF2-40B4-BE49-F238E27FC236}">
                    <a16:creationId xmlns:a16="http://schemas.microsoft.com/office/drawing/2014/main" id="{1775E718-991C-3B07-C7FF-2BA5B94A5A8A}"/>
                  </a:ext>
                </a:extLst>
              </p:cNvPr>
              <p:cNvSpPr/>
              <p:nvPr/>
            </p:nvSpPr>
            <p:spPr>
              <a:xfrm>
                <a:off x="3731026" y="2150018"/>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86" name="Straight Arrow Connector 85">
                <a:extLst>
                  <a:ext uri="{FF2B5EF4-FFF2-40B4-BE49-F238E27FC236}">
                    <a16:creationId xmlns:a16="http://schemas.microsoft.com/office/drawing/2014/main" id="{B394479A-DE61-4CC3-0D0B-D56874E2868A}"/>
                  </a:ext>
                </a:extLst>
              </p:cNvPr>
              <p:cNvCxnSpPr/>
              <p:nvPr/>
            </p:nvCxnSpPr>
            <p:spPr>
              <a:xfrm flipH="1">
                <a:off x="3783216" y="2207986"/>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87" name="Oval 86">
                <a:extLst>
                  <a:ext uri="{FF2B5EF4-FFF2-40B4-BE49-F238E27FC236}">
                    <a16:creationId xmlns:a16="http://schemas.microsoft.com/office/drawing/2014/main" id="{AEBE58C2-63C0-7D85-8533-4A7D128871A1}"/>
                  </a:ext>
                </a:extLst>
              </p:cNvPr>
              <p:cNvSpPr/>
              <p:nvPr/>
            </p:nvSpPr>
            <p:spPr>
              <a:xfrm>
                <a:off x="3726421" y="2324358"/>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88" name="Group 87">
                <a:extLst>
                  <a:ext uri="{FF2B5EF4-FFF2-40B4-BE49-F238E27FC236}">
                    <a16:creationId xmlns:a16="http://schemas.microsoft.com/office/drawing/2014/main" id="{85F0D06A-6988-A273-795C-65CF776697F9}"/>
                  </a:ext>
                </a:extLst>
              </p:cNvPr>
              <p:cNvGrpSpPr/>
              <p:nvPr/>
            </p:nvGrpSpPr>
            <p:grpSpPr>
              <a:xfrm rot="5249163">
                <a:off x="3799086" y="3146165"/>
                <a:ext cx="243197" cy="363930"/>
                <a:chOff x="5602759" y="4130641"/>
                <a:chExt cx="243197" cy="363930"/>
              </a:xfrm>
            </p:grpSpPr>
            <p:cxnSp>
              <p:nvCxnSpPr>
                <p:cNvPr id="101" name="Straight Arrow Connector 100">
                  <a:extLst>
                    <a:ext uri="{FF2B5EF4-FFF2-40B4-BE49-F238E27FC236}">
                      <a16:creationId xmlns:a16="http://schemas.microsoft.com/office/drawing/2014/main" id="{70EA1D70-F7DE-3522-4FC0-23AE1291400D}"/>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2" name="Oval 101">
                  <a:extLst>
                    <a:ext uri="{FF2B5EF4-FFF2-40B4-BE49-F238E27FC236}">
                      <a16:creationId xmlns:a16="http://schemas.microsoft.com/office/drawing/2014/main" id="{671037D0-6D0F-C459-7CA1-EC1FDC970266}"/>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103" name="Straight Arrow Connector 102">
                  <a:extLst>
                    <a:ext uri="{FF2B5EF4-FFF2-40B4-BE49-F238E27FC236}">
                      <a16:creationId xmlns:a16="http://schemas.microsoft.com/office/drawing/2014/main" id="{B041C2FE-5B4C-3A82-F6FA-92E200C8DA43}"/>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4" name="Oval 103">
                  <a:extLst>
                    <a:ext uri="{FF2B5EF4-FFF2-40B4-BE49-F238E27FC236}">
                      <a16:creationId xmlns:a16="http://schemas.microsoft.com/office/drawing/2014/main" id="{4B77755F-010D-B497-65A1-FB40A97292D9}"/>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grpSp>
            <p:nvGrpSpPr>
              <p:cNvPr id="89" name="Group 88">
                <a:extLst>
                  <a:ext uri="{FF2B5EF4-FFF2-40B4-BE49-F238E27FC236}">
                    <a16:creationId xmlns:a16="http://schemas.microsoft.com/office/drawing/2014/main" id="{F6C0E69F-2AB9-7C13-CF19-5979682B5771}"/>
                  </a:ext>
                </a:extLst>
              </p:cNvPr>
              <p:cNvGrpSpPr/>
              <p:nvPr/>
            </p:nvGrpSpPr>
            <p:grpSpPr>
              <a:xfrm rot="9806704">
                <a:off x="2520333" y="3213078"/>
                <a:ext cx="243197" cy="363930"/>
                <a:chOff x="5602759" y="4130641"/>
                <a:chExt cx="243197" cy="363930"/>
              </a:xfrm>
            </p:grpSpPr>
            <p:cxnSp>
              <p:nvCxnSpPr>
                <p:cNvPr id="97" name="Straight Arrow Connector 96">
                  <a:extLst>
                    <a:ext uri="{FF2B5EF4-FFF2-40B4-BE49-F238E27FC236}">
                      <a16:creationId xmlns:a16="http://schemas.microsoft.com/office/drawing/2014/main" id="{6DDB6223-4029-768D-75AF-2BD3924A7363}"/>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8" name="Oval 97">
                  <a:extLst>
                    <a:ext uri="{FF2B5EF4-FFF2-40B4-BE49-F238E27FC236}">
                      <a16:creationId xmlns:a16="http://schemas.microsoft.com/office/drawing/2014/main" id="{F3443673-FB8C-9FC2-E002-ADB259B03994}"/>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99" name="Straight Arrow Connector 98">
                  <a:extLst>
                    <a:ext uri="{FF2B5EF4-FFF2-40B4-BE49-F238E27FC236}">
                      <a16:creationId xmlns:a16="http://schemas.microsoft.com/office/drawing/2014/main" id="{9FD66221-1EDC-7202-8B78-7EDDEA743ED5}"/>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0" name="Oval 99">
                  <a:extLst>
                    <a:ext uri="{FF2B5EF4-FFF2-40B4-BE49-F238E27FC236}">
                      <a16:creationId xmlns:a16="http://schemas.microsoft.com/office/drawing/2014/main" id="{D4824CF1-4234-4453-8068-34997F2A44D3}"/>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grpSp>
            <p:nvGrpSpPr>
              <p:cNvPr id="90" name="Group 89">
                <a:extLst>
                  <a:ext uri="{FF2B5EF4-FFF2-40B4-BE49-F238E27FC236}">
                    <a16:creationId xmlns:a16="http://schemas.microsoft.com/office/drawing/2014/main" id="{C9C90758-7064-4F56-2608-F3C0BFC36119}"/>
                  </a:ext>
                </a:extLst>
              </p:cNvPr>
              <p:cNvGrpSpPr/>
              <p:nvPr/>
            </p:nvGrpSpPr>
            <p:grpSpPr>
              <a:xfrm rot="16624087">
                <a:off x="2501532" y="2050529"/>
                <a:ext cx="243197" cy="363930"/>
                <a:chOff x="5602759" y="4130641"/>
                <a:chExt cx="243197" cy="363930"/>
              </a:xfrm>
            </p:grpSpPr>
            <p:cxnSp>
              <p:nvCxnSpPr>
                <p:cNvPr id="93" name="Straight Arrow Connector 92">
                  <a:extLst>
                    <a:ext uri="{FF2B5EF4-FFF2-40B4-BE49-F238E27FC236}">
                      <a16:creationId xmlns:a16="http://schemas.microsoft.com/office/drawing/2014/main" id="{26CD3F43-432F-4284-592F-06E3828C75E3}"/>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4" name="Oval 93">
                  <a:extLst>
                    <a:ext uri="{FF2B5EF4-FFF2-40B4-BE49-F238E27FC236}">
                      <a16:creationId xmlns:a16="http://schemas.microsoft.com/office/drawing/2014/main" id="{6A69B94C-F2D4-8183-E6E1-33B54EF04E07}"/>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95" name="Straight Arrow Connector 94">
                  <a:extLst>
                    <a:ext uri="{FF2B5EF4-FFF2-40B4-BE49-F238E27FC236}">
                      <a16:creationId xmlns:a16="http://schemas.microsoft.com/office/drawing/2014/main" id="{2960B250-1DE2-40F2-7C66-6AD544601F8B}"/>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6" name="Oval 95">
                  <a:extLst>
                    <a:ext uri="{FF2B5EF4-FFF2-40B4-BE49-F238E27FC236}">
                      <a16:creationId xmlns:a16="http://schemas.microsoft.com/office/drawing/2014/main" id="{C06E7558-330C-6F24-803C-D1261556689A}"/>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91" name="Straight Arrow Connector 90">
                <a:extLst>
                  <a:ext uri="{FF2B5EF4-FFF2-40B4-BE49-F238E27FC236}">
                    <a16:creationId xmlns:a16="http://schemas.microsoft.com/office/drawing/2014/main" id="{64C2B8B2-F69F-FAE6-0740-B7747E72A325}"/>
                  </a:ext>
                </a:extLst>
              </p:cNvPr>
              <p:cNvCxnSpPr/>
              <p:nvPr/>
            </p:nvCxnSpPr>
            <p:spPr>
              <a:xfrm flipH="1">
                <a:off x="1969560" y="2603583"/>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92" name="Straight Arrow Connector 91">
                <a:extLst>
                  <a:ext uri="{FF2B5EF4-FFF2-40B4-BE49-F238E27FC236}">
                    <a16:creationId xmlns:a16="http://schemas.microsoft.com/office/drawing/2014/main" id="{944B529B-E769-35F3-6511-69CD3C593B65}"/>
                  </a:ext>
                </a:extLst>
              </p:cNvPr>
              <p:cNvCxnSpPr/>
              <p:nvPr/>
            </p:nvCxnSpPr>
            <p:spPr>
              <a:xfrm flipV="1">
                <a:off x="1961702" y="2843923"/>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grpSp>
          <p:nvGrpSpPr>
            <p:cNvPr id="58" name="Group 57">
              <a:extLst>
                <a:ext uri="{FF2B5EF4-FFF2-40B4-BE49-F238E27FC236}">
                  <a16:creationId xmlns:a16="http://schemas.microsoft.com/office/drawing/2014/main" id="{173B8539-914D-AF81-CD28-C4FA7D825B72}"/>
                </a:ext>
              </a:extLst>
            </p:cNvPr>
            <p:cNvGrpSpPr/>
            <p:nvPr/>
          </p:nvGrpSpPr>
          <p:grpSpPr>
            <a:xfrm>
              <a:off x="4416682" y="2107059"/>
              <a:ext cx="768259" cy="1370350"/>
              <a:chOff x="7937102" y="4924808"/>
              <a:chExt cx="768259" cy="1370350"/>
            </a:xfrm>
          </p:grpSpPr>
          <p:cxnSp>
            <p:nvCxnSpPr>
              <p:cNvPr id="65" name="Straight Arrow Connector 64">
                <a:extLst>
                  <a:ext uri="{FF2B5EF4-FFF2-40B4-BE49-F238E27FC236}">
                    <a16:creationId xmlns:a16="http://schemas.microsoft.com/office/drawing/2014/main" id="{69D009D1-CA13-ECC4-BC56-9D08FB2A1B86}"/>
                  </a:ext>
                </a:extLst>
              </p:cNvPr>
              <p:cNvCxnSpPr/>
              <p:nvPr/>
            </p:nvCxnSpPr>
            <p:spPr>
              <a:xfrm flipH="1">
                <a:off x="7940155" y="5090734"/>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444C17AE-3D49-3F54-55B7-B8022763696B}"/>
                  </a:ext>
                </a:extLst>
              </p:cNvPr>
              <p:cNvCxnSpPr/>
              <p:nvPr/>
            </p:nvCxnSpPr>
            <p:spPr>
              <a:xfrm flipH="1">
                <a:off x="7940155" y="5352127"/>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7" name="Straight Arrow Connector 66">
                <a:extLst>
                  <a:ext uri="{FF2B5EF4-FFF2-40B4-BE49-F238E27FC236}">
                    <a16:creationId xmlns:a16="http://schemas.microsoft.com/office/drawing/2014/main" id="{13663F5A-F102-6F13-A5FA-DFF3246C46E4}"/>
                  </a:ext>
                </a:extLst>
              </p:cNvPr>
              <p:cNvCxnSpPr/>
              <p:nvPr/>
            </p:nvCxnSpPr>
            <p:spPr>
              <a:xfrm flipH="1">
                <a:off x="7937102" y="5579718"/>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8" name="Straight Arrow Connector 67">
                <a:extLst>
                  <a:ext uri="{FF2B5EF4-FFF2-40B4-BE49-F238E27FC236}">
                    <a16:creationId xmlns:a16="http://schemas.microsoft.com/office/drawing/2014/main" id="{DC6980CE-2DEA-95DF-3CCE-86D293B243C2}"/>
                  </a:ext>
                </a:extLst>
              </p:cNvPr>
              <p:cNvCxnSpPr/>
              <p:nvPr/>
            </p:nvCxnSpPr>
            <p:spPr>
              <a:xfrm flipH="1">
                <a:off x="7937102" y="6135991"/>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9" name="Straight Arrow Connector 68">
                <a:extLst>
                  <a:ext uri="{FF2B5EF4-FFF2-40B4-BE49-F238E27FC236}">
                    <a16:creationId xmlns:a16="http://schemas.microsoft.com/office/drawing/2014/main" id="{B879583D-AFD5-64A0-C4FB-63BF89D399AA}"/>
                  </a:ext>
                </a:extLst>
              </p:cNvPr>
              <p:cNvCxnSpPr/>
              <p:nvPr/>
            </p:nvCxnSpPr>
            <p:spPr>
              <a:xfrm>
                <a:off x="8095507" y="5639387"/>
                <a:ext cx="0" cy="448172"/>
              </a:xfrm>
              <a:prstGeom prst="straightConnector1">
                <a:avLst/>
              </a:prstGeom>
              <a:ln w="2540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F27C9DC2-53DE-1076-0AAF-CCA9E9A44D8B}"/>
                      </a:ext>
                    </a:extLst>
                  </p:cNvPr>
                  <p:cNvSpPr/>
                  <p:nvPr/>
                </p:nvSpPr>
                <p:spPr>
                  <a:xfrm>
                    <a:off x="8241970" y="4924808"/>
                    <a:ext cx="447130"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445" name="Rectangle 444">
                    <a:extLst>
                      <a:ext uri="{FF2B5EF4-FFF2-40B4-BE49-F238E27FC236}">
                        <a16:creationId xmlns:a16="http://schemas.microsoft.com/office/drawing/2014/main" id="{F27C9DC2-53DE-1076-0AAF-CCA9E9A44D8B}"/>
                      </a:ext>
                    </a:extLst>
                  </p:cNvPr>
                  <p:cNvSpPr>
                    <a:spLocks noRot="1" noChangeAspect="1" noMove="1" noResize="1" noEditPoints="1" noAdjustHandles="1" noChangeArrowheads="1" noChangeShapeType="1" noTextEdit="1"/>
                  </p:cNvSpPr>
                  <p:nvPr/>
                </p:nvSpPr>
                <p:spPr>
                  <a:xfrm>
                    <a:off x="8241970" y="4924808"/>
                    <a:ext cx="447130" cy="32313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DA6AE690-A67E-33C2-708B-1F0E2A074246}"/>
                      </a:ext>
                    </a:extLst>
                  </p:cNvPr>
                  <p:cNvSpPr/>
                  <p:nvPr/>
                </p:nvSpPr>
                <p:spPr>
                  <a:xfrm>
                    <a:off x="8258231" y="5198975"/>
                    <a:ext cx="447130"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446" name="Rectangle 445">
                    <a:extLst>
                      <a:ext uri="{FF2B5EF4-FFF2-40B4-BE49-F238E27FC236}">
                        <a16:creationId xmlns:a16="http://schemas.microsoft.com/office/drawing/2014/main" id="{DA6AE690-A67E-33C2-708B-1F0E2A074246}"/>
                      </a:ext>
                    </a:extLst>
                  </p:cNvPr>
                  <p:cNvSpPr>
                    <a:spLocks noRot="1" noChangeAspect="1" noMove="1" noResize="1" noEditPoints="1" noAdjustHandles="1" noChangeArrowheads="1" noChangeShapeType="1" noTextEdit="1"/>
                  </p:cNvSpPr>
                  <p:nvPr/>
                </p:nvSpPr>
                <p:spPr>
                  <a:xfrm>
                    <a:off x="8258231" y="5198975"/>
                    <a:ext cx="447130" cy="32313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0934DE4C-6786-0CF1-804F-5263D3E45F40}"/>
                      </a:ext>
                    </a:extLst>
                  </p:cNvPr>
                  <p:cNvSpPr/>
                  <p:nvPr/>
                </p:nvSpPr>
                <p:spPr>
                  <a:xfrm>
                    <a:off x="8252593" y="5449344"/>
                    <a:ext cx="447131"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447" name="Rectangle 446">
                    <a:extLst>
                      <a:ext uri="{FF2B5EF4-FFF2-40B4-BE49-F238E27FC236}">
                        <a16:creationId xmlns:a16="http://schemas.microsoft.com/office/drawing/2014/main" id="{0934DE4C-6786-0CF1-804F-5263D3E45F40}"/>
                      </a:ext>
                    </a:extLst>
                  </p:cNvPr>
                  <p:cNvSpPr>
                    <a:spLocks noRot="1" noChangeAspect="1" noMove="1" noResize="1" noEditPoints="1" noAdjustHandles="1" noChangeArrowheads="1" noChangeShapeType="1" noTextEdit="1"/>
                  </p:cNvSpPr>
                  <p:nvPr/>
                </p:nvSpPr>
                <p:spPr>
                  <a:xfrm>
                    <a:off x="8252593" y="5449344"/>
                    <a:ext cx="447131" cy="32313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B3D1D274-CF6F-3DD0-274A-8B003133BB6D}"/>
                      </a:ext>
                    </a:extLst>
                  </p:cNvPr>
                  <p:cNvSpPr/>
                  <p:nvPr/>
                </p:nvSpPr>
                <p:spPr>
                  <a:xfrm>
                    <a:off x="8203059" y="5972019"/>
                    <a:ext cx="462094"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448" name="Rectangle 447">
                    <a:extLst>
                      <a:ext uri="{FF2B5EF4-FFF2-40B4-BE49-F238E27FC236}">
                        <a16:creationId xmlns:a16="http://schemas.microsoft.com/office/drawing/2014/main" id="{B3D1D274-CF6F-3DD0-274A-8B003133BB6D}"/>
                      </a:ext>
                    </a:extLst>
                  </p:cNvPr>
                  <p:cNvSpPr>
                    <a:spLocks noRot="1" noChangeAspect="1" noMove="1" noResize="1" noEditPoints="1" noAdjustHandles="1" noChangeArrowheads="1" noChangeShapeType="1" noTextEdit="1"/>
                  </p:cNvSpPr>
                  <p:nvPr/>
                </p:nvSpPr>
                <p:spPr>
                  <a:xfrm>
                    <a:off x="8203059" y="5972019"/>
                    <a:ext cx="462094" cy="323139"/>
                  </a:xfrm>
                  <a:prstGeom prst="rect">
                    <a:avLst/>
                  </a:prstGeom>
                  <a:blipFill>
                    <a:blip r:embed="rId6"/>
                    <a:stretch>
                      <a:fillRect/>
                    </a:stretch>
                  </a:blipFill>
                </p:spPr>
                <p:txBody>
                  <a:bodyPr/>
                  <a:lstStyle/>
                  <a:p>
                    <a:r>
                      <a:rPr lang="en-US">
                        <a:noFill/>
                      </a:rPr>
                      <a:t> </a:t>
                    </a:r>
                  </a:p>
                </p:txBody>
              </p:sp>
            </mc:Fallback>
          </mc:AlternateContent>
        </p:grpSp>
        <p:sp>
          <p:nvSpPr>
            <p:cNvPr id="59" name="Rectangle 58">
              <a:extLst>
                <a:ext uri="{FF2B5EF4-FFF2-40B4-BE49-F238E27FC236}">
                  <a16:creationId xmlns:a16="http://schemas.microsoft.com/office/drawing/2014/main" id="{F985062D-2C10-9C25-47E6-4F4ECEE4D10C}"/>
                </a:ext>
              </a:extLst>
            </p:cNvPr>
            <p:cNvSpPr/>
            <p:nvPr/>
          </p:nvSpPr>
          <p:spPr>
            <a:xfrm>
              <a:off x="2825770" y="2120527"/>
              <a:ext cx="876736" cy="323139"/>
            </a:xfrm>
            <a:prstGeom prst="rect">
              <a:avLst/>
            </a:prstGeom>
          </p:spPr>
          <p:txBody>
            <a:bodyPr wrap="none">
              <a:spAutoFit/>
            </a:bodyPr>
            <a:lstStyle/>
            <a:p>
              <a:r>
                <a:rPr lang="en-US" sz="900" b="1"/>
                <a:t>LC-VCO</a:t>
              </a:r>
            </a:p>
          </p:txBody>
        </p:sp>
        <p:sp>
          <p:nvSpPr>
            <p:cNvPr id="60" name="Rectangle 59">
              <a:extLst>
                <a:ext uri="{FF2B5EF4-FFF2-40B4-BE49-F238E27FC236}">
                  <a16:creationId xmlns:a16="http://schemas.microsoft.com/office/drawing/2014/main" id="{6EFBD9D1-8CD2-CFBE-8FD6-9244DC01F25D}"/>
                </a:ext>
              </a:extLst>
            </p:cNvPr>
            <p:cNvSpPr/>
            <p:nvPr/>
          </p:nvSpPr>
          <p:spPr>
            <a:xfrm>
              <a:off x="2507685" y="2632332"/>
              <a:ext cx="876736" cy="323139"/>
            </a:xfrm>
            <a:prstGeom prst="rect">
              <a:avLst/>
            </a:prstGeom>
          </p:spPr>
          <p:txBody>
            <a:bodyPr wrap="none">
              <a:spAutoFit/>
            </a:bodyPr>
            <a:lstStyle/>
            <a:p>
              <a:r>
                <a:rPr lang="en-US" sz="900" b="1" dirty="0"/>
                <a:t>LC-VCO</a:t>
              </a:r>
            </a:p>
          </p:txBody>
        </p:sp>
        <p:sp>
          <p:nvSpPr>
            <p:cNvPr id="61" name="Rectangle 60">
              <a:extLst>
                <a:ext uri="{FF2B5EF4-FFF2-40B4-BE49-F238E27FC236}">
                  <a16:creationId xmlns:a16="http://schemas.microsoft.com/office/drawing/2014/main" id="{580A9E6B-D59A-9A5E-B6B2-7B50F3F0A606}"/>
                </a:ext>
              </a:extLst>
            </p:cNvPr>
            <p:cNvSpPr/>
            <p:nvPr/>
          </p:nvSpPr>
          <p:spPr>
            <a:xfrm>
              <a:off x="2845249" y="3108853"/>
              <a:ext cx="876736" cy="323139"/>
            </a:xfrm>
            <a:prstGeom prst="rect">
              <a:avLst/>
            </a:prstGeom>
          </p:spPr>
          <p:txBody>
            <a:bodyPr wrap="none">
              <a:spAutoFit/>
            </a:bodyPr>
            <a:lstStyle/>
            <a:p>
              <a:r>
                <a:rPr lang="en-US" sz="900" b="1"/>
                <a:t>LC-VCO</a:t>
              </a:r>
            </a:p>
          </p:txBody>
        </p:sp>
        <p:sp>
          <p:nvSpPr>
            <p:cNvPr id="62" name="Rectangle 61">
              <a:extLst>
                <a:ext uri="{FF2B5EF4-FFF2-40B4-BE49-F238E27FC236}">
                  <a16:creationId xmlns:a16="http://schemas.microsoft.com/office/drawing/2014/main" id="{B72D0ED5-BAEB-1B13-BFCE-D18F8BEAE6F2}"/>
                </a:ext>
              </a:extLst>
            </p:cNvPr>
            <p:cNvSpPr/>
            <p:nvPr/>
          </p:nvSpPr>
          <p:spPr>
            <a:xfrm>
              <a:off x="3137086" y="2602855"/>
              <a:ext cx="876736" cy="323139"/>
            </a:xfrm>
            <a:prstGeom prst="rect">
              <a:avLst/>
            </a:prstGeom>
          </p:spPr>
          <p:txBody>
            <a:bodyPr wrap="none">
              <a:spAutoFit/>
            </a:bodyPr>
            <a:lstStyle/>
            <a:p>
              <a:r>
                <a:rPr lang="en-US" sz="900" b="1" dirty="0"/>
                <a:t>LC-VCO</a:t>
              </a:r>
            </a:p>
          </p:txBody>
        </p:sp>
        <p:sp>
          <p:nvSpPr>
            <p:cNvPr id="63" name="Right Brace 278">
              <a:extLst>
                <a:ext uri="{FF2B5EF4-FFF2-40B4-BE49-F238E27FC236}">
                  <a16:creationId xmlns:a16="http://schemas.microsoft.com/office/drawing/2014/main" id="{4ECD4579-F69B-20FC-8E2C-0DF92FAF4FF1}"/>
                </a:ext>
              </a:extLst>
            </p:cNvPr>
            <p:cNvSpPr/>
            <p:nvPr/>
          </p:nvSpPr>
          <p:spPr>
            <a:xfrm>
              <a:off x="4999983" y="2286091"/>
              <a:ext cx="353468" cy="1062652"/>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4" name="Rectangle 63">
              <a:extLst>
                <a:ext uri="{FF2B5EF4-FFF2-40B4-BE49-F238E27FC236}">
                  <a16:creationId xmlns:a16="http://schemas.microsoft.com/office/drawing/2014/main" id="{47D9FE0E-3BC4-F929-CFFB-9B71119AC350}"/>
                </a:ext>
              </a:extLst>
            </p:cNvPr>
            <p:cNvSpPr/>
            <p:nvPr/>
          </p:nvSpPr>
          <p:spPr>
            <a:xfrm>
              <a:off x="5203572" y="2456740"/>
              <a:ext cx="934445" cy="710907"/>
            </a:xfrm>
            <a:prstGeom prst="rect">
              <a:avLst/>
            </a:prstGeom>
          </p:spPr>
          <p:txBody>
            <a:bodyPr wrap="none">
              <a:spAutoFit/>
            </a:bodyPr>
            <a:lstStyle/>
            <a:p>
              <a:pPr algn="ctr"/>
              <a:r>
                <a:rPr lang="en-US" sz="900" b="1" dirty="0">
                  <a:solidFill>
                    <a:srgbClr val="000099"/>
                  </a:solidFill>
                </a:rPr>
                <a:t>Multi </a:t>
              </a:r>
            </a:p>
            <a:p>
              <a:pPr algn="ctr"/>
              <a:r>
                <a:rPr lang="en-US" sz="900" b="1" dirty="0">
                  <a:solidFill>
                    <a:srgbClr val="000099"/>
                  </a:solidFill>
                </a:rPr>
                <a:t>Phase </a:t>
              </a:r>
            </a:p>
            <a:p>
              <a:pPr algn="ctr"/>
              <a:r>
                <a:rPr lang="en-US" sz="900" b="1" dirty="0">
                  <a:solidFill>
                    <a:srgbClr val="000099"/>
                  </a:solidFill>
                </a:rPr>
                <a:t>LO/Clock</a:t>
              </a:r>
            </a:p>
          </p:txBody>
        </p:sp>
      </p:grpSp>
      <p:sp>
        <p:nvSpPr>
          <p:cNvPr id="325" name="Rectangle 324">
            <a:extLst>
              <a:ext uri="{FF2B5EF4-FFF2-40B4-BE49-F238E27FC236}">
                <a16:creationId xmlns:a16="http://schemas.microsoft.com/office/drawing/2014/main" id="{26E13DCB-DDAD-00BD-668C-30CE0425123D}"/>
              </a:ext>
            </a:extLst>
          </p:cNvPr>
          <p:cNvSpPr/>
          <p:nvPr/>
        </p:nvSpPr>
        <p:spPr>
          <a:xfrm>
            <a:off x="4296375" y="3292737"/>
            <a:ext cx="3610132" cy="466281"/>
          </a:xfrm>
          <a:prstGeom prst="rect">
            <a:avLst/>
          </a:prstGeom>
        </p:spPr>
        <p:txBody>
          <a:bodyPr wrap="square">
            <a:spAutoFit/>
          </a:bodyPr>
          <a:lstStyle/>
          <a:p>
            <a:pPr algn="ctr"/>
            <a:r>
              <a:rPr lang="en-US" sz="1215" b="1" dirty="0">
                <a:solidFill>
                  <a:srgbClr val="002060"/>
                </a:solidFill>
              </a:rPr>
              <a:t>(b) </a:t>
            </a:r>
            <a:r>
              <a:rPr lang="en-US" sz="1215" u="sng" dirty="0">
                <a:solidFill>
                  <a:srgbClr val="002060"/>
                </a:solidFill>
              </a:rPr>
              <a:t>Multiphase LO/clock generation using </a:t>
            </a:r>
            <a:r>
              <a:rPr lang="en-IN" sz="1215" u="sng" dirty="0">
                <a:solidFill>
                  <a:srgbClr val="002060"/>
                </a:solidFill>
              </a:rPr>
              <a:t>LC VCOs</a:t>
            </a:r>
          </a:p>
        </p:txBody>
      </p:sp>
      <p:sp>
        <p:nvSpPr>
          <p:cNvPr id="326" name="Rectangle 325">
            <a:extLst>
              <a:ext uri="{FF2B5EF4-FFF2-40B4-BE49-F238E27FC236}">
                <a16:creationId xmlns:a16="http://schemas.microsoft.com/office/drawing/2014/main" id="{DBB6F576-33CF-C91D-7E48-2E0B2D48A4D6}"/>
              </a:ext>
            </a:extLst>
          </p:cNvPr>
          <p:cNvSpPr/>
          <p:nvPr/>
        </p:nvSpPr>
        <p:spPr>
          <a:xfrm>
            <a:off x="4253266" y="5939172"/>
            <a:ext cx="4105073" cy="461665"/>
          </a:xfrm>
          <a:prstGeom prst="rect">
            <a:avLst/>
          </a:prstGeom>
        </p:spPr>
        <p:txBody>
          <a:bodyPr wrap="square">
            <a:spAutoFit/>
          </a:bodyPr>
          <a:lstStyle/>
          <a:p>
            <a:pPr algn="ctr"/>
            <a:r>
              <a:rPr lang="en-US" sz="1200" b="1" dirty="0">
                <a:solidFill>
                  <a:srgbClr val="002060"/>
                </a:solidFill>
              </a:rPr>
              <a:t>(d) </a:t>
            </a:r>
            <a:r>
              <a:rPr lang="en-US" sz="1200" u="sng" dirty="0">
                <a:solidFill>
                  <a:srgbClr val="002060"/>
                </a:solidFill>
              </a:rPr>
              <a:t>Multiphase LO/clock generation methods using Ring </a:t>
            </a:r>
          </a:p>
          <a:p>
            <a:pPr algn="ctr"/>
            <a:r>
              <a:rPr lang="en-US" sz="1200" u="sng" dirty="0">
                <a:solidFill>
                  <a:srgbClr val="002060"/>
                </a:solidFill>
              </a:rPr>
              <a:t>with </a:t>
            </a:r>
            <a:r>
              <a:rPr lang="en-IN" sz="1200" u="sng" dirty="0">
                <a:solidFill>
                  <a:srgbClr val="002060"/>
                </a:solidFill>
              </a:rPr>
              <a:t>LC VCOs and DLL</a:t>
            </a:r>
          </a:p>
        </p:txBody>
      </p:sp>
      <p:grpSp>
        <p:nvGrpSpPr>
          <p:cNvPr id="327" name="Group 326">
            <a:extLst>
              <a:ext uri="{FF2B5EF4-FFF2-40B4-BE49-F238E27FC236}">
                <a16:creationId xmlns:a16="http://schemas.microsoft.com/office/drawing/2014/main" id="{E4735C96-CEDB-40A1-C632-82189A707956}"/>
              </a:ext>
            </a:extLst>
          </p:cNvPr>
          <p:cNvGrpSpPr/>
          <p:nvPr/>
        </p:nvGrpSpPr>
        <p:grpSpPr>
          <a:xfrm>
            <a:off x="399153" y="4402736"/>
            <a:ext cx="3399318" cy="1446639"/>
            <a:chOff x="1568114" y="4125321"/>
            <a:chExt cx="4927063" cy="1928852"/>
          </a:xfrm>
        </p:grpSpPr>
        <p:grpSp>
          <p:nvGrpSpPr>
            <p:cNvPr id="328" name="Group 327">
              <a:extLst>
                <a:ext uri="{FF2B5EF4-FFF2-40B4-BE49-F238E27FC236}">
                  <a16:creationId xmlns:a16="http://schemas.microsoft.com/office/drawing/2014/main" id="{28F94FF0-4727-0127-0474-4AD7A268E8E4}"/>
                </a:ext>
              </a:extLst>
            </p:cNvPr>
            <p:cNvGrpSpPr>
              <a:grpSpLocks noChangeAspect="1"/>
            </p:cNvGrpSpPr>
            <p:nvPr/>
          </p:nvGrpSpPr>
          <p:grpSpPr>
            <a:xfrm>
              <a:off x="2973232" y="4125321"/>
              <a:ext cx="1399217" cy="1280160"/>
              <a:chOff x="2169506" y="4772026"/>
              <a:chExt cx="1145194" cy="1047750"/>
            </a:xfrm>
          </p:grpSpPr>
          <p:sp>
            <p:nvSpPr>
              <p:cNvPr id="350" name="Oval 349">
                <a:extLst>
                  <a:ext uri="{FF2B5EF4-FFF2-40B4-BE49-F238E27FC236}">
                    <a16:creationId xmlns:a16="http://schemas.microsoft.com/office/drawing/2014/main" id="{AE8701D9-28D5-4A52-EEB5-C49BD1BAA75E}"/>
                  </a:ext>
                </a:extLst>
              </p:cNvPr>
              <p:cNvSpPr/>
              <p:nvPr/>
            </p:nvSpPr>
            <p:spPr>
              <a:xfrm>
                <a:off x="2169506" y="4772026"/>
                <a:ext cx="1145194" cy="1047750"/>
              </a:xfrm>
              <a:prstGeom prst="ellipse">
                <a:avLst/>
              </a:prstGeom>
              <a:solidFill>
                <a:schemeClr val="bg1"/>
              </a:solidFill>
              <a:ln w="25400">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351" name="Group 350">
                <a:extLst>
                  <a:ext uri="{FF2B5EF4-FFF2-40B4-BE49-F238E27FC236}">
                    <a16:creationId xmlns:a16="http://schemas.microsoft.com/office/drawing/2014/main" id="{CAF5B5C3-5FA3-885D-9AA0-E630DDA44268}"/>
                  </a:ext>
                </a:extLst>
              </p:cNvPr>
              <p:cNvGrpSpPr/>
              <p:nvPr/>
            </p:nvGrpSpPr>
            <p:grpSpPr>
              <a:xfrm>
                <a:off x="2243356" y="4913274"/>
                <a:ext cx="933517" cy="730856"/>
                <a:chOff x="1027600" y="4784489"/>
                <a:chExt cx="933517" cy="730856"/>
              </a:xfrm>
            </p:grpSpPr>
            <p:grpSp>
              <p:nvGrpSpPr>
                <p:cNvPr id="352" name="Group 351">
                  <a:extLst>
                    <a:ext uri="{FF2B5EF4-FFF2-40B4-BE49-F238E27FC236}">
                      <a16:creationId xmlns:a16="http://schemas.microsoft.com/office/drawing/2014/main" id="{E0D46CF8-D544-789D-DD77-B70651CD4A9C}"/>
                    </a:ext>
                  </a:extLst>
                </p:cNvPr>
                <p:cNvGrpSpPr/>
                <p:nvPr/>
              </p:nvGrpSpPr>
              <p:grpSpPr>
                <a:xfrm>
                  <a:off x="1027600" y="4965926"/>
                  <a:ext cx="362347" cy="380159"/>
                  <a:chOff x="1711577" y="4926883"/>
                  <a:chExt cx="274320" cy="274320"/>
                </a:xfrm>
              </p:grpSpPr>
              <p:sp>
                <p:nvSpPr>
                  <p:cNvPr id="403" name="Flowchart: Connector 402">
                    <a:extLst>
                      <a:ext uri="{FF2B5EF4-FFF2-40B4-BE49-F238E27FC236}">
                        <a16:creationId xmlns:a16="http://schemas.microsoft.com/office/drawing/2014/main" id="{8309D64C-75C8-F6BB-D55A-12009605A1AA}"/>
                      </a:ext>
                    </a:extLst>
                  </p:cNvPr>
                  <p:cNvSpPr/>
                  <p:nvPr/>
                </p:nvSpPr>
                <p:spPr>
                  <a:xfrm rot="19644896">
                    <a:off x="1711577" y="4926883"/>
                    <a:ext cx="274320" cy="274320"/>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04" name="Freeform 369">
                    <a:extLst>
                      <a:ext uri="{FF2B5EF4-FFF2-40B4-BE49-F238E27FC236}">
                        <a16:creationId xmlns:a16="http://schemas.microsoft.com/office/drawing/2014/main" id="{30DCF419-5BCE-F179-5815-C135A4D9FF8F}"/>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254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353" name="Straight Connector 352">
                  <a:extLst>
                    <a:ext uri="{FF2B5EF4-FFF2-40B4-BE49-F238E27FC236}">
                      <a16:creationId xmlns:a16="http://schemas.microsoft.com/office/drawing/2014/main" id="{385770DC-A41B-DEE6-FA88-C73A1FFFA202}"/>
                    </a:ext>
                  </a:extLst>
                </p:cNvPr>
                <p:cNvCxnSpPr>
                  <a:stCxn id="403" idx="6"/>
                </p:cNvCxnSpPr>
                <p:nvPr/>
              </p:nvCxnSpPr>
              <p:spPr>
                <a:xfrm flipV="1">
                  <a:off x="1361429" y="5050706"/>
                  <a:ext cx="120782" cy="2932"/>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47BC5862-2ED4-218A-CD58-B6482B0082C9}"/>
                    </a:ext>
                  </a:extLst>
                </p:cNvPr>
                <p:cNvCxnSpPr/>
                <p:nvPr/>
              </p:nvCxnSpPr>
              <p:spPr>
                <a:xfrm flipV="1">
                  <a:off x="1367514" y="5261905"/>
                  <a:ext cx="120782" cy="2932"/>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7E49EAD3-F5A2-0B97-CF5E-518EBEF0DF17}"/>
                    </a:ext>
                  </a:extLst>
                </p:cNvPr>
                <p:cNvCxnSpPr/>
                <p:nvPr/>
              </p:nvCxnSpPr>
              <p:spPr>
                <a:xfrm flipH="1" flipV="1">
                  <a:off x="1481944" y="4794334"/>
                  <a:ext cx="0" cy="253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22496ACC-2C9F-0330-0C47-EF4F2A39AFFE}"/>
                    </a:ext>
                  </a:extLst>
                </p:cNvPr>
                <p:cNvCxnSpPr/>
                <p:nvPr/>
              </p:nvCxnSpPr>
              <p:spPr>
                <a:xfrm flipH="1" flipV="1">
                  <a:off x="1499183" y="5261905"/>
                  <a:ext cx="0" cy="253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104B30A7-EC95-E1A4-313B-50868C6C51BF}"/>
                    </a:ext>
                  </a:extLst>
                </p:cNvPr>
                <p:cNvCxnSpPr/>
                <p:nvPr/>
              </p:nvCxnSpPr>
              <p:spPr>
                <a:xfrm flipV="1">
                  <a:off x="1481678" y="4784489"/>
                  <a:ext cx="274320" cy="3734"/>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8DF57698-24E5-553E-BBAF-63D26B17F0A9}"/>
                    </a:ext>
                  </a:extLst>
                </p:cNvPr>
                <p:cNvCxnSpPr/>
                <p:nvPr/>
              </p:nvCxnSpPr>
              <p:spPr>
                <a:xfrm flipV="1">
                  <a:off x="1507332" y="5513879"/>
                  <a:ext cx="27432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359" name="Group 358">
                  <a:extLst>
                    <a:ext uri="{FF2B5EF4-FFF2-40B4-BE49-F238E27FC236}">
                      <a16:creationId xmlns:a16="http://schemas.microsoft.com/office/drawing/2014/main" id="{86F9FD13-131E-17D0-5662-6E9772F4D439}"/>
                    </a:ext>
                  </a:extLst>
                </p:cNvPr>
                <p:cNvGrpSpPr/>
                <p:nvPr/>
              </p:nvGrpSpPr>
              <p:grpSpPr>
                <a:xfrm>
                  <a:off x="1565526" y="4885688"/>
                  <a:ext cx="395591" cy="540633"/>
                  <a:chOff x="1715961" y="4885759"/>
                  <a:chExt cx="395591" cy="540633"/>
                </a:xfrm>
              </p:grpSpPr>
              <p:grpSp>
                <p:nvGrpSpPr>
                  <p:cNvPr id="362" name="Group 361">
                    <a:extLst>
                      <a:ext uri="{FF2B5EF4-FFF2-40B4-BE49-F238E27FC236}">
                        <a16:creationId xmlns:a16="http://schemas.microsoft.com/office/drawing/2014/main" id="{4F9EA11B-E157-CAC8-F7F4-CBCCD7846702}"/>
                      </a:ext>
                    </a:extLst>
                  </p:cNvPr>
                  <p:cNvGrpSpPr/>
                  <p:nvPr/>
                </p:nvGrpSpPr>
                <p:grpSpPr>
                  <a:xfrm>
                    <a:off x="1715961" y="4885759"/>
                    <a:ext cx="317479" cy="205665"/>
                    <a:chOff x="1548734" y="4857791"/>
                    <a:chExt cx="240352" cy="148406"/>
                  </a:xfrm>
                </p:grpSpPr>
                <p:cxnSp>
                  <p:nvCxnSpPr>
                    <p:cNvPr id="392" name="Straight Connector 391">
                      <a:extLst>
                        <a:ext uri="{FF2B5EF4-FFF2-40B4-BE49-F238E27FC236}">
                          <a16:creationId xmlns:a16="http://schemas.microsoft.com/office/drawing/2014/main" id="{9B00C585-1330-ABAB-4B76-547C280500AF}"/>
                        </a:ext>
                      </a:extLst>
                    </p:cNvPr>
                    <p:cNvCxnSpPr/>
                    <p:nvPr/>
                  </p:nvCxnSpPr>
                  <p:spPr>
                    <a:xfrm flipV="1">
                      <a:off x="1586868" y="4930304"/>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C3F4B481-B50A-20CA-8815-C69AC68DD571}"/>
                        </a:ext>
                      </a:extLst>
                    </p:cNvPr>
                    <p:cNvCxnSpPr/>
                    <p:nvPr/>
                  </p:nvCxnSpPr>
                  <p:spPr>
                    <a:xfrm flipV="1">
                      <a:off x="1651272" y="4930303"/>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0A590A69-B32D-997C-DDE4-959284F70F87}"/>
                        </a:ext>
                      </a:extLst>
                    </p:cNvPr>
                    <p:cNvCxnSpPr/>
                    <p:nvPr/>
                  </p:nvCxnSpPr>
                  <p:spPr>
                    <a:xfrm>
                      <a:off x="1586667" y="4925996"/>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DA06DED3-62D2-9A61-5344-11796501D914}"/>
                        </a:ext>
                      </a:extLst>
                    </p:cNvPr>
                    <p:cNvCxnSpPr/>
                    <p:nvPr/>
                  </p:nvCxnSpPr>
                  <p:spPr>
                    <a:xfrm>
                      <a:off x="1551030" y="4976268"/>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AFB06BF7-22A0-D21D-3F67-07A81435E003}"/>
                        </a:ext>
                      </a:extLst>
                    </p:cNvPr>
                    <p:cNvCxnSpPr/>
                    <p:nvPr/>
                  </p:nvCxnSpPr>
                  <p:spPr>
                    <a:xfrm>
                      <a:off x="1651272" y="4974696"/>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5CCCD379-7C49-9154-C024-E4EC8944A248}"/>
                        </a:ext>
                      </a:extLst>
                    </p:cNvPr>
                    <p:cNvCxnSpPr/>
                    <p:nvPr/>
                  </p:nvCxnSpPr>
                  <p:spPr>
                    <a:xfrm flipH="1">
                      <a:off x="1548734" y="4977077"/>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3D4E1F69-3C58-044A-853F-2BBDC80979E3}"/>
                        </a:ext>
                      </a:extLst>
                    </p:cNvPr>
                    <p:cNvCxnSpPr/>
                    <p:nvPr/>
                  </p:nvCxnSpPr>
                  <p:spPr>
                    <a:xfrm flipH="1">
                      <a:off x="1687511" y="4976170"/>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3E640684-CC7A-A091-63CD-CE2C34F077A2}"/>
                        </a:ext>
                      </a:extLst>
                    </p:cNvPr>
                    <p:cNvCxnSpPr/>
                    <p:nvPr/>
                  </p:nvCxnSpPr>
                  <p:spPr>
                    <a:xfrm>
                      <a:off x="1548734" y="5006197"/>
                      <a:ext cx="13716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EEEFA731-264F-AE72-7D22-5CDECD0904DD}"/>
                        </a:ext>
                      </a:extLst>
                    </p:cNvPr>
                    <p:cNvCxnSpPr/>
                    <p:nvPr/>
                  </p:nvCxnSpPr>
                  <p:spPr>
                    <a:xfrm>
                      <a:off x="1586734" y="4902184"/>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E41C8C4D-3C60-4FBE-8A50-E74A7A7F2D39}"/>
                        </a:ext>
                      </a:extLst>
                    </p:cNvPr>
                    <p:cNvCxnSpPr/>
                    <p:nvPr/>
                  </p:nvCxnSpPr>
                  <p:spPr>
                    <a:xfrm flipV="1">
                      <a:off x="1617314" y="4857791"/>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D91A1D85-0827-B1E9-F75F-5DA47B490E98}"/>
                        </a:ext>
                      </a:extLst>
                    </p:cNvPr>
                    <p:cNvCxnSpPr/>
                    <p:nvPr/>
                  </p:nvCxnSpPr>
                  <p:spPr>
                    <a:xfrm>
                      <a:off x="1621289" y="4857791"/>
                      <a:ext cx="16779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363" name="Group 362">
                    <a:extLst>
                      <a:ext uri="{FF2B5EF4-FFF2-40B4-BE49-F238E27FC236}">
                        <a16:creationId xmlns:a16="http://schemas.microsoft.com/office/drawing/2014/main" id="{FC476D28-6E58-06F1-77DA-9080793680BA}"/>
                      </a:ext>
                    </a:extLst>
                  </p:cNvPr>
                  <p:cNvGrpSpPr/>
                  <p:nvPr/>
                </p:nvGrpSpPr>
                <p:grpSpPr>
                  <a:xfrm rot="10800000" flipH="1">
                    <a:off x="1715961" y="5219603"/>
                    <a:ext cx="317479" cy="206789"/>
                    <a:chOff x="1548734" y="4857791"/>
                    <a:chExt cx="240352" cy="149217"/>
                  </a:xfrm>
                </p:grpSpPr>
                <p:cxnSp>
                  <p:nvCxnSpPr>
                    <p:cNvPr id="381" name="Straight Connector 380">
                      <a:extLst>
                        <a:ext uri="{FF2B5EF4-FFF2-40B4-BE49-F238E27FC236}">
                          <a16:creationId xmlns:a16="http://schemas.microsoft.com/office/drawing/2014/main" id="{FBDDC9B7-0F89-74C6-91BA-6D7CA7FA639B}"/>
                        </a:ext>
                      </a:extLst>
                    </p:cNvPr>
                    <p:cNvCxnSpPr/>
                    <p:nvPr/>
                  </p:nvCxnSpPr>
                  <p:spPr>
                    <a:xfrm flipV="1">
                      <a:off x="1586868" y="4930304"/>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1A141CAD-03B6-A9A3-CA48-21C4D3096402}"/>
                        </a:ext>
                      </a:extLst>
                    </p:cNvPr>
                    <p:cNvCxnSpPr/>
                    <p:nvPr/>
                  </p:nvCxnSpPr>
                  <p:spPr>
                    <a:xfrm flipV="1">
                      <a:off x="1651272" y="4930303"/>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DECCD18C-90A0-8D43-5578-FAC9B1C50121}"/>
                        </a:ext>
                      </a:extLst>
                    </p:cNvPr>
                    <p:cNvCxnSpPr/>
                    <p:nvPr/>
                  </p:nvCxnSpPr>
                  <p:spPr>
                    <a:xfrm>
                      <a:off x="1586667" y="4925996"/>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5E38AA35-AE7F-0A14-ABD0-253F7B64721B}"/>
                        </a:ext>
                      </a:extLst>
                    </p:cNvPr>
                    <p:cNvCxnSpPr/>
                    <p:nvPr/>
                  </p:nvCxnSpPr>
                  <p:spPr>
                    <a:xfrm>
                      <a:off x="1551030" y="4976268"/>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6885A703-82CB-4216-0A28-4748D6ACCAD9}"/>
                        </a:ext>
                      </a:extLst>
                    </p:cNvPr>
                    <p:cNvCxnSpPr/>
                    <p:nvPr/>
                  </p:nvCxnSpPr>
                  <p:spPr>
                    <a:xfrm>
                      <a:off x="1651272" y="4974696"/>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6B0D41CC-CAD5-EDE4-FD46-7F6C07594EA1}"/>
                        </a:ext>
                      </a:extLst>
                    </p:cNvPr>
                    <p:cNvCxnSpPr/>
                    <p:nvPr/>
                  </p:nvCxnSpPr>
                  <p:spPr>
                    <a:xfrm flipH="1">
                      <a:off x="1548734" y="4977077"/>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C18E2CE6-C7AB-1658-2AA9-80F2FEC52239}"/>
                        </a:ext>
                      </a:extLst>
                    </p:cNvPr>
                    <p:cNvCxnSpPr/>
                    <p:nvPr/>
                  </p:nvCxnSpPr>
                  <p:spPr>
                    <a:xfrm flipH="1">
                      <a:off x="1689314" y="4977888"/>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0E84E36D-278C-3045-9D0E-59A84CEB89BE}"/>
                        </a:ext>
                      </a:extLst>
                    </p:cNvPr>
                    <p:cNvCxnSpPr/>
                    <p:nvPr/>
                  </p:nvCxnSpPr>
                  <p:spPr>
                    <a:xfrm>
                      <a:off x="1548734" y="5006197"/>
                      <a:ext cx="13716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72260A4A-307F-111B-2C8F-C541944DCAAE}"/>
                        </a:ext>
                      </a:extLst>
                    </p:cNvPr>
                    <p:cNvCxnSpPr/>
                    <p:nvPr/>
                  </p:nvCxnSpPr>
                  <p:spPr>
                    <a:xfrm>
                      <a:off x="1586734" y="4902184"/>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381E1FCE-1D3F-53D9-EEBF-349684AFEFB3}"/>
                        </a:ext>
                      </a:extLst>
                    </p:cNvPr>
                    <p:cNvCxnSpPr/>
                    <p:nvPr/>
                  </p:nvCxnSpPr>
                  <p:spPr>
                    <a:xfrm flipV="1">
                      <a:off x="1617314" y="4857791"/>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4B064001-9911-1D60-32CA-C059546D3D6A}"/>
                        </a:ext>
                      </a:extLst>
                    </p:cNvPr>
                    <p:cNvCxnSpPr/>
                    <p:nvPr/>
                  </p:nvCxnSpPr>
                  <p:spPr>
                    <a:xfrm>
                      <a:off x="1621289" y="4857791"/>
                      <a:ext cx="16779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364" name="Straight Connector 363">
                    <a:extLst>
                      <a:ext uri="{FF2B5EF4-FFF2-40B4-BE49-F238E27FC236}">
                        <a16:creationId xmlns:a16="http://schemas.microsoft.com/office/drawing/2014/main" id="{88BAB554-732D-986A-ADAF-09FDCBFCEBFC}"/>
                      </a:ext>
                    </a:extLst>
                  </p:cNvPr>
                  <p:cNvCxnSpPr/>
                  <p:nvPr/>
                </p:nvCxnSpPr>
                <p:spPr>
                  <a:xfrm flipV="1">
                    <a:off x="1806548" y="5094486"/>
                    <a:ext cx="0" cy="1267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365" name="Group 364">
                    <a:extLst>
                      <a:ext uri="{FF2B5EF4-FFF2-40B4-BE49-F238E27FC236}">
                        <a16:creationId xmlns:a16="http://schemas.microsoft.com/office/drawing/2014/main" id="{5A587F8B-14D2-EBB7-6BCD-7447137DDA26}"/>
                      </a:ext>
                    </a:extLst>
                  </p:cNvPr>
                  <p:cNvGrpSpPr/>
                  <p:nvPr/>
                </p:nvGrpSpPr>
                <p:grpSpPr>
                  <a:xfrm rot="5400000">
                    <a:off x="1879744" y="5102207"/>
                    <a:ext cx="335430" cy="128187"/>
                    <a:chOff x="7040920" y="3499872"/>
                    <a:chExt cx="973348" cy="287902"/>
                  </a:xfrm>
                </p:grpSpPr>
                <p:sp>
                  <p:nvSpPr>
                    <p:cNvPr id="368" name="Arc 367">
                      <a:extLst>
                        <a:ext uri="{FF2B5EF4-FFF2-40B4-BE49-F238E27FC236}">
                          <a16:creationId xmlns:a16="http://schemas.microsoft.com/office/drawing/2014/main" id="{04EB19BB-FE55-1E07-D451-B11626FBC500}"/>
                        </a:ext>
                      </a:extLst>
                    </p:cNvPr>
                    <p:cNvSpPr/>
                    <p:nvPr/>
                  </p:nvSpPr>
                  <p:spPr>
                    <a:xfrm rot="15637240">
                      <a:off x="7047483" y="3504820"/>
                      <a:ext cx="276391" cy="289518"/>
                    </a:xfrm>
                    <a:prstGeom prst="arc">
                      <a:avLst>
                        <a:gd name="adj1" fmla="val 1634988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369" name="Group 368">
                      <a:extLst>
                        <a:ext uri="{FF2B5EF4-FFF2-40B4-BE49-F238E27FC236}">
                          <a16:creationId xmlns:a16="http://schemas.microsoft.com/office/drawing/2014/main" id="{1F09761C-B47C-A207-7BE4-48B8BB968F8F}"/>
                        </a:ext>
                      </a:extLst>
                    </p:cNvPr>
                    <p:cNvGrpSpPr/>
                    <p:nvPr/>
                  </p:nvGrpSpPr>
                  <p:grpSpPr>
                    <a:xfrm>
                      <a:off x="7208043" y="3499872"/>
                      <a:ext cx="806225" cy="286012"/>
                      <a:chOff x="7208043" y="3499872"/>
                      <a:chExt cx="806225" cy="286012"/>
                    </a:xfrm>
                  </p:grpSpPr>
                  <p:sp>
                    <p:nvSpPr>
                      <p:cNvPr id="370" name="Arc 369">
                        <a:extLst>
                          <a:ext uri="{FF2B5EF4-FFF2-40B4-BE49-F238E27FC236}">
                            <a16:creationId xmlns:a16="http://schemas.microsoft.com/office/drawing/2014/main" id="{A7179821-5BB6-BB17-965C-7EF719BE8BB5}"/>
                          </a:ext>
                        </a:extLst>
                      </p:cNvPr>
                      <p:cNvSpPr/>
                      <p:nvPr/>
                    </p:nvSpPr>
                    <p:spPr>
                      <a:xfrm rot="5400000">
                        <a:off x="7155632" y="3595228"/>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1" name="Arc 370">
                        <a:extLst>
                          <a:ext uri="{FF2B5EF4-FFF2-40B4-BE49-F238E27FC236}">
                            <a16:creationId xmlns:a16="http://schemas.microsoft.com/office/drawing/2014/main" id="{4EF7A4C9-B14A-E0F7-8411-C6BBC382031F}"/>
                          </a:ext>
                        </a:extLst>
                      </p:cNvPr>
                      <p:cNvSpPr/>
                      <p:nvPr/>
                    </p:nvSpPr>
                    <p:spPr>
                      <a:xfrm rot="16417337">
                        <a:off x="7206807" y="3511508"/>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2" name="Arc 371">
                        <a:extLst>
                          <a:ext uri="{FF2B5EF4-FFF2-40B4-BE49-F238E27FC236}">
                            <a16:creationId xmlns:a16="http://schemas.microsoft.com/office/drawing/2014/main" id="{7612770F-821D-5D0D-F19E-FFADEF758CAE}"/>
                          </a:ext>
                        </a:extLst>
                      </p:cNvPr>
                      <p:cNvSpPr/>
                      <p:nvPr/>
                    </p:nvSpPr>
                    <p:spPr>
                      <a:xfrm rot="5400000">
                        <a:off x="7332045" y="3593335"/>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3" name="Arc 372">
                        <a:extLst>
                          <a:ext uri="{FF2B5EF4-FFF2-40B4-BE49-F238E27FC236}">
                            <a16:creationId xmlns:a16="http://schemas.microsoft.com/office/drawing/2014/main" id="{FD5961FF-D3F5-64FE-D6CE-66F14F22AD5E}"/>
                          </a:ext>
                        </a:extLst>
                      </p:cNvPr>
                      <p:cNvSpPr/>
                      <p:nvPr/>
                    </p:nvSpPr>
                    <p:spPr>
                      <a:xfrm rot="16417337">
                        <a:off x="7387233" y="3509617"/>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4" name="Arc 373">
                        <a:extLst>
                          <a:ext uri="{FF2B5EF4-FFF2-40B4-BE49-F238E27FC236}">
                            <a16:creationId xmlns:a16="http://schemas.microsoft.com/office/drawing/2014/main" id="{9ECD252E-2575-3AF3-4134-6A25CFE2A7DE}"/>
                          </a:ext>
                        </a:extLst>
                      </p:cNvPr>
                      <p:cNvSpPr/>
                      <p:nvPr/>
                    </p:nvSpPr>
                    <p:spPr>
                      <a:xfrm rot="15637240">
                        <a:off x="7227908" y="3502930"/>
                        <a:ext cx="276391" cy="289517"/>
                      </a:xfrm>
                      <a:prstGeom prst="arc">
                        <a:avLst>
                          <a:gd name="adj1" fmla="val 23407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5" name="Arc 374">
                        <a:extLst>
                          <a:ext uri="{FF2B5EF4-FFF2-40B4-BE49-F238E27FC236}">
                            <a16:creationId xmlns:a16="http://schemas.microsoft.com/office/drawing/2014/main" id="{49323E68-8F5A-FF1B-C1D6-E270ECDBD26B}"/>
                          </a:ext>
                        </a:extLst>
                      </p:cNvPr>
                      <p:cNvSpPr/>
                      <p:nvPr/>
                    </p:nvSpPr>
                    <p:spPr>
                      <a:xfrm rot="5400000">
                        <a:off x="7518531" y="3590694"/>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6" name="Arc 375">
                        <a:extLst>
                          <a:ext uri="{FF2B5EF4-FFF2-40B4-BE49-F238E27FC236}">
                            <a16:creationId xmlns:a16="http://schemas.microsoft.com/office/drawing/2014/main" id="{9CCF9B53-15A2-7676-91ED-6B2295473F36}"/>
                          </a:ext>
                        </a:extLst>
                      </p:cNvPr>
                      <p:cNvSpPr/>
                      <p:nvPr/>
                    </p:nvSpPr>
                    <p:spPr>
                      <a:xfrm rot="16417337">
                        <a:off x="7569706" y="3506974"/>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7" name="Arc 376">
                        <a:extLst>
                          <a:ext uri="{FF2B5EF4-FFF2-40B4-BE49-F238E27FC236}">
                            <a16:creationId xmlns:a16="http://schemas.microsoft.com/office/drawing/2014/main" id="{90AD9AC7-A3ED-F435-4A83-84507D5556F3}"/>
                          </a:ext>
                        </a:extLst>
                      </p:cNvPr>
                      <p:cNvSpPr/>
                      <p:nvPr/>
                    </p:nvSpPr>
                    <p:spPr>
                      <a:xfrm rot="15637240">
                        <a:off x="7410381" y="3500287"/>
                        <a:ext cx="276391" cy="289517"/>
                      </a:xfrm>
                      <a:prstGeom prst="arc">
                        <a:avLst>
                          <a:gd name="adj1" fmla="val 23407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8" name="Arc 377">
                        <a:extLst>
                          <a:ext uri="{FF2B5EF4-FFF2-40B4-BE49-F238E27FC236}">
                            <a16:creationId xmlns:a16="http://schemas.microsoft.com/office/drawing/2014/main" id="{DE84542E-F396-A140-1BE0-33983C633FC1}"/>
                          </a:ext>
                        </a:extLst>
                      </p:cNvPr>
                      <p:cNvSpPr/>
                      <p:nvPr/>
                    </p:nvSpPr>
                    <p:spPr>
                      <a:xfrm rot="5400000">
                        <a:off x="7689114" y="3588050"/>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9" name="Arc 378">
                        <a:extLst>
                          <a:ext uri="{FF2B5EF4-FFF2-40B4-BE49-F238E27FC236}">
                            <a16:creationId xmlns:a16="http://schemas.microsoft.com/office/drawing/2014/main" id="{D9436CF8-C6A2-AC14-DDAA-574E82F68C3C}"/>
                          </a:ext>
                        </a:extLst>
                      </p:cNvPr>
                      <p:cNvSpPr/>
                      <p:nvPr/>
                    </p:nvSpPr>
                    <p:spPr>
                      <a:xfrm rot="16417337">
                        <a:off x="7740289" y="3504330"/>
                        <a:ext cx="276391" cy="271566"/>
                      </a:xfrm>
                      <a:prstGeom prst="arc">
                        <a:avLst>
                          <a:gd name="adj1" fmla="val 15748288"/>
                          <a:gd name="adj2" fmla="val 5946044"/>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80" name="Arc 379">
                        <a:extLst>
                          <a:ext uri="{FF2B5EF4-FFF2-40B4-BE49-F238E27FC236}">
                            <a16:creationId xmlns:a16="http://schemas.microsoft.com/office/drawing/2014/main" id="{E0F68DA2-FDBC-E2E6-2340-1A13C2E29DBB}"/>
                          </a:ext>
                        </a:extLst>
                      </p:cNvPr>
                      <p:cNvSpPr/>
                      <p:nvPr/>
                    </p:nvSpPr>
                    <p:spPr>
                      <a:xfrm rot="15637240">
                        <a:off x="7584020" y="3493310"/>
                        <a:ext cx="276391" cy="289516"/>
                      </a:xfrm>
                      <a:prstGeom prst="arc">
                        <a:avLst>
                          <a:gd name="adj1" fmla="val 88486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366" name="Straight Connector 365">
                    <a:extLst>
                      <a:ext uri="{FF2B5EF4-FFF2-40B4-BE49-F238E27FC236}">
                        <a16:creationId xmlns:a16="http://schemas.microsoft.com/office/drawing/2014/main" id="{242F606C-848B-EC97-BCB8-4F6269C21001}"/>
                      </a:ext>
                    </a:extLst>
                  </p:cNvPr>
                  <p:cNvCxnSpPr>
                    <a:stCxn id="368" idx="0"/>
                  </p:cNvCxnSpPr>
                  <p:nvPr/>
                </p:nvCxnSpPr>
                <p:spPr>
                  <a:xfrm flipV="1">
                    <a:off x="2038917" y="4890411"/>
                    <a:ext cx="0" cy="108517"/>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7DE6628E-5EA6-AFAF-BCC7-6D6CD69FB5F1}"/>
                      </a:ext>
                    </a:extLst>
                  </p:cNvPr>
                  <p:cNvCxnSpPr/>
                  <p:nvPr/>
                </p:nvCxnSpPr>
                <p:spPr>
                  <a:xfrm flipH="1" flipV="1">
                    <a:off x="2034520" y="5331511"/>
                    <a:ext cx="0" cy="9447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360" name="Straight Connector 359">
                  <a:extLst>
                    <a:ext uri="{FF2B5EF4-FFF2-40B4-BE49-F238E27FC236}">
                      <a16:creationId xmlns:a16="http://schemas.microsoft.com/office/drawing/2014/main" id="{E944CB56-4B68-8D49-EDE3-4EBC57844B88}"/>
                    </a:ext>
                  </a:extLst>
                </p:cNvPr>
                <p:cNvCxnSpPr/>
                <p:nvPr/>
              </p:nvCxnSpPr>
              <p:spPr>
                <a:xfrm flipH="1" flipV="1">
                  <a:off x="1755998" y="4787233"/>
                  <a:ext cx="0" cy="91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1FEBD5A2-A25E-4BB3-145B-077453D4B857}"/>
                    </a:ext>
                  </a:extLst>
                </p:cNvPr>
                <p:cNvCxnSpPr/>
                <p:nvPr/>
              </p:nvCxnSpPr>
              <p:spPr>
                <a:xfrm flipH="1" flipV="1">
                  <a:off x="1781652" y="5423530"/>
                  <a:ext cx="0" cy="91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sp>
          <p:nvSpPr>
            <p:cNvPr id="329" name="Rounded Rectangle 294">
              <a:extLst>
                <a:ext uri="{FF2B5EF4-FFF2-40B4-BE49-F238E27FC236}">
                  <a16:creationId xmlns:a16="http://schemas.microsoft.com/office/drawing/2014/main" id="{F1FA2D94-1D0D-8B9A-D06D-4B95C86CBD08}"/>
                </a:ext>
              </a:extLst>
            </p:cNvPr>
            <p:cNvSpPr/>
            <p:nvPr/>
          </p:nvSpPr>
          <p:spPr>
            <a:xfrm>
              <a:off x="1568114" y="4172014"/>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30" name="Rectangle 329">
              <a:extLst>
                <a:ext uri="{FF2B5EF4-FFF2-40B4-BE49-F238E27FC236}">
                  <a16:creationId xmlns:a16="http://schemas.microsoft.com/office/drawing/2014/main" id="{1FA9C6C7-B614-AFF6-2619-A62294EF339C}"/>
                </a:ext>
              </a:extLst>
            </p:cNvPr>
            <p:cNvSpPr/>
            <p:nvPr/>
          </p:nvSpPr>
          <p:spPr>
            <a:xfrm>
              <a:off x="1676594" y="4418931"/>
              <a:ext cx="944436" cy="677108"/>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cxnSp>
          <p:nvCxnSpPr>
            <p:cNvPr id="331" name="Straight Arrow Connector 330">
              <a:extLst>
                <a:ext uri="{FF2B5EF4-FFF2-40B4-BE49-F238E27FC236}">
                  <a16:creationId xmlns:a16="http://schemas.microsoft.com/office/drawing/2014/main" id="{B07088F1-6368-8AD3-EACF-EF1C96E13ECB}"/>
                </a:ext>
              </a:extLst>
            </p:cNvPr>
            <p:cNvCxnSpPr/>
            <p:nvPr/>
          </p:nvCxnSpPr>
          <p:spPr>
            <a:xfrm flipH="1">
              <a:off x="2703953" y="4634789"/>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32" name="Straight Arrow Connector 331">
              <a:extLst>
                <a:ext uri="{FF2B5EF4-FFF2-40B4-BE49-F238E27FC236}">
                  <a16:creationId xmlns:a16="http://schemas.microsoft.com/office/drawing/2014/main" id="{F45BD9BB-5AD3-B31E-855E-B0BA33C438BD}"/>
                </a:ext>
              </a:extLst>
            </p:cNvPr>
            <p:cNvCxnSpPr/>
            <p:nvPr/>
          </p:nvCxnSpPr>
          <p:spPr>
            <a:xfrm flipV="1">
              <a:off x="2683300" y="4871676"/>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nvGrpSpPr>
            <p:cNvPr id="333" name="Group 332">
              <a:extLst>
                <a:ext uri="{FF2B5EF4-FFF2-40B4-BE49-F238E27FC236}">
                  <a16:creationId xmlns:a16="http://schemas.microsoft.com/office/drawing/2014/main" id="{638D07A3-CDA0-FD8C-8A00-2EFA7DCEF5CC}"/>
                </a:ext>
              </a:extLst>
            </p:cNvPr>
            <p:cNvGrpSpPr/>
            <p:nvPr/>
          </p:nvGrpSpPr>
          <p:grpSpPr>
            <a:xfrm>
              <a:off x="4655765" y="4438453"/>
              <a:ext cx="1839412" cy="1020019"/>
              <a:chOff x="3621703" y="4837186"/>
              <a:chExt cx="1839412" cy="1020019"/>
            </a:xfrm>
          </p:grpSpPr>
          <mc:AlternateContent xmlns:mc="http://schemas.openxmlformats.org/markup-compatibility/2006" xmlns:a14="http://schemas.microsoft.com/office/drawing/2010/main">
            <mc:Choice Requires="a14">
              <p:sp>
                <p:nvSpPr>
                  <p:cNvPr id="339" name="Rectangle 338">
                    <a:extLst>
                      <a:ext uri="{FF2B5EF4-FFF2-40B4-BE49-F238E27FC236}">
                        <a16:creationId xmlns:a16="http://schemas.microsoft.com/office/drawing/2014/main" id="{AEECD3F5-E06C-0051-F6FC-09447EC9634B}"/>
                      </a:ext>
                    </a:extLst>
                  </p:cNvPr>
                  <p:cNvSpPr/>
                  <p:nvPr/>
                </p:nvSpPr>
                <p:spPr>
                  <a:xfrm>
                    <a:off x="4515642" y="5549429"/>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898" name="Rectangle 897">
                    <a:extLst>
                      <a:ext uri="{FF2B5EF4-FFF2-40B4-BE49-F238E27FC236}">
                        <a16:creationId xmlns:a16="http://schemas.microsoft.com/office/drawing/2014/main" id="{AEECD3F5-E06C-0051-F6FC-09447EC9634B}"/>
                      </a:ext>
                    </a:extLst>
                  </p:cNvPr>
                  <p:cNvSpPr>
                    <a:spLocks noRot="1" noChangeAspect="1" noMove="1" noResize="1" noEditPoints="1" noAdjustHandles="1" noChangeArrowheads="1" noChangeShapeType="1" noTextEdit="1"/>
                  </p:cNvSpPr>
                  <p:nvPr/>
                </p:nvSpPr>
                <p:spPr>
                  <a:xfrm>
                    <a:off x="4515642" y="5549429"/>
                    <a:ext cx="486063" cy="30777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0" name="Rectangle 339">
                    <a:extLst>
                      <a:ext uri="{FF2B5EF4-FFF2-40B4-BE49-F238E27FC236}">
                        <a16:creationId xmlns:a16="http://schemas.microsoft.com/office/drawing/2014/main" id="{23C623DC-99FE-7438-8833-C5C64ABF5FAA}"/>
                      </a:ext>
                    </a:extLst>
                  </p:cNvPr>
                  <p:cNvSpPr/>
                  <p:nvPr/>
                </p:nvSpPr>
                <p:spPr>
                  <a:xfrm>
                    <a:off x="3877583" y="5523053"/>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899" name="Rectangle 898">
                    <a:extLst>
                      <a:ext uri="{FF2B5EF4-FFF2-40B4-BE49-F238E27FC236}">
                        <a16:creationId xmlns:a16="http://schemas.microsoft.com/office/drawing/2014/main" id="{23C623DC-99FE-7438-8833-C5C64ABF5FAA}"/>
                      </a:ext>
                    </a:extLst>
                  </p:cNvPr>
                  <p:cNvSpPr>
                    <a:spLocks noRot="1" noChangeAspect="1" noMove="1" noResize="1" noEditPoints="1" noAdjustHandles="1" noChangeArrowheads="1" noChangeShapeType="1" noTextEdit="1"/>
                  </p:cNvSpPr>
                  <p:nvPr/>
                </p:nvSpPr>
                <p:spPr>
                  <a:xfrm>
                    <a:off x="3877583" y="5523053"/>
                    <a:ext cx="486063" cy="3077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1" name="Rectangle 340">
                    <a:extLst>
                      <a:ext uri="{FF2B5EF4-FFF2-40B4-BE49-F238E27FC236}">
                        <a16:creationId xmlns:a16="http://schemas.microsoft.com/office/drawing/2014/main" id="{BABC5BE6-7F0E-53CA-8324-478B53B56BE1}"/>
                      </a:ext>
                    </a:extLst>
                  </p:cNvPr>
                  <p:cNvSpPr/>
                  <p:nvPr/>
                </p:nvSpPr>
                <p:spPr>
                  <a:xfrm>
                    <a:off x="4191793" y="5534690"/>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900" name="Rectangle 899">
                    <a:extLst>
                      <a:ext uri="{FF2B5EF4-FFF2-40B4-BE49-F238E27FC236}">
                        <a16:creationId xmlns:a16="http://schemas.microsoft.com/office/drawing/2014/main" id="{BABC5BE6-7F0E-53CA-8324-478B53B56BE1}"/>
                      </a:ext>
                    </a:extLst>
                  </p:cNvPr>
                  <p:cNvSpPr>
                    <a:spLocks noRot="1" noChangeAspect="1" noMove="1" noResize="1" noEditPoints="1" noAdjustHandles="1" noChangeArrowheads="1" noChangeShapeType="1" noTextEdit="1"/>
                  </p:cNvSpPr>
                  <p:nvPr/>
                </p:nvSpPr>
                <p:spPr>
                  <a:xfrm>
                    <a:off x="4191793" y="5534690"/>
                    <a:ext cx="486063" cy="30777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2" name="Rectangle 341">
                    <a:extLst>
                      <a:ext uri="{FF2B5EF4-FFF2-40B4-BE49-F238E27FC236}">
                        <a16:creationId xmlns:a16="http://schemas.microsoft.com/office/drawing/2014/main" id="{94AF1FC3-A9EF-47E1-3D5B-D08B22620F4A}"/>
                      </a:ext>
                    </a:extLst>
                  </p:cNvPr>
                  <p:cNvSpPr/>
                  <p:nvPr/>
                </p:nvSpPr>
                <p:spPr>
                  <a:xfrm>
                    <a:off x="4958787" y="5532440"/>
                    <a:ext cx="502328"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901" name="Rectangle 900">
                    <a:extLst>
                      <a:ext uri="{FF2B5EF4-FFF2-40B4-BE49-F238E27FC236}">
                        <a16:creationId xmlns:a16="http://schemas.microsoft.com/office/drawing/2014/main" id="{94AF1FC3-A9EF-47E1-3D5B-D08B22620F4A}"/>
                      </a:ext>
                    </a:extLst>
                  </p:cNvPr>
                  <p:cNvSpPr>
                    <a:spLocks noRot="1" noChangeAspect="1" noMove="1" noResize="1" noEditPoints="1" noAdjustHandles="1" noChangeArrowheads="1" noChangeShapeType="1" noTextEdit="1"/>
                  </p:cNvSpPr>
                  <p:nvPr/>
                </p:nvSpPr>
                <p:spPr>
                  <a:xfrm>
                    <a:off x="4958787" y="5532440"/>
                    <a:ext cx="502328" cy="307776"/>
                  </a:xfrm>
                  <a:prstGeom prst="rect">
                    <a:avLst/>
                  </a:prstGeom>
                  <a:blipFill>
                    <a:blip r:embed="rId8"/>
                    <a:stretch>
                      <a:fillRect/>
                    </a:stretch>
                  </a:blipFill>
                </p:spPr>
                <p:txBody>
                  <a:bodyPr/>
                  <a:lstStyle/>
                  <a:p>
                    <a:r>
                      <a:rPr lang="en-US">
                        <a:noFill/>
                      </a:rPr>
                      <a:t> </a:t>
                    </a:r>
                  </a:p>
                </p:txBody>
              </p:sp>
            </mc:Fallback>
          </mc:AlternateContent>
          <p:sp>
            <p:nvSpPr>
              <p:cNvPr id="343" name="Rectangle 342">
                <a:extLst>
                  <a:ext uri="{FF2B5EF4-FFF2-40B4-BE49-F238E27FC236}">
                    <a16:creationId xmlns:a16="http://schemas.microsoft.com/office/drawing/2014/main" id="{5F3A21B8-FD7A-23AB-8B35-5C227D43E010}"/>
                  </a:ext>
                </a:extLst>
              </p:cNvPr>
              <p:cNvSpPr/>
              <p:nvPr/>
            </p:nvSpPr>
            <p:spPr>
              <a:xfrm>
                <a:off x="3621703" y="4837186"/>
                <a:ext cx="1676826" cy="592958"/>
              </a:xfrm>
              <a:prstGeom prst="rect">
                <a:avLst/>
              </a:prstGeom>
              <a:solidFill>
                <a:schemeClr val="bg1"/>
              </a:solidFill>
              <a:ln w="25400">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344" name="Straight Arrow Connector 343">
                <a:extLst>
                  <a:ext uri="{FF2B5EF4-FFF2-40B4-BE49-F238E27FC236}">
                    <a16:creationId xmlns:a16="http://schemas.microsoft.com/office/drawing/2014/main" id="{ADF87BDA-0DE5-B7AA-00D4-B38053FE2CE1}"/>
                  </a:ext>
                </a:extLst>
              </p:cNvPr>
              <p:cNvCxnSpPr/>
              <p:nvPr/>
            </p:nvCxnSpPr>
            <p:spPr>
              <a:xfrm flipH="1" flipV="1">
                <a:off x="4052294" y="5436416"/>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45" name="Straight Arrow Connector 344">
                <a:extLst>
                  <a:ext uri="{FF2B5EF4-FFF2-40B4-BE49-F238E27FC236}">
                    <a16:creationId xmlns:a16="http://schemas.microsoft.com/office/drawing/2014/main" id="{2D45C35A-1373-85A4-7804-66A21F5CF5BA}"/>
                  </a:ext>
                </a:extLst>
              </p:cNvPr>
              <p:cNvCxnSpPr/>
              <p:nvPr/>
            </p:nvCxnSpPr>
            <p:spPr>
              <a:xfrm flipH="1" flipV="1">
                <a:off x="4356805" y="5436416"/>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46" name="Straight Arrow Connector 345">
                <a:extLst>
                  <a:ext uri="{FF2B5EF4-FFF2-40B4-BE49-F238E27FC236}">
                    <a16:creationId xmlns:a16="http://schemas.microsoft.com/office/drawing/2014/main" id="{6CB110DE-6153-4D3D-1A20-9E9C518B1294}"/>
                  </a:ext>
                </a:extLst>
              </p:cNvPr>
              <p:cNvCxnSpPr/>
              <p:nvPr/>
            </p:nvCxnSpPr>
            <p:spPr>
              <a:xfrm flipH="1" flipV="1">
                <a:off x="4674722" y="5440421"/>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47" name="Straight Arrow Connector 346">
                <a:extLst>
                  <a:ext uri="{FF2B5EF4-FFF2-40B4-BE49-F238E27FC236}">
                    <a16:creationId xmlns:a16="http://schemas.microsoft.com/office/drawing/2014/main" id="{4EA6E530-D1F2-40F4-8E9B-3E92DF3AC671}"/>
                  </a:ext>
                </a:extLst>
              </p:cNvPr>
              <p:cNvCxnSpPr/>
              <p:nvPr/>
            </p:nvCxnSpPr>
            <p:spPr>
              <a:xfrm flipH="1" flipV="1">
                <a:off x="5127282" y="5440421"/>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48" name="Straight Arrow Connector 347">
                <a:extLst>
                  <a:ext uri="{FF2B5EF4-FFF2-40B4-BE49-F238E27FC236}">
                    <a16:creationId xmlns:a16="http://schemas.microsoft.com/office/drawing/2014/main" id="{7BDB2020-3234-D775-7A60-2D9F91A6FCF1}"/>
                  </a:ext>
                </a:extLst>
              </p:cNvPr>
              <p:cNvCxnSpPr/>
              <p:nvPr/>
            </p:nvCxnSpPr>
            <p:spPr>
              <a:xfrm flipH="1">
                <a:off x="4716875" y="5537114"/>
                <a:ext cx="365760" cy="0"/>
              </a:xfrm>
              <a:prstGeom prst="straightConnector1">
                <a:avLst/>
              </a:prstGeom>
              <a:ln w="1905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p:sp>
            <p:nvSpPr>
              <p:cNvPr id="349" name="Rectangle 348">
                <a:extLst>
                  <a:ext uri="{FF2B5EF4-FFF2-40B4-BE49-F238E27FC236}">
                    <a16:creationId xmlns:a16="http://schemas.microsoft.com/office/drawing/2014/main" id="{9DDA4DA9-34B7-DA2A-EA4C-E93D5C540625}"/>
                  </a:ext>
                </a:extLst>
              </p:cNvPr>
              <p:cNvSpPr/>
              <p:nvPr/>
            </p:nvSpPr>
            <p:spPr>
              <a:xfrm>
                <a:off x="3804841" y="4924355"/>
                <a:ext cx="1159860" cy="677108"/>
              </a:xfrm>
              <a:prstGeom prst="rect">
                <a:avLst/>
              </a:prstGeom>
            </p:spPr>
            <p:txBody>
              <a:bodyPr wrap="none">
                <a:spAutoFit/>
              </a:bodyPr>
              <a:lstStyle/>
              <a:p>
                <a:pPr algn="ctr"/>
                <a:r>
                  <a:rPr lang="en-US" sz="900" b="1">
                    <a:latin typeface="Arial" panose="020B0604020202020204" pitchFamily="34" charset="0"/>
                    <a:cs typeface="Arial" panose="020B0604020202020204" pitchFamily="34" charset="0"/>
                  </a:rPr>
                  <a:t>Frequency </a:t>
                </a:r>
              </a:p>
              <a:p>
                <a:pPr algn="ctr"/>
                <a:r>
                  <a:rPr lang="en-US" sz="900" b="1">
                    <a:latin typeface="Arial" panose="020B0604020202020204" pitchFamily="34" charset="0"/>
                    <a:cs typeface="Arial" panose="020B0604020202020204" pitchFamily="34" charset="0"/>
                  </a:rPr>
                  <a:t>Divider</a:t>
                </a:r>
              </a:p>
              <a:p>
                <a:endParaRPr lang="en-US" sz="900" b="1">
                  <a:latin typeface="Arial" panose="020B0604020202020204" pitchFamily="34" charset="0"/>
                  <a:cs typeface="Arial" panose="020B0604020202020204" pitchFamily="34" charset="0"/>
                </a:endParaRPr>
              </a:p>
            </p:txBody>
          </p:sp>
        </p:grpSp>
        <p:cxnSp>
          <p:nvCxnSpPr>
            <p:cNvPr id="334" name="Straight Arrow Connector 333">
              <a:extLst>
                <a:ext uri="{FF2B5EF4-FFF2-40B4-BE49-F238E27FC236}">
                  <a16:creationId xmlns:a16="http://schemas.microsoft.com/office/drawing/2014/main" id="{D1FF5BED-F5DC-6F75-0269-BAD4FF1F8C1D}"/>
                </a:ext>
              </a:extLst>
            </p:cNvPr>
            <p:cNvCxnSpPr/>
            <p:nvPr/>
          </p:nvCxnSpPr>
          <p:spPr>
            <a:xfrm flipH="1">
              <a:off x="4366835" y="4632931"/>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35" name="Straight Arrow Connector 334">
              <a:extLst>
                <a:ext uri="{FF2B5EF4-FFF2-40B4-BE49-F238E27FC236}">
                  <a16:creationId xmlns:a16="http://schemas.microsoft.com/office/drawing/2014/main" id="{80AC26DC-826C-0319-01E6-9C7BF4DA63CE}"/>
                </a:ext>
              </a:extLst>
            </p:cNvPr>
            <p:cNvCxnSpPr/>
            <p:nvPr/>
          </p:nvCxnSpPr>
          <p:spPr>
            <a:xfrm flipV="1">
              <a:off x="4362366" y="4829358"/>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336" name="Rectangle 335">
              <a:extLst>
                <a:ext uri="{FF2B5EF4-FFF2-40B4-BE49-F238E27FC236}">
                  <a16:creationId xmlns:a16="http://schemas.microsoft.com/office/drawing/2014/main" id="{AE76C176-AFFA-1FBE-C95F-349D84AF2BC3}"/>
                </a:ext>
              </a:extLst>
            </p:cNvPr>
            <p:cNvSpPr/>
            <p:nvPr/>
          </p:nvSpPr>
          <p:spPr>
            <a:xfrm>
              <a:off x="3378030" y="5359757"/>
              <a:ext cx="953074" cy="307776"/>
            </a:xfrm>
            <a:prstGeom prst="rect">
              <a:avLst/>
            </a:prstGeom>
          </p:spPr>
          <p:txBody>
            <a:bodyPr wrap="none">
              <a:spAutoFit/>
            </a:bodyPr>
            <a:lstStyle/>
            <a:p>
              <a:r>
                <a:rPr lang="en-US" sz="900" b="1"/>
                <a:t>LC-VCO</a:t>
              </a:r>
            </a:p>
          </p:txBody>
        </p:sp>
        <p:sp>
          <p:nvSpPr>
            <p:cNvPr id="337" name="Right Brace 278">
              <a:extLst>
                <a:ext uri="{FF2B5EF4-FFF2-40B4-BE49-F238E27FC236}">
                  <a16:creationId xmlns:a16="http://schemas.microsoft.com/office/drawing/2014/main" id="{85708C8A-C764-3BD0-763B-640CB05164FC}"/>
                </a:ext>
              </a:extLst>
            </p:cNvPr>
            <p:cNvSpPr/>
            <p:nvPr/>
          </p:nvSpPr>
          <p:spPr>
            <a:xfrm rot="5400000">
              <a:off x="5433792" y="4981957"/>
              <a:ext cx="353468" cy="1101635"/>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38" name="Rectangle 337">
              <a:extLst>
                <a:ext uri="{FF2B5EF4-FFF2-40B4-BE49-F238E27FC236}">
                  <a16:creationId xmlns:a16="http://schemas.microsoft.com/office/drawing/2014/main" id="{00092358-2170-E827-2522-FF30EAFB4523}"/>
                </a:ext>
              </a:extLst>
            </p:cNvPr>
            <p:cNvSpPr/>
            <p:nvPr/>
          </p:nvSpPr>
          <p:spPr>
            <a:xfrm>
              <a:off x="5016176" y="5561730"/>
              <a:ext cx="1273709" cy="492443"/>
            </a:xfrm>
            <a:prstGeom prst="rect">
              <a:avLst/>
            </a:prstGeom>
          </p:spPr>
          <p:txBody>
            <a:bodyPr wrap="none">
              <a:spAutoFit/>
            </a:bodyPr>
            <a:lstStyle/>
            <a:p>
              <a:pPr algn="ctr"/>
              <a:r>
                <a:rPr lang="en-US" sz="900" b="1">
                  <a:solidFill>
                    <a:srgbClr val="000099"/>
                  </a:solidFill>
                </a:rPr>
                <a:t>Multi  Phase </a:t>
              </a:r>
            </a:p>
            <a:p>
              <a:pPr algn="ctr"/>
              <a:r>
                <a:rPr lang="en-US" sz="900" b="1">
                  <a:solidFill>
                    <a:srgbClr val="000099"/>
                  </a:solidFill>
                </a:rPr>
                <a:t>LO/Clock</a:t>
              </a:r>
            </a:p>
          </p:txBody>
        </p:sp>
      </p:grpSp>
      <p:sp>
        <p:nvSpPr>
          <p:cNvPr id="405" name="Rectangle 404">
            <a:extLst>
              <a:ext uri="{FF2B5EF4-FFF2-40B4-BE49-F238E27FC236}">
                <a16:creationId xmlns:a16="http://schemas.microsoft.com/office/drawing/2014/main" id="{B54F2A83-8D0D-B388-FE09-648A43C1B12E}"/>
              </a:ext>
            </a:extLst>
          </p:cNvPr>
          <p:cNvSpPr/>
          <p:nvPr/>
        </p:nvSpPr>
        <p:spPr>
          <a:xfrm>
            <a:off x="102943" y="5816548"/>
            <a:ext cx="3837600" cy="461665"/>
          </a:xfrm>
          <a:prstGeom prst="rect">
            <a:avLst/>
          </a:prstGeom>
        </p:spPr>
        <p:txBody>
          <a:bodyPr wrap="square">
            <a:spAutoFit/>
          </a:bodyPr>
          <a:lstStyle/>
          <a:p>
            <a:pPr algn="ctr"/>
            <a:r>
              <a:rPr lang="en-US" sz="1200" b="1" dirty="0">
                <a:solidFill>
                  <a:srgbClr val="002060"/>
                </a:solidFill>
              </a:rPr>
              <a:t>(c) </a:t>
            </a:r>
            <a:r>
              <a:rPr lang="en-US" sz="1200" u="sng" dirty="0">
                <a:solidFill>
                  <a:srgbClr val="002060"/>
                </a:solidFill>
              </a:rPr>
              <a:t>Multiphase LO/clock generation methods using </a:t>
            </a:r>
          </a:p>
          <a:p>
            <a:pPr algn="ctr"/>
            <a:r>
              <a:rPr lang="en-IN" sz="1200" u="sng" dirty="0">
                <a:solidFill>
                  <a:srgbClr val="002060"/>
                </a:solidFill>
              </a:rPr>
              <a:t>LC VCOs and frequency divider</a:t>
            </a:r>
          </a:p>
        </p:txBody>
      </p:sp>
      <p:pic>
        <p:nvPicPr>
          <p:cNvPr id="411" name="Picture 410">
            <a:extLst>
              <a:ext uri="{FF2B5EF4-FFF2-40B4-BE49-F238E27FC236}">
                <a16:creationId xmlns:a16="http://schemas.microsoft.com/office/drawing/2014/main" id="{B1AF9AE6-8BCC-3900-9137-9BBA4AE3ABE7}"/>
              </a:ext>
            </a:extLst>
          </p:cNvPr>
          <p:cNvPicPr>
            <a:picLocks noChangeAspect="1"/>
          </p:cNvPicPr>
          <p:nvPr/>
        </p:nvPicPr>
        <p:blipFill>
          <a:blip r:embed="rId9"/>
          <a:stretch>
            <a:fillRect/>
          </a:stretch>
        </p:blipFill>
        <p:spPr>
          <a:xfrm>
            <a:off x="4103667" y="4405442"/>
            <a:ext cx="4115773" cy="1343666"/>
          </a:xfrm>
          <a:prstGeom prst="rect">
            <a:avLst/>
          </a:prstGeom>
        </p:spPr>
      </p:pic>
      <p:sp>
        <p:nvSpPr>
          <p:cNvPr id="414" name="Rectangle: Rounded Corners 2">
            <a:extLst>
              <a:ext uri="{FF2B5EF4-FFF2-40B4-BE49-F238E27FC236}">
                <a16:creationId xmlns:a16="http://schemas.microsoft.com/office/drawing/2014/main" id="{0711F6B5-B67C-F6E4-6729-028F06D3FA61}"/>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415" name="Rectangle 414">
            <a:extLst>
              <a:ext uri="{FF2B5EF4-FFF2-40B4-BE49-F238E27FC236}">
                <a16:creationId xmlns:a16="http://schemas.microsoft.com/office/drawing/2014/main" id="{C816F99C-D9F5-A5BA-7612-53E352706520}"/>
              </a:ext>
            </a:extLst>
          </p:cNvPr>
          <p:cNvSpPr>
            <a:spLocks noChangeArrowheads="1"/>
          </p:cNvSpPr>
          <p:nvPr/>
        </p:nvSpPr>
        <p:spPr bwMode="auto">
          <a:xfrm>
            <a:off x="-339690" y="126422"/>
            <a:ext cx="12256294" cy="407804"/>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ctr" fontAlgn="base">
              <a:spcBef>
                <a:spcPct val="0"/>
              </a:spcBef>
              <a:spcAft>
                <a:spcPct val="0"/>
              </a:spcAft>
            </a:pPr>
            <a:r>
              <a:rPr lang="en-GB" sz="2200" b="1" dirty="0">
                <a:solidFill>
                  <a:srgbClr val="002060"/>
                </a:solidFill>
              </a:rPr>
              <a:t>Techniques for clock generation and its requirements for High-Performance circuits</a:t>
            </a:r>
            <a:endParaRPr lang="en-US" sz="2200" b="1" dirty="0">
              <a:solidFill>
                <a:srgbClr val="002060"/>
              </a:solidFill>
              <a:cs typeface="Arial" panose="020B0604020202020204" pitchFamily="34" charset="0"/>
            </a:endParaRPr>
          </a:p>
        </p:txBody>
      </p:sp>
      <p:sp>
        <p:nvSpPr>
          <p:cNvPr id="2" name="Rectangle 1"/>
          <p:cNvSpPr/>
          <p:nvPr/>
        </p:nvSpPr>
        <p:spPr>
          <a:xfrm>
            <a:off x="8324850" y="1211220"/>
            <a:ext cx="3829050" cy="4524315"/>
          </a:xfrm>
          <a:prstGeom prst="rect">
            <a:avLst/>
          </a:prstGeom>
        </p:spPr>
        <p:txBody>
          <a:bodyPr wrap="square">
            <a:spAutoFit/>
          </a:bodyPr>
          <a:lstStyle/>
          <a:p>
            <a:pPr marL="285750" indent="-285750" algn="just">
              <a:buFont typeface="Wingdings" panose="05000000000000000000" pitchFamily="2" charset="2"/>
              <a:buChar char="q"/>
            </a:pPr>
            <a:r>
              <a:rPr lang="en-US" dirty="0" smtClean="0">
                <a:latin typeface="fkGroteskNeue"/>
              </a:rPr>
              <a:t>State-of-the-art </a:t>
            </a:r>
            <a:r>
              <a:rPr lang="en-US" dirty="0">
                <a:latin typeface="fkGroteskNeue"/>
              </a:rPr>
              <a:t>strategies for synthesizing </a:t>
            </a:r>
            <a:r>
              <a:rPr lang="en-US" b="1" dirty="0">
                <a:solidFill>
                  <a:srgbClr val="00B050"/>
                </a:solidFill>
                <a:latin typeface="fkGroteskNeue"/>
              </a:rPr>
              <a:t>precisely controlled multiphase clock and </a:t>
            </a:r>
            <a:r>
              <a:rPr lang="en-US" b="1" dirty="0" smtClean="0">
                <a:solidFill>
                  <a:srgbClr val="00B050"/>
                </a:solidFill>
                <a:latin typeface="fkGroteskNeue"/>
              </a:rPr>
              <a:t>LO </a:t>
            </a:r>
            <a:r>
              <a:rPr lang="en-US" b="1" dirty="0">
                <a:solidFill>
                  <a:srgbClr val="00B050"/>
                </a:solidFill>
                <a:latin typeface="fkGroteskNeue"/>
              </a:rPr>
              <a:t>signals</a:t>
            </a:r>
            <a:r>
              <a:rPr lang="en-US" dirty="0">
                <a:latin typeface="fkGroteskNeue"/>
              </a:rPr>
              <a:t>—core components in </a:t>
            </a:r>
            <a:r>
              <a:rPr lang="en-US" b="1" dirty="0">
                <a:solidFill>
                  <a:srgbClr val="00B050"/>
                </a:solidFill>
                <a:latin typeface="fkGroteskNeue"/>
              </a:rPr>
              <a:t>high-speed data converters, </a:t>
            </a:r>
            <a:r>
              <a:rPr lang="en-US" b="1" dirty="0" smtClean="0">
                <a:solidFill>
                  <a:srgbClr val="00B050"/>
                </a:solidFill>
                <a:latin typeface="fkGroteskNeue"/>
              </a:rPr>
              <a:t>wireline /</a:t>
            </a:r>
            <a:r>
              <a:rPr lang="en-US" b="1" dirty="0">
                <a:solidFill>
                  <a:srgbClr val="00B050"/>
                </a:solidFill>
                <a:latin typeface="fkGroteskNeue"/>
              </a:rPr>
              <a:t>wireless transceivers, and timing-critical digital systems</a:t>
            </a:r>
            <a:r>
              <a:rPr lang="en-US" b="1" dirty="0" smtClean="0">
                <a:solidFill>
                  <a:srgbClr val="00B050"/>
                </a:solidFill>
                <a:latin typeface="fkGroteskNeue"/>
              </a:rPr>
              <a:t>.</a:t>
            </a:r>
          </a:p>
          <a:p>
            <a:pPr algn="just"/>
            <a:r>
              <a:rPr lang="en-US" dirty="0" smtClean="0">
                <a:latin typeface="fkGroteskNeue"/>
              </a:rPr>
              <a:t> </a:t>
            </a:r>
          </a:p>
          <a:p>
            <a:pPr marL="285750" indent="-285750" algn="just">
              <a:buFont typeface="Wingdings" panose="05000000000000000000" pitchFamily="2" charset="2"/>
              <a:buChar char="q"/>
            </a:pPr>
            <a:r>
              <a:rPr lang="en-US" dirty="0" smtClean="0">
                <a:latin typeface="fkGroteskNeue"/>
              </a:rPr>
              <a:t>The </a:t>
            </a:r>
            <a:r>
              <a:rPr lang="en-US" dirty="0">
                <a:latin typeface="fkGroteskNeue"/>
              </a:rPr>
              <a:t>approaches blend </a:t>
            </a:r>
            <a:r>
              <a:rPr lang="en-US" b="1" dirty="0" smtClean="0">
                <a:solidFill>
                  <a:srgbClr val="00B050"/>
                </a:solidFill>
                <a:latin typeface="fkGroteskNeue"/>
              </a:rPr>
              <a:t>PLLs, DLLs, ROs, and LC-VCOs </a:t>
            </a:r>
            <a:r>
              <a:rPr lang="en-US" b="1" dirty="0">
                <a:solidFill>
                  <a:srgbClr val="00B050"/>
                </a:solidFill>
                <a:latin typeface="fkGroteskNeue"/>
              </a:rPr>
              <a:t>to address the multifaceted trade-offs among jitter, phase accuracy, integration density, and spectral purity </a:t>
            </a:r>
            <a:r>
              <a:rPr lang="en-US" dirty="0">
                <a:latin typeface="fkGroteskNeue"/>
              </a:rPr>
              <a:t>demanded by next-generation </a:t>
            </a:r>
            <a:r>
              <a:rPr lang="en-US" dirty="0" err="1">
                <a:latin typeface="fkGroteskNeue"/>
              </a:rPr>
              <a:t>SoCs</a:t>
            </a:r>
            <a:r>
              <a:rPr lang="en-US" dirty="0">
                <a:latin typeface="fkGroteskNeue"/>
              </a:rPr>
              <a:t>.</a:t>
            </a:r>
            <a:endParaRPr lang="en-US" dirty="0"/>
          </a:p>
        </p:txBody>
      </p:sp>
      <p:sp>
        <p:nvSpPr>
          <p:cNvPr id="407" name="Rectangle 406"/>
          <p:cNvSpPr/>
          <p:nvPr/>
        </p:nvSpPr>
        <p:spPr>
          <a:xfrm>
            <a:off x="8361680" y="1153160"/>
            <a:ext cx="3789680" cy="496934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40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31591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52" grpId="0"/>
      <p:bldP spid="325" grpId="0"/>
      <p:bldP spid="326" grpId="0"/>
      <p:bldP spid="405" grpId="0"/>
      <p:bldP spid="2" grpId="0"/>
      <p:bldP spid="40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Multiphase Generation deep dive</a:t>
            </a:r>
            <a:endParaRPr lang="en-US" dirty="0"/>
          </a:p>
        </p:txBody>
      </p:sp>
      <p:sp>
        <p:nvSpPr>
          <p:cNvPr id="3" name="Text Placeholder 2"/>
          <p:cNvSpPr>
            <a:spLocks noGrp="1"/>
          </p:cNvSpPr>
          <p:nvPr>
            <p:ph type="body" idx="1"/>
          </p:nvPr>
        </p:nvSpPr>
        <p:spPr>
          <a:xfrm>
            <a:off x="610009" y="3826412"/>
            <a:ext cx="5185880" cy="2316135"/>
          </a:xfrm>
        </p:spPr>
        <p:txBody>
          <a:bodyPr>
            <a:normAutofit fontScale="92500" lnSpcReduction="10000"/>
          </a:bodyPr>
          <a:lstStyle/>
          <a:p>
            <a:pPr marL="285750" indent="-285750" algn="just">
              <a:buFont typeface="Wingdings" panose="05000000000000000000" pitchFamily="2" charset="2"/>
              <a:buChar char="q"/>
            </a:pPr>
            <a:r>
              <a:rPr lang="en-US" sz="1600" dirty="0">
                <a:solidFill>
                  <a:schemeClr val="tx1"/>
                </a:solidFill>
                <a:latin typeface="fkGroteskNeue"/>
              </a:rPr>
              <a:t>A classic ring oscillator, comprising an </a:t>
            </a:r>
            <a:r>
              <a:rPr lang="en-US" sz="1600" b="1" dirty="0">
                <a:solidFill>
                  <a:srgbClr val="00B050"/>
                </a:solidFill>
                <a:latin typeface="fkGroteskNeue"/>
              </a:rPr>
              <a:t>odd number of inverters arranged in a loop</a:t>
            </a:r>
            <a:r>
              <a:rPr lang="en-US" sz="1600" dirty="0">
                <a:solidFill>
                  <a:schemeClr val="tx1"/>
                </a:solidFill>
                <a:latin typeface="fkGroteskNeue"/>
              </a:rPr>
              <a:t>, is locked to a reference via a PLL to enhance long-term frequency stability. </a:t>
            </a:r>
            <a:endParaRPr lang="en-US" sz="1600" dirty="0" smtClean="0">
              <a:solidFill>
                <a:schemeClr val="tx1"/>
              </a:solidFill>
              <a:latin typeface="fkGroteskNeue"/>
            </a:endParaRPr>
          </a:p>
          <a:p>
            <a:pPr marL="285750" indent="-285750" algn="just">
              <a:buFont typeface="Wingdings" panose="05000000000000000000" pitchFamily="2" charset="2"/>
              <a:buChar char="q"/>
            </a:pPr>
            <a:r>
              <a:rPr lang="en-US" sz="1600" dirty="0" smtClean="0">
                <a:solidFill>
                  <a:schemeClr val="tx1"/>
                </a:solidFill>
                <a:latin typeface="fkGroteskNeue"/>
              </a:rPr>
              <a:t>The </a:t>
            </a:r>
            <a:r>
              <a:rPr lang="en-US" sz="1600" dirty="0">
                <a:solidFill>
                  <a:schemeClr val="tx1"/>
                </a:solidFill>
                <a:latin typeface="fkGroteskNeue"/>
              </a:rPr>
              <a:t>circuit </a:t>
            </a:r>
            <a:r>
              <a:rPr lang="en-US" sz="1600" b="1" dirty="0">
                <a:solidFill>
                  <a:srgbClr val="00B050"/>
                </a:solidFill>
                <a:latin typeface="fkGroteskNeue"/>
              </a:rPr>
              <a:t>naturally produces evenly spaced clock phases </a:t>
            </a:r>
            <a:r>
              <a:rPr lang="en-US" sz="1600" dirty="0" smtClean="0">
                <a:solidFill>
                  <a:schemeClr val="tx1"/>
                </a:solidFill>
                <a:latin typeface="fkGroteskNeue"/>
              </a:rPr>
              <a:t>(</a:t>
            </a:r>
            <a:r>
              <a:rPr lang="en-US" sz="1600" i="1" dirty="0" smtClean="0">
                <a:solidFill>
                  <a:schemeClr val="tx1"/>
                </a:solidFill>
                <a:latin typeface="KaTeX_Math"/>
              </a:rPr>
              <a:t>θ</a:t>
            </a:r>
            <a:r>
              <a:rPr lang="en-US" sz="1600" baseline="-25000" dirty="0" smtClean="0">
                <a:solidFill>
                  <a:schemeClr val="tx1"/>
                </a:solidFill>
                <a:latin typeface="KaTeX_Main"/>
              </a:rPr>
              <a:t>1</a:t>
            </a:r>
            <a:r>
              <a:rPr lang="en-US" sz="1600" dirty="0" smtClean="0">
                <a:solidFill>
                  <a:schemeClr val="tx1"/>
                </a:solidFill>
                <a:latin typeface="KaTeX_Main"/>
              </a:rPr>
              <a:t>,</a:t>
            </a:r>
            <a:r>
              <a:rPr lang="en-US" sz="1600" i="1" dirty="0" smtClean="0">
                <a:solidFill>
                  <a:schemeClr val="tx1"/>
                </a:solidFill>
                <a:latin typeface="KaTeX_Math"/>
              </a:rPr>
              <a:t>θ</a:t>
            </a:r>
            <a:r>
              <a:rPr lang="en-US" sz="1600" baseline="-25000" dirty="0" smtClean="0">
                <a:solidFill>
                  <a:schemeClr val="tx1"/>
                </a:solidFill>
                <a:latin typeface="KaTeX_Main"/>
              </a:rPr>
              <a:t>2</a:t>
            </a:r>
            <a:r>
              <a:rPr lang="en-US" sz="1600" dirty="0">
                <a:solidFill>
                  <a:schemeClr val="tx1"/>
                </a:solidFill>
                <a:latin typeface="KaTeX_Main"/>
              </a:rPr>
              <a:t>,...,</a:t>
            </a:r>
            <a:r>
              <a:rPr lang="en-US" sz="1600" i="1" dirty="0" err="1">
                <a:solidFill>
                  <a:schemeClr val="tx1"/>
                </a:solidFill>
                <a:latin typeface="KaTeX_Math"/>
              </a:rPr>
              <a:t>θ</a:t>
            </a:r>
            <a:r>
              <a:rPr lang="en-US" sz="1600" i="1" baseline="-25000" dirty="0" err="1">
                <a:solidFill>
                  <a:schemeClr val="tx1"/>
                </a:solidFill>
                <a:latin typeface="KaTeX_Math"/>
              </a:rPr>
              <a:t>N</a:t>
            </a:r>
            <a:r>
              <a:rPr lang="en-US" sz="1600" dirty="0">
                <a:solidFill>
                  <a:schemeClr val="tx1"/>
                </a:solidFill>
                <a:latin typeface="fkGroteskNeue"/>
              </a:rPr>
              <a:t>), making it ideal for low-area multiphase generation. </a:t>
            </a:r>
            <a:endParaRPr lang="en-US" sz="1600" dirty="0" smtClean="0">
              <a:solidFill>
                <a:schemeClr val="tx1"/>
              </a:solidFill>
              <a:latin typeface="fkGroteskNeue"/>
            </a:endParaRPr>
          </a:p>
          <a:p>
            <a:pPr marL="285750" indent="-285750" algn="just">
              <a:buFont typeface="Wingdings" panose="05000000000000000000" pitchFamily="2" charset="2"/>
              <a:buChar char="q"/>
            </a:pPr>
            <a:r>
              <a:rPr lang="en-US" sz="1600" dirty="0" smtClean="0">
                <a:solidFill>
                  <a:schemeClr val="tx1"/>
                </a:solidFill>
                <a:latin typeface="fkGroteskNeue"/>
              </a:rPr>
              <a:t>However</a:t>
            </a:r>
            <a:r>
              <a:rPr lang="en-US" sz="1600" dirty="0">
                <a:solidFill>
                  <a:schemeClr val="tx1"/>
                </a:solidFill>
                <a:latin typeface="fkGroteskNeue"/>
              </a:rPr>
              <a:t>, </a:t>
            </a:r>
            <a:r>
              <a:rPr lang="en-US" sz="1600" b="1" dirty="0">
                <a:solidFill>
                  <a:srgbClr val="C00000"/>
                </a:solidFill>
                <a:latin typeface="fkGroteskNeue"/>
              </a:rPr>
              <a:t>intrinsic device noise</a:t>
            </a:r>
            <a:r>
              <a:rPr lang="en-US" sz="1600" dirty="0">
                <a:solidFill>
                  <a:schemeClr val="tx1"/>
                </a:solidFill>
                <a:latin typeface="fkGroteskNeue"/>
              </a:rPr>
              <a:t>, </a:t>
            </a:r>
            <a:r>
              <a:rPr lang="en-US" sz="1600" b="1" dirty="0">
                <a:solidFill>
                  <a:srgbClr val="C00000"/>
                </a:solidFill>
                <a:latin typeface="fkGroteskNeue"/>
              </a:rPr>
              <a:t>sensitivity to PVT (process, voltage, temperature) variation</a:t>
            </a:r>
            <a:r>
              <a:rPr lang="en-US" sz="1600" dirty="0">
                <a:solidFill>
                  <a:schemeClr val="tx1"/>
                </a:solidFill>
                <a:latin typeface="fkGroteskNeue"/>
              </a:rPr>
              <a:t>, and </a:t>
            </a:r>
            <a:r>
              <a:rPr lang="en-US" sz="1600" b="1" dirty="0">
                <a:solidFill>
                  <a:srgbClr val="C00000"/>
                </a:solidFill>
                <a:latin typeface="fkGroteskNeue"/>
              </a:rPr>
              <a:t>limited Q-factor result</a:t>
            </a:r>
            <a:r>
              <a:rPr lang="en-US" sz="1600" dirty="0">
                <a:solidFill>
                  <a:schemeClr val="tx1"/>
                </a:solidFill>
                <a:latin typeface="fkGroteskNeue"/>
              </a:rPr>
              <a:t> in </a:t>
            </a:r>
            <a:r>
              <a:rPr lang="en-US" sz="1600" b="1" dirty="0">
                <a:solidFill>
                  <a:srgbClr val="C00000"/>
                </a:solidFill>
                <a:latin typeface="fkGroteskNeue"/>
              </a:rPr>
              <a:t>elevated phase noise and jitter—constraining </a:t>
            </a:r>
            <a:r>
              <a:rPr lang="en-US" sz="1600" dirty="0">
                <a:solidFill>
                  <a:schemeClr val="tx1"/>
                </a:solidFill>
                <a:latin typeface="fkGroteskNeue"/>
              </a:rPr>
              <a:t>utility in precision RF or low-jitter ADC/DSP domains.</a:t>
            </a:r>
            <a:endParaRPr lang="en-US" sz="1600" dirty="0">
              <a:solidFill>
                <a:schemeClr val="tx1"/>
              </a:solidFill>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D2944A17-CBE4-42EF-BD26-1A8292C3E06F}"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6</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9" name="Rectangle 8">
            <a:extLst>
              <a:ext uri="{FF2B5EF4-FFF2-40B4-BE49-F238E27FC236}">
                <a16:creationId xmlns:a16="http://schemas.microsoft.com/office/drawing/2014/main" id="{A47056A3-995D-64D5-6C49-A0C7489357CC}"/>
              </a:ext>
            </a:extLst>
          </p:cNvPr>
          <p:cNvSpPr/>
          <p:nvPr/>
        </p:nvSpPr>
        <p:spPr>
          <a:xfrm>
            <a:off x="7674781" y="1468990"/>
            <a:ext cx="2957528" cy="1777360"/>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10" name="Rectangle 9">
            <a:extLst>
              <a:ext uri="{FF2B5EF4-FFF2-40B4-BE49-F238E27FC236}">
                <a16:creationId xmlns:a16="http://schemas.microsoft.com/office/drawing/2014/main" id="{B39ED4B3-506D-FEAE-41AD-AAE51D4404F4}"/>
              </a:ext>
            </a:extLst>
          </p:cNvPr>
          <p:cNvSpPr/>
          <p:nvPr/>
        </p:nvSpPr>
        <p:spPr>
          <a:xfrm>
            <a:off x="1516617" y="1346390"/>
            <a:ext cx="2882552" cy="1777360"/>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grpSp>
        <p:nvGrpSpPr>
          <p:cNvPr id="11" name="Group 10">
            <a:extLst>
              <a:ext uri="{FF2B5EF4-FFF2-40B4-BE49-F238E27FC236}">
                <a16:creationId xmlns:a16="http://schemas.microsoft.com/office/drawing/2014/main" id="{D6A0728D-FD15-281B-82CA-9125DA02FC81}"/>
              </a:ext>
            </a:extLst>
          </p:cNvPr>
          <p:cNvGrpSpPr/>
          <p:nvPr/>
        </p:nvGrpSpPr>
        <p:grpSpPr>
          <a:xfrm>
            <a:off x="1589228" y="1392087"/>
            <a:ext cx="3981202" cy="1577340"/>
            <a:chOff x="4182505" y="4656536"/>
            <a:chExt cx="5464266" cy="2103120"/>
          </a:xfrm>
        </p:grpSpPr>
        <p:sp>
          <p:nvSpPr>
            <p:cNvPr id="12" name="Rounded Rectangle 165">
              <a:extLst>
                <a:ext uri="{FF2B5EF4-FFF2-40B4-BE49-F238E27FC236}">
                  <a16:creationId xmlns:a16="http://schemas.microsoft.com/office/drawing/2014/main" id="{91C1B0A5-361B-7DF8-73A5-492D6E18345D}"/>
                </a:ext>
              </a:extLst>
            </p:cNvPr>
            <p:cNvSpPr/>
            <p:nvPr/>
          </p:nvSpPr>
          <p:spPr>
            <a:xfrm>
              <a:off x="4182505" y="5161033"/>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3" name="Rectangle 12">
              <a:extLst>
                <a:ext uri="{FF2B5EF4-FFF2-40B4-BE49-F238E27FC236}">
                  <a16:creationId xmlns:a16="http://schemas.microsoft.com/office/drawing/2014/main" id="{94953F01-C852-FC1F-CF38-8DBDA185FA5D}"/>
                </a:ext>
              </a:extLst>
            </p:cNvPr>
            <p:cNvSpPr/>
            <p:nvPr/>
          </p:nvSpPr>
          <p:spPr>
            <a:xfrm>
              <a:off x="4290985" y="5407951"/>
              <a:ext cx="944437" cy="677108"/>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cxnSp>
          <p:nvCxnSpPr>
            <p:cNvPr id="14" name="Straight Arrow Connector 13">
              <a:extLst>
                <a:ext uri="{FF2B5EF4-FFF2-40B4-BE49-F238E27FC236}">
                  <a16:creationId xmlns:a16="http://schemas.microsoft.com/office/drawing/2014/main" id="{B8C2A5EC-681A-3CBB-37ED-3E2F451DF343}"/>
                </a:ext>
              </a:extLst>
            </p:cNvPr>
            <p:cNvCxnSpPr/>
            <p:nvPr/>
          </p:nvCxnSpPr>
          <p:spPr>
            <a:xfrm flipH="1">
              <a:off x="5318344" y="5623808"/>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51792FFC-50EF-6FD8-F04C-17B5C5BE6511}"/>
                </a:ext>
              </a:extLst>
            </p:cNvPr>
            <p:cNvCxnSpPr/>
            <p:nvPr/>
          </p:nvCxnSpPr>
          <p:spPr>
            <a:xfrm flipV="1">
              <a:off x="5297691" y="5860695"/>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CE3EEB46-705F-C514-80CF-F16134A78A0E}"/>
                </a:ext>
              </a:extLst>
            </p:cNvPr>
            <p:cNvGrpSpPr>
              <a:grpSpLocks noChangeAspect="1"/>
            </p:cNvGrpSpPr>
            <p:nvPr/>
          </p:nvGrpSpPr>
          <p:grpSpPr>
            <a:xfrm>
              <a:off x="5563768" y="4656536"/>
              <a:ext cx="3154730" cy="2103120"/>
              <a:chOff x="5578236" y="4782645"/>
              <a:chExt cx="2946033" cy="1963989"/>
            </a:xfrm>
          </p:grpSpPr>
          <p:sp>
            <p:nvSpPr>
              <p:cNvPr id="19" name="Rounded Rectangle 108">
                <a:extLst>
                  <a:ext uri="{FF2B5EF4-FFF2-40B4-BE49-F238E27FC236}">
                    <a16:creationId xmlns:a16="http://schemas.microsoft.com/office/drawing/2014/main" id="{0BFD3C26-1128-1108-9536-E8472747BA00}"/>
                  </a:ext>
                </a:extLst>
              </p:cNvPr>
              <p:cNvSpPr/>
              <p:nvPr/>
            </p:nvSpPr>
            <p:spPr>
              <a:xfrm>
                <a:off x="5578236" y="4782645"/>
                <a:ext cx="2216326" cy="1963989"/>
              </a:xfrm>
              <a:prstGeom prst="roundRect">
                <a:avLst/>
              </a:prstGeom>
              <a:solidFill>
                <a:schemeClr val="accent5">
                  <a:lumMod val="20000"/>
                  <a:lumOff val="80000"/>
                </a:schemeClr>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0" name="Group 19">
                <a:extLst>
                  <a:ext uri="{FF2B5EF4-FFF2-40B4-BE49-F238E27FC236}">
                    <a16:creationId xmlns:a16="http://schemas.microsoft.com/office/drawing/2014/main" id="{9C5D8129-EB0B-0636-62FD-FA9117E05C41}"/>
                  </a:ext>
                </a:extLst>
              </p:cNvPr>
              <p:cNvGrpSpPr>
                <a:grpSpLocks noChangeAspect="1"/>
              </p:cNvGrpSpPr>
              <p:nvPr/>
            </p:nvGrpSpPr>
            <p:grpSpPr>
              <a:xfrm>
                <a:off x="5796206" y="4842592"/>
                <a:ext cx="2301092" cy="1787064"/>
                <a:chOff x="1729851" y="3755445"/>
                <a:chExt cx="1538664" cy="1194952"/>
              </a:xfrm>
            </p:grpSpPr>
            <p:sp>
              <p:nvSpPr>
                <p:cNvPr id="30" name="Oval 29">
                  <a:extLst>
                    <a:ext uri="{FF2B5EF4-FFF2-40B4-BE49-F238E27FC236}">
                      <a16:creationId xmlns:a16="http://schemas.microsoft.com/office/drawing/2014/main" id="{C2A46325-0667-607C-A095-4ACFF361C73B}"/>
                    </a:ext>
                  </a:extLst>
                </p:cNvPr>
                <p:cNvSpPr/>
                <p:nvPr/>
              </p:nvSpPr>
              <p:spPr>
                <a:xfrm>
                  <a:off x="1844235" y="3876947"/>
                  <a:ext cx="994689" cy="951948"/>
                </a:xfrm>
                <a:prstGeom prst="ellipse">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solidFill>
                      <a:schemeClr val="tx1"/>
                    </a:solidFill>
                  </a:endParaRPr>
                </a:p>
                <a:p>
                  <a:pPr algn="ctr"/>
                  <a:r>
                    <a:rPr lang="en-US" sz="1215" b="1">
                      <a:solidFill>
                        <a:schemeClr val="tx1"/>
                      </a:solidFill>
                    </a:rPr>
                    <a:t>Ring</a:t>
                  </a:r>
                </a:p>
                <a:p>
                  <a:pPr algn="ctr"/>
                  <a:r>
                    <a:rPr lang="en-US" sz="1215" b="1">
                      <a:solidFill>
                        <a:schemeClr val="tx1"/>
                      </a:solidFill>
                    </a:rPr>
                    <a:t>Oscillator</a:t>
                  </a:r>
                  <a:r>
                    <a:rPr lang="en-US" sz="1215" b="1"/>
                    <a:t> </a:t>
                  </a:r>
                </a:p>
                <a:p>
                  <a:pPr algn="ctr"/>
                  <a:endParaRPr lang="en-US" sz="1215"/>
                </a:p>
              </p:txBody>
            </p:sp>
            <p:grpSp>
              <p:nvGrpSpPr>
                <p:cNvPr id="31" name="Group 30">
                  <a:extLst>
                    <a:ext uri="{FF2B5EF4-FFF2-40B4-BE49-F238E27FC236}">
                      <a16:creationId xmlns:a16="http://schemas.microsoft.com/office/drawing/2014/main" id="{557DF5EC-D0B2-5A62-FA20-90894226D3A5}"/>
                    </a:ext>
                  </a:extLst>
                </p:cNvPr>
                <p:cNvGrpSpPr/>
                <p:nvPr/>
              </p:nvGrpSpPr>
              <p:grpSpPr>
                <a:xfrm>
                  <a:off x="2240164" y="3755445"/>
                  <a:ext cx="235344" cy="271275"/>
                  <a:chOff x="2671336" y="3081494"/>
                  <a:chExt cx="235344" cy="274320"/>
                </a:xfrm>
              </p:grpSpPr>
              <p:sp>
                <p:nvSpPr>
                  <p:cNvPr id="49" name="Isosceles Triangle 48">
                    <a:extLst>
                      <a:ext uri="{FF2B5EF4-FFF2-40B4-BE49-F238E27FC236}">
                        <a16:creationId xmlns:a16="http://schemas.microsoft.com/office/drawing/2014/main" id="{CADE061B-A509-6B1C-0A8A-F5E55ED3E0B1}"/>
                      </a:ext>
                    </a:extLst>
                  </p:cNvPr>
                  <p:cNvSpPr/>
                  <p:nvPr/>
                </p:nvSpPr>
                <p:spPr>
                  <a:xfrm rot="5400000">
                    <a:off x="2628035" y="3124795"/>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0" name="Oval 49">
                    <a:extLst>
                      <a:ext uri="{FF2B5EF4-FFF2-40B4-BE49-F238E27FC236}">
                        <a16:creationId xmlns:a16="http://schemas.microsoft.com/office/drawing/2014/main" id="{58A73455-A1C7-2C36-D9B7-613A81FA445A}"/>
                      </a:ext>
                    </a:extLst>
                  </p:cNvPr>
                  <p:cNvSpPr/>
                  <p:nvPr/>
                </p:nvSpPr>
                <p:spPr>
                  <a:xfrm>
                    <a:off x="2860960" y="3200058"/>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sp>
              <p:nvSpPr>
                <p:cNvPr id="32" name="Isosceles Triangle 31">
                  <a:extLst>
                    <a:ext uri="{FF2B5EF4-FFF2-40B4-BE49-F238E27FC236}">
                      <a16:creationId xmlns:a16="http://schemas.microsoft.com/office/drawing/2014/main" id="{24A71B96-ADBD-443D-2DD7-87847784E0CE}"/>
                    </a:ext>
                  </a:extLst>
                </p:cNvPr>
                <p:cNvSpPr/>
                <p:nvPr/>
              </p:nvSpPr>
              <p:spPr>
                <a:xfrm rot="16200000">
                  <a:off x="2212262" y="4710006"/>
                  <a:ext cx="274320" cy="206462"/>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3" name="Arc 59">
                  <a:extLst>
                    <a:ext uri="{FF2B5EF4-FFF2-40B4-BE49-F238E27FC236}">
                      <a16:creationId xmlns:a16="http://schemas.microsoft.com/office/drawing/2014/main" id="{D14C64AF-9A76-DA7B-3CCD-24BD53A1D44B}"/>
                    </a:ext>
                  </a:extLst>
                </p:cNvPr>
                <p:cNvSpPr/>
                <p:nvPr/>
              </p:nvSpPr>
              <p:spPr>
                <a:xfrm rot="20604334">
                  <a:off x="2530380" y="3857607"/>
                  <a:ext cx="228998" cy="349205"/>
                </a:xfrm>
                <a:custGeom>
                  <a:avLst/>
                  <a:gdLst>
                    <a:gd name="connsiteX0" fmla="*/ 125773 w 251546"/>
                    <a:gd name="connsiteY0" fmla="*/ 0 h 350036"/>
                    <a:gd name="connsiteX1" fmla="*/ 251546 w 251546"/>
                    <a:gd name="connsiteY1" fmla="*/ 175018 h 350036"/>
                    <a:gd name="connsiteX2" fmla="*/ 125773 w 251546"/>
                    <a:gd name="connsiteY2" fmla="*/ 175018 h 350036"/>
                    <a:gd name="connsiteX3" fmla="*/ 125773 w 251546"/>
                    <a:gd name="connsiteY3" fmla="*/ 0 h 350036"/>
                    <a:gd name="connsiteX0" fmla="*/ 125773 w 251546"/>
                    <a:gd name="connsiteY0" fmla="*/ 0 h 350036"/>
                    <a:gd name="connsiteX1" fmla="*/ 251546 w 251546"/>
                    <a:gd name="connsiteY1" fmla="*/ 175018 h 350036"/>
                    <a:gd name="connsiteX0" fmla="*/ 7001 w 132774"/>
                    <a:gd name="connsiteY0" fmla="*/ 0 h 175018"/>
                    <a:gd name="connsiteX1" fmla="*/ 132774 w 132774"/>
                    <a:gd name="connsiteY1" fmla="*/ 175018 h 175018"/>
                    <a:gd name="connsiteX2" fmla="*/ 7001 w 132774"/>
                    <a:gd name="connsiteY2" fmla="*/ 175018 h 175018"/>
                    <a:gd name="connsiteX3" fmla="*/ 7001 w 132774"/>
                    <a:gd name="connsiteY3" fmla="*/ 0 h 175018"/>
                    <a:gd name="connsiteX0" fmla="*/ 0 w 132774"/>
                    <a:gd name="connsiteY0" fmla="*/ 1420 h 175018"/>
                    <a:gd name="connsiteX1" fmla="*/ 132774 w 132774"/>
                    <a:gd name="connsiteY1" fmla="*/ 175018 h 175018"/>
                    <a:gd name="connsiteX0" fmla="*/ 7001 w 132774"/>
                    <a:gd name="connsiteY0" fmla="*/ 0 h 181579"/>
                    <a:gd name="connsiteX1" fmla="*/ 132774 w 132774"/>
                    <a:gd name="connsiteY1" fmla="*/ 175018 h 181579"/>
                    <a:gd name="connsiteX2" fmla="*/ 7001 w 132774"/>
                    <a:gd name="connsiteY2" fmla="*/ 175018 h 181579"/>
                    <a:gd name="connsiteX3" fmla="*/ 7001 w 132774"/>
                    <a:gd name="connsiteY3" fmla="*/ 0 h 181579"/>
                    <a:gd name="connsiteX0" fmla="*/ 0 w 132774"/>
                    <a:gd name="connsiteY0" fmla="*/ 1420 h 181579"/>
                    <a:gd name="connsiteX1" fmla="*/ 124387 w 132774"/>
                    <a:gd name="connsiteY1" fmla="*/ 181579 h 181579"/>
                    <a:gd name="connsiteX0" fmla="*/ 11736 w 137509"/>
                    <a:gd name="connsiteY0" fmla="*/ 21917 h 203496"/>
                    <a:gd name="connsiteX1" fmla="*/ 137509 w 137509"/>
                    <a:gd name="connsiteY1" fmla="*/ 196935 h 203496"/>
                    <a:gd name="connsiteX2" fmla="*/ 11736 w 137509"/>
                    <a:gd name="connsiteY2" fmla="*/ 196935 h 203496"/>
                    <a:gd name="connsiteX3" fmla="*/ 11736 w 137509"/>
                    <a:gd name="connsiteY3" fmla="*/ 21917 h 203496"/>
                    <a:gd name="connsiteX0" fmla="*/ 0 w 137509"/>
                    <a:gd name="connsiteY0" fmla="*/ 0 h 203496"/>
                    <a:gd name="connsiteX1" fmla="*/ 129122 w 137509"/>
                    <a:gd name="connsiteY1" fmla="*/ 203496 h 203496"/>
                    <a:gd name="connsiteX0" fmla="*/ 11736 w 138897"/>
                    <a:gd name="connsiteY0" fmla="*/ 21917 h 196935"/>
                    <a:gd name="connsiteX1" fmla="*/ 137509 w 138897"/>
                    <a:gd name="connsiteY1" fmla="*/ 196935 h 196935"/>
                    <a:gd name="connsiteX2" fmla="*/ 11736 w 138897"/>
                    <a:gd name="connsiteY2" fmla="*/ 196935 h 196935"/>
                    <a:gd name="connsiteX3" fmla="*/ 11736 w 138897"/>
                    <a:gd name="connsiteY3" fmla="*/ 21917 h 196935"/>
                    <a:gd name="connsiteX0" fmla="*/ 0 w 138897"/>
                    <a:gd name="connsiteY0" fmla="*/ 0 h 196935"/>
                    <a:gd name="connsiteX1" fmla="*/ 138897 w 138897"/>
                    <a:gd name="connsiteY1" fmla="*/ 191793 h 196935"/>
                    <a:gd name="connsiteX0" fmla="*/ 23305 w 150466"/>
                    <a:gd name="connsiteY0" fmla="*/ 21917 h 196935"/>
                    <a:gd name="connsiteX1" fmla="*/ 149078 w 150466"/>
                    <a:gd name="connsiteY1" fmla="*/ 196935 h 196935"/>
                    <a:gd name="connsiteX2" fmla="*/ 0 w 150466"/>
                    <a:gd name="connsiteY2" fmla="*/ 175082 h 196935"/>
                    <a:gd name="connsiteX3" fmla="*/ 23305 w 150466"/>
                    <a:gd name="connsiteY3" fmla="*/ 21917 h 196935"/>
                    <a:gd name="connsiteX0" fmla="*/ 11569 w 150466"/>
                    <a:gd name="connsiteY0" fmla="*/ 0 h 196935"/>
                    <a:gd name="connsiteX1" fmla="*/ 150466 w 150466"/>
                    <a:gd name="connsiteY1" fmla="*/ 191793 h 196935"/>
                    <a:gd name="connsiteX0" fmla="*/ 37481 w 164642"/>
                    <a:gd name="connsiteY0" fmla="*/ 21917 h 196935"/>
                    <a:gd name="connsiteX1" fmla="*/ 163254 w 164642"/>
                    <a:gd name="connsiteY1" fmla="*/ 196935 h 196935"/>
                    <a:gd name="connsiteX2" fmla="*/ 0 w 164642"/>
                    <a:gd name="connsiteY2" fmla="*/ 155948 h 196935"/>
                    <a:gd name="connsiteX3" fmla="*/ 37481 w 164642"/>
                    <a:gd name="connsiteY3" fmla="*/ 21917 h 196935"/>
                    <a:gd name="connsiteX0" fmla="*/ 25745 w 164642"/>
                    <a:gd name="connsiteY0" fmla="*/ 0 h 196935"/>
                    <a:gd name="connsiteX1" fmla="*/ 164642 w 164642"/>
                    <a:gd name="connsiteY1" fmla="*/ 191793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180814 w 180814"/>
                    <a:gd name="connsiteY1" fmla="*/ 179219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50098 w 180814"/>
                    <a:gd name="connsiteY1" fmla="*/ 20709 h 196935"/>
                    <a:gd name="connsiteX2" fmla="*/ 180814 w 180814"/>
                    <a:gd name="connsiteY2" fmla="*/ 179219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50098 w 180814"/>
                    <a:gd name="connsiteY1" fmla="*/ 20709 h 196935"/>
                    <a:gd name="connsiteX2" fmla="*/ 141229 w 180814"/>
                    <a:gd name="connsiteY2" fmla="*/ 90107 h 196935"/>
                    <a:gd name="connsiteX3" fmla="*/ 180814 w 180814"/>
                    <a:gd name="connsiteY3" fmla="*/ 179219 h 196935"/>
                    <a:gd name="connsiteX0" fmla="*/ 37481 w 186738"/>
                    <a:gd name="connsiteY0" fmla="*/ 21917 h 196935"/>
                    <a:gd name="connsiteX1" fmla="*/ 163254 w 186738"/>
                    <a:gd name="connsiteY1" fmla="*/ 196935 h 196935"/>
                    <a:gd name="connsiteX2" fmla="*/ 0 w 186738"/>
                    <a:gd name="connsiteY2" fmla="*/ 155948 h 196935"/>
                    <a:gd name="connsiteX3" fmla="*/ 37481 w 186738"/>
                    <a:gd name="connsiteY3" fmla="*/ 21917 h 196935"/>
                    <a:gd name="connsiteX0" fmla="*/ 25745 w 186738"/>
                    <a:gd name="connsiteY0" fmla="*/ 0 h 196935"/>
                    <a:gd name="connsiteX1" fmla="*/ 50098 w 186738"/>
                    <a:gd name="connsiteY1" fmla="*/ 20709 h 196935"/>
                    <a:gd name="connsiteX2" fmla="*/ 141229 w 186738"/>
                    <a:gd name="connsiteY2" fmla="*/ 90107 h 196935"/>
                    <a:gd name="connsiteX3" fmla="*/ 186738 w 186738"/>
                    <a:gd name="connsiteY3" fmla="*/ 176015 h 196935"/>
                    <a:gd name="connsiteX0" fmla="*/ 37481 w 186738"/>
                    <a:gd name="connsiteY0" fmla="*/ 21917 h 196935"/>
                    <a:gd name="connsiteX1" fmla="*/ 163254 w 186738"/>
                    <a:gd name="connsiteY1" fmla="*/ 196935 h 196935"/>
                    <a:gd name="connsiteX2" fmla="*/ 0 w 186738"/>
                    <a:gd name="connsiteY2" fmla="*/ 155948 h 196935"/>
                    <a:gd name="connsiteX3" fmla="*/ 37481 w 186738"/>
                    <a:gd name="connsiteY3" fmla="*/ 21917 h 196935"/>
                    <a:gd name="connsiteX0" fmla="*/ 25745 w 186738"/>
                    <a:gd name="connsiteY0" fmla="*/ 0 h 196935"/>
                    <a:gd name="connsiteX1" fmla="*/ 50098 w 186738"/>
                    <a:gd name="connsiteY1" fmla="*/ 20709 h 196935"/>
                    <a:gd name="connsiteX2" fmla="*/ 133023 w 186738"/>
                    <a:gd name="connsiteY2" fmla="*/ 92631 h 196935"/>
                    <a:gd name="connsiteX3" fmla="*/ 186738 w 186738"/>
                    <a:gd name="connsiteY3" fmla="*/ 176015 h 196935"/>
                    <a:gd name="connsiteX0" fmla="*/ 37481 w 330659"/>
                    <a:gd name="connsiteY0" fmla="*/ 21917 h 427415"/>
                    <a:gd name="connsiteX1" fmla="*/ 163254 w 330659"/>
                    <a:gd name="connsiteY1" fmla="*/ 196935 h 427415"/>
                    <a:gd name="connsiteX2" fmla="*/ 0 w 330659"/>
                    <a:gd name="connsiteY2" fmla="*/ 155948 h 427415"/>
                    <a:gd name="connsiteX3" fmla="*/ 37481 w 330659"/>
                    <a:gd name="connsiteY3"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30659"/>
                    <a:gd name="connsiteY0" fmla="*/ 21917 h 427415"/>
                    <a:gd name="connsiteX1" fmla="*/ 67347 w 330659"/>
                    <a:gd name="connsiteY1" fmla="*/ 308309 h 427415"/>
                    <a:gd name="connsiteX2" fmla="*/ 0 w 330659"/>
                    <a:gd name="connsiteY2" fmla="*/ 155948 h 427415"/>
                    <a:gd name="connsiteX3" fmla="*/ 37481 w 330659"/>
                    <a:gd name="connsiteY3"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30659"/>
                    <a:gd name="connsiteY0" fmla="*/ 21917 h 427415"/>
                    <a:gd name="connsiteX1" fmla="*/ 0 w 330659"/>
                    <a:gd name="connsiteY1" fmla="*/ 155948 h 427415"/>
                    <a:gd name="connsiteX2" fmla="*/ 37481 w 330659"/>
                    <a:gd name="connsiteY2"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5" fmla="*/ 262569 w 362746"/>
                    <a:gd name="connsiteY5" fmla="*/ 258039 h 586180"/>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352628 w 352628"/>
                    <a:gd name="connsiteY3" fmla="*/ 576872 h 576872"/>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258544 w 352628"/>
                    <a:gd name="connsiteY3" fmla="*/ 262797 h 576872"/>
                    <a:gd name="connsiteX4" fmla="*/ 352628 w 352628"/>
                    <a:gd name="connsiteY4" fmla="*/ 576872 h 576872"/>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254517 w 352628"/>
                    <a:gd name="connsiteY3" fmla="*/ 267554 h 576872"/>
                    <a:gd name="connsiteX4" fmla="*/ 352628 w 352628"/>
                    <a:gd name="connsiteY4" fmla="*/ 576872 h 576872"/>
                    <a:gd name="connsiteX0" fmla="*/ 37481 w 371796"/>
                    <a:gd name="connsiteY0" fmla="*/ 21917 h 577111"/>
                    <a:gd name="connsiteX1" fmla="*/ 0 w 371796"/>
                    <a:gd name="connsiteY1" fmla="*/ 155948 h 577111"/>
                    <a:gd name="connsiteX2" fmla="*/ 37481 w 371796"/>
                    <a:gd name="connsiteY2" fmla="*/ 21917 h 577111"/>
                    <a:gd name="connsiteX0" fmla="*/ 25745 w 371796"/>
                    <a:gd name="connsiteY0" fmla="*/ 0 h 577111"/>
                    <a:gd name="connsiteX1" fmla="*/ 50098 w 371796"/>
                    <a:gd name="connsiteY1" fmla="*/ 20709 h 577111"/>
                    <a:gd name="connsiteX2" fmla="*/ 133023 w 371796"/>
                    <a:gd name="connsiteY2" fmla="*/ 92631 h 577111"/>
                    <a:gd name="connsiteX3" fmla="*/ 254517 w 371796"/>
                    <a:gd name="connsiteY3" fmla="*/ 267554 h 577111"/>
                    <a:gd name="connsiteX4" fmla="*/ 371797 w 371796"/>
                    <a:gd name="connsiteY4" fmla="*/ 577111 h 577111"/>
                    <a:gd name="connsiteX0" fmla="*/ 37481 w 371797"/>
                    <a:gd name="connsiteY0" fmla="*/ 21917 h 577111"/>
                    <a:gd name="connsiteX1" fmla="*/ 0 w 371797"/>
                    <a:gd name="connsiteY1" fmla="*/ 155948 h 577111"/>
                    <a:gd name="connsiteX2" fmla="*/ 37481 w 371797"/>
                    <a:gd name="connsiteY2" fmla="*/ 21917 h 577111"/>
                    <a:gd name="connsiteX0" fmla="*/ 25745 w 371797"/>
                    <a:gd name="connsiteY0" fmla="*/ 0 h 577111"/>
                    <a:gd name="connsiteX1" fmla="*/ 50098 w 371797"/>
                    <a:gd name="connsiteY1" fmla="*/ 20709 h 577111"/>
                    <a:gd name="connsiteX2" fmla="*/ 133023 w 371797"/>
                    <a:gd name="connsiteY2" fmla="*/ 92631 h 577111"/>
                    <a:gd name="connsiteX3" fmla="*/ 254517 w 371797"/>
                    <a:gd name="connsiteY3" fmla="*/ 267554 h 577111"/>
                    <a:gd name="connsiteX4" fmla="*/ 286134 w 371797"/>
                    <a:gd name="connsiteY4" fmla="*/ 323640 h 577111"/>
                    <a:gd name="connsiteX5" fmla="*/ 371797 w 371797"/>
                    <a:gd name="connsiteY5" fmla="*/ 577111 h 577111"/>
                    <a:gd name="connsiteX0" fmla="*/ 45075 w 379391"/>
                    <a:gd name="connsiteY0" fmla="*/ 51180 h 606374"/>
                    <a:gd name="connsiteX1" fmla="*/ 7594 w 379391"/>
                    <a:gd name="connsiteY1" fmla="*/ 185211 h 606374"/>
                    <a:gd name="connsiteX2" fmla="*/ 45075 w 379391"/>
                    <a:gd name="connsiteY2" fmla="*/ 51180 h 606374"/>
                    <a:gd name="connsiteX0" fmla="*/ 0 w 379391"/>
                    <a:gd name="connsiteY0" fmla="*/ 0 h 606374"/>
                    <a:gd name="connsiteX1" fmla="*/ 57692 w 379391"/>
                    <a:gd name="connsiteY1" fmla="*/ 49972 h 606374"/>
                    <a:gd name="connsiteX2" fmla="*/ 140617 w 379391"/>
                    <a:gd name="connsiteY2" fmla="*/ 121894 h 606374"/>
                    <a:gd name="connsiteX3" fmla="*/ 262111 w 379391"/>
                    <a:gd name="connsiteY3" fmla="*/ 296817 h 606374"/>
                    <a:gd name="connsiteX4" fmla="*/ 293728 w 379391"/>
                    <a:gd name="connsiteY4" fmla="*/ 352903 h 606374"/>
                    <a:gd name="connsiteX5" fmla="*/ 379391 w 379391"/>
                    <a:gd name="connsiteY5" fmla="*/ 606374 h 606374"/>
                    <a:gd name="connsiteX0" fmla="*/ 45075 w 378690"/>
                    <a:gd name="connsiteY0" fmla="*/ 51180 h 639619"/>
                    <a:gd name="connsiteX1" fmla="*/ 7594 w 378690"/>
                    <a:gd name="connsiteY1" fmla="*/ 185211 h 639619"/>
                    <a:gd name="connsiteX2" fmla="*/ 45075 w 378690"/>
                    <a:gd name="connsiteY2" fmla="*/ 51180 h 639619"/>
                    <a:gd name="connsiteX0" fmla="*/ 0 w 378690"/>
                    <a:gd name="connsiteY0" fmla="*/ 0 h 639619"/>
                    <a:gd name="connsiteX1" fmla="*/ 57692 w 378690"/>
                    <a:gd name="connsiteY1" fmla="*/ 49972 h 639619"/>
                    <a:gd name="connsiteX2" fmla="*/ 140617 w 378690"/>
                    <a:gd name="connsiteY2" fmla="*/ 121894 h 639619"/>
                    <a:gd name="connsiteX3" fmla="*/ 262111 w 378690"/>
                    <a:gd name="connsiteY3" fmla="*/ 296817 h 639619"/>
                    <a:gd name="connsiteX4" fmla="*/ 293728 w 378690"/>
                    <a:gd name="connsiteY4" fmla="*/ 352903 h 639619"/>
                    <a:gd name="connsiteX5" fmla="*/ 378690 w 378690"/>
                    <a:gd name="connsiteY5" fmla="*/ 639619 h 63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690" h="639619" stroke="0" extrusionOk="0">
                      <a:moveTo>
                        <a:pt x="45075" y="51180"/>
                      </a:moveTo>
                      <a:lnTo>
                        <a:pt x="7594" y="185211"/>
                      </a:lnTo>
                      <a:cubicBezTo>
                        <a:pt x="7594" y="126872"/>
                        <a:pt x="45075" y="109519"/>
                        <a:pt x="45075" y="51180"/>
                      </a:cubicBezTo>
                      <a:close/>
                    </a:path>
                    <a:path w="378690" h="639619" fill="none">
                      <a:moveTo>
                        <a:pt x="0" y="0"/>
                      </a:moveTo>
                      <a:cubicBezTo>
                        <a:pt x="8809" y="2797"/>
                        <a:pt x="46681" y="46476"/>
                        <a:pt x="57692" y="49972"/>
                      </a:cubicBezTo>
                      <a:cubicBezTo>
                        <a:pt x="78914" y="63922"/>
                        <a:pt x="118831" y="95476"/>
                        <a:pt x="140617" y="121894"/>
                      </a:cubicBezTo>
                      <a:cubicBezTo>
                        <a:pt x="169899" y="165512"/>
                        <a:pt x="225510" y="216110"/>
                        <a:pt x="262111" y="296817"/>
                      </a:cubicBezTo>
                      <a:cubicBezTo>
                        <a:pt x="285276" y="335556"/>
                        <a:pt x="274181" y="301310"/>
                        <a:pt x="293728" y="352903"/>
                      </a:cubicBezTo>
                      <a:cubicBezTo>
                        <a:pt x="313275" y="404496"/>
                        <a:pt x="362059" y="597611"/>
                        <a:pt x="378690" y="639619"/>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34" name="Group 33">
                  <a:extLst>
                    <a:ext uri="{FF2B5EF4-FFF2-40B4-BE49-F238E27FC236}">
                      <a16:creationId xmlns:a16="http://schemas.microsoft.com/office/drawing/2014/main" id="{477F0E85-4285-749A-3898-B4F455CC14E3}"/>
                    </a:ext>
                  </a:extLst>
                </p:cNvPr>
                <p:cNvGrpSpPr/>
                <p:nvPr/>
              </p:nvGrpSpPr>
              <p:grpSpPr>
                <a:xfrm rot="5690535">
                  <a:off x="2696103" y="4200375"/>
                  <a:ext cx="264600" cy="274320"/>
                  <a:chOff x="2629879" y="3095672"/>
                  <a:chExt cx="240577" cy="274320"/>
                </a:xfrm>
              </p:grpSpPr>
              <p:sp>
                <p:nvSpPr>
                  <p:cNvPr id="47" name="Isosceles Triangle 46">
                    <a:extLst>
                      <a:ext uri="{FF2B5EF4-FFF2-40B4-BE49-F238E27FC236}">
                        <a16:creationId xmlns:a16="http://schemas.microsoft.com/office/drawing/2014/main" id="{EF63F746-7165-FBA1-475E-AC98FD376EFC}"/>
                      </a:ext>
                    </a:extLst>
                  </p:cNvPr>
                  <p:cNvSpPr/>
                  <p:nvPr/>
                </p:nvSpPr>
                <p:spPr>
                  <a:xfrm rot="5109465">
                    <a:off x="2586578" y="3138973"/>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8" name="Oval 47">
                    <a:extLst>
                      <a:ext uri="{FF2B5EF4-FFF2-40B4-BE49-F238E27FC236}">
                        <a16:creationId xmlns:a16="http://schemas.microsoft.com/office/drawing/2014/main" id="{7C71723C-64A0-F469-11BE-43AF9E6F20F2}"/>
                      </a:ext>
                    </a:extLst>
                  </p:cNvPr>
                  <p:cNvSpPr/>
                  <p:nvPr/>
                </p:nvSpPr>
                <p:spPr>
                  <a:xfrm>
                    <a:off x="2824736" y="3204111"/>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grpSp>
              <p:nvGrpSpPr>
                <p:cNvPr id="35" name="Group 34">
                  <a:extLst>
                    <a:ext uri="{FF2B5EF4-FFF2-40B4-BE49-F238E27FC236}">
                      <a16:creationId xmlns:a16="http://schemas.microsoft.com/office/drawing/2014/main" id="{0B33F04E-75CB-2606-14BA-79AAAB7DD0A2}"/>
                    </a:ext>
                  </a:extLst>
                </p:cNvPr>
                <p:cNvGrpSpPr/>
                <p:nvPr/>
              </p:nvGrpSpPr>
              <p:grpSpPr>
                <a:xfrm rot="15736595">
                  <a:off x="1737589" y="4216586"/>
                  <a:ext cx="258844" cy="274320"/>
                  <a:chOff x="2671336" y="3081494"/>
                  <a:chExt cx="235344" cy="274320"/>
                </a:xfrm>
              </p:grpSpPr>
              <p:sp>
                <p:nvSpPr>
                  <p:cNvPr id="45" name="Isosceles Triangle 44">
                    <a:extLst>
                      <a:ext uri="{FF2B5EF4-FFF2-40B4-BE49-F238E27FC236}">
                        <a16:creationId xmlns:a16="http://schemas.microsoft.com/office/drawing/2014/main" id="{9F1AD671-9742-ADCE-2273-178FA8CFE8F3}"/>
                      </a:ext>
                    </a:extLst>
                  </p:cNvPr>
                  <p:cNvSpPr/>
                  <p:nvPr/>
                </p:nvSpPr>
                <p:spPr>
                  <a:xfrm rot="5400000">
                    <a:off x="2628035" y="3124795"/>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6" name="Oval 45">
                    <a:extLst>
                      <a:ext uri="{FF2B5EF4-FFF2-40B4-BE49-F238E27FC236}">
                        <a16:creationId xmlns:a16="http://schemas.microsoft.com/office/drawing/2014/main" id="{EA58D7B2-AD48-3DEA-A441-F03530D7E8C3}"/>
                      </a:ext>
                    </a:extLst>
                  </p:cNvPr>
                  <p:cNvSpPr/>
                  <p:nvPr/>
                </p:nvSpPr>
                <p:spPr>
                  <a:xfrm>
                    <a:off x="2860960" y="3200058"/>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cxnSp>
              <p:nvCxnSpPr>
                <p:cNvPr id="36" name="Straight Arrow Connector 35">
                  <a:extLst>
                    <a:ext uri="{FF2B5EF4-FFF2-40B4-BE49-F238E27FC236}">
                      <a16:creationId xmlns:a16="http://schemas.microsoft.com/office/drawing/2014/main" id="{81092F3A-DA81-1635-2573-CDB7A00953DF}"/>
                    </a:ext>
                  </a:extLst>
                </p:cNvPr>
                <p:cNvCxnSpPr/>
                <p:nvPr/>
              </p:nvCxnSpPr>
              <p:spPr>
                <a:xfrm flipH="1">
                  <a:off x="3067992" y="3986489"/>
                  <a:ext cx="200523"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87F0215A-C3BE-7FAA-129A-671B2D1FF548}"/>
                    </a:ext>
                  </a:extLst>
                </p:cNvPr>
                <p:cNvCxnSpPr/>
                <p:nvPr/>
              </p:nvCxnSpPr>
              <p:spPr>
                <a:xfrm flipH="1">
                  <a:off x="2698883" y="3913822"/>
                  <a:ext cx="115256" cy="94002"/>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9A3E0D02-8393-E063-BDA7-CE4C8EA90BA2}"/>
                    </a:ext>
                  </a:extLst>
                </p:cNvPr>
                <p:cNvCxnSpPr/>
                <p:nvPr/>
              </p:nvCxnSpPr>
              <p:spPr>
                <a:xfrm flipH="1" flipV="1">
                  <a:off x="2761760" y="4619084"/>
                  <a:ext cx="138254" cy="79454"/>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43AD9C40-2814-6B6E-EABB-92FE668FC7BE}"/>
                    </a:ext>
                  </a:extLst>
                </p:cNvPr>
                <p:cNvCxnSpPr/>
                <p:nvPr/>
              </p:nvCxnSpPr>
              <p:spPr>
                <a:xfrm flipV="1">
                  <a:off x="1870531" y="4693584"/>
                  <a:ext cx="128192" cy="13531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5A0727D9-0835-CE03-56EB-189271631E4A}"/>
                    </a:ext>
                  </a:extLst>
                </p:cNvPr>
                <p:cNvCxnSpPr/>
                <p:nvPr/>
              </p:nvCxnSpPr>
              <p:spPr>
                <a:xfrm>
                  <a:off x="1816746" y="3895299"/>
                  <a:ext cx="181637" cy="116814"/>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41" name="Oval 40">
                  <a:extLst>
                    <a:ext uri="{FF2B5EF4-FFF2-40B4-BE49-F238E27FC236}">
                      <a16:creationId xmlns:a16="http://schemas.microsoft.com/office/drawing/2014/main" id="{6E5B9212-4CF4-9684-56F5-8E3954B9C8EC}"/>
                    </a:ext>
                  </a:extLst>
                </p:cNvPr>
                <p:cNvSpPr/>
                <p:nvPr/>
              </p:nvSpPr>
              <p:spPr>
                <a:xfrm>
                  <a:off x="2665155" y="3986489"/>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2" name="Oval 41">
                  <a:extLst>
                    <a:ext uri="{FF2B5EF4-FFF2-40B4-BE49-F238E27FC236}">
                      <a16:creationId xmlns:a16="http://schemas.microsoft.com/office/drawing/2014/main" id="{B4808A9C-9289-93F0-53DE-94A5DB11D691}"/>
                    </a:ext>
                  </a:extLst>
                </p:cNvPr>
                <p:cNvSpPr/>
                <p:nvPr/>
              </p:nvSpPr>
              <p:spPr>
                <a:xfrm>
                  <a:off x="2725653" y="4590837"/>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3" name="Oval 42">
                  <a:extLst>
                    <a:ext uri="{FF2B5EF4-FFF2-40B4-BE49-F238E27FC236}">
                      <a16:creationId xmlns:a16="http://schemas.microsoft.com/office/drawing/2014/main" id="{1F142A6B-BA1E-9C9F-394D-C0E0B56B9B9A}"/>
                    </a:ext>
                  </a:extLst>
                </p:cNvPr>
                <p:cNvSpPr/>
                <p:nvPr/>
              </p:nvSpPr>
              <p:spPr>
                <a:xfrm>
                  <a:off x="1970350" y="4675476"/>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4" name="Oval 43">
                  <a:extLst>
                    <a:ext uri="{FF2B5EF4-FFF2-40B4-BE49-F238E27FC236}">
                      <a16:creationId xmlns:a16="http://schemas.microsoft.com/office/drawing/2014/main" id="{B508288F-BCD3-5202-E522-0783A6A58930}"/>
                    </a:ext>
                  </a:extLst>
                </p:cNvPr>
                <p:cNvSpPr/>
                <p:nvPr/>
              </p:nvSpPr>
              <p:spPr>
                <a:xfrm>
                  <a:off x="1975523" y="3993110"/>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sp>
            <p:nvSpPr>
              <p:cNvPr id="21" name="Oval 20">
                <a:extLst>
                  <a:ext uri="{FF2B5EF4-FFF2-40B4-BE49-F238E27FC236}">
                    <a16:creationId xmlns:a16="http://schemas.microsoft.com/office/drawing/2014/main" id="{0CD0FEED-41B7-5848-CF9B-D8FB7FFA09D3}"/>
                  </a:ext>
                </a:extLst>
              </p:cNvPr>
              <p:cNvSpPr/>
              <p:nvPr/>
            </p:nvSpPr>
            <p:spPr>
              <a:xfrm rot="15736595">
                <a:off x="6498771" y="6398007"/>
                <a:ext cx="75203" cy="68375"/>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cxnSp>
            <p:nvCxnSpPr>
              <p:cNvPr id="22" name="Straight Arrow Connector 21">
                <a:extLst>
                  <a:ext uri="{FF2B5EF4-FFF2-40B4-BE49-F238E27FC236}">
                    <a16:creationId xmlns:a16="http://schemas.microsoft.com/office/drawing/2014/main" id="{15AEC058-6C79-C8C9-67B9-DA745A3481D8}"/>
                  </a:ext>
                </a:extLst>
              </p:cNvPr>
              <p:cNvCxnSpPr/>
              <p:nvPr/>
            </p:nvCxnSpPr>
            <p:spPr>
              <a:xfrm flipH="1">
                <a:off x="7797411" y="5432221"/>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284C8B30-2B6F-3ABD-5127-8EC19F894582}"/>
                  </a:ext>
                </a:extLst>
              </p:cNvPr>
              <p:cNvCxnSpPr/>
              <p:nvPr/>
            </p:nvCxnSpPr>
            <p:spPr>
              <a:xfrm flipH="1">
                <a:off x="7794556" y="5644756"/>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DED05F6B-543B-F9C7-F706-E1033FA4BE39}"/>
                  </a:ext>
                </a:extLst>
              </p:cNvPr>
              <p:cNvCxnSpPr/>
              <p:nvPr/>
            </p:nvCxnSpPr>
            <p:spPr>
              <a:xfrm flipH="1">
                <a:off x="7794560" y="6164229"/>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1237351E-64CA-24D3-969B-FB9BFB023CC8}"/>
                  </a:ext>
                </a:extLst>
              </p:cNvPr>
              <p:cNvCxnSpPr/>
              <p:nvPr/>
            </p:nvCxnSpPr>
            <p:spPr>
              <a:xfrm>
                <a:off x="7942479" y="5700477"/>
                <a:ext cx="0" cy="418523"/>
              </a:xfrm>
              <a:prstGeom prst="straightConnector1">
                <a:avLst/>
              </a:prstGeom>
              <a:ln w="2540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7214E63E-76EE-5E68-1424-539AC4DB6A64}"/>
                      </a:ext>
                    </a:extLst>
                  </p:cNvPr>
                  <p:cNvSpPr/>
                  <p:nvPr/>
                </p:nvSpPr>
                <p:spPr>
                  <a:xfrm>
                    <a:off x="8079253" y="5033170"/>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21" name="Rectangle 20">
                    <a:extLst>
                      <a:ext uri="{FF2B5EF4-FFF2-40B4-BE49-F238E27FC236}">
                        <a16:creationId xmlns:a16="http://schemas.microsoft.com/office/drawing/2014/main" id="{7214E63E-76EE-5E68-1424-539AC4DB6A64}"/>
                      </a:ext>
                    </a:extLst>
                  </p:cNvPr>
                  <p:cNvSpPr>
                    <a:spLocks noRot="1" noChangeAspect="1" noMove="1" noResize="1" noEditPoints="1" noAdjustHandles="1" noChangeArrowheads="1" noChangeShapeType="1" noTextEdit="1"/>
                  </p:cNvSpPr>
                  <p:nvPr/>
                </p:nvSpPr>
                <p:spPr>
                  <a:xfrm>
                    <a:off x="8079253" y="5033170"/>
                    <a:ext cx="429822" cy="28741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967C1893-9A2F-DB39-73F0-C92A6F52F123}"/>
                      </a:ext>
                    </a:extLst>
                  </p:cNvPr>
                  <p:cNvSpPr/>
                  <p:nvPr/>
                </p:nvSpPr>
                <p:spPr>
                  <a:xfrm>
                    <a:off x="8094447" y="5289198"/>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22" name="Rectangle 21">
                    <a:extLst>
                      <a:ext uri="{FF2B5EF4-FFF2-40B4-BE49-F238E27FC236}">
                        <a16:creationId xmlns:a16="http://schemas.microsoft.com/office/drawing/2014/main" id="{967C1893-9A2F-DB39-73F0-C92A6F52F123}"/>
                      </a:ext>
                    </a:extLst>
                  </p:cNvPr>
                  <p:cNvSpPr>
                    <a:spLocks noRot="1" noChangeAspect="1" noMove="1" noResize="1" noEditPoints="1" noAdjustHandles="1" noChangeArrowheads="1" noChangeShapeType="1" noTextEdit="1"/>
                  </p:cNvSpPr>
                  <p:nvPr/>
                </p:nvSpPr>
                <p:spPr>
                  <a:xfrm>
                    <a:off x="8094447" y="5289198"/>
                    <a:ext cx="429822" cy="28741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E7FDE08-9B4E-7F49-21F6-FB0C64CD9FB1}"/>
                      </a:ext>
                    </a:extLst>
                  </p:cNvPr>
                  <p:cNvSpPr/>
                  <p:nvPr/>
                </p:nvSpPr>
                <p:spPr>
                  <a:xfrm>
                    <a:off x="8089173" y="5523004"/>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23" name="Rectangle 22">
                    <a:extLst>
                      <a:ext uri="{FF2B5EF4-FFF2-40B4-BE49-F238E27FC236}">
                        <a16:creationId xmlns:a16="http://schemas.microsoft.com/office/drawing/2014/main" id="{3E7FDE08-9B4E-7F49-21F6-FB0C64CD9FB1}"/>
                      </a:ext>
                    </a:extLst>
                  </p:cNvPr>
                  <p:cNvSpPr>
                    <a:spLocks noRot="1" noChangeAspect="1" noMove="1" noResize="1" noEditPoints="1" noAdjustHandles="1" noChangeArrowheads="1" noChangeShapeType="1" noTextEdit="1"/>
                  </p:cNvSpPr>
                  <p:nvPr/>
                </p:nvSpPr>
                <p:spPr>
                  <a:xfrm>
                    <a:off x="8089173" y="5523004"/>
                    <a:ext cx="429822" cy="28741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F294D3F6-91AE-4009-D12C-2CE69E5C0679}"/>
                      </a:ext>
                    </a:extLst>
                  </p:cNvPr>
                  <p:cNvSpPr/>
                  <p:nvPr/>
                </p:nvSpPr>
                <p:spPr>
                  <a:xfrm>
                    <a:off x="8042907" y="6011095"/>
                    <a:ext cx="444205"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24" name="Rectangle 23">
                    <a:extLst>
                      <a:ext uri="{FF2B5EF4-FFF2-40B4-BE49-F238E27FC236}">
                        <a16:creationId xmlns:a16="http://schemas.microsoft.com/office/drawing/2014/main" id="{F294D3F6-91AE-4009-D12C-2CE69E5C0679}"/>
                      </a:ext>
                    </a:extLst>
                  </p:cNvPr>
                  <p:cNvSpPr>
                    <a:spLocks noRot="1" noChangeAspect="1" noMove="1" noResize="1" noEditPoints="1" noAdjustHandles="1" noChangeArrowheads="1" noChangeShapeType="1" noTextEdit="1"/>
                  </p:cNvSpPr>
                  <p:nvPr/>
                </p:nvSpPr>
                <p:spPr>
                  <a:xfrm>
                    <a:off x="8042907" y="6011095"/>
                    <a:ext cx="444205" cy="287415"/>
                  </a:xfrm>
                  <a:prstGeom prst="rect">
                    <a:avLst/>
                  </a:prstGeom>
                  <a:blipFill>
                    <a:blip r:embed="rId6"/>
                    <a:stretch>
                      <a:fillRect/>
                    </a:stretch>
                  </a:blipFill>
                </p:spPr>
                <p:txBody>
                  <a:bodyPr/>
                  <a:lstStyle/>
                  <a:p>
                    <a:r>
                      <a:rPr lang="en-US">
                        <a:noFill/>
                      </a:rPr>
                      <a:t> </a:t>
                    </a:r>
                  </a:p>
                </p:txBody>
              </p:sp>
            </mc:Fallback>
          </mc:AlternateContent>
        </p:grpSp>
        <p:sp>
          <p:nvSpPr>
            <p:cNvPr id="17" name="Right Brace 278">
              <a:extLst>
                <a:ext uri="{FF2B5EF4-FFF2-40B4-BE49-F238E27FC236}">
                  <a16:creationId xmlns:a16="http://schemas.microsoft.com/office/drawing/2014/main" id="{3B144041-8367-9860-411C-9B5FA81F8376}"/>
                </a:ext>
              </a:extLst>
            </p:cNvPr>
            <p:cNvSpPr/>
            <p:nvPr/>
          </p:nvSpPr>
          <p:spPr>
            <a:xfrm>
              <a:off x="8495006" y="5075892"/>
              <a:ext cx="353468" cy="1062652"/>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 name="Rectangle 17">
              <a:extLst>
                <a:ext uri="{FF2B5EF4-FFF2-40B4-BE49-F238E27FC236}">
                  <a16:creationId xmlns:a16="http://schemas.microsoft.com/office/drawing/2014/main" id="{21C2401C-4DA3-CADD-40C3-404AB69EF735}"/>
                </a:ext>
              </a:extLst>
            </p:cNvPr>
            <p:cNvSpPr/>
            <p:nvPr/>
          </p:nvSpPr>
          <p:spPr>
            <a:xfrm>
              <a:off x="8684865" y="5246541"/>
              <a:ext cx="961906" cy="677108"/>
            </a:xfrm>
            <a:prstGeom prst="rect">
              <a:avLst/>
            </a:prstGeom>
          </p:spPr>
          <p:txBody>
            <a:bodyPr wrap="none">
              <a:spAutoFit/>
            </a:bodyPr>
            <a:lstStyle/>
            <a:p>
              <a:pPr algn="ctr"/>
              <a:r>
                <a:rPr lang="en-US" sz="900" b="1">
                  <a:solidFill>
                    <a:srgbClr val="000099"/>
                  </a:solidFill>
                </a:rPr>
                <a:t>Multi </a:t>
              </a:r>
            </a:p>
            <a:p>
              <a:pPr algn="ctr"/>
              <a:r>
                <a:rPr lang="en-US" sz="900" b="1">
                  <a:solidFill>
                    <a:srgbClr val="000099"/>
                  </a:solidFill>
                </a:rPr>
                <a:t>Phase </a:t>
              </a:r>
            </a:p>
            <a:p>
              <a:pPr algn="ctr"/>
              <a:r>
                <a:rPr lang="en-US" sz="900" b="1">
                  <a:solidFill>
                    <a:srgbClr val="000099"/>
                  </a:solidFill>
                </a:rPr>
                <a:t>LO/Clock</a:t>
              </a:r>
            </a:p>
          </p:txBody>
        </p:sp>
      </p:grpSp>
      <p:sp>
        <p:nvSpPr>
          <p:cNvPr id="51" name="Rectangle 50">
            <a:extLst>
              <a:ext uri="{FF2B5EF4-FFF2-40B4-BE49-F238E27FC236}">
                <a16:creationId xmlns:a16="http://schemas.microsoft.com/office/drawing/2014/main" id="{E8A6FB8A-A47E-AA09-05EC-2622939BBF4E}"/>
              </a:ext>
            </a:extLst>
          </p:cNvPr>
          <p:cNvSpPr/>
          <p:nvPr/>
        </p:nvSpPr>
        <p:spPr>
          <a:xfrm>
            <a:off x="1338540" y="3227901"/>
            <a:ext cx="3150593" cy="461665"/>
          </a:xfrm>
          <a:prstGeom prst="rect">
            <a:avLst/>
          </a:prstGeom>
        </p:spPr>
        <p:txBody>
          <a:bodyPr wrap="square">
            <a:spAutoFit/>
          </a:bodyPr>
          <a:lstStyle/>
          <a:p>
            <a:pPr algn="ctr"/>
            <a:r>
              <a:rPr lang="en-US" sz="1200" b="1" dirty="0">
                <a:solidFill>
                  <a:srgbClr val="002060"/>
                </a:solidFill>
              </a:rPr>
              <a:t>(a) </a:t>
            </a:r>
            <a:r>
              <a:rPr lang="en-US" sz="1200" u="sng" dirty="0">
                <a:solidFill>
                  <a:srgbClr val="002060"/>
                </a:solidFill>
              </a:rPr>
              <a:t>Multiphase LO/clock generation methods using Ring with inverters</a:t>
            </a:r>
            <a:endParaRPr lang="en-IN" sz="1200" u="sng" dirty="0">
              <a:solidFill>
                <a:srgbClr val="002060"/>
              </a:solidFill>
            </a:endParaRPr>
          </a:p>
        </p:txBody>
      </p:sp>
      <p:grpSp>
        <p:nvGrpSpPr>
          <p:cNvPr id="52" name="Group 51">
            <a:extLst>
              <a:ext uri="{FF2B5EF4-FFF2-40B4-BE49-F238E27FC236}">
                <a16:creationId xmlns:a16="http://schemas.microsoft.com/office/drawing/2014/main" id="{3C5147B0-3D04-89C8-8DB8-F719A1DAB61A}"/>
              </a:ext>
            </a:extLst>
          </p:cNvPr>
          <p:cNvGrpSpPr/>
          <p:nvPr/>
        </p:nvGrpSpPr>
        <p:grpSpPr>
          <a:xfrm>
            <a:off x="7749757" y="1501072"/>
            <a:ext cx="4125414" cy="1616194"/>
            <a:chOff x="637466" y="1585609"/>
            <a:chExt cx="5500551" cy="2262491"/>
          </a:xfrm>
        </p:grpSpPr>
        <p:sp>
          <p:nvSpPr>
            <p:cNvPr id="53" name="Rounded Rectangle 268">
              <a:extLst>
                <a:ext uri="{FF2B5EF4-FFF2-40B4-BE49-F238E27FC236}">
                  <a16:creationId xmlns:a16="http://schemas.microsoft.com/office/drawing/2014/main" id="{1174C3DF-8057-A11F-2691-00FA8A8FF3A5}"/>
                </a:ext>
              </a:extLst>
            </p:cNvPr>
            <p:cNvSpPr/>
            <p:nvPr/>
          </p:nvSpPr>
          <p:spPr>
            <a:xfrm>
              <a:off x="2043924" y="1585609"/>
              <a:ext cx="2374078" cy="2262491"/>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4" name="Rounded Rectangle 254">
              <a:extLst>
                <a:ext uri="{FF2B5EF4-FFF2-40B4-BE49-F238E27FC236}">
                  <a16:creationId xmlns:a16="http://schemas.microsoft.com/office/drawing/2014/main" id="{CB00394F-200A-3798-0DCD-E40D7C104EDB}"/>
                </a:ext>
              </a:extLst>
            </p:cNvPr>
            <p:cNvSpPr/>
            <p:nvPr/>
          </p:nvSpPr>
          <p:spPr>
            <a:xfrm>
              <a:off x="637466" y="2107578"/>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5" name="Rectangle 54">
              <a:extLst>
                <a:ext uri="{FF2B5EF4-FFF2-40B4-BE49-F238E27FC236}">
                  <a16:creationId xmlns:a16="http://schemas.microsoft.com/office/drawing/2014/main" id="{7B215F80-5999-3F39-D80F-D4FE114CBE16}"/>
                </a:ext>
              </a:extLst>
            </p:cNvPr>
            <p:cNvSpPr/>
            <p:nvPr/>
          </p:nvSpPr>
          <p:spPr>
            <a:xfrm>
              <a:off x="745946" y="2383680"/>
              <a:ext cx="944437" cy="710907"/>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grpSp>
          <p:nvGrpSpPr>
            <p:cNvPr id="56" name="Group 55">
              <a:extLst>
                <a:ext uri="{FF2B5EF4-FFF2-40B4-BE49-F238E27FC236}">
                  <a16:creationId xmlns:a16="http://schemas.microsoft.com/office/drawing/2014/main" id="{2475F882-8FA1-7AF8-C900-2128E6EBCCE8}"/>
                </a:ext>
              </a:extLst>
            </p:cNvPr>
            <p:cNvGrpSpPr>
              <a:grpSpLocks noChangeAspect="1"/>
            </p:cNvGrpSpPr>
            <p:nvPr/>
          </p:nvGrpSpPr>
          <p:grpSpPr>
            <a:xfrm>
              <a:off x="1740491" y="1702085"/>
              <a:ext cx="2543499" cy="2103120"/>
              <a:chOff x="1961702" y="1886899"/>
              <a:chExt cx="2230380" cy="1844214"/>
            </a:xfrm>
          </p:grpSpPr>
          <p:sp>
            <p:nvSpPr>
              <p:cNvPr id="73" name="Oval 72">
                <a:extLst>
                  <a:ext uri="{FF2B5EF4-FFF2-40B4-BE49-F238E27FC236}">
                    <a16:creationId xmlns:a16="http://schemas.microsoft.com/office/drawing/2014/main" id="{69849780-6C17-9BDC-3E9F-C70F9A5D269C}"/>
                  </a:ext>
                </a:extLst>
              </p:cNvPr>
              <p:cNvSpPr/>
              <p:nvPr/>
            </p:nvSpPr>
            <p:spPr>
              <a:xfrm>
                <a:off x="2433006" y="1986602"/>
                <a:ext cx="1604149" cy="1604147"/>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74" name="Oval 73">
                <a:extLst>
                  <a:ext uri="{FF2B5EF4-FFF2-40B4-BE49-F238E27FC236}">
                    <a16:creationId xmlns:a16="http://schemas.microsoft.com/office/drawing/2014/main" id="{DBBFDD38-1B2B-4CA1-EBAA-95D64C163AB3}"/>
                  </a:ext>
                </a:extLst>
              </p:cNvPr>
              <p:cNvSpPr/>
              <p:nvPr/>
            </p:nvSpPr>
            <p:spPr>
              <a:xfrm>
                <a:off x="2541383" y="2103840"/>
                <a:ext cx="1385401" cy="1385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75" name="Group 74">
                <a:extLst>
                  <a:ext uri="{FF2B5EF4-FFF2-40B4-BE49-F238E27FC236}">
                    <a16:creationId xmlns:a16="http://schemas.microsoft.com/office/drawing/2014/main" id="{44D9DA7E-C661-455F-D1D6-651E57E3524B}"/>
                  </a:ext>
                </a:extLst>
              </p:cNvPr>
              <p:cNvGrpSpPr>
                <a:grpSpLocks noChangeAspect="1"/>
              </p:cNvGrpSpPr>
              <p:nvPr/>
            </p:nvGrpSpPr>
            <p:grpSpPr>
              <a:xfrm>
                <a:off x="2996876" y="1886899"/>
                <a:ext cx="437495" cy="400269"/>
                <a:chOff x="2169506" y="4772026"/>
                <a:chExt cx="1145194" cy="1047750"/>
              </a:xfrm>
            </p:grpSpPr>
            <p:sp>
              <p:nvSpPr>
                <p:cNvPr id="269" name="Oval 268">
                  <a:extLst>
                    <a:ext uri="{FF2B5EF4-FFF2-40B4-BE49-F238E27FC236}">
                      <a16:creationId xmlns:a16="http://schemas.microsoft.com/office/drawing/2014/main" id="{2A66DA3E-A9DE-56DB-7ED7-061355B4B66A}"/>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70" name="Group 269">
                  <a:extLst>
                    <a:ext uri="{FF2B5EF4-FFF2-40B4-BE49-F238E27FC236}">
                      <a16:creationId xmlns:a16="http://schemas.microsoft.com/office/drawing/2014/main" id="{A12A7D9B-B0A5-D141-7BC3-96385905894C}"/>
                    </a:ext>
                  </a:extLst>
                </p:cNvPr>
                <p:cNvGrpSpPr/>
                <p:nvPr/>
              </p:nvGrpSpPr>
              <p:grpSpPr>
                <a:xfrm>
                  <a:off x="2243356" y="4913274"/>
                  <a:ext cx="933517" cy="730856"/>
                  <a:chOff x="1027600" y="4784489"/>
                  <a:chExt cx="933517" cy="730856"/>
                </a:xfrm>
              </p:grpSpPr>
              <p:grpSp>
                <p:nvGrpSpPr>
                  <p:cNvPr id="271" name="Group 270">
                    <a:extLst>
                      <a:ext uri="{FF2B5EF4-FFF2-40B4-BE49-F238E27FC236}">
                        <a16:creationId xmlns:a16="http://schemas.microsoft.com/office/drawing/2014/main" id="{840066DE-B89A-A2A2-D876-2F92FCD1C43B}"/>
                      </a:ext>
                    </a:extLst>
                  </p:cNvPr>
                  <p:cNvGrpSpPr/>
                  <p:nvPr/>
                </p:nvGrpSpPr>
                <p:grpSpPr>
                  <a:xfrm>
                    <a:off x="1027600" y="4965926"/>
                    <a:ext cx="362347" cy="380159"/>
                    <a:chOff x="1711577" y="4926883"/>
                    <a:chExt cx="274320" cy="274320"/>
                  </a:xfrm>
                </p:grpSpPr>
                <p:sp>
                  <p:nvSpPr>
                    <p:cNvPr id="322" name="Flowchart: Connector 321">
                      <a:extLst>
                        <a:ext uri="{FF2B5EF4-FFF2-40B4-BE49-F238E27FC236}">
                          <a16:creationId xmlns:a16="http://schemas.microsoft.com/office/drawing/2014/main" id="{32294CFF-8D95-391B-3E50-C057A971790E}"/>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23" name="Freeform 55">
                      <a:extLst>
                        <a:ext uri="{FF2B5EF4-FFF2-40B4-BE49-F238E27FC236}">
                          <a16:creationId xmlns:a16="http://schemas.microsoft.com/office/drawing/2014/main" id="{185DB6A6-3F39-A8C7-D707-29DF01E6997B}"/>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272" name="Straight Connector 271">
                    <a:extLst>
                      <a:ext uri="{FF2B5EF4-FFF2-40B4-BE49-F238E27FC236}">
                        <a16:creationId xmlns:a16="http://schemas.microsoft.com/office/drawing/2014/main" id="{4DB71327-259F-92E7-9642-B86B6CE0596C}"/>
                      </a:ext>
                    </a:extLst>
                  </p:cNvPr>
                  <p:cNvCxnSpPr>
                    <a:stCxn id="322"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D6A0A1A4-42EE-3668-3325-E19B2F006974}"/>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8D171824-F8F6-6208-6E70-4D1073683AF3}"/>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3B60A730-AB75-626D-D575-6556ECE42103}"/>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9FCEA77A-BD9F-EFF0-6277-226E89D9E270}"/>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09DD6D22-090E-E16C-A4AE-325357B67B49}"/>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78" name="Group 277">
                    <a:extLst>
                      <a:ext uri="{FF2B5EF4-FFF2-40B4-BE49-F238E27FC236}">
                        <a16:creationId xmlns:a16="http://schemas.microsoft.com/office/drawing/2014/main" id="{691F114F-F780-DE57-7572-E2B79824E489}"/>
                      </a:ext>
                    </a:extLst>
                  </p:cNvPr>
                  <p:cNvGrpSpPr/>
                  <p:nvPr/>
                </p:nvGrpSpPr>
                <p:grpSpPr>
                  <a:xfrm>
                    <a:off x="1565526" y="4885688"/>
                    <a:ext cx="395591" cy="540633"/>
                    <a:chOff x="1715961" y="4885759"/>
                    <a:chExt cx="395591" cy="540633"/>
                  </a:xfrm>
                </p:grpSpPr>
                <p:grpSp>
                  <p:nvGrpSpPr>
                    <p:cNvPr id="281" name="Group 280">
                      <a:extLst>
                        <a:ext uri="{FF2B5EF4-FFF2-40B4-BE49-F238E27FC236}">
                          <a16:creationId xmlns:a16="http://schemas.microsoft.com/office/drawing/2014/main" id="{0024A1BB-4092-8705-F617-1AD74967E709}"/>
                        </a:ext>
                      </a:extLst>
                    </p:cNvPr>
                    <p:cNvGrpSpPr/>
                    <p:nvPr/>
                  </p:nvGrpSpPr>
                  <p:grpSpPr>
                    <a:xfrm>
                      <a:off x="1715961" y="4885759"/>
                      <a:ext cx="317479" cy="205665"/>
                      <a:chOff x="1548734" y="4857791"/>
                      <a:chExt cx="240352" cy="148406"/>
                    </a:xfrm>
                  </p:grpSpPr>
                  <p:cxnSp>
                    <p:nvCxnSpPr>
                      <p:cNvPr id="311" name="Straight Connector 310">
                        <a:extLst>
                          <a:ext uri="{FF2B5EF4-FFF2-40B4-BE49-F238E27FC236}">
                            <a16:creationId xmlns:a16="http://schemas.microsoft.com/office/drawing/2014/main" id="{D3D8DC29-90D9-530D-1EC2-C2760C50EC1A}"/>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82A14340-D3AE-8198-E4F9-E22A279059C5}"/>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38860E65-2D85-224C-2083-E9C1C71A842B}"/>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4E0BB051-D361-0777-C9BD-5028858C72E2}"/>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892AD711-3770-61F7-96CC-B0F53975F3CB}"/>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4282FEC3-2B96-B088-70E1-5C58E029C2DB}"/>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7D64D889-152F-648F-BA66-25BA4CBE6A42}"/>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4B53D0FC-3725-979B-69FE-CF0D50177AAD}"/>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F5544FBC-B803-0D86-216B-1BBB77EC8A5C}"/>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A62E1B91-0E51-A3EB-8D5D-0F1D97314330}"/>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4773F352-14AD-48AE-9AC9-86DAA64CDB04}"/>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282" name="Group 281">
                      <a:extLst>
                        <a:ext uri="{FF2B5EF4-FFF2-40B4-BE49-F238E27FC236}">
                          <a16:creationId xmlns:a16="http://schemas.microsoft.com/office/drawing/2014/main" id="{266C7B9A-AD42-2396-8A7E-A27B5CC7A938}"/>
                        </a:ext>
                      </a:extLst>
                    </p:cNvPr>
                    <p:cNvGrpSpPr/>
                    <p:nvPr/>
                  </p:nvGrpSpPr>
                  <p:grpSpPr>
                    <a:xfrm rot="10800000" flipH="1">
                      <a:off x="1715961" y="5219603"/>
                      <a:ext cx="317479" cy="206789"/>
                      <a:chOff x="1548734" y="4857791"/>
                      <a:chExt cx="240352" cy="149217"/>
                    </a:xfrm>
                  </p:grpSpPr>
                  <p:cxnSp>
                    <p:nvCxnSpPr>
                      <p:cNvPr id="300" name="Straight Connector 299">
                        <a:extLst>
                          <a:ext uri="{FF2B5EF4-FFF2-40B4-BE49-F238E27FC236}">
                            <a16:creationId xmlns:a16="http://schemas.microsoft.com/office/drawing/2014/main" id="{C2C4575F-ADE3-AA99-CBB1-9A4889AEAB21}"/>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1C9C307C-3D1A-1B84-0C2F-938E89F5F3D5}"/>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6A02A858-D3D3-456E-FBE8-2D966B7583F7}"/>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497F9313-BC59-67A3-E670-27C2009A8563}"/>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96828AAA-DA77-C796-307E-9E6866DD6BD2}"/>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D4E9D423-000B-9712-3167-8C29972AA0A4}"/>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B2F32D23-E066-EC6A-0BFB-EB5796759E60}"/>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40CD123F-AA26-6550-CF7A-87A81C58FF8D}"/>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E3085AB7-2BB6-034D-67C0-ED97BD6004E3}"/>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7EDAAA49-C74B-D012-7644-0193D80C6FF5}"/>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CE2AA2AB-6B6B-6D97-5FA2-3981ABA72C35}"/>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83" name="Straight Connector 282">
                      <a:extLst>
                        <a:ext uri="{FF2B5EF4-FFF2-40B4-BE49-F238E27FC236}">
                          <a16:creationId xmlns:a16="http://schemas.microsoft.com/office/drawing/2014/main" id="{0FF138CB-6D2A-D2B1-9C60-EF2E3813EAFA}"/>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84" name="Group 283">
                      <a:extLst>
                        <a:ext uri="{FF2B5EF4-FFF2-40B4-BE49-F238E27FC236}">
                          <a16:creationId xmlns:a16="http://schemas.microsoft.com/office/drawing/2014/main" id="{34F97395-E4F5-5537-8800-A6DE06EF9278}"/>
                        </a:ext>
                      </a:extLst>
                    </p:cNvPr>
                    <p:cNvGrpSpPr/>
                    <p:nvPr/>
                  </p:nvGrpSpPr>
                  <p:grpSpPr>
                    <a:xfrm rot="5400000">
                      <a:off x="1879744" y="5102207"/>
                      <a:ext cx="335430" cy="128187"/>
                      <a:chOff x="7040920" y="3499872"/>
                      <a:chExt cx="973348" cy="287902"/>
                    </a:xfrm>
                  </p:grpSpPr>
                  <p:sp>
                    <p:nvSpPr>
                      <p:cNvPr id="287" name="Arc 286">
                        <a:extLst>
                          <a:ext uri="{FF2B5EF4-FFF2-40B4-BE49-F238E27FC236}">
                            <a16:creationId xmlns:a16="http://schemas.microsoft.com/office/drawing/2014/main" id="{7075F73A-0AFD-C03D-2F06-851055C9D466}"/>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288" name="Group 287">
                        <a:extLst>
                          <a:ext uri="{FF2B5EF4-FFF2-40B4-BE49-F238E27FC236}">
                            <a16:creationId xmlns:a16="http://schemas.microsoft.com/office/drawing/2014/main" id="{97E98F71-F8C8-6228-D062-028A3640BB9B}"/>
                          </a:ext>
                        </a:extLst>
                      </p:cNvPr>
                      <p:cNvGrpSpPr/>
                      <p:nvPr/>
                    </p:nvGrpSpPr>
                    <p:grpSpPr>
                      <a:xfrm>
                        <a:off x="7208043" y="3499872"/>
                        <a:ext cx="806225" cy="286012"/>
                        <a:chOff x="7208043" y="3499872"/>
                        <a:chExt cx="806225" cy="286012"/>
                      </a:xfrm>
                    </p:grpSpPr>
                    <p:sp>
                      <p:nvSpPr>
                        <p:cNvPr id="289" name="Arc 288">
                          <a:extLst>
                            <a:ext uri="{FF2B5EF4-FFF2-40B4-BE49-F238E27FC236}">
                              <a16:creationId xmlns:a16="http://schemas.microsoft.com/office/drawing/2014/main" id="{6F4EA0E9-68F9-7AFA-7D89-BC8D9339A5A8}"/>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0" name="Arc 289">
                          <a:extLst>
                            <a:ext uri="{FF2B5EF4-FFF2-40B4-BE49-F238E27FC236}">
                              <a16:creationId xmlns:a16="http://schemas.microsoft.com/office/drawing/2014/main" id="{CCFA3387-639E-87E9-132C-964AA0061FAC}"/>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1" name="Arc 290">
                          <a:extLst>
                            <a:ext uri="{FF2B5EF4-FFF2-40B4-BE49-F238E27FC236}">
                              <a16:creationId xmlns:a16="http://schemas.microsoft.com/office/drawing/2014/main" id="{E5F991FC-0BE4-E6EB-B7CE-D7A506EF72F0}"/>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2" name="Arc 291">
                          <a:extLst>
                            <a:ext uri="{FF2B5EF4-FFF2-40B4-BE49-F238E27FC236}">
                              <a16:creationId xmlns:a16="http://schemas.microsoft.com/office/drawing/2014/main" id="{9712E1F7-EADE-AB63-B495-1DBEB9BC5DB9}"/>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3" name="Arc 292">
                          <a:extLst>
                            <a:ext uri="{FF2B5EF4-FFF2-40B4-BE49-F238E27FC236}">
                              <a16:creationId xmlns:a16="http://schemas.microsoft.com/office/drawing/2014/main" id="{E6FAD8AE-8945-D080-127F-12594026BCF4}"/>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4" name="Arc 293">
                          <a:extLst>
                            <a:ext uri="{FF2B5EF4-FFF2-40B4-BE49-F238E27FC236}">
                              <a16:creationId xmlns:a16="http://schemas.microsoft.com/office/drawing/2014/main" id="{77C438ED-799A-4A53-6811-368DC953B885}"/>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5" name="Arc 294">
                          <a:extLst>
                            <a:ext uri="{FF2B5EF4-FFF2-40B4-BE49-F238E27FC236}">
                              <a16:creationId xmlns:a16="http://schemas.microsoft.com/office/drawing/2014/main" id="{C1E470B1-16F0-4A3B-FEC5-53C98EBA3E68}"/>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6" name="Arc 295">
                          <a:extLst>
                            <a:ext uri="{FF2B5EF4-FFF2-40B4-BE49-F238E27FC236}">
                              <a16:creationId xmlns:a16="http://schemas.microsoft.com/office/drawing/2014/main" id="{13511A73-2810-AFDA-2699-B8A55B68DF2C}"/>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7" name="Arc 296">
                          <a:extLst>
                            <a:ext uri="{FF2B5EF4-FFF2-40B4-BE49-F238E27FC236}">
                              <a16:creationId xmlns:a16="http://schemas.microsoft.com/office/drawing/2014/main" id="{C3F4D163-47FC-1E7D-EB1F-B518196746CB}"/>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8" name="Arc 297">
                          <a:extLst>
                            <a:ext uri="{FF2B5EF4-FFF2-40B4-BE49-F238E27FC236}">
                              <a16:creationId xmlns:a16="http://schemas.microsoft.com/office/drawing/2014/main" id="{663606E7-C907-6F40-3C03-1F26A9724488}"/>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9" name="Arc 298">
                          <a:extLst>
                            <a:ext uri="{FF2B5EF4-FFF2-40B4-BE49-F238E27FC236}">
                              <a16:creationId xmlns:a16="http://schemas.microsoft.com/office/drawing/2014/main" id="{C0DA6795-F709-1A44-5D29-94C9CF42B8E6}"/>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285" name="Straight Connector 284">
                      <a:extLst>
                        <a:ext uri="{FF2B5EF4-FFF2-40B4-BE49-F238E27FC236}">
                          <a16:creationId xmlns:a16="http://schemas.microsoft.com/office/drawing/2014/main" id="{CEA2DDD6-3B63-AB4A-9864-2EF213378D6D}"/>
                        </a:ext>
                      </a:extLst>
                    </p:cNvPr>
                    <p:cNvCxnSpPr>
                      <a:stCxn id="287"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C144B782-011E-0AEF-D33E-51D3D5BDC217}"/>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79" name="Straight Connector 278">
                    <a:extLst>
                      <a:ext uri="{FF2B5EF4-FFF2-40B4-BE49-F238E27FC236}">
                        <a16:creationId xmlns:a16="http://schemas.microsoft.com/office/drawing/2014/main" id="{2CC68C4C-530A-ECDB-24FE-F070C128A079}"/>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B5D69103-E66D-303C-D2CB-83D7B8A1DAE7}"/>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6" name="Group 75">
                <a:extLst>
                  <a:ext uri="{FF2B5EF4-FFF2-40B4-BE49-F238E27FC236}">
                    <a16:creationId xmlns:a16="http://schemas.microsoft.com/office/drawing/2014/main" id="{28E5431F-ABBC-00FE-523C-BB66CF8C4E51}"/>
                  </a:ext>
                </a:extLst>
              </p:cNvPr>
              <p:cNvGrpSpPr>
                <a:grpSpLocks noChangeAspect="1"/>
              </p:cNvGrpSpPr>
              <p:nvPr/>
            </p:nvGrpSpPr>
            <p:grpSpPr>
              <a:xfrm>
                <a:off x="3754587" y="2562269"/>
                <a:ext cx="437495" cy="400269"/>
                <a:chOff x="2169506" y="4772026"/>
                <a:chExt cx="1145194" cy="1047750"/>
              </a:xfrm>
            </p:grpSpPr>
            <p:sp>
              <p:nvSpPr>
                <p:cNvPr id="214" name="Oval 213">
                  <a:extLst>
                    <a:ext uri="{FF2B5EF4-FFF2-40B4-BE49-F238E27FC236}">
                      <a16:creationId xmlns:a16="http://schemas.microsoft.com/office/drawing/2014/main" id="{269B3239-9D41-E4EE-1DD5-895665BAA8F2}"/>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15" name="Group 214">
                  <a:extLst>
                    <a:ext uri="{FF2B5EF4-FFF2-40B4-BE49-F238E27FC236}">
                      <a16:creationId xmlns:a16="http://schemas.microsoft.com/office/drawing/2014/main" id="{3994BF8C-1F14-8133-9881-EBD37069885C}"/>
                    </a:ext>
                  </a:extLst>
                </p:cNvPr>
                <p:cNvGrpSpPr/>
                <p:nvPr/>
              </p:nvGrpSpPr>
              <p:grpSpPr>
                <a:xfrm>
                  <a:off x="2243356" y="4913274"/>
                  <a:ext cx="933517" cy="730856"/>
                  <a:chOff x="1027600" y="4784489"/>
                  <a:chExt cx="933517" cy="730856"/>
                </a:xfrm>
              </p:grpSpPr>
              <p:grpSp>
                <p:nvGrpSpPr>
                  <p:cNvPr id="216" name="Group 215">
                    <a:extLst>
                      <a:ext uri="{FF2B5EF4-FFF2-40B4-BE49-F238E27FC236}">
                        <a16:creationId xmlns:a16="http://schemas.microsoft.com/office/drawing/2014/main" id="{75BFD0D8-F6DC-0D66-AC92-570B3C2D5DDC}"/>
                      </a:ext>
                    </a:extLst>
                  </p:cNvPr>
                  <p:cNvGrpSpPr/>
                  <p:nvPr/>
                </p:nvGrpSpPr>
                <p:grpSpPr>
                  <a:xfrm>
                    <a:off x="1027600" y="4965926"/>
                    <a:ext cx="362347" cy="380159"/>
                    <a:chOff x="1711577" y="4926883"/>
                    <a:chExt cx="274320" cy="274320"/>
                  </a:xfrm>
                </p:grpSpPr>
                <p:sp>
                  <p:nvSpPr>
                    <p:cNvPr id="267" name="Flowchart: Connector 266">
                      <a:extLst>
                        <a:ext uri="{FF2B5EF4-FFF2-40B4-BE49-F238E27FC236}">
                          <a16:creationId xmlns:a16="http://schemas.microsoft.com/office/drawing/2014/main" id="{F8E009AD-47C5-169F-6DE3-57240CBC8C47}"/>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68" name="Freeform 113">
                      <a:extLst>
                        <a:ext uri="{FF2B5EF4-FFF2-40B4-BE49-F238E27FC236}">
                          <a16:creationId xmlns:a16="http://schemas.microsoft.com/office/drawing/2014/main" id="{FBDC0F7F-044D-A76E-AAE5-3869FFCE1F0B}"/>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217" name="Straight Connector 216">
                    <a:extLst>
                      <a:ext uri="{FF2B5EF4-FFF2-40B4-BE49-F238E27FC236}">
                        <a16:creationId xmlns:a16="http://schemas.microsoft.com/office/drawing/2014/main" id="{B108F3C0-3268-F431-C428-00323C5CE13F}"/>
                      </a:ext>
                    </a:extLst>
                  </p:cNvPr>
                  <p:cNvCxnSpPr>
                    <a:stCxn id="267"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6127FD11-560F-B560-B80B-160CF0FEC752}"/>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44BA484F-A376-8A28-ACA7-39BE3CB517B2}"/>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EAFD9039-6693-9E22-F68D-1DA2AA51BCF2}"/>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13681D0A-DEA5-2AA0-1BDF-77994456C9B1}"/>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F4B09808-8535-1F7C-7949-FB31F1FC9B60}"/>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23" name="Group 222">
                    <a:extLst>
                      <a:ext uri="{FF2B5EF4-FFF2-40B4-BE49-F238E27FC236}">
                        <a16:creationId xmlns:a16="http://schemas.microsoft.com/office/drawing/2014/main" id="{EC54FCDD-20F5-1365-BB38-C9B6EBD44551}"/>
                      </a:ext>
                    </a:extLst>
                  </p:cNvPr>
                  <p:cNvGrpSpPr/>
                  <p:nvPr/>
                </p:nvGrpSpPr>
                <p:grpSpPr>
                  <a:xfrm>
                    <a:off x="1565526" y="4885688"/>
                    <a:ext cx="395591" cy="540633"/>
                    <a:chOff x="1715961" y="4885759"/>
                    <a:chExt cx="395591" cy="540633"/>
                  </a:xfrm>
                </p:grpSpPr>
                <p:grpSp>
                  <p:nvGrpSpPr>
                    <p:cNvPr id="226" name="Group 225">
                      <a:extLst>
                        <a:ext uri="{FF2B5EF4-FFF2-40B4-BE49-F238E27FC236}">
                          <a16:creationId xmlns:a16="http://schemas.microsoft.com/office/drawing/2014/main" id="{71403BF4-0247-E00D-C04E-4767DE58B06B}"/>
                        </a:ext>
                      </a:extLst>
                    </p:cNvPr>
                    <p:cNvGrpSpPr/>
                    <p:nvPr/>
                  </p:nvGrpSpPr>
                  <p:grpSpPr>
                    <a:xfrm>
                      <a:off x="1715961" y="4885759"/>
                      <a:ext cx="317479" cy="205665"/>
                      <a:chOff x="1548734" y="4857791"/>
                      <a:chExt cx="240352" cy="148406"/>
                    </a:xfrm>
                  </p:grpSpPr>
                  <p:cxnSp>
                    <p:nvCxnSpPr>
                      <p:cNvPr id="256" name="Straight Connector 255">
                        <a:extLst>
                          <a:ext uri="{FF2B5EF4-FFF2-40B4-BE49-F238E27FC236}">
                            <a16:creationId xmlns:a16="http://schemas.microsoft.com/office/drawing/2014/main" id="{3F46154B-5597-2E05-7E81-2662013A797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9DA1290D-C428-570B-C471-3F986542CE17}"/>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0530ED5C-BEE7-40F2-B434-CC7EF388A08A}"/>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4670358B-0D74-A39D-082F-01E0E4B2BB56}"/>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C8F7A151-E342-3EC5-1B42-75FF84E499D6}"/>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97AD7D9F-C903-D6C9-1C90-183938479857}"/>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E72E4081-0FA3-0797-995E-3E92E3A9CCB5}"/>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0898CADA-D5FF-268B-8B86-029196122C48}"/>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2D379BD6-B6BB-E57A-34D4-E733EC0031D4}"/>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4BE346FD-F679-D038-9FAE-09293200AE41}"/>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FC8A6E78-6BD4-0925-1503-F828C1EF3C6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227" name="Group 226">
                      <a:extLst>
                        <a:ext uri="{FF2B5EF4-FFF2-40B4-BE49-F238E27FC236}">
                          <a16:creationId xmlns:a16="http://schemas.microsoft.com/office/drawing/2014/main" id="{418DF829-A87C-3A3C-62DB-05E9F437B99F}"/>
                        </a:ext>
                      </a:extLst>
                    </p:cNvPr>
                    <p:cNvGrpSpPr/>
                    <p:nvPr/>
                  </p:nvGrpSpPr>
                  <p:grpSpPr>
                    <a:xfrm rot="10800000" flipH="1">
                      <a:off x="1715961" y="5219603"/>
                      <a:ext cx="317479" cy="206789"/>
                      <a:chOff x="1548734" y="4857791"/>
                      <a:chExt cx="240352" cy="149217"/>
                    </a:xfrm>
                  </p:grpSpPr>
                  <p:cxnSp>
                    <p:nvCxnSpPr>
                      <p:cNvPr id="245" name="Straight Connector 244">
                        <a:extLst>
                          <a:ext uri="{FF2B5EF4-FFF2-40B4-BE49-F238E27FC236}">
                            <a16:creationId xmlns:a16="http://schemas.microsoft.com/office/drawing/2014/main" id="{9CB158A7-AF12-FAC0-B6F2-3EB853D47F6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74CA94CA-9C94-FB48-AE6F-7F99DB30151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290791A1-98BF-2024-1914-659B8B8EBF91}"/>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587B0E63-78EE-5954-F20F-3E3E65A7E9F8}"/>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86199977-5B63-558A-3B6A-A6ED483DBB1A}"/>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070F5246-091D-59FD-3722-CC55FAF87452}"/>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D8A63FA1-B431-884D-E0CB-694F17239A2D}"/>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80E2E81A-D264-D639-EEE1-B866729E0243}"/>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12B10A0-58EC-76FD-F523-91AF3D8413A5}"/>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0CBBDAF7-82A4-4432-8C73-41DBF48F2D3F}"/>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5D559B7C-4068-0D3A-626F-84FA628E10F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28" name="Straight Connector 227">
                      <a:extLst>
                        <a:ext uri="{FF2B5EF4-FFF2-40B4-BE49-F238E27FC236}">
                          <a16:creationId xmlns:a16="http://schemas.microsoft.com/office/drawing/2014/main" id="{B3C06F57-0B4B-F9F8-A294-C6C0671CC9C5}"/>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29" name="Group 228">
                      <a:extLst>
                        <a:ext uri="{FF2B5EF4-FFF2-40B4-BE49-F238E27FC236}">
                          <a16:creationId xmlns:a16="http://schemas.microsoft.com/office/drawing/2014/main" id="{38C4FA6E-4ED4-08D4-F725-C55E7BFA2B69}"/>
                        </a:ext>
                      </a:extLst>
                    </p:cNvPr>
                    <p:cNvGrpSpPr/>
                    <p:nvPr/>
                  </p:nvGrpSpPr>
                  <p:grpSpPr>
                    <a:xfrm rot="5400000">
                      <a:off x="1879744" y="5102207"/>
                      <a:ext cx="335430" cy="128187"/>
                      <a:chOff x="7040920" y="3499872"/>
                      <a:chExt cx="973348" cy="287902"/>
                    </a:xfrm>
                  </p:grpSpPr>
                  <p:sp>
                    <p:nvSpPr>
                      <p:cNvPr id="232" name="Arc 231">
                        <a:extLst>
                          <a:ext uri="{FF2B5EF4-FFF2-40B4-BE49-F238E27FC236}">
                            <a16:creationId xmlns:a16="http://schemas.microsoft.com/office/drawing/2014/main" id="{6A8C3F6B-EF12-4D56-82C6-422FC712B5F8}"/>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233" name="Group 232">
                        <a:extLst>
                          <a:ext uri="{FF2B5EF4-FFF2-40B4-BE49-F238E27FC236}">
                            <a16:creationId xmlns:a16="http://schemas.microsoft.com/office/drawing/2014/main" id="{EF0AF6EB-A066-303B-70BC-4E850867D00D}"/>
                          </a:ext>
                        </a:extLst>
                      </p:cNvPr>
                      <p:cNvGrpSpPr/>
                      <p:nvPr/>
                    </p:nvGrpSpPr>
                    <p:grpSpPr>
                      <a:xfrm>
                        <a:off x="7208043" y="3499872"/>
                        <a:ext cx="806225" cy="286012"/>
                        <a:chOff x="7208043" y="3499872"/>
                        <a:chExt cx="806225" cy="286012"/>
                      </a:xfrm>
                    </p:grpSpPr>
                    <p:sp>
                      <p:nvSpPr>
                        <p:cNvPr id="234" name="Arc 233">
                          <a:extLst>
                            <a:ext uri="{FF2B5EF4-FFF2-40B4-BE49-F238E27FC236}">
                              <a16:creationId xmlns:a16="http://schemas.microsoft.com/office/drawing/2014/main" id="{22E3AFB0-06D3-5B51-ED89-8FCE92FD680D}"/>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5" name="Arc 234">
                          <a:extLst>
                            <a:ext uri="{FF2B5EF4-FFF2-40B4-BE49-F238E27FC236}">
                              <a16:creationId xmlns:a16="http://schemas.microsoft.com/office/drawing/2014/main" id="{7582B550-0427-D352-AA57-36D29E511826}"/>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6" name="Arc 235">
                          <a:extLst>
                            <a:ext uri="{FF2B5EF4-FFF2-40B4-BE49-F238E27FC236}">
                              <a16:creationId xmlns:a16="http://schemas.microsoft.com/office/drawing/2014/main" id="{C8388CEB-C1B9-DB52-83B6-7C19EE4B25EC}"/>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7" name="Arc 236">
                          <a:extLst>
                            <a:ext uri="{FF2B5EF4-FFF2-40B4-BE49-F238E27FC236}">
                              <a16:creationId xmlns:a16="http://schemas.microsoft.com/office/drawing/2014/main" id="{A3872719-A045-2383-2784-DC8544A2389A}"/>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8" name="Arc 237">
                          <a:extLst>
                            <a:ext uri="{FF2B5EF4-FFF2-40B4-BE49-F238E27FC236}">
                              <a16:creationId xmlns:a16="http://schemas.microsoft.com/office/drawing/2014/main" id="{3EE109CA-6664-696A-697B-E85FE000D668}"/>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9" name="Arc 238">
                          <a:extLst>
                            <a:ext uri="{FF2B5EF4-FFF2-40B4-BE49-F238E27FC236}">
                              <a16:creationId xmlns:a16="http://schemas.microsoft.com/office/drawing/2014/main" id="{BB401CBF-75B6-D509-F037-A6CD4FA17576}"/>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0" name="Arc 239">
                          <a:extLst>
                            <a:ext uri="{FF2B5EF4-FFF2-40B4-BE49-F238E27FC236}">
                              <a16:creationId xmlns:a16="http://schemas.microsoft.com/office/drawing/2014/main" id="{921CED9F-CF71-B156-D6DF-48B6BBA78F74}"/>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1" name="Arc 240">
                          <a:extLst>
                            <a:ext uri="{FF2B5EF4-FFF2-40B4-BE49-F238E27FC236}">
                              <a16:creationId xmlns:a16="http://schemas.microsoft.com/office/drawing/2014/main" id="{3E5771BF-C893-B094-DC49-FCB7CF988E5D}"/>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2" name="Arc 241">
                          <a:extLst>
                            <a:ext uri="{FF2B5EF4-FFF2-40B4-BE49-F238E27FC236}">
                              <a16:creationId xmlns:a16="http://schemas.microsoft.com/office/drawing/2014/main" id="{CF3D780C-29FA-8B8D-67C3-49F7F373B6C2}"/>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3" name="Arc 242">
                          <a:extLst>
                            <a:ext uri="{FF2B5EF4-FFF2-40B4-BE49-F238E27FC236}">
                              <a16:creationId xmlns:a16="http://schemas.microsoft.com/office/drawing/2014/main" id="{22A4026A-55CF-6592-F721-0E95F3ED7E55}"/>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4" name="Arc 243">
                          <a:extLst>
                            <a:ext uri="{FF2B5EF4-FFF2-40B4-BE49-F238E27FC236}">
                              <a16:creationId xmlns:a16="http://schemas.microsoft.com/office/drawing/2014/main" id="{B96907F8-A966-D581-9D22-D1D8446677AF}"/>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230" name="Straight Connector 229">
                      <a:extLst>
                        <a:ext uri="{FF2B5EF4-FFF2-40B4-BE49-F238E27FC236}">
                          <a16:creationId xmlns:a16="http://schemas.microsoft.com/office/drawing/2014/main" id="{21DDF84E-45A0-DF83-A6FC-D18372F1CD1F}"/>
                        </a:ext>
                      </a:extLst>
                    </p:cNvPr>
                    <p:cNvCxnSpPr>
                      <a:stCxn id="232"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D787861F-A1FE-4356-D48B-A8732ACC3C84}"/>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24" name="Straight Connector 223">
                    <a:extLst>
                      <a:ext uri="{FF2B5EF4-FFF2-40B4-BE49-F238E27FC236}">
                        <a16:creationId xmlns:a16="http://schemas.microsoft.com/office/drawing/2014/main" id="{9A71CB55-E367-9B0B-874B-8676139AF471}"/>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E972CBCB-D842-526D-6670-4D7C0925489B}"/>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ADE111C5-D805-91AD-F4EF-692E1FEAC395}"/>
                  </a:ext>
                </a:extLst>
              </p:cNvPr>
              <p:cNvGrpSpPr>
                <a:grpSpLocks noChangeAspect="1"/>
              </p:cNvGrpSpPr>
              <p:nvPr/>
            </p:nvGrpSpPr>
            <p:grpSpPr>
              <a:xfrm>
                <a:off x="2996876" y="3330844"/>
                <a:ext cx="437495" cy="400269"/>
                <a:chOff x="2169506" y="4772026"/>
                <a:chExt cx="1145194" cy="1047750"/>
              </a:xfrm>
            </p:grpSpPr>
            <p:sp>
              <p:nvSpPr>
                <p:cNvPr id="159" name="Oval 158">
                  <a:extLst>
                    <a:ext uri="{FF2B5EF4-FFF2-40B4-BE49-F238E27FC236}">
                      <a16:creationId xmlns:a16="http://schemas.microsoft.com/office/drawing/2014/main" id="{AB5EB4A0-57B3-5962-5371-9F4DFD9CC933}"/>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160" name="Group 159">
                  <a:extLst>
                    <a:ext uri="{FF2B5EF4-FFF2-40B4-BE49-F238E27FC236}">
                      <a16:creationId xmlns:a16="http://schemas.microsoft.com/office/drawing/2014/main" id="{DEC3242B-5A79-5441-1C6D-A8E265269A0B}"/>
                    </a:ext>
                  </a:extLst>
                </p:cNvPr>
                <p:cNvGrpSpPr/>
                <p:nvPr/>
              </p:nvGrpSpPr>
              <p:grpSpPr>
                <a:xfrm>
                  <a:off x="2243356" y="4913274"/>
                  <a:ext cx="933517" cy="730856"/>
                  <a:chOff x="1027600" y="4784489"/>
                  <a:chExt cx="933517" cy="730856"/>
                </a:xfrm>
              </p:grpSpPr>
              <p:grpSp>
                <p:nvGrpSpPr>
                  <p:cNvPr id="161" name="Group 160">
                    <a:extLst>
                      <a:ext uri="{FF2B5EF4-FFF2-40B4-BE49-F238E27FC236}">
                        <a16:creationId xmlns:a16="http://schemas.microsoft.com/office/drawing/2014/main" id="{52B51FF8-C07A-AA25-1CAE-983255739B51}"/>
                      </a:ext>
                    </a:extLst>
                  </p:cNvPr>
                  <p:cNvGrpSpPr/>
                  <p:nvPr/>
                </p:nvGrpSpPr>
                <p:grpSpPr>
                  <a:xfrm>
                    <a:off x="1027600" y="4965926"/>
                    <a:ext cx="362347" cy="380159"/>
                    <a:chOff x="1711577" y="4926883"/>
                    <a:chExt cx="274320" cy="274320"/>
                  </a:xfrm>
                </p:grpSpPr>
                <p:sp>
                  <p:nvSpPr>
                    <p:cNvPr id="212" name="Flowchart: Connector 211">
                      <a:extLst>
                        <a:ext uri="{FF2B5EF4-FFF2-40B4-BE49-F238E27FC236}">
                          <a16:creationId xmlns:a16="http://schemas.microsoft.com/office/drawing/2014/main" id="{AA09F12A-5CB2-69AD-CCA9-5E3CDE0EA166}"/>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13" name="Freeform 169">
                      <a:extLst>
                        <a:ext uri="{FF2B5EF4-FFF2-40B4-BE49-F238E27FC236}">
                          <a16:creationId xmlns:a16="http://schemas.microsoft.com/office/drawing/2014/main" id="{43674D57-4105-3B9F-0B7A-DC4D96D6EDED}"/>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162" name="Straight Connector 161">
                    <a:extLst>
                      <a:ext uri="{FF2B5EF4-FFF2-40B4-BE49-F238E27FC236}">
                        <a16:creationId xmlns:a16="http://schemas.microsoft.com/office/drawing/2014/main" id="{B71C8713-972B-AF72-8D2B-8AF4DE81746D}"/>
                      </a:ext>
                    </a:extLst>
                  </p:cNvPr>
                  <p:cNvCxnSpPr>
                    <a:stCxn id="212"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86BF155D-460B-E4CE-67A1-FCA8837B9A8E}"/>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48F8CB3C-A030-E81F-2EB4-ACDD6C75FF2C}"/>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F3BD7C32-798F-4D1A-C45E-5CD4B0FF1066}"/>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1B26FD73-F0D1-21E1-A230-05D2AD88A3ED}"/>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459054D4-9372-6C57-7C5A-841575F8B482}"/>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68" name="Group 167">
                    <a:extLst>
                      <a:ext uri="{FF2B5EF4-FFF2-40B4-BE49-F238E27FC236}">
                        <a16:creationId xmlns:a16="http://schemas.microsoft.com/office/drawing/2014/main" id="{DC3A6DCE-41EF-D503-0A3E-74A460CF11C9}"/>
                      </a:ext>
                    </a:extLst>
                  </p:cNvPr>
                  <p:cNvGrpSpPr/>
                  <p:nvPr/>
                </p:nvGrpSpPr>
                <p:grpSpPr>
                  <a:xfrm>
                    <a:off x="1565526" y="4885688"/>
                    <a:ext cx="395591" cy="540633"/>
                    <a:chOff x="1715961" y="4885759"/>
                    <a:chExt cx="395591" cy="540633"/>
                  </a:xfrm>
                </p:grpSpPr>
                <p:grpSp>
                  <p:nvGrpSpPr>
                    <p:cNvPr id="171" name="Group 170">
                      <a:extLst>
                        <a:ext uri="{FF2B5EF4-FFF2-40B4-BE49-F238E27FC236}">
                          <a16:creationId xmlns:a16="http://schemas.microsoft.com/office/drawing/2014/main" id="{FF00E8E2-F41E-1ECB-8869-7AC7B16C96EE}"/>
                        </a:ext>
                      </a:extLst>
                    </p:cNvPr>
                    <p:cNvGrpSpPr/>
                    <p:nvPr/>
                  </p:nvGrpSpPr>
                  <p:grpSpPr>
                    <a:xfrm>
                      <a:off x="1715961" y="4885759"/>
                      <a:ext cx="317479" cy="205665"/>
                      <a:chOff x="1548734" y="4857791"/>
                      <a:chExt cx="240352" cy="148406"/>
                    </a:xfrm>
                  </p:grpSpPr>
                  <p:cxnSp>
                    <p:nvCxnSpPr>
                      <p:cNvPr id="201" name="Straight Connector 200">
                        <a:extLst>
                          <a:ext uri="{FF2B5EF4-FFF2-40B4-BE49-F238E27FC236}">
                            <a16:creationId xmlns:a16="http://schemas.microsoft.com/office/drawing/2014/main" id="{1CF639E4-02A0-8AE5-A6AD-0499721EEDA2}"/>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A662511C-649B-F901-FA82-6C97334D683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2B6BBF55-4B8F-EF8C-41F0-2E2EA989FE2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2868353-7643-8BDA-25C5-B6F1B34DF9CA}"/>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F4C2BA58-E840-7518-CC97-9022BAE5A51E}"/>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98FF3DBE-BB92-EB3B-8B87-69638215E38B}"/>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FF08DD70-7F44-DC27-119A-4FDE741475D5}"/>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3862097-935B-C9D7-01E7-D09EC29D9D2E}"/>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33CC54DB-9DE3-7370-BAC7-7A9C4A54088F}"/>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A2932CCB-48E9-BF02-1F54-B0FBF8D4DC87}"/>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93F0903-D79B-DE66-20B9-A050A4EBEF56}"/>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72" name="Group 171">
                      <a:extLst>
                        <a:ext uri="{FF2B5EF4-FFF2-40B4-BE49-F238E27FC236}">
                          <a16:creationId xmlns:a16="http://schemas.microsoft.com/office/drawing/2014/main" id="{5E5B57B0-654D-84D4-AF07-A3175C5D66C7}"/>
                        </a:ext>
                      </a:extLst>
                    </p:cNvPr>
                    <p:cNvGrpSpPr/>
                    <p:nvPr/>
                  </p:nvGrpSpPr>
                  <p:grpSpPr>
                    <a:xfrm rot="10800000" flipH="1">
                      <a:off x="1715961" y="5219603"/>
                      <a:ext cx="317479" cy="206789"/>
                      <a:chOff x="1548734" y="4857791"/>
                      <a:chExt cx="240352" cy="149217"/>
                    </a:xfrm>
                  </p:grpSpPr>
                  <p:cxnSp>
                    <p:nvCxnSpPr>
                      <p:cNvPr id="190" name="Straight Connector 189">
                        <a:extLst>
                          <a:ext uri="{FF2B5EF4-FFF2-40B4-BE49-F238E27FC236}">
                            <a16:creationId xmlns:a16="http://schemas.microsoft.com/office/drawing/2014/main" id="{6B11A2C1-38E0-9D4B-A260-1EAF25B76624}"/>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7863DE09-4BC6-3E0D-EC4A-E6A94F70C4C0}"/>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284840D6-E541-81D1-626D-20FB00FC7B9D}"/>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E93403E3-FD9F-4B4F-9CA5-833C0861F9D9}"/>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A2A7490-D488-C831-5341-C6AB7924CDCD}"/>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2CD76A5F-C10E-9E3C-BF98-476EF3772FE5}"/>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59522BDE-BF5C-580F-4ABC-056AE83ED669}"/>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F907C691-E08E-5874-5B53-9AEBCDE1D91C}"/>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0C991ADB-A1C3-5EA2-2F2D-440D64A82747}"/>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FB044B03-4466-A297-FF94-A7C3866D6A63}"/>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91186F48-E78F-EAB1-FA92-1A9C2155217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73" name="Straight Connector 172">
                      <a:extLst>
                        <a:ext uri="{FF2B5EF4-FFF2-40B4-BE49-F238E27FC236}">
                          <a16:creationId xmlns:a16="http://schemas.microsoft.com/office/drawing/2014/main" id="{28842958-3FCC-1A22-28AC-C854159A8133}"/>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74" name="Group 173">
                      <a:extLst>
                        <a:ext uri="{FF2B5EF4-FFF2-40B4-BE49-F238E27FC236}">
                          <a16:creationId xmlns:a16="http://schemas.microsoft.com/office/drawing/2014/main" id="{84CF9B30-AF90-FAD1-6433-CAFAB3A5D8FC}"/>
                        </a:ext>
                      </a:extLst>
                    </p:cNvPr>
                    <p:cNvGrpSpPr/>
                    <p:nvPr/>
                  </p:nvGrpSpPr>
                  <p:grpSpPr>
                    <a:xfrm rot="5400000">
                      <a:off x="1879744" y="5102207"/>
                      <a:ext cx="335430" cy="128187"/>
                      <a:chOff x="7040920" y="3499872"/>
                      <a:chExt cx="973348" cy="287902"/>
                    </a:xfrm>
                  </p:grpSpPr>
                  <p:sp>
                    <p:nvSpPr>
                      <p:cNvPr id="177" name="Arc 176">
                        <a:extLst>
                          <a:ext uri="{FF2B5EF4-FFF2-40B4-BE49-F238E27FC236}">
                            <a16:creationId xmlns:a16="http://schemas.microsoft.com/office/drawing/2014/main" id="{18658DBA-D0B3-39C8-C577-4B1CB20F46A4}"/>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178" name="Group 177">
                        <a:extLst>
                          <a:ext uri="{FF2B5EF4-FFF2-40B4-BE49-F238E27FC236}">
                            <a16:creationId xmlns:a16="http://schemas.microsoft.com/office/drawing/2014/main" id="{29F5ABB8-47BB-00DB-626B-53D47F0AF4C3}"/>
                          </a:ext>
                        </a:extLst>
                      </p:cNvPr>
                      <p:cNvGrpSpPr/>
                      <p:nvPr/>
                    </p:nvGrpSpPr>
                    <p:grpSpPr>
                      <a:xfrm>
                        <a:off x="7208043" y="3499872"/>
                        <a:ext cx="806225" cy="286012"/>
                        <a:chOff x="7208043" y="3499872"/>
                        <a:chExt cx="806225" cy="286012"/>
                      </a:xfrm>
                    </p:grpSpPr>
                    <p:sp>
                      <p:nvSpPr>
                        <p:cNvPr id="179" name="Arc 178">
                          <a:extLst>
                            <a:ext uri="{FF2B5EF4-FFF2-40B4-BE49-F238E27FC236}">
                              <a16:creationId xmlns:a16="http://schemas.microsoft.com/office/drawing/2014/main" id="{70BF3BB9-7832-7B03-50A0-A7712CA64846}"/>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0" name="Arc 179">
                          <a:extLst>
                            <a:ext uri="{FF2B5EF4-FFF2-40B4-BE49-F238E27FC236}">
                              <a16:creationId xmlns:a16="http://schemas.microsoft.com/office/drawing/2014/main" id="{9019182F-3286-65F0-6FE2-2A1E51BBFABA}"/>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1" name="Arc 180">
                          <a:extLst>
                            <a:ext uri="{FF2B5EF4-FFF2-40B4-BE49-F238E27FC236}">
                              <a16:creationId xmlns:a16="http://schemas.microsoft.com/office/drawing/2014/main" id="{5C5FB2D2-19AC-70D3-A7DC-61DF49448B28}"/>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2" name="Arc 181">
                          <a:extLst>
                            <a:ext uri="{FF2B5EF4-FFF2-40B4-BE49-F238E27FC236}">
                              <a16:creationId xmlns:a16="http://schemas.microsoft.com/office/drawing/2014/main" id="{ED57CB6E-CA22-7A2F-EDD0-50FF4473B306}"/>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3" name="Arc 182">
                          <a:extLst>
                            <a:ext uri="{FF2B5EF4-FFF2-40B4-BE49-F238E27FC236}">
                              <a16:creationId xmlns:a16="http://schemas.microsoft.com/office/drawing/2014/main" id="{E85B5BDB-1302-0AA2-0377-B65C7C7E2343}"/>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4" name="Arc 183">
                          <a:extLst>
                            <a:ext uri="{FF2B5EF4-FFF2-40B4-BE49-F238E27FC236}">
                              <a16:creationId xmlns:a16="http://schemas.microsoft.com/office/drawing/2014/main" id="{C0C169EC-33D4-30C0-064F-5A64760086D2}"/>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5" name="Arc 184">
                          <a:extLst>
                            <a:ext uri="{FF2B5EF4-FFF2-40B4-BE49-F238E27FC236}">
                              <a16:creationId xmlns:a16="http://schemas.microsoft.com/office/drawing/2014/main" id="{2FE92288-7990-42CA-B723-8205E7AD025D}"/>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6" name="Arc 185">
                          <a:extLst>
                            <a:ext uri="{FF2B5EF4-FFF2-40B4-BE49-F238E27FC236}">
                              <a16:creationId xmlns:a16="http://schemas.microsoft.com/office/drawing/2014/main" id="{4F5C6A4A-FEB9-8A06-3BF9-5431EDE39C4D}"/>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7" name="Arc 186">
                          <a:extLst>
                            <a:ext uri="{FF2B5EF4-FFF2-40B4-BE49-F238E27FC236}">
                              <a16:creationId xmlns:a16="http://schemas.microsoft.com/office/drawing/2014/main" id="{512A98DE-4D09-E1C5-84F9-6A7704CC09E3}"/>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8" name="Arc 187">
                          <a:extLst>
                            <a:ext uri="{FF2B5EF4-FFF2-40B4-BE49-F238E27FC236}">
                              <a16:creationId xmlns:a16="http://schemas.microsoft.com/office/drawing/2014/main" id="{F91C6F12-73FE-DD33-B03E-1C4EF593D58E}"/>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9" name="Arc 188">
                          <a:extLst>
                            <a:ext uri="{FF2B5EF4-FFF2-40B4-BE49-F238E27FC236}">
                              <a16:creationId xmlns:a16="http://schemas.microsoft.com/office/drawing/2014/main" id="{606E155A-7FE1-9679-B95B-4866D1D365EA}"/>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175" name="Straight Connector 174">
                      <a:extLst>
                        <a:ext uri="{FF2B5EF4-FFF2-40B4-BE49-F238E27FC236}">
                          <a16:creationId xmlns:a16="http://schemas.microsoft.com/office/drawing/2014/main" id="{878BD99F-08FD-9A42-3F12-ACBCB2AE6F9D}"/>
                        </a:ext>
                      </a:extLst>
                    </p:cNvPr>
                    <p:cNvCxnSpPr>
                      <a:stCxn id="177"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EDFE28D2-AA47-0242-4C18-66E28C83095E}"/>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69" name="Straight Connector 168">
                    <a:extLst>
                      <a:ext uri="{FF2B5EF4-FFF2-40B4-BE49-F238E27FC236}">
                        <a16:creationId xmlns:a16="http://schemas.microsoft.com/office/drawing/2014/main" id="{2482CB6A-E035-70B2-CB93-252E9AE32B3C}"/>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2289FD33-4780-B67C-F1BB-FCAE26801384}"/>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8" name="Group 77">
                <a:extLst>
                  <a:ext uri="{FF2B5EF4-FFF2-40B4-BE49-F238E27FC236}">
                    <a16:creationId xmlns:a16="http://schemas.microsoft.com/office/drawing/2014/main" id="{D001B4C4-03DC-C08A-43E9-E3FEE73F9EF2}"/>
                  </a:ext>
                </a:extLst>
              </p:cNvPr>
              <p:cNvGrpSpPr>
                <a:grpSpLocks noChangeAspect="1"/>
              </p:cNvGrpSpPr>
              <p:nvPr/>
            </p:nvGrpSpPr>
            <p:grpSpPr>
              <a:xfrm>
                <a:off x="2271842" y="2647278"/>
                <a:ext cx="437495" cy="400269"/>
                <a:chOff x="2169506" y="4772026"/>
                <a:chExt cx="1145194" cy="1047750"/>
              </a:xfrm>
            </p:grpSpPr>
            <p:sp>
              <p:nvSpPr>
                <p:cNvPr id="104" name="Oval 103">
                  <a:extLst>
                    <a:ext uri="{FF2B5EF4-FFF2-40B4-BE49-F238E27FC236}">
                      <a16:creationId xmlns:a16="http://schemas.microsoft.com/office/drawing/2014/main" id="{54ED09FD-FE60-1D04-DFB8-2CAEA09EEAD3}"/>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105" name="Group 104">
                  <a:extLst>
                    <a:ext uri="{FF2B5EF4-FFF2-40B4-BE49-F238E27FC236}">
                      <a16:creationId xmlns:a16="http://schemas.microsoft.com/office/drawing/2014/main" id="{505F4FBF-627D-7122-3326-2FE4A74EF39C}"/>
                    </a:ext>
                  </a:extLst>
                </p:cNvPr>
                <p:cNvGrpSpPr/>
                <p:nvPr/>
              </p:nvGrpSpPr>
              <p:grpSpPr>
                <a:xfrm>
                  <a:off x="2243356" y="4913274"/>
                  <a:ext cx="933517" cy="730856"/>
                  <a:chOff x="1027600" y="4784489"/>
                  <a:chExt cx="933517" cy="730856"/>
                </a:xfrm>
              </p:grpSpPr>
              <p:grpSp>
                <p:nvGrpSpPr>
                  <p:cNvPr id="106" name="Group 105">
                    <a:extLst>
                      <a:ext uri="{FF2B5EF4-FFF2-40B4-BE49-F238E27FC236}">
                        <a16:creationId xmlns:a16="http://schemas.microsoft.com/office/drawing/2014/main" id="{9763DB22-95C6-ABE6-440F-962D34A5B3A8}"/>
                      </a:ext>
                    </a:extLst>
                  </p:cNvPr>
                  <p:cNvGrpSpPr/>
                  <p:nvPr/>
                </p:nvGrpSpPr>
                <p:grpSpPr>
                  <a:xfrm>
                    <a:off x="1027600" y="4965926"/>
                    <a:ext cx="362347" cy="380159"/>
                    <a:chOff x="1711577" y="4926883"/>
                    <a:chExt cx="274320" cy="274320"/>
                  </a:xfrm>
                </p:grpSpPr>
                <p:sp>
                  <p:nvSpPr>
                    <p:cNvPr id="157" name="Flowchart: Connector 156">
                      <a:extLst>
                        <a:ext uri="{FF2B5EF4-FFF2-40B4-BE49-F238E27FC236}">
                          <a16:creationId xmlns:a16="http://schemas.microsoft.com/office/drawing/2014/main" id="{518A67EA-5E4F-7CFF-2634-3442DA71EB4E}"/>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58" name="Freeform 225">
                      <a:extLst>
                        <a:ext uri="{FF2B5EF4-FFF2-40B4-BE49-F238E27FC236}">
                          <a16:creationId xmlns:a16="http://schemas.microsoft.com/office/drawing/2014/main" id="{5C04487B-AC37-88B7-21E0-E0EBCDED9211}"/>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107" name="Straight Connector 106">
                    <a:extLst>
                      <a:ext uri="{FF2B5EF4-FFF2-40B4-BE49-F238E27FC236}">
                        <a16:creationId xmlns:a16="http://schemas.microsoft.com/office/drawing/2014/main" id="{6387650C-A739-98BF-08CD-A27A0324AE40}"/>
                      </a:ext>
                    </a:extLst>
                  </p:cNvPr>
                  <p:cNvCxnSpPr>
                    <a:stCxn id="157"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26FE25FA-0762-BC2D-A0A5-4F994088CE9E}"/>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E92C527-9FD8-3C9F-859F-60BE7B52509D}"/>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643905E6-050B-32C7-FDEB-1F9FC99B8487}"/>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76842C1-20D5-2F64-DDB0-037EB6FE58C4}"/>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ECBE26E-F105-8C9E-3330-1E3F637AF388}"/>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13" name="Group 112">
                    <a:extLst>
                      <a:ext uri="{FF2B5EF4-FFF2-40B4-BE49-F238E27FC236}">
                        <a16:creationId xmlns:a16="http://schemas.microsoft.com/office/drawing/2014/main" id="{0010F934-A014-6ACF-34FC-451DFC20347E}"/>
                      </a:ext>
                    </a:extLst>
                  </p:cNvPr>
                  <p:cNvGrpSpPr/>
                  <p:nvPr/>
                </p:nvGrpSpPr>
                <p:grpSpPr>
                  <a:xfrm>
                    <a:off x="1565526" y="4885688"/>
                    <a:ext cx="395591" cy="540633"/>
                    <a:chOff x="1715961" y="4885759"/>
                    <a:chExt cx="395591" cy="540633"/>
                  </a:xfrm>
                </p:grpSpPr>
                <p:grpSp>
                  <p:nvGrpSpPr>
                    <p:cNvPr id="116" name="Group 115">
                      <a:extLst>
                        <a:ext uri="{FF2B5EF4-FFF2-40B4-BE49-F238E27FC236}">
                          <a16:creationId xmlns:a16="http://schemas.microsoft.com/office/drawing/2014/main" id="{D250E48E-33A1-77D7-155B-51A6701624A2}"/>
                        </a:ext>
                      </a:extLst>
                    </p:cNvPr>
                    <p:cNvGrpSpPr/>
                    <p:nvPr/>
                  </p:nvGrpSpPr>
                  <p:grpSpPr>
                    <a:xfrm>
                      <a:off x="1715961" y="4885759"/>
                      <a:ext cx="317479" cy="205665"/>
                      <a:chOff x="1548734" y="4857791"/>
                      <a:chExt cx="240352" cy="148406"/>
                    </a:xfrm>
                  </p:grpSpPr>
                  <p:cxnSp>
                    <p:nvCxnSpPr>
                      <p:cNvPr id="146" name="Straight Connector 145">
                        <a:extLst>
                          <a:ext uri="{FF2B5EF4-FFF2-40B4-BE49-F238E27FC236}">
                            <a16:creationId xmlns:a16="http://schemas.microsoft.com/office/drawing/2014/main" id="{9B8ED030-229F-89DB-734E-2C28DB5ED38B}"/>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B1CB0ADD-703C-FAE2-C5F5-99E0C906E928}"/>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E3B2A36-D58C-F5B9-7851-1C0E3A96290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AC13DDE-23E1-EF88-0706-B566E543DD5E}"/>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9E001F5E-0ADA-DA11-67D2-3EFB9DBCAA5E}"/>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8E194D1D-98F0-FDC7-7426-FC3670765339}"/>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43C0025-5101-820C-0334-8A6B77E2B0D6}"/>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CFB93F8-2C95-88B4-412A-1A81A1D29C16}"/>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06CC611B-3282-CEDB-E9E6-75E7F7350BE1}"/>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8A9D0FD7-AAB8-C9E0-8134-5708DA8AAE32}"/>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272599AE-76AF-AD8D-2FDD-B8958226B94E}"/>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17" name="Group 116">
                      <a:extLst>
                        <a:ext uri="{FF2B5EF4-FFF2-40B4-BE49-F238E27FC236}">
                          <a16:creationId xmlns:a16="http://schemas.microsoft.com/office/drawing/2014/main" id="{8872F0A4-0058-DB14-0A57-22325D8BE8CA}"/>
                        </a:ext>
                      </a:extLst>
                    </p:cNvPr>
                    <p:cNvGrpSpPr/>
                    <p:nvPr/>
                  </p:nvGrpSpPr>
                  <p:grpSpPr>
                    <a:xfrm rot="10800000" flipH="1">
                      <a:off x="1715961" y="5219603"/>
                      <a:ext cx="317479" cy="206789"/>
                      <a:chOff x="1548734" y="4857791"/>
                      <a:chExt cx="240352" cy="149217"/>
                    </a:xfrm>
                  </p:grpSpPr>
                  <p:cxnSp>
                    <p:nvCxnSpPr>
                      <p:cNvPr id="135" name="Straight Connector 134">
                        <a:extLst>
                          <a:ext uri="{FF2B5EF4-FFF2-40B4-BE49-F238E27FC236}">
                            <a16:creationId xmlns:a16="http://schemas.microsoft.com/office/drawing/2014/main" id="{832120B7-A348-575A-AABF-41C201978A9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C9AC870-F785-775F-A456-0A365C237D9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83E42442-88B7-F882-6BFC-CB410E5F9A8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2D223A2-1EC8-1A9D-227B-932EFDE4545A}"/>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7F3D2C61-6F0A-C285-6792-98480BC8EC52}"/>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63A56C1-A072-C9DD-AAE3-6527DA323EE2}"/>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DA83760-ECCE-FD19-5716-2A60F9C5D5CE}"/>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EE937AD1-421B-582A-1146-03F5571F91AF}"/>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C955CCCA-A51C-FE6A-2563-C925ABD6B344}"/>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D71D49A-5EE5-A90D-25E7-ED104B3CB6FF}"/>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7C4DE4B9-1C4C-E550-783D-FA2DDFFA9B20}"/>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18" name="Straight Connector 117">
                      <a:extLst>
                        <a:ext uri="{FF2B5EF4-FFF2-40B4-BE49-F238E27FC236}">
                          <a16:creationId xmlns:a16="http://schemas.microsoft.com/office/drawing/2014/main" id="{4829660A-624C-DB0C-4EAF-68B1ACE17B35}"/>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19" name="Group 118">
                      <a:extLst>
                        <a:ext uri="{FF2B5EF4-FFF2-40B4-BE49-F238E27FC236}">
                          <a16:creationId xmlns:a16="http://schemas.microsoft.com/office/drawing/2014/main" id="{3DB54234-5BC7-30D3-616D-CEFE47264AB7}"/>
                        </a:ext>
                      </a:extLst>
                    </p:cNvPr>
                    <p:cNvGrpSpPr/>
                    <p:nvPr/>
                  </p:nvGrpSpPr>
                  <p:grpSpPr>
                    <a:xfrm rot="5400000">
                      <a:off x="1879744" y="5102207"/>
                      <a:ext cx="335430" cy="128187"/>
                      <a:chOff x="7040920" y="3499872"/>
                      <a:chExt cx="973348" cy="287902"/>
                    </a:xfrm>
                  </p:grpSpPr>
                  <p:sp>
                    <p:nvSpPr>
                      <p:cNvPr id="122" name="Arc 121">
                        <a:extLst>
                          <a:ext uri="{FF2B5EF4-FFF2-40B4-BE49-F238E27FC236}">
                            <a16:creationId xmlns:a16="http://schemas.microsoft.com/office/drawing/2014/main" id="{4CBC57C7-2774-244A-2014-33B1E8E75B1B}"/>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123" name="Group 122">
                        <a:extLst>
                          <a:ext uri="{FF2B5EF4-FFF2-40B4-BE49-F238E27FC236}">
                            <a16:creationId xmlns:a16="http://schemas.microsoft.com/office/drawing/2014/main" id="{A98B5533-B5B7-F912-456C-CD8E495A84B9}"/>
                          </a:ext>
                        </a:extLst>
                      </p:cNvPr>
                      <p:cNvGrpSpPr/>
                      <p:nvPr/>
                    </p:nvGrpSpPr>
                    <p:grpSpPr>
                      <a:xfrm>
                        <a:off x="7208043" y="3499872"/>
                        <a:ext cx="806225" cy="286012"/>
                        <a:chOff x="7208043" y="3499872"/>
                        <a:chExt cx="806225" cy="286012"/>
                      </a:xfrm>
                    </p:grpSpPr>
                    <p:sp>
                      <p:nvSpPr>
                        <p:cNvPr id="124" name="Arc 123">
                          <a:extLst>
                            <a:ext uri="{FF2B5EF4-FFF2-40B4-BE49-F238E27FC236}">
                              <a16:creationId xmlns:a16="http://schemas.microsoft.com/office/drawing/2014/main" id="{DD66DE00-96A8-82A5-7F88-33707D717DC7}"/>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5" name="Arc 124">
                          <a:extLst>
                            <a:ext uri="{FF2B5EF4-FFF2-40B4-BE49-F238E27FC236}">
                              <a16:creationId xmlns:a16="http://schemas.microsoft.com/office/drawing/2014/main" id="{D53F0EB8-DB95-9D5A-AD6F-7F7E7DE17014}"/>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6" name="Arc 125">
                          <a:extLst>
                            <a:ext uri="{FF2B5EF4-FFF2-40B4-BE49-F238E27FC236}">
                              <a16:creationId xmlns:a16="http://schemas.microsoft.com/office/drawing/2014/main" id="{3CF469A1-5CD5-183E-0723-FDB8E9C52FD2}"/>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7" name="Arc 126">
                          <a:extLst>
                            <a:ext uri="{FF2B5EF4-FFF2-40B4-BE49-F238E27FC236}">
                              <a16:creationId xmlns:a16="http://schemas.microsoft.com/office/drawing/2014/main" id="{D723AC99-78DC-096C-B0DC-0E10F99E31B6}"/>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8" name="Arc 127">
                          <a:extLst>
                            <a:ext uri="{FF2B5EF4-FFF2-40B4-BE49-F238E27FC236}">
                              <a16:creationId xmlns:a16="http://schemas.microsoft.com/office/drawing/2014/main" id="{03E5DB24-70DC-F858-267A-5165A1C2BDBB}"/>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9" name="Arc 128">
                          <a:extLst>
                            <a:ext uri="{FF2B5EF4-FFF2-40B4-BE49-F238E27FC236}">
                              <a16:creationId xmlns:a16="http://schemas.microsoft.com/office/drawing/2014/main" id="{E5D11427-F8F8-7B2A-B7CF-6C708C776D23}"/>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0" name="Arc 129">
                          <a:extLst>
                            <a:ext uri="{FF2B5EF4-FFF2-40B4-BE49-F238E27FC236}">
                              <a16:creationId xmlns:a16="http://schemas.microsoft.com/office/drawing/2014/main" id="{F5EC3A27-3F27-E6F9-AFA7-2D5FB113C7FD}"/>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1" name="Arc 130">
                          <a:extLst>
                            <a:ext uri="{FF2B5EF4-FFF2-40B4-BE49-F238E27FC236}">
                              <a16:creationId xmlns:a16="http://schemas.microsoft.com/office/drawing/2014/main" id="{47EB196E-E02C-2AE0-EF53-EC782C05460C}"/>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2" name="Arc 131">
                          <a:extLst>
                            <a:ext uri="{FF2B5EF4-FFF2-40B4-BE49-F238E27FC236}">
                              <a16:creationId xmlns:a16="http://schemas.microsoft.com/office/drawing/2014/main" id="{8F24D27B-4E59-8352-EA48-FC41F43D1B31}"/>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3" name="Arc 132">
                          <a:extLst>
                            <a:ext uri="{FF2B5EF4-FFF2-40B4-BE49-F238E27FC236}">
                              <a16:creationId xmlns:a16="http://schemas.microsoft.com/office/drawing/2014/main" id="{B88F5F24-60A9-560B-FA53-8458BB8909E5}"/>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4" name="Arc 133">
                          <a:extLst>
                            <a:ext uri="{FF2B5EF4-FFF2-40B4-BE49-F238E27FC236}">
                              <a16:creationId xmlns:a16="http://schemas.microsoft.com/office/drawing/2014/main" id="{CD8440EB-BBD3-7A00-D66F-0707F1050094}"/>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120" name="Straight Connector 119">
                      <a:extLst>
                        <a:ext uri="{FF2B5EF4-FFF2-40B4-BE49-F238E27FC236}">
                          <a16:creationId xmlns:a16="http://schemas.microsoft.com/office/drawing/2014/main" id="{66E3247F-5737-1B4A-7D12-24A10AC73C06}"/>
                        </a:ext>
                      </a:extLst>
                    </p:cNvPr>
                    <p:cNvCxnSpPr>
                      <a:stCxn id="122"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B1A726F2-9BAC-6EF7-550B-87913B17EFFD}"/>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14" name="Straight Connector 113">
                    <a:extLst>
                      <a:ext uri="{FF2B5EF4-FFF2-40B4-BE49-F238E27FC236}">
                        <a16:creationId xmlns:a16="http://schemas.microsoft.com/office/drawing/2014/main" id="{213F6401-CF24-FB89-B670-087B1E1F38A1}"/>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D6C5523-8600-404B-5BC0-EF1770461CDC}"/>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sp>
            <p:nvSpPr>
              <p:cNvPr id="79" name="Arc 229">
                <a:extLst>
                  <a:ext uri="{FF2B5EF4-FFF2-40B4-BE49-F238E27FC236}">
                    <a16:creationId xmlns:a16="http://schemas.microsoft.com/office/drawing/2014/main" id="{B4434BDA-FE5A-7B26-FD48-1F3BD03A414D}"/>
                  </a:ext>
                </a:extLst>
              </p:cNvPr>
              <p:cNvSpPr/>
              <p:nvPr/>
            </p:nvSpPr>
            <p:spPr>
              <a:xfrm>
                <a:off x="3404254" y="2012885"/>
                <a:ext cx="445597" cy="695255"/>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Lst>
                <a:ahLst/>
                <a:cxnLst>
                  <a:cxn ang="0">
                    <a:pos x="connsiteX0" y="connsiteY0"/>
                  </a:cxn>
                  <a:cxn ang="0">
                    <a:pos x="connsiteX1" y="connsiteY1"/>
                  </a:cxn>
                  <a:cxn ang="0">
                    <a:pos x="connsiteX2" y="connsiteY2"/>
                  </a:cxn>
                </a:cxnLst>
                <a:rect l="l" t="t" r="r" b="b"/>
                <a:pathLst>
                  <a:path w="445597" h="695255" stroke="0" extrusionOk="0">
                    <a:moveTo>
                      <a:pt x="74436" y="42862"/>
                    </a:moveTo>
                    <a:cubicBezTo>
                      <a:pt x="215359" y="60711"/>
                      <a:pt x="346289" y="135815"/>
                      <a:pt x="445597" y="242661"/>
                    </a:cubicBezTo>
                    <a:lnTo>
                      <a:pt x="0" y="695255"/>
                    </a:lnTo>
                    <a:lnTo>
                      <a:pt x="74436" y="42862"/>
                    </a:lnTo>
                    <a:close/>
                  </a:path>
                  <a:path w="445597" h="695255" fill="none">
                    <a:moveTo>
                      <a:pt x="38717" y="0"/>
                    </a:moveTo>
                    <a:cubicBezTo>
                      <a:pt x="96131" y="22651"/>
                      <a:pt x="153464" y="34654"/>
                      <a:pt x="210959" y="67954"/>
                    </a:cubicBezTo>
                    <a:cubicBezTo>
                      <a:pt x="268454" y="101254"/>
                      <a:pt x="326110" y="155850"/>
                      <a:pt x="383685" y="199798"/>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0" name="Arc 229">
                <a:extLst>
                  <a:ext uri="{FF2B5EF4-FFF2-40B4-BE49-F238E27FC236}">
                    <a16:creationId xmlns:a16="http://schemas.microsoft.com/office/drawing/2014/main" id="{BFE7498E-144D-BE23-9D3A-FD25DD2A1C10}"/>
                  </a:ext>
                </a:extLst>
              </p:cNvPr>
              <p:cNvSpPr/>
              <p:nvPr/>
            </p:nvSpPr>
            <p:spPr>
              <a:xfrm>
                <a:off x="3417574" y="2136762"/>
                <a:ext cx="445597" cy="707161"/>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31297 w 445597"/>
                  <a:gd name="connsiteY2" fmla="*/ 17836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00341 w 445597"/>
                  <a:gd name="connsiteY2" fmla="*/ 15455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283672 w 445597"/>
                  <a:gd name="connsiteY2" fmla="*/ 135504 h 695255"/>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83672 w 445597"/>
                  <a:gd name="connsiteY2" fmla="*/ 147410 h 707161"/>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74147 w 445597"/>
                  <a:gd name="connsiteY2" fmla="*/ 140266 h 707161"/>
                </a:gdLst>
                <a:ahLst/>
                <a:cxnLst>
                  <a:cxn ang="0">
                    <a:pos x="connsiteX0" y="connsiteY0"/>
                  </a:cxn>
                  <a:cxn ang="0">
                    <a:pos x="connsiteX1" y="connsiteY1"/>
                  </a:cxn>
                  <a:cxn ang="0">
                    <a:pos x="connsiteX2" y="connsiteY2"/>
                  </a:cxn>
                </a:cxnLst>
                <a:rect l="l" t="t" r="r" b="b"/>
                <a:pathLst>
                  <a:path w="445597" h="707161" stroke="0" extrusionOk="0">
                    <a:moveTo>
                      <a:pt x="74436" y="54768"/>
                    </a:moveTo>
                    <a:cubicBezTo>
                      <a:pt x="215359" y="72617"/>
                      <a:pt x="346289" y="147721"/>
                      <a:pt x="445597" y="254567"/>
                    </a:cubicBezTo>
                    <a:lnTo>
                      <a:pt x="0" y="707161"/>
                    </a:lnTo>
                    <a:lnTo>
                      <a:pt x="74436" y="54768"/>
                    </a:lnTo>
                    <a:close/>
                  </a:path>
                  <a:path w="445597" h="707161" fill="none">
                    <a:moveTo>
                      <a:pt x="33955" y="0"/>
                    </a:moveTo>
                    <a:cubicBezTo>
                      <a:pt x="91369" y="22651"/>
                      <a:pt x="148701" y="53703"/>
                      <a:pt x="206196" y="87003"/>
                    </a:cubicBezTo>
                    <a:cubicBezTo>
                      <a:pt x="263691" y="120303"/>
                      <a:pt x="216572" y="96318"/>
                      <a:pt x="274147" y="140266"/>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1" name="Arc 229">
                <a:extLst>
                  <a:ext uri="{FF2B5EF4-FFF2-40B4-BE49-F238E27FC236}">
                    <a16:creationId xmlns:a16="http://schemas.microsoft.com/office/drawing/2014/main" id="{6E209745-C4A6-BBBC-2EEB-82D778F74134}"/>
                  </a:ext>
                </a:extLst>
              </p:cNvPr>
              <p:cNvSpPr/>
              <p:nvPr/>
            </p:nvSpPr>
            <p:spPr>
              <a:xfrm rot="1579328">
                <a:off x="3519897" y="2386247"/>
                <a:ext cx="465863" cy="714530"/>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31297 w 445597"/>
                  <a:gd name="connsiteY2" fmla="*/ 17836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00341 w 445597"/>
                  <a:gd name="connsiteY2" fmla="*/ 15455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283672 w 445597"/>
                  <a:gd name="connsiteY2" fmla="*/ 135504 h 695255"/>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83672 w 445597"/>
                  <a:gd name="connsiteY2" fmla="*/ 147410 h 707161"/>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74147 w 445597"/>
                  <a:gd name="connsiteY2" fmla="*/ 140266 h 707161"/>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6462 w 465863"/>
                  <a:gd name="connsiteY1" fmla="*/ 87003 h 714530"/>
                  <a:gd name="connsiteX2" fmla="*/ 294413 w 465863"/>
                  <a:gd name="connsiteY2" fmla="*/ 140266 h 714530"/>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6462 w 465863"/>
                  <a:gd name="connsiteY1" fmla="*/ 87003 h 714530"/>
                  <a:gd name="connsiteX2" fmla="*/ 284820 w 465863"/>
                  <a:gd name="connsiteY2" fmla="*/ 142355 h 714530"/>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4328 w 465863"/>
                  <a:gd name="connsiteY1" fmla="*/ 88058 h 714530"/>
                  <a:gd name="connsiteX2" fmla="*/ 284820 w 465863"/>
                  <a:gd name="connsiteY2" fmla="*/ 142355 h 714530"/>
                </a:gdLst>
                <a:ahLst/>
                <a:cxnLst>
                  <a:cxn ang="0">
                    <a:pos x="connsiteX0" y="connsiteY0"/>
                  </a:cxn>
                  <a:cxn ang="0">
                    <a:pos x="connsiteX1" y="connsiteY1"/>
                  </a:cxn>
                  <a:cxn ang="0">
                    <a:pos x="connsiteX2" y="connsiteY2"/>
                  </a:cxn>
                </a:cxnLst>
                <a:rect l="l" t="t" r="r" b="b"/>
                <a:pathLst>
                  <a:path w="465863" h="714530" stroke="0" extrusionOk="0">
                    <a:moveTo>
                      <a:pt x="94702" y="54768"/>
                    </a:moveTo>
                    <a:cubicBezTo>
                      <a:pt x="235625" y="72617"/>
                      <a:pt x="366555" y="147721"/>
                      <a:pt x="465863" y="254567"/>
                    </a:cubicBezTo>
                    <a:lnTo>
                      <a:pt x="0" y="714530"/>
                    </a:lnTo>
                    <a:lnTo>
                      <a:pt x="94702" y="54768"/>
                    </a:lnTo>
                    <a:close/>
                  </a:path>
                  <a:path w="465863" h="714530" fill="none">
                    <a:moveTo>
                      <a:pt x="54221" y="0"/>
                    </a:moveTo>
                    <a:cubicBezTo>
                      <a:pt x="111635" y="22651"/>
                      <a:pt x="166833" y="54758"/>
                      <a:pt x="224328" y="88058"/>
                    </a:cubicBezTo>
                    <a:cubicBezTo>
                      <a:pt x="281823" y="121358"/>
                      <a:pt x="227245" y="98407"/>
                      <a:pt x="284820" y="142355"/>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2" name="Arc 229">
                <a:extLst>
                  <a:ext uri="{FF2B5EF4-FFF2-40B4-BE49-F238E27FC236}">
                    <a16:creationId xmlns:a16="http://schemas.microsoft.com/office/drawing/2014/main" id="{B03DC247-1BFD-1AB9-681E-2A2A7B3F9EA1}"/>
                  </a:ext>
                </a:extLst>
              </p:cNvPr>
              <p:cNvSpPr/>
              <p:nvPr/>
            </p:nvSpPr>
            <p:spPr>
              <a:xfrm rot="1802635">
                <a:off x="3580864" y="2301262"/>
                <a:ext cx="445597" cy="684825"/>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27663 h 680056"/>
                  <a:gd name="connsiteX1" fmla="*/ 445597 w 445597"/>
                  <a:gd name="connsiteY1" fmla="*/ 227462 h 680056"/>
                  <a:gd name="connsiteX2" fmla="*/ 0 w 445597"/>
                  <a:gd name="connsiteY2" fmla="*/ 680056 h 680056"/>
                  <a:gd name="connsiteX3" fmla="*/ 74436 w 445597"/>
                  <a:gd name="connsiteY3" fmla="*/ 27663 h 680056"/>
                  <a:gd name="connsiteX0" fmla="*/ 69514 w 445597"/>
                  <a:gd name="connsiteY0" fmla="*/ 0 h 680056"/>
                  <a:gd name="connsiteX1" fmla="*/ 210959 w 445597"/>
                  <a:gd name="connsiteY1" fmla="*/ 52755 h 680056"/>
                  <a:gd name="connsiteX2" fmla="*/ 383685 w 445597"/>
                  <a:gd name="connsiteY2" fmla="*/ 184599 h 680056"/>
                  <a:gd name="connsiteX0" fmla="*/ 74436 w 445597"/>
                  <a:gd name="connsiteY0" fmla="*/ 32432 h 684825"/>
                  <a:gd name="connsiteX1" fmla="*/ 445597 w 445597"/>
                  <a:gd name="connsiteY1" fmla="*/ 232231 h 684825"/>
                  <a:gd name="connsiteX2" fmla="*/ 0 w 445597"/>
                  <a:gd name="connsiteY2" fmla="*/ 684825 h 684825"/>
                  <a:gd name="connsiteX3" fmla="*/ 74436 w 445597"/>
                  <a:gd name="connsiteY3" fmla="*/ 32432 h 684825"/>
                  <a:gd name="connsiteX0" fmla="*/ 77759 w 445597"/>
                  <a:gd name="connsiteY0" fmla="*/ 0 h 684825"/>
                  <a:gd name="connsiteX1" fmla="*/ 210959 w 445597"/>
                  <a:gd name="connsiteY1" fmla="*/ 57524 h 684825"/>
                  <a:gd name="connsiteX2" fmla="*/ 383685 w 445597"/>
                  <a:gd name="connsiteY2" fmla="*/ 189368 h 684825"/>
                </a:gdLst>
                <a:ahLst/>
                <a:cxnLst>
                  <a:cxn ang="0">
                    <a:pos x="connsiteX0" y="connsiteY0"/>
                  </a:cxn>
                  <a:cxn ang="0">
                    <a:pos x="connsiteX1" y="connsiteY1"/>
                  </a:cxn>
                  <a:cxn ang="0">
                    <a:pos x="connsiteX2" y="connsiteY2"/>
                  </a:cxn>
                </a:cxnLst>
                <a:rect l="l" t="t" r="r" b="b"/>
                <a:pathLst>
                  <a:path w="445597" h="684825" stroke="0" extrusionOk="0">
                    <a:moveTo>
                      <a:pt x="74436" y="32432"/>
                    </a:moveTo>
                    <a:cubicBezTo>
                      <a:pt x="215359" y="50281"/>
                      <a:pt x="346289" y="125385"/>
                      <a:pt x="445597" y="232231"/>
                    </a:cubicBezTo>
                    <a:lnTo>
                      <a:pt x="0" y="684825"/>
                    </a:lnTo>
                    <a:lnTo>
                      <a:pt x="74436" y="32432"/>
                    </a:lnTo>
                    <a:close/>
                  </a:path>
                  <a:path w="445597" h="684825" fill="none">
                    <a:moveTo>
                      <a:pt x="77759" y="0"/>
                    </a:moveTo>
                    <a:cubicBezTo>
                      <a:pt x="135173" y="22651"/>
                      <a:pt x="153464" y="24224"/>
                      <a:pt x="210959" y="57524"/>
                    </a:cubicBezTo>
                    <a:cubicBezTo>
                      <a:pt x="268454" y="90824"/>
                      <a:pt x="326110" y="145420"/>
                      <a:pt x="383685" y="189368"/>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cxnSp>
            <p:nvCxnSpPr>
              <p:cNvPr id="83" name="Straight Arrow Connector 82">
                <a:extLst>
                  <a:ext uri="{FF2B5EF4-FFF2-40B4-BE49-F238E27FC236}">
                    <a16:creationId xmlns:a16="http://schemas.microsoft.com/office/drawing/2014/main" id="{51A6B52D-D157-E503-A41D-445CE8FD6F6B}"/>
                  </a:ext>
                </a:extLst>
              </p:cNvPr>
              <p:cNvCxnSpPr/>
              <p:nvPr/>
            </p:nvCxnSpPr>
            <p:spPr>
              <a:xfrm flipH="1">
                <a:off x="3787821" y="2033646"/>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84" name="Oval 83">
                <a:extLst>
                  <a:ext uri="{FF2B5EF4-FFF2-40B4-BE49-F238E27FC236}">
                    <a16:creationId xmlns:a16="http://schemas.microsoft.com/office/drawing/2014/main" id="{1775E718-991C-3B07-C7FF-2BA5B94A5A8A}"/>
                  </a:ext>
                </a:extLst>
              </p:cNvPr>
              <p:cNvSpPr/>
              <p:nvPr/>
            </p:nvSpPr>
            <p:spPr>
              <a:xfrm>
                <a:off x="3731026" y="2150018"/>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85" name="Straight Arrow Connector 84">
                <a:extLst>
                  <a:ext uri="{FF2B5EF4-FFF2-40B4-BE49-F238E27FC236}">
                    <a16:creationId xmlns:a16="http://schemas.microsoft.com/office/drawing/2014/main" id="{B394479A-DE61-4CC3-0D0B-D56874E2868A}"/>
                  </a:ext>
                </a:extLst>
              </p:cNvPr>
              <p:cNvCxnSpPr/>
              <p:nvPr/>
            </p:nvCxnSpPr>
            <p:spPr>
              <a:xfrm flipH="1">
                <a:off x="3783216" y="2207986"/>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86" name="Oval 85">
                <a:extLst>
                  <a:ext uri="{FF2B5EF4-FFF2-40B4-BE49-F238E27FC236}">
                    <a16:creationId xmlns:a16="http://schemas.microsoft.com/office/drawing/2014/main" id="{AEBE58C2-63C0-7D85-8533-4A7D128871A1}"/>
                  </a:ext>
                </a:extLst>
              </p:cNvPr>
              <p:cNvSpPr/>
              <p:nvPr/>
            </p:nvSpPr>
            <p:spPr>
              <a:xfrm>
                <a:off x="3726421" y="2324358"/>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87" name="Group 86">
                <a:extLst>
                  <a:ext uri="{FF2B5EF4-FFF2-40B4-BE49-F238E27FC236}">
                    <a16:creationId xmlns:a16="http://schemas.microsoft.com/office/drawing/2014/main" id="{85F0D06A-6988-A273-795C-65CF776697F9}"/>
                  </a:ext>
                </a:extLst>
              </p:cNvPr>
              <p:cNvGrpSpPr/>
              <p:nvPr/>
            </p:nvGrpSpPr>
            <p:grpSpPr>
              <a:xfrm rot="5249163">
                <a:off x="3799086" y="3146165"/>
                <a:ext cx="243197" cy="363930"/>
                <a:chOff x="5602759" y="4130641"/>
                <a:chExt cx="243197" cy="363930"/>
              </a:xfrm>
            </p:grpSpPr>
            <p:cxnSp>
              <p:nvCxnSpPr>
                <p:cNvPr id="100" name="Straight Arrow Connector 99">
                  <a:extLst>
                    <a:ext uri="{FF2B5EF4-FFF2-40B4-BE49-F238E27FC236}">
                      <a16:creationId xmlns:a16="http://schemas.microsoft.com/office/drawing/2014/main" id="{70EA1D70-F7DE-3522-4FC0-23AE1291400D}"/>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1" name="Oval 100">
                  <a:extLst>
                    <a:ext uri="{FF2B5EF4-FFF2-40B4-BE49-F238E27FC236}">
                      <a16:creationId xmlns:a16="http://schemas.microsoft.com/office/drawing/2014/main" id="{671037D0-6D0F-C459-7CA1-EC1FDC970266}"/>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102" name="Straight Arrow Connector 101">
                  <a:extLst>
                    <a:ext uri="{FF2B5EF4-FFF2-40B4-BE49-F238E27FC236}">
                      <a16:creationId xmlns:a16="http://schemas.microsoft.com/office/drawing/2014/main" id="{B041C2FE-5B4C-3A82-F6FA-92E200C8DA43}"/>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3" name="Oval 102">
                  <a:extLst>
                    <a:ext uri="{FF2B5EF4-FFF2-40B4-BE49-F238E27FC236}">
                      <a16:creationId xmlns:a16="http://schemas.microsoft.com/office/drawing/2014/main" id="{4B77755F-010D-B497-65A1-FB40A97292D9}"/>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grpSp>
            <p:nvGrpSpPr>
              <p:cNvPr id="88" name="Group 87">
                <a:extLst>
                  <a:ext uri="{FF2B5EF4-FFF2-40B4-BE49-F238E27FC236}">
                    <a16:creationId xmlns:a16="http://schemas.microsoft.com/office/drawing/2014/main" id="{F6C0E69F-2AB9-7C13-CF19-5979682B5771}"/>
                  </a:ext>
                </a:extLst>
              </p:cNvPr>
              <p:cNvGrpSpPr/>
              <p:nvPr/>
            </p:nvGrpSpPr>
            <p:grpSpPr>
              <a:xfrm rot="9806704">
                <a:off x="2520333" y="3213078"/>
                <a:ext cx="243197" cy="363930"/>
                <a:chOff x="5602759" y="4130641"/>
                <a:chExt cx="243197" cy="363930"/>
              </a:xfrm>
            </p:grpSpPr>
            <p:cxnSp>
              <p:nvCxnSpPr>
                <p:cNvPr id="96" name="Straight Arrow Connector 95">
                  <a:extLst>
                    <a:ext uri="{FF2B5EF4-FFF2-40B4-BE49-F238E27FC236}">
                      <a16:creationId xmlns:a16="http://schemas.microsoft.com/office/drawing/2014/main" id="{6DDB6223-4029-768D-75AF-2BD3924A7363}"/>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7" name="Oval 96">
                  <a:extLst>
                    <a:ext uri="{FF2B5EF4-FFF2-40B4-BE49-F238E27FC236}">
                      <a16:creationId xmlns:a16="http://schemas.microsoft.com/office/drawing/2014/main" id="{F3443673-FB8C-9FC2-E002-ADB259B03994}"/>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98" name="Straight Arrow Connector 97">
                  <a:extLst>
                    <a:ext uri="{FF2B5EF4-FFF2-40B4-BE49-F238E27FC236}">
                      <a16:creationId xmlns:a16="http://schemas.microsoft.com/office/drawing/2014/main" id="{9FD66221-1EDC-7202-8B78-7EDDEA743ED5}"/>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9" name="Oval 98">
                  <a:extLst>
                    <a:ext uri="{FF2B5EF4-FFF2-40B4-BE49-F238E27FC236}">
                      <a16:creationId xmlns:a16="http://schemas.microsoft.com/office/drawing/2014/main" id="{D4824CF1-4234-4453-8068-34997F2A44D3}"/>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grpSp>
            <p:nvGrpSpPr>
              <p:cNvPr id="89" name="Group 88">
                <a:extLst>
                  <a:ext uri="{FF2B5EF4-FFF2-40B4-BE49-F238E27FC236}">
                    <a16:creationId xmlns:a16="http://schemas.microsoft.com/office/drawing/2014/main" id="{C9C90758-7064-4F56-2608-F3C0BFC36119}"/>
                  </a:ext>
                </a:extLst>
              </p:cNvPr>
              <p:cNvGrpSpPr/>
              <p:nvPr/>
            </p:nvGrpSpPr>
            <p:grpSpPr>
              <a:xfrm rot="16624087">
                <a:off x="2501532" y="2050529"/>
                <a:ext cx="243197" cy="363930"/>
                <a:chOff x="5602759" y="4130641"/>
                <a:chExt cx="243197" cy="363930"/>
              </a:xfrm>
            </p:grpSpPr>
            <p:cxnSp>
              <p:nvCxnSpPr>
                <p:cNvPr id="92" name="Straight Arrow Connector 91">
                  <a:extLst>
                    <a:ext uri="{FF2B5EF4-FFF2-40B4-BE49-F238E27FC236}">
                      <a16:creationId xmlns:a16="http://schemas.microsoft.com/office/drawing/2014/main" id="{26CD3F43-432F-4284-592F-06E3828C75E3}"/>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3" name="Oval 92">
                  <a:extLst>
                    <a:ext uri="{FF2B5EF4-FFF2-40B4-BE49-F238E27FC236}">
                      <a16:creationId xmlns:a16="http://schemas.microsoft.com/office/drawing/2014/main" id="{6A69B94C-F2D4-8183-E6E1-33B54EF04E07}"/>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94" name="Straight Arrow Connector 93">
                  <a:extLst>
                    <a:ext uri="{FF2B5EF4-FFF2-40B4-BE49-F238E27FC236}">
                      <a16:creationId xmlns:a16="http://schemas.microsoft.com/office/drawing/2014/main" id="{2960B250-1DE2-40F2-7C66-6AD544601F8B}"/>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5" name="Oval 94">
                  <a:extLst>
                    <a:ext uri="{FF2B5EF4-FFF2-40B4-BE49-F238E27FC236}">
                      <a16:creationId xmlns:a16="http://schemas.microsoft.com/office/drawing/2014/main" id="{C06E7558-330C-6F24-803C-D1261556689A}"/>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90" name="Straight Arrow Connector 89">
                <a:extLst>
                  <a:ext uri="{FF2B5EF4-FFF2-40B4-BE49-F238E27FC236}">
                    <a16:creationId xmlns:a16="http://schemas.microsoft.com/office/drawing/2014/main" id="{64C2B8B2-F69F-FAE6-0740-B7747E72A325}"/>
                  </a:ext>
                </a:extLst>
              </p:cNvPr>
              <p:cNvCxnSpPr/>
              <p:nvPr/>
            </p:nvCxnSpPr>
            <p:spPr>
              <a:xfrm flipH="1">
                <a:off x="1969560" y="2603583"/>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91" name="Straight Arrow Connector 90">
                <a:extLst>
                  <a:ext uri="{FF2B5EF4-FFF2-40B4-BE49-F238E27FC236}">
                    <a16:creationId xmlns:a16="http://schemas.microsoft.com/office/drawing/2014/main" id="{944B529B-E769-35F3-6511-69CD3C593B65}"/>
                  </a:ext>
                </a:extLst>
              </p:cNvPr>
              <p:cNvCxnSpPr/>
              <p:nvPr/>
            </p:nvCxnSpPr>
            <p:spPr>
              <a:xfrm flipV="1">
                <a:off x="1961702" y="2843923"/>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grpSp>
          <p:nvGrpSpPr>
            <p:cNvPr id="57" name="Group 56">
              <a:extLst>
                <a:ext uri="{FF2B5EF4-FFF2-40B4-BE49-F238E27FC236}">
                  <a16:creationId xmlns:a16="http://schemas.microsoft.com/office/drawing/2014/main" id="{173B8539-914D-AF81-CD28-C4FA7D825B72}"/>
                </a:ext>
              </a:extLst>
            </p:cNvPr>
            <p:cNvGrpSpPr/>
            <p:nvPr/>
          </p:nvGrpSpPr>
          <p:grpSpPr>
            <a:xfrm>
              <a:off x="4416682" y="2107059"/>
              <a:ext cx="768259" cy="1370350"/>
              <a:chOff x="7937102" y="4924808"/>
              <a:chExt cx="768259" cy="1370350"/>
            </a:xfrm>
          </p:grpSpPr>
          <p:cxnSp>
            <p:nvCxnSpPr>
              <p:cNvPr id="64" name="Straight Arrow Connector 63">
                <a:extLst>
                  <a:ext uri="{FF2B5EF4-FFF2-40B4-BE49-F238E27FC236}">
                    <a16:creationId xmlns:a16="http://schemas.microsoft.com/office/drawing/2014/main" id="{69D009D1-CA13-ECC4-BC56-9D08FB2A1B86}"/>
                  </a:ext>
                </a:extLst>
              </p:cNvPr>
              <p:cNvCxnSpPr/>
              <p:nvPr/>
            </p:nvCxnSpPr>
            <p:spPr>
              <a:xfrm flipH="1">
                <a:off x="7940155" y="5090734"/>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5" name="Straight Arrow Connector 64">
                <a:extLst>
                  <a:ext uri="{FF2B5EF4-FFF2-40B4-BE49-F238E27FC236}">
                    <a16:creationId xmlns:a16="http://schemas.microsoft.com/office/drawing/2014/main" id="{444C17AE-3D49-3F54-55B7-B8022763696B}"/>
                  </a:ext>
                </a:extLst>
              </p:cNvPr>
              <p:cNvCxnSpPr/>
              <p:nvPr/>
            </p:nvCxnSpPr>
            <p:spPr>
              <a:xfrm flipH="1">
                <a:off x="7940155" y="5352127"/>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13663F5A-F102-6F13-A5FA-DFF3246C46E4}"/>
                  </a:ext>
                </a:extLst>
              </p:cNvPr>
              <p:cNvCxnSpPr/>
              <p:nvPr/>
            </p:nvCxnSpPr>
            <p:spPr>
              <a:xfrm flipH="1">
                <a:off x="7937102" y="5579718"/>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7" name="Straight Arrow Connector 66">
                <a:extLst>
                  <a:ext uri="{FF2B5EF4-FFF2-40B4-BE49-F238E27FC236}">
                    <a16:creationId xmlns:a16="http://schemas.microsoft.com/office/drawing/2014/main" id="{DC6980CE-2DEA-95DF-3CCE-86D293B243C2}"/>
                  </a:ext>
                </a:extLst>
              </p:cNvPr>
              <p:cNvCxnSpPr/>
              <p:nvPr/>
            </p:nvCxnSpPr>
            <p:spPr>
              <a:xfrm flipH="1">
                <a:off x="7937102" y="6135991"/>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8" name="Straight Arrow Connector 67">
                <a:extLst>
                  <a:ext uri="{FF2B5EF4-FFF2-40B4-BE49-F238E27FC236}">
                    <a16:creationId xmlns:a16="http://schemas.microsoft.com/office/drawing/2014/main" id="{B879583D-AFD5-64A0-C4FB-63BF89D399AA}"/>
                  </a:ext>
                </a:extLst>
              </p:cNvPr>
              <p:cNvCxnSpPr/>
              <p:nvPr/>
            </p:nvCxnSpPr>
            <p:spPr>
              <a:xfrm>
                <a:off x="8095507" y="5639387"/>
                <a:ext cx="0" cy="448172"/>
              </a:xfrm>
              <a:prstGeom prst="straightConnector1">
                <a:avLst/>
              </a:prstGeom>
              <a:ln w="2540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F27C9DC2-53DE-1076-0AAF-CCA9E9A44D8B}"/>
                      </a:ext>
                    </a:extLst>
                  </p:cNvPr>
                  <p:cNvSpPr/>
                  <p:nvPr/>
                </p:nvSpPr>
                <p:spPr>
                  <a:xfrm>
                    <a:off x="8241970" y="4924808"/>
                    <a:ext cx="447130"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445" name="Rectangle 444">
                    <a:extLst>
                      <a:ext uri="{FF2B5EF4-FFF2-40B4-BE49-F238E27FC236}">
                        <a16:creationId xmlns:a16="http://schemas.microsoft.com/office/drawing/2014/main" id="{F27C9DC2-53DE-1076-0AAF-CCA9E9A44D8B}"/>
                      </a:ext>
                    </a:extLst>
                  </p:cNvPr>
                  <p:cNvSpPr>
                    <a:spLocks noRot="1" noChangeAspect="1" noMove="1" noResize="1" noEditPoints="1" noAdjustHandles="1" noChangeArrowheads="1" noChangeShapeType="1" noTextEdit="1"/>
                  </p:cNvSpPr>
                  <p:nvPr/>
                </p:nvSpPr>
                <p:spPr>
                  <a:xfrm>
                    <a:off x="8241970" y="4924808"/>
                    <a:ext cx="447130" cy="32313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DA6AE690-A67E-33C2-708B-1F0E2A074246}"/>
                      </a:ext>
                    </a:extLst>
                  </p:cNvPr>
                  <p:cNvSpPr/>
                  <p:nvPr/>
                </p:nvSpPr>
                <p:spPr>
                  <a:xfrm>
                    <a:off x="8258231" y="5198975"/>
                    <a:ext cx="447130"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446" name="Rectangle 445">
                    <a:extLst>
                      <a:ext uri="{FF2B5EF4-FFF2-40B4-BE49-F238E27FC236}">
                        <a16:creationId xmlns:a16="http://schemas.microsoft.com/office/drawing/2014/main" id="{DA6AE690-A67E-33C2-708B-1F0E2A074246}"/>
                      </a:ext>
                    </a:extLst>
                  </p:cNvPr>
                  <p:cNvSpPr>
                    <a:spLocks noRot="1" noChangeAspect="1" noMove="1" noResize="1" noEditPoints="1" noAdjustHandles="1" noChangeArrowheads="1" noChangeShapeType="1" noTextEdit="1"/>
                  </p:cNvSpPr>
                  <p:nvPr/>
                </p:nvSpPr>
                <p:spPr>
                  <a:xfrm>
                    <a:off x="8258231" y="5198975"/>
                    <a:ext cx="447130" cy="32313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0934DE4C-6786-0CF1-804F-5263D3E45F40}"/>
                      </a:ext>
                    </a:extLst>
                  </p:cNvPr>
                  <p:cNvSpPr/>
                  <p:nvPr/>
                </p:nvSpPr>
                <p:spPr>
                  <a:xfrm>
                    <a:off x="8252593" y="5449344"/>
                    <a:ext cx="447131"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447" name="Rectangle 446">
                    <a:extLst>
                      <a:ext uri="{FF2B5EF4-FFF2-40B4-BE49-F238E27FC236}">
                        <a16:creationId xmlns:a16="http://schemas.microsoft.com/office/drawing/2014/main" id="{0934DE4C-6786-0CF1-804F-5263D3E45F40}"/>
                      </a:ext>
                    </a:extLst>
                  </p:cNvPr>
                  <p:cNvSpPr>
                    <a:spLocks noRot="1" noChangeAspect="1" noMove="1" noResize="1" noEditPoints="1" noAdjustHandles="1" noChangeArrowheads="1" noChangeShapeType="1" noTextEdit="1"/>
                  </p:cNvSpPr>
                  <p:nvPr/>
                </p:nvSpPr>
                <p:spPr>
                  <a:xfrm>
                    <a:off x="8252593" y="5449344"/>
                    <a:ext cx="447131" cy="32313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B3D1D274-CF6F-3DD0-274A-8B003133BB6D}"/>
                      </a:ext>
                    </a:extLst>
                  </p:cNvPr>
                  <p:cNvSpPr/>
                  <p:nvPr/>
                </p:nvSpPr>
                <p:spPr>
                  <a:xfrm>
                    <a:off x="8203059" y="5972019"/>
                    <a:ext cx="462094"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448" name="Rectangle 447">
                    <a:extLst>
                      <a:ext uri="{FF2B5EF4-FFF2-40B4-BE49-F238E27FC236}">
                        <a16:creationId xmlns:a16="http://schemas.microsoft.com/office/drawing/2014/main" id="{B3D1D274-CF6F-3DD0-274A-8B003133BB6D}"/>
                      </a:ext>
                    </a:extLst>
                  </p:cNvPr>
                  <p:cNvSpPr>
                    <a:spLocks noRot="1" noChangeAspect="1" noMove="1" noResize="1" noEditPoints="1" noAdjustHandles="1" noChangeArrowheads="1" noChangeShapeType="1" noTextEdit="1"/>
                  </p:cNvSpPr>
                  <p:nvPr/>
                </p:nvSpPr>
                <p:spPr>
                  <a:xfrm>
                    <a:off x="8203059" y="5972019"/>
                    <a:ext cx="462094" cy="323139"/>
                  </a:xfrm>
                  <a:prstGeom prst="rect">
                    <a:avLst/>
                  </a:prstGeom>
                  <a:blipFill>
                    <a:blip r:embed="rId6"/>
                    <a:stretch>
                      <a:fillRect/>
                    </a:stretch>
                  </a:blipFill>
                </p:spPr>
                <p:txBody>
                  <a:bodyPr/>
                  <a:lstStyle/>
                  <a:p>
                    <a:r>
                      <a:rPr lang="en-US">
                        <a:noFill/>
                      </a:rPr>
                      <a:t> </a:t>
                    </a:r>
                  </a:p>
                </p:txBody>
              </p:sp>
            </mc:Fallback>
          </mc:AlternateContent>
        </p:grpSp>
        <p:sp>
          <p:nvSpPr>
            <p:cNvPr id="58" name="Rectangle 57">
              <a:extLst>
                <a:ext uri="{FF2B5EF4-FFF2-40B4-BE49-F238E27FC236}">
                  <a16:creationId xmlns:a16="http://schemas.microsoft.com/office/drawing/2014/main" id="{F985062D-2C10-9C25-47E6-4F4ECEE4D10C}"/>
                </a:ext>
              </a:extLst>
            </p:cNvPr>
            <p:cNvSpPr/>
            <p:nvPr/>
          </p:nvSpPr>
          <p:spPr>
            <a:xfrm>
              <a:off x="2825770" y="2120527"/>
              <a:ext cx="876736" cy="323139"/>
            </a:xfrm>
            <a:prstGeom prst="rect">
              <a:avLst/>
            </a:prstGeom>
          </p:spPr>
          <p:txBody>
            <a:bodyPr wrap="none">
              <a:spAutoFit/>
            </a:bodyPr>
            <a:lstStyle/>
            <a:p>
              <a:r>
                <a:rPr lang="en-US" sz="900" b="1"/>
                <a:t>LC-VCO</a:t>
              </a:r>
            </a:p>
          </p:txBody>
        </p:sp>
        <p:sp>
          <p:nvSpPr>
            <p:cNvPr id="59" name="Rectangle 58">
              <a:extLst>
                <a:ext uri="{FF2B5EF4-FFF2-40B4-BE49-F238E27FC236}">
                  <a16:creationId xmlns:a16="http://schemas.microsoft.com/office/drawing/2014/main" id="{6EFBD9D1-8CD2-CFBE-8FD6-9244DC01F25D}"/>
                </a:ext>
              </a:extLst>
            </p:cNvPr>
            <p:cNvSpPr/>
            <p:nvPr/>
          </p:nvSpPr>
          <p:spPr>
            <a:xfrm>
              <a:off x="2507685" y="2632332"/>
              <a:ext cx="876736" cy="323139"/>
            </a:xfrm>
            <a:prstGeom prst="rect">
              <a:avLst/>
            </a:prstGeom>
          </p:spPr>
          <p:txBody>
            <a:bodyPr wrap="none">
              <a:spAutoFit/>
            </a:bodyPr>
            <a:lstStyle/>
            <a:p>
              <a:r>
                <a:rPr lang="en-US" sz="900" b="1" dirty="0"/>
                <a:t>LC-VCO</a:t>
              </a:r>
            </a:p>
          </p:txBody>
        </p:sp>
        <p:sp>
          <p:nvSpPr>
            <p:cNvPr id="60" name="Rectangle 59">
              <a:extLst>
                <a:ext uri="{FF2B5EF4-FFF2-40B4-BE49-F238E27FC236}">
                  <a16:creationId xmlns:a16="http://schemas.microsoft.com/office/drawing/2014/main" id="{580A9E6B-D59A-9A5E-B6B2-7B50F3F0A606}"/>
                </a:ext>
              </a:extLst>
            </p:cNvPr>
            <p:cNvSpPr/>
            <p:nvPr/>
          </p:nvSpPr>
          <p:spPr>
            <a:xfrm>
              <a:off x="2845249" y="3108853"/>
              <a:ext cx="876736" cy="323139"/>
            </a:xfrm>
            <a:prstGeom prst="rect">
              <a:avLst/>
            </a:prstGeom>
          </p:spPr>
          <p:txBody>
            <a:bodyPr wrap="none">
              <a:spAutoFit/>
            </a:bodyPr>
            <a:lstStyle/>
            <a:p>
              <a:r>
                <a:rPr lang="en-US" sz="900" b="1"/>
                <a:t>LC-VCO</a:t>
              </a:r>
            </a:p>
          </p:txBody>
        </p:sp>
        <p:sp>
          <p:nvSpPr>
            <p:cNvPr id="61" name="Rectangle 60">
              <a:extLst>
                <a:ext uri="{FF2B5EF4-FFF2-40B4-BE49-F238E27FC236}">
                  <a16:creationId xmlns:a16="http://schemas.microsoft.com/office/drawing/2014/main" id="{B72D0ED5-BAEB-1B13-BFCE-D18F8BEAE6F2}"/>
                </a:ext>
              </a:extLst>
            </p:cNvPr>
            <p:cNvSpPr/>
            <p:nvPr/>
          </p:nvSpPr>
          <p:spPr>
            <a:xfrm>
              <a:off x="3137086" y="2602855"/>
              <a:ext cx="876736" cy="323139"/>
            </a:xfrm>
            <a:prstGeom prst="rect">
              <a:avLst/>
            </a:prstGeom>
          </p:spPr>
          <p:txBody>
            <a:bodyPr wrap="none">
              <a:spAutoFit/>
            </a:bodyPr>
            <a:lstStyle/>
            <a:p>
              <a:r>
                <a:rPr lang="en-US" sz="900" b="1" dirty="0"/>
                <a:t>LC-VCO</a:t>
              </a:r>
            </a:p>
          </p:txBody>
        </p:sp>
        <p:sp>
          <p:nvSpPr>
            <p:cNvPr id="62" name="Right Brace 278">
              <a:extLst>
                <a:ext uri="{FF2B5EF4-FFF2-40B4-BE49-F238E27FC236}">
                  <a16:creationId xmlns:a16="http://schemas.microsoft.com/office/drawing/2014/main" id="{4ECD4579-F69B-20FC-8E2C-0DF92FAF4FF1}"/>
                </a:ext>
              </a:extLst>
            </p:cNvPr>
            <p:cNvSpPr/>
            <p:nvPr/>
          </p:nvSpPr>
          <p:spPr>
            <a:xfrm>
              <a:off x="4999983" y="2286091"/>
              <a:ext cx="353468" cy="1062652"/>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3" name="Rectangle 62">
              <a:extLst>
                <a:ext uri="{FF2B5EF4-FFF2-40B4-BE49-F238E27FC236}">
                  <a16:creationId xmlns:a16="http://schemas.microsoft.com/office/drawing/2014/main" id="{47D9FE0E-3BC4-F929-CFFB-9B71119AC350}"/>
                </a:ext>
              </a:extLst>
            </p:cNvPr>
            <p:cNvSpPr/>
            <p:nvPr/>
          </p:nvSpPr>
          <p:spPr>
            <a:xfrm>
              <a:off x="5203572" y="2456740"/>
              <a:ext cx="934445" cy="710907"/>
            </a:xfrm>
            <a:prstGeom prst="rect">
              <a:avLst/>
            </a:prstGeom>
          </p:spPr>
          <p:txBody>
            <a:bodyPr wrap="none">
              <a:spAutoFit/>
            </a:bodyPr>
            <a:lstStyle/>
            <a:p>
              <a:pPr algn="ctr"/>
              <a:r>
                <a:rPr lang="en-US" sz="900" b="1" dirty="0">
                  <a:solidFill>
                    <a:srgbClr val="000099"/>
                  </a:solidFill>
                </a:rPr>
                <a:t>Multi </a:t>
              </a:r>
            </a:p>
            <a:p>
              <a:pPr algn="ctr"/>
              <a:r>
                <a:rPr lang="en-US" sz="900" b="1" dirty="0">
                  <a:solidFill>
                    <a:srgbClr val="000099"/>
                  </a:solidFill>
                </a:rPr>
                <a:t>Phase </a:t>
              </a:r>
            </a:p>
            <a:p>
              <a:pPr algn="ctr"/>
              <a:r>
                <a:rPr lang="en-US" sz="900" b="1" dirty="0">
                  <a:solidFill>
                    <a:srgbClr val="000099"/>
                  </a:solidFill>
                </a:rPr>
                <a:t>LO/Clock</a:t>
              </a:r>
            </a:p>
          </p:txBody>
        </p:sp>
      </p:grpSp>
      <p:sp>
        <p:nvSpPr>
          <p:cNvPr id="324" name="Rectangle 323">
            <a:extLst>
              <a:ext uri="{FF2B5EF4-FFF2-40B4-BE49-F238E27FC236}">
                <a16:creationId xmlns:a16="http://schemas.microsoft.com/office/drawing/2014/main" id="{26E13DCB-DDAD-00BD-668C-30CE0425123D}"/>
              </a:ext>
            </a:extLst>
          </p:cNvPr>
          <p:cNvSpPr/>
          <p:nvPr/>
        </p:nvSpPr>
        <p:spPr>
          <a:xfrm>
            <a:off x="7470983" y="3271951"/>
            <a:ext cx="3933227" cy="279307"/>
          </a:xfrm>
          <a:prstGeom prst="rect">
            <a:avLst/>
          </a:prstGeom>
        </p:spPr>
        <p:txBody>
          <a:bodyPr wrap="square">
            <a:spAutoFit/>
          </a:bodyPr>
          <a:lstStyle/>
          <a:p>
            <a:pPr algn="ctr"/>
            <a:r>
              <a:rPr lang="en-US" sz="1215" b="1" dirty="0">
                <a:solidFill>
                  <a:srgbClr val="002060"/>
                </a:solidFill>
              </a:rPr>
              <a:t>(b) </a:t>
            </a:r>
            <a:r>
              <a:rPr lang="en-US" sz="1215" u="sng" dirty="0">
                <a:solidFill>
                  <a:srgbClr val="002060"/>
                </a:solidFill>
              </a:rPr>
              <a:t>Multiphase LO/clock generation using </a:t>
            </a:r>
            <a:r>
              <a:rPr lang="en-IN" sz="1215" u="sng" dirty="0">
                <a:solidFill>
                  <a:srgbClr val="002060"/>
                </a:solidFill>
              </a:rPr>
              <a:t>LC VCOs</a:t>
            </a:r>
          </a:p>
        </p:txBody>
      </p:sp>
      <p:sp>
        <p:nvSpPr>
          <p:cNvPr id="406" name="Text Placeholder 2"/>
          <p:cNvSpPr txBox="1">
            <a:spLocks/>
          </p:cNvSpPr>
          <p:nvPr/>
        </p:nvSpPr>
        <p:spPr>
          <a:xfrm>
            <a:off x="6684908" y="3772486"/>
            <a:ext cx="5185880" cy="2316135"/>
          </a:xfrm>
          <a:prstGeom prst="rect">
            <a:avLst/>
          </a:prstGeom>
        </p:spPr>
        <p:txBody>
          <a:bodyPr vert="horz" lIns="0" tIns="0" rIns="0" bIns="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BFBFBF"/>
                </a:solidFill>
                <a:latin typeface="Verdana"/>
                <a:ea typeface="+mn-ea"/>
                <a:cs typeface="Verdan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q"/>
            </a:pPr>
            <a:r>
              <a:rPr lang="en-US" sz="1600" b="1" dirty="0">
                <a:solidFill>
                  <a:srgbClr val="00B050"/>
                </a:solidFill>
                <a:latin typeface="fkGroteskNeue"/>
              </a:rPr>
              <a:t>Multiple cross-coupled LC-VCOs</a:t>
            </a:r>
            <a:r>
              <a:rPr lang="en-US" sz="1600" dirty="0">
                <a:solidFill>
                  <a:schemeClr val="tx1"/>
                </a:solidFill>
                <a:latin typeface="fkGroteskNeue"/>
              </a:rPr>
              <a:t> form a closed ring topology, with a PLL governing the center frequency.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Mutual </a:t>
            </a:r>
            <a:r>
              <a:rPr lang="en-US" sz="1600" dirty="0">
                <a:solidFill>
                  <a:schemeClr val="tx1"/>
                </a:solidFill>
                <a:latin typeface="fkGroteskNeue"/>
              </a:rPr>
              <a:t>coupling of high-Q resonant </a:t>
            </a:r>
            <a:r>
              <a:rPr lang="en-US" sz="1600" b="1" dirty="0">
                <a:solidFill>
                  <a:srgbClr val="00B050"/>
                </a:solidFill>
                <a:latin typeface="fkGroteskNeue"/>
              </a:rPr>
              <a:t>tanks generates low-jitter, spectrally pure</a:t>
            </a:r>
            <a:r>
              <a:rPr lang="en-US" sz="1600" dirty="0">
                <a:solidFill>
                  <a:schemeClr val="tx1"/>
                </a:solidFill>
                <a:latin typeface="fkGroteskNeue"/>
              </a:rPr>
              <a:t>, and equally spaced multi-phase outputs.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This </a:t>
            </a:r>
            <a:r>
              <a:rPr lang="en-US" sz="1600" dirty="0">
                <a:solidFill>
                  <a:schemeClr val="tx1"/>
                </a:solidFill>
                <a:latin typeface="fkGroteskNeue"/>
              </a:rPr>
              <a:t>topology is a mainstay in </a:t>
            </a:r>
            <a:r>
              <a:rPr lang="en-US" sz="1600" b="1" dirty="0">
                <a:solidFill>
                  <a:srgbClr val="00B050"/>
                </a:solidFill>
                <a:latin typeface="fkGroteskNeue"/>
              </a:rPr>
              <a:t>multi-gigabit serial links and </a:t>
            </a:r>
            <a:r>
              <a:rPr lang="en-US" sz="1600" b="1" dirty="0" err="1">
                <a:solidFill>
                  <a:srgbClr val="00B050"/>
                </a:solidFill>
                <a:latin typeface="fkGroteskNeue"/>
              </a:rPr>
              <a:t>mmWave</a:t>
            </a:r>
            <a:r>
              <a:rPr lang="en-US" sz="1600" b="1" dirty="0">
                <a:solidFill>
                  <a:srgbClr val="00B050"/>
                </a:solidFill>
                <a:latin typeface="fkGroteskNeue"/>
              </a:rPr>
              <a:t> radios</a:t>
            </a:r>
            <a:r>
              <a:rPr lang="en-US" sz="1600" dirty="0">
                <a:solidFill>
                  <a:schemeClr val="tx1"/>
                </a:solidFill>
                <a:latin typeface="fkGroteskNeue"/>
              </a:rPr>
              <a:t> where phase fidelity and low RMS jitter are paramount.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The </a:t>
            </a:r>
            <a:r>
              <a:rPr lang="en-US" sz="1600" b="1" dirty="0">
                <a:solidFill>
                  <a:srgbClr val="C00000"/>
                </a:solidFill>
                <a:latin typeface="fkGroteskNeue"/>
              </a:rPr>
              <a:t>primary trade-offs </a:t>
            </a:r>
            <a:r>
              <a:rPr lang="en-US" sz="1600" dirty="0">
                <a:solidFill>
                  <a:schemeClr val="tx1"/>
                </a:solidFill>
                <a:latin typeface="fkGroteskNeue"/>
              </a:rPr>
              <a:t>are </a:t>
            </a:r>
            <a:r>
              <a:rPr lang="en-US" sz="1600" b="1" dirty="0">
                <a:solidFill>
                  <a:srgbClr val="C00000"/>
                </a:solidFill>
                <a:latin typeface="fkGroteskNeue"/>
              </a:rPr>
              <a:t>silicon area overhead </a:t>
            </a:r>
            <a:r>
              <a:rPr lang="en-US" sz="1600" dirty="0">
                <a:solidFill>
                  <a:schemeClr val="tx1"/>
                </a:solidFill>
                <a:latin typeface="fkGroteskNeue"/>
              </a:rPr>
              <a:t>from on-chip inductors and increased design complexity due to </a:t>
            </a:r>
            <a:r>
              <a:rPr lang="en-US" sz="1600" b="1" dirty="0">
                <a:solidFill>
                  <a:srgbClr val="C00000"/>
                </a:solidFill>
                <a:latin typeface="fkGroteskNeue"/>
              </a:rPr>
              <a:t>coupling and startup dynamics</a:t>
            </a:r>
            <a:r>
              <a:rPr lang="en-US" sz="1600" dirty="0">
                <a:solidFill>
                  <a:schemeClr val="tx1"/>
                </a:solidFill>
                <a:latin typeface="fkGroteskNeue"/>
              </a:rPr>
              <a:t>.</a:t>
            </a:r>
            <a:endParaRPr lang="en-US" sz="1600" dirty="0">
              <a:solidFill>
                <a:schemeClr val="tx1"/>
              </a:solidFill>
            </a:endParaRPr>
          </a:p>
        </p:txBody>
      </p:sp>
      <p:sp>
        <p:nvSpPr>
          <p:cNvPr id="407" name="Rectangle 406"/>
          <p:cNvSpPr/>
          <p:nvPr/>
        </p:nvSpPr>
        <p:spPr>
          <a:xfrm>
            <a:off x="492760" y="1219200"/>
            <a:ext cx="5521960" cy="490330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408" name="Rectangle 407"/>
          <p:cNvSpPr/>
          <p:nvPr/>
        </p:nvSpPr>
        <p:spPr>
          <a:xfrm>
            <a:off x="6451600" y="1234440"/>
            <a:ext cx="5521960" cy="490330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326"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43956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P spid="10" grpId="0" animBg="1"/>
      <p:bldP spid="51" grpId="0"/>
      <p:bldP spid="324" grpId="0"/>
      <p:bldP spid="406" grpId="0"/>
      <p:bldP spid="407" grpId="0" animBg="1"/>
      <p:bldP spid="40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28A64CC-93DE-4362-8C6E-A8216D0073AC}"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7</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7" name="Rectangle 6">
            <a:extLst>
              <a:ext uri="{FF2B5EF4-FFF2-40B4-BE49-F238E27FC236}">
                <a16:creationId xmlns:a16="http://schemas.microsoft.com/office/drawing/2014/main" id="{D249D58B-22E5-EC51-04BE-783932C826C2}"/>
              </a:ext>
            </a:extLst>
          </p:cNvPr>
          <p:cNvSpPr/>
          <p:nvPr/>
        </p:nvSpPr>
        <p:spPr>
          <a:xfrm>
            <a:off x="7282042" y="1443167"/>
            <a:ext cx="4452587" cy="1574741"/>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8" name="Rectangle 7">
            <a:extLst>
              <a:ext uri="{FF2B5EF4-FFF2-40B4-BE49-F238E27FC236}">
                <a16:creationId xmlns:a16="http://schemas.microsoft.com/office/drawing/2014/main" id="{8BE3BD82-8F90-C816-65DA-51CDA0F82D83}"/>
              </a:ext>
            </a:extLst>
          </p:cNvPr>
          <p:cNvSpPr/>
          <p:nvPr/>
        </p:nvSpPr>
        <p:spPr>
          <a:xfrm>
            <a:off x="1614401" y="1521657"/>
            <a:ext cx="3454069" cy="1574741"/>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9" name="Rectangle 8">
            <a:extLst>
              <a:ext uri="{FF2B5EF4-FFF2-40B4-BE49-F238E27FC236}">
                <a16:creationId xmlns:a16="http://schemas.microsoft.com/office/drawing/2014/main" id="{DBB6F576-33CF-C91D-7E48-2E0B2D48A4D6}"/>
              </a:ext>
            </a:extLst>
          </p:cNvPr>
          <p:cNvSpPr/>
          <p:nvPr/>
        </p:nvSpPr>
        <p:spPr>
          <a:xfrm>
            <a:off x="7439207" y="3177484"/>
            <a:ext cx="4105073" cy="461665"/>
          </a:xfrm>
          <a:prstGeom prst="rect">
            <a:avLst/>
          </a:prstGeom>
        </p:spPr>
        <p:txBody>
          <a:bodyPr wrap="square">
            <a:spAutoFit/>
          </a:bodyPr>
          <a:lstStyle/>
          <a:p>
            <a:pPr algn="ctr"/>
            <a:r>
              <a:rPr lang="en-US" sz="1200" b="1" dirty="0">
                <a:solidFill>
                  <a:srgbClr val="002060"/>
                </a:solidFill>
              </a:rPr>
              <a:t>(d) </a:t>
            </a:r>
            <a:r>
              <a:rPr lang="en-US" sz="1200" u="sng" dirty="0">
                <a:solidFill>
                  <a:srgbClr val="002060"/>
                </a:solidFill>
              </a:rPr>
              <a:t>Multiphase LO/clock generation methods using Ring </a:t>
            </a:r>
          </a:p>
          <a:p>
            <a:pPr algn="ctr"/>
            <a:r>
              <a:rPr lang="en-US" sz="1200" u="sng" dirty="0">
                <a:solidFill>
                  <a:srgbClr val="002060"/>
                </a:solidFill>
              </a:rPr>
              <a:t>with </a:t>
            </a:r>
            <a:r>
              <a:rPr lang="en-IN" sz="1200" u="sng" dirty="0">
                <a:solidFill>
                  <a:srgbClr val="002060"/>
                </a:solidFill>
              </a:rPr>
              <a:t>LC VCOs and DLL</a:t>
            </a:r>
          </a:p>
        </p:txBody>
      </p:sp>
      <p:grpSp>
        <p:nvGrpSpPr>
          <p:cNvPr id="10" name="Group 9">
            <a:extLst>
              <a:ext uri="{FF2B5EF4-FFF2-40B4-BE49-F238E27FC236}">
                <a16:creationId xmlns:a16="http://schemas.microsoft.com/office/drawing/2014/main" id="{E4735C96-CEDB-40A1-C632-82189A707956}"/>
              </a:ext>
            </a:extLst>
          </p:cNvPr>
          <p:cNvGrpSpPr/>
          <p:nvPr/>
        </p:nvGrpSpPr>
        <p:grpSpPr>
          <a:xfrm>
            <a:off x="1669153" y="1707478"/>
            <a:ext cx="3399318" cy="1446639"/>
            <a:chOff x="1568114" y="4125321"/>
            <a:chExt cx="4927063" cy="1928852"/>
          </a:xfrm>
        </p:grpSpPr>
        <p:grpSp>
          <p:nvGrpSpPr>
            <p:cNvPr id="11" name="Group 10">
              <a:extLst>
                <a:ext uri="{FF2B5EF4-FFF2-40B4-BE49-F238E27FC236}">
                  <a16:creationId xmlns:a16="http://schemas.microsoft.com/office/drawing/2014/main" id="{28F94FF0-4727-0127-0474-4AD7A268E8E4}"/>
                </a:ext>
              </a:extLst>
            </p:cNvPr>
            <p:cNvGrpSpPr>
              <a:grpSpLocks noChangeAspect="1"/>
            </p:cNvGrpSpPr>
            <p:nvPr/>
          </p:nvGrpSpPr>
          <p:grpSpPr>
            <a:xfrm>
              <a:off x="2973232" y="4125321"/>
              <a:ext cx="1399217" cy="1280160"/>
              <a:chOff x="2169506" y="4772026"/>
              <a:chExt cx="1145194" cy="1047750"/>
            </a:xfrm>
          </p:grpSpPr>
          <p:sp>
            <p:nvSpPr>
              <p:cNvPr id="33" name="Oval 32">
                <a:extLst>
                  <a:ext uri="{FF2B5EF4-FFF2-40B4-BE49-F238E27FC236}">
                    <a16:creationId xmlns:a16="http://schemas.microsoft.com/office/drawing/2014/main" id="{AE8701D9-28D5-4A52-EEB5-C49BD1BAA75E}"/>
                  </a:ext>
                </a:extLst>
              </p:cNvPr>
              <p:cNvSpPr/>
              <p:nvPr/>
            </p:nvSpPr>
            <p:spPr>
              <a:xfrm>
                <a:off x="2169506" y="4772026"/>
                <a:ext cx="1145194" cy="1047750"/>
              </a:xfrm>
              <a:prstGeom prst="ellipse">
                <a:avLst/>
              </a:prstGeom>
              <a:solidFill>
                <a:schemeClr val="bg1"/>
              </a:solidFill>
              <a:ln w="25400">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34" name="Group 33">
                <a:extLst>
                  <a:ext uri="{FF2B5EF4-FFF2-40B4-BE49-F238E27FC236}">
                    <a16:creationId xmlns:a16="http://schemas.microsoft.com/office/drawing/2014/main" id="{CAF5B5C3-5FA3-885D-9AA0-E630DDA44268}"/>
                  </a:ext>
                </a:extLst>
              </p:cNvPr>
              <p:cNvGrpSpPr/>
              <p:nvPr/>
            </p:nvGrpSpPr>
            <p:grpSpPr>
              <a:xfrm>
                <a:off x="2243356" y="4913274"/>
                <a:ext cx="933517" cy="730856"/>
                <a:chOff x="1027600" y="4784489"/>
                <a:chExt cx="933517" cy="730856"/>
              </a:xfrm>
            </p:grpSpPr>
            <p:grpSp>
              <p:nvGrpSpPr>
                <p:cNvPr id="35" name="Group 34">
                  <a:extLst>
                    <a:ext uri="{FF2B5EF4-FFF2-40B4-BE49-F238E27FC236}">
                      <a16:creationId xmlns:a16="http://schemas.microsoft.com/office/drawing/2014/main" id="{E0D46CF8-D544-789D-DD77-B70651CD4A9C}"/>
                    </a:ext>
                  </a:extLst>
                </p:cNvPr>
                <p:cNvGrpSpPr/>
                <p:nvPr/>
              </p:nvGrpSpPr>
              <p:grpSpPr>
                <a:xfrm>
                  <a:off x="1027600" y="4965926"/>
                  <a:ext cx="362347" cy="380159"/>
                  <a:chOff x="1711577" y="4926883"/>
                  <a:chExt cx="274320" cy="274320"/>
                </a:xfrm>
              </p:grpSpPr>
              <p:sp>
                <p:nvSpPr>
                  <p:cNvPr id="86" name="Flowchart: Connector 85">
                    <a:extLst>
                      <a:ext uri="{FF2B5EF4-FFF2-40B4-BE49-F238E27FC236}">
                        <a16:creationId xmlns:a16="http://schemas.microsoft.com/office/drawing/2014/main" id="{8309D64C-75C8-F6BB-D55A-12009605A1AA}"/>
                      </a:ext>
                    </a:extLst>
                  </p:cNvPr>
                  <p:cNvSpPr/>
                  <p:nvPr/>
                </p:nvSpPr>
                <p:spPr>
                  <a:xfrm rot="19644896">
                    <a:off x="1711577" y="4926883"/>
                    <a:ext cx="274320" cy="274320"/>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87" name="Freeform 369">
                    <a:extLst>
                      <a:ext uri="{FF2B5EF4-FFF2-40B4-BE49-F238E27FC236}">
                        <a16:creationId xmlns:a16="http://schemas.microsoft.com/office/drawing/2014/main" id="{30DCF419-5BCE-F179-5815-C135A4D9FF8F}"/>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254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36" name="Straight Connector 35">
                  <a:extLst>
                    <a:ext uri="{FF2B5EF4-FFF2-40B4-BE49-F238E27FC236}">
                      <a16:creationId xmlns:a16="http://schemas.microsoft.com/office/drawing/2014/main" id="{385770DC-A41B-DEE6-FA88-C73A1FFFA202}"/>
                    </a:ext>
                  </a:extLst>
                </p:cNvPr>
                <p:cNvCxnSpPr>
                  <a:stCxn id="86" idx="6"/>
                </p:cNvCxnSpPr>
                <p:nvPr/>
              </p:nvCxnSpPr>
              <p:spPr>
                <a:xfrm flipV="1">
                  <a:off x="1361429" y="5050706"/>
                  <a:ext cx="120782" cy="2932"/>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7BC5862-2ED4-218A-CD58-B6482B0082C9}"/>
                    </a:ext>
                  </a:extLst>
                </p:cNvPr>
                <p:cNvCxnSpPr/>
                <p:nvPr/>
              </p:nvCxnSpPr>
              <p:spPr>
                <a:xfrm flipV="1">
                  <a:off x="1367514" y="5261905"/>
                  <a:ext cx="120782" cy="2932"/>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E49EAD3-F5A2-0B97-CF5E-518EBEF0DF17}"/>
                    </a:ext>
                  </a:extLst>
                </p:cNvPr>
                <p:cNvCxnSpPr/>
                <p:nvPr/>
              </p:nvCxnSpPr>
              <p:spPr>
                <a:xfrm flipH="1" flipV="1">
                  <a:off x="1481944" y="4794334"/>
                  <a:ext cx="0" cy="253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2496ACC-2C9F-0330-0C47-EF4F2A39AFFE}"/>
                    </a:ext>
                  </a:extLst>
                </p:cNvPr>
                <p:cNvCxnSpPr/>
                <p:nvPr/>
              </p:nvCxnSpPr>
              <p:spPr>
                <a:xfrm flipH="1" flipV="1">
                  <a:off x="1499183" y="5261905"/>
                  <a:ext cx="0" cy="253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04B30A7-EC95-E1A4-313B-50868C6C51BF}"/>
                    </a:ext>
                  </a:extLst>
                </p:cNvPr>
                <p:cNvCxnSpPr/>
                <p:nvPr/>
              </p:nvCxnSpPr>
              <p:spPr>
                <a:xfrm flipV="1">
                  <a:off x="1481678" y="4784489"/>
                  <a:ext cx="274320" cy="3734"/>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F57698-24E5-553E-BBAF-63D26B17F0A9}"/>
                    </a:ext>
                  </a:extLst>
                </p:cNvPr>
                <p:cNvCxnSpPr/>
                <p:nvPr/>
              </p:nvCxnSpPr>
              <p:spPr>
                <a:xfrm flipV="1">
                  <a:off x="1507332" y="5513879"/>
                  <a:ext cx="27432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86F9FD13-131E-17D0-5662-6E9772F4D439}"/>
                    </a:ext>
                  </a:extLst>
                </p:cNvPr>
                <p:cNvGrpSpPr/>
                <p:nvPr/>
              </p:nvGrpSpPr>
              <p:grpSpPr>
                <a:xfrm>
                  <a:off x="1565526" y="4885688"/>
                  <a:ext cx="395591" cy="540633"/>
                  <a:chOff x="1715961" y="4885759"/>
                  <a:chExt cx="395591" cy="540633"/>
                </a:xfrm>
              </p:grpSpPr>
              <p:grpSp>
                <p:nvGrpSpPr>
                  <p:cNvPr id="45" name="Group 44">
                    <a:extLst>
                      <a:ext uri="{FF2B5EF4-FFF2-40B4-BE49-F238E27FC236}">
                        <a16:creationId xmlns:a16="http://schemas.microsoft.com/office/drawing/2014/main" id="{4F9EA11B-E157-CAC8-F7F4-CBCCD7846702}"/>
                      </a:ext>
                    </a:extLst>
                  </p:cNvPr>
                  <p:cNvGrpSpPr/>
                  <p:nvPr/>
                </p:nvGrpSpPr>
                <p:grpSpPr>
                  <a:xfrm>
                    <a:off x="1715961" y="4885759"/>
                    <a:ext cx="317479" cy="205665"/>
                    <a:chOff x="1548734" y="4857791"/>
                    <a:chExt cx="240352" cy="148406"/>
                  </a:xfrm>
                </p:grpSpPr>
                <p:cxnSp>
                  <p:nvCxnSpPr>
                    <p:cNvPr id="75" name="Straight Connector 74">
                      <a:extLst>
                        <a:ext uri="{FF2B5EF4-FFF2-40B4-BE49-F238E27FC236}">
                          <a16:creationId xmlns:a16="http://schemas.microsoft.com/office/drawing/2014/main" id="{9B00C585-1330-ABAB-4B76-547C280500AF}"/>
                        </a:ext>
                      </a:extLst>
                    </p:cNvPr>
                    <p:cNvCxnSpPr/>
                    <p:nvPr/>
                  </p:nvCxnSpPr>
                  <p:spPr>
                    <a:xfrm flipV="1">
                      <a:off x="1586868" y="4930304"/>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3F4B481-B50A-20CA-8815-C69AC68DD571}"/>
                        </a:ext>
                      </a:extLst>
                    </p:cNvPr>
                    <p:cNvCxnSpPr/>
                    <p:nvPr/>
                  </p:nvCxnSpPr>
                  <p:spPr>
                    <a:xfrm flipV="1">
                      <a:off x="1651272" y="4930303"/>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A590A69-B32D-997C-DDE4-959284F70F87}"/>
                        </a:ext>
                      </a:extLst>
                    </p:cNvPr>
                    <p:cNvCxnSpPr/>
                    <p:nvPr/>
                  </p:nvCxnSpPr>
                  <p:spPr>
                    <a:xfrm>
                      <a:off x="1586667" y="4925996"/>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A06DED3-62D2-9A61-5344-11796501D914}"/>
                        </a:ext>
                      </a:extLst>
                    </p:cNvPr>
                    <p:cNvCxnSpPr/>
                    <p:nvPr/>
                  </p:nvCxnSpPr>
                  <p:spPr>
                    <a:xfrm>
                      <a:off x="1551030" y="4976268"/>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FB06BF7-22A0-D21D-3F67-07A81435E003}"/>
                        </a:ext>
                      </a:extLst>
                    </p:cNvPr>
                    <p:cNvCxnSpPr/>
                    <p:nvPr/>
                  </p:nvCxnSpPr>
                  <p:spPr>
                    <a:xfrm>
                      <a:off x="1651272" y="4974696"/>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CCCD379-7C49-9154-C024-E4EC8944A248}"/>
                        </a:ext>
                      </a:extLst>
                    </p:cNvPr>
                    <p:cNvCxnSpPr/>
                    <p:nvPr/>
                  </p:nvCxnSpPr>
                  <p:spPr>
                    <a:xfrm flipH="1">
                      <a:off x="1548734" y="4977077"/>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D4E1F69-3C58-044A-853F-2BBDC80979E3}"/>
                        </a:ext>
                      </a:extLst>
                    </p:cNvPr>
                    <p:cNvCxnSpPr/>
                    <p:nvPr/>
                  </p:nvCxnSpPr>
                  <p:spPr>
                    <a:xfrm flipH="1">
                      <a:off x="1687511" y="4976170"/>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3E640684-CC7A-A091-63CD-CE2C34F077A2}"/>
                        </a:ext>
                      </a:extLst>
                    </p:cNvPr>
                    <p:cNvCxnSpPr/>
                    <p:nvPr/>
                  </p:nvCxnSpPr>
                  <p:spPr>
                    <a:xfrm>
                      <a:off x="1548734" y="5006197"/>
                      <a:ext cx="13716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EEFA731-264F-AE72-7D22-5CDECD0904DD}"/>
                        </a:ext>
                      </a:extLst>
                    </p:cNvPr>
                    <p:cNvCxnSpPr/>
                    <p:nvPr/>
                  </p:nvCxnSpPr>
                  <p:spPr>
                    <a:xfrm>
                      <a:off x="1586734" y="4902184"/>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41C8C4D-3C60-4FBE-8A50-E74A7A7F2D39}"/>
                        </a:ext>
                      </a:extLst>
                    </p:cNvPr>
                    <p:cNvCxnSpPr/>
                    <p:nvPr/>
                  </p:nvCxnSpPr>
                  <p:spPr>
                    <a:xfrm flipV="1">
                      <a:off x="1617314" y="4857791"/>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91A1D85-0827-B1E9-F75F-5DA47B490E98}"/>
                        </a:ext>
                      </a:extLst>
                    </p:cNvPr>
                    <p:cNvCxnSpPr/>
                    <p:nvPr/>
                  </p:nvCxnSpPr>
                  <p:spPr>
                    <a:xfrm>
                      <a:off x="1621289" y="4857791"/>
                      <a:ext cx="16779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FC476D28-6E58-06F1-77DA-9080793680BA}"/>
                      </a:ext>
                    </a:extLst>
                  </p:cNvPr>
                  <p:cNvGrpSpPr/>
                  <p:nvPr/>
                </p:nvGrpSpPr>
                <p:grpSpPr>
                  <a:xfrm rot="10800000" flipH="1">
                    <a:off x="1715961" y="5219603"/>
                    <a:ext cx="317479" cy="206789"/>
                    <a:chOff x="1548734" y="4857791"/>
                    <a:chExt cx="240352" cy="149217"/>
                  </a:xfrm>
                </p:grpSpPr>
                <p:cxnSp>
                  <p:nvCxnSpPr>
                    <p:cNvPr id="64" name="Straight Connector 63">
                      <a:extLst>
                        <a:ext uri="{FF2B5EF4-FFF2-40B4-BE49-F238E27FC236}">
                          <a16:creationId xmlns:a16="http://schemas.microsoft.com/office/drawing/2014/main" id="{FBDDC9B7-0F89-74C6-91BA-6D7CA7FA639B}"/>
                        </a:ext>
                      </a:extLst>
                    </p:cNvPr>
                    <p:cNvCxnSpPr/>
                    <p:nvPr/>
                  </p:nvCxnSpPr>
                  <p:spPr>
                    <a:xfrm flipV="1">
                      <a:off x="1586868" y="4930304"/>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141CAD-03B6-A9A3-CA48-21C4D3096402}"/>
                        </a:ext>
                      </a:extLst>
                    </p:cNvPr>
                    <p:cNvCxnSpPr/>
                    <p:nvPr/>
                  </p:nvCxnSpPr>
                  <p:spPr>
                    <a:xfrm flipV="1">
                      <a:off x="1651272" y="4930303"/>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ECCD18C-90A0-8D43-5578-FAC9B1C50121}"/>
                        </a:ext>
                      </a:extLst>
                    </p:cNvPr>
                    <p:cNvCxnSpPr/>
                    <p:nvPr/>
                  </p:nvCxnSpPr>
                  <p:spPr>
                    <a:xfrm>
                      <a:off x="1586667" y="4925996"/>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E38AA35-AE7F-0A14-ABD0-253F7B64721B}"/>
                        </a:ext>
                      </a:extLst>
                    </p:cNvPr>
                    <p:cNvCxnSpPr/>
                    <p:nvPr/>
                  </p:nvCxnSpPr>
                  <p:spPr>
                    <a:xfrm>
                      <a:off x="1551030" y="4976268"/>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885A703-82CB-4216-0A28-4748D6ACCAD9}"/>
                        </a:ext>
                      </a:extLst>
                    </p:cNvPr>
                    <p:cNvCxnSpPr/>
                    <p:nvPr/>
                  </p:nvCxnSpPr>
                  <p:spPr>
                    <a:xfrm>
                      <a:off x="1651272" y="4974696"/>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B0D41CC-CAD5-EDE4-FD46-7F6C07594EA1}"/>
                        </a:ext>
                      </a:extLst>
                    </p:cNvPr>
                    <p:cNvCxnSpPr/>
                    <p:nvPr/>
                  </p:nvCxnSpPr>
                  <p:spPr>
                    <a:xfrm flipH="1">
                      <a:off x="1548734" y="4977077"/>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18E2CE6-C7AB-1658-2AA9-80F2FEC52239}"/>
                        </a:ext>
                      </a:extLst>
                    </p:cNvPr>
                    <p:cNvCxnSpPr/>
                    <p:nvPr/>
                  </p:nvCxnSpPr>
                  <p:spPr>
                    <a:xfrm flipH="1">
                      <a:off x="1689314" y="4977888"/>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E84E36D-278C-3045-9D0E-59A84CEB89BE}"/>
                        </a:ext>
                      </a:extLst>
                    </p:cNvPr>
                    <p:cNvCxnSpPr/>
                    <p:nvPr/>
                  </p:nvCxnSpPr>
                  <p:spPr>
                    <a:xfrm>
                      <a:off x="1548734" y="5006197"/>
                      <a:ext cx="13716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2260A4A-307F-111B-2C8F-C541944DCAAE}"/>
                        </a:ext>
                      </a:extLst>
                    </p:cNvPr>
                    <p:cNvCxnSpPr/>
                    <p:nvPr/>
                  </p:nvCxnSpPr>
                  <p:spPr>
                    <a:xfrm>
                      <a:off x="1586734" y="4902184"/>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81E1FCE-1D3F-53D9-EEBF-349684AFEFB3}"/>
                        </a:ext>
                      </a:extLst>
                    </p:cNvPr>
                    <p:cNvCxnSpPr/>
                    <p:nvPr/>
                  </p:nvCxnSpPr>
                  <p:spPr>
                    <a:xfrm flipV="1">
                      <a:off x="1617314" y="4857791"/>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B064001-9911-1D60-32CA-C059546D3D6A}"/>
                        </a:ext>
                      </a:extLst>
                    </p:cNvPr>
                    <p:cNvCxnSpPr/>
                    <p:nvPr/>
                  </p:nvCxnSpPr>
                  <p:spPr>
                    <a:xfrm>
                      <a:off x="1621289" y="4857791"/>
                      <a:ext cx="16779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47" name="Straight Connector 46">
                    <a:extLst>
                      <a:ext uri="{FF2B5EF4-FFF2-40B4-BE49-F238E27FC236}">
                        <a16:creationId xmlns:a16="http://schemas.microsoft.com/office/drawing/2014/main" id="{88BAB554-732D-986A-ADAF-09FDCBFCEBFC}"/>
                      </a:ext>
                    </a:extLst>
                  </p:cNvPr>
                  <p:cNvCxnSpPr/>
                  <p:nvPr/>
                </p:nvCxnSpPr>
                <p:spPr>
                  <a:xfrm flipV="1">
                    <a:off x="1806548" y="5094486"/>
                    <a:ext cx="0" cy="1267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5A587F8B-14D2-EBB7-6BCD-7447137DDA26}"/>
                      </a:ext>
                    </a:extLst>
                  </p:cNvPr>
                  <p:cNvGrpSpPr/>
                  <p:nvPr/>
                </p:nvGrpSpPr>
                <p:grpSpPr>
                  <a:xfrm rot="5400000">
                    <a:off x="1879744" y="5102207"/>
                    <a:ext cx="335430" cy="128187"/>
                    <a:chOff x="7040920" y="3499872"/>
                    <a:chExt cx="973348" cy="287902"/>
                  </a:xfrm>
                </p:grpSpPr>
                <p:sp>
                  <p:nvSpPr>
                    <p:cNvPr id="51" name="Arc 50">
                      <a:extLst>
                        <a:ext uri="{FF2B5EF4-FFF2-40B4-BE49-F238E27FC236}">
                          <a16:creationId xmlns:a16="http://schemas.microsoft.com/office/drawing/2014/main" id="{04EB19BB-FE55-1E07-D451-B11626FBC500}"/>
                        </a:ext>
                      </a:extLst>
                    </p:cNvPr>
                    <p:cNvSpPr/>
                    <p:nvPr/>
                  </p:nvSpPr>
                  <p:spPr>
                    <a:xfrm rot="15637240">
                      <a:off x="7047483" y="3504820"/>
                      <a:ext cx="276391" cy="289518"/>
                    </a:xfrm>
                    <a:prstGeom prst="arc">
                      <a:avLst>
                        <a:gd name="adj1" fmla="val 1634988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52" name="Group 51">
                      <a:extLst>
                        <a:ext uri="{FF2B5EF4-FFF2-40B4-BE49-F238E27FC236}">
                          <a16:creationId xmlns:a16="http://schemas.microsoft.com/office/drawing/2014/main" id="{1F09761C-B47C-A207-7BE4-48B8BB968F8F}"/>
                        </a:ext>
                      </a:extLst>
                    </p:cNvPr>
                    <p:cNvGrpSpPr/>
                    <p:nvPr/>
                  </p:nvGrpSpPr>
                  <p:grpSpPr>
                    <a:xfrm>
                      <a:off x="7208043" y="3499872"/>
                      <a:ext cx="806225" cy="286012"/>
                      <a:chOff x="7208043" y="3499872"/>
                      <a:chExt cx="806225" cy="286012"/>
                    </a:xfrm>
                  </p:grpSpPr>
                  <p:sp>
                    <p:nvSpPr>
                      <p:cNvPr id="53" name="Arc 52">
                        <a:extLst>
                          <a:ext uri="{FF2B5EF4-FFF2-40B4-BE49-F238E27FC236}">
                            <a16:creationId xmlns:a16="http://schemas.microsoft.com/office/drawing/2014/main" id="{A7179821-5BB6-BB17-965C-7EF719BE8BB5}"/>
                          </a:ext>
                        </a:extLst>
                      </p:cNvPr>
                      <p:cNvSpPr/>
                      <p:nvPr/>
                    </p:nvSpPr>
                    <p:spPr>
                      <a:xfrm rot="5400000">
                        <a:off x="7155632" y="3595228"/>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4" name="Arc 53">
                        <a:extLst>
                          <a:ext uri="{FF2B5EF4-FFF2-40B4-BE49-F238E27FC236}">
                            <a16:creationId xmlns:a16="http://schemas.microsoft.com/office/drawing/2014/main" id="{4EF7A4C9-B14A-E0F7-8411-C6BBC382031F}"/>
                          </a:ext>
                        </a:extLst>
                      </p:cNvPr>
                      <p:cNvSpPr/>
                      <p:nvPr/>
                    </p:nvSpPr>
                    <p:spPr>
                      <a:xfrm rot="16417337">
                        <a:off x="7206807" y="3511508"/>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5" name="Arc 54">
                        <a:extLst>
                          <a:ext uri="{FF2B5EF4-FFF2-40B4-BE49-F238E27FC236}">
                            <a16:creationId xmlns:a16="http://schemas.microsoft.com/office/drawing/2014/main" id="{7612770F-821D-5D0D-F19E-FFADEF758CAE}"/>
                          </a:ext>
                        </a:extLst>
                      </p:cNvPr>
                      <p:cNvSpPr/>
                      <p:nvPr/>
                    </p:nvSpPr>
                    <p:spPr>
                      <a:xfrm rot="5400000">
                        <a:off x="7332045" y="3593335"/>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6" name="Arc 55">
                        <a:extLst>
                          <a:ext uri="{FF2B5EF4-FFF2-40B4-BE49-F238E27FC236}">
                            <a16:creationId xmlns:a16="http://schemas.microsoft.com/office/drawing/2014/main" id="{FD5961FF-D3F5-64FE-D6CE-66F14F22AD5E}"/>
                          </a:ext>
                        </a:extLst>
                      </p:cNvPr>
                      <p:cNvSpPr/>
                      <p:nvPr/>
                    </p:nvSpPr>
                    <p:spPr>
                      <a:xfrm rot="16417337">
                        <a:off x="7387233" y="3509617"/>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7" name="Arc 56">
                        <a:extLst>
                          <a:ext uri="{FF2B5EF4-FFF2-40B4-BE49-F238E27FC236}">
                            <a16:creationId xmlns:a16="http://schemas.microsoft.com/office/drawing/2014/main" id="{9ECD252E-2575-3AF3-4134-6A25CFE2A7DE}"/>
                          </a:ext>
                        </a:extLst>
                      </p:cNvPr>
                      <p:cNvSpPr/>
                      <p:nvPr/>
                    </p:nvSpPr>
                    <p:spPr>
                      <a:xfrm rot="15637240">
                        <a:off x="7227908" y="3502930"/>
                        <a:ext cx="276391" cy="289517"/>
                      </a:xfrm>
                      <a:prstGeom prst="arc">
                        <a:avLst>
                          <a:gd name="adj1" fmla="val 23407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8" name="Arc 57">
                        <a:extLst>
                          <a:ext uri="{FF2B5EF4-FFF2-40B4-BE49-F238E27FC236}">
                            <a16:creationId xmlns:a16="http://schemas.microsoft.com/office/drawing/2014/main" id="{49323E68-8F5A-FF1B-C1D6-E270ECDBD26B}"/>
                          </a:ext>
                        </a:extLst>
                      </p:cNvPr>
                      <p:cNvSpPr/>
                      <p:nvPr/>
                    </p:nvSpPr>
                    <p:spPr>
                      <a:xfrm rot="5400000">
                        <a:off x="7518531" y="3590694"/>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9" name="Arc 58">
                        <a:extLst>
                          <a:ext uri="{FF2B5EF4-FFF2-40B4-BE49-F238E27FC236}">
                            <a16:creationId xmlns:a16="http://schemas.microsoft.com/office/drawing/2014/main" id="{9CCF9B53-15A2-7676-91ED-6B2295473F36}"/>
                          </a:ext>
                        </a:extLst>
                      </p:cNvPr>
                      <p:cNvSpPr/>
                      <p:nvPr/>
                    </p:nvSpPr>
                    <p:spPr>
                      <a:xfrm rot="16417337">
                        <a:off x="7569706" y="3506974"/>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0" name="Arc 59">
                        <a:extLst>
                          <a:ext uri="{FF2B5EF4-FFF2-40B4-BE49-F238E27FC236}">
                            <a16:creationId xmlns:a16="http://schemas.microsoft.com/office/drawing/2014/main" id="{90AD9AC7-A3ED-F435-4A83-84507D5556F3}"/>
                          </a:ext>
                        </a:extLst>
                      </p:cNvPr>
                      <p:cNvSpPr/>
                      <p:nvPr/>
                    </p:nvSpPr>
                    <p:spPr>
                      <a:xfrm rot="15637240">
                        <a:off x="7410381" y="3500287"/>
                        <a:ext cx="276391" cy="289517"/>
                      </a:xfrm>
                      <a:prstGeom prst="arc">
                        <a:avLst>
                          <a:gd name="adj1" fmla="val 23407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1" name="Arc 60">
                        <a:extLst>
                          <a:ext uri="{FF2B5EF4-FFF2-40B4-BE49-F238E27FC236}">
                            <a16:creationId xmlns:a16="http://schemas.microsoft.com/office/drawing/2014/main" id="{DE84542E-F396-A140-1BE0-33983C633FC1}"/>
                          </a:ext>
                        </a:extLst>
                      </p:cNvPr>
                      <p:cNvSpPr/>
                      <p:nvPr/>
                    </p:nvSpPr>
                    <p:spPr>
                      <a:xfrm rot="5400000">
                        <a:off x="7689114" y="3588050"/>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2" name="Arc 61">
                        <a:extLst>
                          <a:ext uri="{FF2B5EF4-FFF2-40B4-BE49-F238E27FC236}">
                            <a16:creationId xmlns:a16="http://schemas.microsoft.com/office/drawing/2014/main" id="{D9436CF8-C6A2-AC14-DDAA-574E82F68C3C}"/>
                          </a:ext>
                        </a:extLst>
                      </p:cNvPr>
                      <p:cNvSpPr/>
                      <p:nvPr/>
                    </p:nvSpPr>
                    <p:spPr>
                      <a:xfrm rot="16417337">
                        <a:off x="7740289" y="3504330"/>
                        <a:ext cx="276391" cy="271566"/>
                      </a:xfrm>
                      <a:prstGeom prst="arc">
                        <a:avLst>
                          <a:gd name="adj1" fmla="val 15748288"/>
                          <a:gd name="adj2" fmla="val 5946044"/>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3" name="Arc 62">
                        <a:extLst>
                          <a:ext uri="{FF2B5EF4-FFF2-40B4-BE49-F238E27FC236}">
                            <a16:creationId xmlns:a16="http://schemas.microsoft.com/office/drawing/2014/main" id="{E0F68DA2-FDBC-E2E6-2340-1A13C2E29DBB}"/>
                          </a:ext>
                        </a:extLst>
                      </p:cNvPr>
                      <p:cNvSpPr/>
                      <p:nvPr/>
                    </p:nvSpPr>
                    <p:spPr>
                      <a:xfrm rot="15637240">
                        <a:off x="7584020" y="3493310"/>
                        <a:ext cx="276391" cy="289516"/>
                      </a:xfrm>
                      <a:prstGeom prst="arc">
                        <a:avLst>
                          <a:gd name="adj1" fmla="val 88486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49" name="Straight Connector 48">
                    <a:extLst>
                      <a:ext uri="{FF2B5EF4-FFF2-40B4-BE49-F238E27FC236}">
                        <a16:creationId xmlns:a16="http://schemas.microsoft.com/office/drawing/2014/main" id="{242F606C-848B-EC97-BCB8-4F6269C21001}"/>
                      </a:ext>
                    </a:extLst>
                  </p:cNvPr>
                  <p:cNvCxnSpPr>
                    <a:stCxn id="51" idx="0"/>
                  </p:cNvCxnSpPr>
                  <p:nvPr/>
                </p:nvCxnSpPr>
                <p:spPr>
                  <a:xfrm flipV="1">
                    <a:off x="2038917" y="4890411"/>
                    <a:ext cx="0" cy="108517"/>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DE6628E-5EA6-AFAF-BCC7-6D6CD69FB5F1}"/>
                      </a:ext>
                    </a:extLst>
                  </p:cNvPr>
                  <p:cNvCxnSpPr/>
                  <p:nvPr/>
                </p:nvCxnSpPr>
                <p:spPr>
                  <a:xfrm flipH="1" flipV="1">
                    <a:off x="2034520" y="5331511"/>
                    <a:ext cx="0" cy="9447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43" name="Straight Connector 42">
                  <a:extLst>
                    <a:ext uri="{FF2B5EF4-FFF2-40B4-BE49-F238E27FC236}">
                      <a16:creationId xmlns:a16="http://schemas.microsoft.com/office/drawing/2014/main" id="{E944CB56-4B68-8D49-EDE3-4EBC57844B88}"/>
                    </a:ext>
                  </a:extLst>
                </p:cNvPr>
                <p:cNvCxnSpPr/>
                <p:nvPr/>
              </p:nvCxnSpPr>
              <p:spPr>
                <a:xfrm flipH="1" flipV="1">
                  <a:off x="1755998" y="4787233"/>
                  <a:ext cx="0" cy="91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FEBD5A2-A25E-4BB3-145B-077453D4B857}"/>
                    </a:ext>
                  </a:extLst>
                </p:cNvPr>
                <p:cNvCxnSpPr/>
                <p:nvPr/>
              </p:nvCxnSpPr>
              <p:spPr>
                <a:xfrm flipH="1" flipV="1">
                  <a:off x="1781652" y="5423530"/>
                  <a:ext cx="0" cy="91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sp>
          <p:nvSpPr>
            <p:cNvPr id="12" name="Rounded Rectangle 294">
              <a:extLst>
                <a:ext uri="{FF2B5EF4-FFF2-40B4-BE49-F238E27FC236}">
                  <a16:creationId xmlns:a16="http://schemas.microsoft.com/office/drawing/2014/main" id="{F1FA2D94-1D0D-8B9A-D06D-4B95C86CBD08}"/>
                </a:ext>
              </a:extLst>
            </p:cNvPr>
            <p:cNvSpPr/>
            <p:nvPr/>
          </p:nvSpPr>
          <p:spPr>
            <a:xfrm>
              <a:off x="1568114" y="4172014"/>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3" name="Rectangle 12">
              <a:extLst>
                <a:ext uri="{FF2B5EF4-FFF2-40B4-BE49-F238E27FC236}">
                  <a16:creationId xmlns:a16="http://schemas.microsoft.com/office/drawing/2014/main" id="{1FA9C6C7-B614-AFF6-2619-A62294EF339C}"/>
                </a:ext>
              </a:extLst>
            </p:cNvPr>
            <p:cNvSpPr/>
            <p:nvPr/>
          </p:nvSpPr>
          <p:spPr>
            <a:xfrm>
              <a:off x="1676594" y="4418931"/>
              <a:ext cx="944436" cy="677108"/>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cxnSp>
          <p:nvCxnSpPr>
            <p:cNvPr id="14" name="Straight Arrow Connector 13">
              <a:extLst>
                <a:ext uri="{FF2B5EF4-FFF2-40B4-BE49-F238E27FC236}">
                  <a16:creationId xmlns:a16="http://schemas.microsoft.com/office/drawing/2014/main" id="{B07088F1-6368-8AD3-EACF-EF1C96E13ECB}"/>
                </a:ext>
              </a:extLst>
            </p:cNvPr>
            <p:cNvCxnSpPr/>
            <p:nvPr/>
          </p:nvCxnSpPr>
          <p:spPr>
            <a:xfrm flipH="1">
              <a:off x="2703953" y="4634789"/>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F45BD9BB-5AD3-B31E-855E-B0BA33C438BD}"/>
                </a:ext>
              </a:extLst>
            </p:cNvPr>
            <p:cNvCxnSpPr/>
            <p:nvPr/>
          </p:nvCxnSpPr>
          <p:spPr>
            <a:xfrm flipV="1">
              <a:off x="2683300" y="4871676"/>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638D07A3-CDA0-FD8C-8A00-2EFA7DCEF5CC}"/>
                </a:ext>
              </a:extLst>
            </p:cNvPr>
            <p:cNvGrpSpPr/>
            <p:nvPr/>
          </p:nvGrpSpPr>
          <p:grpSpPr>
            <a:xfrm>
              <a:off x="4655765" y="4438453"/>
              <a:ext cx="1839412" cy="1020019"/>
              <a:chOff x="3621703" y="4837186"/>
              <a:chExt cx="1839412" cy="1020019"/>
            </a:xfrm>
          </p:grpSpPr>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EECD3F5-E06C-0051-F6FC-09447EC9634B}"/>
                      </a:ext>
                    </a:extLst>
                  </p:cNvPr>
                  <p:cNvSpPr/>
                  <p:nvPr/>
                </p:nvSpPr>
                <p:spPr>
                  <a:xfrm>
                    <a:off x="4515642" y="5549429"/>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898" name="Rectangle 897">
                    <a:extLst>
                      <a:ext uri="{FF2B5EF4-FFF2-40B4-BE49-F238E27FC236}">
                        <a16:creationId xmlns:a16="http://schemas.microsoft.com/office/drawing/2014/main" id="{AEECD3F5-E06C-0051-F6FC-09447EC9634B}"/>
                      </a:ext>
                    </a:extLst>
                  </p:cNvPr>
                  <p:cNvSpPr>
                    <a:spLocks noRot="1" noChangeAspect="1" noMove="1" noResize="1" noEditPoints="1" noAdjustHandles="1" noChangeArrowheads="1" noChangeShapeType="1" noTextEdit="1"/>
                  </p:cNvSpPr>
                  <p:nvPr/>
                </p:nvSpPr>
                <p:spPr>
                  <a:xfrm>
                    <a:off x="4515642" y="5549429"/>
                    <a:ext cx="486063" cy="30777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23C623DC-99FE-7438-8833-C5C64ABF5FAA}"/>
                      </a:ext>
                    </a:extLst>
                  </p:cNvPr>
                  <p:cNvSpPr/>
                  <p:nvPr/>
                </p:nvSpPr>
                <p:spPr>
                  <a:xfrm>
                    <a:off x="3877583" y="5523053"/>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dirty="0">
                      <a:latin typeface="Arial" panose="020B0604020202020204" pitchFamily="34" charset="0"/>
                      <a:cs typeface="Arial" panose="020B0604020202020204" pitchFamily="34" charset="0"/>
                    </a:endParaRPr>
                  </a:p>
                </p:txBody>
              </p:sp>
            </mc:Choice>
            <mc:Fallback xmlns="">
              <p:sp>
                <p:nvSpPr>
                  <p:cNvPr id="899" name="Rectangle 898">
                    <a:extLst>
                      <a:ext uri="{FF2B5EF4-FFF2-40B4-BE49-F238E27FC236}">
                        <a16:creationId xmlns:a16="http://schemas.microsoft.com/office/drawing/2014/main" id="{23C623DC-99FE-7438-8833-C5C64ABF5FAA}"/>
                      </a:ext>
                    </a:extLst>
                  </p:cNvPr>
                  <p:cNvSpPr>
                    <a:spLocks noRot="1" noChangeAspect="1" noMove="1" noResize="1" noEditPoints="1" noAdjustHandles="1" noChangeArrowheads="1" noChangeShapeType="1" noTextEdit="1"/>
                  </p:cNvSpPr>
                  <p:nvPr/>
                </p:nvSpPr>
                <p:spPr>
                  <a:xfrm>
                    <a:off x="3877583" y="5523053"/>
                    <a:ext cx="486063" cy="30777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BABC5BE6-7F0E-53CA-8324-478B53B56BE1}"/>
                      </a:ext>
                    </a:extLst>
                  </p:cNvPr>
                  <p:cNvSpPr/>
                  <p:nvPr/>
                </p:nvSpPr>
                <p:spPr>
                  <a:xfrm>
                    <a:off x="4191793" y="5534690"/>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900" name="Rectangle 899">
                    <a:extLst>
                      <a:ext uri="{FF2B5EF4-FFF2-40B4-BE49-F238E27FC236}">
                        <a16:creationId xmlns:a16="http://schemas.microsoft.com/office/drawing/2014/main" id="{BABC5BE6-7F0E-53CA-8324-478B53B56BE1}"/>
                      </a:ext>
                    </a:extLst>
                  </p:cNvPr>
                  <p:cNvSpPr>
                    <a:spLocks noRot="1" noChangeAspect="1" noMove="1" noResize="1" noEditPoints="1" noAdjustHandles="1" noChangeArrowheads="1" noChangeShapeType="1" noTextEdit="1"/>
                  </p:cNvSpPr>
                  <p:nvPr/>
                </p:nvSpPr>
                <p:spPr>
                  <a:xfrm>
                    <a:off x="4191793" y="5534690"/>
                    <a:ext cx="486063" cy="3077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94AF1FC3-A9EF-47E1-3D5B-D08B22620F4A}"/>
                      </a:ext>
                    </a:extLst>
                  </p:cNvPr>
                  <p:cNvSpPr/>
                  <p:nvPr/>
                </p:nvSpPr>
                <p:spPr>
                  <a:xfrm>
                    <a:off x="4958787" y="5532440"/>
                    <a:ext cx="502328"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901" name="Rectangle 900">
                    <a:extLst>
                      <a:ext uri="{FF2B5EF4-FFF2-40B4-BE49-F238E27FC236}">
                        <a16:creationId xmlns:a16="http://schemas.microsoft.com/office/drawing/2014/main" id="{94AF1FC3-A9EF-47E1-3D5B-D08B22620F4A}"/>
                      </a:ext>
                    </a:extLst>
                  </p:cNvPr>
                  <p:cNvSpPr>
                    <a:spLocks noRot="1" noChangeAspect="1" noMove="1" noResize="1" noEditPoints="1" noAdjustHandles="1" noChangeArrowheads="1" noChangeShapeType="1" noTextEdit="1"/>
                  </p:cNvSpPr>
                  <p:nvPr/>
                </p:nvSpPr>
                <p:spPr>
                  <a:xfrm>
                    <a:off x="4958787" y="5532440"/>
                    <a:ext cx="502328" cy="307776"/>
                  </a:xfrm>
                  <a:prstGeom prst="rect">
                    <a:avLst/>
                  </a:prstGeom>
                  <a:blipFill>
                    <a:blip r:embed="rId7"/>
                    <a:stretch>
                      <a:fillRect/>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5F3A21B8-FD7A-23AB-8B35-5C227D43E010}"/>
                  </a:ext>
                </a:extLst>
              </p:cNvPr>
              <p:cNvSpPr/>
              <p:nvPr/>
            </p:nvSpPr>
            <p:spPr>
              <a:xfrm>
                <a:off x="3621703" y="4837186"/>
                <a:ext cx="1676826" cy="592958"/>
              </a:xfrm>
              <a:prstGeom prst="rect">
                <a:avLst/>
              </a:prstGeom>
              <a:solidFill>
                <a:schemeClr val="bg1"/>
              </a:solidFill>
              <a:ln w="25400">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27" name="Straight Arrow Connector 26">
                <a:extLst>
                  <a:ext uri="{FF2B5EF4-FFF2-40B4-BE49-F238E27FC236}">
                    <a16:creationId xmlns:a16="http://schemas.microsoft.com/office/drawing/2014/main" id="{ADF87BDA-0DE5-B7AA-00D4-B38053FE2CE1}"/>
                  </a:ext>
                </a:extLst>
              </p:cNvPr>
              <p:cNvCxnSpPr/>
              <p:nvPr/>
            </p:nvCxnSpPr>
            <p:spPr>
              <a:xfrm flipH="1" flipV="1">
                <a:off x="4052294" y="5436416"/>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2D45C35A-1373-85A4-7804-66A21F5CF5BA}"/>
                  </a:ext>
                </a:extLst>
              </p:cNvPr>
              <p:cNvCxnSpPr/>
              <p:nvPr/>
            </p:nvCxnSpPr>
            <p:spPr>
              <a:xfrm flipH="1" flipV="1">
                <a:off x="4356805" y="5436416"/>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6CB110DE-6153-4D3D-1A20-9E9C518B1294}"/>
                  </a:ext>
                </a:extLst>
              </p:cNvPr>
              <p:cNvCxnSpPr/>
              <p:nvPr/>
            </p:nvCxnSpPr>
            <p:spPr>
              <a:xfrm flipH="1" flipV="1">
                <a:off x="4674722" y="5440421"/>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4EA6E530-D1F2-40F4-8E9B-3E92DF3AC671}"/>
                  </a:ext>
                </a:extLst>
              </p:cNvPr>
              <p:cNvCxnSpPr/>
              <p:nvPr/>
            </p:nvCxnSpPr>
            <p:spPr>
              <a:xfrm flipH="1" flipV="1">
                <a:off x="5127282" y="5440421"/>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7BDB2020-3234-D775-7A60-2D9F91A6FCF1}"/>
                  </a:ext>
                </a:extLst>
              </p:cNvPr>
              <p:cNvCxnSpPr/>
              <p:nvPr/>
            </p:nvCxnSpPr>
            <p:spPr>
              <a:xfrm flipH="1">
                <a:off x="4716875" y="5537114"/>
                <a:ext cx="365760" cy="0"/>
              </a:xfrm>
              <a:prstGeom prst="straightConnector1">
                <a:avLst/>
              </a:prstGeom>
              <a:ln w="1905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p:sp>
            <p:nvSpPr>
              <p:cNvPr id="32" name="Rectangle 31">
                <a:extLst>
                  <a:ext uri="{FF2B5EF4-FFF2-40B4-BE49-F238E27FC236}">
                    <a16:creationId xmlns:a16="http://schemas.microsoft.com/office/drawing/2014/main" id="{9DDA4DA9-34B7-DA2A-EA4C-E93D5C540625}"/>
                  </a:ext>
                </a:extLst>
              </p:cNvPr>
              <p:cNvSpPr/>
              <p:nvPr/>
            </p:nvSpPr>
            <p:spPr>
              <a:xfrm>
                <a:off x="3804841" y="4924355"/>
                <a:ext cx="1159860" cy="677108"/>
              </a:xfrm>
              <a:prstGeom prst="rect">
                <a:avLst/>
              </a:prstGeom>
            </p:spPr>
            <p:txBody>
              <a:bodyPr wrap="none">
                <a:spAutoFit/>
              </a:bodyPr>
              <a:lstStyle/>
              <a:p>
                <a:pPr algn="ctr"/>
                <a:r>
                  <a:rPr lang="en-US" sz="900" b="1">
                    <a:latin typeface="Arial" panose="020B0604020202020204" pitchFamily="34" charset="0"/>
                    <a:cs typeface="Arial" panose="020B0604020202020204" pitchFamily="34" charset="0"/>
                  </a:rPr>
                  <a:t>Frequency </a:t>
                </a:r>
              </a:p>
              <a:p>
                <a:pPr algn="ctr"/>
                <a:r>
                  <a:rPr lang="en-US" sz="900" b="1">
                    <a:latin typeface="Arial" panose="020B0604020202020204" pitchFamily="34" charset="0"/>
                    <a:cs typeface="Arial" panose="020B0604020202020204" pitchFamily="34" charset="0"/>
                  </a:rPr>
                  <a:t>Divider</a:t>
                </a:r>
              </a:p>
              <a:p>
                <a:endParaRPr lang="en-US" sz="900" b="1">
                  <a:latin typeface="Arial" panose="020B0604020202020204" pitchFamily="34" charset="0"/>
                  <a:cs typeface="Arial" panose="020B0604020202020204" pitchFamily="34" charset="0"/>
                </a:endParaRPr>
              </a:p>
            </p:txBody>
          </p:sp>
        </p:grpSp>
        <p:cxnSp>
          <p:nvCxnSpPr>
            <p:cNvPr id="17" name="Straight Arrow Connector 16">
              <a:extLst>
                <a:ext uri="{FF2B5EF4-FFF2-40B4-BE49-F238E27FC236}">
                  <a16:creationId xmlns:a16="http://schemas.microsoft.com/office/drawing/2014/main" id="{D1FF5BED-F5DC-6F75-0269-BAD4FF1F8C1D}"/>
                </a:ext>
              </a:extLst>
            </p:cNvPr>
            <p:cNvCxnSpPr/>
            <p:nvPr/>
          </p:nvCxnSpPr>
          <p:spPr>
            <a:xfrm flipH="1">
              <a:off x="4366835" y="4632931"/>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80AC26DC-826C-0319-01E6-9C7BF4DA63CE}"/>
                </a:ext>
              </a:extLst>
            </p:cNvPr>
            <p:cNvCxnSpPr/>
            <p:nvPr/>
          </p:nvCxnSpPr>
          <p:spPr>
            <a:xfrm flipV="1">
              <a:off x="4362366" y="4829358"/>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9" name="Rectangle 18">
              <a:extLst>
                <a:ext uri="{FF2B5EF4-FFF2-40B4-BE49-F238E27FC236}">
                  <a16:creationId xmlns:a16="http://schemas.microsoft.com/office/drawing/2014/main" id="{AE76C176-AFFA-1FBE-C95F-349D84AF2BC3}"/>
                </a:ext>
              </a:extLst>
            </p:cNvPr>
            <p:cNvSpPr/>
            <p:nvPr/>
          </p:nvSpPr>
          <p:spPr>
            <a:xfrm>
              <a:off x="3378030" y="5359757"/>
              <a:ext cx="953074" cy="307776"/>
            </a:xfrm>
            <a:prstGeom prst="rect">
              <a:avLst/>
            </a:prstGeom>
          </p:spPr>
          <p:txBody>
            <a:bodyPr wrap="none">
              <a:spAutoFit/>
            </a:bodyPr>
            <a:lstStyle/>
            <a:p>
              <a:r>
                <a:rPr lang="en-US" sz="900" b="1"/>
                <a:t>LC-VCO</a:t>
              </a:r>
            </a:p>
          </p:txBody>
        </p:sp>
        <p:sp>
          <p:nvSpPr>
            <p:cNvPr id="20" name="Right Brace 278">
              <a:extLst>
                <a:ext uri="{FF2B5EF4-FFF2-40B4-BE49-F238E27FC236}">
                  <a16:creationId xmlns:a16="http://schemas.microsoft.com/office/drawing/2014/main" id="{85708C8A-C764-3BD0-763B-640CB05164FC}"/>
                </a:ext>
              </a:extLst>
            </p:cNvPr>
            <p:cNvSpPr/>
            <p:nvPr/>
          </p:nvSpPr>
          <p:spPr>
            <a:xfrm rot="5400000">
              <a:off x="5433792" y="4981957"/>
              <a:ext cx="353468" cy="1101635"/>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1" name="Rectangle 20">
              <a:extLst>
                <a:ext uri="{FF2B5EF4-FFF2-40B4-BE49-F238E27FC236}">
                  <a16:creationId xmlns:a16="http://schemas.microsoft.com/office/drawing/2014/main" id="{00092358-2170-E827-2522-FF30EAFB4523}"/>
                </a:ext>
              </a:extLst>
            </p:cNvPr>
            <p:cNvSpPr/>
            <p:nvPr/>
          </p:nvSpPr>
          <p:spPr>
            <a:xfrm>
              <a:off x="5016176" y="5561730"/>
              <a:ext cx="1273709" cy="492443"/>
            </a:xfrm>
            <a:prstGeom prst="rect">
              <a:avLst/>
            </a:prstGeom>
          </p:spPr>
          <p:txBody>
            <a:bodyPr wrap="none">
              <a:spAutoFit/>
            </a:bodyPr>
            <a:lstStyle/>
            <a:p>
              <a:pPr algn="ctr"/>
              <a:r>
                <a:rPr lang="en-US" sz="900" b="1">
                  <a:solidFill>
                    <a:srgbClr val="000099"/>
                  </a:solidFill>
                </a:rPr>
                <a:t>Multi  Phase </a:t>
              </a:r>
            </a:p>
            <a:p>
              <a:pPr algn="ctr"/>
              <a:r>
                <a:rPr lang="en-US" sz="900" b="1">
                  <a:solidFill>
                    <a:srgbClr val="000099"/>
                  </a:solidFill>
                </a:rPr>
                <a:t>LO/Clock</a:t>
              </a:r>
            </a:p>
          </p:txBody>
        </p:sp>
      </p:grpSp>
      <p:sp>
        <p:nvSpPr>
          <p:cNvPr id="88" name="Rectangle 87">
            <a:extLst>
              <a:ext uri="{FF2B5EF4-FFF2-40B4-BE49-F238E27FC236}">
                <a16:creationId xmlns:a16="http://schemas.microsoft.com/office/drawing/2014/main" id="{B54F2A83-8D0D-B388-FE09-648A43C1B12E}"/>
              </a:ext>
            </a:extLst>
          </p:cNvPr>
          <p:cNvSpPr/>
          <p:nvPr/>
        </p:nvSpPr>
        <p:spPr>
          <a:xfrm>
            <a:off x="1372943" y="3121290"/>
            <a:ext cx="3837600" cy="461665"/>
          </a:xfrm>
          <a:prstGeom prst="rect">
            <a:avLst/>
          </a:prstGeom>
        </p:spPr>
        <p:txBody>
          <a:bodyPr wrap="square">
            <a:spAutoFit/>
          </a:bodyPr>
          <a:lstStyle/>
          <a:p>
            <a:pPr algn="ctr"/>
            <a:r>
              <a:rPr lang="en-US" sz="1200" b="1" dirty="0">
                <a:solidFill>
                  <a:srgbClr val="002060"/>
                </a:solidFill>
              </a:rPr>
              <a:t>(c) </a:t>
            </a:r>
            <a:r>
              <a:rPr lang="en-US" sz="1200" u="sng" dirty="0">
                <a:solidFill>
                  <a:srgbClr val="002060"/>
                </a:solidFill>
              </a:rPr>
              <a:t>Multiphase LO/clock generation methods using </a:t>
            </a:r>
          </a:p>
          <a:p>
            <a:pPr algn="ctr"/>
            <a:r>
              <a:rPr lang="en-IN" sz="1200" u="sng" dirty="0">
                <a:solidFill>
                  <a:srgbClr val="002060"/>
                </a:solidFill>
              </a:rPr>
              <a:t>LC VCOs and frequency divider</a:t>
            </a:r>
          </a:p>
        </p:txBody>
      </p:sp>
      <p:pic>
        <p:nvPicPr>
          <p:cNvPr id="89" name="Picture 88">
            <a:extLst>
              <a:ext uri="{FF2B5EF4-FFF2-40B4-BE49-F238E27FC236}">
                <a16:creationId xmlns:a16="http://schemas.microsoft.com/office/drawing/2014/main" id="{B1AF9AE6-8BCC-3900-9137-9BBA4AE3ABE7}"/>
              </a:ext>
            </a:extLst>
          </p:cNvPr>
          <p:cNvPicPr>
            <a:picLocks noChangeAspect="1"/>
          </p:cNvPicPr>
          <p:nvPr/>
        </p:nvPicPr>
        <p:blipFill>
          <a:blip r:embed="rId8"/>
          <a:stretch>
            <a:fillRect/>
          </a:stretch>
        </p:blipFill>
        <p:spPr>
          <a:xfrm>
            <a:off x="7289608" y="1552166"/>
            <a:ext cx="4396315" cy="1435254"/>
          </a:xfrm>
          <a:prstGeom prst="rect">
            <a:avLst/>
          </a:prstGeom>
        </p:spPr>
      </p:pic>
      <p:sp>
        <p:nvSpPr>
          <p:cNvPr id="90" name="Text Placeholder 2"/>
          <p:cNvSpPr>
            <a:spLocks noGrp="1"/>
          </p:cNvSpPr>
          <p:nvPr>
            <p:ph type="body" idx="1"/>
          </p:nvPr>
        </p:nvSpPr>
        <p:spPr>
          <a:xfrm>
            <a:off x="610009" y="3826412"/>
            <a:ext cx="5185880" cy="2316135"/>
          </a:xfrm>
        </p:spPr>
        <p:txBody>
          <a:bodyPr>
            <a:normAutofit fontScale="92500"/>
          </a:bodyPr>
          <a:lstStyle/>
          <a:p>
            <a:pPr marL="285750" indent="-285750" algn="just">
              <a:buFont typeface="Wingdings" panose="05000000000000000000" pitchFamily="2" charset="2"/>
              <a:buChar char="q"/>
            </a:pPr>
            <a:r>
              <a:rPr lang="en-US" sz="1600" dirty="0">
                <a:solidFill>
                  <a:schemeClr val="tx1"/>
                </a:solidFill>
                <a:latin typeface="fkGroteskNeue"/>
              </a:rPr>
              <a:t>This scheme leverages a single, </a:t>
            </a:r>
            <a:r>
              <a:rPr lang="en-US" sz="1600" b="1" dirty="0">
                <a:solidFill>
                  <a:srgbClr val="00B050"/>
                </a:solidFill>
                <a:latin typeface="fkGroteskNeue"/>
              </a:rPr>
              <a:t>high-performance LC-VCO locked</a:t>
            </a:r>
            <a:r>
              <a:rPr lang="en-US" sz="1600" dirty="0">
                <a:solidFill>
                  <a:schemeClr val="tx1"/>
                </a:solidFill>
                <a:latin typeface="fkGroteskNeue"/>
              </a:rPr>
              <a:t> by a PLL. </a:t>
            </a:r>
            <a:endParaRPr lang="en-US" sz="1600" dirty="0" smtClean="0">
              <a:solidFill>
                <a:schemeClr val="tx1"/>
              </a:solidFill>
              <a:latin typeface="fkGroteskNeue"/>
            </a:endParaRPr>
          </a:p>
          <a:p>
            <a:pPr marL="285750" indent="-285750" algn="just">
              <a:buFont typeface="Wingdings" panose="05000000000000000000" pitchFamily="2" charset="2"/>
              <a:buChar char="q"/>
            </a:pPr>
            <a:r>
              <a:rPr lang="en-US" sz="1600" dirty="0" smtClean="0">
                <a:solidFill>
                  <a:schemeClr val="tx1"/>
                </a:solidFill>
                <a:latin typeface="fkGroteskNeue"/>
              </a:rPr>
              <a:t>A </a:t>
            </a:r>
            <a:r>
              <a:rPr lang="en-US" sz="1600" b="1" dirty="0">
                <a:solidFill>
                  <a:srgbClr val="00B050"/>
                </a:solidFill>
                <a:latin typeface="fkGroteskNeue"/>
              </a:rPr>
              <a:t>frequency divider electronically</a:t>
            </a:r>
            <a:r>
              <a:rPr lang="en-US" sz="1600" dirty="0">
                <a:solidFill>
                  <a:schemeClr val="tx1"/>
                </a:solidFill>
                <a:latin typeface="fkGroteskNeue"/>
              </a:rPr>
              <a:t> synthesizes the required </a:t>
            </a:r>
            <a:r>
              <a:rPr lang="en-US" sz="1600" b="1" dirty="0">
                <a:solidFill>
                  <a:srgbClr val="00B050"/>
                </a:solidFill>
                <a:latin typeface="fkGroteskNeue"/>
              </a:rPr>
              <a:t>number of equidistant clock or LO phases</a:t>
            </a:r>
            <a:r>
              <a:rPr lang="en-US" sz="1600" dirty="0">
                <a:solidFill>
                  <a:schemeClr val="tx1"/>
                </a:solidFill>
                <a:latin typeface="fkGroteskNeue"/>
              </a:rPr>
              <a:t>. </a:t>
            </a:r>
            <a:endParaRPr lang="en-US" sz="1600" dirty="0" smtClean="0">
              <a:solidFill>
                <a:schemeClr val="tx1"/>
              </a:solidFill>
              <a:latin typeface="fkGroteskNeue"/>
            </a:endParaRPr>
          </a:p>
          <a:p>
            <a:pPr marL="285750" indent="-285750" algn="just">
              <a:buFont typeface="Wingdings" panose="05000000000000000000" pitchFamily="2" charset="2"/>
              <a:buChar char="q"/>
            </a:pPr>
            <a:r>
              <a:rPr lang="en-US" sz="1600" dirty="0" smtClean="0">
                <a:solidFill>
                  <a:schemeClr val="tx1"/>
                </a:solidFill>
                <a:latin typeface="fkGroteskNeue"/>
              </a:rPr>
              <a:t>This </a:t>
            </a:r>
            <a:r>
              <a:rPr lang="en-US" sz="1600" dirty="0">
                <a:solidFill>
                  <a:schemeClr val="tx1"/>
                </a:solidFill>
                <a:latin typeface="fkGroteskNeue"/>
              </a:rPr>
              <a:t>method delivers </a:t>
            </a:r>
            <a:r>
              <a:rPr lang="en-US" sz="1600" b="1" dirty="0">
                <a:solidFill>
                  <a:srgbClr val="00B050"/>
                </a:solidFill>
                <a:latin typeface="fkGroteskNeue"/>
              </a:rPr>
              <a:t>excellent jitter performance </a:t>
            </a:r>
            <a:r>
              <a:rPr lang="en-US" sz="1600" dirty="0">
                <a:solidFill>
                  <a:schemeClr val="tx1"/>
                </a:solidFill>
                <a:latin typeface="fkGroteskNeue"/>
              </a:rPr>
              <a:t>and </a:t>
            </a:r>
            <a:r>
              <a:rPr lang="en-US" sz="1600" b="1" dirty="0">
                <a:solidFill>
                  <a:srgbClr val="00B050"/>
                </a:solidFill>
                <a:latin typeface="fkGroteskNeue"/>
              </a:rPr>
              <a:t>robust immunity to supply and substrate interference</a:t>
            </a:r>
            <a:r>
              <a:rPr lang="en-US" sz="1600" dirty="0">
                <a:solidFill>
                  <a:schemeClr val="tx1"/>
                </a:solidFill>
                <a:latin typeface="fkGroteskNeue"/>
              </a:rPr>
              <a:t>, at the cost of </a:t>
            </a:r>
            <a:r>
              <a:rPr lang="en-US" sz="1600" dirty="0">
                <a:solidFill>
                  <a:srgbClr val="C00000"/>
                </a:solidFill>
                <a:latin typeface="fkGroteskNeue"/>
              </a:rPr>
              <a:t>additional propagation delay and division artifacts</a:t>
            </a:r>
            <a:r>
              <a:rPr lang="en-US" sz="1600" dirty="0">
                <a:solidFill>
                  <a:schemeClr val="tx1"/>
                </a:solidFill>
                <a:latin typeface="fkGroteskNeue"/>
              </a:rPr>
              <a:t>, constraining </a:t>
            </a:r>
            <a:r>
              <a:rPr lang="en-US" sz="1600" b="1" dirty="0">
                <a:solidFill>
                  <a:srgbClr val="C00000"/>
                </a:solidFill>
                <a:latin typeface="fkGroteskNeue"/>
              </a:rPr>
              <a:t>minimum attainable clock granularity and limiting very high phase-count implementations</a:t>
            </a:r>
            <a:r>
              <a:rPr lang="en-US" sz="1600" dirty="0">
                <a:solidFill>
                  <a:schemeClr val="tx1"/>
                </a:solidFill>
                <a:latin typeface="fkGroteskNeue"/>
              </a:rPr>
              <a:t>.</a:t>
            </a:r>
            <a:endParaRPr lang="en-US" sz="1600" dirty="0">
              <a:solidFill>
                <a:schemeClr val="tx1"/>
              </a:solidFill>
            </a:endParaRPr>
          </a:p>
        </p:txBody>
      </p:sp>
      <p:sp>
        <p:nvSpPr>
          <p:cNvPr id="91" name="Rectangle 90"/>
          <p:cNvSpPr/>
          <p:nvPr/>
        </p:nvSpPr>
        <p:spPr>
          <a:xfrm>
            <a:off x="6128825" y="3693164"/>
            <a:ext cx="5971735" cy="2554545"/>
          </a:xfrm>
          <a:prstGeom prst="rect">
            <a:avLst/>
          </a:prstGeom>
        </p:spPr>
        <p:txBody>
          <a:bodyPr wrap="square">
            <a:spAutoFit/>
          </a:bodyPr>
          <a:lstStyle/>
          <a:p>
            <a:pPr marL="285750" indent="-285750" algn="just">
              <a:buFont typeface="Wingdings" panose="05000000000000000000" pitchFamily="2" charset="2"/>
              <a:buChar char="q"/>
            </a:pPr>
            <a:r>
              <a:rPr lang="en-US" sz="1600" b="1" dirty="0">
                <a:solidFill>
                  <a:srgbClr val="00B050"/>
                </a:solidFill>
                <a:latin typeface="fkGroteskNeue"/>
              </a:rPr>
              <a:t>Combines</a:t>
            </a:r>
            <a:r>
              <a:rPr lang="en-US" sz="1600" dirty="0">
                <a:latin typeface="fkGroteskNeue"/>
              </a:rPr>
              <a:t> the </a:t>
            </a:r>
            <a:r>
              <a:rPr lang="en-US" sz="1600" b="1" dirty="0">
                <a:solidFill>
                  <a:srgbClr val="00B050"/>
                </a:solidFill>
                <a:latin typeface="fkGroteskNeue"/>
              </a:rPr>
              <a:t>low-jitter drive of an LC-VCO</a:t>
            </a:r>
            <a:r>
              <a:rPr lang="en-US" sz="1600" dirty="0">
                <a:latin typeface="fkGroteskNeue"/>
              </a:rPr>
              <a:t> (locked by PLL) with a cascade of </a:t>
            </a:r>
            <a:r>
              <a:rPr lang="en-US" sz="1600" b="1" dirty="0">
                <a:solidFill>
                  <a:srgbClr val="00B050"/>
                </a:solidFill>
                <a:latin typeface="fkGroteskNeue"/>
              </a:rPr>
              <a:t>digitally controlled delay cells </a:t>
            </a:r>
            <a:r>
              <a:rPr lang="en-US" sz="1600" dirty="0">
                <a:latin typeface="fkGroteskNeue"/>
              </a:rPr>
              <a:t>in a DLL configuration. </a:t>
            </a:r>
            <a:endParaRPr lang="en-US" sz="1600" dirty="0" smtClean="0">
              <a:latin typeface="fkGroteskNeue"/>
            </a:endParaRPr>
          </a:p>
          <a:p>
            <a:pPr marL="285750" indent="-285750" algn="just">
              <a:buFont typeface="Wingdings" panose="05000000000000000000" pitchFamily="2" charset="2"/>
              <a:buChar char="q"/>
            </a:pPr>
            <a:r>
              <a:rPr lang="en-US" sz="1600" dirty="0" smtClean="0">
                <a:latin typeface="fkGroteskNeue"/>
              </a:rPr>
              <a:t>This </a:t>
            </a:r>
            <a:r>
              <a:rPr lang="en-US" sz="1600" dirty="0">
                <a:latin typeface="fkGroteskNeue"/>
              </a:rPr>
              <a:t>architecture provides </a:t>
            </a:r>
            <a:r>
              <a:rPr lang="en-US" sz="1600" b="1" dirty="0">
                <a:solidFill>
                  <a:srgbClr val="00B050"/>
                </a:solidFill>
                <a:latin typeface="fkGroteskNeue"/>
              </a:rPr>
              <a:t>ultra-fine granularity in phase spacing and fast</a:t>
            </a:r>
            <a:r>
              <a:rPr lang="en-US" sz="1600" dirty="0">
                <a:latin typeface="fkGroteskNeue"/>
              </a:rPr>
              <a:t>, deterministic phase </a:t>
            </a:r>
            <a:r>
              <a:rPr lang="en-US" sz="1600" b="1" dirty="0">
                <a:solidFill>
                  <a:srgbClr val="00B050"/>
                </a:solidFill>
                <a:latin typeface="fkGroteskNeue"/>
              </a:rPr>
              <a:t>alignment—critical for time-interleaved ADCs and phase array systems</a:t>
            </a:r>
            <a:r>
              <a:rPr lang="en-US" sz="1600" dirty="0">
                <a:latin typeface="fkGroteskNeue"/>
              </a:rPr>
              <a:t>. </a:t>
            </a:r>
            <a:endParaRPr lang="en-US" sz="1600" dirty="0" smtClean="0">
              <a:latin typeface="fkGroteskNeue"/>
            </a:endParaRPr>
          </a:p>
          <a:p>
            <a:pPr marL="285750" indent="-285750" algn="just">
              <a:buFont typeface="Wingdings" panose="05000000000000000000" pitchFamily="2" charset="2"/>
              <a:buChar char="q"/>
            </a:pPr>
            <a:r>
              <a:rPr lang="en-US" sz="1600" dirty="0" smtClean="0">
                <a:latin typeface="fkGroteskNeue"/>
              </a:rPr>
              <a:t>While </a:t>
            </a:r>
            <a:r>
              <a:rPr lang="en-US" sz="1600" dirty="0">
                <a:latin typeface="fkGroteskNeue"/>
              </a:rPr>
              <a:t>offering </a:t>
            </a:r>
            <a:r>
              <a:rPr lang="en-US" sz="1600" b="1" dirty="0">
                <a:solidFill>
                  <a:srgbClr val="00B050"/>
                </a:solidFill>
                <a:latin typeface="fkGroteskNeue"/>
              </a:rPr>
              <a:t>exceptional phase matching and flexibility</a:t>
            </a:r>
            <a:r>
              <a:rPr lang="en-US" sz="1600" dirty="0">
                <a:latin typeface="fkGroteskNeue"/>
              </a:rPr>
              <a:t>, it demands </a:t>
            </a:r>
            <a:r>
              <a:rPr lang="en-US" sz="1600" b="1" dirty="0">
                <a:solidFill>
                  <a:srgbClr val="C00000"/>
                </a:solidFill>
                <a:latin typeface="fkGroteskNeue"/>
              </a:rPr>
              <a:t>precise delay calibration</a:t>
            </a:r>
            <a:r>
              <a:rPr lang="en-US" sz="1600" dirty="0">
                <a:latin typeface="fkGroteskNeue"/>
              </a:rPr>
              <a:t>, introduces </a:t>
            </a:r>
            <a:r>
              <a:rPr lang="en-US" sz="1600" b="1" dirty="0">
                <a:solidFill>
                  <a:srgbClr val="C00000"/>
                </a:solidFill>
                <a:latin typeface="fkGroteskNeue"/>
              </a:rPr>
              <a:t>higher power overhead</a:t>
            </a:r>
            <a:r>
              <a:rPr lang="en-US" sz="1600" dirty="0">
                <a:latin typeface="fkGroteskNeue"/>
              </a:rPr>
              <a:t>, and necessitates sophisticated control and monitoring circuitry.</a:t>
            </a:r>
            <a:endParaRPr lang="en-US" sz="1600" dirty="0"/>
          </a:p>
        </p:txBody>
      </p:sp>
      <p:sp>
        <p:nvSpPr>
          <p:cNvPr id="92" name="Rectangle 91"/>
          <p:cNvSpPr/>
          <p:nvPr/>
        </p:nvSpPr>
        <p:spPr>
          <a:xfrm>
            <a:off x="492760" y="1188720"/>
            <a:ext cx="5430520" cy="493378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93" name="Rectangle 92"/>
          <p:cNvSpPr/>
          <p:nvPr/>
        </p:nvSpPr>
        <p:spPr>
          <a:xfrm>
            <a:off x="6136640" y="1203960"/>
            <a:ext cx="6014720" cy="50444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9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52307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88" grpId="0"/>
      <p:bldP spid="90" grpId="0" build="p"/>
      <p:bldP spid="91" grpId="0"/>
      <p:bldP spid="92" grpId="0" animBg="1"/>
      <p:bldP spid="9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889" y="130108"/>
            <a:ext cx="12034998" cy="922762"/>
          </a:xfrm>
        </p:spPr>
        <p:txBody>
          <a:bodyPr>
            <a:normAutofit fontScale="90000"/>
          </a:bodyPr>
          <a:lstStyle/>
          <a:p>
            <a:r>
              <a:rPr lang="en-US" dirty="0"/>
              <a:t>Comparative Table: Advanced Multiphase Clock </a:t>
            </a:r>
            <a:r>
              <a:rPr lang="en-US" dirty="0" smtClean="0"/>
              <a:t>Generation</a:t>
            </a:r>
            <a:endParaRPr lang="en-US" dirty="0"/>
          </a:p>
        </p:txBody>
      </p:sp>
      <p:sp>
        <p:nvSpPr>
          <p:cNvPr id="5" name="Date Placeholder 4"/>
          <p:cNvSpPr>
            <a:spLocks noGrp="1"/>
          </p:cNvSpPr>
          <p:nvPr>
            <p:ph type="dt" sz="half" idx="6"/>
          </p:nvPr>
        </p:nvSpPr>
        <p:spPr>
          <a:xfrm>
            <a:off x="633377" y="6484750"/>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6940572-5249-4BDD-9F19-014A38A68A7E}"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a:xfrm>
            <a:off x="11390310" y="6564263"/>
            <a:ext cx="384399" cy="214631"/>
          </a:xfrm>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8</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graphicFrame>
        <p:nvGraphicFramePr>
          <p:cNvPr id="7" name="Table 6"/>
          <p:cNvGraphicFramePr>
            <a:graphicFrameLocks noGrp="1"/>
          </p:cNvGraphicFramePr>
          <p:nvPr>
            <p:extLst>
              <p:ext uri="{D42A27DB-BD31-4B8C-83A1-F6EECF244321}">
                <p14:modId xmlns:p14="http://schemas.microsoft.com/office/powerpoint/2010/main" val="2833167574"/>
              </p:ext>
            </p:extLst>
          </p:nvPr>
        </p:nvGraphicFramePr>
        <p:xfrm>
          <a:off x="558018" y="1501775"/>
          <a:ext cx="11471422" cy="4794488"/>
        </p:xfrm>
        <a:graphic>
          <a:graphicData uri="http://schemas.openxmlformats.org/drawingml/2006/table">
            <a:tbl>
              <a:tblPr>
                <a:tableStyleId>{616DA210-FB5B-4158-B5E0-FEB733F419BA}</a:tableStyleId>
              </a:tblPr>
              <a:tblGrid>
                <a:gridCol w="1438422">
                  <a:extLst>
                    <a:ext uri="{9D8B030D-6E8A-4147-A177-3AD203B41FA5}">
                      <a16:colId xmlns:a16="http://schemas.microsoft.com/office/drawing/2014/main" val="408410594"/>
                    </a:ext>
                  </a:extLst>
                </a:gridCol>
                <a:gridCol w="1772920">
                  <a:extLst>
                    <a:ext uri="{9D8B030D-6E8A-4147-A177-3AD203B41FA5}">
                      <a16:colId xmlns:a16="http://schemas.microsoft.com/office/drawing/2014/main" val="4171052348"/>
                    </a:ext>
                  </a:extLst>
                </a:gridCol>
                <a:gridCol w="1200003">
                  <a:extLst>
                    <a:ext uri="{9D8B030D-6E8A-4147-A177-3AD203B41FA5}">
                      <a16:colId xmlns:a16="http://schemas.microsoft.com/office/drawing/2014/main" val="2074464467"/>
                    </a:ext>
                  </a:extLst>
                </a:gridCol>
                <a:gridCol w="1613318">
                  <a:extLst>
                    <a:ext uri="{9D8B030D-6E8A-4147-A177-3AD203B41FA5}">
                      <a16:colId xmlns:a16="http://schemas.microsoft.com/office/drawing/2014/main" val="1727508807"/>
                    </a:ext>
                  </a:extLst>
                </a:gridCol>
                <a:gridCol w="1281024">
                  <a:extLst>
                    <a:ext uri="{9D8B030D-6E8A-4147-A177-3AD203B41FA5}">
                      <a16:colId xmlns:a16="http://schemas.microsoft.com/office/drawing/2014/main" val="1612019245"/>
                    </a:ext>
                  </a:extLst>
                </a:gridCol>
                <a:gridCol w="1101391">
                  <a:extLst>
                    <a:ext uri="{9D8B030D-6E8A-4147-A177-3AD203B41FA5}">
                      <a16:colId xmlns:a16="http://schemas.microsoft.com/office/drawing/2014/main" val="32206131"/>
                    </a:ext>
                  </a:extLst>
                </a:gridCol>
                <a:gridCol w="3064344">
                  <a:extLst>
                    <a:ext uri="{9D8B030D-6E8A-4147-A177-3AD203B41FA5}">
                      <a16:colId xmlns:a16="http://schemas.microsoft.com/office/drawing/2014/main" val="2519482904"/>
                    </a:ext>
                  </a:extLst>
                </a:gridCol>
              </a:tblGrid>
              <a:tr h="509905">
                <a:tc>
                  <a:txBody>
                    <a:bodyPr/>
                    <a:lstStyle/>
                    <a:p>
                      <a:pPr algn="ctr"/>
                      <a:r>
                        <a:rPr lang="en-US" sz="1800" b="1" dirty="0">
                          <a:solidFill>
                            <a:schemeClr val="accent2">
                              <a:lumMod val="75000"/>
                            </a:schemeClr>
                          </a:solidFill>
                          <a:effectLst/>
                        </a:rPr>
                        <a:t>Architecture</a:t>
                      </a:r>
                    </a:p>
                  </a:txBody>
                  <a:tcPr marL="39607" marR="39607" marT="39607" marB="39607" anchor="ctr">
                    <a:solidFill>
                      <a:schemeClr val="bg1">
                        <a:lumMod val="75000"/>
                      </a:schemeClr>
                    </a:solidFill>
                  </a:tcPr>
                </a:tc>
                <a:tc>
                  <a:txBody>
                    <a:bodyPr/>
                    <a:lstStyle/>
                    <a:p>
                      <a:pPr algn="ctr"/>
                      <a:r>
                        <a:rPr lang="en-US" sz="1800" b="1" dirty="0">
                          <a:solidFill>
                            <a:schemeClr val="accent2">
                              <a:lumMod val="75000"/>
                            </a:schemeClr>
                          </a:solidFill>
                          <a:effectLst/>
                        </a:rPr>
                        <a:t>Jitter/Phase Noise</a:t>
                      </a:r>
                    </a:p>
                  </a:txBody>
                  <a:tcPr marL="39607" marR="39607" marT="39607" marB="39607" anchor="ctr">
                    <a:solidFill>
                      <a:schemeClr val="bg1">
                        <a:lumMod val="75000"/>
                      </a:schemeClr>
                    </a:solidFill>
                  </a:tcPr>
                </a:tc>
                <a:tc>
                  <a:txBody>
                    <a:bodyPr/>
                    <a:lstStyle/>
                    <a:p>
                      <a:pPr algn="ctr"/>
                      <a:r>
                        <a:rPr lang="en-US" sz="1800" b="1">
                          <a:solidFill>
                            <a:schemeClr val="accent2">
                              <a:lumMod val="75000"/>
                            </a:schemeClr>
                          </a:solidFill>
                          <a:effectLst/>
                        </a:rPr>
                        <a:t>Silicon Area</a:t>
                      </a:r>
                    </a:p>
                  </a:txBody>
                  <a:tcPr marL="39607" marR="39607" marT="39607" marB="39607" anchor="ctr">
                    <a:solidFill>
                      <a:schemeClr val="bg1">
                        <a:lumMod val="75000"/>
                      </a:schemeClr>
                    </a:solidFill>
                  </a:tcPr>
                </a:tc>
                <a:tc>
                  <a:txBody>
                    <a:bodyPr/>
                    <a:lstStyle/>
                    <a:p>
                      <a:pPr algn="ctr"/>
                      <a:r>
                        <a:rPr lang="en-US" sz="1800" b="1" dirty="0">
                          <a:solidFill>
                            <a:schemeClr val="accent2">
                              <a:lumMod val="75000"/>
                            </a:schemeClr>
                          </a:solidFill>
                          <a:effectLst/>
                        </a:rPr>
                        <a:t>Phase Accuracy</a:t>
                      </a:r>
                    </a:p>
                  </a:txBody>
                  <a:tcPr marL="39607" marR="39607" marT="39607" marB="39607" anchor="ctr">
                    <a:solidFill>
                      <a:schemeClr val="bg1">
                        <a:lumMod val="75000"/>
                      </a:schemeClr>
                    </a:solidFill>
                  </a:tcPr>
                </a:tc>
                <a:tc>
                  <a:txBody>
                    <a:bodyPr/>
                    <a:lstStyle/>
                    <a:p>
                      <a:pPr algn="ctr"/>
                      <a:r>
                        <a:rPr lang="en-US" sz="1800" b="1">
                          <a:solidFill>
                            <a:schemeClr val="accent2">
                              <a:lumMod val="75000"/>
                            </a:schemeClr>
                          </a:solidFill>
                          <a:effectLst/>
                        </a:rPr>
                        <a:t>Integration</a:t>
                      </a:r>
                    </a:p>
                  </a:txBody>
                  <a:tcPr marL="39607" marR="39607" marT="39607" marB="39607" anchor="ctr">
                    <a:solidFill>
                      <a:schemeClr val="bg1">
                        <a:lumMod val="75000"/>
                      </a:schemeClr>
                    </a:solidFill>
                  </a:tcPr>
                </a:tc>
                <a:tc>
                  <a:txBody>
                    <a:bodyPr/>
                    <a:lstStyle/>
                    <a:p>
                      <a:pPr algn="ctr"/>
                      <a:r>
                        <a:rPr lang="en-US" sz="1800" b="1">
                          <a:solidFill>
                            <a:schemeClr val="accent2">
                              <a:lumMod val="75000"/>
                            </a:schemeClr>
                          </a:solidFill>
                          <a:effectLst/>
                        </a:rPr>
                        <a:t>Scalability</a:t>
                      </a:r>
                    </a:p>
                  </a:txBody>
                  <a:tcPr marL="39607" marR="39607" marT="39607" marB="39607" anchor="ctr">
                    <a:solidFill>
                      <a:schemeClr val="bg1">
                        <a:lumMod val="75000"/>
                      </a:schemeClr>
                    </a:solidFill>
                  </a:tcPr>
                </a:tc>
                <a:tc>
                  <a:txBody>
                    <a:bodyPr/>
                    <a:lstStyle/>
                    <a:p>
                      <a:pPr algn="ctr"/>
                      <a:r>
                        <a:rPr lang="en-US" sz="1800" b="1" dirty="0">
                          <a:solidFill>
                            <a:schemeClr val="accent2">
                              <a:lumMod val="75000"/>
                            </a:schemeClr>
                          </a:solidFill>
                          <a:effectLst/>
                        </a:rPr>
                        <a:t>Remarks</a:t>
                      </a:r>
                    </a:p>
                  </a:txBody>
                  <a:tcPr marL="39607" marR="39607" marT="39607" marB="39607" anchor="ctr">
                    <a:solidFill>
                      <a:schemeClr val="bg1">
                        <a:lumMod val="75000"/>
                      </a:schemeClr>
                    </a:solidFill>
                  </a:tcPr>
                </a:tc>
                <a:extLst>
                  <a:ext uri="{0D108BD9-81ED-4DB2-BD59-A6C34878D82A}">
                    <a16:rowId xmlns:a16="http://schemas.microsoft.com/office/drawing/2014/main" val="1996101560"/>
                  </a:ext>
                </a:extLst>
              </a:tr>
              <a:tr h="1148597">
                <a:tc>
                  <a:txBody>
                    <a:bodyPr/>
                    <a:lstStyle/>
                    <a:p>
                      <a:pPr algn="ctr"/>
                      <a:r>
                        <a:rPr lang="en-US" sz="1800" b="1" dirty="0">
                          <a:solidFill>
                            <a:srgbClr val="00B050"/>
                          </a:solidFill>
                          <a:effectLst/>
                        </a:rPr>
                        <a:t>Ring Oscillator </a:t>
                      </a:r>
                    </a:p>
                  </a:txBody>
                  <a:tcPr marL="39607" marR="39607" marT="39607" marB="39607" anchor="ctr"/>
                </a:tc>
                <a:tc>
                  <a:txBody>
                    <a:bodyPr/>
                    <a:lstStyle/>
                    <a:p>
                      <a:pPr algn="ctr"/>
                      <a:r>
                        <a:rPr lang="en-US" sz="1800" b="1" dirty="0">
                          <a:solidFill>
                            <a:srgbClr val="C00000"/>
                          </a:solidFill>
                          <a:effectLst/>
                        </a:rPr>
                        <a:t>High</a:t>
                      </a:r>
                    </a:p>
                  </a:txBody>
                  <a:tcPr marL="39607" marR="39607" marT="39607" marB="39607" anchor="ctr"/>
                </a:tc>
                <a:tc>
                  <a:txBody>
                    <a:bodyPr/>
                    <a:lstStyle/>
                    <a:p>
                      <a:pPr algn="ctr"/>
                      <a:r>
                        <a:rPr lang="en-US" sz="1800" b="1" dirty="0">
                          <a:solidFill>
                            <a:srgbClr val="00B050"/>
                          </a:solidFill>
                          <a:effectLst/>
                        </a:rPr>
                        <a:t>Compact</a:t>
                      </a:r>
                    </a:p>
                  </a:txBody>
                  <a:tcPr marL="39607" marR="39607" marT="39607" marB="39607" anchor="ctr"/>
                </a:tc>
                <a:tc>
                  <a:txBody>
                    <a:bodyPr/>
                    <a:lstStyle/>
                    <a:p>
                      <a:pPr algn="ctr"/>
                      <a:r>
                        <a:rPr lang="en-US" sz="1800" dirty="0">
                          <a:solidFill>
                            <a:srgbClr val="00B050"/>
                          </a:solidFill>
                          <a:effectLst/>
                        </a:rPr>
                        <a:t>Moderate</a:t>
                      </a:r>
                    </a:p>
                  </a:txBody>
                  <a:tcPr marL="39607" marR="39607" marT="39607" marB="39607" anchor="ctr"/>
                </a:tc>
                <a:tc>
                  <a:txBody>
                    <a:bodyPr/>
                    <a:lstStyle/>
                    <a:p>
                      <a:pPr algn="ctr"/>
                      <a:r>
                        <a:rPr lang="en-US" sz="1800" b="1" dirty="0">
                          <a:solidFill>
                            <a:srgbClr val="00B050"/>
                          </a:solidFill>
                          <a:effectLst/>
                        </a:rPr>
                        <a:t>Excellent</a:t>
                      </a:r>
                    </a:p>
                  </a:txBody>
                  <a:tcPr marL="39607" marR="39607" marT="39607" marB="39607" anchor="ctr"/>
                </a:tc>
                <a:tc>
                  <a:txBody>
                    <a:bodyPr/>
                    <a:lstStyle/>
                    <a:p>
                      <a:pPr algn="ctr"/>
                      <a:r>
                        <a:rPr lang="en-US" sz="1800" dirty="0">
                          <a:effectLst/>
                        </a:rPr>
                        <a:t>Easy</a:t>
                      </a:r>
                    </a:p>
                  </a:txBody>
                  <a:tcPr marL="39607" marR="39607" marT="39607" marB="39607" anchor="ctr"/>
                </a:tc>
                <a:tc>
                  <a:txBody>
                    <a:bodyPr/>
                    <a:lstStyle/>
                    <a:p>
                      <a:pPr algn="ctr"/>
                      <a:r>
                        <a:rPr lang="en-US" sz="1800" b="1" dirty="0">
                          <a:solidFill>
                            <a:srgbClr val="002060"/>
                          </a:solidFill>
                          <a:effectLst/>
                        </a:rPr>
                        <a:t>Popular for digital </a:t>
                      </a:r>
                      <a:r>
                        <a:rPr lang="en-US" sz="1800" b="1" dirty="0" err="1">
                          <a:solidFill>
                            <a:srgbClr val="002060"/>
                          </a:solidFill>
                          <a:effectLst/>
                        </a:rPr>
                        <a:t>SoCs</a:t>
                      </a:r>
                      <a:r>
                        <a:rPr lang="en-US" sz="1800" b="1" dirty="0">
                          <a:solidFill>
                            <a:srgbClr val="002060"/>
                          </a:solidFill>
                          <a:effectLst/>
                        </a:rPr>
                        <a:t>, but </a:t>
                      </a:r>
                      <a:r>
                        <a:rPr lang="en-US" sz="1800" b="1" dirty="0" smtClean="0">
                          <a:solidFill>
                            <a:srgbClr val="002060"/>
                          </a:solidFill>
                          <a:effectLst/>
                        </a:rPr>
                        <a:t>limited </a:t>
                      </a:r>
                      <a:r>
                        <a:rPr lang="en-US" sz="1800" b="1" dirty="0">
                          <a:solidFill>
                            <a:srgbClr val="002060"/>
                          </a:solidFill>
                          <a:effectLst/>
                        </a:rPr>
                        <a:t>for RF/precision analog</a:t>
                      </a:r>
                    </a:p>
                  </a:txBody>
                  <a:tcPr marL="39607" marR="39607" marT="39607" marB="39607" anchor="ctr"/>
                </a:tc>
                <a:extLst>
                  <a:ext uri="{0D108BD9-81ED-4DB2-BD59-A6C34878D82A}">
                    <a16:rowId xmlns:a16="http://schemas.microsoft.com/office/drawing/2014/main" val="961110047"/>
                  </a:ext>
                </a:extLst>
              </a:tr>
              <a:tr h="934720">
                <a:tc>
                  <a:txBody>
                    <a:bodyPr/>
                    <a:lstStyle/>
                    <a:p>
                      <a:pPr algn="ctr"/>
                      <a:r>
                        <a:rPr lang="en-US" sz="1800" b="1" dirty="0">
                          <a:solidFill>
                            <a:srgbClr val="00B050"/>
                          </a:solidFill>
                          <a:effectLst/>
                        </a:rPr>
                        <a:t>LC-VCO Ring </a:t>
                      </a:r>
                    </a:p>
                  </a:txBody>
                  <a:tcPr marL="39607" marR="39607" marT="39607" marB="39607" anchor="ctr"/>
                </a:tc>
                <a:tc>
                  <a:txBody>
                    <a:bodyPr/>
                    <a:lstStyle/>
                    <a:p>
                      <a:pPr algn="ctr"/>
                      <a:r>
                        <a:rPr lang="en-US" sz="1800" dirty="0">
                          <a:effectLst/>
                        </a:rPr>
                        <a:t>Ultra-low</a:t>
                      </a:r>
                    </a:p>
                  </a:txBody>
                  <a:tcPr marL="39607" marR="39607" marT="39607" marB="39607" anchor="ctr"/>
                </a:tc>
                <a:tc>
                  <a:txBody>
                    <a:bodyPr/>
                    <a:lstStyle/>
                    <a:p>
                      <a:pPr algn="ctr"/>
                      <a:r>
                        <a:rPr lang="en-US" sz="1800" dirty="0">
                          <a:effectLst/>
                        </a:rPr>
                        <a:t>Large</a:t>
                      </a:r>
                    </a:p>
                  </a:txBody>
                  <a:tcPr marL="39607" marR="39607" marT="39607" marB="39607" anchor="ctr"/>
                </a:tc>
                <a:tc>
                  <a:txBody>
                    <a:bodyPr/>
                    <a:lstStyle/>
                    <a:p>
                      <a:pPr algn="ctr"/>
                      <a:r>
                        <a:rPr lang="en-US" sz="1800" b="1" dirty="0">
                          <a:solidFill>
                            <a:srgbClr val="00B050"/>
                          </a:solidFill>
                          <a:effectLst/>
                        </a:rPr>
                        <a:t>Excellent</a:t>
                      </a:r>
                    </a:p>
                  </a:txBody>
                  <a:tcPr marL="39607" marR="39607" marT="39607" marB="39607" anchor="ctr"/>
                </a:tc>
                <a:tc>
                  <a:txBody>
                    <a:bodyPr/>
                    <a:lstStyle/>
                    <a:p>
                      <a:pPr algn="ctr"/>
                      <a:r>
                        <a:rPr lang="en-US" sz="1800" b="1" dirty="0">
                          <a:solidFill>
                            <a:srgbClr val="C00000"/>
                          </a:solidFill>
                          <a:effectLst/>
                        </a:rPr>
                        <a:t>Challenging</a:t>
                      </a:r>
                    </a:p>
                  </a:txBody>
                  <a:tcPr marL="39607" marR="39607" marT="39607" marB="39607" anchor="ctr"/>
                </a:tc>
                <a:tc>
                  <a:txBody>
                    <a:bodyPr/>
                    <a:lstStyle/>
                    <a:p>
                      <a:pPr algn="ctr"/>
                      <a:r>
                        <a:rPr lang="en-US" sz="1800" dirty="0">
                          <a:effectLst/>
                        </a:rPr>
                        <a:t>Moderate</a:t>
                      </a:r>
                    </a:p>
                  </a:txBody>
                  <a:tcPr marL="39607" marR="39607" marT="39607" marB="39607" anchor="ctr"/>
                </a:tc>
                <a:tc>
                  <a:txBody>
                    <a:bodyPr/>
                    <a:lstStyle/>
                    <a:p>
                      <a:pPr algn="ctr"/>
                      <a:r>
                        <a:rPr lang="en-US" sz="1800" b="1" dirty="0">
                          <a:solidFill>
                            <a:srgbClr val="002060"/>
                          </a:solidFill>
                          <a:effectLst/>
                        </a:rPr>
                        <a:t>De facto for RF front-ends, </a:t>
                      </a:r>
                      <a:r>
                        <a:rPr lang="en-US" sz="1800" b="1" dirty="0" err="1">
                          <a:solidFill>
                            <a:srgbClr val="002060"/>
                          </a:solidFill>
                          <a:effectLst/>
                        </a:rPr>
                        <a:t>SerDes</a:t>
                      </a:r>
                      <a:r>
                        <a:rPr lang="en-US" sz="1800" b="1" dirty="0">
                          <a:solidFill>
                            <a:srgbClr val="002060"/>
                          </a:solidFill>
                          <a:effectLst/>
                        </a:rPr>
                        <a:t>, </a:t>
                      </a:r>
                      <a:r>
                        <a:rPr lang="en-US" sz="1800" b="1" dirty="0" err="1">
                          <a:solidFill>
                            <a:srgbClr val="002060"/>
                          </a:solidFill>
                          <a:effectLst/>
                        </a:rPr>
                        <a:t>mmWave</a:t>
                      </a:r>
                      <a:endParaRPr lang="en-US" sz="1800" b="1" dirty="0">
                        <a:solidFill>
                          <a:srgbClr val="002060"/>
                        </a:solidFill>
                        <a:effectLst/>
                      </a:endParaRPr>
                    </a:p>
                  </a:txBody>
                  <a:tcPr marL="39607" marR="39607" marT="39607" marB="39607" anchor="ctr"/>
                </a:tc>
                <a:extLst>
                  <a:ext uri="{0D108BD9-81ED-4DB2-BD59-A6C34878D82A}">
                    <a16:rowId xmlns:a16="http://schemas.microsoft.com/office/drawing/2014/main" val="1490571593"/>
                  </a:ext>
                </a:extLst>
              </a:tr>
              <a:tr h="934720">
                <a:tc>
                  <a:txBody>
                    <a:bodyPr/>
                    <a:lstStyle/>
                    <a:p>
                      <a:pPr algn="ctr"/>
                      <a:r>
                        <a:rPr lang="en-US" sz="1800" b="1" dirty="0">
                          <a:solidFill>
                            <a:srgbClr val="00B050"/>
                          </a:solidFill>
                          <a:effectLst/>
                        </a:rPr>
                        <a:t>LC-VCO </a:t>
                      </a:r>
                      <a:r>
                        <a:rPr lang="en-US" sz="1800" b="1" dirty="0" smtClean="0">
                          <a:solidFill>
                            <a:srgbClr val="00B050"/>
                          </a:solidFill>
                          <a:effectLst/>
                        </a:rPr>
                        <a:t>Divider</a:t>
                      </a:r>
                      <a:endParaRPr lang="en-US" sz="1800" b="1" dirty="0">
                        <a:solidFill>
                          <a:srgbClr val="00B050"/>
                        </a:solidFill>
                        <a:effectLst/>
                      </a:endParaRPr>
                    </a:p>
                  </a:txBody>
                  <a:tcPr marL="39607" marR="39607" marT="39607" marB="39607" anchor="ctr"/>
                </a:tc>
                <a:tc>
                  <a:txBody>
                    <a:bodyPr/>
                    <a:lstStyle/>
                    <a:p>
                      <a:pPr algn="ctr"/>
                      <a:r>
                        <a:rPr lang="en-US" sz="1800" b="1" dirty="0">
                          <a:solidFill>
                            <a:srgbClr val="C00000"/>
                          </a:solidFill>
                          <a:effectLst/>
                        </a:rPr>
                        <a:t>Low</a:t>
                      </a:r>
                    </a:p>
                  </a:txBody>
                  <a:tcPr marL="39607" marR="39607" marT="39607" marB="39607" anchor="ctr"/>
                </a:tc>
                <a:tc>
                  <a:txBody>
                    <a:bodyPr/>
                    <a:lstStyle/>
                    <a:p>
                      <a:pPr algn="ctr"/>
                      <a:r>
                        <a:rPr lang="en-US" sz="1800" dirty="0">
                          <a:effectLst/>
                        </a:rPr>
                        <a:t>Moderate</a:t>
                      </a:r>
                    </a:p>
                  </a:txBody>
                  <a:tcPr marL="39607" marR="39607" marT="39607" marB="39607" anchor="ctr"/>
                </a:tc>
                <a:tc>
                  <a:txBody>
                    <a:bodyPr/>
                    <a:lstStyle/>
                    <a:p>
                      <a:pPr algn="ctr"/>
                      <a:r>
                        <a:rPr lang="en-US" sz="1800" dirty="0">
                          <a:effectLst/>
                        </a:rPr>
                        <a:t>Good</a:t>
                      </a:r>
                    </a:p>
                  </a:txBody>
                  <a:tcPr marL="39607" marR="39607" marT="39607" marB="39607" anchor="ctr"/>
                </a:tc>
                <a:tc>
                  <a:txBody>
                    <a:bodyPr/>
                    <a:lstStyle/>
                    <a:p>
                      <a:pPr algn="ctr"/>
                      <a:r>
                        <a:rPr lang="en-US" sz="1800" dirty="0">
                          <a:effectLst/>
                        </a:rPr>
                        <a:t>Good</a:t>
                      </a:r>
                    </a:p>
                  </a:txBody>
                  <a:tcPr marL="39607" marR="39607" marT="39607" marB="39607" anchor="ctr"/>
                </a:tc>
                <a:tc>
                  <a:txBody>
                    <a:bodyPr/>
                    <a:lstStyle/>
                    <a:p>
                      <a:pPr algn="ctr"/>
                      <a:r>
                        <a:rPr lang="en-US" sz="1800" dirty="0">
                          <a:effectLst/>
                        </a:rPr>
                        <a:t>Moderate</a:t>
                      </a:r>
                    </a:p>
                  </a:txBody>
                  <a:tcPr marL="39607" marR="39607" marT="39607" marB="39607" anchor="ctr"/>
                </a:tc>
                <a:tc>
                  <a:txBody>
                    <a:bodyPr/>
                    <a:lstStyle/>
                    <a:p>
                      <a:pPr algn="ctr"/>
                      <a:r>
                        <a:rPr lang="en-US" sz="1800" b="1" dirty="0">
                          <a:solidFill>
                            <a:srgbClr val="002060"/>
                          </a:solidFill>
                          <a:effectLst/>
                        </a:rPr>
                        <a:t>Robust, divider non-idealities at </a:t>
                      </a:r>
                      <a:endParaRPr lang="en-US" sz="1800" b="1" dirty="0" smtClean="0">
                        <a:solidFill>
                          <a:srgbClr val="002060"/>
                        </a:solidFill>
                        <a:effectLst/>
                      </a:endParaRPr>
                    </a:p>
                    <a:p>
                      <a:pPr algn="ctr"/>
                      <a:r>
                        <a:rPr lang="en-US" sz="1800" b="1" dirty="0" smtClean="0">
                          <a:solidFill>
                            <a:srgbClr val="002060"/>
                          </a:solidFill>
                          <a:effectLst/>
                        </a:rPr>
                        <a:t>lower </a:t>
                      </a:r>
                      <a:r>
                        <a:rPr lang="en-US" sz="1800" b="1" dirty="0" err="1" smtClean="0">
                          <a:solidFill>
                            <a:srgbClr val="002060"/>
                          </a:solidFill>
                          <a:effectLst/>
                        </a:rPr>
                        <a:t>fclk</a:t>
                      </a:r>
                      <a:endParaRPr lang="en-US" sz="1800" b="1" dirty="0">
                        <a:solidFill>
                          <a:srgbClr val="002060"/>
                        </a:solidFill>
                        <a:effectLst/>
                      </a:endParaRPr>
                    </a:p>
                  </a:txBody>
                  <a:tcPr marL="39607" marR="39607" marT="39607" marB="39607" anchor="ctr"/>
                </a:tc>
                <a:extLst>
                  <a:ext uri="{0D108BD9-81ED-4DB2-BD59-A6C34878D82A}">
                    <a16:rowId xmlns:a16="http://schemas.microsoft.com/office/drawing/2014/main" val="2814646879"/>
                  </a:ext>
                </a:extLst>
              </a:tr>
              <a:tr h="1148597">
                <a:tc>
                  <a:txBody>
                    <a:bodyPr/>
                    <a:lstStyle/>
                    <a:p>
                      <a:pPr algn="ctr"/>
                      <a:r>
                        <a:rPr lang="en-US" sz="1800" b="1" dirty="0">
                          <a:solidFill>
                            <a:srgbClr val="00B050"/>
                          </a:solidFill>
                          <a:effectLst/>
                        </a:rPr>
                        <a:t>DLL + LC-VCO </a:t>
                      </a:r>
                    </a:p>
                  </a:txBody>
                  <a:tcPr marL="39607" marR="39607" marT="39607" marB="39607" anchor="ctr"/>
                </a:tc>
                <a:tc>
                  <a:txBody>
                    <a:bodyPr/>
                    <a:lstStyle/>
                    <a:p>
                      <a:pPr algn="ctr"/>
                      <a:r>
                        <a:rPr lang="en-US" sz="1800" b="1" dirty="0">
                          <a:solidFill>
                            <a:srgbClr val="C00000"/>
                          </a:solidFill>
                          <a:effectLst/>
                        </a:rPr>
                        <a:t>Low</a:t>
                      </a:r>
                    </a:p>
                  </a:txBody>
                  <a:tcPr marL="39607" marR="39607" marT="39607" marB="39607" anchor="ctr"/>
                </a:tc>
                <a:tc>
                  <a:txBody>
                    <a:bodyPr/>
                    <a:lstStyle/>
                    <a:p>
                      <a:pPr algn="ctr"/>
                      <a:r>
                        <a:rPr lang="en-US" sz="1800" b="1" dirty="0">
                          <a:solidFill>
                            <a:srgbClr val="C00000"/>
                          </a:solidFill>
                          <a:effectLst/>
                        </a:rPr>
                        <a:t>High</a:t>
                      </a:r>
                    </a:p>
                  </a:txBody>
                  <a:tcPr marL="39607" marR="39607" marT="39607" marB="39607" anchor="ctr"/>
                </a:tc>
                <a:tc>
                  <a:txBody>
                    <a:bodyPr/>
                    <a:lstStyle/>
                    <a:p>
                      <a:pPr algn="ctr"/>
                      <a:r>
                        <a:rPr lang="en-US" sz="1800">
                          <a:effectLst/>
                        </a:rPr>
                        <a:t>Superior</a:t>
                      </a:r>
                    </a:p>
                  </a:txBody>
                  <a:tcPr marL="39607" marR="39607" marT="39607" marB="39607" anchor="ctr"/>
                </a:tc>
                <a:tc>
                  <a:txBody>
                    <a:bodyPr/>
                    <a:lstStyle/>
                    <a:p>
                      <a:pPr algn="ctr"/>
                      <a:r>
                        <a:rPr lang="en-US" sz="1800" b="1" dirty="0">
                          <a:solidFill>
                            <a:srgbClr val="C00000"/>
                          </a:solidFill>
                          <a:effectLst/>
                        </a:rPr>
                        <a:t>Complex</a:t>
                      </a:r>
                    </a:p>
                  </a:txBody>
                  <a:tcPr marL="39607" marR="39607" marT="39607" marB="39607" anchor="ctr"/>
                </a:tc>
                <a:tc>
                  <a:txBody>
                    <a:bodyPr/>
                    <a:lstStyle/>
                    <a:p>
                      <a:pPr algn="ctr"/>
                      <a:r>
                        <a:rPr lang="en-US" sz="1800" b="1" dirty="0">
                          <a:solidFill>
                            <a:srgbClr val="00B050"/>
                          </a:solidFill>
                          <a:effectLst/>
                        </a:rPr>
                        <a:t>Excellent</a:t>
                      </a:r>
                    </a:p>
                  </a:txBody>
                  <a:tcPr marL="39607" marR="39607" marT="39607" marB="39607" anchor="ctr"/>
                </a:tc>
                <a:tc>
                  <a:txBody>
                    <a:bodyPr/>
                    <a:lstStyle/>
                    <a:p>
                      <a:pPr algn="ctr"/>
                      <a:r>
                        <a:rPr lang="en-US" sz="1800" b="1" dirty="0">
                          <a:solidFill>
                            <a:srgbClr val="002060"/>
                          </a:solidFill>
                          <a:effectLst/>
                        </a:rPr>
                        <a:t>Time-interleaved ADCs, phase </a:t>
                      </a:r>
                      <a:endParaRPr lang="en-US" sz="1800" b="1" dirty="0" smtClean="0">
                        <a:solidFill>
                          <a:srgbClr val="002060"/>
                        </a:solidFill>
                        <a:effectLst/>
                      </a:endParaRPr>
                    </a:p>
                    <a:p>
                      <a:pPr algn="ctr"/>
                      <a:r>
                        <a:rPr lang="en-US" sz="1800" b="1" dirty="0" smtClean="0">
                          <a:solidFill>
                            <a:srgbClr val="002060"/>
                          </a:solidFill>
                          <a:effectLst/>
                        </a:rPr>
                        <a:t>arrays</a:t>
                      </a:r>
                      <a:r>
                        <a:rPr lang="en-US" sz="1800" b="1" dirty="0">
                          <a:solidFill>
                            <a:srgbClr val="002060"/>
                          </a:solidFill>
                          <a:effectLst/>
                        </a:rPr>
                        <a:t>, calibration intensive</a:t>
                      </a:r>
                    </a:p>
                  </a:txBody>
                  <a:tcPr marL="39607" marR="39607" marT="39607" marB="39607" anchor="ctr"/>
                </a:tc>
                <a:extLst>
                  <a:ext uri="{0D108BD9-81ED-4DB2-BD59-A6C34878D82A}">
                    <a16:rowId xmlns:a16="http://schemas.microsoft.com/office/drawing/2014/main" val="4085851094"/>
                  </a:ext>
                </a:extLst>
              </a:tr>
            </a:tbl>
          </a:graphicData>
        </a:graphic>
      </p:graphicFrame>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17172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Advanced </a:t>
            </a:r>
            <a:r>
              <a:rPr lang="en-US" dirty="0" smtClean="0"/>
              <a:t>Insights</a:t>
            </a:r>
            <a:endParaRPr lang="en-US" dirty="0"/>
          </a:p>
        </p:txBody>
      </p:sp>
      <p:sp>
        <p:nvSpPr>
          <p:cNvPr id="3" name="Text Placeholder 2"/>
          <p:cNvSpPr>
            <a:spLocks noGrp="1"/>
          </p:cNvSpPr>
          <p:nvPr>
            <p:ph type="body" idx="1"/>
          </p:nvPr>
        </p:nvSpPr>
        <p:spPr>
          <a:xfrm>
            <a:off x="614697" y="1502044"/>
            <a:ext cx="11300637" cy="4673328"/>
          </a:xfrm>
        </p:spPr>
        <p:txBody>
          <a:bodyPr>
            <a:noAutofit/>
          </a:bodyPr>
          <a:lstStyle/>
          <a:p>
            <a:pPr marL="285750" indent="-285750" algn="just">
              <a:buFont typeface="Wingdings" panose="05000000000000000000" pitchFamily="2" charset="2"/>
              <a:buChar char="q"/>
            </a:pPr>
            <a:r>
              <a:rPr lang="en-US" sz="1600" b="1" dirty="0" smtClean="0">
                <a:solidFill>
                  <a:srgbClr val="00B050"/>
                </a:solidFill>
                <a:latin typeface="+mn-lt"/>
              </a:rPr>
              <a:t> </a:t>
            </a:r>
            <a:r>
              <a:rPr lang="en-US" sz="1900" b="1" dirty="0" smtClean="0">
                <a:solidFill>
                  <a:srgbClr val="00B050"/>
                </a:solidFill>
                <a:latin typeface="+mn-lt"/>
                <a:cs typeface="Times New Roman" panose="02020603050405020304" pitchFamily="18" charset="0"/>
              </a:rPr>
              <a:t>Jitter </a:t>
            </a:r>
            <a:r>
              <a:rPr lang="en-US" sz="1900" b="1" dirty="0">
                <a:solidFill>
                  <a:srgbClr val="00B050"/>
                </a:solidFill>
                <a:latin typeface="+mn-lt"/>
                <a:cs typeface="Times New Roman" panose="02020603050405020304" pitchFamily="18" charset="0"/>
              </a:rPr>
              <a:t>&amp; Phase Noise Performance:</a:t>
            </a:r>
            <a:r>
              <a:rPr lang="en-US" sz="1900" dirty="0">
                <a:solidFill>
                  <a:schemeClr val="tx1"/>
                </a:solidFill>
                <a:latin typeface="+mn-lt"/>
                <a:cs typeface="Times New Roman" panose="02020603050405020304" pitchFamily="18" charset="0"/>
              </a:rPr>
              <a:t> LC-VCO-based solutions are unrivaled in achieving sub-</a:t>
            </a:r>
            <a:r>
              <a:rPr lang="en-US" sz="1900" dirty="0" err="1">
                <a:solidFill>
                  <a:schemeClr val="tx1"/>
                </a:solidFill>
                <a:latin typeface="+mn-lt"/>
                <a:cs typeface="Times New Roman" panose="02020603050405020304" pitchFamily="18" charset="0"/>
              </a:rPr>
              <a:t>ps</a:t>
            </a:r>
            <a:r>
              <a:rPr lang="en-US" sz="1900" dirty="0">
                <a:solidFill>
                  <a:schemeClr val="tx1"/>
                </a:solidFill>
                <a:latin typeface="+mn-lt"/>
                <a:cs typeface="Times New Roman" panose="02020603050405020304" pitchFamily="18" charset="0"/>
              </a:rPr>
              <a:t> jitter and &gt;100 dB SNR clock generation, making them the gold standard for wireline </a:t>
            </a:r>
            <a:r>
              <a:rPr lang="en-US" sz="1900" dirty="0" err="1">
                <a:solidFill>
                  <a:schemeClr val="tx1"/>
                </a:solidFill>
                <a:latin typeface="+mn-lt"/>
                <a:cs typeface="Times New Roman" panose="02020603050405020304" pitchFamily="18" charset="0"/>
              </a:rPr>
              <a:t>SerDes</a:t>
            </a:r>
            <a:r>
              <a:rPr lang="en-US" sz="1900" dirty="0">
                <a:solidFill>
                  <a:schemeClr val="tx1"/>
                </a:solidFill>
                <a:latin typeface="+mn-lt"/>
                <a:cs typeface="Times New Roman" panose="02020603050405020304" pitchFamily="18" charset="0"/>
              </a:rPr>
              <a:t> and </a:t>
            </a:r>
            <a:r>
              <a:rPr lang="en-US" sz="1900" dirty="0" err="1">
                <a:solidFill>
                  <a:schemeClr val="tx1"/>
                </a:solidFill>
                <a:latin typeface="+mn-lt"/>
                <a:cs typeface="Times New Roman" panose="02020603050405020304" pitchFamily="18" charset="0"/>
              </a:rPr>
              <a:t>mmWave</a:t>
            </a:r>
            <a:r>
              <a:rPr lang="en-US" sz="1900" dirty="0">
                <a:solidFill>
                  <a:schemeClr val="tx1"/>
                </a:solidFill>
                <a:latin typeface="+mn-lt"/>
                <a:cs typeface="Times New Roman" panose="02020603050405020304" pitchFamily="18" charset="0"/>
              </a:rPr>
              <a:t> phased arrays.</a:t>
            </a:r>
          </a:p>
          <a:p>
            <a:pPr marL="342900" indent="-342900" algn="just">
              <a:buFont typeface="Wingdings" panose="05000000000000000000" pitchFamily="2" charset="2"/>
              <a:buChar char="q"/>
            </a:pPr>
            <a:r>
              <a:rPr lang="en-US" sz="1900" b="1" dirty="0" smtClean="0">
                <a:solidFill>
                  <a:srgbClr val="00B050"/>
                </a:solidFill>
                <a:latin typeface="+mn-lt"/>
                <a:cs typeface="Times New Roman" panose="02020603050405020304" pitchFamily="18" charset="0"/>
              </a:rPr>
              <a:t> PVT </a:t>
            </a:r>
            <a:r>
              <a:rPr lang="en-US" sz="1900" b="1" dirty="0">
                <a:solidFill>
                  <a:srgbClr val="00B050"/>
                </a:solidFill>
                <a:latin typeface="+mn-lt"/>
                <a:cs typeface="Times New Roman" panose="02020603050405020304" pitchFamily="18" charset="0"/>
              </a:rPr>
              <a:t>Robustness:</a:t>
            </a:r>
            <a:r>
              <a:rPr lang="en-US" sz="1900" dirty="0">
                <a:solidFill>
                  <a:schemeClr val="tx1"/>
                </a:solidFill>
                <a:latin typeface="+mn-lt"/>
                <a:cs typeface="Times New Roman" panose="02020603050405020304" pitchFamily="18" charset="0"/>
              </a:rPr>
              <a:t> PLL/DLL hybrid architectures enable dynamic on-chip compensation for environmental variation, facilitating robust, process-agnostic timing across advanced CMOS nodes.</a:t>
            </a:r>
          </a:p>
          <a:p>
            <a:pPr marL="342900" indent="-342900" algn="just">
              <a:buFont typeface="Wingdings" panose="05000000000000000000" pitchFamily="2" charset="2"/>
              <a:buChar char="q"/>
            </a:pPr>
            <a:r>
              <a:rPr lang="en-US" sz="1900" b="1" dirty="0" smtClean="0">
                <a:solidFill>
                  <a:srgbClr val="00B050"/>
                </a:solidFill>
                <a:latin typeface="+mn-lt"/>
                <a:cs typeface="Times New Roman" panose="02020603050405020304" pitchFamily="18" charset="0"/>
              </a:rPr>
              <a:t> Integration </a:t>
            </a:r>
            <a:r>
              <a:rPr lang="en-US" sz="1900" b="1" dirty="0">
                <a:solidFill>
                  <a:srgbClr val="00B050"/>
                </a:solidFill>
                <a:latin typeface="+mn-lt"/>
                <a:cs typeface="Times New Roman" panose="02020603050405020304" pitchFamily="18" charset="0"/>
              </a:rPr>
              <a:t>vs. Performance:</a:t>
            </a:r>
            <a:r>
              <a:rPr lang="en-US" sz="1900" dirty="0">
                <a:solidFill>
                  <a:schemeClr val="tx1"/>
                </a:solidFill>
                <a:latin typeface="+mn-lt"/>
                <a:cs typeface="Times New Roman" panose="02020603050405020304" pitchFamily="18" charset="0"/>
              </a:rPr>
              <a:t> While ring-oscillator schemes are highly amenable to digital </a:t>
            </a:r>
            <a:r>
              <a:rPr lang="en-US" sz="1900" dirty="0" err="1">
                <a:solidFill>
                  <a:schemeClr val="tx1"/>
                </a:solidFill>
                <a:latin typeface="+mn-lt"/>
                <a:cs typeface="Times New Roman" panose="02020603050405020304" pitchFamily="18" charset="0"/>
              </a:rPr>
              <a:t>SoCs</a:t>
            </a:r>
            <a:r>
              <a:rPr lang="en-US" sz="1900" dirty="0">
                <a:solidFill>
                  <a:schemeClr val="tx1"/>
                </a:solidFill>
                <a:latin typeface="+mn-lt"/>
                <a:cs typeface="Times New Roman" panose="02020603050405020304" pitchFamily="18" charset="0"/>
              </a:rPr>
              <a:t> due to compact area and design modularity, advanced LC architectures with on-chip passives represent the convergence point for analog-digital-mixed ICs seeking both spectral purity and phase coherence.</a:t>
            </a:r>
          </a:p>
          <a:p>
            <a:pPr marL="342900" indent="-342900" algn="just">
              <a:buFont typeface="Wingdings" panose="05000000000000000000" pitchFamily="2" charset="2"/>
              <a:buChar char="q"/>
            </a:pPr>
            <a:r>
              <a:rPr lang="en-US" sz="1900" b="1" dirty="0" smtClean="0">
                <a:solidFill>
                  <a:srgbClr val="00B050"/>
                </a:solidFill>
                <a:latin typeface="+mn-lt"/>
                <a:cs typeface="Times New Roman" panose="02020603050405020304" pitchFamily="18" charset="0"/>
              </a:rPr>
              <a:t> Scalability </a:t>
            </a:r>
            <a:r>
              <a:rPr lang="en-US" sz="1900" b="1" dirty="0">
                <a:solidFill>
                  <a:srgbClr val="00B050"/>
                </a:solidFill>
                <a:latin typeface="+mn-lt"/>
                <a:cs typeface="Times New Roman" panose="02020603050405020304" pitchFamily="18" charset="0"/>
              </a:rPr>
              <a:t>Trends:</a:t>
            </a:r>
            <a:r>
              <a:rPr lang="en-US" sz="1900" dirty="0">
                <a:solidFill>
                  <a:schemeClr val="tx1"/>
                </a:solidFill>
                <a:latin typeface="+mn-lt"/>
                <a:cs typeface="Times New Roman" panose="02020603050405020304" pitchFamily="18" charset="0"/>
              </a:rPr>
              <a:t> As clock speeds and phase count requirements escalate in emerging RF and high-speed data protocols, hybrid and divider-assisted topologies increasingly define the trajectory of research and industrial implementation</a:t>
            </a:r>
            <a:r>
              <a:rPr lang="en-US" sz="1900" dirty="0" smtClean="0">
                <a:solidFill>
                  <a:schemeClr val="tx1"/>
                </a:solidFill>
                <a:latin typeface="+mn-lt"/>
                <a:cs typeface="Times New Roman" panose="02020603050405020304" pitchFamily="18" charset="0"/>
              </a:rPr>
              <a:t>.</a:t>
            </a:r>
          </a:p>
          <a:p>
            <a:pPr algn="just">
              <a:buFont typeface="Wingdings" panose="05000000000000000000" pitchFamily="2" charset="2"/>
              <a:buChar char="q"/>
            </a:pPr>
            <a:endParaRPr lang="en-US" sz="1900" dirty="0" smtClean="0">
              <a:solidFill>
                <a:schemeClr val="tx1"/>
              </a:solidFill>
              <a:latin typeface="+mn-lt"/>
              <a:cs typeface="Times New Roman" panose="02020603050405020304" pitchFamily="18" charset="0"/>
            </a:endParaRPr>
          </a:p>
          <a:p>
            <a:pPr algn="ctr">
              <a:buFont typeface="Wingdings" panose="05000000000000000000" pitchFamily="2" charset="2"/>
              <a:buChar char="q"/>
            </a:pPr>
            <a:r>
              <a:rPr lang="en-US" sz="1900" b="1" dirty="0">
                <a:solidFill>
                  <a:srgbClr val="00B050"/>
                </a:solidFill>
                <a:latin typeface="+mn-lt"/>
                <a:cs typeface="Times New Roman" panose="02020603050405020304" pitchFamily="18" charset="0"/>
              </a:rPr>
              <a:t>Summary</a:t>
            </a:r>
            <a:r>
              <a:rPr lang="en-US" sz="1900" b="1" dirty="0" smtClean="0">
                <a:solidFill>
                  <a:srgbClr val="00B050"/>
                </a:solidFill>
                <a:latin typeface="+mn-lt"/>
                <a:cs typeface="Times New Roman" panose="02020603050405020304" pitchFamily="18" charset="0"/>
              </a:rPr>
              <a:t>:</a:t>
            </a:r>
            <a:r>
              <a:rPr lang="en-US" sz="1900" dirty="0">
                <a:latin typeface="+mn-lt"/>
                <a:cs typeface="Times New Roman" panose="02020603050405020304" pitchFamily="18" charset="0"/>
              </a:rPr>
              <a:t/>
            </a:r>
            <a:br>
              <a:rPr lang="en-US" sz="1900" dirty="0">
                <a:latin typeface="+mn-lt"/>
                <a:cs typeface="Times New Roman" panose="02020603050405020304" pitchFamily="18" charset="0"/>
              </a:rPr>
            </a:br>
            <a:r>
              <a:rPr lang="en-US" sz="1900" dirty="0">
                <a:solidFill>
                  <a:srgbClr val="C00000"/>
                </a:solidFill>
                <a:latin typeface="+mn-lt"/>
                <a:cs typeface="Times New Roman" panose="02020603050405020304" pitchFamily="18" charset="0"/>
              </a:rPr>
              <a:t>Each multiphase clock generation paradigm addresses distinct requirements in high-performance IC design. Judicious method selection—grounded in quantitative trade-off analysis and target application context—serves as a cornerstone for best-in-class timing and signal integrity in next-generation electronic platforms</a:t>
            </a:r>
            <a:r>
              <a:rPr lang="en-US" sz="1900" dirty="0" smtClean="0">
                <a:solidFill>
                  <a:srgbClr val="C00000"/>
                </a:solidFill>
                <a:latin typeface="+mn-lt"/>
                <a:cs typeface="Times New Roman" panose="02020603050405020304" pitchFamily="18" charset="0"/>
              </a:rPr>
              <a:t>.</a:t>
            </a:r>
            <a:endParaRPr lang="en-US" sz="1900" dirty="0">
              <a:solidFill>
                <a:srgbClr val="C00000"/>
              </a:solidFill>
              <a:latin typeface="+mn-lt"/>
              <a:cs typeface="Times New Roman" panose="02020603050405020304" pitchFamily="18" charset="0"/>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4295AD5-2073-45E6-9E94-B3AD29987DCB}"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9</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7" name="Rectangle 6"/>
          <p:cNvSpPr/>
          <p:nvPr/>
        </p:nvSpPr>
        <p:spPr>
          <a:xfrm>
            <a:off x="492760" y="1422401"/>
            <a:ext cx="11470640" cy="307008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912547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Introduction </a:t>
            </a:r>
            <a:r>
              <a:rPr lang="en-US" dirty="0"/>
              <a:t>to High-Speed Data Conversion</a:t>
            </a:r>
            <a:br>
              <a:rPr lang="en-US" dirty="0"/>
            </a:br>
            <a:endParaRPr lang="en-US" dirty="0"/>
          </a:p>
        </p:txBody>
      </p:sp>
      <p:sp>
        <p:nvSpPr>
          <p:cNvPr id="3" name="Text Placeholder 2"/>
          <p:cNvSpPr>
            <a:spLocks noGrp="1"/>
          </p:cNvSpPr>
          <p:nvPr>
            <p:ph type="body" idx="1"/>
          </p:nvPr>
        </p:nvSpPr>
        <p:spPr>
          <a:xfrm>
            <a:off x="614698" y="1502044"/>
            <a:ext cx="11077193" cy="4673328"/>
          </a:xfrm>
        </p:spPr>
        <p:txBody>
          <a:bodyPr/>
          <a:lstStyle/>
          <a:p>
            <a:pPr algn="just">
              <a:buFont typeface="Wingdings" panose="05000000000000000000" pitchFamily="2" charset="2"/>
              <a:buChar char="q"/>
            </a:pPr>
            <a:r>
              <a:rPr lang="en-US" dirty="0" smtClean="0">
                <a:solidFill>
                  <a:schemeClr val="tx1"/>
                </a:solidFill>
                <a:latin typeface="fkGroteskNeue"/>
              </a:rPr>
              <a:t> Modern </a:t>
            </a:r>
            <a:r>
              <a:rPr lang="en-US" dirty="0">
                <a:solidFill>
                  <a:schemeClr val="tx1"/>
                </a:solidFill>
                <a:latin typeface="fkGroteskNeue"/>
              </a:rPr>
              <a:t>receivers demand both high data throughput and wide dynamic range.</a:t>
            </a:r>
          </a:p>
          <a:p>
            <a:pPr algn="just">
              <a:buFont typeface="Wingdings" panose="05000000000000000000" pitchFamily="2" charset="2"/>
              <a:buChar char="q"/>
            </a:pPr>
            <a:r>
              <a:rPr lang="en-US" dirty="0" smtClean="0">
                <a:solidFill>
                  <a:schemeClr val="tx1"/>
                </a:solidFill>
                <a:latin typeface="fkGroteskNeue"/>
              </a:rPr>
              <a:t> Traditional </a:t>
            </a:r>
            <a:r>
              <a:rPr lang="en-US" dirty="0">
                <a:solidFill>
                  <a:schemeClr val="tx1"/>
                </a:solidFill>
                <a:latin typeface="fkGroteskNeue"/>
              </a:rPr>
              <a:t>single-core ADCs cannot simultaneously achieve high sampling rates and high SNR.</a:t>
            </a:r>
          </a:p>
          <a:p>
            <a:pPr algn="just">
              <a:buFont typeface="Wingdings" panose="05000000000000000000" pitchFamily="2" charset="2"/>
              <a:buChar char="q"/>
            </a:pPr>
            <a:r>
              <a:rPr lang="en-US" dirty="0" smtClean="0">
                <a:solidFill>
                  <a:schemeClr val="tx1"/>
                </a:solidFill>
                <a:latin typeface="fkGroteskNeue"/>
              </a:rPr>
              <a:t> Technology </a:t>
            </a:r>
            <a:r>
              <a:rPr lang="en-US" dirty="0">
                <a:solidFill>
                  <a:schemeClr val="tx1"/>
                </a:solidFill>
                <a:latin typeface="fkGroteskNeue"/>
              </a:rPr>
              <a:t>trend: Parallelization through interleaving for bandwidth scaling.</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91C7D1E-56B3-42D6-8168-AC565952D1F8}"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10</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8" name="Rectangle 7"/>
          <p:cNvSpPr/>
          <p:nvPr/>
        </p:nvSpPr>
        <p:spPr>
          <a:xfrm>
            <a:off x="1127760" y="3389882"/>
            <a:ext cx="10744200" cy="1754326"/>
          </a:xfrm>
          <a:prstGeom prst="rect">
            <a:avLst/>
          </a:prstGeom>
        </p:spPr>
        <p:txBody>
          <a:bodyPr wrap="square">
            <a:spAutoFit/>
          </a:bodyPr>
          <a:lstStyle/>
          <a:p>
            <a:pPr algn="ctr"/>
            <a:r>
              <a:rPr lang="en-US" sz="2400" b="1" dirty="0">
                <a:solidFill>
                  <a:srgbClr val="C00000"/>
                </a:solidFill>
                <a:latin typeface="fkGrotesk"/>
              </a:rPr>
              <a:t>What is Interleaving in ADCs</a:t>
            </a:r>
            <a:r>
              <a:rPr lang="en-US" sz="2400" b="1" dirty="0" smtClean="0">
                <a:solidFill>
                  <a:srgbClr val="C00000"/>
                </a:solidFill>
                <a:latin typeface="fkGrotesk"/>
              </a:rPr>
              <a:t>?</a:t>
            </a:r>
          </a:p>
          <a:p>
            <a:pPr algn="ctr"/>
            <a:endParaRPr lang="en-US" sz="2400" b="1" dirty="0">
              <a:solidFill>
                <a:srgbClr val="C00000"/>
              </a:solidFill>
              <a:latin typeface="fkGrotesk"/>
            </a:endParaRPr>
          </a:p>
          <a:p>
            <a:pPr marL="285750" indent="-285750" algn="just">
              <a:buFont typeface="Wingdings" panose="05000000000000000000" pitchFamily="2" charset="2"/>
              <a:buChar char="q"/>
            </a:pPr>
            <a:r>
              <a:rPr lang="en-US" sz="2000" dirty="0" smtClean="0">
                <a:latin typeface="fkGroteskNeue"/>
              </a:rPr>
              <a:t> </a:t>
            </a:r>
            <a:r>
              <a:rPr lang="en-US" sz="2000" b="1" dirty="0" smtClean="0">
                <a:solidFill>
                  <a:srgbClr val="00B050"/>
                </a:solidFill>
                <a:latin typeface="fkGroteskNeue"/>
              </a:rPr>
              <a:t>Splits </a:t>
            </a:r>
            <a:r>
              <a:rPr lang="en-US" sz="2000" b="1" dirty="0">
                <a:solidFill>
                  <a:srgbClr val="00B050"/>
                </a:solidFill>
                <a:latin typeface="fkGroteskNeue"/>
              </a:rPr>
              <a:t>conversion </a:t>
            </a:r>
            <a:r>
              <a:rPr lang="en-US" sz="2000" dirty="0">
                <a:latin typeface="fkGroteskNeue"/>
              </a:rPr>
              <a:t>across multiple lower-rate ADCs working in parallel.</a:t>
            </a:r>
          </a:p>
          <a:p>
            <a:pPr marL="285750" indent="-285750" algn="just">
              <a:buFont typeface="Wingdings" panose="05000000000000000000" pitchFamily="2" charset="2"/>
              <a:buChar char="q"/>
            </a:pPr>
            <a:r>
              <a:rPr lang="en-US" sz="2000" b="1" dirty="0" smtClean="0">
                <a:latin typeface="fkGroteskNeue"/>
              </a:rPr>
              <a:t> </a:t>
            </a:r>
            <a:r>
              <a:rPr lang="en-US" sz="2000" b="1" dirty="0" smtClean="0">
                <a:solidFill>
                  <a:srgbClr val="00B050"/>
                </a:solidFill>
                <a:latin typeface="fkGroteskNeue"/>
              </a:rPr>
              <a:t>Effective </a:t>
            </a:r>
            <a:r>
              <a:rPr lang="en-US" sz="2000" b="1" dirty="0">
                <a:solidFill>
                  <a:srgbClr val="00B050"/>
                </a:solidFill>
                <a:latin typeface="fkGroteskNeue"/>
              </a:rPr>
              <a:t>sampling rate </a:t>
            </a:r>
            <a:r>
              <a:rPr lang="en-US" sz="2000" dirty="0" smtClean="0">
                <a:latin typeface="fkGroteskNeue"/>
              </a:rPr>
              <a:t>=</a:t>
            </a:r>
            <a:r>
              <a:rPr lang="en-US" sz="2000" dirty="0">
                <a:latin typeface="fkGroteskNeue"/>
              </a:rPr>
              <a:t> </a:t>
            </a:r>
            <a:r>
              <a:rPr lang="en-US" sz="2000" i="1" dirty="0" err="1" smtClean="0">
                <a:latin typeface="KaTeX_Math"/>
              </a:rPr>
              <a:t>N</a:t>
            </a:r>
            <a:r>
              <a:rPr lang="en-US" sz="2000" dirty="0" err="1" smtClean="0">
                <a:latin typeface="KaTeX_Main"/>
              </a:rPr>
              <a:t>×</a:t>
            </a:r>
            <a:r>
              <a:rPr lang="en-US" sz="2000" i="1" dirty="0" err="1" smtClean="0">
                <a:latin typeface="KaTeX_Math"/>
              </a:rPr>
              <a:t>f</a:t>
            </a:r>
            <a:r>
              <a:rPr lang="en-US" sz="2000" i="1" baseline="-25000" dirty="0" err="1" smtClean="0">
                <a:latin typeface="KaTeX_Math"/>
              </a:rPr>
              <a:t>core</a:t>
            </a:r>
            <a:r>
              <a:rPr lang="en-US" sz="2000" dirty="0">
                <a:latin typeface="fkGroteskNeue"/>
              </a:rPr>
              <a:t> where N is number of sub-ADCs.</a:t>
            </a:r>
          </a:p>
          <a:p>
            <a:pPr marL="285750" indent="-285750" algn="just">
              <a:buFont typeface="Wingdings" panose="05000000000000000000" pitchFamily="2" charset="2"/>
              <a:buChar char="q"/>
            </a:pPr>
            <a:r>
              <a:rPr lang="en-US" sz="2000" dirty="0" smtClean="0">
                <a:latin typeface="fkGroteskNeue"/>
              </a:rPr>
              <a:t> Each </a:t>
            </a:r>
            <a:r>
              <a:rPr lang="en-US" sz="2000" dirty="0">
                <a:latin typeface="fkGroteskNeue"/>
              </a:rPr>
              <a:t>core is clocked by a phase-shifted version of the master clock</a:t>
            </a:r>
            <a:r>
              <a:rPr lang="en-US" dirty="0">
                <a:latin typeface="fkGroteskNeue"/>
              </a:rPr>
              <a:t>.</a:t>
            </a:r>
            <a:endParaRPr lang="en-US" b="0" i="0" dirty="0">
              <a:effectLst/>
              <a:latin typeface="fkGroteskNeue"/>
            </a:endParaRPr>
          </a:p>
        </p:txBody>
      </p:sp>
      <p:sp>
        <p:nvSpPr>
          <p:cNvPr id="9" name="Rectangle 8"/>
          <p:cNvSpPr/>
          <p:nvPr/>
        </p:nvSpPr>
        <p:spPr>
          <a:xfrm>
            <a:off x="492760" y="1275081"/>
            <a:ext cx="11379200" cy="19761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1010920" y="3423921"/>
            <a:ext cx="9550400" cy="19761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4792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fkGrotesk"/>
              </a:rPr>
              <a:t>Four-Way Time Interleaved ADC </a:t>
            </a:r>
            <a:r>
              <a:rPr lang="en-US" dirty="0" smtClean="0">
                <a:latin typeface="fkGrotesk"/>
              </a:rPr>
              <a:t>Architecture</a:t>
            </a:r>
            <a:endParaRPr lang="en-US" dirty="0"/>
          </a:p>
        </p:txBody>
      </p:sp>
      <p:sp>
        <p:nvSpPr>
          <p:cNvPr id="3" name="Text Placeholder 2"/>
          <p:cNvSpPr>
            <a:spLocks noGrp="1"/>
          </p:cNvSpPr>
          <p:nvPr>
            <p:ph type="body" idx="1"/>
          </p:nvPr>
        </p:nvSpPr>
        <p:spPr>
          <a:xfrm>
            <a:off x="699528" y="1163913"/>
            <a:ext cx="6676631" cy="2254927"/>
          </a:xfrm>
        </p:spPr>
        <p:txBody>
          <a:bodyPr/>
          <a:lstStyle/>
          <a:p>
            <a:pPr algn="just">
              <a:buFont typeface="Wingdings" panose="05000000000000000000" pitchFamily="2" charset="2"/>
              <a:buChar char="q"/>
            </a:pPr>
            <a:r>
              <a:rPr lang="en-US" dirty="0" smtClean="0">
                <a:solidFill>
                  <a:schemeClr val="tx1"/>
                </a:solidFill>
                <a:latin typeface="fkGroteskNeue"/>
              </a:rPr>
              <a:t> </a:t>
            </a:r>
            <a:r>
              <a:rPr lang="en-US" b="1" dirty="0" smtClean="0">
                <a:solidFill>
                  <a:srgbClr val="00B050"/>
                </a:solidFill>
                <a:latin typeface="fkGroteskNeue"/>
              </a:rPr>
              <a:t>Four </a:t>
            </a:r>
            <a:r>
              <a:rPr lang="en-US" b="1" dirty="0">
                <a:solidFill>
                  <a:srgbClr val="00B050"/>
                </a:solidFill>
                <a:latin typeface="fkGroteskNeue"/>
              </a:rPr>
              <a:t>parallel ADCs; </a:t>
            </a:r>
            <a:r>
              <a:rPr lang="en-US" dirty="0">
                <a:solidFill>
                  <a:schemeClr val="tx1"/>
                </a:solidFill>
                <a:latin typeface="fkGroteskNeue"/>
              </a:rPr>
              <a:t>clock inputs CK&lt;1&gt; to CK&lt;4&gt; staggered by 90°.</a:t>
            </a:r>
          </a:p>
          <a:p>
            <a:pPr algn="just">
              <a:buFont typeface="Wingdings" panose="05000000000000000000" pitchFamily="2" charset="2"/>
              <a:buChar char="q"/>
            </a:pPr>
            <a:r>
              <a:rPr lang="en-US" dirty="0" smtClean="0">
                <a:solidFill>
                  <a:schemeClr val="tx1"/>
                </a:solidFill>
                <a:latin typeface="fkGroteskNeue"/>
              </a:rPr>
              <a:t> </a:t>
            </a:r>
            <a:r>
              <a:rPr lang="en-US" b="1" dirty="0" smtClean="0">
                <a:solidFill>
                  <a:srgbClr val="00B050"/>
                </a:solidFill>
                <a:latin typeface="fkGroteskNeue"/>
              </a:rPr>
              <a:t>Input </a:t>
            </a:r>
            <a:r>
              <a:rPr lang="en-US" b="1" dirty="0">
                <a:solidFill>
                  <a:srgbClr val="00B050"/>
                </a:solidFill>
                <a:latin typeface="fkGroteskNeue"/>
              </a:rPr>
              <a:t>sampling is distributed; </a:t>
            </a:r>
            <a:r>
              <a:rPr lang="en-US" dirty="0">
                <a:solidFill>
                  <a:schemeClr val="tx1"/>
                </a:solidFill>
                <a:latin typeface="fkGroteskNeue"/>
              </a:rPr>
              <a:t>each core processes one in four samples.</a:t>
            </a:r>
          </a:p>
          <a:p>
            <a:pPr algn="just">
              <a:buFont typeface="Wingdings" panose="05000000000000000000" pitchFamily="2" charset="2"/>
              <a:buChar char="q"/>
            </a:pPr>
            <a:r>
              <a:rPr lang="en-US" dirty="0">
                <a:solidFill>
                  <a:schemeClr val="tx1"/>
                </a:solidFill>
                <a:latin typeface="fkGroteskNeue"/>
              </a:rPr>
              <a:t> </a:t>
            </a:r>
            <a:r>
              <a:rPr lang="en-US" b="1" dirty="0" smtClean="0">
                <a:solidFill>
                  <a:srgbClr val="00B050"/>
                </a:solidFill>
                <a:latin typeface="fkGroteskNeue"/>
              </a:rPr>
              <a:t>Outputs </a:t>
            </a:r>
            <a:r>
              <a:rPr lang="en-US" b="1" dirty="0">
                <a:solidFill>
                  <a:srgbClr val="00B050"/>
                </a:solidFill>
                <a:latin typeface="fkGroteskNeue"/>
              </a:rPr>
              <a:t>time-aligned </a:t>
            </a:r>
            <a:r>
              <a:rPr lang="en-US" dirty="0">
                <a:solidFill>
                  <a:schemeClr val="tx1"/>
                </a:solidFill>
                <a:latin typeface="fkGroteskNeue"/>
              </a:rPr>
              <a:t>and merged into a single, high-rate data stream</a:t>
            </a:r>
            <a:r>
              <a:rPr lang="en-US" dirty="0" smtClean="0">
                <a:solidFill>
                  <a:schemeClr val="tx1"/>
                </a:solidFill>
                <a:latin typeface="fkGroteskNeue"/>
              </a:rPr>
              <a:t>.</a:t>
            </a:r>
            <a:endParaRPr lang="en-US" dirty="0">
              <a:solidFill>
                <a:schemeClr val="tx1"/>
              </a:solidFill>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69A1198F-83D1-4E1F-809C-20985709CF77}"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11</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pic>
        <p:nvPicPr>
          <p:cNvPr id="7" name="Picture 6"/>
          <p:cNvPicPr>
            <a:picLocks noChangeAspect="1"/>
          </p:cNvPicPr>
          <p:nvPr/>
        </p:nvPicPr>
        <p:blipFill>
          <a:blip r:embed="rId2"/>
          <a:stretch>
            <a:fillRect/>
          </a:stretch>
        </p:blipFill>
        <p:spPr>
          <a:xfrm>
            <a:off x="7542441" y="1077857"/>
            <a:ext cx="4649559" cy="3453059"/>
          </a:xfrm>
          <a:prstGeom prst="rect">
            <a:avLst/>
          </a:prstGeom>
        </p:spPr>
      </p:pic>
      <p:graphicFrame>
        <p:nvGraphicFramePr>
          <p:cNvPr id="8" name="Table 7"/>
          <p:cNvGraphicFramePr>
            <a:graphicFrameLocks noGrp="1"/>
          </p:cNvGraphicFramePr>
          <p:nvPr>
            <p:extLst/>
          </p:nvPr>
        </p:nvGraphicFramePr>
        <p:xfrm>
          <a:off x="434146" y="3663488"/>
          <a:ext cx="7033453" cy="2255520"/>
        </p:xfrm>
        <a:graphic>
          <a:graphicData uri="http://schemas.openxmlformats.org/drawingml/2006/table">
            <a:tbl>
              <a:tblPr>
                <a:tableStyleId>{616DA210-FB5B-4158-B5E0-FEB733F419BA}</a:tableStyleId>
              </a:tblPr>
              <a:tblGrid>
                <a:gridCol w="2395493">
                  <a:extLst>
                    <a:ext uri="{9D8B030D-6E8A-4147-A177-3AD203B41FA5}">
                      <a16:colId xmlns:a16="http://schemas.microsoft.com/office/drawing/2014/main" val="79749051"/>
                    </a:ext>
                  </a:extLst>
                </a:gridCol>
                <a:gridCol w="2425132">
                  <a:extLst>
                    <a:ext uri="{9D8B030D-6E8A-4147-A177-3AD203B41FA5}">
                      <a16:colId xmlns:a16="http://schemas.microsoft.com/office/drawing/2014/main" val="533775065"/>
                    </a:ext>
                  </a:extLst>
                </a:gridCol>
                <a:gridCol w="2212828">
                  <a:extLst>
                    <a:ext uri="{9D8B030D-6E8A-4147-A177-3AD203B41FA5}">
                      <a16:colId xmlns:a16="http://schemas.microsoft.com/office/drawing/2014/main" val="3833380404"/>
                    </a:ext>
                  </a:extLst>
                </a:gridCol>
              </a:tblGrid>
              <a:tr h="0">
                <a:tc>
                  <a:txBody>
                    <a:bodyPr/>
                    <a:lstStyle/>
                    <a:p>
                      <a:pPr algn="ctr"/>
                      <a:r>
                        <a:rPr lang="en-US" sz="1800" b="1" dirty="0">
                          <a:solidFill>
                            <a:srgbClr val="002060"/>
                          </a:solidFill>
                          <a:effectLst/>
                        </a:rPr>
                        <a:t>Aspect</a:t>
                      </a:r>
                    </a:p>
                  </a:txBody>
                  <a:tcPr marL="50800" marR="50800" marT="50800" marB="50800" anchor="ctr">
                    <a:solidFill>
                      <a:schemeClr val="bg1">
                        <a:lumMod val="75000"/>
                      </a:schemeClr>
                    </a:solidFill>
                  </a:tcPr>
                </a:tc>
                <a:tc>
                  <a:txBody>
                    <a:bodyPr/>
                    <a:lstStyle/>
                    <a:p>
                      <a:pPr algn="ctr"/>
                      <a:r>
                        <a:rPr lang="en-US" sz="1800" b="1" dirty="0">
                          <a:solidFill>
                            <a:srgbClr val="002060"/>
                          </a:solidFill>
                          <a:effectLst/>
                        </a:rPr>
                        <a:t>Interleaved ADCs</a:t>
                      </a:r>
                    </a:p>
                  </a:txBody>
                  <a:tcPr marL="50800" marR="50800" marT="50800" marB="50800" anchor="ctr">
                    <a:solidFill>
                      <a:schemeClr val="bg1">
                        <a:lumMod val="75000"/>
                      </a:schemeClr>
                    </a:solidFill>
                  </a:tcPr>
                </a:tc>
                <a:tc>
                  <a:txBody>
                    <a:bodyPr/>
                    <a:lstStyle/>
                    <a:p>
                      <a:pPr algn="ctr"/>
                      <a:r>
                        <a:rPr lang="en-US" sz="1800" b="1" dirty="0">
                          <a:solidFill>
                            <a:srgbClr val="002060"/>
                          </a:solidFill>
                          <a:effectLst/>
                        </a:rPr>
                        <a:t>Single-Core ADCs</a:t>
                      </a:r>
                    </a:p>
                  </a:txBody>
                  <a:tcPr marL="50800" marR="50800" marT="50800" marB="50800" anchor="ctr">
                    <a:solidFill>
                      <a:schemeClr val="bg1">
                        <a:lumMod val="75000"/>
                      </a:schemeClr>
                    </a:solidFill>
                  </a:tcPr>
                </a:tc>
                <a:extLst>
                  <a:ext uri="{0D108BD9-81ED-4DB2-BD59-A6C34878D82A}">
                    <a16:rowId xmlns:a16="http://schemas.microsoft.com/office/drawing/2014/main" val="1935686937"/>
                  </a:ext>
                </a:extLst>
              </a:tr>
              <a:tr h="0">
                <a:tc>
                  <a:txBody>
                    <a:bodyPr/>
                    <a:lstStyle/>
                    <a:p>
                      <a:pPr algn="ctr"/>
                      <a:r>
                        <a:rPr lang="en-US">
                          <a:effectLst/>
                        </a:rPr>
                        <a:t>Throughput</a:t>
                      </a:r>
                    </a:p>
                  </a:txBody>
                  <a:tcPr marL="50800" marR="50800" marT="50800" marB="50800" anchor="ctr"/>
                </a:tc>
                <a:tc>
                  <a:txBody>
                    <a:bodyPr/>
                    <a:lstStyle/>
                    <a:p>
                      <a:pPr algn="ctr"/>
                      <a:r>
                        <a:rPr lang="en-US">
                          <a:effectLst/>
                        </a:rPr>
                        <a:t>Very high (scalable)</a:t>
                      </a:r>
                    </a:p>
                  </a:txBody>
                  <a:tcPr marL="50800" marR="50800" marT="50800" marB="50800" anchor="ctr"/>
                </a:tc>
                <a:tc>
                  <a:txBody>
                    <a:bodyPr/>
                    <a:lstStyle/>
                    <a:p>
                      <a:pPr algn="ctr"/>
                      <a:r>
                        <a:rPr lang="en-US" b="1" dirty="0">
                          <a:solidFill>
                            <a:srgbClr val="C00000"/>
                          </a:solidFill>
                          <a:effectLst/>
                        </a:rPr>
                        <a:t>Limited</a:t>
                      </a:r>
                    </a:p>
                  </a:txBody>
                  <a:tcPr marL="50800" marR="50800" marT="50800" marB="50800" anchor="ctr"/>
                </a:tc>
                <a:extLst>
                  <a:ext uri="{0D108BD9-81ED-4DB2-BD59-A6C34878D82A}">
                    <a16:rowId xmlns:a16="http://schemas.microsoft.com/office/drawing/2014/main" val="3477941609"/>
                  </a:ext>
                </a:extLst>
              </a:tr>
              <a:tr h="0">
                <a:tc>
                  <a:txBody>
                    <a:bodyPr/>
                    <a:lstStyle/>
                    <a:p>
                      <a:pPr algn="ctr"/>
                      <a:r>
                        <a:rPr lang="en-US" dirty="0">
                          <a:effectLst/>
                        </a:rPr>
                        <a:t>Power Efficiency</a:t>
                      </a:r>
                    </a:p>
                  </a:txBody>
                  <a:tcPr marL="50800" marR="50800" marT="50800" marB="50800" anchor="ctr"/>
                </a:tc>
                <a:tc>
                  <a:txBody>
                    <a:bodyPr/>
                    <a:lstStyle/>
                    <a:p>
                      <a:pPr algn="ctr"/>
                      <a:r>
                        <a:rPr lang="en-US" dirty="0">
                          <a:effectLst/>
                        </a:rPr>
                        <a:t>Higher at multi-</a:t>
                      </a:r>
                      <a:r>
                        <a:rPr lang="en-US" dirty="0" err="1">
                          <a:effectLst/>
                        </a:rPr>
                        <a:t>GSps</a:t>
                      </a:r>
                      <a:endParaRPr lang="en-US" dirty="0">
                        <a:effectLst/>
                      </a:endParaRPr>
                    </a:p>
                  </a:txBody>
                  <a:tcPr marL="50800" marR="50800" marT="50800" marB="50800" anchor="ctr"/>
                </a:tc>
                <a:tc>
                  <a:txBody>
                    <a:bodyPr/>
                    <a:lstStyle/>
                    <a:p>
                      <a:pPr algn="ctr"/>
                      <a:r>
                        <a:rPr lang="en-US" dirty="0">
                          <a:effectLst/>
                        </a:rPr>
                        <a:t>Lower at multi-</a:t>
                      </a:r>
                      <a:r>
                        <a:rPr lang="en-US" dirty="0" err="1">
                          <a:effectLst/>
                        </a:rPr>
                        <a:t>GSps</a:t>
                      </a:r>
                      <a:endParaRPr lang="en-US" dirty="0">
                        <a:effectLst/>
                      </a:endParaRPr>
                    </a:p>
                  </a:txBody>
                  <a:tcPr marL="50800" marR="50800" marT="50800" marB="50800" anchor="ctr"/>
                </a:tc>
                <a:extLst>
                  <a:ext uri="{0D108BD9-81ED-4DB2-BD59-A6C34878D82A}">
                    <a16:rowId xmlns:a16="http://schemas.microsoft.com/office/drawing/2014/main" val="408476038"/>
                  </a:ext>
                </a:extLst>
              </a:tr>
              <a:tr h="0">
                <a:tc>
                  <a:txBody>
                    <a:bodyPr/>
                    <a:lstStyle/>
                    <a:p>
                      <a:pPr algn="ctr"/>
                      <a:r>
                        <a:rPr lang="en-US">
                          <a:effectLst/>
                        </a:rPr>
                        <a:t>Channel Matching</a:t>
                      </a:r>
                    </a:p>
                  </a:txBody>
                  <a:tcPr marL="50800" marR="50800" marT="50800" marB="50800" anchor="ctr"/>
                </a:tc>
                <a:tc>
                  <a:txBody>
                    <a:bodyPr/>
                    <a:lstStyle/>
                    <a:p>
                      <a:pPr algn="ctr"/>
                      <a:r>
                        <a:rPr lang="en-US" b="1" dirty="0">
                          <a:solidFill>
                            <a:srgbClr val="C00000"/>
                          </a:solidFill>
                          <a:effectLst/>
                        </a:rPr>
                        <a:t>Needs calibration</a:t>
                      </a:r>
                    </a:p>
                  </a:txBody>
                  <a:tcPr marL="50800" marR="50800" marT="50800" marB="50800" anchor="ctr"/>
                </a:tc>
                <a:tc>
                  <a:txBody>
                    <a:bodyPr/>
                    <a:lstStyle/>
                    <a:p>
                      <a:pPr algn="ctr"/>
                      <a:r>
                        <a:rPr lang="en-US">
                          <a:effectLst/>
                        </a:rPr>
                        <a:t>Intrinsic</a:t>
                      </a:r>
                    </a:p>
                  </a:txBody>
                  <a:tcPr marL="50800" marR="50800" marT="50800" marB="50800" anchor="ctr"/>
                </a:tc>
                <a:extLst>
                  <a:ext uri="{0D108BD9-81ED-4DB2-BD59-A6C34878D82A}">
                    <a16:rowId xmlns:a16="http://schemas.microsoft.com/office/drawing/2014/main" val="2731905509"/>
                  </a:ext>
                </a:extLst>
              </a:tr>
              <a:tr h="0">
                <a:tc>
                  <a:txBody>
                    <a:bodyPr/>
                    <a:lstStyle/>
                    <a:p>
                      <a:pPr algn="ctr"/>
                      <a:r>
                        <a:rPr lang="en-US">
                          <a:effectLst/>
                        </a:rPr>
                        <a:t>Design Complexity</a:t>
                      </a:r>
                    </a:p>
                  </a:txBody>
                  <a:tcPr marL="50800" marR="50800" marT="50800" marB="50800" anchor="ctr"/>
                </a:tc>
                <a:tc>
                  <a:txBody>
                    <a:bodyPr/>
                    <a:lstStyle/>
                    <a:p>
                      <a:pPr algn="r"/>
                      <a:r>
                        <a:rPr lang="en-US" b="1" dirty="0">
                          <a:effectLst/>
                        </a:rPr>
                        <a:t>High</a:t>
                      </a:r>
                    </a:p>
                  </a:txBody>
                  <a:tcPr marL="50800" marR="50800" marT="50800" marB="50800" anchor="ctr"/>
                </a:tc>
                <a:tc>
                  <a:txBody>
                    <a:bodyPr/>
                    <a:lstStyle/>
                    <a:p>
                      <a:pPr algn="ctr"/>
                      <a:r>
                        <a:rPr lang="en-US">
                          <a:effectLst/>
                        </a:rPr>
                        <a:t>Moderate</a:t>
                      </a:r>
                    </a:p>
                  </a:txBody>
                  <a:tcPr marL="50800" marR="50800" marT="50800" marB="50800" anchor="ctr"/>
                </a:tc>
                <a:extLst>
                  <a:ext uri="{0D108BD9-81ED-4DB2-BD59-A6C34878D82A}">
                    <a16:rowId xmlns:a16="http://schemas.microsoft.com/office/drawing/2014/main" val="43079733"/>
                  </a:ext>
                </a:extLst>
              </a:tr>
              <a:tr h="0">
                <a:tc>
                  <a:txBody>
                    <a:bodyPr/>
                    <a:lstStyle/>
                    <a:p>
                      <a:pPr algn="ctr"/>
                      <a:r>
                        <a:rPr lang="en-US">
                          <a:effectLst/>
                        </a:rPr>
                        <a:t>Area</a:t>
                      </a:r>
                    </a:p>
                  </a:txBody>
                  <a:tcPr marL="50800" marR="50800" marT="50800" marB="50800" anchor="ctr"/>
                </a:tc>
                <a:tc>
                  <a:txBody>
                    <a:bodyPr/>
                    <a:lstStyle/>
                    <a:p>
                      <a:pPr algn="ctr"/>
                      <a:r>
                        <a:rPr lang="en-US" dirty="0">
                          <a:effectLst/>
                        </a:rPr>
                        <a:t>Lower per </a:t>
                      </a:r>
                      <a:r>
                        <a:rPr lang="en-US" dirty="0" err="1">
                          <a:effectLst/>
                        </a:rPr>
                        <a:t>GSps</a:t>
                      </a:r>
                      <a:endParaRPr lang="en-US" dirty="0">
                        <a:effectLst/>
                      </a:endParaRPr>
                    </a:p>
                  </a:txBody>
                  <a:tcPr marL="50800" marR="50800" marT="50800" marB="50800" anchor="ctr"/>
                </a:tc>
                <a:tc>
                  <a:txBody>
                    <a:bodyPr/>
                    <a:lstStyle/>
                    <a:p>
                      <a:pPr algn="ctr"/>
                      <a:r>
                        <a:rPr lang="en-US" b="1" dirty="0">
                          <a:solidFill>
                            <a:srgbClr val="C00000"/>
                          </a:solidFill>
                          <a:effectLst/>
                        </a:rPr>
                        <a:t>Higher</a:t>
                      </a:r>
                    </a:p>
                  </a:txBody>
                  <a:tcPr marL="50800" marR="50800" marT="50800" marB="50800" anchor="ctr"/>
                </a:tc>
                <a:extLst>
                  <a:ext uri="{0D108BD9-81ED-4DB2-BD59-A6C34878D82A}">
                    <a16:rowId xmlns:a16="http://schemas.microsoft.com/office/drawing/2014/main" val="4276201340"/>
                  </a:ext>
                </a:extLst>
              </a:tr>
            </a:tbl>
          </a:graphicData>
        </a:graphic>
      </p:graphicFrame>
      <p:sp>
        <p:nvSpPr>
          <p:cNvPr id="9" name="Rectangle 8"/>
          <p:cNvSpPr/>
          <p:nvPr/>
        </p:nvSpPr>
        <p:spPr>
          <a:xfrm>
            <a:off x="508000" y="1158240"/>
            <a:ext cx="6929120" cy="231139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3191466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411480" y="1115964"/>
            <a:ext cx="11780520" cy="4673328"/>
          </a:xfrm>
        </p:spPr>
        <p:txBody>
          <a:bodyPr>
            <a:normAutofit/>
          </a:bodyPr>
          <a:lstStyle/>
          <a:p>
            <a:pPr marL="0" indent="0" algn="ctr">
              <a:buNone/>
            </a:pPr>
            <a:r>
              <a:rPr lang="en-US" b="1" dirty="0">
                <a:solidFill>
                  <a:srgbClr val="C00000"/>
                </a:solidFill>
                <a:latin typeface="fkGrotesk"/>
              </a:rPr>
              <a:t>Clocking and Synchronization</a:t>
            </a:r>
          </a:p>
          <a:p>
            <a:pPr>
              <a:buFont typeface="Wingdings" panose="05000000000000000000" pitchFamily="2" charset="2"/>
              <a:buChar char="q"/>
            </a:pPr>
            <a:r>
              <a:rPr lang="en-US" sz="2200" dirty="0">
                <a:solidFill>
                  <a:schemeClr val="tx1"/>
                </a:solidFill>
                <a:latin typeface="fkGroteskNeue"/>
              </a:rPr>
              <a:t>Multiphase clock generation typically by PLL or DLL circuits for </a:t>
            </a:r>
            <a:r>
              <a:rPr lang="en-US" sz="2200" b="1" dirty="0">
                <a:solidFill>
                  <a:srgbClr val="00B050"/>
                </a:solidFill>
                <a:latin typeface="fkGroteskNeue"/>
              </a:rPr>
              <a:t>precision phase alignment.</a:t>
            </a:r>
          </a:p>
          <a:p>
            <a:pPr>
              <a:buFont typeface="Wingdings" panose="05000000000000000000" pitchFamily="2" charset="2"/>
              <a:buChar char="q"/>
            </a:pPr>
            <a:r>
              <a:rPr lang="en-US" sz="2200" b="1" i="1" dirty="0">
                <a:solidFill>
                  <a:srgbClr val="00B050"/>
                </a:solidFill>
                <a:latin typeface="fkGroteskNeue"/>
              </a:rPr>
              <a:t>Clock integrity crucial: </a:t>
            </a:r>
            <a:r>
              <a:rPr lang="en-US" sz="2200" dirty="0">
                <a:solidFill>
                  <a:schemeClr val="tx1"/>
                </a:solidFill>
                <a:latin typeface="fkGroteskNeue"/>
              </a:rPr>
              <a:t>phase skew and jitter directly impact performance.</a:t>
            </a:r>
          </a:p>
          <a:p>
            <a:pPr>
              <a:buFont typeface="Wingdings" panose="05000000000000000000" pitchFamily="2" charset="2"/>
              <a:buChar char="q"/>
            </a:pPr>
            <a:r>
              <a:rPr lang="en-US" sz="2200" b="1" dirty="0" smtClean="0">
                <a:solidFill>
                  <a:srgbClr val="00B050"/>
                </a:solidFill>
                <a:latin typeface="fkGroteskNeue"/>
              </a:rPr>
              <a:t>Block </a:t>
            </a:r>
            <a:r>
              <a:rPr lang="en-US" sz="2200" b="1" dirty="0">
                <a:solidFill>
                  <a:srgbClr val="00B050"/>
                </a:solidFill>
                <a:latin typeface="fkGroteskNeue"/>
              </a:rPr>
              <a:t>diagram: Show PLL generating all four phase clocks</a:t>
            </a:r>
            <a:r>
              <a:rPr lang="en-US" sz="2200" b="1" dirty="0" smtClean="0">
                <a:solidFill>
                  <a:srgbClr val="00B050"/>
                </a:solidFill>
                <a:latin typeface="fkGroteskNeue"/>
              </a:rPr>
              <a:t>.</a:t>
            </a:r>
            <a:endParaRPr lang="en-US" sz="2200" b="1" dirty="0">
              <a:solidFill>
                <a:srgbClr val="00B050"/>
              </a:solidFill>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FFB97A79-B479-44B6-9C18-2269C960950C}"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12</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7" name="Rectangle 6"/>
          <p:cNvSpPr/>
          <p:nvPr/>
        </p:nvSpPr>
        <p:spPr>
          <a:xfrm>
            <a:off x="325120" y="1483361"/>
            <a:ext cx="11800840" cy="138683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Rectangle 7"/>
          <p:cNvSpPr/>
          <p:nvPr/>
        </p:nvSpPr>
        <p:spPr>
          <a:xfrm>
            <a:off x="391160" y="2946738"/>
            <a:ext cx="11739880" cy="1815882"/>
          </a:xfrm>
          <a:prstGeom prst="rect">
            <a:avLst/>
          </a:prstGeom>
        </p:spPr>
        <p:txBody>
          <a:bodyPr wrap="square">
            <a:spAutoFit/>
          </a:bodyPr>
          <a:lstStyle/>
          <a:p>
            <a:pPr algn="ctr"/>
            <a:r>
              <a:rPr lang="en-US" sz="2400" b="1" dirty="0">
                <a:solidFill>
                  <a:srgbClr val="C00000"/>
                </a:solidFill>
                <a:latin typeface="fkGrotesk"/>
              </a:rPr>
              <a:t>Performance Advantages</a:t>
            </a:r>
          </a:p>
          <a:p>
            <a:pPr marL="342900" indent="-342900">
              <a:buFont typeface="Wingdings" panose="05000000000000000000" pitchFamily="2" charset="2"/>
              <a:buChar char="q"/>
            </a:pPr>
            <a:r>
              <a:rPr lang="en-US" sz="2200" dirty="0">
                <a:latin typeface="fkGroteskNeue"/>
              </a:rPr>
              <a:t>Enables multi-</a:t>
            </a:r>
            <a:r>
              <a:rPr lang="en-US" sz="2200" dirty="0" err="1">
                <a:latin typeface="fkGroteskNeue"/>
              </a:rPr>
              <a:t>GSps</a:t>
            </a:r>
            <a:r>
              <a:rPr lang="en-US" sz="2200" dirty="0">
                <a:latin typeface="fkGroteskNeue"/>
              </a:rPr>
              <a:t> sampling using </a:t>
            </a:r>
            <a:r>
              <a:rPr lang="en-US" sz="2200" b="1" dirty="0">
                <a:solidFill>
                  <a:srgbClr val="00B050"/>
                </a:solidFill>
                <a:latin typeface="fkGroteskNeue"/>
              </a:rPr>
              <a:t>moderate-speed ADC cores</a:t>
            </a:r>
            <a:r>
              <a:rPr lang="en-US" sz="2200" dirty="0">
                <a:latin typeface="fkGroteskNeue"/>
              </a:rPr>
              <a:t>.</a:t>
            </a:r>
          </a:p>
          <a:p>
            <a:pPr marL="342900" indent="-342900">
              <a:buFont typeface="Wingdings" panose="05000000000000000000" pitchFamily="2" charset="2"/>
              <a:buChar char="q"/>
            </a:pPr>
            <a:r>
              <a:rPr lang="en-US" sz="2200" b="1" dirty="0">
                <a:latin typeface="fkGroteskNeue"/>
              </a:rPr>
              <a:t>Power efficiency: </a:t>
            </a:r>
            <a:r>
              <a:rPr lang="en-US" sz="2200" b="1" dirty="0">
                <a:solidFill>
                  <a:srgbClr val="00B050"/>
                </a:solidFill>
                <a:latin typeface="fkGroteskNeue"/>
              </a:rPr>
              <a:t>Parallelism reduces per-channel speed requirement</a:t>
            </a:r>
            <a:r>
              <a:rPr lang="en-US" sz="2200" dirty="0">
                <a:latin typeface="fkGroteskNeue"/>
              </a:rPr>
              <a:t>, enabling lower power operation.</a:t>
            </a:r>
          </a:p>
          <a:p>
            <a:pPr marL="342900" indent="-342900">
              <a:buFont typeface="Wingdings" panose="05000000000000000000" pitchFamily="2" charset="2"/>
              <a:buChar char="q"/>
            </a:pPr>
            <a:r>
              <a:rPr lang="en-US" sz="2200" b="1" dirty="0">
                <a:latin typeface="fkGroteskNeue"/>
              </a:rPr>
              <a:t>Scalable: </a:t>
            </a:r>
            <a:r>
              <a:rPr lang="en-US" sz="2200" b="1" dirty="0">
                <a:solidFill>
                  <a:srgbClr val="00B050"/>
                </a:solidFill>
                <a:latin typeface="fkGroteskNeue"/>
              </a:rPr>
              <a:t>Architecture expands easily to 8, 16, or more channels</a:t>
            </a:r>
            <a:r>
              <a:rPr lang="en-US" sz="2200" dirty="0">
                <a:latin typeface="fkGroteskNeue"/>
              </a:rPr>
              <a:t>.</a:t>
            </a:r>
            <a:endParaRPr lang="en-US" sz="2200" b="0" i="0" dirty="0">
              <a:effectLst/>
              <a:latin typeface="fkGroteskNeue"/>
            </a:endParaRPr>
          </a:p>
        </p:txBody>
      </p:sp>
      <p:sp>
        <p:nvSpPr>
          <p:cNvPr id="9" name="Rectangle 8"/>
          <p:cNvSpPr/>
          <p:nvPr/>
        </p:nvSpPr>
        <p:spPr>
          <a:xfrm>
            <a:off x="391160" y="3378201"/>
            <a:ext cx="11800840" cy="138683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0228224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614698" y="1502044"/>
            <a:ext cx="5455902" cy="4673328"/>
          </a:xfrm>
        </p:spPr>
        <p:txBody>
          <a:bodyPr/>
          <a:lstStyle/>
          <a:p>
            <a:pPr marL="0" indent="0" algn="ctr">
              <a:buNone/>
            </a:pPr>
            <a:r>
              <a:rPr lang="en-US" b="1" dirty="0">
                <a:solidFill>
                  <a:srgbClr val="C00000"/>
                </a:solidFill>
                <a:latin typeface="fkGrotesk"/>
              </a:rPr>
              <a:t>Technical Challenges</a:t>
            </a:r>
          </a:p>
          <a:p>
            <a:pPr algn="just">
              <a:buFont typeface="Wingdings" panose="05000000000000000000" pitchFamily="2" charset="2"/>
              <a:buChar char="q"/>
            </a:pPr>
            <a:r>
              <a:rPr lang="en-US" sz="2000" dirty="0">
                <a:solidFill>
                  <a:schemeClr val="tx1"/>
                </a:solidFill>
                <a:latin typeface="fkGroteskNeue"/>
              </a:rPr>
              <a:t>Inter-channel mismatches:</a:t>
            </a:r>
          </a:p>
          <a:p>
            <a:pPr lvl="1" algn="just">
              <a:buFont typeface="Wingdings" panose="05000000000000000000" pitchFamily="2" charset="2"/>
              <a:buChar char="q"/>
            </a:pPr>
            <a:r>
              <a:rPr lang="en-US" sz="2000" dirty="0">
                <a:latin typeface="fkGroteskNeue"/>
              </a:rPr>
              <a:t>Gain, offset, and especially timing skew induce spurs.</a:t>
            </a:r>
          </a:p>
          <a:p>
            <a:pPr algn="just">
              <a:buFont typeface="Wingdings" panose="05000000000000000000" pitchFamily="2" charset="2"/>
              <a:buChar char="q"/>
            </a:pPr>
            <a:r>
              <a:rPr lang="en-US" sz="2000" dirty="0">
                <a:solidFill>
                  <a:schemeClr val="tx1"/>
                </a:solidFill>
                <a:latin typeface="fkGroteskNeue"/>
              </a:rPr>
              <a:t>Data alignment logic needed at digital output.</a:t>
            </a:r>
          </a:p>
          <a:p>
            <a:pPr algn="just">
              <a:buFont typeface="Wingdings" panose="05000000000000000000" pitchFamily="2" charset="2"/>
              <a:buChar char="q"/>
            </a:pPr>
            <a:r>
              <a:rPr lang="en-US" sz="2000" dirty="0">
                <a:solidFill>
                  <a:schemeClr val="tx1"/>
                </a:solidFill>
                <a:latin typeface="fkGroteskNeue"/>
              </a:rPr>
              <a:t>Demands comprehensive background calibration (DSP-based) for high linearity.</a:t>
            </a:r>
          </a:p>
          <a:p>
            <a:pPr algn="just">
              <a:buFont typeface="Wingdings" panose="05000000000000000000" pitchFamily="2" charset="2"/>
              <a:buChar char="q"/>
            </a:pPr>
            <a:r>
              <a:rPr lang="en-US" sz="2000" dirty="0">
                <a:solidFill>
                  <a:schemeClr val="tx1"/>
                </a:solidFill>
                <a:latin typeface="fkGroteskNeue"/>
              </a:rPr>
              <a:t>Clock generation and distribution become critical bottlenecks at high N.</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CE11C5B-EA79-4F3C-A662-D0E53090DDAA}"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13</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8" name="Text Placeholder 2"/>
          <p:cNvSpPr txBox="1">
            <a:spLocks/>
          </p:cNvSpPr>
          <p:nvPr/>
        </p:nvSpPr>
        <p:spPr>
          <a:xfrm>
            <a:off x="6517879" y="1453453"/>
            <a:ext cx="5455902" cy="4673328"/>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BFBFBF"/>
                </a:solidFill>
                <a:latin typeface="Verdana"/>
                <a:ea typeface="+mn-ea"/>
                <a:cs typeface="Verdan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solidFill>
                  <a:srgbClr val="C00000"/>
                </a:solidFill>
                <a:latin typeface="fkGrotesk"/>
              </a:rPr>
              <a:t>Calibration &amp; Digital Correction</a:t>
            </a:r>
          </a:p>
          <a:p>
            <a:pPr marL="342900" indent="-342900">
              <a:buFont typeface="Wingdings" panose="05000000000000000000" pitchFamily="2" charset="2"/>
              <a:buChar char="q"/>
            </a:pPr>
            <a:r>
              <a:rPr lang="en-US" sz="2000" dirty="0">
                <a:solidFill>
                  <a:schemeClr val="tx1"/>
                </a:solidFill>
                <a:latin typeface="fkGroteskNeue"/>
              </a:rPr>
              <a:t>Modern systems implement real-time DSP correction for:</a:t>
            </a:r>
          </a:p>
          <a:p>
            <a:pPr marL="800100" lvl="1" indent="-342900">
              <a:buFont typeface="Wingdings" panose="05000000000000000000" pitchFamily="2" charset="2"/>
              <a:buChar char="q"/>
            </a:pPr>
            <a:r>
              <a:rPr lang="en-US" sz="2000" b="1" dirty="0">
                <a:solidFill>
                  <a:srgbClr val="C00000"/>
                </a:solidFill>
                <a:latin typeface="fkGroteskNeue"/>
              </a:rPr>
              <a:t>Gain mismatch</a:t>
            </a:r>
          </a:p>
          <a:p>
            <a:pPr marL="800100" lvl="1" indent="-342900">
              <a:buFont typeface="Wingdings" panose="05000000000000000000" pitchFamily="2" charset="2"/>
              <a:buChar char="q"/>
            </a:pPr>
            <a:r>
              <a:rPr lang="en-US" sz="2000" b="1" dirty="0">
                <a:solidFill>
                  <a:srgbClr val="C00000"/>
                </a:solidFill>
                <a:latin typeface="fkGroteskNeue"/>
              </a:rPr>
              <a:t>Offset mismatch</a:t>
            </a:r>
          </a:p>
          <a:p>
            <a:pPr marL="800100" lvl="1" indent="-342900">
              <a:buFont typeface="Wingdings" panose="05000000000000000000" pitchFamily="2" charset="2"/>
              <a:buChar char="q"/>
            </a:pPr>
            <a:r>
              <a:rPr lang="en-US" sz="2000" b="1" dirty="0">
                <a:solidFill>
                  <a:srgbClr val="C00000"/>
                </a:solidFill>
                <a:latin typeface="fkGroteskNeue"/>
              </a:rPr>
              <a:t>Timing skew/jitter</a:t>
            </a:r>
          </a:p>
          <a:p>
            <a:pPr marL="342900" indent="-342900">
              <a:buFont typeface="Wingdings" panose="05000000000000000000" pitchFamily="2" charset="2"/>
              <a:buChar char="q"/>
            </a:pPr>
            <a:r>
              <a:rPr lang="en-US" sz="2000" dirty="0">
                <a:solidFill>
                  <a:schemeClr val="tx1"/>
                </a:solidFill>
                <a:latin typeface="fkGroteskNeue"/>
              </a:rPr>
              <a:t>Enables sustained high ENOB, even under process/drift </a:t>
            </a:r>
            <a:r>
              <a:rPr lang="en-US" sz="2000" dirty="0" smtClean="0">
                <a:solidFill>
                  <a:schemeClr val="tx1"/>
                </a:solidFill>
                <a:latin typeface="fkGroteskNeue"/>
              </a:rPr>
              <a:t>variations.</a:t>
            </a:r>
          </a:p>
          <a:p>
            <a:pPr marL="0" indent="0">
              <a:buNone/>
            </a:pPr>
            <a:endParaRPr lang="en-US" dirty="0"/>
          </a:p>
        </p:txBody>
      </p:sp>
      <p:sp>
        <p:nvSpPr>
          <p:cNvPr id="9" name="Rectangle 8"/>
          <p:cNvSpPr/>
          <p:nvPr/>
        </p:nvSpPr>
        <p:spPr>
          <a:xfrm>
            <a:off x="420977" y="1815549"/>
            <a:ext cx="5801360" cy="2712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6390640" y="1830568"/>
            <a:ext cx="5586012" cy="2712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Rectangle 10"/>
          <p:cNvSpPr/>
          <p:nvPr/>
        </p:nvSpPr>
        <p:spPr>
          <a:xfrm>
            <a:off x="370840" y="5054938"/>
            <a:ext cx="11724640" cy="923330"/>
          </a:xfrm>
          <a:prstGeom prst="rect">
            <a:avLst/>
          </a:prstGeom>
        </p:spPr>
        <p:txBody>
          <a:bodyPr wrap="square">
            <a:spAutoFit/>
          </a:bodyPr>
          <a:lstStyle/>
          <a:p>
            <a:pPr marL="285750" indent="-285750">
              <a:buFont typeface="Wingdings" panose="05000000000000000000" pitchFamily="2" charset="2"/>
              <a:buChar char="q"/>
            </a:pPr>
            <a:r>
              <a:rPr lang="en-US" dirty="0">
                <a:latin typeface="fkGroteskNeue"/>
              </a:rPr>
              <a:t>Time-interleaved ADCs are foundational for next-generation </a:t>
            </a:r>
            <a:r>
              <a:rPr lang="en-US" dirty="0" err="1" smtClean="0">
                <a:latin typeface="fkGroteskNeue"/>
              </a:rPr>
              <a:t>giga</a:t>
            </a:r>
            <a:r>
              <a:rPr lang="en-US" dirty="0" smtClean="0">
                <a:latin typeface="fkGroteskNeue"/>
              </a:rPr>
              <a:t> sample </a:t>
            </a:r>
            <a:r>
              <a:rPr lang="en-US" dirty="0">
                <a:latin typeface="fkGroteskNeue"/>
              </a:rPr>
              <a:t>bandwidth in compact, efficient </a:t>
            </a:r>
            <a:r>
              <a:rPr lang="en-US" dirty="0" err="1">
                <a:latin typeface="fkGroteskNeue"/>
              </a:rPr>
              <a:t>SoCs</a:t>
            </a:r>
            <a:r>
              <a:rPr lang="en-US" dirty="0">
                <a:latin typeface="fkGroteskNeue"/>
              </a:rPr>
              <a:t>.</a:t>
            </a:r>
          </a:p>
          <a:p>
            <a:pPr marL="285750" indent="-285750">
              <a:buFont typeface="Wingdings" panose="05000000000000000000" pitchFamily="2" charset="2"/>
              <a:buChar char="q"/>
            </a:pPr>
            <a:r>
              <a:rPr lang="en-US" dirty="0">
                <a:latin typeface="fkGroteskNeue"/>
              </a:rPr>
              <a:t>Clocking strategy, calibration, and digital correction are enablers of exceptional performance.</a:t>
            </a:r>
          </a:p>
          <a:p>
            <a:pPr marL="285750" indent="-285750">
              <a:buFont typeface="Wingdings" panose="05000000000000000000" pitchFamily="2" charset="2"/>
              <a:buChar char="q"/>
            </a:pPr>
            <a:r>
              <a:rPr lang="en-US" dirty="0">
                <a:latin typeface="fkGroteskNeue"/>
              </a:rPr>
              <a:t>Architecture aligns with industry shifts toward multi-functional, broadband, software-defined platforms</a:t>
            </a:r>
            <a:endParaRPr lang="en-US" b="0" i="0" dirty="0">
              <a:effectLst/>
              <a:latin typeface="fkGroteskNeue"/>
            </a:endParaRPr>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40281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endParaRPr lang="en-BE" dirty="0"/>
          </a:p>
        </p:txBody>
      </p:sp>
      <p:sp>
        <p:nvSpPr>
          <p:cNvPr id="4" name="Slide Number Placeholder 3"/>
          <p:cNvSpPr>
            <a:spLocks noGrp="1"/>
          </p:cNvSpPr>
          <p:nvPr>
            <p:ph type="sldNum" sz="quarter" idx="4294967295"/>
          </p:nvPr>
        </p:nvSpPr>
        <p:spPr/>
        <p:txBody>
          <a:bodyPr/>
          <a:lstStyle/>
          <a:p>
            <a:fld id="{60331F8A-FA1D-427D-B40D-66DA77956C52}" type="slidenum">
              <a:rPr lang="en-BE" smtClean="0"/>
              <a:t>14</a:t>
            </a:fld>
            <a:endParaRPr lang="en-BE" dirty="0"/>
          </a:p>
        </p:txBody>
      </p:sp>
      <p:sp>
        <p:nvSpPr>
          <p:cNvPr id="5" name="Rectangle 4"/>
          <p:cNvSpPr/>
          <p:nvPr/>
        </p:nvSpPr>
        <p:spPr>
          <a:xfrm>
            <a:off x="514350" y="1126847"/>
            <a:ext cx="11410950" cy="5078313"/>
          </a:xfrm>
          <a:prstGeom prst="rect">
            <a:avLst/>
          </a:prstGeom>
        </p:spPr>
        <p:txBody>
          <a:bodyPr wrap="square">
            <a:spAutoFit/>
          </a:bodyPr>
          <a:lstStyle/>
          <a:p>
            <a:pPr marL="285750" indent="-285750" algn="ctr">
              <a:buFont typeface="Wingdings" panose="05000000000000000000" pitchFamily="2" charset="2"/>
              <a:buChar char="q"/>
            </a:pPr>
            <a:r>
              <a:rPr lang="en-US" b="1" dirty="0" smtClean="0">
                <a:solidFill>
                  <a:srgbClr val="00B050"/>
                </a:solidFill>
              </a:rPr>
              <a:t>Throughput </a:t>
            </a:r>
            <a:r>
              <a:rPr lang="en-US" b="1" dirty="0">
                <a:solidFill>
                  <a:srgbClr val="00B050"/>
                </a:solidFill>
              </a:rPr>
              <a:t>and SNR Enhancement:</a:t>
            </a:r>
            <a:r>
              <a:rPr lang="en-US" dirty="0"/>
              <a:t/>
            </a:r>
            <a:br>
              <a:rPr lang="en-US" dirty="0"/>
            </a:br>
            <a:r>
              <a:rPr lang="en-US" dirty="0"/>
              <a:t>The interleaved topology multiplies the effective sampling rate by the number of sub-converters, directly addressing the tradeoff between dynamic range and sample rate. SNR is tied to high sampling rates, but true interleaved SNR hinges on matching accuracy, inter-channel gain/offset, and clock skew</a:t>
            </a:r>
            <a:r>
              <a:rPr lang="en-US" dirty="0" smtClean="0"/>
              <a:t>.</a:t>
            </a:r>
          </a:p>
          <a:p>
            <a:pPr marL="285750" indent="-285750" algn="ctr">
              <a:buFont typeface="Wingdings" panose="05000000000000000000" pitchFamily="2" charset="2"/>
              <a:buChar char="q"/>
            </a:pPr>
            <a:endParaRPr lang="en-US" dirty="0"/>
          </a:p>
          <a:p>
            <a:pPr marL="285750" indent="-285750" algn="ctr">
              <a:buFont typeface="Wingdings" panose="05000000000000000000" pitchFamily="2" charset="2"/>
              <a:buChar char="q"/>
            </a:pPr>
            <a:r>
              <a:rPr lang="en-US" b="1" dirty="0">
                <a:solidFill>
                  <a:srgbClr val="00B050"/>
                </a:solidFill>
              </a:rPr>
              <a:t>Data Integrity Challenges:</a:t>
            </a:r>
            <a:r>
              <a:rPr lang="en-US" dirty="0"/>
              <a:t/>
            </a:r>
            <a:br>
              <a:rPr lang="en-US" dirty="0"/>
            </a:br>
            <a:r>
              <a:rPr lang="en-US" dirty="0"/>
              <a:t>Interleaved ADCs demand extremely tight control of inter-channel mismatch (timing, gain, offset, bandwidth). Even minor disparities introduce spurious tones and degrade spectral performance, especially for wideband input signals</a:t>
            </a:r>
            <a:r>
              <a:rPr lang="en-US" dirty="0" smtClean="0"/>
              <a:t>.</a:t>
            </a:r>
          </a:p>
          <a:p>
            <a:pPr marL="285750" indent="-285750" algn="ctr">
              <a:buFont typeface="Wingdings" panose="05000000000000000000" pitchFamily="2" charset="2"/>
              <a:buChar char="q"/>
            </a:pPr>
            <a:endParaRPr lang="en-US" dirty="0"/>
          </a:p>
          <a:p>
            <a:pPr marL="285750" indent="-285750" algn="ctr">
              <a:buFont typeface="Wingdings" panose="05000000000000000000" pitchFamily="2" charset="2"/>
              <a:buChar char="q"/>
            </a:pPr>
            <a:r>
              <a:rPr lang="en-US" b="1" dirty="0">
                <a:solidFill>
                  <a:srgbClr val="00B050"/>
                </a:solidFill>
              </a:rPr>
              <a:t>Clocking Requirements:</a:t>
            </a:r>
            <a:r>
              <a:rPr lang="en-US" dirty="0"/>
              <a:t/>
            </a:r>
            <a:br>
              <a:rPr lang="en-US" dirty="0"/>
            </a:br>
            <a:r>
              <a:rPr lang="en-US" dirty="0"/>
              <a:t>Clock sources must maintain minimal phase error and jitter across all channels. PLL/DLL-based schemes for generating quadrature or multiphase clocks are critical, with automated skew calibration and </a:t>
            </a:r>
            <a:r>
              <a:rPr lang="en-US" dirty="0" err="1"/>
              <a:t>deskew</a:t>
            </a:r>
            <a:r>
              <a:rPr lang="en-US" dirty="0"/>
              <a:t> circuitry often employed in silicon</a:t>
            </a:r>
            <a:r>
              <a:rPr lang="en-US" dirty="0" smtClean="0"/>
              <a:t>.</a:t>
            </a:r>
          </a:p>
          <a:p>
            <a:pPr marL="285750" indent="-285750" algn="ctr">
              <a:buFont typeface="Wingdings" panose="05000000000000000000" pitchFamily="2" charset="2"/>
              <a:buChar char="q"/>
            </a:pPr>
            <a:endParaRPr lang="en-US" dirty="0"/>
          </a:p>
          <a:p>
            <a:pPr marL="285750" indent="-285750" algn="ctr">
              <a:buFont typeface="Wingdings" panose="05000000000000000000" pitchFamily="2" charset="2"/>
              <a:buChar char="q"/>
            </a:pPr>
            <a:r>
              <a:rPr lang="en-US" b="1" dirty="0">
                <a:solidFill>
                  <a:srgbClr val="00B050"/>
                </a:solidFill>
              </a:rPr>
              <a:t>Digital Correction:</a:t>
            </a:r>
            <a:r>
              <a:rPr lang="en-US" dirty="0"/>
              <a:t/>
            </a:r>
            <a:br>
              <a:rPr lang="en-US" dirty="0"/>
            </a:br>
            <a:r>
              <a:rPr lang="en-US" dirty="0"/>
              <a:t>Modern systems incorporate on-chip DSP for background calibration, correcting for offset, gain, timing errors, and mixer aliasing, enabling dynamic adaptation to process, voltage, and temperature shifts</a:t>
            </a:r>
            <a:endParaRPr lang="en-US" b="0" i="0" dirty="0">
              <a:effectLst/>
            </a:endParaRPr>
          </a:p>
        </p:txBody>
      </p:sp>
      <p:sp>
        <p:nvSpPr>
          <p:cNvPr id="6" name="Rectangle 5"/>
          <p:cNvSpPr/>
          <p:nvPr/>
        </p:nvSpPr>
        <p:spPr>
          <a:xfrm>
            <a:off x="3853331" y="169664"/>
            <a:ext cx="4288353" cy="646331"/>
          </a:xfrm>
          <a:prstGeom prst="rect">
            <a:avLst/>
          </a:prstGeom>
        </p:spPr>
        <p:txBody>
          <a:bodyPr wrap="none">
            <a:spAutoFit/>
          </a:bodyPr>
          <a:lstStyle/>
          <a:p>
            <a:pPr lvl="0"/>
            <a:r>
              <a:rPr lang="en-US" sz="3600" b="1" dirty="0">
                <a:latin typeface="fkGrotesk"/>
              </a:rPr>
              <a:t>Advanced Insights</a:t>
            </a:r>
          </a:p>
        </p:txBody>
      </p:sp>
      <p:sp>
        <p:nvSpPr>
          <p:cNvPr id="7" name="Rectangle 6"/>
          <p:cNvSpPr/>
          <p:nvPr/>
        </p:nvSpPr>
        <p:spPr>
          <a:xfrm>
            <a:off x="883920" y="1463041"/>
            <a:ext cx="11099800" cy="8991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Rectangle 7"/>
          <p:cNvSpPr/>
          <p:nvPr/>
        </p:nvSpPr>
        <p:spPr>
          <a:xfrm>
            <a:off x="878840" y="2834641"/>
            <a:ext cx="11099800" cy="60429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900044" y="3957984"/>
            <a:ext cx="11099800" cy="8991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Rectangle 10"/>
          <p:cNvSpPr/>
          <p:nvPr/>
        </p:nvSpPr>
        <p:spPr>
          <a:xfrm>
            <a:off x="879944" y="5305288"/>
            <a:ext cx="11099800" cy="6299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0782682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endParaRPr lang="en-BE" dirty="0"/>
          </a:p>
        </p:txBody>
      </p:sp>
      <p:sp>
        <p:nvSpPr>
          <p:cNvPr id="4" name="Slide Number Placeholder 3"/>
          <p:cNvSpPr>
            <a:spLocks noGrp="1"/>
          </p:cNvSpPr>
          <p:nvPr>
            <p:ph type="sldNum" sz="quarter" idx="4294967295"/>
          </p:nvPr>
        </p:nvSpPr>
        <p:spPr/>
        <p:txBody>
          <a:bodyPr/>
          <a:lstStyle/>
          <a:p>
            <a:fld id="{60331F8A-FA1D-427D-B40D-66DA77956C52}" type="slidenum">
              <a:rPr lang="en-BE" smtClean="0"/>
              <a:t>15</a:t>
            </a:fld>
            <a:endParaRPr lang="en-BE" dirty="0"/>
          </a:p>
        </p:txBody>
      </p:sp>
      <p:sp>
        <p:nvSpPr>
          <p:cNvPr id="5" name="Rectangle 4"/>
          <p:cNvSpPr/>
          <p:nvPr/>
        </p:nvSpPr>
        <p:spPr>
          <a:xfrm>
            <a:off x="345440" y="5169376"/>
            <a:ext cx="11780520" cy="646331"/>
          </a:xfrm>
          <a:prstGeom prst="rect">
            <a:avLst/>
          </a:prstGeom>
        </p:spPr>
        <p:txBody>
          <a:bodyPr wrap="square">
            <a:spAutoFit/>
          </a:bodyPr>
          <a:lstStyle/>
          <a:p>
            <a:r>
              <a:rPr lang="en-US" dirty="0" smtClean="0">
                <a:latin typeface="fkGroteskNeue"/>
              </a:rPr>
              <a:t>The </a:t>
            </a:r>
            <a:r>
              <a:rPr lang="en-US" dirty="0">
                <a:latin typeface="fkGroteskNeue"/>
              </a:rPr>
              <a:t>architecture and conversion principle of a single-phase VCO-based ADC—a core building block for ultra-low power sensor interfaces, time-domain mixed-signal conversion, and emerging event-driven signal processing ICs.</a:t>
            </a:r>
            <a:endParaRPr lang="en-US" dirty="0"/>
          </a:p>
        </p:txBody>
      </p:sp>
      <p:sp>
        <p:nvSpPr>
          <p:cNvPr id="6" name="Rectangle 5">
            <a:extLst>
              <a:ext uri="{FF2B5EF4-FFF2-40B4-BE49-F238E27FC236}">
                <a16:creationId xmlns:a16="http://schemas.microsoft.com/office/drawing/2014/main" id="{5831F661-E328-FA14-DF75-0827A15248BA}"/>
              </a:ext>
            </a:extLst>
          </p:cNvPr>
          <p:cNvSpPr/>
          <p:nvPr/>
        </p:nvSpPr>
        <p:spPr>
          <a:xfrm>
            <a:off x="731627" y="1419089"/>
            <a:ext cx="11460373" cy="3469334"/>
          </a:xfrm>
          <a:prstGeom prst="rect">
            <a:avLst/>
          </a:prstGeom>
          <a:solidFill>
            <a:schemeClr val="bg1">
              <a:lumMod val="9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pic>
        <p:nvPicPr>
          <p:cNvPr id="7" name="Picture 6">
            <a:extLst>
              <a:ext uri="{FF2B5EF4-FFF2-40B4-BE49-F238E27FC236}">
                <a16:creationId xmlns:a16="http://schemas.microsoft.com/office/drawing/2014/main" id="{D12D9DDF-FE46-CDC6-326A-D88906D5700E}"/>
              </a:ext>
            </a:extLst>
          </p:cNvPr>
          <p:cNvPicPr>
            <a:picLocks noChangeAspect="1"/>
          </p:cNvPicPr>
          <p:nvPr/>
        </p:nvPicPr>
        <p:blipFill>
          <a:blip r:embed="rId2"/>
          <a:stretch>
            <a:fillRect/>
          </a:stretch>
        </p:blipFill>
        <p:spPr>
          <a:xfrm>
            <a:off x="624840" y="1454923"/>
            <a:ext cx="11549074" cy="3341834"/>
          </a:xfrm>
          <a:prstGeom prst="rect">
            <a:avLst/>
          </a:prstGeom>
        </p:spPr>
      </p:pic>
      <p:sp>
        <p:nvSpPr>
          <p:cNvPr id="8" name="Rectangle 7"/>
          <p:cNvSpPr/>
          <p:nvPr/>
        </p:nvSpPr>
        <p:spPr>
          <a:xfrm>
            <a:off x="691568" y="301973"/>
            <a:ext cx="6114944" cy="584775"/>
          </a:xfrm>
          <a:prstGeom prst="rect">
            <a:avLst/>
          </a:prstGeom>
        </p:spPr>
        <p:txBody>
          <a:bodyPr wrap="none">
            <a:spAutoFit/>
          </a:bodyPr>
          <a:lstStyle/>
          <a:p>
            <a:pPr lvl="0" algn="just" fontAlgn="base">
              <a:spcBef>
                <a:spcPct val="0"/>
              </a:spcBef>
              <a:spcAft>
                <a:spcPct val="0"/>
              </a:spcAft>
            </a:pPr>
            <a:r>
              <a:rPr lang="en-US" sz="3200" b="1" dirty="0">
                <a:solidFill>
                  <a:srgbClr val="002060"/>
                </a:solidFill>
                <a:cs typeface="Times New Roman" pitchFamily="18" charset="0"/>
              </a:rPr>
              <a:t>Single-Phase VCO-Based ADC</a:t>
            </a: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68408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0784AA7D-2939-407F-A965-2C59CB734CF3}"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16</a:t>
            </a:fld>
            <a:endParaRPr lang="en-BE"/>
          </a:p>
        </p:txBody>
      </p:sp>
      <p:sp>
        <p:nvSpPr>
          <p:cNvPr id="5" name="Rectangle 4"/>
          <p:cNvSpPr/>
          <p:nvPr/>
        </p:nvSpPr>
        <p:spPr>
          <a:xfrm>
            <a:off x="721360" y="1159917"/>
            <a:ext cx="5603240" cy="2031325"/>
          </a:xfrm>
          <a:prstGeom prst="rect">
            <a:avLst/>
          </a:prstGeom>
        </p:spPr>
        <p:txBody>
          <a:bodyPr wrap="square">
            <a:spAutoFit/>
          </a:bodyPr>
          <a:lstStyle/>
          <a:p>
            <a:pPr algn="ctr"/>
            <a:r>
              <a:rPr lang="en-US" b="1" dirty="0">
                <a:solidFill>
                  <a:srgbClr val="C00000"/>
                </a:solidFill>
                <a:latin typeface="fkGroteskNeue"/>
              </a:rPr>
              <a:t>Core Structure</a:t>
            </a:r>
            <a:r>
              <a:rPr lang="en-US" b="1" dirty="0" smtClean="0">
                <a:solidFill>
                  <a:srgbClr val="C00000"/>
                </a:solidFill>
                <a:latin typeface="fkGroteskNeue"/>
              </a:rPr>
              <a:t>:</a:t>
            </a:r>
          </a:p>
          <a:p>
            <a:pPr algn="just"/>
            <a:r>
              <a:rPr lang="en-US" dirty="0">
                <a:latin typeface="fkGroteskNeue"/>
              </a:rPr>
              <a:t/>
            </a:r>
            <a:br>
              <a:rPr lang="en-US" dirty="0">
                <a:latin typeface="fkGroteskNeue"/>
              </a:rPr>
            </a:br>
            <a:r>
              <a:rPr lang="en-US" dirty="0">
                <a:latin typeface="fkGroteskNeue"/>
              </a:rPr>
              <a:t>The ADC is composed of a voltage-controlled ring oscillator, a digital counter, and a sample register. The analog input voltage </a:t>
            </a:r>
            <a:r>
              <a:rPr lang="en-US" dirty="0" smtClean="0">
                <a:latin typeface="fkGroteskNeue"/>
              </a:rPr>
              <a:t>(</a:t>
            </a:r>
            <a:r>
              <a:rPr lang="en-US" i="1" dirty="0" err="1" smtClean="0">
                <a:latin typeface="KaTeX_Math"/>
              </a:rPr>
              <a:t>V</a:t>
            </a:r>
            <a:r>
              <a:rPr lang="en-US" i="1" baseline="-25000" dirty="0" err="1" smtClean="0">
                <a:latin typeface="KaTeX_Math"/>
              </a:rPr>
              <a:t>control</a:t>
            </a:r>
            <a:r>
              <a:rPr lang="en-US" dirty="0">
                <a:latin typeface="fkGroteskNeue"/>
              </a:rPr>
              <a:t>) directly tunes the oscillator's frequency by modulating the delay of inverter stages.</a:t>
            </a:r>
            <a:endParaRPr lang="en-US" b="0" i="0" dirty="0">
              <a:effectLst/>
              <a:latin typeface="fkGroteskNeue"/>
            </a:endParaRPr>
          </a:p>
        </p:txBody>
      </p:sp>
      <p:sp>
        <p:nvSpPr>
          <p:cNvPr id="6" name="Rectangle 5"/>
          <p:cNvSpPr/>
          <p:nvPr/>
        </p:nvSpPr>
        <p:spPr>
          <a:xfrm>
            <a:off x="6543040" y="1278096"/>
            <a:ext cx="5582920" cy="1754326"/>
          </a:xfrm>
          <a:prstGeom prst="rect">
            <a:avLst/>
          </a:prstGeom>
        </p:spPr>
        <p:txBody>
          <a:bodyPr wrap="square">
            <a:spAutoFit/>
          </a:bodyPr>
          <a:lstStyle/>
          <a:p>
            <a:pPr algn="ctr"/>
            <a:r>
              <a:rPr lang="en-US" b="1" dirty="0">
                <a:solidFill>
                  <a:srgbClr val="C00000"/>
                </a:solidFill>
                <a:latin typeface="fkGroteskNeue"/>
              </a:rPr>
              <a:t>Frequency Modulation and Counting</a:t>
            </a:r>
            <a:r>
              <a:rPr lang="en-US" b="1" dirty="0" smtClean="0">
                <a:solidFill>
                  <a:srgbClr val="C00000"/>
                </a:solidFill>
                <a:latin typeface="fkGroteskNeue"/>
              </a:rPr>
              <a:t>:</a:t>
            </a:r>
          </a:p>
          <a:p>
            <a:pPr algn="ctr"/>
            <a:endParaRPr lang="en-US" b="1" dirty="0" smtClean="0">
              <a:solidFill>
                <a:srgbClr val="C00000"/>
              </a:solidFill>
              <a:latin typeface="fkGroteskNeue"/>
            </a:endParaRPr>
          </a:p>
          <a:p>
            <a:pPr algn="just"/>
            <a:r>
              <a:rPr lang="en-US" dirty="0" smtClean="0">
                <a:latin typeface="fkGroteskNeue"/>
              </a:rPr>
              <a:t>When</a:t>
            </a:r>
            <a:r>
              <a:rPr lang="en-US" dirty="0">
                <a:latin typeface="fkGroteskNeue"/>
              </a:rPr>
              <a:t> </a:t>
            </a:r>
            <a:r>
              <a:rPr lang="en-US" i="1" dirty="0" err="1" smtClean="0">
                <a:latin typeface="KaTeX_Math"/>
              </a:rPr>
              <a:t>V</a:t>
            </a:r>
            <a:r>
              <a:rPr lang="en-US" i="1" baseline="-25000" dirty="0" err="1" smtClean="0">
                <a:latin typeface="KaTeX_Math"/>
              </a:rPr>
              <a:t>control</a:t>
            </a:r>
            <a:r>
              <a:rPr lang="en-US" dirty="0">
                <a:latin typeface="fkGroteskNeue"/>
              </a:rPr>
              <a:t> increases, the oscillator's frequency rises, producing more transitions (edges) per unit time. Each inverter’s output </a:t>
            </a:r>
            <a:r>
              <a:rPr lang="en-US" dirty="0" smtClean="0">
                <a:latin typeface="fkGroteskNeue"/>
              </a:rPr>
              <a:t>(</a:t>
            </a:r>
            <a:r>
              <a:rPr lang="en-US" i="1" dirty="0" smtClean="0">
                <a:latin typeface="KaTeX_Math"/>
              </a:rPr>
              <a:t>O</a:t>
            </a:r>
            <a:r>
              <a:rPr lang="en-US" baseline="-25000" dirty="0" smtClean="0">
                <a:latin typeface="KaTeX_Main"/>
              </a:rPr>
              <a:t>1</a:t>
            </a:r>
            <a:r>
              <a:rPr lang="en-US" dirty="0" smtClean="0">
                <a:latin typeface="KaTeX_Main"/>
              </a:rPr>
              <a:t>,</a:t>
            </a:r>
            <a:r>
              <a:rPr lang="en-US" i="1" dirty="0" smtClean="0">
                <a:latin typeface="KaTeX_Math"/>
              </a:rPr>
              <a:t>O</a:t>
            </a:r>
            <a:r>
              <a:rPr lang="en-US" baseline="-25000" dirty="0" smtClean="0">
                <a:latin typeface="KaTeX_Main"/>
              </a:rPr>
              <a:t>2</a:t>
            </a:r>
            <a:r>
              <a:rPr lang="en-US" dirty="0" smtClean="0">
                <a:latin typeface="KaTeX_Main"/>
              </a:rPr>
              <a:t>,</a:t>
            </a:r>
            <a:r>
              <a:rPr lang="en-US" i="1" dirty="0" smtClean="0">
                <a:latin typeface="KaTeX_Math"/>
              </a:rPr>
              <a:t>O</a:t>
            </a:r>
            <a:r>
              <a:rPr lang="en-US" baseline="-25000" dirty="0" smtClean="0">
                <a:latin typeface="KaTeX_Main"/>
              </a:rPr>
              <a:t>3</a:t>
            </a:r>
            <a:r>
              <a:rPr lang="en-US" dirty="0">
                <a:latin typeface="KaTeX_Main"/>
              </a:rPr>
              <a:t>...</a:t>
            </a:r>
            <a:r>
              <a:rPr lang="en-US" dirty="0">
                <a:latin typeface="fkGroteskNeue"/>
              </a:rPr>
              <a:t>) forms a phase in the oscillator’s cycle.</a:t>
            </a:r>
            <a:endParaRPr lang="en-US" b="0" i="0" dirty="0">
              <a:effectLst/>
              <a:latin typeface="fkGroteskNeue"/>
            </a:endParaRPr>
          </a:p>
        </p:txBody>
      </p:sp>
      <p:sp>
        <p:nvSpPr>
          <p:cNvPr id="7" name="Rectangle 6"/>
          <p:cNvSpPr/>
          <p:nvPr/>
        </p:nvSpPr>
        <p:spPr>
          <a:xfrm>
            <a:off x="528320" y="3882797"/>
            <a:ext cx="5593080" cy="2308324"/>
          </a:xfrm>
          <a:prstGeom prst="rect">
            <a:avLst/>
          </a:prstGeom>
        </p:spPr>
        <p:txBody>
          <a:bodyPr wrap="square">
            <a:spAutoFit/>
          </a:bodyPr>
          <a:lstStyle/>
          <a:p>
            <a:pPr algn="ctr"/>
            <a:r>
              <a:rPr lang="en-US" b="1" dirty="0">
                <a:solidFill>
                  <a:srgbClr val="C00000"/>
                </a:solidFill>
                <a:latin typeface="fkGroteskNeue"/>
              </a:rPr>
              <a:t>Digital Conversion through Edge Counting</a:t>
            </a:r>
            <a:r>
              <a:rPr lang="en-US" b="1" dirty="0" smtClean="0">
                <a:solidFill>
                  <a:srgbClr val="C00000"/>
                </a:solidFill>
                <a:latin typeface="fkGroteskNeue"/>
              </a:rPr>
              <a:t>:</a:t>
            </a:r>
          </a:p>
          <a:p>
            <a:pPr algn="just"/>
            <a:r>
              <a:rPr lang="en-US" dirty="0">
                <a:latin typeface="fkGroteskNeue"/>
              </a:rPr>
              <a:t/>
            </a:r>
            <a:br>
              <a:rPr lang="en-US" dirty="0">
                <a:latin typeface="fkGroteskNeue"/>
              </a:rPr>
            </a:br>
            <a:r>
              <a:rPr lang="en-US" dirty="0">
                <a:latin typeface="fkGroteskNeue"/>
              </a:rPr>
              <a:t>The output edges from one oscillator phase are counted over a defined sampling period by the counter block. At the conclusion of each sampling period (marked by a reference clock event), the register latches the current count value, which is then provided as the ADC output.</a:t>
            </a:r>
            <a:endParaRPr lang="en-US" b="0" i="0" dirty="0">
              <a:effectLst/>
              <a:latin typeface="fkGroteskNeue"/>
            </a:endParaRPr>
          </a:p>
        </p:txBody>
      </p:sp>
      <p:sp>
        <p:nvSpPr>
          <p:cNvPr id="8" name="Rectangle 7"/>
          <p:cNvSpPr/>
          <p:nvPr/>
        </p:nvSpPr>
        <p:spPr>
          <a:xfrm>
            <a:off x="6522720" y="3857397"/>
            <a:ext cx="5669280" cy="2031325"/>
          </a:xfrm>
          <a:prstGeom prst="rect">
            <a:avLst/>
          </a:prstGeom>
        </p:spPr>
        <p:txBody>
          <a:bodyPr wrap="square">
            <a:spAutoFit/>
          </a:bodyPr>
          <a:lstStyle/>
          <a:p>
            <a:pPr algn="ctr"/>
            <a:r>
              <a:rPr lang="en-US" b="1" dirty="0">
                <a:solidFill>
                  <a:srgbClr val="C00000"/>
                </a:solidFill>
                <a:latin typeface="fkGroteskNeue"/>
              </a:rPr>
              <a:t>Period Reset and Repeat</a:t>
            </a:r>
            <a:r>
              <a:rPr lang="en-US" b="1" dirty="0" smtClean="0">
                <a:solidFill>
                  <a:srgbClr val="C00000"/>
                </a:solidFill>
                <a:latin typeface="fkGroteskNeue"/>
              </a:rPr>
              <a:t>:</a:t>
            </a:r>
          </a:p>
          <a:p>
            <a:pPr algn="just"/>
            <a:r>
              <a:rPr lang="en-US" dirty="0">
                <a:latin typeface="fkGroteskNeue"/>
              </a:rPr>
              <a:t/>
            </a:r>
            <a:br>
              <a:rPr lang="en-US" dirty="0">
                <a:latin typeface="fkGroteskNeue"/>
              </a:rPr>
            </a:br>
            <a:r>
              <a:rPr lang="en-US" dirty="0">
                <a:latin typeface="fkGroteskNeue"/>
              </a:rPr>
              <a:t>After sampling, the counter is reset for the next interval, and the process is repeated to generate the ongoing digital output stream. The resulting digital code is directly correlated to the analog input, as higher input voltages yield higher counts per cycle.</a:t>
            </a:r>
            <a:endParaRPr lang="en-US" b="0" i="0" dirty="0">
              <a:effectLst/>
              <a:latin typeface="fkGroteskNeue"/>
            </a:endParaRPr>
          </a:p>
        </p:txBody>
      </p:sp>
      <p:sp>
        <p:nvSpPr>
          <p:cNvPr id="9" name="Rectangle 8"/>
          <p:cNvSpPr/>
          <p:nvPr/>
        </p:nvSpPr>
        <p:spPr>
          <a:xfrm>
            <a:off x="635000" y="1600201"/>
            <a:ext cx="5745480" cy="1696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538480" y="4455161"/>
            <a:ext cx="5745480" cy="1696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Rectangle 10"/>
          <p:cNvSpPr/>
          <p:nvPr/>
        </p:nvSpPr>
        <p:spPr>
          <a:xfrm>
            <a:off x="6578600" y="1610361"/>
            <a:ext cx="5613400" cy="1696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2" name="Rectangle 11"/>
          <p:cNvSpPr/>
          <p:nvPr/>
        </p:nvSpPr>
        <p:spPr>
          <a:xfrm>
            <a:off x="6512560" y="4394201"/>
            <a:ext cx="5679440" cy="1696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Rectangle 12"/>
          <p:cNvSpPr/>
          <p:nvPr/>
        </p:nvSpPr>
        <p:spPr>
          <a:xfrm>
            <a:off x="269418" y="296893"/>
            <a:ext cx="8361328" cy="584775"/>
          </a:xfrm>
          <a:prstGeom prst="rect">
            <a:avLst/>
          </a:prstGeom>
        </p:spPr>
        <p:txBody>
          <a:bodyPr wrap="none">
            <a:spAutoFit/>
          </a:bodyPr>
          <a:lstStyle/>
          <a:p>
            <a:pPr lvl="0" algn="just" fontAlgn="base">
              <a:spcBef>
                <a:spcPct val="0"/>
              </a:spcBef>
              <a:spcAft>
                <a:spcPct val="0"/>
              </a:spcAft>
            </a:pPr>
            <a:r>
              <a:rPr lang="en-US" sz="3200" b="1" dirty="0" smtClean="0">
                <a:solidFill>
                  <a:srgbClr val="002060"/>
                </a:solidFill>
                <a:cs typeface="Times New Roman" pitchFamily="18" charset="0"/>
              </a:rPr>
              <a:t>Working of Single-Phase </a:t>
            </a:r>
            <a:r>
              <a:rPr lang="en-US" sz="3200" b="1" dirty="0">
                <a:solidFill>
                  <a:srgbClr val="002060"/>
                </a:solidFill>
                <a:cs typeface="Times New Roman" pitchFamily="18" charset="0"/>
              </a:rPr>
              <a:t>VCO-Based ADC</a:t>
            </a:r>
          </a:p>
        </p:txBody>
      </p:sp>
      <p:sp>
        <p:nvSpPr>
          <p:cNvPr id="1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073999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animBg="1"/>
      <p:bldP spid="10" grpId="0" animBg="1"/>
      <p:bldP spid="11"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8B7C51C7-4F64-426F-B184-89FCCF51B0CB}"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17</a:t>
            </a:fld>
            <a:endParaRPr lang="en-BE"/>
          </a:p>
        </p:txBody>
      </p:sp>
      <p:sp>
        <p:nvSpPr>
          <p:cNvPr id="5" name="Rectangle 4"/>
          <p:cNvSpPr/>
          <p:nvPr/>
        </p:nvSpPr>
        <p:spPr>
          <a:xfrm>
            <a:off x="447040" y="3555782"/>
            <a:ext cx="11633200" cy="2893100"/>
          </a:xfrm>
          <a:prstGeom prst="rect">
            <a:avLst/>
          </a:prstGeom>
        </p:spPr>
        <p:txBody>
          <a:bodyPr wrap="square">
            <a:spAutoFit/>
          </a:bodyPr>
          <a:lstStyle/>
          <a:p>
            <a:pPr algn="ctr"/>
            <a:r>
              <a:rPr lang="en-US" sz="1600" b="1" dirty="0">
                <a:solidFill>
                  <a:srgbClr val="C00000"/>
                </a:solidFill>
                <a:latin typeface="fkGrotesk"/>
              </a:rPr>
              <a:t>Advanced Insights</a:t>
            </a:r>
          </a:p>
          <a:p>
            <a:pPr marL="285750" indent="-285750" algn="just">
              <a:buFont typeface="Wingdings" panose="05000000000000000000" pitchFamily="2" charset="2"/>
              <a:buChar char="q"/>
            </a:pPr>
            <a:r>
              <a:rPr lang="en-US" sz="1600" b="1" dirty="0">
                <a:solidFill>
                  <a:srgbClr val="00B050"/>
                </a:solidFill>
                <a:latin typeface="fkGroteskNeue"/>
              </a:rPr>
              <a:t>Conversion Principle</a:t>
            </a:r>
            <a:r>
              <a:rPr lang="en-US" sz="1600" b="1" dirty="0" smtClean="0">
                <a:solidFill>
                  <a:srgbClr val="00B050"/>
                </a:solidFill>
                <a:latin typeface="fkGroteskNeue"/>
              </a:rPr>
              <a:t>:</a:t>
            </a:r>
          </a:p>
          <a:p>
            <a:pPr lvl="1" algn="just"/>
            <a:r>
              <a:rPr lang="en-US" sz="1600" dirty="0" smtClean="0">
                <a:latin typeface="fkGroteskNeue"/>
              </a:rPr>
              <a:t>This </a:t>
            </a:r>
            <a:r>
              <a:rPr lang="en-US" sz="1600" dirty="0">
                <a:latin typeface="fkGroteskNeue"/>
              </a:rPr>
              <a:t>time-domain architecture translates amplitude information into frequency and then into an event count—a form of time-to-digital conversion</a:t>
            </a:r>
            <a:r>
              <a:rPr lang="en-US" sz="1600" dirty="0" smtClean="0">
                <a:latin typeface="fkGroteskNeue"/>
              </a:rPr>
              <a:t>.</a:t>
            </a:r>
          </a:p>
          <a:p>
            <a:pPr marL="285750" indent="-285750" algn="just">
              <a:buFont typeface="Wingdings" panose="05000000000000000000" pitchFamily="2" charset="2"/>
              <a:buChar char="q"/>
            </a:pPr>
            <a:r>
              <a:rPr lang="en-US" sz="1600" b="1" dirty="0" smtClean="0">
                <a:solidFill>
                  <a:srgbClr val="00B050"/>
                </a:solidFill>
                <a:latin typeface="fkGroteskNeue"/>
              </a:rPr>
              <a:t>Resolution </a:t>
            </a:r>
            <a:r>
              <a:rPr lang="en-US" sz="1600" b="1" dirty="0">
                <a:solidFill>
                  <a:srgbClr val="00B050"/>
                </a:solidFill>
                <a:latin typeface="fkGroteskNeue"/>
              </a:rPr>
              <a:t>Limitation</a:t>
            </a:r>
            <a:r>
              <a:rPr lang="en-US" sz="1600" b="1" dirty="0" smtClean="0">
                <a:solidFill>
                  <a:srgbClr val="00B050"/>
                </a:solidFill>
                <a:latin typeface="fkGroteskNeue"/>
              </a:rPr>
              <a:t>:</a:t>
            </a:r>
          </a:p>
          <a:p>
            <a:pPr lvl="1" algn="just"/>
            <a:r>
              <a:rPr lang="en-US" sz="1600" dirty="0" smtClean="0">
                <a:latin typeface="fkGroteskNeue"/>
              </a:rPr>
              <a:t>The precision of the ADC is limited by both the oscillator’s frequency range and the number of edges resolved within the reference period, making it less suitable for high-resolution signal acquisition but compelling for extreme low-power applications.</a:t>
            </a:r>
          </a:p>
          <a:p>
            <a:pPr marL="285750" indent="-285750">
              <a:buFont typeface="Wingdings" panose="05000000000000000000" pitchFamily="2" charset="2"/>
              <a:buChar char="q"/>
            </a:pPr>
            <a:r>
              <a:rPr lang="en-US" sz="1600" b="1" dirty="0" smtClean="0">
                <a:solidFill>
                  <a:srgbClr val="00B050"/>
                </a:solidFill>
                <a:latin typeface="fkGroteskNeue"/>
              </a:rPr>
              <a:t>Robustness </a:t>
            </a:r>
            <a:r>
              <a:rPr lang="en-US" sz="1600" b="1" dirty="0">
                <a:solidFill>
                  <a:srgbClr val="00B050"/>
                </a:solidFill>
                <a:latin typeface="fkGroteskNeue"/>
              </a:rPr>
              <a:t>and </a:t>
            </a:r>
            <a:r>
              <a:rPr lang="en-US" sz="1600" b="1" dirty="0" smtClean="0">
                <a:solidFill>
                  <a:srgbClr val="00B050"/>
                </a:solidFill>
                <a:latin typeface="fkGroteskNeue"/>
              </a:rPr>
              <a:t>Integration:</a:t>
            </a:r>
          </a:p>
          <a:p>
            <a:pPr lvl="1" algn="just"/>
            <a:r>
              <a:rPr lang="en-US" sz="1600" dirty="0" smtClean="0">
                <a:latin typeface="fkGroteskNeue"/>
              </a:rPr>
              <a:t>VCO-ADCs </a:t>
            </a:r>
            <a:r>
              <a:rPr lang="en-US" sz="1600" dirty="0">
                <a:latin typeface="fkGroteskNeue"/>
              </a:rPr>
              <a:t>offer simplification of analog front-ends, direct CMOS compatibility, and strong resilience to supply and process variations.</a:t>
            </a:r>
            <a:endParaRPr lang="en-US" sz="1600" b="0" i="0" dirty="0">
              <a:effectLst/>
              <a:latin typeface="fkGroteskNeue"/>
            </a:endParaRPr>
          </a:p>
        </p:txBody>
      </p:sp>
      <p:graphicFrame>
        <p:nvGraphicFramePr>
          <p:cNvPr id="6" name="Table 5"/>
          <p:cNvGraphicFramePr>
            <a:graphicFrameLocks noGrp="1"/>
          </p:cNvGraphicFramePr>
          <p:nvPr>
            <p:extLst/>
          </p:nvPr>
        </p:nvGraphicFramePr>
        <p:xfrm>
          <a:off x="1249363" y="1125855"/>
          <a:ext cx="9896156" cy="2418080"/>
        </p:xfrm>
        <a:graphic>
          <a:graphicData uri="http://schemas.openxmlformats.org/drawingml/2006/table">
            <a:tbl>
              <a:tblPr>
                <a:tableStyleId>{616DA210-FB5B-4158-B5E0-FEB733F419BA}</a:tableStyleId>
              </a:tblPr>
              <a:tblGrid>
                <a:gridCol w="1976437">
                  <a:extLst>
                    <a:ext uri="{9D8B030D-6E8A-4147-A177-3AD203B41FA5}">
                      <a16:colId xmlns:a16="http://schemas.microsoft.com/office/drawing/2014/main" val="25218407"/>
                    </a:ext>
                  </a:extLst>
                </a:gridCol>
                <a:gridCol w="3677920">
                  <a:extLst>
                    <a:ext uri="{9D8B030D-6E8A-4147-A177-3AD203B41FA5}">
                      <a16:colId xmlns:a16="http://schemas.microsoft.com/office/drawing/2014/main" val="1988429386"/>
                    </a:ext>
                  </a:extLst>
                </a:gridCol>
                <a:gridCol w="4241799">
                  <a:extLst>
                    <a:ext uri="{9D8B030D-6E8A-4147-A177-3AD203B41FA5}">
                      <a16:colId xmlns:a16="http://schemas.microsoft.com/office/drawing/2014/main" val="4165097868"/>
                    </a:ext>
                  </a:extLst>
                </a:gridCol>
              </a:tblGrid>
              <a:tr h="0">
                <a:tc>
                  <a:txBody>
                    <a:bodyPr/>
                    <a:lstStyle/>
                    <a:p>
                      <a:pPr algn="ctr"/>
                      <a:r>
                        <a:rPr lang="en-US" sz="1600" b="1" dirty="0">
                          <a:solidFill>
                            <a:srgbClr val="C00000"/>
                          </a:solidFill>
                          <a:effectLst/>
                        </a:rPr>
                        <a:t>Feature</a:t>
                      </a:r>
                    </a:p>
                  </a:txBody>
                  <a:tcPr marL="50800" marR="50800" marT="50800" marB="50800" anchor="ctr">
                    <a:solidFill>
                      <a:schemeClr val="bg1">
                        <a:lumMod val="75000"/>
                      </a:schemeClr>
                    </a:solidFill>
                  </a:tcPr>
                </a:tc>
                <a:tc>
                  <a:txBody>
                    <a:bodyPr/>
                    <a:lstStyle/>
                    <a:p>
                      <a:pPr algn="ctr"/>
                      <a:r>
                        <a:rPr lang="en-US" sz="1600" b="1" dirty="0">
                          <a:solidFill>
                            <a:srgbClr val="C00000"/>
                          </a:solidFill>
                          <a:effectLst/>
                        </a:rPr>
                        <a:t>VCO-Based ADC</a:t>
                      </a:r>
                    </a:p>
                  </a:txBody>
                  <a:tcPr marL="50800" marR="50800" marT="50800" marB="50800" anchor="ctr">
                    <a:solidFill>
                      <a:schemeClr val="bg1">
                        <a:lumMod val="75000"/>
                      </a:schemeClr>
                    </a:solidFill>
                  </a:tcPr>
                </a:tc>
                <a:tc>
                  <a:txBody>
                    <a:bodyPr/>
                    <a:lstStyle/>
                    <a:p>
                      <a:pPr algn="ctr"/>
                      <a:r>
                        <a:rPr lang="en-US" sz="1600" b="1" dirty="0">
                          <a:solidFill>
                            <a:srgbClr val="C00000"/>
                          </a:solidFill>
                          <a:effectLst/>
                        </a:rPr>
                        <a:t>Classic ADC (SAR/Pipeline)</a:t>
                      </a:r>
                    </a:p>
                  </a:txBody>
                  <a:tcPr marL="50800" marR="50800" marT="50800" marB="50800" anchor="ctr">
                    <a:solidFill>
                      <a:schemeClr val="bg1">
                        <a:lumMod val="75000"/>
                      </a:schemeClr>
                    </a:solidFill>
                  </a:tcPr>
                </a:tc>
                <a:extLst>
                  <a:ext uri="{0D108BD9-81ED-4DB2-BD59-A6C34878D82A}">
                    <a16:rowId xmlns:a16="http://schemas.microsoft.com/office/drawing/2014/main" val="443462895"/>
                  </a:ext>
                </a:extLst>
              </a:tr>
              <a:tr h="0">
                <a:tc>
                  <a:txBody>
                    <a:bodyPr/>
                    <a:lstStyle/>
                    <a:p>
                      <a:pPr algn="ctr"/>
                      <a:r>
                        <a:rPr lang="en-US" sz="1600" b="1" dirty="0">
                          <a:solidFill>
                            <a:srgbClr val="00B050"/>
                          </a:solidFill>
                          <a:effectLst/>
                        </a:rPr>
                        <a:t>Power Efficiency</a:t>
                      </a:r>
                    </a:p>
                  </a:txBody>
                  <a:tcPr marL="50800" marR="50800" marT="50800" marB="50800" anchor="ctr"/>
                </a:tc>
                <a:tc>
                  <a:txBody>
                    <a:bodyPr/>
                    <a:lstStyle/>
                    <a:p>
                      <a:pPr algn="ctr"/>
                      <a:r>
                        <a:rPr lang="en-US" sz="1600">
                          <a:effectLst/>
                        </a:rPr>
                        <a:t>Ultra-low</a:t>
                      </a:r>
                    </a:p>
                  </a:txBody>
                  <a:tcPr marL="50800" marR="50800" marT="50800" marB="50800" anchor="ctr"/>
                </a:tc>
                <a:tc>
                  <a:txBody>
                    <a:bodyPr/>
                    <a:lstStyle/>
                    <a:p>
                      <a:pPr algn="ctr"/>
                      <a:r>
                        <a:rPr lang="en-US" sz="1600">
                          <a:effectLst/>
                        </a:rPr>
                        <a:t>Moderate to high</a:t>
                      </a:r>
                    </a:p>
                  </a:txBody>
                  <a:tcPr marL="50800" marR="50800" marT="50800" marB="50800" anchor="ctr"/>
                </a:tc>
                <a:extLst>
                  <a:ext uri="{0D108BD9-81ED-4DB2-BD59-A6C34878D82A}">
                    <a16:rowId xmlns:a16="http://schemas.microsoft.com/office/drawing/2014/main" val="1401122502"/>
                  </a:ext>
                </a:extLst>
              </a:tr>
              <a:tr h="0">
                <a:tc>
                  <a:txBody>
                    <a:bodyPr/>
                    <a:lstStyle/>
                    <a:p>
                      <a:pPr algn="ctr"/>
                      <a:r>
                        <a:rPr lang="en-US" sz="1600" b="1" dirty="0">
                          <a:solidFill>
                            <a:srgbClr val="00B050"/>
                          </a:solidFill>
                          <a:effectLst/>
                        </a:rPr>
                        <a:t>Area</a:t>
                      </a:r>
                    </a:p>
                  </a:txBody>
                  <a:tcPr marL="50800" marR="50800" marT="50800" marB="50800" anchor="ctr"/>
                </a:tc>
                <a:tc>
                  <a:txBody>
                    <a:bodyPr/>
                    <a:lstStyle/>
                    <a:p>
                      <a:pPr algn="ctr"/>
                      <a:r>
                        <a:rPr lang="en-US" sz="1600">
                          <a:effectLst/>
                        </a:rPr>
                        <a:t>Minimal, no capacitive arrays</a:t>
                      </a:r>
                    </a:p>
                  </a:txBody>
                  <a:tcPr marL="50800" marR="50800" marT="50800" marB="50800" anchor="ctr"/>
                </a:tc>
                <a:tc>
                  <a:txBody>
                    <a:bodyPr/>
                    <a:lstStyle/>
                    <a:p>
                      <a:pPr algn="ctr"/>
                      <a:r>
                        <a:rPr lang="en-US" sz="1600">
                          <a:effectLst/>
                        </a:rPr>
                        <a:t>Larger, especially with passive elements</a:t>
                      </a:r>
                    </a:p>
                  </a:txBody>
                  <a:tcPr marL="50800" marR="50800" marT="50800" marB="50800" anchor="ctr"/>
                </a:tc>
                <a:extLst>
                  <a:ext uri="{0D108BD9-81ED-4DB2-BD59-A6C34878D82A}">
                    <a16:rowId xmlns:a16="http://schemas.microsoft.com/office/drawing/2014/main" val="1794381247"/>
                  </a:ext>
                </a:extLst>
              </a:tr>
              <a:tr h="0">
                <a:tc>
                  <a:txBody>
                    <a:bodyPr/>
                    <a:lstStyle/>
                    <a:p>
                      <a:pPr algn="ctr"/>
                      <a:r>
                        <a:rPr lang="en-US" sz="1600" b="1" dirty="0">
                          <a:solidFill>
                            <a:srgbClr val="00B050"/>
                          </a:solidFill>
                          <a:effectLst/>
                        </a:rPr>
                        <a:t>Analog Complexity</a:t>
                      </a:r>
                    </a:p>
                  </a:txBody>
                  <a:tcPr marL="50800" marR="50800" marT="50800" marB="50800" anchor="ctr"/>
                </a:tc>
                <a:tc>
                  <a:txBody>
                    <a:bodyPr/>
                    <a:lstStyle/>
                    <a:p>
                      <a:pPr algn="ctr"/>
                      <a:r>
                        <a:rPr lang="en-US" sz="1600">
                          <a:effectLst/>
                        </a:rPr>
                        <a:t>Very low, all digital core</a:t>
                      </a:r>
                    </a:p>
                  </a:txBody>
                  <a:tcPr marL="50800" marR="50800" marT="50800" marB="50800" anchor="ctr"/>
                </a:tc>
                <a:tc>
                  <a:txBody>
                    <a:bodyPr/>
                    <a:lstStyle/>
                    <a:p>
                      <a:pPr algn="ctr"/>
                      <a:r>
                        <a:rPr lang="en-US" sz="1600">
                          <a:effectLst/>
                        </a:rPr>
                        <a:t>Substantial</a:t>
                      </a:r>
                    </a:p>
                  </a:txBody>
                  <a:tcPr marL="50800" marR="50800" marT="50800" marB="50800" anchor="ctr"/>
                </a:tc>
                <a:extLst>
                  <a:ext uri="{0D108BD9-81ED-4DB2-BD59-A6C34878D82A}">
                    <a16:rowId xmlns:a16="http://schemas.microsoft.com/office/drawing/2014/main" val="3594098461"/>
                  </a:ext>
                </a:extLst>
              </a:tr>
              <a:tr h="0">
                <a:tc>
                  <a:txBody>
                    <a:bodyPr/>
                    <a:lstStyle/>
                    <a:p>
                      <a:pPr algn="ctr"/>
                      <a:r>
                        <a:rPr lang="en-US" sz="1600" b="1" dirty="0">
                          <a:solidFill>
                            <a:srgbClr val="00B050"/>
                          </a:solidFill>
                          <a:effectLst/>
                        </a:rPr>
                        <a:t>Supply Sensitivity</a:t>
                      </a:r>
                    </a:p>
                  </a:txBody>
                  <a:tcPr marL="50800" marR="50800" marT="50800" marB="50800" anchor="ctr"/>
                </a:tc>
                <a:tc>
                  <a:txBody>
                    <a:bodyPr/>
                    <a:lstStyle/>
                    <a:p>
                      <a:pPr algn="ctr"/>
                      <a:r>
                        <a:rPr lang="en-US" sz="1600">
                          <a:effectLst/>
                        </a:rPr>
                        <a:t>Needs calibration (oscillator sensitivity)</a:t>
                      </a:r>
                    </a:p>
                  </a:txBody>
                  <a:tcPr marL="50800" marR="50800" marT="50800" marB="50800" anchor="ctr"/>
                </a:tc>
                <a:tc>
                  <a:txBody>
                    <a:bodyPr/>
                    <a:lstStyle/>
                    <a:p>
                      <a:pPr algn="ctr"/>
                      <a:r>
                        <a:rPr lang="en-US" sz="1600">
                          <a:effectLst/>
                        </a:rPr>
                        <a:t>Stable, but more analog circuitry</a:t>
                      </a:r>
                    </a:p>
                  </a:txBody>
                  <a:tcPr marL="50800" marR="50800" marT="50800" marB="50800" anchor="ctr"/>
                </a:tc>
                <a:extLst>
                  <a:ext uri="{0D108BD9-81ED-4DB2-BD59-A6C34878D82A}">
                    <a16:rowId xmlns:a16="http://schemas.microsoft.com/office/drawing/2014/main" val="3082381335"/>
                  </a:ext>
                </a:extLst>
              </a:tr>
              <a:tr h="0">
                <a:tc>
                  <a:txBody>
                    <a:bodyPr/>
                    <a:lstStyle/>
                    <a:p>
                      <a:pPr algn="ctr"/>
                      <a:r>
                        <a:rPr lang="en-US" sz="1600" b="1" dirty="0">
                          <a:solidFill>
                            <a:srgbClr val="00B050"/>
                          </a:solidFill>
                          <a:effectLst/>
                        </a:rPr>
                        <a:t>Linearity</a:t>
                      </a:r>
                    </a:p>
                  </a:txBody>
                  <a:tcPr marL="50800" marR="50800" marT="50800" marB="50800" anchor="ctr"/>
                </a:tc>
                <a:tc>
                  <a:txBody>
                    <a:bodyPr/>
                    <a:lstStyle/>
                    <a:p>
                      <a:pPr algn="ctr"/>
                      <a:r>
                        <a:rPr lang="en-US" sz="1600">
                          <a:effectLst/>
                        </a:rPr>
                        <a:t>Moderate, nonlinearity from VCO</a:t>
                      </a:r>
                    </a:p>
                  </a:txBody>
                  <a:tcPr marL="50800" marR="50800" marT="50800" marB="50800" anchor="ctr"/>
                </a:tc>
                <a:tc>
                  <a:txBody>
                    <a:bodyPr/>
                    <a:lstStyle/>
                    <a:p>
                      <a:pPr algn="ctr"/>
                      <a:r>
                        <a:rPr lang="en-US" sz="1600">
                          <a:effectLst/>
                        </a:rPr>
                        <a:t>High, with architectural corrections</a:t>
                      </a:r>
                    </a:p>
                  </a:txBody>
                  <a:tcPr marL="50800" marR="50800" marT="50800" marB="50800" anchor="ctr"/>
                </a:tc>
                <a:extLst>
                  <a:ext uri="{0D108BD9-81ED-4DB2-BD59-A6C34878D82A}">
                    <a16:rowId xmlns:a16="http://schemas.microsoft.com/office/drawing/2014/main" val="4199693211"/>
                  </a:ext>
                </a:extLst>
              </a:tr>
              <a:tr h="0">
                <a:tc>
                  <a:txBody>
                    <a:bodyPr/>
                    <a:lstStyle/>
                    <a:p>
                      <a:pPr algn="ctr"/>
                      <a:r>
                        <a:rPr lang="en-US" sz="1600" b="1" dirty="0">
                          <a:solidFill>
                            <a:srgbClr val="00B050"/>
                          </a:solidFill>
                          <a:effectLst/>
                        </a:rPr>
                        <a:t>Speed</a:t>
                      </a:r>
                    </a:p>
                  </a:txBody>
                  <a:tcPr marL="50800" marR="50800" marT="50800" marB="50800" anchor="ctr"/>
                </a:tc>
                <a:tc>
                  <a:txBody>
                    <a:bodyPr/>
                    <a:lstStyle/>
                    <a:p>
                      <a:pPr algn="ctr"/>
                      <a:r>
                        <a:rPr lang="en-US" sz="1600">
                          <a:effectLst/>
                        </a:rPr>
                        <a:t>High (for moderate resolution)</a:t>
                      </a:r>
                    </a:p>
                  </a:txBody>
                  <a:tcPr marL="50800" marR="50800" marT="50800" marB="50800" anchor="ctr"/>
                </a:tc>
                <a:tc>
                  <a:txBody>
                    <a:bodyPr/>
                    <a:lstStyle/>
                    <a:p>
                      <a:pPr algn="ctr"/>
                      <a:r>
                        <a:rPr lang="nn-NO" sz="1600" dirty="0">
                          <a:effectLst/>
                        </a:rPr>
                        <a:t>Variable: SAR slow, Pipeline fast</a:t>
                      </a:r>
                    </a:p>
                  </a:txBody>
                  <a:tcPr marL="50800" marR="50800" marT="50800" marB="50800" anchor="ctr"/>
                </a:tc>
                <a:extLst>
                  <a:ext uri="{0D108BD9-81ED-4DB2-BD59-A6C34878D82A}">
                    <a16:rowId xmlns:a16="http://schemas.microsoft.com/office/drawing/2014/main" val="2741254661"/>
                  </a:ext>
                </a:extLst>
              </a:tr>
            </a:tbl>
          </a:graphicData>
        </a:graphic>
      </p:graphicFrame>
      <p:sp>
        <p:nvSpPr>
          <p:cNvPr id="7" name="Rectangle 6"/>
          <p:cNvSpPr/>
          <p:nvPr/>
        </p:nvSpPr>
        <p:spPr>
          <a:xfrm>
            <a:off x="421640" y="3596641"/>
            <a:ext cx="11719560" cy="272795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68484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8F89592-D61A-0209-FC29-EC010501FC81}"/>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477" name="Rectangle 476">
            <a:extLst>
              <a:ext uri="{FF2B5EF4-FFF2-40B4-BE49-F238E27FC236}">
                <a16:creationId xmlns:a16="http://schemas.microsoft.com/office/drawing/2014/main" id="{4365C802-588F-08B1-22C4-6A7E49F0E6D5}"/>
              </a:ext>
            </a:extLst>
          </p:cNvPr>
          <p:cNvSpPr/>
          <p:nvPr/>
        </p:nvSpPr>
        <p:spPr>
          <a:xfrm>
            <a:off x="304800" y="695899"/>
            <a:ext cx="11842047" cy="4607622"/>
          </a:xfrm>
          <a:prstGeom prst="rect">
            <a:avLst/>
          </a:prstGeom>
          <a:solidFill>
            <a:schemeClr val="bg1">
              <a:lumMod val="95000"/>
            </a:schemeClr>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sp>
        <p:nvSpPr>
          <p:cNvPr id="539" name="Rectangle 2"/>
          <p:cNvSpPr>
            <a:spLocks noChangeArrowheads="1"/>
          </p:cNvSpPr>
          <p:nvPr/>
        </p:nvSpPr>
        <p:spPr bwMode="auto">
          <a:xfrm>
            <a:off x="90241" y="0"/>
            <a:ext cx="4996881" cy="58477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just" fontAlgn="base">
              <a:spcBef>
                <a:spcPct val="0"/>
              </a:spcBef>
              <a:spcAft>
                <a:spcPct val="0"/>
              </a:spcAft>
            </a:pPr>
            <a:r>
              <a:rPr lang="en-US" sz="3200" b="1" dirty="0">
                <a:solidFill>
                  <a:srgbClr val="002060"/>
                </a:solidFill>
                <a:cs typeface="Times New Roman" pitchFamily="18" charset="0"/>
              </a:rPr>
              <a:t>Multi-Phase VCO Based ADC</a:t>
            </a:r>
          </a:p>
        </p:txBody>
      </p:sp>
      <p:pic>
        <p:nvPicPr>
          <p:cNvPr id="456" name="Picture 455">
            <a:extLst>
              <a:ext uri="{FF2B5EF4-FFF2-40B4-BE49-F238E27FC236}">
                <a16:creationId xmlns:a16="http://schemas.microsoft.com/office/drawing/2014/main" id="{9663AE2B-EB7B-9E6A-5A5C-A6B392EE21F7}"/>
              </a:ext>
            </a:extLst>
          </p:cNvPr>
          <p:cNvPicPr>
            <a:picLocks noChangeAspect="1"/>
          </p:cNvPicPr>
          <p:nvPr/>
        </p:nvPicPr>
        <p:blipFill>
          <a:blip r:embed="rId2"/>
          <a:stretch>
            <a:fillRect/>
          </a:stretch>
        </p:blipFill>
        <p:spPr>
          <a:xfrm>
            <a:off x="5751966" y="0"/>
            <a:ext cx="548688" cy="548688"/>
          </a:xfrm>
          <a:prstGeom prst="rect">
            <a:avLst/>
          </a:prstGeom>
        </p:spPr>
      </p:pic>
      <p:pic>
        <p:nvPicPr>
          <p:cNvPr id="473" name="Picture 472" descr="A picture containing text&#10;&#10;Description automatically generated">
            <a:extLst>
              <a:ext uri="{FF2B5EF4-FFF2-40B4-BE49-F238E27FC236}">
                <a16:creationId xmlns:a16="http://schemas.microsoft.com/office/drawing/2014/main" id="{DD2570F8-6E10-51C1-5C31-0FDB20E8E8AC}"/>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artisticMarker/>
                    </a14:imgEffect>
                  </a14:imgLayer>
                </a14:imgProps>
              </a:ext>
              <a:ext uri="{28A0092B-C50C-407E-A947-70E740481C1C}">
                <a14:useLocalDpi xmlns:a14="http://schemas.microsoft.com/office/drawing/2010/main" val="0"/>
              </a:ext>
            </a:extLst>
          </a:blip>
          <a:stretch>
            <a:fillRect/>
          </a:stretch>
        </p:blipFill>
        <p:spPr>
          <a:xfrm>
            <a:off x="11424162" y="2417794"/>
            <a:ext cx="543519" cy="643295"/>
          </a:xfrm>
          <a:prstGeom prst="rect">
            <a:avLst/>
          </a:prstGeom>
        </p:spPr>
      </p:pic>
      <p:pic>
        <p:nvPicPr>
          <p:cNvPr id="454" name="Picture 453">
            <a:extLst>
              <a:ext uri="{FF2B5EF4-FFF2-40B4-BE49-F238E27FC236}">
                <a16:creationId xmlns:a16="http://schemas.microsoft.com/office/drawing/2014/main" id="{DE1DC265-E9F6-D051-A0B7-62BB5374A05E}"/>
              </a:ext>
            </a:extLst>
          </p:cNvPr>
          <p:cNvPicPr>
            <a:picLocks noChangeAspect="1"/>
          </p:cNvPicPr>
          <p:nvPr/>
        </p:nvPicPr>
        <p:blipFill>
          <a:blip r:embed="rId5"/>
          <a:stretch>
            <a:fillRect/>
          </a:stretch>
        </p:blipFill>
        <p:spPr>
          <a:xfrm>
            <a:off x="212995" y="737022"/>
            <a:ext cx="11211167" cy="4529263"/>
          </a:xfrm>
          <a:prstGeom prst="rect">
            <a:avLst/>
          </a:prstGeom>
        </p:spPr>
      </p:pic>
      <p:sp>
        <p:nvSpPr>
          <p:cNvPr id="5" name="Date Placeholder 4"/>
          <p:cNvSpPr>
            <a:spLocks noGrp="1"/>
          </p:cNvSpPr>
          <p:nvPr>
            <p:ph type="dt" sz="half" idx="4294967295"/>
          </p:nvPr>
        </p:nvSpPr>
        <p:spPr/>
        <p:txBody>
          <a:bodyPr/>
          <a:lstStyle/>
          <a:p>
            <a:fld id="{13A17530-2F44-4917-B486-57B5B28B6FCA}" type="datetime1">
              <a:rPr lang="en-US" smtClean="0"/>
              <a:t>9/1/2026</a:t>
            </a:fld>
            <a:endParaRPr lang="en-BE"/>
          </a:p>
        </p:txBody>
      </p:sp>
      <p:sp>
        <p:nvSpPr>
          <p:cNvPr id="17" name="Slide Number Placeholder 3">
            <a:extLst>
              <a:ext uri="{FF2B5EF4-FFF2-40B4-BE49-F238E27FC236}">
                <a16:creationId xmlns:a16="http://schemas.microsoft.com/office/drawing/2014/main" id="{CE3E486E-1852-0388-A7F9-C9647CB3ACAC}"/>
              </a:ext>
            </a:extLst>
          </p:cNvPr>
          <p:cNvSpPr>
            <a:spLocks noGrp="1"/>
          </p:cNvSpPr>
          <p:nvPr>
            <p:ph type="sldNum" sz="quarter" idx="4294967295"/>
          </p:nvPr>
        </p:nvSpPr>
        <p:spPr>
          <a:xfrm>
            <a:off x="10711600" y="6442075"/>
            <a:ext cx="1248000" cy="338554"/>
          </a:xfrm>
        </p:spPr>
        <p:txBody>
          <a:bodyPr/>
          <a:lstStyle/>
          <a:p>
            <a:r>
              <a:rPr lang="en-IN" sz="1600" dirty="0" smtClean="0">
                <a:solidFill>
                  <a:schemeClr val="tx2"/>
                </a:solidFill>
              </a:rPr>
              <a:t>10</a:t>
            </a:r>
            <a:endParaRPr lang="en-IN" sz="1600" b="1" dirty="0">
              <a:solidFill>
                <a:schemeClr val="tx2"/>
              </a:solidFill>
            </a:endParaRPr>
          </a:p>
        </p:txBody>
      </p:sp>
      <p:sp>
        <p:nvSpPr>
          <p:cNvPr id="2" name="Rectangle 1"/>
          <p:cNvSpPr/>
          <p:nvPr/>
        </p:nvSpPr>
        <p:spPr>
          <a:xfrm>
            <a:off x="406400" y="5362416"/>
            <a:ext cx="11846560" cy="923330"/>
          </a:xfrm>
          <a:prstGeom prst="rect">
            <a:avLst/>
          </a:prstGeom>
        </p:spPr>
        <p:txBody>
          <a:bodyPr wrap="square">
            <a:spAutoFit/>
          </a:bodyPr>
          <a:lstStyle/>
          <a:p>
            <a:r>
              <a:rPr lang="en-US" dirty="0" smtClean="0">
                <a:latin typeface="fkGroteskNeue"/>
              </a:rPr>
              <a:t>The </a:t>
            </a:r>
            <a:r>
              <a:rPr lang="en-US" dirty="0">
                <a:latin typeface="fkGroteskNeue"/>
              </a:rPr>
              <a:t>core architecture and time-domain working principle of a </a:t>
            </a:r>
            <a:r>
              <a:rPr lang="en-US" b="1" dirty="0">
                <a:solidFill>
                  <a:srgbClr val="00B050"/>
                </a:solidFill>
                <a:latin typeface="fkGroteskNeue"/>
              </a:rPr>
              <a:t>multi-phase VCO-based ADC</a:t>
            </a:r>
            <a:r>
              <a:rPr lang="en-US" dirty="0">
                <a:latin typeface="fkGroteskNeue"/>
              </a:rPr>
              <a:t>, a cutting-edge structure enabling enhanced resolution, linearity, and speed for time-domain analog-to-digital conversion in advanced mixed-signal ICs.</a:t>
            </a:r>
            <a:endParaRPr lang="en-US" dirty="0"/>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131692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C859FF36-67EF-45D7-8747-8C0A7F73491C}"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19</a:t>
            </a:fld>
            <a:endParaRPr lang="en-BE"/>
          </a:p>
        </p:txBody>
      </p:sp>
      <p:pic>
        <p:nvPicPr>
          <p:cNvPr id="5" name="Picture 4"/>
          <p:cNvPicPr>
            <a:picLocks noChangeAspect="1"/>
          </p:cNvPicPr>
          <p:nvPr/>
        </p:nvPicPr>
        <p:blipFill rotWithShape="1">
          <a:blip r:embed="rId2"/>
          <a:srcRect l="1155" t="3346" r="62551" b="5365"/>
          <a:stretch/>
        </p:blipFill>
        <p:spPr>
          <a:xfrm>
            <a:off x="8122920" y="1127760"/>
            <a:ext cx="4069080" cy="4135120"/>
          </a:xfrm>
          <a:prstGeom prst="rect">
            <a:avLst/>
          </a:prstGeom>
        </p:spPr>
      </p:pic>
      <p:sp>
        <p:nvSpPr>
          <p:cNvPr id="6" name="Rectangle 5"/>
          <p:cNvSpPr/>
          <p:nvPr/>
        </p:nvSpPr>
        <p:spPr>
          <a:xfrm>
            <a:off x="594360" y="1119277"/>
            <a:ext cx="7467600" cy="1415772"/>
          </a:xfrm>
          <a:prstGeom prst="rect">
            <a:avLst/>
          </a:prstGeom>
        </p:spPr>
        <p:txBody>
          <a:bodyPr wrap="square">
            <a:spAutoFit/>
          </a:bodyPr>
          <a:lstStyle/>
          <a:p>
            <a:pPr algn="ctr"/>
            <a:r>
              <a:rPr lang="en-US" b="1" dirty="0">
                <a:solidFill>
                  <a:srgbClr val="C00000"/>
                </a:solidFill>
                <a:latin typeface="fkGroteskNeue"/>
              </a:rPr>
              <a:t>Multi-Phase Oscillator</a:t>
            </a:r>
            <a:r>
              <a:rPr lang="en-US" b="1" dirty="0" smtClean="0">
                <a:solidFill>
                  <a:srgbClr val="C00000"/>
                </a:solidFill>
                <a:latin typeface="fkGroteskNeue"/>
              </a:rPr>
              <a:t>:</a:t>
            </a:r>
          </a:p>
          <a:p>
            <a:pPr algn="just"/>
            <a:r>
              <a:rPr lang="en-US" sz="1700" dirty="0" smtClean="0">
                <a:latin typeface="fkGroteskNeue"/>
              </a:rPr>
              <a:t>The </a:t>
            </a:r>
            <a:r>
              <a:rPr lang="en-US" sz="1700" dirty="0">
                <a:latin typeface="fkGroteskNeue"/>
              </a:rPr>
              <a:t>analog input voltage </a:t>
            </a:r>
            <a:r>
              <a:rPr lang="en-US" sz="1700" dirty="0" smtClean="0">
                <a:latin typeface="fkGroteskNeue"/>
              </a:rPr>
              <a:t>(</a:t>
            </a:r>
            <a:r>
              <a:rPr lang="en-US" sz="1700" b="1" i="1" dirty="0" err="1" smtClean="0">
                <a:solidFill>
                  <a:srgbClr val="FF0000"/>
                </a:solidFill>
                <a:latin typeface="KaTeX_Math"/>
              </a:rPr>
              <a:t>V</a:t>
            </a:r>
            <a:r>
              <a:rPr lang="en-US" sz="1700" b="1" i="1" baseline="-25000" dirty="0" err="1" smtClean="0">
                <a:solidFill>
                  <a:srgbClr val="FF0000"/>
                </a:solidFill>
                <a:latin typeface="KaTeX_Math"/>
              </a:rPr>
              <a:t>control</a:t>
            </a:r>
            <a:r>
              <a:rPr lang="en-US" sz="1700" dirty="0">
                <a:latin typeface="fkGroteskNeue"/>
              </a:rPr>
              <a:t>) modulates the frequency of a ring oscillator, which produces several evenly spaced output phases. Each inverter in the ring contributes a separate phase, increasing the number of transition events available per reference clock period.</a:t>
            </a:r>
            <a:endParaRPr lang="en-US" sz="1700" b="0" i="0" dirty="0">
              <a:effectLst/>
              <a:latin typeface="fkGroteskNeue"/>
            </a:endParaRPr>
          </a:p>
        </p:txBody>
      </p:sp>
      <p:sp>
        <p:nvSpPr>
          <p:cNvPr id="7" name="Rectangle 6"/>
          <p:cNvSpPr/>
          <p:nvPr/>
        </p:nvSpPr>
        <p:spPr>
          <a:xfrm>
            <a:off x="508000" y="2470557"/>
            <a:ext cx="7437120" cy="1154162"/>
          </a:xfrm>
          <a:prstGeom prst="rect">
            <a:avLst/>
          </a:prstGeom>
        </p:spPr>
        <p:txBody>
          <a:bodyPr wrap="square">
            <a:spAutoFit/>
          </a:bodyPr>
          <a:lstStyle/>
          <a:p>
            <a:pPr algn="ctr"/>
            <a:r>
              <a:rPr lang="en-US" b="1" dirty="0">
                <a:solidFill>
                  <a:srgbClr val="C00000"/>
                </a:solidFill>
                <a:latin typeface="fkGroteskNeue"/>
              </a:rPr>
              <a:t>Parallel Edge Counting</a:t>
            </a:r>
            <a:r>
              <a:rPr lang="en-US" b="1" dirty="0" smtClean="0">
                <a:solidFill>
                  <a:srgbClr val="C00000"/>
                </a:solidFill>
                <a:latin typeface="fkGroteskNeue"/>
              </a:rPr>
              <a:t>:</a:t>
            </a:r>
          </a:p>
          <a:p>
            <a:pPr algn="just"/>
            <a:r>
              <a:rPr lang="en-US" sz="1700" dirty="0" smtClean="0">
                <a:latin typeface="fkGroteskNeue"/>
              </a:rPr>
              <a:t>Each </a:t>
            </a:r>
            <a:r>
              <a:rPr lang="en-US" sz="1700" dirty="0">
                <a:latin typeface="fkGroteskNeue"/>
              </a:rPr>
              <a:t>oscillator phase feeds the counter, rapidly accumulating multiple transitions per sample period. Rather than rely on a single edge stream, all phase outputs are summed—boosting frequency sensitivity and linearity.</a:t>
            </a:r>
            <a:endParaRPr lang="en-US" sz="1700" b="0" i="0" dirty="0">
              <a:effectLst/>
              <a:latin typeface="fkGroteskNeue"/>
            </a:endParaRPr>
          </a:p>
        </p:txBody>
      </p:sp>
      <p:sp>
        <p:nvSpPr>
          <p:cNvPr id="8" name="Rectangle 7"/>
          <p:cNvSpPr/>
          <p:nvPr/>
        </p:nvSpPr>
        <p:spPr>
          <a:xfrm>
            <a:off x="472440" y="3622100"/>
            <a:ext cx="7523480" cy="1415772"/>
          </a:xfrm>
          <a:prstGeom prst="rect">
            <a:avLst/>
          </a:prstGeom>
        </p:spPr>
        <p:txBody>
          <a:bodyPr wrap="square">
            <a:spAutoFit/>
          </a:bodyPr>
          <a:lstStyle/>
          <a:p>
            <a:pPr algn="ctr"/>
            <a:r>
              <a:rPr lang="en-US" b="1" dirty="0">
                <a:solidFill>
                  <a:srgbClr val="C00000"/>
                </a:solidFill>
                <a:latin typeface="fkGroteskNeue"/>
              </a:rPr>
              <a:t>Sample Acquisition</a:t>
            </a:r>
            <a:r>
              <a:rPr lang="en-US" b="1" dirty="0" smtClean="0">
                <a:solidFill>
                  <a:srgbClr val="C00000"/>
                </a:solidFill>
                <a:latin typeface="fkGroteskNeue"/>
              </a:rPr>
              <a:t>:</a:t>
            </a:r>
          </a:p>
          <a:p>
            <a:pPr algn="just"/>
            <a:r>
              <a:rPr lang="en-US" sz="1700" dirty="0" smtClean="0">
                <a:latin typeface="fkGroteskNeue"/>
              </a:rPr>
              <a:t>At </a:t>
            </a:r>
            <a:r>
              <a:rPr lang="en-US" sz="1700" dirty="0">
                <a:latin typeface="fkGroteskNeue"/>
              </a:rPr>
              <a:t>the end of each reference clock period, the aggregated count (sum of edges across all phases) is latched in a register, producing a proportional digital output for each sample window. The counter is reset and the sequence repeats continuously</a:t>
            </a:r>
            <a:r>
              <a:rPr lang="en-US" sz="1700" dirty="0" smtClean="0">
                <a:latin typeface="fkGroteskNeue"/>
              </a:rPr>
              <a:t>.</a:t>
            </a:r>
            <a:endParaRPr lang="en-US" sz="1700" dirty="0">
              <a:latin typeface="fkGroteskNeue"/>
            </a:endParaRPr>
          </a:p>
        </p:txBody>
      </p:sp>
      <p:sp>
        <p:nvSpPr>
          <p:cNvPr id="9" name="Rectangle 8"/>
          <p:cNvSpPr/>
          <p:nvPr/>
        </p:nvSpPr>
        <p:spPr>
          <a:xfrm>
            <a:off x="523240" y="5123656"/>
            <a:ext cx="11597640" cy="1200329"/>
          </a:xfrm>
          <a:prstGeom prst="rect">
            <a:avLst/>
          </a:prstGeom>
        </p:spPr>
        <p:txBody>
          <a:bodyPr wrap="square">
            <a:spAutoFit/>
          </a:bodyPr>
          <a:lstStyle/>
          <a:p>
            <a:pPr algn="ctr"/>
            <a:r>
              <a:rPr lang="en-US" b="1" dirty="0">
                <a:solidFill>
                  <a:srgbClr val="C00000"/>
                </a:solidFill>
                <a:latin typeface="fkGroteskNeue"/>
              </a:rPr>
              <a:t>Resolution and Linearity Enhancement:</a:t>
            </a:r>
          </a:p>
          <a:p>
            <a:pPr algn="just"/>
            <a:r>
              <a:rPr lang="en-US" dirty="0">
                <a:latin typeface="fkGroteskNeue"/>
              </a:rPr>
              <a:t>By exploiting multiple phase crossings, the architecture greatly increases the event rate and mitigates quantization and nonlinearity errors native to single-phase designs. This yields higher SNR and extends dynamic range.</a:t>
            </a:r>
          </a:p>
        </p:txBody>
      </p:sp>
      <p:sp>
        <p:nvSpPr>
          <p:cNvPr id="10" name="Rectangle 9"/>
          <p:cNvSpPr/>
          <p:nvPr/>
        </p:nvSpPr>
        <p:spPr>
          <a:xfrm>
            <a:off x="441960" y="1178560"/>
            <a:ext cx="7645400" cy="38557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72329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E66793CB-3BA4-4870-8E95-D9086B5B4D28}"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20</a:t>
            </a:fld>
            <a:endParaRPr lang="en-BE"/>
          </a:p>
        </p:txBody>
      </p:sp>
      <p:sp>
        <p:nvSpPr>
          <p:cNvPr id="5" name="Rectangle 4"/>
          <p:cNvSpPr/>
          <p:nvPr/>
        </p:nvSpPr>
        <p:spPr>
          <a:xfrm>
            <a:off x="279400" y="3295363"/>
            <a:ext cx="11861800" cy="1846659"/>
          </a:xfrm>
          <a:prstGeom prst="rect">
            <a:avLst/>
          </a:prstGeom>
        </p:spPr>
        <p:txBody>
          <a:bodyPr wrap="square">
            <a:spAutoFit/>
          </a:bodyPr>
          <a:lstStyle/>
          <a:p>
            <a:pPr algn="ctr"/>
            <a:r>
              <a:rPr lang="en-US" b="1" dirty="0">
                <a:solidFill>
                  <a:srgbClr val="C00000"/>
                </a:solidFill>
                <a:latin typeface="fkGrotesk"/>
              </a:rPr>
              <a:t>Key Insights</a:t>
            </a:r>
          </a:p>
          <a:p>
            <a:pPr marL="285750" indent="-285750" algn="just">
              <a:buFont typeface="Wingdings" panose="05000000000000000000" pitchFamily="2" charset="2"/>
              <a:buChar char="q"/>
            </a:pPr>
            <a:r>
              <a:rPr lang="en-US" sz="1600" b="1" dirty="0">
                <a:solidFill>
                  <a:srgbClr val="00B050"/>
                </a:solidFill>
                <a:latin typeface="fkGroteskNeue"/>
              </a:rPr>
              <a:t>Oscillator Phase </a:t>
            </a:r>
            <a:r>
              <a:rPr lang="en-US" sz="1600" b="1" dirty="0" err="1" smtClean="0">
                <a:solidFill>
                  <a:srgbClr val="00B050"/>
                </a:solidFill>
                <a:latin typeface="fkGroteskNeue"/>
              </a:rPr>
              <a:t>Interleaving:</a:t>
            </a:r>
            <a:r>
              <a:rPr lang="en-US" sz="1600" dirty="0" err="1" smtClean="0">
                <a:latin typeface="fkGroteskNeue"/>
              </a:rPr>
              <a:t>Increases</a:t>
            </a:r>
            <a:r>
              <a:rPr lang="en-US" sz="1600" dirty="0" smtClean="0">
                <a:latin typeface="fkGroteskNeue"/>
              </a:rPr>
              <a:t> </a:t>
            </a:r>
            <a:r>
              <a:rPr lang="en-US" sz="1600" dirty="0">
                <a:latin typeface="fkGroteskNeue"/>
              </a:rPr>
              <a:t>output code granularity and improves the mapping between analog input and digital count, making conversion less vulnerable to dead-zone nonlinearity and calibration limits.</a:t>
            </a:r>
          </a:p>
          <a:p>
            <a:pPr marL="285750" indent="-285750" algn="just">
              <a:buFont typeface="Wingdings" panose="05000000000000000000" pitchFamily="2" charset="2"/>
              <a:buChar char="q"/>
            </a:pPr>
            <a:r>
              <a:rPr lang="en-US" sz="1600" b="1" dirty="0">
                <a:solidFill>
                  <a:srgbClr val="00B050"/>
                </a:solidFill>
                <a:latin typeface="fkGroteskNeue"/>
              </a:rPr>
              <a:t>Digital-Friendly </a:t>
            </a:r>
            <a:r>
              <a:rPr lang="en-US" sz="1600" b="1" dirty="0" err="1" smtClean="0">
                <a:solidFill>
                  <a:srgbClr val="00B050"/>
                </a:solidFill>
                <a:latin typeface="fkGroteskNeue"/>
              </a:rPr>
              <a:t>Architecture:</a:t>
            </a:r>
            <a:r>
              <a:rPr lang="en-US" sz="1600" dirty="0" err="1" smtClean="0">
                <a:latin typeface="fkGroteskNeue"/>
              </a:rPr>
              <a:t>All</a:t>
            </a:r>
            <a:r>
              <a:rPr lang="en-US" sz="1600" dirty="0" smtClean="0">
                <a:latin typeface="fkGroteskNeue"/>
              </a:rPr>
              <a:t> </a:t>
            </a:r>
            <a:r>
              <a:rPr lang="en-US" sz="1600" dirty="0">
                <a:latin typeface="fkGroteskNeue"/>
              </a:rPr>
              <a:t>phases, edges, and logic are natively compatible with standard digital cell libraries; area and power are minimized for moderate ENOB applications with robust PVT resilience.</a:t>
            </a:r>
          </a:p>
          <a:p>
            <a:pPr marL="285750" indent="-285750" algn="just">
              <a:buFont typeface="Wingdings" panose="05000000000000000000" pitchFamily="2" charset="2"/>
              <a:buChar char="q"/>
            </a:pPr>
            <a:r>
              <a:rPr lang="en-US" sz="1600" b="1" dirty="0">
                <a:solidFill>
                  <a:srgbClr val="00B050"/>
                </a:solidFill>
                <a:latin typeface="fkGroteskNeue"/>
              </a:rPr>
              <a:t>Industry </a:t>
            </a:r>
            <a:r>
              <a:rPr lang="en-US" sz="1600" b="1" dirty="0" err="1" smtClean="0">
                <a:solidFill>
                  <a:srgbClr val="00B050"/>
                </a:solidFill>
                <a:latin typeface="fkGroteskNeue"/>
              </a:rPr>
              <a:t>Impact:</a:t>
            </a:r>
            <a:r>
              <a:rPr lang="en-US" sz="1600" dirty="0" err="1" smtClean="0">
                <a:latin typeface="fkGroteskNeue"/>
              </a:rPr>
              <a:t>Multi-phase</a:t>
            </a:r>
            <a:r>
              <a:rPr lang="en-US" sz="1600" dirty="0" smtClean="0">
                <a:latin typeface="fkGroteskNeue"/>
              </a:rPr>
              <a:t> </a:t>
            </a:r>
            <a:r>
              <a:rPr lang="en-US" sz="1600" dirty="0">
                <a:latin typeface="fkGroteskNeue"/>
              </a:rPr>
              <a:t>VCO-ADCs are leveraged in high-speed sensor interfaces, neural arrays, and ultra-low power wireless chips, thanks to their digital simplicity and scalable resolution.</a:t>
            </a:r>
            <a:endParaRPr lang="en-US" sz="1600" b="0" i="0" dirty="0">
              <a:effectLst/>
              <a:latin typeface="fkGroteskNeue"/>
            </a:endParaRPr>
          </a:p>
        </p:txBody>
      </p:sp>
      <p:graphicFrame>
        <p:nvGraphicFramePr>
          <p:cNvPr id="6" name="Table 5"/>
          <p:cNvGraphicFramePr>
            <a:graphicFrameLocks noGrp="1"/>
          </p:cNvGraphicFramePr>
          <p:nvPr>
            <p:extLst/>
          </p:nvPr>
        </p:nvGraphicFramePr>
        <p:xfrm>
          <a:off x="1889760" y="1278255"/>
          <a:ext cx="8122920" cy="1889760"/>
        </p:xfrm>
        <a:graphic>
          <a:graphicData uri="http://schemas.openxmlformats.org/drawingml/2006/table">
            <a:tbl>
              <a:tblPr>
                <a:tableStyleId>{616DA210-FB5B-4158-B5E0-FEB733F419BA}</a:tableStyleId>
              </a:tblPr>
              <a:tblGrid>
                <a:gridCol w="1721162">
                  <a:extLst>
                    <a:ext uri="{9D8B030D-6E8A-4147-A177-3AD203B41FA5}">
                      <a16:colId xmlns:a16="http://schemas.microsoft.com/office/drawing/2014/main" val="2832184102"/>
                    </a:ext>
                  </a:extLst>
                </a:gridCol>
                <a:gridCol w="3348678">
                  <a:extLst>
                    <a:ext uri="{9D8B030D-6E8A-4147-A177-3AD203B41FA5}">
                      <a16:colId xmlns:a16="http://schemas.microsoft.com/office/drawing/2014/main" val="3485380992"/>
                    </a:ext>
                  </a:extLst>
                </a:gridCol>
                <a:gridCol w="3053080">
                  <a:extLst>
                    <a:ext uri="{9D8B030D-6E8A-4147-A177-3AD203B41FA5}">
                      <a16:colId xmlns:a16="http://schemas.microsoft.com/office/drawing/2014/main" val="3114642031"/>
                    </a:ext>
                  </a:extLst>
                </a:gridCol>
              </a:tblGrid>
              <a:tr h="0">
                <a:tc>
                  <a:txBody>
                    <a:bodyPr/>
                    <a:lstStyle/>
                    <a:p>
                      <a:pPr algn="ctr"/>
                      <a:r>
                        <a:rPr lang="en-US" sz="1400" dirty="0" smtClean="0">
                          <a:solidFill>
                            <a:srgbClr val="C00000"/>
                          </a:solidFill>
                          <a:effectLst/>
                        </a:rPr>
                        <a:t>Feature</a:t>
                      </a:r>
                      <a:endParaRPr lang="en-US" sz="1400" b="1" dirty="0">
                        <a:solidFill>
                          <a:srgbClr val="C00000"/>
                        </a:solidFill>
                        <a:effectLst/>
                      </a:endParaRPr>
                    </a:p>
                  </a:txBody>
                  <a:tcPr marL="50800" marR="50800" marT="50800" marB="50800" anchor="ctr">
                    <a:solidFill>
                      <a:schemeClr val="bg1">
                        <a:lumMod val="75000"/>
                      </a:schemeClr>
                    </a:solidFill>
                  </a:tcPr>
                </a:tc>
                <a:tc>
                  <a:txBody>
                    <a:bodyPr/>
                    <a:lstStyle/>
                    <a:p>
                      <a:pPr algn="ctr"/>
                      <a:r>
                        <a:rPr lang="en-US" sz="1400" dirty="0">
                          <a:solidFill>
                            <a:srgbClr val="C00000"/>
                          </a:solidFill>
                          <a:effectLst/>
                        </a:rPr>
                        <a:t>Multi-Phase VCO-ADC</a:t>
                      </a:r>
                      <a:endParaRPr lang="en-US" sz="1400" b="1" dirty="0">
                        <a:solidFill>
                          <a:srgbClr val="C00000"/>
                        </a:solidFill>
                        <a:effectLst/>
                      </a:endParaRPr>
                    </a:p>
                  </a:txBody>
                  <a:tcPr marL="50800" marR="50800" marT="50800" marB="50800" anchor="ctr">
                    <a:solidFill>
                      <a:schemeClr val="bg1">
                        <a:lumMod val="75000"/>
                      </a:schemeClr>
                    </a:solidFill>
                  </a:tcPr>
                </a:tc>
                <a:tc>
                  <a:txBody>
                    <a:bodyPr/>
                    <a:lstStyle/>
                    <a:p>
                      <a:pPr algn="ctr"/>
                      <a:r>
                        <a:rPr lang="en-US" sz="1400" dirty="0">
                          <a:solidFill>
                            <a:srgbClr val="C00000"/>
                          </a:solidFill>
                          <a:effectLst/>
                        </a:rPr>
                        <a:t>Single-Phase VCO-ADC</a:t>
                      </a:r>
                      <a:endParaRPr lang="en-US" sz="1400" b="1" dirty="0">
                        <a:solidFill>
                          <a:srgbClr val="C00000"/>
                        </a:solidFill>
                        <a:effectLst/>
                      </a:endParaRPr>
                    </a:p>
                  </a:txBody>
                  <a:tcPr marL="50800" marR="50800" marT="50800" marB="50800" anchor="ctr">
                    <a:solidFill>
                      <a:schemeClr val="bg1">
                        <a:lumMod val="75000"/>
                      </a:schemeClr>
                    </a:solidFill>
                  </a:tcPr>
                </a:tc>
                <a:extLst>
                  <a:ext uri="{0D108BD9-81ED-4DB2-BD59-A6C34878D82A}">
                    <a16:rowId xmlns:a16="http://schemas.microsoft.com/office/drawing/2014/main" val="2661481389"/>
                  </a:ext>
                </a:extLst>
              </a:tr>
              <a:tr h="0">
                <a:tc>
                  <a:txBody>
                    <a:bodyPr/>
                    <a:lstStyle/>
                    <a:p>
                      <a:pPr algn="ctr"/>
                      <a:r>
                        <a:rPr lang="en-US" sz="1400" b="1" dirty="0">
                          <a:solidFill>
                            <a:srgbClr val="00B050"/>
                          </a:solidFill>
                          <a:effectLst/>
                        </a:rPr>
                        <a:t>Resolution</a:t>
                      </a:r>
                    </a:p>
                  </a:txBody>
                  <a:tcPr marL="50800" marR="50800" marT="50800" marB="50800" anchor="ctr"/>
                </a:tc>
                <a:tc>
                  <a:txBody>
                    <a:bodyPr/>
                    <a:lstStyle/>
                    <a:p>
                      <a:pPr algn="ctr"/>
                      <a:r>
                        <a:rPr lang="en-US" sz="1400" dirty="0">
                          <a:effectLst/>
                        </a:rPr>
                        <a:t>Much higher due to multi-phase counting</a:t>
                      </a:r>
                    </a:p>
                  </a:txBody>
                  <a:tcPr marL="50800" marR="50800" marT="50800" marB="50800" anchor="ctr"/>
                </a:tc>
                <a:tc>
                  <a:txBody>
                    <a:bodyPr/>
                    <a:lstStyle/>
                    <a:p>
                      <a:pPr algn="ctr"/>
                      <a:r>
                        <a:rPr lang="en-US" sz="1400" dirty="0">
                          <a:effectLst/>
                        </a:rPr>
                        <a:t>Limited by single cycle/event stream</a:t>
                      </a:r>
                    </a:p>
                  </a:txBody>
                  <a:tcPr marL="50800" marR="50800" marT="50800" marB="50800" anchor="ctr"/>
                </a:tc>
                <a:extLst>
                  <a:ext uri="{0D108BD9-81ED-4DB2-BD59-A6C34878D82A}">
                    <a16:rowId xmlns:a16="http://schemas.microsoft.com/office/drawing/2014/main" val="598648745"/>
                  </a:ext>
                </a:extLst>
              </a:tr>
              <a:tr h="0">
                <a:tc>
                  <a:txBody>
                    <a:bodyPr/>
                    <a:lstStyle/>
                    <a:p>
                      <a:pPr algn="ctr"/>
                      <a:r>
                        <a:rPr lang="en-US" sz="1400" b="1">
                          <a:solidFill>
                            <a:srgbClr val="00B050"/>
                          </a:solidFill>
                          <a:effectLst/>
                        </a:rPr>
                        <a:t>Linearity</a:t>
                      </a:r>
                    </a:p>
                  </a:txBody>
                  <a:tcPr marL="50800" marR="50800" marT="50800" marB="50800" anchor="ctr"/>
                </a:tc>
                <a:tc>
                  <a:txBody>
                    <a:bodyPr/>
                    <a:lstStyle/>
                    <a:p>
                      <a:pPr algn="ctr"/>
                      <a:r>
                        <a:rPr lang="en-US" sz="1400" dirty="0">
                          <a:effectLst/>
                        </a:rPr>
                        <a:t>Strong: mitigates dead-zone errors</a:t>
                      </a:r>
                    </a:p>
                  </a:txBody>
                  <a:tcPr marL="50800" marR="50800" marT="50800" marB="50800" anchor="ctr"/>
                </a:tc>
                <a:tc>
                  <a:txBody>
                    <a:bodyPr/>
                    <a:lstStyle/>
                    <a:p>
                      <a:pPr algn="ctr"/>
                      <a:r>
                        <a:rPr lang="en-US" sz="1400">
                          <a:effectLst/>
                        </a:rPr>
                        <a:t>Weaker; requires more calibration</a:t>
                      </a:r>
                    </a:p>
                  </a:txBody>
                  <a:tcPr marL="50800" marR="50800" marT="50800" marB="50800" anchor="ctr"/>
                </a:tc>
                <a:extLst>
                  <a:ext uri="{0D108BD9-81ED-4DB2-BD59-A6C34878D82A}">
                    <a16:rowId xmlns:a16="http://schemas.microsoft.com/office/drawing/2014/main" val="1727170427"/>
                  </a:ext>
                </a:extLst>
              </a:tr>
              <a:tr h="0">
                <a:tc>
                  <a:txBody>
                    <a:bodyPr/>
                    <a:lstStyle/>
                    <a:p>
                      <a:pPr algn="ctr"/>
                      <a:r>
                        <a:rPr lang="en-US" sz="1400" b="1">
                          <a:solidFill>
                            <a:srgbClr val="00B050"/>
                          </a:solidFill>
                          <a:effectLst/>
                        </a:rPr>
                        <a:t>Power/Area</a:t>
                      </a:r>
                    </a:p>
                  </a:txBody>
                  <a:tcPr marL="50800" marR="50800" marT="50800" marB="50800" anchor="ctr"/>
                </a:tc>
                <a:tc>
                  <a:txBody>
                    <a:bodyPr/>
                    <a:lstStyle/>
                    <a:p>
                      <a:pPr algn="ctr"/>
                      <a:r>
                        <a:rPr lang="en-US" sz="1400" dirty="0">
                          <a:effectLst/>
                        </a:rPr>
                        <a:t>Excellent; all digital; scalable</a:t>
                      </a:r>
                    </a:p>
                  </a:txBody>
                  <a:tcPr marL="50800" marR="50800" marT="50800" marB="50800" anchor="ctr"/>
                </a:tc>
                <a:tc>
                  <a:txBody>
                    <a:bodyPr/>
                    <a:lstStyle/>
                    <a:p>
                      <a:pPr algn="ctr"/>
                      <a:r>
                        <a:rPr lang="en-US" sz="1400" dirty="0">
                          <a:effectLst/>
                        </a:rPr>
                        <a:t>Slightly better, fewer outputs</a:t>
                      </a:r>
                    </a:p>
                  </a:txBody>
                  <a:tcPr marL="50800" marR="50800" marT="50800" marB="50800" anchor="ctr"/>
                </a:tc>
                <a:extLst>
                  <a:ext uri="{0D108BD9-81ED-4DB2-BD59-A6C34878D82A}">
                    <a16:rowId xmlns:a16="http://schemas.microsoft.com/office/drawing/2014/main" val="1707356857"/>
                  </a:ext>
                </a:extLst>
              </a:tr>
              <a:tr h="0">
                <a:tc>
                  <a:txBody>
                    <a:bodyPr/>
                    <a:lstStyle/>
                    <a:p>
                      <a:pPr algn="ctr"/>
                      <a:r>
                        <a:rPr lang="en-US" sz="1400" b="1">
                          <a:solidFill>
                            <a:srgbClr val="00B050"/>
                          </a:solidFill>
                          <a:effectLst/>
                        </a:rPr>
                        <a:t>Integration</a:t>
                      </a:r>
                    </a:p>
                  </a:txBody>
                  <a:tcPr marL="50800" marR="50800" marT="50800" marB="50800" anchor="ctr"/>
                </a:tc>
                <a:tc>
                  <a:txBody>
                    <a:bodyPr/>
                    <a:lstStyle/>
                    <a:p>
                      <a:pPr algn="ctr"/>
                      <a:r>
                        <a:rPr lang="en-US" sz="1400">
                          <a:effectLst/>
                        </a:rPr>
                        <a:t>Perfect for digital-centric ICs</a:t>
                      </a:r>
                    </a:p>
                  </a:txBody>
                  <a:tcPr marL="50800" marR="50800" marT="50800" marB="50800" anchor="ctr"/>
                </a:tc>
                <a:tc>
                  <a:txBody>
                    <a:bodyPr/>
                    <a:lstStyle/>
                    <a:p>
                      <a:pPr algn="ctr"/>
                      <a:r>
                        <a:rPr lang="en-US" sz="1400" dirty="0">
                          <a:effectLst/>
                        </a:rPr>
                        <a:t>Similarly ideal</a:t>
                      </a:r>
                    </a:p>
                  </a:txBody>
                  <a:tcPr marL="50800" marR="50800" marT="50800" marB="50800" anchor="ctr"/>
                </a:tc>
                <a:extLst>
                  <a:ext uri="{0D108BD9-81ED-4DB2-BD59-A6C34878D82A}">
                    <a16:rowId xmlns:a16="http://schemas.microsoft.com/office/drawing/2014/main" val="822344058"/>
                  </a:ext>
                </a:extLst>
              </a:tr>
              <a:tr h="0">
                <a:tc>
                  <a:txBody>
                    <a:bodyPr/>
                    <a:lstStyle/>
                    <a:p>
                      <a:pPr algn="ctr"/>
                      <a:r>
                        <a:rPr lang="en-US" sz="1400" b="1" dirty="0">
                          <a:solidFill>
                            <a:srgbClr val="00B050"/>
                          </a:solidFill>
                          <a:effectLst/>
                        </a:rPr>
                        <a:t>Design Complexity</a:t>
                      </a:r>
                    </a:p>
                  </a:txBody>
                  <a:tcPr marL="50800" marR="50800" marT="50800" marB="50800" anchor="ctr"/>
                </a:tc>
                <a:tc>
                  <a:txBody>
                    <a:bodyPr/>
                    <a:lstStyle/>
                    <a:p>
                      <a:pPr algn="ctr"/>
                      <a:r>
                        <a:rPr lang="en-US" sz="1400" dirty="0">
                          <a:effectLst/>
                        </a:rPr>
                        <a:t>Moderate: requires multi-phase counting</a:t>
                      </a:r>
                    </a:p>
                  </a:txBody>
                  <a:tcPr marL="50800" marR="50800" marT="50800" marB="50800" anchor="ctr"/>
                </a:tc>
                <a:tc>
                  <a:txBody>
                    <a:bodyPr/>
                    <a:lstStyle/>
                    <a:p>
                      <a:pPr algn="ctr"/>
                      <a:r>
                        <a:rPr lang="en-US" sz="1400" dirty="0">
                          <a:effectLst/>
                        </a:rPr>
                        <a:t>Very low</a:t>
                      </a:r>
                    </a:p>
                  </a:txBody>
                  <a:tcPr marL="50800" marR="50800" marT="50800" marB="50800" anchor="ctr"/>
                </a:tc>
                <a:extLst>
                  <a:ext uri="{0D108BD9-81ED-4DB2-BD59-A6C34878D82A}">
                    <a16:rowId xmlns:a16="http://schemas.microsoft.com/office/drawing/2014/main" val="2893341034"/>
                  </a:ext>
                </a:extLst>
              </a:tr>
            </a:tbl>
          </a:graphicData>
        </a:graphic>
      </p:graphicFrame>
      <p:sp>
        <p:nvSpPr>
          <p:cNvPr id="7" name="Rectangle 6"/>
          <p:cNvSpPr/>
          <p:nvPr/>
        </p:nvSpPr>
        <p:spPr>
          <a:xfrm>
            <a:off x="467360" y="5119638"/>
            <a:ext cx="11099800" cy="1169551"/>
          </a:xfrm>
          <a:prstGeom prst="rect">
            <a:avLst/>
          </a:prstGeom>
        </p:spPr>
        <p:txBody>
          <a:bodyPr wrap="square">
            <a:spAutoFit/>
          </a:bodyPr>
          <a:lstStyle/>
          <a:p>
            <a:pPr algn="ctr"/>
            <a:r>
              <a:rPr lang="en-US" sz="1400" b="1" dirty="0" smtClean="0">
                <a:solidFill>
                  <a:srgbClr val="C00000"/>
                </a:solidFill>
                <a:latin typeface="fkGroteskNeue"/>
              </a:rPr>
              <a:t>Key Takeaway</a:t>
            </a:r>
          </a:p>
          <a:p>
            <a:pPr marL="285750" indent="-285750">
              <a:buFont typeface="Wingdings" panose="05000000000000000000" pitchFamily="2" charset="2"/>
              <a:buChar char="q"/>
            </a:pPr>
            <a:r>
              <a:rPr lang="en-US" sz="1400" dirty="0" smtClean="0">
                <a:latin typeface="fkGroteskNeue"/>
              </a:rPr>
              <a:t>Each </a:t>
            </a:r>
            <a:r>
              <a:rPr lang="en-US" sz="1400" dirty="0">
                <a:latin typeface="fkGroteskNeue"/>
              </a:rPr>
              <a:t>phase crossing is counted, multiplying effective sensitivity and SNR.</a:t>
            </a:r>
          </a:p>
          <a:p>
            <a:pPr marL="285750" indent="-285750">
              <a:buFont typeface="Wingdings" panose="05000000000000000000" pitchFamily="2" charset="2"/>
              <a:buChar char="q"/>
            </a:pPr>
            <a:r>
              <a:rPr lang="en-US" sz="1400" dirty="0">
                <a:latin typeface="fkGroteskNeue"/>
              </a:rPr>
              <a:t>Multi-phase VCO sampling tackles major sources of nonlinearity and quantization artifact.</a:t>
            </a:r>
          </a:p>
          <a:p>
            <a:pPr marL="285750" indent="-285750">
              <a:buFont typeface="Wingdings" panose="05000000000000000000" pitchFamily="2" charset="2"/>
              <a:buChar char="q"/>
            </a:pPr>
            <a:r>
              <a:rPr lang="en-US" sz="1400" dirty="0">
                <a:latin typeface="fkGroteskNeue"/>
              </a:rPr>
              <a:t>Combinatorial edge counting improves monotonicity and reduces missing codes.</a:t>
            </a:r>
          </a:p>
          <a:p>
            <a:pPr marL="285750" indent="-285750">
              <a:buFont typeface="Wingdings" panose="05000000000000000000" pitchFamily="2" charset="2"/>
              <a:buChar char="q"/>
            </a:pPr>
            <a:r>
              <a:rPr lang="en-US" sz="1400" dirty="0">
                <a:latin typeface="fkGroteskNeue"/>
              </a:rPr>
              <a:t>The approach is robust to digital process scaling, PVT environments, and supply voltage variation.</a:t>
            </a:r>
            <a:endParaRPr lang="en-US" sz="1400" b="0" i="0" dirty="0">
              <a:effectLst/>
              <a:latin typeface="fkGroteskNeue"/>
            </a:endParaRPr>
          </a:p>
        </p:txBody>
      </p:sp>
      <p:sp>
        <p:nvSpPr>
          <p:cNvPr id="8" name="Rectangle 7"/>
          <p:cNvSpPr/>
          <p:nvPr/>
        </p:nvSpPr>
        <p:spPr>
          <a:xfrm>
            <a:off x="3950032" y="506214"/>
            <a:ext cx="3619902" cy="400110"/>
          </a:xfrm>
          <a:prstGeom prst="rect">
            <a:avLst/>
          </a:prstGeom>
        </p:spPr>
        <p:txBody>
          <a:bodyPr wrap="none">
            <a:spAutoFit/>
          </a:bodyPr>
          <a:lstStyle/>
          <a:p>
            <a:r>
              <a:rPr lang="en-US" sz="2000" b="1" dirty="0">
                <a:solidFill>
                  <a:srgbClr val="C00000"/>
                </a:solidFill>
                <a:latin typeface="fkGrotesk"/>
              </a:rPr>
              <a:t>Comparative Pros and Cons</a:t>
            </a:r>
            <a:endParaRPr lang="en-US" sz="2000" b="1" i="0" dirty="0">
              <a:solidFill>
                <a:srgbClr val="C00000"/>
              </a:solidFill>
              <a:effectLst/>
              <a:latin typeface="fkGrotesk"/>
            </a:endParaRPr>
          </a:p>
        </p:txBody>
      </p:sp>
      <p:sp>
        <p:nvSpPr>
          <p:cNvPr id="9" name="Rectangle 8"/>
          <p:cNvSpPr/>
          <p:nvPr/>
        </p:nvSpPr>
        <p:spPr>
          <a:xfrm>
            <a:off x="309880" y="3322320"/>
            <a:ext cx="11882120" cy="17983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2119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C789BB4-9A54-6DD2-7FEA-BF906FD765AD}"/>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901" name="Title 1">
            <a:extLst>
              <a:ext uri="{FF2B5EF4-FFF2-40B4-BE49-F238E27FC236}">
                <a16:creationId xmlns:a16="http://schemas.microsoft.com/office/drawing/2014/main" id="{145435CA-635A-085F-EFA2-1B06EE8A7012}"/>
              </a:ext>
            </a:extLst>
          </p:cNvPr>
          <p:cNvSpPr txBox="1">
            <a:spLocks/>
          </p:cNvSpPr>
          <p:nvPr/>
        </p:nvSpPr>
        <p:spPr>
          <a:xfrm>
            <a:off x="-106019" y="0"/>
            <a:ext cx="6001307" cy="554587"/>
          </a:xfrm>
          <a:prstGeom prst="rect">
            <a:avLst/>
          </a:prstGeom>
        </p:spPr>
        <p:txBody>
          <a:bodyPr/>
          <a:lstStyle/>
          <a:p>
            <a:pPr algn="ctr" defTabSz="914377" fontAlgn="base">
              <a:spcBef>
                <a:spcPct val="0"/>
              </a:spcBef>
              <a:spcAft>
                <a:spcPct val="0"/>
              </a:spcAft>
              <a:defRPr/>
            </a:pPr>
            <a:r>
              <a:rPr lang="en-US" sz="3200" b="1" dirty="0">
                <a:solidFill>
                  <a:srgbClr val="002060"/>
                </a:solidFill>
                <a:latin typeface="Calibri" panose="020F0502020204030204" pitchFamily="34" charset="0"/>
                <a:ea typeface="+mj-ea"/>
                <a:cs typeface="Calibri" panose="020F0502020204030204" pitchFamily="34" charset="0"/>
              </a:rPr>
              <a:t>Different Architectures of  MPROs</a:t>
            </a:r>
          </a:p>
        </p:txBody>
      </p:sp>
      <p:pic>
        <p:nvPicPr>
          <p:cNvPr id="928" name="Picture 927">
            <a:extLst>
              <a:ext uri="{FF2B5EF4-FFF2-40B4-BE49-F238E27FC236}">
                <a16:creationId xmlns:a16="http://schemas.microsoft.com/office/drawing/2014/main" id="{62B775F7-BBB5-59B9-DB88-D72BE7817149}"/>
              </a:ext>
            </a:extLst>
          </p:cNvPr>
          <p:cNvPicPr>
            <a:picLocks noChangeAspect="1"/>
          </p:cNvPicPr>
          <p:nvPr/>
        </p:nvPicPr>
        <p:blipFill rotWithShape="1">
          <a:blip r:embed="rId2"/>
          <a:srcRect r="3221"/>
          <a:stretch/>
        </p:blipFill>
        <p:spPr>
          <a:xfrm>
            <a:off x="2179319" y="1113011"/>
            <a:ext cx="8663005" cy="4263636"/>
          </a:xfrm>
          <a:prstGeom prst="rect">
            <a:avLst/>
          </a:prstGeom>
        </p:spPr>
      </p:pic>
      <p:sp>
        <p:nvSpPr>
          <p:cNvPr id="929" name="Slide Number Placeholder 3">
            <a:extLst>
              <a:ext uri="{FF2B5EF4-FFF2-40B4-BE49-F238E27FC236}">
                <a16:creationId xmlns:a16="http://schemas.microsoft.com/office/drawing/2014/main" id="{CE3E486E-1852-0388-A7F9-C9647CB3ACAC}"/>
              </a:ext>
            </a:extLst>
          </p:cNvPr>
          <p:cNvSpPr>
            <a:spLocks noGrp="1"/>
          </p:cNvSpPr>
          <p:nvPr>
            <p:ph type="sldNum" sz="quarter" idx="4294967295"/>
          </p:nvPr>
        </p:nvSpPr>
        <p:spPr>
          <a:xfrm>
            <a:off x="10711600" y="6442075"/>
            <a:ext cx="1248000" cy="338554"/>
          </a:xfrm>
        </p:spPr>
        <p:txBody>
          <a:bodyPr/>
          <a:lstStyle/>
          <a:p>
            <a:fld id="{65A9FE30-EA4F-4BEC-A613-F46EDCC7C20D}" type="slidenum">
              <a:rPr lang="en-IN" sz="1600" b="1">
                <a:solidFill>
                  <a:schemeClr val="tx2"/>
                </a:solidFill>
              </a:rPr>
              <a:t>21</a:t>
            </a:fld>
            <a:endParaRPr lang="en-IN" sz="1600" b="1" dirty="0">
              <a:solidFill>
                <a:schemeClr val="tx2"/>
              </a:solidFill>
            </a:endParaRPr>
          </a:p>
        </p:txBody>
      </p:sp>
      <p:sp>
        <p:nvSpPr>
          <p:cNvPr id="3" name="Date Placeholder 2"/>
          <p:cNvSpPr>
            <a:spLocks noGrp="1"/>
          </p:cNvSpPr>
          <p:nvPr>
            <p:ph type="dt" sz="half" idx="4294967295"/>
          </p:nvPr>
        </p:nvSpPr>
        <p:spPr/>
        <p:txBody>
          <a:bodyPr/>
          <a:lstStyle/>
          <a:p>
            <a:fld id="{A8DAF574-9907-4833-B329-0B0FAC58CF27}" type="datetime1">
              <a:rPr lang="en-US" smtClean="0"/>
              <a:t>9/1/2026</a:t>
            </a:fld>
            <a:endParaRPr lang="en-BE"/>
          </a:p>
        </p:txBody>
      </p:sp>
      <p:sp>
        <p:nvSpPr>
          <p:cNvPr id="2" name="Rectangle 1"/>
          <p:cNvSpPr/>
          <p:nvPr/>
        </p:nvSpPr>
        <p:spPr>
          <a:xfrm>
            <a:off x="508000" y="5385138"/>
            <a:ext cx="11440160" cy="830997"/>
          </a:xfrm>
          <a:prstGeom prst="rect">
            <a:avLst/>
          </a:prstGeom>
        </p:spPr>
        <p:txBody>
          <a:bodyPr wrap="square">
            <a:spAutoFit/>
          </a:bodyPr>
          <a:lstStyle/>
          <a:p>
            <a:pPr algn="just"/>
            <a:r>
              <a:rPr lang="en-US" sz="1600" dirty="0" smtClean="0">
                <a:latin typeface="fkGroteskNeue"/>
              </a:rPr>
              <a:t>The </a:t>
            </a:r>
            <a:r>
              <a:rPr lang="en-US" sz="1600" dirty="0">
                <a:latin typeface="fkGroteskNeue"/>
              </a:rPr>
              <a:t>progression </a:t>
            </a:r>
            <a:r>
              <a:rPr lang="en-US" sz="1600" dirty="0" smtClean="0">
                <a:latin typeface="fkGroteskNeue"/>
              </a:rPr>
              <a:t>of MPRO </a:t>
            </a:r>
            <a:r>
              <a:rPr lang="en-US" sz="1600" dirty="0">
                <a:latin typeface="fkGroteskNeue"/>
              </a:rPr>
              <a:t>architectures—the foundation for highly tunable and robust clock, LO, and data recovery circuits in modern </a:t>
            </a:r>
            <a:r>
              <a:rPr lang="en-US" sz="1600" dirty="0" err="1">
                <a:latin typeface="fkGroteskNeue"/>
              </a:rPr>
              <a:t>SoCs</a:t>
            </a:r>
            <a:r>
              <a:rPr lang="en-US" sz="1600" dirty="0">
                <a:latin typeface="fkGroteskNeue"/>
              </a:rPr>
              <a:t> and transceiver ICs. Each structure achieves enhanced phase resolution, noise shaping, and delay control through circuit and coupling innovations on the inverter loop.</a:t>
            </a:r>
            <a:endParaRPr lang="en-US" sz="1600" dirty="0"/>
          </a:p>
        </p:txBody>
      </p:sp>
      <p:sp>
        <p:nvSpPr>
          <p:cNvPr id="10" name="Rectangle 9"/>
          <p:cNvSpPr/>
          <p:nvPr/>
        </p:nvSpPr>
        <p:spPr>
          <a:xfrm>
            <a:off x="381000" y="5430520"/>
            <a:ext cx="11623040" cy="838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443255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2921FFB6-0CCB-44B8-B6F0-4F9ADF4B1931}"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22</a:t>
            </a:fld>
            <a:endParaRPr lang="en-BE"/>
          </a:p>
        </p:txBody>
      </p:sp>
      <p:pic>
        <p:nvPicPr>
          <p:cNvPr id="5" name="Picture 4">
            <a:extLst>
              <a:ext uri="{FF2B5EF4-FFF2-40B4-BE49-F238E27FC236}">
                <a16:creationId xmlns:a16="http://schemas.microsoft.com/office/drawing/2014/main" id="{62B775F7-BBB5-59B9-DB88-D72BE7817149}"/>
              </a:ext>
            </a:extLst>
          </p:cNvPr>
          <p:cNvPicPr>
            <a:picLocks noChangeAspect="1"/>
          </p:cNvPicPr>
          <p:nvPr/>
        </p:nvPicPr>
        <p:blipFill rotWithShape="1">
          <a:blip r:embed="rId2"/>
          <a:srcRect l="4392" r="70914" b="88133"/>
          <a:stretch/>
        </p:blipFill>
        <p:spPr>
          <a:xfrm>
            <a:off x="960120" y="1369913"/>
            <a:ext cx="2448560" cy="560487"/>
          </a:xfrm>
          <a:prstGeom prst="rect">
            <a:avLst/>
          </a:prstGeom>
        </p:spPr>
      </p:pic>
      <p:sp>
        <p:nvSpPr>
          <p:cNvPr id="6" name="Rectangle 5"/>
          <p:cNvSpPr/>
          <p:nvPr/>
        </p:nvSpPr>
        <p:spPr>
          <a:xfrm>
            <a:off x="421640" y="2242741"/>
            <a:ext cx="3459480" cy="3816429"/>
          </a:xfrm>
          <a:prstGeom prst="rect">
            <a:avLst/>
          </a:prstGeom>
        </p:spPr>
        <p:txBody>
          <a:bodyPr wrap="square">
            <a:spAutoFit/>
          </a:bodyPr>
          <a:lstStyle/>
          <a:p>
            <a:pPr algn="ctr"/>
            <a:r>
              <a:rPr lang="en-US" sz="1600" b="1" dirty="0">
                <a:solidFill>
                  <a:srgbClr val="C00000"/>
                </a:solidFill>
              </a:rPr>
              <a:t>Classic Inverter-Based Ring Oscillator (5-stage</a:t>
            </a:r>
            <a:r>
              <a:rPr lang="en-US" sz="1600" b="1" dirty="0" smtClean="0">
                <a:solidFill>
                  <a:srgbClr val="C00000"/>
                </a:solidFill>
              </a:rPr>
              <a:t>)</a:t>
            </a:r>
            <a:endParaRPr lang="en-US" sz="1200" b="1" dirty="0" smtClean="0">
              <a:solidFill>
                <a:srgbClr val="C00000"/>
              </a:solidFill>
              <a:latin typeface="fkGroteskNeue"/>
            </a:endParaRPr>
          </a:p>
          <a:p>
            <a:pPr marL="285750" indent="-285750" algn="just">
              <a:buFont typeface="Wingdings" panose="05000000000000000000" pitchFamily="2" charset="2"/>
              <a:buChar char="q"/>
            </a:pPr>
            <a:r>
              <a:rPr lang="en-US" sz="1400" b="1" dirty="0" smtClean="0">
                <a:solidFill>
                  <a:srgbClr val="C00000"/>
                </a:solidFill>
                <a:latin typeface="fkGroteskNeue"/>
              </a:rPr>
              <a:t>Design: </a:t>
            </a:r>
            <a:r>
              <a:rPr lang="en-US" sz="1400" dirty="0" smtClean="0">
                <a:latin typeface="fkGroteskNeue"/>
              </a:rPr>
              <a:t>Simple </a:t>
            </a:r>
            <a:r>
              <a:rPr lang="en-US" sz="1400" dirty="0">
                <a:latin typeface="fkGroteskNeue"/>
              </a:rPr>
              <a:t>serial string of five inverters, each stage contributing a progressive phase shift; the signal loops around to sustain oscillation.</a:t>
            </a:r>
          </a:p>
          <a:p>
            <a:pPr marL="285750" indent="-285750" algn="just">
              <a:buFont typeface="Wingdings" panose="05000000000000000000" pitchFamily="2" charset="2"/>
              <a:buChar char="q"/>
            </a:pPr>
            <a:r>
              <a:rPr lang="en-US" sz="1400" b="1" dirty="0" smtClean="0">
                <a:solidFill>
                  <a:srgbClr val="C00000"/>
                </a:solidFill>
                <a:latin typeface="fkGroteskNeue"/>
              </a:rPr>
              <a:t>Sizing: </a:t>
            </a:r>
            <a:r>
              <a:rPr lang="en-US" sz="1400" dirty="0" smtClean="0">
                <a:latin typeface="fkGroteskNeue"/>
              </a:rPr>
              <a:t>Optimal </a:t>
            </a:r>
            <a:r>
              <a:rPr lang="en-US" sz="1400" dirty="0">
                <a:latin typeface="fkGroteskNeue"/>
              </a:rPr>
              <a:t>inverter sizing (W/L ratios) sets oscillation frequency, balancing power and phase noise. Symmetric </a:t>
            </a:r>
            <a:r>
              <a:rPr lang="en-US" sz="1400" dirty="0" err="1">
                <a:latin typeface="fkGroteskNeue"/>
              </a:rPr>
              <a:t>p/n</a:t>
            </a:r>
            <a:r>
              <a:rPr lang="en-US" sz="1400" dirty="0">
                <a:latin typeface="fkGroteskNeue"/>
              </a:rPr>
              <a:t> sizing typical for low jitter.</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 </a:t>
            </a:r>
            <a:r>
              <a:rPr lang="en-US" sz="1400" dirty="0" smtClean="0">
                <a:latin typeface="fkGroteskNeue"/>
              </a:rPr>
              <a:t>Layout </a:t>
            </a:r>
            <a:r>
              <a:rPr lang="en-US" sz="1400" dirty="0">
                <a:latin typeface="fkGroteskNeue"/>
              </a:rPr>
              <a:t>is trivial, ideal for rapid prototyping, student silicon, and moderate-precision low-area clocking.</a:t>
            </a:r>
          </a:p>
          <a:p>
            <a:pPr marL="285750" indent="-285750" algn="just">
              <a:buFont typeface="Wingdings" panose="05000000000000000000" pitchFamily="2" charset="2"/>
              <a:buChar char="q"/>
            </a:pPr>
            <a:r>
              <a:rPr lang="en-US" sz="1400" b="1" dirty="0" smtClean="0">
                <a:solidFill>
                  <a:srgbClr val="C00000"/>
                </a:solidFill>
                <a:latin typeface="fkGroteskNeue"/>
              </a:rPr>
              <a:t>Constraint: </a:t>
            </a:r>
            <a:r>
              <a:rPr lang="en-US" sz="1400" dirty="0" smtClean="0">
                <a:latin typeface="fkGroteskNeue"/>
              </a:rPr>
              <a:t>Limited </a:t>
            </a:r>
            <a:r>
              <a:rPr lang="en-US" sz="1400" dirty="0">
                <a:latin typeface="fkGroteskNeue"/>
              </a:rPr>
              <a:t>phase output; only one output per inverter.</a:t>
            </a:r>
            <a:endParaRPr lang="en-US" sz="1400" b="0" i="0" dirty="0">
              <a:effectLst/>
              <a:latin typeface="fkGroteskNeue"/>
            </a:endParaRPr>
          </a:p>
        </p:txBody>
      </p:sp>
      <p:pic>
        <p:nvPicPr>
          <p:cNvPr id="7" name="Picture 6">
            <a:extLst>
              <a:ext uri="{FF2B5EF4-FFF2-40B4-BE49-F238E27FC236}">
                <a16:creationId xmlns:a16="http://schemas.microsoft.com/office/drawing/2014/main" id="{62B775F7-BBB5-59B9-DB88-D72BE7817149}"/>
              </a:ext>
            </a:extLst>
          </p:cNvPr>
          <p:cNvPicPr>
            <a:picLocks noChangeAspect="1"/>
          </p:cNvPicPr>
          <p:nvPr/>
        </p:nvPicPr>
        <p:blipFill rotWithShape="1">
          <a:blip r:embed="rId2"/>
          <a:srcRect l="3367" t="15415" r="70147" b="49197"/>
          <a:stretch/>
        </p:blipFill>
        <p:spPr>
          <a:xfrm>
            <a:off x="4871720" y="944881"/>
            <a:ext cx="2626360" cy="1671319"/>
          </a:xfrm>
          <a:prstGeom prst="rect">
            <a:avLst/>
          </a:prstGeom>
        </p:spPr>
      </p:pic>
      <p:sp>
        <p:nvSpPr>
          <p:cNvPr id="8" name="Rectangle 7"/>
          <p:cNvSpPr/>
          <p:nvPr/>
        </p:nvSpPr>
        <p:spPr>
          <a:xfrm>
            <a:off x="4302760" y="2538443"/>
            <a:ext cx="3540760" cy="3754874"/>
          </a:xfrm>
          <a:prstGeom prst="rect">
            <a:avLst/>
          </a:prstGeom>
        </p:spPr>
        <p:txBody>
          <a:bodyPr wrap="square">
            <a:spAutoFit/>
          </a:bodyPr>
          <a:lstStyle/>
          <a:p>
            <a:pPr algn="ctr"/>
            <a:r>
              <a:rPr lang="en-US" sz="1400" b="1" dirty="0">
                <a:solidFill>
                  <a:srgbClr val="C00000"/>
                </a:solidFill>
                <a:latin typeface="fkGrotesk"/>
              </a:rPr>
              <a:t>3×5 Coupled-Oscillator </a:t>
            </a:r>
            <a:endParaRPr lang="en-US" sz="1400" b="1" dirty="0" smtClean="0">
              <a:solidFill>
                <a:srgbClr val="C00000"/>
              </a:solidFill>
              <a:latin typeface="fkGrotesk"/>
            </a:endParaRPr>
          </a:p>
          <a:p>
            <a:pPr algn="ctr"/>
            <a:r>
              <a:rPr lang="en-US" sz="1400" b="1" dirty="0" smtClean="0">
                <a:solidFill>
                  <a:srgbClr val="C00000"/>
                </a:solidFill>
                <a:latin typeface="fkGrotesk"/>
              </a:rPr>
              <a:t>(</a:t>
            </a:r>
            <a:r>
              <a:rPr lang="en-US" sz="1400" b="1" dirty="0" err="1">
                <a:solidFill>
                  <a:srgbClr val="C00000"/>
                </a:solidFill>
                <a:latin typeface="fkGrotesk"/>
              </a:rPr>
              <a:t>Maneatis</a:t>
            </a:r>
            <a:r>
              <a:rPr lang="en-US" sz="1400" b="1" dirty="0">
                <a:solidFill>
                  <a:srgbClr val="C00000"/>
                </a:solidFill>
                <a:latin typeface="fkGrotesk"/>
              </a:rPr>
              <a:t> et al. JSSC 1993)</a:t>
            </a:r>
          </a:p>
          <a:p>
            <a:pPr marL="285750" indent="-285750" algn="just">
              <a:buFont typeface="Wingdings" panose="05000000000000000000" pitchFamily="2" charset="2"/>
              <a:buChar char="q"/>
            </a:pPr>
            <a:r>
              <a:rPr lang="en-US" sz="1400" b="1" dirty="0" smtClean="0">
                <a:solidFill>
                  <a:srgbClr val="C00000"/>
                </a:solidFill>
                <a:latin typeface="fkGroteskNeue"/>
              </a:rPr>
              <a:t>Design: </a:t>
            </a:r>
            <a:r>
              <a:rPr lang="en-US" sz="1400" dirty="0" smtClean="0">
                <a:latin typeface="fkGroteskNeue"/>
              </a:rPr>
              <a:t>Three </a:t>
            </a:r>
            <a:r>
              <a:rPr lang="en-US" sz="1400" dirty="0">
                <a:latin typeface="fkGroteskNeue"/>
              </a:rPr>
              <a:t>parallel chains of five inverters; outputs and control nodes distributed for increased phase density and mutual coupling.</a:t>
            </a:r>
          </a:p>
          <a:p>
            <a:pPr marL="285750" indent="-285750" algn="just">
              <a:buFont typeface="Wingdings" panose="05000000000000000000" pitchFamily="2" charset="2"/>
              <a:buChar char="q"/>
            </a:pPr>
            <a:r>
              <a:rPr lang="en-US" sz="1400" b="1" dirty="0" smtClean="0">
                <a:solidFill>
                  <a:srgbClr val="C00000"/>
                </a:solidFill>
                <a:latin typeface="fkGroteskNeue"/>
              </a:rPr>
              <a:t>Sizing: </a:t>
            </a:r>
            <a:r>
              <a:rPr lang="en-US" sz="1400" dirty="0" smtClean="0">
                <a:latin typeface="fkGroteskNeue"/>
              </a:rPr>
              <a:t>Coupling </a:t>
            </a:r>
            <a:r>
              <a:rPr lang="en-US" sz="1400" dirty="0">
                <a:latin typeface="fkGroteskNeue"/>
              </a:rPr>
              <a:t>strength and inverter sizing determine both fundamental frequency and cross-chain phase alignment. Achieves improved phase noise via collective synchronization.</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 </a:t>
            </a:r>
            <a:r>
              <a:rPr lang="en-US" sz="1400" dirty="0" smtClean="0">
                <a:latin typeface="fkGroteskNeue"/>
              </a:rPr>
              <a:t>Moderate</a:t>
            </a:r>
            <a:r>
              <a:rPr lang="en-US" sz="1400" dirty="0">
                <a:latin typeface="fkGroteskNeue"/>
              </a:rPr>
              <a:t>. Multi-chain layout complicates routing, but digital synthesis tools can modularize the process.</a:t>
            </a:r>
          </a:p>
          <a:p>
            <a:pPr marL="285750" indent="-285750" algn="just">
              <a:buFont typeface="Wingdings" panose="05000000000000000000" pitchFamily="2" charset="2"/>
              <a:buChar char="q"/>
            </a:pPr>
            <a:r>
              <a:rPr lang="en-US" sz="1400" b="1" dirty="0" smtClean="0">
                <a:solidFill>
                  <a:srgbClr val="C00000"/>
                </a:solidFill>
                <a:latin typeface="fkGroteskNeue"/>
              </a:rPr>
              <a:t>Constraint: </a:t>
            </a:r>
            <a:r>
              <a:rPr lang="en-US" sz="1400" dirty="0" smtClean="0">
                <a:latin typeface="fkGroteskNeue"/>
              </a:rPr>
              <a:t>Must </a:t>
            </a:r>
            <a:r>
              <a:rPr lang="en-US" sz="1400" dirty="0">
                <a:latin typeface="fkGroteskNeue"/>
              </a:rPr>
              <a:t>tune cross-coupling and ensure robust startup conditions</a:t>
            </a:r>
            <a:endParaRPr lang="en-US" sz="1400" b="0" i="0" dirty="0">
              <a:effectLst/>
              <a:latin typeface="fkGroteskNeue"/>
            </a:endParaRPr>
          </a:p>
        </p:txBody>
      </p:sp>
      <p:pic>
        <p:nvPicPr>
          <p:cNvPr id="9" name="Picture 8"/>
          <p:cNvPicPr>
            <a:picLocks noChangeAspect="1"/>
          </p:cNvPicPr>
          <p:nvPr/>
        </p:nvPicPr>
        <p:blipFill rotWithShape="1">
          <a:blip r:embed="rId3"/>
          <a:srcRect l="5690" t="55913" r="68370" b="18498"/>
          <a:stretch/>
        </p:blipFill>
        <p:spPr>
          <a:xfrm>
            <a:off x="8625840" y="1021080"/>
            <a:ext cx="2489200" cy="1209040"/>
          </a:xfrm>
          <a:prstGeom prst="rect">
            <a:avLst/>
          </a:prstGeom>
        </p:spPr>
      </p:pic>
      <p:sp>
        <p:nvSpPr>
          <p:cNvPr id="10" name="Rectangle 9"/>
          <p:cNvSpPr/>
          <p:nvPr/>
        </p:nvSpPr>
        <p:spPr>
          <a:xfrm>
            <a:off x="8067040" y="2326422"/>
            <a:ext cx="3505200" cy="3970318"/>
          </a:xfrm>
          <a:prstGeom prst="rect">
            <a:avLst/>
          </a:prstGeom>
        </p:spPr>
        <p:txBody>
          <a:bodyPr wrap="square">
            <a:spAutoFit/>
          </a:bodyPr>
          <a:lstStyle/>
          <a:p>
            <a:pPr algn="ctr"/>
            <a:r>
              <a:rPr lang="en-US" sz="1400" b="1" dirty="0">
                <a:solidFill>
                  <a:srgbClr val="C00000"/>
                </a:solidFill>
                <a:latin typeface="fkGrotesk"/>
              </a:rPr>
              <a:t>8-Phase Ring Oscillator w/ Differential Cross-Coupling (Yan et al. TCAS-2 2001</a:t>
            </a:r>
            <a:r>
              <a:rPr lang="en-US" sz="1400" b="1" dirty="0" smtClean="0">
                <a:solidFill>
                  <a:srgbClr val="C00000"/>
                </a:solidFill>
                <a:latin typeface="fkGrotesk"/>
              </a:rPr>
              <a:t>)</a:t>
            </a:r>
          </a:p>
          <a:p>
            <a:pPr algn="ctr"/>
            <a:endParaRPr lang="en-US" sz="1400" b="1" dirty="0">
              <a:solidFill>
                <a:srgbClr val="C00000"/>
              </a:solidFill>
              <a:latin typeface="fkGrotesk"/>
            </a:endParaRPr>
          </a:p>
          <a:p>
            <a:pPr marL="285750" indent="-285750" algn="just">
              <a:buFont typeface="Wingdings" panose="05000000000000000000" pitchFamily="2" charset="2"/>
              <a:buChar char="q"/>
            </a:pPr>
            <a:r>
              <a:rPr lang="en-US" sz="1400" b="1" dirty="0" smtClean="0">
                <a:solidFill>
                  <a:srgbClr val="C00000"/>
                </a:solidFill>
                <a:latin typeface="fkGroteskNeue"/>
              </a:rPr>
              <a:t>Design: </a:t>
            </a:r>
            <a:r>
              <a:rPr lang="en-US" sz="1400" dirty="0" smtClean="0">
                <a:latin typeface="fkGroteskNeue"/>
              </a:rPr>
              <a:t>Eight </a:t>
            </a:r>
            <a:r>
              <a:rPr lang="en-US" sz="1400" dirty="0">
                <a:latin typeface="fkGroteskNeue"/>
              </a:rPr>
              <a:t>inverters arranged with differential signals and cross-coupling to boost output granularity and noise resilience.</a:t>
            </a:r>
          </a:p>
          <a:p>
            <a:pPr marL="285750" indent="-285750" algn="just">
              <a:buFont typeface="Wingdings" panose="05000000000000000000" pitchFamily="2" charset="2"/>
              <a:buChar char="q"/>
            </a:pPr>
            <a:r>
              <a:rPr lang="en-US" sz="1400" b="1" dirty="0" smtClean="0">
                <a:solidFill>
                  <a:srgbClr val="C00000"/>
                </a:solidFill>
                <a:latin typeface="fkGroteskNeue"/>
              </a:rPr>
              <a:t>Sizing: </a:t>
            </a:r>
            <a:r>
              <a:rPr lang="en-US" sz="1400" dirty="0" smtClean="0">
                <a:latin typeface="fkGroteskNeue"/>
              </a:rPr>
              <a:t>Careful </a:t>
            </a:r>
            <a:r>
              <a:rPr lang="en-US" sz="1400" dirty="0">
                <a:latin typeface="fkGroteskNeue"/>
              </a:rPr>
              <a:t>differential pair sizing, symmetric coupling for phase noise suppression, phase monotonicity, and optimal startup.</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 </a:t>
            </a:r>
            <a:r>
              <a:rPr lang="en-US" sz="1400" dirty="0" smtClean="0">
                <a:latin typeface="fkGroteskNeue"/>
              </a:rPr>
              <a:t>Complex</a:t>
            </a:r>
            <a:r>
              <a:rPr lang="en-US" sz="1400" dirty="0">
                <a:latin typeface="fkGroteskNeue"/>
              </a:rPr>
              <a:t>; differential coupling and matching are critical. Precision layout and verification required.</a:t>
            </a:r>
          </a:p>
          <a:p>
            <a:pPr marL="285750" indent="-285750" algn="just">
              <a:buFont typeface="Wingdings" panose="05000000000000000000" pitchFamily="2" charset="2"/>
              <a:buChar char="q"/>
            </a:pPr>
            <a:r>
              <a:rPr lang="en-US" sz="1400" b="1" dirty="0" smtClean="0">
                <a:solidFill>
                  <a:srgbClr val="C00000"/>
                </a:solidFill>
                <a:latin typeface="fkGroteskNeue"/>
              </a:rPr>
              <a:t>Constraint: </a:t>
            </a:r>
            <a:r>
              <a:rPr lang="en-US" sz="1400" dirty="0" smtClean="0">
                <a:latin typeface="fkGroteskNeue"/>
              </a:rPr>
              <a:t>Increased </a:t>
            </a:r>
            <a:r>
              <a:rPr lang="en-US" sz="1400" dirty="0">
                <a:latin typeface="fkGroteskNeue"/>
              </a:rPr>
              <a:t>sensitivity to mismatch and silicon </a:t>
            </a:r>
            <a:r>
              <a:rPr lang="en-US" sz="1400" dirty="0" err="1">
                <a:latin typeface="fkGroteskNeue"/>
              </a:rPr>
              <a:t>parasitics</a:t>
            </a:r>
            <a:r>
              <a:rPr lang="en-US" sz="1400" dirty="0">
                <a:latin typeface="fkGroteskNeue"/>
              </a:rPr>
              <a:t>.</a:t>
            </a:r>
            <a:endParaRPr lang="en-US" sz="1400" b="0" i="0" dirty="0">
              <a:effectLst/>
              <a:latin typeface="fkGroteskNeue"/>
            </a:endParaRPr>
          </a:p>
        </p:txBody>
      </p:sp>
      <p:sp>
        <p:nvSpPr>
          <p:cNvPr id="11" name="Rectangle 10"/>
          <p:cNvSpPr/>
          <p:nvPr/>
        </p:nvSpPr>
        <p:spPr>
          <a:xfrm>
            <a:off x="441960" y="1178560"/>
            <a:ext cx="3550920" cy="51460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2" name="Rectangle 11"/>
          <p:cNvSpPr/>
          <p:nvPr/>
        </p:nvSpPr>
        <p:spPr>
          <a:xfrm>
            <a:off x="4307840" y="924560"/>
            <a:ext cx="3550920" cy="53898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Rectangle 12"/>
          <p:cNvSpPr/>
          <p:nvPr/>
        </p:nvSpPr>
        <p:spPr>
          <a:xfrm>
            <a:off x="8102600" y="914400"/>
            <a:ext cx="3550920" cy="53898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705628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P spid="10" grpId="0"/>
      <p:bldP spid="11" grpId="0" animBg="1"/>
      <p:bldP spid="12"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DE1FA537-6519-4DBF-8FC0-E3903B453E87}"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23</a:t>
            </a:fld>
            <a:endParaRPr lang="en-BE"/>
          </a:p>
        </p:txBody>
      </p:sp>
      <p:pic>
        <p:nvPicPr>
          <p:cNvPr id="7" name="Picture 6">
            <a:extLst>
              <a:ext uri="{FF2B5EF4-FFF2-40B4-BE49-F238E27FC236}">
                <a16:creationId xmlns:a16="http://schemas.microsoft.com/office/drawing/2014/main" id="{62B775F7-BBB5-59B9-DB88-D72BE7817149}"/>
              </a:ext>
            </a:extLst>
          </p:cNvPr>
          <p:cNvPicPr>
            <a:picLocks noChangeAspect="1"/>
          </p:cNvPicPr>
          <p:nvPr/>
        </p:nvPicPr>
        <p:blipFill rotWithShape="1">
          <a:blip r:embed="rId3"/>
          <a:srcRect l="51269" r="21425" b="85229"/>
          <a:stretch/>
        </p:blipFill>
        <p:spPr>
          <a:xfrm>
            <a:off x="726439" y="1268313"/>
            <a:ext cx="2707641" cy="697648"/>
          </a:xfrm>
          <a:prstGeom prst="rect">
            <a:avLst/>
          </a:prstGeom>
        </p:spPr>
      </p:pic>
      <p:sp>
        <p:nvSpPr>
          <p:cNvPr id="8" name="Rectangle 7"/>
          <p:cNvSpPr/>
          <p:nvPr/>
        </p:nvSpPr>
        <p:spPr>
          <a:xfrm>
            <a:off x="416560" y="2361982"/>
            <a:ext cx="3576320" cy="3754874"/>
          </a:xfrm>
          <a:prstGeom prst="rect">
            <a:avLst/>
          </a:prstGeom>
        </p:spPr>
        <p:txBody>
          <a:bodyPr wrap="square">
            <a:spAutoFit/>
          </a:bodyPr>
          <a:lstStyle/>
          <a:p>
            <a:r>
              <a:rPr lang="en-US" sz="1400" b="1" dirty="0">
                <a:solidFill>
                  <a:srgbClr val="C00000"/>
                </a:solidFill>
                <a:latin typeface="fkGrotesk"/>
              </a:rPr>
              <a:t>Negative Delay Skewed 5-Stage Ring Oscillator (Lee et al. JSSC 1997</a:t>
            </a:r>
            <a:r>
              <a:rPr lang="en-US" sz="1400" b="1" dirty="0" smtClean="0">
                <a:solidFill>
                  <a:srgbClr val="C00000"/>
                </a:solidFill>
                <a:latin typeface="fkGrotesk"/>
              </a:rPr>
              <a:t>)</a:t>
            </a:r>
          </a:p>
          <a:p>
            <a:endParaRPr lang="en-US" sz="1400" b="1" dirty="0">
              <a:solidFill>
                <a:srgbClr val="C00000"/>
              </a:solidFill>
              <a:latin typeface="fkGrotesk"/>
            </a:endParaRPr>
          </a:p>
          <a:p>
            <a:pPr marL="171450" indent="-171450" algn="just">
              <a:buFont typeface="Wingdings" panose="05000000000000000000" pitchFamily="2" charset="2"/>
              <a:buChar char="q"/>
            </a:pPr>
            <a:r>
              <a:rPr lang="en-US" sz="1400" b="1" dirty="0" smtClean="0">
                <a:solidFill>
                  <a:srgbClr val="C00000"/>
                </a:solidFill>
                <a:latin typeface="fkGroteskNeue"/>
              </a:rPr>
              <a:t> Design:</a:t>
            </a:r>
            <a:r>
              <a:rPr lang="en-US" sz="1400" dirty="0" smtClean="0">
                <a:latin typeface="fkGroteskNeue"/>
              </a:rPr>
              <a:t> Classic </a:t>
            </a:r>
            <a:r>
              <a:rPr lang="en-US" sz="1400" dirty="0">
                <a:latin typeface="fkGroteskNeue"/>
              </a:rPr>
              <a:t>inverter ring with tailored inverter delay profiles—negative skew—increases frequency and improves phase spacing.</a:t>
            </a:r>
          </a:p>
          <a:p>
            <a:pPr marL="171450" indent="-171450" algn="just">
              <a:buFont typeface="Wingdings" panose="05000000000000000000" pitchFamily="2" charset="2"/>
              <a:buChar char="q"/>
            </a:pPr>
            <a:r>
              <a:rPr lang="en-US" sz="1400" b="1" dirty="0" smtClean="0">
                <a:solidFill>
                  <a:srgbClr val="C00000"/>
                </a:solidFill>
                <a:latin typeface="fkGroteskNeue"/>
              </a:rPr>
              <a:t> Sizing:</a:t>
            </a:r>
            <a:r>
              <a:rPr lang="en-US" sz="1400" dirty="0" smtClean="0">
                <a:latin typeface="fkGroteskNeue"/>
              </a:rPr>
              <a:t> Individual </a:t>
            </a:r>
            <a:r>
              <a:rPr lang="en-US" sz="1400" dirty="0">
                <a:latin typeface="fkGroteskNeue"/>
              </a:rPr>
              <a:t>inverter-sizing and loading needed to create negative delay regions; timing simulation essential.</a:t>
            </a:r>
          </a:p>
          <a:p>
            <a:pPr marL="171450" indent="-171450" algn="just">
              <a:buFont typeface="Wingdings" panose="05000000000000000000" pitchFamily="2" charset="2"/>
              <a:buChar char="q"/>
            </a:pPr>
            <a:r>
              <a:rPr lang="en-US" sz="1400" b="1" dirty="0" smtClean="0">
                <a:solidFill>
                  <a:srgbClr val="C00000"/>
                </a:solidFill>
                <a:latin typeface="fkGroteskNeue"/>
              </a:rPr>
              <a:t> Ease </a:t>
            </a:r>
            <a:r>
              <a:rPr lang="en-US" sz="1400" b="1" dirty="0">
                <a:solidFill>
                  <a:srgbClr val="C00000"/>
                </a:solidFill>
                <a:latin typeface="fkGroteskNeue"/>
              </a:rPr>
              <a:t>of </a:t>
            </a:r>
            <a:r>
              <a:rPr lang="en-US" sz="1400" b="1" dirty="0" smtClean="0">
                <a:solidFill>
                  <a:srgbClr val="C00000"/>
                </a:solidFill>
                <a:latin typeface="fkGroteskNeue"/>
              </a:rPr>
              <a:t>Design:</a:t>
            </a:r>
            <a:r>
              <a:rPr lang="en-US" sz="1400" dirty="0" smtClean="0">
                <a:latin typeface="fkGroteskNeue"/>
              </a:rPr>
              <a:t> More </a:t>
            </a:r>
            <a:r>
              <a:rPr lang="en-US" sz="1400" dirty="0">
                <a:latin typeface="fkGroteskNeue"/>
              </a:rPr>
              <a:t>difficult; skew management and non-monotonic delay require sophisticated simulation and layout.</a:t>
            </a:r>
          </a:p>
          <a:p>
            <a:pPr marL="171450" indent="-171450" algn="just">
              <a:buFont typeface="Wingdings" panose="05000000000000000000" pitchFamily="2" charset="2"/>
              <a:buChar char="q"/>
            </a:pPr>
            <a:r>
              <a:rPr lang="en-US" sz="1400" b="1" dirty="0" smtClean="0">
                <a:solidFill>
                  <a:srgbClr val="C00000"/>
                </a:solidFill>
                <a:latin typeface="fkGroteskNeue"/>
              </a:rPr>
              <a:t> Constraint:</a:t>
            </a:r>
            <a:r>
              <a:rPr lang="en-US" sz="1400" dirty="0" smtClean="0">
                <a:latin typeface="fkGroteskNeue"/>
              </a:rPr>
              <a:t> Harder </a:t>
            </a:r>
            <a:r>
              <a:rPr lang="en-US" sz="1400" dirty="0">
                <a:latin typeface="fkGroteskNeue"/>
              </a:rPr>
              <a:t>to calibrate; best for application-specific or research prototypes</a:t>
            </a:r>
            <a:endParaRPr lang="en-US" sz="1400" b="0" i="0" dirty="0">
              <a:effectLst/>
              <a:latin typeface="fkGroteskNeue"/>
            </a:endParaRPr>
          </a:p>
        </p:txBody>
      </p:sp>
      <p:sp>
        <p:nvSpPr>
          <p:cNvPr id="9" name="Rectangle 8"/>
          <p:cNvSpPr/>
          <p:nvPr/>
        </p:nvSpPr>
        <p:spPr>
          <a:xfrm>
            <a:off x="4378960" y="2372142"/>
            <a:ext cx="3576320" cy="3970318"/>
          </a:xfrm>
          <a:prstGeom prst="rect">
            <a:avLst/>
          </a:prstGeom>
        </p:spPr>
        <p:txBody>
          <a:bodyPr wrap="square">
            <a:spAutoFit/>
          </a:bodyPr>
          <a:lstStyle/>
          <a:p>
            <a:r>
              <a:rPr lang="en-US" sz="1400" b="1" dirty="0">
                <a:solidFill>
                  <a:srgbClr val="C00000"/>
                </a:solidFill>
                <a:latin typeface="fkGrotesk"/>
              </a:rPr>
              <a:t>Triple-Path 8-Phase Ring Oscillator w/ Cross-Coupling (Park et al. JSSC 1999</a:t>
            </a:r>
            <a:r>
              <a:rPr lang="en-US" sz="1400" b="1" dirty="0" smtClean="0">
                <a:solidFill>
                  <a:srgbClr val="C00000"/>
                </a:solidFill>
                <a:latin typeface="fkGrotesk"/>
              </a:rPr>
              <a:t>)</a:t>
            </a:r>
          </a:p>
          <a:p>
            <a:endParaRPr lang="en-US" sz="1400" b="1" dirty="0">
              <a:solidFill>
                <a:srgbClr val="C00000"/>
              </a:solidFill>
              <a:latin typeface="fkGrotesk"/>
            </a:endParaRPr>
          </a:p>
          <a:p>
            <a:pPr marL="285750" indent="-285750" algn="just">
              <a:buFont typeface="Wingdings" panose="05000000000000000000" pitchFamily="2" charset="2"/>
              <a:buChar char="q"/>
            </a:pPr>
            <a:r>
              <a:rPr lang="en-US" sz="1400" b="1" dirty="0" smtClean="0">
                <a:solidFill>
                  <a:srgbClr val="C00000"/>
                </a:solidFill>
                <a:latin typeface="fkGroteskNeue"/>
              </a:rPr>
              <a:t>Design: </a:t>
            </a:r>
            <a:r>
              <a:rPr lang="en-US" sz="1400" dirty="0" smtClean="0">
                <a:latin typeface="fkGroteskNeue"/>
              </a:rPr>
              <a:t>Integrates </a:t>
            </a:r>
            <a:r>
              <a:rPr lang="en-US" sz="1400" dirty="0">
                <a:latin typeface="fkGroteskNeue"/>
              </a:rPr>
              <a:t>three interleaved oscillator paths, cross-coupled to reduce net delay and enhance phase accuracy; supports differential operation.</a:t>
            </a:r>
          </a:p>
          <a:p>
            <a:pPr marL="285750" indent="-285750" algn="just">
              <a:buFont typeface="Wingdings" panose="05000000000000000000" pitchFamily="2" charset="2"/>
              <a:buChar char="q"/>
            </a:pPr>
            <a:r>
              <a:rPr lang="en-US" sz="1400" b="1" dirty="0" smtClean="0">
                <a:solidFill>
                  <a:srgbClr val="C00000"/>
                </a:solidFill>
                <a:latin typeface="fkGroteskNeue"/>
              </a:rPr>
              <a:t>Sizing: </a:t>
            </a:r>
            <a:r>
              <a:rPr lang="en-US" sz="1400" dirty="0" smtClean="0">
                <a:latin typeface="fkGroteskNeue"/>
              </a:rPr>
              <a:t>Coupling </a:t>
            </a:r>
            <a:r>
              <a:rPr lang="en-US" sz="1400" dirty="0">
                <a:latin typeface="fkGroteskNeue"/>
              </a:rPr>
              <a:t>path transistor sizing critical: sets phase response, startup reliability, and noise shaping characteristics.</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 </a:t>
            </a:r>
            <a:r>
              <a:rPr lang="en-US" sz="1400" dirty="0" smtClean="0">
                <a:latin typeface="fkGroteskNeue"/>
              </a:rPr>
              <a:t>Similar </a:t>
            </a:r>
            <a:r>
              <a:rPr lang="en-US" sz="1400" dirty="0">
                <a:latin typeface="fkGroteskNeue"/>
              </a:rPr>
              <a:t>to (c), requires careful cross-coupling, robust layout, and post-layout extraction validation.</a:t>
            </a:r>
          </a:p>
          <a:p>
            <a:pPr marL="285750" indent="-285750" algn="just">
              <a:buFont typeface="Wingdings" panose="05000000000000000000" pitchFamily="2" charset="2"/>
              <a:buChar char="q"/>
            </a:pPr>
            <a:r>
              <a:rPr lang="en-US" sz="1400" b="1" dirty="0" smtClean="0">
                <a:solidFill>
                  <a:srgbClr val="C00000"/>
                </a:solidFill>
                <a:latin typeface="fkGroteskNeue"/>
              </a:rPr>
              <a:t>Constraint:</a:t>
            </a:r>
            <a:r>
              <a:rPr lang="en-US" sz="1400" dirty="0" smtClean="0">
                <a:latin typeface="fkGroteskNeue"/>
              </a:rPr>
              <a:t> Highly </a:t>
            </a:r>
            <a:r>
              <a:rPr lang="en-US" sz="1400" dirty="0">
                <a:latin typeface="fkGroteskNeue"/>
              </a:rPr>
              <a:t>sensitive to process corners and layout-induced </a:t>
            </a:r>
            <a:r>
              <a:rPr lang="en-US" sz="1400" dirty="0" err="1">
                <a:latin typeface="fkGroteskNeue"/>
              </a:rPr>
              <a:t>parasitics</a:t>
            </a:r>
            <a:r>
              <a:rPr lang="en-US" sz="1400" dirty="0">
                <a:latin typeface="fkGroteskNeue"/>
              </a:rPr>
              <a:t>.</a:t>
            </a:r>
            <a:endParaRPr lang="en-US" sz="1400" b="0" i="0" dirty="0">
              <a:effectLst/>
              <a:latin typeface="fkGroteskNeue"/>
            </a:endParaRPr>
          </a:p>
        </p:txBody>
      </p:sp>
      <p:sp>
        <p:nvSpPr>
          <p:cNvPr id="10" name="Rectangle 9"/>
          <p:cNvSpPr/>
          <p:nvPr/>
        </p:nvSpPr>
        <p:spPr>
          <a:xfrm>
            <a:off x="8366760" y="2250222"/>
            <a:ext cx="3566160" cy="4185761"/>
          </a:xfrm>
          <a:prstGeom prst="rect">
            <a:avLst/>
          </a:prstGeom>
        </p:spPr>
        <p:txBody>
          <a:bodyPr wrap="square">
            <a:spAutoFit/>
          </a:bodyPr>
          <a:lstStyle/>
          <a:p>
            <a:r>
              <a:rPr lang="en-US" sz="1400" b="1" dirty="0">
                <a:solidFill>
                  <a:srgbClr val="C00000"/>
                </a:solidFill>
                <a:latin typeface="fkGrotesk"/>
              </a:rPr>
              <a:t>Generalized Arbitrary-Coupling MPRO (Hafez et al. TCAS-1 2011)</a:t>
            </a:r>
          </a:p>
          <a:p>
            <a:pPr marL="285750" indent="-285750" algn="just">
              <a:buFont typeface="Wingdings" panose="05000000000000000000" pitchFamily="2" charset="2"/>
              <a:buChar char="q"/>
            </a:pPr>
            <a:r>
              <a:rPr lang="en-US" sz="1400" b="1" dirty="0" smtClean="0">
                <a:solidFill>
                  <a:srgbClr val="C00000"/>
                </a:solidFill>
                <a:latin typeface="fkGroteskNeue"/>
              </a:rPr>
              <a:t>Design:</a:t>
            </a:r>
            <a:r>
              <a:rPr lang="en-US" sz="1400" dirty="0" smtClean="0">
                <a:latin typeface="fkGroteskNeue"/>
              </a:rPr>
              <a:t> Fully </a:t>
            </a:r>
            <a:r>
              <a:rPr lang="en-US" sz="1400" dirty="0">
                <a:latin typeface="fkGroteskNeue"/>
              </a:rPr>
              <a:t>reconfigurable multi-path topology allows arbitrary coupling and inverter arrangements—custom fit for application-specific delay and phase profiles.</a:t>
            </a:r>
          </a:p>
          <a:p>
            <a:pPr marL="285750" indent="-285750" algn="just">
              <a:buFont typeface="Wingdings" panose="05000000000000000000" pitchFamily="2" charset="2"/>
              <a:buChar char="q"/>
            </a:pPr>
            <a:r>
              <a:rPr lang="en-US" sz="1400" b="1" dirty="0" smtClean="0">
                <a:solidFill>
                  <a:srgbClr val="C00000"/>
                </a:solidFill>
                <a:latin typeface="fkGroteskNeue"/>
              </a:rPr>
              <a:t>Sizing:</a:t>
            </a:r>
            <a:r>
              <a:rPr lang="en-US" sz="1400" dirty="0" smtClean="0">
                <a:latin typeface="fkGroteskNeue"/>
              </a:rPr>
              <a:t> Designer </a:t>
            </a:r>
            <a:r>
              <a:rPr lang="en-US" sz="1400" dirty="0">
                <a:latin typeface="fkGroteskNeue"/>
              </a:rPr>
              <a:t>can assign all inverter, coupling, and feedback sizes for custom frequency, phase, and startup behavior.</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a:t>
            </a:r>
            <a:r>
              <a:rPr lang="en-US" sz="1400" dirty="0" smtClean="0">
                <a:latin typeface="fkGroteskNeue"/>
              </a:rPr>
              <a:t> Most </a:t>
            </a:r>
            <a:r>
              <a:rPr lang="en-US" sz="1400" dirty="0">
                <a:latin typeface="fkGroteskNeue"/>
              </a:rPr>
              <a:t>challenging; requires system-level optimization, EM/circuit co-simulation, and iterative silicon validation.</a:t>
            </a:r>
          </a:p>
          <a:p>
            <a:pPr marL="285750" indent="-285750" algn="just">
              <a:buFont typeface="Wingdings" panose="05000000000000000000" pitchFamily="2" charset="2"/>
              <a:buChar char="q"/>
            </a:pPr>
            <a:r>
              <a:rPr lang="en-US" sz="1400" b="1" dirty="0" smtClean="0">
                <a:solidFill>
                  <a:srgbClr val="C00000"/>
                </a:solidFill>
                <a:latin typeface="fkGroteskNeue"/>
              </a:rPr>
              <a:t>Constraint:</a:t>
            </a:r>
            <a:r>
              <a:rPr lang="en-US" sz="1400" dirty="0" smtClean="0">
                <a:latin typeface="fkGroteskNeue"/>
              </a:rPr>
              <a:t> Maximum </a:t>
            </a:r>
            <a:r>
              <a:rPr lang="en-US" sz="1400" dirty="0">
                <a:latin typeface="fkGroteskNeue"/>
              </a:rPr>
              <a:t>flexibility, minimum design simplicity; reserved for expert-level or innovation-driven deployments.</a:t>
            </a:r>
            <a:endParaRPr lang="en-US" sz="1400" b="0" i="0" dirty="0">
              <a:effectLst/>
              <a:latin typeface="fkGroteskNeue"/>
            </a:endParaRPr>
          </a:p>
        </p:txBody>
      </p:sp>
      <p:pic>
        <p:nvPicPr>
          <p:cNvPr id="11" name="Picture 10">
            <a:extLst>
              <a:ext uri="{FF2B5EF4-FFF2-40B4-BE49-F238E27FC236}">
                <a16:creationId xmlns:a16="http://schemas.microsoft.com/office/drawing/2014/main" id="{62B775F7-BBB5-59B9-DB88-D72BE7817149}"/>
              </a:ext>
            </a:extLst>
          </p:cNvPr>
          <p:cNvPicPr>
            <a:picLocks noChangeAspect="1"/>
          </p:cNvPicPr>
          <p:nvPr/>
        </p:nvPicPr>
        <p:blipFill rotWithShape="1">
          <a:blip r:embed="rId3"/>
          <a:srcRect l="51530" t="20602" r="22024" b="44965"/>
          <a:stretch/>
        </p:blipFill>
        <p:spPr>
          <a:xfrm>
            <a:off x="5019040" y="904240"/>
            <a:ext cx="2367280" cy="1468120"/>
          </a:xfrm>
          <a:prstGeom prst="rect">
            <a:avLst/>
          </a:prstGeom>
        </p:spPr>
      </p:pic>
      <p:pic>
        <p:nvPicPr>
          <p:cNvPr id="12" name="Picture 11"/>
          <p:cNvPicPr>
            <a:picLocks noChangeAspect="1"/>
          </p:cNvPicPr>
          <p:nvPr/>
        </p:nvPicPr>
        <p:blipFill rotWithShape="1">
          <a:blip r:embed="rId4"/>
          <a:srcRect l="53340" t="63947" r="18064" b="8039"/>
          <a:stretch/>
        </p:blipFill>
        <p:spPr>
          <a:xfrm>
            <a:off x="8915400" y="1051560"/>
            <a:ext cx="2479040" cy="1193800"/>
          </a:xfrm>
          <a:prstGeom prst="rect">
            <a:avLst/>
          </a:prstGeom>
        </p:spPr>
      </p:pic>
      <p:sp>
        <p:nvSpPr>
          <p:cNvPr id="13" name="Rectangle 12"/>
          <p:cNvSpPr/>
          <p:nvPr/>
        </p:nvSpPr>
        <p:spPr>
          <a:xfrm>
            <a:off x="472440" y="1198880"/>
            <a:ext cx="3550920" cy="50342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4" name="Rectangle 13"/>
          <p:cNvSpPr/>
          <p:nvPr/>
        </p:nvSpPr>
        <p:spPr>
          <a:xfrm>
            <a:off x="4378960" y="868680"/>
            <a:ext cx="3550920" cy="54051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5" name="Rectangle 14"/>
          <p:cNvSpPr/>
          <p:nvPr/>
        </p:nvSpPr>
        <p:spPr>
          <a:xfrm>
            <a:off x="8397240" y="1000760"/>
            <a:ext cx="3550920" cy="53543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6"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84792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3" grpId="0" animBg="1"/>
      <p:bldP spid="14"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0813BD5F-91C0-44BD-BDE6-7BC3E78F4F8A}"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24</a:t>
            </a:fld>
            <a:endParaRPr lang="en-BE"/>
          </a:p>
        </p:txBody>
      </p:sp>
      <p:sp>
        <p:nvSpPr>
          <p:cNvPr id="5" name="Rectangle 4"/>
          <p:cNvSpPr/>
          <p:nvPr/>
        </p:nvSpPr>
        <p:spPr>
          <a:xfrm>
            <a:off x="477520" y="1240364"/>
            <a:ext cx="11501120" cy="2862322"/>
          </a:xfrm>
          <a:prstGeom prst="rect">
            <a:avLst/>
          </a:prstGeom>
        </p:spPr>
        <p:txBody>
          <a:bodyPr wrap="square">
            <a:spAutoFit/>
          </a:bodyPr>
          <a:lstStyle/>
          <a:p>
            <a:pPr algn="ctr"/>
            <a:r>
              <a:rPr lang="en-US" b="1" u="sng" dirty="0">
                <a:solidFill>
                  <a:srgbClr val="C00000"/>
                </a:solidFill>
                <a:latin typeface="fkGrotesk"/>
              </a:rPr>
              <a:t>Sizing Constraints and Design </a:t>
            </a:r>
            <a:r>
              <a:rPr lang="en-US" b="1" u="sng" dirty="0" smtClean="0">
                <a:solidFill>
                  <a:srgbClr val="C00000"/>
                </a:solidFill>
                <a:latin typeface="fkGrotesk"/>
              </a:rPr>
              <a:t>Considerations</a:t>
            </a:r>
          </a:p>
          <a:p>
            <a:pPr algn="ctr"/>
            <a:endParaRPr lang="en-US" b="1" u="sng" dirty="0">
              <a:solidFill>
                <a:srgbClr val="C00000"/>
              </a:solidFill>
              <a:latin typeface="fkGrotesk"/>
            </a:endParaRPr>
          </a:p>
          <a:p>
            <a:pPr marL="285750" indent="-285750" algn="just">
              <a:buFont typeface="Wingdings" panose="05000000000000000000" pitchFamily="2" charset="2"/>
              <a:buChar char="q"/>
            </a:pPr>
            <a:r>
              <a:rPr lang="en-US" b="1" dirty="0">
                <a:solidFill>
                  <a:srgbClr val="C00000"/>
                </a:solidFill>
                <a:latin typeface="fkGroteskNeue"/>
              </a:rPr>
              <a:t>Startup </a:t>
            </a:r>
            <a:r>
              <a:rPr lang="en-US" b="1" dirty="0" smtClean="0">
                <a:solidFill>
                  <a:srgbClr val="C00000"/>
                </a:solidFill>
                <a:latin typeface="fkGroteskNeue"/>
              </a:rPr>
              <a:t>Reliability:</a:t>
            </a:r>
            <a:r>
              <a:rPr lang="en-US" dirty="0" smtClean="0">
                <a:latin typeface="fkGroteskNeue"/>
              </a:rPr>
              <a:t> Sufficient </a:t>
            </a:r>
            <a:r>
              <a:rPr lang="en-US" dirty="0">
                <a:latin typeface="fkGroteskNeue"/>
              </a:rPr>
              <a:t>feedback and initial signal must overcome process mismatch and loading; inverter sizes and coupling transistor strengths are crucial.</a:t>
            </a:r>
          </a:p>
          <a:p>
            <a:pPr marL="285750" indent="-285750" algn="just">
              <a:buFont typeface="Wingdings" panose="05000000000000000000" pitchFamily="2" charset="2"/>
              <a:buChar char="q"/>
            </a:pPr>
            <a:r>
              <a:rPr lang="en-US" b="1" dirty="0">
                <a:solidFill>
                  <a:srgbClr val="C00000"/>
                </a:solidFill>
                <a:latin typeface="fkGroteskNeue"/>
              </a:rPr>
              <a:t>Phase Noise and </a:t>
            </a:r>
            <a:r>
              <a:rPr lang="en-US" b="1" dirty="0" smtClean="0">
                <a:solidFill>
                  <a:srgbClr val="C00000"/>
                </a:solidFill>
                <a:latin typeface="fkGroteskNeue"/>
              </a:rPr>
              <a:t>Jitter:</a:t>
            </a:r>
            <a:r>
              <a:rPr lang="en-US" dirty="0" smtClean="0">
                <a:latin typeface="fkGroteskNeue"/>
              </a:rPr>
              <a:t> Sizing </a:t>
            </a:r>
            <a:r>
              <a:rPr lang="en-US" dirty="0">
                <a:latin typeface="fkGroteskNeue"/>
              </a:rPr>
              <a:t>influences phase noise (jitter), supply sensitivity, and temperature stability; optimal sizing finds trade-off between low power and signal purity.</a:t>
            </a:r>
          </a:p>
          <a:p>
            <a:pPr marL="285750" indent="-285750" algn="just">
              <a:buFont typeface="Wingdings" panose="05000000000000000000" pitchFamily="2" charset="2"/>
              <a:buChar char="q"/>
            </a:pPr>
            <a:r>
              <a:rPr lang="en-US" b="1" dirty="0">
                <a:solidFill>
                  <a:srgbClr val="C00000"/>
                </a:solidFill>
                <a:latin typeface="fkGroteskNeue"/>
              </a:rPr>
              <a:t>Layout </a:t>
            </a:r>
            <a:r>
              <a:rPr lang="en-US" b="1" dirty="0" err="1" smtClean="0">
                <a:solidFill>
                  <a:srgbClr val="C00000"/>
                </a:solidFill>
                <a:latin typeface="fkGroteskNeue"/>
              </a:rPr>
              <a:t>Parasitics</a:t>
            </a:r>
            <a:r>
              <a:rPr lang="en-US" b="1" dirty="0" smtClean="0">
                <a:solidFill>
                  <a:srgbClr val="C00000"/>
                </a:solidFill>
                <a:latin typeface="fkGroteskNeue"/>
              </a:rPr>
              <a:t>:</a:t>
            </a:r>
            <a:r>
              <a:rPr lang="en-US" dirty="0" smtClean="0">
                <a:latin typeface="fkGroteskNeue"/>
              </a:rPr>
              <a:t> Multi-path </a:t>
            </a:r>
            <a:r>
              <a:rPr lang="en-US" dirty="0">
                <a:latin typeface="fkGroteskNeue"/>
              </a:rPr>
              <a:t>and cross-coupled designs can magnify the effect of layout-induced </a:t>
            </a:r>
            <a:r>
              <a:rPr lang="en-US" dirty="0" err="1">
                <a:latin typeface="fkGroteskNeue"/>
              </a:rPr>
              <a:t>parasitics</a:t>
            </a:r>
            <a:r>
              <a:rPr lang="en-US" dirty="0">
                <a:latin typeface="fkGroteskNeue"/>
              </a:rPr>
              <a:t>; post-layout extraction is mandatory for mission-critical or low-jitter designs.</a:t>
            </a:r>
          </a:p>
          <a:p>
            <a:pPr marL="285750" indent="-285750" algn="just">
              <a:buFont typeface="Wingdings" panose="05000000000000000000" pitchFamily="2" charset="2"/>
              <a:buChar char="q"/>
            </a:pPr>
            <a:r>
              <a:rPr lang="en-US" b="1" dirty="0">
                <a:solidFill>
                  <a:srgbClr val="C00000"/>
                </a:solidFill>
                <a:latin typeface="fkGroteskNeue"/>
              </a:rPr>
              <a:t>Ease of Design vs. </a:t>
            </a:r>
            <a:r>
              <a:rPr lang="en-US" b="1" dirty="0" smtClean="0">
                <a:solidFill>
                  <a:srgbClr val="C00000"/>
                </a:solidFill>
                <a:latin typeface="fkGroteskNeue"/>
              </a:rPr>
              <a:t>Performance:</a:t>
            </a:r>
            <a:r>
              <a:rPr lang="en-US" dirty="0" smtClean="0">
                <a:latin typeface="fkGroteskNeue"/>
              </a:rPr>
              <a:t> Simpler </a:t>
            </a:r>
            <a:r>
              <a:rPr lang="en-US" dirty="0">
                <a:latin typeface="fkGroteskNeue"/>
              </a:rPr>
              <a:t>architectures (a, b) are ideal for rapid prototyping and digital-centric applications; advanced topologies (c–f) serve specialized, high-performance analog and RF nodes.</a:t>
            </a:r>
            <a:endParaRPr lang="en-US" b="0" i="0" dirty="0">
              <a:effectLst/>
              <a:latin typeface="fkGroteskNeue"/>
            </a:endParaRPr>
          </a:p>
        </p:txBody>
      </p:sp>
      <p:sp>
        <p:nvSpPr>
          <p:cNvPr id="6" name="Rectangle 5"/>
          <p:cNvSpPr/>
          <p:nvPr/>
        </p:nvSpPr>
        <p:spPr>
          <a:xfrm>
            <a:off x="614680" y="4403358"/>
            <a:ext cx="11430000" cy="1569660"/>
          </a:xfrm>
          <a:prstGeom prst="rect">
            <a:avLst/>
          </a:prstGeom>
        </p:spPr>
        <p:txBody>
          <a:bodyPr wrap="square">
            <a:spAutoFit/>
          </a:bodyPr>
          <a:lstStyle/>
          <a:p>
            <a:pPr algn="ctr"/>
            <a:r>
              <a:rPr lang="en-US" sz="1600" b="1" dirty="0" smtClean="0">
                <a:solidFill>
                  <a:srgbClr val="C00000"/>
                </a:solidFill>
                <a:latin typeface="fkGroteskNeue"/>
              </a:rPr>
              <a:t>Key Takeaway</a:t>
            </a:r>
          </a:p>
          <a:p>
            <a:pPr algn="ctr"/>
            <a:endParaRPr lang="en-US" sz="1600" b="1" dirty="0" smtClean="0">
              <a:solidFill>
                <a:srgbClr val="C00000"/>
              </a:solidFill>
              <a:latin typeface="fkGroteskNeue"/>
            </a:endParaRPr>
          </a:p>
          <a:p>
            <a:pPr marL="285750" indent="-285750">
              <a:buFont typeface="Wingdings" panose="05000000000000000000" pitchFamily="2" charset="2"/>
              <a:buChar char="q"/>
            </a:pPr>
            <a:r>
              <a:rPr lang="en-US" sz="1600" dirty="0" smtClean="0">
                <a:latin typeface="fkGroteskNeue"/>
              </a:rPr>
              <a:t>MPRO </a:t>
            </a:r>
            <a:r>
              <a:rPr lang="en-US" sz="1600" dirty="0">
                <a:latin typeface="fkGroteskNeue"/>
              </a:rPr>
              <a:t>topologies allow granular control over output phase count, noise </a:t>
            </a:r>
            <a:r>
              <a:rPr lang="en-US" sz="1600" dirty="0" smtClean="0">
                <a:latin typeface="fkGroteskNeue"/>
              </a:rPr>
              <a:t>shaping</a:t>
            </a:r>
            <a:r>
              <a:rPr lang="en-US" sz="1600" dirty="0">
                <a:latin typeface="fkGroteskNeue"/>
              </a:rPr>
              <a:t>, and delay.</a:t>
            </a:r>
          </a:p>
          <a:p>
            <a:pPr marL="285750" indent="-285750">
              <a:buFont typeface="Wingdings" panose="05000000000000000000" pitchFamily="2" charset="2"/>
              <a:buChar char="q"/>
            </a:pPr>
            <a:r>
              <a:rPr lang="en-US" sz="1600" dirty="0">
                <a:latin typeface="fkGroteskNeue"/>
              </a:rPr>
              <a:t>Coupling and multi-path configurations are main levers for jitter reduction and phase fidelity.</a:t>
            </a:r>
          </a:p>
          <a:p>
            <a:pPr marL="285750" indent="-285750">
              <a:buFont typeface="Wingdings" panose="05000000000000000000" pitchFamily="2" charset="2"/>
              <a:buChar char="q"/>
            </a:pPr>
            <a:r>
              <a:rPr lang="en-US" sz="1600" dirty="0">
                <a:latin typeface="fkGroteskNeue"/>
              </a:rPr>
              <a:t>Sizing directly sets oscillation frequency, output monotonicity, and ensure startup robustness.</a:t>
            </a:r>
          </a:p>
          <a:p>
            <a:pPr marL="285750" indent="-285750">
              <a:buFont typeface="Wingdings" panose="05000000000000000000" pitchFamily="2" charset="2"/>
              <a:buChar char="q"/>
            </a:pPr>
            <a:r>
              <a:rPr lang="en-US" sz="1600" dirty="0">
                <a:latin typeface="fkGroteskNeue"/>
              </a:rPr>
              <a:t>Tradeoff: Simpler rings for area/power; multi-path/coupled designs for phase purity and flexibility</a:t>
            </a:r>
            <a:endParaRPr lang="en-US" sz="1600" b="0" i="0" dirty="0">
              <a:effectLst/>
              <a:latin typeface="fkGroteskNeue"/>
            </a:endParaRPr>
          </a:p>
        </p:txBody>
      </p:sp>
      <p:sp>
        <p:nvSpPr>
          <p:cNvPr id="7" name="Rectangle 6"/>
          <p:cNvSpPr/>
          <p:nvPr/>
        </p:nvSpPr>
        <p:spPr>
          <a:xfrm>
            <a:off x="472440" y="1198880"/>
            <a:ext cx="11582400" cy="3124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11441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219785A6-C62D-4CAB-82E4-4652D4193DEE}"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25</a:t>
            </a:fld>
            <a:endParaRPr lang="en-BE"/>
          </a:p>
        </p:txBody>
      </p:sp>
      <p:sp>
        <p:nvSpPr>
          <p:cNvPr id="5" name="Rectangle: Rounded Corners 7">
            <a:extLst>
              <a:ext uri="{FF2B5EF4-FFF2-40B4-BE49-F238E27FC236}">
                <a16:creationId xmlns:a16="http://schemas.microsoft.com/office/drawing/2014/main" id="{11F84EF9-79B4-C59A-010A-AC0C2CB26615}"/>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6" name="Title 1"/>
          <p:cNvSpPr txBox="1">
            <a:spLocks/>
          </p:cNvSpPr>
          <p:nvPr/>
        </p:nvSpPr>
        <p:spPr>
          <a:xfrm>
            <a:off x="-18625" y="2364"/>
            <a:ext cx="7565320" cy="554587"/>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Transition Mechanisms of Single ended ROs</a:t>
            </a:r>
          </a:p>
        </p:txBody>
      </p:sp>
      <p:pic>
        <p:nvPicPr>
          <p:cNvPr id="28" name="Picture 27">
            <a:extLst>
              <a:ext uri="{FF2B5EF4-FFF2-40B4-BE49-F238E27FC236}">
                <a16:creationId xmlns:a16="http://schemas.microsoft.com/office/drawing/2014/main" id="{3A3BEC52-B3D4-0EDF-3388-6F52AAA2B0CF}"/>
              </a:ext>
            </a:extLst>
          </p:cNvPr>
          <p:cNvPicPr>
            <a:picLocks noChangeAspect="1"/>
          </p:cNvPicPr>
          <p:nvPr/>
        </p:nvPicPr>
        <p:blipFill>
          <a:blip r:embed="rId2"/>
          <a:stretch>
            <a:fillRect/>
          </a:stretch>
        </p:blipFill>
        <p:spPr>
          <a:xfrm>
            <a:off x="5365308" y="2188836"/>
            <a:ext cx="1889091" cy="1438576"/>
          </a:xfrm>
          <a:prstGeom prst="rect">
            <a:avLst/>
          </a:prstGeom>
        </p:spPr>
      </p:pic>
      <p:grpSp>
        <p:nvGrpSpPr>
          <p:cNvPr id="29" name="Group 28">
            <a:extLst>
              <a:ext uri="{FF2B5EF4-FFF2-40B4-BE49-F238E27FC236}">
                <a16:creationId xmlns:a16="http://schemas.microsoft.com/office/drawing/2014/main" id="{DA4B5C2E-4208-28E7-B26F-7C5BAE6B01B4}"/>
              </a:ext>
            </a:extLst>
          </p:cNvPr>
          <p:cNvGrpSpPr/>
          <p:nvPr/>
        </p:nvGrpSpPr>
        <p:grpSpPr>
          <a:xfrm>
            <a:off x="2098040" y="1522749"/>
            <a:ext cx="3238500" cy="3085256"/>
            <a:chOff x="0" y="908069"/>
            <a:chExt cx="3238500" cy="3085256"/>
          </a:xfrm>
        </p:grpSpPr>
        <p:pic>
          <p:nvPicPr>
            <p:cNvPr id="30" name="Picture 29">
              <a:extLst>
                <a:ext uri="{FF2B5EF4-FFF2-40B4-BE49-F238E27FC236}">
                  <a16:creationId xmlns:a16="http://schemas.microsoft.com/office/drawing/2014/main" id="{01406ECD-B849-4531-F293-9FF1AEBE8DE5}"/>
                </a:ext>
              </a:extLst>
            </p:cNvPr>
            <p:cNvPicPr>
              <a:picLocks noChangeAspect="1"/>
            </p:cNvPicPr>
            <p:nvPr/>
          </p:nvPicPr>
          <p:blipFill>
            <a:blip r:embed="rId3"/>
            <a:stretch>
              <a:fillRect/>
            </a:stretch>
          </p:blipFill>
          <p:spPr>
            <a:xfrm>
              <a:off x="0" y="908069"/>
              <a:ext cx="3238500" cy="2657475"/>
            </a:xfrm>
            <a:prstGeom prst="rect">
              <a:avLst/>
            </a:prstGeom>
          </p:spPr>
        </p:pic>
        <p:pic>
          <p:nvPicPr>
            <p:cNvPr id="31" name="Picture 30">
              <a:extLst>
                <a:ext uri="{FF2B5EF4-FFF2-40B4-BE49-F238E27FC236}">
                  <a16:creationId xmlns:a16="http://schemas.microsoft.com/office/drawing/2014/main" id="{4FD7DB67-1D76-149B-5933-07E355D5A73A}"/>
                </a:ext>
              </a:extLst>
            </p:cNvPr>
            <p:cNvPicPr>
              <a:picLocks noChangeAspect="1"/>
            </p:cNvPicPr>
            <p:nvPr/>
          </p:nvPicPr>
          <p:blipFill>
            <a:blip r:embed="rId4"/>
            <a:stretch>
              <a:fillRect/>
            </a:stretch>
          </p:blipFill>
          <p:spPr>
            <a:xfrm>
              <a:off x="1642580" y="3698050"/>
              <a:ext cx="295275" cy="295275"/>
            </a:xfrm>
            <a:prstGeom prst="rect">
              <a:avLst/>
            </a:prstGeom>
          </p:spPr>
        </p:pic>
      </p:grpSp>
      <p:grpSp>
        <p:nvGrpSpPr>
          <p:cNvPr id="32" name="Group 31">
            <a:extLst>
              <a:ext uri="{FF2B5EF4-FFF2-40B4-BE49-F238E27FC236}">
                <a16:creationId xmlns:a16="http://schemas.microsoft.com/office/drawing/2014/main" id="{EDC81019-0FBD-77A0-0718-ADA856F3ED5C}"/>
              </a:ext>
            </a:extLst>
          </p:cNvPr>
          <p:cNvGrpSpPr/>
          <p:nvPr/>
        </p:nvGrpSpPr>
        <p:grpSpPr>
          <a:xfrm>
            <a:off x="7340600" y="1389577"/>
            <a:ext cx="3042920" cy="3493396"/>
            <a:chOff x="5242560" y="795217"/>
            <a:chExt cx="3042920" cy="3493396"/>
          </a:xfrm>
        </p:grpSpPr>
        <p:pic>
          <p:nvPicPr>
            <p:cNvPr id="33" name="Picture 32">
              <a:extLst>
                <a:ext uri="{FF2B5EF4-FFF2-40B4-BE49-F238E27FC236}">
                  <a16:creationId xmlns:a16="http://schemas.microsoft.com/office/drawing/2014/main" id="{25F001F8-FC7B-E2BD-DCA0-8F064E7105DA}"/>
                </a:ext>
              </a:extLst>
            </p:cNvPr>
            <p:cNvPicPr>
              <a:picLocks noChangeAspect="1"/>
            </p:cNvPicPr>
            <p:nvPr/>
          </p:nvPicPr>
          <p:blipFill rotWithShape="1">
            <a:blip r:embed="rId5"/>
            <a:srcRect l="1303" r="1299"/>
            <a:stretch/>
          </p:blipFill>
          <p:spPr>
            <a:xfrm>
              <a:off x="5242560" y="795217"/>
              <a:ext cx="3042920" cy="3114675"/>
            </a:xfrm>
            <a:prstGeom prst="rect">
              <a:avLst/>
            </a:prstGeom>
          </p:spPr>
        </p:pic>
        <p:pic>
          <p:nvPicPr>
            <p:cNvPr id="34" name="Picture 33">
              <a:extLst>
                <a:ext uri="{FF2B5EF4-FFF2-40B4-BE49-F238E27FC236}">
                  <a16:creationId xmlns:a16="http://schemas.microsoft.com/office/drawing/2014/main" id="{22F6A374-9162-E319-4F6A-7E0DE3973163}"/>
                </a:ext>
              </a:extLst>
            </p:cNvPr>
            <p:cNvPicPr>
              <a:picLocks noChangeAspect="1"/>
            </p:cNvPicPr>
            <p:nvPr/>
          </p:nvPicPr>
          <p:blipFill rotWithShape="1">
            <a:blip r:embed="rId6"/>
            <a:srcRect r="10458"/>
            <a:stretch/>
          </p:blipFill>
          <p:spPr>
            <a:xfrm>
              <a:off x="6802072" y="3983813"/>
              <a:ext cx="238808" cy="304800"/>
            </a:xfrm>
            <a:prstGeom prst="rect">
              <a:avLst/>
            </a:prstGeom>
          </p:spPr>
        </p:pic>
      </p:grpSp>
      <p:sp>
        <p:nvSpPr>
          <p:cNvPr id="27" name="Rectangle 26"/>
          <p:cNvSpPr/>
          <p:nvPr/>
        </p:nvSpPr>
        <p:spPr>
          <a:xfrm>
            <a:off x="640080" y="5128736"/>
            <a:ext cx="11450320" cy="923330"/>
          </a:xfrm>
          <a:prstGeom prst="rect">
            <a:avLst/>
          </a:prstGeom>
        </p:spPr>
        <p:txBody>
          <a:bodyPr wrap="square">
            <a:spAutoFit/>
          </a:bodyPr>
          <a:lstStyle/>
          <a:p>
            <a:r>
              <a:rPr lang="en-US" dirty="0" smtClean="0">
                <a:latin typeface="fkGroteskNeue"/>
              </a:rPr>
              <a:t>The </a:t>
            </a:r>
            <a:r>
              <a:rPr lang="en-US" dirty="0">
                <a:latin typeface="fkGroteskNeue"/>
              </a:rPr>
              <a:t>core principles by which single-ended ring oscillators (ROs) generate clock and phase signals, emphasizing the interaction between stage count, inverter transition dynamics, and frequency scaling—a vital understanding for precision clocking in mixed-signal circuits.</a:t>
            </a:r>
            <a:endParaRPr lang="en-US" dirty="0"/>
          </a:p>
        </p:txBody>
      </p:sp>
      <p:sp>
        <p:nvSpPr>
          <p:cNvPr id="50" name="Rectangle 49"/>
          <p:cNvSpPr/>
          <p:nvPr/>
        </p:nvSpPr>
        <p:spPr>
          <a:xfrm>
            <a:off x="508000" y="5034280"/>
            <a:ext cx="11582400" cy="12344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6"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08801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3322D393-C192-456A-BDA8-F81E562B746E}"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26</a:t>
            </a:fld>
            <a:endParaRPr lang="en-BE"/>
          </a:p>
        </p:txBody>
      </p:sp>
      <p:sp>
        <p:nvSpPr>
          <p:cNvPr id="5" name="Rectangle 4"/>
          <p:cNvSpPr/>
          <p:nvPr/>
        </p:nvSpPr>
        <p:spPr>
          <a:xfrm>
            <a:off x="822960" y="1426984"/>
            <a:ext cx="10866120" cy="3970318"/>
          </a:xfrm>
          <a:prstGeom prst="rect">
            <a:avLst/>
          </a:prstGeom>
        </p:spPr>
        <p:txBody>
          <a:bodyPr wrap="square">
            <a:spAutoFit/>
          </a:bodyPr>
          <a:lstStyle/>
          <a:p>
            <a:pPr algn="ctr"/>
            <a:r>
              <a:rPr lang="en-US" b="1" dirty="0">
                <a:solidFill>
                  <a:srgbClr val="C00000"/>
                </a:solidFill>
                <a:latin typeface="fkGrotesk"/>
              </a:rPr>
              <a:t>(a) Stage Cascading and Delay Accumulation</a:t>
            </a:r>
          </a:p>
          <a:p>
            <a:pPr marL="285750" indent="-285750" algn="just">
              <a:buFont typeface="Wingdings" panose="05000000000000000000" pitchFamily="2" charset="2"/>
              <a:buChar char="q"/>
            </a:pPr>
            <a:r>
              <a:rPr lang="en-US" dirty="0">
                <a:latin typeface="fkGroteskNeue"/>
              </a:rPr>
              <a:t>Each inverter stage introduces a propagation delay </a:t>
            </a:r>
            <a:r>
              <a:rPr lang="en-US" dirty="0" smtClean="0">
                <a:latin typeface="fkGroteskNeue"/>
              </a:rPr>
              <a:t>(</a:t>
            </a:r>
            <a:r>
              <a:rPr lang="en-US" i="1" dirty="0" err="1" smtClean="0">
                <a:latin typeface="KaTeX_Math"/>
              </a:rPr>
              <a:t>tpr</a:t>
            </a:r>
            <a:r>
              <a:rPr lang="en-US" dirty="0">
                <a:latin typeface="fkGroteskNeue"/>
              </a:rPr>
              <a:t>), with the signal transitioning sequentially through the chain.</a:t>
            </a:r>
          </a:p>
          <a:p>
            <a:pPr marL="285750" indent="-285750" algn="just">
              <a:buFont typeface="Wingdings" panose="05000000000000000000" pitchFamily="2" charset="2"/>
              <a:buChar char="q"/>
            </a:pPr>
            <a:r>
              <a:rPr lang="en-US" dirty="0">
                <a:latin typeface="fkGroteskNeue"/>
              </a:rPr>
              <a:t>The oscillation period is set by the total accumulated delay across all stages:</a:t>
            </a:r>
          </a:p>
          <a:p>
            <a:pPr marL="742950" lvl="1" indent="-285750" algn="just">
              <a:buFont typeface="Wingdings" panose="05000000000000000000" pitchFamily="2" charset="2"/>
              <a:buChar char="q"/>
            </a:pPr>
            <a:r>
              <a:rPr lang="en-US" dirty="0">
                <a:latin typeface="fkGroteskNeue"/>
              </a:rPr>
              <a:t>For an N-stage ring, total delay = </a:t>
            </a:r>
            <a:r>
              <a:rPr lang="en-US" i="1" dirty="0" err="1" smtClean="0">
                <a:latin typeface="KaTeX_Math"/>
              </a:rPr>
              <a:t>N</a:t>
            </a:r>
            <a:r>
              <a:rPr lang="en-US" dirty="0" err="1" smtClean="0">
                <a:latin typeface="KaTeX_Main"/>
              </a:rPr>
              <a:t>×</a:t>
            </a:r>
            <a:r>
              <a:rPr lang="en-US" i="1" dirty="0" err="1" smtClean="0">
                <a:latin typeface="KaTeX_Math"/>
              </a:rPr>
              <a:t>t</a:t>
            </a:r>
            <a:r>
              <a:rPr lang="en-US" i="1" baseline="-25000" dirty="0" err="1" smtClean="0">
                <a:latin typeface="KaTeX_Math"/>
              </a:rPr>
              <a:t>inv</a:t>
            </a:r>
            <a:endParaRPr lang="en-US" baseline="-25000" dirty="0">
              <a:latin typeface="fkGroteskNeue"/>
            </a:endParaRPr>
          </a:p>
          <a:p>
            <a:pPr marL="285750" indent="-285750" algn="just">
              <a:buFont typeface="Wingdings" panose="05000000000000000000" pitchFamily="2" charset="2"/>
              <a:buChar char="q"/>
            </a:pPr>
            <a:r>
              <a:rPr lang="en-US" dirty="0">
                <a:latin typeface="fkGroteskNeue"/>
              </a:rPr>
              <a:t>Increasing the number of stages grows the number of output phases but also stretches the period, thus lowering the oscillation frequency</a:t>
            </a:r>
            <a:r>
              <a:rPr lang="en-US" dirty="0" smtClean="0">
                <a:latin typeface="fkGroteskNeue"/>
              </a:rPr>
              <a:t>.</a:t>
            </a:r>
          </a:p>
          <a:p>
            <a:pPr algn="just">
              <a:buFont typeface="Arial" panose="020B0604020202020204" pitchFamily="34" charset="0"/>
              <a:buChar char="•"/>
            </a:pPr>
            <a:endParaRPr lang="en-US" dirty="0">
              <a:latin typeface="fkGroteskNeue"/>
            </a:endParaRPr>
          </a:p>
          <a:p>
            <a:pPr algn="just"/>
            <a:r>
              <a:rPr lang="en-US" b="1" dirty="0">
                <a:solidFill>
                  <a:srgbClr val="C00000"/>
                </a:solidFill>
                <a:latin typeface="fkGrotesk"/>
              </a:rPr>
              <a:t>(b) Inverter Transition and Current Dynamics</a:t>
            </a:r>
          </a:p>
          <a:p>
            <a:pPr marL="285750" indent="-285750" algn="just">
              <a:buFont typeface="Wingdings" panose="05000000000000000000" pitchFamily="2" charset="2"/>
              <a:buChar char="q"/>
            </a:pPr>
            <a:r>
              <a:rPr lang="en-US" dirty="0">
                <a:latin typeface="fkGroteskNeue"/>
              </a:rPr>
              <a:t>Shows cross-section of an inverter during a bit transition and the associated current pulse </a:t>
            </a:r>
            <a:r>
              <a:rPr lang="en-US" dirty="0" smtClean="0">
                <a:latin typeface="fkGroteskNeue"/>
              </a:rPr>
              <a:t>(</a:t>
            </a:r>
            <a:r>
              <a:rPr lang="en-US" i="1" dirty="0" smtClean="0">
                <a:latin typeface="KaTeX_Math"/>
              </a:rPr>
              <a:t>In</a:t>
            </a:r>
            <a:r>
              <a:rPr lang="en-US" dirty="0" smtClean="0">
                <a:latin typeface="KaTeX_Main"/>
              </a:rPr>
              <a:t>(</a:t>
            </a:r>
            <a:r>
              <a:rPr lang="en-US" i="1" dirty="0" smtClean="0">
                <a:latin typeface="KaTeX_Math"/>
              </a:rPr>
              <a:t>t</a:t>
            </a:r>
            <a:r>
              <a:rPr lang="en-US" dirty="0">
                <a:latin typeface="KaTeX_Main"/>
              </a:rPr>
              <a:t>)</a:t>
            </a:r>
            <a:r>
              <a:rPr lang="en-US" dirty="0">
                <a:latin typeface="fkGroteskNeue"/>
              </a:rPr>
              <a:t>).</a:t>
            </a:r>
          </a:p>
          <a:p>
            <a:pPr marL="285750" indent="-285750" algn="just">
              <a:buFont typeface="Wingdings" panose="05000000000000000000" pitchFamily="2" charset="2"/>
              <a:buChar char="q"/>
            </a:pPr>
            <a:r>
              <a:rPr lang="en-US" dirty="0">
                <a:latin typeface="fkGroteskNeue"/>
              </a:rPr>
              <a:t>Transition timing and the current's peak and average value are influenced by device sizing </a:t>
            </a:r>
            <a:r>
              <a:rPr lang="en-US" dirty="0" smtClean="0">
                <a:latin typeface="fkGroteskNeue"/>
              </a:rPr>
              <a:t>(</a:t>
            </a:r>
            <a:r>
              <a:rPr lang="en-US" i="1" dirty="0" smtClean="0">
                <a:latin typeface="KaTeX_Math"/>
              </a:rPr>
              <a:t>W</a:t>
            </a:r>
            <a:r>
              <a:rPr lang="en-US" dirty="0" smtClean="0">
                <a:latin typeface="KaTeX_Main"/>
              </a:rPr>
              <a:t>/</a:t>
            </a:r>
            <a:r>
              <a:rPr lang="en-US" i="1" dirty="0" smtClean="0">
                <a:latin typeface="KaTeX_Math"/>
              </a:rPr>
              <a:t>L</a:t>
            </a:r>
            <a:r>
              <a:rPr lang="en-US" dirty="0">
                <a:latin typeface="fkGroteskNeue"/>
              </a:rPr>
              <a:t>), capacitance loading, and mobility.</a:t>
            </a:r>
          </a:p>
          <a:p>
            <a:pPr marL="285750" indent="-285750" algn="just">
              <a:buFont typeface="Wingdings" panose="05000000000000000000" pitchFamily="2" charset="2"/>
              <a:buChar char="q"/>
            </a:pPr>
            <a:r>
              <a:rPr lang="en-US" dirty="0">
                <a:latin typeface="fkGroteskNeue"/>
              </a:rPr>
              <a:t>The propagation delay is controlled by both the input ramp and output charging/discharging, with typical regions spanning cutoff, saturation, and triode regimes.</a:t>
            </a:r>
            <a:endParaRPr lang="en-US" b="0" i="0" dirty="0">
              <a:effectLst/>
              <a:latin typeface="fkGroteskNeue"/>
            </a:endParaRPr>
          </a:p>
        </p:txBody>
      </p:sp>
      <p:pic>
        <p:nvPicPr>
          <p:cNvPr id="6" name="Picture 5">
            <a:extLst>
              <a:ext uri="{FF2B5EF4-FFF2-40B4-BE49-F238E27FC236}">
                <a16:creationId xmlns:a16="http://schemas.microsoft.com/office/drawing/2014/main" id="{6A526FF6-B4B4-BE78-7459-D54AD8BF6946}"/>
              </a:ext>
            </a:extLst>
          </p:cNvPr>
          <p:cNvPicPr>
            <a:picLocks noChangeAspect="1"/>
          </p:cNvPicPr>
          <p:nvPr/>
        </p:nvPicPr>
        <p:blipFill rotWithShape="1">
          <a:blip r:embed="rId2"/>
          <a:srcRect l="4166" t="8908" r="3565" b="10070"/>
          <a:stretch/>
        </p:blipFill>
        <p:spPr>
          <a:xfrm>
            <a:off x="4820920" y="5436616"/>
            <a:ext cx="2487168" cy="725424"/>
          </a:xfrm>
          <a:prstGeom prst="rect">
            <a:avLst/>
          </a:prstGeom>
        </p:spPr>
      </p:pic>
      <p:sp>
        <p:nvSpPr>
          <p:cNvPr id="7" name="Rectangle 6"/>
          <p:cNvSpPr/>
          <p:nvPr/>
        </p:nvSpPr>
        <p:spPr>
          <a:xfrm>
            <a:off x="472440" y="1427480"/>
            <a:ext cx="11297920" cy="20015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Rectangle 7"/>
          <p:cNvSpPr/>
          <p:nvPr/>
        </p:nvSpPr>
        <p:spPr>
          <a:xfrm>
            <a:off x="502920" y="3637280"/>
            <a:ext cx="11297920" cy="25755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8525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AD5C04DB-AAC3-4252-8546-D168E36A4D6B}" type="datetime1">
              <a:rPr lang="en-US" smtClean="0"/>
              <a:t>9/1/2026</a:t>
            </a:fld>
            <a:endParaRPr lang="en-BE"/>
          </a:p>
        </p:txBody>
      </p:sp>
      <p:sp>
        <p:nvSpPr>
          <p:cNvPr id="3" name="Footer Placeholder 2"/>
          <p:cNvSpPr>
            <a:spLocks noGrp="1"/>
          </p:cNvSpPr>
          <p:nvPr>
            <p:ph type="ftr" sz="quarter" idx="4294967295"/>
          </p:nvPr>
        </p:nvSpPr>
        <p:spPr/>
        <p:txBody>
          <a:bodyPr/>
          <a:lstStyle/>
          <a:p>
            <a:r>
              <a:rPr lang="en-US" smtClean="0"/>
              <a:t>Neeraj Mishra AAMD BITS Pilani </a:t>
            </a:r>
            <a:endParaRPr lang="en-BE" dirty="0"/>
          </a:p>
        </p:txBody>
      </p:sp>
      <p:sp>
        <p:nvSpPr>
          <p:cNvPr id="4" name="Slide Number Placeholder 3"/>
          <p:cNvSpPr>
            <a:spLocks noGrp="1"/>
          </p:cNvSpPr>
          <p:nvPr>
            <p:ph type="sldNum" sz="quarter" idx="4294967295"/>
          </p:nvPr>
        </p:nvSpPr>
        <p:spPr/>
        <p:txBody>
          <a:bodyPr/>
          <a:lstStyle/>
          <a:p>
            <a:fld id="{60331F8A-FA1D-427D-B40D-66DA77956C52}" type="slidenum">
              <a:rPr lang="en-BE" smtClean="0"/>
              <a:t>27</a:t>
            </a:fld>
            <a:endParaRPr lang="en-BE"/>
          </a:p>
        </p:txBody>
      </p:sp>
      <p:sp>
        <p:nvSpPr>
          <p:cNvPr id="5" name="Rectangle 4"/>
          <p:cNvSpPr/>
          <p:nvPr/>
        </p:nvSpPr>
        <p:spPr>
          <a:xfrm>
            <a:off x="431800" y="1088241"/>
            <a:ext cx="5430520" cy="5078313"/>
          </a:xfrm>
          <a:prstGeom prst="rect">
            <a:avLst/>
          </a:prstGeom>
        </p:spPr>
        <p:txBody>
          <a:bodyPr wrap="square">
            <a:spAutoFit/>
          </a:bodyPr>
          <a:lstStyle/>
          <a:p>
            <a:pPr algn="ctr"/>
            <a:r>
              <a:rPr lang="en-US" b="1" dirty="0" smtClean="0">
                <a:solidFill>
                  <a:srgbClr val="C00000"/>
                </a:solidFill>
                <a:latin typeface="fkGrotesk"/>
              </a:rPr>
              <a:t>Transition </a:t>
            </a:r>
            <a:r>
              <a:rPr lang="en-US" b="1" dirty="0">
                <a:solidFill>
                  <a:srgbClr val="C00000"/>
                </a:solidFill>
                <a:latin typeface="fkGrotesk"/>
              </a:rPr>
              <a:t>and Phase Generation </a:t>
            </a:r>
            <a:r>
              <a:rPr lang="en-US" b="1" dirty="0" smtClean="0">
                <a:solidFill>
                  <a:srgbClr val="C00000"/>
                </a:solidFill>
                <a:latin typeface="fkGrotesk"/>
              </a:rPr>
              <a:t>Insights</a:t>
            </a:r>
          </a:p>
          <a:p>
            <a:pPr algn="ctr"/>
            <a:endParaRPr lang="en-US" dirty="0">
              <a:solidFill>
                <a:srgbClr val="C00000"/>
              </a:solidFill>
              <a:latin typeface="fkGrotesk"/>
            </a:endParaRPr>
          </a:p>
          <a:p>
            <a:pPr marL="285750" indent="-285750" algn="ctr">
              <a:buFont typeface="Wingdings" panose="05000000000000000000" pitchFamily="2" charset="2"/>
              <a:buChar char="q"/>
            </a:pPr>
            <a:r>
              <a:rPr lang="en-US" b="1" dirty="0">
                <a:solidFill>
                  <a:srgbClr val="C00000"/>
                </a:solidFill>
                <a:latin typeface="fkGroteskNeue"/>
              </a:rPr>
              <a:t>Increasing Stages—Advantage:</a:t>
            </a:r>
          </a:p>
          <a:p>
            <a:pPr marL="742950" lvl="1" indent="-285750">
              <a:buFont typeface="Wingdings" panose="05000000000000000000" pitchFamily="2" charset="2"/>
              <a:buChar char="q"/>
            </a:pPr>
            <a:r>
              <a:rPr lang="en-US" dirty="0">
                <a:latin typeface="fkGroteskNeue"/>
              </a:rPr>
              <a:t>Yields more evenly spaced phases, useful for multiphase clocking and waveform synthesis.</a:t>
            </a:r>
          </a:p>
          <a:p>
            <a:pPr marL="742950" lvl="1" indent="-285750">
              <a:buFont typeface="Wingdings" panose="05000000000000000000" pitchFamily="2" charset="2"/>
              <a:buChar char="q"/>
            </a:pPr>
            <a:r>
              <a:rPr lang="en-US" dirty="0">
                <a:latin typeface="fkGroteskNeue"/>
              </a:rPr>
              <a:t>Applied for odd number of stages: Ensures oscillation (loop gain &gt;1) and stable phase formation</a:t>
            </a:r>
            <a:r>
              <a:rPr lang="en-US" dirty="0" smtClean="0">
                <a:latin typeface="fkGroteskNeue"/>
              </a:rPr>
              <a:t>.</a:t>
            </a:r>
          </a:p>
          <a:p>
            <a:pPr marL="742950" lvl="1" indent="-285750">
              <a:buFont typeface="Wingdings" panose="05000000000000000000" pitchFamily="2" charset="2"/>
              <a:buChar char="q"/>
            </a:pPr>
            <a:endParaRPr lang="en-US" dirty="0">
              <a:latin typeface="fkGroteskNeue"/>
            </a:endParaRPr>
          </a:p>
          <a:p>
            <a:pPr marL="285750" indent="-285750" algn="ctr">
              <a:buFont typeface="Wingdings" panose="05000000000000000000" pitchFamily="2" charset="2"/>
              <a:buChar char="q"/>
            </a:pPr>
            <a:r>
              <a:rPr lang="en-US" b="1" dirty="0">
                <a:solidFill>
                  <a:srgbClr val="C00000"/>
                </a:solidFill>
                <a:latin typeface="fkGroteskNeue"/>
              </a:rPr>
              <a:t>Increasing Stages—Drawback</a:t>
            </a:r>
            <a:r>
              <a:rPr lang="en-US" b="1" dirty="0" smtClean="0">
                <a:solidFill>
                  <a:srgbClr val="C00000"/>
                </a:solidFill>
                <a:latin typeface="fkGroteskNeue"/>
              </a:rPr>
              <a:t>:</a:t>
            </a:r>
            <a:endParaRPr lang="en-US" b="1" dirty="0">
              <a:solidFill>
                <a:srgbClr val="C00000"/>
              </a:solidFill>
              <a:latin typeface="fkGroteskNeue"/>
            </a:endParaRPr>
          </a:p>
          <a:p>
            <a:pPr marL="742950" lvl="1" indent="-285750">
              <a:buFont typeface="Wingdings" panose="05000000000000000000" pitchFamily="2" charset="2"/>
              <a:buChar char="q"/>
            </a:pPr>
            <a:r>
              <a:rPr lang="en-US" dirty="0">
                <a:latin typeface="fkGroteskNeue"/>
              </a:rPr>
              <a:t>Cumulative delay grows, resulting in lower oscillation frequency</a:t>
            </a:r>
            <a:r>
              <a:rPr lang="en-US" dirty="0" smtClean="0">
                <a:latin typeface="fkGroteskNeue"/>
              </a:rPr>
              <a:t>.</a:t>
            </a:r>
          </a:p>
          <a:p>
            <a:pPr marL="742950" lvl="1" indent="-285750">
              <a:buFont typeface="Wingdings" panose="05000000000000000000" pitchFamily="2" charset="2"/>
              <a:buChar char="q"/>
            </a:pPr>
            <a:endParaRPr lang="en-US" dirty="0">
              <a:latin typeface="fkGroteskNeue"/>
            </a:endParaRPr>
          </a:p>
          <a:p>
            <a:pPr marL="285750" indent="-285750">
              <a:buFont typeface="Wingdings" panose="05000000000000000000" pitchFamily="2" charset="2"/>
              <a:buChar char="q"/>
            </a:pPr>
            <a:r>
              <a:rPr lang="en-US" b="1" dirty="0">
                <a:solidFill>
                  <a:srgbClr val="C00000"/>
                </a:solidFill>
                <a:latin typeface="fkGroteskNeue"/>
              </a:rPr>
              <a:t>Multi-Phase Generation for Even Stages</a:t>
            </a:r>
            <a:r>
              <a:rPr lang="en-US" b="1" dirty="0" smtClean="0">
                <a:solidFill>
                  <a:srgbClr val="C00000"/>
                </a:solidFill>
                <a:latin typeface="fkGroteskNeue"/>
              </a:rPr>
              <a:t>:</a:t>
            </a:r>
            <a:endParaRPr lang="en-US" b="1" dirty="0">
              <a:solidFill>
                <a:srgbClr val="C00000"/>
              </a:solidFill>
              <a:latin typeface="fkGroteskNeue"/>
            </a:endParaRPr>
          </a:p>
          <a:p>
            <a:pPr marL="742950" lvl="1" indent="-285750">
              <a:buFont typeface="Wingdings" panose="05000000000000000000" pitchFamily="2" charset="2"/>
              <a:buChar char="q"/>
            </a:pPr>
            <a:r>
              <a:rPr lang="en-US" dirty="0">
                <a:latin typeface="fkGroteskNeue"/>
              </a:rPr>
              <a:t>Requires special connection schemes (cross-coupling, feedback networks) for robust phase/frequency targets.</a:t>
            </a:r>
            <a:endParaRPr lang="en-US" b="0" i="0" dirty="0">
              <a:effectLst/>
              <a:latin typeface="fkGroteskNeue"/>
            </a:endParaRPr>
          </a:p>
        </p:txBody>
      </p:sp>
      <p:sp>
        <p:nvSpPr>
          <p:cNvPr id="6" name="Rectangle 5"/>
          <p:cNvSpPr/>
          <p:nvPr/>
        </p:nvSpPr>
        <p:spPr>
          <a:xfrm>
            <a:off x="6497320" y="1251863"/>
            <a:ext cx="5317910" cy="4801314"/>
          </a:xfrm>
          <a:prstGeom prst="rect">
            <a:avLst/>
          </a:prstGeom>
        </p:spPr>
        <p:txBody>
          <a:bodyPr wrap="square">
            <a:spAutoFit/>
          </a:bodyPr>
          <a:lstStyle/>
          <a:p>
            <a:pPr algn="ctr"/>
            <a:r>
              <a:rPr lang="en-US" b="1" dirty="0">
                <a:solidFill>
                  <a:srgbClr val="C00000"/>
                </a:solidFill>
                <a:latin typeface="fkGrotesk"/>
              </a:rPr>
              <a:t>Sizing and Design Considerations</a:t>
            </a:r>
          </a:p>
          <a:p>
            <a:pPr marL="285750" indent="-285750" algn="ctr">
              <a:buFont typeface="Wingdings" panose="05000000000000000000" pitchFamily="2" charset="2"/>
              <a:buChar char="q"/>
            </a:pPr>
            <a:r>
              <a:rPr lang="en-US" b="1" dirty="0">
                <a:solidFill>
                  <a:srgbClr val="C00000"/>
                </a:solidFill>
                <a:latin typeface="fkGroteskNeue"/>
              </a:rPr>
              <a:t>Inverter Size:</a:t>
            </a:r>
          </a:p>
          <a:p>
            <a:pPr marL="742950" lvl="1" indent="-285750">
              <a:buFont typeface="Wingdings" panose="05000000000000000000" pitchFamily="2" charset="2"/>
              <a:buChar char="q"/>
            </a:pPr>
            <a:r>
              <a:rPr lang="en-US" dirty="0">
                <a:latin typeface="fkGroteskNeue"/>
              </a:rPr>
              <a:t>Sets drive strength, transition speed, and power consumption. Tradeoff: Larger size → faster transition, higher power/jitter.</a:t>
            </a:r>
          </a:p>
          <a:p>
            <a:pPr marL="285750" indent="-285750" algn="ctr">
              <a:buFont typeface="Wingdings" panose="05000000000000000000" pitchFamily="2" charset="2"/>
              <a:buChar char="q"/>
            </a:pPr>
            <a:r>
              <a:rPr lang="en-US" b="1" dirty="0">
                <a:solidFill>
                  <a:srgbClr val="C00000"/>
                </a:solidFill>
                <a:latin typeface="fkGroteskNeue"/>
              </a:rPr>
              <a:t>Load Capacitance:</a:t>
            </a:r>
          </a:p>
          <a:p>
            <a:pPr marL="742950" lvl="1" indent="-285750">
              <a:buFont typeface="Wingdings" panose="05000000000000000000" pitchFamily="2" charset="2"/>
              <a:buChar char="q"/>
            </a:pPr>
            <a:r>
              <a:rPr lang="en-US" dirty="0">
                <a:latin typeface="fkGroteskNeue"/>
              </a:rPr>
              <a:t>Directly determines transition delay: lower capacitance accelerates oscillation, but may reduce drive margins.</a:t>
            </a:r>
          </a:p>
          <a:p>
            <a:pPr marL="285750" indent="-285750">
              <a:buFont typeface="Wingdings" panose="05000000000000000000" pitchFamily="2" charset="2"/>
              <a:buChar char="q"/>
            </a:pPr>
            <a:r>
              <a:rPr lang="en-US" b="1" dirty="0">
                <a:solidFill>
                  <a:srgbClr val="C00000"/>
                </a:solidFill>
                <a:latin typeface="fkGroteskNeue"/>
              </a:rPr>
              <a:t>Stage Count:</a:t>
            </a:r>
          </a:p>
          <a:p>
            <a:pPr marL="742950" lvl="1" indent="-285750">
              <a:buFont typeface="Wingdings" panose="05000000000000000000" pitchFamily="2" charset="2"/>
              <a:buChar char="q"/>
            </a:pPr>
            <a:r>
              <a:rPr lang="en-US" dirty="0">
                <a:latin typeface="fkGroteskNeue"/>
              </a:rPr>
              <a:t>Dictates both available phase outputs and maximum clock rate: odd stages standard, even-stage needs advanced topology.</a:t>
            </a:r>
          </a:p>
          <a:p>
            <a:pPr marL="285750" indent="-285750" algn="ctr">
              <a:buFont typeface="Wingdings" panose="05000000000000000000" pitchFamily="2" charset="2"/>
              <a:buChar char="q"/>
            </a:pPr>
            <a:r>
              <a:rPr lang="en-US" b="1" dirty="0">
                <a:solidFill>
                  <a:srgbClr val="C00000"/>
                </a:solidFill>
                <a:latin typeface="fkGroteskNeue"/>
              </a:rPr>
              <a:t>Startup Robustness:</a:t>
            </a:r>
          </a:p>
          <a:p>
            <a:pPr marL="742950" lvl="1" indent="-285750">
              <a:buFont typeface="Wingdings" panose="05000000000000000000" pitchFamily="2" charset="2"/>
              <a:buChar char="q"/>
            </a:pPr>
            <a:r>
              <a:rPr lang="en-US" dirty="0">
                <a:latin typeface="fkGroteskNeue"/>
              </a:rPr>
              <a:t>Sufficient gain, matched delays, and symmetric signal paths prevent deadlocks and missing oscillation.</a:t>
            </a:r>
            <a:endParaRPr lang="en-US" b="0" i="0" dirty="0">
              <a:effectLst/>
              <a:latin typeface="fkGroteskNeue"/>
            </a:endParaRPr>
          </a:p>
        </p:txBody>
      </p:sp>
      <p:sp>
        <p:nvSpPr>
          <p:cNvPr id="7" name="Rectangle 6"/>
          <p:cNvSpPr/>
          <p:nvPr/>
        </p:nvSpPr>
        <p:spPr>
          <a:xfrm>
            <a:off x="472440" y="1097280"/>
            <a:ext cx="5344160" cy="50190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Rectangle 7"/>
          <p:cNvSpPr/>
          <p:nvPr/>
        </p:nvSpPr>
        <p:spPr>
          <a:xfrm>
            <a:off x="6548120" y="1183640"/>
            <a:ext cx="5400040" cy="50190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22458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4294967295"/>
          </p:nvPr>
        </p:nvSpPr>
        <p:spPr/>
        <p:txBody>
          <a:bodyPr/>
          <a:lstStyle/>
          <a:p>
            <a:fld id="{BCD8C24E-3C7C-4379-B7F0-A6B98387A644}" type="datetime1">
              <a:rPr lang="en-US" smtClean="0"/>
              <a:t>9/1/2026</a:t>
            </a:fld>
            <a:endParaRPr lang="en-BE"/>
          </a:p>
        </p:txBody>
      </p:sp>
      <p:sp>
        <p:nvSpPr>
          <p:cNvPr id="4" name="Slide Number Placeholder 3"/>
          <p:cNvSpPr>
            <a:spLocks noGrp="1"/>
          </p:cNvSpPr>
          <p:nvPr>
            <p:ph type="sldNum" sz="quarter" idx="4294967295"/>
          </p:nvPr>
        </p:nvSpPr>
        <p:spPr/>
        <p:txBody>
          <a:bodyPr/>
          <a:lstStyle/>
          <a:p>
            <a:fld id="{60331F8A-FA1D-427D-B40D-66DA77956C52}" type="slidenum">
              <a:rPr lang="en-BE" smtClean="0"/>
              <a:t>28</a:t>
            </a:fld>
            <a:endParaRPr lang="en-BE"/>
          </a:p>
        </p:txBody>
      </p:sp>
      <p:sp>
        <p:nvSpPr>
          <p:cNvPr id="5" name="Rectangle: Rounded Corners 7">
            <a:extLst>
              <a:ext uri="{FF2B5EF4-FFF2-40B4-BE49-F238E27FC236}">
                <a16:creationId xmlns:a16="http://schemas.microsoft.com/office/drawing/2014/main" id="{11F84EF9-79B4-C59A-010A-AC0C2CB26615}"/>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6" name="Title 1"/>
          <p:cNvSpPr txBox="1">
            <a:spLocks/>
          </p:cNvSpPr>
          <p:nvPr/>
        </p:nvSpPr>
        <p:spPr>
          <a:xfrm>
            <a:off x="-18625" y="2364"/>
            <a:ext cx="7565320" cy="554587"/>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Transition Mechanisms of Single ended ROs</a:t>
            </a:r>
          </a:p>
        </p:txBody>
      </p:sp>
      <p:grpSp>
        <p:nvGrpSpPr>
          <p:cNvPr id="7" name="Group 6">
            <a:extLst>
              <a:ext uri="{FF2B5EF4-FFF2-40B4-BE49-F238E27FC236}">
                <a16:creationId xmlns:a16="http://schemas.microsoft.com/office/drawing/2014/main" id="{CCFE9E89-8A2A-7B26-5386-231C03416186}"/>
              </a:ext>
            </a:extLst>
          </p:cNvPr>
          <p:cNvGrpSpPr/>
          <p:nvPr/>
        </p:nvGrpSpPr>
        <p:grpSpPr>
          <a:xfrm>
            <a:off x="1183053" y="4453111"/>
            <a:ext cx="8414555" cy="1724171"/>
            <a:chOff x="157264" y="3505265"/>
            <a:chExt cx="6310916" cy="1293128"/>
          </a:xfrm>
        </p:grpSpPr>
        <p:sp>
          <p:nvSpPr>
            <p:cNvPr id="8" name="Rectangle 7">
              <a:extLst>
                <a:ext uri="{FF2B5EF4-FFF2-40B4-BE49-F238E27FC236}">
                  <a16:creationId xmlns:a16="http://schemas.microsoft.com/office/drawing/2014/main" id="{E644A208-2FAB-8E14-AF63-013E272DA605}"/>
                </a:ext>
              </a:extLst>
            </p:cNvPr>
            <p:cNvSpPr/>
            <p:nvPr/>
          </p:nvSpPr>
          <p:spPr>
            <a:xfrm>
              <a:off x="157264" y="3505265"/>
              <a:ext cx="5761161" cy="1293128"/>
            </a:xfrm>
            <a:prstGeom prst="rect">
              <a:avLst/>
            </a:prstGeom>
            <a:solidFill>
              <a:schemeClr val="bg1">
                <a:lumMod val="95000"/>
              </a:schemeClr>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ADC9B2C3-8DCE-D6A7-8DB0-01B90C137201}"/>
                </a:ext>
              </a:extLst>
            </p:cNvPr>
            <p:cNvGrpSpPr/>
            <p:nvPr/>
          </p:nvGrpSpPr>
          <p:grpSpPr>
            <a:xfrm>
              <a:off x="224468" y="3576421"/>
              <a:ext cx="6243712" cy="1149241"/>
              <a:chOff x="1528649" y="3979746"/>
              <a:chExt cx="8324949" cy="1532323"/>
            </a:xfrm>
          </p:grpSpPr>
          <p:grpSp>
            <p:nvGrpSpPr>
              <p:cNvPr id="11" name="Group 10">
                <a:extLst>
                  <a:ext uri="{FF2B5EF4-FFF2-40B4-BE49-F238E27FC236}">
                    <a16:creationId xmlns:a16="http://schemas.microsoft.com/office/drawing/2014/main" id="{54F8B9A1-270B-D974-5948-F11969CE4410}"/>
                  </a:ext>
                </a:extLst>
              </p:cNvPr>
              <p:cNvGrpSpPr/>
              <p:nvPr/>
            </p:nvGrpSpPr>
            <p:grpSpPr>
              <a:xfrm>
                <a:off x="2287793" y="4046208"/>
                <a:ext cx="6072133" cy="935292"/>
                <a:chOff x="2494161" y="4872348"/>
                <a:chExt cx="6072133" cy="935292"/>
              </a:xfrm>
            </p:grpSpPr>
            <p:cxnSp>
              <p:nvCxnSpPr>
                <p:cNvPr id="23" name="Straight Arrow Connector 22">
                  <a:extLst>
                    <a:ext uri="{FF2B5EF4-FFF2-40B4-BE49-F238E27FC236}">
                      <a16:creationId xmlns:a16="http://schemas.microsoft.com/office/drawing/2014/main" id="{CEBD2367-6911-7023-5E50-B57C67156562}"/>
                    </a:ext>
                  </a:extLst>
                </p:cNvPr>
                <p:cNvCxnSpPr/>
                <p:nvPr/>
              </p:nvCxnSpPr>
              <p:spPr>
                <a:xfrm flipV="1">
                  <a:off x="2494161" y="4872348"/>
                  <a:ext cx="0" cy="38390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903DC77-E433-CE90-5797-9803217C029E}"/>
                    </a:ext>
                  </a:extLst>
                </p:cNvPr>
                <p:cNvSpPr txBox="1"/>
                <p:nvPr/>
              </p:nvSpPr>
              <p:spPr>
                <a:xfrm>
                  <a:off x="2728029" y="4879635"/>
                  <a:ext cx="5838265" cy="34163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Increasing Stages = Equivalent Multi-phases= Applied for odd stages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70B55C62-D882-55D4-42F0-5A07DE5EC813}"/>
                    </a:ext>
                  </a:extLst>
                </p:cNvPr>
                <p:cNvCxnSpPr>
                  <a:cxnSpLocks/>
                </p:cNvCxnSpPr>
                <p:nvPr/>
              </p:nvCxnSpPr>
              <p:spPr>
                <a:xfrm>
                  <a:off x="2494161" y="5395521"/>
                  <a:ext cx="0" cy="4121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EE148EC-4797-4342-7031-F0139C6213EB}"/>
                    </a:ext>
                  </a:extLst>
                </p:cNvPr>
                <p:cNvSpPr txBox="1"/>
                <p:nvPr/>
              </p:nvSpPr>
              <p:spPr>
                <a:xfrm>
                  <a:off x="2717724" y="5382280"/>
                  <a:ext cx="5043497" cy="34163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Accumulate effective delay = Less Oscillation Frequency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2" name="TextBox 11">
                <a:extLst>
                  <a:ext uri="{FF2B5EF4-FFF2-40B4-BE49-F238E27FC236}">
                    <a16:creationId xmlns:a16="http://schemas.microsoft.com/office/drawing/2014/main" id="{E349ED6C-F8B0-0435-C395-1EA721764BDE}"/>
                  </a:ext>
                </a:extLst>
              </p:cNvPr>
              <p:cNvSpPr txBox="1"/>
              <p:nvPr/>
            </p:nvSpPr>
            <p:spPr>
              <a:xfrm>
                <a:off x="2372120" y="5170437"/>
                <a:ext cx="7481478" cy="3416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Specific connections are required for even multi-phase generation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90073C26-3007-DB3C-6E24-3CA50B2FB738}"/>
                  </a:ext>
                </a:extLst>
              </p:cNvPr>
              <p:cNvGrpSpPr/>
              <p:nvPr/>
            </p:nvGrpSpPr>
            <p:grpSpPr>
              <a:xfrm>
                <a:off x="1553246" y="3979746"/>
                <a:ext cx="435826" cy="459337"/>
                <a:chOff x="1776139" y="3223476"/>
                <a:chExt cx="462237" cy="475491"/>
              </a:xfrm>
            </p:grpSpPr>
            <p:sp>
              <p:nvSpPr>
                <p:cNvPr id="19" name="Oval 18">
                  <a:extLst>
                    <a:ext uri="{FF2B5EF4-FFF2-40B4-BE49-F238E27FC236}">
                      <a16:creationId xmlns:a16="http://schemas.microsoft.com/office/drawing/2014/main" id="{86E80930-C8A9-DCFF-B886-70B6703D361B}"/>
                    </a:ext>
                  </a:extLst>
                </p:cNvPr>
                <p:cNvSpPr/>
                <p:nvPr/>
              </p:nvSpPr>
              <p:spPr>
                <a:xfrm>
                  <a:off x="1776139" y="3289314"/>
                  <a:ext cx="432000" cy="409653"/>
                </a:xfrm>
                <a:prstGeom prst="ellipse">
                  <a:avLst/>
                </a:prstGeom>
                <a:solidFill>
                  <a:schemeClr val="bg1"/>
                </a:solidFill>
                <a:ln w="444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EC01BD3D-2063-F61B-6C4E-2CEB43809F42}"/>
                    </a:ext>
                  </a:extLst>
                </p:cNvPr>
                <p:cNvSpPr/>
                <p:nvPr/>
              </p:nvSpPr>
              <p:spPr bwMode="auto">
                <a:xfrm>
                  <a:off x="1872337" y="3410307"/>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08467A51-765F-4748-8983-CFA1D092FDF9}"/>
                    </a:ext>
                  </a:extLst>
                </p:cNvPr>
                <p:cNvSpPr/>
                <p:nvPr/>
              </p:nvSpPr>
              <p:spPr bwMode="auto">
                <a:xfrm>
                  <a:off x="2027187" y="3406984"/>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EBF46BFF-006F-4C7A-AEE0-91AAA48C07C4}"/>
                    </a:ext>
                  </a:extLst>
                </p:cNvPr>
                <p:cNvSpPr/>
                <p:nvPr/>
              </p:nvSpPr>
              <p:spPr>
                <a:xfrm rot="8155382">
                  <a:off x="1795794" y="3223476"/>
                  <a:ext cx="442582" cy="369556"/>
                </a:xfrm>
                <a:prstGeom prst="arc">
                  <a:avLst>
                    <a:gd name="adj1" fmla="val 17114423"/>
                    <a:gd name="adj2" fmla="val 0"/>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 name="Group 13">
                <a:extLst>
                  <a:ext uri="{FF2B5EF4-FFF2-40B4-BE49-F238E27FC236}">
                    <a16:creationId xmlns:a16="http://schemas.microsoft.com/office/drawing/2014/main" id="{E6662C0F-7F83-A65B-8B4B-DE464C6B9546}"/>
                  </a:ext>
                </a:extLst>
              </p:cNvPr>
              <p:cNvGrpSpPr/>
              <p:nvPr/>
            </p:nvGrpSpPr>
            <p:grpSpPr>
              <a:xfrm>
                <a:off x="1528649" y="4569381"/>
                <a:ext cx="445350" cy="637809"/>
                <a:chOff x="1776139" y="3289314"/>
                <a:chExt cx="472338" cy="660239"/>
              </a:xfrm>
            </p:grpSpPr>
            <p:sp>
              <p:nvSpPr>
                <p:cNvPr id="15" name="Oval 14">
                  <a:extLst>
                    <a:ext uri="{FF2B5EF4-FFF2-40B4-BE49-F238E27FC236}">
                      <a16:creationId xmlns:a16="http://schemas.microsoft.com/office/drawing/2014/main" id="{B70F01D2-1B6A-BA69-7F8D-79FE3D3EF1BD}"/>
                    </a:ext>
                  </a:extLst>
                </p:cNvPr>
                <p:cNvSpPr/>
                <p:nvPr/>
              </p:nvSpPr>
              <p:spPr>
                <a:xfrm>
                  <a:off x="1776139" y="3289314"/>
                  <a:ext cx="432000" cy="409653"/>
                </a:xfrm>
                <a:prstGeom prst="ellipse">
                  <a:avLst/>
                </a:prstGeom>
                <a:solidFill>
                  <a:schemeClr val="bg1"/>
                </a:solid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A294B422-FF14-9613-E80B-44E7047D6EE5}"/>
                    </a:ext>
                  </a:extLst>
                </p:cNvPr>
                <p:cNvSpPr/>
                <p:nvPr/>
              </p:nvSpPr>
              <p:spPr bwMode="auto">
                <a:xfrm>
                  <a:off x="1872337" y="3410307"/>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0F97CF48-5BB0-8EEC-B678-24E7629AB374}"/>
                    </a:ext>
                  </a:extLst>
                </p:cNvPr>
                <p:cNvSpPr/>
                <p:nvPr/>
              </p:nvSpPr>
              <p:spPr bwMode="auto">
                <a:xfrm>
                  <a:off x="2027187" y="3406984"/>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18" name="Arc 17">
                  <a:extLst>
                    <a:ext uri="{FF2B5EF4-FFF2-40B4-BE49-F238E27FC236}">
                      <a16:creationId xmlns:a16="http://schemas.microsoft.com/office/drawing/2014/main" id="{80D04084-CC29-1D1E-7E28-E0C19197364A}"/>
                    </a:ext>
                  </a:extLst>
                </p:cNvPr>
                <p:cNvSpPr/>
                <p:nvPr/>
              </p:nvSpPr>
              <p:spPr>
                <a:xfrm rot="13444618" flipV="1">
                  <a:off x="1805895" y="3579997"/>
                  <a:ext cx="442582" cy="369556"/>
                </a:xfrm>
                <a:prstGeom prst="arc">
                  <a:avLst>
                    <a:gd name="adj1" fmla="val 17067167"/>
                    <a:gd name="adj2" fmla="val 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pic>
          <p:nvPicPr>
            <p:cNvPr id="10" name="Picture 9">
              <a:extLst>
                <a:ext uri="{FF2B5EF4-FFF2-40B4-BE49-F238E27FC236}">
                  <a16:creationId xmlns:a16="http://schemas.microsoft.com/office/drawing/2014/main" id="{23D198EE-AC8D-FBAC-5650-4FEF2C235D34}"/>
                </a:ext>
              </a:extLst>
            </p:cNvPr>
            <p:cNvPicPr>
              <a:picLocks noChangeAspect="1"/>
            </p:cNvPicPr>
            <p:nvPr/>
          </p:nvPicPr>
          <p:blipFill>
            <a:blip r:embed="rId2"/>
            <a:stretch>
              <a:fillRect/>
            </a:stretch>
          </p:blipFill>
          <p:spPr>
            <a:xfrm>
              <a:off x="189902" y="4364093"/>
              <a:ext cx="411516" cy="411516"/>
            </a:xfrm>
            <a:prstGeom prst="rect">
              <a:avLst/>
            </a:prstGeom>
          </p:spPr>
        </p:pic>
      </p:grpSp>
      <p:pic>
        <p:nvPicPr>
          <p:cNvPr id="28" name="Picture 27">
            <a:extLst>
              <a:ext uri="{FF2B5EF4-FFF2-40B4-BE49-F238E27FC236}">
                <a16:creationId xmlns:a16="http://schemas.microsoft.com/office/drawing/2014/main" id="{3A3BEC52-B3D4-0EDF-3388-6F52AAA2B0CF}"/>
              </a:ext>
            </a:extLst>
          </p:cNvPr>
          <p:cNvPicPr>
            <a:picLocks noChangeAspect="1"/>
          </p:cNvPicPr>
          <p:nvPr/>
        </p:nvPicPr>
        <p:blipFill>
          <a:blip r:embed="rId3"/>
          <a:stretch>
            <a:fillRect/>
          </a:stretch>
        </p:blipFill>
        <p:spPr>
          <a:xfrm>
            <a:off x="3267268" y="1574156"/>
            <a:ext cx="1889091" cy="1438576"/>
          </a:xfrm>
          <a:prstGeom prst="rect">
            <a:avLst/>
          </a:prstGeom>
        </p:spPr>
      </p:pic>
      <p:grpSp>
        <p:nvGrpSpPr>
          <p:cNvPr id="29" name="Group 28">
            <a:extLst>
              <a:ext uri="{FF2B5EF4-FFF2-40B4-BE49-F238E27FC236}">
                <a16:creationId xmlns:a16="http://schemas.microsoft.com/office/drawing/2014/main" id="{DA4B5C2E-4208-28E7-B26F-7C5BAE6B01B4}"/>
              </a:ext>
            </a:extLst>
          </p:cNvPr>
          <p:cNvGrpSpPr/>
          <p:nvPr/>
        </p:nvGrpSpPr>
        <p:grpSpPr>
          <a:xfrm>
            <a:off x="0" y="908069"/>
            <a:ext cx="3238500" cy="3085256"/>
            <a:chOff x="0" y="908069"/>
            <a:chExt cx="3238500" cy="3085256"/>
          </a:xfrm>
        </p:grpSpPr>
        <p:pic>
          <p:nvPicPr>
            <p:cNvPr id="30" name="Picture 29">
              <a:extLst>
                <a:ext uri="{FF2B5EF4-FFF2-40B4-BE49-F238E27FC236}">
                  <a16:creationId xmlns:a16="http://schemas.microsoft.com/office/drawing/2014/main" id="{01406ECD-B849-4531-F293-9FF1AEBE8DE5}"/>
                </a:ext>
              </a:extLst>
            </p:cNvPr>
            <p:cNvPicPr>
              <a:picLocks noChangeAspect="1"/>
            </p:cNvPicPr>
            <p:nvPr/>
          </p:nvPicPr>
          <p:blipFill>
            <a:blip r:embed="rId4"/>
            <a:stretch>
              <a:fillRect/>
            </a:stretch>
          </p:blipFill>
          <p:spPr>
            <a:xfrm>
              <a:off x="0" y="908069"/>
              <a:ext cx="3238500" cy="2657475"/>
            </a:xfrm>
            <a:prstGeom prst="rect">
              <a:avLst/>
            </a:prstGeom>
          </p:spPr>
        </p:pic>
        <p:pic>
          <p:nvPicPr>
            <p:cNvPr id="31" name="Picture 30">
              <a:extLst>
                <a:ext uri="{FF2B5EF4-FFF2-40B4-BE49-F238E27FC236}">
                  <a16:creationId xmlns:a16="http://schemas.microsoft.com/office/drawing/2014/main" id="{4FD7DB67-1D76-149B-5933-07E355D5A73A}"/>
                </a:ext>
              </a:extLst>
            </p:cNvPr>
            <p:cNvPicPr>
              <a:picLocks noChangeAspect="1"/>
            </p:cNvPicPr>
            <p:nvPr/>
          </p:nvPicPr>
          <p:blipFill>
            <a:blip r:embed="rId5"/>
            <a:stretch>
              <a:fillRect/>
            </a:stretch>
          </p:blipFill>
          <p:spPr>
            <a:xfrm>
              <a:off x="1642580" y="3698050"/>
              <a:ext cx="295275" cy="295275"/>
            </a:xfrm>
            <a:prstGeom prst="rect">
              <a:avLst/>
            </a:prstGeom>
          </p:spPr>
        </p:pic>
      </p:grpSp>
      <p:grpSp>
        <p:nvGrpSpPr>
          <p:cNvPr id="32" name="Group 31">
            <a:extLst>
              <a:ext uri="{FF2B5EF4-FFF2-40B4-BE49-F238E27FC236}">
                <a16:creationId xmlns:a16="http://schemas.microsoft.com/office/drawing/2014/main" id="{EDC81019-0FBD-77A0-0718-ADA856F3ED5C}"/>
              </a:ext>
            </a:extLst>
          </p:cNvPr>
          <p:cNvGrpSpPr/>
          <p:nvPr/>
        </p:nvGrpSpPr>
        <p:grpSpPr>
          <a:xfrm>
            <a:off x="5242560" y="795217"/>
            <a:ext cx="3042920" cy="3493396"/>
            <a:chOff x="5242560" y="795217"/>
            <a:chExt cx="3042920" cy="3493396"/>
          </a:xfrm>
        </p:grpSpPr>
        <p:pic>
          <p:nvPicPr>
            <p:cNvPr id="33" name="Picture 32">
              <a:extLst>
                <a:ext uri="{FF2B5EF4-FFF2-40B4-BE49-F238E27FC236}">
                  <a16:creationId xmlns:a16="http://schemas.microsoft.com/office/drawing/2014/main" id="{25F001F8-FC7B-E2BD-DCA0-8F064E7105DA}"/>
                </a:ext>
              </a:extLst>
            </p:cNvPr>
            <p:cNvPicPr>
              <a:picLocks noChangeAspect="1"/>
            </p:cNvPicPr>
            <p:nvPr/>
          </p:nvPicPr>
          <p:blipFill rotWithShape="1">
            <a:blip r:embed="rId6"/>
            <a:srcRect l="1303" r="1299"/>
            <a:stretch/>
          </p:blipFill>
          <p:spPr>
            <a:xfrm>
              <a:off x="5242560" y="795217"/>
              <a:ext cx="3042920" cy="3114675"/>
            </a:xfrm>
            <a:prstGeom prst="rect">
              <a:avLst/>
            </a:prstGeom>
          </p:spPr>
        </p:pic>
        <p:pic>
          <p:nvPicPr>
            <p:cNvPr id="34" name="Picture 33">
              <a:extLst>
                <a:ext uri="{FF2B5EF4-FFF2-40B4-BE49-F238E27FC236}">
                  <a16:creationId xmlns:a16="http://schemas.microsoft.com/office/drawing/2014/main" id="{22F6A374-9162-E319-4F6A-7E0DE3973163}"/>
                </a:ext>
              </a:extLst>
            </p:cNvPr>
            <p:cNvPicPr>
              <a:picLocks noChangeAspect="1"/>
            </p:cNvPicPr>
            <p:nvPr/>
          </p:nvPicPr>
          <p:blipFill rotWithShape="1">
            <a:blip r:embed="rId7"/>
            <a:srcRect r="10458"/>
            <a:stretch/>
          </p:blipFill>
          <p:spPr>
            <a:xfrm>
              <a:off x="6802072" y="3983813"/>
              <a:ext cx="238808" cy="304800"/>
            </a:xfrm>
            <a:prstGeom prst="rect">
              <a:avLst/>
            </a:prstGeom>
          </p:spPr>
        </p:pic>
      </p:grpSp>
      <p:grpSp>
        <p:nvGrpSpPr>
          <p:cNvPr id="35" name="Group 34">
            <a:extLst>
              <a:ext uri="{FF2B5EF4-FFF2-40B4-BE49-F238E27FC236}">
                <a16:creationId xmlns:a16="http://schemas.microsoft.com/office/drawing/2014/main" id="{EA0439DA-C9FA-C02E-CF2E-BE66B70535B1}"/>
              </a:ext>
            </a:extLst>
          </p:cNvPr>
          <p:cNvGrpSpPr/>
          <p:nvPr/>
        </p:nvGrpSpPr>
        <p:grpSpPr>
          <a:xfrm>
            <a:off x="8547639" y="676656"/>
            <a:ext cx="3644361" cy="4356429"/>
            <a:chOff x="8547639" y="676656"/>
            <a:chExt cx="3644361" cy="4356429"/>
          </a:xfrm>
        </p:grpSpPr>
        <p:pic>
          <p:nvPicPr>
            <p:cNvPr id="36" name="Picture 35">
              <a:extLst>
                <a:ext uri="{FF2B5EF4-FFF2-40B4-BE49-F238E27FC236}">
                  <a16:creationId xmlns:a16="http://schemas.microsoft.com/office/drawing/2014/main" id="{6A526FF6-B4B4-BE78-7459-D54AD8BF6946}"/>
                </a:ext>
              </a:extLst>
            </p:cNvPr>
            <p:cNvPicPr>
              <a:picLocks noChangeAspect="1"/>
            </p:cNvPicPr>
            <p:nvPr/>
          </p:nvPicPr>
          <p:blipFill rotWithShape="1">
            <a:blip r:embed="rId8"/>
            <a:srcRect l="4166" t="8908" r="3565" b="10070"/>
            <a:stretch/>
          </p:blipFill>
          <p:spPr>
            <a:xfrm>
              <a:off x="8991600" y="676656"/>
              <a:ext cx="2487168" cy="725424"/>
            </a:xfrm>
            <a:prstGeom prst="rect">
              <a:avLst/>
            </a:prstGeom>
          </p:spPr>
        </p:pic>
        <p:grpSp>
          <p:nvGrpSpPr>
            <p:cNvPr id="37" name="Group 36">
              <a:extLst>
                <a:ext uri="{FF2B5EF4-FFF2-40B4-BE49-F238E27FC236}">
                  <a16:creationId xmlns:a16="http://schemas.microsoft.com/office/drawing/2014/main" id="{DC0A494C-7C2D-BC50-B5E2-A1B671223411}"/>
                </a:ext>
              </a:extLst>
            </p:cNvPr>
            <p:cNvGrpSpPr/>
            <p:nvPr/>
          </p:nvGrpSpPr>
          <p:grpSpPr>
            <a:xfrm>
              <a:off x="8588279" y="1658432"/>
              <a:ext cx="3603721" cy="1749053"/>
              <a:chOff x="8588279" y="1658432"/>
              <a:chExt cx="3603721" cy="1749053"/>
            </a:xfrm>
          </p:grpSpPr>
          <p:cxnSp>
            <p:nvCxnSpPr>
              <p:cNvPr id="45" name="Straight Connector 44">
                <a:extLst>
                  <a:ext uri="{FF2B5EF4-FFF2-40B4-BE49-F238E27FC236}">
                    <a16:creationId xmlns:a16="http://schemas.microsoft.com/office/drawing/2014/main" id="{AD6385D0-DA73-3141-A42D-4BC2F7779353}"/>
                  </a:ext>
                </a:extLst>
              </p:cNvPr>
              <p:cNvCxnSpPr/>
              <p:nvPr/>
            </p:nvCxnSpPr>
            <p:spPr>
              <a:xfrm flipH="1">
                <a:off x="9168198" y="3091037"/>
                <a:ext cx="2488171" cy="0"/>
              </a:xfrm>
              <a:prstGeom prst="line">
                <a:avLst/>
              </a:prstGeom>
              <a:ln w="57150" cap="rnd">
                <a:solidFill>
                  <a:srgbClr val="00206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8A992EB-2D01-A9B8-7725-A2C5E15E51E0}"/>
                  </a:ext>
                </a:extLst>
              </p:cNvPr>
              <p:cNvCxnSpPr>
                <a:cxnSpLocks/>
              </p:cNvCxnSpPr>
              <p:nvPr/>
            </p:nvCxnSpPr>
            <p:spPr>
              <a:xfrm>
                <a:off x="9163160" y="1658432"/>
                <a:ext cx="0" cy="1409888"/>
              </a:xfrm>
              <a:prstGeom prst="line">
                <a:avLst/>
              </a:prstGeom>
              <a:ln w="57150" cap="rnd">
                <a:solidFill>
                  <a:srgbClr val="00206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DCF911F7-3B88-8B8E-04D8-503BECF9B187}"/>
                  </a:ext>
                </a:extLst>
              </p:cNvPr>
              <p:cNvSpPr/>
              <p:nvPr/>
            </p:nvSpPr>
            <p:spPr>
              <a:xfrm>
                <a:off x="10481339" y="3068931"/>
                <a:ext cx="1710661"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Number Of stages</a:t>
                </a:r>
              </a:p>
            </p:txBody>
          </p:sp>
          <p:sp>
            <p:nvSpPr>
              <p:cNvPr id="48" name="Rectangle 47">
                <a:extLst>
                  <a:ext uri="{FF2B5EF4-FFF2-40B4-BE49-F238E27FC236}">
                    <a16:creationId xmlns:a16="http://schemas.microsoft.com/office/drawing/2014/main" id="{72875701-8446-DE18-2FE2-A8E03E35B1FE}"/>
                  </a:ext>
                </a:extLst>
              </p:cNvPr>
              <p:cNvSpPr/>
              <p:nvPr/>
            </p:nvSpPr>
            <p:spPr>
              <a:xfrm>
                <a:off x="8588279" y="1697331"/>
                <a:ext cx="563873"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err="1">
                    <a:ln>
                      <a:noFill/>
                    </a:ln>
                    <a:solidFill>
                      <a:prstClr val="black"/>
                    </a:solidFill>
                    <a:effectLst/>
                    <a:uLnTx/>
                    <a:uFillTx/>
                    <a:latin typeface="Calibri" panose="020F0502020204030204"/>
                    <a:ea typeface="+mn-ea"/>
                    <a:cs typeface="+mn-cs"/>
                  </a:rPr>
                  <a:t>Osc</a:t>
                </a: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Freq</a:t>
                </a:r>
              </a:p>
            </p:txBody>
          </p:sp>
          <p:cxnSp>
            <p:nvCxnSpPr>
              <p:cNvPr id="49" name="Straight Connector 48">
                <a:extLst>
                  <a:ext uri="{FF2B5EF4-FFF2-40B4-BE49-F238E27FC236}">
                    <a16:creationId xmlns:a16="http://schemas.microsoft.com/office/drawing/2014/main" id="{005A2E68-DFC8-53D1-3393-5982FBEBD2A0}"/>
                  </a:ext>
                </a:extLst>
              </p:cNvPr>
              <p:cNvCxnSpPr>
                <a:cxnSpLocks/>
              </p:cNvCxnSpPr>
              <p:nvPr/>
            </p:nvCxnSpPr>
            <p:spPr>
              <a:xfrm flipH="1" flipV="1">
                <a:off x="9320598" y="1983597"/>
                <a:ext cx="2119562" cy="790083"/>
              </a:xfrm>
              <a:prstGeom prst="line">
                <a:avLst/>
              </a:prstGeom>
              <a:ln w="57150" cap="rnd">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862C414C-2D5E-2D3E-32F8-E178DB2CF518}"/>
                </a:ext>
              </a:extLst>
            </p:cNvPr>
            <p:cNvGrpSpPr/>
            <p:nvPr/>
          </p:nvGrpSpPr>
          <p:grpSpPr>
            <a:xfrm>
              <a:off x="8547639" y="3576931"/>
              <a:ext cx="3515491" cy="1456154"/>
              <a:chOff x="8547639" y="3576931"/>
              <a:chExt cx="3515491" cy="1456154"/>
            </a:xfrm>
          </p:grpSpPr>
          <p:cxnSp>
            <p:nvCxnSpPr>
              <p:cNvPr id="39" name="Straight Connector 38">
                <a:extLst>
                  <a:ext uri="{FF2B5EF4-FFF2-40B4-BE49-F238E27FC236}">
                    <a16:creationId xmlns:a16="http://schemas.microsoft.com/office/drawing/2014/main" id="{B5D6CCEB-26A4-A7F8-7809-ACF0140DD20C}"/>
                  </a:ext>
                </a:extLst>
              </p:cNvPr>
              <p:cNvCxnSpPr/>
              <p:nvPr/>
            </p:nvCxnSpPr>
            <p:spPr>
              <a:xfrm flipH="1">
                <a:off x="9178360" y="4693909"/>
                <a:ext cx="2488170" cy="3"/>
              </a:xfrm>
              <a:prstGeom prst="line">
                <a:avLst/>
              </a:prstGeom>
              <a:ln w="57150" cap="rnd">
                <a:solidFill>
                  <a:srgbClr val="00206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2E9AFF4-2CB0-96B9-30B6-B1B7ED8BC763}"/>
                  </a:ext>
                </a:extLst>
              </p:cNvPr>
              <p:cNvCxnSpPr/>
              <p:nvPr/>
            </p:nvCxnSpPr>
            <p:spPr>
              <a:xfrm>
                <a:off x="9181393" y="3621878"/>
                <a:ext cx="0" cy="1063409"/>
              </a:xfrm>
              <a:prstGeom prst="line">
                <a:avLst/>
              </a:prstGeom>
              <a:ln w="57150" cap="rnd">
                <a:solidFill>
                  <a:srgbClr val="00206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DB80A403-B1F6-0F22-0D6F-684FC43F3CC2}"/>
                  </a:ext>
                </a:extLst>
              </p:cNvPr>
              <p:cNvSpPr/>
              <p:nvPr/>
            </p:nvSpPr>
            <p:spPr>
              <a:xfrm>
                <a:off x="11612582" y="4451698"/>
                <a:ext cx="26481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a:t>
                </a:r>
                <a:endParaRPr kumimoji="0" lang="en-US" sz="1800" b="1"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87389312-B80F-E0D3-9770-9AD2159F1B12}"/>
                  </a:ext>
                </a:extLst>
              </p:cNvPr>
              <p:cNvSpPr/>
              <p:nvPr/>
            </p:nvSpPr>
            <p:spPr>
              <a:xfrm>
                <a:off x="8547639" y="3576931"/>
                <a:ext cx="563873"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err="1">
                    <a:ln>
                      <a:noFill/>
                    </a:ln>
                    <a:solidFill>
                      <a:prstClr val="black"/>
                    </a:solidFill>
                    <a:effectLst/>
                    <a:uLnTx/>
                    <a:uFillTx/>
                    <a:latin typeface="Calibri" panose="020F0502020204030204"/>
                    <a:ea typeface="+mn-ea"/>
                    <a:cs typeface="+mn-cs"/>
                  </a:rPr>
                  <a:t>Osc</a:t>
                </a: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Freq</a:t>
                </a:r>
              </a:p>
            </p:txBody>
          </p:sp>
          <p:cxnSp>
            <p:nvCxnSpPr>
              <p:cNvPr id="43" name="Straight Connector 42">
                <a:extLst>
                  <a:ext uri="{FF2B5EF4-FFF2-40B4-BE49-F238E27FC236}">
                    <a16:creationId xmlns:a16="http://schemas.microsoft.com/office/drawing/2014/main" id="{9D261F24-F4B0-F6E3-D8FB-955A367287ED}"/>
                  </a:ext>
                </a:extLst>
              </p:cNvPr>
              <p:cNvCxnSpPr>
                <a:cxnSpLocks/>
              </p:cNvCxnSpPr>
              <p:nvPr/>
            </p:nvCxnSpPr>
            <p:spPr>
              <a:xfrm flipH="1" flipV="1">
                <a:off x="9422198" y="3832717"/>
                <a:ext cx="1896042" cy="739283"/>
              </a:xfrm>
              <a:prstGeom prst="line">
                <a:avLst/>
              </a:prstGeom>
              <a:ln w="57150" cap="rnd">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63209662-D6F6-4B0C-6617-A8A7DB5BB306}"/>
                  </a:ext>
                </a:extLst>
              </p:cNvPr>
              <p:cNvSpPr/>
              <p:nvPr/>
            </p:nvSpPr>
            <p:spPr>
              <a:xfrm>
                <a:off x="10919868" y="4694531"/>
                <a:ext cx="1143262"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 of Phases</a:t>
                </a:r>
              </a:p>
            </p:txBody>
          </p:sp>
        </p:grpSp>
      </p:grpSp>
      <p:sp>
        <p:nvSpPr>
          <p:cNvPr id="5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9572478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36622" y="2160573"/>
            <a:ext cx="11231498" cy="2791753"/>
          </a:xfrm>
          <a:prstGeom prst="rect">
            <a:avLst/>
          </a:prstGeom>
          <a:solidFill>
            <a:schemeClr val="bg1">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
        <p:nvSpPr>
          <p:cNvPr id="2" name="Title 1"/>
          <p:cNvSpPr>
            <a:spLocks noGrp="1"/>
          </p:cNvSpPr>
          <p:nvPr>
            <p:ph type="title"/>
          </p:nvPr>
        </p:nvSpPr>
        <p:spPr>
          <a:xfrm>
            <a:off x="819150" y="347725"/>
            <a:ext cx="10593196" cy="523220"/>
          </a:xfrm>
        </p:spPr>
        <p:txBody>
          <a:bodyPr/>
          <a:lstStyle/>
          <a:p>
            <a:r>
              <a:rPr lang="en-US" dirty="0"/>
              <a:t>Oscillator Essentials for PLL</a:t>
            </a:r>
          </a:p>
        </p:txBody>
      </p:sp>
      <p:sp>
        <p:nvSpPr>
          <p:cNvPr id="3" name="Text Placeholder 2"/>
          <p:cNvSpPr>
            <a:spLocks noGrp="1"/>
          </p:cNvSpPr>
          <p:nvPr>
            <p:ph type="body" idx="1"/>
          </p:nvPr>
        </p:nvSpPr>
        <p:spPr>
          <a:xfrm>
            <a:off x="844550" y="1327353"/>
            <a:ext cx="10905085" cy="3693319"/>
          </a:xfrm>
        </p:spPr>
        <p:txBody>
          <a:bodyPr/>
          <a:lstStyle/>
          <a:p>
            <a:pPr algn="just">
              <a:lnSpc>
                <a:spcPct val="150000"/>
              </a:lnSpc>
            </a:pPr>
            <a:r>
              <a:rPr lang="en-US" dirty="0"/>
              <a:t>The oscillator is the heartbeat of every </a:t>
            </a:r>
            <a:r>
              <a:rPr lang="en-US" b="1" dirty="0" smtClean="0">
                <a:solidFill>
                  <a:srgbClr val="00B050"/>
                </a:solidFill>
              </a:rPr>
              <a:t>PLL, DLL, Injection Locked </a:t>
            </a:r>
            <a:r>
              <a:rPr lang="en-US" dirty="0" smtClean="0"/>
              <a:t>circuits design:</a:t>
            </a:r>
            <a:endParaRPr lang="en-US" dirty="0" smtClean="0"/>
          </a:p>
          <a:p>
            <a:pPr algn="just">
              <a:lnSpc>
                <a:spcPct val="150000"/>
              </a:lnSpc>
            </a:pPr>
            <a:endParaRPr lang="en-US" dirty="0" smtClean="0"/>
          </a:p>
          <a:p>
            <a:pPr marL="342900" indent="-342900" algn="just">
              <a:lnSpc>
                <a:spcPct val="150000"/>
              </a:lnSpc>
              <a:buFont typeface="Wingdings" panose="05000000000000000000" pitchFamily="2" charset="2"/>
              <a:buChar char="q"/>
            </a:pPr>
            <a:r>
              <a:rPr lang="en-US" dirty="0"/>
              <a:t>I</a:t>
            </a:r>
            <a:r>
              <a:rPr lang="en-US" dirty="0" smtClean="0"/>
              <a:t>ts </a:t>
            </a:r>
            <a:r>
              <a:rPr lang="en-US" dirty="0"/>
              <a:t>principles provide the backbone for understanding complex timing and frequency control systems. </a:t>
            </a:r>
            <a:endParaRPr lang="en-US" dirty="0" smtClean="0"/>
          </a:p>
          <a:p>
            <a:pPr marL="342900" indent="-342900" algn="just">
              <a:lnSpc>
                <a:spcPct val="150000"/>
              </a:lnSpc>
              <a:buFont typeface="Wingdings" panose="05000000000000000000" pitchFamily="2" charset="2"/>
              <a:buChar char="q"/>
            </a:pPr>
            <a:r>
              <a:rPr lang="en-US" dirty="0" smtClean="0"/>
              <a:t>The </a:t>
            </a:r>
            <a:r>
              <a:rPr lang="en-US" dirty="0"/>
              <a:t>pendulum analogy introduces the idea of oscillation as a cycle of energy conversion—potential to kinetic and back—highlighting the natural tendency of oscillatory systems to maintain regular, predictable cycles unless disrupted by losses (e.g., friction, air resistance).</a:t>
            </a:r>
          </a:p>
        </p:txBody>
      </p:sp>
      <p:sp>
        <p:nvSpPr>
          <p:cNvPr id="5" name="Date Placeholder 4"/>
          <p:cNvSpPr>
            <a:spLocks noGrp="1"/>
          </p:cNvSpPr>
          <p:nvPr>
            <p:ph type="dt" sz="half" idx="6"/>
          </p:nvPr>
        </p:nvSpPr>
        <p:spPr>
          <a:xfrm>
            <a:off x="766666" y="636265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A9ABE3E-FBAD-4C10-9A26-421A3D1A087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3205237" y="4963828"/>
            <a:ext cx="5188619" cy="189417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a:stretch>
            <a:fillRect/>
          </a:stretch>
        </p:blipFill>
        <p:spPr>
          <a:xfrm>
            <a:off x="3514229" y="5024198"/>
            <a:ext cx="4563278" cy="1734411"/>
          </a:xfrm>
          <a:prstGeom prst="rect">
            <a:avLst/>
          </a:prstGeom>
        </p:spPr>
      </p:pic>
    </p:spTree>
    <p:extLst>
      <p:ext uri="{BB962C8B-B14F-4D97-AF65-F5344CB8AC3E}">
        <p14:creationId xmlns:p14="http://schemas.microsoft.com/office/powerpoint/2010/main" val="34360511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Oscillator </a:t>
            </a:r>
            <a:r>
              <a:rPr lang="en-US" dirty="0" smtClean="0"/>
              <a:t>Essentials</a:t>
            </a:r>
            <a:endParaRPr lang="en-US" dirty="0"/>
          </a:p>
        </p:txBody>
      </p:sp>
      <p:sp>
        <p:nvSpPr>
          <p:cNvPr id="3" name="Text Placeholder 2"/>
          <p:cNvSpPr>
            <a:spLocks noGrp="1"/>
          </p:cNvSpPr>
          <p:nvPr>
            <p:ph type="body" idx="1"/>
          </p:nvPr>
        </p:nvSpPr>
        <p:spPr>
          <a:xfrm>
            <a:off x="844549" y="1327353"/>
            <a:ext cx="10834653" cy="4559646"/>
          </a:xfrm>
        </p:spPr>
        <p:txBody>
          <a:bodyPr/>
          <a:lstStyle/>
          <a:p>
            <a:pPr marL="342900" indent="-342900" algn="just">
              <a:lnSpc>
                <a:spcPct val="150000"/>
              </a:lnSpc>
              <a:buFont typeface="Wingdings" panose="05000000000000000000" pitchFamily="2" charset="2"/>
              <a:buChar char="q"/>
            </a:pPr>
            <a:r>
              <a:rPr lang="en-US" dirty="0">
                <a:latin typeface="fkGroteskNeue"/>
              </a:rPr>
              <a:t>Oscillation arises from </a:t>
            </a:r>
            <a:r>
              <a:rPr lang="en-US" b="1" dirty="0">
                <a:solidFill>
                  <a:srgbClr val="C00000"/>
                </a:solidFill>
                <a:latin typeface="fkGroteskNeue"/>
              </a:rPr>
              <a:t>energy balance and feedback</a:t>
            </a:r>
            <a:r>
              <a:rPr lang="en-US" dirty="0">
                <a:latin typeface="fkGroteskNeue"/>
              </a:rPr>
              <a:t>: Initial energy (displacement or charge) starts oscillation; kinetic and potential forms alternate.</a:t>
            </a:r>
          </a:p>
          <a:p>
            <a:pPr marL="342900" indent="-342900" algn="just">
              <a:lnSpc>
                <a:spcPct val="150000"/>
              </a:lnSpc>
              <a:buFont typeface="Wingdings" panose="05000000000000000000" pitchFamily="2" charset="2"/>
              <a:buChar char="q"/>
            </a:pPr>
            <a:r>
              <a:rPr lang="en-US" dirty="0">
                <a:latin typeface="fkGroteskNeue"/>
              </a:rPr>
              <a:t>Real systems lose energy due to </a:t>
            </a:r>
            <a:r>
              <a:rPr lang="en-US" dirty="0" smtClean="0">
                <a:latin typeface="fkGroteskNeue"/>
              </a:rPr>
              <a:t>imperfections; without feedback, oscillations fade. </a:t>
            </a:r>
            <a:r>
              <a:rPr lang="en-US" dirty="0">
                <a:latin typeface="fkGroteskNeue"/>
              </a:rPr>
              <a:t>In PLLs, electronic “feedback” circuits sustain oscillation and control frequency.</a:t>
            </a:r>
          </a:p>
          <a:p>
            <a:pPr marL="342900" indent="-342900" algn="just">
              <a:lnSpc>
                <a:spcPct val="150000"/>
              </a:lnSpc>
              <a:buFont typeface="Wingdings" panose="05000000000000000000" pitchFamily="2" charset="2"/>
              <a:buChar char="q"/>
            </a:pPr>
            <a:r>
              <a:rPr lang="en-US" b="1" dirty="0">
                <a:solidFill>
                  <a:srgbClr val="C00000"/>
                </a:solidFill>
                <a:latin typeface="fkGroteskNeue"/>
              </a:rPr>
              <a:t>Critical takeaway</a:t>
            </a:r>
            <a:r>
              <a:rPr lang="en-US" dirty="0">
                <a:latin typeface="fkGroteskNeue"/>
              </a:rPr>
              <a:t>: The period (frequency) of oscillation is set by system properties (e.g., in electronics, by inductance and capacitance, in mechanics by pendulum length). This fundamental independence from amplitude forms the foundation for stable timing in PLLs.</a:t>
            </a:r>
          </a:p>
          <a:p>
            <a:pPr marL="342900" indent="-342900" algn="just">
              <a:lnSpc>
                <a:spcPct val="150000"/>
              </a:lnSpc>
              <a:buFont typeface="Wingdings" panose="05000000000000000000" pitchFamily="2" charset="2"/>
              <a:buChar char="q"/>
            </a:pPr>
            <a:r>
              <a:rPr lang="en-US" dirty="0">
                <a:latin typeface="fkGroteskNeue"/>
              </a:rPr>
              <a:t>In “lossless” systems, introducing energy at just the right frequency makes oscillations grow without bound, showcasing resonant amplification—a key concept in both analog oscillators and PLL loop dynamics</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43E5F7D-0FBD-45FB-A49E-223FCD631570}"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4238077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380573" y="1159357"/>
            <a:ext cx="7209756" cy="4974406"/>
          </a:xfrm>
          <a:prstGeom prst="rect">
            <a:avLst/>
          </a:prstGeom>
          <a:solidFill>
            <a:schemeClr val="bg1">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Pendulum and Electronic Oscillators for </a:t>
            </a:r>
            <a:r>
              <a:rPr lang="en-US" dirty="0" smtClean="0"/>
              <a:t>PLLs</a:t>
            </a:r>
            <a:endParaRPr lang="en-US" dirty="0"/>
          </a:p>
        </p:txBody>
      </p:sp>
      <p:sp>
        <p:nvSpPr>
          <p:cNvPr id="3" name="Text Placeholder 2"/>
          <p:cNvSpPr>
            <a:spLocks noGrp="1"/>
          </p:cNvSpPr>
          <p:nvPr>
            <p:ph type="body" idx="1"/>
          </p:nvPr>
        </p:nvSpPr>
        <p:spPr>
          <a:xfrm>
            <a:off x="506619" y="1108692"/>
            <a:ext cx="6938054" cy="5440913"/>
          </a:xfrm>
        </p:spPr>
        <p:txBody>
          <a:bodyPr/>
          <a:lstStyle/>
          <a:p>
            <a:pPr marL="342900" indent="-342900" algn="just">
              <a:lnSpc>
                <a:spcPct val="150000"/>
              </a:lnSpc>
              <a:buFont typeface="Wingdings" panose="05000000000000000000" pitchFamily="2" charset="2"/>
              <a:buChar char="q"/>
            </a:pPr>
            <a:r>
              <a:rPr lang="en-US" sz="1700" dirty="0"/>
              <a:t>A pendulum swings back and forth by continuously converting between </a:t>
            </a:r>
            <a:r>
              <a:rPr lang="en-US" sz="1700" b="1" i="1" dirty="0">
                <a:solidFill>
                  <a:srgbClr val="FF0000"/>
                </a:solidFill>
              </a:rPr>
              <a:t>potential energy</a:t>
            </a:r>
            <a:r>
              <a:rPr lang="en-US" sz="1700" b="1" dirty="0">
                <a:solidFill>
                  <a:srgbClr val="FF0000"/>
                </a:solidFill>
              </a:rPr>
              <a:t> (highest at the endpoints) and </a:t>
            </a:r>
            <a:r>
              <a:rPr lang="en-US" sz="1700" b="1" i="1" dirty="0">
                <a:solidFill>
                  <a:srgbClr val="FF0000"/>
                </a:solidFill>
              </a:rPr>
              <a:t>kinetic energy</a:t>
            </a:r>
            <a:r>
              <a:rPr lang="en-US" sz="1700" b="1" dirty="0">
                <a:solidFill>
                  <a:srgbClr val="FF0000"/>
                </a:solidFill>
              </a:rPr>
              <a:t> (highest at the center)</a:t>
            </a:r>
            <a:r>
              <a:rPr lang="en-US" sz="1700" dirty="0"/>
              <a:t>. </a:t>
            </a:r>
            <a:endParaRPr lang="en-US" sz="1700" dirty="0" smtClean="0"/>
          </a:p>
          <a:p>
            <a:pPr marL="342900" indent="-342900" algn="just">
              <a:lnSpc>
                <a:spcPct val="150000"/>
              </a:lnSpc>
              <a:buFont typeface="Wingdings" panose="05000000000000000000" pitchFamily="2" charset="2"/>
              <a:buChar char="q"/>
            </a:pPr>
            <a:r>
              <a:rPr lang="en-US" sz="1700" dirty="0" smtClean="0"/>
              <a:t>This </a:t>
            </a:r>
            <a:r>
              <a:rPr lang="en-US" sz="1700" dirty="0"/>
              <a:t>cycle of energy transfer is called simple harmonic motion. </a:t>
            </a:r>
            <a:endParaRPr lang="en-US" sz="1700" dirty="0" smtClean="0"/>
          </a:p>
          <a:p>
            <a:pPr marL="342900" indent="-342900" algn="just">
              <a:lnSpc>
                <a:spcPct val="150000"/>
              </a:lnSpc>
              <a:buFont typeface="Wingdings" panose="05000000000000000000" pitchFamily="2" charset="2"/>
              <a:buChar char="q"/>
            </a:pPr>
            <a:r>
              <a:rPr lang="en-US" sz="1700" dirty="0" smtClean="0"/>
              <a:t>In </a:t>
            </a:r>
            <a:r>
              <a:rPr lang="en-US" sz="1700" dirty="0"/>
              <a:t>electronics, an LC circuit (inductor-capacitor) also shuttles energy, but between </a:t>
            </a:r>
            <a:r>
              <a:rPr lang="en-US" sz="1700" i="1" dirty="0"/>
              <a:t>magnetic energy</a:t>
            </a:r>
            <a:r>
              <a:rPr lang="en-US" sz="1700" dirty="0"/>
              <a:t> (inductor) and </a:t>
            </a:r>
            <a:r>
              <a:rPr lang="en-US" sz="1700" i="1" dirty="0"/>
              <a:t>electric energy</a:t>
            </a:r>
            <a:r>
              <a:rPr lang="en-US" sz="1700" dirty="0"/>
              <a:t> (capacitor) as current and voltage oscillate. </a:t>
            </a:r>
            <a:endParaRPr lang="en-US" sz="1700" dirty="0" smtClean="0"/>
          </a:p>
          <a:p>
            <a:pPr marL="342900" indent="-342900" algn="just">
              <a:lnSpc>
                <a:spcPct val="150000"/>
              </a:lnSpc>
              <a:buFont typeface="Wingdings" panose="05000000000000000000" pitchFamily="2" charset="2"/>
              <a:buChar char="q"/>
            </a:pPr>
            <a:r>
              <a:rPr lang="en-US" sz="1700" dirty="0" smtClean="0"/>
              <a:t>Mathematically</a:t>
            </a:r>
            <a:r>
              <a:rPr lang="en-US" sz="1700" dirty="0"/>
              <a:t>, both systems are governed by similar second-order differential equations. So, understanding a pendulum's movements helps students grasp energy exchange in oscillators.</a:t>
            </a:r>
          </a:p>
        </p:txBody>
      </p:sp>
      <p:sp>
        <p:nvSpPr>
          <p:cNvPr id="5" name="Date Placeholder 4"/>
          <p:cNvSpPr>
            <a:spLocks noGrp="1"/>
          </p:cNvSpPr>
          <p:nvPr>
            <p:ph type="dt" sz="half" idx="6"/>
          </p:nvPr>
        </p:nvSpPr>
        <p:spPr>
          <a:xfrm>
            <a:off x="792403"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3B7036F-D1F9-4395-83DB-CD9263B8AB2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7567006" y="3634860"/>
            <a:ext cx="4660315" cy="369332"/>
          </a:xfrm>
          <a:prstGeom prst="rect">
            <a:avLst/>
          </a:prstGeom>
        </p:spPr>
        <p:txBody>
          <a:bodyPr wrap="none">
            <a:spAutoFit/>
          </a:bodyPr>
          <a:lstStyle/>
          <a:p>
            <a:r>
              <a:rPr lang="en-US" dirty="0">
                <a:solidFill>
                  <a:srgbClr val="231F20"/>
                </a:solidFill>
                <a:latin typeface="T3Font_76"/>
              </a:rPr>
              <a:t>A pendulum acting as an oscillatory system.</a:t>
            </a:r>
            <a:endParaRPr lang="en-US" dirty="0"/>
          </a:p>
        </p:txBody>
      </p:sp>
      <p:pic>
        <p:nvPicPr>
          <p:cNvPr id="9" name="Picture 8"/>
          <p:cNvPicPr>
            <a:picLocks noChangeAspect="1"/>
          </p:cNvPicPr>
          <p:nvPr/>
        </p:nvPicPr>
        <p:blipFill>
          <a:blip r:embed="rId2"/>
          <a:stretch>
            <a:fillRect/>
          </a:stretch>
        </p:blipFill>
        <p:spPr>
          <a:xfrm>
            <a:off x="7625700" y="1787125"/>
            <a:ext cx="4566300" cy="1737511"/>
          </a:xfrm>
          <a:prstGeom prst="rect">
            <a:avLst/>
          </a:prstGeom>
        </p:spPr>
      </p:pic>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5160481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36622" y="1580143"/>
            <a:ext cx="6071682" cy="4432239"/>
          </a:xfrm>
          <a:prstGeom prst="rect">
            <a:avLst/>
          </a:prstGeom>
          <a:solidFill>
            <a:schemeClr val="bg1">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2"/>
          <a:stretch>
            <a:fillRect/>
          </a:stretch>
        </p:blipFill>
        <p:spPr>
          <a:xfrm>
            <a:off x="7625700" y="1614448"/>
            <a:ext cx="4566300" cy="1737511"/>
          </a:xfrm>
          <a:prstGeom prst="rect">
            <a:avLst/>
          </a:prstGeom>
        </p:spPr>
      </p:pic>
      <p:sp>
        <p:nvSpPr>
          <p:cNvPr id="2" name="Title 1"/>
          <p:cNvSpPr>
            <a:spLocks noGrp="1"/>
          </p:cNvSpPr>
          <p:nvPr>
            <p:ph type="title"/>
          </p:nvPr>
        </p:nvSpPr>
        <p:spPr>
          <a:xfrm>
            <a:off x="819150" y="347725"/>
            <a:ext cx="10593196" cy="523220"/>
          </a:xfrm>
        </p:spPr>
        <p:txBody>
          <a:bodyPr/>
          <a:lstStyle/>
          <a:p>
            <a:r>
              <a:rPr lang="en-US" dirty="0"/>
              <a:t>Physical Setup and Energy </a:t>
            </a: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971753"/>
                <a:ext cx="5766643" cy="5053435"/>
              </a:xfrm>
            </p:spPr>
            <p:txBody>
              <a:bodyPr/>
              <a:lstStyle/>
              <a:p>
                <a:pPr algn="ctr">
                  <a:spcBef>
                    <a:spcPts val="1575"/>
                  </a:spcBef>
                  <a:spcAft>
                    <a:spcPts val="525"/>
                  </a:spcAft>
                </a:pP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800" b="1" dirty="0">
                    <a:solidFill>
                      <a:srgbClr val="000000"/>
                    </a:solidFill>
                    <a:latin typeface="inter"/>
                    <a:ea typeface="inter"/>
                    <a:cs typeface="inter"/>
                  </a:rPr>
                  <a:t>Position 1 (Left Extreme):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inter"/>
                    <a:ea typeface="inter"/>
                    <a:cs typeface="inter"/>
                  </a:rPr>
                  <a:t>At maximum angle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n-US" dirty="0">
                    <a:solidFill>
                      <a:srgbClr val="000000"/>
                    </a:solidFill>
                    <a:latin typeface="inter"/>
                    <a:ea typeface="inter"/>
                    <a:cs typeface="inter"/>
                  </a:rPr>
                  <a:t> from vertical, the pendulum is momentarily at rest. The gravitational potential energy is maximum:</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𝑚𝑔h</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inter"/>
                    <a:ea typeface="inter"/>
                    <a:cs typeface="inter"/>
                  </a:rPr>
                  <a:t>For small angle approximation (</a:t>
                </a:r>
                <a14:m>
                  <m:oMath xmlns:m="http://schemas.openxmlformats.org/officeDocument/2006/math">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inter"/>
                    <a:ea typeface="inter"/>
                    <a:cs typeface="inter"/>
                  </a:rPr>
                  <a:t>Kinetic energy: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(velocity = 0 at turning point)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b="1" dirty="0">
                    <a:solidFill>
                      <a:srgbClr val="00B050"/>
                    </a:solidFill>
                    <a:latin typeface="inter"/>
                    <a:ea typeface="inter"/>
                    <a:cs typeface="inter"/>
                  </a:rPr>
                  <a:t>Total energy:</a:t>
                </a:r>
                <a:endParaRPr lang="en-US" dirty="0">
                  <a:solidFill>
                    <a:srgbClr val="00B050"/>
                  </a:solidFill>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𝐸</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𝑡𝑜𝑡𝑎𝑙</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7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971753"/>
                <a:ext cx="5766643" cy="5053435"/>
              </a:xfrm>
              <a:blipFill>
                <a:blip r:embed="rId3"/>
                <a:stretch>
                  <a:fillRect l="-2748" r="-2643"/>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8839728" y="1032818"/>
            <a:ext cx="1827743" cy="461665"/>
          </a:xfrm>
          <a:prstGeom prst="rect">
            <a:avLst/>
          </a:prstGeom>
        </p:spPr>
        <p:txBody>
          <a:bodyPr wrap="none">
            <a:spAutoFit/>
          </a:bodyPr>
          <a:lstStyle/>
          <a:p>
            <a:pPr lvl="0" algn="ctr">
              <a:spcBef>
                <a:spcPts val="1575"/>
              </a:spcBef>
              <a:spcAft>
                <a:spcPts val="525"/>
              </a:spcAft>
            </a:pPr>
            <a:r>
              <a:rPr lang="en-US" sz="2400" b="1" kern="0" dirty="0">
                <a:solidFill>
                  <a:srgbClr val="000000"/>
                </a:solidFill>
                <a:latin typeface="inter"/>
                <a:ea typeface="inter"/>
                <a:cs typeface="inter"/>
              </a:rPr>
              <a:t>Framework</a:t>
            </a:r>
          </a:p>
        </p:txBody>
      </p:sp>
      <p:sp>
        <p:nvSpPr>
          <p:cNvPr id="9" name="Rectangle 8"/>
          <p:cNvSpPr/>
          <p:nvPr/>
        </p:nvSpPr>
        <p:spPr>
          <a:xfrm>
            <a:off x="7501857" y="1626527"/>
            <a:ext cx="1778000" cy="17462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A8D3130-6C49-4DA8-B075-17867DE87668}"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831997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30301" y="3588026"/>
            <a:ext cx="5309254" cy="2553830"/>
          </a:xfrm>
          <a:prstGeom prst="rect">
            <a:avLst/>
          </a:prstGeom>
          <a:solidFill>
            <a:schemeClr val="bg1">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985375" y="3629609"/>
            <a:ext cx="4512358" cy="2576457"/>
          </a:xfrm>
          <a:prstGeom prst="rect">
            <a:avLst/>
          </a:prstGeom>
          <a:solidFill>
            <a:schemeClr val="bg1">
              <a:lumMod val="75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49909" y="3243293"/>
                <a:ext cx="5448300" cy="3002745"/>
              </a:xfrm>
              <a:prstGeom prst="rect">
                <a:avLst/>
              </a:prstGeom>
            </p:spPr>
            <p:txBody>
              <a:bodyPr wrap="square">
                <a:spAutoFit/>
              </a:bodyPr>
              <a:lstStyle/>
              <a:p>
                <a:pPr algn="ctr">
                  <a:spcAft>
                    <a:spcPts val="1050"/>
                  </a:spcAft>
                </a:pPr>
                <a:r>
                  <a:rPr lang="en-US" sz="1600" b="1" dirty="0">
                    <a:solidFill>
                      <a:srgbClr val="000000"/>
                    </a:solidFill>
                    <a:latin typeface="inter"/>
                    <a:ea typeface="inter"/>
                    <a:cs typeface="inter"/>
                  </a:rPr>
                  <a:t>Position 2 </a:t>
                </a:r>
                <a:r>
                  <a:rPr lang="en-US" sz="1600" b="1" dirty="0" smtClean="0">
                    <a:solidFill>
                      <a:srgbClr val="000000"/>
                    </a:solidFill>
                    <a:latin typeface="inter"/>
                    <a:ea typeface="inter"/>
                    <a:cs typeface="inter"/>
                  </a:rPr>
                  <a:t>:</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At the lowest point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1600" dirty="0">
                    <a:solidFill>
                      <a:srgbClr val="000000"/>
                    </a:solidFill>
                    <a:effectLst/>
                    <a:latin typeface="inter"/>
                    <a:ea typeface="inter"/>
                    <a:cs typeface="inter"/>
                  </a:rPr>
                  <a:t>), potential energy is minimum (set to reference: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𝑈</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1600" dirty="0">
                    <a:solidFill>
                      <a:srgbClr val="000000"/>
                    </a:solidFill>
                    <a:effectLst/>
                    <a:latin typeface="inter"/>
                    <a:ea typeface="inter"/>
                    <a:cs typeface="inter"/>
                  </a:rPr>
                  <a:t>). The pendulum moves with maximum velocity. By energy conservation:</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𝐸</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𝑡𝑜𝑡𝑎𝑙</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rad>
                        <m:radPr>
                          <m:degHide m:val="on"/>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e>
                      </m:rad>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649909" y="3243293"/>
                <a:ext cx="5448300" cy="3002745"/>
              </a:xfrm>
              <a:prstGeom prst="rect">
                <a:avLst/>
              </a:prstGeom>
              <a:blipFill>
                <a:blip r:embed="rId2"/>
                <a:stretch>
                  <a:fillRect l="-672" t="-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6760633" y="3082063"/>
                <a:ext cx="4652433" cy="3053721"/>
              </a:xfrm>
              <a:prstGeom prst="rect">
                <a:avLst/>
              </a:prstGeom>
            </p:spPr>
            <p:txBody>
              <a:bodyPr wrap="square">
                <a:spAutoFit/>
              </a:bodyPr>
              <a:lstStyle/>
              <a:p>
                <a:pPr lvl="0" algn="ctr">
                  <a:lnSpc>
                    <a:spcPct val="150000"/>
                  </a:lnSpc>
                  <a:spcAft>
                    <a:spcPts val="1050"/>
                  </a:spcAft>
                </a:pPr>
                <a:r>
                  <a:rPr lang="en-US" sz="1600" b="1" dirty="0">
                    <a:solidFill>
                      <a:srgbClr val="000000"/>
                    </a:solidFill>
                    <a:latin typeface="inter"/>
                    <a:ea typeface="inter"/>
                    <a:cs typeface="inter"/>
                  </a:rPr>
                  <a:t>Position </a:t>
                </a:r>
                <a:r>
                  <a:rPr lang="en-US" sz="1600" b="1" dirty="0" smtClean="0">
                    <a:solidFill>
                      <a:srgbClr val="000000"/>
                    </a:solidFill>
                    <a:latin typeface="inter"/>
                    <a:ea typeface="inter"/>
                    <a:cs typeface="inter"/>
                  </a:rPr>
                  <a:t>3:</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lnSpc>
                    <a:spcPct val="150000"/>
                  </a:lnSpc>
                  <a:spcAft>
                    <a:spcPts val="1050"/>
                  </a:spcAft>
                </a:pPr>
                <a:r>
                  <a:rPr lang="en-US" sz="1600" dirty="0">
                    <a:solidFill>
                      <a:srgbClr val="000000"/>
                    </a:solidFill>
                    <a:latin typeface="inter"/>
                    <a:ea typeface="inter"/>
                    <a:cs typeface="inter"/>
                  </a:rPr>
                  <a:t>The pendulum swings to the opposite extreme, converting kinetic energy back to potential:</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lnSpc>
                    <a:spcPct val="150000"/>
                  </a:lnSpc>
                  <a:spcAft>
                    <a:spcPts val="1050"/>
                  </a:spcAft>
                </a:pPr>
                <a:r>
                  <a:rPr lang="en-US" sz="1600" dirty="0">
                    <a:solidFill>
                      <a:srgbClr val="000000"/>
                    </a:solidFill>
                    <a:latin typeface="inter"/>
                    <a:ea typeface="inter"/>
                    <a:cs typeface="inter"/>
                  </a:rPr>
                  <a:t>By symmetry,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n-US" sz="1600" dirty="0">
                    <a:solidFill>
                      <a:srgbClr val="000000"/>
                    </a:solidFill>
                    <a:latin typeface="inter"/>
                    <a:ea typeface="inter"/>
                    <a:cs typeface="inter"/>
                  </a:rPr>
                  <a:t> (same magnitude as Position 1).</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760633" y="3082063"/>
                <a:ext cx="4652433" cy="3053721"/>
              </a:xfrm>
              <a:prstGeom prst="rect">
                <a:avLst/>
              </a:prstGeom>
              <a:blipFill>
                <a:blip r:embed="rId3"/>
                <a:stretch>
                  <a:fillRect b="-200"/>
                </a:stretch>
              </a:blipFill>
            </p:spPr>
            <p:txBody>
              <a:bodyPr/>
              <a:lstStyle/>
              <a:p>
                <a:r>
                  <a:rPr lang="en-US">
                    <a:noFill/>
                  </a:rPr>
                  <a:t> </a:t>
                </a:r>
              </a:p>
            </p:txBody>
          </p:sp>
        </mc:Fallback>
      </mc:AlternateContent>
      <p:pic>
        <p:nvPicPr>
          <p:cNvPr id="10" name="Picture 9"/>
          <p:cNvPicPr>
            <a:picLocks noChangeAspect="1"/>
          </p:cNvPicPr>
          <p:nvPr/>
        </p:nvPicPr>
        <p:blipFill>
          <a:blip r:embed="rId4"/>
          <a:stretch>
            <a:fillRect/>
          </a:stretch>
        </p:blipFill>
        <p:spPr>
          <a:xfrm>
            <a:off x="3822789" y="1269138"/>
            <a:ext cx="4566300" cy="1737511"/>
          </a:xfrm>
          <a:prstGeom prst="rect">
            <a:avLst/>
          </a:prstGeom>
        </p:spPr>
      </p:pic>
      <p:sp>
        <p:nvSpPr>
          <p:cNvPr id="9" name="Rectangle 8"/>
          <p:cNvSpPr/>
          <p:nvPr/>
        </p:nvSpPr>
        <p:spPr>
          <a:xfrm>
            <a:off x="5466522" y="1212574"/>
            <a:ext cx="1222513" cy="180892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761922" y="1235765"/>
            <a:ext cx="1586947" cy="180892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endParaRPr>
          </a:p>
        </p:txBody>
      </p:sp>
      <p:sp>
        <p:nvSpPr>
          <p:cNvPr id="3" name="Date Placeholder 2"/>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17EF6F7-F368-42CE-A706-D2258B54FD8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14" name="Footer Placeholder 3"/>
          <p:cNvSpPr>
            <a:spLocks noGrp="1"/>
          </p:cNvSpPr>
          <p:nvPr>
            <p:ph type="ftr" sz="quarter" idx="5"/>
          </p:nvPr>
        </p:nvSpPr>
        <p:spPr>
          <a:xfrm>
            <a:off x="4726539"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cxnSp>
        <p:nvCxnSpPr>
          <p:cNvPr id="15" name="Straight Connector 14"/>
          <p:cNvCxnSpPr/>
          <p:nvPr/>
        </p:nvCxnSpPr>
        <p:spPr>
          <a:xfrm flipV="1">
            <a:off x="628650" y="3019425"/>
            <a:ext cx="4848225" cy="549275"/>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5928783" y="3020483"/>
            <a:ext cx="755650" cy="57361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flipV="1">
            <a:off x="6764867" y="3048002"/>
            <a:ext cx="228600" cy="609598"/>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flipV="1">
            <a:off x="8365067" y="3039535"/>
            <a:ext cx="3158066" cy="584198"/>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30173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753533" y="4731026"/>
            <a:ext cx="5895745" cy="1828800"/>
          </a:xfrm>
          <a:prstGeom prst="rect">
            <a:avLst/>
          </a:prstGeom>
          <a:solidFill>
            <a:schemeClr val="bg1">
              <a:lumMod val="8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818244" y="3342862"/>
            <a:ext cx="5039139" cy="2670312"/>
          </a:xfrm>
          <a:prstGeom prst="rect">
            <a:avLst/>
          </a:prstGeom>
          <a:solidFill>
            <a:schemeClr val="bg1">
              <a:lumMod val="8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38200" y="1200353"/>
                <a:ext cx="5730875" cy="5612177"/>
              </a:xfrm>
            </p:spPr>
            <p:txBody>
              <a:bodyPr/>
              <a:lstStyle/>
              <a:p>
                <a:pPr algn="ctr"/>
                <a:r>
                  <a:rPr lang="en-US" sz="1800" b="1" dirty="0">
                    <a:solidFill>
                      <a:srgbClr val="C00000"/>
                    </a:solidFill>
                    <a:latin typeface="inter"/>
                    <a:ea typeface="inter"/>
                    <a:cs typeface="inter"/>
                  </a:rPr>
                  <a:t>As the pendulum oscillates</a:t>
                </a:r>
                <a:r>
                  <a:rPr lang="en-US" sz="1800" b="1" dirty="0" smtClean="0">
                    <a:solidFill>
                      <a:srgbClr val="C00000"/>
                    </a:solidFill>
                    <a:latin typeface="inter"/>
                    <a:ea typeface="inter"/>
                    <a:cs typeface="inter"/>
                  </a:rPr>
                  <a:t>:</a:t>
                </a:r>
              </a:p>
              <a:p>
                <a:pPr algn="ctr"/>
                <a:endParaRPr lang="en-US" sz="18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800" b="1" dirty="0">
                    <a:solidFill>
                      <a:srgbClr val="000000"/>
                    </a:solidFill>
                    <a:latin typeface="inter"/>
                    <a:ea typeface="inter"/>
                    <a:cs typeface="inter"/>
                  </a:rPr>
                  <a:t>From Position 1 → 2:</a:t>
                </a:r>
                <a:r>
                  <a:rPr lang="en-US" sz="1800" dirty="0">
                    <a:solidFill>
                      <a:srgbClr val="000000"/>
                    </a:solidFill>
                    <a:latin typeface="inter"/>
                    <a:ea typeface="inter"/>
                    <a:cs typeface="inter"/>
                  </a:rPr>
                  <a:t> Potential energy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inter"/>
                    <a:ea typeface="inter"/>
                    <a:cs typeface="inter"/>
                  </a:rPr>
                  <a:t> Kinetic energy. Height decreases, speed increases. Restoring force (gravity) accelerates the mass downward.</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800" b="1" dirty="0">
                    <a:solidFill>
                      <a:srgbClr val="000000"/>
                    </a:solidFill>
                    <a:latin typeface="inter"/>
                    <a:ea typeface="inter"/>
                    <a:cs typeface="inter"/>
                  </a:rPr>
                  <a:t>From Position 2 → 3:</a:t>
                </a:r>
                <a:r>
                  <a:rPr lang="en-US" sz="1800" dirty="0">
                    <a:solidFill>
                      <a:srgbClr val="000000"/>
                    </a:solidFill>
                    <a:latin typeface="inter"/>
                    <a:ea typeface="inter"/>
                    <a:cs typeface="inter"/>
                  </a:rPr>
                  <a:t> Kinetic energy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inter"/>
                    <a:ea typeface="inter"/>
                    <a:cs typeface="inter"/>
                  </a:rPr>
                  <a:t> Potential energy. Speed decreases, height increases. Inertia carries the mass upward against gravity (deceleration).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800" b="1" dirty="0">
                    <a:solidFill>
                      <a:srgbClr val="000000"/>
                    </a:solidFill>
                    <a:latin typeface="inter"/>
                    <a:ea typeface="inter"/>
                    <a:cs typeface="inter"/>
                  </a:rPr>
                  <a:t>From Position 3 → 1:</a:t>
                </a:r>
                <a:r>
                  <a:rPr lang="en-US" sz="1800" dirty="0">
                    <a:solidFill>
                      <a:srgbClr val="000000"/>
                    </a:solidFill>
                    <a:latin typeface="inter"/>
                    <a:ea typeface="inter"/>
                    <a:cs typeface="inter"/>
                  </a:rPr>
                  <a:t> The cycle reverses by symmetry</a:t>
                </a:r>
                <a:r>
                  <a:rPr lang="en-US" sz="1800" dirty="0" smtClean="0">
                    <a:solidFill>
                      <a:srgbClr val="000000"/>
                    </a:solidFill>
                    <a:latin typeface="inter"/>
                    <a:ea typeface="inter"/>
                    <a:cs typeface="inter"/>
                  </a:rPr>
                  <a:t>.</a:t>
                </a:r>
              </a:p>
              <a:p>
                <a:pPr marL="342900" marR="0" lvl="0" indent="-342900">
                  <a:buFont typeface="+mj-lt"/>
                  <a:buAutoNum type="arabicPeriod"/>
                  <a:tabLst>
                    <a:tab pos="571500" algn="l"/>
                  </a:tabLst>
                </a:pP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Oscillator Analog in Circuits: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Potential Energy ↔ Charge on Capacitor:</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Kinetic Energy ↔ Current in Inductor:</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Pendulum Period ↔ LC Resonance:</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ad>
                      <m:radPr>
                        <m:degHide m:val="on"/>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𝐿𝐶</m:t>
                        </m:r>
                      </m:e>
                    </m:rad>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pPr>
                <a:r>
                  <a:rPr lang="en-US" sz="1600" dirty="0">
                    <a:solidFill>
                      <a:srgbClr val="000000"/>
                    </a:solidFill>
                    <a:latin typeface="inter"/>
                    <a:ea typeface="inter"/>
                    <a:cs typeface="inter"/>
                  </a:rPr>
                  <a:t>The LC oscillator exhibits the same energy exchange and </a:t>
                </a:r>
                <a:r>
                  <a:rPr lang="en-US" sz="1600" dirty="0" err="1">
                    <a:solidFill>
                      <a:srgbClr val="000000"/>
                    </a:solidFill>
                    <a:latin typeface="inter"/>
                    <a:ea typeface="inter"/>
                    <a:cs typeface="inter"/>
                  </a:rPr>
                  <a:t>isochronicity</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38200" y="1200353"/>
                <a:ext cx="5730875" cy="5612177"/>
              </a:xfrm>
              <a:blipFill>
                <a:blip r:embed="rId2"/>
                <a:stretch>
                  <a:fillRect l="-2553" t="-1412" r="-2447"/>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174244" y="65808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73CAB820-62C6-4C1C-B75E-2559817A6EC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8" name="Rectangle 7"/>
              <p:cNvSpPr/>
              <p:nvPr/>
            </p:nvSpPr>
            <p:spPr>
              <a:xfrm>
                <a:off x="6824642" y="3376697"/>
                <a:ext cx="5043508" cy="2554545"/>
              </a:xfrm>
              <a:prstGeom prst="rect">
                <a:avLst/>
              </a:prstGeom>
            </p:spPr>
            <p:txBody>
              <a:bodyPr wrap="square">
                <a:spAutoFit/>
              </a:bodyPr>
              <a:lstStyle/>
              <a:p>
                <a:pPr algn="ctr"/>
                <a:r>
                  <a:rPr lang="en-US" sz="1600" b="1" dirty="0">
                    <a:solidFill>
                      <a:srgbClr val="000000"/>
                    </a:solidFill>
                    <a:latin typeface="inter"/>
                    <a:ea typeface="inter"/>
                    <a:cs typeface="inter"/>
                  </a:rPr>
                  <a:t>Design Rule for Oscillators</a:t>
                </a:r>
                <a:r>
                  <a:rPr lang="en-US" sz="1600" b="1" dirty="0" smtClean="0">
                    <a:solidFill>
                      <a:srgbClr val="000000"/>
                    </a:solidFill>
                    <a:latin typeface="inter"/>
                    <a:ea typeface="inter"/>
                    <a:cs typeface="inter"/>
                  </a:rPr>
                  <a:t>:</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effectLst/>
                    <a:latin typeface="inter"/>
                    <a:ea typeface="inter"/>
                    <a:cs typeface="inter"/>
                  </a:rPr>
                  <a:t>For sustained oscillation, the feedback system must</a:t>
                </a:r>
                <a:r>
                  <a:rPr lang="en-US" sz="1600" dirty="0" smtClean="0">
                    <a:solidFill>
                      <a:srgbClr val="000000"/>
                    </a:solidFill>
                    <a:effectLst/>
                    <a:latin typeface="inter"/>
                    <a:ea typeface="inter"/>
                    <a:cs typeface="inter"/>
                  </a:rPr>
                  <a:t>:</a:t>
                </a:r>
              </a:p>
              <a:p>
                <a:pPr algn="just"/>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400050" marR="0" lvl="0" indent="-400050" algn="just">
                  <a:buFont typeface="+mj-lt"/>
                  <a:buAutoNum type="romanUcPeriod"/>
                  <a:tabLst>
                    <a:tab pos="571500" algn="l"/>
                  </a:tabLst>
                </a:pPr>
                <a:r>
                  <a:rPr lang="en-US" sz="1600" dirty="0">
                    <a:solidFill>
                      <a:srgbClr val="000000"/>
                    </a:solidFill>
                    <a:effectLst/>
                    <a:latin typeface="inter"/>
                    <a:ea typeface="inter"/>
                    <a:cs typeface="inter"/>
                  </a:rPr>
                  <a:t>Apply energy at frequency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(matching natural oscillation frequency)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400050" marR="0" lvl="0" indent="-400050" algn="just">
                  <a:buFont typeface="+mj-lt"/>
                  <a:buAutoNum type="romanUcPeriod"/>
                  <a:tabLst>
                    <a:tab pos="571500" algn="l"/>
                  </a:tabLst>
                </a:pPr>
                <a:r>
                  <a:rPr lang="en-US" sz="1600" dirty="0">
                    <a:solidFill>
                      <a:srgbClr val="000000"/>
                    </a:solidFill>
                    <a:effectLst/>
                    <a:latin typeface="inter"/>
                    <a:ea typeface="inter"/>
                    <a:cs typeface="inter"/>
                  </a:rPr>
                  <a:t>Ensure feedback signal is </a:t>
                </a:r>
                <a:r>
                  <a:rPr lang="en-US" sz="1600" b="1" dirty="0">
                    <a:solidFill>
                      <a:srgbClr val="000000"/>
                    </a:solidFill>
                    <a:effectLst/>
                    <a:latin typeface="inter"/>
                    <a:ea typeface="inter"/>
                    <a:cs typeface="inter"/>
                  </a:rPr>
                  <a:t>in-phase</a:t>
                </a:r>
                <a:r>
                  <a:rPr lang="en-US" sz="1600" dirty="0">
                    <a:solidFill>
                      <a:srgbClr val="000000"/>
                    </a:solidFill>
                    <a:effectLst/>
                    <a:latin typeface="inter"/>
                    <a:ea typeface="inter"/>
                    <a:cs typeface="inter"/>
                  </a:rPr>
                  <a:t> with the oscillating quantity (velocity for maximum power transfer)</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400050" marR="0" lvl="0" indent="-400050" algn="just">
                  <a:buFont typeface="+mj-lt"/>
                  <a:buAutoNum type="romanUcPeriod"/>
                  <a:tabLst>
                    <a:tab pos="571500" algn="l"/>
                  </a:tabLst>
                </a:pPr>
                <a:r>
                  <a:rPr lang="en-US" sz="1600" dirty="0">
                    <a:solidFill>
                      <a:srgbClr val="000000"/>
                    </a:solidFill>
                    <a:effectLst/>
                    <a:latin typeface="inter"/>
                    <a:ea typeface="inter"/>
                    <a:cs typeface="inter"/>
                  </a:rPr>
                  <a:t>Supply just enough energy to compensate losses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6824642" y="3376697"/>
                <a:ext cx="5043508" cy="2554545"/>
              </a:xfrm>
              <a:prstGeom prst="rect">
                <a:avLst/>
              </a:prstGeom>
              <a:blipFill>
                <a:blip r:embed="rId3"/>
                <a:stretch>
                  <a:fillRect l="-726" t="-716" r="-605" b="-2148"/>
                </a:stretch>
              </a:blipFill>
            </p:spPr>
            <p:txBody>
              <a:bodyPr/>
              <a:lstStyle/>
              <a:p>
                <a:r>
                  <a:rPr lang="en-US">
                    <a:noFill/>
                  </a:rPr>
                  <a:t> </a:t>
                </a:r>
              </a:p>
            </p:txBody>
          </p:sp>
        </mc:Fallback>
      </mc:AlternateContent>
      <p:pic>
        <p:nvPicPr>
          <p:cNvPr id="9" name="Picture 8"/>
          <p:cNvPicPr>
            <a:picLocks noChangeAspect="1"/>
          </p:cNvPicPr>
          <p:nvPr/>
        </p:nvPicPr>
        <p:blipFill>
          <a:blip r:embed="rId4"/>
          <a:stretch>
            <a:fillRect/>
          </a:stretch>
        </p:blipFill>
        <p:spPr>
          <a:xfrm>
            <a:off x="7020865" y="1240223"/>
            <a:ext cx="4563278" cy="1734411"/>
          </a:xfrm>
          <a:prstGeom prst="rect">
            <a:avLst/>
          </a:prstGeom>
        </p:spPr>
      </p:pic>
      <p:sp>
        <p:nvSpPr>
          <p:cNvPr id="10" name="Rectangle 9"/>
          <p:cNvSpPr/>
          <p:nvPr/>
        </p:nvSpPr>
        <p:spPr>
          <a:xfrm>
            <a:off x="6937513" y="1212575"/>
            <a:ext cx="4840357" cy="196794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681919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4888" y="5774634"/>
            <a:ext cx="11121887" cy="944219"/>
          </a:xfrm>
          <a:prstGeom prst="rect">
            <a:avLst/>
          </a:prstGeom>
          <a:solidFill>
            <a:schemeClr val="bg1">
              <a:lumMod val="8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Verdana" panose="020B0604030504040204" pitchFamily="34" charset="0"/>
                <a:ea typeface="Verdana" panose="020B0604030504040204" pitchFamily="34" charset="0"/>
              </a:rPr>
              <a:t>2. How Feedback Sustains </a:t>
            </a:r>
            <a:r>
              <a:rPr lang="en-US" dirty="0" smtClean="0">
                <a:latin typeface="Verdana" panose="020B0604030504040204" pitchFamily="34" charset="0"/>
                <a:ea typeface="Verdana" panose="020B0604030504040204" pitchFamily="34" charset="0"/>
              </a:rPr>
              <a:t>Oscillation</a:t>
            </a:r>
            <a:endParaRPr lang="en-US" dirty="0">
              <a:latin typeface="Verdana" panose="020B0604030504040204" pitchFamily="34" charset="0"/>
              <a:ea typeface="Verdana" panose="020B0604030504040204" pitchFamily="34" charset="0"/>
            </a:endParaRPr>
          </a:p>
        </p:txBody>
      </p:sp>
      <p:sp>
        <p:nvSpPr>
          <p:cNvPr id="3" name="Text Placeholder 2"/>
          <p:cNvSpPr>
            <a:spLocks noGrp="1"/>
          </p:cNvSpPr>
          <p:nvPr>
            <p:ph type="body" idx="1"/>
          </p:nvPr>
        </p:nvSpPr>
        <p:spPr>
          <a:xfrm>
            <a:off x="953881" y="1078874"/>
            <a:ext cx="10863746" cy="5539978"/>
          </a:xfrm>
        </p:spPr>
        <p:txBody>
          <a:bodyPr/>
          <a:lstStyle/>
          <a:p>
            <a:pPr marL="342900" indent="-342900" algn="just">
              <a:lnSpc>
                <a:spcPct val="150000"/>
              </a:lnSpc>
              <a:buFont typeface="Wingdings" panose="05000000000000000000" pitchFamily="2" charset="2"/>
              <a:buChar char="q"/>
            </a:pPr>
            <a:r>
              <a:rPr lang="en-US" dirty="0" smtClean="0">
                <a:latin typeface="fkGroteskNeue"/>
              </a:rPr>
              <a:t>Both </a:t>
            </a:r>
            <a:r>
              <a:rPr lang="en-US" dirty="0">
                <a:latin typeface="fkGroteskNeue"/>
              </a:rPr>
              <a:t>mechanical and electrical oscillators lose energy over </a:t>
            </a:r>
            <a:r>
              <a:rPr lang="en-US" b="1" dirty="0">
                <a:solidFill>
                  <a:srgbClr val="C00000"/>
                </a:solidFill>
                <a:latin typeface="fkGroteskNeue"/>
              </a:rPr>
              <a:t>time due to friction, air resistance, or circuit resistance</a:t>
            </a:r>
            <a:r>
              <a:rPr lang="en-US" dirty="0">
                <a:latin typeface="fkGroteskNeue"/>
              </a:rPr>
              <a:t>. </a:t>
            </a:r>
            <a:endParaRPr lang="en-US" dirty="0" smtClean="0">
              <a:latin typeface="fkGroteskNeue"/>
            </a:endParaRPr>
          </a:p>
          <a:p>
            <a:pPr marL="342900" indent="-342900" algn="just">
              <a:lnSpc>
                <a:spcPct val="150000"/>
              </a:lnSpc>
              <a:buFont typeface="Wingdings" panose="05000000000000000000" pitchFamily="2" charset="2"/>
              <a:buChar char="q"/>
            </a:pPr>
            <a:r>
              <a:rPr lang="en-US" dirty="0" smtClean="0">
                <a:latin typeface="fkGroteskNeue"/>
              </a:rPr>
              <a:t>In </a:t>
            </a:r>
            <a:r>
              <a:rPr lang="en-US" dirty="0">
                <a:latin typeface="fkGroteskNeue"/>
              </a:rPr>
              <a:t>a pendulum, you can keep it swinging by periodically “pushing” it at the right times—this adds energy to counteract losses. </a:t>
            </a:r>
            <a:endParaRPr lang="en-US" dirty="0" smtClean="0">
              <a:latin typeface="fkGroteskNeue"/>
            </a:endParaRPr>
          </a:p>
          <a:p>
            <a:pPr marL="342900" indent="-342900" algn="just">
              <a:lnSpc>
                <a:spcPct val="150000"/>
              </a:lnSpc>
              <a:buFont typeface="Wingdings" panose="05000000000000000000" pitchFamily="2" charset="2"/>
              <a:buChar char="q"/>
            </a:pPr>
            <a:r>
              <a:rPr lang="en-US" dirty="0" smtClean="0">
                <a:latin typeface="fkGroteskNeue"/>
              </a:rPr>
              <a:t>In </a:t>
            </a:r>
            <a:r>
              <a:rPr lang="en-US" dirty="0">
                <a:latin typeface="fkGroteskNeue"/>
              </a:rPr>
              <a:t>electronic circuits, feedback and amplification play the same role: an amplifier can sense the decreasing oscillations and boost them to keep the cycle going</a:t>
            </a:r>
            <a:r>
              <a:rPr lang="en-US" dirty="0" smtClean="0">
                <a:latin typeface="fkGroteskNeue"/>
              </a:rPr>
              <a:t>.</a:t>
            </a:r>
          </a:p>
          <a:p>
            <a:pPr marL="342900" indent="-342900" algn="just">
              <a:lnSpc>
                <a:spcPct val="150000"/>
              </a:lnSpc>
              <a:buFont typeface="Wingdings" panose="05000000000000000000" pitchFamily="2" charset="2"/>
              <a:buChar char="q"/>
            </a:pPr>
            <a:r>
              <a:rPr lang="en-US" dirty="0" smtClean="0">
                <a:latin typeface="fkGroteskNeue"/>
              </a:rPr>
              <a:t> </a:t>
            </a:r>
            <a:r>
              <a:rPr lang="en-US" dirty="0">
                <a:latin typeface="fkGroteskNeue"/>
              </a:rPr>
              <a:t>In a PLL, this active feedback is critical for maintaining stable oscillations and compensating for loss, like a steady hand keeping the pendulum swinging</a:t>
            </a:r>
            <a:r>
              <a:rPr lang="en-US" dirty="0" smtClean="0">
                <a:latin typeface="fkGroteskNeue"/>
              </a:rPr>
              <a:t>.</a:t>
            </a:r>
          </a:p>
          <a:p>
            <a:pPr algn="l"/>
            <a:endParaRPr lang="en-US" dirty="0">
              <a:latin typeface="fkGroteskNeue"/>
            </a:endParaRPr>
          </a:p>
          <a:p>
            <a:pPr algn="l"/>
            <a:endParaRPr lang="en-US" dirty="0">
              <a:latin typeface="fkGroteskNeue"/>
            </a:endParaRPr>
          </a:p>
          <a:p>
            <a:pPr algn="l"/>
            <a:r>
              <a:rPr lang="en-US" b="1" dirty="0" smtClean="0">
                <a:solidFill>
                  <a:srgbClr val="C00000"/>
                </a:solidFill>
                <a:latin typeface="fkGroteskNeue"/>
              </a:rPr>
              <a:t>Quick Check:</a:t>
            </a:r>
          </a:p>
          <a:p>
            <a:pPr algn="l"/>
            <a:r>
              <a:rPr lang="en-US" dirty="0">
                <a:latin typeface="fkGroteskNeue"/>
              </a:rPr>
              <a:t/>
            </a:r>
            <a:br>
              <a:rPr lang="en-US" dirty="0">
                <a:latin typeface="fkGroteskNeue"/>
              </a:rPr>
            </a:br>
            <a:r>
              <a:rPr lang="en-US" dirty="0">
                <a:latin typeface="fkGroteskNeue"/>
              </a:rPr>
              <a:t>Can you imagine what would happen to a pendulum or LC oscillator if you stopped adding energy through feedback or “pushes</a:t>
            </a:r>
            <a:r>
              <a:rPr lang="en-US" dirty="0" smtClean="0">
                <a:latin typeface="fkGroteskNeue"/>
              </a:rPr>
              <a:t>”?</a:t>
            </a:r>
            <a:endParaRPr lang="en-US" dirty="0">
              <a:latin typeface="fkGroteskNeue"/>
            </a:endParaRPr>
          </a:p>
        </p:txBody>
      </p:sp>
      <p:sp>
        <p:nvSpPr>
          <p:cNvPr id="4" name="Date Placeholder 3"/>
          <p:cNvSpPr>
            <a:spLocks noGrp="1"/>
          </p:cNvSpPr>
          <p:nvPr>
            <p:ph type="dt" sz="half" idx="6"/>
          </p:nvPr>
        </p:nvSpPr>
        <p:spPr>
          <a:xfrm>
            <a:off x="0" y="6216762"/>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DDD0E60-05A9-48E4-9F86-4B646092D63A}"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88609" y="6726421"/>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74987781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75862" y="3985592"/>
            <a:ext cx="11022496" cy="1500808"/>
          </a:xfrm>
          <a:prstGeom prst="rect">
            <a:avLst/>
          </a:prstGeom>
          <a:solidFill>
            <a:schemeClr val="bg1">
              <a:lumMod val="8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1442" y="0"/>
            <a:ext cx="11193222" cy="1046440"/>
          </a:xfrm>
        </p:spPr>
        <p:txBody>
          <a:bodyPr/>
          <a:lstStyle/>
          <a:p>
            <a:pPr algn="l"/>
            <a:r>
              <a:rPr lang="en-US" dirty="0"/>
              <a:t>3. Connecting Mechanical Examples with Electronic </a:t>
            </a:r>
            <a:r>
              <a:rPr lang="en-US" dirty="0" smtClean="0"/>
              <a:t>Counterparts</a:t>
            </a:r>
            <a:endParaRPr lang="en-US" dirty="0"/>
          </a:p>
        </p:txBody>
      </p:sp>
      <p:sp>
        <p:nvSpPr>
          <p:cNvPr id="3" name="Text Placeholder 2"/>
          <p:cNvSpPr>
            <a:spLocks noGrp="1"/>
          </p:cNvSpPr>
          <p:nvPr>
            <p:ph type="body" idx="1"/>
          </p:nvPr>
        </p:nvSpPr>
        <p:spPr>
          <a:xfrm>
            <a:off x="844549" y="1327353"/>
            <a:ext cx="10656151" cy="4308872"/>
          </a:xfrm>
        </p:spPr>
        <p:txBody>
          <a:bodyPr/>
          <a:lstStyle/>
          <a:p>
            <a:pPr marL="342900" indent="-342900" algn="just">
              <a:buFont typeface="Wingdings" panose="05000000000000000000" pitchFamily="2" charset="2"/>
              <a:buChar char="q"/>
            </a:pPr>
            <a:r>
              <a:rPr lang="en-US" b="1" i="1" dirty="0" smtClean="0">
                <a:solidFill>
                  <a:srgbClr val="C00000"/>
                </a:solidFill>
              </a:rPr>
              <a:t>Pendulum</a:t>
            </a:r>
            <a:r>
              <a:rPr lang="en-US" b="1" dirty="0">
                <a:solidFill>
                  <a:srgbClr val="C00000"/>
                </a:solidFill>
              </a:rPr>
              <a:t>: </a:t>
            </a:r>
            <a:r>
              <a:rPr lang="en-US" dirty="0"/>
              <a:t>Shows conservation of energy, natural frequency depends only on length (not mass), amplitude-independent period for small swings</a:t>
            </a:r>
            <a:r>
              <a:rPr lang="en-US" dirty="0" smtClean="0"/>
              <a:t>.</a:t>
            </a:r>
          </a:p>
          <a:p>
            <a:pPr marL="342900" indent="-342900" algn="just">
              <a:buFont typeface="Wingdings" panose="05000000000000000000" pitchFamily="2" charset="2"/>
              <a:buChar char="q"/>
            </a:pPr>
            <a:endParaRPr lang="en-US" dirty="0"/>
          </a:p>
          <a:p>
            <a:pPr marL="342900" indent="-342900" algn="just">
              <a:buFont typeface="Wingdings" panose="05000000000000000000" pitchFamily="2" charset="2"/>
              <a:buChar char="q"/>
            </a:pPr>
            <a:r>
              <a:rPr lang="en-US" b="1" i="1" dirty="0">
                <a:solidFill>
                  <a:srgbClr val="C00000"/>
                </a:solidFill>
              </a:rPr>
              <a:t>LC Oscillator</a:t>
            </a:r>
            <a:r>
              <a:rPr lang="en-US" b="1" dirty="0">
                <a:solidFill>
                  <a:srgbClr val="C00000"/>
                </a:solidFill>
              </a:rPr>
              <a:t>:</a:t>
            </a:r>
            <a:r>
              <a:rPr lang="en-US" b="1" dirty="0"/>
              <a:t> </a:t>
            </a:r>
            <a:r>
              <a:rPr lang="en-US" dirty="0"/>
              <a:t>Energy flips between capacitor and inductor, natural frequency depends only on L and C values — not amplitude, just like pendulum</a:t>
            </a:r>
            <a:r>
              <a:rPr lang="en-US" dirty="0" smtClean="0"/>
              <a:t>.</a:t>
            </a:r>
          </a:p>
          <a:p>
            <a:pPr marL="342900" indent="-342900" algn="just">
              <a:buFont typeface="Wingdings" panose="05000000000000000000" pitchFamily="2" charset="2"/>
              <a:buChar char="q"/>
            </a:pPr>
            <a:endParaRPr lang="en-US" dirty="0"/>
          </a:p>
          <a:p>
            <a:pPr marL="342900" indent="-342900" algn="just">
              <a:buFont typeface="Wingdings" panose="05000000000000000000" pitchFamily="2" charset="2"/>
              <a:buChar char="q"/>
            </a:pPr>
            <a:r>
              <a:rPr lang="en-US" b="1" i="1" dirty="0">
                <a:solidFill>
                  <a:srgbClr val="C00000"/>
                </a:solidFill>
              </a:rPr>
              <a:t>Ring oscillator</a:t>
            </a:r>
            <a:r>
              <a:rPr lang="en-US" b="1" dirty="0">
                <a:solidFill>
                  <a:srgbClr val="C00000"/>
                </a:solidFill>
              </a:rPr>
              <a:t>: </a:t>
            </a:r>
            <a:r>
              <a:rPr lang="en-US" dirty="0"/>
              <a:t>Instead of energy storage elements, uses delay and gain in logic inverters to create periodic transitions</a:t>
            </a:r>
            <a:r>
              <a:rPr lang="en-US" dirty="0" smtClean="0"/>
              <a:t>.</a:t>
            </a:r>
          </a:p>
          <a:p>
            <a:pPr marL="342900" indent="-342900">
              <a:buFont typeface="Arial" panose="020B0604020202020204" pitchFamily="34" charset="0"/>
              <a:buChar char="•"/>
            </a:pPr>
            <a:endParaRPr lang="en-US" dirty="0"/>
          </a:p>
          <a:p>
            <a:pPr algn="just"/>
            <a:r>
              <a:rPr lang="en-US" b="1" dirty="0">
                <a:solidFill>
                  <a:srgbClr val="C00000"/>
                </a:solidFill>
              </a:rPr>
              <a:t>Link to PLLs:</a:t>
            </a:r>
            <a:r>
              <a:rPr lang="en-US" dirty="0"/>
              <a:t> PLLs use voltage-controlled oscillators (VCOs) where feedback adjusts the energy input to maintain a target frequency, effectively “steering” the oscillator based on phase comparisons—much like nudging the pendulum to match a clock’s beat.</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9C3F331-5DC1-4333-9F68-8F5D8718C58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60440259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4888" y="3975652"/>
            <a:ext cx="10569712" cy="1858618"/>
          </a:xfrm>
          <a:prstGeom prst="rect">
            <a:avLst/>
          </a:prstGeom>
          <a:solidFill>
            <a:schemeClr val="bg1">
              <a:lumMod val="8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6284" y="0"/>
            <a:ext cx="10593196" cy="1046440"/>
          </a:xfrm>
        </p:spPr>
        <p:txBody>
          <a:bodyPr/>
          <a:lstStyle/>
          <a:p>
            <a:r>
              <a:rPr lang="en-US" dirty="0">
                <a:latin typeface="fkGrotesk"/>
              </a:rPr>
              <a:t>4. Frequency Selectivity and Feedback: The Heart of Oscillators and </a:t>
            </a:r>
            <a:r>
              <a:rPr lang="en-US" dirty="0" smtClean="0">
                <a:latin typeface="fkGrotesk"/>
              </a:rPr>
              <a:t>PLLs</a:t>
            </a:r>
            <a:endParaRPr lang="en-US" dirty="0"/>
          </a:p>
        </p:txBody>
      </p:sp>
      <p:sp>
        <p:nvSpPr>
          <p:cNvPr id="3" name="Text Placeholder 2"/>
          <p:cNvSpPr>
            <a:spLocks noGrp="1"/>
          </p:cNvSpPr>
          <p:nvPr>
            <p:ph type="body" idx="1"/>
          </p:nvPr>
        </p:nvSpPr>
        <p:spPr>
          <a:xfrm>
            <a:off x="844550" y="1327353"/>
            <a:ext cx="10458188" cy="4616648"/>
          </a:xfrm>
        </p:spPr>
        <p:txBody>
          <a:bodyPr/>
          <a:lstStyle/>
          <a:p>
            <a:pPr marL="342900" indent="-342900" algn="just">
              <a:buFont typeface="Wingdings" panose="05000000000000000000" pitchFamily="2" charset="2"/>
              <a:buChar char="q"/>
            </a:pPr>
            <a:r>
              <a:rPr lang="en-US" dirty="0" smtClean="0">
                <a:latin typeface="fkGroteskNeue"/>
              </a:rPr>
              <a:t>Oscillators </a:t>
            </a:r>
            <a:r>
              <a:rPr lang="en-US" dirty="0">
                <a:latin typeface="fkGroteskNeue"/>
              </a:rPr>
              <a:t>and PLLs select and stabilize frequencies not by amplitude or energy, but by intrinsic system properties (length for pendulum, LC values for circuits</a:t>
            </a:r>
            <a:r>
              <a:rPr lang="en-US" dirty="0" smtClean="0">
                <a:latin typeface="fkGroteskNeue"/>
              </a:rPr>
              <a:t>).</a:t>
            </a:r>
          </a:p>
          <a:p>
            <a:pPr algn="just"/>
            <a:r>
              <a:rPr lang="en-US" dirty="0" smtClean="0">
                <a:latin typeface="fkGroteskNeue"/>
              </a:rPr>
              <a:t> </a:t>
            </a:r>
          </a:p>
          <a:p>
            <a:pPr marL="342900" indent="-342900" algn="just">
              <a:buFont typeface="Wingdings" panose="05000000000000000000" pitchFamily="2" charset="2"/>
              <a:buChar char="q"/>
            </a:pPr>
            <a:r>
              <a:rPr lang="en-US" dirty="0" smtClean="0">
                <a:latin typeface="fkGroteskNeue"/>
              </a:rPr>
              <a:t>In </a:t>
            </a:r>
            <a:r>
              <a:rPr lang="en-US" dirty="0">
                <a:latin typeface="fkGroteskNeue"/>
              </a:rPr>
              <a:t>PLLs, feedback is used not only to sustain oscillations but also to lock the output to a desired phase/frequency, reducing “jitter” and improving signal quality</a:t>
            </a:r>
            <a:r>
              <a:rPr lang="en-US" dirty="0" smtClean="0">
                <a:latin typeface="fkGroteskNeue"/>
              </a:rPr>
              <a:t>.</a:t>
            </a:r>
          </a:p>
          <a:p>
            <a:pPr algn="just"/>
            <a:endParaRPr lang="en-US" dirty="0">
              <a:latin typeface="fkGroteskNeue"/>
            </a:endParaRPr>
          </a:p>
          <a:p>
            <a:pPr algn="just"/>
            <a:endParaRPr lang="en-US" dirty="0">
              <a:latin typeface="fkGroteskNeue"/>
            </a:endParaRPr>
          </a:p>
          <a:p>
            <a:pPr algn="ctr"/>
            <a:r>
              <a:rPr lang="en-US" b="1" dirty="0" smtClean="0">
                <a:solidFill>
                  <a:srgbClr val="FF0000"/>
                </a:solidFill>
                <a:latin typeface="fkGroteskNeue"/>
              </a:rPr>
              <a:t>Takeaway:</a:t>
            </a:r>
          </a:p>
          <a:p>
            <a:pPr algn="just"/>
            <a:endParaRPr lang="en-US" b="1" dirty="0">
              <a:solidFill>
                <a:srgbClr val="FF0000"/>
              </a:solidFill>
              <a:latin typeface="fkGroteskNeue"/>
            </a:endParaRPr>
          </a:p>
          <a:p>
            <a:pPr marL="800100" lvl="1" indent="-342900" algn="just">
              <a:buFont typeface="Wingdings" panose="05000000000000000000" pitchFamily="2" charset="2"/>
              <a:buChar char="q"/>
            </a:pPr>
            <a:r>
              <a:rPr lang="en-US" sz="2000" dirty="0">
                <a:solidFill>
                  <a:srgbClr val="FF0000"/>
                </a:solidFill>
                <a:latin typeface="fkGroteskNeue"/>
              </a:rPr>
              <a:t>Energy cycling: </a:t>
            </a:r>
            <a:r>
              <a:rPr lang="en-US" sz="2000" dirty="0">
                <a:latin typeface="fkGroteskNeue"/>
              </a:rPr>
              <a:t>All oscillators rely on a back-and-forth energy conversion.</a:t>
            </a:r>
          </a:p>
          <a:p>
            <a:pPr marL="800100" lvl="1" indent="-342900" algn="just">
              <a:buFont typeface="Wingdings" panose="05000000000000000000" pitchFamily="2" charset="2"/>
              <a:buChar char="q"/>
            </a:pPr>
            <a:r>
              <a:rPr lang="en-US" sz="2000" dirty="0">
                <a:solidFill>
                  <a:srgbClr val="FF0000"/>
                </a:solidFill>
                <a:latin typeface="fkGroteskNeue"/>
              </a:rPr>
              <a:t>Feedback is key:</a:t>
            </a:r>
            <a:r>
              <a:rPr lang="en-US" sz="2000" dirty="0">
                <a:latin typeface="fkGroteskNeue"/>
              </a:rPr>
              <a:t> Periodic “pushes” or feedback are what make oscillators persistent.</a:t>
            </a:r>
          </a:p>
          <a:p>
            <a:pPr marL="800100" lvl="1" indent="-342900" algn="just">
              <a:buFont typeface="Wingdings" panose="05000000000000000000" pitchFamily="2" charset="2"/>
              <a:buChar char="q"/>
            </a:pPr>
            <a:r>
              <a:rPr lang="en-US" sz="2000" dirty="0">
                <a:latin typeface="fkGroteskNeue"/>
              </a:rPr>
              <a:t>Frequency comes from physical parameters, not how “hard” you push.</a:t>
            </a:r>
          </a:p>
          <a:p>
            <a:pPr marL="800100" lvl="1" indent="-342900" algn="just">
              <a:buFont typeface="Wingdings" panose="05000000000000000000" pitchFamily="2" charset="2"/>
              <a:buChar char="q"/>
            </a:pPr>
            <a:r>
              <a:rPr lang="en-US" sz="2000" dirty="0">
                <a:latin typeface="fkGroteskNeue"/>
              </a:rPr>
              <a:t>PLLs harness these features to keep signals steady and accurate—for timing, synchronization, and high-performance circuit design</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43C2A40-8A9C-43AB-B210-A034CEDA08D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2094629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p:cNvSpPr/>
          <p:nvPr/>
        </p:nvSpPr>
        <p:spPr>
          <a:xfrm>
            <a:off x="716355" y="1223985"/>
            <a:ext cx="8207512" cy="4761948"/>
          </a:xfrm>
          <a:prstGeom prst="rect">
            <a:avLst/>
          </a:prstGeom>
          <a:solidFill>
            <a:schemeClr val="bg1">
              <a:lumMod val="8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Mechanical Analogy &amp; Oscillatory </a:t>
            </a:r>
            <a:r>
              <a:rPr lang="en-US" dirty="0" smtClean="0"/>
              <a:t>Feedback</a:t>
            </a:r>
            <a:endParaRPr lang="en-US" dirty="0"/>
          </a:p>
        </p:txBody>
      </p:sp>
      <p:sp>
        <p:nvSpPr>
          <p:cNvPr id="3" name="Text Placeholder 2"/>
          <p:cNvSpPr>
            <a:spLocks noGrp="1"/>
          </p:cNvSpPr>
          <p:nvPr>
            <p:ph type="body" idx="1"/>
          </p:nvPr>
        </p:nvSpPr>
        <p:spPr>
          <a:xfrm>
            <a:off x="844550" y="1327353"/>
            <a:ext cx="7867650" cy="4616648"/>
          </a:xfrm>
        </p:spPr>
        <p:txBody>
          <a:bodyPr/>
          <a:lstStyle/>
          <a:p>
            <a:pPr marL="342900" indent="-342900" algn="just">
              <a:lnSpc>
                <a:spcPct val="150000"/>
              </a:lnSpc>
              <a:buFont typeface="Wingdings" panose="05000000000000000000" pitchFamily="2" charset="2"/>
              <a:buChar char="q"/>
            </a:pPr>
            <a:r>
              <a:rPr lang="en-US" b="1" dirty="0">
                <a:solidFill>
                  <a:srgbClr val="00B050"/>
                </a:solidFill>
                <a:latin typeface="fkGroteskNeue"/>
              </a:rPr>
              <a:t>Pendulum to Feedback System:</a:t>
            </a:r>
            <a:r>
              <a:rPr lang="en-US" dirty="0">
                <a:latin typeface="fkGroteskNeue"/>
              </a:rPr>
              <a:t> As in a pendulum, where energy cycles between kinetic and potential forms, electronic feedback circuits shuttle signals around a loop. Figure </a:t>
            </a:r>
            <a:r>
              <a:rPr lang="en-US" dirty="0" smtClean="0">
                <a:latin typeface="fkGroteskNeue"/>
              </a:rPr>
              <a:t>(a</a:t>
            </a:r>
            <a:r>
              <a:rPr lang="en-US" dirty="0">
                <a:latin typeface="fkGroteskNeue"/>
              </a:rPr>
              <a:t>) shows a simple feedback system: at every moment, the feedback (the loop) can either stabilize (reduce amplitude) or destabilize (grow amplitude</a:t>
            </a:r>
            <a:r>
              <a:rPr lang="en-US" dirty="0" smtClean="0">
                <a:latin typeface="fkGroteskNeue"/>
              </a:rPr>
              <a:t>), </a:t>
            </a:r>
            <a:r>
              <a:rPr lang="en-US" dirty="0">
                <a:latin typeface="fkGroteskNeue"/>
              </a:rPr>
              <a:t>depending on the phase and gain.</a:t>
            </a:r>
          </a:p>
          <a:p>
            <a:pPr marL="342900" indent="-342900" algn="just">
              <a:lnSpc>
                <a:spcPct val="150000"/>
              </a:lnSpc>
              <a:buFont typeface="Wingdings" panose="05000000000000000000" pitchFamily="2" charset="2"/>
              <a:buChar char="q"/>
            </a:pPr>
            <a:r>
              <a:rPr lang="en-US" b="1" dirty="0" smtClean="0">
                <a:solidFill>
                  <a:srgbClr val="00B050"/>
                </a:solidFill>
                <a:latin typeface="fkGroteskNeue"/>
              </a:rPr>
              <a:t>Amplifier Example:</a:t>
            </a:r>
            <a:r>
              <a:rPr lang="en-US" dirty="0" smtClean="0">
                <a:latin typeface="fkGroteskNeue"/>
              </a:rPr>
              <a:t> </a:t>
            </a:r>
            <a:r>
              <a:rPr lang="en-US" dirty="0" smtClean="0">
                <a:latin typeface="fkGroteskNeue"/>
              </a:rPr>
              <a:t>Figure (b</a:t>
            </a:r>
            <a:r>
              <a:rPr lang="en-US" dirty="0" smtClean="0">
                <a:latin typeface="fkGroteskNeue"/>
              </a:rPr>
              <a:t>) uses an op-amp to realize feedback. At low frequencies, it behaves like a buffer; phase lag is minimal. The loop is stable unless gain/phase conditions allow build-up.</a:t>
            </a:r>
          </a:p>
        </p:txBody>
      </p:sp>
      <p:sp>
        <p:nvSpPr>
          <p:cNvPr id="4" name="Footer Placeholder 3"/>
          <p:cNvSpPr>
            <a:spLocks noGrp="1"/>
          </p:cNvSpPr>
          <p:nvPr>
            <p:ph type="ftr" sz="quarter" idx="5"/>
          </p:nvPr>
        </p:nvSpPr>
        <p:spPr>
          <a:xfrm>
            <a:off x="4597331" y="6495451"/>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8D4C6CB-CAFC-4B87-8C00-04EF7904B47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9343" r="47779" b="40601"/>
          <a:stretch/>
        </p:blipFill>
        <p:spPr>
          <a:xfrm>
            <a:off x="8994375" y="1651868"/>
            <a:ext cx="3092724" cy="3326531"/>
          </a:xfrm>
          <a:prstGeom prst="rect">
            <a:avLst/>
          </a:prstGeom>
        </p:spPr>
      </p:pic>
    </p:spTree>
    <p:extLst>
      <p:ext uri="{BB962C8B-B14F-4D97-AF65-F5344CB8AC3E}">
        <p14:creationId xmlns:p14="http://schemas.microsoft.com/office/powerpoint/2010/main" val="2700899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24821" y="1291719"/>
            <a:ext cx="11022496" cy="2738414"/>
          </a:xfrm>
          <a:prstGeom prst="rect">
            <a:avLst/>
          </a:prstGeom>
          <a:solidFill>
            <a:schemeClr val="bg1">
              <a:lumMod val="8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44550" y="1327353"/>
            <a:ext cx="10714659" cy="2677656"/>
          </a:xfrm>
        </p:spPr>
        <p:txBody>
          <a:bodyPr/>
          <a:lstStyle/>
          <a:p>
            <a:pPr marL="342900" marR="0" lvl="0" indent="-342900" algn="just" defTabSz="91440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b="1" dirty="0">
                <a:solidFill>
                  <a:srgbClr val="00B050"/>
                </a:solidFill>
                <a:latin typeface="fkGroteskNeue"/>
              </a:rPr>
              <a:t>Oscillation Criteria:</a:t>
            </a:r>
            <a:r>
              <a:rPr lang="en-US" dirty="0">
                <a:solidFill>
                  <a:prstClr val="black"/>
                </a:solidFill>
                <a:latin typeface="fkGroteskNeue"/>
              </a:rPr>
              <a:t> As plotted in Fig</a:t>
            </a:r>
            <a:r>
              <a:rPr lang="en-US" dirty="0" smtClean="0">
                <a:solidFill>
                  <a:prstClr val="black"/>
                </a:solidFill>
                <a:latin typeface="fkGroteskNeue"/>
              </a:rPr>
              <a:t>. (c-d</a:t>
            </a:r>
            <a:r>
              <a:rPr lang="en-US" dirty="0">
                <a:solidFill>
                  <a:prstClr val="black"/>
                </a:solidFill>
                <a:latin typeface="fkGroteskNeue"/>
              </a:rPr>
              <a:t>), when feedback returns a signal with enough gain and 180° phase shift at frequency </a:t>
            </a:r>
            <a:r>
              <a:rPr lang="en-US" i="1" dirty="0">
                <a:solidFill>
                  <a:prstClr val="black"/>
                </a:solidFill>
                <a:latin typeface="KaTeX_Math"/>
              </a:rPr>
              <a:t>ω</a:t>
            </a:r>
            <a:r>
              <a:rPr lang="en-US" dirty="0">
                <a:solidFill>
                  <a:prstClr val="black"/>
                </a:solidFill>
                <a:latin typeface="KaTeX_Main"/>
              </a:rPr>
              <a:t>0</a:t>
            </a:r>
            <a:r>
              <a:rPr lang="en-US" dirty="0">
                <a:solidFill>
                  <a:prstClr val="black"/>
                </a:solidFill>
                <a:latin typeface="fkGroteskNeue"/>
              </a:rPr>
              <a:t>, the loop can sustain oscillations. The system "feeds itself": output is inverted and returned, reinforcing the oscillation. This is the basis for </a:t>
            </a:r>
            <a:r>
              <a:rPr lang="en-US" b="1" dirty="0" err="1">
                <a:solidFill>
                  <a:srgbClr val="00B050"/>
                </a:solidFill>
                <a:latin typeface="fkGroteskNeue"/>
              </a:rPr>
              <a:t>Barkhausen’s</a:t>
            </a:r>
            <a:r>
              <a:rPr lang="en-US" b="1" dirty="0">
                <a:solidFill>
                  <a:srgbClr val="00B050"/>
                </a:solidFill>
                <a:latin typeface="fkGroteskNeue"/>
              </a:rPr>
              <a:t> criteria:</a:t>
            </a:r>
          </a:p>
          <a:p>
            <a:pPr marL="742950" marR="0" lvl="1" indent="-285750" algn="just" defTabSz="91440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dirty="0">
                <a:latin typeface="fkGroteskNeue"/>
              </a:rPr>
              <a:t>At frequency </a:t>
            </a:r>
            <a:r>
              <a:rPr lang="en-US" i="1" dirty="0">
                <a:latin typeface="KaTeX_Math"/>
              </a:rPr>
              <a:t>ω</a:t>
            </a:r>
            <a:r>
              <a:rPr lang="en-US" dirty="0">
                <a:latin typeface="KaTeX_Main"/>
              </a:rPr>
              <a:t>0</a:t>
            </a:r>
            <a:r>
              <a:rPr lang="en-US" dirty="0">
                <a:latin typeface="fkGroteskNeue"/>
              </a:rPr>
              <a:t>, loop gain magnitude is unity: </a:t>
            </a:r>
            <a:r>
              <a:rPr lang="en-US" dirty="0">
                <a:latin typeface="KaTeX_Main"/>
              </a:rPr>
              <a:t>∣</a:t>
            </a:r>
            <a:r>
              <a:rPr lang="en-US" i="1" dirty="0">
                <a:latin typeface="KaTeX_Math"/>
              </a:rPr>
              <a:t>H</a:t>
            </a:r>
            <a:r>
              <a:rPr lang="en-US" dirty="0">
                <a:latin typeface="KaTeX_Main"/>
              </a:rPr>
              <a:t>(</a:t>
            </a:r>
            <a:r>
              <a:rPr lang="en-US" i="1" dirty="0">
                <a:latin typeface="KaTeX_Math"/>
              </a:rPr>
              <a:t>jω</a:t>
            </a:r>
            <a:r>
              <a:rPr lang="en-US" dirty="0">
                <a:latin typeface="KaTeX_Main"/>
              </a:rPr>
              <a:t>0)∣=1</a:t>
            </a:r>
            <a:endParaRPr lang="en-US" dirty="0">
              <a:latin typeface="fkGroteskNeue"/>
            </a:endParaRPr>
          </a:p>
          <a:p>
            <a:pPr marL="742950" marR="0" lvl="1" indent="-285750" algn="just" defTabSz="91440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dirty="0">
                <a:latin typeface="fkGroteskNeue"/>
              </a:rPr>
              <a:t>Total phase shift is 360° (which is equivalent to 0°, so signal reinforces itself</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CE25947-F7A7-4E60-BC42-4D8545501837}"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597331" y="6495451"/>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pic>
        <p:nvPicPr>
          <p:cNvPr id="8" name="Picture 7"/>
          <p:cNvPicPr>
            <a:picLocks noChangeAspect="1"/>
          </p:cNvPicPr>
          <p:nvPr/>
        </p:nvPicPr>
        <p:blipFill rotWithShape="1">
          <a:blip r:embed="rId2"/>
          <a:srcRect l="53176" t="57554" r="5143"/>
          <a:stretch/>
        </p:blipFill>
        <p:spPr>
          <a:xfrm>
            <a:off x="4572000" y="4301067"/>
            <a:ext cx="2709333" cy="2142206"/>
          </a:xfrm>
          <a:prstGeom prst="rect">
            <a:avLst/>
          </a:prstGeom>
        </p:spPr>
      </p:pic>
      <p:pic>
        <p:nvPicPr>
          <p:cNvPr id="9" name="Picture 8"/>
          <p:cNvPicPr>
            <a:picLocks noChangeAspect="1"/>
          </p:cNvPicPr>
          <p:nvPr/>
        </p:nvPicPr>
        <p:blipFill rotWithShape="1">
          <a:blip r:embed="rId2"/>
          <a:srcRect l="53812" r="6734" b="42036"/>
          <a:stretch/>
        </p:blipFill>
        <p:spPr>
          <a:xfrm>
            <a:off x="770466" y="4039470"/>
            <a:ext cx="2099734" cy="2395197"/>
          </a:xfrm>
          <a:prstGeom prst="rect">
            <a:avLst/>
          </a:prstGeom>
        </p:spPr>
      </p:pic>
      <p:pic>
        <p:nvPicPr>
          <p:cNvPr id="10" name="Picture 9"/>
          <p:cNvPicPr>
            <a:picLocks noChangeAspect="1"/>
          </p:cNvPicPr>
          <p:nvPr/>
        </p:nvPicPr>
        <p:blipFill rotWithShape="1">
          <a:blip r:embed="rId2"/>
          <a:srcRect l="9343" t="69643" r="51597"/>
          <a:stretch/>
        </p:blipFill>
        <p:spPr>
          <a:xfrm>
            <a:off x="8267516" y="4368799"/>
            <a:ext cx="3010084" cy="1816401"/>
          </a:xfrm>
          <a:prstGeom prst="rect">
            <a:avLst/>
          </a:prstGeom>
        </p:spPr>
      </p:pic>
    </p:spTree>
    <p:extLst>
      <p:ext uri="{BB962C8B-B14F-4D97-AF65-F5344CB8AC3E}">
        <p14:creationId xmlns:p14="http://schemas.microsoft.com/office/powerpoint/2010/main" val="328119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Rectangle 10"/>
          <p:cNvSpPr/>
          <p:nvPr/>
        </p:nvSpPr>
        <p:spPr>
          <a:xfrm>
            <a:off x="279399" y="1198584"/>
            <a:ext cx="6197601" cy="5075215"/>
          </a:xfrm>
          <a:prstGeom prst="rect">
            <a:avLst/>
          </a:prstGeom>
          <a:solidFill>
            <a:schemeClr val="bg1">
              <a:lumMod val="8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Neue"/>
              </a:rPr>
              <a:t>Simple feedback system:</a:t>
            </a:r>
            <a:endParaRPr lang="en-US" dirty="0"/>
          </a:p>
        </p:txBody>
      </p:sp>
      <p:sp>
        <p:nvSpPr>
          <p:cNvPr id="3" name="Text Placeholder 2"/>
          <p:cNvSpPr>
            <a:spLocks noGrp="1"/>
          </p:cNvSpPr>
          <p:nvPr>
            <p:ph type="body" idx="1"/>
          </p:nvPr>
        </p:nvSpPr>
        <p:spPr>
          <a:xfrm>
            <a:off x="387351" y="1178266"/>
            <a:ext cx="5874301" cy="5020349"/>
          </a:xfrm>
        </p:spPr>
        <p:txBody>
          <a:bodyPr/>
          <a:lstStyle/>
          <a:p>
            <a:pPr marL="342900" indent="-342900" algn="just">
              <a:lnSpc>
                <a:spcPct val="150000"/>
              </a:lnSpc>
              <a:buFont typeface="Wingdings" panose="05000000000000000000" pitchFamily="2" charset="2"/>
              <a:buChar char="q"/>
            </a:pPr>
            <a:r>
              <a:rPr lang="en-US" dirty="0" smtClean="0">
                <a:latin typeface="fkGroteskNeue"/>
              </a:rPr>
              <a:t>Signal </a:t>
            </a:r>
            <a:r>
              <a:rPr lang="en-US" dirty="0">
                <a:latin typeface="fkGroteskNeue"/>
              </a:rPr>
              <a:t>traverses amplifier and feedback block; phase goes to 180° at key frequency and returns around the loop, growing if conditions are right. </a:t>
            </a:r>
            <a:endParaRPr lang="en-US" dirty="0" smtClean="0">
              <a:latin typeface="fkGroteskNeue"/>
            </a:endParaRPr>
          </a:p>
          <a:p>
            <a:pPr marL="342900" indent="-342900" algn="just">
              <a:lnSpc>
                <a:spcPct val="150000"/>
              </a:lnSpc>
              <a:buFont typeface="Wingdings" panose="05000000000000000000" pitchFamily="2" charset="2"/>
              <a:buChar char="q"/>
            </a:pPr>
            <a:endParaRPr lang="en-US" dirty="0" smtClean="0">
              <a:latin typeface="fkGroteskNeue"/>
            </a:endParaRPr>
          </a:p>
          <a:p>
            <a:pPr marL="342900" indent="-342900" algn="just">
              <a:lnSpc>
                <a:spcPct val="150000"/>
              </a:lnSpc>
              <a:buFont typeface="Wingdings" panose="05000000000000000000" pitchFamily="2" charset="2"/>
              <a:buChar char="q"/>
            </a:pPr>
            <a:r>
              <a:rPr lang="en-US" dirty="0" smtClean="0">
                <a:latin typeface="fkGroteskNeue"/>
              </a:rPr>
              <a:t>In </a:t>
            </a:r>
            <a:r>
              <a:rPr lang="en-US" dirty="0">
                <a:latin typeface="fkGroteskNeue"/>
              </a:rPr>
              <a:t>the op-amp example, feedback is negative at low frequencies but can become positive if phase/gain criteria are met, causing oscillation. </a:t>
            </a:r>
            <a:endParaRPr lang="en-US" dirty="0" smtClean="0">
              <a:latin typeface="fkGroteskNeue"/>
            </a:endParaRPr>
          </a:p>
          <a:p>
            <a:pPr marL="342900" indent="-342900" algn="just">
              <a:lnSpc>
                <a:spcPct val="150000"/>
              </a:lnSpc>
              <a:buFont typeface="Wingdings" panose="05000000000000000000" pitchFamily="2" charset="2"/>
              <a:buChar char="q"/>
            </a:pPr>
            <a:endParaRPr lang="en-US" dirty="0" smtClean="0">
              <a:latin typeface="fkGroteskNeue"/>
            </a:endParaRPr>
          </a:p>
          <a:p>
            <a:pPr marL="342900" indent="-342900" algn="just">
              <a:lnSpc>
                <a:spcPct val="150000"/>
              </a:lnSpc>
              <a:buFont typeface="Wingdings" panose="05000000000000000000" pitchFamily="2" charset="2"/>
              <a:buChar char="q"/>
            </a:pPr>
            <a:r>
              <a:rPr lang="en-US" dirty="0" smtClean="0">
                <a:latin typeface="fkGroteskNeue"/>
              </a:rPr>
              <a:t>Plots </a:t>
            </a:r>
            <a:r>
              <a:rPr lang="en-US" dirty="0">
                <a:latin typeface="fkGroteskNeue"/>
              </a:rPr>
              <a:t>show gain/phase versus frequency; at the oscillation point, the phase crosses 180° and gain is unity, matching </a:t>
            </a:r>
            <a:r>
              <a:rPr lang="en-US" dirty="0" err="1">
                <a:latin typeface="fkGroteskNeue"/>
              </a:rPr>
              <a:t>Barkhausen</a:t>
            </a:r>
            <a:r>
              <a:rPr lang="en-US" dirty="0">
                <a:latin typeface="fkGroteskNeue"/>
              </a:rPr>
              <a:t> </a:t>
            </a:r>
            <a:r>
              <a:rPr lang="en-US" dirty="0" smtClean="0">
                <a:latin typeface="fkGroteskNeue"/>
              </a:rPr>
              <a:t>conditions.</a:t>
            </a:r>
            <a:endParaRPr lang="en-US" dirty="0"/>
          </a:p>
        </p:txBody>
      </p:sp>
      <p:sp>
        <p:nvSpPr>
          <p:cNvPr id="5" name="Date Placeholder 4"/>
          <p:cNvSpPr>
            <a:spLocks noGrp="1"/>
          </p:cNvSpPr>
          <p:nvPr>
            <p:ph type="dt" sz="half" idx="6"/>
          </p:nvPr>
        </p:nvSpPr>
        <p:spPr>
          <a:xfrm>
            <a:off x="359056" y="6530469"/>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EAB84F4-5B21-4879-B64C-ECE455712138}"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9343"/>
          <a:stretch/>
        </p:blipFill>
        <p:spPr>
          <a:xfrm>
            <a:off x="7285383" y="1093070"/>
            <a:ext cx="4824748" cy="4132195"/>
          </a:xfrm>
          <a:prstGeom prst="rect">
            <a:avLst/>
          </a:prstGeom>
        </p:spPr>
      </p:pic>
      <p:sp>
        <p:nvSpPr>
          <p:cNvPr id="8" name="Rectangle 7"/>
          <p:cNvSpPr/>
          <p:nvPr/>
        </p:nvSpPr>
        <p:spPr>
          <a:xfrm>
            <a:off x="7126357" y="1212575"/>
            <a:ext cx="4651514" cy="404522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556514" y="5313618"/>
            <a:ext cx="5705060" cy="1200329"/>
          </a:xfrm>
          <a:prstGeom prst="rect">
            <a:avLst/>
          </a:prstGeom>
        </p:spPr>
        <p:txBody>
          <a:bodyPr wrap="square">
            <a:spAutoFit/>
          </a:bodyPr>
          <a:lstStyle/>
          <a:p>
            <a:pPr algn="just"/>
            <a:r>
              <a:rPr lang="en-US" dirty="0">
                <a:solidFill>
                  <a:srgbClr val="231F20"/>
                </a:solidFill>
                <a:latin typeface="T3Font_129"/>
              </a:rPr>
              <a:t>(a) Simple feedback system, (b) realization using an op amp, (c) open-loop frequency response showing </a:t>
            </a:r>
            <a:r>
              <a:rPr lang="en-US" dirty="0" smtClean="0">
                <a:solidFill>
                  <a:srgbClr val="231F20"/>
                </a:solidFill>
                <a:latin typeface="T3Font_129"/>
              </a:rPr>
              <a:t>zero phase </a:t>
            </a:r>
            <a:r>
              <a:rPr lang="en-US" dirty="0">
                <a:solidFill>
                  <a:srgbClr val="231F20"/>
                </a:solidFill>
                <a:latin typeface="T3Font_129"/>
              </a:rPr>
              <a:t>margin, (d) signal inversion at </a:t>
            </a:r>
            <a:r>
              <a:rPr lang="en-US" dirty="0">
                <a:solidFill>
                  <a:srgbClr val="231F20"/>
                </a:solidFill>
                <a:latin typeface="T3Font_134"/>
              </a:rPr>
              <a:t>ω</a:t>
            </a:r>
            <a:r>
              <a:rPr lang="en-US" sz="800" dirty="0">
                <a:solidFill>
                  <a:srgbClr val="231F20"/>
                </a:solidFill>
                <a:latin typeface="T3Font_131"/>
              </a:rPr>
              <a:t>0</a:t>
            </a:r>
            <a:r>
              <a:rPr lang="en-US" dirty="0">
                <a:solidFill>
                  <a:srgbClr val="231F20"/>
                </a:solidFill>
                <a:latin typeface="T3Font_129"/>
              </a:rPr>
              <a:t>, and (e) propagation of a sinusoid at </a:t>
            </a:r>
            <a:r>
              <a:rPr lang="en-US" dirty="0">
                <a:solidFill>
                  <a:srgbClr val="231F20"/>
                </a:solidFill>
                <a:latin typeface="T3Font_134"/>
              </a:rPr>
              <a:t>ω</a:t>
            </a:r>
            <a:r>
              <a:rPr lang="en-US" sz="800" dirty="0">
                <a:solidFill>
                  <a:srgbClr val="231F20"/>
                </a:solidFill>
                <a:latin typeface="T3Font_131"/>
              </a:rPr>
              <a:t>0 </a:t>
            </a:r>
            <a:r>
              <a:rPr lang="en-US" dirty="0">
                <a:solidFill>
                  <a:srgbClr val="231F20"/>
                </a:solidFill>
                <a:latin typeface="T3Font_129"/>
              </a:rPr>
              <a:t>around the loop.</a:t>
            </a:r>
            <a:endParaRPr lang="en-US" dirty="0"/>
          </a:p>
        </p:txBody>
      </p:sp>
      <p:sp>
        <p:nvSpPr>
          <p:cNvPr id="6" name="Slide Number Placeholder 5"/>
          <p:cNvSpPr>
            <a:spLocks noGrp="1"/>
          </p:cNvSpPr>
          <p:nvPr>
            <p:ph type="sldNum" sz="quarter" idx="7"/>
          </p:nvPr>
        </p:nvSpPr>
        <p:spPr>
          <a:xfrm>
            <a:off x="11499640" y="655432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10" name="Footer Placeholder 3"/>
          <p:cNvSpPr>
            <a:spLocks noGrp="1"/>
          </p:cNvSpPr>
          <p:nvPr>
            <p:ph type="ftr" sz="quarter" idx="5"/>
          </p:nvPr>
        </p:nvSpPr>
        <p:spPr>
          <a:xfrm>
            <a:off x="4597331" y="6495451"/>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716282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p:cNvSpPr/>
          <p:nvPr/>
        </p:nvSpPr>
        <p:spPr>
          <a:xfrm>
            <a:off x="699422" y="1283252"/>
            <a:ext cx="11022496" cy="3822148"/>
          </a:xfrm>
          <a:prstGeom prst="rect">
            <a:avLst/>
          </a:prstGeom>
          <a:solidFill>
            <a:schemeClr val="bg1">
              <a:lumMod val="8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err="1">
                <a:latin typeface="fkGrotesk"/>
              </a:rPr>
              <a:t>Barkhausen's</a:t>
            </a:r>
            <a:r>
              <a:rPr lang="en-US" dirty="0">
                <a:latin typeface="fkGrotesk"/>
              </a:rPr>
              <a:t> Criteria &amp; Oscillatory </a:t>
            </a:r>
            <a:r>
              <a:rPr lang="en-US" dirty="0" smtClean="0">
                <a:latin typeface="fkGrotesk"/>
              </a:rPr>
              <a:t>Feedback</a:t>
            </a:r>
            <a:endParaRPr lang="en-US" dirty="0"/>
          </a:p>
        </p:txBody>
      </p:sp>
      <p:sp>
        <p:nvSpPr>
          <p:cNvPr id="3" name="Text Placeholder 2"/>
          <p:cNvSpPr>
            <a:spLocks noGrp="1"/>
          </p:cNvSpPr>
          <p:nvPr>
            <p:ph type="body" idx="1"/>
          </p:nvPr>
        </p:nvSpPr>
        <p:spPr>
          <a:xfrm>
            <a:off x="844550" y="1327353"/>
            <a:ext cx="10475383" cy="4001095"/>
          </a:xfrm>
        </p:spPr>
        <p:txBody>
          <a:bodyPr/>
          <a:lstStyle/>
          <a:p>
            <a:pPr marL="342900" indent="-342900" algn="just">
              <a:lnSpc>
                <a:spcPct val="150000"/>
              </a:lnSpc>
              <a:buFont typeface="Wingdings" panose="05000000000000000000" pitchFamily="2" charset="2"/>
              <a:buChar char="q"/>
            </a:pPr>
            <a:r>
              <a:rPr lang="en-US" b="1" dirty="0" smtClean="0">
                <a:solidFill>
                  <a:srgbClr val="00B050"/>
                </a:solidFill>
                <a:latin typeface="fkGroteskNeue"/>
              </a:rPr>
              <a:t>Core </a:t>
            </a:r>
            <a:r>
              <a:rPr lang="en-US" b="1" dirty="0">
                <a:solidFill>
                  <a:srgbClr val="00B050"/>
                </a:solidFill>
                <a:latin typeface="fkGroteskNeue"/>
              </a:rPr>
              <a:t>Insight:</a:t>
            </a:r>
            <a:r>
              <a:rPr lang="en-US" dirty="0">
                <a:latin typeface="fkGroteskNeue"/>
              </a:rPr>
              <a:t> Oscillation in electronic circuits emerges not just from periodic energy cycling (as in mechanical analogies), but from a feedback loop set by </a:t>
            </a:r>
            <a:r>
              <a:rPr lang="en-US" dirty="0" err="1">
                <a:latin typeface="fkGroteskNeue"/>
              </a:rPr>
              <a:t>Barkhausen’s</a:t>
            </a:r>
            <a:r>
              <a:rPr lang="en-US" dirty="0">
                <a:latin typeface="fkGroteskNeue"/>
              </a:rPr>
              <a:t> criteria. When the gain and phase conditions are just right at a particular frequency, even infinitesimal noise or input is amplified, causing sustained oscillations</a:t>
            </a:r>
            <a:r>
              <a:rPr lang="en-US" dirty="0" smtClean="0">
                <a:latin typeface="fkGroteskNeue"/>
              </a:rPr>
              <a:t>.</a:t>
            </a:r>
          </a:p>
          <a:p>
            <a:pPr marL="342900" indent="-342900" algn="just">
              <a:lnSpc>
                <a:spcPct val="150000"/>
              </a:lnSpc>
              <a:buFont typeface="Wingdings" panose="05000000000000000000" pitchFamily="2" charset="2"/>
              <a:buChar char="q"/>
            </a:pPr>
            <a:endParaRPr lang="en-US" dirty="0">
              <a:latin typeface="fkGroteskNeue"/>
            </a:endParaRPr>
          </a:p>
          <a:p>
            <a:pPr marL="342900" indent="-342900" algn="just">
              <a:lnSpc>
                <a:spcPct val="150000"/>
              </a:lnSpc>
              <a:buFont typeface="Wingdings" panose="05000000000000000000" pitchFamily="2" charset="2"/>
              <a:buChar char="q"/>
            </a:pPr>
            <a:r>
              <a:rPr lang="en-US" b="1" dirty="0">
                <a:solidFill>
                  <a:srgbClr val="00B050"/>
                </a:solidFill>
                <a:latin typeface="fkGroteskNeue"/>
              </a:rPr>
              <a:t>Physical Intuition: </a:t>
            </a:r>
            <a:r>
              <a:rPr lang="en-US" dirty="0">
                <a:latin typeface="fkGroteskNeue"/>
              </a:rPr>
              <a:t>The feedback acts like a "push" at just the right phase and amplitude, so each cycle is reinforced, just as gentle, correctly timed pushes keep a pendulum swinging</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E343662-D6CC-45C6-AE58-66DE62315CB0}"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597331" y="6495451"/>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4890810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270" y="238539"/>
            <a:ext cx="12009120" cy="523220"/>
          </a:xfrm>
        </p:spPr>
        <p:txBody>
          <a:bodyPr/>
          <a:lstStyle/>
          <a:p>
            <a:r>
              <a:rPr lang="en-US" dirty="0" smtClean="0"/>
              <a:t>Oscillatory </a:t>
            </a:r>
            <a:r>
              <a:rPr lang="en-US" dirty="0"/>
              <a:t>Feedback System: </a:t>
            </a:r>
            <a:r>
              <a:rPr lang="en-US" dirty="0" smtClean="0"/>
              <a:t>Intuitive Understanding</a:t>
            </a:r>
            <a:endParaRPr lang="en-US" dirty="0"/>
          </a:p>
        </p:txBody>
      </p:sp>
      <p:sp>
        <p:nvSpPr>
          <p:cNvPr id="3" name="Text Placeholder 2"/>
          <p:cNvSpPr>
            <a:spLocks noGrp="1"/>
          </p:cNvSpPr>
          <p:nvPr>
            <p:ph type="body" idx="1"/>
          </p:nvPr>
        </p:nvSpPr>
        <p:spPr>
          <a:xfrm>
            <a:off x="351612" y="1499539"/>
            <a:ext cx="11643783" cy="2154436"/>
          </a:xfrm>
        </p:spPr>
        <p:txBody>
          <a:bodyPr/>
          <a:lstStyle/>
          <a:p>
            <a:pPr algn="l"/>
            <a:r>
              <a:rPr lang="en-US" b="1" dirty="0">
                <a:solidFill>
                  <a:srgbClr val="C00000"/>
                </a:solidFill>
                <a:latin typeface="fkGrotesk"/>
              </a:rPr>
              <a:t>1. Understanding Negative Feedback Leading to </a:t>
            </a:r>
            <a:r>
              <a:rPr lang="en-US" b="1" dirty="0" smtClean="0">
                <a:solidFill>
                  <a:srgbClr val="C00000"/>
                </a:solidFill>
                <a:latin typeface="fkGrotesk"/>
              </a:rPr>
              <a:t>Oscillation</a:t>
            </a:r>
          </a:p>
          <a:p>
            <a:pPr algn="l"/>
            <a:endParaRPr lang="en-US" b="1" dirty="0">
              <a:latin typeface="fkGrotesk"/>
            </a:endParaRPr>
          </a:p>
          <a:p>
            <a:pPr marL="800100" lvl="1" indent="-342900" algn="l">
              <a:buFont typeface="Wingdings" panose="05000000000000000000" pitchFamily="2" charset="2"/>
              <a:buChar char="q"/>
            </a:pPr>
            <a:r>
              <a:rPr lang="en-US" sz="2000" dirty="0">
                <a:latin typeface="fkGroteskNeue"/>
              </a:rPr>
              <a:t>Unlike typical negative feedback that stabilizes amplifiers, under specific conditions, negative feedback can become unstable and produce oscillations. </a:t>
            </a:r>
            <a:endParaRPr lang="en-US" sz="2000" dirty="0" smtClean="0">
              <a:latin typeface="fkGroteskNeue"/>
            </a:endParaRPr>
          </a:p>
          <a:p>
            <a:pPr marL="800100" lvl="1" indent="-342900" algn="l">
              <a:buFont typeface="Wingdings" panose="05000000000000000000" pitchFamily="2" charset="2"/>
              <a:buChar char="q"/>
            </a:pPr>
            <a:endParaRPr lang="en-US" sz="2000" dirty="0" smtClean="0">
              <a:latin typeface="fkGroteskNeue"/>
            </a:endParaRPr>
          </a:p>
          <a:p>
            <a:pPr marL="800100" lvl="1" indent="-342900" algn="l">
              <a:buFont typeface="Wingdings" panose="05000000000000000000" pitchFamily="2" charset="2"/>
              <a:buChar char="q"/>
            </a:pPr>
            <a:r>
              <a:rPr lang="en-US" sz="2000" dirty="0" smtClean="0">
                <a:latin typeface="fkGroteskNeue"/>
              </a:rPr>
              <a:t>This </a:t>
            </a:r>
            <a:r>
              <a:rPr lang="en-US" sz="2000" dirty="0">
                <a:latin typeface="fkGroteskNeue"/>
              </a:rPr>
              <a:t>happens when the system "fights itself" in just the right way to create sustained periodic behavior</a:t>
            </a:r>
            <a:r>
              <a:rPr lang="en-US" dirty="0" smtClean="0">
                <a:latin typeface="fkGroteskNeue"/>
              </a:rPr>
              <a:t>.</a:t>
            </a: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6A28E1A-55AD-4819-97EB-CEFF867ED0C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597331" y="6495451"/>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38515668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469254" y="1200353"/>
            <a:ext cx="6419850" cy="5493812"/>
          </a:xfrm>
        </p:spPr>
        <p:txBody>
          <a:bodyPr/>
          <a:lstStyle/>
          <a:p>
            <a:pPr marL="342900" lvl="0" indent="-342900" algn="just">
              <a:lnSpc>
                <a:spcPct val="150000"/>
              </a:lnSpc>
              <a:buFont typeface="Wingdings" panose="05000000000000000000" pitchFamily="2" charset="2"/>
              <a:buChar char="q"/>
            </a:pPr>
            <a:r>
              <a:rPr lang="en-US" sz="1700" b="1" dirty="0" smtClean="0">
                <a:solidFill>
                  <a:prstClr val="black"/>
                </a:solidFill>
                <a:latin typeface="fkGroteskNeue"/>
              </a:rPr>
              <a:t>Figure </a:t>
            </a:r>
            <a:r>
              <a:rPr lang="en-US" sz="1700" b="1" dirty="0" smtClean="0">
                <a:solidFill>
                  <a:prstClr val="black"/>
                </a:solidFill>
                <a:latin typeface="fkGroteskNeue"/>
              </a:rPr>
              <a:t>(a</a:t>
            </a:r>
            <a:r>
              <a:rPr lang="en-US" sz="1700" b="1" dirty="0">
                <a:solidFill>
                  <a:prstClr val="black"/>
                </a:solidFill>
                <a:latin typeface="fkGroteskNeue"/>
              </a:rPr>
              <a:t>): </a:t>
            </a:r>
            <a:r>
              <a:rPr lang="en-US" sz="1700" dirty="0">
                <a:solidFill>
                  <a:prstClr val="black"/>
                </a:solidFill>
                <a:latin typeface="fkGroteskNeue"/>
              </a:rPr>
              <a:t>Shows a basic negative feedback system where the output is subtracted from the input. The negative sign at the summer indicates phase inversion.</a:t>
            </a:r>
          </a:p>
          <a:p>
            <a:pPr marL="342900" lvl="0" indent="-342900" algn="just">
              <a:lnSpc>
                <a:spcPct val="150000"/>
              </a:lnSpc>
              <a:buFont typeface="Wingdings" panose="05000000000000000000" pitchFamily="2" charset="2"/>
              <a:buChar char="q"/>
            </a:pPr>
            <a:r>
              <a:rPr lang="en-US" sz="1700" b="1" dirty="0" smtClean="0">
                <a:solidFill>
                  <a:prstClr val="black"/>
                </a:solidFill>
                <a:latin typeface="fkGroteskNeue"/>
              </a:rPr>
              <a:t>Figure (b</a:t>
            </a:r>
            <a:r>
              <a:rPr lang="en-US" sz="1700" b="1" dirty="0">
                <a:solidFill>
                  <a:prstClr val="black"/>
                </a:solidFill>
                <a:latin typeface="fkGroteskNeue"/>
              </a:rPr>
              <a:t>): </a:t>
            </a:r>
            <a:r>
              <a:rPr lang="en-US" sz="1700" dirty="0">
                <a:solidFill>
                  <a:prstClr val="black"/>
                </a:solidFill>
                <a:latin typeface="fkGroteskNeue"/>
              </a:rPr>
              <a:t>An op-amp implementation where the inverting input creates the necessary 180° phase shift for negative feedback.</a:t>
            </a:r>
          </a:p>
          <a:p>
            <a:pPr marL="342900" lvl="0" indent="-342900" algn="just">
              <a:lnSpc>
                <a:spcPct val="150000"/>
              </a:lnSpc>
              <a:buFont typeface="Wingdings" panose="05000000000000000000" pitchFamily="2" charset="2"/>
              <a:buChar char="q"/>
            </a:pPr>
            <a:r>
              <a:rPr lang="en-US" sz="1700" b="1" dirty="0">
                <a:solidFill>
                  <a:prstClr val="black"/>
                </a:solidFill>
                <a:latin typeface="fkGroteskNeue"/>
              </a:rPr>
              <a:t>Figure </a:t>
            </a:r>
            <a:r>
              <a:rPr lang="en-US" sz="1700" b="1" dirty="0" smtClean="0">
                <a:solidFill>
                  <a:prstClr val="black"/>
                </a:solidFill>
                <a:latin typeface="fkGroteskNeue"/>
              </a:rPr>
              <a:t>(c</a:t>
            </a:r>
            <a:r>
              <a:rPr lang="en-US" sz="1700" b="1" dirty="0">
                <a:solidFill>
                  <a:prstClr val="black"/>
                </a:solidFill>
                <a:latin typeface="fkGroteskNeue"/>
              </a:rPr>
              <a:t>): </a:t>
            </a:r>
            <a:r>
              <a:rPr lang="en-US" sz="1700" dirty="0">
                <a:solidFill>
                  <a:prstClr val="black"/>
                </a:solidFill>
                <a:latin typeface="fkGroteskNeue"/>
              </a:rPr>
              <a:t>The frequency response plot showing how phase margin decreases with frequency. When phase reaches -180°, the "negative" feedback becomes "positive" feedback, potentially causing oscillation.</a:t>
            </a:r>
          </a:p>
          <a:p>
            <a:pPr marL="342900" lvl="0" indent="-342900" algn="just">
              <a:lnSpc>
                <a:spcPct val="150000"/>
              </a:lnSpc>
              <a:buFont typeface="Wingdings" panose="05000000000000000000" pitchFamily="2" charset="2"/>
              <a:buChar char="q"/>
            </a:pPr>
            <a:r>
              <a:rPr lang="en-US" sz="1700" b="1" dirty="0">
                <a:solidFill>
                  <a:prstClr val="black"/>
                </a:solidFill>
                <a:latin typeface="fkGroteskNeue"/>
              </a:rPr>
              <a:t>Figure </a:t>
            </a:r>
            <a:r>
              <a:rPr lang="en-US" sz="1700" b="1" dirty="0" smtClean="0">
                <a:solidFill>
                  <a:prstClr val="black"/>
                </a:solidFill>
                <a:latin typeface="fkGroteskNeue"/>
              </a:rPr>
              <a:t>(d): </a:t>
            </a:r>
            <a:r>
              <a:rPr lang="en-US" sz="1700" dirty="0">
                <a:solidFill>
                  <a:prstClr val="black"/>
                </a:solidFill>
                <a:latin typeface="fkGroteskNeue"/>
              </a:rPr>
              <a:t>Shows signal propagation around the loop. At the oscillation frequency ω₀, a sinusoid experiences 360° total phase shift (180° from amplifier + 180° from feedback), making it return in-phase and reinforcing itself</a:t>
            </a:r>
            <a:r>
              <a:rPr lang="en-US" sz="1700" dirty="0" smtClean="0">
                <a:solidFill>
                  <a:prstClr val="black"/>
                </a:solidFill>
                <a:latin typeface="fkGroteskNeue"/>
              </a:rPr>
              <a:t>.</a:t>
            </a:r>
            <a:endParaRPr lang="en-US" sz="1700" dirty="0">
              <a:solidFill>
                <a:prstClr val="black"/>
              </a:solidFill>
              <a:latin typeface="fkGroteskNeue"/>
            </a:endParaRPr>
          </a:p>
        </p:txBody>
      </p:sp>
      <p:sp>
        <p:nvSpPr>
          <p:cNvPr id="5" name="Date Placeholder 4"/>
          <p:cNvSpPr>
            <a:spLocks noGrp="1"/>
          </p:cNvSpPr>
          <p:nvPr>
            <p:ph type="dt" sz="half" idx="6"/>
          </p:nvPr>
        </p:nvSpPr>
        <p:spPr>
          <a:xfrm>
            <a:off x="14672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69D7DF1C-AE3D-460B-A5EA-1A2C17C54AF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8" name="Rectangle 7"/>
          <p:cNvSpPr/>
          <p:nvPr/>
        </p:nvSpPr>
        <p:spPr>
          <a:xfrm>
            <a:off x="7145867" y="5444172"/>
            <a:ext cx="5046133" cy="1477328"/>
          </a:xfrm>
          <a:prstGeom prst="rect">
            <a:avLst/>
          </a:prstGeom>
        </p:spPr>
        <p:txBody>
          <a:bodyPr wrap="square">
            <a:spAutoFit/>
          </a:bodyPr>
          <a:lstStyle/>
          <a:p>
            <a:pPr algn="just"/>
            <a:r>
              <a:rPr lang="en-US" b="1" dirty="0">
                <a:solidFill>
                  <a:prstClr val="black"/>
                </a:solidFill>
                <a:latin typeface="fkGroteskNeue"/>
              </a:rPr>
              <a:t>Figure </a:t>
            </a:r>
            <a:r>
              <a:rPr lang="en-US" b="1" dirty="0" smtClean="0">
                <a:solidFill>
                  <a:prstClr val="black"/>
                </a:solidFill>
                <a:latin typeface="fkGroteskNeue"/>
              </a:rPr>
              <a:t>1.2 </a:t>
            </a:r>
            <a:r>
              <a:rPr lang="en-US" dirty="0" smtClean="0">
                <a:solidFill>
                  <a:srgbClr val="231F20"/>
                </a:solidFill>
                <a:latin typeface="T3Font_83"/>
              </a:rPr>
              <a:t>(a</a:t>
            </a:r>
            <a:r>
              <a:rPr lang="en-US" dirty="0">
                <a:solidFill>
                  <a:srgbClr val="231F20"/>
                </a:solidFill>
                <a:latin typeface="T3Font_83"/>
              </a:rPr>
              <a:t>) Simple feedback system, (b) realization using an op amp, (c) open-loop frequency response showing </a:t>
            </a:r>
            <a:r>
              <a:rPr lang="en-US" dirty="0" smtClean="0">
                <a:solidFill>
                  <a:srgbClr val="231F20"/>
                </a:solidFill>
                <a:latin typeface="T3Font_83"/>
              </a:rPr>
              <a:t>zero phase </a:t>
            </a:r>
            <a:r>
              <a:rPr lang="en-US" dirty="0">
                <a:solidFill>
                  <a:srgbClr val="231F20"/>
                </a:solidFill>
                <a:latin typeface="T3Font_83"/>
              </a:rPr>
              <a:t>margin, (d) signal inversion at </a:t>
            </a:r>
            <a:r>
              <a:rPr lang="en-US" dirty="0">
                <a:solidFill>
                  <a:srgbClr val="231F20"/>
                </a:solidFill>
                <a:latin typeface="T3Font_88"/>
              </a:rPr>
              <a:t>ω</a:t>
            </a:r>
            <a:r>
              <a:rPr lang="en-US" sz="800" b="0" i="0" u="none" strike="noStrike" baseline="0" dirty="0" smtClean="0">
                <a:solidFill>
                  <a:srgbClr val="231F20"/>
                </a:solidFill>
                <a:latin typeface="T3Font_85"/>
              </a:rPr>
              <a:t>0</a:t>
            </a:r>
            <a:r>
              <a:rPr lang="en-US" dirty="0" smtClean="0">
                <a:solidFill>
                  <a:srgbClr val="231F20"/>
                </a:solidFill>
                <a:latin typeface="T3Font_83"/>
              </a:rPr>
              <a:t>, and </a:t>
            </a:r>
            <a:r>
              <a:rPr lang="en-US" dirty="0">
                <a:solidFill>
                  <a:srgbClr val="231F20"/>
                </a:solidFill>
                <a:latin typeface="T3Font_83"/>
              </a:rPr>
              <a:t>(e) propagation of a sinusoid at </a:t>
            </a:r>
            <a:r>
              <a:rPr lang="en-US" dirty="0">
                <a:solidFill>
                  <a:srgbClr val="231F20"/>
                </a:solidFill>
                <a:latin typeface="T3Font_88"/>
              </a:rPr>
              <a:t>ω</a:t>
            </a:r>
            <a:r>
              <a:rPr lang="en-US" sz="800" b="0" i="0" u="none" strike="noStrike" baseline="0" dirty="0" smtClean="0">
                <a:solidFill>
                  <a:srgbClr val="231F20"/>
                </a:solidFill>
                <a:latin typeface="T3Font_85"/>
              </a:rPr>
              <a:t>0 </a:t>
            </a:r>
            <a:r>
              <a:rPr lang="en-US" dirty="0">
                <a:solidFill>
                  <a:srgbClr val="231F20"/>
                </a:solidFill>
                <a:latin typeface="T3Font_83"/>
              </a:rPr>
              <a:t>around the loop.</a:t>
            </a:r>
            <a:endParaRPr lang="en-US" dirty="0"/>
          </a:p>
        </p:txBody>
      </p:sp>
      <p:pic>
        <p:nvPicPr>
          <p:cNvPr id="6" name="Picture 5"/>
          <p:cNvPicPr>
            <a:picLocks noChangeAspect="1"/>
          </p:cNvPicPr>
          <p:nvPr/>
        </p:nvPicPr>
        <p:blipFill>
          <a:blip r:embed="rId2"/>
          <a:stretch>
            <a:fillRect/>
          </a:stretch>
        </p:blipFill>
        <p:spPr>
          <a:xfrm>
            <a:off x="7440330" y="1020278"/>
            <a:ext cx="4592928" cy="4223027"/>
          </a:xfrm>
          <a:prstGeom prst="rect">
            <a:avLst/>
          </a:prstGeom>
        </p:spPr>
      </p:pic>
      <p:sp>
        <p:nvSpPr>
          <p:cNvPr id="9" name="Rectangle 8"/>
          <p:cNvSpPr/>
          <p:nvPr/>
        </p:nvSpPr>
        <p:spPr>
          <a:xfrm>
            <a:off x="7464288" y="1073427"/>
            <a:ext cx="4651514" cy="42690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53348881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75089" y="2828794"/>
            <a:ext cx="11167144" cy="5959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87789" y="3518827"/>
            <a:ext cx="11167144" cy="1891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0856" y="5486400"/>
            <a:ext cx="11167144" cy="6858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Deep Dive</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1657351" y="1145319"/>
                <a:ext cx="4070350" cy="1538614"/>
              </a:xfrm>
            </p:spPr>
            <p:txBody>
              <a:bodyPr/>
              <a:lstStyle/>
              <a:p>
                <a:r>
                  <a:rPr lang="en-US" sz="1800" b="1" dirty="0">
                    <a:solidFill>
                      <a:srgbClr val="000000"/>
                    </a:solidFill>
                    <a:latin typeface="inter"/>
                    <a:ea typeface="inter"/>
                    <a:cs typeface="inter"/>
                  </a:rPr>
                  <a:t>Closed-Loop Transfer Function: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800" b="1" dirty="0">
                    <a:solidFill>
                      <a:srgbClr val="000000"/>
                    </a:solidFill>
                    <a:effectLst/>
                    <a:latin typeface="inter"/>
                    <a:ea typeface="inter"/>
                    <a:cs typeface="inter"/>
                  </a:rPr>
                  <a:t>Poles and Stability Analysis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closed-loop poles are the roots of:</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 ⇒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1657351" y="1145319"/>
                <a:ext cx="4070350" cy="1538614"/>
              </a:xfrm>
              <a:blipFill>
                <a:blip r:embed="rId2"/>
                <a:stretch>
                  <a:fillRect l="-3593" t="-5159" b="-6349"/>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C4E3FDE-A8C5-4DE4-8DFD-DCE0A228ECDE}"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3"/>
          <a:srcRect b="25158"/>
          <a:stretch/>
        </p:blipFill>
        <p:spPr>
          <a:xfrm>
            <a:off x="5941917" y="1149350"/>
            <a:ext cx="4408583" cy="1456690"/>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749300" y="2833164"/>
                <a:ext cx="11442700" cy="3348609"/>
              </a:xfrm>
              <a:prstGeom prst="rect">
                <a:avLst/>
              </a:prstGeom>
            </p:spPr>
            <p:txBody>
              <a:bodyPr wrap="square">
                <a:spAutoFit/>
              </a:bodyPr>
              <a:lstStyle/>
              <a:p>
                <a:pPr lvl="0"/>
                <a:r>
                  <a:rPr lang="en-US" sz="1600" b="1" kern="0" dirty="0">
                    <a:solidFill>
                      <a:srgbClr val="000000"/>
                    </a:solidFill>
                    <a:latin typeface="inter"/>
                    <a:ea typeface="inter"/>
                    <a:cs typeface="inter"/>
                  </a:rPr>
                  <a:t>Case 1: Stable System</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All poles have negative real parts (</a:t>
                </a:r>
                <a14:m>
                  <m:oMath xmlns:m="http://schemas.openxmlformats.org/officeDocument/2006/math">
                    <m:r>
                      <m:rPr>
                        <m:nor/>
                      </m:rPr>
                      <a:rPr lang="en-US" sz="1600" kern="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)&lt;0</m:t>
                    </m:r>
                  </m:oMath>
                </a14:m>
                <a:r>
                  <a:rPr lang="en-US" sz="1600" kern="0" dirty="0">
                    <a:solidFill>
                      <a:srgbClr val="000000"/>
                    </a:solidFill>
                    <a:latin typeface="inter"/>
                    <a:ea typeface="inter"/>
                    <a:cs typeface="inter"/>
                  </a:rPr>
                  <a:t>). System responses decay to zero. Bounded inputs produce bounded outputs</a:t>
                </a:r>
                <a:r>
                  <a:rPr lang="en-US" sz="1600" kern="0" dirty="0" smtClean="0">
                    <a:solidFill>
                      <a:srgbClr val="000000"/>
                    </a:solidFill>
                    <a:latin typeface="inter"/>
                    <a:ea typeface="inter"/>
                    <a:cs typeface="inter"/>
                  </a:rPr>
                  <a:t>.</a:t>
                </a:r>
              </a:p>
              <a:p>
                <a:pPr lvl="0"/>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b="1" kern="0" dirty="0">
                    <a:solidFill>
                      <a:srgbClr val="000000"/>
                    </a:solidFill>
                    <a:latin typeface="inter"/>
                    <a:ea typeface="inter"/>
                    <a:cs typeface="inter"/>
                  </a:rPr>
                  <a:t>Case 2: Marginal Stability (Oscillation Boundary)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Poles lie on the imaginary axis (</a:t>
                </a:r>
                <a14:m>
                  <m:oMath xmlns:m="http://schemas.openxmlformats.org/officeDocument/2006/math">
                    <m:r>
                      <m:rPr>
                        <m:nor/>
                      </m:rPr>
                      <a:rPr lang="en-US" sz="1600" kern="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600" kern="0" dirty="0">
                    <a:solidFill>
                      <a:srgbClr val="000000"/>
                    </a:solidFill>
                    <a:latin typeface="inter"/>
                    <a:ea typeface="inter"/>
                    <a:cs typeface="inter"/>
                  </a:rPr>
                  <a:t>). For simple poles at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At this frequency, the closed-loop transfer function magnitude approaches infinity: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 small input at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 produces finite or growing output—the hallmark of oscillation</a:t>
                </a:r>
                <a:r>
                  <a:rPr lang="en-US" sz="1600" kern="0" dirty="0" smtClean="0">
                    <a:solidFill>
                      <a:srgbClr val="000000"/>
                    </a:solidFill>
                    <a:latin typeface="inter"/>
                    <a:ea typeface="inter"/>
                    <a:cs typeface="inter"/>
                  </a:rPr>
                  <a:t>.</a:t>
                </a:r>
              </a:p>
              <a:p>
                <a:pPr lvl="0"/>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b="1" kern="0" dirty="0">
                    <a:solidFill>
                      <a:srgbClr val="000000"/>
                    </a:solidFill>
                    <a:latin typeface="inter"/>
                    <a:ea typeface="inter"/>
                    <a:cs typeface="inter"/>
                  </a:rPr>
                  <a:t>Case 3: Unstable System</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At least one pole has positive real part (</a:t>
                </a:r>
                <a14:m>
                  <m:oMath xmlns:m="http://schemas.openxmlformats.org/officeDocument/2006/math">
                    <m:r>
                      <m:rPr>
                        <m:nor/>
                      </m:rPr>
                      <a:rPr lang="en-US" sz="1600" kern="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)&gt;0</m:t>
                    </m:r>
                  </m:oMath>
                </a14:m>
                <a:r>
                  <a:rPr lang="en-US" sz="1600" kern="0" dirty="0">
                    <a:solidFill>
                      <a:srgbClr val="000000"/>
                    </a:solidFill>
                    <a:latin typeface="inter"/>
                    <a:ea typeface="inter"/>
                    <a:cs typeface="inter"/>
                  </a:rPr>
                  <a:t>). Outputs grow exponentially without bounded input.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749300" y="2833164"/>
                <a:ext cx="11442700" cy="3348609"/>
              </a:xfrm>
              <a:prstGeom prst="rect">
                <a:avLst/>
              </a:prstGeom>
              <a:blipFill>
                <a:blip r:embed="rId4"/>
                <a:stretch>
                  <a:fillRect l="-320" t="-546" b="-1457"/>
                </a:stretch>
              </a:blipFill>
            </p:spPr>
            <p:txBody>
              <a:bodyPr/>
              <a:lstStyle/>
              <a:p>
                <a:r>
                  <a:rPr lang="en-US">
                    <a:noFill/>
                  </a:rPr>
                  <a:t> </a:t>
                </a:r>
              </a:p>
            </p:txBody>
          </p:sp>
        </mc:Fallback>
      </mc:AlternateContent>
      <p:sp>
        <p:nvSpPr>
          <p:cNvPr id="10" name="Rectangle 9"/>
          <p:cNvSpPr/>
          <p:nvPr/>
        </p:nvSpPr>
        <p:spPr>
          <a:xfrm>
            <a:off x="1549789" y="1148161"/>
            <a:ext cx="8720277" cy="157387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8535690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70855" y="3022600"/>
            <a:ext cx="11328011" cy="22267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61483" y="1204587"/>
                <a:ext cx="10775950" cy="1350434"/>
              </a:xfrm>
            </p:spPr>
            <p:txBody>
              <a:bodyPr/>
              <a:lstStyle/>
              <a:p>
                <a:pPr algn="ctr"/>
                <a:r>
                  <a:rPr lang="en-US" b="1" dirty="0">
                    <a:solidFill>
                      <a:srgbClr val="000000"/>
                    </a:solidFill>
                    <a:latin typeface="inter"/>
                    <a:ea typeface="inter"/>
                    <a:cs typeface="inter"/>
                  </a:rPr>
                  <a:t>Frequency Response of Op-Amp</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dominant-pole model: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is the dominant pole frequency (typically 10–100 Hz for precision op-amps, higher for general-purpose types</a:t>
                </a:r>
                <a:r>
                  <a:rPr lang="en-US" sz="1600" dirty="0" smtClean="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61483" y="1204587"/>
                <a:ext cx="10775950" cy="1350434"/>
              </a:xfrm>
              <a:blipFill>
                <a:blip r:embed="rId2"/>
                <a:stretch>
                  <a:fillRect l="-1131" t="-5882" r="-679" b="-6787"/>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593620" y="6484750"/>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6153B21F-8A8A-4442-BFA2-00C3CD22119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380372" y="6494689"/>
            <a:ext cx="566464" cy="36331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duotone>
              <a:prstClr val="black"/>
              <a:schemeClr val="bg1">
                <a:lumMod val="65000"/>
                <a:tint val="45000"/>
                <a:satMod val="400000"/>
              </a:schemeClr>
            </a:duotone>
          </a:blip>
          <a:stretch>
            <a:fillRect/>
          </a:stretch>
        </p:blipFill>
        <p:spPr>
          <a:xfrm>
            <a:off x="7226143" y="3163375"/>
            <a:ext cx="4864257" cy="1655058"/>
          </a:xfrm>
          <a:prstGeom prst="rect">
            <a:avLst/>
          </a:prstGeom>
        </p:spPr>
      </p:pic>
      <p:sp>
        <p:nvSpPr>
          <p:cNvPr id="8" name="Rectangle 7"/>
          <p:cNvSpPr/>
          <p:nvPr/>
        </p:nvSpPr>
        <p:spPr>
          <a:xfrm>
            <a:off x="766233" y="5418084"/>
            <a:ext cx="11425767" cy="830997"/>
          </a:xfrm>
          <a:prstGeom prst="rect">
            <a:avLst/>
          </a:prstGeom>
        </p:spPr>
        <p:txBody>
          <a:bodyPr wrap="square">
            <a:spAutoFit/>
          </a:bodyPr>
          <a:lstStyle/>
          <a:p>
            <a:pPr lvl="0"/>
            <a:r>
              <a:rPr lang="en-US" sz="1600" b="1" kern="0" dirty="0">
                <a:solidFill>
                  <a:srgbClr val="000000"/>
                </a:solidFill>
                <a:latin typeface="inter"/>
                <a:ea typeface="inter"/>
                <a:cs typeface="inter"/>
              </a:rPr>
              <a:t>Critical Point:</a:t>
            </a:r>
            <a:r>
              <a:rPr lang="en-US" sz="1600" kern="0" dirty="0">
                <a:solidFill>
                  <a:srgbClr val="000000"/>
                </a:solidFill>
                <a:latin typeface="inter"/>
                <a:ea typeface="inter"/>
                <a:cs typeface="inter"/>
              </a:rPr>
              <a:t> A single-pole op-amp never achieves a phase shift of –180°. Therefore, an op-amp alone cannot satisfy the </a:t>
            </a:r>
            <a:r>
              <a:rPr lang="en-US" sz="1600" kern="0" dirty="0" err="1">
                <a:solidFill>
                  <a:srgbClr val="000000"/>
                </a:solidFill>
                <a:latin typeface="inter"/>
                <a:ea typeface="inter"/>
                <a:cs typeface="inter"/>
              </a:rPr>
              <a:t>Barkhausen</a:t>
            </a:r>
            <a:r>
              <a:rPr lang="en-US" sz="1600" kern="0" dirty="0">
                <a:solidFill>
                  <a:srgbClr val="000000"/>
                </a:solidFill>
                <a:latin typeface="inter"/>
                <a:ea typeface="inter"/>
                <a:cs typeface="inter"/>
              </a:rPr>
              <a:t> phase criterion for oscillation. Additional circuit elements (passive feedback networks, delay lines) must provide the missing 180° phase shift.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774699" y="3156969"/>
                <a:ext cx="11146368" cy="2076531"/>
              </a:xfrm>
              <a:prstGeom prst="rect">
                <a:avLst/>
              </a:prstGeom>
            </p:spPr>
            <p:txBody>
              <a:bodyPr wrap="square">
                <a:spAutoFit/>
              </a:bodyPr>
              <a:lstStyle/>
              <a:p>
                <a:pPr lvl="0"/>
                <a:r>
                  <a:rPr lang="en-US" sz="1600" b="1" kern="0" dirty="0">
                    <a:solidFill>
                      <a:srgbClr val="000000"/>
                    </a:solidFill>
                    <a:latin typeface="inter"/>
                    <a:ea typeface="inter"/>
                    <a:cs typeface="inter"/>
                  </a:rPr>
                  <a:t>Low-Frequency Behavior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Phase shift: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b="1" kern="0" dirty="0">
                    <a:solidFill>
                      <a:srgbClr val="000000"/>
                    </a:solidFill>
                    <a:latin typeface="inter"/>
                    <a:ea typeface="inter"/>
                    <a:cs typeface="inter"/>
                  </a:rPr>
                  <a:t>High-Frequency Behavior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den>
                      </m:f>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This behaves as an integrator with </a:t>
                </a:r>
                <a:r>
                  <a:rPr lang="en-US" sz="1600" kern="0" dirty="0" err="1">
                    <a:solidFill>
                      <a:srgbClr val="000000"/>
                    </a:solidFill>
                    <a:latin typeface="inter"/>
                    <a:ea typeface="inter"/>
                    <a:cs typeface="inter"/>
                  </a:rPr>
                  <a:t>rolloff</a:t>
                </a:r>
                <a:r>
                  <a:rPr lang="en-US" sz="1600" kern="0" dirty="0">
                    <a:solidFill>
                      <a:srgbClr val="000000"/>
                    </a:solidFill>
                    <a:latin typeface="inter"/>
                    <a:ea typeface="inter"/>
                    <a:cs typeface="inter"/>
                  </a:rPr>
                  <a:t> at –20 dB/decade.</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Phase shift: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90°</m:t>
                    </m:r>
                  </m:oMath>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774699" y="3156969"/>
                <a:ext cx="11146368" cy="2076531"/>
              </a:xfrm>
              <a:prstGeom prst="rect">
                <a:avLst/>
              </a:prstGeom>
              <a:blipFill>
                <a:blip r:embed="rId4"/>
                <a:stretch>
                  <a:fillRect l="-273" t="-880" b="-2933"/>
                </a:stretch>
              </a:blipFill>
            </p:spPr>
            <p:txBody>
              <a:bodyPr/>
              <a:lstStyle/>
              <a:p>
                <a:r>
                  <a:rPr lang="en-US">
                    <a:noFill/>
                  </a:rPr>
                  <a:t> </a:t>
                </a:r>
              </a:p>
            </p:txBody>
          </p:sp>
        </mc:Fallback>
      </mc:AlternateContent>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371969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12289" y="4677834"/>
            <a:ext cx="5807744" cy="147743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35389" y="1392767"/>
            <a:ext cx="5574912" cy="483906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1851" y="1412020"/>
                <a:ext cx="5281081" cy="5104731"/>
              </a:xfrm>
            </p:spPr>
            <p:txBody>
              <a:bodyPr/>
              <a:lstStyle/>
              <a:p>
                <a:pPr/>
                <a14:m>
                  <m:oMathPara xmlns:m="http://schemas.openxmlformats.org/officeDocument/2006/math">
                    <m:oMathParaPr>
                      <m:jc m:val="centerGroup"/>
                    </m:oMathParaPr>
                    <m:oMath xmlns:m="http://schemas.openxmlformats.org/officeDocument/2006/math">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ad>
                            <m:radPr>
                              <m:degHide m:val="on"/>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sz="17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700" dirty="0">
                    <a:solidFill>
                      <a:srgbClr val="000000"/>
                    </a:solidFill>
                    <a:latin typeface="inter"/>
                    <a:ea typeface="inter"/>
                    <a:cs typeface="inter"/>
                  </a:rPr>
                  <a:t>At </a:t>
                </a:r>
                <a14:m>
                  <m:oMath xmlns:m="http://schemas.openxmlformats.org/officeDocument/2006/math">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700" dirty="0">
                    <a:solidFill>
                      <a:srgbClr val="000000"/>
                    </a:solidFill>
                    <a:latin typeface="inter"/>
                    <a:ea typeface="inter"/>
                    <a:cs typeface="inter"/>
                  </a:rPr>
                  <a:t>: </a:t>
                </a:r>
                <a14:m>
                  <m:oMath xmlns:m="http://schemas.openxmlformats.org/officeDocument/2006/math">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700" dirty="0">
                    <a:solidFill>
                      <a:srgbClr val="000000"/>
                    </a:solidFill>
                    <a:latin typeface="inter"/>
                    <a:ea typeface="inter"/>
                    <a:cs typeface="inter"/>
                  </a:rPr>
                  <a:t> (DC gain)</a:t>
                </a:r>
                <a:endParaRPr lang="en-US" sz="17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700" dirty="0">
                    <a:solidFill>
                      <a:srgbClr val="000000"/>
                    </a:solidFill>
                    <a:latin typeface="inter"/>
                    <a:ea typeface="inter"/>
                    <a:cs typeface="inter"/>
                  </a:rPr>
                  <a:t>At </a:t>
                </a:r>
                <a14:m>
                  <m:oMath xmlns:m="http://schemas.openxmlformats.org/officeDocument/2006/math">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700" dirty="0">
                    <a:solidFill>
                      <a:srgbClr val="000000"/>
                    </a:solidFill>
                    <a:latin typeface="inter"/>
                    <a:ea typeface="inter"/>
                    <a:cs typeface="inter"/>
                  </a:rPr>
                  <a:t>: </a:t>
                </a:r>
                <a14:m>
                  <m:oMath xmlns:m="http://schemas.openxmlformats.org/officeDocument/2006/math">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e>
                    </m:rad>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r>
                      <m:rPr>
                        <m:nor/>
                      </m:rPr>
                      <a:rPr lang="en-US" sz="17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700">
                        <a:solidFill>
                          <a:srgbClr val="000000"/>
                        </a:solidFill>
                        <a:latin typeface="Georgia" panose="02040502050405020303" pitchFamily="18" charset="0"/>
                        <a:ea typeface="Calibri" panose="020F0502020204030204" pitchFamily="34" charset="0"/>
                        <a:cs typeface="Times New Roman" panose="02020603050405020304" pitchFamily="18" charset="0"/>
                      </a:rPr>
                      <m:t>dB</m:t>
                    </m:r>
                  </m:oMath>
                </a14:m>
                <a:endParaRPr lang="en-US" sz="17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700" dirty="0">
                    <a:solidFill>
                      <a:srgbClr val="000000"/>
                    </a:solidFill>
                    <a:latin typeface="inter"/>
                    <a:ea typeface="inter"/>
                    <a:cs typeface="inter"/>
                  </a:rPr>
                  <a:t>At </a:t>
                </a:r>
                <a14:m>
                  <m:oMath xmlns:m="http://schemas.openxmlformats.org/officeDocument/2006/math">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700" dirty="0">
                    <a:solidFill>
                      <a:srgbClr val="000000"/>
                    </a:solidFill>
                    <a:latin typeface="inter"/>
                    <a:ea typeface="inter"/>
                    <a:cs typeface="inter"/>
                  </a:rPr>
                  <a:t>: </a:t>
                </a:r>
                <a14:m>
                  <m:oMath xmlns:m="http://schemas.openxmlformats.org/officeDocument/2006/math">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700" dirty="0">
                    <a:solidFill>
                      <a:srgbClr val="000000"/>
                    </a:solidFill>
                    <a:latin typeface="inter"/>
                    <a:ea typeface="inter"/>
                    <a:cs typeface="inter"/>
                  </a:rPr>
                  <a:t> (–20 dB/decade slope</a:t>
                </a:r>
                <a:r>
                  <a:rPr lang="en-US" sz="1700" dirty="0" smtClean="0">
                    <a:solidFill>
                      <a:srgbClr val="000000"/>
                    </a:solidFill>
                    <a:latin typeface="inter"/>
                    <a:ea typeface="inter"/>
                    <a:cs typeface="inter"/>
                  </a:rPr>
                  <a:t>)</a:t>
                </a:r>
              </a:p>
              <a:p>
                <a:pPr marL="285750" marR="0" lvl="0" indent="-285750">
                  <a:buFont typeface="Wingdings" panose="05000000000000000000" pitchFamily="2" charset="2"/>
                  <a:buChar char="q"/>
                  <a:tabLst>
                    <a:tab pos="571500" algn="l"/>
                  </a:tabLst>
                </a:pPr>
                <a:endParaRPr lang="en-US" sz="1700" dirty="0">
                  <a:latin typeface="Georgia" panose="02040502050405020303" pitchFamily="18" charset="0"/>
                  <a:ea typeface="Calibri" panose="020F0502020204030204" pitchFamily="34" charset="0"/>
                  <a:cs typeface="Times New Roman" panose="02020603050405020304" pitchFamily="18" charset="0"/>
                </a:endParaRPr>
              </a:p>
              <a:p>
                <a:r>
                  <a:rPr lang="en-US" sz="1700" dirty="0">
                    <a:solidFill>
                      <a:srgbClr val="000000"/>
                    </a:solidFill>
                    <a:latin typeface="inter"/>
                    <a:ea typeface="inter"/>
                    <a:cs typeface="inter"/>
                  </a:rPr>
                  <a:t>The </a:t>
                </a:r>
                <a:r>
                  <a:rPr lang="en-US" sz="1700" b="1" dirty="0">
                    <a:solidFill>
                      <a:srgbClr val="000000"/>
                    </a:solidFill>
                    <a:latin typeface="inter"/>
                    <a:ea typeface="inter"/>
                    <a:cs typeface="inter"/>
                  </a:rPr>
                  <a:t>gain-crossover frequency</a:t>
                </a:r>
                <a:r>
                  <a:rPr lang="en-US" sz="1700" dirty="0">
                    <a:solidFill>
                      <a:srgbClr val="000000"/>
                    </a:solidFill>
                    <a:latin typeface="inter"/>
                    <a:ea typeface="inter"/>
                    <a:cs typeface="inter"/>
                  </a:rPr>
                  <a:t> </a:t>
                </a:r>
                <a14:m>
                  <m:oMath xmlns:m="http://schemas.openxmlformats.org/officeDocument/2006/math">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oMath>
                </a14:m>
                <a:r>
                  <a:rPr lang="en-US" sz="1700" dirty="0">
                    <a:solidFill>
                      <a:srgbClr val="000000"/>
                    </a:solidFill>
                    <a:latin typeface="inter"/>
                    <a:ea typeface="inter"/>
                    <a:cs typeface="inter"/>
                  </a:rPr>
                  <a:t> is where magnitude equals 1</a:t>
                </a:r>
                <a:r>
                  <a:rPr lang="en-US" sz="1700" dirty="0" smtClean="0">
                    <a:solidFill>
                      <a:srgbClr val="000000"/>
                    </a:solidFill>
                    <a:latin typeface="inter"/>
                    <a:ea typeface="inter"/>
                    <a:cs typeface="inter"/>
                  </a:rPr>
                  <a:t>:</a:t>
                </a:r>
              </a:p>
              <a:p>
                <a:endParaRPr lang="en-US" sz="17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f>
                        <m:f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ad>
                            <m:radPr>
                              <m:degHide m:val="on"/>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sz="17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ad>
                        <m:radPr>
                          <m:degHide m:val="on"/>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m:oMathPara>
                </a14:m>
                <a:endParaRPr lang="en-US" sz="17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7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ad>
                        <m:radPr>
                          <m:degHide m:val="on"/>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700">
                          <a:solidFill>
                            <a:srgbClr val="000000"/>
                          </a:solidFill>
                          <a:latin typeface="Georgia" panose="02040502050405020303" pitchFamily="18" charset="0"/>
                          <a:ea typeface="Calibri" panose="020F0502020204030204" pitchFamily="34" charset="0"/>
                          <a:cs typeface="Times New Roman" panose="02020603050405020304" pitchFamily="18" charset="0"/>
                        </a:rPr>
                        <m:t>(</m:t>
                      </m:r>
                      <m:r>
                        <m:rPr>
                          <m:nor/>
                        </m:rPr>
                        <a:rPr lang="en-US" sz="1700">
                          <a:solidFill>
                            <a:srgbClr val="000000"/>
                          </a:solidFill>
                          <a:latin typeface="Georgia" panose="02040502050405020303" pitchFamily="18" charset="0"/>
                          <a:ea typeface="Calibri" panose="020F0502020204030204" pitchFamily="34" charset="0"/>
                          <a:cs typeface="Times New Roman" panose="02020603050405020304" pitchFamily="18" charset="0"/>
                        </a:rPr>
                        <m:t>for</m:t>
                      </m:r>
                      <m:r>
                        <m:rPr>
                          <m:nor/>
                        </m:rPr>
                        <a:rPr lang="en-US" sz="17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700">
                          <a:solidFill>
                            <a:srgbClr val="000000"/>
                          </a:solidFill>
                          <a:latin typeface="Georgia" panose="02040502050405020303" pitchFamily="18" charset="0"/>
                          <a:ea typeface="Calibri" panose="020F0502020204030204" pitchFamily="34" charset="0"/>
                          <a:cs typeface="Times New Roman" panose="02020603050405020304" pitchFamily="18" charset="0"/>
                        </a:rPr>
                        <m:t>large</m:t>
                      </m:r>
                      <m:r>
                        <m:rPr>
                          <m:nor/>
                        </m:rPr>
                        <a:rPr lang="en-US" sz="17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sSub>
                        <m:sSubPr>
                          <m:ctrlP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7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7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7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1851" y="1412020"/>
                <a:ext cx="5281081" cy="5104731"/>
              </a:xfrm>
              <a:blipFill>
                <a:blip r:embed="rId2"/>
                <a:stretch>
                  <a:fillRect l="-2422"/>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454472" y="6564262"/>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7B4A73E-379F-4CB8-AE6A-5CB0946185B6}"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33067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5387" t="2417" r="4546"/>
          <a:stretch/>
        </p:blipFill>
        <p:spPr>
          <a:xfrm>
            <a:off x="7840133" y="1384299"/>
            <a:ext cx="2760134" cy="3247624"/>
          </a:xfrm>
          <a:prstGeom prst="rect">
            <a:avLst/>
          </a:prstGeom>
        </p:spPr>
      </p:pic>
      <p:sp>
        <p:nvSpPr>
          <p:cNvPr id="8" name="Rectangle 7"/>
          <p:cNvSpPr/>
          <p:nvPr/>
        </p:nvSpPr>
        <p:spPr>
          <a:xfrm>
            <a:off x="4561530" y="1030300"/>
            <a:ext cx="3390672" cy="369332"/>
          </a:xfrm>
          <a:prstGeom prst="rect">
            <a:avLst/>
          </a:prstGeom>
        </p:spPr>
        <p:txBody>
          <a:bodyPr wrap="none">
            <a:spAutoFit/>
          </a:bodyPr>
          <a:lstStyle/>
          <a:p>
            <a:pPr lvl="0" algn="ctr"/>
            <a:r>
              <a:rPr lang="en-US" b="1" kern="0" dirty="0">
                <a:solidFill>
                  <a:srgbClr val="000000"/>
                </a:solidFill>
                <a:latin typeface="inter"/>
                <a:ea typeface="inter"/>
                <a:cs typeface="inter"/>
              </a:rPr>
              <a:t>Magnitude Plot Interpretation</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6493934" y="4623752"/>
                <a:ext cx="5621865" cy="1479764"/>
              </a:xfrm>
              <a:prstGeom prst="rect">
                <a:avLst/>
              </a:prstGeom>
            </p:spPr>
            <p:txBody>
              <a:bodyPr wrap="square">
                <a:spAutoFit/>
              </a:bodyPr>
              <a:lstStyle/>
              <a:p>
                <a:pPr lvl="0" algn="ctr"/>
                <a:r>
                  <a:rPr lang="en-US" b="1" kern="0" dirty="0">
                    <a:solidFill>
                      <a:srgbClr val="000000"/>
                    </a:solidFill>
                    <a:latin typeface="inter"/>
                    <a:ea typeface="inter"/>
                    <a:cs typeface="inter"/>
                  </a:rPr>
                  <a:t>Phase Plot Interpretation</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At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400" kern="0" dirty="0">
                    <a:solidFill>
                      <a:srgbClr val="000000"/>
                    </a:solidFill>
                    <a:latin typeface="inter"/>
                    <a:ea typeface="inter"/>
                    <a:cs typeface="inter"/>
                  </a:rPr>
                  <a:t>: Phase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At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kern="0" dirty="0">
                    <a:solidFill>
                      <a:srgbClr val="000000"/>
                    </a:solidFill>
                    <a:latin typeface="inter"/>
                    <a:ea typeface="inter"/>
                    <a:cs typeface="inter"/>
                  </a:rPr>
                  <a:t>: Phase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45°</m:t>
                    </m:r>
                  </m:oMath>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At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400" kern="0" dirty="0">
                    <a:solidFill>
                      <a:srgbClr val="000000"/>
                    </a:solidFill>
                    <a:latin typeface="inter"/>
                    <a:ea typeface="inter"/>
                    <a:cs typeface="inter"/>
                  </a:rPr>
                  <a:t>: Phase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90°</m:t>
                    </m:r>
                  </m:oMath>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The phase asymptotically approaches –90° but never reaches –180°.</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493934" y="4623752"/>
                <a:ext cx="5621865" cy="1479764"/>
              </a:xfrm>
              <a:prstGeom prst="rect">
                <a:avLst/>
              </a:prstGeom>
              <a:blipFill>
                <a:blip r:embed="rId4"/>
                <a:stretch>
                  <a:fillRect l="-325" t="-2058" b="-3704"/>
                </a:stretch>
              </a:blipFill>
            </p:spPr>
            <p:txBody>
              <a:bodyPr/>
              <a:lstStyle/>
              <a:p>
                <a:r>
                  <a:rPr lang="en-US">
                    <a:noFill/>
                  </a:rPr>
                  <a:t> </a:t>
                </a:r>
              </a:p>
            </p:txBody>
          </p:sp>
        </mc:Fallback>
      </mc:AlternateContent>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7147230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715821" y="5037666"/>
            <a:ext cx="11328011" cy="120226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14221" y="3505199"/>
            <a:ext cx="11328011" cy="99906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35387" y="1727199"/>
            <a:ext cx="11328011" cy="139700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68350" y="1513620"/>
                <a:ext cx="11158153" cy="2903744"/>
              </a:xfrm>
            </p:spPr>
            <p:txBody>
              <a:bodyPr/>
              <a:lstStyle/>
              <a:p>
                <a:pPr algn="ctr"/>
                <a:r>
                  <a:rPr lang="en-US" sz="1400" b="1" dirty="0" smtClean="0">
                    <a:solidFill>
                      <a:srgbClr val="000000"/>
                    </a:solidFill>
                    <a:latin typeface="inter"/>
                    <a:ea typeface="inter"/>
                    <a:cs typeface="inter"/>
                  </a:rPr>
                  <a:t>Phase </a:t>
                </a:r>
                <a:r>
                  <a:rPr lang="en-US" sz="1400" b="1" dirty="0">
                    <a:solidFill>
                      <a:srgbClr val="000000"/>
                    </a:solidFill>
                    <a:latin typeface="inter"/>
                    <a:ea typeface="inter"/>
                    <a:cs typeface="inter"/>
                  </a:rPr>
                  <a:t>Margin (PM):</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PM</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where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oMath>
                </a14:m>
                <a:r>
                  <a:rPr lang="en-US" sz="1400" dirty="0">
                    <a:solidFill>
                      <a:srgbClr val="000000"/>
                    </a:solidFill>
                    <a:latin typeface="inter"/>
                    <a:ea typeface="inter"/>
                    <a:cs typeface="inter"/>
                  </a:rPr>
                  <a:t> is the gain-crossover frequency.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For the single-pole op-amp:</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45°</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to</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70°</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PM</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≈110°</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to</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135°</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This </a:t>
                </a:r>
                <a:r>
                  <a:rPr lang="en-US" sz="1400" b="1" dirty="0">
                    <a:solidFill>
                      <a:srgbClr val="000000"/>
                    </a:solidFill>
                    <a:latin typeface="inter"/>
                    <a:ea typeface="inter"/>
                    <a:cs typeface="inter"/>
                  </a:rPr>
                  <a:t>positive phase margin</a:t>
                </a:r>
                <a:r>
                  <a:rPr lang="en-US" sz="1400" dirty="0">
                    <a:solidFill>
                      <a:srgbClr val="000000"/>
                    </a:solidFill>
                    <a:latin typeface="inter"/>
                    <a:ea typeface="inter"/>
                    <a:cs typeface="inter"/>
                  </a:rPr>
                  <a:t> indicates stability. The system will not oscillate</a:t>
                </a:r>
                <a:r>
                  <a:rPr lang="en-US" sz="1400" dirty="0" smtClean="0">
                    <a:solidFill>
                      <a:srgbClr val="000000"/>
                    </a:solidFill>
                    <a:latin typeface="inter"/>
                    <a:ea typeface="inter"/>
                    <a:cs typeface="inter"/>
                  </a:rPr>
                  <a:t>.</a:t>
                </a:r>
              </a:p>
              <a:p>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0000"/>
                    </a:solidFill>
                    <a:latin typeface="inter"/>
                    <a:ea typeface="inter"/>
                    <a:cs typeface="inter"/>
                  </a:rPr>
                  <a:t>Gain Margin (GM):</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GM</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where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is the phase-crossover frequency (where phase = –180°). Since the phase never reaches –180° for a single-pole system, gain margin is infinite, confirming unconditional stability</a:t>
                </a:r>
                <a:r>
                  <a:rPr lang="en-US" sz="1400" dirty="0" smtClean="0">
                    <a:solidFill>
                      <a:srgbClr val="000000"/>
                    </a:solidFill>
                    <a:latin typeface="inter"/>
                    <a:ea typeface="inter"/>
                    <a:cs typeface="inter"/>
                  </a:rPr>
                  <a:t>.</a:t>
                </a:r>
                <a:endParaRPr lang="en-US" sz="1400"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768350" y="1513620"/>
                <a:ext cx="11158153" cy="2903744"/>
              </a:xfrm>
              <a:blipFill>
                <a:blip r:embed="rId2"/>
                <a:stretch>
                  <a:fillRect l="-984" t="-1887" b="-2725"/>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428244" y="65173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A6B59AE-64D4-4A1D-920E-0AC367E96B68}"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94268" y="4525826"/>
                <a:ext cx="11349566" cy="1661993"/>
              </a:xfrm>
              <a:prstGeom prst="rect">
                <a:avLst/>
              </a:prstGeom>
            </p:spPr>
            <p:txBody>
              <a:bodyPr wrap="square">
                <a:spAutoFit/>
              </a:bodyPr>
              <a:lstStyle/>
              <a:p>
                <a:pPr lvl="0" algn="ctr"/>
                <a:r>
                  <a:rPr lang="en-US" b="1" kern="0" dirty="0">
                    <a:solidFill>
                      <a:srgbClr val="000000"/>
                    </a:solidFill>
                    <a:latin typeface="inter"/>
                    <a:ea typeface="inter"/>
                    <a:cs typeface="inter"/>
                  </a:rPr>
                  <a:t>Oscillation </a:t>
                </a:r>
                <a:r>
                  <a:rPr lang="en-US" b="1" kern="0" dirty="0" smtClean="0">
                    <a:solidFill>
                      <a:srgbClr val="000000"/>
                    </a:solidFill>
                    <a:latin typeface="inter"/>
                    <a:ea typeface="inter"/>
                    <a:cs typeface="inter"/>
                  </a:rPr>
                  <a:t>Boundary</a:t>
                </a:r>
              </a:p>
              <a:p>
                <a:pPr lvl="0"/>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For the system to oscillate, one of two conditions must occur:</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400" b="1" kern="0" dirty="0">
                    <a:solidFill>
                      <a:srgbClr val="000000"/>
                    </a:solidFill>
                    <a:latin typeface="inter"/>
                    <a:ea typeface="inter"/>
                    <a:cs typeface="inter"/>
                  </a:rPr>
                  <a:t>Magnitude and phase cross simultaneously:</a:t>
                </a:r>
                <a:r>
                  <a:rPr lang="en-US" sz="1400" kern="0" dirty="0">
                    <a:solidFill>
                      <a:srgbClr val="000000"/>
                    </a:solidFill>
                    <a:latin typeface="inter"/>
                    <a:ea typeface="inter"/>
                    <a:cs typeface="inter"/>
                  </a:rPr>
                  <a:t> At some frequency,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400" kern="0" dirty="0">
                    <a:solidFill>
                      <a:srgbClr val="000000"/>
                    </a:solidFill>
                    <a:latin typeface="inter"/>
                    <a:ea typeface="inter"/>
                    <a:cs typeface="inter"/>
                  </a:rPr>
                  <a:t> </a:t>
                </a:r>
                <a:r>
                  <a:rPr lang="en-US" sz="1400" kern="0" dirty="0" smtClean="0">
                    <a:solidFill>
                      <a:srgbClr val="000000"/>
                    </a:solidFill>
                    <a:latin typeface="inter"/>
                    <a:ea typeface="inter"/>
                    <a:cs typeface="inter"/>
                  </a:rPr>
                  <a:t>and </a:t>
                </a:r>
                <a:r>
                  <a:rPr lang="en-US" sz="1400" kern="0" dirty="0">
                    <a:solidFill>
                      <a:srgbClr val="000000"/>
                    </a:solidFill>
                    <a:latin typeface="inter"/>
                    <a:ea typeface="inter"/>
                    <a:cs typeface="inter"/>
                  </a:rPr>
                  <a:t>phase = –180° simultaneously.</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400" b="1" kern="0" dirty="0">
                    <a:solidFill>
                      <a:srgbClr val="000000"/>
                    </a:solidFill>
                    <a:latin typeface="inter"/>
                    <a:ea typeface="inter"/>
                    <a:cs typeface="inter"/>
                  </a:rPr>
                  <a:t>Alternative:</a:t>
                </a:r>
                <a:r>
                  <a:rPr lang="en-US" sz="1400" kern="0" dirty="0">
                    <a:solidFill>
                      <a:srgbClr val="000000"/>
                    </a:solidFill>
                    <a:latin typeface="inter"/>
                    <a:ea typeface="inter"/>
                    <a:cs typeface="inter"/>
                  </a:rPr>
                  <a:t> Phase reaches –180° before magnitude drops to 1 (unstable; diverges).</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In the single-pole op-amp case, this never happens naturally. Additional circuit topology (feedback networks, cascaded stages) must add a phase shift to enable oscillation.</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694268" y="4525826"/>
                <a:ext cx="11349566" cy="1661993"/>
              </a:xfrm>
              <a:prstGeom prst="rect">
                <a:avLst/>
              </a:prstGeom>
              <a:blipFill>
                <a:blip r:embed="rId3"/>
                <a:stretch>
                  <a:fillRect l="-161" t="-1832" b="-2930"/>
                </a:stretch>
              </a:blipFill>
            </p:spPr>
            <p:txBody>
              <a:bodyPr/>
              <a:lstStyle/>
              <a:p>
                <a:r>
                  <a:rPr lang="en-US">
                    <a:noFill/>
                  </a:rPr>
                  <a:t> </a:t>
                </a:r>
              </a:p>
            </p:txBody>
          </p:sp>
        </mc:Fallback>
      </mc:AlternateContent>
      <p:sp>
        <p:nvSpPr>
          <p:cNvPr id="8" name="Rectangle 7"/>
          <p:cNvSpPr/>
          <p:nvPr/>
        </p:nvSpPr>
        <p:spPr>
          <a:xfrm>
            <a:off x="5232737" y="1064167"/>
            <a:ext cx="2031325" cy="369332"/>
          </a:xfrm>
          <a:prstGeom prst="rect">
            <a:avLst/>
          </a:prstGeom>
        </p:spPr>
        <p:txBody>
          <a:bodyPr wrap="none">
            <a:spAutoFit/>
          </a:bodyPr>
          <a:lstStyle/>
          <a:p>
            <a:pPr lvl="0" algn="ctr"/>
            <a:r>
              <a:rPr lang="en-US" b="1" kern="0" dirty="0">
                <a:solidFill>
                  <a:srgbClr val="000000"/>
                </a:solidFill>
                <a:latin typeface="inter"/>
                <a:ea typeface="inter"/>
                <a:cs typeface="inter"/>
              </a:rPr>
              <a:t>Stability Margins</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0301436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41221" y="2294467"/>
            <a:ext cx="6612079" cy="35814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903816" y="2070303"/>
                <a:ext cx="6781800" cy="3875292"/>
              </a:xfrm>
            </p:spPr>
            <p:txBody>
              <a:bodyPr/>
              <a:lstStyle/>
              <a:p>
                <a:endParaRPr lang="en-US" sz="1800" dirty="0" smtClean="0">
                  <a:solidFill>
                    <a:srgbClr val="000000"/>
                  </a:solidFill>
                  <a:latin typeface="inter"/>
                  <a:ea typeface="inter"/>
                  <a:cs typeface="inter"/>
                </a:endParaRPr>
              </a:p>
              <a:p>
                <a:r>
                  <a:rPr lang="en-US" sz="1800" dirty="0" smtClean="0">
                    <a:solidFill>
                      <a:srgbClr val="000000"/>
                    </a:solidFill>
                    <a:latin typeface="inter"/>
                    <a:ea typeface="inter"/>
                    <a:cs typeface="inter"/>
                  </a:rPr>
                  <a:t>This </a:t>
                </a:r>
                <a:r>
                  <a:rPr lang="en-US" sz="1800" dirty="0">
                    <a:solidFill>
                      <a:srgbClr val="000000"/>
                    </a:solidFill>
                    <a:latin typeface="inter"/>
                    <a:ea typeface="inter"/>
                    <a:cs typeface="inter"/>
                  </a:rPr>
                  <a:t>is </a:t>
                </a:r>
                <a:r>
                  <a:rPr lang="en-US" sz="1800" b="1" dirty="0">
                    <a:solidFill>
                      <a:srgbClr val="C00000"/>
                    </a:solidFill>
                    <a:latin typeface="inter"/>
                    <a:ea typeface="inter"/>
                    <a:cs typeface="inter"/>
                  </a:rPr>
                  <a:t>positive feedback</a:t>
                </a:r>
                <a:r>
                  <a:rPr lang="en-US" sz="1800" dirty="0">
                    <a:solidFill>
                      <a:srgbClr val="000000"/>
                    </a:solidFill>
                    <a:latin typeface="inter"/>
                    <a:ea typeface="inter"/>
                    <a:cs typeface="inter"/>
                  </a:rPr>
                  <a:t>—the hallmark of oscillation initiation.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C00000"/>
                    </a:solidFill>
                    <a:latin typeface="inter"/>
                    <a:ea typeface="inter"/>
                    <a:cs typeface="inter"/>
                  </a:rPr>
                  <a:t>Amplitude Growth Over Successive Cycles:</a:t>
                </a:r>
                <a:endParaRPr lang="en-US" sz="18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1:</a:t>
                </a:r>
                <a:r>
                  <a:rPr lang="en-US" sz="1800" dirty="0">
                    <a:solidFill>
                      <a:srgbClr val="C00000"/>
                    </a:solidFill>
                    <a:latin typeface="inter"/>
                    <a:ea typeface="inter"/>
                    <a:cs typeface="inter"/>
                  </a:rPr>
                  <a:t> </a:t>
                </a:r>
                <a:r>
                  <a:rPr lang="en-US" sz="1800" dirty="0">
                    <a:solidFill>
                      <a:srgbClr val="000000"/>
                    </a:solidFill>
                    <a:latin typeface="inter"/>
                    <a:ea typeface="inter"/>
                    <a:cs typeface="inter"/>
                  </a:rPr>
                  <a:t>Input noise amplitude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2:</a:t>
                </a:r>
                <a:r>
                  <a:rPr lang="en-US" sz="1800" dirty="0">
                    <a:solidFill>
                      <a:srgbClr val="C00000"/>
                    </a:solidFill>
                    <a:latin typeface="inter"/>
                    <a:ea typeface="inter"/>
                    <a:cs typeface="inter"/>
                  </a:rPr>
                  <a:t> </a:t>
                </a:r>
                <a:r>
                  <a:rPr lang="en-US" sz="1800" dirty="0">
                    <a:solidFill>
                      <a:srgbClr val="000000"/>
                    </a:solidFill>
                    <a:latin typeface="inter"/>
                    <a:ea typeface="inter"/>
                    <a:cs typeface="inter"/>
                  </a:rPr>
                  <a:t>After one loop transit,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3:</a:t>
                </a:r>
                <a:r>
                  <a:rPr lang="en-US" sz="1800" dirty="0">
                    <a:solidFill>
                      <a:srgbClr val="C00000"/>
                    </a:solidFill>
                    <a:latin typeface="inter"/>
                    <a:ea typeface="inter"/>
                    <a:cs typeface="inter"/>
                  </a:rPr>
                  <a: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n:</a:t>
                </a:r>
                <a:r>
                  <a:rPr lang="en-US" sz="1800" dirty="0">
                    <a:solidFill>
                      <a:srgbClr val="C00000"/>
                    </a:solidFill>
                    <a:latin typeface="inter"/>
                    <a:ea typeface="inter"/>
                    <a:cs typeface="inter"/>
                  </a:rPr>
                  <a: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p>
                    </m:sSup>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If each cycle takes time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sup>
                      </m:s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C00000"/>
                    </a:solidFill>
                    <a:latin typeface="inter"/>
                    <a:ea typeface="inter"/>
                    <a:cs typeface="inter"/>
                  </a:rPr>
                  <a:t>Exponential Growth Rate:</a:t>
                </a:r>
                <a:endParaRPr lang="en-US" sz="18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𝛽</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num>
                        <m:den>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𝛽</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p>
                      </m:s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903816" y="2070303"/>
                <a:ext cx="6781800" cy="3875292"/>
              </a:xfrm>
              <a:blipFill>
                <a:blip r:embed="rId2"/>
                <a:stretch>
                  <a:fillRect l="-2066"/>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693011" y="653444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F5EFD3F-F09F-4E2E-80F1-00DDB56095FE}"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241223" y="643505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738638" y="2417233"/>
            <a:ext cx="4152798" cy="3282987"/>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685799" y="1090136"/>
                <a:ext cx="10761133" cy="923330"/>
              </a:xfrm>
              <a:prstGeom prst="rect">
                <a:avLst/>
              </a:prstGeom>
            </p:spPr>
            <p:txBody>
              <a:bodyPr wrap="square">
                <a:spAutoFit/>
              </a:bodyPr>
              <a:lstStyle/>
              <a:p>
                <a:pPr lvl="0" algn="just"/>
                <a:r>
                  <a:rPr lang="en-US" kern="0" dirty="0">
                    <a:solidFill>
                      <a:srgbClr val="000000"/>
                    </a:solidFill>
                    <a:latin typeface="inter"/>
                    <a:ea typeface="inter"/>
                    <a:cs typeface="inter"/>
                  </a:rPr>
                  <a:t>The output </a:t>
                </a:r>
                <a14:m>
                  <m:oMath xmlns:m="http://schemas.openxmlformats.org/officeDocument/2006/math">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kern="0" dirty="0">
                    <a:solidFill>
                      <a:srgbClr val="000000"/>
                    </a:solidFill>
                    <a:latin typeface="inter"/>
                    <a:ea typeface="inter"/>
                    <a:cs typeface="inter"/>
                  </a:rPr>
                  <a:t> feeds back to the summing junction. With </a:t>
                </a:r>
                <a:r>
                  <a:rPr lang="en-US" kern="0" dirty="0" smtClean="0">
                    <a:solidFill>
                      <a:srgbClr val="000000"/>
                    </a:solidFill>
                    <a:latin typeface="inter"/>
                    <a:ea typeface="inter"/>
                    <a:cs typeface="inter"/>
                  </a:rPr>
                  <a:t>to a </a:t>
                </a:r>
                <a:r>
                  <a:rPr lang="en-US" kern="0" dirty="0">
                    <a:solidFill>
                      <a:srgbClr val="000000"/>
                    </a:solidFill>
                    <a:latin typeface="inter"/>
                    <a:ea typeface="inter"/>
                    <a:cs typeface="inter"/>
                  </a:rPr>
                  <a:t>total phase shift of 360° around the loop (180° from the feedback junction + 180° from the </a:t>
                </a:r>
                <a:r>
                  <a:rPr lang="en-US" kern="0" dirty="0" smtClean="0">
                    <a:solidFill>
                      <a:srgbClr val="000000"/>
                    </a:solidFill>
                    <a:latin typeface="inter"/>
                    <a:ea typeface="inter"/>
                    <a:cs typeface="inter"/>
                  </a:rPr>
                  <a:t>forward </a:t>
                </a:r>
                <a:r>
                  <a:rPr lang="en-US" kern="0" dirty="0">
                    <a:solidFill>
                      <a:srgbClr val="000000"/>
                    </a:solidFill>
                    <a:latin typeface="inter"/>
                    <a:ea typeface="inter"/>
                    <a:cs typeface="inter"/>
                  </a:rPr>
                  <a:t>path), the feedback signal aligns with (and reinforces) any existing oscillation at </a:t>
                </a:r>
                <a14:m>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kern="0" dirty="0">
                    <a:solidFill>
                      <a:srgbClr val="000000"/>
                    </a:solidFill>
                    <a:latin typeface="inter"/>
                    <a:ea typeface="inter"/>
                    <a:cs typeface="inter"/>
                  </a:rPr>
                  <a:t>.</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685799" y="1090136"/>
                <a:ext cx="10761133" cy="923330"/>
              </a:xfrm>
              <a:prstGeom prst="rect">
                <a:avLst/>
              </a:prstGeom>
              <a:blipFill>
                <a:blip r:embed="rId4"/>
                <a:stretch>
                  <a:fillRect l="-453" t="-3974" r="-453" b="-9934"/>
                </a:stretch>
              </a:blipFill>
            </p:spPr>
            <p:txBody>
              <a:bodyPr/>
              <a:lstStyle/>
              <a:p>
                <a:r>
                  <a:rPr lang="en-US">
                    <a:noFill/>
                  </a:rPr>
                  <a:t> </a:t>
                </a:r>
              </a:p>
            </p:txBody>
          </p:sp>
        </mc:Fallback>
      </mc:AlternateContent>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2892896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67267" y="2798233"/>
            <a:ext cx="10934699" cy="29210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36987" y="1816101"/>
            <a:ext cx="7208980" cy="88053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2. </a:t>
            </a:r>
            <a:r>
              <a:rPr lang="en-US" dirty="0" err="1">
                <a:latin typeface="fkGrotesk"/>
              </a:rPr>
              <a:t>Barkhausen</a:t>
            </a:r>
            <a:r>
              <a:rPr lang="en-US" dirty="0">
                <a:latin typeface="fkGrotesk"/>
              </a:rPr>
              <a:t> Criteria: The Mathematical </a:t>
            </a:r>
            <a:r>
              <a:rPr lang="en-US" dirty="0" smtClean="0">
                <a:latin typeface="fkGrotesk"/>
              </a:rPr>
              <a:t>Foundation</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49" y="1327353"/>
                <a:ext cx="10503635" cy="4555093"/>
              </a:xfrm>
            </p:spPr>
            <p:txBody>
              <a:bodyPr/>
              <a:lstStyle/>
              <a:p>
                <a:pPr algn="just"/>
                <a:r>
                  <a:rPr lang="en-US" dirty="0">
                    <a:latin typeface="fkGroteskNeue"/>
                  </a:rPr>
                  <a:t>The </a:t>
                </a:r>
                <a:r>
                  <a:rPr lang="en-US" dirty="0" err="1">
                    <a:latin typeface="fkGroteskNeue"/>
                  </a:rPr>
                  <a:t>Barkhausen</a:t>
                </a:r>
                <a:r>
                  <a:rPr lang="en-US" dirty="0">
                    <a:latin typeface="fkGroteskNeue"/>
                  </a:rPr>
                  <a:t> stability criterion provides two essential conditions for sustained oscillation</a:t>
                </a:r>
                <a:r>
                  <a:rPr lang="en-US" dirty="0" smtClean="0">
                    <a:latin typeface="fkGroteskNeue"/>
                  </a:rPr>
                  <a:t>:</a:t>
                </a:r>
              </a:p>
              <a:p>
                <a:pPr algn="just"/>
                <a:endParaRPr lang="en-US" dirty="0">
                  <a:latin typeface="fkGroteskNeue"/>
                </a:endParaRPr>
              </a:p>
              <a:p>
                <a:pPr marL="457200" indent="-457200" algn="just">
                  <a:buFont typeface="+mj-lt"/>
                  <a:buAutoNum type="arabicPeriod"/>
                </a:pPr>
                <a:r>
                  <a:rPr lang="en-US" b="1" dirty="0" smtClean="0">
                    <a:solidFill>
                      <a:srgbClr val="C00000"/>
                    </a:solidFill>
                    <a:latin typeface="fkGroteskNeue"/>
                  </a:rPr>
                  <a:t>Loop gain magnitude: </a:t>
                </a:r>
                <a14:m>
                  <m:oMath xmlns:m="http://schemas.openxmlformats.org/officeDocument/2006/math">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𝑯</m:t>
                    </m:r>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𝒋</m:t>
                    </m:r>
                    <m:sSub>
                      <m:sSubPr>
                        <m:ctrlP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𝝎</m:t>
                        </m:r>
                      </m:e>
                      <m:sub>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𝟎</m:t>
                        </m:r>
                      </m:sub>
                    </m:sSub>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b="1" dirty="0">
                    <a:solidFill>
                      <a:srgbClr val="C00000"/>
                    </a:solidFill>
                    <a:latin typeface="fkGroteskNeue"/>
                  </a:rPr>
                  <a:t> = 1 (unity gain)</a:t>
                </a:r>
              </a:p>
              <a:p>
                <a:pPr marL="457200" indent="-457200" algn="just">
                  <a:buFont typeface="+mj-lt"/>
                  <a:buAutoNum type="arabicPeriod"/>
                </a:pPr>
                <a:r>
                  <a:rPr lang="en-US" b="1" dirty="0">
                    <a:solidFill>
                      <a:srgbClr val="C00000"/>
                    </a:solidFill>
                    <a:latin typeface="fkGroteskNeue"/>
                  </a:rPr>
                  <a:t>Phase condition: </a:t>
                </a:r>
                <a14:m>
                  <m:oMath xmlns:m="http://schemas.openxmlformats.org/officeDocument/2006/math">
                    <m:r>
                      <a:rPr lang="en-US" b="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𝑯</m:t>
                    </m:r>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𝒋</m:t>
                    </m:r>
                    <m:sSub>
                      <m:sSubPr>
                        <m:ctrlP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𝝎</m:t>
                        </m:r>
                      </m:e>
                      <m:sub>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𝟎</m:t>
                        </m:r>
                      </m:sub>
                    </m:sSub>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b="1" dirty="0" smtClean="0">
                    <a:solidFill>
                      <a:srgbClr val="C00000"/>
                    </a:solidFill>
                    <a:latin typeface="fkGroteskNeue"/>
                  </a:rPr>
                  <a:t> </a:t>
                </a:r>
                <a:r>
                  <a:rPr lang="en-US" b="1" dirty="0">
                    <a:solidFill>
                      <a:srgbClr val="C00000"/>
                    </a:solidFill>
                    <a:latin typeface="fkGroteskNeue"/>
                  </a:rPr>
                  <a:t>= 180° (or multiples of 360</a:t>
                </a:r>
                <a:r>
                  <a:rPr lang="en-US" b="1" dirty="0" smtClean="0">
                    <a:solidFill>
                      <a:srgbClr val="C00000"/>
                    </a:solidFill>
                    <a:latin typeface="fkGroteskNeue"/>
                  </a:rPr>
                  <a:t>°)</a:t>
                </a:r>
              </a:p>
              <a:p>
                <a:pPr marL="457200" indent="-457200" algn="just">
                  <a:buFont typeface="+mj-lt"/>
                  <a:buAutoNum type="arabicPeriod"/>
                </a:pPr>
                <a:endParaRPr lang="en-US" dirty="0">
                  <a:latin typeface="fkGroteskNeue"/>
                </a:endParaRPr>
              </a:p>
              <a:p>
                <a:pPr marL="342900" indent="-342900" algn="just">
                  <a:buFont typeface="Wingdings" panose="05000000000000000000" pitchFamily="2" charset="2"/>
                  <a:buChar char="q"/>
                </a:pPr>
                <a:r>
                  <a:rPr lang="en-US" sz="2200" b="1" dirty="0">
                    <a:solidFill>
                      <a:srgbClr val="C00000"/>
                    </a:solidFill>
                    <a:latin typeface="fkGroteskNeue"/>
                  </a:rPr>
                  <a:t>Intuitive Meaning: </a:t>
                </a:r>
                <a:endParaRPr lang="en-US" sz="2200" b="1" dirty="0" smtClean="0">
                  <a:solidFill>
                    <a:srgbClr val="C00000"/>
                  </a:solidFill>
                  <a:latin typeface="fkGroteskNeue"/>
                </a:endParaRPr>
              </a:p>
              <a:p>
                <a:pPr algn="just"/>
                <a:r>
                  <a:rPr lang="en-US" sz="2200" dirty="0" smtClean="0">
                    <a:latin typeface="fkGroteskNeue"/>
                  </a:rPr>
                  <a:t>At </a:t>
                </a:r>
                <a:r>
                  <a:rPr lang="en-US" sz="2200" dirty="0">
                    <a:latin typeface="fkGroteskNeue"/>
                  </a:rPr>
                  <a:t>the oscillation frequency, the signal must return to its starting point with the same amplitude (condition 1) and same phase (condition 2) to reinforce itself indefinitely</a:t>
                </a:r>
                <a:r>
                  <a:rPr lang="en-US" sz="2200" dirty="0" smtClean="0">
                    <a:latin typeface="fkGroteskNeue"/>
                  </a:rPr>
                  <a:t>.</a:t>
                </a:r>
              </a:p>
              <a:p>
                <a:pPr marL="342900" indent="-342900" algn="just">
                  <a:buFont typeface="Wingdings" panose="05000000000000000000" pitchFamily="2" charset="2"/>
                  <a:buChar char="q"/>
                </a:pPr>
                <a:endParaRPr lang="en-US" sz="2200" dirty="0">
                  <a:latin typeface="fkGroteskNeue"/>
                </a:endParaRPr>
              </a:p>
              <a:p>
                <a:pPr marL="342900" indent="-342900" algn="just">
                  <a:buFont typeface="Wingdings" panose="05000000000000000000" pitchFamily="2" charset="2"/>
                  <a:buChar char="q"/>
                </a:pPr>
                <a:r>
                  <a:rPr lang="en-US" sz="2200" b="1" dirty="0">
                    <a:solidFill>
                      <a:srgbClr val="C00000"/>
                    </a:solidFill>
                    <a:latin typeface="fkGrotesk"/>
                  </a:rPr>
                  <a:t>Startup Condition:</a:t>
                </a:r>
              </a:p>
              <a:p>
                <a:pPr algn="just"/>
                <a:r>
                  <a:rPr lang="en-US" sz="2200" dirty="0">
                    <a:latin typeface="fkGroteskNeue"/>
                  </a:rPr>
                  <a:t>Initially, </a:t>
                </a:r>
                <a14:m>
                  <m:oMath xmlns:m="http://schemas.openxmlformats.org/officeDocument/2006/math">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2200" dirty="0">
                    <a:latin typeface="fkGroteskNeue"/>
                  </a:rPr>
                  <a:t> &gt; 1 to overcome losses and build up oscillation amplitude. Once steady-state is reached, nonlinear effects (saturation) automatically adjust the gain to exactly unity</a:t>
                </a: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49" y="1327353"/>
                <a:ext cx="10503635" cy="4555093"/>
              </a:xfrm>
              <a:blipFill>
                <a:blip r:embed="rId2"/>
                <a:stretch>
                  <a:fillRect l="-1625" t="-1606" r="-1625"/>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573742"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710AABB1-1F88-4C1D-BB1F-07D9E99838A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28356440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2540000" y="1147233"/>
            <a:ext cx="6968068" cy="19600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66235" y="4449234"/>
            <a:ext cx="11053232" cy="173566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57768" y="3564467"/>
            <a:ext cx="11053232" cy="7620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Condition for Marginally Stable </a:t>
            </a:r>
            <a:r>
              <a:rPr lang="en-US" dirty="0" smtClean="0"/>
              <a:t>Oscillation</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34794" y="3075720"/>
                <a:ext cx="10953750" cy="3447098"/>
              </a:xfrm>
            </p:spPr>
            <p:txBody>
              <a:bodyPr/>
              <a:lstStyle/>
              <a:p>
                <a:pPr algn="ctr"/>
                <a:r>
                  <a:rPr lang="en-US" b="1" dirty="0" smtClean="0">
                    <a:solidFill>
                      <a:srgbClr val="C00000"/>
                    </a:solidFill>
                    <a:latin typeface="inter"/>
                    <a:ea typeface="inter"/>
                    <a:cs typeface="inter"/>
                  </a:rPr>
                  <a:t>Physical Interpretation</a:t>
                </a:r>
              </a:p>
              <a:p>
                <a:pPr algn="ct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2060"/>
                    </a:solidFill>
                    <a:latin typeface="inter"/>
                    <a:ea typeface="inter"/>
                    <a:cs typeface="inter"/>
                  </a:rPr>
                  <a:t>Magnitude Condition - Unity Gain:</a:t>
                </a:r>
                <a:endParaRPr lang="en-US" sz="140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For oscillation to sustain, signals propagating around the loop must return with the same amplitude (unity gain). If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|&gt;1</m:t>
                    </m:r>
                  </m:oMath>
                </a14:m>
                <a:r>
                  <a:rPr lang="en-US" sz="1400" dirty="0">
                    <a:solidFill>
                      <a:srgbClr val="000000"/>
                    </a:solidFill>
                    <a:latin typeface="inter"/>
                    <a:ea typeface="inter"/>
                    <a:cs typeface="inter"/>
                  </a:rPr>
                  <a:t>, amplitude grows unboundedly (until nonlinearities saturate). If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|&lt;1</m:t>
                    </m:r>
                  </m:oMath>
                </a14:m>
                <a:r>
                  <a:rPr lang="en-US" sz="1400" dirty="0">
                    <a:solidFill>
                      <a:srgbClr val="000000"/>
                    </a:solidFill>
                    <a:latin typeface="inter"/>
                    <a:ea typeface="inter"/>
                    <a:cs typeface="inter"/>
                  </a:rPr>
                  <a:t>, </a:t>
                </a:r>
                <a:r>
                  <a:rPr lang="en-US" sz="1400" dirty="0" smtClean="0">
                    <a:solidFill>
                      <a:srgbClr val="000000"/>
                    </a:solidFill>
                    <a:latin typeface="inter"/>
                    <a:ea typeface="inter"/>
                    <a:cs typeface="inter"/>
                  </a:rPr>
                  <a:t>the amplitude </a:t>
                </a:r>
                <a:r>
                  <a:rPr lang="en-US" sz="1400" dirty="0">
                    <a:solidFill>
                      <a:srgbClr val="000000"/>
                    </a:solidFill>
                    <a:latin typeface="inter"/>
                    <a:ea typeface="inter"/>
                    <a:cs typeface="inter"/>
                  </a:rPr>
                  <a:t>decays to zero</a:t>
                </a:r>
                <a:r>
                  <a:rPr lang="en-US" sz="1400" dirty="0" smtClean="0">
                    <a:solidFill>
                      <a:srgbClr val="000000"/>
                    </a:solidFill>
                    <a:latin typeface="inter"/>
                    <a:ea typeface="inter"/>
                    <a:cs typeface="inter"/>
                  </a:rPr>
                  <a:t>.</a:t>
                </a:r>
              </a:p>
              <a:p>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2060"/>
                    </a:solidFill>
                    <a:latin typeface="inter"/>
                    <a:ea typeface="inter"/>
                    <a:cs typeface="inter"/>
                  </a:rPr>
                  <a:t>Phase Condition - 180° Inversion:</a:t>
                </a:r>
                <a:endParaRPr lang="en-US" sz="140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feedback summer contributes 180° inherent phase shift (the negative sign). The forward path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400" dirty="0">
                    <a:solidFill>
                      <a:srgbClr val="000000"/>
                    </a:solidFill>
                    <a:latin typeface="inter"/>
                    <a:ea typeface="inter"/>
                    <a:cs typeface="inter"/>
                  </a:rPr>
                  <a:t> must contribute another 180° inversion. Together:</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Total</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phase</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=180°+180°=360°≡0° (</m:t>
                      </m:r>
                      <m:r>
                        <m:rPr>
                          <m:sty m:val="p"/>
                        </m:rP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mod</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 360°)</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A 0° (or 360°) total phase shift represents positive feedback—signals reinforce themselves.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Equivalently: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Phase</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return</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=360°=2</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rad</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signal completes exactly one full oscillation (in phase) when it returns to the input.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34794" y="3075720"/>
                <a:ext cx="10953750" cy="3447098"/>
              </a:xfrm>
              <a:blipFill>
                <a:blip r:embed="rId2"/>
                <a:stretch>
                  <a:fillRect l="-1002" t="-2124" r="-612"/>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148844" y="65554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194BEB37-6DD6-4FA4-B42F-625E96D8BD6D}"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9" name="Rectangle 8"/>
              <p:cNvSpPr/>
              <p:nvPr/>
            </p:nvSpPr>
            <p:spPr>
              <a:xfrm>
                <a:off x="2772833" y="1111817"/>
                <a:ext cx="7001933" cy="2031325"/>
              </a:xfrm>
              <a:prstGeom prst="rect">
                <a:avLst/>
              </a:prstGeom>
            </p:spPr>
            <p:txBody>
              <a:bodyPr wrap="square">
                <a:spAutoFit/>
              </a:bodyPr>
              <a:lstStyle/>
              <a:p>
                <a:pPr lvl="0"/>
                <a:r>
                  <a:rPr lang="en-US" sz="1400" kern="0" dirty="0">
                    <a:solidFill>
                      <a:srgbClr val="000000"/>
                    </a:solidFill>
                    <a:latin typeface="inter"/>
                    <a:ea typeface="inter"/>
                    <a:cs typeface="inter"/>
                  </a:rPr>
                  <a:t>For the closed-loop transfer function to have poles on the imaginary axis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400" kern="0" dirty="0">
                    <a:solidFill>
                      <a:srgbClr val="000000"/>
                    </a:solidFill>
                    <a:latin typeface="inter"/>
                    <a:ea typeface="inter"/>
                    <a:cs typeface="inter"/>
                  </a:rPr>
                  <a:t>):</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This complex equation splits into </a:t>
                </a:r>
                <a:r>
                  <a:rPr lang="en-US" sz="1400" b="1" kern="0" dirty="0">
                    <a:solidFill>
                      <a:srgbClr val="002060"/>
                    </a:solidFill>
                    <a:latin typeface="inter"/>
                    <a:ea typeface="inter"/>
                    <a:cs typeface="inter"/>
                  </a:rPr>
                  <a:t>two independent real conditions:</a:t>
                </a:r>
                <a:endParaRPr lang="en-US" sz="1400" kern="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kern="0" dirty="0" err="1">
                    <a:solidFill>
                      <a:srgbClr val="002060"/>
                    </a:solidFill>
                    <a:latin typeface="inter"/>
                    <a:ea typeface="inter"/>
                    <a:cs typeface="inter"/>
                  </a:rPr>
                  <a:t>Barkhausen</a:t>
                </a:r>
                <a:r>
                  <a:rPr lang="en-US" sz="1400" b="1" kern="0" dirty="0">
                    <a:solidFill>
                      <a:srgbClr val="002060"/>
                    </a:solidFill>
                    <a:latin typeface="inter"/>
                    <a:ea typeface="inter"/>
                    <a:cs typeface="inter"/>
                  </a:rPr>
                  <a:t> Magnitude Condition:</a:t>
                </a:r>
                <a:endParaRPr lang="en-US" sz="1400" kern="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kern="0" dirty="0" err="1">
                    <a:solidFill>
                      <a:srgbClr val="002060"/>
                    </a:solidFill>
                    <a:latin typeface="inter"/>
                    <a:ea typeface="inter"/>
                    <a:cs typeface="inter"/>
                  </a:rPr>
                  <a:t>Barkhausen</a:t>
                </a:r>
                <a:r>
                  <a:rPr lang="en-US" sz="1400" b="1" kern="0" dirty="0">
                    <a:solidFill>
                      <a:srgbClr val="002060"/>
                    </a:solidFill>
                    <a:latin typeface="inter"/>
                    <a:ea typeface="inter"/>
                    <a:cs typeface="inter"/>
                  </a:rPr>
                  <a:t> Phase Condition:</a:t>
                </a:r>
                <a:endParaRPr lang="en-US" sz="1400" kern="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)=180° </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or</m:t>
                      </m:r>
                      <m:r>
                        <m:rPr>
                          <m:nor/>
                        </m:rPr>
                        <a:rPr lang="en-US" sz="1400" i="1" kern="0">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sz="1400" i="1" kern="0">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radians</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2772833" y="1111817"/>
                <a:ext cx="7001933" cy="2031325"/>
              </a:xfrm>
              <a:prstGeom prst="rect">
                <a:avLst/>
              </a:prstGeom>
              <a:blipFill>
                <a:blip r:embed="rId3"/>
                <a:stretch>
                  <a:fillRect l="-261" t="-299" b="-299"/>
                </a:stretch>
              </a:blipFill>
            </p:spPr>
            <p:txBody>
              <a:bodyPr/>
              <a:lstStyle/>
              <a:p>
                <a:r>
                  <a:rPr lang="en-US">
                    <a:noFill/>
                  </a:rPr>
                  <a:t> </a:t>
                </a:r>
              </a:p>
            </p:txBody>
          </p:sp>
        </mc:Fallback>
      </mc:AlternateContent>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4707424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39107" y="5472780"/>
            <a:ext cx="11338154" cy="7620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1046440"/>
          </a:xfrm>
        </p:spPr>
        <p:txBody>
          <a:bodyPr/>
          <a:lstStyle/>
          <a:p>
            <a:r>
              <a:rPr lang="en-US" dirty="0" smtClean="0">
                <a:latin typeface="fkGrotesk"/>
              </a:rPr>
              <a:t>3. </a:t>
            </a:r>
            <a:r>
              <a:rPr lang="en-US" dirty="0">
                <a:latin typeface="fkGrotesk"/>
              </a:rPr>
              <a:t>Oscillation Growth Mechanism</a:t>
            </a:r>
            <a:br>
              <a:rPr lang="en-US" dirty="0">
                <a:latin typeface="fkGrotesk"/>
              </a:rPr>
            </a:br>
            <a:endParaRPr lang="en-US" dirty="0"/>
          </a:p>
        </p:txBody>
      </p:sp>
      <p:sp>
        <p:nvSpPr>
          <p:cNvPr id="3" name="Text Placeholder 2"/>
          <p:cNvSpPr>
            <a:spLocks noGrp="1"/>
          </p:cNvSpPr>
          <p:nvPr>
            <p:ph type="body" idx="1"/>
          </p:nvPr>
        </p:nvSpPr>
        <p:spPr>
          <a:xfrm>
            <a:off x="627121" y="3739262"/>
            <a:ext cx="11099823" cy="2462213"/>
          </a:xfrm>
        </p:spPr>
        <p:txBody>
          <a:bodyPr/>
          <a:lstStyle/>
          <a:p>
            <a:pPr marL="342900" indent="-342900" algn="just">
              <a:buFont typeface="Wingdings" panose="05000000000000000000" pitchFamily="2" charset="2"/>
              <a:buChar char="q"/>
            </a:pPr>
            <a:r>
              <a:rPr lang="en-US" b="1" dirty="0" smtClean="0">
                <a:solidFill>
                  <a:srgbClr val="FF0000"/>
                </a:solidFill>
                <a:latin typeface="fkGroteskNeue"/>
              </a:rPr>
              <a:t>Figure </a:t>
            </a:r>
            <a:r>
              <a:rPr lang="en-US" b="1" dirty="0" smtClean="0">
                <a:solidFill>
                  <a:srgbClr val="FF0000"/>
                </a:solidFill>
                <a:latin typeface="fkGroteskNeue"/>
              </a:rPr>
              <a:t>(a</a:t>
            </a:r>
            <a:r>
              <a:rPr lang="en-US" b="1" dirty="0">
                <a:solidFill>
                  <a:srgbClr val="FF0000"/>
                </a:solidFill>
                <a:latin typeface="fkGroteskNeue"/>
              </a:rPr>
              <a:t>): </a:t>
            </a:r>
            <a:r>
              <a:rPr lang="en-US" dirty="0">
                <a:latin typeface="fkGroteskNeue"/>
              </a:rPr>
              <a:t>Shows the open-loop case where a small input creates a corresponding output.</a:t>
            </a:r>
          </a:p>
          <a:p>
            <a:pPr marL="342900" indent="-342900" algn="just">
              <a:buFont typeface="Wingdings" panose="05000000000000000000" pitchFamily="2" charset="2"/>
              <a:buChar char="q"/>
            </a:pPr>
            <a:r>
              <a:rPr lang="en-US" b="1" dirty="0">
                <a:solidFill>
                  <a:srgbClr val="FF0000"/>
                </a:solidFill>
                <a:latin typeface="fkGroteskNeue"/>
              </a:rPr>
              <a:t>Figure </a:t>
            </a:r>
            <a:r>
              <a:rPr lang="en-US" b="1" dirty="0" smtClean="0">
                <a:solidFill>
                  <a:srgbClr val="FF0000"/>
                </a:solidFill>
                <a:latin typeface="fkGroteskNeue"/>
              </a:rPr>
              <a:t>(b</a:t>
            </a:r>
            <a:r>
              <a:rPr lang="en-US" b="1" dirty="0">
                <a:solidFill>
                  <a:srgbClr val="FF0000"/>
                </a:solidFill>
                <a:latin typeface="fkGroteskNeue"/>
              </a:rPr>
              <a:t>): </a:t>
            </a:r>
            <a:r>
              <a:rPr lang="en-US" dirty="0">
                <a:latin typeface="fkGroteskNeue"/>
              </a:rPr>
              <a:t>When the loop is closed, the output gets subtracted from input, creating a larger net signal that gets amplified further.</a:t>
            </a:r>
          </a:p>
          <a:p>
            <a:pPr marL="342900" indent="-342900" algn="just">
              <a:buFont typeface="Wingdings" panose="05000000000000000000" pitchFamily="2" charset="2"/>
              <a:buChar char="q"/>
            </a:pPr>
            <a:r>
              <a:rPr lang="en-US" b="1" dirty="0">
                <a:solidFill>
                  <a:srgbClr val="FF0000"/>
                </a:solidFill>
                <a:latin typeface="fkGroteskNeue"/>
              </a:rPr>
              <a:t>Figure </a:t>
            </a:r>
            <a:r>
              <a:rPr lang="en-US" b="1" dirty="0" smtClean="0">
                <a:solidFill>
                  <a:srgbClr val="FF0000"/>
                </a:solidFill>
                <a:latin typeface="fkGroteskNeue"/>
              </a:rPr>
              <a:t>(c</a:t>
            </a:r>
            <a:r>
              <a:rPr lang="en-US" b="1" dirty="0">
                <a:solidFill>
                  <a:srgbClr val="FF0000"/>
                </a:solidFill>
                <a:latin typeface="fkGroteskNeue"/>
              </a:rPr>
              <a:t>): </a:t>
            </a:r>
            <a:r>
              <a:rPr lang="en-US" dirty="0">
                <a:latin typeface="fkGroteskNeue"/>
              </a:rPr>
              <a:t>Shows exponential growth - each trip around the loop amplifies the signal more, leading to indefinite growth if unchecked</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algn="just"/>
            <a:r>
              <a:rPr lang="en-US" b="1" dirty="0">
                <a:solidFill>
                  <a:srgbClr val="FF0000"/>
                </a:solidFill>
                <a:latin typeface="fkGroteskNeue"/>
              </a:rPr>
              <a:t>Key Insight: </a:t>
            </a:r>
            <a:r>
              <a:rPr lang="en-US" dirty="0">
                <a:latin typeface="fkGroteskNeue"/>
              </a:rPr>
              <a:t>This demonstrates how positive loop gain (when |H(</a:t>
            </a:r>
            <a:r>
              <a:rPr lang="en-US" dirty="0" err="1">
                <a:latin typeface="fkGroteskNeue"/>
              </a:rPr>
              <a:t>jω</a:t>
            </a:r>
            <a:r>
              <a:rPr lang="en-US" dirty="0">
                <a:latin typeface="fkGroteskNeue"/>
              </a:rPr>
              <a:t>)| &gt; 1) causes </a:t>
            </a:r>
            <a:r>
              <a:rPr lang="en-US" dirty="0" smtClean="0">
                <a:latin typeface="fkGroteskNeue"/>
              </a:rPr>
              <a:t>amplitude </a:t>
            </a:r>
            <a:r>
              <a:rPr lang="en-US" dirty="0" err="1" smtClean="0">
                <a:latin typeface="fkGroteskNeue"/>
              </a:rPr>
              <a:t>bildup</a:t>
            </a:r>
            <a:r>
              <a:rPr lang="en-US" dirty="0" smtClean="0">
                <a:latin typeface="fkGroteskNeue"/>
              </a:rPr>
              <a:t>, </a:t>
            </a:r>
            <a:r>
              <a:rPr lang="en-US" dirty="0">
                <a:latin typeface="fkGroteskNeue"/>
              </a:rPr>
              <a:t>while the phase condition ensures the signal reinforces rather than cancels </a:t>
            </a:r>
            <a:r>
              <a:rPr lang="en-US" dirty="0" smtClean="0">
                <a:latin typeface="fkGroteskNeue"/>
              </a:rPr>
              <a:t>itself.</a:t>
            </a:r>
            <a:endParaRPr lang="en-US" dirty="0">
              <a:latin typeface="fkGroteskNeue"/>
            </a:endParaRPr>
          </a:p>
        </p:txBody>
      </p:sp>
      <p:sp>
        <p:nvSpPr>
          <p:cNvPr id="5" name="Date Placeholder 4"/>
          <p:cNvSpPr>
            <a:spLocks noGrp="1"/>
          </p:cNvSpPr>
          <p:nvPr>
            <p:ph type="dt" sz="half" idx="6"/>
          </p:nvPr>
        </p:nvSpPr>
        <p:spPr>
          <a:xfrm>
            <a:off x="772524" y="6365480"/>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06B9B4E-2ABE-47C5-9E02-1AAF2AA90C7A}"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3343796" y="3355145"/>
            <a:ext cx="5726248" cy="307777"/>
          </a:xfrm>
          <a:prstGeom prst="rect">
            <a:avLst/>
          </a:prstGeom>
        </p:spPr>
        <p:txBody>
          <a:bodyPr wrap="none">
            <a:spAutoFit/>
          </a:bodyPr>
          <a:lstStyle/>
          <a:p>
            <a:r>
              <a:rPr lang="en-US" sz="1400" b="1" i="0" u="none" strike="noStrike" baseline="0" dirty="0" smtClean="0">
                <a:solidFill>
                  <a:srgbClr val="00B050"/>
                </a:solidFill>
                <a:latin typeface="T3Font_100"/>
              </a:rPr>
              <a:t>Figure 1.3 </a:t>
            </a:r>
            <a:r>
              <a:rPr lang="en-US" sz="1400" b="1" i="0" u="none" strike="noStrike" baseline="0" dirty="0" smtClean="0">
                <a:solidFill>
                  <a:srgbClr val="00B050"/>
                </a:solidFill>
                <a:latin typeface="T3Font_92"/>
              </a:rPr>
              <a:t>Growth of an input sinusoid around the loop with time.</a:t>
            </a:r>
            <a:endParaRPr lang="en-US" sz="4000" b="1" dirty="0">
              <a:solidFill>
                <a:srgbClr val="00B050"/>
              </a:solidFill>
            </a:endParaRPr>
          </a:p>
        </p:txBody>
      </p:sp>
      <p:pic>
        <p:nvPicPr>
          <p:cNvPr id="9" name="Picture 8"/>
          <p:cNvPicPr>
            <a:picLocks noChangeAspect="1"/>
          </p:cNvPicPr>
          <p:nvPr/>
        </p:nvPicPr>
        <p:blipFill>
          <a:blip r:embed="rId2"/>
          <a:stretch>
            <a:fillRect/>
          </a:stretch>
        </p:blipFill>
        <p:spPr>
          <a:xfrm>
            <a:off x="1571556" y="1238506"/>
            <a:ext cx="8604733" cy="2181728"/>
          </a:xfrm>
          <a:prstGeom prst="rect">
            <a:avLst/>
          </a:prstGeom>
        </p:spPr>
      </p:pic>
      <p:sp>
        <p:nvSpPr>
          <p:cNvPr id="10" name="Rectangle 9"/>
          <p:cNvSpPr/>
          <p:nvPr/>
        </p:nvSpPr>
        <p:spPr>
          <a:xfrm>
            <a:off x="1341783" y="1212575"/>
            <a:ext cx="8885582" cy="249472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5356788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7721601" y="3547533"/>
            <a:ext cx="3462866" cy="2618598"/>
          </a:xfrm>
          <a:prstGeom prst="rect">
            <a:avLst/>
          </a:prstGeom>
          <a:solidFill>
            <a:schemeClr val="bg1">
              <a:lumMod val="8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78867" y="3522134"/>
            <a:ext cx="2921000" cy="2633133"/>
          </a:xfrm>
          <a:prstGeom prst="rect">
            <a:avLst/>
          </a:prstGeom>
          <a:solidFill>
            <a:schemeClr val="bg1">
              <a:lumMod val="85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5" name="Rectangle 14"/>
          <p:cNvSpPr/>
          <p:nvPr/>
        </p:nvSpPr>
        <p:spPr>
          <a:xfrm>
            <a:off x="1202266" y="3513666"/>
            <a:ext cx="2844800" cy="265853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5" name="Date Placeholder 4"/>
          <p:cNvSpPr>
            <a:spLocks noGrp="1"/>
          </p:cNvSpPr>
          <p:nvPr>
            <p:ph type="dt" sz="half" idx="6"/>
          </p:nvPr>
        </p:nvSpPr>
        <p:spPr>
          <a:xfrm>
            <a:off x="11074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FF25574D-829E-41BF-A8C6-05B8A1770D06}"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9" name="Picture 8"/>
          <p:cNvPicPr>
            <a:picLocks noChangeAspect="1"/>
          </p:cNvPicPr>
          <p:nvPr/>
        </p:nvPicPr>
        <p:blipFill rotWithShape="1">
          <a:blip r:embed="rId2"/>
          <a:srcRect t="18932" r="67499" b="19364"/>
          <a:stretch/>
        </p:blipFill>
        <p:spPr>
          <a:xfrm>
            <a:off x="1258935" y="1413934"/>
            <a:ext cx="2796600" cy="1346200"/>
          </a:xfrm>
          <a:prstGeom prst="rect">
            <a:avLst/>
          </a:prstGeom>
        </p:spPr>
      </p:pic>
      <p:sp>
        <p:nvSpPr>
          <p:cNvPr id="10" name="Rectangle 9"/>
          <p:cNvSpPr/>
          <p:nvPr/>
        </p:nvSpPr>
        <p:spPr>
          <a:xfrm>
            <a:off x="1162050" y="1363134"/>
            <a:ext cx="2974975" cy="15621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514850" y="1305983"/>
            <a:ext cx="2838450" cy="168275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2" name="Rectangle 11"/>
          <p:cNvSpPr/>
          <p:nvPr/>
        </p:nvSpPr>
        <p:spPr>
          <a:xfrm>
            <a:off x="8051800" y="995320"/>
            <a:ext cx="2849033" cy="2044213"/>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1498602" y="3582370"/>
                <a:ext cx="2421465" cy="2308324"/>
              </a:xfrm>
              <a:prstGeom prst="rect">
                <a:avLst/>
              </a:prstGeom>
            </p:spPr>
            <p:txBody>
              <a:bodyPr wrap="square">
                <a:spAutoFit/>
              </a:bodyPr>
              <a:lstStyle/>
              <a:p>
                <a:pPr algn="ctr"/>
                <a:r>
                  <a:rPr lang="en-US" b="1" dirty="0">
                    <a:solidFill>
                      <a:srgbClr val="C00000"/>
                    </a:solidFill>
                    <a:latin typeface="inter"/>
                    <a:ea typeface="inter"/>
                    <a:cs typeface="inter"/>
                  </a:rPr>
                  <a:t>(Early </a:t>
                </a:r>
                <a:r>
                  <a:rPr lang="en-US" b="1" dirty="0">
                    <a:solidFill>
                      <a:srgbClr val="C00000"/>
                    </a:solidFill>
                    <a:latin typeface="inter"/>
                    <a:ea typeface="inter"/>
                    <a:cs typeface="inter"/>
                  </a:rPr>
                  <a:t>Stage):</a:t>
                </a:r>
                <a:endParaRPr lang="en-US"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A small-amplitude sinusoid at frequency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 (seeded from thermal noise) enters the loop. The signal barely exceeds the noise floor.</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1498602" y="3582370"/>
                <a:ext cx="2421465" cy="2308324"/>
              </a:xfrm>
              <a:prstGeom prst="rect">
                <a:avLst/>
              </a:prstGeom>
              <a:blipFill>
                <a:blip r:embed="rId3"/>
                <a:stretch>
                  <a:fillRect l="-2267" t="-1587" r="-2015" b="-3439"/>
                </a:stretch>
              </a:blipFill>
            </p:spPr>
            <p:txBody>
              <a:bodyPr/>
              <a:lstStyle/>
              <a:p>
                <a:r>
                  <a:rPr lang="en-US">
                    <a:noFill/>
                  </a:rPr>
                  <a:t> </a:t>
                </a:r>
              </a:p>
            </p:txBody>
          </p:sp>
        </mc:Fallback>
      </mc:AlternateContent>
      <p:sp>
        <p:nvSpPr>
          <p:cNvPr id="8" name="Rectangle 7"/>
          <p:cNvSpPr/>
          <p:nvPr/>
        </p:nvSpPr>
        <p:spPr>
          <a:xfrm>
            <a:off x="4495802" y="3497702"/>
            <a:ext cx="2819400" cy="2585323"/>
          </a:xfrm>
          <a:prstGeom prst="rect">
            <a:avLst/>
          </a:prstGeom>
        </p:spPr>
        <p:txBody>
          <a:bodyPr wrap="square">
            <a:spAutoFit/>
          </a:bodyPr>
          <a:lstStyle/>
          <a:p>
            <a:pPr algn="ctr"/>
            <a:r>
              <a:rPr lang="en-US" b="1" dirty="0">
                <a:solidFill>
                  <a:srgbClr val="00B050"/>
                </a:solidFill>
                <a:latin typeface="inter"/>
                <a:ea typeface="inter"/>
                <a:cs typeface="inter"/>
              </a:rPr>
              <a:t>(Intermediate Stage):</a:t>
            </a:r>
            <a:endParaRPr lang="en-US" dirty="0">
              <a:solidFill>
                <a:srgbClr val="00B05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After several loop transits, the signal amplitude has grown visibly. The waveform maintains its sinusoidal shape and frequency but with increasing peak-to-peak voltage.</a:t>
            </a:r>
          </a:p>
        </p:txBody>
      </p:sp>
      <p:sp>
        <p:nvSpPr>
          <p:cNvPr id="17" name="Rectangle 16"/>
          <p:cNvSpPr/>
          <p:nvPr/>
        </p:nvSpPr>
        <p:spPr>
          <a:xfrm>
            <a:off x="7840134" y="3604736"/>
            <a:ext cx="3301999" cy="2308324"/>
          </a:xfrm>
          <a:prstGeom prst="rect">
            <a:avLst/>
          </a:prstGeom>
        </p:spPr>
        <p:txBody>
          <a:bodyPr wrap="square">
            <a:spAutoFit/>
          </a:bodyPr>
          <a:lstStyle/>
          <a:p>
            <a:pPr algn="ctr"/>
            <a:r>
              <a:rPr lang="en-US" b="1" dirty="0">
                <a:solidFill>
                  <a:srgbClr val="002060"/>
                </a:solidFill>
                <a:latin typeface="inter"/>
                <a:ea typeface="inter"/>
                <a:cs typeface="inter"/>
              </a:rPr>
              <a:t>(Late Stage):</a:t>
            </a:r>
            <a:endParaRPr lang="en-US"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The signal continues to grow, approaching the limits imposed by the power supply and transistor saturation. The waveform is now substantial, occupying a significant fraction of the available voltage range</a:t>
            </a:r>
            <a:endParaRPr lang="en-US" dirty="0"/>
          </a:p>
        </p:txBody>
      </p:sp>
      <p:pic>
        <p:nvPicPr>
          <p:cNvPr id="19" name="Picture 18"/>
          <p:cNvPicPr>
            <a:picLocks noChangeAspect="1"/>
          </p:cNvPicPr>
          <p:nvPr/>
        </p:nvPicPr>
        <p:blipFill rotWithShape="1">
          <a:blip r:embed="rId2"/>
          <a:srcRect l="34961" t="10006" r="34438" b="15096"/>
          <a:stretch/>
        </p:blipFill>
        <p:spPr>
          <a:xfrm>
            <a:off x="4639732" y="1329266"/>
            <a:ext cx="2633135" cy="1634067"/>
          </a:xfrm>
          <a:prstGeom prst="rect">
            <a:avLst/>
          </a:prstGeom>
        </p:spPr>
      </p:pic>
      <p:pic>
        <p:nvPicPr>
          <p:cNvPr id="20" name="Picture 19"/>
          <p:cNvPicPr>
            <a:picLocks noChangeAspect="1"/>
          </p:cNvPicPr>
          <p:nvPr/>
        </p:nvPicPr>
        <p:blipFill rotWithShape="1">
          <a:blip r:embed="rId2"/>
          <a:srcRect l="68907" b="7722"/>
          <a:stretch/>
        </p:blipFill>
        <p:spPr>
          <a:xfrm>
            <a:off x="8111067" y="1009354"/>
            <a:ext cx="2675467" cy="2013246"/>
          </a:xfrm>
          <a:prstGeom prst="rect">
            <a:avLst/>
          </a:prstGeom>
        </p:spPr>
      </p:pic>
      <p:cxnSp>
        <p:nvCxnSpPr>
          <p:cNvPr id="21" name="Straight Connector 20"/>
          <p:cNvCxnSpPr/>
          <p:nvPr/>
        </p:nvCxnSpPr>
        <p:spPr>
          <a:xfrm flipH="1" flipV="1">
            <a:off x="1164167" y="2935816"/>
            <a:ext cx="55033" cy="59478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4038600" y="2901949"/>
            <a:ext cx="88901" cy="64558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4478867" y="2978150"/>
            <a:ext cx="21168" cy="535517"/>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7361769" y="2978151"/>
            <a:ext cx="24551" cy="552449"/>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7730067" y="3042920"/>
            <a:ext cx="331893" cy="49614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flipV="1">
            <a:off x="10900835" y="3028952"/>
            <a:ext cx="280245" cy="537208"/>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4130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659745" y="1676179"/>
            <a:ext cx="5418728" cy="407725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11810" y="1671320"/>
            <a:ext cx="5919470" cy="40589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23900" y="1168603"/>
                <a:ext cx="5604072" cy="4411400"/>
              </a:xfrm>
            </p:spPr>
            <p:txBody>
              <a:bodyPr/>
              <a:lstStyle/>
              <a:p>
                <a:pPr algn="ctr"/>
                <a:r>
                  <a:rPr lang="en-US" sz="2400" b="1" dirty="0">
                    <a:solidFill>
                      <a:srgbClr val="C00000"/>
                    </a:solidFill>
                    <a:latin typeface="inter"/>
                    <a:ea typeface="inter"/>
                    <a:cs typeface="inter"/>
                  </a:rPr>
                  <a:t>Exponential Growth </a:t>
                </a:r>
                <a:r>
                  <a:rPr lang="en-US" sz="2400" b="1" dirty="0" smtClean="0">
                    <a:solidFill>
                      <a:srgbClr val="C00000"/>
                    </a:solidFill>
                    <a:latin typeface="inter"/>
                    <a:ea typeface="inter"/>
                    <a:cs typeface="inter"/>
                  </a:rPr>
                  <a:t>Analysis</a:t>
                </a:r>
              </a:p>
              <a:p>
                <a:pPr algn="ctr"/>
                <a:endParaRPr lang="en-US" sz="18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Assuming loop gain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&gt;1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sup>
                      </m:sSup>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Taking the natural logarithm: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den>
                      </m:f>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amplitude grows linearly on a semi-log plot (exponential in time</a:t>
                </a:r>
                <a:r>
                  <a:rPr lang="en-US" sz="1600" dirty="0" smtClean="0">
                    <a:solidFill>
                      <a:srgbClr val="000000"/>
                    </a:solidFill>
                    <a:latin typeface="inter"/>
                    <a:ea typeface="inter"/>
                    <a:cs typeface="inter"/>
                  </a:rPr>
                  <a:t>).</a:t>
                </a:r>
              </a:p>
              <a:p>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a:t>
                </a:r>
                <a:r>
                  <a:rPr lang="en-US" sz="1600" b="1" dirty="0">
                    <a:solidFill>
                      <a:srgbClr val="000000"/>
                    </a:solidFill>
                    <a:latin typeface="inter"/>
                    <a:ea typeface="inter"/>
                    <a:cs typeface="inter"/>
                  </a:rPr>
                  <a:t>doubling time</a:t>
                </a:r>
                <a:r>
                  <a:rPr lang="en-US" sz="1600" dirty="0">
                    <a:solidFill>
                      <a:srgbClr val="000000"/>
                    </a:solidFill>
                    <a:latin typeface="inter"/>
                    <a:ea typeface="inter"/>
                    <a:cs typeface="inter"/>
                  </a:rPr>
                  <a:t>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𝑑𝑜𝑢𝑏𝑙𝑒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num>
                        <m:den>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=1.05</m:t>
                    </m:r>
                  </m:oMath>
                </a14:m>
                <a:r>
                  <a:rPr lang="en-US" sz="1600" dirty="0">
                    <a:solidFill>
                      <a:srgbClr val="000000"/>
                    </a:solidFill>
                    <a:latin typeface="inter"/>
                    <a:ea typeface="inter"/>
                    <a:cs typeface="inter"/>
                  </a:rPr>
                  <a:t> (5% excess gain):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𝑑𝑜𝑢𝑏𝑙𝑒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×0.693</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0.0488</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≈14.2×</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oMath>
                  </m:oMathPara>
                </a14:m>
                <a:endParaRPr lang="en-US" sz="1600" dirty="0" smtClean="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If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ns</m:t>
                    </m:r>
                  </m:oMath>
                </a14:m>
                <a:r>
                  <a:rPr lang="en-US" sz="1600" dirty="0">
                    <a:solidFill>
                      <a:srgbClr val="000000"/>
                    </a:solidFill>
                    <a:latin typeface="inter"/>
                    <a:ea typeface="inter"/>
                    <a:cs typeface="inter"/>
                  </a:rPr>
                  <a:t>, the amplitude doubles every ~14 ns</a:t>
                </a:r>
                <a:r>
                  <a:rPr lang="en-US" sz="1600" dirty="0" smtClean="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23900" y="1168603"/>
                <a:ext cx="5604072" cy="4411400"/>
              </a:xfrm>
              <a:blipFill>
                <a:blip r:embed="rId2"/>
                <a:stretch>
                  <a:fillRect l="-2285" t="-2075"/>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653255" y="6574202"/>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4B30A0D-F730-4071-85D9-BDD87B85AD8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6643561" y="979706"/>
            <a:ext cx="5392725" cy="4708981"/>
          </a:xfrm>
          <a:prstGeom prst="rect">
            <a:avLst/>
          </a:prstGeom>
        </p:spPr>
        <p:txBody>
          <a:bodyPr wrap="square">
            <a:spAutoFit/>
          </a:bodyPr>
          <a:lstStyle/>
          <a:p>
            <a:pPr algn="ctr">
              <a:lnSpc>
                <a:spcPct val="150000"/>
              </a:lnSpc>
            </a:pPr>
            <a:r>
              <a:rPr lang="en-US" sz="2400" b="1" dirty="0">
                <a:solidFill>
                  <a:srgbClr val="C00000"/>
                </a:solidFill>
                <a:latin typeface="inter"/>
                <a:ea typeface="inter"/>
                <a:cs typeface="inter"/>
              </a:rPr>
              <a:t>Practical Implications for </a:t>
            </a:r>
            <a:r>
              <a:rPr lang="en-US" sz="2400" b="1" dirty="0" smtClean="0">
                <a:solidFill>
                  <a:srgbClr val="C00000"/>
                </a:solidFill>
                <a:latin typeface="inter"/>
                <a:ea typeface="inter"/>
                <a:cs typeface="inter"/>
              </a:rPr>
              <a:t>Designers</a:t>
            </a:r>
          </a:p>
          <a:p>
            <a:pPr algn="just">
              <a:lnSpc>
                <a:spcPct val="150000"/>
              </a:lnSpc>
            </a:pP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mj-lt"/>
              <a:buAutoNum type="arabicPeriod"/>
              <a:tabLst>
                <a:tab pos="571500" algn="l"/>
              </a:tabLst>
            </a:pPr>
            <a:r>
              <a:rPr lang="en-US" sz="1600" b="1" dirty="0">
                <a:solidFill>
                  <a:srgbClr val="000000"/>
                </a:solidFill>
                <a:effectLst/>
                <a:latin typeface="inter"/>
                <a:ea typeface="inter"/>
                <a:cs typeface="inter"/>
              </a:rPr>
              <a:t>Excess Gain is Necessary:</a:t>
            </a:r>
            <a:r>
              <a:rPr lang="en-US" sz="1600" dirty="0">
                <a:solidFill>
                  <a:srgbClr val="000000"/>
                </a:solidFill>
                <a:effectLst/>
                <a:latin typeface="inter"/>
                <a:ea typeface="inter"/>
                <a:cs typeface="inter"/>
              </a:rPr>
              <a:t> </a:t>
            </a:r>
            <a:r>
              <a:rPr lang="en-US" sz="1600" dirty="0" smtClean="0">
                <a:solidFill>
                  <a:srgbClr val="000000"/>
                </a:solidFill>
                <a:effectLst/>
                <a:latin typeface="inter"/>
                <a:ea typeface="inter"/>
                <a:cs typeface="inter"/>
              </a:rPr>
              <a:t>For</a:t>
            </a:r>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reliable startup, designs typically specify |𝐻(𝑗𝜔_0)|≥1.1 to 1.3 (10–30% excess gain) to ensure startup within an acceptable time</a:t>
            </a:r>
            <a:r>
              <a:rPr lang="en-US" sz="1600" dirty="0" smtClean="0">
                <a:solidFill>
                  <a:srgbClr val="000000"/>
                </a:solidFill>
                <a:latin typeface="inter"/>
                <a:ea typeface="inter"/>
                <a:cs typeface="inter"/>
              </a:rPr>
              <a:t>, under </a:t>
            </a:r>
            <a:r>
              <a:rPr lang="en-US" sz="1600" dirty="0">
                <a:solidFill>
                  <a:srgbClr val="000000"/>
                </a:solidFill>
                <a:effectLst/>
                <a:latin typeface="inter"/>
                <a:ea typeface="inter"/>
                <a:cs typeface="inter"/>
              </a:rPr>
              <a:t>worst-case PVT</a:t>
            </a:r>
            <a:r>
              <a:rPr lang="en-US" sz="1600" dirty="0" smtClean="0">
                <a:solidFill>
                  <a:srgbClr val="000000"/>
                </a:solidFill>
                <a:effectLst/>
                <a:latin typeface="inter"/>
                <a:ea typeface="inter"/>
                <a:cs typeface="inter"/>
              </a:rPr>
              <a:t>.</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mj-lt"/>
              <a:buAutoNum type="arabicPeriod"/>
              <a:tabLst>
                <a:tab pos="571500" algn="l"/>
              </a:tabLst>
            </a:pPr>
            <a:r>
              <a:rPr lang="en-US" sz="1600" b="1" dirty="0">
                <a:solidFill>
                  <a:srgbClr val="000000"/>
                </a:solidFill>
                <a:effectLst/>
                <a:latin typeface="inter"/>
                <a:ea typeface="inter"/>
                <a:cs typeface="inter"/>
              </a:rPr>
              <a:t>Startup Time Specification:</a:t>
            </a:r>
            <a:r>
              <a:rPr lang="en-US" sz="1600" dirty="0">
                <a:solidFill>
                  <a:srgbClr val="000000"/>
                </a:solidFill>
                <a:effectLst/>
                <a:latin typeface="inter"/>
                <a:ea typeface="inter"/>
                <a:cs typeface="inter"/>
              </a:rPr>
              <a:t> Oscillators </a:t>
            </a:r>
            <a:r>
              <a:rPr lang="en-US" sz="1600" dirty="0" smtClean="0">
                <a:solidFill>
                  <a:srgbClr val="000000"/>
                </a:solidFill>
                <a:effectLst/>
                <a:latin typeface="inter"/>
                <a:ea typeface="inter"/>
                <a:cs typeface="inter"/>
              </a:rPr>
              <a:t>typically require reaching 90% of their final </a:t>
            </a:r>
            <a:r>
              <a:rPr lang="en-US" sz="1600" dirty="0">
                <a:solidFill>
                  <a:srgbClr val="000000"/>
                </a:solidFill>
                <a:effectLst/>
                <a:latin typeface="inter"/>
                <a:ea typeface="inter"/>
                <a:cs typeface="inter"/>
              </a:rPr>
              <a:t>amplitude within 1–10 microseconds from power-on</a:t>
            </a:r>
            <a:r>
              <a:rPr lang="en-US" sz="1600" dirty="0" smtClean="0">
                <a:solidFill>
                  <a:srgbClr val="000000"/>
                </a:solidFill>
                <a:effectLst/>
                <a:latin typeface="inter"/>
                <a:ea typeface="inter"/>
                <a:cs typeface="inter"/>
              </a:rPr>
              <a:t>.</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mj-lt"/>
              <a:buAutoNum type="arabicPeriod"/>
              <a:tabLst>
                <a:tab pos="571500" algn="l"/>
              </a:tabLst>
            </a:pPr>
            <a:r>
              <a:rPr lang="en-US" sz="1600" b="1" dirty="0">
                <a:solidFill>
                  <a:srgbClr val="000000"/>
                </a:solidFill>
                <a:effectLst/>
                <a:latin typeface="inter"/>
                <a:ea typeface="inter"/>
                <a:cs typeface="inter"/>
              </a:rPr>
              <a:t>Trade-off with Stability:</a:t>
            </a:r>
            <a:r>
              <a:rPr lang="en-US" sz="1600" dirty="0">
                <a:solidFill>
                  <a:srgbClr val="000000"/>
                </a:solidFill>
                <a:effectLst/>
                <a:latin typeface="inter"/>
                <a:ea typeface="inter"/>
                <a:cs typeface="inter"/>
              </a:rPr>
              <a:t> Larger excess gain enables faster startup but risks overshooting the steady-state amplitude (requiring stronger nonlinear limiting).</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794929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87824" y="1444743"/>
            <a:ext cx="6287511" cy="310298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1046440"/>
          </a:xfrm>
        </p:spPr>
        <p:txBody>
          <a:bodyPr/>
          <a:lstStyle/>
          <a:p>
            <a:r>
              <a:rPr lang="en-US" dirty="0">
                <a:latin typeface="fkGrotesk"/>
              </a:rPr>
              <a:t>4</a:t>
            </a:r>
            <a:r>
              <a:rPr lang="en-US" dirty="0" smtClean="0">
                <a:latin typeface="fkGrotesk"/>
              </a:rPr>
              <a:t>. </a:t>
            </a:r>
            <a:r>
              <a:rPr lang="en-US" dirty="0">
                <a:latin typeface="fkGrotesk"/>
              </a:rPr>
              <a:t>Noise-Initiated Oscillation</a:t>
            </a:r>
            <a:br>
              <a:rPr lang="en-US" dirty="0">
                <a:latin typeface="fkGrotesk"/>
              </a:rPr>
            </a:br>
            <a:endParaRPr lang="en-US" dirty="0"/>
          </a:p>
        </p:txBody>
      </p:sp>
      <p:sp>
        <p:nvSpPr>
          <p:cNvPr id="3" name="Text Placeholder 2"/>
          <p:cNvSpPr>
            <a:spLocks noGrp="1"/>
          </p:cNvSpPr>
          <p:nvPr>
            <p:ph type="body" idx="1"/>
          </p:nvPr>
        </p:nvSpPr>
        <p:spPr>
          <a:xfrm>
            <a:off x="844549" y="1327353"/>
            <a:ext cx="6074141" cy="3385542"/>
          </a:xfrm>
        </p:spPr>
        <p:txBody>
          <a:bodyPr/>
          <a:lstStyle/>
          <a:p>
            <a:pPr marL="342900" indent="-342900" algn="just">
              <a:buFont typeface="Wingdings" panose="05000000000000000000" pitchFamily="2" charset="2"/>
              <a:buChar char="q"/>
            </a:pPr>
            <a:endParaRPr lang="en-US" dirty="0">
              <a:latin typeface="fkGroteskNeue"/>
            </a:endParaRPr>
          </a:p>
          <a:p>
            <a:pPr algn="just"/>
            <a:r>
              <a:rPr lang="en-US" b="1" dirty="0">
                <a:solidFill>
                  <a:srgbClr val="00B050"/>
                </a:solidFill>
                <a:latin typeface="fkGroteskNeue"/>
              </a:rPr>
              <a:t>Practical Reality: </a:t>
            </a:r>
            <a:r>
              <a:rPr lang="en-US" dirty="0">
                <a:latin typeface="fkGroteskNeue"/>
              </a:rPr>
              <a:t>Real oscillators don't need external signals - they self-start from noise because</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marL="800100" lvl="1" indent="-342900" algn="just">
              <a:buFont typeface="Wingdings" panose="05000000000000000000" pitchFamily="2" charset="2"/>
              <a:buChar char="q"/>
            </a:pPr>
            <a:r>
              <a:rPr lang="en-US" sz="2000" dirty="0">
                <a:solidFill>
                  <a:srgbClr val="002060"/>
                </a:solidFill>
                <a:latin typeface="fkGroteskNeue"/>
              </a:rPr>
              <a:t>Thermal noise in resistors</a:t>
            </a:r>
          </a:p>
          <a:p>
            <a:pPr marL="800100" lvl="1" indent="-342900" algn="just">
              <a:buFont typeface="Wingdings" panose="05000000000000000000" pitchFamily="2" charset="2"/>
              <a:buChar char="q"/>
            </a:pPr>
            <a:r>
              <a:rPr lang="en-US" sz="2000" dirty="0">
                <a:solidFill>
                  <a:srgbClr val="002060"/>
                </a:solidFill>
                <a:latin typeface="fkGroteskNeue"/>
              </a:rPr>
              <a:t>Shot noise in active devices</a:t>
            </a:r>
          </a:p>
          <a:p>
            <a:pPr marL="800100" lvl="1" indent="-342900" algn="just">
              <a:buFont typeface="Wingdings" panose="05000000000000000000" pitchFamily="2" charset="2"/>
              <a:buChar char="q"/>
            </a:pPr>
            <a:r>
              <a:rPr lang="en-US" sz="2000" dirty="0">
                <a:solidFill>
                  <a:srgbClr val="002060"/>
                </a:solidFill>
                <a:latin typeface="fkGroteskNeue"/>
              </a:rPr>
              <a:t>Power supply </a:t>
            </a:r>
            <a:r>
              <a:rPr lang="en-US" sz="2000" dirty="0" smtClean="0">
                <a:solidFill>
                  <a:srgbClr val="002060"/>
                </a:solidFill>
                <a:latin typeface="fkGroteskNeue"/>
              </a:rPr>
              <a:t>fluctuations</a:t>
            </a:r>
          </a:p>
          <a:p>
            <a:pPr algn="just"/>
            <a:r>
              <a:rPr lang="en-US" dirty="0">
                <a:latin typeface="fkGroteskNeue"/>
              </a:rPr>
              <a:t/>
            </a:r>
            <a:br>
              <a:rPr lang="en-US" dirty="0">
                <a:latin typeface="fkGroteskNeue"/>
              </a:rPr>
            </a:br>
            <a:r>
              <a:rPr lang="en-US" dirty="0">
                <a:latin typeface="fkGroteskNeue"/>
              </a:rPr>
              <a:t>All provide sufficient energy at ω₀ to initiate oscillation when </a:t>
            </a:r>
            <a:r>
              <a:rPr lang="en-US" dirty="0" err="1">
                <a:latin typeface="fkGroteskNeue"/>
              </a:rPr>
              <a:t>Barkhausen</a:t>
            </a:r>
            <a:r>
              <a:rPr lang="en-US" dirty="0">
                <a:latin typeface="fkGroteskNeue"/>
              </a:rPr>
              <a:t> conditions are met.</a:t>
            </a:r>
          </a:p>
          <a:p>
            <a:endParaRPr lang="en-US" dirty="0"/>
          </a:p>
        </p:txBody>
      </p:sp>
      <p:sp>
        <p:nvSpPr>
          <p:cNvPr id="5" name="Date Placeholder 4"/>
          <p:cNvSpPr>
            <a:spLocks noGrp="1"/>
          </p:cNvSpPr>
          <p:nvPr>
            <p:ph type="dt" sz="half" idx="6"/>
          </p:nvPr>
        </p:nvSpPr>
        <p:spPr>
          <a:xfrm>
            <a:off x="663194" y="6385359"/>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801B44C-DD79-4122-B441-333DB6374149}"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280979" y="6514567"/>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67630" y="1235697"/>
            <a:ext cx="3822524" cy="1639477"/>
          </a:xfrm>
          <a:prstGeom prst="rect">
            <a:avLst/>
          </a:prstGeom>
        </p:spPr>
      </p:pic>
      <p:sp>
        <p:nvSpPr>
          <p:cNvPr id="8" name="Rectangle 7"/>
          <p:cNvSpPr/>
          <p:nvPr/>
        </p:nvSpPr>
        <p:spPr>
          <a:xfrm>
            <a:off x="7291762" y="981894"/>
            <a:ext cx="4620176" cy="276999"/>
          </a:xfrm>
          <a:prstGeom prst="rect">
            <a:avLst/>
          </a:prstGeom>
        </p:spPr>
        <p:txBody>
          <a:bodyPr wrap="none">
            <a:spAutoFit/>
          </a:bodyPr>
          <a:lstStyle/>
          <a:p>
            <a:r>
              <a:rPr lang="en-US" sz="1200" b="1" i="0" u="none" strike="noStrike" baseline="0" dirty="0" smtClean="0">
                <a:solidFill>
                  <a:srgbClr val="00B050"/>
                </a:solidFill>
                <a:latin typeface="T3Font_104"/>
              </a:rPr>
              <a:t>Figure 1.4 </a:t>
            </a:r>
            <a:r>
              <a:rPr lang="en-US" sz="1200" b="1" i="0" u="none" strike="noStrike" baseline="0" dirty="0" smtClean="0">
                <a:solidFill>
                  <a:srgbClr val="00B050"/>
                </a:solidFill>
                <a:latin typeface="T3Font_105"/>
              </a:rPr>
              <a:t>Effect of noise injected into a closed-loop system.</a:t>
            </a:r>
            <a:endParaRPr lang="en-US" sz="3600" b="1" dirty="0">
              <a:solidFill>
                <a:srgbClr val="00B050"/>
              </a:solidFill>
            </a:endParaRPr>
          </a:p>
        </p:txBody>
      </p:sp>
      <p:sp>
        <p:nvSpPr>
          <p:cNvPr id="9" name="Rectangle 8"/>
          <p:cNvSpPr/>
          <p:nvPr/>
        </p:nvSpPr>
        <p:spPr>
          <a:xfrm>
            <a:off x="7533685" y="3799729"/>
            <a:ext cx="4159306" cy="1754326"/>
          </a:xfrm>
          <a:prstGeom prst="rect">
            <a:avLst/>
          </a:prstGeom>
        </p:spPr>
        <p:txBody>
          <a:bodyPr wrap="square">
            <a:spAutoFit/>
          </a:bodyPr>
          <a:lstStyle/>
          <a:p>
            <a:pPr marL="342900" lvl="0" indent="-342900" algn="just">
              <a:buFont typeface="Wingdings" panose="05000000000000000000" pitchFamily="2" charset="2"/>
              <a:buChar char="q"/>
            </a:pPr>
            <a:r>
              <a:rPr lang="en-US" kern="0" dirty="0" smtClean="0">
                <a:solidFill>
                  <a:prstClr val="black"/>
                </a:solidFill>
                <a:latin typeface="fkGroteskNeue"/>
              </a:rPr>
              <a:t>How</a:t>
            </a:r>
            <a:r>
              <a:rPr lang="en-US" kern="0" dirty="0">
                <a:solidFill>
                  <a:prstClr val="black"/>
                </a:solidFill>
                <a:latin typeface="fkGroteskNeue"/>
              </a:rPr>
              <a:t> wideband noise within the system provides the initial "seed" for oscillation. </a:t>
            </a:r>
          </a:p>
          <a:p>
            <a:pPr marL="342900" lvl="0" indent="-342900" algn="just">
              <a:buFont typeface="Wingdings" panose="05000000000000000000" pitchFamily="2" charset="2"/>
              <a:buChar char="q"/>
            </a:pPr>
            <a:r>
              <a:rPr lang="en-US" kern="0" dirty="0">
                <a:solidFill>
                  <a:prstClr val="black"/>
                </a:solidFill>
                <a:latin typeface="fkGroteskNeue"/>
              </a:rPr>
              <a:t>Even with no external input, internal noise contains components at all frequencies, including ω₀.</a:t>
            </a:r>
          </a:p>
        </p:txBody>
      </p:sp>
      <p:sp>
        <p:nvSpPr>
          <p:cNvPr id="10" name="Rectangle 9"/>
          <p:cNvSpPr/>
          <p:nvPr/>
        </p:nvSpPr>
        <p:spPr>
          <a:xfrm>
            <a:off x="7722980" y="1255644"/>
            <a:ext cx="3796472" cy="15621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
        <p:nvSpPr>
          <p:cNvPr id="14" name="Rectangle 13"/>
          <p:cNvSpPr/>
          <p:nvPr/>
        </p:nvSpPr>
        <p:spPr>
          <a:xfrm>
            <a:off x="7509410" y="3795194"/>
            <a:ext cx="4256409" cy="173975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flipV="1">
            <a:off x="7525593" y="2807937"/>
            <a:ext cx="210393" cy="979135"/>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11518535" y="2820724"/>
            <a:ext cx="238490" cy="97975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3819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6308090" y="2692400"/>
            <a:ext cx="5817870" cy="35255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6830" y="2921000"/>
            <a:ext cx="6102350" cy="30734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Circuit </a:t>
            </a:r>
            <a:r>
              <a:rPr lang="en-US" dirty="0" smtClean="0"/>
              <a:t>Configuration</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69850" y="1200353"/>
                <a:ext cx="5791200" cy="830997"/>
              </a:xfrm>
            </p:spPr>
            <p:txBody>
              <a:bodyPr/>
              <a:lstStyle/>
              <a:p>
                <a:pPr algn="just"/>
                <a:r>
                  <a:rPr lang="en-US" sz="1800" dirty="0" smtClean="0">
                    <a:solidFill>
                      <a:srgbClr val="000000"/>
                    </a:solidFill>
                    <a:latin typeface="inter"/>
                    <a:ea typeface="inter"/>
                    <a:cs typeface="inter"/>
                  </a:rPr>
                  <a:t>The </a:t>
                </a:r>
                <a:r>
                  <a:rPr lang="en-US" sz="1800" dirty="0">
                    <a:solidFill>
                      <a:srgbClr val="000000"/>
                    </a:solidFill>
                    <a:latin typeface="inter"/>
                    <a:ea typeface="inter"/>
                    <a:cs typeface="inter"/>
                  </a:rPr>
                  <a:t>figure shows a feedback loop with an injection point where noise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1800" dirty="0">
                    <a:solidFill>
                      <a:srgbClr val="000000"/>
                    </a:solidFill>
                    <a:latin typeface="inter"/>
                    <a:ea typeface="inter"/>
                    <a:cs typeface="inter"/>
                  </a:rPr>
                  <a:t> is added at the output node. The loop contains an impedance representing all circuit elements</a:t>
                </a:r>
                <a:r>
                  <a:rPr lang="en-US" sz="1800" dirty="0" smtClean="0">
                    <a:solidFill>
                      <a:srgbClr val="000000"/>
                    </a:solidFill>
                    <a:latin typeface="inter"/>
                    <a:ea typeface="inter"/>
                    <a:cs typeface="inter"/>
                  </a:rPr>
                  <a:t>.</a:t>
                </a: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69850" y="1200353"/>
                <a:ext cx="5791200" cy="830997"/>
              </a:xfrm>
              <a:blipFill>
                <a:blip r:embed="rId2"/>
                <a:stretch>
                  <a:fillRect l="-2421" t="-9559" r="-2526" b="-16176"/>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2DA201D-6458-4017-AC7C-765EBDE78298}"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3737" t="17585" r="3235" b="9986"/>
          <a:stretch/>
        </p:blipFill>
        <p:spPr>
          <a:xfrm>
            <a:off x="7788910" y="975360"/>
            <a:ext cx="3556000" cy="1187450"/>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6390640" y="2332237"/>
                <a:ext cx="5734050" cy="4025717"/>
              </a:xfrm>
              <a:prstGeom prst="rect">
                <a:avLst/>
              </a:prstGeom>
            </p:spPr>
            <p:txBody>
              <a:bodyPr wrap="square">
                <a:spAutoFit/>
              </a:bodyPr>
              <a:lstStyle/>
              <a:p>
                <a:pPr algn="ctr"/>
                <a:r>
                  <a:rPr lang="en-US" sz="2000" b="1" dirty="0">
                    <a:solidFill>
                      <a:srgbClr val="C00000"/>
                    </a:solidFill>
                    <a:latin typeface="inter"/>
                    <a:ea typeface="inter"/>
                    <a:cs typeface="inter"/>
                  </a:rPr>
                  <a:t>Frequency Selectivity</a:t>
                </a:r>
                <a:endParaRPr lang="en-US" sz="16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effectLst/>
                    <a:latin typeface="inter"/>
                    <a:ea typeface="inter"/>
                    <a:cs typeface="inter"/>
                  </a:rPr>
                  <a:t>Broadband noise contains all frequency components. The closed-loop transfer function acts as a </a:t>
                </a:r>
                <a:r>
                  <a:rPr lang="en-US" sz="1600" dirty="0" err="1">
                    <a:solidFill>
                      <a:srgbClr val="000000"/>
                    </a:solidFill>
                    <a:effectLst/>
                    <a:latin typeface="inter"/>
                    <a:ea typeface="inter"/>
                    <a:cs typeface="inter"/>
                  </a:rPr>
                  <a:t>bandpass</a:t>
                </a:r>
                <a:r>
                  <a:rPr lang="en-US" sz="1600" dirty="0">
                    <a:solidFill>
                      <a:srgbClr val="000000"/>
                    </a:solidFill>
                    <a:effectLst/>
                    <a:latin typeface="inter"/>
                    <a:ea typeface="inter"/>
                    <a:cs typeface="inter"/>
                  </a:rPr>
                  <a:t> filter centered at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Only the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component achieves infinite amplification; all other frequencies are suppressed:</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effectLst/>
                    <a:latin typeface="inter"/>
                    <a:ea typeface="inter"/>
                    <a:cs typeface="inter"/>
                  </a:rPr>
                  <a:t>At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a:t>
                </a:r>
                <a14:m>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effectLst/>
                    <a:latin typeface="inter"/>
                    <a:ea typeface="inter"/>
                    <a:cs typeface="inter"/>
                  </a:rPr>
                  <a:t> (resonance peak)</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effectLst/>
                    <a:latin typeface="inter"/>
                    <a:ea typeface="inter"/>
                    <a:cs typeface="inter"/>
                  </a:rPr>
                  <a:t>At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or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a:t>
                </a:r>
                <a14:m>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effectLst/>
                    <a:latin typeface="inter"/>
                    <a:ea typeface="inter"/>
                    <a:cs typeface="inter"/>
                  </a:rPr>
                  <a:t> (attenuated)</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effectLst/>
                    <a:latin typeface="inter"/>
                    <a:ea typeface="inter"/>
                    <a:cs typeface="inter"/>
                  </a:rPr>
                  <a:t>This </a:t>
                </a:r>
                <a:r>
                  <a:rPr lang="en-US" sz="1600" b="1" dirty="0">
                    <a:solidFill>
                      <a:srgbClr val="000000"/>
                    </a:solidFill>
                    <a:effectLst/>
                    <a:latin typeface="inter"/>
                    <a:ea typeface="inter"/>
                    <a:cs typeface="inter"/>
                  </a:rPr>
                  <a:t>frequency-selective amplification</a:t>
                </a:r>
                <a:r>
                  <a:rPr lang="en-US" sz="1600" dirty="0">
                    <a:solidFill>
                      <a:srgbClr val="000000"/>
                    </a:solidFill>
                    <a:effectLst/>
                    <a:latin typeface="inter"/>
                    <a:ea typeface="inter"/>
                    <a:cs typeface="inter"/>
                  </a:rPr>
                  <a:t> is the mechanism by which oscillators: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mj-lt"/>
                  <a:buAutoNum type="arabicPeriod"/>
                  <a:tabLst>
                    <a:tab pos="571500" algn="l"/>
                  </a:tabLst>
                </a:pPr>
                <a:r>
                  <a:rPr lang="en-US" sz="1600" dirty="0">
                    <a:solidFill>
                      <a:srgbClr val="000000"/>
                    </a:solidFill>
                    <a:effectLst/>
                    <a:latin typeface="inter"/>
                    <a:ea typeface="inter"/>
                    <a:cs typeface="inter"/>
                  </a:rPr>
                  <a:t>Start reliably from broadband thermal noise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mj-lt"/>
                  <a:buAutoNum type="arabicPeriod"/>
                  <a:tabLst>
                    <a:tab pos="571500" algn="l"/>
                  </a:tabLst>
                </a:pPr>
                <a:r>
                  <a:rPr lang="en-US" sz="1600" dirty="0">
                    <a:solidFill>
                      <a:srgbClr val="000000"/>
                    </a:solidFill>
                    <a:effectLst/>
                    <a:latin typeface="inter"/>
                    <a:ea typeface="inter"/>
                    <a:cs typeface="inter"/>
                  </a:rPr>
                  <a:t>Generate clean single-frequency output (high spectral purity at the fundamental)</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mj-lt"/>
                  <a:buAutoNum type="arabicPeriod"/>
                  <a:tabLst>
                    <a:tab pos="571500" algn="l"/>
                  </a:tabLst>
                </a:pPr>
                <a:r>
                  <a:rPr lang="en-US" sz="1600" dirty="0">
                    <a:solidFill>
                      <a:srgbClr val="000000"/>
                    </a:solidFill>
                    <a:effectLst/>
                    <a:latin typeface="inter"/>
                    <a:ea typeface="inter"/>
                    <a:cs typeface="inter"/>
                  </a:rPr>
                  <a:t>Suppress unwanted frequency components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6390640" y="2332237"/>
                <a:ext cx="5734050" cy="4025717"/>
              </a:xfrm>
              <a:prstGeom prst="rect">
                <a:avLst/>
              </a:prstGeom>
              <a:blipFill>
                <a:blip r:embed="rId4"/>
                <a:stretch>
                  <a:fillRect l="-531" t="-909" r="-5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0" y="2467836"/>
                <a:ext cx="6096000" cy="3446328"/>
              </a:xfrm>
              <a:prstGeom prst="rect">
                <a:avLst/>
              </a:prstGeom>
            </p:spPr>
            <p:txBody>
              <a:bodyPr>
                <a:spAutoFit/>
              </a:bodyPr>
              <a:lstStyle/>
              <a:p>
                <a:pPr lvl="0" algn="ctr"/>
                <a:r>
                  <a:rPr lang="en-US" sz="2000" b="1" kern="0" dirty="0">
                    <a:solidFill>
                      <a:srgbClr val="C00000"/>
                    </a:solidFill>
                    <a:latin typeface="inter"/>
                    <a:ea typeface="inter"/>
                    <a:cs typeface="inter"/>
                  </a:rPr>
                  <a:t>Transfer Function from Noise to Output</a:t>
                </a:r>
                <a:endParaRPr lang="en-US" sz="1600"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lvl="0" algn="ctr"/>
                <a:endParaRPr lang="en-US" kern="0" dirty="0">
                  <a:solidFill>
                    <a:srgbClr val="000000"/>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If noise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1600" kern="0" dirty="0">
                    <a:solidFill>
                      <a:srgbClr val="000000"/>
                    </a:solidFill>
                    <a:latin typeface="inter"/>
                    <a:ea typeface="inter"/>
                    <a:cs typeface="inter"/>
                  </a:rPr>
                  <a:t> is injected at a node with impedance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At the oscillation frequency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When </a:t>
                </a:r>
                <a:r>
                  <a:rPr lang="en-US" sz="1600" kern="0" dirty="0" err="1">
                    <a:solidFill>
                      <a:srgbClr val="000000"/>
                    </a:solidFill>
                    <a:latin typeface="inter"/>
                    <a:ea typeface="inter"/>
                    <a:cs typeface="inter"/>
                  </a:rPr>
                  <a:t>Barkhausen's</a:t>
                </a:r>
                <a:r>
                  <a:rPr lang="en-US" sz="1600" kern="0" dirty="0">
                    <a:solidFill>
                      <a:srgbClr val="000000"/>
                    </a:solidFill>
                    <a:latin typeface="inter"/>
                    <a:ea typeface="inter"/>
                    <a:cs typeface="inter"/>
                  </a:rPr>
                  <a:t> condition is met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Even infinitesimal noise at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 produces finite (or growing) output!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0" y="2467836"/>
                <a:ext cx="6096000" cy="3446328"/>
              </a:xfrm>
              <a:prstGeom prst="rect">
                <a:avLst/>
              </a:prstGeom>
              <a:blipFill>
                <a:blip r:embed="rId5"/>
                <a:stretch>
                  <a:fillRect t="-1062" b="-1416"/>
                </a:stretch>
              </a:blipFill>
            </p:spPr>
            <p:txBody>
              <a:bodyPr/>
              <a:lstStyle/>
              <a:p>
                <a:r>
                  <a:rPr lang="en-US">
                    <a:noFill/>
                  </a:rPr>
                  <a:t> </a:t>
                </a:r>
              </a:p>
            </p:txBody>
          </p:sp>
        </mc:Fallback>
      </mc:AlternateContent>
      <p:sp>
        <p:nvSpPr>
          <p:cNvPr id="13" name="Rectangle 12"/>
          <p:cNvSpPr/>
          <p:nvPr/>
        </p:nvSpPr>
        <p:spPr>
          <a:xfrm>
            <a:off x="7583832" y="884583"/>
            <a:ext cx="4035011" cy="141632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1169374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141139" y="1514796"/>
            <a:ext cx="4903526" cy="238343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5</a:t>
            </a:r>
            <a:r>
              <a:rPr lang="en-US" dirty="0" smtClean="0">
                <a:latin typeface="fkGrotesk"/>
              </a:rPr>
              <a:t>. </a:t>
            </a:r>
            <a:r>
              <a:rPr lang="en-US" dirty="0">
                <a:latin typeface="fkGrotesk"/>
              </a:rPr>
              <a:t>Impedance </a:t>
            </a:r>
            <a:r>
              <a:rPr lang="en-US" dirty="0" smtClean="0">
                <a:latin typeface="fkGrotesk"/>
              </a:rPr>
              <a:t>Perspective</a:t>
            </a:r>
            <a:endParaRPr lang="en-US" dirty="0"/>
          </a:p>
        </p:txBody>
      </p:sp>
      <p:sp>
        <p:nvSpPr>
          <p:cNvPr id="3" name="Text Placeholder 2"/>
          <p:cNvSpPr>
            <a:spLocks noGrp="1"/>
          </p:cNvSpPr>
          <p:nvPr>
            <p:ph type="body" idx="1"/>
          </p:nvPr>
        </p:nvSpPr>
        <p:spPr>
          <a:xfrm>
            <a:off x="7255934" y="3757286"/>
            <a:ext cx="4631267" cy="2769989"/>
          </a:xfrm>
        </p:spPr>
        <p:txBody>
          <a:bodyPr/>
          <a:lstStyle/>
          <a:p>
            <a:pPr marL="342900" indent="-342900" algn="ctr">
              <a:buFont typeface="Wingdings" panose="05000000000000000000" pitchFamily="2" charset="2"/>
              <a:buChar char="q"/>
            </a:pPr>
            <a:r>
              <a:rPr lang="en-US" sz="1800" dirty="0" smtClean="0">
                <a:latin typeface="fkGroteskNeue"/>
              </a:rPr>
              <a:t>The</a:t>
            </a:r>
            <a:r>
              <a:rPr lang="en-US" sz="1800" dirty="0">
                <a:latin typeface="fkGroteskNeue"/>
              </a:rPr>
              <a:t> </a:t>
            </a:r>
            <a:r>
              <a:rPr lang="en-US" sz="1800" b="1" dirty="0">
                <a:latin typeface="fkGroteskNeue"/>
              </a:rPr>
              <a:t>impedance method</a:t>
            </a:r>
            <a:r>
              <a:rPr lang="en-US" sz="1800" dirty="0">
                <a:latin typeface="fkGroteskNeue"/>
              </a:rPr>
              <a:t> for finding oscillation </a:t>
            </a:r>
            <a:r>
              <a:rPr lang="en-US" sz="1800" dirty="0" smtClean="0">
                <a:latin typeface="fkGroteskNeue"/>
              </a:rPr>
              <a:t>conditions.</a:t>
            </a:r>
          </a:p>
          <a:p>
            <a:pPr marL="342900" indent="-342900" algn="ctr">
              <a:buFont typeface="Wingdings" panose="05000000000000000000" pitchFamily="2" charset="2"/>
              <a:buChar char="q"/>
            </a:pPr>
            <a:r>
              <a:rPr lang="en-US" sz="1800" dirty="0" smtClean="0">
                <a:latin typeface="fkGroteskNeue"/>
              </a:rPr>
              <a:t>When </a:t>
            </a:r>
            <a:r>
              <a:rPr lang="en-US" sz="1800" dirty="0">
                <a:latin typeface="fkGroteskNeue"/>
              </a:rPr>
              <a:t>a current </a:t>
            </a:r>
            <a:r>
              <a:rPr lang="en-US" sz="1800" dirty="0" err="1" smtClean="0">
                <a:latin typeface="fkGroteskNeue"/>
              </a:rPr>
              <a:t>I</a:t>
            </a:r>
            <a:r>
              <a:rPr lang="en-US" sz="1800" baseline="-25000" dirty="0" err="1" smtClean="0">
                <a:latin typeface="fkGroteskNeue"/>
              </a:rPr>
              <a:t>inj</a:t>
            </a:r>
            <a:r>
              <a:rPr lang="en-US" sz="1800" dirty="0" smtClean="0">
                <a:latin typeface="fkGroteskNeue"/>
              </a:rPr>
              <a:t> </a:t>
            </a:r>
            <a:r>
              <a:rPr lang="en-US" sz="1800" dirty="0">
                <a:latin typeface="fkGroteskNeue"/>
              </a:rPr>
              <a:t>is injected at frequency ω₀ into a node, if the resulting voltage goes to </a:t>
            </a:r>
            <a:r>
              <a:rPr lang="en-US" sz="1800" b="1" dirty="0">
                <a:latin typeface="fkGroteskNeue"/>
              </a:rPr>
              <a:t>infinity</a:t>
            </a:r>
            <a:r>
              <a:rPr lang="en-US" sz="1800" dirty="0">
                <a:latin typeface="fkGroteskNeue"/>
              </a:rPr>
              <a:t>, the circuit can oscillate at that frequency. </a:t>
            </a:r>
            <a:endParaRPr lang="en-US" sz="1800" dirty="0" smtClean="0">
              <a:latin typeface="fkGroteskNeue"/>
            </a:endParaRPr>
          </a:p>
          <a:p>
            <a:pPr marL="342900" indent="-342900" algn="ctr">
              <a:buFont typeface="Wingdings" panose="05000000000000000000" pitchFamily="2" charset="2"/>
              <a:buChar char="q"/>
            </a:pPr>
            <a:r>
              <a:rPr lang="en-US" sz="1800" dirty="0" smtClean="0">
                <a:latin typeface="fkGroteskNeue"/>
              </a:rPr>
              <a:t>This </a:t>
            </a:r>
            <a:r>
              <a:rPr lang="en-US" sz="1800" dirty="0">
                <a:latin typeface="fkGroteskNeue"/>
              </a:rPr>
              <a:t>happens when the </a:t>
            </a:r>
            <a:r>
              <a:rPr lang="en-US" sz="1800" b="1" dirty="0">
                <a:latin typeface="fkGroteskNeue"/>
              </a:rPr>
              <a:t>input impedance becomes infinite</a:t>
            </a:r>
            <a:r>
              <a:rPr lang="en-US" sz="1800" dirty="0">
                <a:latin typeface="fkGroteskNeue"/>
              </a:rPr>
              <a:t> (or equivalently, </a:t>
            </a:r>
            <a:r>
              <a:rPr lang="en-US" sz="1800" b="1" dirty="0">
                <a:latin typeface="fkGroteskNeue"/>
              </a:rPr>
              <a:t>negative resistance</a:t>
            </a:r>
            <a:r>
              <a:rPr lang="en-US" sz="1800" dirty="0">
                <a:latin typeface="fkGroteskNeue"/>
              </a:rPr>
              <a:t> balances losses</a:t>
            </a:r>
            <a:r>
              <a:rPr lang="en-US" sz="1800" dirty="0" smtClean="0">
                <a:latin typeface="fkGroteskNeue"/>
              </a:rPr>
              <a:t>).</a:t>
            </a: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FD2DE9D-ADDB-4E03-BC3E-55962D99B75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55722"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5920" t="9399" r="6130" b="5190"/>
          <a:stretch/>
        </p:blipFill>
        <p:spPr>
          <a:xfrm>
            <a:off x="7101613" y="1074045"/>
            <a:ext cx="4658552" cy="2149311"/>
          </a:xfrm>
          <a:prstGeom prst="rect">
            <a:avLst/>
          </a:prstGeom>
        </p:spPr>
      </p:pic>
      <p:sp>
        <p:nvSpPr>
          <p:cNvPr id="8" name="Rectangle 7"/>
          <p:cNvSpPr/>
          <p:nvPr/>
        </p:nvSpPr>
        <p:spPr>
          <a:xfrm>
            <a:off x="7800828" y="611945"/>
            <a:ext cx="3514104" cy="246221"/>
          </a:xfrm>
          <a:prstGeom prst="rect">
            <a:avLst/>
          </a:prstGeom>
        </p:spPr>
        <p:txBody>
          <a:bodyPr wrap="none">
            <a:spAutoFit/>
          </a:bodyPr>
          <a:lstStyle/>
          <a:p>
            <a:r>
              <a:rPr lang="en-US" sz="1000" b="1" i="0" u="none" strike="noStrike" baseline="0" dirty="0" smtClean="0">
                <a:solidFill>
                  <a:srgbClr val="00B050"/>
                </a:solidFill>
                <a:latin typeface="T3Font_104"/>
              </a:rPr>
              <a:t>Figure </a:t>
            </a:r>
            <a:r>
              <a:rPr lang="en-US" sz="1000" b="1" i="0" u="none" strike="noStrike" baseline="0" dirty="0" smtClean="0">
                <a:solidFill>
                  <a:srgbClr val="00B050"/>
                </a:solidFill>
                <a:latin typeface="T3Font_104"/>
              </a:rPr>
              <a:t> </a:t>
            </a:r>
            <a:r>
              <a:rPr lang="en-US" sz="1000" b="1" i="0" u="none" strike="noStrike" baseline="0" dirty="0" smtClean="0">
                <a:solidFill>
                  <a:srgbClr val="00B050"/>
                </a:solidFill>
                <a:latin typeface="T3Font_105"/>
              </a:rPr>
              <a:t>Infinite port impedance in an oscillatory circuit.</a:t>
            </a:r>
            <a:endParaRPr lang="en-US" sz="2400" b="1" dirty="0">
              <a:solidFill>
                <a:srgbClr val="00B050"/>
              </a:solidFill>
            </a:endParaRPr>
          </a:p>
        </p:txBody>
      </p:sp>
      <p:sp>
        <p:nvSpPr>
          <p:cNvPr id="9" name="Rectangle 8"/>
          <p:cNvSpPr/>
          <p:nvPr/>
        </p:nvSpPr>
        <p:spPr>
          <a:xfrm>
            <a:off x="7090925" y="1084837"/>
            <a:ext cx="4906341" cy="218329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126434" y="1544758"/>
            <a:ext cx="4842566" cy="2246769"/>
          </a:xfrm>
          <a:prstGeom prst="rect">
            <a:avLst/>
          </a:prstGeom>
        </p:spPr>
        <p:txBody>
          <a:bodyPr wrap="square">
            <a:spAutoFit/>
          </a:bodyPr>
          <a:lstStyle/>
          <a:p>
            <a:pPr algn="just"/>
            <a:r>
              <a:rPr lang="en-US" sz="2000" b="1" dirty="0">
                <a:latin typeface="fkGroteskNeue"/>
              </a:rPr>
              <a:t>Connection to </a:t>
            </a:r>
            <a:r>
              <a:rPr lang="en-US" sz="2000" b="1" dirty="0" err="1">
                <a:latin typeface="fkGroteskNeue"/>
              </a:rPr>
              <a:t>Barkhausen</a:t>
            </a:r>
            <a:r>
              <a:rPr lang="en-US" sz="2000" b="1" dirty="0">
                <a:latin typeface="fkGroteskNeue"/>
              </a:rPr>
              <a:t>: </a:t>
            </a:r>
            <a:r>
              <a:rPr lang="en-US" sz="2000" dirty="0">
                <a:latin typeface="fkGroteskNeue"/>
              </a:rPr>
              <a:t>This impedance approach is mathematically equivalent to the </a:t>
            </a:r>
            <a:r>
              <a:rPr lang="en-US" sz="2000" dirty="0" err="1">
                <a:latin typeface="fkGroteskNeue"/>
              </a:rPr>
              <a:t>Barkhausen</a:t>
            </a:r>
            <a:r>
              <a:rPr lang="en-US" sz="2000" dirty="0">
                <a:latin typeface="fkGroteskNeue"/>
              </a:rPr>
              <a:t> criterion but provides a different intuitive perspective - oscillation occurs when the active circuit exactly cancels the passive losses.</a:t>
            </a:r>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
        <p:nvSpPr>
          <p:cNvPr id="13" name="Rectangle 12"/>
          <p:cNvSpPr/>
          <p:nvPr/>
        </p:nvSpPr>
        <p:spPr>
          <a:xfrm>
            <a:off x="7107858" y="3708400"/>
            <a:ext cx="4902109" cy="28617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flipH="1" flipV="1">
            <a:off x="7092519" y="3245665"/>
            <a:ext cx="16094" cy="47374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flipV="1">
            <a:off x="11993033" y="3268133"/>
            <a:ext cx="12700" cy="45296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281230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54610" y="3962400"/>
            <a:ext cx="6529070" cy="2240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9850" y="1981200"/>
            <a:ext cx="652907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Infinite Port Impedance at Oscillation Frequency</a:t>
            </a: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127000" y="1238453"/>
                <a:ext cx="6388100" cy="5092100"/>
              </a:xfrm>
            </p:spPr>
            <p:txBody>
              <a:bodyPr/>
              <a:lstStyle/>
              <a:p>
                <a:pPr algn="just"/>
                <a:r>
                  <a:rPr lang="en-US" sz="1600" dirty="0" smtClean="0">
                    <a:solidFill>
                      <a:srgbClr val="000000"/>
                    </a:solidFill>
                    <a:latin typeface="inter"/>
                    <a:ea typeface="inter"/>
                    <a:cs typeface="inter"/>
                  </a:rPr>
                  <a:t>Conceptually </a:t>
                </a:r>
                <a:r>
                  <a:rPr lang="en-US" sz="1600" dirty="0">
                    <a:solidFill>
                      <a:srgbClr val="000000"/>
                    </a:solidFill>
                    <a:latin typeface="inter"/>
                    <a:ea typeface="inter"/>
                    <a:cs typeface="inter"/>
                  </a:rPr>
                  <a:t>demonstrates that at the oscillation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the impedance seen looking into an oscillator node approaches infinity</a:t>
                </a:r>
                <a:r>
                  <a:rPr lang="en-US" sz="1600" dirty="0" smtClean="0">
                    <a:solidFill>
                      <a:srgbClr val="000000"/>
                    </a:solidFill>
                    <a:latin typeface="inter"/>
                    <a:ea typeface="inter"/>
                    <a:cs typeface="inter"/>
                  </a:rPr>
                  <a:t>.</a:t>
                </a:r>
              </a:p>
              <a:p>
                <a:pPr algn="just"/>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u="sng" dirty="0">
                    <a:solidFill>
                      <a:srgbClr val="C00000"/>
                    </a:solidFill>
                    <a:effectLst/>
                    <a:latin typeface="inter"/>
                    <a:ea typeface="inter"/>
                    <a:cs typeface="inter"/>
                  </a:rPr>
                  <a:t>Impedance Definition and Measurement</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At a circuit node, inject a small test current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and measure the resulting voltage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The impedance at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sup>
                      </m:sSup>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where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is the magnitude and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oMath>
                </a14:m>
                <a:r>
                  <a:rPr lang="en-US" sz="1600" dirty="0">
                    <a:solidFill>
                      <a:srgbClr val="000000"/>
                    </a:solidFill>
                    <a:latin typeface="inter"/>
                    <a:ea typeface="inter"/>
                    <a:cs typeface="inter"/>
                  </a:rPr>
                  <a:t> is the phase</a:t>
                </a:r>
                <a:r>
                  <a:rPr lang="en-US" sz="1600" dirty="0" smtClean="0">
                    <a:solidFill>
                      <a:srgbClr val="000000"/>
                    </a:solidFill>
                    <a:latin typeface="inter"/>
                    <a:ea typeface="inter"/>
                    <a:cs typeface="inter"/>
                  </a:rPr>
                  <a:t>.</a:t>
                </a:r>
              </a:p>
              <a:p>
                <a:pPr algn="just"/>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u="sng" dirty="0">
                    <a:solidFill>
                      <a:srgbClr val="C00000"/>
                    </a:solidFill>
                    <a:effectLst/>
                    <a:latin typeface="inter"/>
                    <a:ea typeface="inter"/>
                    <a:cs typeface="inter"/>
                  </a:rPr>
                  <a:t>Mathematical Derivation for Delay-Based Oscillator</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For a simple delay-line </a:t>
                </a:r>
                <a:r>
                  <a:rPr lang="en-US" sz="1600" dirty="0" smtClean="0">
                    <a:solidFill>
                      <a:srgbClr val="000000"/>
                    </a:solidFill>
                    <a:latin typeface="inter"/>
                    <a:ea typeface="inter"/>
                    <a:cs typeface="inter"/>
                  </a:rPr>
                  <a:t>oscillator, </a:t>
                </a:r>
                <a:r>
                  <a:rPr lang="en-US" sz="1600" dirty="0">
                    <a:solidFill>
                      <a:srgbClr val="000000"/>
                    </a:solidFill>
                    <a:latin typeface="inter"/>
                    <a:ea typeface="inter"/>
                    <a:cs typeface="inter"/>
                  </a:rPr>
                  <a:t>the output impedance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oMath>
                </a14:m>
                <a:r>
                  <a:rPr lang="en-US" sz="1600" dirty="0">
                    <a:solidFill>
                      <a:srgbClr val="000000"/>
                    </a:solidFill>
                    <a:latin typeface="inter"/>
                    <a:ea typeface="inter"/>
                    <a:cs typeface="inter"/>
                  </a:rPr>
                  <a:t> (</a:t>
                </a:r>
                <a:r>
                  <a:rPr lang="en-US" sz="1600" dirty="0" err="1">
                    <a:solidFill>
                      <a:srgbClr val="000000"/>
                    </a:solidFill>
                    <a:latin typeface="inter"/>
                    <a:ea typeface="inter"/>
                    <a:cs typeface="inter"/>
                  </a:rPr>
                  <a:t>Barkhausen</a:t>
                </a:r>
                <a:r>
                  <a:rPr lang="en-US" sz="1600" dirty="0">
                    <a:solidFill>
                      <a:srgbClr val="000000"/>
                    </a:solidFill>
                    <a:latin typeface="inter"/>
                    <a:ea typeface="inter"/>
                    <a:cs typeface="inter"/>
                  </a:rPr>
                  <a:t> phase condition)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 (</a:t>
                </a:r>
                <a:r>
                  <a:rPr lang="en-US" sz="1600" dirty="0" err="1">
                    <a:solidFill>
                      <a:srgbClr val="000000"/>
                    </a:solidFill>
                    <a:latin typeface="inter"/>
                    <a:ea typeface="inter"/>
                    <a:cs typeface="inter"/>
                  </a:rPr>
                  <a:t>Barkhausen</a:t>
                </a:r>
                <a:r>
                  <a:rPr lang="en-US" sz="1600" dirty="0">
                    <a:solidFill>
                      <a:srgbClr val="000000"/>
                    </a:solidFill>
                    <a:latin typeface="inter"/>
                    <a:ea typeface="inter"/>
                    <a:cs typeface="inter"/>
                  </a:rPr>
                  <a:t> magnitude condition):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1+1⋅</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127000" y="1238453"/>
                <a:ext cx="6388100" cy="5092100"/>
              </a:xfrm>
              <a:blipFill>
                <a:blip r:embed="rId2"/>
                <a:stretch>
                  <a:fillRect l="-2004" t="-1198" r="-1908"/>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6C5DD56E-5956-4F60-BF4C-17566103A7D8}"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183426" y="1047911"/>
            <a:ext cx="4657748" cy="2145978"/>
          </a:xfrm>
          <a:prstGeom prst="rect">
            <a:avLst/>
          </a:prstGeom>
        </p:spPr>
      </p:pic>
      <p:sp>
        <p:nvSpPr>
          <p:cNvPr id="8" name="Rectangle 7"/>
          <p:cNvSpPr/>
          <p:nvPr/>
        </p:nvSpPr>
        <p:spPr>
          <a:xfrm>
            <a:off x="6734476" y="3201344"/>
            <a:ext cx="5287478" cy="3016210"/>
          </a:xfrm>
          <a:prstGeom prst="rect">
            <a:avLst/>
          </a:prstGeom>
        </p:spPr>
        <p:txBody>
          <a:bodyPr wrap="square">
            <a:spAutoFit/>
          </a:bodyPr>
          <a:lstStyle/>
          <a:p>
            <a:pPr lvl="0" algn="ctr">
              <a:spcAft>
                <a:spcPts val="1050"/>
              </a:spcAft>
            </a:pPr>
            <a:r>
              <a:rPr lang="en-US" sz="2000" b="1" kern="0" dirty="0">
                <a:solidFill>
                  <a:srgbClr val="C00000"/>
                </a:solidFill>
                <a:latin typeface="inter"/>
                <a:ea typeface="inter"/>
                <a:cs typeface="inter"/>
              </a:rPr>
              <a:t>Physical Meaning:</a:t>
            </a:r>
            <a:endParaRPr lang="en-US" sz="2000"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Wingdings" panose="05000000000000000000" pitchFamily="2" charset="2"/>
              <a:buChar char="q"/>
              <a:tabLst>
                <a:tab pos="571500" algn="l"/>
              </a:tabLst>
            </a:pPr>
            <a:r>
              <a:rPr lang="en-US" sz="2000" kern="0" dirty="0">
                <a:solidFill>
                  <a:srgbClr val="000000"/>
                </a:solidFill>
                <a:latin typeface="inter"/>
                <a:ea typeface="inter"/>
                <a:cs typeface="inter"/>
              </a:rPr>
              <a:t>Infinite impedance means the node cannot absorb current (open circuit at that frequency).</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Wingdings" panose="05000000000000000000" pitchFamily="2" charset="2"/>
              <a:buChar char="q"/>
              <a:tabLst>
                <a:tab pos="571500" algn="l"/>
              </a:tabLst>
            </a:pPr>
            <a:r>
              <a:rPr lang="en-US" sz="2000" kern="0" dirty="0">
                <a:solidFill>
                  <a:srgbClr val="000000"/>
                </a:solidFill>
                <a:latin typeface="inter"/>
                <a:ea typeface="inter"/>
                <a:cs typeface="inter"/>
              </a:rPr>
              <a:t>A small current injection produces arbitrarily large voltage changes.</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Wingdings" panose="05000000000000000000" pitchFamily="2" charset="2"/>
              <a:buChar char="q"/>
              <a:tabLst>
                <a:tab pos="571500" algn="l"/>
              </a:tabLst>
            </a:pPr>
            <a:r>
              <a:rPr lang="en-US" sz="2000" kern="0" dirty="0">
                <a:solidFill>
                  <a:srgbClr val="000000"/>
                </a:solidFill>
                <a:latin typeface="inter"/>
                <a:ea typeface="inter"/>
                <a:cs typeface="inter"/>
              </a:rPr>
              <a:t>This is the </a:t>
            </a:r>
            <a:r>
              <a:rPr lang="en-US" sz="2000" b="1" kern="0" dirty="0">
                <a:solidFill>
                  <a:srgbClr val="000000"/>
                </a:solidFill>
                <a:latin typeface="inter"/>
                <a:ea typeface="inter"/>
                <a:cs typeface="inter"/>
              </a:rPr>
              <a:t>resonance condition</a:t>
            </a:r>
            <a:r>
              <a:rPr lang="en-US" sz="2000" kern="0" dirty="0">
                <a:solidFill>
                  <a:srgbClr val="000000"/>
                </a:solidFill>
                <a:latin typeface="inter"/>
                <a:ea typeface="inter"/>
                <a:cs typeface="inter"/>
              </a:rPr>
              <a:t>—the hallmark of oscillation.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
        <p:nvSpPr>
          <p:cNvPr id="11" name="Rectangle 10"/>
          <p:cNvSpPr/>
          <p:nvPr/>
        </p:nvSpPr>
        <p:spPr>
          <a:xfrm>
            <a:off x="7156450" y="1086678"/>
            <a:ext cx="4906341" cy="215347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5379447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118097" y="4369904"/>
            <a:ext cx="8522860" cy="135503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147913" y="1626705"/>
            <a:ext cx="8711703" cy="194144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1756" y="347725"/>
            <a:ext cx="11980244" cy="1046440"/>
          </a:xfrm>
        </p:spPr>
        <p:txBody>
          <a:bodyPr/>
          <a:lstStyle/>
          <a:p>
            <a:pPr algn="just"/>
            <a:r>
              <a:rPr lang="en-US" dirty="0"/>
              <a:t>Designer Application - Impedance-Based Verification</a:t>
            </a:r>
            <a:br>
              <a:rPr lang="en-US" dirty="0"/>
            </a:br>
            <a:endParaRPr lang="en-US" dirty="0"/>
          </a:p>
        </p:txBody>
      </p:sp>
      <p:sp>
        <p:nvSpPr>
          <p:cNvPr id="3" name="Text Placeholder 2"/>
          <p:cNvSpPr>
            <a:spLocks noGrp="1"/>
          </p:cNvSpPr>
          <p:nvPr>
            <p:ph type="body" idx="1"/>
          </p:nvPr>
        </p:nvSpPr>
        <p:spPr>
          <a:xfrm>
            <a:off x="844550" y="1327353"/>
            <a:ext cx="10956023" cy="4570482"/>
          </a:xfrm>
        </p:spPr>
        <p:txBody>
          <a:bodyPr/>
          <a:lstStyle/>
          <a:p>
            <a:pPr>
              <a:spcAft>
                <a:spcPts val="1050"/>
              </a:spcAft>
            </a:pPr>
            <a:r>
              <a:rPr lang="en-US" dirty="0" smtClean="0">
                <a:solidFill>
                  <a:srgbClr val="000000"/>
                </a:solidFill>
                <a:latin typeface="inter"/>
                <a:ea typeface="inter"/>
                <a:cs typeface="inter"/>
              </a:rPr>
              <a:t>In </a:t>
            </a:r>
            <a:r>
              <a:rPr lang="en-US" dirty="0">
                <a:solidFill>
                  <a:srgbClr val="000000"/>
                </a:solidFill>
                <a:latin typeface="inter"/>
                <a:ea typeface="inter"/>
                <a:cs typeface="inter"/>
              </a:rPr>
              <a:t>circuit design, one can verify oscillation by: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Breaking the feedback loop at one point (open-circuiting the connection)</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Injecting a small AC current source at that point</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Measuring the AC voltage that appears</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Computing impedance as V/I across the frequency </a:t>
            </a:r>
            <a:r>
              <a:rPr lang="en-US" sz="2000" dirty="0" smtClean="0">
                <a:solidFill>
                  <a:srgbClr val="000000"/>
                </a:solidFill>
                <a:latin typeface="inter"/>
                <a:ea typeface="inter"/>
                <a:cs typeface="inter"/>
              </a:rPr>
              <a:t>range</a:t>
            </a:r>
          </a:p>
          <a:p>
            <a:pPr marL="342900" marR="0" lvl="0" indent="-342900">
              <a:spcBef>
                <a:spcPts val="525"/>
              </a:spcBef>
              <a:spcAft>
                <a:spcPts val="525"/>
              </a:spcAft>
              <a:buFont typeface="+mj-lt"/>
              <a:buAutoNum type="arabicPeriod"/>
              <a:tabLst>
                <a:tab pos="571500" algn="l"/>
              </a:tabLst>
            </a:pP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The presence of a sharp impedance peak at the desired oscillation frequency confirms: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spcBef>
                <a:spcPts val="525"/>
              </a:spcBef>
              <a:spcAft>
                <a:spcPts val="525"/>
              </a:spcAft>
              <a:buFont typeface="Wingdings" panose="05000000000000000000" pitchFamily="2" charset="2"/>
              <a:buChar char="q"/>
              <a:tabLst>
                <a:tab pos="571500" algn="l"/>
              </a:tabLst>
            </a:pPr>
            <a:r>
              <a:rPr lang="en-US" dirty="0" err="1">
                <a:solidFill>
                  <a:srgbClr val="000000"/>
                </a:solidFill>
                <a:latin typeface="inter"/>
                <a:ea typeface="inter"/>
                <a:cs typeface="inter"/>
              </a:rPr>
              <a:t>Barkhausen's</a:t>
            </a:r>
            <a:r>
              <a:rPr lang="en-US" dirty="0">
                <a:solidFill>
                  <a:srgbClr val="000000"/>
                </a:solidFill>
                <a:latin typeface="inter"/>
                <a:ea typeface="inter"/>
                <a:cs typeface="inter"/>
              </a:rPr>
              <a:t> conditions are nearly satisfied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The circuit will oscillate when the loop is closed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The impedance peak location identifies the actual oscillation frequency</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206A82D-5C06-41D3-89E0-F8606A486B09}"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5749754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Rectangle 11"/>
          <p:cNvSpPr/>
          <p:nvPr/>
        </p:nvSpPr>
        <p:spPr>
          <a:xfrm>
            <a:off x="8724900" y="1701800"/>
            <a:ext cx="3467100" cy="35814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559300" y="1765300"/>
            <a:ext cx="3619500" cy="34925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24460" y="1765300"/>
            <a:ext cx="3933190" cy="35052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4917" y="42925"/>
            <a:ext cx="10593196" cy="523220"/>
          </a:xfrm>
        </p:spPr>
        <p:txBody>
          <a:bodyPr/>
          <a:lstStyle/>
          <a:p>
            <a:r>
              <a:rPr lang="en-US" dirty="0" smtClean="0">
                <a:latin typeface="fkGrotesk"/>
              </a:rPr>
              <a:t>6.Progression</a:t>
            </a:r>
            <a:r>
              <a:rPr lang="en-US" dirty="0">
                <a:latin typeface="fkGrotesk"/>
              </a:rPr>
              <a:t>: From Mechanical to </a:t>
            </a:r>
            <a:r>
              <a:rPr lang="en-US" dirty="0" smtClean="0">
                <a:latin typeface="fkGrotesk"/>
              </a:rPr>
              <a:t>Electronic</a:t>
            </a:r>
            <a:endParaRPr lang="en-US" dirty="0"/>
          </a:p>
        </p:txBody>
      </p:sp>
      <p:sp>
        <p:nvSpPr>
          <p:cNvPr id="3" name="Text Placeholder 2"/>
          <p:cNvSpPr>
            <a:spLocks noGrp="1"/>
          </p:cNvSpPr>
          <p:nvPr>
            <p:ph type="body" idx="1"/>
          </p:nvPr>
        </p:nvSpPr>
        <p:spPr>
          <a:xfrm>
            <a:off x="0" y="1327353"/>
            <a:ext cx="3892550" cy="3077766"/>
          </a:xfrm>
        </p:spPr>
        <p:txBody>
          <a:bodyPr/>
          <a:lstStyle/>
          <a:p>
            <a:pPr algn="ctr"/>
            <a:r>
              <a:rPr lang="en-US" b="1" dirty="0" smtClean="0">
                <a:solidFill>
                  <a:srgbClr val="C00000"/>
                </a:solidFill>
                <a:latin typeface="fkGrotesk"/>
              </a:rPr>
              <a:t>Step </a:t>
            </a:r>
            <a:r>
              <a:rPr lang="en-US" b="1" dirty="0">
                <a:solidFill>
                  <a:srgbClr val="C00000"/>
                </a:solidFill>
                <a:latin typeface="fkGrotesk"/>
              </a:rPr>
              <a:t>1: Pendulum </a:t>
            </a:r>
            <a:r>
              <a:rPr lang="en-US" b="1" dirty="0" smtClean="0">
                <a:solidFill>
                  <a:srgbClr val="C00000"/>
                </a:solidFill>
                <a:latin typeface="fkGrotesk"/>
              </a:rPr>
              <a:t>Analogy</a:t>
            </a:r>
          </a:p>
          <a:p>
            <a:pPr algn="ctr"/>
            <a:endParaRPr lang="en-US" dirty="0">
              <a:latin typeface="fkGrotesk"/>
            </a:endParaRPr>
          </a:p>
          <a:p>
            <a:pPr marL="800100" lvl="1" indent="-342900" algn="just">
              <a:buFont typeface="Wingdings" panose="05000000000000000000" pitchFamily="2" charset="2"/>
              <a:buChar char="q"/>
            </a:pPr>
            <a:r>
              <a:rPr lang="en-US" sz="2000" dirty="0">
                <a:latin typeface="fkGroteskNeue"/>
              </a:rPr>
              <a:t>Energy cycling between potential and kinetic forms</a:t>
            </a:r>
          </a:p>
          <a:p>
            <a:pPr marL="800100" lvl="1" indent="-342900" algn="just">
              <a:buFont typeface="Wingdings" panose="05000000000000000000" pitchFamily="2" charset="2"/>
              <a:buChar char="q"/>
            </a:pPr>
            <a:r>
              <a:rPr lang="en-US" sz="2000" dirty="0">
                <a:latin typeface="fkGroteskNeue"/>
              </a:rPr>
              <a:t>Natural frequency depends on system parameters (length), not amplitude</a:t>
            </a:r>
          </a:p>
          <a:p>
            <a:pPr marL="800100" lvl="1" indent="-342900" algn="just">
              <a:buFont typeface="Wingdings" panose="05000000000000000000" pitchFamily="2" charset="2"/>
              <a:buChar char="q"/>
            </a:pPr>
            <a:r>
              <a:rPr lang="en-US" sz="2000" dirty="0">
                <a:latin typeface="fkGroteskNeue"/>
              </a:rPr>
              <a:t>Losses require periodic "pushes" to sustain </a:t>
            </a:r>
            <a:r>
              <a:rPr lang="en-US" sz="2000" dirty="0" smtClean="0">
                <a:latin typeface="fkGroteskNeue"/>
              </a:rPr>
              <a:t>motion</a:t>
            </a:r>
          </a:p>
          <a:p>
            <a:pPr marL="800100" lvl="1" indent="-342900" algn="just">
              <a:buFont typeface="Arial" panose="020B0604020202020204" pitchFamily="34" charset="0"/>
              <a:buChar char="•"/>
            </a:pPr>
            <a:endParaRPr lang="en-US" sz="2000"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D3FB29B7-6B8C-4F4E-85F9-A4984871BC49}" type="datetime1">
              <a:rPr kumimoji="0" lang="en-US" sz="1200" b="0" i="0" u="none" strike="noStrike" kern="0" cap="none" spc="-10" normalizeH="0" baseline="0" noProof="0" smtClean="0">
                <a:ln>
                  <a:noFill/>
                </a:ln>
                <a:solidFill>
                  <a:prstClr val="black"/>
                </a:solidFill>
                <a:effectLst/>
                <a:uLnTx/>
                <a:uFillTx/>
                <a:latin typeface="Verdana"/>
                <a:ea typeface="+mn-ea"/>
              </a:rPr>
              <a:t>9/4/2026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
        <p:nvSpPr>
          <p:cNvPr id="8" name="Text Placeholder 2"/>
          <p:cNvSpPr txBox="1">
            <a:spLocks/>
          </p:cNvSpPr>
          <p:nvPr/>
        </p:nvSpPr>
        <p:spPr>
          <a:xfrm>
            <a:off x="4358038" y="963866"/>
            <a:ext cx="3655662" cy="4308872"/>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lgn="just"/>
            <a:endParaRPr lang="en-US" sz="2000" kern="0" dirty="0" smtClean="0">
              <a:solidFill>
                <a:sysClr val="windowText" lastClr="000000"/>
              </a:solidFill>
              <a:latin typeface="fkGroteskNeue"/>
            </a:endParaRPr>
          </a:p>
          <a:p>
            <a:pPr algn="ctr"/>
            <a:r>
              <a:rPr lang="en-US" b="1" kern="0" dirty="0" smtClean="0">
                <a:solidFill>
                  <a:srgbClr val="C00000"/>
                </a:solidFill>
                <a:latin typeface="fkGrotesk"/>
              </a:rPr>
              <a:t>Step 2: Electronic Oscillators</a:t>
            </a:r>
          </a:p>
          <a:p>
            <a:pPr algn="ctr"/>
            <a:endParaRPr lang="en-US" kern="0" dirty="0" smtClean="0">
              <a:latin typeface="fkGrotesk"/>
            </a:endParaRPr>
          </a:p>
          <a:p>
            <a:pPr marL="800100" lvl="1" indent="-342900" algn="just">
              <a:buFont typeface="Wingdings" panose="05000000000000000000" pitchFamily="2" charset="2"/>
              <a:buChar char="q"/>
            </a:pPr>
            <a:r>
              <a:rPr lang="en-US" sz="2000" kern="0" dirty="0" smtClean="0">
                <a:solidFill>
                  <a:sysClr val="windowText" lastClr="000000"/>
                </a:solidFill>
                <a:latin typeface="fkGroteskNeue"/>
              </a:rPr>
              <a:t>Energy cycles between electric and magnetic fields (LC) or charge storage (RC)</a:t>
            </a:r>
          </a:p>
          <a:p>
            <a:pPr marL="800100" lvl="1" indent="-342900" algn="just">
              <a:buFont typeface="Wingdings" panose="05000000000000000000" pitchFamily="2" charset="2"/>
              <a:buChar char="q"/>
            </a:pPr>
            <a:r>
              <a:rPr lang="en-US" sz="2000" kern="0" dirty="0" smtClean="0">
                <a:solidFill>
                  <a:sysClr val="windowText" lastClr="000000"/>
                </a:solidFill>
                <a:latin typeface="fkGroteskNeue"/>
              </a:rPr>
              <a:t>Natural frequency depends on L, C, or R, C values</a:t>
            </a:r>
          </a:p>
          <a:p>
            <a:pPr marL="800100" lvl="1" indent="-342900" algn="just">
              <a:buFont typeface="Wingdings" panose="05000000000000000000" pitchFamily="2" charset="2"/>
              <a:buChar char="q"/>
            </a:pPr>
            <a:r>
              <a:rPr lang="en-US" sz="2000" kern="0" dirty="0" smtClean="0">
                <a:solidFill>
                  <a:sysClr val="windowText" lastClr="000000"/>
                </a:solidFill>
                <a:latin typeface="fkGroteskNeue"/>
              </a:rPr>
              <a:t>Active feedback provides the "pushes" to overcome resistive losses</a:t>
            </a:r>
          </a:p>
        </p:txBody>
      </p:sp>
      <p:sp>
        <p:nvSpPr>
          <p:cNvPr id="9" name="Text Placeholder 2"/>
          <p:cNvSpPr txBox="1">
            <a:spLocks/>
          </p:cNvSpPr>
          <p:nvPr/>
        </p:nvSpPr>
        <p:spPr>
          <a:xfrm>
            <a:off x="8443494" y="1208241"/>
            <a:ext cx="3583406" cy="4370427"/>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r>
              <a:rPr lang="en-US" sz="2000" b="1" dirty="0">
                <a:solidFill>
                  <a:srgbClr val="C00000"/>
                </a:solidFill>
                <a:latin typeface="fkGrotesk"/>
              </a:rPr>
              <a:t>Step 3: PLL </a:t>
            </a:r>
            <a:r>
              <a:rPr lang="en-US" sz="2000" b="1" dirty="0" smtClean="0">
                <a:solidFill>
                  <a:srgbClr val="C00000"/>
                </a:solidFill>
                <a:latin typeface="fkGrotesk"/>
              </a:rPr>
              <a:t>Connection</a:t>
            </a:r>
          </a:p>
          <a:p>
            <a:pPr lvl="1"/>
            <a:endParaRPr lang="en-US" sz="2000" kern="0" dirty="0" smtClean="0">
              <a:solidFill>
                <a:sysClr val="windowText" lastClr="000000"/>
              </a:solidFill>
              <a:latin typeface="fkGroteskNeue"/>
            </a:endParaRPr>
          </a:p>
          <a:p>
            <a:pPr marL="800100" lvl="1" indent="-342900" algn="just">
              <a:buFont typeface="Wingdings" panose="05000000000000000000" pitchFamily="2" charset="2"/>
              <a:buChar char="q"/>
            </a:pPr>
            <a:r>
              <a:rPr lang="en-US" sz="2000" kern="0" dirty="0" smtClean="0">
                <a:solidFill>
                  <a:sysClr val="windowText" lastClr="000000"/>
                </a:solidFill>
                <a:latin typeface="fkGroteskNeue"/>
              </a:rPr>
              <a:t>PLLs use controlled oscillators (VCOs) where feedback adjusts frequency</a:t>
            </a:r>
          </a:p>
          <a:p>
            <a:pPr marL="800100" lvl="1" indent="-342900" algn="just">
              <a:buFont typeface="Wingdings" panose="05000000000000000000" pitchFamily="2" charset="2"/>
              <a:buChar char="q"/>
            </a:pPr>
            <a:r>
              <a:rPr lang="en-US" sz="2000" kern="0" dirty="0" smtClean="0">
                <a:solidFill>
                  <a:sysClr val="windowText" lastClr="000000"/>
                </a:solidFill>
                <a:latin typeface="fkGroteskNeue"/>
              </a:rPr>
              <a:t>The "push timing" (feedback) is controlled by phase comparison</a:t>
            </a:r>
          </a:p>
          <a:p>
            <a:pPr marL="800100" lvl="1" indent="-342900" algn="just">
              <a:buFont typeface="Wingdings" panose="05000000000000000000" pitchFamily="2" charset="2"/>
              <a:buChar char="q"/>
            </a:pPr>
            <a:r>
              <a:rPr lang="en-US" sz="2000" kern="0" dirty="0" smtClean="0">
                <a:solidFill>
                  <a:sysClr val="windowText" lastClr="000000"/>
                </a:solidFill>
                <a:latin typeface="fkGroteskNeue"/>
              </a:rPr>
              <a:t>This enables frequency locking and jitter reduction for high-performance systems</a:t>
            </a:r>
          </a:p>
          <a:p>
            <a:endParaRPr lang="en-US" sz="2400" kern="0" dirty="0"/>
          </a:p>
        </p:txBody>
      </p:sp>
    </p:spTree>
    <p:extLst>
      <p:ext uri="{BB962C8B-B14F-4D97-AF65-F5344CB8AC3E}">
        <p14:creationId xmlns:p14="http://schemas.microsoft.com/office/powerpoint/2010/main" val="3746684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86409" y="4800600"/>
            <a:ext cx="10694503" cy="119269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024890" y="2087880"/>
            <a:ext cx="7722870" cy="120904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7. Stability vs. Oscillation: The Fine </a:t>
            </a:r>
            <a:r>
              <a:rPr lang="en-US" dirty="0" smtClean="0">
                <a:latin typeface="fkGrotesk"/>
              </a:rPr>
              <a:t>Line</a:t>
            </a:r>
            <a:endParaRPr lang="en-US" dirty="0"/>
          </a:p>
        </p:txBody>
      </p:sp>
      <p:sp>
        <p:nvSpPr>
          <p:cNvPr id="3" name="Text Placeholder 2"/>
          <p:cNvSpPr>
            <a:spLocks noGrp="1"/>
          </p:cNvSpPr>
          <p:nvPr>
            <p:ph type="body" idx="1"/>
          </p:nvPr>
        </p:nvSpPr>
        <p:spPr>
          <a:xfrm>
            <a:off x="844550" y="1327353"/>
            <a:ext cx="10276417" cy="4924425"/>
          </a:xfrm>
        </p:spPr>
        <p:txBody>
          <a:bodyPr/>
          <a:lstStyle/>
          <a:p>
            <a:pPr algn="just"/>
            <a:r>
              <a:rPr lang="en-US" b="1" dirty="0" smtClean="0">
                <a:latin typeface="fkGroteskNeue"/>
              </a:rPr>
              <a:t>Key </a:t>
            </a:r>
            <a:r>
              <a:rPr lang="en-US" b="1" dirty="0">
                <a:latin typeface="fkGroteskNeue"/>
              </a:rPr>
              <a:t>Insight: </a:t>
            </a:r>
            <a:r>
              <a:rPr lang="en-US" dirty="0">
                <a:latin typeface="fkGroteskNeue"/>
              </a:rPr>
              <a:t>The difference between a stable amplifier and an oscillator is simply the amount of loop gain and phase shift</a:t>
            </a:r>
            <a:r>
              <a:rPr lang="en-US" dirty="0" smtClean="0">
                <a:latin typeface="fkGroteskNeue"/>
              </a:rPr>
              <a:t>:</a:t>
            </a:r>
          </a:p>
          <a:p>
            <a:pPr algn="l"/>
            <a:endParaRPr lang="en-US" dirty="0">
              <a:latin typeface="fkGroteskNeue"/>
            </a:endParaRPr>
          </a:p>
          <a:p>
            <a:pPr marL="800100" lvl="1" indent="-342900" algn="l">
              <a:buFont typeface="Wingdings" panose="05000000000000000000" pitchFamily="2" charset="2"/>
              <a:buChar char="q"/>
            </a:pPr>
            <a:r>
              <a:rPr lang="en-US" sz="2000" b="1" dirty="0">
                <a:latin typeface="fkGroteskNeue"/>
              </a:rPr>
              <a:t>Stable amplifier: </a:t>
            </a:r>
            <a:r>
              <a:rPr lang="en-US" sz="2000" dirty="0">
                <a:latin typeface="fkGroteskNeue"/>
              </a:rPr>
              <a:t>Phase margin &gt; 0°, gain margin &gt; 0 dB</a:t>
            </a:r>
          </a:p>
          <a:p>
            <a:pPr marL="800100" lvl="1" indent="-342900" algn="l">
              <a:buFont typeface="Wingdings" panose="05000000000000000000" pitchFamily="2" charset="2"/>
              <a:buChar char="q"/>
            </a:pPr>
            <a:r>
              <a:rPr lang="en-US" sz="2000" b="1" dirty="0">
                <a:latin typeface="fkGroteskNeue"/>
              </a:rPr>
              <a:t>Marginally stable: </a:t>
            </a:r>
            <a:r>
              <a:rPr lang="en-US" sz="2000" dirty="0">
                <a:latin typeface="fkGroteskNeue"/>
              </a:rPr>
              <a:t>Phase margin = 0°, gain margin = 0 dB</a:t>
            </a:r>
          </a:p>
          <a:p>
            <a:pPr marL="800100" lvl="1" indent="-342900" algn="l">
              <a:buFont typeface="Wingdings" panose="05000000000000000000" pitchFamily="2" charset="2"/>
              <a:buChar char="q"/>
            </a:pPr>
            <a:r>
              <a:rPr lang="en-US" sz="2000" b="1" dirty="0">
                <a:latin typeface="fkGroteskNeue"/>
              </a:rPr>
              <a:t>Oscillator: </a:t>
            </a:r>
            <a:r>
              <a:rPr lang="en-US" sz="2000" dirty="0" err="1">
                <a:latin typeface="fkGroteskNeue"/>
              </a:rPr>
              <a:t>Barkhausen</a:t>
            </a:r>
            <a:r>
              <a:rPr lang="en-US" sz="2000" dirty="0">
                <a:latin typeface="fkGroteskNeue"/>
              </a:rPr>
              <a:t> conditions met at desired </a:t>
            </a:r>
            <a:r>
              <a:rPr lang="en-US" sz="2000" dirty="0" smtClean="0">
                <a:latin typeface="fkGroteskNeue"/>
              </a:rPr>
              <a:t>frequency</a:t>
            </a:r>
          </a:p>
          <a:p>
            <a:pPr marL="800100" lvl="1" indent="-342900" algn="l">
              <a:buFont typeface="Arial" panose="020B0604020202020204" pitchFamily="34" charset="0"/>
              <a:buChar char="•"/>
            </a:pPr>
            <a:endParaRPr lang="en-US" sz="2000" dirty="0">
              <a:latin typeface="fkGroteskNeue"/>
            </a:endParaRPr>
          </a:p>
          <a:p>
            <a:pPr algn="just"/>
            <a:r>
              <a:rPr lang="en-US" dirty="0">
                <a:latin typeface="fkGroteskNeue"/>
              </a:rPr>
              <a:t>This understanding helps students see oscillators not as mysterious circuits, but as </a:t>
            </a:r>
            <a:r>
              <a:rPr lang="en-US" b="1" dirty="0">
                <a:latin typeface="fkGroteskNeue"/>
              </a:rPr>
              <a:t>intentionally destabilized</a:t>
            </a:r>
            <a:r>
              <a:rPr lang="en-US" dirty="0">
                <a:latin typeface="fkGroteskNeue"/>
              </a:rPr>
              <a:t> feedback systems operating at a precisely controlled instability point</a:t>
            </a:r>
            <a:r>
              <a:rPr lang="en-US" dirty="0" smtClean="0">
                <a:latin typeface="fkGroteskNeue"/>
              </a:rPr>
              <a:t>.</a:t>
            </a:r>
          </a:p>
          <a:p>
            <a:pPr algn="just"/>
            <a:endParaRPr lang="en-US" dirty="0">
              <a:latin typeface="fkGroteskNeue"/>
            </a:endParaRPr>
          </a:p>
          <a:p>
            <a:pPr algn="just"/>
            <a:endParaRPr lang="en-US" b="1" dirty="0">
              <a:latin typeface="fkGroteskNeue"/>
            </a:endParaRPr>
          </a:p>
          <a:p>
            <a:pPr algn="just"/>
            <a:r>
              <a:rPr lang="en-US" dirty="0" smtClean="0">
                <a:latin typeface="fkGroteskNeue"/>
              </a:rPr>
              <a:t>Oscillation </a:t>
            </a:r>
            <a:r>
              <a:rPr lang="en-US" dirty="0">
                <a:latin typeface="fkGroteskNeue"/>
              </a:rPr>
              <a:t>is </a:t>
            </a:r>
            <a:r>
              <a:rPr lang="en-US" b="1" dirty="0">
                <a:latin typeface="fkGroteskNeue"/>
              </a:rPr>
              <a:t>controlled instability </a:t>
            </a:r>
            <a:r>
              <a:rPr lang="en-US" dirty="0">
                <a:latin typeface="fkGroteskNeue"/>
              </a:rPr>
              <a:t>- we deliberately create conditions where the system cannot settle to a DC value but instead perpetually cycles at a predictable frequency and amplitude</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4C6B263-5875-407B-A957-541A65340590}"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10711867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988050" y="4922520"/>
            <a:ext cx="6051550" cy="1381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018530" y="2885440"/>
            <a:ext cx="6051550" cy="1381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0490" y="2870200"/>
            <a:ext cx="5767070" cy="1381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1198" y="0"/>
            <a:ext cx="10593196" cy="1046440"/>
          </a:xfrm>
        </p:spPr>
        <p:txBody>
          <a:bodyPr/>
          <a:lstStyle/>
          <a:p>
            <a:r>
              <a:rPr lang="en-US" dirty="0"/>
              <a:t>Oscillator Analysis Methods: From Fundamentals to Real Circuit </a:t>
            </a:r>
            <a:r>
              <a:rPr lang="en-US" dirty="0" smtClean="0"/>
              <a:t>Design</a:t>
            </a:r>
            <a:endParaRPr lang="en-US" dirty="0"/>
          </a:p>
        </p:txBody>
      </p:sp>
      <p:sp>
        <p:nvSpPr>
          <p:cNvPr id="3" name="Text Placeholder 2"/>
          <p:cNvSpPr>
            <a:spLocks noGrp="1"/>
          </p:cNvSpPr>
          <p:nvPr>
            <p:ph type="body" idx="1"/>
          </p:nvPr>
        </p:nvSpPr>
        <p:spPr>
          <a:xfrm>
            <a:off x="763571" y="1208083"/>
            <a:ext cx="10686307" cy="923330"/>
          </a:xfrm>
        </p:spPr>
        <p:txBody>
          <a:bodyPr/>
          <a:lstStyle/>
          <a:p>
            <a:pPr algn="ctr"/>
            <a:r>
              <a:rPr lang="en-US" b="1" dirty="0">
                <a:solidFill>
                  <a:srgbClr val="C00000"/>
                </a:solidFill>
                <a:latin typeface="fkGrotesk"/>
              </a:rPr>
              <a:t>Understanding the Three Analysis Methods</a:t>
            </a:r>
          </a:p>
          <a:p>
            <a:pPr algn="l"/>
            <a:r>
              <a:rPr lang="en-US" dirty="0">
                <a:latin typeface="fkGroteskNeue"/>
              </a:rPr>
              <a:t>The </a:t>
            </a:r>
            <a:r>
              <a:rPr lang="en-US" dirty="0" smtClean="0">
                <a:latin typeface="fkGroteskNeue"/>
              </a:rPr>
              <a:t>three </a:t>
            </a:r>
            <a:r>
              <a:rPr lang="en-US" dirty="0">
                <a:latin typeface="fkGroteskNeue"/>
              </a:rPr>
              <a:t>fundamental approaches to oscillator analysis, each offering unique insights into how circuits achieve sustained oscillation</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6D88A258-3484-43FF-B95F-2CF1383494B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106017" y="2331794"/>
            <a:ext cx="5785899" cy="3447098"/>
          </a:xfrm>
          <a:prstGeom prst="rect">
            <a:avLst/>
          </a:prstGeom>
        </p:spPr>
        <p:txBody>
          <a:bodyPr wrap="square">
            <a:spAutoFit/>
          </a:bodyPr>
          <a:lstStyle/>
          <a:p>
            <a:pPr algn="ctr"/>
            <a:r>
              <a:rPr lang="en-US" b="1" i="0" dirty="0" smtClean="0">
                <a:solidFill>
                  <a:srgbClr val="C00000"/>
                </a:solidFill>
                <a:effectLst/>
                <a:latin typeface="fkGrotesk"/>
              </a:rPr>
              <a:t>Method 1: Open-Loop Analysis (Break the Loop)</a:t>
            </a:r>
          </a:p>
          <a:p>
            <a:pPr marL="285750" indent="-285750" algn="just">
              <a:buFont typeface="Wingdings" panose="05000000000000000000" pitchFamily="2" charset="2"/>
              <a:buChar char="q"/>
            </a:pPr>
            <a:endParaRPr lang="en-US" b="1" i="0" dirty="0" smtClean="0">
              <a:effectLst/>
              <a:latin typeface="fkGrotesk"/>
            </a:endParaRPr>
          </a:p>
          <a:p>
            <a:pPr marL="285750" indent="-285750" algn="just">
              <a:buFont typeface="Wingdings" panose="05000000000000000000" pitchFamily="2" charset="2"/>
              <a:buChar char="q"/>
            </a:pPr>
            <a:r>
              <a:rPr lang="en-US" sz="1600" b="1" i="0" dirty="0" smtClean="0">
                <a:solidFill>
                  <a:srgbClr val="00B050"/>
                </a:solidFill>
                <a:effectLst/>
                <a:latin typeface="fkGroteskNeue"/>
              </a:rPr>
              <a:t>Fundamental Concept</a:t>
            </a:r>
            <a:r>
              <a:rPr lang="en-US" sz="1600" b="1" i="0" dirty="0" smtClean="0">
                <a:effectLst/>
                <a:latin typeface="fkGroteskNeue"/>
              </a:rPr>
              <a:t>: </a:t>
            </a:r>
            <a:r>
              <a:rPr lang="en-US" sz="1600" b="0" i="0" dirty="0" smtClean="0">
                <a:effectLst/>
                <a:latin typeface="fkGroteskNeue"/>
              </a:rPr>
              <a:t>Remove the feedback connection and apply the </a:t>
            </a:r>
            <a:r>
              <a:rPr lang="en-US" sz="1600" b="0" i="0" dirty="0" err="1" smtClean="0">
                <a:effectLst/>
                <a:latin typeface="fkGroteskNeue"/>
              </a:rPr>
              <a:t>Barkhausen</a:t>
            </a:r>
            <a:r>
              <a:rPr lang="en-US" sz="1600" b="0" i="0" dirty="0" smtClean="0">
                <a:effectLst/>
                <a:latin typeface="fkGroteskNeue"/>
              </a:rPr>
              <a:t> criteria directly.</a:t>
            </a:r>
          </a:p>
          <a:p>
            <a:pPr marL="285750" indent="-285750" algn="just">
              <a:buFont typeface="Wingdings" panose="05000000000000000000" pitchFamily="2" charset="2"/>
              <a:buChar char="q"/>
            </a:pPr>
            <a:r>
              <a:rPr lang="en-US" sz="1600" b="1" i="0" dirty="0" smtClean="0">
                <a:solidFill>
                  <a:srgbClr val="00B050"/>
                </a:solidFill>
                <a:effectLst/>
                <a:latin typeface="fkGroteskNeue"/>
              </a:rPr>
              <a:t>Teaching Analogy: </a:t>
            </a:r>
            <a:r>
              <a:rPr lang="en-US" sz="1600" b="0" i="0" dirty="0" smtClean="0">
                <a:effectLst/>
                <a:latin typeface="fkGroteskNeue"/>
              </a:rPr>
              <a:t>Like checking if a microphone-speaker system will cause feedback by measuring how loud the speaker gets when you whisper into the microphone.</a:t>
            </a:r>
          </a:p>
          <a:p>
            <a:pPr marL="285750" indent="-285750" algn="just">
              <a:buFont typeface="Courier New" panose="02070309020205020404" pitchFamily="49" charset="0"/>
              <a:buChar char="o"/>
            </a:pPr>
            <a:endParaRPr lang="en-US" b="0" i="0" dirty="0" smtClean="0">
              <a:effectLst/>
              <a:latin typeface="fkGroteskNeue"/>
            </a:endParaRPr>
          </a:p>
          <a:p>
            <a:pPr algn="ctr"/>
            <a:r>
              <a:rPr lang="en-US" b="1" i="0" dirty="0" smtClean="0">
                <a:solidFill>
                  <a:srgbClr val="C00000"/>
                </a:solidFill>
                <a:effectLst/>
                <a:latin typeface="fkGroteskNeue"/>
              </a:rPr>
              <a:t>Mathematical Foundation:</a:t>
            </a:r>
          </a:p>
          <a:p>
            <a:pPr algn="just"/>
            <a:endParaRPr lang="en-US" b="1" i="0" dirty="0" smtClean="0">
              <a:effectLst/>
              <a:latin typeface="fkGroteskNeue"/>
            </a:endParaRPr>
          </a:p>
          <a:p>
            <a:pPr marL="285750" indent="-285750" algn="just">
              <a:buFont typeface="Wingdings" panose="05000000000000000000" pitchFamily="2" charset="2"/>
              <a:buChar char="q"/>
            </a:pPr>
            <a:r>
              <a:rPr lang="en-US" sz="1600" b="0" i="0" dirty="0" smtClean="0">
                <a:effectLst/>
                <a:latin typeface="fkGroteskNeue"/>
              </a:rPr>
              <a:t>Set H(</a:t>
            </a:r>
            <a:r>
              <a:rPr lang="en-US" sz="1600" b="0" i="0" dirty="0" err="1" smtClean="0">
                <a:effectLst/>
                <a:latin typeface="fkGroteskNeue"/>
              </a:rPr>
              <a:t>jω</a:t>
            </a:r>
            <a:r>
              <a:rPr lang="en-US" sz="1600" b="0" i="0" dirty="0" smtClean="0">
                <a:effectLst/>
                <a:latin typeface="fkGroteskNeue"/>
              </a:rPr>
              <a:t>₀) = -1 for oscillation</a:t>
            </a:r>
          </a:p>
          <a:p>
            <a:pPr marL="285750" indent="-285750" algn="just">
              <a:buFont typeface="Wingdings" panose="05000000000000000000" pitchFamily="2" charset="2"/>
              <a:buChar char="q"/>
            </a:pPr>
            <a:r>
              <a:rPr lang="en-US" sz="1600" b="0" i="0" dirty="0" smtClean="0">
                <a:effectLst/>
                <a:latin typeface="fkGroteskNeue"/>
              </a:rPr>
              <a:t>This gives us both frequency (where phase = 180°) and gain requirements (|H| = 1)</a:t>
            </a:r>
            <a:endParaRPr lang="en-US" sz="1600" b="0" i="0" dirty="0">
              <a:effectLst/>
              <a:latin typeface="fkGroteskNeue"/>
            </a:endParaRPr>
          </a:p>
        </p:txBody>
      </p:sp>
      <p:sp>
        <p:nvSpPr>
          <p:cNvPr id="8" name="Rectangle 7"/>
          <p:cNvSpPr/>
          <p:nvPr/>
        </p:nvSpPr>
        <p:spPr>
          <a:xfrm>
            <a:off x="5987111" y="2393830"/>
            <a:ext cx="6096000" cy="3939540"/>
          </a:xfrm>
          <a:prstGeom prst="rect">
            <a:avLst/>
          </a:prstGeom>
        </p:spPr>
        <p:txBody>
          <a:bodyPr>
            <a:spAutoFit/>
          </a:bodyPr>
          <a:lstStyle/>
          <a:p>
            <a:pPr algn="ctr"/>
            <a:r>
              <a:rPr lang="en-US" b="1" i="0" dirty="0" smtClean="0">
                <a:solidFill>
                  <a:srgbClr val="C00000"/>
                </a:solidFill>
                <a:effectLst/>
                <a:latin typeface="fkGrotesk"/>
              </a:rPr>
              <a:t>Method 2: Time-Domain Initial Condition</a:t>
            </a:r>
          </a:p>
          <a:p>
            <a:pPr marL="285750" indent="-285750" algn="just">
              <a:buFont typeface="Wingdings" panose="05000000000000000000" pitchFamily="2" charset="2"/>
              <a:buChar char="q"/>
            </a:pPr>
            <a:endParaRPr lang="en-US" b="1" i="0" dirty="0" smtClean="0">
              <a:effectLst/>
              <a:latin typeface="fkGrotesk"/>
            </a:endParaRPr>
          </a:p>
          <a:p>
            <a:pPr marL="285750" indent="-285750" algn="just">
              <a:buFont typeface="Wingdings" panose="05000000000000000000" pitchFamily="2" charset="2"/>
              <a:buChar char="q"/>
            </a:pPr>
            <a:r>
              <a:rPr lang="en-US" sz="1600" b="1" i="0" dirty="0" smtClean="0">
                <a:solidFill>
                  <a:srgbClr val="00B050"/>
                </a:solidFill>
                <a:effectLst/>
                <a:latin typeface="fkGroteskNeue"/>
              </a:rPr>
              <a:t>Fundamental Concept: </a:t>
            </a:r>
            <a:r>
              <a:rPr lang="en-US" sz="1600" b="0" i="0" dirty="0" smtClean="0">
                <a:effectLst/>
                <a:latin typeface="fkGroteskNeue"/>
              </a:rPr>
              <a:t>Like the "lossless pendulum" - give the system a small "push" and see if oscillations grow.</a:t>
            </a:r>
          </a:p>
          <a:p>
            <a:pPr marL="285750" indent="-285750" algn="just">
              <a:buFont typeface="Wingdings" panose="05000000000000000000" pitchFamily="2" charset="2"/>
              <a:buChar char="q"/>
            </a:pPr>
            <a:r>
              <a:rPr lang="en-US" sz="1600" b="1" i="0" dirty="0" smtClean="0">
                <a:solidFill>
                  <a:srgbClr val="00B050"/>
                </a:solidFill>
                <a:effectLst/>
                <a:latin typeface="fkGroteskNeue"/>
              </a:rPr>
              <a:t>Physical Meaning: </a:t>
            </a:r>
            <a:r>
              <a:rPr lang="en-US" sz="1600" b="0" i="0" dirty="0" smtClean="0">
                <a:effectLst/>
                <a:latin typeface="fkGroteskNeue"/>
              </a:rPr>
              <a:t>Start with energy stored somewhere (charged capacitor, current in inductor) and analyze if the energy transfer sustains or decays.</a:t>
            </a:r>
          </a:p>
          <a:p>
            <a:pPr marL="285750" indent="-285750" algn="just">
              <a:buFont typeface="Courier New" panose="02070309020205020404" pitchFamily="49" charset="0"/>
              <a:buChar char="o"/>
            </a:pPr>
            <a:endParaRPr lang="en-US" b="0" i="0" dirty="0" smtClean="0">
              <a:effectLst/>
              <a:latin typeface="fkGroteskNeue"/>
            </a:endParaRPr>
          </a:p>
          <a:p>
            <a:pPr algn="ctr"/>
            <a:r>
              <a:rPr lang="en-US" b="1" i="0" dirty="0" smtClean="0">
                <a:solidFill>
                  <a:srgbClr val="C00000"/>
                </a:solidFill>
                <a:effectLst/>
                <a:latin typeface="fkGrotesk"/>
              </a:rPr>
              <a:t>Method 3: Impedance/Admittance Analysis</a:t>
            </a:r>
          </a:p>
          <a:p>
            <a:pPr marL="285750" indent="-285750" algn="just">
              <a:buFont typeface="Wingdings" panose="05000000000000000000" pitchFamily="2" charset="2"/>
              <a:buChar char="q"/>
            </a:pPr>
            <a:endParaRPr lang="en-US" b="1" i="0" dirty="0" smtClean="0">
              <a:effectLst/>
              <a:latin typeface="fkGrotesk"/>
            </a:endParaRPr>
          </a:p>
          <a:p>
            <a:pPr marL="285750" indent="-285750" algn="just">
              <a:buFont typeface="Wingdings" panose="05000000000000000000" pitchFamily="2" charset="2"/>
              <a:buChar char="q"/>
            </a:pPr>
            <a:r>
              <a:rPr lang="en-US" sz="1600" b="1" i="0" dirty="0" smtClean="0">
                <a:solidFill>
                  <a:srgbClr val="00B050"/>
                </a:solidFill>
                <a:effectLst/>
                <a:latin typeface="fkGroteskNeue"/>
              </a:rPr>
              <a:t>Fundamental Concept: </a:t>
            </a:r>
            <a:r>
              <a:rPr lang="en-US" sz="1600" b="0" i="0" dirty="0" smtClean="0">
                <a:effectLst/>
                <a:latin typeface="fkGroteskNeue"/>
              </a:rPr>
              <a:t>Inject a test signal and find where impedance goes to infinity (or becomes negative).</a:t>
            </a:r>
          </a:p>
          <a:p>
            <a:pPr marL="285750" indent="-285750" algn="just">
              <a:buFont typeface="Wingdings" panose="05000000000000000000" pitchFamily="2" charset="2"/>
              <a:buChar char="q"/>
            </a:pPr>
            <a:r>
              <a:rPr lang="en-US" sz="1600" b="1" i="0" dirty="0" smtClean="0">
                <a:solidFill>
                  <a:srgbClr val="00B050"/>
                </a:solidFill>
                <a:effectLst/>
                <a:latin typeface="fkGroteskNeue"/>
              </a:rPr>
              <a:t>Intuitive Understanding: </a:t>
            </a:r>
            <a:r>
              <a:rPr lang="en-US" sz="1600" b="0" i="0" dirty="0" smtClean="0">
                <a:effectLst/>
                <a:latin typeface="fkGroteskNeue"/>
              </a:rPr>
              <a:t>When input impedance becomes infinite, it means the circuit can sustain voltage/current without external drive - this is oscillation</a:t>
            </a:r>
            <a:endParaRPr lang="en-US" sz="1600" b="0" i="0" dirty="0">
              <a:effectLst/>
              <a:latin typeface="fkGroteskNeue"/>
            </a:endParaRPr>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46938726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5908040" y="1178560"/>
            <a:ext cx="524256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60680" y="1168400"/>
            <a:ext cx="524256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Common Source (CS) Stage </a:t>
            </a:r>
            <a:r>
              <a:rPr lang="en-US" dirty="0" smtClean="0">
                <a:latin typeface="fkGrotesk"/>
              </a:rPr>
              <a:t>Analysis</a:t>
            </a:r>
            <a:endParaRPr lang="en-US" dirty="0"/>
          </a:p>
        </p:txBody>
      </p:sp>
      <p:sp>
        <p:nvSpPr>
          <p:cNvPr id="5" name="Date Placeholder 4"/>
          <p:cNvSpPr>
            <a:spLocks noGrp="1"/>
          </p:cNvSpPr>
          <p:nvPr>
            <p:ph type="dt" sz="half" idx="6"/>
          </p:nvPr>
        </p:nvSpPr>
        <p:spPr>
          <a:xfrm>
            <a:off x="12051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648A888-DFB9-4A10-B791-D3712969C37A}"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l="4145" t="5847" r="53056" b="12639"/>
          <a:stretch/>
        </p:blipFill>
        <p:spPr>
          <a:xfrm>
            <a:off x="3720655" y="1278065"/>
            <a:ext cx="1704786" cy="1693735"/>
          </a:xfrm>
          <a:prstGeom prst="rect">
            <a:avLst/>
          </a:prstGeom>
        </p:spPr>
      </p:pic>
      <p:sp>
        <p:nvSpPr>
          <p:cNvPr id="9" name="Rectangle 8"/>
          <p:cNvSpPr/>
          <p:nvPr/>
        </p:nvSpPr>
        <p:spPr>
          <a:xfrm>
            <a:off x="294138" y="5987464"/>
            <a:ext cx="11516413" cy="584775"/>
          </a:xfrm>
          <a:prstGeom prst="rect">
            <a:avLst/>
          </a:prstGeom>
        </p:spPr>
        <p:txBody>
          <a:bodyPr wrap="square">
            <a:spAutoFit/>
          </a:bodyPr>
          <a:lstStyle/>
          <a:p>
            <a:pPr marL="342900" lvl="0" indent="-342900" algn="just">
              <a:buFont typeface="Wingdings" panose="05000000000000000000" pitchFamily="2" charset="2"/>
              <a:buChar char="q"/>
            </a:pPr>
            <a:r>
              <a:rPr lang="en-US" sz="1600" b="1" kern="0" dirty="0" smtClean="0">
                <a:solidFill>
                  <a:prstClr val="black"/>
                </a:solidFill>
                <a:latin typeface="fkGroteskNeue"/>
              </a:rPr>
              <a:t>Insight</a:t>
            </a:r>
            <a:r>
              <a:rPr lang="en-US" sz="1600" b="1" kern="0" dirty="0">
                <a:solidFill>
                  <a:prstClr val="black"/>
                </a:solidFill>
                <a:latin typeface="fkGroteskNeue"/>
              </a:rPr>
              <a:t>: </a:t>
            </a:r>
            <a:r>
              <a:rPr lang="en-US" sz="1600" kern="0" dirty="0">
                <a:solidFill>
                  <a:prstClr val="black"/>
                </a:solidFill>
                <a:latin typeface="fkGroteskNeue"/>
              </a:rPr>
              <a:t>This demonstrates why </a:t>
            </a:r>
            <a:r>
              <a:rPr lang="en-US" sz="1600" b="1" kern="0" dirty="0">
                <a:solidFill>
                  <a:srgbClr val="C00000"/>
                </a:solidFill>
                <a:latin typeface="fkGroteskNeue"/>
              </a:rPr>
              <a:t>simple amplifier stages need additional phase-shifting networks</a:t>
            </a:r>
            <a:r>
              <a:rPr lang="en-US" sz="1600" kern="0" dirty="0">
                <a:solidFill>
                  <a:srgbClr val="C00000"/>
                </a:solidFill>
                <a:latin typeface="fkGroteskNeue"/>
              </a:rPr>
              <a:t> </a:t>
            </a:r>
            <a:r>
              <a:rPr lang="en-US" sz="1600" kern="0" dirty="0">
                <a:solidFill>
                  <a:prstClr val="black"/>
                </a:solidFill>
                <a:latin typeface="fkGroteskNeue"/>
              </a:rPr>
              <a:t>to become oscillators</a:t>
            </a:r>
          </a:p>
        </p:txBody>
      </p:sp>
      <p:sp>
        <p:nvSpPr>
          <p:cNvPr id="10" name="Rectangle 9"/>
          <p:cNvSpPr/>
          <p:nvPr/>
        </p:nvSpPr>
        <p:spPr>
          <a:xfrm>
            <a:off x="304800" y="3380214"/>
            <a:ext cx="11983720" cy="2369880"/>
          </a:xfrm>
          <a:prstGeom prst="rect">
            <a:avLst/>
          </a:prstGeom>
        </p:spPr>
        <p:txBody>
          <a:bodyPr wrap="square">
            <a:spAutoFit/>
          </a:bodyPr>
          <a:lstStyle/>
          <a:p>
            <a:pPr lvl="0" algn="ctr"/>
            <a:r>
              <a:rPr lang="en-US" sz="2000" b="1" kern="0" dirty="0">
                <a:solidFill>
                  <a:prstClr val="black"/>
                </a:solidFill>
                <a:latin typeface="fkGrotesk"/>
              </a:rPr>
              <a:t>Why This Circuit Cannot Oscillate:</a:t>
            </a:r>
          </a:p>
          <a:p>
            <a:r>
              <a:rPr lang="en-US" b="1" kern="0" dirty="0" smtClean="0">
                <a:solidFill>
                  <a:sysClr val="windowText" lastClr="000000"/>
                </a:solidFill>
                <a:latin typeface="fkGroteskNeue"/>
              </a:rPr>
              <a:t>Fundamental </a:t>
            </a:r>
            <a:r>
              <a:rPr lang="en-US" b="1" kern="0" dirty="0">
                <a:solidFill>
                  <a:sysClr val="windowText" lastClr="000000"/>
                </a:solidFill>
                <a:latin typeface="fkGroteskNeue"/>
              </a:rPr>
              <a:t>Issue: </a:t>
            </a:r>
            <a:r>
              <a:rPr lang="en-US" kern="0" dirty="0">
                <a:solidFill>
                  <a:sysClr val="windowText" lastClr="000000"/>
                </a:solidFill>
                <a:latin typeface="fkGroteskNeue"/>
              </a:rPr>
              <a:t>The CS stage only provides </a:t>
            </a:r>
            <a:r>
              <a:rPr lang="en-US" b="1" kern="0" dirty="0">
                <a:solidFill>
                  <a:sysClr val="windowText" lastClr="000000"/>
                </a:solidFill>
                <a:latin typeface="fkGroteskNeue"/>
              </a:rPr>
              <a:t>90° maximum phase shift</a:t>
            </a:r>
            <a:r>
              <a:rPr lang="en-US" kern="0" dirty="0">
                <a:solidFill>
                  <a:sysClr val="windowText" lastClr="000000"/>
                </a:solidFill>
                <a:latin typeface="fkGroteskNeue"/>
              </a:rPr>
              <a:t> at high frequencies, but oscillation requires </a:t>
            </a:r>
            <a:r>
              <a:rPr lang="en-US" b="1" kern="0" dirty="0">
                <a:solidFill>
                  <a:sysClr val="windowText" lastClr="000000"/>
                </a:solidFill>
                <a:latin typeface="fkGroteskNeue"/>
              </a:rPr>
              <a:t>180°.</a:t>
            </a:r>
          </a:p>
          <a:p>
            <a:pPr lvl="1"/>
            <a:endParaRPr lang="en-US" b="1" kern="0" dirty="0">
              <a:solidFill>
                <a:sysClr val="windowText" lastClr="000000"/>
              </a:solidFill>
              <a:latin typeface="fkGroteskNeue"/>
            </a:endParaRPr>
          </a:p>
          <a:p>
            <a:pPr lvl="0" algn="ctr"/>
            <a:r>
              <a:rPr lang="en-US" sz="2000" b="1" kern="0" dirty="0">
                <a:solidFill>
                  <a:prstClr val="black"/>
                </a:solidFill>
                <a:latin typeface="fkGroteskNeue"/>
              </a:rPr>
              <a:t>Mathematical Proof:</a:t>
            </a:r>
          </a:p>
          <a:p>
            <a:pPr marL="800100" lvl="1" indent="-342900">
              <a:buFont typeface="Wingdings" panose="05000000000000000000" pitchFamily="2" charset="2"/>
              <a:buChar char="q"/>
            </a:pPr>
            <a:r>
              <a:rPr lang="en-US" kern="0" dirty="0">
                <a:solidFill>
                  <a:sysClr val="windowText" lastClr="000000"/>
                </a:solidFill>
                <a:latin typeface="fkGroteskNeue"/>
              </a:rPr>
              <a:t>Transfer function: H(s) = g</a:t>
            </a:r>
            <a:r>
              <a:rPr lang="en-US" kern="0" baseline="-25000" dirty="0">
                <a:solidFill>
                  <a:sysClr val="windowText" lastClr="000000"/>
                </a:solidFill>
                <a:latin typeface="fkGroteskNeue"/>
              </a:rPr>
              <a:t>m</a:t>
            </a:r>
            <a:r>
              <a:rPr lang="en-US" kern="0" dirty="0">
                <a:solidFill>
                  <a:sysClr val="windowText" lastClr="000000"/>
                </a:solidFill>
                <a:latin typeface="fkGroteskNeue"/>
              </a:rPr>
              <a:t>(R</a:t>
            </a:r>
            <a:r>
              <a:rPr lang="en-US" kern="0" baseline="-25000" dirty="0">
                <a:solidFill>
                  <a:sysClr val="windowText" lastClr="000000"/>
                </a:solidFill>
                <a:latin typeface="fkGroteskNeue"/>
              </a:rPr>
              <a:t>D</a:t>
            </a:r>
            <a:r>
              <a:rPr lang="en-US" kern="0" dirty="0">
                <a:solidFill>
                  <a:sysClr val="windowText" lastClr="000000"/>
                </a:solidFill>
                <a:latin typeface="fkGroteskNeue"/>
              </a:rPr>
              <a:t> || 1/</a:t>
            </a:r>
            <a:r>
              <a:rPr lang="en-US" kern="0" dirty="0" err="1">
                <a:solidFill>
                  <a:sysClr val="windowText" lastClr="000000"/>
                </a:solidFill>
                <a:latin typeface="fkGroteskNeue"/>
              </a:rPr>
              <a:t>sC</a:t>
            </a:r>
            <a:r>
              <a:rPr lang="en-US" kern="0" baseline="-25000" dirty="0" err="1">
                <a:solidFill>
                  <a:sysClr val="windowText" lastClr="000000"/>
                </a:solidFill>
                <a:latin typeface="fkGroteskNeue"/>
              </a:rPr>
              <a:t>L</a:t>
            </a:r>
            <a:r>
              <a:rPr lang="en-US" kern="0" dirty="0">
                <a:solidFill>
                  <a:sysClr val="windowText" lastClr="000000"/>
                </a:solidFill>
                <a:latin typeface="fkGroteskNeue"/>
              </a:rPr>
              <a:t>) = </a:t>
            </a:r>
            <a:r>
              <a:rPr lang="en-US" kern="0" dirty="0" err="1">
                <a:solidFill>
                  <a:sysClr val="windowText" lastClr="000000"/>
                </a:solidFill>
                <a:latin typeface="fkGroteskNeue"/>
              </a:rPr>
              <a:t>g</a:t>
            </a:r>
            <a:r>
              <a:rPr lang="en-US" kern="0" baseline="-25000" dirty="0" err="1">
                <a:solidFill>
                  <a:sysClr val="windowText" lastClr="000000"/>
                </a:solidFill>
                <a:latin typeface="fkGroteskNeue"/>
              </a:rPr>
              <a:t>m</a:t>
            </a:r>
            <a:r>
              <a:rPr lang="en-US" kern="0" dirty="0" err="1">
                <a:solidFill>
                  <a:sysClr val="windowText" lastClr="000000"/>
                </a:solidFill>
                <a:latin typeface="fkGroteskNeue"/>
              </a:rPr>
              <a:t>R</a:t>
            </a:r>
            <a:r>
              <a:rPr lang="en-US" kern="0" baseline="-25000" dirty="0" err="1">
                <a:solidFill>
                  <a:sysClr val="windowText" lastClr="000000"/>
                </a:solidFill>
                <a:latin typeface="fkGroteskNeue"/>
              </a:rPr>
              <a:t>D</a:t>
            </a:r>
            <a:r>
              <a:rPr lang="en-US" kern="0" dirty="0">
                <a:solidFill>
                  <a:sysClr val="windowText" lastClr="000000"/>
                </a:solidFill>
                <a:latin typeface="fkGroteskNeue"/>
              </a:rPr>
              <a:t>/(1 + </a:t>
            </a:r>
            <a:r>
              <a:rPr lang="en-US" kern="0" dirty="0" err="1">
                <a:solidFill>
                  <a:sysClr val="windowText" lastClr="000000"/>
                </a:solidFill>
                <a:latin typeface="fkGroteskNeue"/>
              </a:rPr>
              <a:t>sR</a:t>
            </a:r>
            <a:r>
              <a:rPr lang="en-US" kern="0" baseline="-25000" dirty="0" err="1">
                <a:solidFill>
                  <a:sysClr val="windowText" lastClr="000000"/>
                </a:solidFill>
                <a:latin typeface="fkGroteskNeue"/>
              </a:rPr>
              <a:t>D</a:t>
            </a:r>
            <a:r>
              <a:rPr lang="en-US" kern="0" dirty="0" err="1">
                <a:solidFill>
                  <a:sysClr val="windowText" lastClr="000000"/>
                </a:solidFill>
                <a:latin typeface="fkGroteskNeue"/>
              </a:rPr>
              <a:t>C</a:t>
            </a:r>
            <a:r>
              <a:rPr lang="en-US" kern="0" baseline="-25000" dirty="0" err="1">
                <a:solidFill>
                  <a:sysClr val="windowText" lastClr="000000"/>
                </a:solidFill>
                <a:latin typeface="fkGroteskNeue"/>
              </a:rPr>
              <a:t>L</a:t>
            </a:r>
            <a:r>
              <a:rPr lang="en-US" kern="0" dirty="0">
                <a:solidFill>
                  <a:sysClr val="windowText" lastClr="000000"/>
                </a:solidFill>
                <a:latin typeface="fkGroteskNeue"/>
              </a:rPr>
              <a:t>)</a:t>
            </a:r>
          </a:p>
          <a:p>
            <a:pPr marL="800100" lvl="1" indent="-342900">
              <a:buFont typeface="Wingdings" panose="05000000000000000000" pitchFamily="2" charset="2"/>
              <a:buChar char="q"/>
            </a:pPr>
            <a:r>
              <a:rPr lang="en-US" kern="0" dirty="0">
                <a:solidFill>
                  <a:sysClr val="windowText" lastClr="000000"/>
                </a:solidFill>
                <a:latin typeface="fkGroteskNeue"/>
              </a:rPr>
              <a:t>This </a:t>
            </a:r>
            <a:r>
              <a:rPr lang="en-US" kern="0" dirty="0">
                <a:solidFill>
                  <a:srgbClr val="00B050"/>
                </a:solidFill>
                <a:latin typeface="fkGroteskNeue"/>
              </a:rPr>
              <a:t>single-pole system </a:t>
            </a:r>
            <a:r>
              <a:rPr lang="en-US" kern="0" dirty="0">
                <a:solidFill>
                  <a:sysClr val="windowText" lastClr="000000"/>
                </a:solidFill>
                <a:latin typeface="fkGroteskNeue"/>
              </a:rPr>
              <a:t>can only </a:t>
            </a:r>
            <a:r>
              <a:rPr lang="en-US" kern="0" dirty="0">
                <a:solidFill>
                  <a:srgbClr val="00B050"/>
                </a:solidFill>
                <a:latin typeface="fkGroteskNeue"/>
              </a:rPr>
              <a:t>contribute up to 90° phase shift</a:t>
            </a:r>
          </a:p>
          <a:p>
            <a:pPr marL="800100" lvl="1" indent="-342900">
              <a:buFont typeface="Wingdings" panose="05000000000000000000" pitchFamily="2" charset="2"/>
              <a:buChar char="q"/>
            </a:pPr>
            <a:r>
              <a:rPr lang="en-US" kern="0" dirty="0" err="1">
                <a:solidFill>
                  <a:srgbClr val="C00000"/>
                </a:solidFill>
                <a:latin typeface="fkGroteskNeue"/>
              </a:rPr>
              <a:t>Barkhausen</a:t>
            </a:r>
            <a:r>
              <a:rPr lang="en-US" kern="0" dirty="0">
                <a:solidFill>
                  <a:srgbClr val="C00000"/>
                </a:solidFill>
                <a:latin typeface="fkGroteskNeue"/>
              </a:rPr>
              <a:t> criterion requires 180° total, so oscillation is impossible</a:t>
            </a:r>
          </a:p>
        </p:txBody>
      </p:sp>
      <p:sp>
        <p:nvSpPr>
          <p:cNvPr id="11" name="Rectangle 10"/>
          <p:cNvSpPr/>
          <p:nvPr/>
        </p:nvSpPr>
        <p:spPr>
          <a:xfrm>
            <a:off x="355600" y="1403737"/>
            <a:ext cx="2783840" cy="1631216"/>
          </a:xfrm>
          <a:prstGeom prst="rect">
            <a:avLst/>
          </a:prstGeom>
        </p:spPr>
        <p:txBody>
          <a:bodyPr wrap="square">
            <a:spAutoFit/>
          </a:bodyPr>
          <a:lstStyle/>
          <a:p>
            <a:pPr lvl="0" algn="ctr"/>
            <a:r>
              <a:rPr lang="en-US" sz="2000" kern="0" dirty="0" smtClean="0">
                <a:solidFill>
                  <a:prstClr val="black"/>
                </a:solidFill>
                <a:latin typeface="fkGroteskNeue"/>
              </a:rPr>
              <a:t>A</a:t>
            </a:r>
            <a:r>
              <a:rPr lang="en-US" sz="2000" kern="0" dirty="0">
                <a:solidFill>
                  <a:prstClr val="black"/>
                </a:solidFill>
                <a:latin typeface="fkGroteskNeue"/>
              </a:rPr>
              <a:t> </a:t>
            </a:r>
            <a:r>
              <a:rPr lang="en-US" sz="2000" b="1" kern="0" dirty="0">
                <a:solidFill>
                  <a:prstClr val="black"/>
                </a:solidFill>
                <a:latin typeface="fkGroteskNeue"/>
              </a:rPr>
              <a:t>common-source MOSFET</a:t>
            </a:r>
            <a:r>
              <a:rPr lang="en-US" sz="2000" kern="0" dirty="0">
                <a:solidFill>
                  <a:prstClr val="black"/>
                </a:solidFill>
                <a:latin typeface="fkGroteskNeue"/>
              </a:rPr>
              <a:t> with feedback from drain to gate through a capacitor C</a:t>
            </a:r>
            <a:r>
              <a:rPr lang="en-US" sz="2000" kern="0" baseline="-25000" dirty="0">
                <a:solidFill>
                  <a:prstClr val="black"/>
                </a:solidFill>
                <a:latin typeface="fkGroteskNeue"/>
              </a:rPr>
              <a:t>L</a:t>
            </a:r>
            <a:r>
              <a:rPr lang="en-US" sz="2000" kern="0" dirty="0">
                <a:solidFill>
                  <a:prstClr val="black"/>
                </a:solidFill>
                <a:latin typeface="fkGroteskNeue"/>
              </a:rPr>
              <a:t>.</a:t>
            </a:r>
          </a:p>
        </p:txBody>
      </p:sp>
      <p:sp>
        <p:nvSpPr>
          <p:cNvPr id="13" name="Rectangle 12"/>
          <p:cNvSpPr/>
          <p:nvPr/>
        </p:nvSpPr>
        <p:spPr>
          <a:xfrm>
            <a:off x="8412480" y="1510417"/>
            <a:ext cx="2656840" cy="1323439"/>
          </a:xfrm>
          <a:prstGeom prst="rect">
            <a:avLst/>
          </a:prstGeom>
        </p:spPr>
        <p:txBody>
          <a:bodyPr wrap="square">
            <a:spAutoFit/>
          </a:bodyPr>
          <a:lstStyle/>
          <a:p>
            <a:pPr lvl="0" algn="ctr"/>
            <a:r>
              <a:rPr lang="en-US" sz="2000" kern="0" dirty="0">
                <a:solidFill>
                  <a:prstClr val="black"/>
                </a:solidFill>
                <a:latin typeface="fkGroteskNeue"/>
              </a:rPr>
              <a:t>Equivalent small-signal model showing </a:t>
            </a:r>
            <a:r>
              <a:rPr lang="en-US" sz="2000" kern="0" dirty="0" err="1">
                <a:solidFill>
                  <a:prstClr val="black"/>
                </a:solidFill>
                <a:latin typeface="fkGroteskNeue"/>
              </a:rPr>
              <a:t>transconductance</a:t>
            </a:r>
            <a:r>
              <a:rPr lang="en-US" sz="2000" kern="0" dirty="0">
                <a:solidFill>
                  <a:prstClr val="black"/>
                </a:solidFill>
                <a:latin typeface="fkGroteskNeue"/>
              </a:rPr>
              <a:t> gm and load capacitor.</a:t>
            </a:r>
          </a:p>
        </p:txBody>
      </p:sp>
      <p:pic>
        <p:nvPicPr>
          <p:cNvPr id="16" name="Picture 15"/>
          <p:cNvPicPr>
            <a:picLocks noChangeAspect="1"/>
          </p:cNvPicPr>
          <p:nvPr/>
        </p:nvPicPr>
        <p:blipFill rotWithShape="1">
          <a:blip r:embed="rId2">
            <a:duotone>
              <a:prstClr val="black"/>
              <a:schemeClr val="bg1">
                <a:lumMod val="65000"/>
                <a:tint val="45000"/>
                <a:satMod val="400000"/>
              </a:schemeClr>
            </a:duotone>
          </a:blip>
          <a:srcRect l="53703" t="5847" b="12639"/>
          <a:stretch/>
        </p:blipFill>
        <p:spPr>
          <a:xfrm>
            <a:off x="6162040" y="1227265"/>
            <a:ext cx="1844115" cy="1693735"/>
          </a:xfrm>
          <a:prstGeom prst="rect">
            <a:avLst/>
          </a:prstGeom>
        </p:spPr>
      </p:pic>
      <p:sp>
        <p:nvSpPr>
          <p:cNvPr id="1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9704378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6441440" y="4231640"/>
            <a:ext cx="5415280" cy="14681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72440" y="4262120"/>
            <a:ext cx="5415280" cy="133604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89280" y="1661160"/>
            <a:ext cx="1069340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986790" y="1987753"/>
                <a:ext cx="6951913" cy="923330"/>
              </a:xfrm>
            </p:spPr>
            <p:txBody>
              <a:bodyPr/>
              <a:lstStyle/>
              <a:p>
                <a:pPr marL="342900" marR="0" lvl="0" indent="-342900">
                  <a:buFont typeface="Wingdings" panose="05000000000000000000" pitchFamily="2" charset="2"/>
                  <a:buChar char="q"/>
                  <a:tabLst>
                    <a:tab pos="571500" algn="l"/>
                  </a:tabLst>
                </a:pPr>
                <a:r>
                  <a:rPr lang="en-US" dirty="0" smtClean="0">
                    <a:solidFill>
                      <a:srgbClr val="000000"/>
                    </a:solidFill>
                    <a:latin typeface="inter"/>
                    <a:ea typeface="inter"/>
                    <a:cs typeface="inter"/>
                  </a:rPr>
                  <a:t>Input </a:t>
                </a:r>
                <a:r>
                  <a:rPr lang="en-US" dirty="0" err="1">
                    <a:solidFill>
                      <a:srgbClr val="000000"/>
                    </a:solidFill>
                    <a:latin typeface="inter"/>
                    <a:ea typeface="inter"/>
                    <a:cs typeface="inter"/>
                  </a:rPr>
                  <a:t>transconductance</a:t>
                </a:r>
                <a:r>
                  <a:rPr lang="en-US" dirty="0">
                    <a:solidFill>
                      <a:srgbClr val="000000"/>
                    </a:solidFill>
                    <a:latin typeface="inter"/>
                    <a:ea typeface="inter"/>
                    <a:cs typeface="inter"/>
                  </a:rPr>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dirty="0">
                    <a:solidFill>
                      <a:srgbClr val="000000"/>
                    </a:solidFill>
                    <a:latin typeface="inter"/>
                    <a:ea typeface="inter"/>
                    <a:cs typeface="inter"/>
                  </a:rPr>
                  <a:t>Load: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(or 1/</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n-US" dirty="0">
                    <a:solidFill>
                      <a:srgbClr val="000000"/>
                    </a:solidFill>
                    <a:latin typeface="inter"/>
                    <a:ea typeface="inter"/>
                    <a:cs typeface="inter"/>
                  </a:rPr>
                  <a:t> for a diode-connected transistor)</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dirty="0">
                    <a:solidFill>
                      <a:srgbClr val="000000"/>
                    </a:solidFill>
                    <a:latin typeface="inter"/>
                    <a:ea typeface="inter"/>
                    <a:cs typeface="inter"/>
                  </a:rPr>
                  <a:t>Output capacitance: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986790" y="1987753"/>
                <a:ext cx="6951913" cy="923330"/>
              </a:xfrm>
              <a:blipFill>
                <a:blip r:embed="rId2"/>
                <a:stretch>
                  <a:fillRect l="-2105" t="-8553" b="-15789"/>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A5A0497-5862-4688-99B3-38CD0711ECA4}"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9" name="Rectangle 8"/>
              <p:cNvSpPr/>
              <p:nvPr/>
            </p:nvSpPr>
            <p:spPr>
              <a:xfrm>
                <a:off x="6634480" y="3642495"/>
                <a:ext cx="5201920" cy="2085507"/>
              </a:xfrm>
              <a:prstGeom prst="rect">
                <a:avLst/>
              </a:prstGeom>
            </p:spPr>
            <p:txBody>
              <a:bodyPr wrap="square">
                <a:spAutoFit/>
              </a:bodyPr>
              <a:lstStyle/>
              <a:p>
                <a:pPr lvl="0" algn="ctr"/>
                <a:r>
                  <a:rPr lang="en-US" sz="2000" b="1" kern="0" dirty="0">
                    <a:solidFill>
                      <a:srgbClr val="C00000"/>
                    </a:solidFill>
                    <a:latin typeface="inter"/>
                    <a:ea typeface="inter"/>
                    <a:cs typeface="inter"/>
                  </a:rPr>
                  <a:t>High-Frequency Behavior</a:t>
                </a:r>
                <a:r>
                  <a:rPr lang="en-US" sz="2000" b="1" kern="0" dirty="0" smtClean="0">
                    <a:solidFill>
                      <a:srgbClr val="C00000"/>
                    </a:solidFill>
                    <a:latin typeface="inter"/>
                    <a:ea typeface="inter"/>
                    <a:cs typeface="inter"/>
                  </a:rPr>
                  <a:t>:</a:t>
                </a:r>
              </a:p>
              <a:p>
                <a:pPr lvl="0" algn="ct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2000" kern="0" dirty="0">
                    <a:solidFill>
                      <a:srgbClr val="000000"/>
                    </a:solidFill>
                    <a:latin typeface="inter"/>
                    <a:ea typeface="inter"/>
                    <a:cs typeface="inter"/>
                  </a:rPr>
                  <a:t>At </a:t>
                </a:r>
                <a14:m>
                  <m:oMath xmlns:m="http://schemas.openxmlformats.org/officeDocument/2006/math">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2000" kern="0" dirty="0">
                    <a:solidFill>
                      <a:srgbClr val="000000"/>
                    </a:solidFill>
                    <a:latin typeface="inter"/>
                    <a:ea typeface="inter"/>
                    <a:cs typeface="inter"/>
                  </a:rPr>
                  <a:t>:</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2000" kern="0" dirty="0" smtClean="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200" kern="0" dirty="0">
                    <a:solidFill>
                      <a:srgbClr val="000000"/>
                    </a:solidFill>
                    <a:latin typeface="inter"/>
                    <a:ea typeface="inter"/>
                    <a:cs typeface="inter"/>
                  </a:rPr>
                  <a:t>The magnitude decreases at –20 dB/decade (integrator characteristic).</a:t>
                </a:r>
                <a:endParaRPr lang="en-US" sz="12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634480" y="3642495"/>
                <a:ext cx="5201920" cy="2085507"/>
              </a:xfrm>
              <a:prstGeom prst="rect">
                <a:avLst/>
              </a:prstGeom>
              <a:blipFill>
                <a:blip r:embed="rId3"/>
                <a:stretch>
                  <a:fillRect l="-1171" t="-1462" b="-11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472440" y="3783578"/>
                <a:ext cx="5521960" cy="1538883"/>
              </a:xfrm>
              <a:prstGeom prst="rect">
                <a:avLst/>
              </a:prstGeom>
            </p:spPr>
            <p:txBody>
              <a:bodyPr wrap="square">
                <a:spAutoFit/>
              </a:bodyPr>
              <a:lstStyle/>
              <a:p>
                <a:pPr lvl="0" algn="ctr"/>
                <a:r>
                  <a:rPr lang="en-US" sz="2000" b="1" kern="0" dirty="0">
                    <a:solidFill>
                      <a:srgbClr val="C00000"/>
                    </a:solidFill>
                    <a:latin typeface="inter"/>
                    <a:ea typeface="inter"/>
                    <a:cs typeface="inter"/>
                  </a:rPr>
                  <a:t>Low-Frequency Behavior</a:t>
                </a:r>
                <a:r>
                  <a:rPr lang="en-US" sz="2000" b="1" kern="0" dirty="0" smtClean="0">
                    <a:solidFill>
                      <a:srgbClr val="C00000"/>
                    </a:solidFill>
                    <a:latin typeface="inter"/>
                    <a:ea typeface="inter"/>
                    <a:cs typeface="inter"/>
                  </a:rPr>
                  <a:t>:</a:t>
                </a:r>
              </a:p>
              <a:p>
                <a:pPr lvl="0"/>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m:oMathPara>
                </a14:m>
                <a:endParaRPr lang="en-US" sz="2000" kern="0" dirty="0" smtClean="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(DC gain is the product of </a:t>
                </a:r>
                <a:r>
                  <a:rPr lang="en-US" sz="1400" kern="0" dirty="0" err="1">
                    <a:solidFill>
                      <a:srgbClr val="000000"/>
                    </a:solidFill>
                    <a:latin typeface="inter"/>
                    <a:ea typeface="inter"/>
                    <a:cs typeface="inter"/>
                  </a:rPr>
                  <a:t>transconductance</a:t>
                </a:r>
                <a:r>
                  <a:rPr lang="en-US" sz="1400" kern="0" dirty="0">
                    <a:solidFill>
                      <a:srgbClr val="000000"/>
                    </a:solidFill>
                    <a:latin typeface="inter"/>
                    <a:ea typeface="inter"/>
                    <a:cs typeface="inter"/>
                  </a:rPr>
                  <a:t> and load resistance)</a:t>
                </a:r>
              </a:p>
            </p:txBody>
          </p:sp>
        </mc:Choice>
        <mc:Fallback xmlns="">
          <p:sp>
            <p:nvSpPr>
              <p:cNvPr id="11" name="Rectangle 10"/>
              <p:cNvSpPr>
                <a:spLocks noRot="1" noChangeAspect="1" noMove="1" noResize="1" noEditPoints="1" noAdjustHandles="1" noChangeArrowheads="1" noChangeShapeType="1" noTextEdit="1"/>
              </p:cNvSpPr>
              <p:nvPr/>
            </p:nvSpPr>
            <p:spPr>
              <a:xfrm>
                <a:off x="472440" y="3783578"/>
                <a:ext cx="5521960" cy="1538883"/>
              </a:xfrm>
              <a:prstGeom prst="rect">
                <a:avLst/>
              </a:prstGeom>
              <a:blipFill>
                <a:blip r:embed="rId4"/>
                <a:stretch>
                  <a:fillRect l="-331" t="-1984" b="-3175"/>
                </a:stretch>
              </a:blipFill>
            </p:spPr>
            <p:txBody>
              <a:bodyPr/>
              <a:lstStyle/>
              <a:p>
                <a:r>
                  <a:rPr lang="en-US">
                    <a:noFill/>
                  </a:rPr>
                  <a:t> </a:t>
                </a:r>
              </a:p>
            </p:txBody>
          </p:sp>
        </mc:Fallback>
      </mc:AlternateContent>
      <p:sp>
        <p:nvSpPr>
          <p:cNvPr id="12" name="Rectangle 11"/>
          <p:cNvSpPr/>
          <p:nvPr/>
        </p:nvSpPr>
        <p:spPr>
          <a:xfrm>
            <a:off x="4394171" y="1156305"/>
            <a:ext cx="3414717" cy="400110"/>
          </a:xfrm>
          <a:prstGeom prst="rect">
            <a:avLst/>
          </a:prstGeom>
        </p:spPr>
        <p:txBody>
          <a:bodyPr wrap="none">
            <a:spAutoFit/>
          </a:bodyPr>
          <a:lstStyle/>
          <a:p>
            <a:pPr lvl="0"/>
            <a:r>
              <a:rPr lang="en-US" sz="2000" b="1" kern="0" dirty="0">
                <a:solidFill>
                  <a:srgbClr val="C00000"/>
                </a:solidFill>
                <a:latin typeface="inter"/>
                <a:ea typeface="inter"/>
                <a:cs typeface="inter"/>
              </a:rPr>
              <a:t>Simplifies the CS stage to:</a:t>
            </a:r>
          </a:p>
        </p:txBody>
      </p:sp>
      <p:pic>
        <p:nvPicPr>
          <p:cNvPr id="15" name="Picture 14"/>
          <p:cNvPicPr>
            <a:picLocks noChangeAspect="1"/>
          </p:cNvPicPr>
          <p:nvPr/>
        </p:nvPicPr>
        <p:blipFill rotWithShape="1">
          <a:blip r:embed="rId5">
            <a:duotone>
              <a:prstClr val="black"/>
              <a:schemeClr val="bg1">
                <a:lumMod val="65000"/>
                <a:tint val="45000"/>
                <a:satMod val="400000"/>
              </a:schemeClr>
            </a:duotone>
          </a:blip>
          <a:srcRect l="53703" t="5847" b="12639"/>
          <a:stretch/>
        </p:blipFill>
        <p:spPr>
          <a:xfrm>
            <a:off x="9215120" y="1720025"/>
            <a:ext cx="1844115" cy="1693735"/>
          </a:xfrm>
          <a:prstGeom prst="rect">
            <a:avLst/>
          </a:prstGeom>
        </p:spPr>
      </p:pic>
      <p:sp>
        <p:nvSpPr>
          <p:cNvPr id="1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931388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6146358" y="5414478"/>
            <a:ext cx="5279666" cy="90018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06841" y="5444958"/>
            <a:ext cx="4825117" cy="90018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281530" y="3320634"/>
            <a:ext cx="5125372" cy="16315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01349" y="3373162"/>
            <a:ext cx="5503103" cy="162080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289482" y="1468163"/>
            <a:ext cx="5122858" cy="16315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326818" y="1480590"/>
            <a:ext cx="5469683" cy="16315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991850" cy="523220"/>
          </a:xfrm>
        </p:spPr>
        <p:txBody>
          <a:bodyPr/>
          <a:lstStyle/>
          <a:p>
            <a:pPr algn="l"/>
            <a:r>
              <a:rPr lang="en-US" dirty="0"/>
              <a:t>Adding Delay for </a:t>
            </a:r>
            <a:r>
              <a:rPr lang="en-US" dirty="0" smtClean="0"/>
              <a:t>Oscillation </a:t>
            </a:r>
            <a:r>
              <a:rPr lang="en-US" dirty="0" smtClean="0">
                <a:latin typeface="fkGrotesk"/>
              </a:rPr>
              <a:t>The </a:t>
            </a:r>
            <a:r>
              <a:rPr lang="en-US" dirty="0">
                <a:latin typeface="fkGrotesk"/>
              </a:rPr>
              <a:t>Delay Line Solution</a:t>
            </a:r>
            <a:r>
              <a:rPr lang="en-US" dirty="0" smtClean="0">
                <a:latin typeface="fkGrotesk"/>
              </a:rPr>
              <a:t>:</a:t>
            </a:r>
            <a:endParaRPr lang="en-US" dirty="0"/>
          </a:p>
        </p:txBody>
      </p:sp>
      <p:sp>
        <p:nvSpPr>
          <p:cNvPr id="3" name="Text Placeholder 2"/>
          <p:cNvSpPr>
            <a:spLocks noGrp="1"/>
          </p:cNvSpPr>
          <p:nvPr>
            <p:ph type="body" idx="1"/>
          </p:nvPr>
        </p:nvSpPr>
        <p:spPr>
          <a:xfrm>
            <a:off x="69411" y="5097994"/>
            <a:ext cx="5742940" cy="1384995"/>
          </a:xfrm>
        </p:spPr>
        <p:txBody>
          <a:bodyPr/>
          <a:lstStyle/>
          <a:p>
            <a:pPr algn="ctr"/>
            <a:r>
              <a:rPr lang="en-US" sz="1600" b="1" dirty="0" smtClean="0">
                <a:solidFill>
                  <a:srgbClr val="C00000"/>
                </a:solidFill>
                <a:latin typeface="fkGrotesk"/>
              </a:rPr>
              <a:t>Mathematical </a:t>
            </a:r>
            <a:r>
              <a:rPr lang="en-US" sz="1600" b="1" dirty="0">
                <a:solidFill>
                  <a:srgbClr val="C00000"/>
                </a:solidFill>
                <a:latin typeface="fkGrotesk"/>
              </a:rPr>
              <a:t>Results</a:t>
            </a:r>
            <a:r>
              <a:rPr lang="en-US" sz="1600" b="1" dirty="0" smtClean="0">
                <a:solidFill>
                  <a:srgbClr val="C00000"/>
                </a:solidFill>
                <a:latin typeface="fkGrotesk"/>
              </a:rPr>
              <a:t>:</a:t>
            </a:r>
          </a:p>
          <a:p>
            <a:pPr algn="ctr"/>
            <a:endParaRPr lang="en-US" sz="1600" b="1" dirty="0">
              <a:latin typeface="fkGrotesk"/>
            </a:endParaRPr>
          </a:p>
          <a:p>
            <a:pPr marL="800100" lvl="1" indent="-342900" algn="l">
              <a:buFont typeface="Wingdings" panose="05000000000000000000" pitchFamily="2" charset="2"/>
              <a:buChar char="q"/>
            </a:pPr>
            <a:r>
              <a:rPr lang="en-US" sz="1400" b="1" dirty="0">
                <a:latin typeface="fkGroteskNeue"/>
              </a:rPr>
              <a:t>Startup Condition: </a:t>
            </a:r>
            <a:r>
              <a:rPr lang="en-US" sz="1400" dirty="0" err="1">
                <a:latin typeface="fkGroteskNeue"/>
              </a:rPr>
              <a:t>g</a:t>
            </a:r>
            <a:r>
              <a:rPr lang="en-US" sz="1400" baseline="-25000" dirty="0" err="1">
                <a:latin typeface="fkGroteskNeue"/>
              </a:rPr>
              <a:t>m</a:t>
            </a:r>
            <a:r>
              <a:rPr lang="en-US" sz="1400" dirty="0" err="1">
                <a:latin typeface="fkGroteskNeue"/>
              </a:rPr>
              <a:t>R</a:t>
            </a:r>
            <a:r>
              <a:rPr lang="en-US" sz="1400" baseline="-25000" dirty="0" err="1">
                <a:latin typeface="fkGroteskNeue"/>
              </a:rPr>
              <a:t>D</a:t>
            </a:r>
            <a:r>
              <a:rPr lang="en-US" sz="1400" dirty="0">
                <a:latin typeface="fkGroteskNeue"/>
              </a:rPr>
              <a:t> = 1 (unity loop </a:t>
            </a:r>
            <a:r>
              <a:rPr lang="en-US" sz="1400" dirty="0" smtClean="0">
                <a:latin typeface="fkGroteskNeue"/>
              </a:rPr>
              <a:t>gain)</a:t>
            </a:r>
          </a:p>
          <a:p>
            <a:pPr marL="800100" lvl="1" indent="-342900" algn="l">
              <a:buFont typeface="Wingdings" panose="05000000000000000000" pitchFamily="2" charset="2"/>
              <a:buChar char="q"/>
            </a:pPr>
            <a:r>
              <a:rPr lang="en-US" sz="1400" b="1" dirty="0" smtClean="0">
                <a:latin typeface="fkGroteskNeue"/>
              </a:rPr>
              <a:t>Frequency </a:t>
            </a:r>
            <a:r>
              <a:rPr lang="en-US" sz="1400" b="1" dirty="0">
                <a:latin typeface="fkGroteskNeue"/>
              </a:rPr>
              <a:t>Condition: </a:t>
            </a:r>
            <a:r>
              <a:rPr lang="el-GR" sz="1400" dirty="0">
                <a:latin typeface="fkGroteskNeue"/>
              </a:rPr>
              <a:t>ω₀Δ</a:t>
            </a:r>
            <a:r>
              <a:rPr lang="en-US" sz="1400" dirty="0">
                <a:latin typeface="fkGroteskNeue"/>
              </a:rPr>
              <a:t>T = </a:t>
            </a:r>
            <a:r>
              <a:rPr lang="el-GR" sz="1400" dirty="0">
                <a:latin typeface="fkGroteskNeue"/>
              </a:rPr>
              <a:t>π, </a:t>
            </a:r>
            <a:r>
              <a:rPr lang="en-US" sz="1400" dirty="0">
                <a:latin typeface="fkGroteskNeue"/>
              </a:rPr>
              <a:t>giving f₀ = 1/(2</a:t>
            </a:r>
            <a:r>
              <a:rPr lang="el-GR" sz="1400" dirty="0">
                <a:latin typeface="fkGroteskNeue"/>
              </a:rPr>
              <a:t>Δ</a:t>
            </a:r>
            <a:r>
              <a:rPr lang="en-US" sz="1400" dirty="0" smtClean="0">
                <a:latin typeface="fkGroteskNeue"/>
              </a:rPr>
              <a:t>T)</a:t>
            </a:r>
          </a:p>
          <a:p>
            <a:pPr marL="800100" lvl="1" indent="-342900" algn="l">
              <a:buFont typeface="Wingdings" panose="05000000000000000000" pitchFamily="2" charset="2"/>
              <a:buChar char="q"/>
            </a:pPr>
            <a:r>
              <a:rPr lang="en-US" sz="1400" b="1" dirty="0" smtClean="0">
                <a:latin typeface="fkGroteskNeue"/>
              </a:rPr>
              <a:t>Oscillation </a:t>
            </a:r>
            <a:r>
              <a:rPr lang="en-US" sz="1400" b="1" dirty="0">
                <a:latin typeface="fkGroteskNeue"/>
              </a:rPr>
              <a:t>Period: </a:t>
            </a:r>
            <a:r>
              <a:rPr lang="en-US" sz="1400" dirty="0">
                <a:latin typeface="fkGroteskNeue"/>
              </a:rPr>
              <a:t>T = 2</a:t>
            </a:r>
            <a:r>
              <a:rPr lang="el-GR" sz="1400" dirty="0">
                <a:latin typeface="fkGroteskNeue"/>
              </a:rPr>
              <a:t>Δ</a:t>
            </a:r>
            <a:r>
              <a:rPr lang="en-US" sz="1400" dirty="0">
                <a:latin typeface="fkGroteskNeue"/>
              </a:rPr>
              <a:t>T (twice the delay time)</a:t>
            </a:r>
          </a:p>
          <a:p>
            <a:pPr algn="l"/>
            <a:endParaRPr lang="en-US" sz="1600" dirty="0"/>
          </a:p>
        </p:txBody>
      </p:sp>
      <p:sp>
        <p:nvSpPr>
          <p:cNvPr id="6" name="Slide Number Placeholder 5"/>
          <p:cNvSpPr>
            <a:spLocks noGrp="1"/>
          </p:cNvSpPr>
          <p:nvPr>
            <p:ph type="sldNum" sz="quarter" idx="7"/>
          </p:nvPr>
        </p:nvSpPr>
        <p:spPr>
          <a:xfrm>
            <a:off x="11080209" y="6419152"/>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r="84571" b="15411"/>
          <a:stretch/>
        </p:blipFill>
        <p:spPr>
          <a:xfrm>
            <a:off x="4770034" y="1642132"/>
            <a:ext cx="964153" cy="1326809"/>
          </a:xfrm>
          <a:prstGeom prst="rect">
            <a:avLst/>
          </a:prstGeom>
        </p:spPr>
      </p:pic>
      <p:pic>
        <p:nvPicPr>
          <p:cNvPr id="9" name="Picture 8"/>
          <p:cNvPicPr>
            <a:picLocks noChangeAspect="1"/>
          </p:cNvPicPr>
          <p:nvPr/>
        </p:nvPicPr>
        <p:blipFill rotWithShape="1">
          <a:blip r:embed="rId2">
            <a:duotone>
              <a:prstClr val="black"/>
              <a:schemeClr val="bg1">
                <a:lumMod val="65000"/>
                <a:tint val="45000"/>
                <a:satMod val="400000"/>
              </a:schemeClr>
            </a:duotone>
          </a:blip>
          <a:srcRect l="48645" t="6926" r="28293" b="13260"/>
          <a:stretch/>
        </p:blipFill>
        <p:spPr>
          <a:xfrm>
            <a:off x="4175655" y="3550378"/>
            <a:ext cx="1441106" cy="1251903"/>
          </a:xfrm>
          <a:prstGeom prst="rect">
            <a:avLst/>
          </a:prstGeom>
        </p:spPr>
      </p:pic>
      <mc:AlternateContent xmlns:mc="http://schemas.openxmlformats.org/markup-compatibility/2006">
        <mc:Choice xmlns:a14="http://schemas.microsoft.com/office/drawing/2010/main" Requires="a14">
          <p:sp>
            <p:nvSpPr>
              <p:cNvPr id="4" name="Rectangle 3"/>
              <p:cNvSpPr/>
              <p:nvPr/>
            </p:nvSpPr>
            <p:spPr>
              <a:xfrm>
                <a:off x="6128078" y="5084761"/>
                <a:ext cx="5319786" cy="1125949"/>
              </a:xfrm>
              <a:prstGeom prst="rect">
                <a:avLst/>
              </a:prstGeom>
            </p:spPr>
            <p:txBody>
              <a:bodyPr wrap="square">
                <a:spAutoFit/>
              </a:bodyPr>
              <a:lstStyle/>
              <a:p>
                <a:pPr algn="ctr">
                  <a:spcAft>
                    <a:spcPts val="1050"/>
                  </a:spcAft>
                </a:pPr>
                <a:r>
                  <a:rPr lang="en-US" sz="1600" b="1" dirty="0">
                    <a:solidFill>
                      <a:srgbClr val="C00000"/>
                    </a:solidFill>
                    <a:latin typeface="inter"/>
                    <a:ea typeface="inter"/>
                    <a:cs typeface="inter"/>
                  </a:rPr>
                  <a:t>Designer Insight:</a:t>
                </a:r>
                <a:endParaRPr lang="en-US" sz="16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sz="1400" dirty="0">
                    <a:solidFill>
                      <a:srgbClr val="000000"/>
                    </a:solidFill>
                    <a:effectLst/>
                    <a:latin typeface="inter"/>
                    <a:ea typeface="inter"/>
                    <a:cs typeface="inter"/>
                  </a:rPr>
                  <a:t>The delay </a:t>
                </a:r>
                <a14:m>
                  <m:oMath xmlns:m="http://schemas.openxmlformats.org/officeDocument/2006/math">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oMath>
                </a14:m>
                <a:r>
                  <a:rPr lang="en-US" sz="1400" dirty="0">
                    <a:solidFill>
                      <a:srgbClr val="000000"/>
                    </a:solidFill>
                    <a:effectLst/>
                    <a:latin typeface="inter"/>
                    <a:ea typeface="inter"/>
                    <a:cs typeface="inter"/>
                  </a:rPr>
                  <a:t> is the primary frequency-determining element. By controlling delay (through RC time constants or explicit delay-line length), the designer directly sets the oscillation frequency.</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4" name="Rectangle 3"/>
              <p:cNvSpPr>
                <a:spLocks noRot="1" noChangeAspect="1" noMove="1" noResize="1" noEditPoints="1" noAdjustHandles="1" noChangeArrowheads="1" noChangeShapeType="1" noTextEdit="1"/>
              </p:cNvSpPr>
              <p:nvPr/>
            </p:nvSpPr>
            <p:spPr>
              <a:xfrm>
                <a:off x="6128078" y="5084761"/>
                <a:ext cx="5319786" cy="1125949"/>
              </a:xfrm>
              <a:prstGeom prst="rect">
                <a:avLst/>
              </a:prstGeom>
              <a:blipFill>
                <a:blip r:embed="rId3"/>
                <a:stretch>
                  <a:fillRect l="-344" t="-1622" r="-229" b="-4865"/>
                </a:stretch>
              </a:blipFill>
            </p:spPr>
            <p:txBody>
              <a:bodyPr/>
              <a:lstStyle/>
              <a:p>
                <a:r>
                  <a:rPr lang="en-US">
                    <a:noFill/>
                  </a:rPr>
                  <a:t> </a:t>
                </a:r>
              </a:p>
            </p:txBody>
          </p:sp>
        </mc:Fallback>
      </mc:AlternateContent>
      <p:sp>
        <p:nvSpPr>
          <p:cNvPr id="5" name="Rectangle 4"/>
          <p:cNvSpPr/>
          <p:nvPr/>
        </p:nvSpPr>
        <p:spPr>
          <a:xfrm>
            <a:off x="274037" y="1508492"/>
            <a:ext cx="4536440" cy="1600438"/>
          </a:xfrm>
          <a:prstGeom prst="rect">
            <a:avLst/>
          </a:prstGeom>
        </p:spPr>
        <p:txBody>
          <a:bodyPr wrap="square">
            <a:spAutoFit/>
          </a:bodyPr>
          <a:lstStyle/>
          <a:p>
            <a:pPr algn="ctr"/>
            <a:r>
              <a:rPr lang="en-US" sz="1200" b="1" dirty="0">
                <a:solidFill>
                  <a:srgbClr val="C00000"/>
                </a:solidFill>
                <a:latin typeface="T3Font_128"/>
              </a:rPr>
              <a:t>CS stage with a feedback delay line</a:t>
            </a:r>
            <a:endParaRPr lang="en-US" sz="1200" b="1" kern="0" dirty="0" smtClean="0">
              <a:solidFill>
                <a:srgbClr val="C00000"/>
              </a:solidFill>
              <a:latin typeface="fkGroteskNeue"/>
            </a:endParaRPr>
          </a:p>
          <a:p>
            <a:pPr algn="ctr"/>
            <a:r>
              <a:rPr lang="en-US" sz="1200" kern="0" dirty="0" smtClean="0">
                <a:solidFill>
                  <a:sysClr val="windowText" lastClr="000000"/>
                </a:solidFill>
                <a:latin typeface="fkGroteskNeue"/>
              </a:rPr>
              <a:t>Shows </a:t>
            </a:r>
            <a:r>
              <a:rPr lang="en-US" sz="1200" kern="0" dirty="0">
                <a:solidFill>
                  <a:sysClr val="windowText" lastClr="000000"/>
                </a:solidFill>
                <a:latin typeface="fkGroteskNeue"/>
              </a:rPr>
              <a:t>the same CS stage with an </a:t>
            </a:r>
            <a:r>
              <a:rPr lang="en-US" sz="1200" b="1" kern="0" dirty="0">
                <a:solidFill>
                  <a:sysClr val="windowText" lastClr="000000"/>
                </a:solidFill>
                <a:latin typeface="fkGroteskNeue"/>
              </a:rPr>
              <a:t>additional delay element </a:t>
            </a:r>
            <a:r>
              <a:rPr lang="el-GR" sz="1200" b="1" kern="0" dirty="0">
                <a:solidFill>
                  <a:sysClr val="windowText" lastClr="000000"/>
                </a:solidFill>
                <a:latin typeface="fkGroteskNeue"/>
              </a:rPr>
              <a:t>Δ</a:t>
            </a:r>
            <a:r>
              <a:rPr lang="en-US" sz="1200" b="1" kern="0" dirty="0">
                <a:solidFill>
                  <a:sysClr val="windowText" lastClr="000000"/>
                </a:solidFill>
                <a:latin typeface="fkGroteskNeue"/>
              </a:rPr>
              <a:t>T.</a:t>
            </a:r>
          </a:p>
          <a:p>
            <a:pPr lvl="0" algn="ctr"/>
            <a:r>
              <a:rPr lang="en-US" sz="1400" b="1" kern="0" dirty="0">
                <a:solidFill>
                  <a:prstClr val="black"/>
                </a:solidFill>
                <a:latin typeface="fkGroteskNeue"/>
              </a:rPr>
              <a:t>Why Delay Works:</a:t>
            </a:r>
          </a:p>
          <a:p>
            <a:pPr marL="342900" indent="-342900">
              <a:buFont typeface="Wingdings" panose="05000000000000000000" pitchFamily="2" charset="2"/>
              <a:buChar char="q"/>
            </a:pPr>
            <a:r>
              <a:rPr lang="en-US" sz="1200" kern="0" dirty="0">
                <a:solidFill>
                  <a:sysClr val="windowText" lastClr="000000"/>
                </a:solidFill>
                <a:latin typeface="fkGroteskNeue"/>
              </a:rPr>
              <a:t>Delay creates </a:t>
            </a:r>
            <a:r>
              <a:rPr lang="en-US" sz="1200" b="1" kern="0" dirty="0">
                <a:solidFill>
                  <a:sysClr val="windowText" lastClr="000000"/>
                </a:solidFill>
                <a:latin typeface="fkGroteskNeue"/>
              </a:rPr>
              <a:t>frequency-dependent phase shift</a:t>
            </a:r>
            <a:r>
              <a:rPr lang="en-US" sz="1200" kern="0" dirty="0">
                <a:solidFill>
                  <a:sysClr val="windowText" lastClr="000000"/>
                </a:solidFill>
                <a:latin typeface="fkGroteskNeue"/>
              </a:rPr>
              <a:t>: </a:t>
            </a:r>
            <a:r>
              <a:rPr lang="el-GR" sz="1200" kern="0" dirty="0">
                <a:solidFill>
                  <a:sysClr val="windowText" lastClr="000000"/>
                </a:solidFill>
                <a:latin typeface="fkGroteskNeue"/>
              </a:rPr>
              <a:t>φ = ωΔ</a:t>
            </a:r>
            <a:r>
              <a:rPr lang="en-US" sz="1200" kern="0" dirty="0">
                <a:solidFill>
                  <a:sysClr val="windowText" lastClr="000000"/>
                </a:solidFill>
                <a:latin typeface="fkGroteskNeue"/>
              </a:rPr>
              <a:t>T</a:t>
            </a:r>
          </a:p>
          <a:p>
            <a:pPr marL="342900" indent="-342900">
              <a:buFont typeface="Wingdings" panose="05000000000000000000" pitchFamily="2" charset="2"/>
              <a:buChar char="q"/>
            </a:pPr>
            <a:r>
              <a:rPr lang="en-US" sz="1200" kern="0" dirty="0">
                <a:solidFill>
                  <a:sysClr val="windowText" lastClr="000000"/>
                </a:solidFill>
                <a:latin typeface="fkGroteskNeue"/>
              </a:rPr>
              <a:t>At frequency f₀ = 1/(2</a:t>
            </a:r>
            <a:r>
              <a:rPr lang="el-GR" sz="1200" kern="0" dirty="0">
                <a:solidFill>
                  <a:sysClr val="windowText" lastClr="000000"/>
                </a:solidFill>
                <a:latin typeface="fkGroteskNeue"/>
              </a:rPr>
              <a:t>Δ</a:t>
            </a:r>
            <a:r>
              <a:rPr lang="en-US" sz="1200" kern="0" dirty="0">
                <a:solidFill>
                  <a:sysClr val="windowText" lastClr="000000"/>
                </a:solidFill>
                <a:latin typeface="fkGroteskNeue"/>
              </a:rPr>
              <a:t>T), phase shift = 180°</a:t>
            </a:r>
          </a:p>
          <a:p>
            <a:pPr marL="342900" indent="-342900">
              <a:buFont typeface="Wingdings" panose="05000000000000000000" pitchFamily="2" charset="2"/>
              <a:buChar char="q"/>
            </a:pPr>
            <a:r>
              <a:rPr lang="en-US" sz="1200" kern="0" dirty="0">
                <a:solidFill>
                  <a:sysClr val="windowText" lastClr="000000"/>
                </a:solidFill>
                <a:latin typeface="fkGroteskNeue"/>
              </a:rPr>
              <a:t>Combined with amplifier gain, oscillation becomes possible</a:t>
            </a:r>
          </a:p>
        </p:txBody>
      </p:sp>
      <p:sp>
        <p:nvSpPr>
          <p:cNvPr id="8" name="Rectangle 7"/>
          <p:cNvSpPr/>
          <p:nvPr/>
        </p:nvSpPr>
        <p:spPr>
          <a:xfrm>
            <a:off x="7709805" y="1517943"/>
            <a:ext cx="3637280" cy="1138773"/>
          </a:xfrm>
          <a:prstGeom prst="rect">
            <a:avLst/>
          </a:prstGeom>
        </p:spPr>
        <p:txBody>
          <a:bodyPr wrap="square">
            <a:spAutoFit/>
          </a:bodyPr>
          <a:lstStyle/>
          <a:p>
            <a:pPr lvl="1" algn="ctr"/>
            <a:r>
              <a:rPr lang="en-US" sz="1400" b="1" dirty="0">
                <a:solidFill>
                  <a:srgbClr val="C00000"/>
                </a:solidFill>
                <a:latin typeface="T3Font_128"/>
              </a:rPr>
              <a:t>open-loop </a:t>
            </a:r>
            <a:r>
              <a:rPr lang="en-US" sz="1400" b="1" dirty="0" smtClean="0">
                <a:solidFill>
                  <a:srgbClr val="C00000"/>
                </a:solidFill>
                <a:latin typeface="T3Font_128"/>
              </a:rPr>
              <a:t>system</a:t>
            </a:r>
          </a:p>
          <a:p>
            <a:pPr lvl="1" algn="ctr"/>
            <a:endParaRPr lang="en-US" sz="1400" b="1" dirty="0" smtClean="0">
              <a:solidFill>
                <a:srgbClr val="C00000"/>
              </a:solidFill>
              <a:latin typeface="T3Font_128"/>
            </a:endParaRPr>
          </a:p>
          <a:p>
            <a:pPr lvl="1" algn="ctr"/>
            <a:endParaRPr lang="en-US" sz="1400" b="1" dirty="0" smtClean="0">
              <a:solidFill>
                <a:srgbClr val="C00000"/>
              </a:solidFill>
              <a:latin typeface="T3Font_128"/>
            </a:endParaRPr>
          </a:p>
          <a:p>
            <a:pPr lvl="1" algn="ctr"/>
            <a:r>
              <a:rPr lang="en-US" sz="1200" b="1" kern="0" dirty="0" smtClean="0">
                <a:solidFill>
                  <a:sysClr val="windowText" lastClr="000000"/>
                </a:solidFill>
                <a:latin typeface="fkGroteskNeue"/>
              </a:rPr>
              <a:t> </a:t>
            </a:r>
            <a:r>
              <a:rPr lang="en-US" sz="1200" kern="0" dirty="0">
                <a:solidFill>
                  <a:sysClr val="windowText" lastClr="000000"/>
                </a:solidFill>
                <a:latin typeface="fkGroteskNeue"/>
              </a:rPr>
              <a:t>Open-loop representation showing H(s) = </a:t>
            </a:r>
            <a:r>
              <a:rPr lang="en-US" sz="1400" b="1" kern="0" dirty="0" err="1">
                <a:solidFill>
                  <a:srgbClr val="C00000"/>
                </a:solidFill>
                <a:latin typeface="fkGroteskNeue"/>
              </a:rPr>
              <a:t>g</a:t>
            </a:r>
            <a:r>
              <a:rPr lang="en-US" sz="1400" b="1" kern="0" baseline="-25000" dirty="0" err="1">
                <a:solidFill>
                  <a:srgbClr val="C00000"/>
                </a:solidFill>
                <a:latin typeface="fkGroteskNeue"/>
              </a:rPr>
              <a:t>m</a:t>
            </a:r>
            <a:r>
              <a:rPr lang="en-US" sz="1400" b="1" kern="0" dirty="0" err="1">
                <a:solidFill>
                  <a:srgbClr val="C00000"/>
                </a:solidFill>
                <a:latin typeface="fkGroteskNeue"/>
              </a:rPr>
              <a:t>R</a:t>
            </a:r>
            <a:r>
              <a:rPr lang="en-US" sz="1400" b="1" kern="0" baseline="-25000" dirty="0" err="1">
                <a:solidFill>
                  <a:srgbClr val="C00000"/>
                </a:solidFill>
                <a:latin typeface="fkGroteskNeue"/>
              </a:rPr>
              <a:t>D</a:t>
            </a:r>
            <a:r>
              <a:rPr lang="en-US" sz="1400" b="1" kern="0" dirty="0" err="1">
                <a:solidFill>
                  <a:srgbClr val="C00000"/>
                </a:solidFill>
                <a:latin typeface="fkGroteskNeue"/>
              </a:rPr>
              <a:t>e</a:t>
            </a:r>
            <a:r>
              <a:rPr lang="en-US" sz="1400" b="1" kern="0" baseline="30000" dirty="0">
                <a:solidFill>
                  <a:srgbClr val="C00000"/>
                </a:solidFill>
                <a:latin typeface="fkGroteskNeue"/>
              </a:rPr>
              <a:t>(-s</a:t>
            </a:r>
            <a:r>
              <a:rPr lang="el-GR" sz="1400" b="1" kern="0" baseline="30000" dirty="0">
                <a:solidFill>
                  <a:srgbClr val="C00000"/>
                </a:solidFill>
                <a:latin typeface="fkGroteskNeue"/>
              </a:rPr>
              <a:t>Δ</a:t>
            </a:r>
            <a:r>
              <a:rPr lang="en-US" sz="1400" b="1" kern="0" baseline="30000" dirty="0">
                <a:solidFill>
                  <a:srgbClr val="C00000"/>
                </a:solidFill>
                <a:latin typeface="fkGroteskNeue"/>
              </a:rPr>
              <a:t>T).</a:t>
            </a:r>
          </a:p>
        </p:txBody>
      </p:sp>
      <p:sp>
        <p:nvSpPr>
          <p:cNvPr id="12" name="Rectangle 11"/>
          <p:cNvSpPr/>
          <p:nvPr/>
        </p:nvSpPr>
        <p:spPr>
          <a:xfrm>
            <a:off x="351459" y="3679577"/>
            <a:ext cx="3749503" cy="954107"/>
          </a:xfrm>
          <a:prstGeom prst="rect">
            <a:avLst/>
          </a:prstGeom>
        </p:spPr>
        <p:txBody>
          <a:bodyPr wrap="square">
            <a:spAutoFit/>
          </a:bodyPr>
          <a:lstStyle/>
          <a:p>
            <a:pPr algn="ctr"/>
            <a:r>
              <a:rPr lang="en-US" sz="1400" b="1" dirty="0" smtClean="0">
                <a:solidFill>
                  <a:srgbClr val="C00000"/>
                </a:solidFill>
                <a:latin typeface="T3Font_128"/>
              </a:rPr>
              <a:t>Computation </a:t>
            </a:r>
            <a:r>
              <a:rPr lang="en-US" sz="1400" b="1" dirty="0">
                <a:solidFill>
                  <a:srgbClr val="C00000"/>
                </a:solidFill>
                <a:latin typeface="T3Font_128"/>
              </a:rPr>
              <a:t>of impedance at one </a:t>
            </a:r>
            <a:r>
              <a:rPr lang="en-US" sz="1400" b="1" dirty="0" smtClean="0">
                <a:solidFill>
                  <a:srgbClr val="C00000"/>
                </a:solidFill>
                <a:latin typeface="T3Font_128"/>
              </a:rPr>
              <a:t>node</a:t>
            </a:r>
          </a:p>
          <a:p>
            <a:pPr algn="ctr"/>
            <a:endParaRPr lang="en-US" sz="1400" kern="0" dirty="0" smtClean="0">
              <a:solidFill>
                <a:srgbClr val="C00000"/>
              </a:solidFill>
              <a:latin typeface="fkGroteskNeue"/>
            </a:endParaRPr>
          </a:p>
          <a:p>
            <a:pPr algn="just"/>
            <a:r>
              <a:rPr lang="en-US" sz="1400" kern="0" dirty="0" smtClean="0">
                <a:solidFill>
                  <a:prstClr val="black"/>
                </a:solidFill>
                <a:latin typeface="fkGroteskNeue"/>
              </a:rPr>
              <a:t>Impedance </a:t>
            </a:r>
            <a:r>
              <a:rPr lang="en-US" sz="1400" kern="0" dirty="0">
                <a:solidFill>
                  <a:prstClr val="black"/>
                </a:solidFill>
                <a:latin typeface="fkGroteskNeue"/>
              </a:rPr>
              <a:t>analysis setup - inject current I</a:t>
            </a:r>
            <a:r>
              <a:rPr lang="en-US" sz="1400" kern="0" baseline="-25000" dirty="0">
                <a:solidFill>
                  <a:prstClr val="black"/>
                </a:solidFill>
                <a:latin typeface="fkGroteskNeue"/>
              </a:rPr>
              <a:t>X</a:t>
            </a:r>
            <a:r>
              <a:rPr lang="en-US" sz="1400" kern="0" dirty="0">
                <a:solidFill>
                  <a:prstClr val="black"/>
                </a:solidFill>
                <a:latin typeface="fkGroteskNeue"/>
              </a:rPr>
              <a:t> and measure voltage V</a:t>
            </a:r>
            <a:r>
              <a:rPr lang="en-US" sz="1400" kern="0" baseline="-25000" dirty="0">
                <a:solidFill>
                  <a:prstClr val="black"/>
                </a:solidFill>
                <a:latin typeface="fkGroteskNeue"/>
              </a:rPr>
              <a:t>X</a:t>
            </a:r>
            <a:r>
              <a:rPr lang="en-US" sz="1400" kern="0" dirty="0">
                <a:solidFill>
                  <a:prstClr val="black"/>
                </a:solidFill>
                <a:latin typeface="fkGroteskNeue"/>
              </a:rPr>
              <a:t>.</a:t>
            </a:r>
            <a:endParaRPr lang="en-US" sz="1200" dirty="0"/>
          </a:p>
        </p:txBody>
      </p:sp>
      <p:sp>
        <p:nvSpPr>
          <p:cNvPr id="13" name="Rectangle 12"/>
          <p:cNvSpPr/>
          <p:nvPr/>
        </p:nvSpPr>
        <p:spPr>
          <a:xfrm>
            <a:off x="8253454" y="3700125"/>
            <a:ext cx="3060467" cy="851515"/>
          </a:xfrm>
          <a:prstGeom prst="rect">
            <a:avLst/>
          </a:prstGeom>
        </p:spPr>
        <p:txBody>
          <a:bodyPr wrap="square">
            <a:spAutoFit/>
          </a:bodyPr>
          <a:lstStyle/>
          <a:p>
            <a:pPr algn="ctr"/>
            <a:r>
              <a:rPr lang="en-US" sz="1200" b="1" dirty="0">
                <a:solidFill>
                  <a:srgbClr val="C00000"/>
                </a:solidFill>
                <a:latin typeface="T3Font_128"/>
              </a:rPr>
              <a:t>I</a:t>
            </a:r>
            <a:r>
              <a:rPr lang="en-US" sz="1200" b="1" dirty="0" smtClean="0">
                <a:solidFill>
                  <a:srgbClr val="C00000"/>
                </a:solidFill>
                <a:latin typeface="T3Font_128"/>
              </a:rPr>
              <a:t>llustration </a:t>
            </a:r>
            <a:r>
              <a:rPr lang="en-US" sz="1200" b="1" dirty="0">
                <a:solidFill>
                  <a:srgbClr val="C00000"/>
                </a:solidFill>
                <a:latin typeface="T3Font_128"/>
              </a:rPr>
              <a:t>of infinite impedance at </a:t>
            </a:r>
            <a:r>
              <a:rPr lang="en-US" sz="1200" b="1" dirty="0" smtClean="0">
                <a:solidFill>
                  <a:srgbClr val="C00000"/>
                </a:solidFill>
                <a:latin typeface="T3Font_129"/>
              </a:rPr>
              <a:t>ω</a:t>
            </a:r>
            <a:r>
              <a:rPr lang="en-US" sz="1050" b="1" baseline="-25000" dirty="0" smtClean="0">
                <a:solidFill>
                  <a:srgbClr val="C00000"/>
                </a:solidFill>
                <a:latin typeface="T3Font_130"/>
              </a:rPr>
              <a:t>0</a:t>
            </a:r>
          </a:p>
          <a:p>
            <a:pPr algn="just"/>
            <a:endParaRPr lang="en-US" sz="1400" kern="0" baseline="-25000" dirty="0" smtClean="0">
              <a:solidFill>
                <a:prstClr val="black"/>
              </a:solidFill>
              <a:latin typeface="fkGroteskNeue"/>
            </a:endParaRPr>
          </a:p>
          <a:p>
            <a:pPr algn="just"/>
            <a:r>
              <a:rPr lang="en-US" sz="1400" kern="0" dirty="0" smtClean="0">
                <a:solidFill>
                  <a:prstClr val="black"/>
                </a:solidFill>
                <a:latin typeface="fkGroteskNeue"/>
              </a:rPr>
              <a:t>Shows </a:t>
            </a:r>
            <a:r>
              <a:rPr lang="en-US" sz="1400" kern="0" dirty="0">
                <a:solidFill>
                  <a:prstClr val="black"/>
                </a:solidFill>
                <a:latin typeface="fkGroteskNeue"/>
              </a:rPr>
              <a:t>infinite impedance condition when </a:t>
            </a:r>
            <a:r>
              <a:rPr lang="en-US" sz="1400" kern="0" dirty="0" err="1">
                <a:solidFill>
                  <a:prstClr val="black"/>
                </a:solidFill>
                <a:latin typeface="fkGroteskNeue"/>
              </a:rPr>
              <a:t>g</a:t>
            </a:r>
            <a:r>
              <a:rPr lang="en-US" sz="1400" kern="0" baseline="-25000" dirty="0" err="1">
                <a:solidFill>
                  <a:prstClr val="black"/>
                </a:solidFill>
                <a:latin typeface="fkGroteskNeue"/>
              </a:rPr>
              <a:t>m</a:t>
            </a:r>
            <a:r>
              <a:rPr lang="en-US" sz="1400" kern="0" dirty="0" err="1">
                <a:solidFill>
                  <a:prstClr val="black"/>
                </a:solidFill>
                <a:latin typeface="fkGroteskNeue"/>
              </a:rPr>
              <a:t>R</a:t>
            </a:r>
            <a:r>
              <a:rPr lang="en-US" sz="1400" kern="0" baseline="-25000" dirty="0" err="1">
                <a:solidFill>
                  <a:prstClr val="black"/>
                </a:solidFill>
                <a:latin typeface="fkGroteskNeue"/>
              </a:rPr>
              <a:t>D</a:t>
            </a:r>
            <a:r>
              <a:rPr lang="en-US" sz="1400" kern="0" dirty="0">
                <a:solidFill>
                  <a:prstClr val="black"/>
                </a:solidFill>
                <a:latin typeface="fkGroteskNeue"/>
              </a:rPr>
              <a:t> = 1 and </a:t>
            </a:r>
            <a:r>
              <a:rPr lang="el-GR" sz="1400" kern="0" dirty="0">
                <a:solidFill>
                  <a:prstClr val="black"/>
                </a:solidFill>
                <a:latin typeface="fkGroteskNeue"/>
              </a:rPr>
              <a:t>ωΔ</a:t>
            </a:r>
            <a:r>
              <a:rPr lang="en-US" sz="1400" kern="0" dirty="0">
                <a:solidFill>
                  <a:prstClr val="black"/>
                </a:solidFill>
                <a:latin typeface="fkGroteskNeue"/>
              </a:rPr>
              <a:t>T = </a:t>
            </a:r>
            <a:r>
              <a:rPr lang="el-GR" sz="1400" kern="0" dirty="0">
                <a:solidFill>
                  <a:prstClr val="black"/>
                </a:solidFill>
                <a:latin typeface="fkGroteskNeue"/>
              </a:rPr>
              <a:t>π.</a:t>
            </a:r>
            <a:endParaRPr lang="en-US" sz="1200" dirty="0"/>
          </a:p>
        </p:txBody>
      </p:sp>
      <p:sp>
        <p:nvSpPr>
          <p:cNvPr id="15" name="Rectangle 14"/>
          <p:cNvSpPr/>
          <p:nvPr/>
        </p:nvSpPr>
        <p:spPr>
          <a:xfrm>
            <a:off x="5395456" y="1059934"/>
            <a:ext cx="1210588" cy="369332"/>
          </a:xfrm>
          <a:prstGeom prst="rect">
            <a:avLst/>
          </a:prstGeom>
        </p:spPr>
        <p:txBody>
          <a:bodyPr wrap="none">
            <a:spAutoFit/>
          </a:bodyPr>
          <a:lstStyle/>
          <a:p>
            <a:r>
              <a:rPr lang="en-US" b="1" dirty="0">
                <a:solidFill>
                  <a:srgbClr val="C00000"/>
                </a:solidFill>
                <a:latin typeface="fkGrotesk"/>
              </a:rPr>
              <a:t>Analysis:</a:t>
            </a:r>
          </a:p>
        </p:txBody>
      </p:sp>
      <p:pic>
        <p:nvPicPr>
          <p:cNvPr id="17" name="Picture 16"/>
          <p:cNvPicPr>
            <a:picLocks noChangeAspect="1"/>
          </p:cNvPicPr>
          <p:nvPr/>
        </p:nvPicPr>
        <p:blipFill rotWithShape="1">
          <a:blip r:embed="rId2">
            <a:duotone>
              <a:prstClr val="black"/>
              <a:schemeClr val="bg1">
                <a:lumMod val="65000"/>
                <a:tint val="45000"/>
                <a:satMod val="400000"/>
              </a:schemeClr>
            </a:duotone>
          </a:blip>
          <a:srcRect l="18392" r="52168" b="18371"/>
          <a:stretch/>
        </p:blipFill>
        <p:spPr>
          <a:xfrm>
            <a:off x="6408240" y="1553503"/>
            <a:ext cx="1839635" cy="1280370"/>
          </a:xfrm>
          <a:prstGeom prst="rect">
            <a:avLst/>
          </a:prstGeom>
        </p:spPr>
      </p:pic>
      <p:pic>
        <p:nvPicPr>
          <p:cNvPr id="20" name="Picture 19"/>
          <p:cNvPicPr>
            <a:picLocks noChangeAspect="1"/>
          </p:cNvPicPr>
          <p:nvPr/>
        </p:nvPicPr>
        <p:blipFill rotWithShape="1">
          <a:blip r:embed="rId2">
            <a:duotone>
              <a:prstClr val="black"/>
              <a:schemeClr val="bg1">
                <a:lumMod val="65000"/>
                <a:tint val="45000"/>
                <a:satMod val="400000"/>
              </a:schemeClr>
            </a:duotone>
          </a:blip>
          <a:srcRect l="73790" t="15475" b="14720"/>
          <a:stretch/>
        </p:blipFill>
        <p:spPr>
          <a:xfrm>
            <a:off x="6441784" y="3419539"/>
            <a:ext cx="1637762" cy="1094925"/>
          </a:xfrm>
          <a:prstGeom prst="rect">
            <a:avLst/>
          </a:prstGeom>
        </p:spPr>
      </p:pic>
      <p:sp>
        <p:nvSpPr>
          <p:cNvPr id="10" name="Date Placeholder 9"/>
          <p:cNvSpPr>
            <a:spLocks noGrp="1"/>
          </p:cNvSpPr>
          <p:nvPr>
            <p:ph type="dt" sz="half" idx="6"/>
          </p:nvPr>
        </p:nvSpPr>
        <p:spPr>
          <a:xfrm>
            <a:off x="693012" y="6490713"/>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95536E0-A6D5-4C7E-88B2-A42FFC58F0F3}"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2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75586666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764650" y="1183059"/>
            <a:ext cx="5604345" cy="166350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69079" y="3543385"/>
            <a:ext cx="5181863" cy="188725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629160" y="4011216"/>
            <a:ext cx="5450339" cy="257246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647290" y="1397728"/>
            <a:ext cx="5393373" cy="204815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Circuit </a:t>
            </a:r>
            <a:r>
              <a:rPr lang="en-US" dirty="0" smtClean="0"/>
              <a:t>Configuration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75845" y="3070760"/>
                <a:ext cx="5007610" cy="2388859"/>
              </a:xfrm>
            </p:spPr>
            <p:txBody>
              <a:bodyPr/>
              <a:lstStyle/>
              <a:p>
                <a:pPr algn="ctr"/>
                <a:r>
                  <a:rPr lang="en-US" sz="1800" b="1" dirty="0" smtClean="0">
                    <a:solidFill>
                      <a:srgbClr val="C00000"/>
                    </a:solidFill>
                    <a:effectLst/>
                    <a:latin typeface="inter"/>
                    <a:ea typeface="inter"/>
                    <a:cs typeface="inter"/>
                  </a:rPr>
                  <a:t>Transfer </a:t>
                </a:r>
                <a:r>
                  <a:rPr lang="en-US" sz="1800" b="1" dirty="0">
                    <a:solidFill>
                      <a:srgbClr val="C00000"/>
                    </a:solidFill>
                    <a:effectLst/>
                    <a:latin typeface="inter"/>
                    <a:ea typeface="inter"/>
                    <a:cs typeface="inter"/>
                  </a:rPr>
                  <a:t>Function with </a:t>
                </a:r>
                <a:r>
                  <a:rPr lang="en-US" sz="1800" b="1" dirty="0" smtClean="0">
                    <a:solidFill>
                      <a:srgbClr val="C00000"/>
                    </a:solidFill>
                    <a:effectLst/>
                    <a:latin typeface="inter"/>
                    <a:ea typeface="inter"/>
                    <a:cs typeface="inter"/>
                  </a:rPr>
                  <a:t>Delay</a:t>
                </a:r>
              </a:p>
              <a:p>
                <a:pPr algn="ct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600" dirty="0">
                    <a:solidFill>
                      <a:srgbClr val="000000"/>
                    </a:solidFill>
                    <a:latin typeface="inter"/>
                    <a:ea typeface="inter"/>
                    <a:cs typeface="inter"/>
                  </a:rPr>
                  <a:t>For an ideal delay line: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𝑑𝑒𝑙𝑎𝑦</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600" dirty="0">
                    <a:solidFill>
                      <a:srgbClr val="000000"/>
                    </a:solidFill>
                    <a:latin typeface="inter"/>
                    <a:ea typeface="inter"/>
                    <a:cs typeface="inter"/>
                  </a:rPr>
                  <a:t>The combined forward-path and delay transfer function: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600" dirty="0">
                    <a:solidFill>
                      <a:srgbClr val="000000"/>
                    </a:solidFill>
                    <a:latin typeface="inter"/>
                    <a:ea typeface="inter"/>
                    <a:cs typeface="inter"/>
                  </a:rPr>
                  <a:t>(Negative sign from the common-source inversion)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75845" y="3070760"/>
                <a:ext cx="5007610" cy="2388859"/>
              </a:xfrm>
              <a:blipFill>
                <a:blip r:embed="rId2"/>
                <a:stretch>
                  <a:fillRect l="-2314" t="-3316" r="-2071"/>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160274" y="6564786"/>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790204A3-4BEA-4A71-80A2-731CBF27FBC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716314"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587093" y="971889"/>
                <a:ext cx="5533346" cy="5678221"/>
              </a:xfrm>
              <a:prstGeom prst="rect">
                <a:avLst/>
              </a:prstGeom>
            </p:spPr>
            <p:txBody>
              <a:bodyPr wrap="square">
                <a:spAutoFit/>
              </a:bodyPr>
              <a:lstStyle/>
              <a:p>
                <a:pPr algn="ctr"/>
                <a:r>
                  <a:rPr lang="en-US" b="1" dirty="0" err="1">
                    <a:solidFill>
                      <a:srgbClr val="C00000"/>
                    </a:solidFill>
                    <a:latin typeface="inter"/>
                    <a:ea typeface="inter"/>
                    <a:cs typeface="inter"/>
                  </a:rPr>
                  <a:t>Barkhausen</a:t>
                </a:r>
                <a:r>
                  <a:rPr lang="en-US" b="1" dirty="0">
                    <a:solidFill>
                      <a:srgbClr val="C00000"/>
                    </a:solidFill>
                    <a:latin typeface="inter"/>
                    <a:ea typeface="inter"/>
                    <a:cs typeface="inter"/>
                  </a:rPr>
                  <a:t> Magnitude </a:t>
                </a:r>
                <a:r>
                  <a:rPr lang="en-US" b="1" dirty="0" smtClean="0">
                    <a:solidFill>
                      <a:srgbClr val="C00000"/>
                    </a:solidFill>
                    <a:latin typeface="inter"/>
                    <a:ea typeface="inter"/>
                    <a:cs typeface="inter"/>
                  </a:rPr>
                  <a:t>Condition</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𝑒</m:t>
                                  </m:r>
                                </m:e>
                                <m:sup>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sup>
                              </m:sSup>
                            </m:num>
                            <m:den>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den>
                          </m:f>
                        </m:e>
                      </m:d>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ad>
                            <m:radPr>
                              <m:degHide m:val="on"/>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 </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e>
                      </m:rad>
                    </m:oMath>
                  </m:oMathPara>
                </a14:m>
                <a:endParaRPr lang="en-US" sz="1400" dirty="0" smtClean="0">
                  <a:effectLst/>
                  <a:latin typeface="Georgia" panose="02040502050405020303" pitchFamily="18" charset="0"/>
                  <a:ea typeface="Calibri" panose="020F0502020204030204" pitchFamily="34" charset="0"/>
                  <a:cs typeface="Times New Roman" panose="02020603050405020304" pitchFamily="18" charset="0"/>
                </a:endParaRPr>
              </a:p>
              <a:p>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B050"/>
                    </a:solidFill>
                    <a:effectLst/>
                    <a:latin typeface="inter"/>
                    <a:ea typeface="inter"/>
                    <a:cs typeface="inter"/>
                  </a:rPr>
                  <a:t>Implication:</a:t>
                </a:r>
                <a:r>
                  <a:rPr lang="en-US" sz="1400" dirty="0">
                    <a:solidFill>
                      <a:srgbClr val="00B050"/>
                    </a:solidFill>
                    <a:effectLst/>
                    <a:latin typeface="inter"/>
                    <a:ea typeface="inter"/>
                    <a:cs typeface="inter"/>
                  </a:rPr>
                  <a:t> The </a:t>
                </a:r>
                <a:r>
                  <a:rPr lang="en-US" sz="1400" dirty="0" err="1">
                    <a:solidFill>
                      <a:srgbClr val="00B050"/>
                    </a:solidFill>
                    <a:effectLst/>
                    <a:latin typeface="inter"/>
                    <a:ea typeface="inter"/>
                    <a:cs typeface="inter"/>
                  </a:rPr>
                  <a:t>transconductance</a:t>
                </a:r>
                <a:r>
                  <a:rPr lang="en-US" sz="1400" dirty="0">
                    <a:solidFill>
                      <a:srgbClr val="00B050"/>
                    </a:solidFill>
                    <a:effectLst/>
                    <a:latin typeface="inter"/>
                    <a:ea typeface="inter"/>
                    <a:cs typeface="inter"/>
                  </a:rPr>
                  <a:t>-load product must exceed unity, and the excess is determined by the capacitive load phase shift</a:t>
                </a:r>
                <a:r>
                  <a:rPr lang="en-US" sz="1400" dirty="0" smtClean="0">
                    <a:solidFill>
                      <a:srgbClr val="00B050"/>
                    </a:solidFill>
                    <a:effectLst/>
                    <a:latin typeface="inter"/>
                    <a:ea typeface="inter"/>
                    <a:cs typeface="inter"/>
                  </a:rPr>
                  <a:t>.</a:t>
                </a:r>
              </a:p>
              <a:p>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lgn="ctr"/>
                <a:r>
                  <a:rPr lang="en-US" b="1" dirty="0" err="1">
                    <a:solidFill>
                      <a:srgbClr val="C00000"/>
                    </a:solidFill>
                    <a:effectLst/>
                    <a:latin typeface="inter"/>
                    <a:ea typeface="inter"/>
                    <a:cs typeface="inter"/>
                  </a:rPr>
                  <a:t>Barkhausen</a:t>
                </a:r>
                <a:r>
                  <a:rPr lang="en-US" b="1" dirty="0">
                    <a:solidFill>
                      <a:srgbClr val="C00000"/>
                    </a:solidFill>
                    <a:effectLst/>
                    <a:latin typeface="inter"/>
                    <a:ea typeface="inter"/>
                    <a:cs typeface="inter"/>
                  </a:rPr>
                  <a:t> Phase </a:t>
                </a:r>
                <a:r>
                  <a:rPr lang="en-US" b="1" dirty="0" smtClean="0">
                    <a:solidFill>
                      <a:srgbClr val="C00000"/>
                    </a:solidFill>
                    <a:effectLst/>
                    <a:latin typeface="inter"/>
                    <a:ea typeface="inter"/>
                    <a:cs typeface="inter"/>
                  </a:rPr>
                  <a:t>Condition</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arctan</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effectLst/>
                    <a:latin typeface="inter"/>
                    <a:ea typeface="inter"/>
                    <a:cs typeface="inter"/>
                  </a:rPr>
                  <a:t>(–180° from the negative sign, –</a:t>
                </a:r>
                <a14:m>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oMath>
                </a14:m>
                <a:r>
                  <a:rPr lang="en-US" sz="1400" dirty="0">
                    <a:solidFill>
                      <a:srgbClr val="000000"/>
                    </a:solidFill>
                    <a:effectLst/>
                    <a:latin typeface="inter"/>
                    <a:ea typeface="inter"/>
                    <a:cs typeface="inter"/>
                  </a:rPr>
                  <a:t> from the delay, –</a:t>
                </a:r>
                <a:r>
                  <a:rPr lang="en-US" sz="1400" dirty="0" err="1">
                    <a:solidFill>
                      <a:srgbClr val="000000"/>
                    </a:solidFill>
                    <a:effectLst/>
                    <a:latin typeface="inter"/>
                    <a:ea typeface="inter"/>
                    <a:cs typeface="inter"/>
                  </a:rPr>
                  <a:t>arctan</a:t>
                </a:r>
                <a:r>
                  <a:rPr lang="en-US" sz="1400" dirty="0">
                    <a:solidFill>
                      <a:srgbClr val="000000"/>
                    </a:solidFill>
                    <a:effectLst/>
                    <a:latin typeface="inter"/>
                    <a:ea typeface="inter"/>
                    <a:cs typeface="inter"/>
                  </a:rPr>
                  <a:t> from capacitive load)</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arctan</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 (</m:t>
                      </m:r>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mod</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360°)</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effectLst/>
                    <a:latin typeface="inter"/>
                    <a:ea typeface="inter"/>
                    <a:cs typeface="inter"/>
                  </a:rPr>
                  <a:t>For typical designs, the capacitive load phase shift is small compared to the delay:</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effectLst/>
                              <a:latin typeface="Cambria Math" panose="020405030504060302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800" i="1">
                              <a:solidFill>
                                <a:srgbClr val="000000"/>
                              </a:solidFill>
                              <a:effectLst/>
                              <a:latin typeface="Cambria Math" panose="02040503050406030204" pitchFamily="18" charset="0"/>
                            </a:rPr>
                          </m:ctrlPr>
                        </m:fPr>
                        <m:num>
                          <m:sSub>
                            <m:sSubPr>
                              <m:ctrlPr>
                                <a:rPr lang="en-US" sz="2800" i="1">
                                  <a:solidFill>
                                    <a:srgbClr val="000000"/>
                                  </a:solidFill>
                                  <a:effectLst/>
                                  <a:latin typeface="Cambria Math" panose="020405030504060302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num>
                        <m:den>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den>
                      </m:f>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800" i="1">
                              <a:solidFill>
                                <a:srgbClr val="000000"/>
                              </a:solidFill>
                              <a:effectLst/>
                              <a:latin typeface="Cambria Math" panose="02040503050406030204" pitchFamily="18" charset="0"/>
                            </a:rPr>
                          </m:ctrlPr>
                        </m:fPr>
                        <m:num>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n-US" sz="2000" dirty="0"/>
              </a:p>
            </p:txBody>
          </p:sp>
        </mc:Choice>
        <mc:Fallback>
          <p:sp>
            <p:nvSpPr>
              <p:cNvPr id="7" name="Rectangle 6"/>
              <p:cNvSpPr>
                <a:spLocks noRot="1" noChangeAspect="1" noMove="1" noResize="1" noEditPoints="1" noAdjustHandles="1" noChangeArrowheads="1" noChangeShapeType="1" noTextEdit="1"/>
              </p:cNvSpPr>
              <p:nvPr/>
            </p:nvSpPr>
            <p:spPr>
              <a:xfrm>
                <a:off x="6587093" y="971889"/>
                <a:ext cx="5533346" cy="5678221"/>
              </a:xfrm>
              <a:prstGeom prst="rect">
                <a:avLst/>
              </a:prstGeom>
              <a:blipFill>
                <a:blip r:embed="rId3"/>
                <a:stretch>
                  <a:fillRect l="-331" t="-536" r="-12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697246" y="1179296"/>
                <a:ext cx="5534801" cy="1569660"/>
              </a:xfrm>
              <a:prstGeom prst="rect">
                <a:avLst/>
              </a:prstGeom>
            </p:spPr>
            <p:txBody>
              <a:bodyPr wrap="square">
                <a:spAutoFit/>
              </a:bodyPr>
              <a:lstStyle/>
              <a:p>
                <a:pPr marL="342900" lvl="0" indent="-342900" algn="just">
                  <a:buFont typeface="Wingdings" panose="05000000000000000000" pitchFamily="2" charset="2"/>
                  <a:buChar char="q"/>
                  <a:tabLst>
                    <a:tab pos="571500" algn="l"/>
                  </a:tabLst>
                </a:pPr>
                <a:r>
                  <a:rPr lang="en-US" sz="1600" b="1" kern="0" dirty="0">
                    <a:solidFill>
                      <a:srgbClr val="C00000"/>
                    </a:solidFill>
                    <a:latin typeface="inter"/>
                    <a:ea typeface="inter"/>
                    <a:cs typeface="inter"/>
                  </a:rPr>
                  <a:t>Forward Stage:</a:t>
                </a:r>
                <a:r>
                  <a:rPr lang="en-US" sz="1600" kern="0" dirty="0">
                    <a:solidFill>
                      <a:srgbClr val="C00000"/>
                    </a:solidFill>
                    <a:latin typeface="inter"/>
                    <a:ea typeface="inter"/>
                    <a:cs typeface="inter"/>
                  </a:rPr>
                  <a:t> </a:t>
                </a:r>
                <a:r>
                  <a:rPr lang="en-US" sz="1600" kern="0" dirty="0">
                    <a:solidFill>
                      <a:srgbClr val="000000"/>
                    </a:solidFill>
                    <a:latin typeface="inter"/>
                    <a:ea typeface="inter"/>
                    <a:cs typeface="inter"/>
                  </a:rPr>
                  <a:t>Common-source amplifier with load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kern="0" dirty="0">
                    <a:solidFill>
                      <a:srgbClr val="000000"/>
                    </a:solidFill>
                    <a:latin typeface="inter"/>
                    <a:ea typeface="inter"/>
                    <a:cs typeface="inter"/>
                  </a:rPr>
                  <a:t> and capacitance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oMath>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q"/>
                  <a:tabLst>
                    <a:tab pos="571500" algn="l"/>
                  </a:tabLst>
                </a:pPr>
                <a:r>
                  <a:rPr lang="en-US" sz="1600" b="1" kern="0" dirty="0">
                    <a:solidFill>
                      <a:srgbClr val="C00000"/>
                    </a:solidFill>
                    <a:latin typeface="inter"/>
                    <a:ea typeface="inter"/>
                    <a:cs typeface="inter"/>
                  </a:rPr>
                  <a:t>Delay Element:</a:t>
                </a:r>
                <a:r>
                  <a:rPr lang="en-US" sz="1600" kern="0" dirty="0">
                    <a:solidFill>
                      <a:srgbClr val="C00000"/>
                    </a:solidFill>
                    <a:latin typeface="inter"/>
                    <a:ea typeface="inter"/>
                    <a:cs typeface="inter"/>
                  </a:rPr>
                  <a:t> </a:t>
                </a:r>
                <a:r>
                  <a:rPr lang="en-US" sz="1600" kern="0" dirty="0">
                    <a:solidFill>
                      <a:srgbClr val="000000"/>
                    </a:solidFill>
                    <a:latin typeface="inter"/>
                    <a:ea typeface="inter"/>
                    <a:cs typeface="inter"/>
                  </a:rPr>
                  <a:t>Introduces time delay </a:t>
                </a:r>
                <a14:m>
                  <m:oMath xmlns:m="http://schemas.openxmlformats.org/officeDocument/2006/math">
                    <m:r>
                      <m:rPr>
                        <m:sty m:val="p"/>
                      </m:rP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a14:m>
                <a:r>
                  <a:rPr lang="en-US" sz="1600" kern="0" dirty="0">
                    <a:solidFill>
                      <a:srgbClr val="000000"/>
                    </a:solidFill>
                    <a:latin typeface="inter"/>
                    <a:ea typeface="inter"/>
                    <a:cs typeface="inter"/>
                  </a:rPr>
                  <a:t> (models a transmission line, RC ladder, or explicitly inserted delay)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q"/>
                  <a:tabLst>
                    <a:tab pos="571500" algn="l"/>
                  </a:tabLst>
                </a:pPr>
                <a:r>
                  <a:rPr lang="en-US" sz="1600" b="1" kern="0" dirty="0">
                    <a:solidFill>
                      <a:srgbClr val="C00000"/>
                    </a:solidFill>
                    <a:latin typeface="inter"/>
                    <a:ea typeface="inter"/>
                    <a:cs typeface="inter"/>
                  </a:rPr>
                  <a:t>Feedback:</a:t>
                </a:r>
                <a:r>
                  <a:rPr lang="en-US" sz="1600" kern="0" dirty="0">
                    <a:solidFill>
                      <a:srgbClr val="C00000"/>
                    </a:solidFill>
                    <a:latin typeface="inter"/>
                    <a:ea typeface="inter"/>
                    <a:cs typeface="inter"/>
                  </a:rPr>
                  <a:t> </a:t>
                </a:r>
                <a:r>
                  <a:rPr lang="en-US" sz="1600" kern="0" dirty="0">
                    <a:solidFill>
                      <a:srgbClr val="000000"/>
                    </a:solidFill>
                    <a:latin typeface="inter"/>
                    <a:ea typeface="inter"/>
                    <a:cs typeface="inter"/>
                  </a:rPr>
                  <a:t>The delayed output feeds back to the input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697246" y="1179296"/>
                <a:ext cx="5534801" cy="1569660"/>
              </a:xfrm>
              <a:prstGeom prst="rect">
                <a:avLst/>
              </a:prstGeom>
              <a:blipFill>
                <a:blip r:embed="rId4"/>
                <a:stretch>
                  <a:fillRect l="-441" t="-1163" r="-661" b="-3876"/>
                </a:stretch>
              </a:blipFill>
            </p:spPr>
            <p:txBody>
              <a:bodyPr/>
              <a:lstStyle/>
              <a:p>
                <a:r>
                  <a:rPr lang="en-US">
                    <a:noFill/>
                  </a:rPr>
                  <a:t> </a:t>
                </a:r>
              </a:p>
            </p:txBody>
          </p:sp>
        </mc:Fallback>
      </mc:AlternateContent>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6088644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121508" y="3637978"/>
            <a:ext cx="5848105" cy="206034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42235" y="1242284"/>
            <a:ext cx="5121426" cy="487769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1046440"/>
          </a:xfrm>
        </p:spPr>
        <p:txBody>
          <a:bodyPr/>
          <a:lstStyle/>
          <a:p>
            <a:r>
              <a:rPr lang="en-US" dirty="0"/>
              <a:t>Output Impedance Calculation</a:t>
            </a:r>
            <a:br>
              <a:rPr lang="en-US" dirty="0"/>
            </a:b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5303" y="1239490"/>
                <a:ext cx="5091015" cy="4901406"/>
              </a:xfrm>
            </p:spPr>
            <p:txBody>
              <a:bodyPr/>
              <a:lstStyle/>
              <a:p>
                <a:pPr>
                  <a:spcAft>
                    <a:spcPts val="1050"/>
                  </a:spcAft>
                </a:pPr>
                <a:r>
                  <a:rPr lang="en-US" sz="1600" dirty="0" smtClean="0">
                    <a:solidFill>
                      <a:srgbClr val="000000"/>
                    </a:solidFill>
                    <a:latin typeface="inter"/>
                    <a:ea typeface="inter"/>
                    <a:cs typeface="inter"/>
                  </a:rPr>
                  <a:t>From </a:t>
                </a:r>
                <a:r>
                  <a:rPr lang="en-US" sz="1600" dirty="0">
                    <a:solidFill>
                      <a:srgbClr val="000000"/>
                    </a:solidFill>
                    <a:latin typeface="inter"/>
                    <a:ea typeface="inter"/>
                    <a:cs typeface="inter"/>
                  </a:rPr>
                  <a:t>the circuit (with loop open), the output impedance looking into the drain of the first transistor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C00000"/>
                    </a:solidFill>
                    <a:latin typeface="inter"/>
                    <a:ea typeface="inter"/>
                    <a:cs typeface="inter"/>
                  </a:rPr>
                  <a:t>At low frequency </a:t>
                </a:r>
                <a:r>
                  <a:rPr lang="en-US" sz="1600" b="1" dirty="0">
                    <a:solidFill>
                      <a:srgbClr val="000000"/>
                    </a:solidFill>
                    <a:latin typeface="inter"/>
                    <a:ea typeface="inter"/>
                    <a:cs typeface="inter"/>
                  </a:rPr>
                  <a:t>(</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(For large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C00000"/>
                    </a:solidFill>
                    <a:latin typeface="inter"/>
                    <a:ea typeface="inter"/>
                    <a:cs typeface="inter"/>
                  </a:rPr>
                  <a:t>At the oscillation frequency </a:t>
                </a:r>
                <a:endParaRPr lang="en-US" sz="1600" b="1" dirty="0" smtClean="0">
                  <a:solidFill>
                    <a:srgbClr val="C00000"/>
                  </a:solidFill>
                  <a:latin typeface="inter"/>
                  <a:ea typeface="inter"/>
                  <a:cs typeface="inter"/>
                </a:endParaRPr>
              </a:p>
              <a:p>
                <a:pPr>
                  <a:spcAft>
                    <a:spcPts val="1050"/>
                  </a:spcAft>
                </a:pPr>
                <a:r>
                  <a:rPr lang="en-US" sz="1600" b="1" dirty="0" smtClean="0">
                    <a:solidFill>
                      <a:srgbClr val="000000"/>
                    </a:solidFill>
                    <a:latin typeface="inter"/>
                    <a:ea typeface="inter"/>
                    <a:cs typeface="inter"/>
                  </a:rPr>
                  <a:t>(</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b="1" dirty="0">
                    <a:solidFill>
                      <a:srgbClr val="000000"/>
                    </a:solidFill>
                    <a:latin typeface="inter"/>
                    <a:ea typeface="inter"/>
                    <a:cs typeface="inter"/>
                  </a:rPr>
                  <a:t> with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up>
                    </m:s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When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5303" y="1239490"/>
                <a:ext cx="5091015" cy="4901406"/>
              </a:xfrm>
              <a:blipFill>
                <a:blip r:embed="rId2"/>
                <a:stretch>
                  <a:fillRect l="-2515" t="-1244" r="-1198"/>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231836" y="6506616"/>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F6E582B-CDB7-4394-BD48-B32DA004A9C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t="8725"/>
          <a:stretch/>
        </p:blipFill>
        <p:spPr>
          <a:xfrm>
            <a:off x="7308798" y="1122455"/>
            <a:ext cx="3094955" cy="1769606"/>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6082918" y="3201674"/>
                <a:ext cx="5800357" cy="2426305"/>
              </a:xfrm>
              <a:prstGeom prst="rect">
                <a:avLst/>
              </a:prstGeom>
            </p:spPr>
            <p:txBody>
              <a:bodyPr wrap="square">
                <a:spAutoFit/>
              </a:bodyPr>
              <a:lstStyle/>
              <a:p>
                <a:pPr lvl="0" algn="ctr">
                  <a:spcAft>
                    <a:spcPts val="1050"/>
                  </a:spcAft>
                </a:pPr>
                <a:r>
                  <a:rPr lang="en-US" b="1" kern="0" dirty="0">
                    <a:solidFill>
                      <a:srgbClr val="C00000"/>
                    </a:solidFill>
                    <a:latin typeface="inter"/>
                    <a:ea typeface="inter"/>
                    <a:cs typeface="inter"/>
                  </a:rPr>
                  <a:t>Design Verification Method:</a:t>
                </a:r>
                <a:endParaRPr lang="en-US"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Measure impedance vs. frequency on the open loop</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Look for a sharp peak (pole on imaginary axis) at the designed oscillation frequency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Confirm that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kern="0" dirty="0">
                    <a:solidFill>
                      <a:srgbClr val="000000"/>
                    </a:solidFill>
                    <a:latin typeface="inter"/>
                    <a:ea typeface="inter"/>
                    <a:cs typeface="inter"/>
                  </a:rPr>
                  <a:t> (or very large, in practice limited by </a:t>
                </a:r>
                <a:r>
                  <a:rPr lang="en-US" sz="1600" kern="0" dirty="0" err="1">
                    <a:solidFill>
                      <a:srgbClr val="000000"/>
                    </a:solidFill>
                    <a:latin typeface="inter"/>
                    <a:ea typeface="inter"/>
                    <a:cs typeface="inter"/>
                  </a:rPr>
                  <a:t>parasitics</a:t>
                </a:r>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When the loop is closed, this impedance peak confirms reliable oscillation</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6082918" y="3201674"/>
                <a:ext cx="5800357" cy="2426305"/>
              </a:xfrm>
              <a:prstGeom prst="rect">
                <a:avLst/>
              </a:prstGeom>
              <a:blipFill>
                <a:blip r:embed="rId4"/>
                <a:stretch>
                  <a:fillRect l="-421" t="-1256" r="-526" b="-2261"/>
                </a:stretch>
              </a:blipFill>
            </p:spPr>
            <p:txBody>
              <a:bodyPr/>
              <a:lstStyle/>
              <a:p>
                <a:r>
                  <a:rPr lang="en-US">
                    <a:noFill/>
                  </a:rPr>
                  <a:t> </a:t>
                </a:r>
              </a:p>
            </p:txBody>
          </p:sp>
        </mc:Fallback>
      </mc:AlternateContent>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0566730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791113" y="4205590"/>
            <a:ext cx="5258647" cy="172277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06317" y="1650350"/>
            <a:ext cx="5294243" cy="172277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79593" y="4205590"/>
            <a:ext cx="5580233" cy="173293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959273" y="1630030"/>
            <a:ext cx="5624407" cy="173293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Fundamental </a:t>
            </a:r>
            <a:r>
              <a:rPr lang="en-US" dirty="0" smtClean="0">
                <a:latin typeface="fkGrotesk"/>
              </a:rPr>
              <a:t>Insights</a:t>
            </a:r>
            <a:endParaRPr lang="en-US" dirty="0"/>
          </a:p>
        </p:txBody>
      </p:sp>
      <p:sp>
        <p:nvSpPr>
          <p:cNvPr id="3" name="Text Placeholder 2"/>
          <p:cNvSpPr>
            <a:spLocks noGrp="1"/>
          </p:cNvSpPr>
          <p:nvPr>
            <p:ph type="body" idx="1"/>
          </p:nvPr>
        </p:nvSpPr>
        <p:spPr>
          <a:xfrm>
            <a:off x="6827520" y="3743299"/>
            <a:ext cx="5217160" cy="2092881"/>
          </a:xfrm>
        </p:spPr>
        <p:txBody>
          <a:bodyPr/>
          <a:lstStyle/>
          <a:p>
            <a:pPr algn="ctr"/>
            <a:r>
              <a:rPr lang="en-US" sz="1800" b="1" dirty="0" smtClean="0">
                <a:solidFill>
                  <a:srgbClr val="C00000"/>
                </a:solidFill>
                <a:latin typeface="fkGrotesk"/>
              </a:rPr>
              <a:t>4</a:t>
            </a:r>
            <a:r>
              <a:rPr lang="en-US" sz="1800" b="1" dirty="0">
                <a:solidFill>
                  <a:srgbClr val="C00000"/>
                </a:solidFill>
                <a:latin typeface="fkGrotesk"/>
              </a:rPr>
              <a:t>. Startup vs. </a:t>
            </a:r>
            <a:r>
              <a:rPr lang="en-US" sz="1800" b="1" dirty="0" smtClean="0">
                <a:solidFill>
                  <a:srgbClr val="C00000"/>
                </a:solidFill>
                <a:latin typeface="fkGrotesk"/>
              </a:rPr>
              <a:t>Steady-State</a:t>
            </a:r>
          </a:p>
          <a:p>
            <a:pPr algn="ctr"/>
            <a:endParaRPr lang="en-US" b="1" dirty="0">
              <a:solidFill>
                <a:srgbClr val="C00000"/>
              </a:solidFill>
              <a:latin typeface="fkGrotesk"/>
            </a:endParaRPr>
          </a:p>
          <a:p>
            <a:pPr marL="342900" indent="-342900" algn="just">
              <a:buFont typeface="Wingdings" panose="05000000000000000000" pitchFamily="2" charset="2"/>
              <a:buChar char="q"/>
            </a:pPr>
            <a:r>
              <a:rPr lang="en-US" sz="1600" b="1" dirty="0">
                <a:solidFill>
                  <a:srgbClr val="002060"/>
                </a:solidFill>
                <a:latin typeface="fkGroteskNeue"/>
              </a:rPr>
              <a:t>Startup: </a:t>
            </a:r>
            <a:r>
              <a:rPr lang="en-US" sz="1600" dirty="0">
                <a:latin typeface="fkGroteskNeue"/>
              </a:rPr>
              <a:t>Need </a:t>
            </a:r>
            <a:r>
              <a:rPr lang="en-US" sz="1600" dirty="0" err="1" smtClean="0">
                <a:latin typeface="fkGroteskNeue"/>
              </a:rPr>
              <a:t>g</a:t>
            </a:r>
            <a:r>
              <a:rPr lang="en-US" sz="1600" baseline="-25000" dirty="0" err="1" smtClean="0">
                <a:latin typeface="fkGroteskNeue"/>
              </a:rPr>
              <a:t>m</a:t>
            </a:r>
            <a:r>
              <a:rPr lang="en-US" sz="1600" dirty="0" err="1" smtClean="0">
                <a:latin typeface="fkGroteskNeue"/>
              </a:rPr>
              <a:t>R</a:t>
            </a:r>
            <a:r>
              <a:rPr lang="en-US" sz="1600" baseline="-25000" dirty="0" err="1" smtClean="0">
                <a:latin typeface="fkGroteskNeue"/>
              </a:rPr>
              <a:t>D</a:t>
            </a:r>
            <a:r>
              <a:rPr lang="en-US" sz="1600" dirty="0" smtClean="0">
                <a:latin typeface="fkGroteskNeue"/>
              </a:rPr>
              <a:t> </a:t>
            </a:r>
            <a:r>
              <a:rPr lang="en-US" sz="1600" dirty="0">
                <a:latin typeface="fkGroteskNeue"/>
              </a:rPr>
              <a:t>&gt; 1 to overcome losses and build amplitude</a:t>
            </a:r>
          </a:p>
          <a:p>
            <a:pPr marL="342900" indent="-342900" algn="just">
              <a:buFont typeface="Wingdings" panose="05000000000000000000" pitchFamily="2" charset="2"/>
              <a:buChar char="q"/>
            </a:pPr>
            <a:r>
              <a:rPr lang="en-US" sz="1600" b="1" dirty="0">
                <a:solidFill>
                  <a:srgbClr val="002060"/>
                </a:solidFill>
                <a:latin typeface="fkGroteskNeue"/>
              </a:rPr>
              <a:t>Steady-state:</a:t>
            </a:r>
            <a:r>
              <a:rPr lang="en-US" sz="1600" b="1" dirty="0">
                <a:latin typeface="fkGroteskNeue"/>
              </a:rPr>
              <a:t> </a:t>
            </a:r>
            <a:r>
              <a:rPr lang="en-US" sz="1600" dirty="0">
                <a:latin typeface="fkGroteskNeue"/>
              </a:rPr>
              <a:t>Nonlinear effects reduce gain to exactly </a:t>
            </a:r>
            <a:r>
              <a:rPr lang="en-US" sz="1600" dirty="0" err="1">
                <a:latin typeface="fkGroteskNeue"/>
              </a:rPr>
              <a:t>g</a:t>
            </a:r>
            <a:r>
              <a:rPr lang="en-US" sz="1600" baseline="-25000" dirty="0" err="1">
                <a:latin typeface="fkGroteskNeue"/>
              </a:rPr>
              <a:t>m</a:t>
            </a:r>
            <a:r>
              <a:rPr lang="en-US" sz="1600" dirty="0" err="1">
                <a:latin typeface="fkGroteskNeue"/>
              </a:rPr>
              <a:t>R</a:t>
            </a:r>
            <a:r>
              <a:rPr lang="en-US" sz="1600" baseline="-25000" dirty="0" err="1">
                <a:latin typeface="fkGroteskNeue"/>
              </a:rPr>
              <a:t>D</a:t>
            </a:r>
            <a:r>
              <a:rPr lang="en-US" sz="1600" dirty="0" smtClean="0">
                <a:latin typeface="fkGroteskNeue"/>
              </a:rPr>
              <a:t> </a:t>
            </a:r>
            <a:r>
              <a:rPr lang="en-US" sz="1600" dirty="0">
                <a:latin typeface="fkGroteskNeue"/>
              </a:rPr>
              <a:t>= 1</a:t>
            </a:r>
          </a:p>
          <a:p>
            <a:pPr marL="342900" indent="-342900" algn="just">
              <a:buFont typeface="Wingdings" panose="05000000000000000000" pitchFamily="2" charset="2"/>
              <a:buChar char="q"/>
            </a:pPr>
            <a:r>
              <a:rPr lang="en-US" sz="1600" b="1" dirty="0" smtClean="0">
                <a:solidFill>
                  <a:srgbClr val="002060"/>
                </a:solidFill>
                <a:latin typeface="fkGroteskNeue"/>
              </a:rPr>
              <a:t>Like a pendulum</a:t>
            </a:r>
            <a:r>
              <a:rPr lang="en-US" sz="1600" b="1" dirty="0">
                <a:solidFill>
                  <a:srgbClr val="002060"/>
                </a:solidFill>
                <a:latin typeface="fkGroteskNeue"/>
              </a:rPr>
              <a:t>: </a:t>
            </a:r>
            <a:r>
              <a:rPr lang="en-US" sz="1600" dirty="0">
                <a:latin typeface="fkGroteskNeue"/>
              </a:rPr>
              <a:t>Initially push harder to build swing, then maintain with just enough </a:t>
            </a:r>
            <a:r>
              <a:rPr lang="en-US" sz="1600" dirty="0" smtClean="0">
                <a:latin typeface="fkGroteskNeue"/>
              </a:rPr>
              <a:t>energy</a:t>
            </a:r>
            <a:endParaRPr lang="en-US" sz="1600" dirty="0">
              <a:latin typeface="fkGroteskNeue"/>
            </a:endParaRPr>
          </a:p>
        </p:txBody>
      </p:sp>
      <p:sp>
        <p:nvSpPr>
          <p:cNvPr id="4" name="Rectangle 3"/>
          <p:cNvSpPr/>
          <p:nvPr/>
        </p:nvSpPr>
        <p:spPr>
          <a:xfrm>
            <a:off x="512234" y="1116449"/>
            <a:ext cx="6122246" cy="2154436"/>
          </a:xfrm>
          <a:prstGeom prst="rect">
            <a:avLst/>
          </a:prstGeom>
        </p:spPr>
        <p:txBody>
          <a:bodyPr wrap="square">
            <a:spAutoFit/>
          </a:bodyPr>
          <a:lstStyle/>
          <a:p>
            <a:pPr lvl="0" algn="ctr"/>
            <a:r>
              <a:rPr lang="en-US" b="1" kern="0" dirty="0" smtClean="0">
                <a:solidFill>
                  <a:srgbClr val="C00000"/>
                </a:solidFill>
                <a:latin typeface="fkGrotesk"/>
              </a:rPr>
              <a:t>    1. Energy </a:t>
            </a:r>
            <a:r>
              <a:rPr lang="en-US" b="1" kern="0" dirty="0">
                <a:solidFill>
                  <a:srgbClr val="C00000"/>
                </a:solidFill>
                <a:latin typeface="fkGrotesk"/>
              </a:rPr>
              <a:t>Perspective (Connecting to Pendulum</a:t>
            </a:r>
            <a:r>
              <a:rPr lang="en-US" b="1" kern="0" dirty="0" smtClean="0">
                <a:solidFill>
                  <a:srgbClr val="C00000"/>
                </a:solidFill>
                <a:latin typeface="fkGrotesk"/>
              </a:rPr>
              <a:t>)</a:t>
            </a:r>
          </a:p>
          <a:p>
            <a:pPr lvl="0" algn="ctr"/>
            <a:endParaRPr lang="en-US" sz="2000" b="1" kern="0" dirty="0">
              <a:solidFill>
                <a:srgbClr val="C00000"/>
              </a:solidFill>
              <a:latin typeface="fkGrotesk"/>
            </a:endParaRPr>
          </a:p>
          <a:p>
            <a:pPr marL="800100" lvl="1" indent="-342900" algn="just">
              <a:buFont typeface="Wingdings" panose="05000000000000000000" pitchFamily="2" charset="2"/>
              <a:buChar char="q"/>
            </a:pPr>
            <a:r>
              <a:rPr lang="en-US" sz="1600" b="1" kern="0" dirty="0">
                <a:solidFill>
                  <a:srgbClr val="002060"/>
                </a:solidFill>
                <a:latin typeface="fkGroteskNeue"/>
              </a:rPr>
              <a:t>CS amplifier alone: </a:t>
            </a:r>
            <a:r>
              <a:rPr lang="en-US" sz="1600" kern="0" dirty="0">
                <a:solidFill>
                  <a:sysClr val="windowText" lastClr="000000"/>
                </a:solidFill>
                <a:latin typeface="fkGroteskNeue"/>
              </a:rPr>
              <a:t>Can amplify, but cannot store and release energy cyclically</a:t>
            </a:r>
          </a:p>
          <a:p>
            <a:pPr marL="800100" lvl="1" indent="-342900" algn="just">
              <a:buFont typeface="Wingdings" panose="05000000000000000000" pitchFamily="2" charset="2"/>
              <a:buChar char="q"/>
            </a:pPr>
            <a:r>
              <a:rPr lang="en-US" sz="1600" b="1" kern="0" dirty="0">
                <a:solidFill>
                  <a:srgbClr val="002060"/>
                </a:solidFill>
                <a:latin typeface="fkGroteskNeue"/>
              </a:rPr>
              <a:t>With delay</a:t>
            </a:r>
            <a:r>
              <a:rPr lang="en-US" sz="1600" b="1" kern="0" dirty="0">
                <a:solidFill>
                  <a:sysClr val="windowText" lastClr="000000"/>
                </a:solidFill>
                <a:latin typeface="fkGroteskNeue"/>
              </a:rPr>
              <a:t>: </a:t>
            </a:r>
            <a:r>
              <a:rPr lang="en-US" sz="1600" kern="0" dirty="0">
                <a:solidFill>
                  <a:sysClr val="windowText" lastClr="000000"/>
                </a:solidFill>
                <a:latin typeface="fkGroteskNeue"/>
              </a:rPr>
              <a:t>Creates energy storage mechanism (signals "travel" through delay, get amplified, travel back)</a:t>
            </a:r>
          </a:p>
          <a:p>
            <a:pPr marL="800100" lvl="1" indent="-342900" algn="just">
              <a:buFont typeface="Wingdings" panose="05000000000000000000" pitchFamily="2" charset="2"/>
              <a:buChar char="q"/>
            </a:pPr>
            <a:r>
              <a:rPr lang="en-US" sz="1600" b="1" kern="0" dirty="0">
                <a:solidFill>
                  <a:srgbClr val="002060"/>
                </a:solidFill>
                <a:latin typeface="fkGroteskNeue"/>
              </a:rPr>
              <a:t>Like a pendulum: </a:t>
            </a:r>
            <a:r>
              <a:rPr lang="en-US" sz="1600" kern="0" dirty="0">
                <a:solidFill>
                  <a:sysClr val="windowText" lastClr="000000"/>
                </a:solidFill>
                <a:latin typeface="fkGroteskNeue"/>
              </a:rPr>
              <a:t>Delay provides the "swing time" while the amplifier provides the "push"</a:t>
            </a:r>
          </a:p>
        </p:txBody>
      </p:sp>
      <p:sp>
        <p:nvSpPr>
          <p:cNvPr id="5" name="Rectangle 4"/>
          <p:cNvSpPr/>
          <p:nvPr/>
        </p:nvSpPr>
        <p:spPr>
          <a:xfrm>
            <a:off x="6742007" y="1115249"/>
            <a:ext cx="5401733" cy="2154436"/>
          </a:xfrm>
          <a:prstGeom prst="rect">
            <a:avLst/>
          </a:prstGeom>
        </p:spPr>
        <p:txBody>
          <a:bodyPr wrap="square">
            <a:spAutoFit/>
          </a:bodyPr>
          <a:lstStyle/>
          <a:p>
            <a:pPr lvl="0" algn="ctr"/>
            <a:r>
              <a:rPr lang="en-US" b="1" kern="0" dirty="0">
                <a:solidFill>
                  <a:srgbClr val="C00000"/>
                </a:solidFill>
                <a:latin typeface="fkGrotesk"/>
              </a:rPr>
              <a:t>2. Phase Shift </a:t>
            </a:r>
            <a:r>
              <a:rPr lang="en-US" b="1" kern="0" dirty="0" smtClean="0">
                <a:solidFill>
                  <a:srgbClr val="C00000"/>
                </a:solidFill>
                <a:latin typeface="fkGrotesk"/>
              </a:rPr>
              <a:t>Perspective</a:t>
            </a:r>
          </a:p>
          <a:p>
            <a:pPr lvl="0" algn="ctr"/>
            <a:endParaRPr lang="en-US" sz="2000" b="1" kern="0" dirty="0">
              <a:solidFill>
                <a:srgbClr val="C00000"/>
              </a:solidFill>
              <a:latin typeface="fkGrotesk"/>
            </a:endParaRPr>
          </a:p>
          <a:p>
            <a:pPr marL="342900" indent="-342900" algn="just">
              <a:buFont typeface="Wingdings" panose="05000000000000000000" pitchFamily="2" charset="2"/>
              <a:buChar char="q"/>
            </a:pPr>
            <a:r>
              <a:rPr lang="en-US" sz="1600" b="1" kern="0" dirty="0">
                <a:solidFill>
                  <a:srgbClr val="002060"/>
                </a:solidFill>
                <a:latin typeface="fkGroteskNeue"/>
              </a:rPr>
              <a:t>Single amplifier: </a:t>
            </a:r>
            <a:r>
              <a:rPr lang="en-US" sz="1600" kern="0" dirty="0">
                <a:solidFill>
                  <a:sysClr val="windowText" lastClr="000000"/>
                </a:solidFill>
                <a:latin typeface="fkGroteskNeue"/>
              </a:rPr>
              <a:t>Limited phase shift (90° for CS stage)</a:t>
            </a:r>
          </a:p>
          <a:p>
            <a:pPr marL="342900" indent="-342900" algn="just">
              <a:buFont typeface="Wingdings" panose="05000000000000000000" pitchFamily="2" charset="2"/>
              <a:buChar char="q"/>
            </a:pPr>
            <a:r>
              <a:rPr lang="en-US" sz="1600" b="1" kern="0" dirty="0">
                <a:solidFill>
                  <a:srgbClr val="002060"/>
                </a:solidFill>
                <a:latin typeface="fkGroteskNeue"/>
              </a:rPr>
              <a:t>Delay element: </a:t>
            </a:r>
            <a:r>
              <a:rPr lang="en-US" sz="1600" kern="0" dirty="0">
                <a:solidFill>
                  <a:sysClr val="windowText" lastClr="000000"/>
                </a:solidFill>
                <a:latin typeface="fkGroteskNeue"/>
              </a:rPr>
              <a:t>Provides additional frequency-dependent phase shift</a:t>
            </a:r>
          </a:p>
          <a:p>
            <a:pPr marL="342900" indent="-342900" algn="just">
              <a:buFont typeface="Wingdings" panose="05000000000000000000" pitchFamily="2" charset="2"/>
              <a:buChar char="q"/>
            </a:pPr>
            <a:r>
              <a:rPr lang="en-US" sz="1600" b="1" kern="0" dirty="0">
                <a:solidFill>
                  <a:srgbClr val="002060"/>
                </a:solidFill>
                <a:latin typeface="fkGroteskNeue"/>
              </a:rPr>
              <a:t>Total system: </a:t>
            </a:r>
            <a:r>
              <a:rPr lang="en-US" sz="1600" kern="0" dirty="0">
                <a:solidFill>
                  <a:sysClr val="windowText" lastClr="000000"/>
                </a:solidFill>
                <a:latin typeface="fkGroteskNeue"/>
              </a:rPr>
              <a:t>Can achieve 180° at a specific frequency for oscillation</a:t>
            </a:r>
          </a:p>
        </p:txBody>
      </p:sp>
      <p:sp>
        <p:nvSpPr>
          <p:cNvPr id="6" name="Rectangle 5"/>
          <p:cNvSpPr/>
          <p:nvPr/>
        </p:nvSpPr>
        <p:spPr>
          <a:xfrm>
            <a:off x="559647" y="3696736"/>
            <a:ext cx="5935133" cy="2154436"/>
          </a:xfrm>
          <a:prstGeom prst="rect">
            <a:avLst/>
          </a:prstGeom>
        </p:spPr>
        <p:txBody>
          <a:bodyPr wrap="square">
            <a:spAutoFit/>
          </a:bodyPr>
          <a:lstStyle/>
          <a:p>
            <a:pPr lvl="0" algn="ctr"/>
            <a:r>
              <a:rPr lang="en-US" b="1" kern="0" dirty="0">
                <a:solidFill>
                  <a:srgbClr val="C00000"/>
                </a:solidFill>
                <a:latin typeface="fkGrotesk"/>
              </a:rPr>
              <a:t>3. Impedance </a:t>
            </a:r>
            <a:r>
              <a:rPr lang="en-US" b="1" kern="0" dirty="0" smtClean="0">
                <a:solidFill>
                  <a:srgbClr val="C00000"/>
                </a:solidFill>
                <a:latin typeface="fkGrotesk"/>
              </a:rPr>
              <a:t>Perspective</a:t>
            </a:r>
          </a:p>
          <a:p>
            <a:pPr lvl="0" algn="ctr"/>
            <a:endParaRPr lang="en-US" sz="2000" b="1" kern="0" dirty="0">
              <a:solidFill>
                <a:srgbClr val="C00000"/>
              </a:solidFill>
              <a:latin typeface="fkGrotesk"/>
            </a:endParaRPr>
          </a:p>
          <a:p>
            <a:pPr marL="800100" lvl="1" indent="-342900" algn="just">
              <a:buFont typeface="Wingdings" panose="05000000000000000000" pitchFamily="2" charset="2"/>
              <a:buChar char="q"/>
            </a:pPr>
            <a:r>
              <a:rPr lang="en-US" sz="1600" b="1" kern="0" dirty="0">
                <a:solidFill>
                  <a:srgbClr val="002060"/>
                </a:solidFill>
                <a:latin typeface="fkGroteskNeue"/>
              </a:rPr>
              <a:t>Oscillation occurs: </a:t>
            </a:r>
            <a:r>
              <a:rPr lang="en-US" sz="1600" kern="0" dirty="0">
                <a:solidFill>
                  <a:sysClr val="windowText" lastClr="000000"/>
                </a:solidFill>
                <a:latin typeface="fkGroteskNeue"/>
              </a:rPr>
              <a:t>When circuit impedance becomes infinite (self-sustaining)</a:t>
            </a:r>
          </a:p>
          <a:p>
            <a:pPr marL="800100" lvl="1" indent="-342900" algn="just">
              <a:buFont typeface="Wingdings" panose="05000000000000000000" pitchFamily="2" charset="2"/>
              <a:buChar char="q"/>
            </a:pPr>
            <a:r>
              <a:rPr lang="en-US" sz="1600" b="1" kern="0" dirty="0">
                <a:solidFill>
                  <a:srgbClr val="002060"/>
                </a:solidFill>
                <a:latin typeface="fkGroteskNeue"/>
              </a:rPr>
              <a:t>Physical meaning: </a:t>
            </a:r>
            <a:r>
              <a:rPr lang="en-US" sz="1600" kern="0" dirty="0">
                <a:solidFill>
                  <a:sysClr val="windowText" lastClr="000000"/>
                </a:solidFill>
                <a:latin typeface="fkGroteskNeue"/>
              </a:rPr>
              <a:t>Circuit can maintain signals without an external drive</a:t>
            </a:r>
          </a:p>
          <a:p>
            <a:pPr marL="800100" lvl="1" indent="-342900" algn="just">
              <a:buFont typeface="Wingdings" panose="05000000000000000000" pitchFamily="2" charset="2"/>
              <a:buChar char="q"/>
            </a:pPr>
            <a:r>
              <a:rPr lang="en-US" sz="1600" b="1" kern="0" dirty="0">
                <a:solidFill>
                  <a:srgbClr val="002060"/>
                </a:solidFill>
                <a:latin typeface="fkGroteskNeue"/>
              </a:rPr>
              <a:t>Mathematical condition: </a:t>
            </a:r>
            <a:r>
              <a:rPr lang="en-US" sz="1600" kern="0" dirty="0">
                <a:solidFill>
                  <a:sysClr val="windowText" lastClr="000000"/>
                </a:solidFill>
                <a:latin typeface="fkGroteskNeue"/>
              </a:rPr>
              <a:t>Denominator of impedance expression goes to zero</a:t>
            </a:r>
          </a:p>
        </p:txBody>
      </p:sp>
      <p:sp>
        <p:nvSpPr>
          <p:cNvPr id="11" name="Date Placeholder 10"/>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1D1E20A0-D6CB-460A-9C3E-5B9FB1F011F9}"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13" name="Slide Number Placeholder 12"/>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1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42184529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230588" y="4649829"/>
            <a:ext cx="11961412" cy="1154624"/>
          </a:xfrm>
          <a:prstGeom prst="rect">
            <a:avLst/>
          </a:prstGeom>
          <a:solidFill>
            <a:schemeClr val="accent3">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210300" y="1130496"/>
            <a:ext cx="5685367" cy="139680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405033" y="2870396"/>
            <a:ext cx="5376333"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90033" y="2874630"/>
            <a:ext cx="5376333"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85800" y="1155896"/>
            <a:ext cx="5333999"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Progressive Learning </a:t>
            </a:r>
            <a:r>
              <a:rPr lang="en-US" dirty="0" smtClean="0">
                <a:latin typeface="fkGrotesk"/>
              </a:rPr>
              <a:t>Path</a:t>
            </a:r>
            <a:endParaRPr lang="en-US" dirty="0"/>
          </a:p>
        </p:txBody>
      </p:sp>
      <p:sp>
        <p:nvSpPr>
          <p:cNvPr id="3" name="Text Placeholder 2"/>
          <p:cNvSpPr>
            <a:spLocks noGrp="1"/>
          </p:cNvSpPr>
          <p:nvPr>
            <p:ph type="body" idx="1"/>
          </p:nvPr>
        </p:nvSpPr>
        <p:spPr>
          <a:xfrm>
            <a:off x="295239" y="4770506"/>
            <a:ext cx="11858919" cy="1231106"/>
          </a:xfrm>
        </p:spPr>
        <p:txBody>
          <a:bodyPr/>
          <a:lstStyle/>
          <a:p>
            <a:pPr algn="just"/>
            <a:r>
              <a:rPr lang="en-US" b="1" dirty="0" smtClean="0">
                <a:latin typeface="fkGroteskNeue"/>
              </a:rPr>
              <a:t>Key </a:t>
            </a:r>
            <a:r>
              <a:rPr lang="en-US" b="1" dirty="0">
                <a:latin typeface="fkGroteskNeue"/>
              </a:rPr>
              <a:t>Takeaway: </a:t>
            </a:r>
            <a:r>
              <a:rPr lang="en-US" dirty="0">
                <a:latin typeface="fkGroteskNeue"/>
              </a:rPr>
              <a:t>Oscillation is controlled energy cycling where feedback timing (phase) and strength (gain) are precisely balanced to maintain sustained, predictable periodic behavior. Understanding this fundamental principle enables design of everything from simple RC oscillators to complex PLL </a:t>
            </a:r>
            <a:r>
              <a:rPr lang="en-US" dirty="0" smtClean="0">
                <a:latin typeface="fkGroteskNeue"/>
              </a:rPr>
              <a:t>systems</a:t>
            </a:r>
          </a:p>
          <a:p>
            <a:endParaRPr lang="en-US" dirty="0"/>
          </a:p>
        </p:txBody>
      </p:sp>
      <p:sp>
        <p:nvSpPr>
          <p:cNvPr id="4" name="Rectangle 3"/>
          <p:cNvSpPr/>
          <p:nvPr/>
        </p:nvSpPr>
        <p:spPr>
          <a:xfrm>
            <a:off x="634455" y="1149474"/>
            <a:ext cx="5431912" cy="1231106"/>
          </a:xfrm>
          <a:prstGeom prst="rect">
            <a:avLst/>
          </a:prstGeom>
        </p:spPr>
        <p:txBody>
          <a:bodyPr wrap="square">
            <a:spAutoFit/>
          </a:bodyPr>
          <a:lstStyle/>
          <a:p>
            <a:pPr lvl="0"/>
            <a:r>
              <a:rPr lang="en-US" sz="2000" b="1" kern="0" dirty="0">
                <a:solidFill>
                  <a:srgbClr val="002060"/>
                </a:solidFill>
                <a:latin typeface="fkGrotesk"/>
              </a:rPr>
              <a:t>Step 1: Master the Pendulum Analogy</a:t>
            </a:r>
          </a:p>
          <a:p>
            <a:pPr marL="800100" lvl="1" indent="-342900">
              <a:buFont typeface="Wingdings" panose="05000000000000000000" pitchFamily="2" charset="2"/>
              <a:buChar char="q"/>
            </a:pPr>
            <a:r>
              <a:rPr lang="en-US" kern="0" dirty="0">
                <a:solidFill>
                  <a:sysClr val="windowText" lastClr="000000"/>
                </a:solidFill>
                <a:latin typeface="fkGroteskNeue"/>
              </a:rPr>
              <a:t>Energy cycling between forms</a:t>
            </a:r>
          </a:p>
          <a:p>
            <a:pPr marL="800100" lvl="1" indent="-342900">
              <a:buFont typeface="Wingdings" panose="05000000000000000000" pitchFamily="2" charset="2"/>
              <a:buChar char="q"/>
            </a:pPr>
            <a:r>
              <a:rPr lang="en-US" kern="0" dirty="0">
                <a:solidFill>
                  <a:sysClr val="windowText" lastClr="000000"/>
                </a:solidFill>
                <a:latin typeface="fkGroteskNeue"/>
              </a:rPr>
              <a:t>Natural frequency independent of amplitude</a:t>
            </a:r>
          </a:p>
          <a:p>
            <a:pPr marL="800100" lvl="1" indent="-342900">
              <a:buFont typeface="Wingdings" panose="05000000000000000000" pitchFamily="2" charset="2"/>
              <a:buChar char="q"/>
            </a:pPr>
            <a:r>
              <a:rPr lang="en-US" kern="0" dirty="0">
                <a:solidFill>
                  <a:sysClr val="windowText" lastClr="000000"/>
                </a:solidFill>
                <a:latin typeface="fkGroteskNeue"/>
              </a:rPr>
              <a:t>Need periodic "pushes" to overcome losses</a:t>
            </a:r>
          </a:p>
        </p:txBody>
      </p:sp>
      <p:sp>
        <p:nvSpPr>
          <p:cNvPr id="5" name="Rectangle 4"/>
          <p:cNvSpPr/>
          <p:nvPr/>
        </p:nvSpPr>
        <p:spPr>
          <a:xfrm>
            <a:off x="6179722" y="1073767"/>
            <a:ext cx="5741346" cy="1508105"/>
          </a:xfrm>
          <a:prstGeom prst="rect">
            <a:avLst/>
          </a:prstGeom>
        </p:spPr>
        <p:txBody>
          <a:bodyPr wrap="square">
            <a:spAutoFit/>
          </a:bodyPr>
          <a:lstStyle/>
          <a:p>
            <a:pPr lvl="0"/>
            <a:r>
              <a:rPr lang="en-US" sz="2000" b="1" kern="0" dirty="0">
                <a:solidFill>
                  <a:srgbClr val="002060"/>
                </a:solidFill>
                <a:latin typeface="fkGrotesk"/>
              </a:rPr>
              <a:t>Step 2: Understand Electronic Energy Cycling</a:t>
            </a:r>
          </a:p>
          <a:p>
            <a:pPr marL="800100" lvl="1" indent="-342900" algn="just">
              <a:buFont typeface="Wingdings" panose="05000000000000000000" pitchFamily="2" charset="2"/>
              <a:buChar char="q"/>
            </a:pPr>
            <a:r>
              <a:rPr lang="en-US" kern="0" dirty="0">
                <a:solidFill>
                  <a:sysClr val="windowText" lastClr="000000"/>
                </a:solidFill>
                <a:latin typeface="fkGroteskNeue"/>
              </a:rPr>
              <a:t>Voltage/current oscillations in LC circuits</a:t>
            </a:r>
          </a:p>
          <a:p>
            <a:pPr marL="800100" lvl="1" indent="-342900" algn="just">
              <a:buFont typeface="Wingdings" panose="05000000000000000000" pitchFamily="2" charset="2"/>
              <a:buChar char="q"/>
            </a:pPr>
            <a:r>
              <a:rPr lang="en-US" kern="0" dirty="0">
                <a:solidFill>
                  <a:sysClr val="windowText" lastClr="000000"/>
                </a:solidFill>
                <a:latin typeface="fkGroteskNeue"/>
              </a:rPr>
              <a:t>Delay-based energy storage (signals traveling back and forth)</a:t>
            </a:r>
          </a:p>
          <a:p>
            <a:pPr marL="800100" lvl="1" indent="-342900" algn="just">
              <a:buFont typeface="Wingdings" panose="05000000000000000000" pitchFamily="2" charset="2"/>
              <a:buChar char="q"/>
            </a:pPr>
            <a:r>
              <a:rPr lang="en-US" kern="0" dirty="0">
                <a:solidFill>
                  <a:sysClr val="windowText" lastClr="000000"/>
                </a:solidFill>
                <a:latin typeface="fkGroteskNeue"/>
              </a:rPr>
              <a:t>Active feedback providing the "pushes"</a:t>
            </a:r>
          </a:p>
        </p:txBody>
      </p:sp>
      <p:sp>
        <p:nvSpPr>
          <p:cNvPr id="9" name="Rectangle 8"/>
          <p:cNvSpPr/>
          <p:nvPr/>
        </p:nvSpPr>
        <p:spPr>
          <a:xfrm>
            <a:off x="6328833" y="2866936"/>
            <a:ext cx="5820834" cy="1200329"/>
          </a:xfrm>
          <a:prstGeom prst="rect">
            <a:avLst/>
          </a:prstGeom>
        </p:spPr>
        <p:txBody>
          <a:bodyPr wrap="square">
            <a:spAutoFit/>
          </a:bodyPr>
          <a:lstStyle/>
          <a:p>
            <a:r>
              <a:rPr lang="en-US" b="1" dirty="0">
                <a:solidFill>
                  <a:srgbClr val="002060"/>
                </a:solidFill>
                <a:latin typeface="fkGrotesk"/>
              </a:rPr>
              <a:t>Step 4: Link to PLL Applications</a:t>
            </a:r>
          </a:p>
          <a:p>
            <a:pPr marL="800100" lvl="1" indent="-342900">
              <a:buFont typeface="Wingdings" panose="05000000000000000000" pitchFamily="2" charset="2"/>
              <a:buChar char="q"/>
            </a:pPr>
            <a:r>
              <a:rPr lang="en-US" dirty="0">
                <a:latin typeface="fkGroteskNeue"/>
              </a:rPr>
              <a:t>VCOs as controlled oscillators</a:t>
            </a:r>
          </a:p>
          <a:p>
            <a:pPr marL="800100" lvl="1" indent="-342900">
              <a:buFont typeface="Wingdings" panose="05000000000000000000" pitchFamily="2" charset="2"/>
              <a:buChar char="q"/>
            </a:pPr>
            <a:r>
              <a:rPr lang="en-US" dirty="0">
                <a:latin typeface="fkGroteskNeue"/>
              </a:rPr>
              <a:t>Phase-locked feedback for frequency control</a:t>
            </a:r>
          </a:p>
          <a:p>
            <a:pPr marL="800100" lvl="1" indent="-342900">
              <a:buFont typeface="Wingdings" panose="05000000000000000000" pitchFamily="2" charset="2"/>
              <a:buChar char="q"/>
            </a:pPr>
            <a:r>
              <a:rPr lang="en-US" dirty="0">
                <a:latin typeface="fkGroteskNeue"/>
              </a:rPr>
              <a:t>Jitter and stability considerations</a:t>
            </a:r>
          </a:p>
        </p:txBody>
      </p:sp>
      <p:sp>
        <p:nvSpPr>
          <p:cNvPr id="10" name="Rectangle 9"/>
          <p:cNvSpPr/>
          <p:nvPr/>
        </p:nvSpPr>
        <p:spPr>
          <a:xfrm>
            <a:off x="677334" y="2851547"/>
            <a:ext cx="5549899" cy="1231106"/>
          </a:xfrm>
          <a:prstGeom prst="rect">
            <a:avLst/>
          </a:prstGeom>
        </p:spPr>
        <p:txBody>
          <a:bodyPr wrap="square">
            <a:spAutoFit/>
          </a:bodyPr>
          <a:lstStyle/>
          <a:p>
            <a:pPr lvl="0"/>
            <a:r>
              <a:rPr lang="en-US" sz="2000" b="1" kern="0" dirty="0">
                <a:solidFill>
                  <a:srgbClr val="002060"/>
                </a:solidFill>
                <a:latin typeface="fkGrotesk"/>
              </a:rPr>
              <a:t>Step 3: Connect to Practical Oscillators</a:t>
            </a:r>
          </a:p>
          <a:p>
            <a:pPr marL="800100" lvl="1" indent="-342900">
              <a:buFont typeface="Wingdings" panose="05000000000000000000" pitchFamily="2" charset="2"/>
              <a:buChar char="q"/>
            </a:pPr>
            <a:r>
              <a:rPr lang="en-US" kern="0" dirty="0">
                <a:solidFill>
                  <a:sysClr val="windowText" lastClr="000000"/>
                </a:solidFill>
                <a:latin typeface="fkGroteskNeue"/>
              </a:rPr>
              <a:t>Ring oscillators (cascade of delay elements)</a:t>
            </a:r>
          </a:p>
          <a:p>
            <a:pPr marL="800100" lvl="1" indent="-342900">
              <a:buFont typeface="Wingdings" panose="05000000000000000000" pitchFamily="2" charset="2"/>
              <a:buChar char="q"/>
            </a:pPr>
            <a:r>
              <a:rPr lang="en-US" kern="0" dirty="0">
                <a:solidFill>
                  <a:sysClr val="windowText" lastClr="000000"/>
                </a:solidFill>
                <a:latin typeface="fkGroteskNeue"/>
              </a:rPr>
              <a:t>LC oscillators (resonant energy storage)</a:t>
            </a:r>
          </a:p>
          <a:p>
            <a:pPr marL="800100" lvl="1" indent="-342900">
              <a:buFont typeface="Wingdings" panose="05000000000000000000" pitchFamily="2" charset="2"/>
              <a:buChar char="q"/>
            </a:pPr>
            <a:r>
              <a:rPr lang="en-US" kern="0" dirty="0">
                <a:solidFill>
                  <a:sysClr val="windowText" lastClr="000000"/>
                </a:solidFill>
                <a:latin typeface="fkGroteskNeue"/>
              </a:rPr>
              <a:t>Crystal oscillators (mechanical resonance)</a:t>
            </a:r>
          </a:p>
        </p:txBody>
      </p:sp>
      <p:sp>
        <p:nvSpPr>
          <p:cNvPr id="6" name="Date Placeholder 5"/>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E677A29-7455-411C-8D8E-600C85E2053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8" name="Slide Number Placeholder 7"/>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15"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10324001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84" y="0"/>
            <a:ext cx="10593196" cy="984885"/>
          </a:xfrm>
        </p:spPr>
        <p:txBody>
          <a:bodyPr/>
          <a:lstStyle/>
          <a:p>
            <a:r>
              <a:rPr lang="en-US" sz="3200" dirty="0">
                <a:latin typeface="fkGrotesk"/>
              </a:rPr>
              <a:t>Fundamental </a:t>
            </a:r>
            <a:r>
              <a:rPr lang="en-US" sz="3200" dirty="0" smtClean="0">
                <a:latin typeface="fkGrotesk"/>
              </a:rPr>
              <a:t>Intuition </a:t>
            </a:r>
            <a:r>
              <a:rPr lang="en-US" sz="3200" dirty="0">
                <a:latin typeface="fkGrotesk"/>
              </a:rPr>
              <a:t>for Oscillator Startup, Growth, and </a:t>
            </a:r>
            <a:r>
              <a:rPr lang="en-US" sz="3200" dirty="0" smtClean="0">
                <a:latin typeface="fkGrotesk"/>
              </a:rPr>
              <a:t>Topologies</a:t>
            </a:r>
            <a:endParaRPr lang="en-US" sz="3200" dirty="0"/>
          </a:p>
        </p:txBody>
      </p:sp>
      <p:sp>
        <p:nvSpPr>
          <p:cNvPr id="3" name="Text Placeholder 2"/>
          <p:cNvSpPr>
            <a:spLocks noGrp="1"/>
          </p:cNvSpPr>
          <p:nvPr>
            <p:ph type="body" idx="1"/>
          </p:nvPr>
        </p:nvSpPr>
        <p:spPr>
          <a:xfrm>
            <a:off x="844550" y="1327353"/>
            <a:ext cx="10599590" cy="2154436"/>
          </a:xfrm>
        </p:spPr>
        <p:txBody>
          <a:bodyPr/>
          <a:lstStyle/>
          <a:p>
            <a:pPr marL="342900" indent="-342900" algn="just">
              <a:buFont typeface="Wingdings" panose="05000000000000000000" pitchFamily="2" charset="2"/>
              <a:buChar char="q"/>
            </a:pPr>
            <a:r>
              <a:rPr lang="en-US" dirty="0"/>
              <a:t>Oscillators are deliberately driven to the edge of instability so that, with the right loop gain and phase shift, they transition from a stable amplifier to a self-sustaining periodic generator. </a:t>
            </a:r>
            <a:endParaRPr lang="en-US" dirty="0" smtClean="0"/>
          </a:p>
          <a:p>
            <a:pPr marL="342900" indent="-342900" algn="just">
              <a:buFont typeface="Wingdings" panose="05000000000000000000" pitchFamily="2" charset="2"/>
              <a:buChar char="q"/>
            </a:pPr>
            <a:endParaRPr lang="en-US" dirty="0" smtClean="0"/>
          </a:p>
          <a:p>
            <a:pPr marL="342900" indent="-342900" algn="just">
              <a:buFont typeface="Wingdings" panose="05000000000000000000" pitchFamily="2" charset="2"/>
              <a:buChar char="q"/>
            </a:pPr>
            <a:r>
              <a:rPr lang="en-US" dirty="0" smtClean="0"/>
              <a:t>The </a:t>
            </a:r>
            <a:r>
              <a:rPr lang="en-US" dirty="0"/>
              <a:t>following distilled insights and figure breakdowns provide an intuitive, energy-and-feedback view of how real circuits meet these conditions and manage startup, growth, and topology choices</a:t>
            </a: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EF2DEA6-F502-4829-970E-53163E4AEC1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41404533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9144000" y="2676939"/>
            <a:ext cx="3048000" cy="313745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2723322"/>
            <a:ext cx="4005470" cy="298173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605115" y="1865243"/>
            <a:ext cx="8304198" cy="81832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1. Startup Condition Beyond </a:t>
            </a:r>
            <a:r>
              <a:rPr lang="en-US" dirty="0" err="1" smtClean="0"/>
              <a:t>Barkhausen</a:t>
            </a:r>
            <a:endParaRPr lang="en-US" dirty="0"/>
          </a:p>
        </p:txBody>
      </p:sp>
      <p:sp>
        <p:nvSpPr>
          <p:cNvPr id="3" name="Text Placeholder 2"/>
          <p:cNvSpPr>
            <a:spLocks noGrp="1"/>
          </p:cNvSpPr>
          <p:nvPr>
            <p:ph type="body" idx="1"/>
          </p:nvPr>
        </p:nvSpPr>
        <p:spPr>
          <a:xfrm>
            <a:off x="706966" y="1103989"/>
            <a:ext cx="10903975" cy="1754326"/>
          </a:xfrm>
        </p:spPr>
        <p:txBody>
          <a:bodyPr/>
          <a:lstStyle/>
          <a:p>
            <a:pPr algn="just"/>
            <a:r>
              <a:rPr lang="en-US" dirty="0">
                <a:latin typeface="fkGroteskNeue"/>
              </a:rPr>
              <a:t>Real oscillators are designed with a loop gain slightly </a:t>
            </a:r>
            <a:r>
              <a:rPr lang="en-US" b="1" dirty="0">
                <a:latin typeface="fkGroteskNeue"/>
              </a:rPr>
              <a:t>greater than one</a:t>
            </a:r>
            <a:r>
              <a:rPr lang="en-US" dirty="0">
                <a:latin typeface="fkGroteskNeue"/>
              </a:rPr>
              <a:t> at the desired frequency to guarantee startup despite manufacturing and environmental variations</a:t>
            </a:r>
            <a:r>
              <a:rPr lang="en-US" dirty="0" smtClean="0">
                <a:latin typeface="fkGroteskNeue"/>
              </a:rPr>
              <a:t>:</a:t>
            </a:r>
          </a:p>
          <a:p>
            <a:pPr algn="just"/>
            <a:endParaRPr lang="en-US" dirty="0">
              <a:latin typeface="fkGroteskNeue"/>
            </a:endParaRPr>
          </a:p>
          <a:p>
            <a:pPr marL="1257300" lvl="2" indent="-342900" algn="just">
              <a:buFont typeface="Wingdings" panose="05000000000000000000" pitchFamily="2" charset="2"/>
              <a:buChar char="q"/>
            </a:pPr>
            <a:r>
              <a:rPr lang="en-US" dirty="0">
                <a:latin typeface="fkGroteskNeue"/>
              </a:rPr>
              <a:t>|H(</a:t>
            </a:r>
            <a:r>
              <a:rPr lang="en-US" dirty="0" err="1">
                <a:latin typeface="fkGroteskNeue"/>
              </a:rPr>
              <a:t>jω</a:t>
            </a:r>
            <a:r>
              <a:rPr lang="en-US" dirty="0">
                <a:latin typeface="fkGroteskNeue"/>
              </a:rPr>
              <a:t>₀)|&gt;1 ensures the initial amplitude grows from noise or a tiny perturbation.</a:t>
            </a:r>
          </a:p>
          <a:p>
            <a:pPr marL="1257300" lvl="2" indent="-342900" algn="just">
              <a:buFont typeface="Wingdings" panose="05000000000000000000" pitchFamily="2" charset="2"/>
              <a:buChar char="q"/>
            </a:pPr>
            <a:r>
              <a:rPr lang="en-US" dirty="0">
                <a:latin typeface="fkGroteskNeue"/>
              </a:rPr>
              <a:t>∠H(</a:t>
            </a:r>
            <a:r>
              <a:rPr lang="en-US" dirty="0" err="1">
                <a:latin typeface="fkGroteskNeue"/>
              </a:rPr>
              <a:t>jω</a:t>
            </a:r>
            <a:r>
              <a:rPr lang="en-US" dirty="0">
                <a:latin typeface="fkGroteskNeue"/>
              </a:rPr>
              <a:t>₀)=180° still holds so that the feedback is effectively positive at ω₀.</a:t>
            </a:r>
          </a:p>
          <a:p>
            <a:pPr lvl="1" algn="just"/>
            <a:endParaRPr lang="en-US" dirty="0">
              <a:latin typeface="fkGroteskNeue"/>
            </a:endParaRPr>
          </a:p>
        </p:txBody>
      </p:sp>
      <p:sp>
        <p:nvSpPr>
          <p:cNvPr id="5" name="Date Placeholder 4"/>
          <p:cNvSpPr>
            <a:spLocks noGrp="1"/>
          </p:cNvSpPr>
          <p:nvPr>
            <p:ph type="dt" sz="half" idx="6"/>
          </p:nvPr>
        </p:nvSpPr>
        <p:spPr>
          <a:xfrm>
            <a:off x="16593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115DE5D4-3956-4B6E-A65D-822D1583AB9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52609"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4782" t="2099" r="3405" b="1"/>
          <a:stretch/>
        </p:blipFill>
        <p:spPr>
          <a:xfrm>
            <a:off x="4159531" y="2963147"/>
            <a:ext cx="4889053" cy="1946783"/>
          </a:xfrm>
          <a:prstGeom prst="rect">
            <a:avLst/>
          </a:prstGeom>
        </p:spPr>
      </p:pic>
      <p:sp>
        <p:nvSpPr>
          <p:cNvPr id="8" name="Rectangle 7"/>
          <p:cNvSpPr/>
          <p:nvPr/>
        </p:nvSpPr>
        <p:spPr>
          <a:xfrm>
            <a:off x="3759201" y="5796375"/>
            <a:ext cx="5444194" cy="415498"/>
          </a:xfrm>
          <a:prstGeom prst="rect">
            <a:avLst/>
          </a:prstGeom>
        </p:spPr>
        <p:txBody>
          <a:bodyPr wrap="square">
            <a:spAutoFit/>
          </a:bodyPr>
          <a:lstStyle/>
          <a:p>
            <a:pPr algn="just"/>
            <a:r>
              <a:rPr lang="en-US" sz="1050" b="1" i="0" u="none" strike="noStrike" baseline="0" dirty="0" smtClean="0">
                <a:solidFill>
                  <a:srgbClr val="231F20"/>
                </a:solidFill>
                <a:latin typeface="T3Font_151"/>
              </a:rPr>
              <a:t>Open-loop </a:t>
            </a:r>
            <a:r>
              <a:rPr lang="en-US" sz="1050" b="1" i="0" u="none" strike="noStrike" baseline="0" dirty="0" smtClean="0">
                <a:solidFill>
                  <a:srgbClr val="231F20"/>
                </a:solidFill>
                <a:latin typeface="T3Font_151"/>
              </a:rPr>
              <a:t>response with gain greater than unity at </a:t>
            </a:r>
            <a:r>
              <a:rPr lang="en-US" sz="1050" b="1" i="0" u="none" strike="noStrike" baseline="0" dirty="0" smtClean="0">
                <a:solidFill>
                  <a:srgbClr val="231F20"/>
                </a:solidFill>
                <a:latin typeface="T3Font_159"/>
              </a:rPr>
              <a:t>ω</a:t>
            </a:r>
            <a:r>
              <a:rPr lang="en-US" sz="900" b="1" i="0" u="none" strike="noStrike" baseline="0" dirty="0" smtClean="0">
                <a:solidFill>
                  <a:srgbClr val="231F20"/>
                </a:solidFill>
                <a:latin typeface="T3Font_153"/>
              </a:rPr>
              <a:t>0</a:t>
            </a:r>
            <a:r>
              <a:rPr lang="en-US" sz="1050" b="1" i="0" u="none" strike="noStrike" baseline="0" dirty="0" smtClean="0">
                <a:solidFill>
                  <a:srgbClr val="231F20"/>
                </a:solidFill>
                <a:latin typeface="T3Font_151"/>
              </a:rPr>
              <a:t>, and (b) impulse response of closed-loop system.</a:t>
            </a:r>
            <a:endParaRPr lang="en-US" sz="2800" b="1" dirty="0"/>
          </a:p>
        </p:txBody>
      </p:sp>
      <p:sp>
        <p:nvSpPr>
          <p:cNvPr id="9" name="Rectangle 8"/>
          <p:cNvSpPr/>
          <p:nvPr/>
        </p:nvSpPr>
        <p:spPr>
          <a:xfrm>
            <a:off x="-506712" y="2760130"/>
            <a:ext cx="4487333" cy="2862322"/>
          </a:xfrm>
          <a:prstGeom prst="rect">
            <a:avLst/>
          </a:prstGeom>
        </p:spPr>
        <p:txBody>
          <a:bodyPr wrap="square">
            <a:spAutoFit/>
          </a:bodyPr>
          <a:lstStyle/>
          <a:p>
            <a:pPr marL="742950" lvl="1" indent="-285750" algn="just">
              <a:buFont typeface="Wingdings" panose="05000000000000000000" pitchFamily="2" charset="2"/>
              <a:buChar char="q"/>
            </a:pPr>
            <a:r>
              <a:rPr lang="en-US" kern="0" dirty="0">
                <a:solidFill>
                  <a:sysClr val="windowText" lastClr="000000"/>
                </a:solidFill>
                <a:latin typeface="fkGroteskNeue"/>
              </a:rPr>
              <a:t>Shows an open-loop Bode plot with magnitude &gt;2 at ω₀ and phase = –180°. Simply having |H|&gt;1 and phase =180° at ω₀ does not guarantee the loop oscillates exactly at that frequency;</a:t>
            </a:r>
          </a:p>
          <a:p>
            <a:pPr marL="742950" lvl="1" indent="-285750" algn="just">
              <a:buFont typeface="Wingdings" panose="05000000000000000000" pitchFamily="2" charset="2"/>
              <a:buChar char="q"/>
            </a:pPr>
            <a:r>
              <a:rPr lang="en-US" kern="0" dirty="0">
                <a:solidFill>
                  <a:sysClr val="windowText" lastClr="000000"/>
                </a:solidFill>
                <a:latin typeface="fkGroteskNeue"/>
              </a:rPr>
              <a:t> The system actually finds a complex pole s₁ (σ₁+</a:t>
            </a:r>
            <a:r>
              <a:rPr lang="en-US" kern="0" dirty="0" err="1">
                <a:solidFill>
                  <a:sysClr val="windowText" lastClr="000000"/>
                </a:solidFill>
                <a:latin typeface="fkGroteskNeue"/>
              </a:rPr>
              <a:t>jω</a:t>
            </a:r>
            <a:r>
              <a:rPr lang="en-US" kern="0" dirty="0">
                <a:solidFill>
                  <a:sysClr val="windowText" lastClr="000000"/>
                </a:solidFill>
                <a:latin typeface="fkGroteskNeue"/>
              </a:rPr>
              <a:t>₁) satisfying H(s₁)=–1, with σ₁&gt;0 to provide growth.</a:t>
            </a:r>
          </a:p>
        </p:txBody>
      </p:sp>
      <p:sp>
        <p:nvSpPr>
          <p:cNvPr id="10" name="Rectangle 9"/>
          <p:cNvSpPr/>
          <p:nvPr/>
        </p:nvSpPr>
        <p:spPr>
          <a:xfrm>
            <a:off x="8605007" y="2710334"/>
            <a:ext cx="3674606" cy="3139321"/>
          </a:xfrm>
          <a:prstGeom prst="rect">
            <a:avLst/>
          </a:prstGeom>
        </p:spPr>
        <p:txBody>
          <a:bodyPr wrap="square">
            <a:spAutoFit/>
          </a:bodyPr>
          <a:lstStyle/>
          <a:p>
            <a:pPr marL="742950" lvl="1" indent="-285750" algn="just">
              <a:buFont typeface="Wingdings" panose="05000000000000000000" pitchFamily="2" charset="2"/>
              <a:buChar char="q"/>
            </a:pPr>
            <a:r>
              <a:rPr lang="en-US" dirty="0">
                <a:latin typeface="fkGroteskNeue"/>
              </a:rPr>
              <a:t>It depicts that when an impulse enters this marginally unstable loop, even a brief pulse blossoms into a growing sinusoid—demonstrating that startup occurs from any nonzero seed, </a:t>
            </a:r>
          </a:p>
          <a:p>
            <a:pPr marL="742950" lvl="1" indent="-285750" algn="just">
              <a:buFont typeface="Wingdings" panose="05000000000000000000" pitchFamily="2" charset="2"/>
              <a:buChar char="q"/>
            </a:pPr>
            <a:r>
              <a:rPr lang="en-US" dirty="0">
                <a:latin typeface="fkGroteskNeue"/>
              </a:rPr>
              <a:t>It tends to not just steady‐state sinusoidal injection</a:t>
            </a:r>
            <a:endParaRPr lang="en-US" dirty="0"/>
          </a:p>
        </p:txBody>
      </p:sp>
      <p:sp>
        <p:nvSpPr>
          <p:cNvPr id="1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67695607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891131" y="4525617"/>
            <a:ext cx="4923183" cy="198451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6848061" y="1802294"/>
            <a:ext cx="4923183" cy="22628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450575" y="5184249"/>
            <a:ext cx="5930347" cy="132919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96957" y="1451113"/>
            <a:ext cx="5854147" cy="326997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584668" y="1144473"/>
                <a:ext cx="5719879" cy="5195077"/>
              </a:xfrm>
            </p:spPr>
            <p:txBody>
              <a:bodyPr/>
              <a:lstStyle/>
              <a:p>
                <a:pPr algn="ctr"/>
                <a:r>
                  <a:rPr lang="en-US" b="1" dirty="0">
                    <a:solidFill>
                      <a:srgbClr val="C00000"/>
                    </a:solidFill>
                    <a:latin typeface="Verdana" panose="020B0604030504040204" pitchFamily="34" charset="0"/>
                    <a:ea typeface="Verdana" panose="020B0604030504040204" pitchFamily="34" charset="0"/>
                    <a:cs typeface="inter"/>
                  </a:rPr>
                  <a:t>Magnitude Response Structure</a:t>
                </a:r>
                <a:endParaRPr lang="en-US" sz="1600" dirty="0">
                  <a:solidFill>
                    <a:srgbClr val="C00000"/>
                  </a:solidFill>
                  <a:latin typeface="Verdana" panose="020B0604030504040204" pitchFamily="34" charset="0"/>
                  <a:ea typeface="Verdana" panose="020B0604030504040204" pitchFamily="34" charset="0"/>
                  <a:cs typeface="Times New Roman" panose="02020603050405020304" pitchFamily="18" charset="0"/>
                </a:endParaRPr>
              </a:p>
              <a:p>
                <a:r>
                  <a:rPr lang="en-US" sz="1800" dirty="0">
                    <a:solidFill>
                      <a:srgbClr val="000000"/>
                    </a:solidFill>
                    <a:latin typeface="Verdana" panose="020B0604030504040204" pitchFamily="34" charset="0"/>
                    <a:ea typeface="Verdana" panose="020B0604030504040204" pitchFamily="34" charset="0"/>
                    <a:cs typeface="inter"/>
                  </a:rPr>
                  <a:t>The open-loop magnitude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Verdana" panose="020B0604030504040204" pitchFamily="34" charset="0"/>
                    <a:ea typeface="Verdana" panose="020B0604030504040204" pitchFamily="34" charset="0"/>
                    <a:cs typeface="inter"/>
                  </a:rPr>
                  <a:t>:</a:t>
                </a:r>
                <a:endParaRPr lang="en-US" sz="1800" dirty="0">
                  <a:latin typeface="Verdana" panose="020B0604030504040204" pitchFamily="34" charset="0"/>
                  <a:ea typeface="Verdana" panose="020B060403050404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ad>
                            <m:radPr>
                              <m:degHide m:val="on"/>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sz="1800"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dirty="0">
                    <a:solidFill>
                      <a:srgbClr val="000000"/>
                    </a:solidFill>
                    <a:latin typeface="Verdana" panose="020B0604030504040204" pitchFamily="34" charset="0"/>
                    <a:ea typeface="Verdana" panose="020B0604030504040204" pitchFamily="34" charset="0"/>
                    <a:cs typeface="inter"/>
                  </a:rPr>
                  <a:t>At low frequency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800" dirty="0">
                    <a:solidFill>
                      <a:srgbClr val="000000"/>
                    </a:solidFill>
                    <a:latin typeface="Verdana" panose="020B0604030504040204" pitchFamily="34" charset="0"/>
                    <a:ea typeface="Verdana" panose="020B0604030504040204" pitchFamily="34" charset="0"/>
                    <a:cs typeface="inter"/>
                  </a:rPr>
                  <a:t>):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800" dirty="0">
                    <a:solidFill>
                      <a:srgbClr val="000000"/>
                    </a:solidFill>
                    <a:latin typeface="Verdana" panose="020B0604030504040204" pitchFamily="34" charset="0"/>
                    <a:ea typeface="Verdana" panose="020B0604030504040204" pitchFamily="34" charset="0"/>
                    <a:cs typeface="inter"/>
                  </a:rPr>
                  <a:t> (maximum)</a:t>
                </a:r>
                <a:endParaRPr lang="en-US" sz="1800"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dirty="0">
                    <a:solidFill>
                      <a:srgbClr val="000000"/>
                    </a:solidFill>
                    <a:latin typeface="Verdana" panose="020B0604030504040204" pitchFamily="34" charset="0"/>
                    <a:ea typeface="Verdana" panose="020B0604030504040204" pitchFamily="34" charset="0"/>
                    <a:cs typeface="inter"/>
                  </a:rPr>
                  <a:t>At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Verdana" panose="020B0604030504040204" pitchFamily="34" charset="0"/>
                    <a:ea typeface="Verdana" panose="020B0604030504040204" pitchFamily="34" charset="0"/>
                    <a:cs typeface="inter"/>
                  </a:rPr>
                  <a:t>: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e>
                    </m:rad>
                  </m:oMath>
                </a14:m>
                <a:r>
                  <a:rPr lang="en-US" sz="1800" dirty="0">
                    <a:solidFill>
                      <a:srgbClr val="000000"/>
                    </a:solidFill>
                    <a:latin typeface="Verdana" panose="020B0604030504040204" pitchFamily="34" charset="0"/>
                    <a:ea typeface="Verdana" panose="020B0604030504040204" pitchFamily="34" charset="0"/>
                    <a:cs typeface="inter"/>
                  </a:rPr>
                  <a:t> (–3 dB point)</a:t>
                </a:r>
                <a:endParaRPr lang="en-US" sz="1800"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dirty="0">
                    <a:solidFill>
                      <a:srgbClr val="000000"/>
                    </a:solidFill>
                    <a:latin typeface="Verdana" panose="020B0604030504040204" pitchFamily="34" charset="0"/>
                    <a:ea typeface="Verdana" panose="020B0604030504040204" pitchFamily="34" charset="0"/>
                    <a:cs typeface="inter"/>
                  </a:rPr>
                  <a:t>At high frequency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Verdana" panose="020B0604030504040204" pitchFamily="34" charset="0"/>
                    <a:ea typeface="Verdana" panose="020B0604030504040204" pitchFamily="34" charset="0"/>
                    <a:cs typeface="inter"/>
                  </a:rPr>
                  <a:t>):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800" dirty="0">
                    <a:solidFill>
                      <a:srgbClr val="000000"/>
                    </a:solidFill>
                    <a:latin typeface="Verdana" panose="020B0604030504040204" pitchFamily="34" charset="0"/>
                    <a:ea typeface="Verdana" panose="020B0604030504040204" pitchFamily="34" charset="0"/>
                    <a:cs typeface="inter"/>
                  </a:rPr>
                  <a:t> (–20 dB/decade </a:t>
                </a:r>
                <a:r>
                  <a:rPr lang="en-US" sz="1800" dirty="0" err="1">
                    <a:solidFill>
                      <a:srgbClr val="000000"/>
                    </a:solidFill>
                    <a:latin typeface="Verdana" panose="020B0604030504040204" pitchFamily="34" charset="0"/>
                    <a:ea typeface="Verdana" panose="020B0604030504040204" pitchFamily="34" charset="0"/>
                    <a:cs typeface="inter"/>
                  </a:rPr>
                  <a:t>rolloff</a:t>
                </a:r>
                <a:r>
                  <a:rPr lang="en-US" sz="1800" dirty="0" smtClean="0">
                    <a:solidFill>
                      <a:srgbClr val="000000"/>
                    </a:solidFill>
                    <a:latin typeface="Verdana" panose="020B0604030504040204" pitchFamily="34" charset="0"/>
                    <a:ea typeface="Verdana" panose="020B0604030504040204" pitchFamily="34" charset="0"/>
                    <a:cs typeface="inter"/>
                  </a:rPr>
                  <a:t>)</a:t>
                </a:r>
              </a:p>
              <a:p>
                <a:pPr marL="342900" marR="0" lvl="0" indent="-342900">
                  <a:buFont typeface="Wingdings" panose="05000000000000000000" pitchFamily="2" charset="2"/>
                  <a:buChar char="q"/>
                  <a:tabLst>
                    <a:tab pos="571500" algn="l"/>
                  </a:tabLst>
                </a:pPr>
                <a:endParaRPr lang="en-US" sz="1800" dirty="0">
                  <a:solidFill>
                    <a:srgbClr val="000000"/>
                  </a:solidFill>
                  <a:latin typeface="Verdana" panose="020B0604030504040204" pitchFamily="34" charset="0"/>
                  <a:ea typeface="Verdana" panose="020B0604030504040204" pitchFamily="34" charset="0"/>
                  <a:cs typeface="inter"/>
                </a:endParaRPr>
              </a:p>
              <a:p>
                <a:pPr marL="342900" marR="0" lvl="0" indent="-342900">
                  <a:buFont typeface="Wingdings" panose="05000000000000000000" pitchFamily="2" charset="2"/>
                  <a:buChar char="q"/>
                  <a:tabLst>
                    <a:tab pos="571500" algn="l"/>
                  </a:tabLst>
                </a:pPr>
                <a:endParaRPr lang="en-US" sz="1800" dirty="0" smtClean="0">
                  <a:solidFill>
                    <a:srgbClr val="000000"/>
                  </a:solidFill>
                  <a:latin typeface="Verdana" panose="020B0604030504040204" pitchFamily="34" charset="0"/>
                  <a:ea typeface="Verdana" panose="020B0604030504040204" pitchFamily="34" charset="0"/>
                  <a:cs typeface="inter"/>
                </a:endParaRPr>
              </a:p>
              <a:p>
                <a:pPr marL="342900" marR="0" lvl="0" indent="-342900">
                  <a:buFont typeface="Wingdings" panose="05000000000000000000" pitchFamily="2" charset="2"/>
                  <a:buChar char="q"/>
                  <a:tabLst>
                    <a:tab pos="571500" algn="l"/>
                  </a:tabLst>
                </a:pPr>
                <a:endParaRPr lang="en-US" dirty="0">
                  <a:latin typeface="Verdana" panose="020B0604030504040204" pitchFamily="34" charset="0"/>
                  <a:ea typeface="Verdana" panose="020B0604030504040204" pitchFamily="34" charset="0"/>
                  <a:cs typeface="Times New Roman" panose="02020603050405020304" pitchFamily="18" charset="0"/>
                </a:endParaRPr>
              </a:p>
              <a:p>
                <a:pPr algn="ctr"/>
                <a:r>
                  <a:rPr lang="en-US" b="1" dirty="0">
                    <a:solidFill>
                      <a:srgbClr val="C00000"/>
                    </a:solidFill>
                    <a:latin typeface="Verdana" panose="020B0604030504040204" pitchFamily="34" charset="0"/>
                    <a:ea typeface="Verdana" panose="020B0604030504040204" pitchFamily="34" charset="0"/>
                    <a:cs typeface="inter"/>
                  </a:rPr>
                  <a:t>Oscillation Condition:</a:t>
                </a:r>
                <a:endParaRPr lang="en-US" dirty="0">
                  <a:solidFill>
                    <a:srgbClr val="C00000"/>
                  </a:solidFill>
                  <a:latin typeface="Verdana" panose="020B0604030504040204" pitchFamily="34" charset="0"/>
                  <a:ea typeface="Verdana" panose="020B0604030504040204" pitchFamily="34" charset="0"/>
                  <a:cs typeface="Times New Roman" panose="02020603050405020304" pitchFamily="18" charset="0"/>
                </a:endParaRPr>
              </a:p>
              <a:p>
                <a:pPr algn="just"/>
                <a:r>
                  <a:rPr lang="en-US" sz="1800" dirty="0">
                    <a:solidFill>
                      <a:srgbClr val="000000"/>
                    </a:solidFill>
                    <a:latin typeface="Verdana" panose="020B0604030504040204" pitchFamily="34" charset="0"/>
                    <a:ea typeface="Verdana" panose="020B0604030504040204" pitchFamily="34" charset="0"/>
                    <a:cs typeface="inter"/>
                  </a:rPr>
                  <a:t>The magnitude plot crosses unity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m:rPr>
                        <m:nor/>
                      </m:rPr>
                      <a:rPr lang="en-US" sz="1800" i="1">
                        <a:solidFill>
                          <a:srgbClr val="000000"/>
                        </a:solidFill>
                        <a:latin typeface="Verdana" panose="020B0604030504040204" pitchFamily="34" charset="0"/>
                        <a:ea typeface="Verdana" panose="020B0604030504040204" pitchFamily="34" charset="0"/>
                        <a:cs typeface="Times New Roman" panose="02020603050405020304" pitchFamily="18" charset="0"/>
                      </a:rPr>
                      <m:t> </m:t>
                    </m:r>
                    <m:r>
                      <m:rPr>
                        <m:nor/>
                      </m:rPr>
                      <a:rPr lang="en-US" sz="1800">
                        <a:solidFill>
                          <a:srgbClr val="000000"/>
                        </a:solidFill>
                        <a:latin typeface="Verdana" panose="020B0604030504040204" pitchFamily="34" charset="0"/>
                        <a:ea typeface="Verdana" panose="020B0604030504040204" pitchFamily="34" charset="0"/>
                        <a:cs typeface="Times New Roman" panose="02020603050405020304" pitchFamily="18" charset="0"/>
                      </a:rPr>
                      <m:t>dB</m:t>
                    </m:r>
                  </m:oMath>
                </a14:m>
                <a:r>
                  <a:rPr lang="en-US" sz="1800" dirty="0">
                    <a:solidFill>
                      <a:srgbClr val="000000"/>
                    </a:solidFill>
                    <a:latin typeface="Verdana" panose="020B0604030504040204" pitchFamily="34" charset="0"/>
                    <a:ea typeface="Verdana" panose="020B0604030504040204" pitchFamily="34" charset="0"/>
                    <a:cs typeface="inter"/>
                  </a:rPr>
                  <a:t>) at some frequency. If this crossing occurs at exactly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800" dirty="0">
                    <a:solidFill>
                      <a:srgbClr val="000000"/>
                    </a:solidFill>
                    <a:latin typeface="Verdana" panose="020B0604030504040204" pitchFamily="34" charset="0"/>
                    <a:ea typeface="Verdana" panose="020B0604030504040204" pitchFamily="34" charset="0"/>
                    <a:cs typeface="inter"/>
                  </a:rPr>
                  <a:t> where the phase is also 180°, </a:t>
                </a:r>
                <a:r>
                  <a:rPr lang="en-US" sz="1800" dirty="0" err="1">
                    <a:solidFill>
                      <a:srgbClr val="000000"/>
                    </a:solidFill>
                    <a:latin typeface="Verdana" panose="020B0604030504040204" pitchFamily="34" charset="0"/>
                    <a:ea typeface="Verdana" panose="020B0604030504040204" pitchFamily="34" charset="0"/>
                    <a:cs typeface="inter"/>
                  </a:rPr>
                  <a:t>Barkhausen's</a:t>
                </a:r>
                <a:r>
                  <a:rPr lang="en-US" sz="1800" dirty="0">
                    <a:solidFill>
                      <a:srgbClr val="000000"/>
                    </a:solidFill>
                    <a:latin typeface="Verdana" panose="020B0604030504040204" pitchFamily="34" charset="0"/>
                    <a:ea typeface="Verdana" panose="020B0604030504040204" pitchFamily="34" charset="0"/>
                    <a:cs typeface="inter"/>
                  </a:rPr>
                  <a:t> criterion is satisfied</a:t>
                </a:r>
                <a:r>
                  <a:rPr lang="en-US" sz="1800" dirty="0" smtClean="0">
                    <a:solidFill>
                      <a:srgbClr val="000000"/>
                    </a:solidFill>
                    <a:latin typeface="Verdana" panose="020B0604030504040204" pitchFamily="34" charset="0"/>
                    <a:ea typeface="Verdana" panose="020B0604030504040204" pitchFamily="34" charset="0"/>
                    <a:cs typeface="inter"/>
                  </a:rPr>
                  <a:t>.</a:t>
                </a:r>
                <a:endParaRPr lang="en-US" sz="1800" dirty="0">
                  <a:latin typeface="Verdana" panose="020B0604030504040204" pitchFamily="34" charset="0"/>
                  <a:ea typeface="Verdana" panose="020B060403050404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584668" y="1144473"/>
                <a:ext cx="5719879" cy="5195077"/>
              </a:xfrm>
              <a:blipFill>
                <a:blip r:embed="rId2"/>
                <a:stretch>
                  <a:fillRect l="-2559" t="-1526" r="-2452" b="-1761"/>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146359"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1CC6C1E4-466B-4C12-838F-792A939BF36D}"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821103" y="1161370"/>
                <a:ext cx="5171975" cy="5350696"/>
              </a:xfrm>
              <a:prstGeom prst="rect">
                <a:avLst/>
              </a:prstGeom>
            </p:spPr>
            <p:txBody>
              <a:bodyPr wrap="square">
                <a:spAutoFit/>
              </a:bodyPr>
              <a:lstStyle/>
              <a:p>
                <a:pPr algn="ctr"/>
                <a:r>
                  <a:rPr lang="en-US" sz="2000" b="1" dirty="0">
                    <a:solidFill>
                      <a:srgbClr val="C00000"/>
                    </a:solidFill>
                    <a:latin typeface="Verdana" panose="020B0604030504040204" pitchFamily="34" charset="0"/>
                    <a:ea typeface="Verdana" panose="020B0604030504040204" pitchFamily="34" charset="0"/>
                    <a:cs typeface="inter"/>
                  </a:rPr>
                  <a:t>Phase Response </a:t>
                </a:r>
                <a:r>
                  <a:rPr lang="en-US" sz="2000" b="1" dirty="0" smtClean="0">
                    <a:solidFill>
                      <a:srgbClr val="C00000"/>
                    </a:solidFill>
                    <a:latin typeface="Verdana" panose="020B0604030504040204" pitchFamily="34" charset="0"/>
                    <a:ea typeface="Verdana" panose="020B0604030504040204" pitchFamily="34" charset="0"/>
                    <a:cs typeface="inter"/>
                  </a:rPr>
                  <a:t>Structure</a:t>
                </a:r>
              </a:p>
              <a:p>
                <a:pPr algn="ctr"/>
                <a:endParaRPr lang="en-US" dirty="0">
                  <a:solidFill>
                    <a:srgbClr val="C00000"/>
                  </a:solidFill>
                  <a:latin typeface="Verdana" panose="020B0604030504040204" pitchFamily="34" charset="0"/>
                  <a:ea typeface="Verdana" panose="020B060403050404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m:oMathPara>
                </a14:m>
                <a:endParaRPr lang="en-US" dirty="0">
                  <a:latin typeface="Verdana" panose="020B0604030504040204" pitchFamily="34" charset="0"/>
                  <a:ea typeface="Verdana" panose="020B0604030504040204" pitchFamily="34" charset="0"/>
                  <a:cs typeface="Times New Roman" panose="02020603050405020304" pitchFamily="18" charset="0"/>
                </a:endParaRPr>
              </a:p>
              <a:p>
                <a:r>
                  <a:rPr lang="en-US" dirty="0">
                    <a:solidFill>
                      <a:srgbClr val="000000"/>
                    </a:solidFill>
                    <a:latin typeface="Verdana" panose="020B0604030504040204" pitchFamily="34" charset="0"/>
                    <a:ea typeface="Verdana" panose="020B0604030504040204" pitchFamily="34" charset="0"/>
                    <a:cs typeface="inter"/>
                  </a:rPr>
                  <a:t>(The 0° is from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Verdana" panose="020B0604030504040204" pitchFamily="34" charset="0"/>
                    <a:ea typeface="Verdana" panose="020B0604030504040204" pitchFamily="34" charset="0"/>
                    <a:cs typeface="inter"/>
                  </a:rPr>
                  <a:t>, the </a:t>
                </a:r>
                <a:r>
                  <a:rPr lang="en-US" dirty="0" err="1">
                    <a:solidFill>
                      <a:srgbClr val="000000"/>
                    </a:solidFill>
                    <a:latin typeface="Verdana" panose="020B0604030504040204" pitchFamily="34" charset="0"/>
                    <a:ea typeface="Verdana" panose="020B0604030504040204" pitchFamily="34" charset="0"/>
                    <a:cs typeface="inter"/>
                  </a:rPr>
                  <a:t>arctan</a:t>
                </a:r>
                <a:r>
                  <a:rPr lang="en-US" dirty="0">
                    <a:solidFill>
                      <a:srgbClr val="000000"/>
                    </a:solidFill>
                    <a:latin typeface="Verdana" panose="020B0604030504040204" pitchFamily="34" charset="0"/>
                    <a:ea typeface="Verdana" panose="020B0604030504040204" pitchFamily="34" charset="0"/>
                    <a:cs typeface="inter"/>
                  </a:rPr>
                  <a:t> term from the RC load, and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a14:m>
                <a:r>
                  <a:rPr lang="en-US" dirty="0">
                    <a:solidFill>
                      <a:srgbClr val="000000"/>
                    </a:solidFill>
                    <a:latin typeface="Verdana" panose="020B0604030504040204" pitchFamily="34" charset="0"/>
                    <a:ea typeface="Verdana" panose="020B0604030504040204" pitchFamily="34" charset="0"/>
                    <a:cs typeface="inter"/>
                  </a:rPr>
                  <a:t> from the delay)</a:t>
                </a:r>
                <a:endParaRPr lang="en-US" dirty="0">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dirty="0" smtClean="0">
                    <a:solidFill>
                      <a:srgbClr val="00B050"/>
                    </a:solidFill>
                    <a:latin typeface="Verdana" panose="020B0604030504040204" pitchFamily="34" charset="0"/>
                    <a:ea typeface="Verdana" panose="020B0604030504040204" pitchFamily="34" charset="0"/>
                    <a:cs typeface="inter"/>
                  </a:rPr>
                  <a:t>At </a:t>
                </a:r>
                <a14:m>
                  <m:oMath xmlns:m="http://schemas.openxmlformats.org/officeDocument/2006/math">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B05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B050"/>
                    </a:solidFill>
                    <a:latin typeface="Verdana" panose="020B0604030504040204" pitchFamily="34" charset="0"/>
                    <a:ea typeface="Verdana" panose="020B0604030504040204" pitchFamily="34" charset="0"/>
                    <a:cs typeface="inter"/>
                  </a:rPr>
                  <a:t>: Phase = 0°</a:t>
                </a:r>
                <a:endParaRPr lang="en-US" dirty="0">
                  <a:solidFill>
                    <a:srgbClr val="00B050"/>
                  </a:solidFill>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dirty="0">
                    <a:solidFill>
                      <a:srgbClr val="00B050"/>
                    </a:solidFill>
                    <a:latin typeface="Verdana" panose="020B0604030504040204" pitchFamily="34" charset="0"/>
                    <a:ea typeface="Verdana" panose="020B0604030504040204" pitchFamily="34" charset="0"/>
                    <a:cs typeface="inter"/>
                  </a:rPr>
                  <a:t>At </a:t>
                </a:r>
                <a14:m>
                  <m:oMath xmlns:m="http://schemas.openxmlformats.org/officeDocument/2006/math">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B05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B05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B050"/>
                    </a:solidFill>
                    <a:latin typeface="Verdana" panose="020B0604030504040204" pitchFamily="34" charset="0"/>
                    <a:ea typeface="Verdana" panose="020B0604030504040204" pitchFamily="34" charset="0"/>
                    <a:cs typeface="inter"/>
                  </a:rPr>
                  <a:t>: Phase ≈ –45°</a:t>
                </a:r>
                <a:endParaRPr lang="en-US" dirty="0">
                  <a:solidFill>
                    <a:srgbClr val="00B050"/>
                  </a:solidFill>
                  <a:latin typeface="Verdana" panose="020B0604030504040204" pitchFamily="34" charset="0"/>
                  <a:ea typeface="Verdana" panose="020B060403050404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dirty="0">
                    <a:solidFill>
                      <a:srgbClr val="00B050"/>
                    </a:solidFill>
                    <a:latin typeface="Verdana" panose="020B0604030504040204" pitchFamily="34" charset="0"/>
                    <a:ea typeface="Verdana" panose="020B0604030504040204" pitchFamily="34" charset="0"/>
                    <a:cs typeface="inter"/>
                  </a:rPr>
                  <a:t>As </a:t>
                </a:r>
                <a14:m>
                  <m:oMath xmlns:m="http://schemas.openxmlformats.org/officeDocument/2006/math">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dirty="0">
                    <a:solidFill>
                      <a:srgbClr val="00B050"/>
                    </a:solidFill>
                    <a:latin typeface="Verdana" panose="020B0604030504040204" pitchFamily="34" charset="0"/>
                    <a:ea typeface="Verdana" panose="020B0604030504040204" pitchFamily="34" charset="0"/>
                    <a:cs typeface="inter"/>
                  </a:rPr>
                  <a:t> increases: Phase becomes increasingly </a:t>
                </a:r>
                <a:r>
                  <a:rPr lang="en-US" dirty="0" smtClean="0">
                    <a:solidFill>
                      <a:srgbClr val="00B050"/>
                    </a:solidFill>
                    <a:latin typeface="Verdana" panose="020B0604030504040204" pitchFamily="34" charset="0"/>
                    <a:ea typeface="Verdana" panose="020B0604030504040204" pitchFamily="34" charset="0"/>
                    <a:cs typeface="inter"/>
                  </a:rPr>
                  <a:t>negative</a:t>
                </a:r>
              </a:p>
              <a:p>
                <a:pPr marL="342900" marR="0" lvl="0" indent="-342900">
                  <a:buFont typeface="Wingdings" panose="05000000000000000000" pitchFamily="2" charset="2"/>
                  <a:buChar char="q"/>
                  <a:tabLst>
                    <a:tab pos="571500" algn="l"/>
                  </a:tabLst>
                </a:pPr>
                <a:endParaRPr lang="en-US" dirty="0">
                  <a:latin typeface="Verdana" panose="020B0604030504040204" pitchFamily="34" charset="0"/>
                  <a:ea typeface="Verdana" panose="020B0604030504040204" pitchFamily="34" charset="0"/>
                  <a:cs typeface="Times New Roman" panose="02020603050405020304" pitchFamily="18" charset="0"/>
                </a:endParaRPr>
              </a:p>
              <a:p>
                <a:pPr algn="ctr"/>
                <a:r>
                  <a:rPr lang="en-US" b="1" dirty="0" smtClean="0">
                    <a:solidFill>
                      <a:srgbClr val="C00000"/>
                    </a:solidFill>
                    <a:latin typeface="Verdana" panose="020B0604030504040204" pitchFamily="34" charset="0"/>
                    <a:ea typeface="Verdana" panose="020B0604030504040204" pitchFamily="34" charset="0"/>
                    <a:cs typeface="inter"/>
                  </a:rPr>
                  <a:t>Finding </a:t>
                </a:r>
                <a14:m>
                  <m:oMath xmlns:m="http://schemas.openxmlformats.org/officeDocument/2006/math">
                    <m:sSub>
                      <m:sSubPr>
                        <m:ctrlPr>
                          <a:rPr lang="en-US"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C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b="1" dirty="0">
                    <a:solidFill>
                      <a:srgbClr val="C00000"/>
                    </a:solidFill>
                    <a:latin typeface="Verdana" panose="020B0604030504040204" pitchFamily="34" charset="0"/>
                    <a:ea typeface="Verdana" panose="020B0604030504040204" pitchFamily="34" charset="0"/>
                    <a:cs typeface="inter"/>
                  </a:rPr>
                  <a:t>:</a:t>
                </a:r>
                <a:endParaRPr lang="en-US" dirty="0">
                  <a:solidFill>
                    <a:srgbClr val="C00000"/>
                  </a:solidFill>
                  <a:latin typeface="Verdana" panose="020B0604030504040204" pitchFamily="34" charset="0"/>
                  <a:ea typeface="Verdana" panose="020B0604030504040204" pitchFamily="34" charset="0"/>
                  <a:cs typeface="Times New Roman" panose="02020603050405020304" pitchFamily="18" charset="0"/>
                </a:endParaRPr>
              </a:p>
              <a:p>
                <a:r>
                  <a:rPr lang="en-US" dirty="0">
                    <a:solidFill>
                      <a:srgbClr val="000000"/>
                    </a:solidFill>
                    <a:latin typeface="Verdana" panose="020B0604030504040204" pitchFamily="34" charset="0"/>
                    <a:ea typeface="Verdana" panose="020B0604030504040204" pitchFamily="34" charset="0"/>
                    <a:cs typeface="inter"/>
                  </a:rPr>
                  <a:t>The phase equals –180° when:</a:t>
                </a:r>
                <a:endParaRPr lang="en-US" dirty="0">
                  <a:latin typeface="Verdana" panose="020B0604030504040204" pitchFamily="34" charset="0"/>
                  <a:ea typeface="Verdana" panose="020B060403050404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dirty="0">
                  <a:latin typeface="Verdana" panose="020B0604030504040204" pitchFamily="34" charset="0"/>
                  <a:ea typeface="Verdana" panose="020B060403050404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dirty="0">
                  <a:latin typeface="Verdana" panose="020B0604030504040204" pitchFamily="34" charset="0"/>
                  <a:ea typeface="Verdana" panose="020B0604030504040204" pitchFamily="34" charset="0"/>
                  <a:cs typeface="Times New Roman" panose="02020603050405020304" pitchFamily="18" charset="0"/>
                </a:endParaRPr>
              </a:p>
              <a:p>
                <a:r>
                  <a:rPr lang="en-US" dirty="0">
                    <a:solidFill>
                      <a:srgbClr val="000000"/>
                    </a:solidFill>
                    <a:latin typeface="Verdana" panose="020B0604030504040204" pitchFamily="34" charset="0"/>
                    <a:ea typeface="Verdana" panose="020B0604030504040204" pitchFamily="34" charset="0"/>
                    <a:cs typeface="inter"/>
                  </a:rPr>
                  <a:t>If the RC load term is small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dirty="0">
                    <a:solidFill>
                      <a:srgbClr val="000000"/>
                    </a:solidFill>
                    <a:latin typeface="Verdana" panose="020B0604030504040204" pitchFamily="34" charset="0"/>
                    <a:ea typeface="Verdana" panose="020B0604030504040204" pitchFamily="34" charset="0"/>
                    <a:cs typeface="inter"/>
                  </a:rPr>
                  <a:t>):</a:t>
                </a:r>
                <a:endParaRPr lang="en-US" dirty="0">
                  <a:latin typeface="Verdana" panose="020B0604030504040204" pitchFamily="34" charset="0"/>
                  <a:ea typeface="Verdana" panose="020B060403050404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i="1">
                          <a:solidFill>
                            <a:srgbClr val="000000"/>
                          </a:solidFill>
                          <a:latin typeface="Verdana" panose="020B0604030504040204" pitchFamily="34" charset="0"/>
                          <a:ea typeface="Verdana" panose="020B0604030504040204" pitchFamily="34" charset="0"/>
                          <a:cs typeface="Times New Roman" panose="02020603050405020304" pitchFamily="18" charset="0"/>
                        </a:rPr>
                        <m:t> </m:t>
                      </m:r>
                      <m:r>
                        <m:rPr>
                          <m:nor/>
                        </m:rPr>
                        <a:rPr lang="en-US">
                          <a:solidFill>
                            <a:srgbClr val="000000"/>
                          </a:solidFill>
                          <a:latin typeface="Verdana" panose="020B0604030504040204" pitchFamily="34" charset="0"/>
                          <a:ea typeface="Verdana" panose="020B0604030504040204" pitchFamily="34" charset="0"/>
                          <a:cs typeface="Times New Roman" panose="02020603050405020304" pitchFamily="18" charset="0"/>
                        </a:rPr>
                        <m:t>rad</m:t>
                      </m:r>
                    </m:oMath>
                  </m:oMathPara>
                </a14:m>
                <a:endParaRPr lang="en-US" dirty="0">
                  <a:latin typeface="Verdana" panose="020B0604030504040204" pitchFamily="34" charset="0"/>
                  <a:ea typeface="Verdana" panose="020B060403050404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n-US" dirty="0">
                  <a:latin typeface="Verdana" panose="020B0604030504040204" pitchFamily="34" charset="0"/>
                  <a:ea typeface="Verdana" panose="020B0604030504040204" pitchFamily="34" charset="0"/>
                </a:endParaRPr>
              </a:p>
            </p:txBody>
          </p:sp>
        </mc:Choice>
        <mc:Fallback>
          <p:sp>
            <p:nvSpPr>
              <p:cNvPr id="7" name="Rectangle 6"/>
              <p:cNvSpPr>
                <a:spLocks noRot="1" noChangeAspect="1" noMove="1" noResize="1" noEditPoints="1" noAdjustHandles="1" noChangeArrowheads="1" noChangeShapeType="1" noTextEdit="1"/>
              </p:cNvSpPr>
              <p:nvPr/>
            </p:nvSpPr>
            <p:spPr>
              <a:xfrm>
                <a:off x="6821103" y="1161370"/>
                <a:ext cx="5171975" cy="5350696"/>
              </a:xfrm>
              <a:prstGeom prst="rect">
                <a:avLst/>
              </a:prstGeom>
              <a:blipFill>
                <a:blip r:embed="rId3"/>
                <a:stretch>
                  <a:fillRect l="-1061" t="-684"/>
                </a:stretch>
              </a:blipFill>
            </p:spPr>
            <p:txBody>
              <a:bodyPr/>
              <a:lstStyle/>
              <a:p>
                <a:r>
                  <a:rPr lang="en-US">
                    <a:noFill/>
                  </a:rPr>
                  <a:t> </a:t>
                </a:r>
              </a:p>
            </p:txBody>
          </p:sp>
        </mc:Fallback>
      </mc:AlternateContent>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0480138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143000" y="3452190"/>
            <a:ext cx="10455965" cy="199445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1143001" y="1454424"/>
            <a:ext cx="10406270" cy="193481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2. Oscillation Growth vs. </a:t>
            </a:r>
            <a:r>
              <a:rPr lang="en-US" dirty="0" smtClean="0">
                <a:latin typeface="fkGrotesk"/>
              </a:rPr>
              <a:t>Steady-State</a:t>
            </a:r>
            <a:endParaRPr lang="en-US" dirty="0"/>
          </a:p>
        </p:txBody>
      </p:sp>
      <p:sp>
        <p:nvSpPr>
          <p:cNvPr id="3" name="Text Placeholder 2"/>
          <p:cNvSpPr>
            <a:spLocks noGrp="1"/>
          </p:cNvSpPr>
          <p:nvPr>
            <p:ph type="body" idx="1"/>
          </p:nvPr>
        </p:nvSpPr>
        <p:spPr>
          <a:xfrm>
            <a:off x="783443" y="1145320"/>
            <a:ext cx="10780183" cy="5416868"/>
          </a:xfrm>
        </p:spPr>
        <p:txBody>
          <a:bodyPr/>
          <a:lstStyle/>
          <a:p>
            <a:pPr algn="ctr"/>
            <a:r>
              <a:rPr lang="en-US" b="1" dirty="0">
                <a:solidFill>
                  <a:srgbClr val="C00000"/>
                </a:solidFill>
                <a:latin typeface="fkGroteskNeue"/>
              </a:rPr>
              <a:t>C</a:t>
            </a:r>
            <a:r>
              <a:rPr lang="en-US" dirty="0" smtClean="0">
                <a:solidFill>
                  <a:srgbClr val="C00000"/>
                </a:solidFill>
                <a:latin typeface="fkGroteskNeue"/>
              </a:rPr>
              <a:t>ontrasts </a:t>
            </a:r>
            <a:r>
              <a:rPr lang="en-US" dirty="0">
                <a:solidFill>
                  <a:srgbClr val="C00000"/>
                </a:solidFill>
                <a:latin typeface="fkGroteskNeue"/>
              </a:rPr>
              <a:t>two cases when H(j</a:t>
            </a:r>
            <a:r>
              <a:rPr lang="el-GR" dirty="0">
                <a:solidFill>
                  <a:srgbClr val="C00000"/>
                </a:solidFill>
                <a:latin typeface="fkGroteskNeue"/>
              </a:rPr>
              <a:t>ω₀</a:t>
            </a:r>
            <a:r>
              <a:rPr lang="el-GR" dirty="0" smtClean="0">
                <a:solidFill>
                  <a:srgbClr val="C00000"/>
                </a:solidFill>
                <a:latin typeface="fkGroteskNeue"/>
              </a:rPr>
              <a:t>)</a:t>
            </a:r>
            <a:r>
              <a:rPr lang="en-US" dirty="0" smtClean="0">
                <a:solidFill>
                  <a:srgbClr val="C00000"/>
                </a:solidFill>
                <a:latin typeface="fkGroteskNeue"/>
              </a:rPr>
              <a:t> </a:t>
            </a:r>
            <a:r>
              <a:rPr lang="el-GR" dirty="0" smtClean="0">
                <a:solidFill>
                  <a:srgbClr val="C00000"/>
                </a:solidFill>
                <a:latin typeface="fkGroteskNeue"/>
              </a:rPr>
              <a:t>=</a:t>
            </a:r>
            <a:r>
              <a:rPr lang="en-US" dirty="0" smtClean="0">
                <a:solidFill>
                  <a:srgbClr val="C00000"/>
                </a:solidFill>
                <a:latin typeface="fkGroteskNeue"/>
              </a:rPr>
              <a:t> </a:t>
            </a:r>
            <a:r>
              <a:rPr lang="el-GR" dirty="0" smtClean="0">
                <a:solidFill>
                  <a:srgbClr val="C00000"/>
                </a:solidFill>
                <a:latin typeface="fkGroteskNeue"/>
              </a:rPr>
              <a:t>–</a:t>
            </a:r>
            <a:r>
              <a:rPr lang="el-GR" dirty="0">
                <a:solidFill>
                  <a:srgbClr val="C00000"/>
                </a:solidFill>
                <a:latin typeface="fkGroteskNeue"/>
              </a:rPr>
              <a:t>1</a:t>
            </a:r>
            <a:r>
              <a:rPr lang="el-GR" dirty="0" smtClean="0">
                <a:solidFill>
                  <a:srgbClr val="C00000"/>
                </a:solidFill>
                <a:latin typeface="fkGroteskNeue"/>
              </a:rPr>
              <a:t>:</a:t>
            </a:r>
            <a:endParaRPr lang="en-US" dirty="0" smtClean="0">
              <a:solidFill>
                <a:srgbClr val="C00000"/>
              </a:solidFill>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lvl="1" algn="just"/>
            <a:endParaRPr lang="en-US" b="1" dirty="0" smtClean="0">
              <a:latin typeface="fkGroteskNeue"/>
            </a:endParaRPr>
          </a:p>
          <a:p>
            <a:pPr lvl="1" algn="just"/>
            <a:r>
              <a:rPr lang="en-US" b="1" dirty="0" smtClean="0">
                <a:latin typeface="fkGroteskNeue"/>
              </a:rPr>
              <a:t>(</a:t>
            </a:r>
            <a:r>
              <a:rPr lang="en-US" b="1" dirty="0">
                <a:latin typeface="fkGroteskNeue"/>
              </a:rPr>
              <a:t>b) Continuous sinusoidal drive at </a:t>
            </a:r>
            <a:r>
              <a:rPr lang="el-GR" b="1" dirty="0">
                <a:latin typeface="fkGroteskNeue"/>
              </a:rPr>
              <a:t>ω₀: </a:t>
            </a:r>
            <a:r>
              <a:rPr lang="en-US" dirty="0">
                <a:latin typeface="fkGroteskNeue"/>
              </a:rPr>
              <a:t>If the loop gain exceeds unity, each pass amplifies the same sinusoid, causing unbounded growth until nonlinearities clamp the amplitude</a:t>
            </a:r>
            <a:r>
              <a:rPr lang="en-US" dirty="0" smtClean="0">
                <a:latin typeface="fkGroteskNeue"/>
              </a:rPr>
              <a:t>.</a:t>
            </a:r>
          </a:p>
          <a:p>
            <a:pPr lvl="1" algn="just"/>
            <a:endParaRPr lang="en-US" dirty="0">
              <a:latin typeface="fkGroteskNeue"/>
            </a:endParaRPr>
          </a:p>
          <a:p>
            <a:pPr algn="just"/>
            <a:r>
              <a:rPr lang="en-US" dirty="0">
                <a:latin typeface="fkGroteskNeue"/>
              </a:rPr>
              <a:t>This illustrates the difference between an oscillator at its natural condition (constant amplitude) and one driven at resonance with excess gain (growing amplitude).</a:t>
            </a:r>
          </a:p>
          <a:p>
            <a:pPr algn="just"/>
            <a:endParaRPr lang="en-US" dirty="0"/>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t="53287"/>
          <a:stretch/>
        </p:blipFill>
        <p:spPr>
          <a:xfrm>
            <a:off x="2982945" y="3546047"/>
            <a:ext cx="5823124" cy="1278206"/>
          </a:xfrm>
          <a:prstGeom prst="rect">
            <a:avLst/>
          </a:prstGeom>
        </p:spPr>
      </p:pic>
      <p:sp>
        <p:nvSpPr>
          <p:cNvPr id="8" name="Rectangle 7"/>
          <p:cNvSpPr/>
          <p:nvPr/>
        </p:nvSpPr>
        <p:spPr>
          <a:xfrm>
            <a:off x="2821997" y="6342462"/>
            <a:ext cx="6622326" cy="276999"/>
          </a:xfrm>
          <a:prstGeom prst="rect">
            <a:avLst/>
          </a:prstGeom>
        </p:spPr>
        <p:txBody>
          <a:bodyPr wrap="none">
            <a:spAutoFit/>
          </a:bodyPr>
          <a:lstStyle/>
          <a:p>
            <a:r>
              <a:rPr lang="en-US" sz="1200" b="1" i="0" u="none" strike="noStrike" baseline="0" dirty="0" smtClean="0">
                <a:solidFill>
                  <a:srgbClr val="231F20"/>
                </a:solidFill>
                <a:latin typeface="T3Font_139"/>
              </a:rPr>
              <a:t>Figure 1.8 </a:t>
            </a:r>
            <a:r>
              <a:rPr lang="en-US" sz="1200" b="1" i="0" u="none" strike="noStrike" baseline="0" dirty="0" smtClean="0">
                <a:solidFill>
                  <a:srgbClr val="231F20"/>
                </a:solidFill>
                <a:latin typeface="T3Font_140"/>
              </a:rPr>
              <a:t>Response of an oscillatory system to (a) an impulse, and (b) a sinusoid at </a:t>
            </a:r>
            <a:r>
              <a:rPr lang="en-US" sz="1200" b="1" i="0" u="none" strike="noStrike" baseline="0" dirty="0" smtClean="0">
                <a:solidFill>
                  <a:srgbClr val="231F20"/>
                </a:solidFill>
                <a:latin typeface="T3Font_141"/>
              </a:rPr>
              <a:t>ω</a:t>
            </a:r>
            <a:r>
              <a:rPr lang="en-US" sz="1050" b="1" i="0" u="none" strike="noStrike" baseline="0" dirty="0" smtClean="0">
                <a:solidFill>
                  <a:srgbClr val="231F20"/>
                </a:solidFill>
                <a:latin typeface="T3Font_142"/>
              </a:rPr>
              <a:t>0</a:t>
            </a:r>
            <a:r>
              <a:rPr lang="en-US" sz="1200" b="1" i="0" u="none" strike="noStrike" baseline="0" dirty="0" smtClean="0">
                <a:solidFill>
                  <a:srgbClr val="231F20"/>
                </a:solidFill>
                <a:latin typeface="T3Font_140"/>
              </a:rPr>
              <a:t>.</a:t>
            </a:r>
            <a:endParaRPr lang="en-US" sz="3600" b="1" dirty="0"/>
          </a:p>
        </p:txBody>
      </p:sp>
      <p:pic>
        <p:nvPicPr>
          <p:cNvPr id="6" name="Picture 5"/>
          <p:cNvPicPr>
            <a:picLocks noChangeAspect="1"/>
          </p:cNvPicPr>
          <p:nvPr/>
        </p:nvPicPr>
        <p:blipFill rotWithShape="1">
          <a:blip r:embed="rId2">
            <a:duotone>
              <a:prstClr val="black"/>
              <a:schemeClr val="bg1">
                <a:lumMod val="65000"/>
                <a:tint val="45000"/>
                <a:satMod val="400000"/>
              </a:schemeClr>
            </a:duotone>
          </a:blip>
          <a:srcRect b="54426"/>
          <a:stretch/>
        </p:blipFill>
        <p:spPr>
          <a:xfrm>
            <a:off x="3210339" y="1527519"/>
            <a:ext cx="6151102" cy="1235559"/>
          </a:xfrm>
          <a:prstGeom prst="rect">
            <a:avLst/>
          </a:prstGeom>
        </p:spPr>
      </p:pic>
      <p:sp>
        <p:nvSpPr>
          <p:cNvPr id="4" name="Rectangle 3"/>
          <p:cNvSpPr/>
          <p:nvPr/>
        </p:nvSpPr>
        <p:spPr>
          <a:xfrm>
            <a:off x="694266" y="2713335"/>
            <a:ext cx="10773834" cy="646331"/>
          </a:xfrm>
          <a:prstGeom prst="rect">
            <a:avLst/>
          </a:prstGeom>
        </p:spPr>
        <p:txBody>
          <a:bodyPr wrap="square">
            <a:spAutoFit/>
          </a:bodyPr>
          <a:lstStyle/>
          <a:p>
            <a:pPr lvl="1" algn="just"/>
            <a:r>
              <a:rPr lang="el-GR" b="1" kern="0" dirty="0">
                <a:solidFill>
                  <a:sysClr val="windowText" lastClr="000000"/>
                </a:solidFill>
                <a:latin typeface="fkGroteskNeue"/>
              </a:rPr>
              <a:t>(</a:t>
            </a:r>
            <a:r>
              <a:rPr lang="en-US" b="1" kern="0" dirty="0">
                <a:solidFill>
                  <a:sysClr val="windowText" lastClr="000000"/>
                </a:solidFill>
                <a:latin typeface="fkGroteskNeue"/>
              </a:rPr>
              <a:t>a) Impulse response: </a:t>
            </a:r>
            <a:r>
              <a:rPr lang="en-US" kern="0" dirty="0">
                <a:solidFill>
                  <a:sysClr val="windowText" lastClr="000000"/>
                </a:solidFill>
                <a:latin typeface="fkGroteskNeue"/>
              </a:rPr>
              <a:t>A single “kick” yields a constant-amplitude oscillation, analogous to a perfectly lossless pendulum swinging forever.</a:t>
            </a: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C0530B7-13FE-464E-9963-E166C620FAAC}"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12" name="Slide Number Placeholder 11"/>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13"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83690877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32844" y="1230766"/>
            <a:ext cx="5946252" cy="33412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95739" y="5108713"/>
            <a:ext cx="11072191" cy="11330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t>Impulse </a:t>
            </a:r>
            <a:r>
              <a:rPr lang="en-US" dirty="0" smtClean="0"/>
              <a:t>Response</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5730875" cy="3456524"/>
              </a:xfrm>
            </p:spPr>
            <p:txBody>
              <a:bodyPr/>
              <a:lstStyle/>
              <a:p>
                <a:r>
                  <a:rPr lang="en-US" dirty="0" smtClean="0">
                    <a:solidFill>
                      <a:srgbClr val="000000"/>
                    </a:solidFill>
                    <a:latin typeface="inter"/>
                    <a:ea typeface="inter"/>
                    <a:cs typeface="inter"/>
                  </a:rPr>
                  <a:t>An </a:t>
                </a:r>
                <a:r>
                  <a:rPr lang="en-US" dirty="0">
                    <a:solidFill>
                      <a:srgbClr val="000000"/>
                    </a:solidFill>
                    <a:latin typeface="inter"/>
                    <a:ea typeface="inter"/>
                    <a:cs typeface="inter"/>
                  </a:rPr>
                  <a:t>impulse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is applied 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The system response is:</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h</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ℒ</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For a marginally stable system (poles on imaginary axis 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smtClean="0">
                    <a:solidFill>
                      <a:srgbClr val="000000"/>
                    </a:solidFill>
                    <a:latin typeface="inter"/>
                    <a:ea typeface="inter"/>
                    <a:cs typeface="inter"/>
                  </a:rPr>
                  <a:t>):</a:t>
                </a:r>
              </a:p>
              <a:p>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h</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response oscillates indefinitely (in the ideal case, without damping or saturation).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5730875" cy="3456524"/>
              </a:xfrm>
              <a:blipFill>
                <a:blip r:embed="rId2"/>
                <a:stretch>
                  <a:fillRect l="-2766" t="-2116" r="-3617"/>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A1B98D3-644A-4B5A-B946-AF088558731A}"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15002" r="3566"/>
          <a:stretch/>
        </p:blipFill>
        <p:spPr>
          <a:xfrm>
            <a:off x="6766979" y="1322611"/>
            <a:ext cx="5326955" cy="1402202"/>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699434" y="4668920"/>
                <a:ext cx="11072261" cy="1631216"/>
              </a:xfrm>
              <a:prstGeom prst="rect">
                <a:avLst/>
              </a:prstGeom>
            </p:spPr>
            <p:txBody>
              <a:bodyPr wrap="square">
                <a:spAutoFit/>
              </a:bodyPr>
              <a:lstStyle/>
              <a:p>
                <a:pPr lvl="0" algn="ctr"/>
                <a:r>
                  <a:rPr lang="en-US" sz="2000" b="1" kern="0" dirty="0">
                    <a:solidFill>
                      <a:srgbClr val="C00000"/>
                    </a:solidFill>
                    <a:latin typeface="inter"/>
                    <a:ea typeface="inter"/>
                    <a:cs typeface="inter"/>
                  </a:rPr>
                  <a:t>Physical Interpretation</a:t>
                </a:r>
                <a:r>
                  <a:rPr lang="en-US" sz="2000" b="1" kern="0" dirty="0" smtClean="0">
                    <a:solidFill>
                      <a:srgbClr val="C00000"/>
                    </a:solidFill>
                    <a:latin typeface="inter"/>
                    <a:ea typeface="inter"/>
                    <a:cs typeface="inter"/>
                  </a:rPr>
                  <a:t>:</a:t>
                </a:r>
              </a:p>
              <a:p>
                <a:pPr lvl="0" algn="ct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2000" kern="0" dirty="0">
                    <a:solidFill>
                      <a:srgbClr val="000000"/>
                    </a:solidFill>
                    <a:latin typeface="inter"/>
                    <a:ea typeface="inter"/>
                    <a:cs typeface="inter"/>
                  </a:rPr>
                  <a:t>Even a brief impulse can seed sustained oscillation because the system has zero damping at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2000" kern="0" dirty="0">
                    <a:solidFill>
                      <a:srgbClr val="000000"/>
                    </a:solidFill>
                    <a:latin typeface="inter"/>
                    <a:ea typeface="inter"/>
                    <a:cs typeface="inter"/>
                  </a:rPr>
                  <a:t>. Energy from the impulse is stored in the reactive elements and recirculates around the loop indefinitely.</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699434" y="4668920"/>
                <a:ext cx="11072261" cy="1631216"/>
              </a:xfrm>
              <a:prstGeom prst="rect">
                <a:avLst/>
              </a:prstGeom>
              <a:blipFill>
                <a:blip r:embed="rId4"/>
                <a:stretch>
                  <a:fillRect l="-606" t="-1873" r="-1156" b="-5993"/>
                </a:stretch>
              </a:blipFill>
            </p:spPr>
            <p:txBody>
              <a:bodyPr/>
              <a:lstStyle/>
              <a:p>
                <a:r>
                  <a:rPr lang="en-US">
                    <a:noFill/>
                  </a:rPr>
                  <a:t> </a:t>
                </a:r>
              </a:p>
            </p:txBody>
          </p:sp>
        </mc:Fallback>
      </mc:AlternateContent>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7913845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64650" y="1334133"/>
            <a:ext cx="5127267" cy="311064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36714" y="5337313"/>
            <a:ext cx="11390244" cy="99391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t>Sinusoidal Input at Oscillation </a:t>
            </a:r>
            <a:r>
              <a:rPr lang="en-US" dirty="0" smtClean="0"/>
              <a:t>Frequency</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5151989" cy="3468194"/>
              </a:xfrm>
            </p:spPr>
            <p:txBody>
              <a:bodyPr/>
              <a:lstStyle/>
              <a:p>
                <a:pPr>
                  <a:spcAft>
                    <a:spcPts val="1050"/>
                  </a:spcAft>
                </a:pPr>
                <a:r>
                  <a:rPr lang="en-US" dirty="0" smtClean="0">
                    <a:solidFill>
                      <a:srgbClr val="000000"/>
                    </a:solidFill>
                    <a:latin typeface="inter"/>
                    <a:ea typeface="inter"/>
                    <a:cs typeface="inter"/>
                  </a:rPr>
                  <a:t>A </a:t>
                </a:r>
                <a:r>
                  <a:rPr lang="en-US" dirty="0">
                    <a:solidFill>
                      <a:srgbClr val="000000"/>
                    </a:solidFill>
                    <a:latin typeface="inter"/>
                    <a:ea typeface="inter"/>
                    <a:cs typeface="inter"/>
                  </a:rPr>
                  <a:t>sinusoidal input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is applied. The steady-state response is:</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𝑦</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At the oscillation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𝑦</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The output has the same amplitude as the input but inverted (180° phase shift</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5151989" cy="3468194"/>
              </a:xfrm>
              <a:blipFill>
                <a:blip r:embed="rId2"/>
                <a:stretch>
                  <a:fillRect l="-3077" t="-2109"/>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323903" y="642040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2F91539-64F6-46D3-8195-3C88E21C5A6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4408"/>
          <a:stretch/>
        </p:blipFill>
        <p:spPr>
          <a:xfrm>
            <a:off x="5938787" y="1256194"/>
            <a:ext cx="6253213" cy="1438781"/>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538700" y="4615301"/>
                <a:ext cx="11309684" cy="1605568"/>
              </a:xfrm>
              <a:prstGeom prst="rect">
                <a:avLst/>
              </a:prstGeom>
            </p:spPr>
            <p:txBody>
              <a:bodyPr wrap="square">
                <a:spAutoFit/>
              </a:bodyPr>
              <a:lstStyle/>
              <a:p>
                <a:pPr lvl="0" algn="ctr">
                  <a:spcAft>
                    <a:spcPts val="1050"/>
                  </a:spcAft>
                </a:pPr>
                <a:r>
                  <a:rPr lang="en-US" sz="2000" b="1" kern="0" dirty="0">
                    <a:solidFill>
                      <a:srgbClr val="C00000"/>
                    </a:solidFill>
                    <a:latin typeface="inter"/>
                    <a:ea typeface="inter"/>
                    <a:cs typeface="inter"/>
                  </a:rPr>
                  <a:t>Critical Observation</a:t>
                </a:r>
                <a:r>
                  <a:rPr lang="en-US" sz="2000" b="1" kern="0" dirty="0" smtClean="0">
                    <a:solidFill>
                      <a:srgbClr val="C00000"/>
                    </a:solidFill>
                    <a:latin typeface="inter"/>
                    <a:ea typeface="inter"/>
                    <a:cs typeface="inter"/>
                  </a:rPr>
                  <a:t>:</a:t>
                </a:r>
              </a:p>
              <a:p>
                <a:pPr lvl="0" algn="ctr">
                  <a:spcAft>
                    <a:spcPts val="1050"/>
                  </a:spcAft>
                </a:pPr>
                <a:endParaRPr lang="en-US" sz="2000"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lvl="0">
                  <a:spcAft>
                    <a:spcPts val="1050"/>
                  </a:spcAft>
                </a:pPr>
                <a:r>
                  <a:rPr lang="en-US" sz="2000" kern="0" dirty="0">
                    <a:solidFill>
                      <a:srgbClr val="000000"/>
                    </a:solidFill>
                    <a:latin typeface="inter"/>
                    <a:ea typeface="inter"/>
                    <a:cs typeface="inter"/>
                  </a:rPr>
                  <a:t>Since </a:t>
                </a:r>
                <a14:m>
                  <m:oMath xmlns:m="http://schemas.openxmlformats.org/officeDocument/2006/math">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2000" kern="0" dirty="0">
                    <a:solidFill>
                      <a:srgbClr val="000000"/>
                    </a:solidFill>
                    <a:latin typeface="inter"/>
                    <a:ea typeface="inter"/>
                    <a:cs typeface="inter"/>
                  </a:rPr>
                  <a:t>, the feedback signal exactly replaces the input signal. Any small perturbation at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2000" kern="0" dirty="0">
                    <a:solidFill>
                      <a:srgbClr val="000000"/>
                    </a:solidFill>
                    <a:latin typeface="inter"/>
                    <a:ea typeface="inter"/>
                    <a:cs typeface="inter"/>
                  </a:rPr>
                  <a:t> is sustained by the feedback without external drive—the definition of self-oscillation</a:t>
                </a:r>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538700" y="4615301"/>
                <a:ext cx="11309684" cy="1605568"/>
              </a:xfrm>
              <a:prstGeom prst="rect">
                <a:avLst/>
              </a:prstGeom>
              <a:blipFill>
                <a:blip r:embed="rId4"/>
                <a:stretch>
                  <a:fillRect l="-539" t="-1521" r="-754" b="-5703"/>
                </a:stretch>
              </a:blipFill>
            </p:spPr>
            <p:txBody>
              <a:bodyPr/>
              <a:lstStyle/>
              <a:p>
                <a:r>
                  <a:rPr lang="en-US">
                    <a:noFill/>
                  </a:rPr>
                  <a:t> </a:t>
                </a:r>
              </a:p>
            </p:txBody>
          </p:sp>
        </mc:Fallback>
      </mc:AlternateContent>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814939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257631" y="1707845"/>
            <a:ext cx="10486446" cy="120233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75252" y="5595729"/>
            <a:ext cx="10648122" cy="82494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3. Positive Feedback at DC and Ring-Latch </a:t>
            </a:r>
            <a:r>
              <a:rPr lang="en-US" dirty="0" smtClean="0">
                <a:latin typeface="fkGrotesk"/>
              </a:rPr>
              <a:t>Behavior</a:t>
            </a:r>
            <a:endParaRPr lang="en-US" dirty="0"/>
          </a:p>
        </p:txBody>
      </p:sp>
      <p:sp>
        <p:nvSpPr>
          <p:cNvPr id="3" name="Text Placeholder 2"/>
          <p:cNvSpPr>
            <a:spLocks noGrp="1"/>
          </p:cNvSpPr>
          <p:nvPr>
            <p:ph type="body" idx="1"/>
          </p:nvPr>
        </p:nvSpPr>
        <p:spPr>
          <a:xfrm>
            <a:off x="835123" y="1138816"/>
            <a:ext cx="10703983" cy="2308324"/>
          </a:xfrm>
        </p:spPr>
        <p:txBody>
          <a:bodyPr/>
          <a:lstStyle/>
          <a:p>
            <a:pPr algn="just"/>
            <a:r>
              <a:rPr lang="en-US" dirty="0" smtClean="0">
                <a:latin typeface="fkGroteskNeue"/>
              </a:rPr>
              <a:t>While oscillators leverage positive feedback at a finite ω₀, </a:t>
            </a:r>
            <a:r>
              <a:rPr lang="en-US" b="1" dirty="0" smtClean="0">
                <a:latin typeface="fkGroteskNeue"/>
              </a:rPr>
              <a:t>unwanted positive feedback at DC </a:t>
            </a:r>
            <a:r>
              <a:rPr lang="en-US" dirty="0" smtClean="0">
                <a:latin typeface="fkGroteskNeue"/>
              </a:rPr>
              <a:t>must be avoided:</a:t>
            </a:r>
          </a:p>
          <a:p>
            <a:pPr marL="914400" lvl="1" indent="-457200" algn="just">
              <a:buFont typeface="Wingdings" panose="05000000000000000000" pitchFamily="2" charset="2"/>
              <a:buChar char="q"/>
            </a:pPr>
            <a:r>
              <a:rPr lang="en-US" b="1" dirty="0" smtClean="0">
                <a:latin typeface="fkGroteskNeue"/>
              </a:rPr>
              <a:t>Figure</a:t>
            </a:r>
            <a:r>
              <a:rPr lang="en-US" dirty="0">
                <a:latin typeface="fkGroteskNeue"/>
              </a:rPr>
              <a:t> shows two CS stages cascaded. Each inverts, so at low frequencies the net loop gain can exceed unity and act as a static </a:t>
            </a:r>
            <a:r>
              <a:rPr lang="en-US" b="1" i="1" dirty="0">
                <a:solidFill>
                  <a:srgbClr val="C00000"/>
                </a:solidFill>
                <a:latin typeface="fkGroteskNeue"/>
              </a:rPr>
              <a:t>regenerative latch</a:t>
            </a:r>
            <a:r>
              <a:rPr lang="en-US" dirty="0">
                <a:latin typeface="fkGroteskNeue"/>
              </a:rPr>
              <a:t>, not an oscillator</a:t>
            </a:r>
            <a:r>
              <a:rPr lang="en-US" dirty="0" smtClean="0">
                <a:latin typeface="fkGroteskNeue"/>
              </a:rPr>
              <a:t>.</a:t>
            </a:r>
          </a:p>
          <a:p>
            <a:pPr marL="914400" lvl="1" indent="-457200" algn="just">
              <a:buFont typeface="Wingdings" panose="05000000000000000000" pitchFamily="2" charset="2"/>
              <a:buChar char="q"/>
            </a:pPr>
            <a:r>
              <a:rPr lang="en-US" dirty="0" smtClean="0">
                <a:latin typeface="fkGroteskNeue"/>
              </a:rPr>
              <a:t>A </a:t>
            </a:r>
            <a:r>
              <a:rPr lang="en-US" dirty="0">
                <a:latin typeface="fkGroteskNeue"/>
              </a:rPr>
              <a:t>small perturbation in V</a:t>
            </a:r>
            <a:r>
              <a:rPr lang="en-US" baseline="-25000" dirty="0">
                <a:latin typeface="fkGroteskNeue"/>
              </a:rPr>
              <a:t>X</a:t>
            </a:r>
            <a:r>
              <a:rPr lang="en-US" dirty="0">
                <a:latin typeface="fkGroteskNeue"/>
              </a:rPr>
              <a:t> is amplified and fed back positively, forcing the outputs to rail and storing a bit of </a:t>
            </a:r>
            <a:r>
              <a:rPr lang="en-US" dirty="0" smtClean="0">
                <a:latin typeface="fkGroteskNeue"/>
              </a:rPr>
              <a:t>information.</a:t>
            </a:r>
          </a:p>
          <a:p>
            <a:pPr lvl="1" algn="just"/>
            <a:endParaRPr lang="en-US" dirty="0" smtClean="0">
              <a:latin typeface="fkGroteskNeue"/>
            </a:endParaRPr>
          </a:p>
          <a:p>
            <a:endParaRPr lang="en-US" dirty="0"/>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8985" t="3102" r="5394" b="4144"/>
          <a:stretch/>
        </p:blipFill>
        <p:spPr>
          <a:xfrm>
            <a:off x="4224866" y="2984927"/>
            <a:ext cx="4044491" cy="2188206"/>
          </a:xfrm>
          <a:prstGeom prst="rect">
            <a:avLst/>
          </a:prstGeom>
        </p:spPr>
      </p:pic>
      <p:sp>
        <p:nvSpPr>
          <p:cNvPr id="8" name="Rectangle 7"/>
          <p:cNvSpPr/>
          <p:nvPr/>
        </p:nvSpPr>
        <p:spPr>
          <a:xfrm>
            <a:off x="3984783" y="5144928"/>
            <a:ext cx="4276299" cy="338554"/>
          </a:xfrm>
          <a:prstGeom prst="rect">
            <a:avLst/>
          </a:prstGeom>
        </p:spPr>
        <p:txBody>
          <a:bodyPr wrap="none">
            <a:spAutoFit/>
          </a:bodyPr>
          <a:lstStyle/>
          <a:p>
            <a:r>
              <a:rPr lang="en-US" sz="1600" b="1" i="0" u="none" strike="noStrike" baseline="0" dirty="0" smtClean="0">
                <a:solidFill>
                  <a:srgbClr val="231F20"/>
                </a:solidFill>
                <a:latin typeface="T3Font_164"/>
              </a:rPr>
              <a:t>Figure </a:t>
            </a:r>
            <a:r>
              <a:rPr lang="en-US" sz="1600" b="1" i="0" u="none" strike="noStrike" baseline="0" dirty="0" smtClean="0">
                <a:solidFill>
                  <a:srgbClr val="231F20"/>
                </a:solidFill>
                <a:latin typeface="T3Font_165"/>
              </a:rPr>
              <a:t>Two CS stages in a feedback loop.</a:t>
            </a:r>
            <a:endParaRPr lang="en-US" sz="4400" b="1" dirty="0"/>
          </a:p>
        </p:txBody>
      </p:sp>
      <p:sp>
        <p:nvSpPr>
          <p:cNvPr id="4" name="Rectangle 3"/>
          <p:cNvSpPr/>
          <p:nvPr/>
        </p:nvSpPr>
        <p:spPr>
          <a:xfrm>
            <a:off x="454991" y="5751677"/>
            <a:ext cx="11078633" cy="646331"/>
          </a:xfrm>
          <a:prstGeom prst="rect">
            <a:avLst/>
          </a:prstGeom>
        </p:spPr>
        <p:txBody>
          <a:bodyPr wrap="square">
            <a:spAutoFit/>
          </a:bodyPr>
          <a:lstStyle/>
          <a:p>
            <a:pPr lvl="1" algn="just"/>
            <a:r>
              <a:rPr lang="en-US" b="1" dirty="0">
                <a:latin typeface="fkGroteskNeue"/>
              </a:rPr>
              <a:t>Design Lesson: </a:t>
            </a:r>
            <a:r>
              <a:rPr lang="en-US" dirty="0">
                <a:latin typeface="fkGroteskNeue"/>
              </a:rPr>
              <a:t>Ensure that at DC the overall loop gain remains less than unity (or negative feedback dominates) so the circuit does not latch up but only oscillates at the intended high frequency.</a:t>
            </a:r>
          </a:p>
        </p:txBody>
      </p:sp>
      <p:sp>
        <p:nvSpPr>
          <p:cNvPr id="5" name="Rectangle 4"/>
          <p:cNvSpPr/>
          <p:nvPr/>
        </p:nvSpPr>
        <p:spPr>
          <a:xfrm>
            <a:off x="4133800" y="3639578"/>
            <a:ext cx="470000" cy="400110"/>
          </a:xfrm>
          <a:prstGeom prst="rect">
            <a:avLst/>
          </a:prstGeom>
        </p:spPr>
        <p:txBody>
          <a:bodyPr wrap="none">
            <a:spAutoFit/>
          </a:bodyPr>
          <a:lstStyle/>
          <a:p>
            <a:r>
              <a:rPr lang="en-US" sz="2000" b="1" i="1" kern="0" dirty="0">
                <a:solidFill>
                  <a:srgbClr val="C00000"/>
                </a:solidFill>
                <a:latin typeface="fkGroteskNeue"/>
              </a:rPr>
              <a:t>V</a:t>
            </a:r>
            <a:r>
              <a:rPr lang="en-US" sz="2000" b="1" i="1" kern="0" baseline="-25000" dirty="0">
                <a:solidFill>
                  <a:srgbClr val="C00000"/>
                </a:solidFill>
                <a:latin typeface="fkGroteskNeue"/>
              </a:rPr>
              <a:t>X</a:t>
            </a:r>
            <a:endParaRPr lang="en-US" b="1" i="1" dirty="0">
              <a:solidFill>
                <a:srgbClr val="C00000"/>
              </a:solidFill>
            </a:endParaRPr>
          </a:p>
        </p:txBody>
      </p:sp>
      <p:sp>
        <p:nvSpPr>
          <p:cNvPr id="9" name="Rectangle 8"/>
          <p:cNvSpPr/>
          <p:nvPr/>
        </p:nvSpPr>
        <p:spPr>
          <a:xfrm>
            <a:off x="6220833" y="3580312"/>
            <a:ext cx="470000" cy="400110"/>
          </a:xfrm>
          <a:prstGeom prst="rect">
            <a:avLst/>
          </a:prstGeom>
        </p:spPr>
        <p:txBody>
          <a:bodyPr wrap="none">
            <a:spAutoFit/>
          </a:bodyPr>
          <a:lstStyle/>
          <a:p>
            <a:r>
              <a:rPr lang="en-US" sz="2000" b="1" i="1" kern="0" dirty="0" smtClean="0">
                <a:solidFill>
                  <a:srgbClr val="C00000"/>
                </a:solidFill>
                <a:latin typeface="fkGroteskNeue"/>
              </a:rPr>
              <a:t>V</a:t>
            </a:r>
            <a:r>
              <a:rPr lang="en-US" sz="2000" b="1" i="1" kern="0" baseline="-25000" dirty="0">
                <a:solidFill>
                  <a:srgbClr val="C00000"/>
                </a:solidFill>
                <a:latin typeface="fkGroteskNeue"/>
              </a:rPr>
              <a:t>Y</a:t>
            </a:r>
            <a:endParaRPr lang="en-US" b="1" i="1" dirty="0">
              <a:solidFill>
                <a:srgbClr val="C00000"/>
              </a:solidFill>
            </a:endParaRPr>
          </a:p>
        </p:txBody>
      </p:sp>
      <p:sp>
        <p:nvSpPr>
          <p:cNvPr id="11" name="Date Placeholder 10"/>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D7D81F41-1AE7-4295-9C82-771B612E5190}"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13"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77886633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182757" y="2087217"/>
            <a:ext cx="10605052" cy="186855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4. Ring Oscillator </a:t>
            </a:r>
            <a:r>
              <a:rPr lang="en-US" dirty="0" smtClean="0">
                <a:latin typeface="fkGrotesk"/>
              </a:rPr>
              <a:t>Foundations</a:t>
            </a:r>
            <a:endParaRPr lang="en-US" dirty="0"/>
          </a:p>
        </p:txBody>
      </p:sp>
      <p:sp>
        <p:nvSpPr>
          <p:cNvPr id="3" name="Text Placeholder 2"/>
          <p:cNvSpPr>
            <a:spLocks noGrp="1"/>
          </p:cNvSpPr>
          <p:nvPr>
            <p:ph type="body" idx="1"/>
          </p:nvPr>
        </p:nvSpPr>
        <p:spPr>
          <a:xfrm>
            <a:off x="844550" y="1327353"/>
            <a:ext cx="10712712" cy="4001095"/>
          </a:xfrm>
        </p:spPr>
        <p:txBody>
          <a:bodyPr/>
          <a:lstStyle/>
          <a:p>
            <a:pPr algn="just"/>
            <a:r>
              <a:rPr lang="en-US" dirty="0" smtClean="0">
                <a:latin typeface="fkGroteskNeue"/>
              </a:rPr>
              <a:t>A</a:t>
            </a:r>
            <a:r>
              <a:rPr lang="en-US" dirty="0">
                <a:latin typeface="fkGroteskNeue"/>
              </a:rPr>
              <a:t> </a:t>
            </a:r>
            <a:r>
              <a:rPr lang="en-US" b="1" dirty="0">
                <a:latin typeface="fkGroteskNeue"/>
              </a:rPr>
              <a:t>ring oscillator</a:t>
            </a:r>
            <a:r>
              <a:rPr lang="en-US" dirty="0">
                <a:latin typeface="fkGroteskNeue"/>
              </a:rPr>
              <a:t> uses a cascade of odd-numbered inverting stages (buffers or CS amplifiers) with delay elements</a:t>
            </a:r>
            <a:r>
              <a:rPr lang="en-US" dirty="0" smtClean="0">
                <a:latin typeface="fkGroteskNeue"/>
              </a:rPr>
              <a:t>:</a:t>
            </a:r>
          </a:p>
          <a:p>
            <a:pPr algn="just"/>
            <a:endParaRPr lang="en-US" dirty="0">
              <a:latin typeface="fkGroteskNeue"/>
            </a:endParaRPr>
          </a:p>
          <a:p>
            <a:pPr marL="800100" lvl="1" indent="-342900" algn="just">
              <a:buFont typeface="Wingdings" panose="05000000000000000000" pitchFamily="2" charset="2"/>
              <a:buChar char="q"/>
            </a:pPr>
            <a:r>
              <a:rPr lang="en-US" sz="2000" b="1" dirty="0">
                <a:solidFill>
                  <a:srgbClr val="C00000"/>
                </a:solidFill>
                <a:latin typeface="fkGroteskNeue"/>
              </a:rPr>
              <a:t>Each stage provides ~180° </a:t>
            </a:r>
            <a:endParaRPr lang="en-US" sz="2000" b="1" dirty="0" smtClean="0">
              <a:solidFill>
                <a:srgbClr val="C00000"/>
              </a:solidFill>
              <a:latin typeface="fkGroteskNeue"/>
            </a:endParaRPr>
          </a:p>
          <a:p>
            <a:pPr marL="800100" lvl="1" indent="-342900" algn="just">
              <a:buFont typeface="Wingdings" panose="05000000000000000000" pitchFamily="2" charset="2"/>
              <a:buChar char="q"/>
            </a:pPr>
            <a:r>
              <a:rPr lang="en-US" sz="2000" b="1" dirty="0">
                <a:solidFill>
                  <a:srgbClr val="C00000"/>
                </a:solidFill>
                <a:latin typeface="fkGroteskNeue"/>
              </a:rPr>
              <a:t>T</a:t>
            </a:r>
            <a:r>
              <a:rPr lang="en-US" sz="2000" b="1" dirty="0" smtClean="0">
                <a:solidFill>
                  <a:srgbClr val="C00000"/>
                </a:solidFill>
                <a:latin typeface="fkGroteskNeue"/>
              </a:rPr>
              <a:t>otal </a:t>
            </a:r>
            <a:r>
              <a:rPr lang="en-US" sz="2000" b="1" dirty="0">
                <a:solidFill>
                  <a:srgbClr val="C00000"/>
                </a:solidFill>
                <a:latin typeface="fkGroteskNeue"/>
              </a:rPr>
              <a:t>phase shift </a:t>
            </a:r>
            <a:r>
              <a:rPr lang="en-US" sz="2000" dirty="0">
                <a:latin typeface="fkGroteskNeue"/>
              </a:rPr>
              <a:t>when </a:t>
            </a:r>
            <a:r>
              <a:rPr lang="en-US" sz="2000" b="1" dirty="0">
                <a:solidFill>
                  <a:srgbClr val="C00000"/>
                </a:solidFill>
                <a:latin typeface="fkGroteskNeue"/>
              </a:rPr>
              <a:t>the cumulative delays equal half a period</a:t>
            </a:r>
            <a:r>
              <a:rPr lang="en-US" sz="2000" dirty="0">
                <a:latin typeface="fkGroteskNeue"/>
              </a:rPr>
              <a:t>.</a:t>
            </a:r>
          </a:p>
          <a:p>
            <a:pPr marL="800100" lvl="1" indent="-342900" algn="just">
              <a:buFont typeface="Wingdings" panose="05000000000000000000" pitchFamily="2" charset="2"/>
              <a:buChar char="q"/>
            </a:pPr>
            <a:r>
              <a:rPr lang="en-US" sz="2000" dirty="0">
                <a:latin typeface="fkGroteskNeue"/>
              </a:rPr>
              <a:t>Loop gain &gt;1 at that frequency ensures startup.</a:t>
            </a:r>
          </a:p>
          <a:p>
            <a:pPr marL="800100" lvl="1" indent="-342900" algn="just">
              <a:buFont typeface="Wingdings" panose="05000000000000000000" pitchFamily="2" charset="2"/>
              <a:buChar char="q"/>
            </a:pPr>
            <a:r>
              <a:rPr lang="en-US" sz="2000" dirty="0">
                <a:latin typeface="fkGroteskNeue"/>
              </a:rPr>
              <a:t>Unlike LC oscillators, ring oscillators rely solely on delay-based phase shift and device gain</a:t>
            </a:r>
            <a:r>
              <a:rPr lang="en-US" sz="2000" dirty="0" smtClean="0">
                <a:latin typeface="fkGroteskNeue"/>
              </a:rPr>
              <a:t>.</a:t>
            </a:r>
          </a:p>
          <a:p>
            <a:pPr marL="800100" lvl="1" indent="-342900" algn="just">
              <a:buFont typeface="Arial" panose="020B0604020202020204" pitchFamily="34" charset="0"/>
              <a:buChar char="•"/>
            </a:pPr>
            <a:endParaRPr lang="en-US" sz="2000" dirty="0">
              <a:latin typeface="fkGroteskNeue"/>
            </a:endParaRPr>
          </a:p>
          <a:p>
            <a:pPr algn="just"/>
            <a:r>
              <a:rPr lang="en-US" dirty="0">
                <a:latin typeface="fkGroteskNeue"/>
              </a:rPr>
              <a:t>This topology naturally integrates </a:t>
            </a:r>
            <a:r>
              <a:rPr lang="en-US" dirty="0" smtClean="0">
                <a:latin typeface="fkGroteskNeue"/>
              </a:rPr>
              <a:t>on-chip, </a:t>
            </a:r>
            <a:r>
              <a:rPr lang="en-US" dirty="0">
                <a:latin typeface="fkGroteskNeue"/>
              </a:rPr>
              <a:t>offers wide frequency tuning via supply or device sizing, and illustrates the principle that </a:t>
            </a:r>
            <a:r>
              <a:rPr lang="en-US" b="1" dirty="0">
                <a:latin typeface="fkGroteskNeue"/>
              </a:rPr>
              <a:t>phase timing</a:t>
            </a:r>
            <a:r>
              <a:rPr lang="en-US" dirty="0">
                <a:latin typeface="fkGroteskNeue"/>
              </a:rPr>
              <a:t>—not energy storage in L or C alone—can define oscillation frequency.</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A27EB74-48A8-45E9-9B78-E02E36224CAC}"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92105224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93304" y="1722781"/>
            <a:ext cx="3737113" cy="126889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920750" y="0"/>
            <a:ext cx="10593196" cy="1046440"/>
          </a:xfrm>
        </p:spPr>
        <p:txBody>
          <a:bodyPr/>
          <a:lstStyle/>
          <a:p>
            <a:r>
              <a:rPr lang="en-US" dirty="0">
                <a:latin typeface="fkGrotesk"/>
              </a:rPr>
              <a:t>Fundamental </a:t>
            </a:r>
            <a:r>
              <a:rPr lang="en-US" dirty="0" smtClean="0">
                <a:latin typeface="fkGrotesk"/>
              </a:rPr>
              <a:t>Intuition for </a:t>
            </a:r>
            <a:r>
              <a:rPr lang="en-US" dirty="0">
                <a:latin typeface="fkGrotesk"/>
              </a:rPr>
              <a:t>Ring Oscillator Operation and </a:t>
            </a:r>
            <a:r>
              <a:rPr lang="en-US" dirty="0" smtClean="0">
                <a:latin typeface="fkGrotesk"/>
              </a:rPr>
              <a:t>Scaling</a:t>
            </a:r>
            <a:endParaRPr lang="en-US" dirty="0"/>
          </a:p>
        </p:txBody>
      </p:sp>
      <p:sp>
        <p:nvSpPr>
          <p:cNvPr id="3" name="Text Placeholder 2"/>
          <p:cNvSpPr>
            <a:spLocks noGrp="1"/>
          </p:cNvSpPr>
          <p:nvPr>
            <p:ph type="body" idx="1"/>
          </p:nvPr>
        </p:nvSpPr>
        <p:spPr>
          <a:xfrm>
            <a:off x="844550" y="1327353"/>
            <a:ext cx="10771717" cy="2462213"/>
          </a:xfrm>
        </p:spPr>
        <p:txBody>
          <a:bodyPr/>
          <a:lstStyle/>
          <a:p>
            <a:pPr algn="just"/>
            <a:r>
              <a:rPr lang="en-US" dirty="0">
                <a:latin typeface="fkGroteskNeue"/>
              </a:rPr>
              <a:t>Designing oscillators with multiple stages (N) directly impacts </a:t>
            </a:r>
            <a:endParaRPr lang="en-US" dirty="0" smtClean="0">
              <a:latin typeface="fkGroteskNeue"/>
            </a:endParaRPr>
          </a:p>
          <a:p>
            <a:pPr algn="just"/>
            <a:endParaRPr lang="en-US" dirty="0" smtClean="0">
              <a:latin typeface="fkGroteskNeue"/>
            </a:endParaRPr>
          </a:p>
          <a:p>
            <a:pPr marL="800100" lvl="1" indent="-342900" algn="just">
              <a:buFont typeface="Wingdings" panose="05000000000000000000" pitchFamily="2" charset="2"/>
              <a:buChar char="q"/>
            </a:pPr>
            <a:r>
              <a:rPr lang="en-US" sz="2000" dirty="0">
                <a:solidFill>
                  <a:srgbClr val="00B050"/>
                </a:solidFill>
                <a:latin typeface="fkGroteskNeue"/>
              </a:rPr>
              <a:t>S</a:t>
            </a:r>
            <a:r>
              <a:rPr lang="en-US" sz="2000" dirty="0" smtClean="0">
                <a:solidFill>
                  <a:srgbClr val="00B050"/>
                </a:solidFill>
                <a:latin typeface="fkGroteskNeue"/>
              </a:rPr>
              <a:t>tartup</a:t>
            </a:r>
            <a:r>
              <a:rPr lang="en-US" sz="2000" dirty="0">
                <a:solidFill>
                  <a:srgbClr val="00B050"/>
                </a:solidFill>
                <a:latin typeface="fkGroteskNeue"/>
              </a:rPr>
              <a:t>, </a:t>
            </a:r>
            <a:endParaRPr lang="en-US" sz="2000" dirty="0" smtClean="0">
              <a:solidFill>
                <a:srgbClr val="00B050"/>
              </a:solidFill>
              <a:latin typeface="fkGroteskNeue"/>
            </a:endParaRPr>
          </a:p>
          <a:p>
            <a:pPr marL="800100" lvl="1" indent="-342900" algn="just">
              <a:buFont typeface="Wingdings" panose="05000000000000000000" pitchFamily="2" charset="2"/>
              <a:buChar char="q"/>
            </a:pPr>
            <a:r>
              <a:rPr lang="en-US" sz="2000" dirty="0">
                <a:solidFill>
                  <a:srgbClr val="00B050"/>
                </a:solidFill>
                <a:latin typeface="fkGroteskNeue"/>
              </a:rPr>
              <a:t>F</a:t>
            </a:r>
            <a:r>
              <a:rPr lang="en-US" sz="2000" dirty="0" smtClean="0">
                <a:solidFill>
                  <a:srgbClr val="00B050"/>
                </a:solidFill>
                <a:latin typeface="fkGroteskNeue"/>
              </a:rPr>
              <a:t>requency</a:t>
            </a:r>
            <a:r>
              <a:rPr lang="en-US" sz="2000" dirty="0">
                <a:solidFill>
                  <a:srgbClr val="00B050"/>
                </a:solidFill>
                <a:latin typeface="fkGroteskNeue"/>
              </a:rPr>
              <a:t>, </a:t>
            </a:r>
            <a:endParaRPr lang="en-US" sz="2000" dirty="0" smtClean="0">
              <a:solidFill>
                <a:srgbClr val="00B050"/>
              </a:solidFill>
              <a:latin typeface="fkGroteskNeue"/>
            </a:endParaRPr>
          </a:p>
          <a:p>
            <a:pPr marL="800100" lvl="1" indent="-342900" algn="just">
              <a:buFont typeface="Wingdings" panose="05000000000000000000" pitchFamily="2" charset="2"/>
              <a:buChar char="q"/>
            </a:pPr>
            <a:r>
              <a:rPr lang="en-US" sz="2000" dirty="0" smtClean="0">
                <a:solidFill>
                  <a:srgbClr val="00B050"/>
                </a:solidFill>
                <a:latin typeface="fkGroteskNeue"/>
              </a:rPr>
              <a:t>Gain </a:t>
            </a:r>
            <a:r>
              <a:rPr lang="en-US" sz="2000" dirty="0">
                <a:solidFill>
                  <a:srgbClr val="00B050"/>
                </a:solidFill>
                <a:latin typeface="fkGroteskNeue"/>
              </a:rPr>
              <a:t>requirements. </a:t>
            </a:r>
            <a:endParaRPr lang="en-US" sz="2000" dirty="0" smtClean="0">
              <a:solidFill>
                <a:srgbClr val="00B050"/>
              </a:solidFill>
              <a:latin typeface="fkGroteskNeue"/>
            </a:endParaRPr>
          </a:p>
          <a:p>
            <a:pPr algn="just"/>
            <a:endParaRPr lang="en-US" dirty="0">
              <a:latin typeface="fkGroteskNeue"/>
            </a:endParaRPr>
          </a:p>
          <a:p>
            <a:pPr algn="just"/>
            <a:r>
              <a:rPr lang="en-US" dirty="0" smtClean="0">
                <a:latin typeface="fkGroteskNeue"/>
              </a:rPr>
              <a:t>We will explore the fundamental</a:t>
            </a:r>
            <a:r>
              <a:rPr lang="en-US" dirty="0">
                <a:latin typeface="fkGroteskNeue"/>
              </a:rPr>
              <a:t>, pedagogical explanation and figure breakdown tailored for </a:t>
            </a:r>
            <a:r>
              <a:rPr lang="en-US" dirty="0" smtClean="0">
                <a:latin typeface="fkGroteskNeue"/>
              </a:rPr>
              <a:t>in-depth </a:t>
            </a:r>
            <a:r>
              <a:rPr lang="en-US" dirty="0">
                <a:latin typeface="fkGroteskNeue"/>
              </a:rPr>
              <a:t>lectures.</a:t>
            </a: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33602D4-E01B-4036-8DBA-028902DB001C}"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21600240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2991678" y="5267077"/>
            <a:ext cx="5943600" cy="130865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846814" y="1714832"/>
            <a:ext cx="10565295" cy="108999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43934" y="245534"/>
            <a:ext cx="11675533" cy="626533"/>
          </a:xfrm>
        </p:spPr>
        <p:txBody>
          <a:bodyPr/>
          <a:lstStyle/>
          <a:p>
            <a:r>
              <a:rPr lang="en-US" dirty="0">
                <a:latin typeface="fkGrotesk"/>
              </a:rPr>
              <a:t>1. Ring Oscillator Phase Shift and Frequency: Scaling with </a:t>
            </a:r>
            <a:r>
              <a:rPr lang="en-US" dirty="0" smtClean="0">
                <a:latin typeface="fkGrotesk"/>
              </a:rPr>
              <a:t>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520719" y="1096250"/>
                <a:ext cx="10712450" cy="4611583"/>
              </a:xfrm>
            </p:spPr>
            <p:txBody>
              <a:bodyPr/>
              <a:lstStyle/>
              <a:p>
                <a:pPr algn="ctr"/>
                <a:r>
                  <a:rPr lang="en-US" b="1" dirty="0" smtClean="0">
                    <a:solidFill>
                      <a:srgbClr val="C00000"/>
                    </a:solidFill>
                    <a:latin typeface="fkGroteskNeue"/>
                  </a:rPr>
                  <a:t>As </a:t>
                </a:r>
                <a:r>
                  <a:rPr lang="en-US" b="1" dirty="0">
                    <a:solidFill>
                      <a:srgbClr val="C00000"/>
                    </a:solidFill>
                    <a:latin typeface="fkGroteskNeue"/>
                  </a:rPr>
                  <a:t>the number of stages, N, increases</a:t>
                </a:r>
                <a:r>
                  <a:rPr lang="en-US" b="1" dirty="0" smtClean="0">
                    <a:solidFill>
                      <a:srgbClr val="C00000"/>
                    </a:solidFill>
                    <a:latin typeface="fkGroteskNeue"/>
                  </a:rPr>
                  <a:t>:</a:t>
                </a:r>
              </a:p>
              <a:p>
                <a:pPr algn="l"/>
                <a:endParaRPr lang="en-US" dirty="0">
                  <a:latin typeface="fkGroteskNeue"/>
                </a:endParaRPr>
              </a:p>
              <a:p>
                <a:pPr marL="800100" lvl="1" indent="-342900" algn="l">
                  <a:buFont typeface="Wingdings" panose="05000000000000000000" pitchFamily="2" charset="2"/>
                  <a:buChar char="q"/>
                </a:pPr>
                <a:r>
                  <a:rPr lang="en-US" dirty="0">
                    <a:latin typeface="fkGroteskNeue"/>
                  </a:rPr>
                  <a:t>The required total phase shift (360°) is distributed across all stages.</a:t>
                </a:r>
              </a:p>
              <a:p>
                <a:pPr marL="800100" lvl="1" indent="-342900" algn="l">
                  <a:buFont typeface="Wingdings" panose="05000000000000000000" pitchFamily="2" charset="2"/>
                  <a:buChar char="q"/>
                </a:pPr>
                <a:r>
                  <a:rPr lang="en-US" dirty="0">
                    <a:latin typeface="fkGroteskNeue"/>
                  </a:rPr>
                  <a:t>Each stage must provide a phase shift of </a:t>
                </a:r>
                <a:r>
                  <a:rPr lang="en-US" dirty="0" smtClean="0">
                    <a:latin typeface="KaTeX_Main"/>
                  </a:rPr>
                  <a:t>180</a:t>
                </a:r>
                <a:r>
                  <a:rPr lang="en-US" baseline="30000" dirty="0">
                    <a:latin typeface="KaTeX_Main"/>
                  </a:rPr>
                  <a:t>∘</a:t>
                </a:r>
                <a:r>
                  <a:rPr lang="en-US" dirty="0">
                    <a:latin typeface="fkGroteskNeue"/>
                  </a:rPr>
                  <a:t> </a:t>
                </a:r>
                <a:r>
                  <a:rPr lang="en-US" dirty="0" smtClean="0">
                    <a:latin typeface="KaTeX_Main"/>
                  </a:rPr>
                  <a:t>/ </a:t>
                </a:r>
                <a:r>
                  <a:rPr lang="en-US" i="1" dirty="0" smtClean="0">
                    <a:latin typeface="KaTeX_Math"/>
                  </a:rPr>
                  <a:t>N  </a:t>
                </a:r>
                <a:r>
                  <a:rPr lang="en-US" dirty="0" smtClean="0">
                    <a:latin typeface="fkGroteskNeue"/>
                  </a:rPr>
                  <a:t>(</a:t>
                </a:r>
                <a:r>
                  <a:rPr lang="en-US" dirty="0">
                    <a:latin typeface="fkGroteskNeue"/>
                  </a:rPr>
                  <a:t>since the feedback loop must sum to –180° for oscillation).</a:t>
                </a:r>
              </a:p>
              <a:p>
                <a:pPr marL="800100" lvl="1" indent="-342900" algn="l">
                  <a:buFont typeface="Wingdings" panose="05000000000000000000" pitchFamily="2" charset="2"/>
                  <a:buChar char="q"/>
                </a:pPr>
                <a:r>
                  <a:rPr lang="en-US" dirty="0">
                    <a:latin typeface="fkGroteskNeue"/>
                  </a:rPr>
                  <a:t>The oscillation frequency </a:t>
                </a:r>
                <a:r>
                  <a:rPr lang="en-US" i="1" dirty="0" smtClean="0">
                    <a:latin typeface="KaTeX_Math"/>
                  </a:rPr>
                  <a:t>ω</a:t>
                </a:r>
                <a:r>
                  <a:rPr lang="en-US" dirty="0" smtClean="0">
                    <a:latin typeface="KaTeX_Main"/>
                  </a:rPr>
                  <a:t>0</a:t>
                </a:r>
                <a:r>
                  <a:rPr lang="en-US" dirty="0">
                    <a:latin typeface="fkGroteskNeue"/>
                  </a:rPr>
                  <a:t> decreases as more delay is added per cycle</a:t>
                </a:r>
                <a:r>
                  <a:rPr lang="en-US" dirty="0" smtClean="0">
                    <a:latin typeface="fkGroteskNeue"/>
                  </a:rPr>
                  <a:t>.</a:t>
                </a:r>
                <a:endParaRPr lang="en-US" dirty="0">
                  <a:latin typeface="fkGroteskNeue"/>
                </a:endParaRPr>
              </a:p>
              <a:p>
                <a:pPr algn="ctr">
                  <a:spcAft>
                    <a:spcPts val="1050"/>
                  </a:spcAft>
                </a:pPr>
                <a:r>
                  <a:rPr lang="en-US" dirty="0" smtClean="0">
                    <a:latin typeface="fkGroteskNeue"/>
                  </a:rPr>
                  <a:t>        </a:t>
                </a:r>
                <a:r>
                  <a:rPr lang="en-US" b="1" dirty="0" smtClean="0">
                    <a:solidFill>
                      <a:srgbClr val="C00000"/>
                    </a:solidFill>
                    <a:latin typeface="fkGroteskNeue"/>
                  </a:rPr>
                  <a:t> Equation :</a:t>
                </a:r>
                <a14:m>
                  <m:oMath xmlns:m="http://schemas.openxmlformats.org/officeDocument/2006/math">
                    <m:r>
                      <a:rPr lang="en-US" sz="1200" b="1" i="0"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 </m:t>
                    </m:r>
                  </m:oMath>
                </a14:m>
                <a:endParaRPr lang="en-US" sz="1200" b="1" i="0" dirty="0" smtClean="0">
                  <a:solidFill>
                    <a:srgbClr val="C00000"/>
                  </a:solidFill>
                  <a:latin typeface="Cambria Math" panose="02040503050406030204"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𝑁</m:t>
                                  </m:r>
                                </m:den>
                              </m:f>
                            </m:e>
                          </m: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oMath>
                  </m:oMathPara>
                </a14:m>
                <a:endParaRPr lang="en-US" dirty="0" smtClean="0">
                  <a:latin typeface="KaTeX_Main"/>
                </a:endParaRPr>
              </a:p>
              <a:p>
                <a:pPr algn="ctr"/>
                <a:endParaRPr lang="en-US" b="1" dirty="0" smtClean="0">
                  <a:solidFill>
                    <a:srgbClr val="C00000"/>
                  </a:solidFill>
                  <a:latin typeface="fkGroteskNeue"/>
                </a:endParaRPr>
              </a:p>
              <a:p>
                <a:pPr algn="ctr"/>
                <a:r>
                  <a:rPr lang="en-US" b="1" dirty="0" smtClean="0">
                    <a:solidFill>
                      <a:srgbClr val="C00000"/>
                    </a:solidFill>
                    <a:latin typeface="fkGroteskNeue"/>
                  </a:rPr>
                  <a:t>This </a:t>
                </a:r>
                <a:r>
                  <a:rPr lang="en-US" b="1" dirty="0">
                    <a:solidFill>
                      <a:srgbClr val="C00000"/>
                    </a:solidFill>
                    <a:latin typeface="fkGroteskNeue"/>
                  </a:rPr>
                  <a:t>means that </a:t>
                </a:r>
                <a:endParaRPr lang="en-US" b="1" dirty="0" smtClean="0">
                  <a:solidFill>
                    <a:srgbClr val="C00000"/>
                  </a:solidFill>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520719" y="1096250"/>
                <a:ext cx="10712450" cy="4611583"/>
              </a:xfrm>
              <a:blipFill>
                <a:blip r:embed="rId2"/>
                <a:stretch>
                  <a:fillRect t="-1587" r="-1820" b="-2513"/>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1073B2F-7D88-4C4E-B823-5714F1CBFC2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
        <p:nvSpPr>
          <p:cNvPr id="10" name="Rectangle 9"/>
          <p:cNvSpPr/>
          <p:nvPr/>
        </p:nvSpPr>
        <p:spPr>
          <a:xfrm>
            <a:off x="2519238" y="5580053"/>
            <a:ext cx="7258877" cy="1015663"/>
          </a:xfrm>
          <a:prstGeom prst="rect">
            <a:avLst/>
          </a:prstGeom>
        </p:spPr>
        <p:txBody>
          <a:bodyPr wrap="square">
            <a:spAutoFit/>
          </a:bodyPr>
          <a:lstStyle/>
          <a:p>
            <a:pPr marL="800100" lvl="1" indent="-342900">
              <a:buFont typeface="Wingdings" panose="05000000000000000000" pitchFamily="2" charset="2"/>
              <a:buChar char="q"/>
            </a:pPr>
            <a:r>
              <a:rPr lang="en-US" sz="2000" dirty="0">
                <a:solidFill>
                  <a:srgbClr val="00B050"/>
                </a:solidFill>
                <a:latin typeface="fkGroteskNeue"/>
              </a:rPr>
              <a:t>Lower gain per stage is required as N goes up</a:t>
            </a:r>
          </a:p>
          <a:p>
            <a:pPr marL="800100" lvl="1" indent="-342900">
              <a:buFont typeface="Wingdings" panose="05000000000000000000" pitchFamily="2" charset="2"/>
              <a:buChar char="q"/>
            </a:pPr>
            <a:r>
              <a:rPr lang="en-US" sz="2000" dirty="0">
                <a:solidFill>
                  <a:srgbClr val="00B050"/>
                </a:solidFill>
                <a:latin typeface="fkGroteskNeue"/>
              </a:rPr>
              <a:t>The loop shares the phase shift</a:t>
            </a:r>
          </a:p>
          <a:p>
            <a:pPr marL="800100" lvl="1" indent="-342900">
              <a:buFont typeface="Wingdings" panose="05000000000000000000" pitchFamily="2" charset="2"/>
              <a:buChar char="q"/>
            </a:pPr>
            <a:r>
              <a:rPr lang="en-US" sz="2000" dirty="0">
                <a:solidFill>
                  <a:srgbClr val="00B050"/>
                </a:solidFill>
                <a:latin typeface="fkGroteskNeue"/>
              </a:rPr>
              <a:t>The gain constraints among more devices</a:t>
            </a:r>
            <a:endParaRPr lang="en-US" sz="2000" dirty="0">
              <a:solidFill>
                <a:srgbClr val="00B050"/>
              </a:solidFill>
              <a:latin typeface="fkGroteskNeue"/>
            </a:endParaRPr>
          </a:p>
        </p:txBody>
      </p:sp>
    </p:spTree>
    <p:extLst>
      <p:ext uri="{BB962C8B-B14F-4D97-AF65-F5344CB8AC3E}">
        <p14:creationId xmlns:p14="http://schemas.microsoft.com/office/powerpoint/2010/main" val="69496845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559905" y="3988904"/>
            <a:ext cx="7007086" cy="147099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417444" y="1590261"/>
            <a:ext cx="7007086" cy="147099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2. Three-Stage Ring Oscillator: Fundamental </a:t>
            </a:r>
            <a:r>
              <a:rPr lang="en-US" dirty="0" smtClean="0">
                <a:latin typeface="fkGrotesk"/>
              </a:rPr>
              <a:t>Operation</a:t>
            </a:r>
            <a:endParaRPr lang="en-US" dirty="0"/>
          </a:p>
        </p:txBody>
      </p:sp>
      <p:sp>
        <p:nvSpPr>
          <p:cNvPr id="4" name="Text Placeholder 3"/>
          <p:cNvSpPr>
            <a:spLocks noGrp="1"/>
          </p:cNvSpPr>
          <p:nvPr>
            <p:ph type="body" idx="1"/>
          </p:nvPr>
        </p:nvSpPr>
        <p:spPr>
          <a:xfrm>
            <a:off x="67732" y="1788785"/>
            <a:ext cx="7128934" cy="1107996"/>
          </a:xfrm>
        </p:spPr>
        <p:txBody>
          <a:bodyPr/>
          <a:lstStyle/>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dirty="0">
                <a:latin typeface="fkGroteskNeue"/>
              </a:rPr>
              <a:t>A</a:t>
            </a:r>
            <a:r>
              <a:rPr lang="en-US" dirty="0" smtClean="0">
                <a:latin typeface="fkGroteskNeue"/>
              </a:rPr>
              <a:t> </a:t>
            </a:r>
            <a:r>
              <a:rPr lang="en-US" dirty="0">
                <a:latin typeface="fkGroteskNeue"/>
              </a:rPr>
              <a:t>three-stage common-source (CS) ring oscillator. </a:t>
            </a:r>
            <a:endParaRPr lang="en-US" dirty="0" smtClean="0">
              <a:latin typeface="fkGroteskNeue"/>
            </a:endParaRP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dirty="0" smtClean="0">
                <a:latin typeface="fkGroteskNeue"/>
              </a:rPr>
              <a:t>Each </a:t>
            </a:r>
            <a:r>
              <a:rPr lang="en-US" dirty="0">
                <a:latin typeface="fkGroteskNeue"/>
              </a:rPr>
              <a:t>stage is identical, with output capacitance CL and load resistor RD. The loop wraps output Z to input X, setting up the cyclic path</a:t>
            </a:r>
            <a:r>
              <a:rPr lang="en-US" dirty="0" smtClean="0">
                <a:latin typeface="fkGroteskNeue"/>
              </a:rPr>
              <a:t>.</a:t>
            </a:r>
            <a:endParaRPr lang="en-US" dirty="0">
              <a:latin typeface="fkGroteskNeue"/>
            </a:endParaRPr>
          </a:p>
        </p:txBody>
      </p:sp>
      <p:pic>
        <p:nvPicPr>
          <p:cNvPr id="5" name="Picture 4"/>
          <p:cNvPicPr>
            <a:picLocks noChangeAspect="1"/>
          </p:cNvPicPr>
          <p:nvPr/>
        </p:nvPicPr>
        <p:blipFill rotWithShape="1">
          <a:blip r:embed="rId2"/>
          <a:srcRect l="3629" t="7087" r="45463" b="49179"/>
          <a:stretch/>
        </p:blipFill>
        <p:spPr>
          <a:xfrm>
            <a:off x="7560733" y="1083733"/>
            <a:ext cx="4512734" cy="2040466"/>
          </a:xfrm>
          <a:prstGeom prst="rect">
            <a:avLst/>
          </a:prstGeom>
        </p:spPr>
      </p:pic>
      <p:pic>
        <p:nvPicPr>
          <p:cNvPr id="6" name="Picture 5"/>
          <p:cNvPicPr>
            <a:picLocks noChangeAspect="1"/>
          </p:cNvPicPr>
          <p:nvPr/>
        </p:nvPicPr>
        <p:blipFill rotWithShape="1">
          <a:blip r:embed="rId3"/>
          <a:srcRect l="56255" t="8608" r="2101" b="12513"/>
          <a:stretch/>
        </p:blipFill>
        <p:spPr>
          <a:xfrm>
            <a:off x="7929033" y="3179233"/>
            <a:ext cx="3691467" cy="3678767"/>
          </a:xfrm>
          <a:prstGeom prst="rect">
            <a:avLst/>
          </a:prstGeom>
        </p:spPr>
      </p:pic>
      <p:sp>
        <p:nvSpPr>
          <p:cNvPr id="7" name="Rectangle 6"/>
          <p:cNvSpPr/>
          <p:nvPr/>
        </p:nvSpPr>
        <p:spPr>
          <a:xfrm>
            <a:off x="139699" y="3968803"/>
            <a:ext cx="7116233" cy="1477328"/>
          </a:xfrm>
          <a:prstGeom prst="rect">
            <a:avLst/>
          </a:prstGeom>
        </p:spPr>
        <p:txBody>
          <a:bodyPr wrap="square">
            <a:spAutoFit/>
          </a:bodyPr>
          <a:lstStyle/>
          <a:p>
            <a:pPr marL="742950" lvl="1" indent="-285750" algn="just">
              <a:buFont typeface="Wingdings" panose="05000000000000000000" pitchFamily="2" charset="2"/>
              <a:buChar char="q"/>
            </a:pPr>
            <a:r>
              <a:rPr lang="en-US" kern="0" dirty="0">
                <a:solidFill>
                  <a:sysClr val="windowText" lastClr="000000"/>
                </a:solidFill>
                <a:latin typeface="fkGroteskNeue"/>
              </a:rPr>
              <a:t>T</a:t>
            </a:r>
            <a:r>
              <a:rPr lang="en-US" kern="0" dirty="0" smtClean="0">
                <a:solidFill>
                  <a:sysClr val="windowText" lastClr="000000"/>
                </a:solidFill>
                <a:latin typeface="fkGroteskNeue"/>
              </a:rPr>
              <a:t>he </a:t>
            </a:r>
            <a:r>
              <a:rPr lang="en-US" kern="0" dirty="0">
                <a:solidFill>
                  <a:sysClr val="windowText" lastClr="000000"/>
                </a:solidFill>
                <a:latin typeface="fkGroteskNeue"/>
              </a:rPr>
              <a:t>magnitude and phase (Bode plot) for the loop transfer function H(j</a:t>
            </a:r>
            <a:r>
              <a:rPr lang="el-GR" kern="0" dirty="0">
                <a:solidFill>
                  <a:sysClr val="windowText" lastClr="000000"/>
                </a:solidFill>
                <a:latin typeface="fkGroteskNeue"/>
              </a:rPr>
              <a:t>ω). </a:t>
            </a:r>
            <a:endParaRPr lang="en-US" kern="0" dirty="0" smtClean="0">
              <a:solidFill>
                <a:sysClr val="windowText" lastClr="000000"/>
              </a:solidFill>
              <a:latin typeface="fkGroteskNeue"/>
            </a:endParaRPr>
          </a:p>
          <a:p>
            <a:pPr marL="742950" lvl="1" indent="-285750" algn="just">
              <a:buFont typeface="Wingdings" panose="05000000000000000000" pitchFamily="2" charset="2"/>
              <a:buChar char="q"/>
            </a:pPr>
            <a:r>
              <a:rPr lang="en-US" kern="0" dirty="0" smtClean="0">
                <a:solidFill>
                  <a:sysClr val="windowText" lastClr="000000"/>
                </a:solidFill>
                <a:latin typeface="fkGroteskNeue"/>
              </a:rPr>
              <a:t>Three </a:t>
            </a:r>
            <a:r>
              <a:rPr lang="en-US" kern="0" dirty="0">
                <a:solidFill>
                  <a:sysClr val="windowText" lastClr="000000"/>
                </a:solidFill>
                <a:latin typeface="fkGroteskNeue"/>
              </a:rPr>
              <a:t>cascaded amplifier stages, each contributing frequency-dependent phase shift, achieve the –180° shift at a specific frequency </a:t>
            </a:r>
            <a:r>
              <a:rPr lang="el-GR" i="1" kern="0" dirty="0">
                <a:solidFill>
                  <a:sysClr val="windowText" lastClr="000000"/>
                </a:solidFill>
                <a:latin typeface="KaTeX_Math"/>
              </a:rPr>
              <a:t>ω</a:t>
            </a:r>
            <a:r>
              <a:rPr lang="el-GR" kern="0" dirty="0">
                <a:solidFill>
                  <a:sysClr val="windowText" lastClr="000000"/>
                </a:solidFill>
                <a:latin typeface="KaTeX_Main"/>
              </a:rPr>
              <a:t>0</a:t>
            </a:r>
            <a:r>
              <a:rPr lang="el-GR" kern="0" dirty="0">
                <a:solidFill>
                  <a:sysClr val="windowText" lastClr="000000"/>
                </a:solidFill>
                <a:latin typeface="fkGroteskNeue"/>
              </a:rPr>
              <a:t>.</a:t>
            </a:r>
          </a:p>
        </p:txBody>
      </p:sp>
      <p:sp>
        <p:nvSpPr>
          <p:cNvPr id="3" name="Date Placeholder 2"/>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92063B6-1F9E-4702-A879-94733A10F9D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11" name="Slide Number Placeholder 10"/>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69265658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492611" y="1294074"/>
            <a:ext cx="4800599" cy="453224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53017" y="319859"/>
            <a:ext cx="10593196" cy="430887"/>
          </a:xfrm>
        </p:spPr>
        <p:txBody>
          <a:bodyPr/>
          <a:lstStyle/>
          <a:p>
            <a:pPr algn="l"/>
            <a:r>
              <a:rPr lang="en-US" sz="2800" dirty="0">
                <a:latin typeface="fkGrotesk"/>
              </a:rPr>
              <a:t>2. Three-Stage Ring Oscillator: Fundamental </a:t>
            </a:r>
            <a:r>
              <a:rPr lang="en-US" sz="2800" dirty="0" smtClean="0">
                <a:latin typeface="fkGrotesk"/>
              </a:rPr>
              <a:t>Operation</a:t>
            </a:r>
            <a:endParaRPr lang="en-US" sz="2800"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3604887" y="1345537"/>
                <a:ext cx="4644811" cy="4241674"/>
              </a:xfrm>
            </p:spPr>
            <p:txBody>
              <a:bodyPr/>
              <a:lstStyle/>
              <a:p>
                <a:pPr algn="ctr"/>
                <a:r>
                  <a:rPr lang="en-US" b="1" dirty="0" smtClean="0">
                    <a:solidFill>
                      <a:srgbClr val="C00000"/>
                    </a:solidFill>
                    <a:latin typeface="fkGroteskNeue"/>
                  </a:rPr>
                  <a:t>2 Loop </a:t>
                </a:r>
                <a:r>
                  <a:rPr lang="en-US" b="1" dirty="0">
                    <a:solidFill>
                      <a:srgbClr val="C00000"/>
                    </a:solidFill>
                    <a:latin typeface="fkGroteskNeue"/>
                  </a:rPr>
                  <a:t>transfer function</a:t>
                </a:r>
                <a:r>
                  <a:rPr lang="en-US" b="1" dirty="0" smtClean="0">
                    <a:solidFill>
                      <a:srgbClr val="C00000"/>
                    </a:solidFill>
                    <a:latin typeface="fkGroteskNeue"/>
                  </a:rPr>
                  <a:t>:</a:t>
                </a:r>
                <a:endParaRPr lang="en-US" dirty="0" smtClean="0">
                  <a:solidFill>
                    <a:srgbClr val="C00000"/>
                  </a:solidFill>
                  <a:latin typeface="fkGroteskNeue"/>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d>
                            <m:dPr>
                              <m:begChr m:val="["/>
                              <m:endChr m:val="]"/>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den>
                                  </m:f>
                                </m:e>
                              </m:d>
                            </m:e>
                          </m:d>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p>
                      </m:sSup>
                    </m:oMath>
                  </m:oMathPara>
                </a14:m>
                <a:endParaRPr lang="en-US" sz="1800" dirty="0">
                  <a:latin typeface="fkGroteskNeue"/>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p>
                          </m:sSubSup>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p>
                          </m:sSubSup>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p>
                          </m:sSup>
                        </m:den>
                      </m:f>
                    </m:oMath>
                  </m:oMathPara>
                </a14:m>
                <a:endParaRPr lang="en-US" sz="1400" dirty="0">
                  <a:latin typeface="fkGroteskNeue"/>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fkGroteskNeue"/>
                    <a:ea typeface="inter"/>
                    <a:cs typeface="inter"/>
                  </a:rPr>
                  <a:t>Oscillation occurs when at this frequency:</a:t>
                </a:r>
                <a:endParaRPr lang="en-US" sz="1600" dirty="0">
                  <a:latin typeface="fkGroteskNeue"/>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ad>
                                    <m:radPr>
                                      <m:degHide m:val="on"/>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den>
                              </m:f>
                            </m:e>
                          </m:d>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800" dirty="0">
                  <a:latin typeface="fkGroteskNeue"/>
                  <a:ea typeface="Calibri" panose="020F0502020204030204" pitchFamily="34" charset="0"/>
                  <a:cs typeface="Times New Roman" panose="02020603050405020304" pitchFamily="18" charset="0"/>
                </a:endParaRPr>
              </a:p>
              <a:p>
                <a:pPr algn="l"/>
                <a:r>
                  <a:rPr lang="en-US" sz="1600" dirty="0" smtClean="0">
                    <a:latin typeface="fkGroteskNeue"/>
                  </a:rPr>
                  <a:t>and </a:t>
                </a:r>
                <a:r>
                  <a:rPr lang="en-US" sz="1600" dirty="0">
                    <a:latin typeface="fkGroteskNeue"/>
                  </a:rPr>
                  <a:t>phase shift is –180</a:t>
                </a:r>
                <a:r>
                  <a:rPr lang="en-US" sz="1600" dirty="0" smtClean="0">
                    <a:latin typeface="fkGroteskNeue"/>
                  </a:rPr>
                  <a:t>°.</a:t>
                </a:r>
                <a:endParaRPr lang="en-US" sz="1600" dirty="0">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3604887" y="1345537"/>
                <a:ext cx="4644811" cy="4241674"/>
              </a:xfrm>
              <a:blipFill>
                <a:blip r:embed="rId2"/>
                <a:stretch>
                  <a:fillRect l="-2625" t="-1724" b="-2011"/>
                </a:stretch>
              </a:blipFill>
            </p:spPr>
            <p:txBody>
              <a:bodyPr/>
              <a:lstStyle/>
              <a:p>
                <a:r>
                  <a:rPr lang="en-US">
                    <a:noFill/>
                  </a:rPr>
                  <a:t> </a:t>
                </a:r>
              </a:p>
            </p:txBody>
          </p:sp>
        </mc:Fallback>
      </mc:AlternateContent>
      <p:sp>
        <p:nvSpPr>
          <p:cNvPr id="7" name="Date Placeholder 6"/>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D995A23-458E-4252-BED0-D7E3955E4604}"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9" name="Slide Number Placeholder 8"/>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5329933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381292" y="1176794"/>
            <a:ext cx="5277678" cy="531743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57602" y="462982"/>
            <a:ext cx="10593196" cy="430887"/>
          </a:xfrm>
        </p:spPr>
        <p:txBody>
          <a:bodyPr/>
          <a:lstStyle/>
          <a:p>
            <a:pPr algn="l"/>
            <a:r>
              <a:rPr lang="en-US" sz="2800" dirty="0" smtClean="0">
                <a:latin typeface="fkGrotesk"/>
              </a:rPr>
              <a:t>3</a:t>
            </a:r>
            <a:r>
              <a:rPr lang="en-US" sz="2800" dirty="0">
                <a:latin typeface="fkGrotesk"/>
              </a:rPr>
              <a:t>. Extracting Oscillation Frequency and Startup Condition</a:t>
            </a:r>
            <a:endParaRPr lang="en-US" sz="2800" dirty="0"/>
          </a:p>
        </p:txBody>
      </p:sp>
      <mc:AlternateContent xmlns:mc="http://schemas.openxmlformats.org/markup-compatibility/2006">
        <mc:Choice xmlns:a14="http://schemas.microsoft.com/office/drawing/2010/main" Requires="a14">
          <p:sp>
            <p:nvSpPr>
              <p:cNvPr id="4" name="Rectangle 3"/>
              <p:cNvSpPr/>
              <p:nvPr/>
            </p:nvSpPr>
            <p:spPr>
              <a:xfrm>
                <a:off x="3421049" y="1207559"/>
                <a:ext cx="5079631" cy="5225598"/>
              </a:xfrm>
              <a:prstGeom prst="rect">
                <a:avLst/>
              </a:prstGeom>
            </p:spPr>
            <p:txBody>
              <a:bodyPr wrap="square">
                <a:spAutoFit/>
              </a:bodyPr>
              <a:lstStyle/>
              <a:p>
                <a:pPr algn="ctr"/>
                <a:r>
                  <a:rPr lang="en-US" b="1" dirty="0" smtClean="0">
                    <a:solidFill>
                      <a:srgbClr val="C00000"/>
                    </a:solidFill>
                    <a:latin typeface="fkGroteskNeue"/>
                  </a:rPr>
                  <a:t>3. Equations </a:t>
                </a:r>
                <a:r>
                  <a:rPr lang="en-US" b="1" dirty="0">
                    <a:solidFill>
                      <a:srgbClr val="C00000"/>
                    </a:solidFill>
                    <a:latin typeface="fkGroteskNeue"/>
                  </a:rPr>
                  <a:t>show the interplay between gain, phase shift, and frequency:</a:t>
                </a:r>
              </a:p>
              <a:p>
                <a:endParaRPr lang="en-US" dirty="0">
                  <a:latin typeface="fkGroteskNeue"/>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up>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num>
                        <m:den>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60</m:t>
                          </m:r>
                        </m:e>
                        <m:sup>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e>
                          </m:rad>
                        </m:num>
                        <m:den>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20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m:oMathPara>
                </a14:m>
                <a:endParaRPr lang="en-US" sz="2000" dirty="0" smtClean="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latin typeface="fkGroteskNeue"/>
                  </a:rPr>
                  <a:t>So for three stages, each stage should provide a low-frequency voltage gain of 2 at startup for robust oscillation.</a:t>
                </a:r>
              </a:p>
            </p:txBody>
          </p:sp>
        </mc:Choice>
        <mc:Fallback>
          <p:sp>
            <p:nvSpPr>
              <p:cNvPr id="4" name="Rectangle 3"/>
              <p:cNvSpPr>
                <a:spLocks noRot="1" noChangeAspect="1" noMove="1" noResize="1" noEditPoints="1" noAdjustHandles="1" noChangeArrowheads="1" noChangeShapeType="1" noTextEdit="1"/>
              </p:cNvSpPr>
              <p:nvPr/>
            </p:nvSpPr>
            <p:spPr>
              <a:xfrm>
                <a:off x="3421049" y="1207559"/>
                <a:ext cx="5079631" cy="5225598"/>
              </a:xfrm>
              <a:prstGeom prst="rect">
                <a:avLst/>
              </a:prstGeom>
              <a:blipFill>
                <a:blip r:embed="rId2"/>
                <a:stretch>
                  <a:fillRect l="-960" t="-583" r="-1080" b="-933"/>
                </a:stretch>
              </a:blipFill>
            </p:spPr>
            <p:txBody>
              <a:bodyPr/>
              <a:lstStyle/>
              <a:p>
                <a:r>
                  <a:rPr lang="en-US">
                    <a:noFill/>
                  </a:rPr>
                  <a:t> </a:t>
                </a:r>
              </a:p>
            </p:txBody>
          </p:sp>
        </mc:Fallback>
      </mc:AlternateContent>
      <p:sp>
        <p:nvSpPr>
          <p:cNvPr id="7" name="Date Placeholder 6"/>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D995A23-458E-4252-BED0-D7E3955E4604}" type="datetime1">
              <a:rPr kumimoji="0" lang="en-US" sz="1200" b="0" i="0" u="none" strike="noStrike" kern="0" cap="none" spc="-10" normalizeH="0" baseline="0" noProof="0" smtClean="0">
                <a:ln>
                  <a:noFill/>
                </a:ln>
                <a:solidFill>
                  <a:prstClr val="black"/>
                </a:solidFill>
                <a:effectLst/>
                <a:uLnTx/>
                <a:uFillTx/>
                <a:latin typeface="Verdana"/>
                <a:ea typeface="+mn-ea"/>
              </a:rPr>
              <a:t>9/4/2026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9" name="Slide Number Placeholder 8"/>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48471261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39998A4-5994-4B9F-BC10-B7A894F67507}"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176572" y="1207712"/>
            <a:ext cx="8864601" cy="4665580"/>
          </a:xfrm>
          <a:prstGeom prst="rect">
            <a:avLst/>
          </a:prstGeom>
        </p:spPr>
      </p:pic>
      <p:sp>
        <p:nvSpPr>
          <p:cNvPr id="8" name="Rectangle 7"/>
          <p:cNvSpPr/>
          <p:nvPr/>
        </p:nvSpPr>
        <p:spPr>
          <a:xfrm>
            <a:off x="2346534" y="5971345"/>
            <a:ext cx="7904728" cy="307777"/>
          </a:xfrm>
          <a:prstGeom prst="rect">
            <a:avLst/>
          </a:prstGeom>
        </p:spPr>
        <p:txBody>
          <a:bodyPr wrap="none">
            <a:spAutoFit/>
          </a:bodyPr>
          <a:lstStyle/>
          <a:p>
            <a:pPr algn="ctr"/>
            <a:r>
              <a:rPr lang="en-US" sz="1400" b="1" i="0" u="none" strike="noStrike" baseline="0" dirty="0" smtClean="0">
                <a:solidFill>
                  <a:srgbClr val="231F20"/>
                </a:solidFill>
                <a:latin typeface="T3Font_164"/>
              </a:rPr>
              <a:t>Figure</a:t>
            </a:r>
            <a:r>
              <a:rPr lang="en-US" sz="1400" b="1" i="0" u="none" strike="noStrike" dirty="0" smtClean="0">
                <a:solidFill>
                  <a:srgbClr val="231F20"/>
                </a:solidFill>
                <a:latin typeface="T3Font_164"/>
              </a:rPr>
              <a:t> </a:t>
            </a:r>
            <a:r>
              <a:rPr lang="en-US" sz="1400" b="1" i="0" u="none" strike="noStrike" baseline="0" dirty="0" smtClean="0">
                <a:solidFill>
                  <a:srgbClr val="231F20"/>
                </a:solidFill>
                <a:latin typeface="T3Font_165"/>
              </a:rPr>
              <a:t>Three </a:t>
            </a:r>
            <a:r>
              <a:rPr lang="en-US" sz="1400" b="1" i="0" u="none" strike="noStrike" baseline="0" dirty="0" smtClean="0">
                <a:solidFill>
                  <a:srgbClr val="231F20"/>
                </a:solidFill>
                <a:latin typeface="T3Font_165"/>
              </a:rPr>
              <a:t>CS stages in a feedback loop, (b) loop transmission, and (c) node waveforms.</a:t>
            </a:r>
            <a:endParaRPr lang="en-US" sz="4000" b="1" dirty="0"/>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611487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49" y="347725"/>
            <a:ext cx="11059583" cy="523220"/>
          </a:xfrm>
        </p:spPr>
        <p:txBody>
          <a:bodyPr/>
          <a:lstStyle/>
          <a:p>
            <a:r>
              <a:rPr lang="en-US" dirty="0">
                <a:latin typeface="fkGrotesk"/>
              </a:rPr>
              <a:t>3. Extracting Oscillation Frequency and Startup </a:t>
            </a:r>
            <a:r>
              <a:rPr lang="en-US" dirty="0" smtClean="0">
                <a:latin typeface="fkGrotesk"/>
              </a:rPr>
              <a:t>Condition</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49" y="1327353"/>
                <a:ext cx="10746317" cy="4191597"/>
              </a:xfrm>
            </p:spPr>
            <p:txBody>
              <a:bodyPr/>
              <a:lstStyle/>
              <a:p>
                <a:pPr algn="l"/>
                <a:r>
                  <a:rPr lang="en-US" dirty="0">
                    <a:latin typeface="fkGroteskNeue"/>
                  </a:rPr>
                  <a:t>Equations </a:t>
                </a:r>
                <a:r>
                  <a:rPr lang="en-US" dirty="0" smtClean="0">
                    <a:latin typeface="fkGroteskNeue"/>
                  </a:rPr>
                  <a:t>show </a:t>
                </a:r>
                <a:r>
                  <a:rPr lang="en-US" dirty="0">
                    <a:latin typeface="fkGroteskNeue"/>
                  </a:rPr>
                  <a:t>the interplay between gain, phase shift, and frequency</a:t>
                </a:r>
                <a:r>
                  <a:rPr lang="en-US" dirty="0" smtClean="0">
                    <a:latin typeface="fkGroteskNeue"/>
                  </a:rPr>
                  <a:t>:</a:t>
                </a:r>
              </a:p>
              <a:p>
                <a:pPr algn="l"/>
                <a:endParaRPr lang="en-US" dirty="0" smtClean="0">
                  <a:latin typeface="fkGroteskNeue"/>
                </a:endParaRPr>
              </a:p>
              <a:p>
                <a:pPr algn="l"/>
                <a:endParaRPr lang="en-US" dirty="0" smtClean="0">
                  <a:latin typeface="fkGroteskNeue"/>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60</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algn="l"/>
                <a:r>
                  <a:rPr lang="en-US" dirty="0" smtClean="0">
                    <a:latin typeface="fkGroteskNeue"/>
                  </a:rPr>
                  <a:t>So </a:t>
                </a:r>
                <a:r>
                  <a:rPr lang="en-US" dirty="0">
                    <a:latin typeface="fkGroteskNeue"/>
                  </a:rPr>
                  <a:t>for three stages, each stage should provide a low-frequency voltage gain of 2 at startup for robust oscillation.</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49" y="1327353"/>
                <a:ext cx="10746317" cy="4191597"/>
              </a:xfrm>
              <a:blipFill>
                <a:blip r:embed="rId2"/>
                <a:stretch>
                  <a:fillRect l="-1476" t="-1747" r="-114"/>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DA5BA0F-CEB5-4091-8F87-554DEA551F1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66188026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636105" y="1202634"/>
            <a:ext cx="7007086" cy="421419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04800" y="347725"/>
            <a:ext cx="11734800" cy="523220"/>
          </a:xfrm>
        </p:spPr>
        <p:txBody>
          <a:bodyPr/>
          <a:lstStyle/>
          <a:p>
            <a:r>
              <a:rPr lang="en-US" dirty="0">
                <a:latin typeface="fkGrotesk"/>
              </a:rPr>
              <a:t>4. Waveform Phase Separation and Capacitance </a:t>
            </a:r>
            <a:r>
              <a:rPr lang="en-US" dirty="0" smtClean="0">
                <a:latin typeface="fkGrotesk"/>
              </a:rPr>
              <a:t>Modeling</a:t>
            </a:r>
            <a:endParaRPr lang="en-US" dirty="0"/>
          </a:p>
        </p:txBody>
      </p:sp>
      <p:sp>
        <p:nvSpPr>
          <p:cNvPr id="3" name="Text Placeholder 2"/>
          <p:cNvSpPr>
            <a:spLocks noGrp="1"/>
          </p:cNvSpPr>
          <p:nvPr>
            <p:ph type="body" idx="1"/>
          </p:nvPr>
        </p:nvSpPr>
        <p:spPr>
          <a:xfrm>
            <a:off x="844550" y="1327353"/>
            <a:ext cx="6750050" cy="4001095"/>
          </a:xfrm>
        </p:spPr>
        <p:txBody>
          <a:bodyPr/>
          <a:lstStyle/>
          <a:p>
            <a:pPr marL="457200" indent="-457200" algn="just">
              <a:buFont typeface="+mj-lt"/>
              <a:buAutoNum type="arabicPeriod"/>
            </a:pPr>
            <a:r>
              <a:rPr lang="en-US" dirty="0">
                <a:latin typeface="fkGroteskNeue"/>
              </a:rPr>
              <a:t>N</a:t>
            </a:r>
            <a:r>
              <a:rPr lang="en-US" dirty="0" smtClean="0">
                <a:latin typeface="fkGroteskNeue"/>
              </a:rPr>
              <a:t>ode </a:t>
            </a:r>
            <a:r>
              <a:rPr lang="en-US" dirty="0">
                <a:latin typeface="fkGroteskNeue"/>
              </a:rPr>
              <a:t>voltages </a:t>
            </a:r>
            <a:r>
              <a:rPr lang="en-US" dirty="0" smtClean="0">
                <a:latin typeface="fkGroteskNeue"/>
              </a:rPr>
              <a:t>(</a:t>
            </a:r>
            <a:r>
              <a:rPr lang="en-US" i="1" dirty="0" smtClean="0">
                <a:latin typeface="KaTeX_Math"/>
              </a:rPr>
              <a:t>V</a:t>
            </a:r>
            <a:r>
              <a:rPr lang="en-US" i="1" baseline="-25000" dirty="0" smtClean="0">
                <a:latin typeface="KaTeX_Math"/>
              </a:rPr>
              <a:t>X</a:t>
            </a:r>
            <a:r>
              <a:rPr lang="en-US" dirty="0" smtClean="0">
                <a:latin typeface="KaTeX_Main"/>
              </a:rPr>
              <a:t>,</a:t>
            </a:r>
            <a:r>
              <a:rPr lang="en-US" i="1" dirty="0" smtClean="0">
                <a:latin typeface="KaTeX_Math"/>
              </a:rPr>
              <a:t>V</a:t>
            </a:r>
            <a:r>
              <a:rPr lang="en-US" i="1" baseline="-25000" dirty="0" smtClean="0">
                <a:latin typeface="KaTeX_Math"/>
              </a:rPr>
              <a:t>Y</a:t>
            </a:r>
            <a:r>
              <a:rPr lang="en-US" dirty="0" smtClean="0">
                <a:latin typeface="KaTeX_Main"/>
              </a:rPr>
              <a:t>,</a:t>
            </a:r>
            <a:r>
              <a:rPr lang="en-US" i="1" dirty="0" smtClean="0">
                <a:latin typeface="KaTeX_Math"/>
              </a:rPr>
              <a:t>V</a:t>
            </a:r>
            <a:r>
              <a:rPr lang="en-US" i="1" baseline="-25000" dirty="0" smtClean="0">
                <a:latin typeface="KaTeX_Math"/>
              </a:rPr>
              <a:t>Z</a:t>
            </a:r>
            <a:r>
              <a:rPr lang="en-US" dirty="0">
                <a:latin typeface="fkGroteskNeue"/>
              </a:rPr>
              <a:t>) through time, with a phase separation of 240°, i.e., each stage output is separated by </a:t>
            </a:r>
            <a:r>
              <a:rPr lang="en-US" dirty="0" smtClean="0">
                <a:latin typeface="KaTeX_Main"/>
              </a:rPr>
              <a:t>−</a:t>
            </a:r>
            <a:r>
              <a:rPr lang="en-US" dirty="0">
                <a:latin typeface="KaTeX_Main"/>
              </a:rPr>
              <a:t>120</a:t>
            </a:r>
            <a:r>
              <a:rPr lang="en-US" baseline="30000" dirty="0">
                <a:latin typeface="KaTeX_Main"/>
              </a:rPr>
              <a:t>∘</a:t>
            </a:r>
            <a:r>
              <a:rPr lang="en-US" dirty="0">
                <a:latin typeface="fkGroteskNeue"/>
              </a:rPr>
              <a:t> in phase. </a:t>
            </a:r>
            <a:endParaRPr lang="en-US" dirty="0" smtClean="0">
              <a:latin typeface="fkGroteskNeue"/>
            </a:endParaRPr>
          </a:p>
          <a:p>
            <a:pPr marL="457200" indent="-457200" algn="just">
              <a:buFont typeface="+mj-lt"/>
              <a:buAutoNum type="arabicPeriod"/>
            </a:pPr>
            <a:r>
              <a:rPr lang="en-US" dirty="0" smtClean="0">
                <a:latin typeface="fkGroteskNeue"/>
              </a:rPr>
              <a:t>This </a:t>
            </a:r>
            <a:r>
              <a:rPr lang="en-US" dirty="0">
                <a:latin typeface="fkGroteskNeue"/>
              </a:rPr>
              <a:t>aligns with the three-stage delay and is essential for multi-phase clock generation in timing circuits</a:t>
            </a:r>
            <a:r>
              <a:rPr lang="en-US" dirty="0" smtClean="0">
                <a:latin typeface="fkGroteskNeue"/>
              </a:rPr>
              <a:t>.</a:t>
            </a:r>
          </a:p>
          <a:p>
            <a:pPr algn="just"/>
            <a:endParaRPr lang="en-US" dirty="0">
              <a:latin typeface="fkGroteskNeue"/>
            </a:endParaRPr>
          </a:p>
          <a:p>
            <a:pPr algn="ctr"/>
            <a:r>
              <a:rPr lang="en-US" b="1" dirty="0">
                <a:solidFill>
                  <a:srgbClr val="C00000"/>
                </a:solidFill>
                <a:latin typeface="fkGrotesk"/>
              </a:rPr>
              <a:t>Capacitance</a:t>
            </a:r>
          </a:p>
          <a:p>
            <a:pPr marL="800100" lvl="1" indent="-342900" algn="just">
              <a:buFont typeface="Wingdings" panose="05000000000000000000" pitchFamily="2" charset="2"/>
              <a:buChar char="q"/>
            </a:pPr>
            <a:r>
              <a:rPr lang="en-US" sz="2000" i="1" dirty="0" smtClean="0">
                <a:latin typeface="KaTeX_Math"/>
              </a:rPr>
              <a:t>C</a:t>
            </a:r>
            <a:r>
              <a:rPr lang="en-US" sz="2000" i="1" baseline="-25000" dirty="0" smtClean="0">
                <a:latin typeface="KaTeX_Math"/>
              </a:rPr>
              <a:t>L</a:t>
            </a:r>
            <a:r>
              <a:rPr lang="en-US" sz="2000" dirty="0">
                <a:latin typeface="fkGroteskNeue"/>
              </a:rPr>
              <a:t> at each node represents all relevant capacitances, including intrinsic node capacitance and Miller effect from transistor coupling.</a:t>
            </a:r>
          </a:p>
          <a:p>
            <a:pPr marL="800100" lvl="1" indent="-342900" algn="just">
              <a:buFont typeface="Wingdings" panose="05000000000000000000" pitchFamily="2" charset="2"/>
              <a:buChar char="q"/>
            </a:pPr>
            <a:r>
              <a:rPr lang="en-US" sz="2000" dirty="0">
                <a:latin typeface="fkGroteskNeue"/>
              </a:rPr>
              <a:t>Accurate modeling of </a:t>
            </a:r>
            <a:r>
              <a:rPr lang="en-US" sz="2000" i="1" dirty="0" smtClean="0">
                <a:latin typeface="KaTeX_Math"/>
              </a:rPr>
              <a:t>C</a:t>
            </a:r>
            <a:r>
              <a:rPr lang="en-US" sz="2000" i="1" baseline="-25000" dirty="0" smtClean="0">
                <a:latin typeface="KaTeX_Math"/>
              </a:rPr>
              <a:t>L</a:t>
            </a:r>
            <a:r>
              <a:rPr lang="en-US" sz="2000" dirty="0">
                <a:latin typeface="fkGroteskNeue"/>
              </a:rPr>
              <a:t> is crucial for predicting oscillation frequency, as seen in design equations.</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4F66B32-0D08-4951-BB17-30EF1EDDF4C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84501" y="1904959"/>
            <a:ext cx="4548249" cy="3163998"/>
          </a:xfrm>
          <a:prstGeom prst="rect">
            <a:avLst/>
          </a:prstGeom>
        </p:spPr>
      </p:pic>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04855244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26166" y="1252331"/>
            <a:ext cx="10982738" cy="308113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5. Key Pedagogical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653183" cy="4616648"/>
          </a:xfrm>
        </p:spPr>
        <p:txBody>
          <a:bodyPr/>
          <a:lstStyle/>
          <a:p>
            <a:pPr marL="342900" indent="-342900" algn="just">
              <a:buFont typeface="Wingdings" panose="05000000000000000000" pitchFamily="2" charset="2"/>
              <a:buChar char="q"/>
            </a:pPr>
            <a:r>
              <a:rPr lang="en-US" dirty="0" smtClean="0">
                <a:latin typeface="fkGroteskNeue"/>
              </a:rPr>
              <a:t>Increasing </a:t>
            </a:r>
            <a:r>
              <a:rPr lang="en-US" dirty="0">
                <a:latin typeface="fkGroteskNeue"/>
              </a:rPr>
              <a:t>N in a ring oscillator lowers the oscillation frequency and reduces the required per-stage gain at startup.</a:t>
            </a:r>
          </a:p>
          <a:p>
            <a:pPr marL="342900" indent="-342900" algn="just">
              <a:buFont typeface="Wingdings" panose="05000000000000000000" pitchFamily="2" charset="2"/>
              <a:buChar char="q"/>
            </a:pPr>
            <a:r>
              <a:rPr lang="en-US" dirty="0">
                <a:latin typeface="fkGroteskNeue"/>
              </a:rPr>
              <a:t>Each stage must contribute part of the total loop phase shift (split among N stages).</a:t>
            </a:r>
          </a:p>
          <a:p>
            <a:pPr marL="342900" indent="-342900" algn="just">
              <a:buFont typeface="Wingdings" panose="05000000000000000000" pitchFamily="2" charset="2"/>
              <a:buChar char="q"/>
            </a:pPr>
            <a:r>
              <a:rPr lang="en-US" dirty="0">
                <a:latin typeface="fkGroteskNeue"/>
              </a:rPr>
              <a:t>Oscillation is ensured when the product of gain, phase shift, and number of stages meets </a:t>
            </a:r>
            <a:r>
              <a:rPr lang="en-US" dirty="0" err="1">
                <a:latin typeface="fkGroteskNeue"/>
              </a:rPr>
              <a:t>Barkhausen</a:t>
            </a:r>
            <a:r>
              <a:rPr lang="en-US" dirty="0">
                <a:latin typeface="fkGroteskNeue"/>
              </a:rPr>
              <a:t> conditions.</a:t>
            </a:r>
          </a:p>
          <a:p>
            <a:pPr marL="342900" indent="-342900" algn="just">
              <a:buFont typeface="Wingdings" panose="05000000000000000000" pitchFamily="2" charset="2"/>
              <a:buChar char="q"/>
            </a:pPr>
            <a:r>
              <a:rPr lang="en-US" dirty="0">
                <a:latin typeface="fkGroteskNeue"/>
              </a:rPr>
              <a:t>The waveform at each node shows clear phase separation, critical for timing circuit applications.</a:t>
            </a:r>
          </a:p>
          <a:p>
            <a:pPr marL="342900" indent="-342900" algn="just">
              <a:buFont typeface="Wingdings" panose="05000000000000000000" pitchFamily="2" charset="2"/>
              <a:buChar char="q"/>
            </a:pPr>
            <a:r>
              <a:rPr lang="en-US" dirty="0">
                <a:latin typeface="fkGroteskNeue"/>
              </a:rPr>
              <a:t>Accurate modeling of node capacitance—including Miller effect—is essential for correct oscillator design and frequency prediction</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algn="just"/>
            <a:r>
              <a:rPr lang="en-US" dirty="0">
                <a:latin typeface="fkGroteskNeue"/>
              </a:rPr>
              <a:t>This progressive, energy-feedback-based view connects the mathematics to the practical design and debugging of robust ring oscillator circuits for PLLs and timing generation</a:t>
            </a:r>
            <a:r>
              <a:rPr lang="en-US" dirty="0" smtClean="0">
                <a:latin typeface="fkGroteskNeue"/>
              </a:rPr>
              <a:t>. Here’s </a:t>
            </a:r>
            <a:r>
              <a:rPr lang="en-US" dirty="0">
                <a:latin typeface="fkGroteskNeue"/>
              </a:rPr>
              <a:t>a fundamental and pedagogical explanation of the ring oscillator principles and the associated figures, focusing on how increasing the number of stages </a:t>
            </a:r>
            <a:r>
              <a:rPr lang="en-US" dirty="0" smtClean="0">
                <a:latin typeface="fkGroteskNeue"/>
              </a:rPr>
              <a:t>(</a:t>
            </a:r>
            <a:r>
              <a:rPr lang="en-US" i="1" dirty="0" smtClean="0">
                <a:latin typeface="KaTeX_Math"/>
              </a:rPr>
              <a:t>N</a:t>
            </a:r>
            <a:r>
              <a:rPr lang="en-US" dirty="0">
                <a:latin typeface="fkGroteskNeue"/>
              </a:rPr>
              <a:t>) affects its behavior and the required gain </a:t>
            </a:r>
            <a:r>
              <a:rPr lang="en-US" dirty="0" smtClean="0">
                <a:latin typeface="fkGroteskNeue"/>
              </a:rPr>
              <a:t>conditions</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254E4F0-B25F-4458-91A5-0BA9C8AE96A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5001662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46044" y="1262269"/>
            <a:ext cx="10942982" cy="3041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Key Learning </a:t>
            </a:r>
            <a:r>
              <a:rPr lang="en-US" dirty="0" smtClean="0">
                <a:latin typeface="fkGrotesk"/>
              </a:rPr>
              <a:t>Points</a:t>
            </a:r>
            <a:endParaRPr lang="en-US" dirty="0"/>
          </a:p>
        </p:txBody>
      </p:sp>
      <p:sp>
        <p:nvSpPr>
          <p:cNvPr id="3" name="Text Placeholder 2"/>
          <p:cNvSpPr>
            <a:spLocks noGrp="1"/>
          </p:cNvSpPr>
          <p:nvPr>
            <p:ph type="body" idx="1"/>
          </p:nvPr>
        </p:nvSpPr>
        <p:spPr>
          <a:xfrm>
            <a:off x="844550" y="1327353"/>
            <a:ext cx="10560050" cy="4616648"/>
          </a:xfrm>
        </p:spPr>
        <p:txBody>
          <a:bodyPr/>
          <a:lstStyle/>
          <a:p>
            <a:pPr marL="342900" indent="-342900" algn="just">
              <a:buFont typeface="Wingdings" panose="05000000000000000000" pitchFamily="2" charset="2"/>
              <a:buChar char="q"/>
            </a:pPr>
            <a:r>
              <a:rPr lang="en-US" dirty="0" smtClean="0">
                <a:latin typeface="fkGroteskNeue"/>
              </a:rPr>
              <a:t>Increasing </a:t>
            </a:r>
            <a:r>
              <a:rPr lang="en-US" dirty="0">
                <a:latin typeface="fkGroteskNeue"/>
              </a:rPr>
              <a:t>stage count lowers oscillation frequency and the required per-stage gain for startup.</a:t>
            </a:r>
          </a:p>
          <a:p>
            <a:pPr marL="342900" indent="-342900" algn="just">
              <a:buFont typeface="Wingdings" panose="05000000000000000000" pitchFamily="2" charset="2"/>
              <a:buChar char="q"/>
            </a:pPr>
            <a:r>
              <a:rPr lang="en-US" dirty="0">
                <a:latin typeface="fkGroteskNeue"/>
              </a:rPr>
              <a:t>Phase shift divides among stages; more stages = smaller shift per stage.</a:t>
            </a:r>
          </a:p>
          <a:p>
            <a:pPr marL="342900" indent="-342900" algn="just">
              <a:buFont typeface="Wingdings" panose="05000000000000000000" pitchFamily="2" charset="2"/>
              <a:buChar char="q"/>
            </a:pPr>
            <a:r>
              <a:rPr lang="en-US" dirty="0">
                <a:latin typeface="fkGroteskNeue"/>
              </a:rPr>
              <a:t>Oscillation criteria are satisfied by the combined action of gain and phase through all stages.</a:t>
            </a:r>
          </a:p>
          <a:p>
            <a:pPr marL="342900" indent="-342900" algn="just">
              <a:buFont typeface="Wingdings" panose="05000000000000000000" pitchFamily="2" charset="2"/>
              <a:buChar char="q"/>
            </a:pPr>
            <a:r>
              <a:rPr lang="en-US" dirty="0">
                <a:latin typeface="fkGroteskNeue"/>
              </a:rPr>
              <a:t>Node voltages show predictable phase relationships, vital for applications in clocking and delay generation.</a:t>
            </a:r>
          </a:p>
          <a:p>
            <a:pPr marL="342900" indent="-342900" algn="just">
              <a:buFont typeface="Wingdings" panose="05000000000000000000" pitchFamily="2" charset="2"/>
              <a:buChar char="q"/>
            </a:pPr>
            <a:r>
              <a:rPr lang="en-US" dirty="0">
                <a:latin typeface="fkGroteskNeue"/>
              </a:rPr>
              <a:t>Capacitance must be carefully included in models for accurate design—especially for advanced, fast oscillators</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endParaRPr lang="en-US" dirty="0">
              <a:latin typeface="fkGroteskNeue"/>
            </a:endParaRPr>
          </a:p>
          <a:p>
            <a:pPr algn="l"/>
            <a:r>
              <a:rPr lang="en-US" dirty="0">
                <a:latin typeface="fkGroteskNeue"/>
              </a:rPr>
              <a:t>This foundational approach tightly links energy cycling, feedback, device modeling, and circuit design to build intuition for students and engineers working on PLLs and modern timing generators.</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BF0CE53-1FD6-4A36-946C-37040E44B988}"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98397316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93305" y="1709531"/>
            <a:ext cx="9521686" cy="147099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26003" y="302149"/>
            <a:ext cx="11865997" cy="523220"/>
          </a:xfrm>
        </p:spPr>
        <p:txBody>
          <a:bodyPr/>
          <a:lstStyle/>
          <a:p>
            <a:pPr algn="just"/>
            <a:r>
              <a:rPr lang="en-US" dirty="0">
                <a:latin typeface="fkGrotesk"/>
              </a:rPr>
              <a:t>Nonlinearity, Amplitude, and Waveform Properties in </a:t>
            </a:r>
            <a:r>
              <a:rPr lang="en-US" dirty="0" smtClean="0">
                <a:latin typeface="fkGrotesk"/>
              </a:rPr>
              <a:t>Practice</a:t>
            </a:r>
            <a:endParaRPr lang="en-US" dirty="0"/>
          </a:p>
        </p:txBody>
      </p:sp>
      <p:sp>
        <p:nvSpPr>
          <p:cNvPr id="3" name="Text Placeholder 2"/>
          <p:cNvSpPr>
            <a:spLocks noGrp="1"/>
          </p:cNvSpPr>
          <p:nvPr>
            <p:ph type="body" idx="1"/>
          </p:nvPr>
        </p:nvSpPr>
        <p:spPr>
          <a:xfrm>
            <a:off x="844550" y="1327353"/>
            <a:ext cx="10687050" cy="1846659"/>
          </a:xfrm>
        </p:spPr>
        <p:txBody>
          <a:bodyPr/>
          <a:lstStyle/>
          <a:p>
            <a:pPr algn="just"/>
            <a:r>
              <a:rPr lang="en-US" sz="2400" dirty="0" smtClean="0">
                <a:latin typeface="fkGroteskNeue"/>
              </a:rPr>
              <a:t>Ring </a:t>
            </a:r>
            <a:r>
              <a:rPr lang="en-US" sz="2400" dirty="0">
                <a:latin typeface="fkGroteskNeue"/>
              </a:rPr>
              <a:t>oscillators, inverter chains, and practical dynamic systems demonstrate </a:t>
            </a:r>
            <a:endParaRPr lang="en-US" sz="2400" dirty="0" smtClean="0">
              <a:latin typeface="fkGroteskNeue"/>
            </a:endParaRPr>
          </a:p>
          <a:p>
            <a:pPr marL="800100" lvl="1" indent="-342900" algn="just">
              <a:buFont typeface="Wingdings" panose="05000000000000000000" pitchFamily="2" charset="2"/>
              <a:buChar char="q"/>
            </a:pPr>
            <a:r>
              <a:rPr lang="en-US" sz="2400" dirty="0" smtClean="0">
                <a:latin typeface="fkGroteskNeue"/>
              </a:rPr>
              <a:t>how </a:t>
            </a:r>
            <a:r>
              <a:rPr lang="en-US" sz="2400" dirty="0">
                <a:latin typeface="fkGroteskNeue"/>
              </a:rPr>
              <a:t>oscillator amplitude and waveform shape are determined </a:t>
            </a:r>
            <a:endParaRPr lang="en-US" sz="2400" dirty="0" smtClean="0">
              <a:latin typeface="fkGroteskNeue"/>
            </a:endParaRPr>
          </a:p>
          <a:p>
            <a:pPr marL="800100" lvl="1" indent="-342900" algn="just">
              <a:buFont typeface="Wingdings" panose="05000000000000000000" pitchFamily="2" charset="2"/>
              <a:buChar char="q"/>
            </a:pPr>
            <a:r>
              <a:rPr lang="en-US" sz="2400" dirty="0" smtClean="0">
                <a:latin typeface="fkGroteskNeue"/>
              </a:rPr>
              <a:t>not </a:t>
            </a:r>
            <a:r>
              <a:rPr lang="en-US" sz="2400" dirty="0">
                <a:latin typeface="fkGroteskNeue"/>
              </a:rPr>
              <a:t>just by loop gain and topology, </a:t>
            </a:r>
            <a:endParaRPr lang="en-US" sz="2400" dirty="0" smtClean="0">
              <a:latin typeface="fkGroteskNeue"/>
            </a:endParaRPr>
          </a:p>
          <a:p>
            <a:pPr marL="800100" lvl="1" indent="-342900" algn="just">
              <a:buFont typeface="Wingdings" panose="05000000000000000000" pitchFamily="2" charset="2"/>
              <a:buChar char="q"/>
            </a:pPr>
            <a:r>
              <a:rPr lang="en-US" sz="2400" dirty="0" smtClean="0">
                <a:latin typeface="fkGroteskNeue"/>
              </a:rPr>
              <a:t>but </a:t>
            </a:r>
            <a:r>
              <a:rPr lang="en-US" sz="2400" dirty="0">
                <a:latin typeface="fkGroteskNeue"/>
              </a:rPr>
              <a:t>by device nonlinearities, </a:t>
            </a:r>
            <a:r>
              <a:rPr lang="en-US" sz="2400" dirty="0" smtClean="0">
                <a:latin typeface="fkGroteskNeue"/>
              </a:rPr>
              <a:t>2</a:t>
            </a:r>
          </a:p>
          <a:p>
            <a:pPr marL="800100" lvl="1" indent="-342900" algn="just">
              <a:buFont typeface="Wingdings" panose="05000000000000000000" pitchFamily="2" charset="2"/>
              <a:buChar char="q"/>
            </a:pPr>
            <a:r>
              <a:rPr lang="en-US" sz="2400" dirty="0" smtClean="0">
                <a:latin typeface="fkGroteskNeue"/>
              </a:rPr>
              <a:t>supply </a:t>
            </a:r>
            <a:r>
              <a:rPr lang="en-US" sz="2400" dirty="0">
                <a:latin typeface="fkGroteskNeue"/>
              </a:rPr>
              <a:t>voltage, and feedback timing. </a:t>
            </a:r>
            <a:endParaRPr lang="en-US" sz="2400"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1694233B-61DD-4745-94FF-F9292D84C4B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65291244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16835" y="1152939"/>
            <a:ext cx="8070574" cy="315070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1. Nonlinearity and Amplitude </a:t>
            </a:r>
            <a:r>
              <a:rPr lang="en-US" dirty="0" smtClean="0">
                <a:latin typeface="fkGrotesk"/>
              </a:rPr>
              <a:t>Stabilization</a:t>
            </a:r>
            <a:endParaRPr lang="en-US" dirty="0"/>
          </a:p>
        </p:txBody>
      </p:sp>
      <p:sp>
        <p:nvSpPr>
          <p:cNvPr id="3" name="Text Placeholder 2"/>
          <p:cNvSpPr>
            <a:spLocks noGrp="1"/>
          </p:cNvSpPr>
          <p:nvPr>
            <p:ph type="body" idx="1"/>
          </p:nvPr>
        </p:nvSpPr>
        <p:spPr>
          <a:xfrm>
            <a:off x="692150" y="1318887"/>
            <a:ext cx="7630583" cy="3077766"/>
          </a:xfrm>
        </p:spPr>
        <p:txBody>
          <a:bodyPr/>
          <a:lstStyle/>
          <a:p>
            <a:pPr marL="342900" indent="-342900" algn="just">
              <a:buFont typeface="Wingdings" panose="05000000000000000000" pitchFamily="2" charset="2"/>
              <a:buChar char="q"/>
            </a:pPr>
            <a:r>
              <a:rPr lang="en-US" dirty="0" smtClean="0">
                <a:latin typeface="fkGroteskNeue"/>
              </a:rPr>
              <a:t>If</a:t>
            </a:r>
            <a:r>
              <a:rPr lang="en-US" dirty="0">
                <a:latin typeface="fkGroteskNeue"/>
              </a:rPr>
              <a:t> </a:t>
            </a:r>
            <a:r>
              <a:rPr lang="en-US" dirty="0" smtClean="0">
                <a:latin typeface="KaTeX_Main"/>
              </a:rPr>
              <a:t>∣</a:t>
            </a:r>
            <a:r>
              <a:rPr lang="en-US" i="1" dirty="0">
                <a:latin typeface="KaTeX_Math"/>
              </a:rPr>
              <a:t>H</a:t>
            </a:r>
            <a:r>
              <a:rPr lang="en-US" dirty="0">
                <a:latin typeface="KaTeX_Main"/>
              </a:rPr>
              <a:t>(</a:t>
            </a:r>
            <a:r>
              <a:rPr lang="en-US" i="1" dirty="0">
                <a:latin typeface="KaTeX_Math"/>
              </a:rPr>
              <a:t>jω</a:t>
            </a:r>
            <a:r>
              <a:rPr lang="en-US" dirty="0">
                <a:latin typeface="KaTeX_Main"/>
              </a:rPr>
              <a:t>0)∣&gt;1</a:t>
            </a:r>
            <a:r>
              <a:rPr lang="en-US" dirty="0">
                <a:latin typeface="fkGroteskNeue"/>
              </a:rPr>
              <a:t>: Amplitude grows after startup, initiated by noise or perturbation, as shown in Figure </a:t>
            </a:r>
            <a:r>
              <a:rPr lang="en-US" dirty="0" smtClean="0">
                <a:latin typeface="fkGroteskNeue"/>
              </a:rPr>
              <a:t>1.13 (</a:t>
            </a:r>
            <a:r>
              <a:rPr lang="en-US" i="1" dirty="0" smtClean="0">
                <a:latin typeface="KaTeX_Math"/>
              </a:rPr>
              <a:t>V</a:t>
            </a:r>
            <a:r>
              <a:rPr lang="en-US" i="1" baseline="-25000" dirty="0" smtClean="0">
                <a:latin typeface="KaTeX_Math"/>
              </a:rPr>
              <a:t>X</a:t>
            </a:r>
            <a:r>
              <a:rPr lang="en-US" dirty="0">
                <a:latin typeface="fkGroteskNeue"/>
              </a:rPr>
              <a:t> building up over time from zero) .</a:t>
            </a:r>
          </a:p>
          <a:p>
            <a:pPr marL="342900" indent="-342900" algn="just">
              <a:buFont typeface="Wingdings" panose="05000000000000000000" pitchFamily="2" charset="2"/>
              <a:buChar char="q"/>
            </a:pPr>
            <a:r>
              <a:rPr lang="en-US" dirty="0">
                <a:latin typeface="fkGroteskNeue"/>
              </a:rPr>
              <a:t>Growth continues until the amplitude is large enough for transistor nonlinearities to reduce the effective loop gain (e.g., </a:t>
            </a:r>
            <a:r>
              <a:rPr lang="en-US" i="1" dirty="0" smtClean="0">
                <a:latin typeface="KaTeX_Math"/>
              </a:rPr>
              <a:t>gm</a:t>
            </a:r>
            <a:r>
              <a:rPr lang="en-US" dirty="0">
                <a:latin typeface="fkGroteskNeue"/>
              </a:rPr>
              <a:t> compresses as transistors enter triode/strong inversion).</a:t>
            </a:r>
          </a:p>
          <a:p>
            <a:pPr marL="342900" indent="-342900" algn="just">
              <a:buFont typeface="Wingdings" panose="05000000000000000000" pitchFamily="2" charset="2"/>
              <a:buChar char="q"/>
            </a:pPr>
            <a:r>
              <a:rPr lang="en-US" dirty="0">
                <a:latin typeface="fkGroteskNeue"/>
              </a:rPr>
              <a:t>The “average” loop gain falls back to unity, so amplitude self-limits at a stable value—no indefinite growth</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FF621261-B71E-4022-94E2-537333DA1E93}"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2"/>
          <a:stretch>
            <a:fillRect/>
          </a:stretch>
        </p:blipFill>
        <p:spPr>
          <a:xfrm>
            <a:off x="617883" y="4447098"/>
            <a:ext cx="10712921" cy="1013902"/>
          </a:xfrm>
          <a:prstGeom prst="rect">
            <a:avLst/>
          </a:prstGeom>
        </p:spPr>
      </p:pic>
      <p:pic>
        <p:nvPicPr>
          <p:cNvPr id="9" name="Picture 8"/>
          <p:cNvPicPr>
            <a:picLocks noChangeAspect="1"/>
          </p:cNvPicPr>
          <p:nvPr/>
        </p:nvPicPr>
        <p:blipFill>
          <a:blip r:embed="rId3"/>
          <a:stretch>
            <a:fillRect/>
          </a:stretch>
        </p:blipFill>
        <p:spPr>
          <a:xfrm>
            <a:off x="8613839" y="1489036"/>
            <a:ext cx="3094025" cy="1790877"/>
          </a:xfrm>
          <a:prstGeom prst="rect">
            <a:avLst/>
          </a:prstGeom>
        </p:spPr>
      </p:pic>
      <p:sp>
        <p:nvSpPr>
          <p:cNvPr id="10" name="Rectangle 9"/>
          <p:cNvSpPr/>
          <p:nvPr/>
        </p:nvSpPr>
        <p:spPr>
          <a:xfrm>
            <a:off x="9302550" y="3218934"/>
            <a:ext cx="2087431" cy="369332"/>
          </a:xfrm>
          <a:prstGeom prst="rect">
            <a:avLst/>
          </a:prstGeom>
        </p:spPr>
        <p:txBody>
          <a:bodyPr wrap="none">
            <a:spAutoFit/>
          </a:bodyPr>
          <a:lstStyle/>
          <a:p>
            <a:r>
              <a:rPr lang="en-US" dirty="0">
                <a:solidFill>
                  <a:srgbClr val="231F20"/>
                </a:solidFill>
                <a:latin typeface="T3Font_185"/>
              </a:rPr>
              <a:t>Initial growth of </a:t>
            </a:r>
            <a:r>
              <a:rPr lang="en-US" dirty="0">
                <a:solidFill>
                  <a:srgbClr val="231F20"/>
                </a:solidFill>
                <a:latin typeface="T3Font_200"/>
              </a:rPr>
              <a:t>V</a:t>
            </a:r>
            <a:r>
              <a:rPr lang="en-US" sz="800" b="0" i="0" u="none" strike="noStrike" baseline="0" dirty="0" smtClean="0">
                <a:solidFill>
                  <a:srgbClr val="231F20"/>
                </a:solidFill>
                <a:latin typeface="T3Font_189"/>
              </a:rPr>
              <a:t>X</a:t>
            </a:r>
            <a:r>
              <a:rPr lang="en-US" dirty="0">
                <a:solidFill>
                  <a:srgbClr val="231F20"/>
                </a:solidFill>
                <a:latin typeface="T3Font_185"/>
              </a:rPr>
              <a:t>.</a:t>
            </a:r>
            <a:endParaRPr lang="en-US" dirty="0"/>
          </a:p>
        </p:txBody>
      </p:sp>
      <p:sp>
        <p:nvSpPr>
          <p:cNvPr id="11" name="Rectangle 10"/>
          <p:cNvSpPr/>
          <p:nvPr/>
        </p:nvSpPr>
        <p:spPr>
          <a:xfrm>
            <a:off x="787401" y="5359266"/>
            <a:ext cx="11404599" cy="923330"/>
          </a:xfrm>
          <a:prstGeom prst="rect">
            <a:avLst/>
          </a:prstGeom>
        </p:spPr>
        <p:txBody>
          <a:bodyPr wrap="square">
            <a:spAutoFit/>
          </a:bodyPr>
          <a:lstStyle/>
          <a:p>
            <a:pPr algn="just">
              <a:buFont typeface="Arial" panose="020B0604020202020204" pitchFamily="34" charset="0"/>
              <a:buChar char="•"/>
            </a:pPr>
            <a:r>
              <a:rPr lang="en-US" b="1" i="0" dirty="0" smtClean="0">
                <a:solidFill>
                  <a:srgbClr val="00B050"/>
                </a:solidFill>
                <a:effectLst/>
                <a:latin typeface="fkGroteskNeue"/>
              </a:rPr>
              <a:t>Shows how a small disturbance at a node (</a:t>
            </a:r>
            <a:r>
              <a:rPr lang="en-US" b="1" i="1" dirty="0" smtClean="0">
                <a:solidFill>
                  <a:srgbClr val="00B050"/>
                </a:solidFill>
                <a:effectLst/>
                <a:latin typeface="KaTeX_Math"/>
              </a:rPr>
              <a:t>V</a:t>
            </a:r>
            <a:r>
              <a:rPr lang="en-US" b="1" i="1" baseline="-25000" dirty="0" smtClean="0">
                <a:solidFill>
                  <a:srgbClr val="00B050"/>
                </a:solidFill>
                <a:effectLst/>
                <a:latin typeface="KaTeX_Math"/>
              </a:rPr>
              <a:t>X</a:t>
            </a:r>
            <a:r>
              <a:rPr lang="en-US" b="1" i="0" dirty="0" smtClean="0">
                <a:solidFill>
                  <a:srgbClr val="00B050"/>
                </a:solidFill>
                <a:effectLst/>
                <a:latin typeface="fkGroteskNeue"/>
              </a:rPr>
              <a:t>) is amplified during startup, with amplitude increasing from noise until nonlinear device behavior causes gain reduction and oscillation stabilizes at a finite amplitude.</a:t>
            </a:r>
            <a:endParaRPr lang="en-US" b="1" i="0" dirty="0">
              <a:solidFill>
                <a:srgbClr val="00B050"/>
              </a:solidFill>
              <a:effectLst/>
              <a:latin typeface="fkGroteskNeue"/>
            </a:endParaRPr>
          </a:p>
        </p:txBody>
      </p:sp>
      <p:sp>
        <p:nvSpPr>
          <p:cNvPr id="13"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82189084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67301" y="1292086"/>
            <a:ext cx="11103996" cy="192819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2. Ideal and Practical Waveform </a:t>
            </a:r>
            <a:r>
              <a:rPr lang="en-US" dirty="0" smtClean="0">
                <a:latin typeface="fkGrotesk"/>
              </a:rPr>
              <a:t>Shapes</a:t>
            </a:r>
            <a:endParaRPr lang="en-US" dirty="0"/>
          </a:p>
        </p:txBody>
      </p:sp>
      <p:sp>
        <p:nvSpPr>
          <p:cNvPr id="3" name="Text Placeholder 2"/>
          <p:cNvSpPr>
            <a:spLocks noGrp="1"/>
          </p:cNvSpPr>
          <p:nvPr>
            <p:ph type="body" idx="1"/>
          </p:nvPr>
        </p:nvSpPr>
        <p:spPr>
          <a:xfrm>
            <a:off x="844550" y="1327353"/>
            <a:ext cx="10812062" cy="2154436"/>
          </a:xfrm>
        </p:spPr>
        <p:txBody>
          <a:bodyPr/>
          <a:lstStyle/>
          <a:p>
            <a:pPr marL="342900" indent="-342900" algn="just">
              <a:buFont typeface="Wingdings" panose="05000000000000000000" pitchFamily="2" charset="2"/>
              <a:buChar char="q"/>
            </a:pPr>
            <a:r>
              <a:rPr lang="en-US" dirty="0" smtClean="0">
                <a:latin typeface="fkGroteskNeue"/>
              </a:rPr>
              <a:t>For </a:t>
            </a:r>
            <a:r>
              <a:rPr lang="en-US" dirty="0">
                <a:latin typeface="fkGroteskNeue"/>
              </a:rPr>
              <a:t>ring oscillators, with </a:t>
            </a:r>
            <a:r>
              <a:rPr lang="en-US" i="1" dirty="0" smtClean="0">
                <a:latin typeface="KaTeX_Math"/>
              </a:rPr>
              <a:t>H</a:t>
            </a:r>
            <a:r>
              <a:rPr lang="en-US" dirty="0" smtClean="0">
                <a:latin typeface="KaTeX_Main"/>
              </a:rPr>
              <a:t>(</a:t>
            </a:r>
            <a:r>
              <a:rPr lang="en-US" i="1" dirty="0" smtClean="0">
                <a:latin typeface="KaTeX_Math"/>
              </a:rPr>
              <a:t>j</a:t>
            </a:r>
            <a:r>
              <a:rPr lang="el-GR" i="1" dirty="0">
                <a:latin typeface="KaTeX_Math"/>
              </a:rPr>
              <a:t>ω</a:t>
            </a:r>
            <a:r>
              <a:rPr lang="el-GR" baseline="-25000" dirty="0">
                <a:latin typeface="KaTeX_Main"/>
              </a:rPr>
              <a:t>0</a:t>
            </a:r>
            <a:r>
              <a:rPr lang="el-GR" dirty="0">
                <a:latin typeface="KaTeX_Main"/>
              </a:rPr>
              <a:t>)∣=1</a:t>
            </a:r>
            <a:r>
              <a:rPr lang="el-GR" dirty="0">
                <a:latin typeface="fkGroteskNeue"/>
              </a:rPr>
              <a:t>, </a:t>
            </a:r>
            <a:r>
              <a:rPr lang="en-US" dirty="0">
                <a:latin typeface="fkGroteskNeue"/>
              </a:rPr>
              <a:t>waveforms approach pure sinusoids; with much higher gain, they resemble square waves.</a:t>
            </a:r>
          </a:p>
          <a:p>
            <a:pPr marL="342900" indent="-342900" algn="just">
              <a:buFont typeface="Wingdings" panose="05000000000000000000" pitchFamily="2" charset="2"/>
              <a:buChar char="q"/>
            </a:pPr>
            <a:r>
              <a:rPr lang="en-US" dirty="0">
                <a:latin typeface="fkGroteskNeue"/>
              </a:rPr>
              <a:t>Most applications desire square-</a:t>
            </a:r>
            <a:r>
              <a:rPr lang="en-US" dirty="0" err="1">
                <a:latin typeface="fkGroteskNeue"/>
              </a:rPr>
              <a:t>ish</a:t>
            </a:r>
            <a:r>
              <a:rPr lang="en-US" dirty="0">
                <a:latin typeface="fkGroteskNeue"/>
              </a:rPr>
              <a:t> waveforms for sharp transitions—faster switching speeds, cleaner timing edges, less noise, and improved digital compatibility.</a:t>
            </a:r>
          </a:p>
          <a:p>
            <a:pPr marL="342900" indent="-342900" algn="just">
              <a:buFont typeface="Wingdings" panose="05000000000000000000" pitchFamily="2" charset="2"/>
              <a:buChar char="q"/>
            </a:pPr>
            <a:r>
              <a:rPr lang="en-US" dirty="0">
                <a:latin typeface="fkGroteskNeue"/>
              </a:rPr>
              <a:t>Example: RF mixers use oscillator outputs; abrupt edges (square waves) minimize noise and maximize mixer performance.</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60194F3D-7375-434E-9A2B-3946397E95DF}"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17930" y="3640647"/>
            <a:ext cx="10753615" cy="1058353"/>
          </a:xfrm>
          <a:prstGeom prst="rect">
            <a:avLst/>
          </a:prstGeom>
        </p:spPr>
      </p:pic>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2969768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172818" y="4075044"/>
            <a:ext cx="10664686" cy="130202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27617" y="0"/>
            <a:ext cx="10593196" cy="1046440"/>
          </a:xfrm>
        </p:spPr>
        <p:txBody>
          <a:bodyPr/>
          <a:lstStyle/>
          <a:p>
            <a:r>
              <a:rPr lang="en-US" dirty="0">
                <a:latin typeface="fkGrotesk"/>
              </a:rPr>
              <a:t>3. Inverter-Based Rings: Supply Voltage Effects and </a:t>
            </a:r>
            <a:r>
              <a:rPr lang="en-US" dirty="0" smtClean="0">
                <a:latin typeface="fkGrotesk"/>
              </a:rPr>
              <a:t>Delay</a:t>
            </a:r>
            <a:endParaRPr lang="en-US" dirty="0"/>
          </a:p>
        </p:txBody>
      </p:sp>
      <p:sp>
        <p:nvSpPr>
          <p:cNvPr id="3" name="Text Placeholder 2"/>
          <p:cNvSpPr>
            <a:spLocks noGrp="1"/>
          </p:cNvSpPr>
          <p:nvPr>
            <p:ph type="body" idx="1"/>
          </p:nvPr>
        </p:nvSpPr>
        <p:spPr>
          <a:xfrm>
            <a:off x="844550" y="1327353"/>
            <a:ext cx="10856383" cy="4001095"/>
          </a:xfrm>
        </p:spPr>
        <p:txBody>
          <a:bodyPr/>
          <a:lstStyle/>
          <a:p>
            <a:pPr algn="l"/>
            <a:r>
              <a:rPr lang="en-US" b="1" dirty="0" smtClean="0">
                <a:latin typeface="fkGroteskNeue"/>
              </a:rPr>
              <a:t>Figure </a:t>
            </a:r>
            <a:r>
              <a:rPr lang="en-US" b="1" dirty="0" smtClean="0">
                <a:latin typeface="fkGroteskNeue"/>
              </a:rPr>
              <a:t>(a</a:t>
            </a:r>
            <a:r>
              <a:rPr lang="en-US" b="1" dirty="0">
                <a:latin typeface="fkGroteskNeue"/>
              </a:rPr>
              <a:t>)-(d): </a:t>
            </a:r>
            <a:r>
              <a:rPr lang="en-US" dirty="0">
                <a:latin typeface="fkGroteskNeue"/>
              </a:rPr>
              <a:t>CMOS inverter-based rings are a standard implementation—inverters replace resistive CS amplifiers.</a:t>
            </a:r>
          </a:p>
          <a:p>
            <a:pPr marL="800100" lvl="1" indent="-342900" algn="l">
              <a:buFont typeface="Wingdings" panose="05000000000000000000" pitchFamily="2" charset="2"/>
              <a:buChar char="q"/>
            </a:pPr>
            <a:r>
              <a:rPr lang="en-US" sz="2000" dirty="0">
                <a:latin typeface="fkGroteskNeue"/>
              </a:rPr>
              <a:t>Each inverter stage has strong gain </a:t>
            </a:r>
            <a:r>
              <a:rPr lang="en-US" sz="2000" dirty="0" smtClean="0">
                <a:latin typeface="fkGroteskNeue"/>
              </a:rPr>
              <a:t>(</a:t>
            </a:r>
            <a:r>
              <a:rPr lang="en-US" sz="2000" i="1" dirty="0" err="1" smtClean="0">
                <a:latin typeface="KaTeX_Math"/>
              </a:rPr>
              <a:t>g</a:t>
            </a:r>
            <a:r>
              <a:rPr lang="en-US" sz="2000" i="1" baseline="-25000" dirty="0" err="1" smtClean="0">
                <a:latin typeface="KaTeX_Math"/>
              </a:rPr>
              <a:t>mN</a:t>
            </a:r>
            <a:r>
              <a:rPr lang="en-US" sz="2000" dirty="0" err="1" smtClean="0">
                <a:latin typeface="KaTeX_Main"/>
              </a:rPr>
              <a:t>+</a:t>
            </a:r>
            <a:r>
              <a:rPr lang="en-US" sz="2000" i="1" dirty="0" err="1" smtClean="0">
                <a:latin typeface="KaTeX_Math"/>
              </a:rPr>
              <a:t>g</a:t>
            </a:r>
            <a:r>
              <a:rPr lang="en-US" sz="2000" i="1" baseline="-25000" dirty="0" err="1" smtClean="0">
                <a:latin typeface="KaTeX_Math"/>
              </a:rPr>
              <a:t>mP</a:t>
            </a:r>
            <a:r>
              <a:rPr lang="en-US" sz="2000" dirty="0">
                <a:latin typeface="fkGroteskNeue"/>
              </a:rPr>
              <a:t>), usually exceeding “2” for robust startup.</a:t>
            </a:r>
          </a:p>
          <a:p>
            <a:pPr marL="800100" lvl="1" indent="-342900" algn="l">
              <a:buFont typeface="Wingdings" panose="05000000000000000000" pitchFamily="2" charset="2"/>
              <a:buChar char="q"/>
            </a:pPr>
            <a:r>
              <a:rPr lang="en-US" sz="2000" dirty="0">
                <a:latin typeface="fkGroteskNeue"/>
              </a:rPr>
              <a:t>Oscillation initiates as noise amplifies through the loop until swings reach full rail-to-rail levels </a:t>
            </a:r>
            <a:r>
              <a:rPr lang="en-US" sz="2000" dirty="0" smtClean="0">
                <a:latin typeface="fkGroteskNeue"/>
              </a:rPr>
              <a:t>(</a:t>
            </a:r>
            <a:r>
              <a:rPr lang="en-US" sz="2000" i="1" dirty="0" smtClean="0">
                <a:latin typeface="KaTeX_Math"/>
              </a:rPr>
              <a:t>V</a:t>
            </a:r>
            <a:r>
              <a:rPr lang="en-US" sz="2000" i="1" baseline="-25000" dirty="0" smtClean="0">
                <a:latin typeface="KaTeX_Math"/>
              </a:rPr>
              <a:t>DD</a:t>
            </a:r>
            <a:r>
              <a:rPr lang="en-US" sz="2000" dirty="0">
                <a:latin typeface="fkGroteskNeue"/>
              </a:rPr>
              <a:t> to ground).</a:t>
            </a:r>
          </a:p>
          <a:p>
            <a:pPr marL="800100" lvl="1" indent="-342900" algn="l">
              <a:buFont typeface="Wingdings" panose="05000000000000000000" pitchFamily="2" charset="2"/>
              <a:buChar char="q"/>
            </a:pPr>
            <a:r>
              <a:rPr lang="en-US" sz="2000" b="1" dirty="0">
                <a:latin typeface="fkGroteskNeue"/>
              </a:rPr>
              <a:t>Waveforms: </a:t>
            </a:r>
            <a:r>
              <a:rPr lang="en-US" sz="2000" dirty="0">
                <a:latin typeface="fkGroteskNeue"/>
              </a:rPr>
              <a:t>Real node voltages (V</a:t>
            </a:r>
            <a:r>
              <a:rPr lang="en-US" sz="2000" baseline="-25000" dirty="0">
                <a:latin typeface="fkGroteskNeue"/>
              </a:rPr>
              <a:t>X</a:t>
            </a:r>
            <a:r>
              <a:rPr lang="en-US" sz="2000" dirty="0">
                <a:latin typeface="fkGroteskNeue"/>
              </a:rPr>
              <a:t>, V</a:t>
            </a:r>
            <a:r>
              <a:rPr lang="en-US" sz="2000" baseline="-25000" dirty="0">
                <a:latin typeface="fkGroteskNeue"/>
              </a:rPr>
              <a:t>Y</a:t>
            </a:r>
            <a:r>
              <a:rPr lang="en-US" sz="2000" dirty="0">
                <a:latin typeface="fkGroteskNeue"/>
              </a:rPr>
              <a:t>, V</a:t>
            </a:r>
            <a:r>
              <a:rPr lang="en-US" sz="2000" baseline="-25000" dirty="0">
                <a:latin typeface="fkGroteskNeue"/>
              </a:rPr>
              <a:t>Z</a:t>
            </a:r>
            <a:r>
              <a:rPr lang="en-US" sz="2000" dirty="0">
                <a:latin typeface="fkGroteskNeue"/>
              </a:rPr>
              <a:t>) show propagation delay </a:t>
            </a:r>
            <a:r>
              <a:rPr lang="en-US" sz="2000" dirty="0" smtClean="0">
                <a:latin typeface="fkGroteskNeue"/>
              </a:rPr>
              <a:t>(</a:t>
            </a:r>
            <a:r>
              <a:rPr lang="en-US" sz="2000" i="1" dirty="0" smtClean="0">
                <a:latin typeface="KaTeX_Math"/>
              </a:rPr>
              <a:t>T</a:t>
            </a:r>
            <a:r>
              <a:rPr lang="en-US" sz="2000" i="1" baseline="-25000" dirty="0" smtClean="0">
                <a:latin typeface="KaTeX_Math"/>
              </a:rPr>
              <a:t>D</a:t>
            </a:r>
            <a:r>
              <a:rPr lang="en-US" sz="2000" dirty="0">
                <a:latin typeface="fkGroteskNeue"/>
              </a:rPr>
              <a:t>)—shaped between sinusoid and square depending on gain and supply</a:t>
            </a:r>
            <a:r>
              <a:rPr lang="en-US" sz="2000" dirty="0" smtClean="0">
                <a:latin typeface="fkGroteskNeue"/>
              </a:rPr>
              <a:t>.</a:t>
            </a:r>
          </a:p>
          <a:p>
            <a:pPr marL="800100" lvl="1" indent="-342900" algn="l">
              <a:buFont typeface="Wingdings" panose="05000000000000000000" pitchFamily="2" charset="2"/>
              <a:buChar char="q"/>
            </a:pPr>
            <a:endParaRPr lang="en-US" sz="2000" dirty="0">
              <a:latin typeface="fkGroteskNeue"/>
            </a:endParaRPr>
          </a:p>
          <a:p>
            <a:pPr algn="l"/>
            <a:r>
              <a:rPr lang="en-US" b="1" dirty="0">
                <a:latin typeface="fkGrotesk"/>
              </a:rPr>
              <a:t>Voltage and Frequency Impact:</a:t>
            </a:r>
          </a:p>
          <a:p>
            <a:pPr marL="800100" lvl="1" indent="-342900" algn="just">
              <a:buFont typeface="Wingdings" panose="05000000000000000000" pitchFamily="2" charset="2"/>
              <a:buChar char="q"/>
            </a:pPr>
            <a:r>
              <a:rPr lang="en-US" sz="2000" dirty="0">
                <a:latin typeface="fkGroteskNeue"/>
              </a:rPr>
              <a:t>Delay of an inverter </a:t>
            </a:r>
            <a:r>
              <a:rPr lang="en-US" sz="2000" b="1" dirty="0">
                <a:latin typeface="fkGroteskNeue"/>
              </a:rPr>
              <a:t>decreases</a:t>
            </a:r>
            <a:r>
              <a:rPr lang="en-US" sz="2000" dirty="0">
                <a:latin typeface="fkGroteskNeue"/>
              </a:rPr>
              <a:t> with increasing supply </a:t>
            </a:r>
            <a:r>
              <a:rPr lang="en-US" sz="2000" dirty="0" smtClean="0">
                <a:latin typeface="fkGroteskNeue"/>
              </a:rPr>
              <a:t>(</a:t>
            </a:r>
            <a:r>
              <a:rPr lang="en-US" sz="2000" i="1" dirty="0" smtClean="0">
                <a:latin typeface="KaTeX_Math"/>
              </a:rPr>
              <a:t>V</a:t>
            </a:r>
            <a:r>
              <a:rPr lang="en-US" sz="2000" i="1" baseline="-25000" dirty="0" smtClean="0">
                <a:latin typeface="KaTeX_Math"/>
              </a:rPr>
              <a:t>DD</a:t>
            </a:r>
            <a:r>
              <a:rPr lang="en-US" sz="2000" dirty="0">
                <a:latin typeface="fkGroteskNeue"/>
              </a:rPr>
              <a:t>), so oscillation frequency increases as </a:t>
            </a:r>
            <a:r>
              <a:rPr lang="en-US" sz="2000" i="1" dirty="0" smtClean="0">
                <a:latin typeface="KaTeX_Math"/>
              </a:rPr>
              <a:t>V</a:t>
            </a:r>
            <a:r>
              <a:rPr lang="en-US" sz="2000" i="1" baseline="-25000" dirty="0" smtClean="0">
                <a:latin typeface="KaTeX_Math"/>
              </a:rPr>
              <a:t>DD</a:t>
            </a:r>
            <a:r>
              <a:rPr lang="en-US" sz="2000" dirty="0">
                <a:latin typeface="fkGroteskNeue"/>
              </a:rPr>
              <a:t> rises.</a:t>
            </a:r>
          </a:p>
          <a:p>
            <a:pPr marL="800100" lvl="1" indent="-342900" algn="just">
              <a:buFont typeface="Wingdings" panose="05000000000000000000" pitchFamily="2" charset="2"/>
              <a:buChar char="q"/>
            </a:pPr>
            <a:r>
              <a:rPr lang="en-US" sz="2000" dirty="0">
                <a:latin typeface="fkGroteskNeue"/>
              </a:rPr>
              <a:t>Conversely, lowering supply voltage slows the inverter, reducing ring frequency—oscillator becomes tunable against </a:t>
            </a:r>
            <a:r>
              <a:rPr lang="en-US" sz="2000" i="1" dirty="0" smtClean="0">
                <a:latin typeface="KaTeX_Math"/>
              </a:rPr>
              <a:t>V</a:t>
            </a:r>
            <a:r>
              <a:rPr lang="en-US" sz="2000" i="1" baseline="-25000" dirty="0" smtClean="0">
                <a:latin typeface="KaTeX_Math"/>
              </a:rPr>
              <a:t>DD</a:t>
            </a:r>
            <a:r>
              <a:rPr lang="en-US" sz="2000" dirty="0" smtClean="0">
                <a:latin typeface="fkGroteskNeue"/>
              </a:rPr>
              <a:t>.</a:t>
            </a:r>
            <a:endParaRPr lang="en-US" sz="2000"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05EB162-8B5F-4182-967B-63559F530B7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35393" y="5587574"/>
            <a:ext cx="10853392" cy="588495"/>
          </a:xfrm>
          <a:prstGeom prst="rect">
            <a:avLst/>
          </a:prstGeom>
        </p:spPr>
      </p:pic>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40168581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68518" y="5041127"/>
            <a:ext cx="11437951" cy="139147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pic>
        <p:nvPicPr>
          <p:cNvPr id="7" name="Picture 6"/>
          <p:cNvPicPr>
            <a:picLocks noChangeAspect="1"/>
          </p:cNvPicPr>
          <p:nvPr/>
        </p:nvPicPr>
        <p:blipFill>
          <a:blip r:embed="rId2"/>
          <a:stretch>
            <a:fillRect/>
          </a:stretch>
        </p:blipFill>
        <p:spPr>
          <a:xfrm>
            <a:off x="2424454" y="1080479"/>
            <a:ext cx="7258423" cy="3105310"/>
          </a:xfrm>
          <a:prstGeom prst="rect">
            <a:avLst/>
          </a:prstGeom>
        </p:spPr>
      </p:pic>
      <p:sp>
        <p:nvSpPr>
          <p:cNvPr id="8" name="Rectangle 7"/>
          <p:cNvSpPr/>
          <p:nvPr/>
        </p:nvSpPr>
        <p:spPr>
          <a:xfrm>
            <a:off x="2150533" y="4377322"/>
            <a:ext cx="8576733" cy="253916"/>
          </a:xfrm>
          <a:prstGeom prst="rect">
            <a:avLst/>
          </a:prstGeom>
        </p:spPr>
        <p:txBody>
          <a:bodyPr wrap="square">
            <a:spAutoFit/>
          </a:bodyPr>
          <a:lstStyle/>
          <a:p>
            <a:r>
              <a:rPr lang="en-US" sz="1050" b="1" i="0" u="none" strike="noStrike" baseline="0" dirty="0" smtClean="0">
                <a:solidFill>
                  <a:srgbClr val="FF0000"/>
                </a:solidFill>
                <a:latin typeface="T3Font_206"/>
              </a:rPr>
              <a:t>(a) Three-stage inverter-based ring oscillator, (b) node waveforms, (c) realistic signal shape, and (d) waveform</a:t>
            </a:r>
            <a:r>
              <a:rPr lang="en-US" sz="1050" b="1" i="0" u="none" strike="noStrike" dirty="0" smtClean="0">
                <a:solidFill>
                  <a:srgbClr val="FF0000"/>
                </a:solidFill>
                <a:latin typeface="T3Font_206"/>
              </a:rPr>
              <a:t> </a:t>
            </a:r>
            <a:r>
              <a:rPr lang="en-US" sz="1050" b="1" i="0" u="none" strike="noStrike" baseline="0" dirty="0" smtClean="0">
                <a:solidFill>
                  <a:srgbClr val="FF0000"/>
                </a:solidFill>
                <a:latin typeface="T3Font_206"/>
              </a:rPr>
              <a:t>for a five-stage ring.</a:t>
            </a:r>
            <a:endParaRPr lang="en-US" sz="2800" b="1" dirty="0">
              <a:solidFill>
                <a:srgbClr val="FF0000"/>
              </a:solidFill>
            </a:endParaRPr>
          </a:p>
        </p:txBody>
      </p:sp>
      <p:sp>
        <p:nvSpPr>
          <p:cNvPr id="9" name="Rectangle 8"/>
          <p:cNvSpPr/>
          <p:nvPr/>
        </p:nvSpPr>
        <p:spPr>
          <a:xfrm>
            <a:off x="585746" y="4710323"/>
            <a:ext cx="11379200" cy="1754326"/>
          </a:xfrm>
          <a:prstGeom prst="rect">
            <a:avLst/>
          </a:prstGeom>
        </p:spPr>
        <p:txBody>
          <a:bodyPr wrap="square">
            <a:spAutoFit/>
          </a:bodyPr>
          <a:lstStyle/>
          <a:p>
            <a:pPr algn="ctr"/>
            <a:r>
              <a:rPr lang="en-US" b="1" i="0" dirty="0" smtClean="0">
                <a:solidFill>
                  <a:srgbClr val="C00000"/>
                </a:solidFill>
                <a:effectLst/>
                <a:latin typeface="Verdana" panose="020B0604030504040204" pitchFamily="34" charset="0"/>
                <a:ea typeface="Verdana" panose="020B0604030504040204" pitchFamily="34" charset="0"/>
              </a:rPr>
              <a:t>CMOS Inverter-Based Rings: Frequency and Supply Scaling</a:t>
            </a:r>
          </a:p>
          <a:p>
            <a:pPr marL="285750" indent="-285750" algn="just">
              <a:buFont typeface="Wingdings" panose="05000000000000000000" pitchFamily="2" charset="2"/>
              <a:buChar char="q"/>
            </a:pPr>
            <a:r>
              <a:rPr lang="en-US" b="0" i="0" dirty="0" smtClean="0">
                <a:effectLst/>
                <a:latin typeface="fkGroteskNeue"/>
              </a:rPr>
              <a:t>Figure presents a CMOS-based three-stage ring oscillator, where each inverter ensures rail-to-rail voltage swings and robust startup (high small-signal gain per stage).</a:t>
            </a:r>
          </a:p>
          <a:p>
            <a:pPr marL="285750" indent="-285750" algn="just">
              <a:buFont typeface="Wingdings" panose="05000000000000000000" pitchFamily="2" charset="2"/>
              <a:buChar char="q"/>
            </a:pPr>
            <a:r>
              <a:rPr lang="en-US" b="0" i="0" dirty="0" smtClean="0">
                <a:effectLst/>
                <a:latin typeface="fkGroteskNeue"/>
              </a:rPr>
              <a:t>Node waveforms in practical rings show delay per stage (T</a:t>
            </a:r>
            <a:r>
              <a:rPr lang="en-US" b="0" i="0" baseline="-25000" dirty="0" smtClean="0">
                <a:effectLst/>
                <a:latin typeface="fkGroteskNeue"/>
              </a:rPr>
              <a:t>D</a:t>
            </a:r>
            <a:r>
              <a:rPr lang="en-US" b="0" i="0" dirty="0" smtClean="0">
                <a:effectLst/>
                <a:latin typeface="fkGroteskNeue"/>
              </a:rPr>
              <a:t>), important for multi-phase clock generation; with supply voltage (</a:t>
            </a:r>
            <a:r>
              <a:rPr lang="en-US" b="0" i="1" dirty="0" smtClean="0">
                <a:effectLst/>
                <a:latin typeface="KaTeX_Math"/>
              </a:rPr>
              <a:t>V</a:t>
            </a:r>
            <a:r>
              <a:rPr lang="en-US" b="0" i="1" baseline="-25000" dirty="0" smtClean="0">
                <a:effectLst/>
                <a:latin typeface="KaTeX_Math"/>
              </a:rPr>
              <a:t>DD</a:t>
            </a:r>
            <a:r>
              <a:rPr lang="en-US" b="0" i="0" dirty="0" smtClean="0">
                <a:effectLst/>
                <a:latin typeface="fkGroteskNeue"/>
              </a:rPr>
              <a:t>) as a tuning knob, oscillation frequency increases when </a:t>
            </a:r>
            <a:r>
              <a:rPr lang="en-US" b="0" i="1" dirty="0" smtClean="0">
                <a:effectLst/>
                <a:latin typeface="KaTeX_Math"/>
              </a:rPr>
              <a:t>V</a:t>
            </a:r>
            <a:r>
              <a:rPr lang="en-US" b="0" i="1" baseline="-25000" dirty="0" smtClean="0">
                <a:effectLst/>
                <a:latin typeface="KaTeX_Math"/>
              </a:rPr>
              <a:t>DD</a:t>
            </a:r>
            <a:r>
              <a:rPr lang="en-US" b="0" i="0" dirty="0" smtClean="0">
                <a:effectLst/>
                <a:latin typeface="fkGroteskNeue"/>
              </a:rPr>
              <a:t> is raised (since inverter delay drops).</a:t>
            </a:r>
            <a:endParaRPr lang="en-US" b="0" i="0" dirty="0">
              <a:effectLst/>
              <a:latin typeface="fkGroteskNeue"/>
            </a:endParaRPr>
          </a:p>
        </p:txBody>
      </p:sp>
      <p:sp>
        <p:nvSpPr>
          <p:cNvPr id="3" name="Date Placeholder 2"/>
          <p:cNvSpPr>
            <a:spLocks noGrp="1"/>
          </p:cNvSpPr>
          <p:nvPr>
            <p:ph type="dt" sz="half" idx="6"/>
          </p:nvPr>
        </p:nvSpPr>
        <p:spPr>
          <a:xfrm>
            <a:off x="484289"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CF2A65D-348E-471F-8031-85BA8B14345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Slide Number Placeholder 4"/>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78925069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55374" y="1242390"/>
            <a:ext cx="11042373" cy="208920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4. Startup and Amplitude </a:t>
            </a:r>
            <a:r>
              <a:rPr lang="en-US" dirty="0" smtClean="0">
                <a:latin typeface="fkGrotesk"/>
              </a:rPr>
              <a:t>Growth</a:t>
            </a:r>
            <a:endParaRPr lang="en-US" dirty="0"/>
          </a:p>
        </p:txBody>
      </p:sp>
      <p:sp>
        <p:nvSpPr>
          <p:cNvPr id="3" name="Text Placeholder 2"/>
          <p:cNvSpPr>
            <a:spLocks noGrp="1"/>
          </p:cNvSpPr>
          <p:nvPr>
            <p:ph type="body" idx="1"/>
          </p:nvPr>
        </p:nvSpPr>
        <p:spPr>
          <a:xfrm>
            <a:off x="844550" y="1327353"/>
            <a:ext cx="10814050" cy="2154436"/>
          </a:xfrm>
        </p:spPr>
        <p:txBody>
          <a:bodyPr/>
          <a:lstStyle/>
          <a:p>
            <a:pPr marL="342900" indent="-342900" algn="just">
              <a:buFont typeface="Wingdings" panose="05000000000000000000" pitchFamily="2" charset="2"/>
              <a:buChar char="q"/>
            </a:pPr>
            <a:r>
              <a:rPr lang="en-US" dirty="0" smtClean="0">
                <a:latin typeface="fkGroteskNeue"/>
              </a:rPr>
              <a:t>At </a:t>
            </a:r>
            <a:r>
              <a:rPr lang="en-US" dirty="0">
                <a:latin typeface="fkGroteskNeue"/>
              </a:rPr>
              <a:t>startup (Fig</a:t>
            </a:r>
            <a:r>
              <a:rPr lang="en-US" dirty="0" smtClean="0">
                <a:latin typeface="fkGroteskNeue"/>
              </a:rPr>
              <a:t>.), </a:t>
            </a:r>
            <a:r>
              <a:rPr lang="en-US" dirty="0">
                <a:latin typeface="fkGroteskNeue"/>
              </a:rPr>
              <a:t>a small disturbance (from noise) grows exponentially if loop gain exceeds unity.</a:t>
            </a:r>
          </a:p>
          <a:p>
            <a:pPr marL="342900" indent="-342900" algn="just">
              <a:buFont typeface="Wingdings" panose="05000000000000000000" pitchFamily="2" charset="2"/>
              <a:buChar char="q"/>
            </a:pPr>
            <a:r>
              <a:rPr lang="en-US" dirty="0">
                <a:latin typeface="fkGroteskNeue"/>
              </a:rPr>
              <a:t>Amplitude continues increasing until nonlinearity clamps the gain (transistor </a:t>
            </a:r>
            <a:r>
              <a:rPr lang="en-US" i="1" dirty="0" smtClean="0">
                <a:latin typeface="KaTeX_Math"/>
              </a:rPr>
              <a:t>gm</a:t>
            </a:r>
            <a:r>
              <a:rPr lang="en-US" dirty="0">
                <a:latin typeface="fkGroteskNeue"/>
              </a:rPr>
              <a:t> “rolls off” at large swings).</a:t>
            </a:r>
          </a:p>
          <a:p>
            <a:pPr marL="342900" indent="-342900" algn="just">
              <a:buFont typeface="Wingdings" panose="05000000000000000000" pitchFamily="2" charset="2"/>
              <a:buChar char="q"/>
            </a:pPr>
            <a:r>
              <a:rPr lang="en-US" dirty="0">
                <a:latin typeface="fkGroteskNeue"/>
              </a:rPr>
              <a:t>Equilibrium is set where average loop gain is exactly unity; output amplitude remains constant—no further growth.</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C58E591-8A79-4C22-8846-53210B9227A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068000" y="3617844"/>
            <a:ext cx="3524470" cy="2040026"/>
          </a:xfrm>
          <a:prstGeom prst="rect">
            <a:avLst/>
          </a:prstGeom>
        </p:spPr>
      </p:pic>
      <p:sp>
        <p:nvSpPr>
          <p:cNvPr id="8" name="Rectangle 7"/>
          <p:cNvSpPr/>
          <p:nvPr/>
        </p:nvSpPr>
        <p:spPr>
          <a:xfrm>
            <a:off x="4901724" y="5725804"/>
            <a:ext cx="2087431" cy="369332"/>
          </a:xfrm>
          <a:prstGeom prst="rect">
            <a:avLst/>
          </a:prstGeom>
        </p:spPr>
        <p:txBody>
          <a:bodyPr wrap="none">
            <a:spAutoFit/>
          </a:bodyPr>
          <a:lstStyle/>
          <a:p>
            <a:r>
              <a:rPr lang="en-US" dirty="0">
                <a:solidFill>
                  <a:srgbClr val="231F20"/>
                </a:solidFill>
                <a:latin typeface="T3Font_185"/>
              </a:rPr>
              <a:t>Initial growth of </a:t>
            </a:r>
            <a:r>
              <a:rPr lang="en-US" dirty="0">
                <a:solidFill>
                  <a:srgbClr val="231F20"/>
                </a:solidFill>
                <a:latin typeface="T3Font_200"/>
              </a:rPr>
              <a:t>V</a:t>
            </a:r>
            <a:r>
              <a:rPr lang="en-US" sz="800" b="0" i="0" u="none" strike="noStrike" baseline="0" dirty="0" smtClean="0">
                <a:solidFill>
                  <a:srgbClr val="231F20"/>
                </a:solidFill>
                <a:latin typeface="T3Font_189"/>
              </a:rPr>
              <a:t>X</a:t>
            </a:r>
            <a:r>
              <a:rPr lang="en-US" dirty="0">
                <a:solidFill>
                  <a:srgbClr val="231F20"/>
                </a:solidFill>
                <a:latin typeface="T3Font_185"/>
              </a:rPr>
              <a:t>.</a:t>
            </a:r>
            <a:endParaRPr lang="en-US" dirty="0"/>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26499405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95738" y="3568148"/>
            <a:ext cx="10803835" cy="160019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5. Key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09250" cy="4001095"/>
          </a:xfrm>
        </p:spPr>
        <p:txBody>
          <a:bodyPr/>
          <a:lstStyle/>
          <a:p>
            <a:pPr marL="342900" indent="-342900" algn="just">
              <a:lnSpc>
                <a:spcPct val="150000"/>
              </a:lnSpc>
              <a:buFont typeface="Wingdings" panose="05000000000000000000" pitchFamily="2" charset="2"/>
              <a:buChar char="q"/>
            </a:pPr>
            <a:r>
              <a:rPr lang="en-US" dirty="0" smtClean="0">
                <a:latin typeface="fkGroteskNeue"/>
              </a:rPr>
              <a:t>Startup </a:t>
            </a:r>
            <a:r>
              <a:rPr lang="en-US" dirty="0">
                <a:latin typeface="fkGroteskNeue"/>
              </a:rPr>
              <a:t>gain </a:t>
            </a:r>
            <a:r>
              <a:rPr lang="el-GR" dirty="0" smtClean="0">
                <a:latin typeface="KaTeX_Main"/>
              </a:rPr>
              <a:t>∣</a:t>
            </a:r>
            <a:r>
              <a:rPr lang="en-US" i="1" dirty="0">
                <a:latin typeface="KaTeX_Math"/>
              </a:rPr>
              <a:t>H</a:t>
            </a:r>
            <a:r>
              <a:rPr lang="en-US" dirty="0">
                <a:latin typeface="KaTeX_Main"/>
              </a:rPr>
              <a:t>(</a:t>
            </a:r>
            <a:r>
              <a:rPr lang="en-US" i="1" dirty="0">
                <a:latin typeface="KaTeX_Math"/>
              </a:rPr>
              <a:t>j</a:t>
            </a:r>
            <a:r>
              <a:rPr lang="el-GR" i="1" dirty="0">
                <a:latin typeface="KaTeX_Math"/>
              </a:rPr>
              <a:t>ω</a:t>
            </a:r>
            <a:r>
              <a:rPr lang="el-GR" dirty="0">
                <a:latin typeface="KaTeX_Main"/>
              </a:rPr>
              <a:t>0)∣&gt;1</a:t>
            </a:r>
            <a:r>
              <a:rPr lang="el-GR" dirty="0">
                <a:latin typeface="fkGroteskNeue"/>
              </a:rPr>
              <a:t> </a:t>
            </a:r>
            <a:r>
              <a:rPr lang="en-US" dirty="0">
                <a:latin typeface="fkGroteskNeue"/>
              </a:rPr>
              <a:t>builds oscillation; nonlinearity stabilizes amplitude.</a:t>
            </a:r>
          </a:p>
          <a:p>
            <a:pPr marL="342900" indent="-342900" algn="just">
              <a:lnSpc>
                <a:spcPct val="150000"/>
              </a:lnSpc>
              <a:buFont typeface="Wingdings" panose="05000000000000000000" pitchFamily="2" charset="2"/>
              <a:buChar char="q"/>
            </a:pPr>
            <a:r>
              <a:rPr lang="en-US" dirty="0">
                <a:latin typeface="fkGroteskNeue"/>
              </a:rPr>
              <a:t>Ideal waveforms are application-driven: square for digital, moderate for RF.</a:t>
            </a:r>
          </a:p>
          <a:p>
            <a:pPr marL="342900" indent="-342900" algn="just">
              <a:lnSpc>
                <a:spcPct val="150000"/>
              </a:lnSpc>
              <a:buFont typeface="Wingdings" panose="05000000000000000000" pitchFamily="2" charset="2"/>
              <a:buChar char="q"/>
            </a:pPr>
            <a:r>
              <a:rPr lang="en-US" dirty="0">
                <a:latin typeface="fkGroteskNeue"/>
              </a:rPr>
              <a:t>CMOS inverter delays are supply dependent; higher </a:t>
            </a:r>
            <a:r>
              <a:rPr lang="en-US" i="1" dirty="0" smtClean="0">
                <a:latin typeface="KaTeX_Math"/>
              </a:rPr>
              <a:t>V</a:t>
            </a:r>
            <a:r>
              <a:rPr lang="en-US" i="1" baseline="-25000" dirty="0" smtClean="0">
                <a:latin typeface="KaTeX_Math"/>
              </a:rPr>
              <a:t>DD</a:t>
            </a:r>
            <a:r>
              <a:rPr lang="en-US" dirty="0">
                <a:latin typeface="fkGroteskNeue"/>
              </a:rPr>
              <a:t> boosts frequency.</a:t>
            </a:r>
          </a:p>
          <a:p>
            <a:pPr marL="342900" indent="-342900" algn="just">
              <a:lnSpc>
                <a:spcPct val="150000"/>
              </a:lnSpc>
              <a:buFont typeface="Wingdings" panose="05000000000000000000" pitchFamily="2" charset="2"/>
              <a:buChar char="q"/>
            </a:pPr>
            <a:r>
              <a:rPr lang="en-US" dirty="0">
                <a:latin typeface="fkGroteskNeue"/>
              </a:rPr>
              <a:t>Amplitude growth and stabilization are dictated by interplay of gain and device physics.</a:t>
            </a:r>
          </a:p>
          <a:p>
            <a:pPr algn="just"/>
            <a:endParaRPr lang="en-US" dirty="0" smtClean="0">
              <a:latin typeface="fkGroteskNeue"/>
            </a:endParaRPr>
          </a:p>
          <a:p>
            <a:pPr algn="just"/>
            <a:endParaRPr lang="en-US" dirty="0">
              <a:latin typeface="fkGroteskNeue"/>
            </a:endParaRPr>
          </a:p>
          <a:p>
            <a:pPr algn="just"/>
            <a:r>
              <a:rPr lang="en-US" dirty="0" smtClean="0">
                <a:latin typeface="fkGroteskNeue"/>
              </a:rPr>
              <a:t>This </a:t>
            </a:r>
            <a:r>
              <a:rPr lang="en-US" dirty="0">
                <a:latin typeface="fkGroteskNeue"/>
              </a:rPr>
              <a:t>fundamental view links oscillation growth, nonlinear steady-state behavior, waveform shaping, and design sensitivity to supply voltage—which are core to robust ring oscillator and PLL system design</a:t>
            </a:r>
            <a:r>
              <a:rPr lang="en-US" dirty="0" smtClean="0">
                <a:latin typeface="fkGroteskNeue"/>
              </a:rPr>
              <a:t>. Here’s </a:t>
            </a:r>
            <a:r>
              <a:rPr lang="en-US" dirty="0">
                <a:latin typeface="fkGroteskNeue"/>
              </a:rPr>
              <a:t>a concise, fundamentally intuitive explanation for lecture purposes, including figure highlights:</a:t>
            </a:r>
          </a:p>
          <a:p>
            <a:pPr algn="just"/>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61D287F-1013-495B-9EEE-A9F726BB61A7}"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76918834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4887" y="1311965"/>
            <a:ext cx="11012556" cy="260405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Nonlinearity and Oscillation </a:t>
            </a:r>
            <a:r>
              <a:rPr lang="en-US" dirty="0" smtClean="0">
                <a:latin typeface="fkGrotesk"/>
              </a:rPr>
              <a:t>Amplitude</a:t>
            </a:r>
            <a:endParaRPr lang="en-US" dirty="0"/>
          </a:p>
        </p:txBody>
      </p:sp>
      <p:sp>
        <p:nvSpPr>
          <p:cNvPr id="3" name="Text Placeholder 2"/>
          <p:cNvSpPr>
            <a:spLocks noGrp="1"/>
          </p:cNvSpPr>
          <p:nvPr>
            <p:ph type="body" idx="1"/>
          </p:nvPr>
        </p:nvSpPr>
        <p:spPr>
          <a:xfrm>
            <a:off x="884307" y="1327353"/>
            <a:ext cx="10703983" cy="2616101"/>
          </a:xfrm>
        </p:spPr>
        <p:txBody>
          <a:bodyPr/>
          <a:lstStyle/>
          <a:p>
            <a:pPr marL="342900" indent="-342900" algn="just">
              <a:lnSpc>
                <a:spcPct val="150000"/>
              </a:lnSpc>
              <a:buFont typeface="Wingdings" panose="05000000000000000000" pitchFamily="2" charset="2"/>
              <a:buChar char="q"/>
            </a:pPr>
            <a:r>
              <a:rPr lang="en-US" dirty="0" smtClean="0">
                <a:latin typeface="fkGroteskNeue"/>
              </a:rPr>
              <a:t>In </a:t>
            </a:r>
            <a:r>
              <a:rPr lang="en-US" dirty="0">
                <a:latin typeface="fkGroteskNeue"/>
              </a:rPr>
              <a:t>practical ring oscillators, once the initial noise or perturbation grows into an oscillation, further amplitude increase is limited by device nonlinearities—the circuit “self-limits” because large signal swings lower stage gain, eventually bringing the loop gain to unity.</a:t>
            </a:r>
          </a:p>
          <a:p>
            <a:pPr marL="342900" indent="-342900" algn="just">
              <a:lnSpc>
                <a:spcPct val="150000"/>
              </a:lnSpc>
              <a:buFont typeface="Wingdings" panose="05000000000000000000" pitchFamily="2" charset="2"/>
              <a:buChar char="q"/>
            </a:pPr>
            <a:r>
              <a:rPr lang="en-US" dirty="0">
                <a:latin typeface="fkGroteskNeue"/>
              </a:rPr>
              <a:t>Thus, the amplitude of oscillation is well-defined in practice and typically approaches rail-to-rail for CMOS rings, even though amplitude calculation is complex in nonlinear conditions.</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681CBE0-9577-4035-B5B0-4368CB4E302F}"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55377339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05070" y="1202634"/>
            <a:ext cx="10764078" cy="377686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t>Design </a:t>
            </a:r>
            <a:r>
              <a:rPr lang="en-US" dirty="0" smtClean="0"/>
              <a:t>Insights</a:t>
            </a:r>
            <a:endParaRPr lang="en-US" dirty="0"/>
          </a:p>
        </p:txBody>
      </p:sp>
      <p:sp>
        <p:nvSpPr>
          <p:cNvPr id="3" name="Text Placeholder 2"/>
          <p:cNvSpPr>
            <a:spLocks noGrp="1"/>
          </p:cNvSpPr>
          <p:nvPr>
            <p:ph type="body" idx="1"/>
          </p:nvPr>
        </p:nvSpPr>
        <p:spPr>
          <a:xfrm>
            <a:off x="844550" y="1218023"/>
            <a:ext cx="10571012" cy="4924425"/>
          </a:xfrm>
        </p:spPr>
        <p:txBody>
          <a:bodyPr/>
          <a:lstStyle/>
          <a:p>
            <a:pPr marL="342900" indent="-342900" algn="just">
              <a:lnSpc>
                <a:spcPct val="150000"/>
              </a:lnSpc>
              <a:buFont typeface="Wingdings" panose="05000000000000000000" pitchFamily="2" charset="2"/>
              <a:buChar char="q"/>
            </a:pPr>
            <a:r>
              <a:rPr lang="en-US" b="1" dirty="0" smtClean="0"/>
              <a:t>Startup</a:t>
            </a:r>
            <a:r>
              <a:rPr lang="en-US" b="1" dirty="0"/>
              <a:t>:</a:t>
            </a:r>
            <a:r>
              <a:rPr lang="en-US" dirty="0"/>
              <a:t> Begin with loop gain &gt; 1 for regeneration; amplitude is clamped by device nonlinearity.</a:t>
            </a:r>
          </a:p>
          <a:p>
            <a:pPr marL="342900" indent="-342900" algn="just">
              <a:lnSpc>
                <a:spcPct val="150000"/>
              </a:lnSpc>
              <a:buFont typeface="Wingdings" panose="05000000000000000000" pitchFamily="2" charset="2"/>
              <a:buChar char="q"/>
            </a:pPr>
            <a:r>
              <a:rPr lang="en-US" b="1" dirty="0"/>
              <a:t>Waveform tailoring:</a:t>
            </a:r>
            <a:r>
              <a:rPr lang="en-US" dirty="0"/>
              <a:t> Design for square wave shapes if sharp, low-noise transitions are needed; this is typical in digital/RF systems.</a:t>
            </a:r>
          </a:p>
          <a:p>
            <a:pPr marL="342900" indent="-342900" algn="just">
              <a:lnSpc>
                <a:spcPct val="150000"/>
              </a:lnSpc>
              <a:buFont typeface="Wingdings" panose="05000000000000000000" pitchFamily="2" charset="2"/>
              <a:buChar char="q"/>
            </a:pPr>
            <a:r>
              <a:rPr lang="en-US" b="1" dirty="0"/>
              <a:t>Voltage/frequency scaling:</a:t>
            </a:r>
            <a:r>
              <a:rPr lang="en-US" dirty="0"/>
              <a:t> Supply voltage is a convenient knob for tuning oscillation frequency in inverter-based rings.</a:t>
            </a:r>
          </a:p>
          <a:p>
            <a:pPr marL="342900" indent="-342900" algn="just">
              <a:lnSpc>
                <a:spcPct val="150000"/>
              </a:lnSpc>
              <a:buFont typeface="Wingdings" panose="05000000000000000000" pitchFamily="2" charset="2"/>
              <a:buChar char="q"/>
            </a:pPr>
            <a:r>
              <a:rPr lang="en-US" b="1" dirty="0"/>
              <a:t>Amplitude settling: </a:t>
            </a:r>
            <a:r>
              <a:rPr lang="en-US" dirty="0"/>
              <a:t>“Average” loop gain falls to unity as devices saturate; stable swings are assured if designed for proper low-frequency gain</a:t>
            </a:r>
            <a:r>
              <a:rPr lang="en-US" dirty="0" smtClean="0"/>
              <a:t>.</a:t>
            </a:r>
          </a:p>
          <a:p>
            <a:pPr marL="342900" indent="-342900" algn="just">
              <a:buFont typeface="Wingdings" panose="05000000000000000000" pitchFamily="2" charset="2"/>
              <a:buChar char="q"/>
            </a:pPr>
            <a:endParaRPr lang="en-US" dirty="0"/>
          </a:p>
          <a:p>
            <a:pPr algn="just"/>
            <a:r>
              <a:rPr lang="en-US" dirty="0"/>
              <a:t>This foundational view bridges startup physics, amplitude control, waveform shaping, and supply-dependent frequency—all critical for robust ring oscillator and PLL design</a:t>
            </a:r>
            <a:r>
              <a:rPr lang="en-US" dirty="0" smtClean="0"/>
              <a:t>.</a:t>
            </a: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A6F50D9-A6A0-411D-8FB6-31BFCFF4796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15482725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26166" y="1272209"/>
            <a:ext cx="11171582" cy="332960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Fundamental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61387" cy="4924425"/>
          </a:xfrm>
        </p:spPr>
        <p:txBody>
          <a:bodyPr/>
          <a:lstStyle/>
          <a:p>
            <a:pPr marL="342900" indent="-342900" algn="l">
              <a:lnSpc>
                <a:spcPct val="150000"/>
              </a:lnSpc>
              <a:buFont typeface="Wingdings" panose="05000000000000000000" pitchFamily="2" charset="2"/>
              <a:buChar char="q"/>
            </a:pPr>
            <a:r>
              <a:rPr lang="en-US" dirty="0" smtClean="0">
                <a:latin typeface="fkGroteskNeue"/>
              </a:rPr>
              <a:t>Nonlinearity </a:t>
            </a:r>
            <a:r>
              <a:rPr lang="en-US" dirty="0">
                <a:latin typeface="fkGroteskNeue"/>
              </a:rPr>
              <a:t>ensures practical oscillators have stable voltage amplitude—no runaway growth.</a:t>
            </a:r>
          </a:p>
          <a:p>
            <a:pPr marL="342900" indent="-342900" algn="l">
              <a:lnSpc>
                <a:spcPct val="150000"/>
              </a:lnSpc>
              <a:buFont typeface="Wingdings" panose="05000000000000000000" pitchFamily="2" charset="2"/>
              <a:buChar char="q"/>
            </a:pPr>
            <a:r>
              <a:rPr lang="en-US" dirty="0">
                <a:latin typeface="fkGroteskNeue"/>
              </a:rPr>
              <a:t>Abrupt, square-like transitions are preferred for low noise and fast circuit response.</a:t>
            </a:r>
          </a:p>
          <a:p>
            <a:pPr marL="342900" indent="-342900" algn="l">
              <a:lnSpc>
                <a:spcPct val="150000"/>
              </a:lnSpc>
              <a:buFont typeface="Wingdings" panose="05000000000000000000" pitchFamily="2" charset="2"/>
              <a:buChar char="q"/>
            </a:pPr>
            <a:r>
              <a:rPr lang="en-US" dirty="0">
                <a:latin typeface="fkGroteskNeue"/>
              </a:rPr>
              <a:t>Frequency can be tuned using supply voltage in inverter-based designs—an essential PLL and clock generator strategy.</a:t>
            </a:r>
          </a:p>
          <a:p>
            <a:pPr marL="342900" indent="-342900" algn="l">
              <a:lnSpc>
                <a:spcPct val="150000"/>
              </a:lnSpc>
              <a:buFont typeface="Wingdings" panose="05000000000000000000" pitchFamily="2" charset="2"/>
              <a:buChar char="q"/>
            </a:pPr>
            <a:r>
              <a:rPr lang="en-US" dirty="0">
                <a:latin typeface="fkGroteskNeue"/>
              </a:rPr>
              <a:t>Oscillation amplitude, waveform shape, and frequency all arise from the same interplay: device physics, feedback, and gain</a:t>
            </a:r>
            <a:r>
              <a:rPr lang="en-US" dirty="0" smtClean="0">
                <a:latin typeface="fkGroteskNeue"/>
              </a:rPr>
              <a:t>.</a:t>
            </a:r>
          </a:p>
          <a:p>
            <a:pPr marL="342900" indent="-342900" algn="l">
              <a:lnSpc>
                <a:spcPct val="150000"/>
              </a:lnSpc>
              <a:buFont typeface="Wingdings" panose="05000000000000000000" pitchFamily="2" charset="2"/>
              <a:buChar char="q"/>
            </a:pPr>
            <a:endParaRPr lang="en-US" dirty="0">
              <a:latin typeface="fkGroteskNeue"/>
            </a:endParaRPr>
          </a:p>
          <a:p>
            <a:pPr algn="l"/>
            <a:r>
              <a:rPr lang="en-US" dirty="0">
                <a:latin typeface="fkGroteskNeue"/>
              </a:rPr>
              <a:t>These insights connect oscillator startup, amplitude settling, waveform design, and supply-dependent frequency scaling, giving students a holistic view of ring oscillator fundamentals and practical design</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8565BDA-7F55-4DCF-ADB5-434704275AE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76851886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780" y="0"/>
            <a:ext cx="10593196" cy="1046440"/>
          </a:xfrm>
        </p:spPr>
        <p:txBody>
          <a:bodyPr/>
          <a:lstStyle/>
          <a:p>
            <a:r>
              <a:rPr lang="en-US" dirty="0">
                <a:latin typeface="fkGrotesk"/>
              </a:rPr>
              <a:t>Fundamental Understanding of </a:t>
            </a:r>
            <a:r>
              <a:rPr lang="en-US" dirty="0" err="1">
                <a:latin typeface="fkGrotesk"/>
              </a:rPr>
              <a:t>Lossy</a:t>
            </a:r>
            <a:r>
              <a:rPr lang="en-US" dirty="0">
                <a:latin typeface="fkGrotesk"/>
              </a:rPr>
              <a:t> LC Tanks and Oscillator </a:t>
            </a:r>
            <a:r>
              <a:rPr lang="en-US" dirty="0" smtClean="0">
                <a:latin typeface="fkGrotesk"/>
              </a:rPr>
              <a:t>Resonance</a:t>
            </a:r>
            <a:endParaRPr lang="en-US" dirty="0"/>
          </a:p>
        </p:txBody>
      </p:sp>
      <p:sp>
        <p:nvSpPr>
          <p:cNvPr id="3" name="Text Placeholder 2"/>
          <p:cNvSpPr>
            <a:spLocks noGrp="1"/>
          </p:cNvSpPr>
          <p:nvPr>
            <p:ph type="body" idx="1"/>
          </p:nvPr>
        </p:nvSpPr>
        <p:spPr>
          <a:xfrm>
            <a:off x="844550" y="1327353"/>
            <a:ext cx="10676890" cy="2154436"/>
          </a:xfrm>
        </p:spPr>
        <p:txBody>
          <a:bodyPr/>
          <a:lstStyle/>
          <a:p>
            <a:pPr algn="just">
              <a:lnSpc>
                <a:spcPct val="150000"/>
              </a:lnSpc>
            </a:pPr>
            <a:r>
              <a:rPr lang="en-US" dirty="0" smtClean="0">
                <a:latin typeface="fkGroteskNeue"/>
              </a:rPr>
              <a:t>The </a:t>
            </a:r>
            <a:r>
              <a:rPr lang="en-US" dirty="0">
                <a:latin typeface="fkGroteskNeue"/>
              </a:rPr>
              <a:t>content delves into realistic LC oscillator modeling, where ideal elements are replaced with </a:t>
            </a:r>
            <a:r>
              <a:rPr lang="en-US" dirty="0" err="1">
                <a:latin typeface="fkGroteskNeue"/>
              </a:rPr>
              <a:t>lossy</a:t>
            </a:r>
            <a:r>
              <a:rPr lang="en-US" dirty="0">
                <a:latin typeface="fkGroteskNeue"/>
              </a:rPr>
              <a:t> inductors and equivalent parallel resistance to better capture physical behavior and performance limits. Here's an intuitive breakdown and figure explanations optimized for lectures.</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3540958-5D2F-4262-AE36-2CC8CA5E1148}"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txBox="1">
            <a:spLocks/>
          </p:cNvSpPr>
          <p:nvPr/>
        </p:nvSpPr>
        <p:spPr>
          <a:xfrm>
            <a:off x="4338913" y="6594842"/>
            <a:ext cx="2916651" cy="263158"/>
          </a:xfrm>
          <a:prstGeom prst="rect">
            <a:avLst/>
          </a:prstGeom>
        </p:spPr>
        <p:txBody>
          <a:bodyPr wrap="square" lIns="0" tIns="0" rIns="0" bIns="0">
            <a:spAutoFit/>
          </a:bodyPr>
          <a:lstStyle>
            <a:defPPr>
              <a:defRPr lang="en-US"/>
            </a:defPPr>
            <a:lvl1pPr marL="0" algn="l" defTabSz="914400" rtl="0" eaLnBrk="1" latinLnBrk="0" hangingPunct="1">
              <a:defRPr sz="1200" b="0" i="0" kern="1200">
                <a:solidFill>
                  <a:schemeClr val="tx1"/>
                </a:solidFill>
                <a:latin typeface="Verdana"/>
                <a:ea typeface="+mn-ea"/>
                <a:cs typeface="Verdan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05"/>
              </a:spcBef>
              <a:defRPr/>
            </a:pPr>
            <a:r>
              <a:rPr lang="en-US" b="1" kern="0" smtClean="0">
                <a:solidFill>
                  <a:srgbClr val="C00000"/>
                </a:solidFill>
              </a:rPr>
              <a:t>Neeraj Mishra AAMD BITS Pilani </a:t>
            </a:r>
            <a:endParaRPr lang="en-US" b="1" kern="0" spc="-10" dirty="0">
              <a:solidFill>
                <a:srgbClr val="C00000"/>
              </a:solidFill>
            </a:endParaRPr>
          </a:p>
        </p:txBody>
      </p:sp>
    </p:spTree>
    <p:extLst>
      <p:ext uri="{BB962C8B-B14F-4D97-AF65-F5344CB8AC3E}">
        <p14:creationId xmlns:p14="http://schemas.microsoft.com/office/powerpoint/2010/main" val="320564899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745436" y="1590262"/>
            <a:ext cx="11211338" cy="188843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1. Basic LC Tank </a:t>
            </a:r>
            <a:r>
              <a:rPr lang="en-US" dirty="0" smtClean="0">
                <a:latin typeface="fkGrotesk"/>
              </a:rPr>
              <a:t>Behavior</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31850" y="1242686"/>
                <a:ext cx="10816590" cy="2155014"/>
              </a:xfrm>
            </p:spPr>
            <p:txBody>
              <a:bodyPr/>
              <a:lstStyle/>
              <a:p>
                <a:pPr algn="ctr"/>
                <a:r>
                  <a:rPr lang="en-US" b="1" dirty="0" smtClean="0">
                    <a:solidFill>
                      <a:srgbClr val="C00000"/>
                    </a:solidFill>
                    <a:latin typeface="fkGrotesk"/>
                  </a:rPr>
                  <a:t>Ideal </a:t>
                </a:r>
                <a:r>
                  <a:rPr lang="en-US" b="1" dirty="0">
                    <a:solidFill>
                      <a:srgbClr val="C00000"/>
                    </a:solidFill>
                    <a:latin typeface="fkGrotesk"/>
                  </a:rPr>
                  <a:t>Components</a:t>
                </a:r>
              </a:p>
              <a:p>
                <a:pPr marL="342900" marR="0" lvl="0" indent="-342900">
                  <a:spcBef>
                    <a:spcPts val="525"/>
                  </a:spcBef>
                  <a:spcAft>
                    <a:spcPts val="525"/>
                  </a:spcAft>
                  <a:buFont typeface="Wingdings" panose="05000000000000000000" pitchFamily="2" charset="2"/>
                  <a:buChar char="q"/>
                  <a:tabLst>
                    <a:tab pos="571500" algn="l"/>
                  </a:tabLst>
                </a:pPr>
                <a:r>
                  <a:rPr lang="en-US" sz="1800" dirty="0">
                    <a:solidFill>
                      <a:srgbClr val="000000"/>
                    </a:solidFill>
                    <a:latin typeface="inter"/>
                    <a:ea typeface="inter"/>
                    <a:cs typeface="inter"/>
                  </a:rPr>
                  <a:t>Capacitor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oMath>
                </a14:m>
                <a:r>
                  <a:rPr lang="en-US" sz="1800" dirty="0">
                    <a:solidFill>
                      <a:srgbClr val="000000"/>
                    </a:solidFill>
                    <a:latin typeface="inter"/>
                    <a:ea typeface="inter"/>
                    <a:cs typeface="inter"/>
                  </a:rPr>
                  <a:t> modeled as </a:t>
                </a:r>
                <a14:m>
                  <m:oMath xmlns:m="http://schemas.openxmlformats.org/officeDocument/2006/math">
                    <m:r>
                      <a:rPr lang="en-US" sz="1800" b="1" i="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𝑰</m:t>
                    </m:r>
                    <m:r>
                      <a:rPr lang="en-US" sz="1800"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𝑪</m:t>
                    </m:r>
                    <m:f>
                      <m:f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𝒅𝑽</m:t>
                        </m:r>
                      </m:num>
                      <m:den>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𝒅𝒕</m:t>
                        </m:r>
                      </m:den>
                    </m:f>
                  </m:oMath>
                </a14:m>
                <a:endParaRPr lang="en-US" sz="1800" b="1"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800" dirty="0">
                    <a:solidFill>
                      <a:srgbClr val="000000"/>
                    </a:solidFill>
                    <a:latin typeface="inter"/>
                    <a:ea typeface="inter"/>
                    <a:cs typeface="inter"/>
                  </a:rPr>
                  <a:t>Inductor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oMath>
                </a14:m>
                <a:r>
                  <a:rPr lang="en-US" sz="1800" dirty="0">
                    <a:solidFill>
                      <a:srgbClr val="000000"/>
                    </a:solidFill>
                    <a:latin typeface="inter"/>
                    <a:ea typeface="inter"/>
                    <a:cs typeface="inter"/>
                  </a:rPr>
                  <a:t> modeled as </a:t>
                </a:r>
                <a14:m>
                  <m:oMath xmlns:m="http://schemas.openxmlformats.org/officeDocument/2006/math">
                    <m:r>
                      <a:rPr lang="en-US" sz="1800" b="1" i="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𝑽</m:t>
                    </m:r>
                    <m:r>
                      <a:rPr lang="en-US" sz="1800"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𝑳</m:t>
                    </m:r>
                    <m:f>
                      <m:f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𝒅𝑰</m:t>
                        </m:r>
                      </m:num>
                      <m:den>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𝒅𝒕</m:t>
                        </m:r>
                      </m:den>
                    </m:f>
                  </m:oMath>
                </a14:m>
                <a:endParaRPr lang="en-US" sz="1800" b="1"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800" dirty="0">
                    <a:solidFill>
                      <a:srgbClr val="000000"/>
                    </a:solidFill>
                    <a:latin typeface="inter"/>
                    <a:ea typeface="inter"/>
                    <a:cs typeface="inter"/>
                  </a:rPr>
                  <a:t>When combined in parallel, the impedance behaves inductively at low frequencies and </a:t>
                </a:r>
                <a:r>
                  <a:rPr lang="en-US" sz="1800" dirty="0" err="1">
                    <a:solidFill>
                      <a:srgbClr val="000000"/>
                    </a:solidFill>
                    <a:latin typeface="inter"/>
                    <a:ea typeface="inter"/>
                    <a:cs typeface="inter"/>
                  </a:rPr>
                  <a:t>capacitively</a:t>
                </a:r>
                <a:r>
                  <a:rPr lang="en-US" sz="1800" dirty="0">
                    <a:solidFill>
                      <a:srgbClr val="000000"/>
                    </a:solidFill>
                    <a:latin typeface="inter"/>
                    <a:ea typeface="inter"/>
                    <a:cs typeface="inter"/>
                  </a:rPr>
                  <a:t> at high frequencies, crossing zero reactance at the resonant frequency </a:t>
                </a:r>
                <a14:m>
                  <m:oMath xmlns:m="http://schemas.openxmlformats.org/officeDocument/2006/math">
                    <m:sSub>
                      <m:sSubPr>
                        <m:ctrlPr>
                          <a:rPr lang="en-US" sz="1800" b="1" i="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𝝎</m:t>
                        </m:r>
                      </m:e>
                      <m:sub>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𝟎</m:t>
                        </m:r>
                      </m:sub>
                    </m:sSub>
                    <m:r>
                      <a:rPr lang="en-US" sz="1800"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𝟏</m:t>
                        </m:r>
                      </m:num>
                      <m:den>
                        <m:rad>
                          <m:radPr>
                            <m:degHide m:val="on"/>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radPr>
                          <m:deg/>
                          <m:e>
                            <m:sSub>
                              <m:sSub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𝑳</m:t>
                                </m:r>
                              </m:e>
                              <m:sub>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𝟏</m:t>
                                </m:r>
                              </m:sub>
                            </m:sSub>
                            <m:sSub>
                              <m:sSub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𝑪</m:t>
                                </m:r>
                              </m:e>
                              <m:sub>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𝟏</m:t>
                                </m:r>
                              </m:sub>
                            </m:sSub>
                          </m:e>
                        </m:rad>
                      </m:den>
                    </m:f>
                  </m:oMath>
                </a14:m>
                <a:r>
                  <a:rPr lang="en-US" sz="1800" dirty="0" smtClean="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31850" y="1242686"/>
                <a:ext cx="10816590" cy="2155014"/>
              </a:xfrm>
              <a:blipFill>
                <a:blip r:embed="rId2"/>
                <a:stretch>
                  <a:fillRect l="-1183" t="-3399" b="-1416"/>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89D5105-C8B6-47B5-8679-E4BF239738E4}"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10" name="Picture 9"/>
          <p:cNvPicPr>
            <a:picLocks noChangeAspect="1"/>
          </p:cNvPicPr>
          <p:nvPr/>
        </p:nvPicPr>
        <p:blipFill>
          <a:blip r:embed="rId3"/>
          <a:stretch>
            <a:fillRect/>
          </a:stretch>
        </p:blipFill>
        <p:spPr>
          <a:xfrm>
            <a:off x="4020717" y="3708338"/>
            <a:ext cx="3988005" cy="2387723"/>
          </a:xfrm>
          <a:prstGeom prst="rect">
            <a:avLst/>
          </a:prstGeom>
        </p:spPr>
      </p:pic>
      <p:sp>
        <p:nvSpPr>
          <p:cNvPr id="11" name="Rectangle 10"/>
          <p:cNvSpPr/>
          <p:nvPr/>
        </p:nvSpPr>
        <p:spPr>
          <a:xfrm>
            <a:off x="4075365" y="6168619"/>
            <a:ext cx="4716356" cy="246221"/>
          </a:xfrm>
          <a:prstGeom prst="rect">
            <a:avLst/>
          </a:prstGeom>
        </p:spPr>
        <p:txBody>
          <a:bodyPr wrap="none">
            <a:spAutoFit/>
          </a:bodyPr>
          <a:lstStyle/>
          <a:p>
            <a:r>
              <a:rPr lang="en-US" sz="1000" b="1" i="0" u="none" strike="noStrike" baseline="0" dirty="0" smtClean="0">
                <a:solidFill>
                  <a:srgbClr val="FF0000"/>
                </a:solidFill>
                <a:latin typeface="T3Font_215"/>
              </a:rPr>
              <a:t>Figure 1.15 </a:t>
            </a:r>
            <a:r>
              <a:rPr lang="en-US" sz="1000" b="1" i="0" u="none" strike="noStrike" baseline="0" dirty="0" smtClean="0">
                <a:solidFill>
                  <a:srgbClr val="FF0000"/>
                </a:solidFill>
                <a:latin typeface="T3Font_216"/>
              </a:rPr>
              <a:t>(a) Ideal parallel LC tank, and (b) its impedance characteristics.</a:t>
            </a:r>
            <a:endParaRPr lang="en-US" sz="2400" b="1" dirty="0">
              <a:solidFill>
                <a:srgbClr val="FF0000"/>
              </a:solidFill>
            </a:endParaRPr>
          </a:p>
        </p:txBody>
      </p:sp>
      <p:sp>
        <p:nvSpPr>
          <p:cNvPr id="13" name="Rectangle 12"/>
          <p:cNvSpPr/>
          <p:nvPr/>
        </p:nvSpPr>
        <p:spPr>
          <a:xfrm>
            <a:off x="76604" y="4829145"/>
            <a:ext cx="3763875" cy="369332"/>
          </a:xfrm>
          <a:prstGeom prst="rect">
            <a:avLst/>
          </a:prstGeom>
        </p:spPr>
        <p:txBody>
          <a:bodyPr wrap="square">
            <a:spAutoFit/>
          </a:bodyPr>
          <a:lstStyle/>
          <a:p>
            <a:pPr lvl="0" algn="just"/>
            <a:r>
              <a:rPr lang="en-US" kern="0" dirty="0">
                <a:solidFill>
                  <a:prstClr val="black"/>
                </a:solidFill>
                <a:latin typeface="fkGroteskNeue"/>
              </a:rPr>
              <a:t>(a) Ideal parallel LC tank circuit.</a:t>
            </a:r>
          </a:p>
        </p:txBody>
      </p:sp>
      <p:sp>
        <p:nvSpPr>
          <p:cNvPr id="14" name="Rectangle 13"/>
          <p:cNvSpPr/>
          <p:nvPr/>
        </p:nvSpPr>
        <p:spPr>
          <a:xfrm>
            <a:off x="8249920" y="4174441"/>
            <a:ext cx="3855720" cy="1477328"/>
          </a:xfrm>
          <a:prstGeom prst="rect">
            <a:avLst/>
          </a:prstGeom>
        </p:spPr>
        <p:txBody>
          <a:bodyPr wrap="square">
            <a:spAutoFit/>
          </a:bodyPr>
          <a:lstStyle/>
          <a:p>
            <a:pPr lvl="0" algn="just"/>
            <a:r>
              <a:rPr lang="en-US" kern="0" dirty="0">
                <a:solidFill>
                  <a:prstClr val="black"/>
                </a:solidFill>
                <a:latin typeface="fkGroteskNeue"/>
              </a:rPr>
              <a:t>(b) Impedance magnitude peaks sharply at resonance (</a:t>
            </a:r>
            <a:r>
              <a:rPr lang="en-US" i="1" kern="0" dirty="0">
                <a:solidFill>
                  <a:prstClr val="black"/>
                </a:solidFill>
                <a:latin typeface="KaTeX_Math"/>
              </a:rPr>
              <a:t>ω</a:t>
            </a:r>
            <a:r>
              <a:rPr lang="en-US" kern="0" baseline="-25000" dirty="0">
                <a:solidFill>
                  <a:prstClr val="black"/>
                </a:solidFill>
                <a:latin typeface="KaTeX_Main"/>
              </a:rPr>
              <a:t>0</a:t>
            </a:r>
            <a:r>
              <a:rPr lang="en-US" kern="0" dirty="0">
                <a:solidFill>
                  <a:prstClr val="black"/>
                </a:solidFill>
                <a:latin typeface="fkGroteskNeue"/>
              </a:rPr>
              <a:t>) and shows corresponding phase shift from +90° (inductive) to –90° (capacitive) behavior.</a:t>
            </a:r>
          </a:p>
        </p:txBody>
      </p:sp>
      <p:sp>
        <p:nvSpPr>
          <p:cNvPr id="15"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3130382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8380674" y="3875599"/>
            <a:ext cx="3607905" cy="255435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594360" y="3072374"/>
            <a:ext cx="3756992" cy="355820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2. Realistic Losses in the LC </a:t>
            </a:r>
            <a:r>
              <a:rPr lang="en-US" dirty="0" smtClean="0">
                <a:latin typeface="fkGrotesk"/>
              </a:rPr>
              <a:t>Tank</a:t>
            </a:r>
            <a:endParaRPr lang="en-US" dirty="0"/>
          </a:p>
        </p:txBody>
      </p:sp>
      <p:sp>
        <p:nvSpPr>
          <p:cNvPr id="3" name="Text Placeholder 2"/>
          <p:cNvSpPr>
            <a:spLocks noGrp="1"/>
          </p:cNvSpPr>
          <p:nvPr>
            <p:ph type="body" idx="1"/>
          </p:nvPr>
        </p:nvSpPr>
        <p:spPr>
          <a:xfrm>
            <a:off x="653718" y="2610683"/>
            <a:ext cx="3575050" cy="4247317"/>
          </a:xfrm>
        </p:spPr>
        <p:txBody>
          <a:bodyPr/>
          <a:lstStyle/>
          <a:p>
            <a:pPr algn="ctr"/>
            <a:r>
              <a:rPr lang="en-US" b="1" dirty="0" smtClean="0">
                <a:solidFill>
                  <a:srgbClr val="C00000"/>
                </a:solidFill>
                <a:latin typeface="fkGrotesk"/>
              </a:rPr>
              <a:t>Series </a:t>
            </a:r>
            <a:r>
              <a:rPr lang="en-US" b="1" dirty="0">
                <a:solidFill>
                  <a:srgbClr val="C00000"/>
                </a:solidFill>
                <a:latin typeface="fkGrotesk"/>
              </a:rPr>
              <a:t>Resistance </a:t>
            </a:r>
            <a:r>
              <a:rPr lang="en-US" b="1" i="1" dirty="0" smtClean="0">
                <a:solidFill>
                  <a:srgbClr val="C00000"/>
                </a:solidFill>
                <a:latin typeface="KaTeX_Math"/>
              </a:rPr>
              <a:t>R</a:t>
            </a:r>
            <a:r>
              <a:rPr lang="en-US" b="1" i="1" baseline="-25000" dirty="0" smtClean="0">
                <a:solidFill>
                  <a:srgbClr val="C00000"/>
                </a:solidFill>
                <a:latin typeface="KaTeX_Math"/>
              </a:rPr>
              <a:t>S</a:t>
            </a:r>
            <a:endParaRPr lang="en-US" b="1" dirty="0" smtClean="0">
              <a:solidFill>
                <a:srgbClr val="C00000"/>
              </a:solidFill>
              <a:latin typeface="fkGrotesk"/>
            </a:endParaRPr>
          </a:p>
          <a:p>
            <a:pPr algn="l"/>
            <a:endParaRPr lang="en-US" dirty="0">
              <a:latin typeface="fkGrotesk"/>
            </a:endParaRPr>
          </a:p>
          <a:p>
            <a:pPr marL="342900" indent="-342900" algn="just">
              <a:lnSpc>
                <a:spcPct val="150000"/>
              </a:lnSpc>
              <a:buFont typeface="Wingdings" panose="05000000000000000000" pitchFamily="2" charset="2"/>
              <a:buChar char="q"/>
            </a:pPr>
            <a:r>
              <a:rPr lang="en-US" sz="1800" dirty="0">
                <a:latin typeface="fkGroteskNeue"/>
              </a:rPr>
              <a:t>Inductors have parasitic resistance due to wire </a:t>
            </a:r>
            <a:r>
              <a:rPr lang="en-US" sz="1800" dirty="0" smtClean="0">
                <a:latin typeface="fkGroteskNeue"/>
              </a:rPr>
              <a:t>loss, which dissipates energy and detracts </a:t>
            </a:r>
            <a:r>
              <a:rPr lang="en-US" sz="1800" dirty="0">
                <a:latin typeface="fkGroteskNeue"/>
              </a:rPr>
              <a:t>from ideal oscillation.</a:t>
            </a:r>
          </a:p>
          <a:p>
            <a:pPr marL="342900" indent="-342900" algn="just">
              <a:lnSpc>
                <a:spcPct val="150000"/>
              </a:lnSpc>
              <a:buFont typeface="Wingdings" panose="05000000000000000000" pitchFamily="2" charset="2"/>
              <a:buChar char="q"/>
            </a:pPr>
            <a:r>
              <a:rPr lang="en-US" sz="1800" dirty="0">
                <a:latin typeface="fkGroteskNeue"/>
              </a:rPr>
              <a:t>This energy loss lowers the quality factor (Q), broadens the resonance, and increases the phase </a:t>
            </a:r>
            <a:r>
              <a:rPr lang="en-US" sz="1800" dirty="0" smtClean="0">
                <a:latin typeface="fkGroteskNeue"/>
              </a:rPr>
              <a:t>noise</a:t>
            </a:r>
            <a:r>
              <a:rPr lang="en-US" sz="1800" dirty="0" smtClean="0">
                <a:latin typeface="fkGroteskNeue"/>
              </a:rPr>
              <a:t>.</a:t>
            </a:r>
          </a:p>
          <a:p>
            <a:endParaRPr lang="en-US" dirty="0"/>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ADF9DC5-6D65-4E6B-A73D-0509201632A9}"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58043" t="12748" b="25445"/>
          <a:stretch/>
        </p:blipFill>
        <p:spPr>
          <a:xfrm>
            <a:off x="8380674" y="1129085"/>
            <a:ext cx="3555972" cy="1804946"/>
          </a:xfrm>
          <a:prstGeom prst="rect">
            <a:avLst/>
          </a:prstGeom>
        </p:spPr>
      </p:pic>
      <p:sp>
        <p:nvSpPr>
          <p:cNvPr id="9" name="Rectangle 8"/>
          <p:cNvSpPr/>
          <p:nvPr/>
        </p:nvSpPr>
        <p:spPr>
          <a:xfrm>
            <a:off x="8308892" y="3236225"/>
            <a:ext cx="3576320" cy="3200876"/>
          </a:xfrm>
          <a:prstGeom prst="rect">
            <a:avLst/>
          </a:prstGeom>
        </p:spPr>
        <p:txBody>
          <a:bodyPr wrap="square">
            <a:spAutoFit/>
          </a:bodyPr>
          <a:lstStyle/>
          <a:p>
            <a:pPr lvl="0" algn="ctr"/>
            <a:r>
              <a:rPr lang="en-US" sz="2000" b="1" kern="0" dirty="0">
                <a:solidFill>
                  <a:srgbClr val="C00000"/>
                </a:solidFill>
                <a:latin typeface="fkGrotesk"/>
              </a:rPr>
              <a:t>Equivalent Parallel </a:t>
            </a:r>
            <a:r>
              <a:rPr lang="en-US" sz="2000" b="1" kern="0" dirty="0" smtClean="0">
                <a:solidFill>
                  <a:srgbClr val="C00000"/>
                </a:solidFill>
                <a:latin typeface="fkGrotesk"/>
              </a:rPr>
              <a:t>Model</a:t>
            </a:r>
          </a:p>
          <a:p>
            <a:pPr lvl="0" algn="ctr"/>
            <a:endParaRPr lang="en-US" sz="2000" b="1" kern="0" dirty="0">
              <a:solidFill>
                <a:srgbClr val="C00000"/>
              </a:solidFill>
              <a:latin typeface="fkGrotesk"/>
            </a:endParaRPr>
          </a:p>
          <a:p>
            <a:pPr marL="342900" indent="-342900" algn="just">
              <a:lnSpc>
                <a:spcPct val="150000"/>
              </a:lnSpc>
              <a:buFont typeface="Wingdings" panose="05000000000000000000" pitchFamily="2" charset="2"/>
              <a:buChar char="q"/>
            </a:pPr>
            <a:r>
              <a:rPr lang="en-US" kern="0" dirty="0">
                <a:solidFill>
                  <a:sysClr val="windowText" lastClr="000000"/>
                </a:solidFill>
                <a:latin typeface="fkGroteskNeue"/>
              </a:rPr>
              <a:t>To simplify analysis, losses are represented as a parallel equivalent resistance </a:t>
            </a:r>
            <a:r>
              <a:rPr lang="en-US" i="1" kern="0" dirty="0" err="1">
                <a:solidFill>
                  <a:sysClr val="windowText" lastClr="000000"/>
                </a:solidFill>
                <a:latin typeface="KaTeX_Math"/>
              </a:rPr>
              <a:t>Rp</a:t>
            </a:r>
            <a:r>
              <a:rPr lang="en-US" kern="0" dirty="0">
                <a:solidFill>
                  <a:sysClr val="windowText" lastClr="000000"/>
                </a:solidFill>
                <a:latin typeface="fkGroteskNeue"/>
              </a:rPr>
              <a:t>.</a:t>
            </a:r>
          </a:p>
          <a:p>
            <a:pPr marL="342900" indent="-342900" algn="just">
              <a:lnSpc>
                <a:spcPct val="150000"/>
              </a:lnSpc>
              <a:buFont typeface="Wingdings" panose="05000000000000000000" pitchFamily="2" charset="2"/>
              <a:buChar char="q"/>
            </a:pPr>
            <a:r>
              <a:rPr lang="en-US" kern="0" dirty="0">
                <a:solidFill>
                  <a:sysClr val="windowText" lastClr="000000"/>
                </a:solidFill>
                <a:latin typeface="fkGroteskNeue"/>
              </a:rPr>
              <a:t>This allows easier calculation of tank impedance at resonance and quality factor.</a:t>
            </a:r>
          </a:p>
        </p:txBody>
      </p:sp>
      <p:sp>
        <p:nvSpPr>
          <p:cNvPr id="12" name="Footer Placeholder 3"/>
          <p:cNvSpPr>
            <a:spLocks noGrp="1"/>
          </p:cNvSpPr>
          <p:nvPr>
            <p:ph type="ftr" sz="quarter" idx="5"/>
          </p:nvPr>
        </p:nvSpPr>
        <p:spPr>
          <a:xfrm>
            <a:off x="4466134"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dirty="0" smtClean="0">
                <a:ln>
                  <a:noFill/>
                </a:ln>
                <a:solidFill>
                  <a:srgbClr val="C00000"/>
                </a:solidFill>
                <a:effectLst/>
                <a:uLnTx/>
                <a:uFillTx/>
                <a:latin typeface="Verdana"/>
                <a:ea typeface="+mn-ea"/>
              </a:rPr>
              <a:t>Neeraj Mishra AAMD BITS </a:t>
            </a:r>
            <a:r>
              <a:rPr kumimoji="0" lang="en-US" sz="1200" b="1" i="0" u="none" strike="noStrike" kern="0" cap="none" spc="0" normalizeH="0" baseline="0" noProof="0" dirty="0" err="1" smtClean="0">
                <a:ln>
                  <a:noFill/>
                </a:ln>
                <a:solidFill>
                  <a:srgbClr val="C00000"/>
                </a:solidFill>
                <a:effectLst/>
                <a:uLnTx/>
                <a:uFillTx/>
                <a:latin typeface="Verdana"/>
                <a:ea typeface="+mn-ea"/>
              </a:rPr>
              <a:t>Pilani</a:t>
            </a:r>
            <a:r>
              <a:rPr kumimoji="0" lang="en-US" sz="1200" b="1" i="0" u="none" strike="noStrike" kern="0" cap="none" spc="0" normalizeH="0" baseline="0" noProof="0" dirty="0" smtClean="0">
                <a:ln>
                  <a:noFill/>
                </a:ln>
                <a:solidFill>
                  <a:srgbClr val="C00000"/>
                </a:solidFill>
                <a:effectLst/>
                <a:uLnTx/>
                <a:uFillTx/>
                <a:latin typeface="Verdana"/>
                <a:ea typeface="+mn-ea"/>
              </a:rPr>
              <a:t>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pic>
        <p:nvPicPr>
          <p:cNvPr id="13" name="Picture 12"/>
          <p:cNvPicPr>
            <a:picLocks noChangeAspect="1"/>
          </p:cNvPicPr>
          <p:nvPr/>
        </p:nvPicPr>
        <p:blipFill rotWithShape="1">
          <a:blip r:embed="rId2"/>
          <a:srcRect l="11410" r="54839" b="19141"/>
          <a:stretch/>
        </p:blipFill>
        <p:spPr>
          <a:xfrm>
            <a:off x="1488219" y="1051493"/>
            <a:ext cx="1899037" cy="1567696"/>
          </a:xfrm>
          <a:prstGeom prst="rect">
            <a:avLst/>
          </a:prstGeom>
        </p:spPr>
      </p:pic>
    </p:spTree>
    <p:extLst>
      <p:ext uri="{BB962C8B-B14F-4D97-AF65-F5344CB8AC3E}">
        <p14:creationId xmlns:p14="http://schemas.microsoft.com/office/powerpoint/2010/main" val="2206842455"/>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75252" y="3319670"/>
            <a:ext cx="6539947" cy="255435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815009" y="1649896"/>
            <a:ext cx="6400800" cy="116287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3. Relationship Between </a:t>
            </a:r>
            <a:r>
              <a:rPr lang="en-US" i="1" dirty="0" err="1">
                <a:latin typeface="KaTeX_Math"/>
              </a:rPr>
              <a:t>L</a:t>
            </a:r>
            <a:r>
              <a:rPr lang="en-US" i="1" baseline="-25000" dirty="0" err="1">
                <a:latin typeface="KaTeX_Math"/>
              </a:rPr>
              <a:t>p</a:t>
            </a:r>
            <a:r>
              <a:rPr lang="en-US" dirty="0">
                <a:latin typeface="fkGrotesk"/>
              </a:rPr>
              <a:t>, </a:t>
            </a:r>
            <a:r>
              <a:rPr lang="en-US" i="1" dirty="0" err="1">
                <a:latin typeface="KaTeX_Math"/>
              </a:rPr>
              <a:t>R</a:t>
            </a:r>
            <a:r>
              <a:rPr lang="en-US" i="1" baseline="-25000" dirty="0" err="1">
                <a:latin typeface="KaTeX_Math"/>
              </a:rPr>
              <a:t>p</a:t>
            </a:r>
            <a:r>
              <a:rPr lang="en-US" dirty="0">
                <a:latin typeface="fkGrotesk"/>
              </a:rPr>
              <a:t>, and </a:t>
            </a:r>
            <a:r>
              <a:rPr lang="en-US" i="1" dirty="0">
                <a:latin typeface="KaTeX_Math"/>
              </a:rPr>
              <a:t>L</a:t>
            </a:r>
            <a:r>
              <a:rPr lang="en-US" baseline="-25000" dirty="0">
                <a:latin typeface="KaTeX_Main"/>
              </a:rPr>
              <a:t>1</a:t>
            </a:r>
            <a:r>
              <a:rPr lang="en-US" dirty="0">
                <a:latin typeface="fkGrotesk"/>
              </a:rPr>
              <a:t>, </a:t>
            </a:r>
            <a:r>
              <a:rPr lang="en-US" i="1" dirty="0" smtClean="0">
                <a:latin typeface="KaTeX_Math"/>
              </a:rPr>
              <a:t>R</a:t>
            </a:r>
            <a:r>
              <a:rPr lang="en-US" i="1" baseline="-25000" dirty="0" smtClean="0">
                <a:latin typeface="KaTeX_Math"/>
              </a:rPr>
              <a:t>S</a:t>
            </a:r>
            <a:endParaRPr lang="en-US" baseline="-25000" dirty="0"/>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3EB9D6F-95D3-4A39-AEB2-81B058EB5C0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8" name="Text Placeholder 7"/>
              <p:cNvSpPr>
                <a:spLocks noGrp="1"/>
              </p:cNvSpPr>
              <p:nvPr>
                <p:ph type="body" idx="1"/>
              </p:nvPr>
            </p:nvSpPr>
            <p:spPr>
              <a:xfrm>
                <a:off x="844550" y="1327353"/>
                <a:ext cx="6591300" cy="4986237"/>
              </a:xfrm>
            </p:spPr>
            <p:txBody>
              <a:bodyPr/>
              <a:lstStyle/>
              <a:p>
                <a:pPr algn="ctr">
                  <a:spcBef>
                    <a:spcPts val="1575"/>
                  </a:spcBef>
                  <a:spcAft>
                    <a:spcPts val="525"/>
                  </a:spcAft>
                </a:pPr>
                <a:r>
                  <a:rPr lang="en-US" b="1" dirty="0">
                    <a:solidFill>
                      <a:srgbClr val="C00000"/>
                    </a:solidFill>
                    <a:latin typeface="inter"/>
                    <a:ea typeface="inter"/>
                    <a:cs typeface="inter"/>
                  </a:rPr>
                  <a:t>Step 1: Series R-L Tank Impedance</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The inductor with series resistance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800" dirty="0">
                    <a:solidFill>
                      <a:srgbClr val="000000"/>
                    </a:solidFill>
                    <a:latin typeface="inter"/>
                    <a:ea typeface="inter"/>
                    <a:cs typeface="inter"/>
                  </a:rPr>
                  <a:t> and inductance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800" dirty="0">
                    <a:solidFill>
                      <a:srgbClr val="000000"/>
                    </a:solidFill>
                    <a:latin typeface="inter"/>
                    <a:ea typeface="inter"/>
                    <a:cs typeface="inter"/>
                  </a:rPr>
                  <a:t> has a complex impedance at angular frequency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𝑠𝑒𝑟𝑖𝑒𝑠</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Bef>
                    <a:spcPts val="1575"/>
                  </a:spcBef>
                  <a:spcAft>
                    <a:spcPts val="525"/>
                  </a:spcAft>
                </a:pPr>
                <a:r>
                  <a:rPr lang="en-US" b="1" dirty="0">
                    <a:solidFill>
                      <a:srgbClr val="C00000"/>
                    </a:solidFill>
                    <a:effectLst/>
                    <a:latin typeface="inter"/>
                    <a:ea typeface="inter"/>
                    <a:cs typeface="inter"/>
                  </a:rPr>
                  <a:t>Step 2: Equivalent Parallel Model</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This series combination is often represented equivalently by a </a:t>
                </a:r>
                <a:r>
                  <a:rPr lang="en-US" sz="1800" b="1" dirty="0">
                    <a:solidFill>
                      <a:srgbClr val="000000"/>
                    </a:solidFill>
                    <a:latin typeface="inter"/>
                    <a:ea typeface="inter"/>
                    <a:cs typeface="inter"/>
                  </a:rPr>
                  <a:t>parallel tank</a:t>
                </a:r>
                <a:r>
                  <a:rPr lang="en-US" sz="1800" dirty="0">
                    <a:solidFill>
                      <a:srgbClr val="000000"/>
                    </a:solidFill>
                    <a:latin typeface="inter"/>
                    <a:ea typeface="inter"/>
                    <a:cs typeface="inter"/>
                  </a:rPr>
                  <a:t> with parameters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and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having impedance: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We want to find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and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such that at a given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800" dirty="0">
                    <a:solidFill>
                      <a:srgbClr val="000000"/>
                    </a:solidFill>
                    <a:latin typeface="inter"/>
                    <a:ea typeface="inter"/>
                    <a:cs typeface="inter"/>
                  </a:rPr>
                  <a:t>, the impedances match:</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𝑠𝑒𝑟𝑖𝑒𝑠</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8" name="Text Placeholder 7"/>
              <p:cNvSpPr>
                <a:spLocks noGrp="1" noRot="1" noChangeAspect="1" noMove="1" noResize="1" noEditPoints="1" noAdjustHandles="1" noChangeArrowheads="1" noChangeShapeType="1" noTextEdit="1"/>
              </p:cNvSpPr>
              <p:nvPr>
                <p:ph type="body" idx="1"/>
              </p:nvPr>
            </p:nvSpPr>
            <p:spPr>
              <a:xfrm>
                <a:off x="844550" y="1327353"/>
                <a:ext cx="6591300" cy="4986237"/>
              </a:xfrm>
              <a:blipFill>
                <a:blip r:embed="rId3"/>
                <a:stretch>
                  <a:fillRect l="-2220" t="-1589"/>
                </a:stretch>
              </a:blipFill>
            </p:spPr>
            <p:txBody>
              <a:bodyPr/>
              <a:lstStyle/>
              <a:p>
                <a:r>
                  <a:rPr lang="en-US">
                    <a:noFill/>
                  </a:rPr>
                  <a:t> </a:t>
                </a:r>
              </a:p>
            </p:txBody>
          </p:sp>
        </mc:Fallback>
      </mc:AlternateContent>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
        <p:nvSpPr>
          <p:cNvPr id="12" name="Rectangle 11"/>
          <p:cNvSpPr/>
          <p:nvPr/>
        </p:nvSpPr>
        <p:spPr>
          <a:xfrm>
            <a:off x="7880733" y="6069522"/>
            <a:ext cx="3579826" cy="246221"/>
          </a:xfrm>
          <a:prstGeom prst="rect">
            <a:avLst/>
          </a:prstGeom>
        </p:spPr>
        <p:txBody>
          <a:bodyPr wrap="none">
            <a:spAutoFit/>
          </a:bodyPr>
          <a:lstStyle/>
          <a:p>
            <a:r>
              <a:rPr lang="en-US" sz="1000" b="1" i="0" u="none" strike="noStrike" baseline="0" dirty="0" smtClean="0">
                <a:solidFill>
                  <a:srgbClr val="FF0000"/>
                </a:solidFill>
                <a:latin typeface="T3Font_215"/>
              </a:rPr>
              <a:t>Figure </a:t>
            </a:r>
            <a:r>
              <a:rPr lang="en-US" sz="1000" b="1" i="0" u="none" strike="noStrike" baseline="0" dirty="0" smtClean="0">
                <a:solidFill>
                  <a:srgbClr val="FF0000"/>
                </a:solidFill>
                <a:latin typeface="T3Font_216"/>
              </a:rPr>
              <a:t>(a</a:t>
            </a:r>
            <a:r>
              <a:rPr lang="en-US" sz="1000" b="1" i="0" u="none" strike="noStrike" baseline="0" dirty="0" smtClean="0">
                <a:solidFill>
                  <a:srgbClr val="FF0000"/>
                </a:solidFill>
                <a:latin typeface="T3Font_216"/>
              </a:rPr>
              <a:t>) </a:t>
            </a:r>
            <a:r>
              <a:rPr lang="en-US" sz="1000" b="1" i="0" u="none" strike="noStrike" baseline="0" dirty="0" err="1" smtClean="0">
                <a:solidFill>
                  <a:srgbClr val="FF0000"/>
                </a:solidFill>
                <a:latin typeface="T3Font_216"/>
              </a:rPr>
              <a:t>Lossy</a:t>
            </a:r>
            <a:r>
              <a:rPr lang="en-US" sz="1000" b="1" i="0" u="none" strike="noStrike" baseline="0" dirty="0" smtClean="0">
                <a:solidFill>
                  <a:srgbClr val="FF0000"/>
                </a:solidFill>
                <a:latin typeface="T3Font_216"/>
              </a:rPr>
              <a:t> LC tank, and (b) its equivalent model.</a:t>
            </a:r>
            <a:endParaRPr lang="en-US" sz="2400" b="1" dirty="0">
              <a:solidFill>
                <a:srgbClr val="FF0000"/>
              </a:solidFill>
            </a:endParaRPr>
          </a:p>
        </p:txBody>
      </p:sp>
      <p:pic>
        <p:nvPicPr>
          <p:cNvPr id="13" name="Picture 12"/>
          <p:cNvPicPr>
            <a:picLocks noChangeAspect="1"/>
          </p:cNvPicPr>
          <p:nvPr/>
        </p:nvPicPr>
        <p:blipFill rotWithShape="1">
          <a:blip r:embed="rId4"/>
          <a:srcRect l="11410" r="54839" b="19141"/>
          <a:stretch/>
        </p:blipFill>
        <p:spPr>
          <a:xfrm>
            <a:off x="9185082" y="1266179"/>
            <a:ext cx="1899037" cy="1567696"/>
          </a:xfrm>
          <a:prstGeom prst="rect">
            <a:avLst/>
          </a:prstGeom>
        </p:spPr>
      </p:pic>
      <p:pic>
        <p:nvPicPr>
          <p:cNvPr id="14" name="Picture 13"/>
          <p:cNvPicPr>
            <a:picLocks noChangeAspect="1"/>
          </p:cNvPicPr>
          <p:nvPr/>
        </p:nvPicPr>
        <p:blipFill rotWithShape="1">
          <a:blip r:embed="rId4"/>
          <a:srcRect l="58043" t="12748" b="25445"/>
          <a:stretch/>
        </p:blipFill>
        <p:spPr>
          <a:xfrm>
            <a:off x="8404528" y="3919992"/>
            <a:ext cx="3555972" cy="1804946"/>
          </a:xfrm>
          <a:prstGeom prst="rect">
            <a:avLst/>
          </a:prstGeom>
        </p:spPr>
      </p:pic>
    </p:spTree>
    <p:extLst>
      <p:ext uri="{BB962C8B-B14F-4D97-AF65-F5344CB8AC3E}">
        <p14:creationId xmlns:p14="http://schemas.microsoft.com/office/powerpoint/2010/main" val="189046808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23275" y="5599708"/>
            <a:ext cx="5227981" cy="102373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6917635" y="1669774"/>
            <a:ext cx="4780721" cy="340912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765314" y="1779104"/>
            <a:ext cx="5456582" cy="474096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647700" y="1244803"/>
                <a:ext cx="5543550" cy="5576911"/>
              </a:xfrm>
            </p:spPr>
            <p:txBody>
              <a:bodyPr/>
              <a:lstStyle/>
              <a:p>
                <a:pPr algn="ctr">
                  <a:spcBef>
                    <a:spcPts val="1575"/>
                  </a:spcBef>
                  <a:spcAft>
                    <a:spcPts val="525"/>
                  </a:spcAft>
                </a:pPr>
                <a:r>
                  <a:rPr lang="en-US" b="1" dirty="0">
                    <a:solidFill>
                      <a:srgbClr val="C00000"/>
                    </a:solidFill>
                    <a:latin typeface="inter"/>
                    <a:ea typeface="inter"/>
                    <a:cs typeface="inter"/>
                  </a:rPr>
                  <a:t>Step 3: Equate Real and Imaginary </a:t>
                </a:r>
                <a:r>
                  <a:rPr lang="en-US" b="1" dirty="0" smtClean="0">
                    <a:solidFill>
                      <a:srgbClr val="C00000"/>
                    </a:solidFill>
                    <a:latin typeface="inter"/>
                    <a:ea typeface="inter"/>
                    <a:cs typeface="inter"/>
                  </a:rPr>
                  <a:t>Parts</a:t>
                </a:r>
              </a:p>
              <a:p>
                <a:pPr algn="ctr">
                  <a:spcBef>
                    <a:spcPts val="1575"/>
                  </a:spcBef>
                  <a:spcAft>
                    <a:spcPts val="525"/>
                  </a:spcAft>
                </a:pP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Writing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oMath>
                </a14:m>
                <a:r>
                  <a:rPr lang="en-US" sz="1600" dirty="0">
                    <a:solidFill>
                      <a:srgbClr val="000000"/>
                    </a:solidFill>
                    <a:latin typeface="inter"/>
                    <a:ea typeface="inter"/>
                    <a:cs typeface="inter"/>
                  </a:rPr>
                  <a:t> in terms of real and imaginary parts gives: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Simplifying with </a:t>
                </a:r>
                <a14:m>
                  <m:oMath xmlns:m="http://schemas.openxmlformats.org/officeDocument/2006/math">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where real part: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and imaginary part: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647700" y="1244803"/>
                <a:ext cx="5543550" cy="5576911"/>
              </a:xfrm>
              <a:blipFill>
                <a:blip r:embed="rId2"/>
                <a:stretch>
                  <a:fillRect t="-1311"/>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19C9C89-0099-4E80-BC3A-B878024FB94E}"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28783" y="6579705"/>
            <a:ext cx="563217" cy="278296"/>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9" name="Text Placeholder 2"/>
              <p:cNvSpPr txBox="1">
                <a:spLocks/>
              </p:cNvSpPr>
              <p:nvPr/>
            </p:nvSpPr>
            <p:spPr>
              <a:xfrm>
                <a:off x="6368222" y="1163357"/>
                <a:ext cx="5740400" cy="5585696"/>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spcBef>
                    <a:spcPts val="1575"/>
                  </a:spcBef>
                  <a:spcAft>
                    <a:spcPts val="525"/>
                  </a:spcAft>
                </a:pPr>
                <a:r>
                  <a:rPr lang="en-US" b="1" dirty="0">
                    <a:solidFill>
                      <a:srgbClr val="C00000"/>
                    </a:solidFill>
                    <a:latin typeface="inter"/>
                    <a:ea typeface="inter"/>
                    <a:cs typeface="inter"/>
                  </a:rPr>
                  <a:t>Step 4: Set Equal to Series </a:t>
                </a:r>
                <a:r>
                  <a:rPr lang="en-US" b="1" dirty="0" smtClean="0">
                    <a:solidFill>
                      <a:srgbClr val="C00000"/>
                    </a:solidFill>
                    <a:latin typeface="inter"/>
                    <a:ea typeface="inter"/>
                    <a:cs typeface="inter"/>
                  </a:rPr>
                  <a:t>Parts</a:t>
                </a:r>
              </a:p>
              <a:p>
                <a:pPr algn="ctr">
                  <a:spcBef>
                    <a:spcPts val="1575"/>
                  </a:spcBef>
                  <a:spcAft>
                    <a:spcPts val="525"/>
                  </a:spcAft>
                </a:pP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Equate to series parts: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Dividing the imaginary by real gives: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Rearranged:</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Bef>
                    <a:spcPts val="1575"/>
                  </a:spcBef>
                  <a:spcAft>
                    <a:spcPts val="525"/>
                  </a:spcAft>
                </a:pPr>
                <a:r>
                  <a:rPr lang="en-US" b="1" dirty="0" smtClean="0">
                    <a:solidFill>
                      <a:srgbClr val="C00000"/>
                    </a:solidFill>
                    <a:effectLst/>
                    <a:latin typeface="inter"/>
                    <a:ea typeface="inter"/>
                    <a:cs typeface="inter"/>
                  </a:rPr>
                  <a:t>Step 5: Approximate </a:t>
                </a:r>
                <a14:m>
                  <m:oMath xmlns:m="http://schemas.openxmlformats.org/officeDocument/2006/math">
                    <m:sSub>
                      <m:sSubPr>
                        <m:ctrlP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Since inductance values are close, set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 Then: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9" name="Text Placeholder 2"/>
              <p:cNvSpPr txBox="1">
                <a:spLocks noRot="1" noChangeAspect="1" noMove="1" noResize="1" noEditPoints="1" noAdjustHandles="1" noChangeArrowheads="1" noChangeShapeType="1" noTextEdit="1"/>
              </p:cNvSpPr>
              <p:nvPr/>
            </p:nvSpPr>
            <p:spPr>
              <a:xfrm>
                <a:off x="6368222" y="1163357"/>
                <a:ext cx="5740400" cy="5585696"/>
              </a:xfrm>
              <a:prstGeom prst="rect">
                <a:avLst/>
              </a:prstGeom>
              <a:blipFill>
                <a:blip r:embed="rId3"/>
                <a:stretch>
                  <a:fillRect l="-2232" t="-1310"/>
                </a:stretch>
              </a:blipFill>
            </p:spPr>
            <p:txBody>
              <a:bodyPr/>
              <a:lstStyle/>
              <a:p>
                <a:r>
                  <a:rPr lang="en-US">
                    <a:noFill/>
                  </a:rPr>
                  <a:t> </a:t>
                </a:r>
              </a:p>
            </p:txBody>
          </p:sp>
        </mc:Fallback>
      </mc:AlternateContent>
      <p:sp>
        <p:nvSpPr>
          <p:cNvPr id="12" name="Footer Placeholder 3"/>
          <p:cNvSpPr>
            <a:spLocks noGrp="1"/>
          </p:cNvSpPr>
          <p:nvPr>
            <p:ph type="ftr" sz="quarter" idx="5"/>
          </p:nvPr>
        </p:nvSpPr>
        <p:spPr>
          <a:xfrm>
            <a:off x="3400659"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90622272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85800" y="4164497"/>
            <a:ext cx="10674625" cy="9740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12800" y="1464936"/>
                <a:ext cx="10390717" cy="3803605"/>
              </a:xfrm>
            </p:spPr>
            <p:txBody>
              <a:bodyPr/>
              <a:lstStyle/>
              <a:p>
                <a:pPr algn="ctr">
                  <a:spcBef>
                    <a:spcPts val="1575"/>
                  </a:spcBef>
                  <a:spcAft>
                    <a:spcPts val="525"/>
                  </a:spcAft>
                </a:pPr>
                <a:r>
                  <a:rPr lang="en-US" b="1" dirty="0">
                    <a:solidFill>
                      <a:srgbClr val="C00000"/>
                    </a:solidFill>
                    <a:latin typeface="inter"/>
                    <a:ea typeface="inter"/>
                    <a:cs typeface="inter"/>
                  </a:rPr>
                  <a:t>Interpretation:</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525"/>
                  </a:spcBef>
                  <a:spcAft>
                    <a:spcPts val="525"/>
                  </a:spcAft>
                  <a:buFont typeface="Wingdings" panose="05000000000000000000" pitchFamily="2" charset="2"/>
                  <a:buChar char="q"/>
                  <a:tabLst>
                    <a:tab pos="571500" algn="l"/>
                  </a:tabLst>
                </a:pPr>
                <a:r>
                  <a:rPr lang="en-US" sz="1600" dirty="0" smtClean="0">
                    <a:solidFill>
                      <a:srgbClr val="000000"/>
                    </a:solidFill>
                    <a:latin typeface="inter"/>
                    <a:ea typeface="inter"/>
                    <a:cs typeface="inter"/>
                  </a:rPr>
                  <a:t>Smaller 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latin typeface="inter"/>
                    <a:ea typeface="inter"/>
                    <a:cs typeface="inter"/>
                  </a:rPr>
                  <a:t> means larger equ</a:t>
                </a:r>
                <a:r>
                  <a:rPr lang="en-US" sz="1600" dirty="0" smtClean="0">
                    <a:solidFill>
                      <a:srgbClr val="000000"/>
                    </a:solidFill>
                    <a:latin typeface="inter"/>
                    <a:ea typeface="inter"/>
                    <a:cs typeface="inter"/>
                  </a:rPr>
                  <a:t>ivalent </a:t>
                </a:r>
                <a:r>
                  <a:rPr lang="en-US" sz="1600" dirty="0">
                    <a:solidFill>
                      <a:srgbClr val="000000"/>
                    </a:solidFill>
                    <a:latin typeface="inter"/>
                    <a:ea typeface="inter"/>
                    <a:cs typeface="inter"/>
                  </a:rPr>
                  <a:t>parallel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indicating </a:t>
                </a:r>
                <a:r>
                  <a:rPr lang="en-US" sz="1600" b="1" dirty="0">
                    <a:solidFill>
                      <a:srgbClr val="000000"/>
                    </a:solidFill>
                    <a:latin typeface="inter"/>
                    <a:ea typeface="inter"/>
                    <a:cs typeface="inter"/>
                  </a:rPr>
                  <a:t>less loss</a:t>
                </a:r>
                <a:r>
                  <a:rPr lang="en-US" sz="1600" dirty="0">
                    <a:solidFill>
                      <a:srgbClr val="000000"/>
                    </a:solidFill>
                    <a:latin typeface="inter"/>
                    <a:ea typeface="inter"/>
                    <a:cs typeface="inter"/>
                  </a:rPr>
                  <a:t> and </a:t>
                </a:r>
                <a:r>
                  <a:rPr lang="en-US" sz="1600" b="1" dirty="0">
                    <a:solidFill>
                      <a:srgbClr val="000000"/>
                    </a:solidFill>
                    <a:latin typeface="inter"/>
                    <a:ea typeface="inter"/>
                    <a:cs typeface="inter"/>
                  </a:rPr>
                  <a:t>better tank quality</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The parallel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remains approximately equal to the actual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Bef>
                    <a:spcPts val="1575"/>
                  </a:spcBef>
                  <a:spcAft>
                    <a:spcPts val="525"/>
                  </a:spcAft>
                </a:pPr>
                <a:r>
                  <a:rPr lang="en-US" b="1" dirty="0">
                    <a:solidFill>
                      <a:srgbClr val="C00000"/>
                    </a:solidFill>
                    <a:effectLst/>
                    <a:latin typeface="inter"/>
                    <a:ea typeface="inter"/>
                    <a:cs typeface="inter"/>
                  </a:rPr>
                  <a:t>Physical Significance</a:t>
                </a:r>
                <a:r>
                  <a:rPr lang="en-US" b="1" dirty="0" smtClean="0">
                    <a:solidFill>
                      <a:srgbClr val="C00000"/>
                    </a:solidFill>
                    <a:effectLst/>
                    <a:latin typeface="inter"/>
                    <a:ea typeface="inter"/>
                    <a:cs typeface="inter"/>
                  </a:rPr>
                  <a:t>:</a:t>
                </a:r>
              </a:p>
              <a:p>
                <a:pPr algn="just">
                  <a:spcBef>
                    <a:spcPts val="1575"/>
                  </a:spcBef>
                  <a:spcAft>
                    <a:spcPts val="525"/>
                  </a:spcAft>
                </a:pP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sz="1600" dirty="0">
                    <a:solidFill>
                      <a:srgbClr val="000000"/>
                    </a:solidFill>
                    <a:latin typeface="inter"/>
                    <a:ea typeface="inter"/>
                    <a:cs typeface="inter"/>
                  </a:rPr>
                  <a:t>This conversion helps simplify circuit analysis by modeling the physical </a:t>
                </a:r>
                <a:r>
                  <a:rPr lang="en-US" sz="1600" dirty="0" err="1">
                    <a:solidFill>
                      <a:srgbClr val="000000"/>
                    </a:solidFill>
                    <a:latin typeface="inter"/>
                    <a:ea typeface="inter"/>
                    <a:cs typeface="inter"/>
                  </a:rPr>
                  <a:t>lossy</a:t>
                </a:r>
                <a:r>
                  <a:rPr lang="en-US" sz="1600" dirty="0">
                    <a:solidFill>
                      <a:srgbClr val="000000"/>
                    </a:solidFill>
                    <a:latin typeface="inter"/>
                    <a:ea typeface="inter"/>
                    <a:cs typeface="inter"/>
                  </a:rPr>
                  <a:t> inductor as an ideal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in parallel with a loss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making it easier to predict oscillator Q-factor and behavior at resonance.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12800" y="1464936"/>
                <a:ext cx="10390717" cy="3803605"/>
              </a:xfrm>
              <a:blipFill>
                <a:blip r:embed="rId2"/>
                <a:stretch>
                  <a:fillRect l="-1173" t="-2083" r="-1173"/>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25ABB29-ABB8-4FEB-8A51-F0232CE55B43}"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67073" cy="25398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08204975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36714" y="2415209"/>
            <a:ext cx="11400182" cy="381662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73050" y="396240"/>
            <a:ext cx="11918950" cy="430887"/>
          </a:xfrm>
        </p:spPr>
        <p:txBody>
          <a:bodyPr/>
          <a:lstStyle/>
          <a:p>
            <a:pPr algn="ctr"/>
            <a:r>
              <a:rPr lang="en-US" sz="2800" dirty="0" smtClean="0"/>
              <a:t>Frequency Dependence and Approximations in </a:t>
            </a:r>
            <a:r>
              <a:rPr lang="en-US" sz="2800" dirty="0" err="1" smtClean="0"/>
              <a:t>Lossy</a:t>
            </a:r>
            <a:r>
              <a:rPr lang="en-US" sz="2800" dirty="0" smtClean="0"/>
              <a:t> LC Tanks</a:t>
            </a:r>
            <a:endParaRPr lang="en-US" sz="2800"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39470" y="1154633"/>
                <a:ext cx="11118850" cy="5256375"/>
              </a:xfrm>
            </p:spPr>
            <p:txBody>
              <a:bodyPr/>
              <a:lstStyle/>
              <a:p>
                <a:r>
                  <a:rPr lang="en-US" sz="1800" dirty="0">
                    <a:solidFill>
                      <a:srgbClr val="000000"/>
                    </a:solidFill>
                    <a:latin typeface="inter"/>
                    <a:ea typeface="inter"/>
                    <a:cs typeface="inter"/>
                  </a:rPr>
                  <a:t>Understanding how frequency affects the equivalent parallel resistance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and inductance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of a </a:t>
                </a:r>
                <a:r>
                  <a:rPr lang="en-US" sz="1800" dirty="0" err="1">
                    <a:solidFill>
                      <a:srgbClr val="000000"/>
                    </a:solidFill>
                    <a:latin typeface="inter"/>
                    <a:ea typeface="inter"/>
                    <a:cs typeface="inter"/>
                  </a:rPr>
                  <a:t>lossy</a:t>
                </a:r>
                <a:r>
                  <a:rPr lang="en-US" sz="1800" dirty="0">
                    <a:solidFill>
                      <a:srgbClr val="000000"/>
                    </a:solidFill>
                    <a:latin typeface="inter"/>
                    <a:ea typeface="inter"/>
                    <a:cs typeface="inter"/>
                  </a:rPr>
                  <a:t> LC tank is critical for accurate oscillator design, especially at high frequencies</a:t>
                </a:r>
                <a:r>
                  <a:rPr lang="en-US" sz="1800" dirty="0" smtClean="0">
                    <a:solidFill>
                      <a:srgbClr val="000000"/>
                    </a:solidFill>
                    <a:latin typeface="inter"/>
                    <a:ea typeface="inter"/>
                    <a:cs typeface="inter"/>
                  </a:rPr>
                  <a:t>.</a:t>
                </a:r>
              </a:p>
              <a:p>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457200" indent="-457200" algn="ctr">
                  <a:buAutoNum type="arabicPeriod"/>
                </a:pPr>
                <a:r>
                  <a:rPr lang="en-US" b="1" dirty="0" smtClean="0">
                    <a:solidFill>
                      <a:srgbClr val="C00000"/>
                    </a:solidFill>
                    <a:latin typeface="inter"/>
                    <a:ea typeface="inter"/>
                    <a:cs typeface="inter"/>
                  </a:rPr>
                  <a:t>Breakdown </a:t>
                </a:r>
                <a:r>
                  <a:rPr lang="en-US" b="1" dirty="0">
                    <a:solidFill>
                      <a:srgbClr val="C00000"/>
                    </a:solidFill>
                    <a:latin typeface="inter"/>
                    <a:ea typeface="inter"/>
                    <a:cs typeface="inter"/>
                  </a:rPr>
                  <a:t>of Approximation at Low </a:t>
                </a:r>
                <a:r>
                  <a:rPr lang="en-US" b="1" dirty="0" smtClean="0">
                    <a:solidFill>
                      <a:srgbClr val="C00000"/>
                    </a:solidFill>
                    <a:latin typeface="inter"/>
                    <a:ea typeface="inter"/>
                    <a:cs typeface="inter"/>
                  </a:rPr>
                  <a:t>Frequencies</a:t>
                </a:r>
              </a:p>
              <a:p>
                <a:pPr marL="342900" indent="-342900" algn="ctr">
                  <a:buAutoNum type="arabicPeriod"/>
                </a:pP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The commonly used approximation: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assumes the series resistance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800" dirty="0">
                    <a:solidFill>
                      <a:srgbClr val="000000"/>
                    </a:solidFill>
                    <a:latin typeface="inter"/>
                    <a:ea typeface="inter"/>
                    <a:cs typeface="inter"/>
                  </a:rPr>
                  <a:t> squared over </a:t>
                </a:r>
                <a14:m>
                  <m:oMath xmlns:m="http://schemas.openxmlformats.org/officeDocument/2006/math">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sz="1800" dirty="0">
                    <a:solidFill>
                      <a:srgbClr val="000000"/>
                    </a:solidFill>
                    <a:latin typeface="inter"/>
                    <a:ea typeface="inter"/>
                    <a:cs typeface="inter"/>
                  </a:rPr>
                  <a:t> is much less than 1. This lets us write: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Why it breaks down:</a:t>
                </a:r>
                <a:r>
                  <a:rPr lang="en-US" sz="1800" dirty="0">
                    <a:solidFill>
                      <a:srgbClr val="000000"/>
                    </a:solidFill>
                    <a:latin typeface="inter"/>
                    <a:ea typeface="inter"/>
                    <a:cs typeface="inter"/>
                  </a:rPr>
                  <a:t> At low frequencies,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800" dirty="0">
                    <a:solidFill>
                      <a:srgbClr val="000000"/>
                    </a:solidFill>
                    <a:latin typeface="inter"/>
                    <a:ea typeface="inter"/>
                    <a:cs typeface="inter"/>
                  </a:rPr>
                  <a:t> is small, so </a:t>
                </a:r>
                <a14:m>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a14:m>
                <a:r>
                  <a:rPr lang="en-US" sz="1800" dirty="0">
                    <a:solidFill>
                      <a:srgbClr val="000000"/>
                    </a:solidFill>
                    <a:latin typeface="inter"/>
                    <a:ea typeface="inter"/>
                    <a:cs typeface="inter"/>
                  </a:rPr>
                  <a:t> can be significant or larger than 1, violating the approximation. As a result, the calculated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becomes inaccurate, potentially underestimating losses.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This means: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At low frequencies, the simple formulas </a:t>
                </a:r>
                <a:r>
                  <a:rPr lang="en-US" dirty="0" smtClean="0">
                    <a:solidFill>
                      <a:srgbClr val="000000"/>
                    </a:solidFill>
                    <a:latin typeface="inter"/>
                    <a:ea typeface="inter"/>
                    <a:cs typeface="inter"/>
                  </a:rPr>
                  <a:t>over predict </a:t>
                </a:r>
                <a:r>
                  <a:rPr lang="en-US" dirty="0">
                    <a:solidFill>
                      <a:srgbClr val="000000"/>
                    </a:solidFill>
                    <a:latin typeface="inter"/>
                    <a:ea typeface="inter"/>
                    <a:cs typeface="inter"/>
                  </a:rPr>
                  <a:t>tank quality.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Oscillator parameters derived from these may be unreliable.</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39470" y="1154633"/>
                <a:ext cx="11118850" cy="5256375"/>
              </a:xfrm>
              <a:blipFill>
                <a:blip r:embed="rId2"/>
                <a:stretch>
                  <a:fillRect l="-1316" t="-1506"/>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DEEEDB1-BE3A-45BF-8AC3-C780DDD41E26}"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576403" cy="194346"/>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26404078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85191" y="1789043"/>
            <a:ext cx="10704443" cy="396571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505937" cy="4614918"/>
              </a:xfrm>
            </p:spPr>
            <p:txBody>
              <a:bodyPr/>
              <a:lstStyle/>
              <a:p>
                <a:pPr algn="ctr"/>
                <a:r>
                  <a:rPr lang="en-US" b="1" dirty="0" smtClean="0">
                    <a:solidFill>
                      <a:srgbClr val="C00000"/>
                    </a:solidFill>
                    <a:latin typeface="inter"/>
                    <a:ea typeface="inter"/>
                    <a:cs typeface="inter"/>
                  </a:rPr>
                  <a:t>2. Exact Frequency-Dependent Model for </a:t>
                </a:r>
                <a14:m>
                  <m:oMath xmlns:m="http://schemas.openxmlformats.org/officeDocument/2006/math">
                    <m:sSub>
                      <m:sSubPr>
                        <m:ctrlP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sz="1800" dirty="0" smtClean="0">
                  <a:latin typeface="Georgia" panose="02040502050405020303" pitchFamily="18" charset="0"/>
                  <a:ea typeface="Calibri" panose="020F0502020204030204" pitchFamily="34" charset="0"/>
                  <a:cs typeface="Times New Roman" panose="02020603050405020304" pitchFamily="18" charset="0"/>
                </a:endParaRPr>
              </a:p>
              <a:p>
                <a:pPr algn="ct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smtClean="0">
                    <a:solidFill>
                      <a:srgbClr val="000000"/>
                    </a:solidFill>
                    <a:latin typeface="inter"/>
                    <a:ea typeface="inter"/>
                    <a:cs typeface="inter"/>
                  </a:rPr>
                  <a:t>In the equation, source </a:t>
                </a:r>
                <a:r>
                  <a:rPr lang="en-US" sz="1800" dirty="0">
                    <a:solidFill>
                      <a:srgbClr val="000000"/>
                    </a:solidFill>
                    <a:latin typeface="inter"/>
                    <a:ea typeface="inter"/>
                    <a:cs typeface="inter"/>
                  </a:rPr>
                  <a:t>text gives a precise expression for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that includes frequency effects</a:t>
                </a:r>
                <a:r>
                  <a:rPr lang="en-US" sz="1800" dirty="0" smtClean="0">
                    <a:solidFill>
                      <a:srgbClr val="000000"/>
                    </a:solidFill>
                    <a:latin typeface="inter"/>
                    <a:ea typeface="inter"/>
                    <a:cs typeface="inter"/>
                  </a:rPr>
                  <a:t>:</a:t>
                </a:r>
              </a:p>
              <a:p>
                <a:pPr algn="just"/>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exact</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formula</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including</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frequency</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dependency</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a:solidFill>
                      <a:srgbClr val="000000"/>
                    </a:solidFill>
                    <a:latin typeface="inter"/>
                    <a:ea typeface="inter"/>
                    <a:cs typeface="inter"/>
                  </a:rPr>
                  <a:t>This formula captures how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varies with frequency beyond the approximation</a:t>
                </a:r>
                <a:r>
                  <a:rPr lang="en-US" sz="1800" dirty="0" smtClean="0">
                    <a:solidFill>
                      <a:srgbClr val="000000"/>
                    </a:solidFill>
                    <a:latin typeface="inter"/>
                    <a:ea typeface="inter"/>
                    <a:cs typeface="inter"/>
                  </a:rPr>
                  <a:t>.</a:t>
                </a:r>
              </a:p>
              <a:p>
                <a:pPr algn="just"/>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a:solidFill>
                      <a:srgbClr val="000000"/>
                    </a:solidFill>
                    <a:latin typeface="inter"/>
                    <a:ea typeface="inter"/>
                    <a:cs typeface="inter"/>
                  </a:rPr>
                  <a:t>In practical terms</a:t>
                </a:r>
                <a:r>
                  <a:rPr lang="en-US" sz="1800" dirty="0" smtClean="0">
                    <a:solidFill>
                      <a:srgbClr val="000000"/>
                    </a:solidFill>
                    <a:latin typeface="inter"/>
                    <a:ea typeface="inter"/>
                    <a:cs typeface="inter"/>
                  </a:rPr>
                  <a:t>:</a:t>
                </a:r>
              </a:p>
              <a:p>
                <a:pPr algn="just"/>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Wingdings" panose="05000000000000000000" pitchFamily="2" charset="2"/>
                  <a:buChar char="q"/>
                  <a:tabLst>
                    <a:tab pos="571500" algn="l"/>
                  </a:tabLst>
                </a:pPr>
                <a:r>
                  <a:rPr lang="en-US" sz="1800" dirty="0">
                    <a:solidFill>
                      <a:srgbClr val="000000"/>
                    </a:solidFill>
                    <a:latin typeface="inter"/>
                    <a:ea typeface="inter"/>
                    <a:cs typeface="inter"/>
                  </a:rPr>
                  <a:t>At higher frequencies, effective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increases compared to low frequency, implying lower losses at resonance.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Wingdings" panose="05000000000000000000" pitchFamily="2" charset="2"/>
                  <a:buChar char="q"/>
                  <a:tabLst>
                    <a:tab pos="571500" algn="l"/>
                  </a:tabLst>
                </a:pPr>
                <a:r>
                  <a:rPr lang="en-US" sz="1800" dirty="0">
                    <a:solidFill>
                      <a:srgbClr val="000000"/>
                    </a:solidFill>
                    <a:latin typeface="inter"/>
                    <a:ea typeface="inter"/>
                    <a:cs typeface="inter"/>
                  </a:rPr>
                  <a:t>Accurate plotting of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over frequency is vital for high-frequency oscillator design to predict phase noise and stability.</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05937" cy="4614918"/>
              </a:xfrm>
              <a:blipFill>
                <a:blip r:embed="rId2"/>
                <a:stretch>
                  <a:fillRect l="-1393" t="-1717" r="-1335"/>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67CA8CA-D695-4A75-BF5E-B584A6D80C2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330675" y="6464871"/>
            <a:ext cx="596282" cy="224163"/>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580088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594360" y="3776870"/>
            <a:ext cx="11181522" cy="21389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pPr algn="ctr"/>
            <a:r>
              <a:rPr lang="en-US" dirty="0" smtClean="0">
                <a:latin typeface="inter"/>
              </a:rPr>
              <a:t>Example</a:t>
            </a:r>
            <a:r>
              <a:rPr lang="en-US" dirty="0" smtClean="0"/>
              <a:t> </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38200" y="3439786"/>
                <a:ext cx="10775949" cy="2809359"/>
              </a:xfrm>
            </p:spPr>
            <p:txBody>
              <a:bodyPr/>
              <a:lstStyle/>
              <a:p>
                <a:pPr algn="ctr">
                  <a:spcBef>
                    <a:spcPts val="1575"/>
                  </a:spcBef>
                  <a:spcAft>
                    <a:spcPts val="525"/>
                  </a:spcAft>
                </a:pPr>
                <a:r>
                  <a:rPr lang="en-US" sz="1800" b="1" dirty="0">
                    <a:solidFill>
                      <a:srgbClr val="C00000"/>
                    </a:solidFill>
                    <a:latin typeface="inter"/>
                    <a:ea typeface="inter"/>
                    <a:cs typeface="inter"/>
                  </a:rPr>
                  <a:t>Example Quantifying Approximation Error</a:t>
                </a:r>
                <a:endParaRPr lang="en-US" sz="14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sz="1800" dirty="0" smtClean="0">
                    <a:solidFill>
                      <a:srgbClr val="000000"/>
                    </a:solidFill>
                    <a:latin typeface="inter"/>
                    <a:ea typeface="inter"/>
                    <a:cs typeface="inter"/>
                  </a:rPr>
                  <a:t>The Example </a:t>
                </a:r>
                <a:r>
                  <a:rPr lang="en-US" sz="1800" dirty="0">
                    <a:solidFill>
                      <a:srgbClr val="000000"/>
                    </a:solidFill>
                    <a:latin typeface="inter"/>
                    <a:ea typeface="inter"/>
                    <a:cs typeface="inter"/>
                  </a:rPr>
                  <a:t>shows: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When assuming a constant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value based on low frequency,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5.5 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GHz</m:t>
                    </m:r>
                  </m:oMath>
                </a14:m>
                <a:r>
                  <a:rPr lang="en-US" dirty="0">
                    <a:solidFill>
                      <a:srgbClr val="000000"/>
                    </a:solidFill>
                    <a:latin typeface="inter"/>
                    <a:ea typeface="inter"/>
                    <a:cs typeface="inter"/>
                  </a:rPr>
                  <a:t> the error was about 18%.</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sz="1800" dirty="0">
                    <a:solidFill>
                      <a:srgbClr val="000000"/>
                    </a:solidFill>
                    <a:latin typeface="inter"/>
                    <a:ea typeface="inter"/>
                    <a:cs typeface="inter"/>
                  </a:rPr>
                  <a:t>This represents a substantial deviation, highlighting that for GHz-range oscillators, frequency-dependent losses must be carefully modeled to avoid underestimating tank losses and degrading oscillator performance predictions.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38200" y="3439786"/>
                <a:ext cx="10775949" cy="2809359"/>
              </a:xfrm>
              <a:blipFill>
                <a:blip r:embed="rId2"/>
                <a:stretch>
                  <a:fillRect l="-1358" t="-2820" r="-1302"/>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09676FB-0BEA-46A9-950D-346EF2CA21C7}"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1481000" y="1201350"/>
            <a:ext cx="9402348" cy="1905881"/>
          </a:xfrm>
          <a:prstGeom prst="rect">
            <a:avLst/>
          </a:prstGeom>
        </p:spPr>
      </p:pic>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37307528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p:cNvSpPr/>
          <p:nvPr/>
        </p:nvSpPr>
        <p:spPr>
          <a:xfrm>
            <a:off x="8564216" y="1107882"/>
            <a:ext cx="2998305" cy="1889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p:cNvSpPr/>
          <p:nvPr/>
        </p:nvSpPr>
        <p:spPr>
          <a:xfrm>
            <a:off x="4308943" y="1194021"/>
            <a:ext cx="2998305" cy="195469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p:cNvSpPr/>
          <p:nvPr/>
        </p:nvSpPr>
        <p:spPr>
          <a:xfrm>
            <a:off x="379675" y="1160891"/>
            <a:ext cx="2713382" cy="21389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19"/>
          <p:cNvSpPr/>
          <p:nvPr/>
        </p:nvSpPr>
        <p:spPr>
          <a:xfrm>
            <a:off x="8018990" y="3085304"/>
            <a:ext cx="4173010" cy="2320013"/>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9"/>
          <p:cNvSpPr/>
          <p:nvPr/>
        </p:nvSpPr>
        <p:spPr>
          <a:xfrm>
            <a:off x="3959133" y="3237683"/>
            <a:ext cx="3495040" cy="2005401"/>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1020" y="3374885"/>
            <a:ext cx="3495040" cy="1845781"/>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pPr algn="ctr"/>
            <a:r>
              <a:rPr lang="en-US" dirty="0" smtClean="0">
                <a:latin typeface="fkGrotesk"/>
              </a:rPr>
              <a:t>4. Visualizing </a:t>
            </a:r>
            <a:r>
              <a:rPr lang="en-US" dirty="0">
                <a:latin typeface="fkGrotesk"/>
              </a:rPr>
              <a:t>the </a:t>
            </a:r>
            <a:r>
              <a:rPr lang="en-US" dirty="0" err="1" smtClean="0">
                <a:latin typeface="fkGrotesk"/>
              </a:rPr>
              <a:t>Lossy</a:t>
            </a:r>
            <a:r>
              <a:rPr lang="en-US" dirty="0" smtClean="0">
                <a:latin typeface="fkGrotesk"/>
              </a:rPr>
              <a:t> </a:t>
            </a:r>
            <a:r>
              <a:rPr lang="en-US" dirty="0">
                <a:latin typeface="fkGrotesk"/>
              </a:rPr>
              <a:t>Parallel LC </a:t>
            </a:r>
            <a:r>
              <a:rPr lang="en-US" dirty="0" smtClean="0">
                <a:latin typeface="fkGrotesk"/>
              </a:rPr>
              <a:t>Tank</a:t>
            </a: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DC500A5-250A-44F0-98E2-F722ABB7D03E}"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l="2236" t="20198" r="66749" b="21500"/>
          <a:stretch/>
        </p:blipFill>
        <p:spPr>
          <a:xfrm>
            <a:off x="863382" y="1381411"/>
            <a:ext cx="1898677" cy="981116"/>
          </a:xfrm>
          <a:prstGeom prst="rect">
            <a:avLst/>
          </a:prstGeom>
        </p:spPr>
      </p:pic>
      <p:sp>
        <p:nvSpPr>
          <p:cNvPr id="9" name="Rectangle 8"/>
          <p:cNvSpPr/>
          <p:nvPr/>
        </p:nvSpPr>
        <p:spPr>
          <a:xfrm>
            <a:off x="133579" y="3831432"/>
            <a:ext cx="3327400" cy="1323439"/>
          </a:xfrm>
          <a:prstGeom prst="rect">
            <a:avLst/>
          </a:prstGeom>
        </p:spPr>
        <p:txBody>
          <a:bodyPr wrap="square">
            <a:spAutoFit/>
          </a:bodyPr>
          <a:lstStyle/>
          <a:p>
            <a:pPr lvl="0" algn="just"/>
            <a:r>
              <a:rPr lang="en-US" sz="1600" kern="0" dirty="0">
                <a:solidFill>
                  <a:prstClr val="black"/>
                </a:solidFill>
                <a:latin typeface="fkGroteskNeue"/>
              </a:rPr>
              <a:t>(a) Circuit: Shows realistic tank with </a:t>
            </a:r>
            <a:r>
              <a:rPr lang="en-US" sz="1600" i="1" kern="0" dirty="0">
                <a:solidFill>
                  <a:prstClr val="black"/>
                </a:solidFill>
                <a:latin typeface="KaTeX_Math"/>
              </a:rPr>
              <a:t>L</a:t>
            </a:r>
            <a:r>
              <a:rPr lang="en-US" sz="1600" kern="0" baseline="-25000" dirty="0">
                <a:solidFill>
                  <a:prstClr val="black"/>
                </a:solidFill>
                <a:latin typeface="KaTeX_Main"/>
              </a:rPr>
              <a:t>1</a:t>
            </a:r>
            <a:r>
              <a:rPr lang="en-US" sz="1600" kern="0" dirty="0">
                <a:solidFill>
                  <a:prstClr val="black"/>
                </a:solidFill>
                <a:latin typeface="fkGroteskNeue"/>
              </a:rPr>
              <a:t>, </a:t>
            </a:r>
            <a:r>
              <a:rPr lang="en-US" sz="1600" i="1" kern="0" dirty="0">
                <a:solidFill>
                  <a:prstClr val="black"/>
                </a:solidFill>
                <a:latin typeface="KaTeX_Math"/>
              </a:rPr>
              <a:t>C</a:t>
            </a:r>
            <a:r>
              <a:rPr lang="en-US" sz="1600" kern="0" baseline="-25000" dirty="0">
                <a:solidFill>
                  <a:prstClr val="black"/>
                </a:solidFill>
                <a:latin typeface="KaTeX_Main"/>
              </a:rPr>
              <a:t>1</a:t>
            </a:r>
            <a:r>
              <a:rPr lang="en-US" sz="1600" kern="0" dirty="0">
                <a:solidFill>
                  <a:prstClr val="black"/>
                </a:solidFill>
                <a:latin typeface="fkGroteskNeue"/>
              </a:rPr>
              <a:t>, and parallel equivalent loss resistance </a:t>
            </a:r>
            <a:r>
              <a:rPr lang="en-US" sz="1600" i="1" kern="0" dirty="0" err="1">
                <a:solidFill>
                  <a:prstClr val="black"/>
                </a:solidFill>
                <a:latin typeface="KaTeX_Math"/>
              </a:rPr>
              <a:t>R</a:t>
            </a:r>
            <a:r>
              <a:rPr lang="en-US" sz="1600" i="1" kern="0" baseline="-25000" dirty="0" err="1">
                <a:solidFill>
                  <a:prstClr val="black"/>
                </a:solidFill>
                <a:latin typeface="KaTeX_Math"/>
              </a:rPr>
              <a:t>p</a:t>
            </a:r>
            <a:r>
              <a:rPr lang="en-US" sz="1600" kern="0" dirty="0">
                <a:solidFill>
                  <a:prstClr val="black"/>
                </a:solidFill>
                <a:latin typeface="fkGroteskNeue"/>
              </a:rPr>
              <a:t> representing inductor series loss transformed into parallel form.</a:t>
            </a:r>
          </a:p>
        </p:txBody>
      </p:sp>
      <p:sp>
        <p:nvSpPr>
          <p:cNvPr id="10" name="Rectangle 9"/>
          <p:cNvSpPr/>
          <p:nvPr/>
        </p:nvSpPr>
        <p:spPr>
          <a:xfrm>
            <a:off x="4015136" y="3720817"/>
            <a:ext cx="3460750" cy="1569660"/>
          </a:xfrm>
          <a:prstGeom prst="rect">
            <a:avLst/>
          </a:prstGeom>
        </p:spPr>
        <p:txBody>
          <a:bodyPr wrap="square">
            <a:spAutoFit/>
          </a:bodyPr>
          <a:lstStyle/>
          <a:p>
            <a:pPr lvl="0" algn="just"/>
            <a:r>
              <a:rPr lang="en-US" sz="1600" kern="0" dirty="0">
                <a:solidFill>
                  <a:prstClr val="black"/>
                </a:solidFill>
                <a:latin typeface="fkGroteskNeue"/>
              </a:rPr>
              <a:t>(b) Magnitude plot: Impedance magnitude peaks sharply at resonance with finite </a:t>
            </a:r>
            <a:r>
              <a:rPr lang="en-US" sz="1600" i="1" kern="0" dirty="0" err="1">
                <a:solidFill>
                  <a:prstClr val="black"/>
                </a:solidFill>
                <a:latin typeface="KaTeX_Math"/>
              </a:rPr>
              <a:t>R</a:t>
            </a:r>
            <a:r>
              <a:rPr lang="en-US" sz="1600" i="1" kern="0" baseline="-25000" dirty="0" err="1">
                <a:solidFill>
                  <a:prstClr val="black"/>
                </a:solidFill>
                <a:latin typeface="KaTeX_Math"/>
              </a:rPr>
              <a:t>p</a:t>
            </a:r>
            <a:r>
              <a:rPr lang="en-US" sz="1600" kern="0" dirty="0">
                <a:solidFill>
                  <a:prstClr val="black"/>
                </a:solidFill>
                <a:latin typeface="fkGroteskNeue"/>
              </a:rPr>
              <a:t>. The peak height relates to tank quality; a finite </a:t>
            </a:r>
            <a:r>
              <a:rPr lang="en-US" sz="1600" i="1" kern="0" dirty="0" err="1">
                <a:solidFill>
                  <a:prstClr val="black"/>
                </a:solidFill>
                <a:latin typeface="KaTeX_Math"/>
              </a:rPr>
              <a:t>R</a:t>
            </a:r>
            <a:r>
              <a:rPr lang="en-US" sz="1600" i="1" kern="0" baseline="-25000" dirty="0" err="1">
                <a:solidFill>
                  <a:prstClr val="black"/>
                </a:solidFill>
                <a:latin typeface="KaTeX_Math"/>
              </a:rPr>
              <a:t>p</a:t>
            </a:r>
            <a:r>
              <a:rPr lang="en-US" sz="1600" kern="0" dirty="0">
                <a:solidFill>
                  <a:prstClr val="black"/>
                </a:solidFill>
                <a:latin typeface="fkGroteskNeue"/>
              </a:rPr>
              <a:t> lowers and broadens the peak compared to ideal tank.</a:t>
            </a:r>
          </a:p>
        </p:txBody>
      </p:sp>
      <p:sp>
        <p:nvSpPr>
          <p:cNvPr id="11" name="Rectangle 10"/>
          <p:cNvSpPr/>
          <p:nvPr/>
        </p:nvSpPr>
        <p:spPr>
          <a:xfrm>
            <a:off x="7988300" y="3690600"/>
            <a:ext cx="4203700" cy="1815882"/>
          </a:xfrm>
          <a:prstGeom prst="rect">
            <a:avLst/>
          </a:prstGeom>
        </p:spPr>
        <p:txBody>
          <a:bodyPr wrap="square">
            <a:spAutoFit/>
          </a:bodyPr>
          <a:lstStyle/>
          <a:p>
            <a:pPr lvl="0" algn="just"/>
            <a:r>
              <a:rPr lang="en-US" sz="1600" kern="0" dirty="0">
                <a:solidFill>
                  <a:prstClr val="black"/>
                </a:solidFill>
                <a:latin typeface="fkGroteskNeue"/>
              </a:rPr>
              <a:t>(c) Phase plot: Exhibits phase angle moving from +90° (inductive dominance at low frequency) through 0° at resonance to –90° (capacitive dominance at high frequency). The sharpness of the phase transition reflects the losses; lower losses create sharper phase transitions.</a:t>
            </a:r>
          </a:p>
        </p:txBody>
      </p:sp>
      <p:pic>
        <p:nvPicPr>
          <p:cNvPr id="14" name="Picture 13"/>
          <p:cNvPicPr>
            <a:picLocks noChangeAspect="1"/>
          </p:cNvPicPr>
          <p:nvPr/>
        </p:nvPicPr>
        <p:blipFill rotWithShape="1">
          <a:blip r:embed="rId3">
            <a:duotone>
              <a:prstClr val="black"/>
              <a:schemeClr val="bg1">
                <a:lumMod val="65000"/>
                <a:tint val="45000"/>
                <a:satMod val="400000"/>
              </a:schemeClr>
            </a:duotone>
          </a:blip>
          <a:srcRect l="36154" r="35988" b="15676"/>
          <a:stretch/>
        </p:blipFill>
        <p:spPr>
          <a:xfrm>
            <a:off x="4812593" y="1290347"/>
            <a:ext cx="1706880" cy="1346893"/>
          </a:xfrm>
          <a:prstGeom prst="rect">
            <a:avLst/>
          </a:prstGeom>
        </p:spPr>
      </p:pic>
      <p:pic>
        <p:nvPicPr>
          <p:cNvPr id="15" name="Picture 14"/>
          <p:cNvPicPr>
            <a:picLocks noChangeAspect="1"/>
          </p:cNvPicPr>
          <p:nvPr/>
        </p:nvPicPr>
        <p:blipFill rotWithShape="1">
          <a:blip r:embed="rId3">
            <a:duotone>
              <a:prstClr val="black"/>
              <a:schemeClr val="bg1">
                <a:lumMod val="65000"/>
                <a:tint val="45000"/>
                <a:satMod val="400000"/>
              </a:schemeClr>
            </a:duotone>
          </a:blip>
          <a:srcRect l="65919" t="11005" r="1580" b="20200"/>
          <a:stretch/>
        </p:blipFill>
        <p:spPr>
          <a:xfrm>
            <a:off x="9164865" y="1244054"/>
            <a:ext cx="1991359" cy="1098850"/>
          </a:xfrm>
          <a:prstGeom prst="rect">
            <a:avLst/>
          </a:prstGeom>
        </p:spPr>
      </p:pic>
      <p:sp>
        <p:nvSpPr>
          <p:cNvPr id="16" name="Rectangle 15"/>
          <p:cNvSpPr/>
          <p:nvPr/>
        </p:nvSpPr>
        <p:spPr>
          <a:xfrm>
            <a:off x="477904" y="2707708"/>
            <a:ext cx="2583912" cy="369332"/>
          </a:xfrm>
          <a:prstGeom prst="rect">
            <a:avLst/>
          </a:prstGeom>
        </p:spPr>
        <p:txBody>
          <a:bodyPr wrap="none">
            <a:spAutoFit/>
          </a:bodyPr>
          <a:lstStyle/>
          <a:p>
            <a:r>
              <a:rPr lang="en-US" b="1" dirty="0"/>
              <a:t>(a) Parallel </a:t>
            </a:r>
            <a:r>
              <a:rPr lang="en-US" b="1" dirty="0" err="1"/>
              <a:t>lossy</a:t>
            </a:r>
            <a:r>
              <a:rPr lang="en-US" b="1" dirty="0"/>
              <a:t> LC tank, </a:t>
            </a:r>
          </a:p>
        </p:txBody>
      </p:sp>
      <p:sp>
        <p:nvSpPr>
          <p:cNvPr id="18" name="Rectangle 17"/>
          <p:cNvSpPr/>
          <p:nvPr/>
        </p:nvSpPr>
        <p:spPr>
          <a:xfrm>
            <a:off x="4334101" y="2692010"/>
            <a:ext cx="3007555" cy="369332"/>
          </a:xfrm>
          <a:prstGeom prst="rect">
            <a:avLst/>
          </a:prstGeom>
        </p:spPr>
        <p:txBody>
          <a:bodyPr wrap="none">
            <a:spAutoFit/>
          </a:bodyPr>
          <a:lstStyle/>
          <a:p>
            <a:r>
              <a:rPr lang="en-US" b="1" dirty="0">
                <a:latin typeface="+mj-lt"/>
              </a:rPr>
              <a:t>(b) magnitude of impedance, </a:t>
            </a:r>
          </a:p>
        </p:txBody>
      </p:sp>
      <p:sp>
        <p:nvSpPr>
          <p:cNvPr id="19" name="Rectangle 18"/>
          <p:cNvSpPr/>
          <p:nvPr/>
        </p:nvSpPr>
        <p:spPr>
          <a:xfrm>
            <a:off x="8963432" y="2653888"/>
            <a:ext cx="2464136" cy="369332"/>
          </a:xfrm>
          <a:prstGeom prst="rect">
            <a:avLst/>
          </a:prstGeom>
        </p:spPr>
        <p:txBody>
          <a:bodyPr wrap="none">
            <a:spAutoFit/>
          </a:bodyPr>
          <a:lstStyle/>
          <a:p>
            <a:pPr lvl="0"/>
            <a:r>
              <a:rPr lang="en-US" b="1" dirty="0">
                <a:latin typeface="+mj-lt"/>
              </a:rPr>
              <a:t>(c) phase of </a:t>
            </a:r>
            <a:r>
              <a:rPr lang="en-US" b="1" dirty="0" smtClean="0">
                <a:latin typeface="+mj-lt"/>
              </a:rPr>
              <a:t>impedance.</a:t>
            </a:r>
            <a:endParaRPr lang="en-US" sz="4800" b="1" dirty="0">
              <a:latin typeface="+mj-lt"/>
            </a:endParaRPr>
          </a:p>
        </p:txBody>
      </p:sp>
      <p:sp>
        <p:nvSpPr>
          <p:cNvPr id="23"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92645295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75252" y="1252330"/>
            <a:ext cx="10833651" cy="298173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latin typeface="fkGrotesk"/>
              </a:rPr>
              <a:t>Summary</a:t>
            </a:r>
            <a:endParaRPr lang="en-US" dirty="0"/>
          </a:p>
        </p:txBody>
      </p:sp>
      <p:sp>
        <p:nvSpPr>
          <p:cNvPr id="3" name="Text Placeholder 2"/>
          <p:cNvSpPr>
            <a:spLocks noGrp="1"/>
          </p:cNvSpPr>
          <p:nvPr>
            <p:ph type="body" idx="1"/>
          </p:nvPr>
        </p:nvSpPr>
        <p:spPr>
          <a:xfrm>
            <a:off x="844550" y="1327353"/>
            <a:ext cx="10433050" cy="4308872"/>
          </a:xfrm>
        </p:spPr>
        <p:txBody>
          <a:bodyPr/>
          <a:lstStyle/>
          <a:p>
            <a:pPr marL="342900" indent="-342900" algn="just">
              <a:lnSpc>
                <a:spcPct val="150000"/>
              </a:lnSpc>
              <a:buFont typeface="Wingdings" panose="05000000000000000000" pitchFamily="2" charset="2"/>
              <a:buChar char="q"/>
            </a:pPr>
            <a:r>
              <a:rPr lang="en-US" dirty="0" smtClean="0">
                <a:latin typeface="fkGroteskNeue"/>
              </a:rPr>
              <a:t>Approximate </a:t>
            </a:r>
            <a:r>
              <a:rPr lang="en-US" dirty="0">
                <a:latin typeface="fkGroteskNeue"/>
              </a:rPr>
              <a:t>tank loss models are useful but can significantly err at low frequencies or where </a:t>
            </a:r>
            <a:r>
              <a:rPr lang="en-US" i="1" dirty="0" smtClean="0">
                <a:latin typeface="KaTeX_Math"/>
              </a:rPr>
              <a:t>R</a:t>
            </a:r>
            <a:r>
              <a:rPr lang="en-US" i="1" baseline="-25000" dirty="0" smtClean="0">
                <a:latin typeface="KaTeX_Math"/>
              </a:rPr>
              <a:t>S</a:t>
            </a:r>
            <a:r>
              <a:rPr lang="en-US" dirty="0">
                <a:latin typeface="fkGroteskNeue"/>
              </a:rPr>
              <a:t> and </a:t>
            </a:r>
            <a:r>
              <a:rPr lang="en-US" i="1" dirty="0" smtClean="0">
                <a:latin typeface="KaTeX_Math"/>
              </a:rPr>
              <a:t>ω</a:t>
            </a:r>
            <a:r>
              <a:rPr lang="en-US" dirty="0">
                <a:latin typeface="fkGroteskNeue"/>
              </a:rPr>
              <a:t> interplay.</a:t>
            </a:r>
          </a:p>
          <a:p>
            <a:pPr marL="342900" indent="-342900" algn="just">
              <a:lnSpc>
                <a:spcPct val="150000"/>
              </a:lnSpc>
              <a:buFont typeface="Wingdings" panose="05000000000000000000" pitchFamily="2" charset="2"/>
              <a:buChar char="q"/>
            </a:pPr>
            <a:r>
              <a:rPr lang="en-US" dirty="0">
                <a:latin typeface="fkGroteskNeue"/>
              </a:rPr>
              <a:t>Exact frequency-dependent expressions for </a:t>
            </a:r>
            <a:r>
              <a:rPr lang="en-US" i="1" dirty="0" err="1" smtClean="0">
                <a:latin typeface="KaTeX_Math"/>
              </a:rPr>
              <a:t>R</a:t>
            </a:r>
            <a:r>
              <a:rPr lang="en-US" i="1" baseline="-25000" dirty="0" err="1" smtClean="0">
                <a:latin typeface="KaTeX_Math"/>
              </a:rPr>
              <a:t>p</a:t>
            </a:r>
            <a:r>
              <a:rPr lang="en-US" dirty="0">
                <a:latin typeface="fkGroteskNeue"/>
              </a:rPr>
              <a:t> improve oscillator loss and Q-factor predictions, crucial at GHz frequencies.</a:t>
            </a:r>
          </a:p>
          <a:p>
            <a:pPr marL="342900" indent="-342900" algn="just">
              <a:lnSpc>
                <a:spcPct val="150000"/>
              </a:lnSpc>
              <a:buFont typeface="Wingdings" panose="05000000000000000000" pitchFamily="2" charset="2"/>
              <a:buChar char="q"/>
            </a:pPr>
            <a:r>
              <a:rPr lang="en-US" dirty="0">
                <a:latin typeface="fkGroteskNeue"/>
              </a:rPr>
              <a:t>Graphical </a:t>
            </a:r>
            <a:r>
              <a:rPr lang="en-US" dirty="0" smtClean="0">
                <a:latin typeface="fkGroteskNeue"/>
              </a:rPr>
              <a:t>plots </a:t>
            </a:r>
            <a:r>
              <a:rPr lang="en-US" dirty="0">
                <a:latin typeface="fkGroteskNeue"/>
              </a:rPr>
              <a:t>clearly illustrate how losses affect impedance magnitude and phase, facilitating an intuitive understanding</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algn="just"/>
            <a:r>
              <a:rPr lang="en-US" b="1" dirty="0">
                <a:solidFill>
                  <a:srgbClr val="C00000"/>
                </a:solidFill>
                <a:latin typeface="fkGroteskNeue"/>
              </a:rPr>
              <a:t>Conceptual takeaway:</a:t>
            </a:r>
            <a:r>
              <a:rPr lang="en-US" dirty="0">
                <a:latin typeface="fkGroteskNeue"/>
              </a:rPr>
              <a:t> Frequency-dependent losses affect oscillator purity, jitter, and sustainable oscillation amplitude — crucial for high-performance PLL design. Modeling these precisely enables better design trade-offs</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D840A490-7ADF-4590-8C6C-D2A5815AF08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70653390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67909" y="3723199"/>
            <a:ext cx="10525539" cy="286048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369332"/>
          </a:xfrm>
        </p:spPr>
        <p:txBody>
          <a:bodyPr/>
          <a:lstStyle/>
          <a:p>
            <a:r>
              <a:rPr lang="en-US" sz="2400" b="1" dirty="0">
                <a:solidFill>
                  <a:srgbClr val="000000"/>
                </a:solidFill>
                <a:latin typeface="inter"/>
                <a:ea typeface="inter"/>
                <a:cs typeface="inter"/>
              </a:rPr>
              <a:t>Frequency-Dependent </a:t>
            </a:r>
            <a:r>
              <a:rPr lang="en-US" sz="2400" b="1" dirty="0" smtClean="0">
                <a:solidFill>
                  <a:srgbClr val="000000"/>
                </a:solidFill>
                <a:latin typeface="inter"/>
                <a:ea typeface="inter"/>
                <a:cs typeface="inter"/>
              </a:rPr>
              <a:t>𝑅𝑝 </a:t>
            </a:r>
            <a:r>
              <a:rPr lang="en-US" sz="2400" b="1" dirty="0">
                <a:solidFill>
                  <a:srgbClr val="000000"/>
                </a:solidFill>
                <a:latin typeface="inter"/>
                <a:ea typeface="inter"/>
                <a:cs typeface="inter"/>
              </a:rPr>
              <a:t>of a </a:t>
            </a:r>
            <a:r>
              <a:rPr lang="en-US" sz="2400" b="1" dirty="0" err="1">
                <a:solidFill>
                  <a:srgbClr val="000000"/>
                </a:solidFill>
                <a:latin typeface="inter"/>
                <a:ea typeface="inter"/>
                <a:cs typeface="inter"/>
              </a:rPr>
              <a:t>Lossy</a:t>
            </a:r>
            <a:r>
              <a:rPr lang="en-US" sz="2400" b="1" dirty="0">
                <a:solidFill>
                  <a:srgbClr val="000000"/>
                </a:solidFill>
                <a:latin typeface="inter"/>
                <a:ea typeface="inter"/>
                <a:cs typeface="inter"/>
              </a:rPr>
              <a:t> Inductor Tank</a:t>
            </a: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775950" cy="5357300"/>
              </a:xfrm>
            </p:spPr>
            <p:txBody>
              <a:bodyPr/>
              <a:lstStyle/>
              <a:p>
                <a:pPr>
                  <a:spcBef>
                    <a:spcPts val="1575"/>
                  </a:spcBef>
                  <a:spcAft>
                    <a:spcPts val="525"/>
                  </a:spcAft>
                </a:pPr>
                <a:r>
                  <a:rPr lang="en-US" b="1" dirty="0">
                    <a:solidFill>
                      <a:srgbClr val="000000"/>
                    </a:solidFill>
                    <a:latin typeface="inter"/>
                    <a:ea typeface="inter"/>
                    <a:cs typeface="inter"/>
                  </a:rPr>
                  <a:t>Example Calculation: Frequency-Dependent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b="1" dirty="0">
                    <a:solidFill>
                      <a:srgbClr val="000000"/>
                    </a:solidFill>
                    <a:effectLst/>
                    <a:latin typeface="inter"/>
                    <a:ea typeface="inter"/>
                    <a:cs typeface="inter"/>
                  </a:rPr>
                  <a:t> of a </a:t>
                </a:r>
                <a:r>
                  <a:rPr lang="en-US" b="1" dirty="0" err="1">
                    <a:solidFill>
                      <a:srgbClr val="000000"/>
                    </a:solidFill>
                    <a:effectLst/>
                    <a:latin typeface="inter"/>
                    <a:ea typeface="inter"/>
                    <a:cs typeface="inter"/>
                  </a:rPr>
                  <a:t>Lossy</a:t>
                </a:r>
                <a:r>
                  <a:rPr lang="en-US" b="1" dirty="0">
                    <a:solidFill>
                      <a:srgbClr val="000000"/>
                    </a:solidFill>
                    <a:effectLst/>
                    <a:latin typeface="inter"/>
                    <a:ea typeface="inter"/>
                    <a:cs typeface="inter"/>
                  </a:rPr>
                  <a:t> Inductor Tank</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000000"/>
                    </a:solidFill>
                    <a:latin typeface="inter"/>
                    <a:ea typeface="inter"/>
                    <a:cs typeface="inter"/>
                  </a:rPr>
                  <a:t>Given: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nH</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=20 </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Resonance is near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GHz</m:t>
                    </m:r>
                  </m:oMath>
                </a14:m>
                <a:r>
                  <a:rPr lang="en-US" sz="1600" dirty="0">
                    <a:solidFill>
                      <a:srgbClr val="000000"/>
                    </a:solidFill>
                    <a:latin typeface="inter"/>
                    <a:ea typeface="inter"/>
                    <a:cs typeface="inter"/>
                  </a:rPr>
                  <a:t> (angular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9</m:t>
                        </m:r>
                      </m:sup>
                    </m:sSup>
                  </m:oMath>
                </a14:m>
                <a:r>
                  <a:rPr lang="en-US" sz="1600" dirty="0" smtClean="0">
                    <a:solidFill>
                      <a:srgbClr val="000000"/>
                    </a:solidFill>
                    <a:latin typeface="inter"/>
                    <a:ea typeface="inter"/>
                    <a:cs typeface="inter"/>
                  </a:rPr>
                  <a:t>)</a:t>
                </a:r>
              </a:p>
              <a:p>
                <a:pPr algn="ctr">
                  <a:spcBef>
                    <a:spcPts val="1575"/>
                  </a:spcBef>
                  <a:spcAft>
                    <a:spcPts val="525"/>
                  </a:spcAft>
                </a:pPr>
                <a:r>
                  <a:rPr lang="en-US" sz="1600" b="1" dirty="0" smtClean="0">
                    <a:solidFill>
                      <a:srgbClr val="C00000"/>
                    </a:solidFill>
                    <a:latin typeface="inter"/>
                    <a:ea typeface="inter"/>
                    <a:cs typeface="inter"/>
                  </a:rPr>
                  <a:t>Step 1: Calculate </a:t>
                </a:r>
                <a14:m>
                  <m:oMath xmlns:m="http://schemas.openxmlformats.org/officeDocument/2006/math">
                    <m:sSub>
                      <m:sSubPr>
                        <m:ctrlPr>
                          <a:rPr lang="en-US" sz="1600"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dirty="0">
                    <a:solidFill>
                      <a:srgbClr val="C00000"/>
                    </a:solidFill>
                    <a:latin typeface="inter"/>
                    <a:ea typeface="inter"/>
                    <a:cs typeface="inter"/>
                  </a:rPr>
                  <a:t> using the approximate low-frequency </a:t>
                </a:r>
                <a:r>
                  <a:rPr lang="en-US" sz="1600" b="1" dirty="0" smtClean="0">
                    <a:solidFill>
                      <a:srgbClr val="C00000"/>
                    </a:solidFill>
                    <a:latin typeface="inter"/>
                    <a:ea typeface="inter"/>
                    <a:cs typeface="inter"/>
                  </a:rPr>
                  <a:t>formula</a:t>
                </a:r>
              </a:p>
              <a:p>
                <a:pPr algn="ctr">
                  <a:spcBef>
                    <a:spcPts val="1575"/>
                  </a:spcBef>
                  <a:spcAft>
                    <a:spcPts val="525"/>
                  </a:spcAft>
                </a:pPr>
                <a:endParaRPr lang="en-US" sz="12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Calculate: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14:m>
                  <m:oMath xmlns:m="http://schemas.openxmlformats.org/officeDocument/2006/math">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m:t>
                        </m:r>
                      </m:sup>
                    </m:sSup>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m:t>
                    </m:r>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m:t>
                        </m:r>
                      </m:sup>
                    </m:sSup>
                  </m:oMath>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14:m>
                  <m:oMath xmlns:m="http://schemas.openxmlformats.org/officeDocument/2006/math">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m:t>
                        </m:r>
                      </m:sup>
                    </m:sSup>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≈(3.14×</m:t>
                    </m:r>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sup>
                    </m:sSup>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=9.87×</m:t>
                    </m:r>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sup>
                    </m:sSup>
                  </m:oMath>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So,</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m:t>
                          </m:r>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m:t>
                              </m:r>
                            </m:sup>
                          </m:s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×9.87×</m:t>
                          </m:r>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sup>
                          </m:sSup>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den>
                      </m:f>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2467.5</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den>
                      </m:f>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775950" cy="5357300"/>
              </a:xfrm>
              <a:blipFill>
                <a:blip r:embed="rId2"/>
                <a:stretch>
                  <a:fillRect l="-1471" t="-1479"/>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DEC2080-7675-47B8-B471-5D950D5AA5D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046095722"/>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55375" y="3995531"/>
            <a:ext cx="10257182" cy="20474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755373" y="1649897"/>
            <a:ext cx="9660835" cy="178904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528300" cy="4665251"/>
              </a:xfrm>
            </p:spPr>
            <p:txBody>
              <a:bodyPr/>
              <a:lstStyle/>
              <a:p>
                <a:pPr>
                  <a:spcBef>
                    <a:spcPts val="1575"/>
                  </a:spcBef>
                  <a:spcAft>
                    <a:spcPts val="525"/>
                  </a:spcAft>
                </a:pPr>
                <a:r>
                  <a:rPr lang="en-US" sz="1800" b="1" dirty="0" smtClean="0">
                    <a:solidFill>
                      <a:srgbClr val="C00000"/>
                    </a:solidFill>
                    <a:latin typeface="inter"/>
                    <a:ea typeface="inter"/>
                    <a:cs typeface="inter"/>
                  </a:rPr>
                  <a:t>Step 2: Calculate exact </a:t>
                </a:r>
                <a14:m>
                  <m:oMath xmlns:m="http://schemas.openxmlformats.org/officeDocument/2006/math">
                    <m:sSub>
                      <m:sSubPr>
                        <m:ctrlPr>
                          <a:rPr lang="en-US" sz="1800"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b="1" dirty="0">
                    <a:solidFill>
                      <a:srgbClr val="C00000"/>
                    </a:solidFill>
                    <a:latin typeface="inter"/>
                    <a:ea typeface="inter"/>
                    <a:cs typeface="inter"/>
                  </a:rPr>
                  <a:t> accounting frequency </a:t>
                </a:r>
                <a:r>
                  <a:rPr lang="en-US" sz="1800" b="1" dirty="0" smtClean="0">
                    <a:solidFill>
                      <a:srgbClr val="C00000"/>
                    </a:solidFill>
                    <a:latin typeface="inter"/>
                    <a:ea typeface="inter"/>
                    <a:cs typeface="inter"/>
                  </a:rPr>
                  <a:t>dependence:</a:t>
                </a:r>
                <a:endParaRPr lang="en-US" sz="14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Here,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=20+123.375=143.375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sz="1800" b="1" dirty="0">
                    <a:solidFill>
                      <a:srgbClr val="C00000"/>
                    </a:solidFill>
                    <a:latin typeface="inter"/>
                    <a:ea typeface="inter"/>
                    <a:cs typeface="inter"/>
                  </a:rPr>
                  <a:t>Step 3: Evaluate approximation error</a:t>
                </a:r>
                <a:endParaRPr lang="en-US" sz="14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Using approximate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a14:m>
                <a:r>
                  <a:rPr lang="en-US" sz="1600" dirty="0">
                    <a:solidFill>
                      <a:srgbClr val="000000"/>
                    </a:solidFill>
                    <a:effectLst/>
                    <a:latin typeface="inter"/>
                    <a:ea typeface="inter"/>
                    <a:cs typeface="inter"/>
                  </a:rPr>
                  <a:t>, the error relative to exact is: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|143.375</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143.375</m:t>
                          </m:r>
                        </m:den>
                      </m:f>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×100%≈14%</m:t>
                      </m:r>
                    </m:oMath>
                  </m:oMathPara>
                </a14:m>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This illustrates that ignoring the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effectLst/>
                    <a:latin typeface="inter"/>
                    <a:ea typeface="inter"/>
                    <a:cs typeface="inter"/>
                  </a:rPr>
                  <a:t> term induces </a:t>
                </a:r>
                <a:r>
                  <a:rPr lang="en-US" sz="1600" dirty="0" smtClean="0">
                    <a:solidFill>
                      <a:srgbClr val="000000"/>
                    </a:solidFill>
                    <a:effectLst/>
                    <a:latin typeface="inter"/>
                    <a:ea typeface="inter"/>
                    <a:cs typeface="inter"/>
                  </a:rPr>
                  <a:t>a sizeable underestimate in parallel loss resistance, which can mislead the designer about achievable tank Q-factor and oscillator performance at high frequency.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28300" cy="4665251"/>
              </a:xfrm>
              <a:blipFill>
                <a:blip r:embed="rId2"/>
                <a:stretch>
                  <a:fillRect l="-1390" t="-1699" b="-1699"/>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5D0DD9B-E71A-40A7-A5AF-09106AD8A55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054212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581816" y="2878372"/>
            <a:ext cx="1725433" cy="128811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p:cNvSpPr/>
          <p:nvPr/>
        </p:nvSpPr>
        <p:spPr>
          <a:xfrm>
            <a:off x="6337190" y="1606163"/>
            <a:ext cx="2019630" cy="119269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p:cNvSpPr/>
          <p:nvPr/>
        </p:nvSpPr>
        <p:spPr>
          <a:xfrm>
            <a:off x="3736449" y="1765190"/>
            <a:ext cx="1845367" cy="123245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9"/>
          <p:cNvSpPr/>
          <p:nvPr/>
        </p:nvSpPr>
        <p:spPr>
          <a:xfrm>
            <a:off x="4108913" y="4214874"/>
            <a:ext cx="4469963" cy="1875894"/>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9"/>
          <p:cNvSpPr/>
          <p:nvPr/>
        </p:nvSpPr>
        <p:spPr>
          <a:xfrm rot="16200000" flipH="1">
            <a:off x="9009914" y="439540"/>
            <a:ext cx="2546978" cy="3723008"/>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9"/>
          <p:cNvSpPr/>
          <p:nvPr/>
        </p:nvSpPr>
        <p:spPr>
          <a:xfrm rot="5400000">
            <a:off x="732159" y="716461"/>
            <a:ext cx="2546978" cy="3382394"/>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Visual Aid </a:t>
            </a:r>
            <a:r>
              <a:rPr lang="en-US" dirty="0" smtClean="0">
                <a:latin typeface="fkGrotesk"/>
              </a:rPr>
              <a:t>Explanation</a:t>
            </a: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785C447-DE83-456B-AA28-C30ABC8EA9FF}"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9" name="Rectangle 8"/>
              <p:cNvSpPr/>
              <p:nvPr/>
            </p:nvSpPr>
            <p:spPr>
              <a:xfrm>
                <a:off x="286094" y="1219727"/>
                <a:ext cx="2783840" cy="2164054"/>
              </a:xfrm>
              <a:prstGeom prst="rect">
                <a:avLst/>
              </a:prstGeom>
            </p:spPr>
            <p:txBody>
              <a:bodyPr wrap="square">
                <a:spAutoFit/>
              </a:bodyPr>
              <a:lstStyle/>
              <a:p>
                <a:pPr marL="342900" lvl="0" indent="-342900">
                  <a:buAutoNum type="alphaLcParenBoth"/>
                </a:pPr>
                <a:r>
                  <a:rPr lang="en-US" b="1" kern="0" dirty="0" smtClean="0">
                    <a:solidFill>
                      <a:srgbClr val="C00000"/>
                    </a:solidFill>
                    <a:latin typeface="inter"/>
                    <a:ea typeface="inter"/>
                    <a:cs typeface="inter"/>
                  </a:rPr>
                  <a:t>Parallel </a:t>
                </a:r>
                <a:r>
                  <a:rPr lang="en-US" b="1" kern="0" dirty="0" err="1">
                    <a:solidFill>
                      <a:srgbClr val="C00000"/>
                    </a:solidFill>
                    <a:latin typeface="inter"/>
                    <a:ea typeface="inter"/>
                    <a:cs typeface="inter"/>
                  </a:rPr>
                  <a:t>lossy</a:t>
                </a:r>
                <a:r>
                  <a:rPr lang="en-US" b="1" kern="0" dirty="0">
                    <a:solidFill>
                      <a:srgbClr val="C00000"/>
                    </a:solidFill>
                    <a:latin typeface="inter"/>
                    <a:ea typeface="inter"/>
                    <a:cs typeface="inter"/>
                  </a:rPr>
                  <a:t> LC tank with </a:t>
                </a:r>
                <a14:m>
                  <m:oMath xmlns:m="http://schemas.openxmlformats.org/officeDocument/2006/math">
                    <m:sSub>
                      <m:sSubPr>
                        <m:ctrlP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sz="1600" kern="0" dirty="0" smtClean="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AutoNum type="alphaLcParenBoth"/>
                </a:pP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algn="just">
                  <a:tabLst>
                    <a:tab pos="571500" algn="l"/>
                  </a:tabLst>
                </a:pPr>
                <a:r>
                  <a:rPr lang="en-US" sz="1600" kern="0" dirty="0">
                    <a:solidFill>
                      <a:srgbClr val="000000"/>
                    </a:solidFill>
                    <a:latin typeface="inter"/>
                    <a:ea typeface="inter"/>
                    <a:cs typeface="inter"/>
                  </a:rPr>
                  <a:t>Realistic tank model replaces purely inductive losses with the parallel resistor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kern="0" dirty="0">
                    <a:solidFill>
                      <a:srgbClr val="000000"/>
                    </a:solidFill>
                    <a:latin typeface="inter"/>
                    <a:ea typeface="inter"/>
                    <a:cs typeface="inter"/>
                  </a:rPr>
                  <a:t>, easing AC circuit analysis</a:t>
                </a:r>
                <a:r>
                  <a:rPr lang="en-US" sz="1400" kern="0" dirty="0">
                    <a:solidFill>
                      <a:srgbClr val="000000"/>
                    </a:solidFill>
                    <a:latin typeface="inter"/>
                    <a:ea typeface="inter"/>
                    <a:cs typeface="inter"/>
                  </a:rPr>
                  <a:t>.</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286094" y="1219727"/>
                <a:ext cx="2783840" cy="2164054"/>
              </a:xfrm>
              <a:prstGeom prst="rect">
                <a:avLst/>
              </a:prstGeom>
              <a:blipFill>
                <a:blip r:embed="rId2"/>
                <a:stretch>
                  <a:fillRect l="-1532" t="-1408" r="-1094"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071085" y="4656012"/>
                <a:ext cx="4519565" cy="1479764"/>
              </a:xfrm>
              <a:prstGeom prst="rect">
                <a:avLst/>
              </a:prstGeom>
            </p:spPr>
            <p:txBody>
              <a:bodyPr wrap="square">
                <a:spAutoFit/>
              </a:bodyPr>
              <a:lstStyle/>
              <a:p>
                <a:pPr lvl="0" algn="ctr"/>
                <a:r>
                  <a:rPr lang="en-US" b="1" kern="0" dirty="0">
                    <a:solidFill>
                      <a:srgbClr val="C00000"/>
                    </a:solidFill>
                    <a:latin typeface="inter"/>
                    <a:ea typeface="inter"/>
                    <a:cs typeface="inter"/>
                  </a:rPr>
                  <a:t>(b) Impedance magnitude vs. </a:t>
                </a:r>
                <a:r>
                  <a:rPr lang="en-US" b="1" kern="0" dirty="0" smtClean="0">
                    <a:solidFill>
                      <a:srgbClr val="C00000"/>
                    </a:solidFill>
                    <a:latin typeface="inter"/>
                    <a:ea typeface="inter"/>
                    <a:cs typeface="inter"/>
                  </a:rPr>
                  <a:t>frequency</a:t>
                </a:r>
              </a:p>
              <a:p>
                <a:pPr lvl="0" algn="ct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Peak impedance at resonance relates directly to </a:t>
                </a:r>
                <a14:m>
                  <m:oMath xmlns:m="http://schemas.openxmlformats.org/officeDocument/2006/math">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kern="0" dirty="0">
                    <a:solidFill>
                      <a:srgbClr val="000000"/>
                    </a:solidFill>
                    <a:latin typeface="inter"/>
                    <a:ea typeface="inter"/>
                    <a:cs typeface="inter"/>
                  </a:rPr>
                  <a:t> (loss).</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34290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Larger </a:t>
                </a:r>
                <a14:m>
                  <m:oMath xmlns:m="http://schemas.openxmlformats.org/officeDocument/2006/math">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kern="0" dirty="0">
                    <a:solidFill>
                      <a:srgbClr val="000000"/>
                    </a:solidFill>
                    <a:latin typeface="inter"/>
                    <a:ea typeface="inter"/>
                    <a:cs typeface="inter"/>
                  </a:rPr>
                  <a:t> → higher peaks &amp; sharper resonance → better oscillator phase noise and stability.</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4071085" y="4656012"/>
                <a:ext cx="4519565" cy="1479764"/>
              </a:xfrm>
              <a:prstGeom prst="rect">
                <a:avLst/>
              </a:prstGeom>
              <a:blipFill>
                <a:blip r:embed="rId3"/>
                <a:stretch>
                  <a:fillRect l="-945" t="-2469" r="-1080" b="-3292"/>
                </a:stretch>
              </a:blipFill>
            </p:spPr>
            <p:txBody>
              <a:bodyPr/>
              <a:lstStyle/>
              <a:p>
                <a:r>
                  <a:rPr lang="en-US">
                    <a:noFill/>
                  </a:rPr>
                  <a:t> </a:t>
                </a:r>
              </a:p>
            </p:txBody>
          </p:sp>
        </mc:Fallback>
      </mc:AlternateContent>
      <p:sp>
        <p:nvSpPr>
          <p:cNvPr id="11" name="Rectangle 10"/>
          <p:cNvSpPr/>
          <p:nvPr/>
        </p:nvSpPr>
        <p:spPr>
          <a:xfrm>
            <a:off x="9096907" y="1243288"/>
            <a:ext cx="3048000" cy="2308324"/>
          </a:xfrm>
          <a:prstGeom prst="rect">
            <a:avLst/>
          </a:prstGeom>
        </p:spPr>
        <p:txBody>
          <a:bodyPr wrap="square">
            <a:spAutoFit/>
          </a:bodyPr>
          <a:lstStyle/>
          <a:p>
            <a:pPr lvl="0" algn="ctr"/>
            <a:r>
              <a:rPr lang="en-US" b="1" kern="0" dirty="0">
                <a:solidFill>
                  <a:srgbClr val="C00000"/>
                </a:solidFill>
                <a:latin typeface="inter"/>
                <a:ea typeface="inter"/>
                <a:cs typeface="inter"/>
              </a:rPr>
              <a:t>(c) Phase </a:t>
            </a:r>
            <a:r>
              <a:rPr lang="en-US" b="1" kern="0" dirty="0" smtClean="0">
                <a:solidFill>
                  <a:srgbClr val="C00000"/>
                </a:solidFill>
                <a:latin typeface="inter"/>
                <a:ea typeface="inter"/>
                <a:cs typeface="inter"/>
              </a:rPr>
              <a:t>plot</a:t>
            </a:r>
          </a:p>
          <a:p>
            <a:pPr lvl="0" algn="ctr"/>
            <a:endParaRPr lang="en-US" sz="1400"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Wingdings" panose="05000000000000000000" pitchFamily="2" charset="2"/>
              <a:buChar char="q"/>
              <a:tabLst>
                <a:tab pos="571500" algn="l"/>
              </a:tabLst>
            </a:pPr>
            <a:r>
              <a:rPr lang="en-US" sz="1600" kern="0" dirty="0">
                <a:solidFill>
                  <a:srgbClr val="000000"/>
                </a:solidFill>
                <a:latin typeface="inter"/>
                <a:ea typeface="inter"/>
                <a:cs typeface="inter"/>
              </a:rPr>
              <a:t>Phase transition from +90° (inductive) to </a:t>
            </a:r>
            <a:r>
              <a:rPr lang="en-US" sz="1600" kern="0" dirty="0" smtClean="0">
                <a:solidFill>
                  <a:srgbClr val="000000"/>
                </a:solidFill>
                <a:latin typeface="inter"/>
                <a:ea typeface="inter"/>
                <a:cs typeface="inter"/>
              </a:rPr>
              <a:t>–90</a:t>
            </a:r>
            <a:r>
              <a:rPr lang="en-US" sz="1600" kern="0" dirty="0">
                <a:solidFill>
                  <a:srgbClr val="000000"/>
                </a:solidFill>
                <a:latin typeface="inter"/>
                <a:ea typeface="inter"/>
                <a:cs typeface="inter"/>
              </a:rPr>
              <a:t>° (capacitive)</a:t>
            </a:r>
            <a:endParaRPr lang="en-US" sz="16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Wingdings" panose="05000000000000000000" pitchFamily="2" charset="2"/>
              <a:buChar char="q"/>
              <a:tabLst>
                <a:tab pos="571500" algn="l"/>
              </a:tabLst>
            </a:pPr>
            <a:r>
              <a:rPr lang="en-US" sz="1600" kern="0" dirty="0">
                <a:solidFill>
                  <a:srgbClr val="000000"/>
                </a:solidFill>
                <a:latin typeface="inter"/>
                <a:ea typeface="inter"/>
                <a:cs typeface="inter"/>
              </a:rPr>
              <a:t>Losses smooth &amp; broaden this phase transition; more loss → gentler slope and degraded oscillator purity.</a:t>
            </a:r>
            <a:endParaRPr lang="en-US" sz="16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p:pic>
        <p:nvPicPr>
          <p:cNvPr id="13" name="Picture 12"/>
          <p:cNvPicPr>
            <a:picLocks noChangeAspect="1"/>
          </p:cNvPicPr>
          <p:nvPr/>
        </p:nvPicPr>
        <p:blipFill rotWithShape="1">
          <a:blip r:embed="rId4"/>
          <a:srcRect l="4223" t="20198" r="66749" b="21500"/>
          <a:stretch/>
        </p:blipFill>
        <p:spPr>
          <a:xfrm>
            <a:off x="3783184" y="1848422"/>
            <a:ext cx="1711168" cy="944759"/>
          </a:xfrm>
          <a:prstGeom prst="rect">
            <a:avLst/>
          </a:prstGeom>
        </p:spPr>
      </p:pic>
      <p:pic>
        <p:nvPicPr>
          <p:cNvPr id="14" name="Picture 13"/>
          <p:cNvPicPr>
            <a:picLocks noChangeAspect="1"/>
          </p:cNvPicPr>
          <p:nvPr/>
        </p:nvPicPr>
        <p:blipFill rotWithShape="1">
          <a:blip r:embed="rId5"/>
          <a:srcRect l="36154" r="35988" b="15676"/>
          <a:stretch/>
        </p:blipFill>
        <p:spPr>
          <a:xfrm>
            <a:off x="5711658" y="2926081"/>
            <a:ext cx="1511470" cy="1192695"/>
          </a:xfrm>
          <a:prstGeom prst="rect">
            <a:avLst/>
          </a:prstGeom>
        </p:spPr>
      </p:pic>
      <p:pic>
        <p:nvPicPr>
          <p:cNvPr id="17" name="Picture 16"/>
          <p:cNvPicPr>
            <a:picLocks noChangeAspect="1"/>
          </p:cNvPicPr>
          <p:nvPr/>
        </p:nvPicPr>
        <p:blipFill rotWithShape="1">
          <a:blip r:embed="rId5"/>
          <a:srcRect l="65919" t="11005" r="1580" b="20200"/>
          <a:stretch/>
        </p:blipFill>
        <p:spPr>
          <a:xfrm>
            <a:off x="6415962" y="1680183"/>
            <a:ext cx="1877248" cy="1035882"/>
          </a:xfrm>
          <a:prstGeom prst="rect">
            <a:avLst/>
          </a:prstGeom>
        </p:spPr>
      </p:pic>
      <p:sp>
        <p:nvSpPr>
          <p:cNvPr id="1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36238090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Summary</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7200" cy="3092641"/>
              </a:xfrm>
            </p:spPr>
            <p:txBody>
              <a:bodyPr/>
              <a:lstStyle/>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C00000"/>
                    </a:solidFill>
                    <a:latin typeface="inter"/>
                    <a:ea typeface="inter"/>
                    <a:cs typeface="inter"/>
                  </a:rPr>
                  <a:t>At high frequencies</a:t>
                </a:r>
                <a:r>
                  <a:rPr lang="en-US" dirty="0">
                    <a:solidFill>
                      <a:srgbClr val="000000"/>
                    </a:solidFill>
                    <a:latin typeface="inter"/>
                    <a:ea typeface="inter"/>
                    <a:cs typeface="inter"/>
                  </a:rPr>
                  <a:t>, the term </a:t>
                </a:r>
                <a14:m>
                  <m:oMath xmlns:m="http://schemas.openxmlformats.org/officeDocument/2006/math">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 dominates parallel resistance.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C00000"/>
                    </a:solidFill>
                    <a:latin typeface="inter"/>
                    <a:ea typeface="inter"/>
                    <a:cs typeface="inter"/>
                  </a:rPr>
                  <a:t>At lower frequencies</a:t>
                </a:r>
                <a:r>
                  <a:rPr lang="en-US" dirty="0">
                    <a:solidFill>
                      <a:srgbClr val="000000"/>
                    </a:solidFill>
                    <a:latin typeface="inter"/>
                    <a:ea typeface="inter"/>
                    <a:cs typeface="inter"/>
                  </a:rPr>
                  <a:t>, the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 adds directly to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increasing total loss.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Ignoring frequency dependence in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can lead to </a:t>
                </a:r>
                <a:r>
                  <a:rPr lang="en-US" b="1" dirty="0">
                    <a:solidFill>
                      <a:srgbClr val="C00000"/>
                    </a:solidFill>
                    <a:latin typeface="inter"/>
                    <a:ea typeface="inter"/>
                    <a:cs typeface="inter"/>
                  </a:rPr>
                  <a:t>underestimating tank losses by &gt;10%</a:t>
                </a:r>
                <a:r>
                  <a:rPr lang="en-US" dirty="0">
                    <a:solidFill>
                      <a:srgbClr val="C00000"/>
                    </a:solidFill>
                    <a:latin typeface="inter"/>
                    <a:ea typeface="inter"/>
                    <a:cs typeface="inter"/>
                  </a:rPr>
                  <a:t>.</a:t>
                </a:r>
                <a:endParaRPr lang="en-US"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Precise loss modeling is crucial for </a:t>
                </a:r>
                <a:r>
                  <a:rPr lang="en-US" b="1" dirty="0">
                    <a:solidFill>
                      <a:srgbClr val="C00000"/>
                    </a:solidFill>
                    <a:latin typeface="inter"/>
                    <a:ea typeface="inter"/>
                    <a:cs typeface="inter"/>
                  </a:rPr>
                  <a:t>accurate oscillator Q prediction</a:t>
                </a:r>
                <a:r>
                  <a:rPr lang="en-US" dirty="0">
                    <a:solidFill>
                      <a:srgbClr val="000000"/>
                    </a:solidFill>
                    <a:latin typeface="inter"/>
                    <a:ea typeface="inter"/>
                    <a:cs typeface="inter"/>
                  </a:rPr>
                  <a:t> and </a:t>
                </a:r>
                <a:r>
                  <a:rPr lang="en-US" b="1" dirty="0">
                    <a:solidFill>
                      <a:srgbClr val="C00000"/>
                    </a:solidFill>
                    <a:latin typeface="inter"/>
                    <a:ea typeface="inter"/>
                    <a:cs typeface="inter"/>
                  </a:rPr>
                  <a:t>design optimization</a:t>
                </a:r>
                <a:r>
                  <a:rPr lang="en-US" dirty="0">
                    <a:solidFill>
                      <a:srgbClr val="C00000"/>
                    </a:solidFill>
                    <a:latin typeface="inter"/>
                    <a:ea typeface="inter"/>
                    <a:cs typeface="inter"/>
                  </a:rPr>
                  <a:t>.</a:t>
                </a:r>
                <a:endParaRPr lang="en-US"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Graphical impedance magnitude and phase plots vividly demonstrate how loss affects resonant behavior and oscillator signal quality.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Wingdings" panose="05000000000000000000" pitchFamily="2" charset="2"/>
                  <a:buChar char="q"/>
                </a:pPr>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7200" cy="3092641"/>
              </a:xfrm>
              <a:blipFill>
                <a:blip r:embed="rId2"/>
                <a:stretch>
                  <a:fillRect l="-1379" t="-2367" r="-1493"/>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3799800-8C3B-4E94-A67A-C653750F2EA6}"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903926156"/>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197624" y="1804945"/>
            <a:ext cx="2998305" cy="145508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1"/>
          <p:cNvSpPr/>
          <p:nvPr/>
        </p:nvSpPr>
        <p:spPr>
          <a:xfrm flipH="1">
            <a:off x="6262792" y="3434080"/>
            <a:ext cx="5355167" cy="1535007"/>
          </a:xfrm>
          <a:custGeom>
            <a:avLst/>
            <a:gdLst>
              <a:gd name="connsiteX0" fmla="*/ 0 w 5376333"/>
              <a:gd name="connsiteY0" fmla="*/ 0 h 1312137"/>
              <a:gd name="connsiteX1" fmla="*/ 5376333 w 5376333"/>
              <a:gd name="connsiteY1" fmla="*/ 0 h 1312137"/>
              <a:gd name="connsiteX2" fmla="*/ 5376333 w 5376333"/>
              <a:gd name="connsiteY2" fmla="*/ 1312137 h 1312137"/>
              <a:gd name="connsiteX3" fmla="*/ 0 w 5376333"/>
              <a:gd name="connsiteY3" fmla="*/ 1312137 h 1312137"/>
              <a:gd name="connsiteX4" fmla="*/ 0 w 5376333"/>
              <a:gd name="connsiteY4" fmla="*/ 0 h 131213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86213"/>
              <a:gd name="connsiteY0" fmla="*/ 391160 h 1698217"/>
              <a:gd name="connsiteX1" fmla="*/ 5686213 w 5686213"/>
              <a:gd name="connsiteY1" fmla="*/ 0 h 1698217"/>
              <a:gd name="connsiteX2" fmla="*/ 5411893 w 5686213"/>
              <a:gd name="connsiteY2" fmla="*/ 1698217 h 1698217"/>
              <a:gd name="connsiteX3" fmla="*/ 35560 w 5686213"/>
              <a:gd name="connsiteY3" fmla="*/ 1698217 h 1698217"/>
              <a:gd name="connsiteX4" fmla="*/ 0 w 5686213"/>
              <a:gd name="connsiteY4" fmla="*/ 391160 h 1698217"/>
              <a:gd name="connsiteX0" fmla="*/ 0 w 5686213"/>
              <a:gd name="connsiteY0" fmla="*/ 391160 h 1698217"/>
              <a:gd name="connsiteX1" fmla="*/ 5686213 w 5686213"/>
              <a:gd name="connsiteY1" fmla="*/ 0 h 1698217"/>
              <a:gd name="connsiteX2" fmla="*/ 5411893 w 5686213"/>
              <a:gd name="connsiteY2" fmla="*/ 1698217 h 1698217"/>
              <a:gd name="connsiteX3" fmla="*/ 35560 w 5686213"/>
              <a:gd name="connsiteY3" fmla="*/ 1698217 h 1698217"/>
              <a:gd name="connsiteX4" fmla="*/ 0 w 5686213"/>
              <a:gd name="connsiteY4" fmla="*/ 391160 h 1698217"/>
              <a:gd name="connsiteX0" fmla="*/ 0 w 5686213"/>
              <a:gd name="connsiteY0" fmla="*/ 391160 h 1703297"/>
              <a:gd name="connsiteX1" fmla="*/ 5686213 w 5686213"/>
              <a:gd name="connsiteY1" fmla="*/ 0 h 1703297"/>
              <a:gd name="connsiteX2" fmla="*/ 5289973 w 5686213"/>
              <a:gd name="connsiteY2" fmla="*/ 1703297 h 1703297"/>
              <a:gd name="connsiteX3" fmla="*/ 35560 w 5686213"/>
              <a:gd name="connsiteY3" fmla="*/ 1698217 h 1703297"/>
              <a:gd name="connsiteX4" fmla="*/ 0 w 5686213"/>
              <a:gd name="connsiteY4" fmla="*/ 391160 h 1703297"/>
              <a:gd name="connsiteX0" fmla="*/ 0 w 5686213"/>
              <a:gd name="connsiteY0" fmla="*/ 391160 h 1713457"/>
              <a:gd name="connsiteX1" fmla="*/ 5686213 w 5686213"/>
              <a:gd name="connsiteY1" fmla="*/ 0 h 1713457"/>
              <a:gd name="connsiteX2" fmla="*/ 5188373 w 5686213"/>
              <a:gd name="connsiteY2" fmla="*/ 1713457 h 1713457"/>
              <a:gd name="connsiteX3" fmla="*/ 35560 w 5686213"/>
              <a:gd name="connsiteY3" fmla="*/ 1698217 h 1713457"/>
              <a:gd name="connsiteX4" fmla="*/ 0 w 5686213"/>
              <a:gd name="connsiteY4" fmla="*/ 391160 h 1713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6213" h="1713457">
                <a:moveTo>
                  <a:pt x="0" y="391160"/>
                </a:moveTo>
                <a:cubicBezTo>
                  <a:pt x="1949591" y="460587"/>
                  <a:pt x="4884702" y="489373"/>
                  <a:pt x="5686213" y="0"/>
                </a:cubicBezTo>
                <a:cubicBezTo>
                  <a:pt x="5356013" y="530512"/>
                  <a:pt x="5279813" y="1147385"/>
                  <a:pt x="5188373" y="1713457"/>
                </a:cubicBezTo>
                <a:lnTo>
                  <a:pt x="35560" y="1698217"/>
                </a:lnTo>
                <a:lnTo>
                  <a:pt x="0" y="391160"/>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57953" y="3439160"/>
            <a:ext cx="4552527" cy="1535007"/>
          </a:xfrm>
          <a:custGeom>
            <a:avLst/>
            <a:gdLst>
              <a:gd name="connsiteX0" fmla="*/ 0 w 5376333"/>
              <a:gd name="connsiteY0" fmla="*/ 0 h 1312137"/>
              <a:gd name="connsiteX1" fmla="*/ 5376333 w 5376333"/>
              <a:gd name="connsiteY1" fmla="*/ 0 h 1312137"/>
              <a:gd name="connsiteX2" fmla="*/ 5376333 w 5376333"/>
              <a:gd name="connsiteY2" fmla="*/ 1312137 h 1312137"/>
              <a:gd name="connsiteX3" fmla="*/ 0 w 5376333"/>
              <a:gd name="connsiteY3" fmla="*/ 1312137 h 1312137"/>
              <a:gd name="connsiteX4" fmla="*/ 0 w 5376333"/>
              <a:gd name="connsiteY4" fmla="*/ 0 h 131213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86213"/>
              <a:gd name="connsiteY0" fmla="*/ 391160 h 1698217"/>
              <a:gd name="connsiteX1" fmla="*/ 5686213 w 5686213"/>
              <a:gd name="connsiteY1" fmla="*/ 0 h 1698217"/>
              <a:gd name="connsiteX2" fmla="*/ 5411893 w 5686213"/>
              <a:gd name="connsiteY2" fmla="*/ 1698217 h 1698217"/>
              <a:gd name="connsiteX3" fmla="*/ 35560 w 5686213"/>
              <a:gd name="connsiteY3" fmla="*/ 1698217 h 1698217"/>
              <a:gd name="connsiteX4" fmla="*/ 0 w 5686213"/>
              <a:gd name="connsiteY4" fmla="*/ 391160 h 1698217"/>
              <a:gd name="connsiteX0" fmla="*/ 0 w 5686213"/>
              <a:gd name="connsiteY0" fmla="*/ 391160 h 1698217"/>
              <a:gd name="connsiteX1" fmla="*/ 5686213 w 5686213"/>
              <a:gd name="connsiteY1" fmla="*/ 0 h 1698217"/>
              <a:gd name="connsiteX2" fmla="*/ 5411893 w 5686213"/>
              <a:gd name="connsiteY2" fmla="*/ 1698217 h 1698217"/>
              <a:gd name="connsiteX3" fmla="*/ 35560 w 5686213"/>
              <a:gd name="connsiteY3" fmla="*/ 1698217 h 1698217"/>
              <a:gd name="connsiteX4" fmla="*/ 0 w 5686213"/>
              <a:gd name="connsiteY4" fmla="*/ 391160 h 1698217"/>
              <a:gd name="connsiteX0" fmla="*/ 0 w 5686213"/>
              <a:gd name="connsiteY0" fmla="*/ 391160 h 1703297"/>
              <a:gd name="connsiteX1" fmla="*/ 5686213 w 5686213"/>
              <a:gd name="connsiteY1" fmla="*/ 0 h 1703297"/>
              <a:gd name="connsiteX2" fmla="*/ 5289973 w 5686213"/>
              <a:gd name="connsiteY2" fmla="*/ 1703297 h 1703297"/>
              <a:gd name="connsiteX3" fmla="*/ 35560 w 5686213"/>
              <a:gd name="connsiteY3" fmla="*/ 1698217 h 1703297"/>
              <a:gd name="connsiteX4" fmla="*/ 0 w 5686213"/>
              <a:gd name="connsiteY4" fmla="*/ 391160 h 1703297"/>
              <a:gd name="connsiteX0" fmla="*/ 0 w 5686213"/>
              <a:gd name="connsiteY0" fmla="*/ 391160 h 1713457"/>
              <a:gd name="connsiteX1" fmla="*/ 5686213 w 5686213"/>
              <a:gd name="connsiteY1" fmla="*/ 0 h 1713457"/>
              <a:gd name="connsiteX2" fmla="*/ 5188373 w 5686213"/>
              <a:gd name="connsiteY2" fmla="*/ 1713457 h 1713457"/>
              <a:gd name="connsiteX3" fmla="*/ 35560 w 5686213"/>
              <a:gd name="connsiteY3" fmla="*/ 1698217 h 1713457"/>
              <a:gd name="connsiteX4" fmla="*/ 0 w 5686213"/>
              <a:gd name="connsiteY4" fmla="*/ 391160 h 1713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6213" h="1713457">
                <a:moveTo>
                  <a:pt x="0" y="391160"/>
                </a:moveTo>
                <a:cubicBezTo>
                  <a:pt x="1949591" y="460587"/>
                  <a:pt x="4884702" y="489373"/>
                  <a:pt x="5686213" y="0"/>
                </a:cubicBezTo>
                <a:cubicBezTo>
                  <a:pt x="5356013" y="530512"/>
                  <a:pt x="5279813" y="1147385"/>
                  <a:pt x="5188373" y="1713457"/>
                </a:cubicBezTo>
                <a:lnTo>
                  <a:pt x="35560" y="1698217"/>
                </a:lnTo>
                <a:lnTo>
                  <a:pt x="0" y="391160"/>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Sharper Resonance and Phase from Higher </a:t>
            </a:r>
            <a:r>
              <a:rPr lang="en-US" dirty="0" err="1" smtClean="0"/>
              <a:t>R</a:t>
            </a:r>
            <a:r>
              <a:rPr lang="en-US" baseline="-25000" dirty="0" err="1" smtClean="0"/>
              <a:t>p</a:t>
            </a:r>
            <a:endParaRPr lang="en-US" baseline="-25000" dirty="0"/>
          </a:p>
        </p:txBody>
      </p:sp>
      <p:sp>
        <p:nvSpPr>
          <p:cNvPr id="3" name="Text Placeholder 2"/>
          <p:cNvSpPr>
            <a:spLocks noGrp="1"/>
          </p:cNvSpPr>
          <p:nvPr>
            <p:ph type="body" idx="1"/>
          </p:nvPr>
        </p:nvSpPr>
        <p:spPr>
          <a:xfrm>
            <a:off x="844550" y="1327353"/>
            <a:ext cx="10655300" cy="615553"/>
          </a:xfrm>
        </p:spPr>
        <p:txBody>
          <a:bodyPr/>
          <a:lstStyle/>
          <a:p>
            <a:pPr algn="ctr"/>
            <a:r>
              <a:rPr lang="en-US" b="1" dirty="0">
                <a:solidFill>
                  <a:srgbClr val="C00000"/>
                </a:solidFill>
                <a:latin typeface="fkGrotesk"/>
              </a:rPr>
              <a:t>Core Principle: Loss and Resonance Sharpness</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12FDC077-17D5-4F2D-87B9-A01A55DC9404}"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2">
            <a:duotone>
              <a:prstClr val="black"/>
              <a:schemeClr val="bg1">
                <a:lumMod val="65000"/>
                <a:tint val="45000"/>
                <a:satMod val="400000"/>
              </a:schemeClr>
            </a:duotone>
          </a:blip>
          <a:srcRect t="16076"/>
          <a:stretch/>
        </p:blipFill>
        <p:spPr>
          <a:xfrm>
            <a:off x="4285754" y="1842273"/>
            <a:ext cx="2835696" cy="1370054"/>
          </a:xfrm>
          <a:prstGeom prst="rect">
            <a:avLst/>
          </a:prstGeom>
        </p:spPr>
      </p:pic>
      <p:sp>
        <p:nvSpPr>
          <p:cNvPr id="9" name="Rectangle 8"/>
          <p:cNvSpPr/>
          <p:nvPr/>
        </p:nvSpPr>
        <p:spPr>
          <a:xfrm>
            <a:off x="416560" y="3943737"/>
            <a:ext cx="4338320" cy="707886"/>
          </a:xfrm>
          <a:prstGeom prst="rect">
            <a:avLst/>
          </a:prstGeom>
        </p:spPr>
        <p:txBody>
          <a:bodyPr wrap="square">
            <a:spAutoFit/>
          </a:bodyPr>
          <a:lstStyle/>
          <a:p>
            <a:pPr marL="342900" lvl="0" indent="-342900" algn="ctr">
              <a:buFont typeface="Wingdings" panose="05000000000000000000" pitchFamily="2" charset="2"/>
              <a:buChar char="q"/>
            </a:pPr>
            <a:r>
              <a:rPr lang="en-US" sz="2000" kern="0" dirty="0">
                <a:solidFill>
                  <a:prstClr val="black"/>
                </a:solidFill>
                <a:latin typeface="fkGroteskNeue"/>
              </a:rPr>
              <a:t>The parallel RLC tank models energy loss via a parallel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a:t>
            </a:r>
          </a:p>
        </p:txBody>
      </p:sp>
      <p:sp>
        <p:nvSpPr>
          <p:cNvPr id="10" name="Rectangle 9"/>
          <p:cNvSpPr/>
          <p:nvPr/>
        </p:nvSpPr>
        <p:spPr>
          <a:xfrm>
            <a:off x="6604000" y="3810169"/>
            <a:ext cx="5029200" cy="1015663"/>
          </a:xfrm>
          <a:prstGeom prst="rect">
            <a:avLst/>
          </a:prstGeom>
        </p:spPr>
        <p:txBody>
          <a:bodyPr wrap="square">
            <a:spAutoFit/>
          </a:bodyPr>
          <a:lstStyle/>
          <a:p>
            <a:pPr marL="342900" lvl="0" indent="-342900" algn="just">
              <a:buFont typeface="Wingdings" panose="05000000000000000000" pitchFamily="2" charset="2"/>
              <a:buChar char="q"/>
            </a:pPr>
            <a:r>
              <a:rPr lang="en-US" sz="2000" kern="0" dirty="0">
                <a:solidFill>
                  <a:prstClr val="black"/>
                </a:solidFill>
                <a:latin typeface="fkGroteskNeue"/>
              </a:rPr>
              <a:t>At resonance (</a:t>
            </a:r>
            <a:r>
              <a:rPr lang="el-GR" sz="2000" i="1" kern="0" dirty="0">
                <a:solidFill>
                  <a:prstClr val="black"/>
                </a:solidFill>
                <a:latin typeface="KaTeX_Math"/>
              </a:rPr>
              <a:t>ω</a:t>
            </a:r>
            <a:r>
              <a:rPr lang="el-GR" sz="2000" kern="0" baseline="-25000" dirty="0">
                <a:solidFill>
                  <a:prstClr val="black"/>
                </a:solidFill>
                <a:latin typeface="KaTeX_Main"/>
              </a:rPr>
              <a:t>0</a:t>
            </a:r>
            <a:r>
              <a:rPr lang="el-GR" sz="2000" kern="0" dirty="0">
                <a:solidFill>
                  <a:prstClr val="black"/>
                </a:solidFill>
                <a:latin typeface="fkGroteskNeue"/>
              </a:rPr>
              <a:t>), </a:t>
            </a:r>
            <a:r>
              <a:rPr lang="en-US" sz="2000" kern="0" dirty="0">
                <a:solidFill>
                  <a:prstClr val="black"/>
                </a:solidFill>
                <a:latin typeface="fkGroteskNeue"/>
              </a:rPr>
              <a:t>impedance peaks at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larger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means less energy loss and higher quality factor (Q).</a:t>
            </a:r>
          </a:p>
        </p:txBody>
      </p:sp>
      <p:sp>
        <p:nvSpPr>
          <p:cNvPr id="1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2790739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877604" y="3179430"/>
            <a:ext cx="5103129" cy="285966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83862" y="3246800"/>
            <a:ext cx="5103129" cy="285966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41051" y="1355863"/>
            <a:ext cx="10753703"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1046440"/>
          </a:xfrm>
        </p:spPr>
        <p:txBody>
          <a:bodyPr/>
          <a:lstStyle/>
          <a:p>
            <a:r>
              <a:rPr lang="en-US" dirty="0"/>
              <a:t>Doubling </a:t>
            </a:r>
            <a:r>
              <a:rPr lang="en-US" dirty="0" err="1" smtClean="0"/>
              <a:t>R</a:t>
            </a:r>
            <a:r>
              <a:rPr lang="en-US" baseline="-25000" dirty="0" err="1" smtClean="0"/>
              <a:t>p</a:t>
            </a:r>
            <a:r>
              <a:rPr lang="en-US" dirty="0"/>
              <a:t/>
            </a:r>
            <a:br>
              <a:rPr lang="en-US" dirty="0"/>
            </a:br>
            <a:endParaRPr lang="en-US" dirty="0"/>
          </a:p>
        </p:txBody>
      </p:sp>
      <p:sp>
        <p:nvSpPr>
          <p:cNvPr id="3" name="Text Placeholder 2"/>
          <p:cNvSpPr>
            <a:spLocks noGrp="1"/>
          </p:cNvSpPr>
          <p:nvPr>
            <p:ph type="body" idx="1"/>
          </p:nvPr>
        </p:nvSpPr>
        <p:spPr>
          <a:xfrm>
            <a:off x="868795" y="1071064"/>
            <a:ext cx="6845300" cy="1538883"/>
          </a:xfrm>
        </p:spPr>
        <p:txBody>
          <a:bodyPr/>
          <a:lstStyle/>
          <a:p>
            <a:pPr algn="ctr"/>
            <a:r>
              <a:rPr lang="en-US" b="1" dirty="0" smtClean="0">
                <a:solidFill>
                  <a:srgbClr val="C00000"/>
                </a:solidFill>
                <a:latin typeface="fkGroteskNeue"/>
              </a:rPr>
              <a:t>Suppose</a:t>
            </a:r>
            <a:r>
              <a:rPr lang="en-US" b="1" dirty="0">
                <a:solidFill>
                  <a:srgbClr val="C00000"/>
                </a:solidFill>
                <a:latin typeface="fkGroteskNeue"/>
              </a:rPr>
              <a:t>:</a:t>
            </a:r>
          </a:p>
          <a:p>
            <a:pPr marL="342900" indent="-342900" algn="l">
              <a:buFont typeface="Wingdings" panose="05000000000000000000" pitchFamily="2" charset="2"/>
              <a:buChar char="q"/>
            </a:pPr>
            <a:r>
              <a:rPr lang="en-US" i="1" dirty="0" err="1" smtClean="0">
                <a:latin typeface="KaTeX_Math"/>
              </a:rPr>
              <a:t>R</a:t>
            </a:r>
            <a:r>
              <a:rPr lang="en-US" i="1" baseline="-25000" dirty="0" err="1" smtClean="0">
                <a:latin typeface="KaTeX_Math"/>
              </a:rPr>
              <a:t>p</a:t>
            </a:r>
            <a:r>
              <a:rPr lang="en-US" dirty="0">
                <a:latin typeface="fkGroteskNeue"/>
              </a:rPr>
              <a:t> doubles</a:t>
            </a:r>
          </a:p>
          <a:p>
            <a:pPr marL="342900" indent="-342900" algn="l">
              <a:buFont typeface="Wingdings" panose="05000000000000000000" pitchFamily="2" charset="2"/>
              <a:buChar char="q"/>
            </a:pPr>
            <a:r>
              <a:rPr lang="en-US" i="1" dirty="0" smtClean="0">
                <a:latin typeface="KaTeX_Math"/>
              </a:rPr>
              <a:t>L</a:t>
            </a:r>
            <a:r>
              <a:rPr lang="en-US" baseline="-25000" dirty="0" smtClean="0">
                <a:latin typeface="KaTeX_Main"/>
              </a:rPr>
              <a:t>1</a:t>
            </a:r>
            <a:r>
              <a:rPr lang="en-US" dirty="0">
                <a:latin typeface="fkGroteskNeue"/>
              </a:rPr>
              <a:t> and </a:t>
            </a:r>
            <a:r>
              <a:rPr lang="en-US" i="1" dirty="0" smtClean="0">
                <a:latin typeface="KaTeX_Math"/>
              </a:rPr>
              <a:t>C</a:t>
            </a:r>
            <a:r>
              <a:rPr lang="en-US" baseline="-25000" dirty="0" smtClean="0">
                <a:latin typeface="KaTeX_Main"/>
              </a:rPr>
              <a:t>1</a:t>
            </a:r>
            <a:r>
              <a:rPr lang="en-US" dirty="0">
                <a:latin typeface="fkGroteskNeue"/>
              </a:rPr>
              <a:t> remain constant</a:t>
            </a:r>
          </a:p>
          <a:p>
            <a:pPr marL="342900" indent="-342900" algn="l">
              <a:buFont typeface="Wingdings" panose="05000000000000000000" pitchFamily="2" charset="2"/>
              <a:buChar char="q"/>
            </a:pPr>
            <a:r>
              <a:rPr lang="en-US" dirty="0">
                <a:latin typeface="fkGroteskNeue"/>
              </a:rPr>
              <a:t>Find:</a:t>
            </a:r>
          </a:p>
          <a:p>
            <a:pPr marL="342900" indent="-342900" algn="l">
              <a:buFont typeface="Wingdings" panose="05000000000000000000" pitchFamily="2" charset="2"/>
              <a:buChar char="q"/>
            </a:pPr>
            <a:r>
              <a:rPr lang="en-US" dirty="0">
                <a:latin typeface="fkGroteskNeue"/>
              </a:rPr>
              <a:t>What happens to the phase slope and profile in Fig</a:t>
            </a:r>
            <a:r>
              <a:rPr lang="en-US" dirty="0" smtClean="0">
                <a:latin typeface="fkGroteskNeue"/>
              </a:rPr>
              <a:t>.?</a:t>
            </a:r>
          </a:p>
        </p:txBody>
      </p:sp>
      <p:sp>
        <p:nvSpPr>
          <p:cNvPr id="6" name="Slide Number Placeholder 5"/>
          <p:cNvSpPr>
            <a:spLocks noGrp="1"/>
          </p:cNvSpPr>
          <p:nvPr>
            <p:ph type="sldNum" sz="quarter" idx="7"/>
          </p:nvPr>
        </p:nvSpPr>
        <p:spPr>
          <a:xfrm>
            <a:off x="11181588" y="6365480"/>
            <a:ext cx="665855" cy="28379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l="2024" t="10783" r="5922" b="13065"/>
          <a:stretch/>
        </p:blipFill>
        <p:spPr>
          <a:xfrm>
            <a:off x="8406201" y="1410555"/>
            <a:ext cx="2344954" cy="1187461"/>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6800426" y="2713561"/>
                <a:ext cx="5477933" cy="2800703"/>
              </a:xfrm>
              <a:prstGeom prst="rect">
                <a:avLst/>
              </a:prstGeom>
            </p:spPr>
            <p:txBody>
              <a:bodyPr wrap="square">
                <a:spAutoFit/>
              </a:bodyPr>
              <a:lstStyle/>
              <a:p>
                <a:pPr lvl="0" algn="ctr"/>
                <a:r>
                  <a:rPr lang="en-US" sz="2000" b="1" kern="0" dirty="0" smtClean="0">
                    <a:solidFill>
                      <a:srgbClr val="C00000"/>
                    </a:solidFill>
                    <a:latin typeface="inter"/>
                    <a:ea typeface="inter"/>
                    <a:cs typeface="inter"/>
                  </a:rPr>
                  <a:t>Phase Response Calculation</a:t>
                </a:r>
              </a:p>
              <a:p>
                <a:pPr lvl="0" algn="ct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600" kern="0" dirty="0" smtClean="0">
                    <a:solidFill>
                      <a:srgbClr val="000000"/>
                    </a:solidFill>
                    <a:latin typeface="inter"/>
                    <a:ea typeface="inter"/>
                    <a:cs typeface="inter"/>
                  </a:rPr>
                  <a:t>The larger </a:t>
                </a:r>
                <a:r>
                  <a:rPr lang="en-US" sz="1600" kern="0" dirty="0" err="1">
                    <a:solidFill>
                      <a:srgbClr val="000000"/>
                    </a:solidFill>
                    <a:latin typeface="inter"/>
                    <a:ea typeface="inter"/>
                    <a:cs typeface="inter"/>
                  </a:rPr>
                  <a:t>R</a:t>
                </a:r>
                <a:r>
                  <a:rPr lang="en-US" sz="1600" kern="0" baseline="-25000" dirty="0" err="1">
                    <a:solidFill>
                      <a:srgbClr val="000000"/>
                    </a:solidFill>
                    <a:latin typeface="inter"/>
                    <a:ea typeface="inter"/>
                    <a:cs typeface="inter"/>
                  </a:rPr>
                  <a:t>p</a:t>
                </a:r>
                <a:r>
                  <a:rPr lang="en-US" sz="1600" kern="0" dirty="0">
                    <a:solidFill>
                      <a:srgbClr val="000000"/>
                    </a:solidFill>
                    <a:latin typeface="inter"/>
                    <a:ea typeface="inter"/>
                    <a:cs typeface="inter"/>
                  </a:rPr>
                  <a:t> 𝑡ℎ𝑒 𝑠𝑡𝑒𝑒𝑝𝑒𝑟 𝑡ℎ𝑒 𝑝ℎ𝑎𝑠𝑒 𝑡𝑟𝑎𝑛𝑠𝑖𝑡𝑖𝑜𝑛 𝑛𝑒𝑎𝑟 </a:t>
                </a:r>
                <a:r>
                  <a:rPr lang="en-US" sz="1600" kern="0" dirty="0" smtClean="0">
                    <a:solidFill>
                      <a:srgbClr val="000000"/>
                    </a:solidFill>
                    <a:latin typeface="inter"/>
                    <a:ea typeface="inter"/>
                    <a:cs typeface="inter"/>
                  </a:rPr>
                  <a:t>Resonance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l-GR" sz="1600" i="1" kern="0" dirty="0">
                    <a:solidFill>
                      <a:prstClr val="black"/>
                    </a:solidFill>
                    <a:latin typeface="Verdana"/>
                  </a:rPr>
                  <a:t>ω</a:t>
                </a:r>
                <a:r>
                  <a:rPr lang="el-GR" sz="1600" kern="0" baseline="-25000" dirty="0">
                    <a:solidFill>
                      <a:prstClr val="black"/>
                    </a:solidFill>
                    <a:latin typeface="Verdana"/>
                  </a:rPr>
                  <a:t>0</a:t>
                </a:r>
                <a:r>
                  <a:rPr lang="en-US" sz="1600" kern="0" dirty="0" smtClean="0">
                    <a:solidFill>
                      <a:srgbClr val="000000"/>
                    </a:solidFill>
                    <a:latin typeface="inter"/>
                    <a:ea typeface="inter"/>
                    <a:cs typeface="inter"/>
                  </a:rPr>
                  <a:t>).</a:t>
                </a:r>
              </a:p>
              <a:p>
                <a:pPr marL="342900" lvl="0" indent="-342900">
                  <a:buFont typeface="Wingdings" panose="05000000000000000000" pitchFamily="2" charset="2"/>
                  <a:buChar char="q"/>
                  <a:tabLst>
                    <a:tab pos="571500" algn="l"/>
                  </a:tabLst>
                </a:pPr>
                <a:endParaRPr lang="en-US" sz="1600" kern="0" dirty="0">
                  <a:solidFill>
                    <a:srgbClr val="000000"/>
                  </a:solidFill>
                  <a:latin typeface="inter"/>
                  <a:ea typeface="inter"/>
                  <a:cs typeface="inter"/>
                </a:endParaRPr>
              </a:p>
              <a:p>
                <a:pPr marL="342900" lvl="0" indent="-342900">
                  <a:buFont typeface="Wingdings" panose="05000000000000000000" pitchFamily="2" charset="2"/>
                  <a:buChar char="q"/>
                  <a:tabLst>
                    <a:tab pos="571500" algn="l"/>
                  </a:tabLst>
                </a:pPr>
                <a:r>
                  <a:rPr lang="en-US" sz="1600" kern="0" dirty="0" smtClean="0">
                    <a:solidFill>
                      <a:srgbClr val="000000"/>
                    </a:solidFill>
                    <a:latin typeface="inter"/>
                    <a:ea typeface="inter"/>
                    <a:cs typeface="inter"/>
                  </a:rPr>
                  <a:t>Around </a:t>
                </a:r>
                <a:r>
                  <a:rPr lang="en-US" sz="1600" kern="0" dirty="0">
                    <a:solidFill>
                      <a:srgbClr val="000000"/>
                    </a:solidFill>
                    <a:latin typeface="inter"/>
                    <a:ea typeface="inter"/>
                    <a:cs typeface="inter"/>
                  </a:rPr>
                  <a:t>resonance, differentiating gives:</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e>
                        <m: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6800426" y="2713561"/>
                <a:ext cx="5477933" cy="2800703"/>
              </a:xfrm>
              <a:prstGeom prst="rect">
                <a:avLst/>
              </a:prstGeom>
              <a:blipFill>
                <a:blip r:embed="rId3"/>
                <a:stretch>
                  <a:fillRect l="-445" t="-8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5955011" y="1045554"/>
                <a:ext cx="7687734" cy="266420"/>
              </a:xfrm>
              <a:prstGeom prst="rect">
                <a:avLst/>
              </a:prstGeom>
            </p:spPr>
            <p:txBody>
              <a:bodyPr wrap="square">
                <a:spAutoFit/>
              </a:bodyPr>
              <a:lstStyle/>
              <a:p>
                <a:r>
                  <a:rPr lang="en-US" sz="1050" b="1" dirty="0">
                    <a:solidFill>
                      <a:srgbClr val="000000"/>
                    </a:solidFill>
                    <a:latin typeface="inter"/>
                    <a:ea typeface="inter"/>
                    <a:cs typeface="inter"/>
                  </a:rPr>
                  <a:t>Slope is linearly proportional to </a:t>
                </a:r>
                <a14:m>
                  <m:oMath xmlns:m="http://schemas.openxmlformats.org/officeDocument/2006/math">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050" b="1" dirty="0">
                    <a:solidFill>
                      <a:srgbClr val="000000"/>
                    </a:solidFill>
                    <a:latin typeface="inter"/>
                    <a:ea typeface="inter"/>
                    <a:cs typeface="inter"/>
                  </a:rPr>
                  <a:t>:</a:t>
                </a:r>
                <a:r>
                  <a:rPr lang="en-US" sz="1050" dirty="0">
                    <a:solidFill>
                      <a:srgbClr val="000000"/>
                    </a:solidFill>
                    <a:latin typeface="inter"/>
                    <a:ea typeface="inter"/>
                    <a:cs typeface="inter"/>
                  </a:rPr>
                  <a:t> doubling </a:t>
                </a:r>
                <a14:m>
                  <m:oMath xmlns:m="http://schemas.openxmlformats.org/officeDocument/2006/math">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050" dirty="0" smtClean="0">
                    <a:solidFill>
                      <a:srgbClr val="000000"/>
                    </a:solidFill>
                    <a:latin typeface="inter"/>
                    <a:ea typeface="inter"/>
                    <a:cs typeface="inter"/>
                  </a:rPr>
                  <a:t> </a:t>
                </a:r>
                <a:r>
                  <a:rPr lang="en-US" sz="1050" dirty="0">
                    <a:solidFill>
                      <a:srgbClr val="000000"/>
                    </a:solidFill>
                    <a:latin typeface="inter"/>
                    <a:ea typeface="inter"/>
                    <a:cs typeface="inter"/>
                  </a:rPr>
                  <a:t>makes the phase transition twice as steep</a:t>
                </a:r>
                <a:endParaRPr lang="en-US" dirty="0"/>
              </a:p>
            </p:txBody>
          </p:sp>
        </mc:Choice>
        <mc:Fallback>
          <p:sp>
            <p:nvSpPr>
              <p:cNvPr id="9" name="Rectangle 8"/>
              <p:cNvSpPr>
                <a:spLocks noRot="1" noChangeAspect="1" noMove="1" noResize="1" noEditPoints="1" noAdjustHandles="1" noChangeArrowheads="1" noChangeShapeType="1" noTextEdit="1"/>
              </p:cNvSpPr>
              <p:nvPr/>
            </p:nvSpPr>
            <p:spPr>
              <a:xfrm>
                <a:off x="5955011" y="1045554"/>
                <a:ext cx="7687734" cy="266420"/>
              </a:xfrm>
              <a:prstGeom prst="rect">
                <a:avLst/>
              </a:prstGeom>
              <a:blipFill>
                <a:blip r:embed="rId4"/>
                <a:stretch>
                  <a:fillRect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736600" y="2731344"/>
                <a:ext cx="6096000" cy="3415487"/>
              </a:xfrm>
              <a:prstGeom prst="rect">
                <a:avLst/>
              </a:prstGeom>
            </p:spPr>
            <p:txBody>
              <a:bodyPr>
                <a:spAutoFit/>
              </a:bodyPr>
              <a:lstStyle/>
              <a:p>
                <a:pPr lvl="0" algn="ctr"/>
                <a:r>
                  <a:rPr lang="en-US" b="1" kern="0" dirty="0">
                    <a:solidFill>
                      <a:srgbClr val="C00000"/>
                    </a:solidFill>
                    <a:latin typeface="fkGrotesk"/>
                  </a:rPr>
                  <a:t>Analytical </a:t>
                </a:r>
                <a:r>
                  <a:rPr lang="en-US" b="1" kern="0" dirty="0" smtClean="0">
                    <a:solidFill>
                      <a:srgbClr val="C00000"/>
                    </a:solidFill>
                    <a:latin typeface="fkGrotesk"/>
                  </a:rPr>
                  <a:t>Details</a:t>
                </a:r>
              </a:p>
              <a:p>
                <a:pPr lvl="0" algn="ctr"/>
                <a:endParaRPr lang="en-US" b="1" kern="0" dirty="0">
                  <a:solidFill>
                    <a:srgbClr val="C00000"/>
                  </a:solidFill>
                  <a:latin typeface="fkGrotesk"/>
                </a:endParaRPr>
              </a:p>
              <a:p>
                <a:pPr lvl="0" algn="ctr"/>
                <a:r>
                  <a:rPr lang="en-US" kern="0" dirty="0">
                    <a:solidFill>
                      <a:prstClr val="black"/>
                    </a:solidFill>
                    <a:latin typeface="fkGroteskNeue"/>
                  </a:rPr>
                  <a:t>The tank impedance with parallel loss is:</a:t>
                </a:r>
              </a:p>
              <a:p>
                <a:pPr lvl="0" algn="ctr"/>
                <a:r>
                  <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rPr>
                  <a:t> </a:t>
                </a:r>
              </a:p>
              <a:p>
                <a:pPr lvl="0" algn="ctr"/>
                <a14:m>
                  <m:oMathPara xmlns:m="http://schemas.openxmlformats.org/officeDocument/2006/math">
                    <m:oMathParaPr>
                      <m:jc m:val="centerGroup"/>
                    </m:oMathParaPr>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which reduces to:</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num>
                        <m:den>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e>
                            <m: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For s =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736600" y="2731344"/>
                <a:ext cx="6096000" cy="3415487"/>
              </a:xfrm>
              <a:prstGeom prst="rect">
                <a:avLst/>
              </a:prstGeom>
              <a:blipFill>
                <a:blip r:embed="rId5"/>
                <a:stretch>
                  <a:fillRect t="-893"/>
                </a:stretch>
              </a:blipFill>
            </p:spPr>
            <p:txBody>
              <a:bodyPr/>
              <a:lstStyle/>
              <a:p>
                <a:r>
                  <a:rPr lang="en-US">
                    <a:noFill/>
                  </a:rPr>
                  <a:t> </a:t>
                </a:r>
              </a:p>
            </p:txBody>
          </p:sp>
        </mc:Fallback>
      </mc:AlternateContent>
      <p:sp>
        <p:nvSpPr>
          <p:cNvPr id="4" name="Date Placeholder 3"/>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E6E8B60-FB24-452D-BFA4-80CE01441F9E}"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14"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7449548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p:cNvSpPr/>
          <p:nvPr/>
        </p:nvSpPr>
        <p:spPr>
          <a:xfrm>
            <a:off x="725557" y="3051314"/>
            <a:ext cx="11082130" cy="188843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1046440"/>
          </a:xfrm>
        </p:spPr>
        <p:txBody>
          <a:bodyPr/>
          <a:lstStyle/>
          <a:p>
            <a:r>
              <a:rPr lang="en-US" dirty="0">
                <a:latin typeface="fkGrotesk"/>
              </a:rPr>
              <a:t>Visual </a:t>
            </a:r>
            <a:r>
              <a:rPr lang="en-US" dirty="0" smtClean="0">
                <a:latin typeface="fkGrotesk"/>
              </a:rPr>
              <a:t>Intuition</a:t>
            </a:r>
            <a:r>
              <a:rPr lang="en-US" dirty="0">
                <a:latin typeface="fkGrotesk"/>
              </a:rPr>
              <a:t/>
            </a:r>
            <a:br>
              <a:rPr lang="en-US" dirty="0">
                <a:latin typeface="fkGrotesk"/>
              </a:rPr>
            </a:br>
            <a:endParaRPr lang="en-US" dirty="0"/>
          </a:p>
        </p:txBody>
      </p:sp>
      <p:sp>
        <p:nvSpPr>
          <p:cNvPr id="3" name="Text Placeholder 2"/>
          <p:cNvSpPr>
            <a:spLocks noGrp="1"/>
          </p:cNvSpPr>
          <p:nvPr>
            <p:ph type="body" idx="1"/>
          </p:nvPr>
        </p:nvSpPr>
        <p:spPr>
          <a:xfrm>
            <a:off x="853017" y="1111453"/>
            <a:ext cx="10750550" cy="1477328"/>
          </a:xfrm>
        </p:spPr>
        <p:txBody>
          <a:bodyPr/>
          <a:lstStyle/>
          <a:p>
            <a:pPr marL="342900" indent="-342900" algn="l">
              <a:buFont typeface="Wingdings" panose="05000000000000000000" pitchFamily="2" charset="2"/>
              <a:buChar char="q"/>
            </a:pPr>
            <a:r>
              <a:rPr lang="en-US" dirty="0" smtClean="0">
                <a:latin typeface="fkGroteskNeue"/>
              </a:rPr>
              <a:t>Impedance </a:t>
            </a:r>
            <a:r>
              <a:rPr lang="en-US" dirty="0">
                <a:latin typeface="fkGroteskNeue"/>
              </a:rPr>
              <a:t>plot (Fig. </a:t>
            </a:r>
            <a:r>
              <a:rPr lang="en-US" dirty="0" smtClean="0">
                <a:latin typeface="fkGroteskNeue"/>
              </a:rPr>
              <a:t>b</a:t>
            </a:r>
            <a:r>
              <a:rPr lang="en-US" dirty="0">
                <a:latin typeface="fkGroteskNeue"/>
              </a:rPr>
              <a:t>): Peak at resonance is higher and narrower for larger </a:t>
            </a:r>
            <a:r>
              <a:rPr lang="en-US" i="1" dirty="0" err="1" smtClean="0">
                <a:latin typeface="KaTeX_Math"/>
              </a:rPr>
              <a:t>Rp</a:t>
            </a:r>
            <a:r>
              <a:rPr lang="en-US" dirty="0">
                <a:latin typeface="fkGroteskNeue"/>
              </a:rPr>
              <a:t>.</a:t>
            </a:r>
          </a:p>
          <a:p>
            <a:pPr marL="342900" indent="-342900" algn="l">
              <a:buFont typeface="Wingdings" panose="05000000000000000000" pitchFamily="2" charset="2"/>
              <a:buChar char="q"/>
            </a:pPr>
            <a:r>
              <a:rPr lang="en-US" dirty="0">
                <a:latin typeface="fkGroteskNeue"/>
              </a:rPr>
              <a:t>Phase plot (Fig. </a:t>
            </a:r>
            <a:r>
              <a:rPr lang="en-US" dirty="0" smtClean="0">
                <a:latin typeface="fkGroteskNeue"/>
              </a:rPr>
              <a:t>c</a:t>
            </a:r>
            <a:r>
              <a:rPr lang="en-US" dirty="0">
                <a:latin typeface="fkGroteskNeue"/>
              </a:rPr>
              <a:t>): The transition from +90° to –90° is more abrupt—a "sharper knee" at resonance for higher </a:t>
            </a:r>
            <a:r>
              <a:rPr lang="en-US" i="1" dirty="0" err="1" smtClean="0">
                <a:latin typeface="KaTeX_Math"/>
              </a:rPr>
              <a:t>Rp</a:t>
            </a:r>
            <a:r>
              <a:rPr lang="en-US" dirty="0">
                <a:latin typeface="fkGroteskNeue"/>
              </a:rPr>
              <a:t>.</a:t>
            </a:r>
          </a:p>
          <a:p>
            <a:pPr marL="742950" lvl="1" indent="-285750" algn="l">
              <a:buFont typeface="Courier New" panose="02070309020205020404" pitchFamily="49" charset="0"/>
              <a:buChar char="o"/>
            </a:pPr>
            <a:r>
              <a:rPr lang="en-US" dirty="0">
                <a:latin typeface="fkGroteskNeue"/>
              </a:rPr>
              <a:t>This means the circuit discriminates frequency more precisely, i.e., better filtering and less phase noise</a:t>
            </a:r>
            <a:r>
              <a:rPr lang="en-US" dirty="0" smtClean="0">
                <a:latin typeface="fkGroteskNeue"/>
              </a:rPr>
              <a: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 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E3624C2-96CB-412A-8CE9-870338D9BD8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52549" cy="22018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66235" y="2686671"/>
            <a:ext cx="10706100" cy="2246769"/>
          </a:xfrm>
          <a:prstGeom prst="rect">
            <a:avLst/>
          </a:prstGeom>
        </p:spPr>
        <p:txBody>
          <a:bodyPr wrap="square">
            <a:spAutoFit/>
          </a:bodyPr>
          <a:lstStyle/>
          <a:p>
            <a:pPr algn="ctr"/>
            <a:r>
              <a:rPr lang="en-US" sz="2000" b="1" i="0" dirty="0" smtClean="0">
                <a:solidFill>
                  <a:srgbClr val="C00000"/>
                </a:solidFill>
                <a:effectLst/>
                <a:latin typeface="fkGrotesk"/>
              </a:rPr>
              <a:t>Practical Importance</a:t>
            </a:r>
          </a:p>
          <a:p>
            <a:pPr marL="285750" indent="-285750" algn="just">
              <a:buFont typeface="Wingdings" panose="05000000000000000000" pitchFamily="2" charset="2"/>
              <a:buChar char="q"/>
            </a:pPr>
            <a:r>
              <a:rPr lang="en-US" sz="2000" b="0" i="0" smtClean="0">
                <a:effectLst/>
                <a:latin typeface="fkGroteskNeue"/>
              </a:rPr>
              <a:t>High Q-tanks (large </a:t>
            </a:r>
            <a:r>
              <a:rPr lang="en-US" sz="2000" b="0" i="1" smtClean="0">
                <a:effectLst/>
                <a:latin typeface="KaTeX_Math"/>
              </a:rPr>
              <a:t>Rp</a:t>
            </a:r>
            <a:r>
              <a:rPr lang="en-US" sz="2000" b="0" i="0" smtClean="0">
                <a:effectLst/>
                <a:latin typeface="fkGroteskNeue"/>
              </a:rPr>
              <a:t>): narrow bandwidth, sharply defined resonance, critical for low-phase-noise oscillators and sensitive frequency-selective circuits.</a:t>
            </a:r>
          </a:p>
          <a:p>
            <a:pPr marL="285750" indent="-285750" algn="just">
              <a:buFont typeface="Wingdings" panose="05000000000000000000" pitchFamily="2" charset="2"/>
              <a:buChar char="q"/>
            </a:pPr>
            <a:r>
              <a:rPr lang="en-US" sz="2000" b="0" i="0" smtClean="0">
                <a:effectLst/>
                <a:latin typeface="fkGroteskNeue"/>
              </a:rPr>
              <a:t>Low Q-tanks (small </a:t>
            </a:r>
            <a:r>
              <a:rPr lang="en-US" sz="2000" b="0" i="1" smtClean="0">
                <a:effectLst/>
                <a:latin typeface="KaTeX_Math"/>
              </a:rPr>
              <a:t>Rp</a:t>
            </a:r>
            <a:r>
              <a:rPr lang="en-US" sz="2000" b="0" i="0" smtClean="0">
                <a:effectLst/>
                <a:latin typeface="fkGroteskNeue"/>
              </a:rPr>
              <a:t>): broad resonance, less frequency discrimination, more loss, higher phase noise.</a:t>
            </a:r>
          </a:p>
          <a:p>
            <a:pPr marL="285750" indent="-285750" algn="just">
              <a:buFont typeface="Wingdings" panose="05000000000000000000" pitchFamily="2" charset="2"/>
              <a:buChar char="q"/>
            </a:pPr>
            <a:r>
              <a:rPr lang="en-US" sz="2000" b="0" i="0" smtClean="0">
                <a:effectLst/>
                <a:latin typeface="fkGroteskNeue"/>
              </a:rPr>
              <a:t>Real-World Note: If inductor loss is modeled as series </a:t>
            </a:r>
            <a:r>
              <a:rPr lang="en-US" sz="2000" b="0" i="1" smtClean="0">
                <a:effectLst/>
                <a:latin typeface="KaTeX_Math"/>
              </a:rPr>
              <a:t>RS</a:t>
            </a:r>
            <a:r>
              <a:rPr lang="en-US" sz="2000" b="0" i="0" smtClean="0">
                <a:effectLst/>
                <a:latin typeface="fkGroteskNeue"/>
              </a:rPr>
              <a:t>, phase stays near zero at DC, but practical impact is small for most oscillator design uses</a:t>
            </a:r>
            <a:r>
              <a:rPr lang="en-US" b="0" i="0" smtClean="0">
                <a:effectLst/>
                <a:latin typeface="fkGroteskNeue"/>
              </a:rPr>
              <a:t>.</a:t>
            </a:r>
            <a:endParaRPr lang="en-US" b="0" i="0" dirty="0">
              <a:effectLst/>
              <a:latin typeface="fkGroteskNeue"/>
            </a:endParaRPr>
          </a:p>
        </p:txBody>
      </p:sp>
      <p:pic>
        <p:nvPicPr>
          <p:cNvPr id="8" name="Picture 7"/>
          <p:cNvPicPr>
            <a:picLocks noChangeAspect="1"/>
          </p:cNvPicPr>
          <p:nvPr/>
        </p:nvPicPr>
        <p:blipFill>
          <a:blip r:embed="rId2"/>
          <a:stretch>
            <a:fillRect/>
          </a:stretch>
        </p:blipFill>
        <p:spPr>
          <a:xfrm>
            <a:off x="3069042" y="5005286"/>
            <a:ext cx="5776784" cy="1852714"/>
          </a:xfrm>
          <a:prstGeom prst="rect">
            <a:avLst/>
          </a:prstGeom>
        </p:spPr>
      </p:pic>
    </p:spTree>
    <p:extLst>
      <p:ext uri="{BB962C8B-B14F-4D97-AF65-F5344CB8AC3E}">
        <p14:creationId xmlns:p14="http://schemas.microsoft.com/office/powerpoint/2010/main" val="38968671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4886" y="4273825"/>
            <a:ext cx="10774017" cy="190831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latin typeface="fkGrotesk"/>
              </a:rPr>
              <a:t>Takeaway</a:t>
            </a:r>
            <a:endParaRPr lang="en-US" dirty="0"/>
          </a:p>
        </p:txBody>
      </p:sp>
      <p:sp>
        <p:nvSpPr>
          <p:cNvPr id="3" name="Text Placeholder 2"/>
          <p:cNvSpPr>
            <a:spLocks noGrp="1"/>
          </p:cNvSpPr>
          <p:nvPr>
            <p:ph type="body" idx="1"/>
          </p:nvPr>
        </p:nvSpPr>
        <p:spPr>
          <a:xfrm>
            <a:off x="894246" y="1029179"/>
            <a:ext cx="10526183" cy="5386090"/>
          </a:xfrm>
        </p:spPr>
        <p:txBody>
          <a:bodyPr/>
          <a:lstStyle/>
          <a:p>
            <a:pPr marL="342900" indent="-342900" algn="l">
              <a:lnSpc>
                <a:spcPct val="150000"/>
              </a:lnSpc>
              <a:buFont typeface="Wingdings" panose="05000000000000000000" pitchFamily="2" charset="2"/>
              <a:buChar char="q"/>
            </a:pPr>
            <a:r>
              <a:rPr lang="en-US" dirty="0" smtClean="0">
                <a:latin typeface="fkGroteskNeue"/>
              </a:rPr>
              <a:t>A</a:t>
            </a:r>
            <a:r>
              <a:rPr lang="en-US" dirty="0">
                <a:latin typeface="fkGroteskNeue"/>
              </a:rPr>
              <a:t> larger parallel resistance in the LC tank sharpens both resonance (impedance peak) and phase transition, making oscillators more spectrally pure.</a:t>
            </a:r>
          </a:p>
          <a:p>
            <a:pPr marL="342900" indent="-342900" algn="l">
              <a:lnSpc>
                <a:spcPct val="150000"/>
              </a:lnSpc>
              <a:buFont typeface="Wingdings" panose="05000000000000000000" pitchFamily="2" charset="2"/>
              <a:buChar char="q"/>
            </a:pPr>
            <a:r>
              <a:rPr lang="en-US" dirty="0">
                <a:latin typeface="fkGroteskNeue"/>
              </a:rPr>
              <a:t>The slope of phase at resonance is proportional to </a:t>
            </a:r>
            <a:r>
              <a:rPr lang="en-US" i="1" dirty="0" err="1" smtClean="0">
                <a:latin typeface="KaTeX_Math"/>
              </a:rPr>
              <a:t>R</a:t>
            </a:r>
            <a:r>
              <a:rPr lang="en-US" i="1" baseline="-25000" dirty="0" err="1" smtClean="0">
                <a:latin typeface="KaTeX_Math"/>
              </a:rPr>
              <a:t>p</a:t>
            </a:r>
            <a:r>
              <a:rPr lang="en-US" dirty="0">
                <a:latin typeface="fkGroteskNeue"/>
              </a:rPr>
              <a:t>; doubling </a:t>
            </a:r>
            <a:r>
              <a:rPr lang="en-US" i="1" dirty="0" err="1" smtClean="0">
                <a:latin typeface="KaTeX_Math"/>
              </a:rPr>
              <a:t>R</a:t>
            </a:r>
            <a:r>
              <a:rPr lang="en-US" i="1" baseline="-25000" dirty="0" err="1" smtClean="0">
                <a:latin typeface="KaTeX_Math"/>
              </a:rPr>
              <a:t>p</a:t>
            </a:r>
            <a:r>
              <a:rPr lang="en-US" dirty="0">
                <a:latin typeface="fkGroteskNeue"/>
              </a:rPr>
              <a:t> doubles sharpness.</a:t>
            </a:r>
          </a:p>
          <a:p>
            <a:pPr marL="342900" indent="-342900" algn="l">
              <a:lnSpc>
                <a:spcPct val="150000"/>
              </a:lnSpc>
              <a:buFont typeface="Wingdings" panose="05000000000000000000" pitchFamily="2" charset="2"/>
              <a:buChar char="q"/>
            </a:pPr>
            <a:r>
              <a:rPr lang="en-US" dirty="0">
                <a:latin typeface="fkGroteskNeue"/>
              </a:rPr>
              <a:t>Use phase and impedance plots to explain how Q and loss shape oscillator stability and selectivity</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algn="ctr"/>
            <a:r>
              <a:rPr lang="en-US" b="1" dirty="0">
                <a:solidFill>
                  <a:srgbClr val="C00000"/>
                </a:solidFill>
                <a:latin typeface="fkGroteskNeue"/>
              </a:rPr>
              <a:t>This links the physical component </a:t>
            </a:r>
            <a:r>
              <a:rPr lang="en-US" b="1" dirty="0" smtClean="0">
                <a:solidFill>
                  <a:srgbClr val="C00000"/>
                </a:solidFill>
                <a:latin typeface="fkGroteskNeue"/>
              </a:rPr>
              <a:t>choice</a:t>
            </a:r>
          </a:p>
          <a:p>
            <a:pPr algn="ctr"/>
            <a:r>
              <a:rPr lang="en-US" b="1" dirty="0" smtClean="0">
                <a:solidFill>
                  <a:srgbClr val="C00000"/>
                </a:solidFill>
                <a:latin typeface="fkGroteskNeue"/>
              </a:rPr>
              <a:t> </a:t>
            </a:r>
          </a:p>
          <a:p>
            <a:pPr marL="342900" indent="-342900" algn="just">
              <a:lnSpc>
                <a:spcPct val="150000"/>
              </a:lnSpc>
              <a:buFont typeface="Wingdings" panose="05000000000000000000" pitchFamily="2" charset="2"/>
              <a:buChar char="q"/>
            </a:pPr>
            <a:r>
              <a:rPr lang="en-US" dirty="0" smtClean="0">
                <a:latin typeface="fkGroteskNeue"/>
              </a:rPr>
              <a:t>The high-Q </a:t>
            </a:r>
            <a:r>
              <a:rPr lang="en-US" dirty="0">
                <a:latin typeface="fkGroteskNeue"/>
              </a:rPr>
              <a:t>inductors/capacitors, low-loss PCB </a:t>
            </a:r>
            <a:r>
              <a:rPr lang="en-US" dirty="0" smtClean="0">
                <a:latin typeface="fkGroteskNeue"/>
              </a:rPr>
              <a:t>routing </a:t>
            </a:r>
            <a:r>
              <a:rPr lang="en-US" dirty="0">
                <a:latin typeface="fkGroteskNeue"/>
              </a:rPr>
              <a:t>to clear circuit metrics and graphical behavior, ideal for illustrating advanced oscillator design </a:t>
            </a:r>
            <a:r>
              <a:rPr lang="en-US" dirty="0" smtClean="0">
                <a:latin typeface="fkGroteskNeue"/>
              </a:rPr>
              <a:t>fundamentals.</a:t>
            </a:r>
          </a:p>
          <a:p>
            <a:pPr marL="342900" indent="-342900" algn="just">
              <a:lnSpc>
                <a:spcPct val="150000"/>
              </a:lnSpc>
              <a:buFont typeface="Wingdings" panose="05000000000000000000" pitchFamily="2" charset="2"/>
              <a:buChar char="q"/>
            </a:pPr>
            <a:r>
              <a:rPr lang="en-US" dirty="0" smtClean="0">
                <a:latin typeface="fkGroteskNeue"/>
              </a:rPr>
              <a:t>Here </a:t>
            </a:r>
            <a:r>
              <a:rPr lang="en-US" dirty="0">
                <a:latin typeface="fkGroteskNeue"/>
              </a:rPr>
              <a:t>is a detailed, pedagogically focused explanation of the loss effect and phase slope in LC tanks, directly building on the equations and figures in your textbook.</a:t>
            </a:r>
          </a:p>
          <a:p>
            <a:endParaRPr lang="en-US" dirty="0"/>
          </a:p>
        </p:txBody>
      </p:sp>
      <p:sp>
        <p:nvSpPr>
          <p:cNvPr id="5" name="Date Placeholder 4"/>
          <p:cNvSpPr>
            <a:spLocks noGrp="1"/>
          </p:cNvSpPr>
          <p:nvPr>
            <p:ph type="dt" sz="half" idx="6"/>
          </p:nvPr>
        </p:nvSpPr>
        <p:spPr>
          <a:xfrm>
            <a:off x="752647" y="6415176"/>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70D42E63-03D2-4B6C-927C-DF94DE681F2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84355" cy="251993"/>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77324918"/>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85192" y="1789044"/>
            <a:ext cx="10555356" cy="1898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44550" y="1327353"/>
            <a:ext cx="10314517" cy="2400657"/>
          </a:xfrm>
        </p:spPr>
        <p:txBody>
          <a:bodyPr/>
          <a:lstStyle/>
          <a:p>
            <a:pPr algn="ctr"/>
            <a:r>
              <a:rPr lang="en-US" b="1" dirty="0">
                <a:solidFill>
                  <a:srgbClr val="C00000"/>
                </a:solidFill>
                <a:latin typeface="fkGrotesk"/>
              </a:rPr>
              <a:t>Practical </a:t>
            </a:r>
            <a:r>
              <a:rPr lang="en-US" b="1" dirty="0" smtClean="0">
                <a:solidFill>
                  <a:srgbClr val="C00000"/>
                </a:solidFill>
                <a:latin typeface="fkGrotesk"/>
              </a:rPr>
              <a:t>Significance</a:t>
            </a:r>
          </a:p>
          <a:p>
            <a:pPr algn="ctr"/>
            <a:endParaRPr lang="en-US" b="1" dirty="0">
              <a:solidFill>
                <a:srgbClr val="C00000"/>
              </a:solidFill>
              <a:latin typeface="fkGrotesk"/>
            </a:endParaRPr>
          </a:p>
          <a:p>
            <a:pPr marL="342900" indent="-342900" algn="just">
              <a:buFont typeface="Wingdings" panose="05000000000000000000" pitchFamily="2" charset="2"/>
              <a:buChar char="q"/>
            </a:pPr>
            <a:r>
              <a:rPr lang="en-US" sz="2400" b="1" dirty="0">
                <a:latin typeface="fkGroteskNeue"/>
              </a:rPr>
              <a:t>High-Q (large </a:t>
            </a:r>
            <a:r>
              <a:rPr lang="en-US" sz="2400" b="1" i="1" dirty="0" err="1" smtClean="0">
                <a:latin typeface="KaTeX_Math"/>
              </a:rPr>
              <a:t>R</a:t>
            </a:r>
            <a:r>
              <a:rPr lang="en-US" sz="2400" b="1" i="1" baseline="-25000" dirty="0" err="1" smtClean="0">
                <a:latin typeface="KaTeX_Math"/>
              </a:rPr>
              <a:t>p</a:t>
            </a:r>
            <a:r>
              <a:rPr lang="en-US" sz="2400" b="1" dirty="0">
                <a:latin typeface="fkGroteskNeue"/>
              </a:rPr>
              <a:t>) </a:t>
            </a:r>
            <a:r>
              <a:rPr lang="en-US" sz="2400" dirty="0">
                <a:latin typeface="fkGroteskNeue"/>
              </a:rPr>
              <a:t>tanks discriminate frequency well, reduce close-in phase noise, and are desirable for precise oscillators.</a:t>
            </a:r>
          </a:p>
          <a:p>
            <a:pPr marL="342900" indent="-342900" algn="just">
              <a:buFont typeface="Wingdings" panose="05000000000000000000" pitchFamily="2" charset="2"/>
              <a:buChar char="q"/>
            </a:pPr>
            <a:r>
              <a:rPr lang="en-US" sz="2400" b="1" dirty="0">
                <a:latin typeface="fkGroteskNeue"/>
              </a:rPr>
              <a:t>Low-Q (small </a:t>
            </a:r>
            <a:r>
              <a:rPr lang="en-US" sz="2400" b="1" i="1" dirty="0" err="1" smtClean="0">
                <a:latin typeface="KaTeX_Math"/>
              </a:rPr>
              <a:t>R</a:t>
            </a:r>
            <a:r>
              <a:rPr lang="en-US" sz="2400" b="1" i="1" baseline="-25000" dirty="0" err="1" smtClean="0">
                <a:latin typeface="KaTeX_Math"/>
              </a:rPr>
              <a:t>p</a:t>
            </a:r>
            <a:r>
              <a:rPr lang="en-US" sz="2400" b="1" dirty="0">
                <a:latin typeface="fkGroteskNeue"/>
              </a:rPr>
              <a:t>) </a:t>
            </a:r>
            <a:r>
              <a:rPr lang="en-US" sz="2400" dirty="0">
                <a:latin typeface="fkGroteskNeue"/>
              </a:rPr>
              <a:t>tanks have broader, less defined resonance, leading to increased loss and degradation of oscillator purity</a:t>
            </a:r>
          </a:p>
          <a:p>
            <a:endParaRPr lang="en-US" dirty="0"/>
          </a:p>
        </p:txBody>
      </p:sp>
      <p:sp>
        <p:nvSpPr>
          <p:cNvPr id="5" name="Date Placeholder 4"/>
          <p:cNvSpPr>
            <a:spLocks noGrp="1"/>
          </p:cNvSpPr>
          <p:nvPr>
            <p:ph type="dt" sz="half" idx="6"/>
          </p:nvPr>
        </p:nvSpPr>
        <p:spPr>
          <a:xfrm>
            <a:off x="762585" y="640523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586CE79-7328-410D-A44E-9821C237B7F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560501" cy="188382"/>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285952" y="4077747"/>
            <a:ext cx="7220321" cy="2209914"/>
          </a:xfrm>
          <a:prstGeom prst="rect">
            <a:avLst/>
          </a:prstGeom>
        </p:spPr>
      </p:pic>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99329575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9532" y="1296063"/>
            <a:ext cx="11070203" cy="47548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t>Quality Factor </a:t>
            </a:r>
            <a:r>
              <a:rPr lang="en-US" i="1" dirty="0" smtClean="0"/>
              <a:t>Q</a:t>
            </a:r>
            <a:r>
              <a:rPr lang="en-US" dirty="0"/>
              <a:t> </a:t>
            </a:r>
            <a:r>
              <a:rPr lang="en-US" dirty="0" smtClean="0"/>
              <a:t>Fundamentals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7200" cy="4765087"/>
              </a:xfrm>
            </p:spPr>
            <p:txBody>
              <a:bodyPr/>
              <a:lstStyle/>
              <a:p>
                <a:pPr marL="342900" marR="0" lvl="0" indent="-342900" algn="just">
                  <a:spcBef>
                    <a:spcPts val="0"/>
                  </a:spcBef>
                  <a:spcAft>
                    <a:spcPts val="600"/>
                  </a:spcAft>
                  <a:buFont typeface="Wingdings" panose="05000000000000000000" pitchFamily="2" charset="2"/>
                  <a:buChar char="q"/>
                  <a:tabLst>
                    <a:tab pos="571500" algn="l"/>
                  </a:tabLst>
                </a:pP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quantifies how </a:t>
                </a:r>
                <a:r>
                  <a:rPr lang="en-US" b="1" dirty="0">
                    <a:solidFill>
                      <a:srgbClr val="000000"/>
                    </a:solidFill>
                    <a:latin typeface="inter"/>
                    <a:ea typeface="inter"/>
                    <a:cs typeface="inter"/>
                  </a:rPr>
                  <a:t>“good”</a:t>
                </a:r>
                <a:r>
                  <a:rPr lang="en-US" dirty="0">
                    <a:solidFill>
                      <a:srgbClr val="000000"/>
                    </a:solidFill>
                    <a:latin typeface="inter"/>
                    <a:ea typeface="inter"/>
                    <a:cs typeface="inter"/>
                  </a:rPr>
                  <a:t> an inductor or resonator is; higher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means lower loss and sharper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0"/>
                  </a:spcBef>
                  <a:spcAft>
                    <a:spcPts val="600"/>
                  </a:spcAft>
                  <a:buFont typeface="Wingdings" panose="05000000000000000000" pitchFamily="2" charset="2"/>
                  <a:buChar char="q"/>
                  <a:tabLst>
                    <a:tab pos="571500" algn="l"/>
                  </a:tabLst>
                </a:pPr>
                <a:r>
                  <a:rPr lang="en-US" dirty="0">
                    <a:solidFill>
                      <a:srgbClr val="000000"/>
                    </a:solidFill>
                    <a:latin typeface="inter"/>
                    <a:ea typeface="inter"/>
                    <a:cs typeface="inter"/>
                  </a:rPr>
                  <a:t>For an inductor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 with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lgn="just">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0"/>
                  </a:spcBef>
                  <a:spcAft>
                    <a:spcPts val="600"/>
                  </a:spcAft>
                  <a:buFont typeface="Wingdings" panose="05000000000000000000" pitchFamily="2" charset="2"/>
                  <a:buChar char="q"/>
                  <a:tabLst>
                    <a:tab pos="571500" algn="l"/>
                  </a:tabLst>
                </a:pPr>
                <a:r>
                  <a:rPr lang="en-US" dirty="0">
                    <a:solidFill>
                      <a:srgbClr val="000000"/>
                    </a:solidFill>
                    <a:latin typeface="inter"/>
                    <a:ea typeface="inter"/>
                    <a:cs typeface="inter"/>
                  </a:rPr>
                  <a:t>Alternatively, from equivalent </a:t>
                </a:r>
                <a:r>
                  <a:rPr lang="en-US" i="1" dirty="0">
                    <a:solidFill>
                      <a:srgbClr val="000000"/>
                    </a:solidFill>
                    <a:latin typeface="inter"/>
                    <a:ea typeface="inter"/>
                    <a:cs typeface="inter"/>
                  </a:rPr>
                  <a:t>parallel</a:t>
                </a:r>
                <a:r>
                  <a:rPr lang="en-US" dirty="0">
                    <a:solidFill>
                      <a:srgbClr val="000000"/>
                    </a:solidFill>
                    <a:latin typeface="inter"/>
                    <a:ea typeface="inter"/>
                    <a:cs typeface="inter"/>
                  </a:rPr>
                  <a:t>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and inductance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lgn="just">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spcBef>
                    <a:spcPts val="0"/>
                  </a:spcBef>
                  <a:spcAft>
                    <a:spcPts val="600"/>
                  </a:spcAft>
                  <a:buFont typeface="Wingdings" panose="05000000000000000000" pitchFamily="2" charset="2"/>
                  <a:buChar char="q"/>
                  <a:tabLst>
                    <a:tab pos="571500" algn="l"/>
                  </a:tabLst>
                </a:pPr>
                <a:r>
                  <a:rPr lang="en-US" dirty="0">
                    <a:solidFill>
                      <a:srgbClr val="000000"/>
                    </a:solidFill>
                    <a:latin typeface="inter"/>
                    <a:ea typeface="inter"/>
                    <a:cs typeface="inter"/>
                  </a:rPr>
                  <a:t>Thus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should be large for a high-Q and better oscillator tank.</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spcBef>
                    <a:spcPts val="0"/>
                  </a:spcBef>
                  <a:spcAft>
                    <a:spcPts val="600"/>
                  </a:spcAft>
                  <a:buFont typeface="Wingdings" panose="05000000000000000000" pitchFamily="2" charset="2"/>
                  <a:buChar char="q"/>
                  <a:tabLst>
                    <a:tab pos="571500" algn="l"/>
                  </a:tabLst>
                </a:pP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can also be viewed as proportional to the </a:t>
                </a:r>
                <a:r>
                  <a:rPr lang="en-US" b="1" dirty="0">
                    <a:solidFill>
                      <a:srgbClr val="000000"/>
                    </a:solidFill>
                    <a:latin typeface="inter"/>
                    <a:ea typeface="inter"/>
                    <a:cs typeface="inter"/>
                  </a:rPr>
                  <a:t>phase slope</a:t>
                </a:r>
                <a:r>
                  <a:rPr lang="en-US" dirty="0">
                    <a:solidFill>
                      <a:srgbClr val="000000"/>
                    </a:solidFill>
                    <a:latin typeface="inter"/>
                    <a:ea typeface="inter"/>
                    <a:cs typeface="inter"/>
                  </a:rPr>
                  <a:t> of the tank impedance at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7200" cy="4765087"/>
              </a:xfrm>
              <a:blipFill>
                <a:blip r:embed="rId2"/>
                <a:stretch>
                  <a:fillRect l="-1379" t="-1536" r="-1493"/>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D728BBF0-6746-4B62-9B52-244E638645D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60501" cy="228139"/>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294300796"/>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7420395" y="1076945"/>
            <a:ext cx="4543239" cy="173099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p:nvSpPr>
        <p:spPr>
          <a:xfrm>
            <a:off x="3981280" y="1140977"/>
            <a:ext cx="2251739" cy="176721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p:cNvSpPr/>
          <p:nvPr/>
        </p:nvSpPr>
        <p:spPr>
          <a:xfrm>
            <a:off x="602312" y="1113184"/>
            <a:ext cx="2307865" cy="180494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9"/>
          <p:cNvSpPr/>
          <p:nvPr/>
        </p:nvSpPr>
        <p:spPr>
          <a:xfrm>
            <a:off x="7472680" y="3007360"/>
            <a:ext cx="4658360" cy="269748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9"/>
          <p:cNvSpPr/>
          <p:nvPr/>
        </p:nvSpPr>
        <p:spPr>
          <a:xfrm>
            <a:off x="3652520" y="3198874"/>
            <a:ext cx="3002280" cy="1875894"/>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9"/>
          <p:cNvSpPr/>
          <p:nvPr/>
        </p:nvSpPr>
        <p:spPr>
          <a:xfrm>
            <a:off x="86360" y="3188714"/>
            <a:ext cx="3002280" cy="1875894"/>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Amplifier with Tuned </a:t>
            </a:r>
            <a:r>
              <a:rPr lang="en-US" dirty="0" smtClean="0">
                <a:latin typeface="fkGrotesk"/>
              </a:rPr>
              <a:t>Load</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696199" y="3727770"/>
                <a:ext cx="4257041" cy="1603003"/>
              </a:xfrm>
            </p:spPr>
            <p:txBody>
              <a:bodyPr/>
              <a:lstStyle/>
              <a:p>
                <a:pPr marR="0" lvl="0" algn="just">
                  <a:spcBef>
                    <a:spcPts val="525"/>
                  </a:spcBef>
                  <a:spcAft>
                    <a:spcPts val="525"/>
                  </a:spcAft>
                  <a:tabLst>
                    <a:tab pos="571500" algn="l"/>
                  </a:tabLst>
                </a:pPr>
                <a:r>
                  <a:rPr lang="en-US" dirty="0" smtClean="0">
                    <a:solidFill>
                      <a:srgbClr val="000000"/>
                    </a:solidFill>
                    <a:latin typeface="inter"/>
                    <a:ea typeface="inter"/>
                    <a:cs typeface="inter"/>
                  </a:rPr>
                  <a:t>Frequency </a:t>
                </a:r>
                <a:r>
                  <a:rPr lang="en-US" dirty="0">
                    <a:solidFill>
                      <a:srgbClr val="000000"/>
                    </a:solidFill>
                    <a:latin typeface="inter"/>
                    <a:ea typeface="inter"/>
                    <a:cs typeface="inter"/>
                  </a:rPr>
                  <a:t>response highlights sharp gain peak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 and 180° phase shift.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inter"/>
                    <a:ea typeface="inter"/>
                    <a:cs typeface="inter"/>
                  </a:rPr>
                  <a:t>This tank behaves like a </a:t>
                </a:r>
                <a:r>
                  <a:rPr lang="en-US" b="1" dirty="0">
                    <a:solidFill>
                      <a:srgbClr val="000000"/>
                    </a:solidFill>
                    <a:latin typeface="inter"/>
                    <a:ea typeface="inter"/>
                    <a:cs typeface="inter"/>
                  </a:rPr>
                  <a:t>band-pass filter</a:t>
                </a:r>
                <a:r>
                  <a:rPr lang="en-US" dirty="0">
                    <a:solidFill>
                      <a:srgbClr val="000000"/>
                    </a:solidFill>
                    <a:latin typeface="inter"/>
                    <a:ea typeface="inter"/>
                    <a:cs typeface="inter"/>
                  </a:rPr>
                  <a:t> (BPF), enhancing amplification near resonance and suppressing off-resonance signals</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7696199" y="3727770"/>
                <a:ext cx="4257041" cy="1603003"/>
              </a:xfrm>
              <a:blipFill>
                <a:blip r:embed="rId2"/>
                <a:stretch>
                  <a:fillRect l="-3577" t="-4580" r="-3577" b="-28244"/>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5D7AFE8-211F-49F2-9021-26A942E22230}"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20744" cy="251993"/>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duotone>
              <a:prstClr val="black"/>
              <a:schemeClr val="bg1">
                <a:lumMod val="65000"/>
                <a:tint val="45000"/>
                <a:satMod val="400000"/>
              </a:schemeClr>
            </a:duotone>
          </a:blip>
          <a:srcRect l="61116" t="3858" r="3837" b="49603"/>
          <a:stretch/>
        </p:blipFill>
        <p:spPr>
          <a:xfrm>
            <a:off x="7673320" y="1135629"/>
            <a:ext cx="1964862" cy="1648031"/>
          </a:xfrm>
          <a:prstGeom prst="rect">
            <a:avLst/>
          </a:prstGeom>
        </p:spPr>
      </p:pic>
      <p:sp>
        <p:nvSpPr>
          <p:cNvPr id="8" name="Rectangle 7"/>
          <p:cNvSpPr/>
          <p:nvPr/>
        </p:nvSpPr>
        <p:spPr>
          <a:xfrm>
            <a:off x="8936739" y="2807897"/>
            <a:ext cx="1688283" cy="276999"/>
          </a:xfrm>
          <a:prstGeom prst="rect">
            <a:avLst/>
          </a:prstGeom>
        </p:spPr>
        <p:txBody>
          <a:bodyPr wrap="none">
            <a:spAutoFit/>
          </a:bodyPr>
          <a:lstStyle/>
          <a:p>
            <a:pPr algn="ctr"/>
            <a:r>
              <a:rPr lang="en-US" sz="1200" b="1" i="0" u="none" strike="noStrike" baseline="0" dirty="0" smtClean="0">
                <a:solidFill>
                  <a:srgbClr val="FF0000"/>
                </a:solidFill>
                <a:latin typeface="T3Font_249"/>
              </a:rPr>
              <a:t>frequency response.</a:t>
            </a:r>
            <a:endParaRPr lang="en-US" sz="3600" b="1" dirty="0">
              <a:solidFill>
                <a:srgbClr val="FF0000"/>
              </a:solidFill>
            </a:endParaRPr>
          </a:p>
        </p:txBody>
      </p:sp>
      <p:pic>
        <p:nvPicPr>
          <p:cNvPr id="9" name="Picture 8"/>
          <p:cNvPicPr>
            <a:picLocks noChangeAspect="1"/>
          </p:cNvPicPr>
          <p:nvPr/>
        </p:nvPicPr>
        <p:blipFill rotWithShape="1">
          <a:blip r:embed="rId3">
            <a:duotone>
              <a:prstClr val="black"/>
              <a:schemeClr val="bg1">
                <a:lumMod val="65000"/>
                <a:tint val="45000"/>
                <a:satMod val="400000"/>
              </a:schemeClr>
            </a:duotone>
          </a:blip>
          <a:srcRect l="5312" t="7340" r="67721" b="46771"/>
          <a:stretch/>
        </p:blipFill>
        <p:spPr>
          <a:xfrm>
            <a:off x="946540" y="1192934"/>
            <a:ext cx="1548055" cy="1663971"/>
          </a:xfrm>
          <a:prstGeom prst="rect">
            <a:avLst/>
          </a:prstGeom>
        </p:spPr>
      </p:pic>
      <p:pic>
        <p:nvPicPr>
          <p:cNvPr id="10" name="Picture 9"/>
          <p:cNvPicPr>
            <a:picLocks noChangeAspect="1"/>
          </p:cNvPicPr>
          <p:nvPr/>
        </p:nvPicPr>
        <p:blipFill rotWithShape="1">
          <a:blip r:embed="rId3">
            <a:duotone>
              <a:prstClr val="black"/>
              <a:schemeClr val="bg1">
                <a:lumMod val="65000"/>
                <a:tint val="45000"/>
                <a:satMod val="400000"/>
              </a:schemeClr>
            </a:duotone>
          </a:blip>
          <a:srcRect l="35423" t="18596" r="42770" b="47853"/>
          <a:stretch/>
        </p:blipFill>
        <p:spPr>
          <a:xfrm>
            <a:off x="4353593" y="1247163"/>
            <a:ext cx="1473585" cy="1432007"/>
          </a:xfrm>
          <a:prstGeom prst="rect">
            <a:avLst/>
          </a:prstGeom>
        </p:spPr>
      </p:pic>
      <mc:AlternateContent xmlns:mc="http://schemas.openxmlformats.org/markup-compatibility/2006" xmlns:a14="http://schemas.microsoft.com/office/drawing/2010/main">
        <mc:Choice Requires="a14">
          <p:sp>
            <p:nvSpPr>
              <p:cNvPr id="11" name="Rectangle 10"/>
              <p:cNvSpPr/>
              <p:nvPr/>
            </p:nvSpPr>
            <p:spPr>
              <a:xfrm>
                <a:off x="184755" y="3648757"/>
                <a:ext cx="2812445" cy="1347100"/>
              </a:xfrm>
              <a:prstGeom prst="rect">
                <a:avLst/>
              </a:prstGeom>
            </p:spPr>
            <p:txBody>
              <a:bodyPr wrap="square">
                <a:spAutoFit/>
              </a:bodyPr>
              <a:lstStyle/>
              <a:p>
                <a:pPr algn="just"/>
                <a:r>
                  <a:rPr lang="en-US" sz="2000" kern="0" dirty="0">
                    <a:solidFill>
                      <a:srgbClr val="000000"/>
                    </a:solidFill>
                    <a:latin typeface="inter"/>
                    <a:ea typeface="inter"/>
                    <a:cs typeface="inter"/>
                  </a:rPr>
                  <a:t>Shows a common-source (CS) stage loaded by a parallel </a:t>
                </a:r>
                <a:r>
                  <a:rPr lang="en-US" sz="2000" kern="0" dirty="0" err="1">
                    <a:solidFill>
                      <a:srgbClr val="000000"/>
                    </a:solidFill>
                    <a:latin typeface="inter"/>
                    <a:ea typeface="inter"/>
                    <a:cs typeface="inter"/>
                  </a:rPr>
                  <a:t>lossy</a:t>
                </a:r>
                <a:r>
                  <a:rPr lang="en-US" sz="2000" kern="0" dirty="0">
                    <a:solidFill>
                      <a:srgbClr val="000000"/>
                    </a:solidFill>
                    <a:latin typeface="inter"/>
                    <a:ea typeface="inter"/>
                    <a:cs typeface="inter"/>
                  </a:rPr>
                  <a:t> LC tank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184755" y="3648757"/>
                <a:ext cx="2812445" cy="1347100"/>
              </a:xfrm>
              <a:prstGeom prst="rect">
                <a:avLst/>
              </a:prstGeom>
              <a:blipFill>
                <a:blip r:embed="rId4"/>
                <a:stretch>
                  <a:fillRect l="-2165" t="-2262" r="-2165" b="-54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3632744" y="3686388"/>
                <a:ext cx="3032216" cy="1347100"/>
              </a:xfrm>
              <a:prstGeom prst="rect">
                <a:avLst/>
              </a:prstGeom>
            </p:spPr>
            <p:txBody>
              <a:bodyPr wrap="square">
                <a:spAutoFit/>
              </a:bodyPr>
              <a:lstStyle/>
              <a:p>
                <a:pPr lvl="0" algn="just">
                  <a:spcBef>
                    <a:spcPts val="525"/>
                  </a:spcBef>
                  <a:spcAft>
                    <a:spcPts val="525"/>
                  </a:spcAft>
                  <a:tabLst>
                    <a:tab pos="571500" algn="l"/>
                  </a:tabLst>
                </a:pPr>
                <a:r>
                  <a:rPr lang="en-US" sz="2000" kern="0" dirty="0">
                    <a:solidFill>
                      <a:srgbClr val="000000"/>
                    </a:solidFill>
                    <a:latin typeface="inter"/>
                    <a:ea typeface="inter"/>
                    <a:cs typeface="inter"/>
                  </a:rPr>
                  <a:t>Equivalent circuit at resonance, simplifying to an effective voltage gain proportional to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2000" kern="0" dirty="0">
                    <a:solidFill>
                      <a:srgbClr val="000000"/>
                    </a:solidFill>
                    <a:latin typeface="inter"/>
                    <a:ea typeface="inter"/>
                    <a:cs typeface="inter"/>
                  </a:rPr>
                  <a:t>.</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3632744" y="3686388"/>
                <a:ext cx="3032216" cy="1347100"/>
              </a:xfrm>
              <a:prstGeom prst="rect">
                <a:avLst/>
              </a:prstGeom>
              <a:blipFill>
                <a:blip r:embed="rId5"/>
                <a:stretch>
                  <a:fillRect l="-2213" t="-2262" r="-2012" b="-5430"/>
                </a:stretch>
              </a:blipFill>
            </p:spPr>
            <p:txBody>
              <a:bodyPr/>
              <a:lstStyle/>
              <a:p>
                <a:r>
                  <a:rPr lang="en-US">
                    <a:noFill/>
                  </a:rPr>
                  <a:t> </a:t>
                </a:r>
              </a:p>
            </p:txBody>
          </p:sp>
        </mc:Fallback>
      </mc:AlternateContent>
      <p:sp>
        <p:nvSpPr>
          <p:cNvPr id="13" name="Rectangle 12"/>
          <p:cNvSpPr/>
          <p:nvPr/>
        </p:nvSpPr>
        <p:spPr>
          <a:xfrm>
            <a:off x="587948" y="2901543"/>
            <a:ext cx="2249334" cy="276999"/>
          </a:xfrm>
          <a:prstGeom prst="rect">
            <a:avLst/>
          </a:prstGeom>
        </p:spPr>
        <p:txBody>
          <a:bodyPr wrap="none">
            <a:spAutoFit/>
          </a:bodyPr>
          <a:lstStyle/>
          <a:p>
            <a:r>
              <a:rPr lang="en-US" sz="1200" b="1" dirty="0">
                <a:solidFill>
                  <a:srgbClr val="FF0000"/>
                </a:solidFill>
                <a:latin typeface="T3Font_249"/>
              </a:rPr>
              <a:t>CS stage using a tuned load</a:t>
            </a:r>
            <a:endParaRPr lang="en-US" dirty="0"/>
          </a:p>
        </p:txBody>
      </p:sp>
      <p:sp>
        <p:nvSpPr>
          <p:cNvPr id="14" name="Rectangle 13"/>
          <p:cNvSpPr/>
          <p:nvPr/>
        </p:nvSpPr>
        <p:spPr>
          <a:xfrm>
            <a:off x="3737049" y="2874313"/>
            <a:ext cx="2778519" cy="276999"/>
          </a:xfrm>
          <a:prstGeom prst="rect">
            <a:avLst/>
          </a:prstGeom>
        </p:spPr>
        <p:txBody>
          <a:bodyPr wrap="square">
            <a:spAutoFit/>
          </a:bodyPr>
          <a:lstStyle/>
          <a:p>
            <a:pPr lvl="0" algn="ctr"/>
            <a:r>
              <a:rPr lang="en-US" sz="1200" b="1" dirty="0" smtClean="0">
                <a:solidFill>
                  <a:srgbClr val="FF0000"/>
                </a:solidFill>
                <a:latin typeface="T3Font_249"/>
              </a:rPr>
              <a:t>Equivalent </a:t>
            </a:r>
            <a:r>
              <a:rPr lang="en-US" sz="1200" b="1" dirty="0">
                <a:solidFill>
                  <a:srgbClr val="FF0000"/>
                </a:solidFill>
                <a:latin typeface="T3Font_249"/>
              </a:rPr>
              <a:t>circuit </a:t>
            </a:r>
            <a:r>
              <a:rPr lang="en-US" sz="1200" b="1" dirty="0" smtClean="0">
                <a:solidFill>
                  <a:srgbClr val="FF0000"/>
                </a:solidFill>
                <a:latin typeface="T3Font_249"/>
              </a:rPr>
              <a:t>at resonance</a:t>
            </a:r>
            <a:endParaRPr lang="en-US" dirty="0"/>
          </a:p>
        </p:txBody>
      </p:sp>
      <p:pic>
        <p:nvPicPr>
          <p:cNvPr id="15" name="Picture 14"/>
          <p:cNvPicPr>
            <a:picLocks noChangeAspect="1"/>
          </p:cNvPicPr>
          <p:nvPr/>
        </p:nvPicPr>
        <p:blipFill rotWithShape="1">
          <a:blip r:embed="rId3">
            <a:duotone>
              <a:prstClr val="black"/>
              <a:schemeClr val="bg1">
                <a:lumMod val="65000"/>
                <a:tint val="45000"/>
                <a:satMod val="400000"/>
              </a:schemeClr>
            </a:duotone>
          </a:blip>
          <a:srcRect l="60580" t="53986" r="3837" b="2631"/>
          <a:stretch/>
        </p:blipFill>
        <p:spPr>
          <a:xfrm>
            <a:off x="9757709" y="1149022"/>
            <a:ext cx="2042683" cy="1573056"/>
          </a:xfrm>
          <a:prstGeom prst="rect">
            <a:avLst/>
          </a:prstGeom>
        </p:spPr>
      </p:pic>
      <p:sp>
        <p:nvSpPr>
          <p:cNvPr id="1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3015281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84926" y="2226014"/>
            <a:ext cx="10382083" cy="80849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712363" y="3763500"/>
            <a:ext cx="10555356" cy="218414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92150" y="325120"/>
            <a:ext cx="11029950" cy="384721"/>
          </a:xfrm>
        </p:spPr>
        <p:txBody>
          <a:bodyPr/>
          <a:lstStyle/>
          <a:p>
            <a:r>
              <a:rPr lang="en-US" sz="2500" dirty="0">
                <a:latin typeface="fkGrotesk"/>
              </a:rPr>
              <a:t>Explaining Q Factor for Ring Oscillators — Fundamental, Intuitive </a:t>
            </a:r>
            <a:r>
              <a:rPr lang="en-US" sz="2500" dirty="0" smtClean="0">
                <a:latin typeface="fkGrotesk"/>
              </a:rPr>
              <a:t>Approach</a:t>
            </a:r>
            <a:endParaRPr lang="en-US" sz="2500" dirty="0"/>
          </a:p>
        </p:txBody>
      </p:sp>
      <p:sp>
        <p:nvSpPr>
          <p:cNvPr id="3" name="Text Placeholder 2"/>
          <p:cNvSpPr>
            <a:spLocks noGrp="1"/>
          </p:cNvSpPr>
          <p:nvPr>
            <p:ph type="body" idx="1"/>
          </p:nvPr>
        </p:nvSpPr>
        <p:spPr>
          <a:xfrm>
            <a:off x="802217" y="1179187"/>
            <a:ext cx="10610850" cy="861774"/>
          </a:xfrm>
        </p:spPr>
        <p:txBody>
          <a:bodyPr/>
          <a:lstStyle/>
          <a:p>
            <a:pPr algn="just"/>
            <a:r>
              <a:rPr lang="en-US" sz="1800" dirty="0" smtClean="0">
                <a:latin typeface="fkGroteskNeue"/>
              </a:rPr>
              <a:t>The</a:t>
            </a:r>
            <a:r>
              <a:rPr lang="en-US" sz="1800" dirty="0">
                <a:latin typeface="fkGroteskNeue"/>
              </a:rPr>
              <a:t> Quality Factor (Q) measures how effectively an oscillator stores energy compared to how much energy it loses each cycle. Higher Q means lower energy loss and more stable, pure oscillations</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8E0AC65-9F20-4BC1-BB09-E3D72F0D0C24}"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53886" cy="254245"/>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24746" y="1877044"/>
            <a:ext cx="10600267" cy="1200329"/>
          </a:xfrm>
          <a:prstGeom prst="rect">
            <a:avLst/>
          </a:prstGeom>
          <a:ln w="38100">
            <a:solidFill>
              <a:srgbClr val="002060"/>
            </a:solidFill>
          </a:ln>
        </p:spPr>
        <p:txBody>
          <a:bodyPr wrap="square">
            <a:spAutoFit/>
          </a:bodyPr>
          <a:lstStyle/>
          <a:p>
            <a:pPr algn="ctr"/>
            <a:r>
              <a:rPr lang="en-US" b="1" i="0" dirty="0" smtClean="0">
                <a:solidFill>
                  <a:srgbClr val="C00000"/>
                </a:solidFill>
                <a:effectLst/>
                <a:latin typeface="fkGrotesk"/>
              </a:rPr>
              <a:t>What is Q Factor?</a:t>
            </a:r>
          </a:p>
          <a:p>
            <a:pPr marL="342900" indent="-342900">
              <a:buFont typeface="Wingdings" panose="05000000000000000000" pitchFamily="2" charset="2"/>
              <a:buChar char="q"/>
            </a:pPr>
            <a:r>
              <a:rPr lang="en-US" b="0" i="1" dirty="0" smtClean="0">
                <a:effectLst/>
                <a:latin typeface="fkGroteskNeue"/>
              </a:rPr>
              <a:t>Q factor</a:t>
            </a:r>
            <a:r>
              <a:rPr lang="en-US" b="0" i="0" dirty="0" smtClean="0">
                <a:effectLst/>
                <a:latin typeface="fkGroteskNeue"/>
              </a:rPr>
              <a:t> = (Energy stored) / (Energy lost per cycle), or equivalently, how many oscillation cycles happen before the energy decays significantly.</a:t>
            </a:r>
          </a:p>
          <a:p>
            <a:pPr marL="342900" indent="-342900">
              <a:buFont typeface="Wingdings" panose="05000000000000000000" pitchFamily="2" charset="2"/>
              <a:buChar char="q"/>
            </a:pPr>
            <a:r>
              <a:rPr lang="en-US" b="0" i="0" dirty="0" smtClean="0">
                <a:effectLst/>
                <a:latin typeface="fkGroteskNeue"/>
              </a:rPr>
              <a:t>Higher Q → oscillations die out slowly if not sustained; Lower Q → faster decay.</a:t>
            </a:r>
            <a:endParaRPr lang="en-US" b="0" i="0" dirty="0">
              <a:effectLst/>
              <a:latin typeface="fkGroteskNeue"/>
            </a:endParaRPr>
          </a:p>
        </p:txBody>
      </p:sp>
      <p:sp>
        <p:nvSpPr>
          <p:cNvPr id="8" name="Rectangle 7"/>
          <p:cNvSpPr/>
          <p:nvPr/>
        </p:nvSpPr>
        <p:spPr>
          <a:xfrm>
            <a:off x="660399" y="3432307"/>
            <a:ext cx="10728961" cy="2585323"/>
          </a:xfrm>
          <a:prstGeom prst="rect">
            <a:avLst/>
          </a:prstGeom>
          <a:ln w="38100">
            <a:solidFill>
              <a:srgbClr val="002060"/>
            </a:solidFill>
          </a:ln>
        </p:spPr>
        <p:txBody>
          <a:bodyPr wrap="square">
            <a:spAutoFit/>
          </a:bodyPr>
          <a:lstStyle/>
          <a:p>
            <a:pPr algn="ctr"/>
            <a:r>
              <a:rPr lang="en-US" b="1" i="0" dirty="0" smtClean="0">
                <a:solidFill>
                  <a:srgbClr val="C00000"/>
                </a:solidFill>
                <a:effectLst/>
                <a:latin typeface="fkGrotesk"/>
              </a:rPr>
              <a:t>Q Factor in Ring Oscillators</a:t>
            </a:r>
          </a:p>
          <a:p>
            <a:pPr marL="285750" indent="-285750">
              <a:buFont typeface="Wingdings" panose="05000000000000000000" pitchFamily="2" charset="2"/>
              <a:buChar char="q"/>
            </a:pPr>
            <a:r>
              <a:rPr lang="en-US" b="0" i="0" dirty="0" smtClean="0">
                <a:effectLst/>
                <a:latin typeface="fkGroteskNeue"/>
              </a:rPr>
              <a:t>In a ring oscillator, energy is not stored in a traditional reactive tank (LC) but is instead maintained through delay and gain in cascaded inverter stages.</a:t>
            </a:r>
          </a:p>
          <a:p>
            <a:pPr marL="285750" indent="-285750">
              <a:buFont typeface="Wingdings" panose="05000000000000000000" pitchFamily="2" charset="2"/>
              <a:buChar char="q"/>
            </a:pPr>
            <a:r>
              <a:rPr lang="en-US" b="0" i="0" dirty="0" smtClean="0">
                <a:effectLst/>
                <a:latin typeface="fkGroteskNeue"/>
              </a:rPr>
              <a:t>Q is generally low (3–10 range) because of intrinsic device losses, switching losses, and lack of real energy storage.</a:t>
            </a:r>
          </a:p>
          <a:p>
            <a:r>
              <a:rPr lang="en-US" b="0" i="0" dirty="0" smtClean="0">
                <a:effectLst/>
                <a:latin typeface="fkGroteskNeue"/>
              </a:rPr>
              <a:t>This means:</a:t>
            </a:r>
          </a:p>
          <a:p>
            <a:pPr marL="742950" lvl="1" indent="-285750">
              <a:buFont typeface="Arial" panose="020B0604020202020204" pitchFamily="34" charset="0"/>
              <a:buChar char="•"/>
            </a:pPr>
            <a:r>
              <a:rPr lang="en-US" b="0" i="0" dirty="0" smtClean="0">
                <a:effectLst/>
                <a:latin typeface="fkGroteskNeue"/>
              </a:rPr>
              <a:t>Oscillations have relatively broad frequency spectrum (less selective).</a:t>
            </a:r>
          </a:p>
          <a:p>
            <a:pPr marL="742950" lvl="1" indent="-285750">
              <a:buFont typeface="Arial" panose="020B0604020202020204" pitchFamily="34" charset="0"/>
              <a:buChar char="•"/>
            </a:pPr>
            <a:r>
              <a:rPr lang="en-US" b="0" i="0" dirty="0" smtClean="0">
                <a:effectLst/>
                <a:latin typeface="fkGroteskNeue"/>
              </a:rPr>
              <a:t>More phase noise compared to LC oscillators.</a:t>
            </a:r>
          </a:p>
          <a:p>
            <a:pPr marL="742950" lvl="1" indent="-285750">
              <a:buFont typeface="Arial" panose="020B0604020202020204" pitchFamily="34" charset="0"/>
              <a:buChar char="•"/>
            </a:pPr>
            <a:r>
              <a:rPr lang="en-US" b="0" i="0" dirty="0" smtClean="0">
                <a:effectLst/>
                <a:latin typeface="fkGroteskNeue"/>
              </a:rPr>
              <a:t>But it is simple, compact, and easily tuned by supply voltage or transistor sizing.</a:t>
            </a:r>
            <a:endParaRPr lang="en-US" b="0" i="0" dirty="0">
              <a:effectLst/>
              <a:latin typeface="fkGroteskNeue"/>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98005562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01376" y="1246172"/>
            <a:ext cx="10555356" cy="163459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Measuring and Visualizing Q: The Ring-Down </a:t>
            </a:r>
            <a:r>
              <a:rPr lang="en-US" dirty="0" smtClean="0">
                <a:latin typeface="fkGrotesk"/>
              </a:rPr>
              <a:t>Method</a:t>
            </a:r>
            <a:endParaRPr lang="en-US" dirty="0"/>
          </a:p>
        </p:txBody>
      </p:sp>
      <p:sp>
        <p:nvSpPr>
          <p:cNvPr id="3" name="Text Placeholder 2"/>
          <p:cNvSpPr>
            <a:spLocks noGrp="1"/>
          </p:cNvSpPr>
          <p:nvPr>
            <p:ph type="body" idx="1"/>
          </p:nvPr>
        </p:nvSpPr>
        <p:spPr>
          <a:xfrm>
            <a:off x="844551" y="1327353"/>
            <a:ext cx="10560050" cy="1538883"/>
          </a:xfrm>
        </p:spPr>
        <p:txBody>
          <a:bodyPr/>
          <a:lstStyle/>
          <a:p>
            <a:pPr marL="342900" indent="-342900" algn="just">
              <a:buFont typeface="Wingdings" panose="05000000000000000000" pitchFamily="2" charset="2"/>
              <a:buChar char="q"/>
            </a:pPr>
            <a:r>
              <a:rPr lang="en-US" dirty="0" smtClean="0">
                <a:latin typeface="fkGroteskNeue"/>
              </a:rPr>
              <a:t>Imagine </a:t>
            </a:r>
            <a:r>
              <a:rPr lang="en-US" dirty="0">
                <a:latin typeface="fkGroteskNeue"/>
              </a:rPr>
              <a:t>briefly exciting the oscillator and then measuring how many cycles it takes for the oscillation amplitude to drop by half.</a:t>
            </a:r>
          </a:p>
          <a:p>
            <a:pPr marL="342900" indent="-342900" algn="just">
              <a:buFont typeface="Wingdings" panose="05000000000000000000" pitchFamily="2" charset="2"/>
              <a:buChar char="q"/>
            </a:pPr>
            <a:r>
              <a:rPr lang="en-US" dirty="0">
                <a:latin typeface="fkGroteskNeue"/>
              </a:rPr>
              <a:t>The number of cycles to halve amplitude multiplied by ~4.5 approximates Q.</a:t>
            </a:r>
          </a:p>
          <a:p>
            <a:pPr marL="342900" indent="-342900" algn="just">
              <a:buFont typeface="Wingdings" panose="05000000000000000000" pitchFamily="2" charset="2"/>
              <a:buChar char="q"/>
            </a:pPr>
            <a:r>
              <a:rPr lang="en-US" dirty="0">
                <a:latin typeface="fkGroteskNeue"/>
              </a:rPr>
              <a:t>Ring oscillators show a fast decay in amplitude without sustaining energy in reactive components, confirming their low Q</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13BB509-63A8-457A-856B-E511E04C4FC7}"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37702" cy="22996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1317211776"/>
              </p:ext>
            </p:extLst>
          </p:nvPr>
        </p:nvGraphicFramePr>
        <p:xfrm>
          <a:off x="833118" y="3068237"/>
          <a:ext cx="10642601" cy="2110838"/>
        </p:xfrm>
        <a:graphic>
          <a:graphicData uri="http://schemas.openxmlformats.org/drawingml/2006/table">
            <a:tbl>
              <a:tblPr/>
              <a:tblGrid>
                <a:gridCol w="2377442">
                  <a:extLst>
                    <a:ext uri="{9D8B030D-6E8A-4147-A177-3AD203B41FA5}">
                      <a16:colId xmlns:a16="http://schemas.microsoft.com/office/drawing/2014/main" val="1128287785"/>
                    </a:ext>
                  </a:extLst>
                </a:gridCol>
                <a:gridCol w="3729694">
                  <a:extLst>
                    <a:ext uri="{9D8B030D-6E8A-4147-A177-3AD203B41FA5}">
                      <a16:colId xmlns:a16="http://schemas.microsoft.com/office/drawing/2014/main" val="3643340808"/>
                    </a:ext>
                  </a:extLst>
                </a:gridCol>
                <a:gridCol w="4535465">
                  <a:extLst>
                    <a:ext uri="{9D8B030D-6E8A-4147-A177-3AD203B41FA5}">
                      <a16:colId xmlns:a16="http://schemas.microsoft.com/office/drawing/2014/main" val="2550179198"/>
                    </a:ext>
                  </a:extLst>
                </a:gridCol>
              </a:tblGrid>
              <a:tr h="100929">
                <a:tc>
                  <a:txBody>
                    <a:bodyPr/>
                    <a:lstStyle/>
                    <a:p>
                      <a:pPr algn="ctr" fontAlgn="t" latinLnBrk="0"/>
                      <a:r>
                        <a:rPr lang="en-US" sz="1800" b="1" dirty="0">
                          <a:effectLst/>
                        </a:rPr>
                        <a:t>Aspect</a:t>
                      </a:r>
                    </a:p>
                  </a:txBody>
                  <a:tcPr marL="13639" marR="13639" marT="13639" marB="136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t" latinLnBrk="0"/>
                      <a:r>
                        <a:rPr lang="en-US" sz="1800" b="1" dirty="0">
                          <a:effectLst/>
                        </a:rPr>
                        <a:t>Ring Oscillator</a:t>
                      </a:r>
                    </a:p>
                  </a:txBody>
                  <a:tcPr marL="13639" marR="13639" marT="13639" marB="136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t" latinLnBrk="0"/>
                      <a:r>
                        <a:rPr lang="en-US" sz="1800" b="1" dirty="0">
                          <a:effectLst/>
                        </a:rPr>
                        <a:t>LC Oscillator</a:t>
                      </a:r>
                    </a:p>
                  </a:txBody>
                  <a:tcPr marL="13639" marR="13639" marT="13639" marB="136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25347417"/>
                  </a:ext>
                </a:extLst>
              </a:tr>
              <a:tr h="319155">
                <a:tc>
                  <a:txBody>
                    <a:bodyPr/>
                    <a:lstStyle/>
                    <a:p>
                      <a:pPr algn="ctr" fontAlgn="base" latinLnBrk="0"/>
                      <a:r>
                        <a:rPr lang="en-US" sz="1800" b="1" dirty="0">
                          <a:solidFill>
                            <a:srgbClr val="C00000"/>
                          </a:solidFill>
                          <a:effectLst/>
                        </a:rPr>
                        <a:t>Energy Storage</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a:effectLst/>
                        </a:rPr>
                        <a:t>No true reactive tank, relies on delay</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a:effectLst/>
                        </a:rPr>
                        <a:t>Real energy storage in inductor &amp; capacitor</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8793892"/>
                  </a:ext>
                </a:extLst>
              </a:tr>
              <a:tr h="319155">
                <a:tc>
                  <a:txBody>
                    <a:bodyPr/>
                    <a:lstStyle/>
                    <a:p>
                      <a:pPr algn="ctr" fontAlgn="base" latinLnBrk="0"/>
                      <a:r>
                        <a:rPr lang="en-US" sz="1800" b="1" dirty="0">
                          <a:solidFill>
                            <a:srgbClr val="C00000"/>
                          </a:solidFill>
                          <a:effectLst/>
                        </a:rPr>
                        <a:t>Typical Q</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a:effectLst/>
                        </a:rPr>
                        <a:t>Low (~3-10), limited by device/switch losses</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a:effectLst/>
                        </a:rPr>
                        <a:t>High (100 or more), limited mainly by inductor losses</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7627568"/>
                  </a:ext>
                </a:extLst>
              </a:tr>
              <a:tr h="245504">
                <a:tc>
                  <a:txBody>
                    <a:bodyPr/>
                    <a:lstStyle/>
                    <a:p>
                      <a:pPr algn="ctr" fontAlgn="base" latinLnBrk="0"/>
                      <a:r>
                        <a:rPr lang="en-US" sz="1800" b="1" dirty="0">
                          <a:solidFill>
                            <a:srgbClr val="C00000"/>
                          </a:solidFill>
                          <a:effectLst/>
                        </a:rPr>
                        <a:t>Frequency Stability</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dirty="0">
                          <a:effectLst/>
                        </a:rPr>
                        <a:t>Moderate, easier to tune via supply</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a:effectLst/>
                        </a:rPr>
                        <a:t>High, very stable frequency</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7962313"/>
                  </a:ext>
                </a:extLst>
              </a:tr>
              <a:tr h="245504">
                <a:tc>
                  <a:txBody>
                    <a:bodyPr/>
                    <a:lstStyle/>
                    <a:p>
                      <a:pPr algn="ctr" fontAlgn="base" latinLnBrk="0"/>
                      <a:r>
                        <a:rPr lang="en-US" sz="1800" b="1">
                          <a:solidFill>
                            <a:srgbClr val="C00000"/>
                          </a:solidFill>
                          <a:effectLst/>
                        </a:rPr>
                        <a:t>Phase Noise</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dirty="0">
                          <a:effectLst/>
                        </a:rPr>
                        <a:t>Relatively high phase noise</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a:effectLst/>
                        </a:rPr>
                        <a:t>Lower phase noise, clean signals</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8808164"/>
                  </a:ext>
                </a:extLst>
              </a:tr>
              <a:tr h="319155">
                <a:tc>
                  <a:txBody>
                    <a:bodyPr/>
                    <a:lstStyle/>
                    <a:p>
                      <a:pPr algn="ctr" fontAlgn="base" latinLnBrk="0"/>
                      <a:r>
                        <a:rPr lang="en-US" sz="1800" b="1" dirty="0">
                          <a:solidFill>
                            <a:srgbClr val="C00000"/>
                          </a:solidFill>
                          <a:effectLst/>
                        </a:rPr>
                        <a:t>Integration Ease</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dirty="0">
                          <a:effectLst/>
                        </a:rPr>
                        <a:t>High — all CMOS, compact</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dirty="0">
                          <a:effectLst/>
                        </a:rPr>
                        <a:t>Requires inductors, usually larger area</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7817836"/>
                  </a:ext>
                </a:extLst>
              </a:tr>
            </a:tbl>
          </a:graphicData>
        </a:graphic>
      </p:graphicFrame>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99818670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64704" y="1212573"/>
            <a:ext cx="11042373" cy="353833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1046440"/>
          </a:xfrm>
        </p:spPr>
        <p:txBody>
          <a:bodyPr/>
          <a:lstStyle/>
          <a:p>
            <a:r>
              <a:rPr lang="en-US" dirty="0">
                <a:latin typeface="fkGrotesk"/>
              </a:rPr>
              <a:t>Intuitive </a:t>
            </a:r>
            <a:r>
              <a:rPr lang="en-US" dirty="0" smtClean="0">
                <a:latin typeface="fkGrotesk"/>
              </a:rPr>
              <a:t>Summary</a:t>
            </a:r>
            <a:r>
              <a:rPr lang="en-US" dirty="0">
                <a:latin typeface="fkGrotesk"/>
              </a:rPr>
              <a:t/>
            </a:r>
            <a:br>
              <a:rPr lang="en-US" dirty="0">
                <a:latin typeface="fkGrotesk"/>
              </a:rPr>
            </a:br>
            <a:endParaRPr lang="en-US" dirty="0"/>
          </a:p>
        </p:txBody>
      </p:sp>
      <p:sp>
        <p:nvSpPr>
          <p:cNvPr id="3" name="Text Placeholder 2"/>
          <p:cNvSpPr>
            <a:spLocks noGrp="1"/>
          </p:cNvSpPr>
          <p:nvPr>
            <p:ph type="body" idx="1"/>
          </p:nvPr>
        </p:nvSpPr>
        <p:spPr>
          <a:xfrm>
            <a:off x="920750" y="1331586"/>
            <a:ext cx="10538883" cy="3539430"/>
          </a:xfrm>
        </p:spPr>
        <p:txBody>
          <a:bodyPr/>
          <a:lstStyle/>
          <a:p>
            <a:pPr marL="342900" indent="-342900" algn="just">
              <a:lnSpc>
                <a:spcPct val="150000"/>
              </a:lnSpc>
              <a:buFont typeface="Wingdings" panose="05000000000000000000" pitchFamily="2" charset="2"/>
              <a:buChar char="q"/>
            </a:pPr>
            <a:r>
              <a:rPr lang="en-US" dirty="0" smtClean="0">
                <a:latin typeface="fkGroteskNeue"/>
              </a:rPr>
              <a:t>Think </a:t>
            </a:r>
            <a:r>
              <a:rPr lang="en-US" dirty="0">
                <a:latin typeface="fkGroteskNeue"/>
              </a:rPr>
              <a:t>of Q as "how long the oscillator can keep ringing on its own."</a:t>
            </a:r>
          </a:p>
          <a:p>
            <a:pPr marL="342900" indent="-342900" algn="just">
              <a:lnSpc>
                <a:spcPct val="150000"/>
              </a:lnSpc>
              <a:buFont typeface="Wingdings" panose="05000000000000000000" pitchFamily="2" charset="2"/>
              <a:buChar char="q"/>
            </a:pPr>
            <a:r>
              <a:rPr lang="en-US" dirty="0">
                <a:latin typeface="fkGroteskNeue"/>
              </a:rPr>
              <a:t>Ring oscillators "ring" less efficiently — their energy quickly slips away, so they have a low Q.</a:t>
            </a:r>
          </a:p>
          <a:p>
            <a:pPr marL="342900" indent="-342900" algn="just">
              <a:lnSpc>
                <a:spcPct val="150000"/>
              </a:lnSpc>
              <a:buFont typeface="Wingdings" panose="05000000000000000000" pitchFamily="2" charset="2"/>
              <a:buChar char="q"/>
            </a:pPr>
            <a:r>
              <a:rPr lang="en-US" dirty="0">
                <a:latin typeface="fkGroteskNeue"/>
              </a:rPr>
              <a:t>LC oscillators hold energy in physical inductors and capacitors — their "ringing" persists longer with sharper frequency definition — they have high Q.</a:t>
            </a:r>
          </a:p>
          <a:p>
            <a:pPr marL="342900" indent="-342900" algn="just">
              <a:lnSpc>
                <a:spcPct val="150000"/>
              </a:lnSpc>
              <a:buFont typeface="Wingdings" panose="05000000000000000000" pitchFamily="2" charset="2"/>
              <a:buChar char="q"/>
            </a:pPr>
            <a:r>
              <a:rPr lang="en-US" dirty="0">
                <a:latin typeface="fkGroteskNeue"/>
              </a:rPr>
              <a:t>Ring oscillators trade quality for simplicity and integration, while LC oscillators favor signal purity and stability.</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095BD18-05C0-4B8D-AD06-5B69065D554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86254" cy="22996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68203653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Quality Factor and Oscillator Types: Ring vs </a:t>
            </a:r>
            <a:r>
              <a:rPr lang="en-US" dirty="0" smtClean="0"/>
              <a:t>LC</a:t>
            </a: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700CCF1-F298-44C5-A733-9F23A1A2842F}"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489150" cy="181416"/>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1616620437"/>
              </p:ext>
            </p:extLst>
          </p:nvPr>
        </p:nvGraphicFramePr>
        <p:xfrm>
          <a:off x="1058333" y="1327150"/>
          <a:ext cx="10386906" cy="3436606"/>
        </p:xfrm>
        <a:graphic>
          <a:graphicData uri="http://schemas.openxmlformats.org/drawingml/2006/table">
            <a:tbl>
              <a:tblPr/>
              <a:tblGrid>
                <a:gridCol w="2763366">
                  <a:extLst>
                    <a:ext uri="{9D8B030D-6E8A-4147-A177-3AD203B41FA5}">
                      <a16:colId xmlns:a16="http://schemas.microsoft.com/office/drawing/2014/main" val="1977476947"/>
                    </a:ext>
                  </a:extLst>
                </a:gridCol>
                <a:gridCol w="4161238">
                  <a:extLst>
                    <a:ext uri="{9D8B030D-6E8A-4147-A177-3AD203B41FA5}">
                      <a16:colId xmlns:a16="http://schemas.microsoft.com/office/drawing/2014/main" val="389442755"/>
                    </a:ext>
                  </a:extLst>
                </a:gridCol>
                <a:gridCol w="3462302">
                  <a:extLst>
                    <a:ext uri="{9D8B030D-6E8A-4147-A177-3AD203B41FA5}">
                      <a16:colId xmlns:a16="http://schemas.microsoft.com/office/drawing/2014/main" val="2506342431"/>
                    </a:ext>
                  </a:extLst>
                </a:gridCol>
              </a:tblGrid>
              <a:tr h="83690">
                <a:tc>
                  <a:txBody>
                    <a:bodyPr/>
                    <a:lstStyle/>
                    <a:p>
                      <a:pPr algn="ctr" fontAlgn="t" latinLnBrk="0"/>
                      <a:r>
                        <a:rPr lang="en-US" sz="1800" b="1" dirty="0">
                          <a:effectLst/>
                        </a:rPr>
                        <a:t>Characteristic</a:t>
                      </a:r>
                    </a:p>
                  </a:txBody>
                  <a:tcPr marL="11309" marR="11309" marT="11309" marB="113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t" latinLnBrk="0"/>
                      <a:r>
                        <a:rPr lang="en-US" sz="1800" b="1" dirty="0">
                          <a:effectLst/>
                        </a:rPr>
                        <a:t>Ring Oscillator</a:t>
                      </a:r>
                    </a:p>
                  </a:txBody>
                  <a:tcPr marL="11309" marR="11309" marT="11309" marB="113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t" latinLnBrk="0"/>
                      <a:r>
                        <a:rPr lang="en-US" sz="1800" b="1" dirty="0">
                          <a:effectLst/>
                        </a:rPr>
                        <a:t>LC Oscillator</a:t>
                      </a:r>
                    </a:p>
                  </a:txBody>
                  <a:tcPr marL="11309" marR="11309" marT="11309" marB="113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93963953"/>
                  </a:ext>
                </a:extLst>
              </a:tr>
              <a:tr h="264642">
                <a:tc>
                  <a:txBody>
                    <a:bodyPr/>
                    <a:lstStyle/>
                    <a:p>
                      <a:pPr algn="ctr" fontAlgn="base" latinLnBrk="0"/>
                      <a:r>
                        <a:rPr lang="en-US" sz="1800" b="1" dirty="0">
                          <a:solidFill>
                            <a:srgbClr val="C00000"/>
                          </a:solidFill>
                          <a:effectLst/>
                        </a:rPr>
                        <a:t>Energy Storage Mechanism</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a:effectLst/>
                        </a:rPr>
                        <a:t>Uses delay and inverter stages</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Real energy storage with discrete L and C</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1586554"/>
                  </a:ext>
                </a:extLst>
              </a:tr>
              <a:tr h="264642">
                <a:tc>
                  <a:txBody>
                    <a:bodyPr/>
                    <a:lstStyle/>
                    <a:p>
                      <a:pPr algn="ctr" fontAlgn="base" latinLnBrk="0"/>
                      <a:r>
                        <a:rPr lang="en-US" sz="1800" b="1" dirty="0">
                          <a:solidFill>
                            <a:srgbClr val="C00000"/>
                          </a:solidFill>
                          <a:effectLst/>
                        </a:rPr>
                        <a:t>Typical </a:t>
                      </a:r>
                      <a:r>
                        <a:rPr lang="en-US" sz="1800" b="1" i="1" dirty="0" smtClean="0">
                          <a:solidFill>
                            <a:srgbClr val="C00000"/>
                          </a:solidFill>
                          <a:effectLst/>
                          <a:latin typeface="KaTeX_Math"/>
                        </a:rPr>
                        <a:t>Q</a:t>
                      </a:r>
                      <a:endParaRPr lang="en-US" sz="1800" b="1" dirty="0">
                        <a:solidFill>
                          <a:srgbClr val="C00000"/>
                        </a:solidFill>
                        <a:effectLst/>
                      </a:endParaRP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dirty="0">
                          <a:effectLst/>
                        </a:rPr>
                        <a:t>Low (around 3-10), limited by device losses and delay</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a:effectLst/>
                        </a:rPr>
                        <a:t>High (often &gt;100), limited mainly by inductor loss</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6459086"/>
                  </a:ext>
                </a:extLst>
              </a:tr>
              <a:tr h="264642">
                <a:tc>
                  <a:txBody>
                    <a:bodyPr/>
                    <a:lstStyle/>
                    <a:p>
                      <a:pPr algn="ctr" fontAlgn="base" latinLnBrk="0"/>
                      <a:r>
                        <a:rPr lang="en-US" sz="1800" b="1">
                          <a:solidFill>
                            <a:srgbClr val="C00000"/>
                          </a:solidFill>
                          <a:effectLst/>
                        </a:rPr>
                        <a:t>Frequency Control</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dirty="0">
                          <a:effectLst/>
                        </a:rPr>
                        <a:t>Easily tunable via supply voltage or device sizing</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Frequency set by tank L and C values, more stable</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9325799"/>
                  </a:ext>
                </a:extLst>
              </a:tr>
              <a:tr h="264642">
                <a:tc>
                  <a:txBody>
                    <a:bodyPr/>
                    <a:lstStyle/>
                    <a:p>
                      <a:pPr algn="ctr" fontAlgn="base" latinLnBrk="0"/>
                      <a:r>
                        <a:rPr lang="en-US" sz="1800" b="1">
                          <a:solidFill>
                            <a:srgbClr val="C00000"/>
                          </a:solidFill>
                          <a:effectLst/>
                        </a:rPr>
                        <a:t>Phase Noise</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dirty="0">
                          <a:effectLst/>
                        </a:rPr>
                        <a:t>Higher—lower </a:t>
                      </a:r>
                      <a:r>
                        <a:rPr lang="en-US" sz="1800" i="1" dirty="0" smtClean="0">
                          <a:effectLst/>
                          <a:latin typeface="KaTeX_Math"/>
                        </a:rPr>
                        <a:t>Q</a:t>
                      </a:r>
                      <a:r>
                        <a:rPr lang="en-US" sz="1800" dirty="0">
                          <a:effectLst/>
                        </a:rPr>
                        <a:t> implies more noise</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Lower—higher </a:t>
                      </a:r>
                      <a:r>
                        <a:rPr lang="en-US" sz="1800" i="1" dirty="0" smtClean="0">
                          <a:effectLst/>
                          <a:latin typeface="KaTeX_Math"/>
                        </a:rPr>
                        <a:t>Q</a:t>
                      </a:r>
                      <a:r>
                        <a:rPr lang="en-US" sz="1800" dirty="0">
                          <a:effectLst/>
                        </a:rPr>
                        <a:t> means better spectral purity</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493871"/>
                  </a:ext>
                </a:extLst>
              </a:tr>
              <a:tr h="203571">
                <a:tc>
                  <a:txBody>
                    <a:bodyPr/>
                    <a:lstStyle/>
                    <a:p>
                      <a:pPr algn="ctr" fontAlgn="base" latinLnBrk="0"/>
                      <a:r>
                        <a:rPr lang="en-US" sz="1800" b="1">
                          <a:solidFill>
                            <a:srgbClr val="C00000"/>
                          </a:solidFill>
                          <a:effectLst/>
                        </a:rPr>
                        <a:t>Waveform</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a:effectLst/>
                        </a:rPr>
                        <a:t>Square-like due to digital transitions</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Sinusoidal and smooth</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5828935"/>
                  </a:ext>
                </a:extLst>
              </a:tr>
              <a:tr h="203571">
                <a:tc>
                  <a:txBody>
                    <a:bodyPr/>
                    <a:lstStyle/>
                    <a:p>
                      <a:pPr algn="ctr" fontAlgn="base" latinLnBrk="0"/>
                      <a:r>
                        <a:rPr lang="en-US" sz="1800" b="1" dirty="0">
                          <a:solidFill>
                            <a:srgbClr val="C00000"/>
                          </a:solidFill>
                          <a:effectLst/>
                        </a:rPr>
                        <a:t>Integration</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a:effectLst/>
                        </a:rPr>
                        <a:t>Compact and fully CMOS compatible</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Larger area due to inductors, more precious</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7366573"/>
                  </a:ext>
                </a:extLst>
              </a:tr>
            </a:tbl>
          </a:graphicData>
        </a:graphic>
      </p:graphicFrame>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11206708"/>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35495" y="1182756"/>
            <a:ext cx="11111947" cy="3041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65155"/>
          </a:xfrm>
        </p:spPr>
        <p:txBody>
          <a:bodyPr/>
          <a:lstStyle/>
          <a:p>
            <a:pPr marL="0" marR="0" lvl="0" indent="0" defTabSz="914400" eaLnBrk="1" fontAlgn="auto" latinLnBrk="0" hangingPunct="1">
              <a:lnSpc>
                <a:spcPct val="150000"/>
              </a:lnSpc>
              <a:spcBef>
                <a:spcPts val="1575"/>
              </a:spcBef>
              <a:spcAft>
                <a:spcPts val="525"/>
              </a:spcAft>
              <a:tabLst/>
              <a:defRPr/>
            </a:pPr>
            <a:r>
              <a:rPr lang="en-US" sz="2800" b="1" dirty="0">
                <a:solidFill>
                  <a:srgbClr val="000000"/>
                </a:solidFill>
                <a:latin typeface="inter"/>
                <a:ea typeface="inter"/>
                <a:cs typeface="inter"/>
              </a:rPr>
              <a:t>Pedagogical </a:t>
            </a:r>
            <a:r>
              <a:rPr lang="en-US" sz="2800" b="1" dirty="0" smtClean="0">
                <a:solidFill>
                  <a:srgbClr val="000000"/>
                </a:solidFill>
                <a:latin typeface="inter"/>
                <a:ea typeface="inter"/>
                <a:cs typeface="inter"/>
              </a:rPr>
              <a:t>Conclusion</a:t>
            </a:r>
            <a:endParaRPr lang="en-US" dirty="0"/>
          </a:p>
        </p:txBody>
      </p:sp>
      <p:sp>
        <p:nvSpPr>
          <p:cNvPr id="3" name="Text Placeholder 2"/>
          <p:cNvSpPr>
            <a:spLocks noGrp="1"/>
          </p:cNvSpPr>
          <p:nvPr>
            <p:ph type="body" idx="1"/>
          </p:nvPr>
        </p:nvSpPr>
        <p:spPr>
          <a:xfrm>
            <a:off x="844550" y="1327353"/>
            <a:ext cx="10560050" cy="4001095"/>
          </a:xfrm>
        </p:spPr>
        <p:txBody>
          <a:bodyPr/>
          <a:lstStyle/>
          <a:p>
            <a:pPr marL="342900" marR="0" lvl="0" indent="-342900" algn="just">
              <a:lnSpc>
                <a:spcPct val="150000"/>
              </a:lnSpc>
              <a:buFont typeface="Wingdings" panose="05000000000000000000" pitchFamily="2" charset="2"/>
              <a:buChar char="q"/>
              <a:tabLst>
                <a:tab pos="571500" algn="l"/>
              </a:tabLst>
            </a:pPr>
            <a:r>
              <a:rPr lang="en-US" b="1" dirty="0" smtClean="0">
                <a:solidFill>
                  <a:srgbClr val="000000"/>
                </a:solidFill>
                <a:latin typeface="inter"/>
                <a:ea typeface="inter"/>
                <a:cs typeface="inter"/>
              </a:rPr>
              <a:t>Ring </a:t>
            </a:r>
            <a:r>
              <a:rPr lang="en-US" b="1" dirty="0">
                <a:solidFill>
                  <a:srgbClr val="000000"/>
                </a:solidFill>
                <a:latin typeface="inter"/>
                <a:ea typeface="inter"/>
                <a:cs typeface="inter"/>
              </a:rPr>
              <a:t>oscillators</a:t>
            </a:r>
            <a:r>
              <a:rPr lang="en-US" dirty="0">
                <a:solidFill>
                  <a:srgbClr val="000000"/>
                </a:solidFill>
                <a:latin typeface="inter"/>
                <a:ea typeface="inter"/>
                <a:cs typeface="inter"/>
              </a:rPr>
              <a:t> have lower Q due to no real energy storage, affecting phase noise and stability, but excel in </a:t>
            </a:r>
            <a:r>
              <a:rPr lang="en-US" dirty="0" err="1">
                <a:solidFill>
                  <a:srgbClr val="000000"/>
                </a:solidFill>
                <a:latin typeface="inter"/>
                <a:ea typeface="inter"/>
                <a:cs typeface="inter"/>
              </a:rPr>
              <a:t>tunability</a:t>
            </a:r>
            <a:r>
              <a:rPr lang="en-US" dirty="0">
                <a:solidFill>
                  <a:srgbClr val="000000"/>
                </a:solidFill>
                <a:latin typeface="inter"/>
                <a:ea typeface="inter"/>
                <a:cs typeface="inter"/>
              </a:rPr>
              <a:t> and integration.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Wingdings" panose="05000000000000000000" pitchFamily="2" charset="2"/>
              <a:buChar char="q"/>
              <a:tabLst>
                <a:tab pos="571500" algn="l"/>
              </a:tabLst>
            </a:pPr>
            <a:r>
              <a:rPr lang="en-US" b="1" dirty="0">
                <a:solidFill>
                  <a:srgbClr val="000000"/>
                </a:solidFill>
                <a:latin typeface="inter"/>
                <a:ea typeface="inter"/>
                <a:cs typeface="inter"/>
              </a:rPr>
              <a:t>LC oscillators</a:t>
            </a:r>
            <a:r>
              <a:rPr lang="en-US" dirty="0">
                <a:solidFill>
                  <a:srgbClr val="000000"/>
                </a:solidFill>
                <a:latin typeface="inter"/>
                <a:ea typeface="inter"/>
                <a:cs typeface="inter"/>
              </a:rPr>
              <a:t> provide high-Q resonance with superior phase noise performance, favored in precision timing applications.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Wingdings" panose="05000000000000000000" pitchFamily="2" charset="2"/>
              <a:buChar char="q"/>
              <a:tabLst>
                <a:tab pos="571500" algn="l"/>
              </a:tabLst>
            </a:pPr>
            <a:r>
              <a:rPr lang="en-US" dirty="0">
                <a:solidFill>
                  <a:srgbClr val="000000"/>
                </a:solidFill>
                <a:latin typeface="inter"/>
                <a:ea typeface="inter"/>
                <a:cs typeface="inter"/>
              </a:rPr>
              <a:t>Understanding Q in both contexts helps students appreciate tradeoffs in oscillator design—compactness vs performance and </a:t>
            </a:r>
            <a:r>
              <a:rPr lang="en-US" dirty="0" err="1">
                <a:solidFill>
                  <a:srgbClr val="000000"/>
                </a:solidFill>
                <a:latin typeface="inter"/>
                <a:ea typeface="inter"/>
                <a:cs typeface="inter"/>
              </a:rPr>
              <a:t>tunability</a:t>
            </a:r>
            <a:r>
              <a:rPr lang="en-US" dirty="0">
                <a:solidFill>
                  <a:srgbClr val="000000"/>
                </a:solidFill>
                <a:latin typeface="inter"/>
                <a:ea typeface="inter"/>
                <a:cs typeface="inter"/>
              </a:rPr>
              <a:t> vs spectral purity</a:t>
            </a:r>
            <a:r>
              <a:rPr lang="en-US" dirty="0" smtClean="0">
                <a:solidFill>
                  <a:srgbClr val="000000"/>
                </a:solidFill>
                <a:latin typeface="inter"/>
                <a:ea typeface="inter"/>
                <a:cs typeface="inter"/>
              </a:rPr>
              <a:t>.</a:t>
            </a:r>
          </a:p>
          <a:p>
            <a:pPr marL="342900" marR="0" lvl="0" indent="-342900" algn="just">
              <a:buFont typeface="Wingdings" panose="05000000000000000000" pitchFamily="2" charset="2"/>
              <a:buChar char="q"/>
              <a:tabLst>
                <a:tab pos="571500" algn="l"/>
              </a:tabLst>
            </a:pP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These insights build student intuition on oscillator device choice and performance expectations for phase-locked loops and clock generation systems.</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0179B6A-D5D1-420F-BD88-9425088E13A0}"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481058" cy="18950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57509951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68350" y="1105103"/>
                <a:ext cx="10788650" cy="5488362"/>
              </a:xfrm>
            </p:spPr>
            <p:txBody>
              <a:bodyPr/>
              <a:lstStyle/>
              <a:p>
                <a:pPr>
                  <a:spcAft>
                    <a:spcPts val="600"/>
                  </a:spcAft>
                </a:pPr>
                <a:r>
                  <a:rPr lang="en-US" dirty="0">
                    <a:solidFill>
                      <a:srgbClr val="000000"/>
                    </a:solidFill>
                    <a:latin typeface="inter"/>
                    <a:ea typeface="inter"/>
                    <a:cs typeface="inter"/>
                  </a:rPr>
                  <a:t>If desired, we can design graphics or tables that summarize this comparison visually</a:t>
                </a:r>
                <a:r>
                  <a:rPr lang="en-US" dirty="0" smtClean="0">
                    <a:solidFill>
                      <a:srgbClr val="000000"/>
                    </a:solidFill>
                    <a:latin typeface="inter"/>
                    <a:ea typeface="inter"/>
                    <a:cs typeface="inter"/>
                  </a:rPr>
                  <a:t>. </a:t>
                </a:r>
              </a:p>
              <a:p>
                <a:pPr marL="342900" indent="-342900">
                  <a:spcAft>
                    <a:spcPts val="600"/>
                  </a:spcAft>
                  <a:buFont typeface="Wingdings" panose="05000000000000000000" pitchFamily="2" charset="2"/>
                  <a:buChar char="q"/>
                </a:pPr>
                <a:r>
                  <a:rPr lang="en-US" dirty="0" smtClean="0">
                    <a:solidFill>
                      <a:srgbClr val="000000"/>
                    </a:solidFill>
                    <a:latin typeface="inter"/>
                    <a:ea typeface="inter"/>
                    <a:cs typeface="inter"/>
                  </a:rPr>
                  <a:t>Quality </a:t>
                </a:r>
                <a:r>
                  <a:rPr lang="en-US" dirty="0">
                    <a:solidFill>
                      <a:srgbClr val="000000"/>
                    </a:solidFill>
                    <a:latin typeface="inter"/>
                    <a:ea typeface="inter"/>
                    <a:cs typeface="inter"/>
                  </a:rPr>
                  <a:t>Factor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measures how good an inductor or resonator is, quantifying </a:t>
                </a:r>
                <a:r>
                  <a:rPr lang="en-US" dirty="0" smtClean="0">
                    <a:solidFill>
                      <a:srgbClr val="000000"/>
                    </a:solidFill>
                    <a:latin typeface="inter"/>
                    <a:ea typeface="inter"/>
                    <a:cs typeface="inter"/>
                  </a:rPr>
                  <a:t>the sharpness of resonance </a:t>
                </a:r>
                <a:r>
                  <a:rPr lang="en-US" dirty="0">
                    <a:solidFill>
                      <a:srgbClr val="000000"/>
                    </a:solidFill>
                    <a:latin typeface="inter"/>
                    <a:ea typeface="inter"/>
                    <a:cs typeface="inter"/>
                  </a:rPr>
                  <a:t>and losses. For an inductor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 with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indent="-342900">
                  <a:spcAft>
                    <a:spcPts val="600"/>
                  </a:spcAft>
                  <a:buFont typeface="Wingdings" panose="05000000000000000000" pitchFamily="2" charset="2"/>
                  <a:buChar char="q"/>
                </a:pPr>
                <a:r>
                  <a:rPr lang="en-US" dirty="0">
                    <a:solidFill>
                      <a:srgbClr val="000000"/>
                    </a:solidFill>
                    <a:latin typeface="inter"/>
                    <a:ea typeface="inter"/>
                    <a:cs typeface="inter"/>
                  </a:rPr>
                  <a:t>Alternatively, using the parallel tank representation with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lvl="1">
                  <a:spcAft>
                    <a:spcPts val="600"/>
                  </a:spcAft>
                </a:pPr>
                <a:r>
                  <a:rPr lang="en-US" sz="2000" dirty="0">
                    <a:solidFill>
                      <a:srgbClr val="000000"/>
                    </a:solidFill>
                    <a:latin typeface="inter"/>
                    <a:ea typeface="inter"/>
                    <a:cs typeface="inter"/>
                  </a:rPr>
                  <a:t>where larger </a:t>
                </a:r>
                <a14:m>
                  <m:oMath xmlns:m="http://schemas.openxmlformats.org/officeDocument/2006/math">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2000" dirty="0">
                    <a:solidFill>
                      <a:srgbClr val="000000"/>
                    </a:solidFill>
                    <a:latin typeface="inter"/>
                    <a:ea typeface="inter"/>
                    <a:cs typeface="inter"/>
                  </a:rPr>
                  <a:t> means higher </a:t>
                </a:r>
                <a14:m>
                  <m:oMath xmlns:m="http://schemas.openxmlformats.org/officeDocument/2006/math">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sz="2000" dirty="0">
                    <a:solidFill>
                      <a:srgbClr val="000000"/>
                    </a:solidFill>
                    <a:latin typeface="inter"/>
                    <a:ea typeface="inter"/>
                    <a:cs typeface="inter"/>
                  </a:rPr>
                  <a:t> and better tank performance. </a:t>
                </a:r>
                <a:endParaRPr lang="en-US" sz="2000" i="1" dirty="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marL="342900" indent="-342900">
                  <a:spcAft>
                    <a:spcPts val="600"/>
                  </a:spcAft>
                  <a:buFont typeface="Wingdings" panose="05000000000000000000" pitchFamily="2" charset="2"/>
                  <a:buChar char="q"/>
                </a:pPr>
                <a14:m>
                  <m:oMath xmlns:m="http://schemas.openxmlformats.org/officeDocument/2006/math">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sz="2200" dirty="0">
                    <a:solidFill>
                      <a:srgbClr val="000000"/>
                    </a:solidFill>
                    <a:latin typeface="inter"/>
                    <a:ea typeface="inter"/>
                    <a:cs typeface="inter"/>
                  </a:rPr>
                  <a:t> </a:t>
                </a:r>
                <a:r>
                  <a:rPr lang="en-US" dirty="0">
                    <a:solidFill>
                      <a:srgbClr val="000000"/>
                    </a:solidFill>
                    <a:latin typeface="inter"/>
                    <a:ea typeface="inter"/>
                    <a:cs typeface="inter"/>
                  </a:rPr>
                  <a:t>can also be seen as proportional to the slope of the phase response near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r>
                  <a:rPr lang="en-US" dirty="0" smtClean="0">
                    <a:solidFill>
                      <a:srgbClr val="000000"/>
                    </a:solidFill>
                    <a:latin typeface="inter"/>
                    <a:ea typeface="inter"/>
                    <a:cs typeface="inter"/>
                  </a:rPr>
                  <a:t>Figure shows </a:t>
                </a:r>
                <a:r>
                  <a:rPr lang="en-US" dirty="0">
                    <a:solidFill>
                      <a:srgbClr val="000000"/>
                    </a:solidFill>
                    <a:latin typeface="inter"/>
                    <a:ea typeface="inter"/>
                    <a:cs typeface="inter"/>
                  </a:rPr>
                  <a:t>a common-source stage loaded with a parallel LC tank acting as a </a:t>
                </a:r>
                <a:r>
                  <a:rPr lang="en-US" dirty="0" smtClean="0">
                    <a:solidFill>
                      <a:srgbClr val="000000"/>
                    </a:solidFill>
                    <a:latin typeface="inter"/>
                    <a:ea typeface="inter"/>
                    <a:cs typeface="inter"/>
                  </a:rPr>
                  <a:t>band-pass </a:t>
                </a:r>
                <a:r>
                  <a:rPr lang="en-US" dirty="0">
                    <a:solidFill>
                      <a:srgbClr val="000000"/>
                    </a:solidFill>
                    <a:latin typeface="inter"/>
                    <a:ea typeface="inter"/>
                    <a:cs typeface="inter"/>
                  </a:rPr>
                  <a:t>filter with sharp voltage gain peak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768350" y="1105103"/>
                <a:ext cx="10788650" cy="5488362"/>
              </a:xfrm>
              <a:blipFill>
                <a:blip r:embed="rId2"/>
                <a:stretch>
                  <a:fillRect l="-1469" t="-1332" r="-113"/>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97AF747-F19C-4243-8947-1FBACAB64A0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13426" cy="262337"/>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9434450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52824" y="4305667"/>
            <a:ext cx="10187608" cy="154487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50900" y="0"/>
            <a:ext cx="10593196" cy="1046440"/>
          </a:xfrm>
        </p:spPr>
        <p:txBody>
          <a:bodyPr/>
          <a:lstStyle/>
          <a:p>
            <a:r>
              <a:rPr lang="en-US" dirty="0"/>
              <a:t>Comparison: Ring Oscillator vs LC Oscillator Quality Factor</a:t>
            </a: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1D186935-690D-4C83-9CB6-FF15FAF11748}"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505334" cy="197600"/>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839827026"/>
              </p:ext>
            </p:extLst>
          </p:nvPr>
        </p:nvGraphicFramePr>
        <p:xfrm>
          <a:off x="1520505" y="1273076"/>
          <a:ext cx="9024912" cy="2853556"/>
        </p:xfrm>
        <a:graphic>
          <a:graphicData uri="http://schemas.openxmlformats.org/drawingml/2006/table">
            <a:tbl>
              <a:tblPr firstRow="1" firstCol="1" bandRow="1"/>
              <a:tblGrid>
                <a:gridCol w="3008304">
                  <a:extLst>
                    <a:ext uri="{9D8B030D-6E8A-4147-A177-3AD203B41FA5}">
                      <a16:colId xmlns:a16="http://schemas.microsoft.com/office/drawing/2014/main" val="3892789916"/>
                    </a:ext>
                  </a:extLst>
                </a:gridCol>
                <a:gridCol w="3008304">
                  <a:extLst>
                    <a:ext uri="{9D8B030D-6E8A-4147-A177-3AD203B41FA5}">
                      <a16:colId xmlns:a16="http://schemas.microsoft.com/office/drawing/2014/main" val="3307778920"/>
                    </a:ext>
                  </a:extLst>
                </a:gridCol>
                <a:gridCol w="3008304">
                  <a:extLst>
                    <a:ext uri="{9D8B030D-6E8A-4147-A177-3AD203B41FA5}">
                      <a16:colId xmlns:a16="http://schemas.microsoft.com/office/drawing/2014/main" val="607422921"/>
                    </a:ext>
                  </a:extLst>
                </a:gridCol>
              </a:tblGrid>
              <a:tr h="172732">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Aspect</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Ring Oscillator</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LC Oscillator</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045474"/>
                  </a:ext>
                </a:extLst>
              </a:tr>
              <a:tr h="172732">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Energy Storage</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dirty="0">
                          <a:solidFill>
                            <a:srgbClr val="000000"/>
                          </a:solidFill>
                          <a:effectLst/>
                          <a:latin typeface="inter"/>
                          <a:ea typeface="inter"/>
                          <a:cs typeface="inter"/>
                        </a:rPr>
                        <a:t>Uses delay and inverter phases</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Uses real L-C energy storage</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0661992"/>
                  </a:ext>
                </a:extLst>
              </a:tr>
              <a:tr h="286157">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Typical Q</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Low (3–10), limited by device delays and losses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High (often &gt;100), limited by inductor losses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1651718"/>
                  </a:ext>
                </a:extLst>
              </a:tr>
              <a:tr h="286157">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Frequency Control</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Tunable via supply voltage and device sizing</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Fixed by LC values; more stable</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1091521"/>
                  </a:ext>
                </a:extLst>
              </a:tr>
              <a:tr h="172732">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Phase Noise</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Higher phase noise (lower Q)</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Lower phase noise (higher Q)</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1076890"/>
                  </a:ext>
                </a:extLst>
              </a:tr>
              <a:tr h="172732">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Waveform Shape</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Square-like edges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More sinusoidal</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2381538"/>
                  </a:ext>
                </a:extLst>
              </a:tr>
              <a:tr h="286157">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Integration</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a:solidFill>
                            <a:srgbClr val="000000"/>
                          </a:solidFill>
                          <a:effectLst/>
                          <a:latin typeface="inter"/>
                          <a:ea typeface="inter"/>
                          <a:cs typeface="inter"/>
                        </a:rPr>
                        <a:t>Compact, CMOS friendly</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600" dirty="0">
                          <a:solidFill>
                            <a:srgbClr val="000000"/>
                          </a:solidFill>
                          <a:effectLst/>
                          <a:latin typeface="inter"/>
                          <a:ea typeface="inter"/>
                          <a:cs typeface="inter"/>
                        </a:rPr>
                        <a:t>Requires high-quality inductors, larger chip area</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7456240"/>
                  </a:ext>
                </a:extLst>
              </a:tr>
            </a:tbl>
          </a:graphicData>
        </a:graphic>
      </p:graphicFrame>
      <p:sp>
        <p:nvSpPr>
          <p:cNvPr id="8" name="Rectangle 7"/>
          <p:cNvSpPr/>
          <p:nvPr/>
        </p:nvSpPr>
        <p:spPr>
          <a:xfrm>
            <a:off x="742950" y="4229145"/>
            <a:ext cx="10756900" cy="1359346"/>
          </a:xfrm>
          <a:prstGeom prst="rect">
            <a:avLst/>
          </a:prstGeom>
        </p:spPr>
        <p:txBody>
          <a:bodyPr wrap="square">
            <a:spAutoFit/>
          </a:bodyPr>
          <a:lstStyle/>
          <a:p>
            <a:pPr marL="285750" indent="-285750">
              <a:lnSpc>
                <a:spcPct val="150000"/>
              </a:lnSpc>
              <a:spcAft>
                <a:spcPts val="1050"/>
              </a:spcAft>
              <a:buFont typeface="Wingdings" panose="05000000000000000000" pitchFamily="2" charset="2"/>
              <a:buChar char="q"/>
            </a:pPr>
            <a:r>
              <a:rPr lang="en-US" sz="1600" dirty="0">
                <a:solidFill>
                  <a:srgbClr val="000000"/>
                </a:solidFill>
                <a:latin typeface="inter"/>
                <a:ea typeface="inter"/>
                <a:cs typeface="inter"/>
              </a:rPr>
              <a:t>Ring oscillators trade spectral purity for </a:t>
            </a:r>
            <a:r>
              <a:rPr lang="en-US" sz="1600" dirty="0" err="1">
                <a:solidFill>
                  <a:srgbClr val="000000"/>
                </a:solidFill>
                <a:latin typeface="inter"/>
                <a:ea typeface="inter"/>
                <a:cs typeface="inter"/>
              </a:rPr>
              <a:t>tunability</a:t>
            </a:r>
            <a:r>
              <a:rPr lang="en-US" sz="1600" dirty="0">
                <a:solidFill>
                  <a:srgbClr val="000000"/>
                </a:solidFill>
                <a:latin typeface="inter"/>
                <a:ea typeface="inter"/>
                <a:cs typeface="inter"/>
              </a:rPr>
              <a:t> and </a:t>
            </a:r>
            <a:r>
              <a:rPr lang="en-US" sz="1600" dirty="0" smtClean="0">
                <a:solidFill>
                  <a:srgbClr val="000000"/>
                </a:solidFill>
                <a:latin typeface="inter"/>
                <a:ea typeface="inter"/>
                <a:cs typeface="inter"/>
              </a:rPr>
              <a:t>compactness.</a:t>
            </a:r>
          </a:p>
          <a:p>
            <a:pPr marL="285750" indent="-285750">
              <a:lnSpc>
                <a:spcPct val="150000"/>
              </a:lnSpc>
              <a:spcAft>
                <a:spcPts val="1050"/>
              </a:spcAft>
              <a:buFont typeface="Wingdings" panose="05000000000000000000" pitchFamily="2" charset="2"/>
              <a:buChar char="q"/>
            </a:pPr>
            <a:r>
              <a:rPr lang="en-US" sz="1600" dirty="0" smtClean="0">
                <a:solidFill>
                  <a:srgbClr val="000000"/>
                </a:solidFill>
                <a:latin typeface="inter"/>
                <a:ea typeface="inter"/>
                <a:cs typeface="inter"/>
              </a:rPr>
              <a:t>LC </a:t>
            </a:r>
            <a:r>
              <a:rPr lang="en-US" sz="1600" dirty="0">
                <a:solidFill>
                  <a:srgbClr val="000000"/>
                </a:solidFill>
                <a:latin typeface="inter"/>
                <a:ea typeface="inter"/>
                <a:cs typeface="inter"/>
              </a:rPr>
              <a:t>oscillators offer superior phase noise and frequency stability for precision PLL applications.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This conceptual framework guides oscillator design </a:t>
            </a:r>
            <a:r>
              <a:rPr lang="en-US" sz="1600" dirty="0" smtClean="0">
                <a:solidFill>
                  <a:srgbClr val="000000"/>
                </a:solidFill>
                <a:latin typeface="inter"/>
                <a:ea typeface="inter"/>
                <a:cs typeface="inter"/>
              </a:rPr>
              <a:t>decision, </a:t>
            </a:r>
            <a:r>
              <a:rPr lang="en-US" sz="1600" dirty="0">
                <a:solidFill>
                  <a:srgbClr val="000000"/>
                </a:solidFill>
                <a:latin typeface="inter"/>
                <a:ea typeface="inter"/>
                <a:cs typeface="inter"/>
              </a:rPr>
              <a:t>balancing Q, integration, tuning, and noise.</a:t>
            </a:r>
            <a:endParaRPr lang="en-US" sz="3200" dirty="0"/>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9738784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01376" y="1335890"/>
            <a:ext cx="10555356" cy="38834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Intuitive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13483" cy="4001095"/>
          </a:xfrm>
        </p:spPr>
        <p:txBody>
          <a:bodyPr/>
          <a:lstStyle/>
          <a:p>
            <a:pPr marL="342900" indent="-342900" algn="just">
              <a:lnSpc>
                <a:spcPct val="150000"/>
              </a:lnSpc>
              <a:buFont typeface="Wingdings" panose="05000000000000000000" pitchFamily="2" charset="2"/>
              <a:buChar char="q"/>
            </a:pPr>
            <a:r>
              <a:rPr lang="en-US" dirty="0" smtClean="0">
                <a:latin typeface="fkGroteskNeue"/>
              </a:rPr>
              <a:t>High</a:t>
            </a:r>
            <a:r>
              <a:rPr lang="en-US" dirty="0">
                <a:latin typeface="fkGroteskNeue"/>
              </a:rPr>
              <a:t> </a:t>
            </a:r>
            <a:r>
              <a:rPr lang="en-US" i="1" dirty="0" smtClean="0">
                <a:latin typeface="KaTeX_Math"/>
              </a:rPr>
              <a:t>Q</a:t>
            </a:r>
            <a:r>
              <a:rPr lang="en-US" dirty="0">
                <a:latin typeface="fkGroteskNeue"/>
              </a:rPr>
              <a:t> matters because it determines how “sharp” the resonant frequency is, impacting phase noise and oscillator stability.</a:t>
            </a:r>
          </a:p>
          <a:p>
            <a:pPr marL="342900" indent="-342900" algn="just">
              <a:lnSpc>
                <a:spcPct val="150000"/>
              </a:lnSpc>
              <a:buFont typeface="Wingdings" panose="05000000000000000000" pitchFamily="2" charset="2"/>
              <a:buChar char="q"/>
            </a:pPr>
            <a:r>
              <a:rPr lang="en-US" dirty="0">
                <a:latin typeface="fkGroteskNeue"/>
              </a:rPr>
              <a:t>Ring oscillators trade low </a:t>
            </a:r>
            <a:r>
              <a:rPr lang="en-US" i="1" dirty="0" smtClean="0">
                <a:latin typeface="KaTeX_Math"/>
              </a:rPr>
              <a:t>Q</a:t>
            </a:r>
            <a:r>
              <a:rPr lang="en-US" dirty="0">
                <a:latin typeface="fkGroteskNeue"/>
              </a:rPr>
              <a:t> for </a:t>
            </a:r>
            <a:r>
              <a:rPr lang="en-US" dirty="0" err="1">
                <a:latin typeface="fkGroteskNeue"/>
              </a:rPr>
              <a:t>tunability</a:t>
            </a:r>
            <a:r>
              <a:rPr lang="en-US" dirty="0">
                <a:latin typeface="fkGroteskNeue"/>
              </a:rPr>
              <a:t> and integration ease—ideal for many CMOS timing applications where integration and low cost dominate.</a:t>
            </a:r>
          </a:p>
          <a:p>
            <a:pPr marL="342900" indent="-342900" algn="just">
              <a:lnSpc>
                <a:spcPct val="150000"/>
              </a:lnSpc>
              <a:buFont typeface="Wingdings" panose="05000000000000000000" pitchFamily="2" charset="2"/>
              <a:buChar char="q"/>
            </a:pPr>
            <a:r>
              <a:rPr lang="en-US" dirty="0">
                <a:latin typeface="fkGroteskNeue"/>
              </a:rPr>
              <a:t>LC oscillators offer high </a:t>
            </a:r>
            <a:r>
              <a:rPr lang="en-US" i="1" dirty="0" smtClean="0">
                <a:latin typeface="KaTeX_Math"/>
              </a:rPr>
              <a:t>Q</a:t>
            </a:r>
            <a:r>
              <a:rPr lang="en-US" dirty="0">
                <a:latin typeface="fkGroteskNeue"/>
              </a:rPr>
              <a:t> for best spectral purity and low phase noise, commonly used in RF and precision PLL synthesis.</a:t>
            </a:r>
          </a:p>
          <a:p>
            <a:pPr marL="342900" indent="-342900" algn="just">
              <a:lnSpc>
                <a:spcPct val="150000"/>
              </a:lnSpc>
              <a:buFont typeface="Wingdings" panose="05000000000000000000" pitchFamily="2" charset="2"/>
              <a:buChar char="q"/>
            </a:pPr>
            <a:r>
              <a:rPr lang="en-US" dirty="0">
                <a:latin typeface="fkGroteskNeue"/>
              </a:rPr>
              <a:t>Understanding and calculating </a:t>
            </a:r>
            <a:r>
              <a:rPr lang="en-US" i="1" dirty="0" smtClean="0">
                <a:latin typeface="KaTeX_Math"/>
              </a:rPr>
              <a:t>Q</a:t>
            </a:r>
            <a:r>
              <a:rPr lang="en-US" dirty="0">
                <a:latin typeface="fkGroteskNeue"/>
              </a:rPr>
              <a:t> helps designers balance these tradeoffs for desired oscillator performance.</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48BDAE0-9650-4594-85ED-CC3B6147847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29610" cy="22996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525845612"/>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906572" y="1716216"/>
            <a:ext cx="10555356" cy="132638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LC Oscillators as Feedback </a:t>
            </a:r>
            <a:r>
              <a:rPr lang="en-US" dirty="0" smtClean="0">
                <a:latin typeface="fkGrotesk"/>
              </a:rPr>
              <a:t>Systems</a:t>
            </a:r>
            <a:endParaRPr lang="en-US" dirty="0"/>
          </a:p>
        </p:txBody>
      </p:sp>
      <p:sp>
        <p:nvSpPr>
          <p:cNvPr id="3" name="Text Placeholder 2"/>
          <p:cNvSpPr>
            <a:spLocks noGrp="1"/>
          </p:cNvSpPr>
          <p:nvPr>
            <p:ph type="body" idx="1"/>
          </p:nvPr>
        </p:nvSpPr>
        <p:spPr>
          <a:xfrm>
            <a:off x="844550" y="1327353"/>
            <a:ext cx="10818283" cy="3400931"/>
          </a:xfrm>
        </p:spPr>
        <p:txBody>
          <a:bodyPr/>
          <a:lstStyle/>
          <a:p>
            <a:pPr algn="ctr"/>
            <a:r>
              <a:rPr lang="en-US" b="1" dirty="0" smtClean="0">
                <a:solidFill>
                  <a:srgbClr val="C00000"/>
                </a:solidFill>
                <a:latin typeface="fkGroteskNeue"/>
              </a:rPr>
              <a:t>Core </a:t>
            </a:r>
            <a:r>
              <a:rPr lang="en-US" b="1" dirty="0">
                <a:solidFill>
                  <a:srgbClr val="C00000"/>
                </a:solidFill>
                <a:latin typeface="fkGroteskNeue"/>
              </a:rPr>
              <a:t>Concept:</a:t>
            </a:r>
          </a:p>
          <a:p>
            <a:pPr marL="800100" lvl="1" indent="-342900" algn="l">
              <a:lnSpc>
                <a:spcPct val="150000"/>
              </a:lnSpc>
              <a:buFont typeface="Wingdings" panose="05000000000000000000" pitchFamily="2" charset="2"/>
              <a:buChar char="q"/>
            </a:pPr>
            <a:r>
              <a:rPr lang="en-US" dirty="0">
                <a:latin typeface="fkGroteskNeue"/>
              </a:rPr>
              <a:t>LC oscillators use amplifier stages with LC tanks, arranged in a feedback loop.</a:t>
            </a:r>
          </a:p>
          <a:p>
            <a:pPr marL="800100" lvl="1" indent="-342900" algn="l">
              <a:lnSpc>
                <a:spcPct val="150000"/>
              </a:lnSpc>
              <a:buFont typeface="Wingdings" panose="05000000000000000000" pitchFamily="2" charset="2"/>
              <a:buChar char="q"/>
            </a:pPr>
            <a:r>
              <a:rPr lang="en-US" dirty="0">
                <a:latin typeface="fkGroteskNeue"/>
              </a:rPr>
              <a:t>Oscillation occurs if the total loop phase shift is 360° and loop gain is high enough.</a:t>
            </a:r>
          </a:p>
          <a:p>
            <a:pPr marL="800100" lvl="1" indent="-342900" algn="l">
              <a:lnSpc>
                <a:spcPct val="150000"/>
              </a:lnSpc>
              <a:buFont typeface="Wingdings" panose="05000000000000000000" pitchFamily="2" charset="2"/>
              <a:buChar char="q"/>
            </a:pPr>
            <a:r>
              <a:rPr lang="en-US" dirty="0">
                <a:latin typeface="fkGroteskNeue"/>
              </a:rPr>
              <a:t>Typical cross-coupled setup: Two identical common-source stages, each with its own LC tank</a:t>
            </a:r>
            <a:r>
              <a:rPr lang="en-US" dirty="0" smtClean="0">
                <a:latin typeface="fkGroteskNeue"/>
              </a:rPr>
              <a:t>.</a:t>
            </a:r>
          </a:p>
          <a:p>
            <a:pPr algn="l">
              <a:buFont typeface="Arial" panose="020B0604020202020204" pitchFamily="34" charset="0"/>
              <a:buChar char="•"/>
            </a:pPr>
            <a:endParaRPr lang="en-US" dirty="0">
              <a:latin typeface="fkGroteskNeue"/>
            </a:endParaRPr>
          </a:p>
          <a:p>
            <a:pPr algn="l">
              <a:buFont typeface="Arial" panose="020B0604020202020204" pitchFamily="34" charset="0"/>
              <a:buChar char="•"/>
            </a:pPr>
            <a:endParaRPr lang="en-US" dirty="0">
              <a:latin typeface="fkGroteskNeue"/>
            </a:endParaRPr>
          </a:p>
          <a:p>
            <a:pPr algn="just"/>
            <a:r>
              <a:rPr lang="en-US" b="1" dirty="0">
                <a:solidFill>
                  <a:srgbClr val="C00000"/>
                </a:solidFill>
                <a:latin typeface="fkGroteskNeue"/>
              </a:rPr>
              <a:t>Takeaway:</a:t>
            </a:r>
            <a:r>
              <a:rPr lang="en-US" dirty="0">
                <a:latin typeface="fkGroteskNeue"/>
              </a:rPr>
              <a:t/>
            </a:r>
            <a:br>
              <a:rPr lang="en-US" dirty="0">
                <a:latin typeface="fkGroteskNeue"/>
              </a:rPr>
            </a:br>
            <a:r>
              <a:rPr lang="en-US" dirty="0">
                <a:latin typeface="fkGroteskNeue"/>
              </a:rPr>
              <a:t>The combination of high-Q tanks, cross-coupled feedback, and amplifier gain is the foundation for reliable, stable sinusoidal oscillation at resonance frequency</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05C726C-759A-456F-BAD2-74BE32B6A747}"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472966" cy="197600"/>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835909898"/>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44732" y="1748583"/>
            <a:ext cx="10555356" cy="186046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Analysis of Latch-Up in LC </a:t>
            </a:r>
            <a:r>
              <a:rPr lang="en-US" dirty="0" smtClean="0">
                <a:latin typeface="fkGrotesk"/>
              </a:rPr>
              <a:t>Oscillators</a:t>
            </a:r>
            <a:endParaRPr lang="en-US" dirty="0"/>
          </a:p>
        </p:txBody>
      </p:sp>
      <p:sp>
        <p:nvSpPr>
          <p:cNvPr id="3" name="Text Placeholder 2"/>
          <p:cNvSpPr>
            <a:spLocks noGrp="1"/>
          </p:cNvSpPr>
          <p:nvPr>
            <p:ph type="body" idx="1"/>
          </p:nvPr>
        </p:nvSpPr>
        <p:spPr>
          <a:xfrm>
            <a:off x="844550" y="1327353"/>
            <a:ext cx="10623550" cy="4370427"/>
          </a:xfrm>
        </p:spPr>
        <p:txBody>
          <a:bodyPr/>
          <a:lstStyle/>
          <a:p>
            <a:pPr algn="ctr"/>
            <a:r>
              <a:rPr lang="en-US" sz="2400" b="1" dirty="0" smtClean="0">
                <a:solidFill>
                  <a:srgbClr val="C00000"/>
                </a:solidFill>
                <a:latin typeface="fkGroteskNeue"/>
              </a:rPr>
              <a:t>Concept</a:t>
            </a:r>
            <a:r>
              <a:rPr lang="en-US" sz="2400" b="1" dirty="0">
                <a:solidFill>
                  <a:srgbClr val="C00000"/>
                </a:solidFill>
                <a:latin typeface="fkGroteskNeue"/>
              </a:rPr>
              <a:t>:</a:t>
            </a:r>
          </a:p>
          <a:p>
            <a:pPr marL="342900" indent="-342900" algn="l">
              <a:lnSpc>
                <a:spcPct val="150000"/>
              </a:lnSpc>
              <a:buFont typeface="Wingdings" panose="05000000000000000000" pitchFamily="2" charset="2"/>
              <a:buChar char="q"/>
            </a:pPr>
            <a:r>
              <a:rPr lang="en-US" dirty="0">
                <a:latin typeface="fkGroteskNeue"/>
              </a:rPr>
              <a:t>Latch-up means the oscillator gets stuck at a DC level rather than oscillating.</a:t>
            </a:r>
          </a:p>
          <a:p>
            <a:pPr marL="342900" indent="-342900" algn="l">
              <a:lnSpc>
                <a:spcPct val="150000"/>
              </a:lnSpc>
              <a:buFont typeface="Wingdings" panose="05000000000000000000" pitchFamily="2" charset="2"/>
              <a:buChar char="q"/>
            </a:pPr>
            <a:r>
              <a:rPr lang="en-US" dirty="0">
                <a:latin typeface="fkGroteskNeue"/>
              </a:rPr>
              <a:t>At low frequencies (near DC), the parallel tank model breaks down.</a:t>
            </a:r>
          </a:p>
          <a:p>
            <a:pPr marL="342900" indent="-342900" algn="l">
              <a:lnSpc>
                <a:spcPct val="150000"/>
              </a:lnSpc>
              <a:buFont typeface="Wingdings" panose="05000000000000000000" pitchFamily="2" charset="2"/>
              <a:buChar char="q"/>
            </a:pPr>
            <a:r>
              <a:rPr lang="en-US" dirty="0">
                <a:latin typeface="fkGroteskNeue"/>
              </a:rPr>
              <a:t>If inductor resistance </a:t>
            </a:r>
            <a:r>
              <a:rPr lang="en-US" i="1" dirty="0" smtClean="0">
                <a:latin typeface="KaTeX_Math"/>
              </a:rPr>
              <a:t>R</a:t>
            </a:r>
            <a:r>
              <a:rPr lang="en-US" i="1" baseline="-25000" dirty="0" smtClean="0">
                <a:latin typeface="KaTeX_Math"/>
              </a:rPr>
              <a:t>S</a:t>
            </a:r>
            <a:r>
              <a:rPr lang="en-US" dirty="0">
                <a:latin typeface="fkGroteskNeue"/>
              </a:rPr>
              <a:t> is not negligible, the DC loop acts as two resistors and devices in a feedback loop</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endParaRPr lang="en-US" dirty="0">
              <a:latin typeface="fkGroteskNeue"/>
            </a:endParaRPr>
          </a:p>
          <a:p>
            <a:pPr algn="ctr"/>
            <a:r>
              <a:rPr lang="en-US" b="1" dirty="0">
                <a:solidFill>
                  <a:srgbClr val="C00000"/>
                </a:solidFill>
                <a:latin typeface="fkGroteskNeue"/>
              </a:rPr>
              <a:t>Takeaway</a:t>
            </a:r>
            <a:r>
              <a:rPr lang="en-US" b="1" dirty="0" smtClean="0">
                <a:solidFill>
                  <a:srgbClr val="C00000"/>
                </a:solidFill>
                <a:latin typeface="fkGroteskNeue"/>
              </a:rPr>
              <a:t>:</a:t>
            </a:r>
          </a:p>
          <a:p>
            <a:pPr algn="ctr"/>
            <a:r>
              <a:rPr lang="en-US" dirty="0">
                <a:latin typeface="fkGroteskNeue"/>
              </a:rPr>
              <a:t/>
            </a:r>
            <a:br>
              <a:rPr lang="en-US" dirty="0">
                <a:latin typeface="fkGroteskNeue"/>
              </a:rPr>
            </a:br>
            <a:r>
              <a:rPr lang="en-US" dirty="0">
                <a:latin typeface="fkGroteskNeue"/>
              </a:rPr>
              <a:t>Latch-up is avoided if </a:t>
            </a:r>
            <a:r>
              <a:rPr lang="en-US" dirty="0" smtClean="0">
                <a:latin typeface="KaTeX_Main"/>
              </a:rPr>
              <a:t>(</a:t>
            </a:r>
            <a:r>
              <a:rPr lang="en-US" i="1" dirty="0" err="1" smtClean="0">
                <a:latin typeface="KaTeX_Math"/>
              </a:rPr>
              <a:t>g</a:t>
            </a:r>
            <a:r>
              <a:rPr lang="en-US" i="1" baseline="-25000" dirty="0" err="1" smtClean="0">
                <a:latin typeface="KaTeX_Math"/>
              </a:rPr>
              <a:t>m</a:t>
            </a:r>
            <a:r>
              <a:rPr lang="en-US" i="1" dirty="0" err="1" smtClean="0">
                <a:latin typeface="KaTeX_Math"/>
              </a:rPr>
              <a:t>R</a:t>
            </a:r>
            <a:r>
              <a:rPr lang="en-US" i="1" baseline="-25000" dirty="0" err="1" smtClean="0">
                <a:latin typeface="KaTeX_Math"/>
              </a:rPr>
              <a:t>S</a:t>
            </a:r>
            <a:r>
              <a:rPr lang="en-US" dirty="0" smtClean="0">
                <a:latin typeface="KaTeX_Main"/>
              </a:rPr>
              <a:t>)</a:t>
            </a:r>
            <a:r>
              <a:rPr lang="en-US" baseline="30000" dirty="0" smtClean="0">
                <a:latin typeface="KaTeX_Main"/>
              </a:rPr>
              <a:t>2</a:t>
            </a:r>
            <a:r>
              <a:rPr lang="en-US" dirty="0" smtClean="0">
                <a:latin typeface="KaTeX_Main"/>
              </a:rPr>
              <a:t>&lt;1</a:t>
            </a:r>
            <a:r>
              <a:rPr lang="en-US" dirty="0">
                <a:latin typeface="fkGroteskNeue"/>
              </a:rPr>
              <a:t>, ensuring the loop gain at DC is less than unity. Most practical designs meet this easily.</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D3F7C02-3C84-46B6-9958-3723E23BE65C}"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81058" cy="221876"/>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83125894"/>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7904835" y="1107965"/>
            <a:ext cx="2840039" cy="1898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p:cNvSpPr/>
          <p:nvPr/>
        </p:nvSpPr>
        <p:spPr>
          <a:xfrm>
            <a:off x="4352432" y="1124148"/>
            <a:ext cx="2840039" cy="1898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p:nvSpPr>
        <p:spPr>
          <a:xfrm>
            <a:off x="906573" y="1117405"/>
            <a:ext cx="2840039" cy="1898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p:nvSpPr>
        <p:spPr>
          <a:xfrm>
            <a:off x="649611" y="5430023"/>
            <a:ext cx="10753703" cy="676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9"/>
          <p:cNvSpPr/>
          <p:nvPr/>
        </p:nvSpPr>
        <p:spPr>
          <a:xfrm>
            <a:off x="7879080" y="3566160"/>
            <a:ext cx="3002280" cy="129032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9"/>
          <p:cNvSpPr/>
          <p:nvPr/>
        </p:nvSpPr>
        <p:spPr>
          <a:xfrm>
            <a:off x="4236720" y="3464560"/>
            <a:ext cx="3002280" cy="161544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9"/>
          <p:cNvSpPr/>
          <p:nvPr/>
        </p:nvSpPr>
        <p:spPr>
          <a:xfrm>
            <a:off x="701040" y="3383280"/>
            <a:ext cx="3002280" cy="129032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1118850" cy="1046440"/>
          </a:xfrm>
        </p:spPr>
        <p:txBody>
          <a:bodyPr/>
          <a:lstStyle/>
          <a:p>
            <a:r>
              <a:rPr lang="en-US" dirty="0">
                <a:latin typeface="fkGrotesk"/>
              </a:rPr>
              <a:t>Circuit Topologies and Redrawn </a:t>
            </a:r>
            <a:r>
              <a:rPr lang="en-US" dirty="0" smtClean="0">
                <a:latin typeface="fkGrotesk"/>
              </a:rPr>
              <a:t>Forms </a:t>
            </a:r>
            <a:r>
              <a:rPr lang="en-US" dirty="0" smtClean="0">
                <a:latin typeface="fkGroteskNeue"/>
              </a:rPr>
              <a:t>Figures</a:t>
            </a:r>
            <a:r>
              <a:rPr lang="en-US" dirty="0">
                <a:latin typeface="fkGroteskNeue"/>
              </a:rPr>
              <a:t>:</a:t>
            </a:r>
            <a:br>
              <a:rPr lang="en-US" dirty="0">
                <a:latin typeface="fkGroteskNeue"/>
              </a:rPr>
            </a:br>
            <a:endParaRPr lang="en-US" dirty="0"/>
          </a:p>
        </p:txBody>
      </p:sp>
      <p:sp>
        <p:nvSpPr>
          <p:cNvPr id="3" name="Text Placeholder 2"/>
          <p:cNvSpPr>
            <a:spLocks noGrp="1"/>
          </p:cNvSpPr>
          <p:nvPr>
            <p:ph type="body" idx="1"/>
          </p:nvPr>
        </p:nvSpPr>
        <p:spPr>
          <a:xfrm>
            <a:off x="829310" y="5117033"/>
            <a:ext cx="10564283" cy="923330"/>
          </a:xfrm>
        </p:spPr>
        <p:txBody>
          <a:bodyPr/>
          <a:lstStyle/>
          <a:p>
            <a:pPr algn="ctr"/>
            <a:r>
              <a:rPr lang="en-US" b="1" dirty="0" smtClean="0">
                <a:solidFill>
                  <a:srgbClr val="C00000"/>
                </a:solidFill>
                <a:latin typeface="fkGroteskNeue"/>
              </a:rPr>
              <a:t>Takeaway:</a:t>
            </a:r>
            <a:r>
              <a:rPr lang="en-US" dirty="0">
                <a:latin typeface="fkGroteskNeue"/>
              </a:rPr>
              <a:t/>
            </a:r>
            <a:br>
              <a:rPr lang="en-US" dirty="0">
                <a:latin typeface="fkGroteskNeue"/>
              </a:rPr>
            </a:br>
            <a:r>
              <a:rPr lang="en-US" dirty="0">
                <a:latin typeface="fkGroteskNeue"/>
              </a:rPr>
              <a:t>The cross-coupled representation highlights differential operation and startup conditions, with X and Y nodes swinging differentially</a:t>
            </a:r>
            <a:r>
              <a:rPr lang="en-US" dirty="0" smtClean="0">
                <a:latin typeface="fkGroteskNeue"/>
              </a:rPr>
              <a:t>.</a:t>
            </a:r>
            <a:endParaRPr lang="en-US" dirty="0">
              <a:latin typeface="fkGroteskNeue"/>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t="4406" r="51059" b="8701"/>
          <a:stretch/>
        </p:blipFill>
        <p:spPr>
          <a:xfrm>
            <a:off x="1089734" y="1175794"/>
            <a:ext cx="2592142" cy="1777799"/>
          </a:xfrm>
          <a:prstGeom prst="rect">
            <a:avLst/>
          </a:prstGeom>
        </p:spPr>
      </p:pic>
      <p:pic>
        <p:nvPicPr>
          <p:cNvPr id="10" name="Picture 9"/>
          <p:cNvPicPr>
            <a:picLocks noChangeAspect="1"/>
          </p:cNvPicPr>
          <p:nvPr/>
        </p:nvPicPr>
        <p:blipFill rotWithShape="1">
          <a:blip r:embed="rId3">
            <a:duotone>
              <a:prstClr val="black"/>
              <a:schemeClr val="bg1">
                <a:lumMod val="65000"/>
                <a:tint val="45000"/>
                <a:satMod val="400000"/>
              </a:schemeClr>
            </a:duotone>
          </a:blip>
          <a:srcRect l="14930" t="10104"/>
          <a:stretch/>
        </p:blipFill>
        <p:spPr>
          <a:xfrm>
            <a:off x="8464269" y="1205713"/>
            <a:ext cx="1837790" cy="1601064"/>
          </a:xfrm>
          <a:prstGeom prst="rect">
            <a:avLst/>
          </a:prstGeom>
        </p:spPr>
      </p:pic>
      <p:sp>
        <p:nvSpPr>
          <p:cNvPr id="4" name="Rectangle 3"/>
          <p:cNvSpPr/>
          <p:nvPr/>
        </p:nvSpPr>
        <p:spPr>
          <a:xfrm>
            <a:off x="721360" y="3756075"/>
            <a:ext cx="2997200" cy="923330"/>
          </a:xfrm>
          <a:prstGeom prst="rect">
            <a:avLst/>
          </a:prstGeom>
        </p:spPr>
        <p:txBody>
          <a:bodyPr wrap="square">
            <a:spAutoFit/>
          </a:bodyPr>
          <a:lstStyle/>
          <a:p>
            <a:pPr algn="just"/>
            <a:r>
              <a:rPr lang="en-US" kern="0" dirty="0">
                <a:solidFill>
                  <a:sysClr val="windowText" lastClr="000000"/>
                </a:solidFill>
                <a:latin typeface="fkGroteskNeue"/>
              </a:rPr>
              <a:t>Two cascaded CS stages with LC tank loads showing feedback path.</a:t>
            </a:r>
          </a:p>
        </p:txBody>
      </p:sp>
      <p:sp>
        <p:nvSpPr>
          <p:cNvPr id="5" name="Rectangle 4"/>
          <p:cNvSpPr/>
          <p:nvPr/>
        </p:nvSpPr>
        <p:spPr>
          <a:xfrm>
            <a:off x="4180840" y="3917295"/>
            <a:ext cx="3124200" cy="1200329"/>
          </a:xfrm>
          <a:prstGeom prst="rect">
            <a:avLst/>
          </a:prstGeom>
        </p:spPr>
        <p:txBody>
          <a:bodyPr wrap="square">
            <a:spAutoFit/>
          </a:bodyPr>
          <a:lstStyle/>
          <a:p>
            <a:pPr algn="just"/>
            <a:r>
              <a:rPr lang="en-US" kern="0" dirty="0">
                <a:solidFill>
                  <a:sysClr val="windowText" lastClr="000000"/>
                </a:solidFill>
                <a:latin typeface="fkGroteskNeue"/>
              </a:rPr>
              <a:t>The same oscillator, redrawn as a symmetric cross-coupled pair—a standard for integrated designs.</a:t>
            </a:r>
          </a:p>
        </p:txBody>
      </p:sp>
      <p:sp>
        <p:nvSpPr>
          <p:cNvPr id="6" name="Rectangle 5"/>
          <p:cNvSpPr/>
          <p:nvPr/>
        </p:nvSpPr>
        <p:spPr>
          <a:xfrm>
            <a:off x="7950200" y="3857377"/>
            <a:ext cx="2860040" cy="923330"/>
          </a:xfrm>
          <a:prstGeom prst="rect">
            <a:avLst/>
          </a:prstGeom>
        </p:spPr>
        <p:txBody>
          <a:bodyPr wrap="square">
            <a:spAutoFit/>
          </a:bodyPr>
          <a:lstStyle/>
          <a:p>
            <a:pPr algn="just"/>
            <a:r>
              <a:rPr lang="en-US" kern="0" dirty="0">
                <a:solidFill>
                  <a:prstClr val="black"/>
                </a:solidFill>
                <a:latin typeface="fkGroteskNeue"/>
              </a:rPr>
              <a:t>Shows the low-frequency (DC) equivalent where the tanks reduce to resistors.</a:t>
            </a:r>
            <a:endParaRPr lang="en-US" sz="1600" dirty="0"/>
          </a:p>
        </p:txBody>
      </p:sp>
      <p:sp>
        <p:nvSpPr>
          <p:cNvPr id="8" name="Rectangle 7"/>
          <p:cNvSpPr/>
          <p:nvPr/>
        </p:nvSpPr>
        <p:spPr>
          <a:xfrm>
            <a:off x="729906" y="3125655"/>
            <a:ext cx="3153236" cy="276999"/>
          </a:xfrm>
          <a:prstGeom prst="rect">
            <a:avLst/>
          </a:prstGeom>
        </p:spPr>
        <p:txBody>
          <a:bodyPr wrap="none">
            <a:spAutoFit/>
          </a:bodyPr>
          <a:lstStyle/>
          <a:p>
            <a:r>
              <a:rPr lang="en-US" sz="1200" b="1" dirty="0">
                <a:solidFill>
                  <a:srgbClr val="FF0000"/>
                </a:solidFill>
                <a:latin typeface="T3Font_274"/>
              </a:rPr>
              <a:t>Two cascaded tuned CS stages in a loop</a:t>
            </a:r>
            <a:endParaRPr lang="en-US" sz="2000" b="1" dirty="0"/>
          </a:p>
        </p:txBody>
      </p:sp>
      <p:sp>
        <p:nvSpPr>
          <p:cNvPr id="12" name="Rectangle 11"/>
          <p:cNvSpPr/>
          <p:nvPr/>
        </p:nvSpPr>
        <p:spPr>
          <a:xfrm>
            <a:off x="3961816" y="3149765"/>
            <a:ext cx="3693250" cy="276999"/>
          </a:xfrm>
          <a:prstGeom prst="rect">
            <a:avLst/>
          </a:prstGeom>
        </p:spPr>
        <p:txBody>
          <a:bodyPr wrap="square">
            <a:spAutoFit/>
          </a:bodyPr>
          <a:lstStyle/>
          <a:p>
            <a:pPr lvl="0" algn="ctr"/>
            <a:r>
              <a:rPr lang="en-US" sz="1200" b="1" dirty="0" smtClean="0">
                <a:solidFill>
                  <a:srgbClr val="FF0000"/>
                </a:solidFill>
                <a:latin typeface="T3Font_274"/>
              </a:rPr>
              <a:t>The </a:t>
            </a:r>
            <a:r>
              <a:rPr lang="en-US" sz="1200" b="1" dirty="0">
                <a:solidFill>
                  <a:srgbClr val="FF0000"/>
                </a:solidFill>
                <a:latin typeface="T3Font_274"/>
              </a:rPr>
              <a:t>circuit redrawn </a:t>
            </a:r>
            <a:r>
              <a:rPr lang="en-US" sz="1200" b="1" dirty="0" smtClean="0">
                <a:solidFill>
                  <a:srgbClr val="FF0000"/>
                </a:solidFill>
                <a:latin typeface="T3Font_274"/>
              </a:rPr>
              <a:t>as </a:t>
            </a:r>
            <a:r>
              <a:rPr lang="en-US" sz="1200" b="1" dirty="0">
                <a:solidFill>
                  <a:srgbClr val="FF0000"/>
                </a:solidFill>
                <a:latin typeface="T3Font_274"/>
              </a:rPr>
              <a:t>cross-coupled amplifiers</a:t>
            </a:r>
            <a:endParaRPr lang="en-US" sz="2000" b="1" dirty="0"/>
          </a:p>
        </p:txBody>
      </p:sp>
      <p:sp>
        <p:nvSpPr>
          <p:cNvPr id="13" name="Rectangle 12"/>
          <p:cNvSpPr/>
          <p:nvPr/>
        </p:nvSpPr>
        <p:spPr>
          <a:xfrm>
            <a:off x="7759784" y="3220762"/>
            <a:ext cx="3538148" cy="261610"/>
          </a:xfrm>
          <a:prstGeom prst="rect">
            <a:avLst/>
          </a:prstGeom>
        </p:spPr>
        <p:txBody>
          <a:bodyPr wrap="none">
            <a:spAutoFit/>
          </a:bodyPr>
          <a:lstStyle/>
          <a:p>
            <a:pPr lvl="0"/>
            <a:r>
              <a:rPr lang="en-US" sz="1100" b="1" dirty="0">
                <a:solidFill>
                  <a:srgbClr val="FF0000"/>
                </a:solidFill>
                <a:latin typeface="T3Font_274"/>
              </a:rPr>
              <a:t>LC oscillator equivalent circuit at low frequencies.</a:t>
            </a:r>
            <a:endParaRPr lang="en-US" sz="3200" b="1" dirty="0">
              <a:solidFill>
                <a:srgbClr val="FF0000"/>
              </a:solidFill>
            </a:endParaRPr>
          </a:p>
        </p:txBody>
      </p:sp>
      <p:pic>
        <p:nvPicPr>
          <p:cNvPr id="14" name="Picture 13"/>
          <p:cNvPicPr>
            <a:picLocks noChangeAspect="1"/>
          </p:cNvPicPr>
          <p:nvPr/>
        </p:nvPicPr>
        <p:blipFill rotWithShape="1">
          <a:blip r:embed="rId2">
            <a:duotone>
              <a:prstClr val="black"/>
              <a:schemeClr val="bg1">
                <a:lumMod val="65000"/>
                <a:tint val="45000"/>
                <a:satMod val="400000"/>
              </a:schemeClr>
            </a:duotone>
          </a:blip>
          <a:srcRect l="53119" t="24687" r="3184" b="8133"/>
          <a:stretch/>
        </p:blipFill>
        <p:spPr>
          <a:xfrm>
            <a:off x="4520256" y="1244915"/>
            <a:ext cx="2550160" cy="1514470"/>
          </a:xfrm>
          <a:prstGeom prst="rect">
            <a:avLst/>
          </a:prstGeom>
        </p:spPr>
      </p:pic>
      <p:sp>
        <p:nvSpPr>
          <p:cNvPr id="9" name="Date Placeholder 8"/>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F97B8A1-5885-4341-A28B-48465D7256EA}"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19" name="Slide Number Placeholder 18"/>
          <p:cNvSpPr>
            <a:spLocks noGrp="1"/>
          </p:cNvSpPr>
          <p:nvPr>
            <p:ph type="sldNum" sz="quarter" idx="7"/>
          </p:nvPr>
        </p:nvSpPr>
        <p:spPr>
          <a:xfrm>
            <a:off x="10952988" y="6276028"/>
            <a:ext cx="513426" cy="22996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2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00478821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420786" y="1392534"/>
            <a:ext cx="3900361" cy="230552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19"/>
          <p:cNvSpPr/>
          <p:nvPr/>
        </p:nvSpPr>
        <p:spPr>
          <a:xfrm rot="10800000">
            <a:off x="9796356" y="1083732"/>
            <a:ext cx="2395644" cy="2243668"/>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9753600" y="3382432"/>
            <a:ext cx="2438400" cy="182456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9"/>
          <p:cNvSpPr/>
          <p:nvPr/>
        </p:nvSpPr>
        <p:spPr>
          <a:xfrm rot="5400000">
            <a:off x="6337723" y="-219706"/>
            <a:ext cx="2109470" cy="478155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9"/>
          <p:cNvSpPr/>
          <p:nvPr/>
        </p:nvSpPr>
        <p:spPr>
          <a:xfrm>
            <a:off x="4200312" y="3246967"/>
            <a:ext cx="5426287" cy="224028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Oscillator Waveforms and </a:t>
            </a:r>
            <a:r>
              <a:rPr lang="en-US" dirty="0" smtClean="0">
                <a:latin typeface="fkGrotesk"/>
              </a:rPr>
              <a:t>Operation</a:t>
            </a:r>
            <a:endParaRPr lang="en-US" dirty="0"/>
          </a:p>
        </p:txBody>
      </p:sp>
      <p:sp>
        <p:nvSpPr>
          <p:cNvPr id="3" name="Text Placeholder 2"/>
          <p:cNvSpPr>
            <a:spLocks noGrp="1"/>
          </p:cNvSpPr>
          <p:nvPr>
            <p:ph type="body" idx="1"/>
          </p:nvPr>
        </p:nvSpPr>
        <p:spPr>
          <a:xfrm>
            <a:off x="522817" y="1141086"/>
            <a:ext cx="3570817" cy="2462213"/>
          </a:xfrm>
        </p:spPr>
        <p:txBody>
          <a:bodyPr/>
          <a:lstStyle/>
          <a:p>
            <a:pPr algn="ctr"/>
            <a:r>
              <a:rPr lang="en-US" sz="1600" b="1" dirty="0" smtClean="0">
                <a:solidFill>
                  <a:srgbClr val="C00000"/>
                </a:solidFill>
                <a:latin typeface="fkGroteskNeue"/>
              </a:rPr>
              <a:t>Concept</a:t>
            </a:r>
            <a:r>
              <a:rPr lang="en-US" sz="1600" b="1" dirty="0">
                <a:solidFill>
                  <a:srgbClr val="C00000"/>
                </a:solidFill>
                <a:latin typeface="fkGroteskNeue"/>
              </a:rPr>
              <a:t>:</a:t>
            </a:r>
          </a:p>
          <a:p>
            <a:pPr marL="342900" indent="-342900" algn="just">
              <a:buFont typeface="Wingdings" panose="05000000000000000000" pitchFamily="2" charset="2"/>
              <a:buChar char="q"/>
            </a:pPr>
            <a:r>
              <a:rPr lang="en-US" sz="1600" dirty="0">
                <a:latin typeface="fkGroteskNeue"/>
              </a:rPr>
              <a:t>As the loop gain is set above unity, the circuit ensures large voltage swings.</a:t>
            </a:r>
          </a:p>
          <a:p>
            <a:pPr marL="342900" indent="-342900" algn="just">
              <a:buFont typeface="Wingdings" panose="05000000000000000000" pitchFamily="2" charset="2"/>
              <a:buChar char="q"/>
            </a:pPr>
            <a:r>
              <a:rPr lang="en-US" sz="1600" i="1" dirty="0" smtClean="0">
                <a:latin typeface="KaTeX_Math"/>
              </a:rPr>
              <a:t>M</a:t>
            </a:r>
            <a:r>
              <a:rPr lang="en-US" sz="1600" baseline="-25000" dirty="0" smtClean="0">
                <a:latin typeface="KaTeX_Main"/>
              </a:rPr>
              <a:t>1</a:t>
            </a:r>
            <a:r>
              <a:rPr lang="en-US" sz="1600" dirty="0">
                <a:latin typeface="fkGroteskNeue"/>
              </a:rPr>
              <a:t> and </a:t>
            </a:r>
            <a:r>
              <a:rPr lang="en-US" sz="1600" i="1" dirty="0" smtClean="0">
                <a:latin typeface="KaTeX_Math"/>
              </a:rPr>
              <a:t>M</a:t>
            </a:r>
            <a:r>
              <a:rPr lang="en-US" sz="1600" baseline="-25000" dirty="0" smtClean="0">
                <a:latin typeface="KaTeX_Main"/>
              </a:rPr>
              <a:t>2</a:t>
            </a:r>
            <a:r>
              <a:rPr lang="en-US" sz="1600" dirty="0">
                <a:latin typeface="fkGroteskNeue"/>
              </a:rPr>
              <a:t> alternately turn on and off, switching drain currents between zero and maximum.</a:t>
            </a:r>
          </a:p>
          <a:p>
            <a:pPr marL="342900" indent="-342900" algn="just">
              <a:buFont typeface="Wingdings" panose="05000000000000000000" pitchFamily="2" charset="2"/>
              <a:buChar char="q"/>
            </a:pPr>
            <a:r>
              <a:rPr lang="en-US" sz="1600" dirty="0">
                <a:latin typeface="fkGroteskNeue"/>
              </a:rPr>
              <a:t>The parallel tanks filter the square-like current waveforms into clean, sinusoidal voltages at each node</a:t>
            </a:r>
            <a:r>
              <a:rPr lang="en-US" sz="1600" dirty="0" smtClean="0">
                <a:latin typeface="fkGroteskNeue"/>
              </a:rPr>
              <a:t>.</a:t>
            </a:r>
            <a:endParaRPr lang="en-US" sz="1600" dirty="0">
              <a:latin typeface="fkGroteskNeue"/>
            </a:endParaRPr>
          </a:p>
        </p:txBody>
      </p:sp>
      <p:sp>
        <p:nvSpPr>
          <p:cNvPr id="5" name="Date Placeholder 4"/>
          <p:cNvSpPr>
            <a:spLocks noGrp="1"/>
          </p:cNvSpPr>
          <p:nvPr>
            <p:ph type="dt" sz="half" idx="6"/>
          </p:nvPr>
        </p:nvSpPr>
        <p:spPr>
          <a:xfrm>
            <a:off x="489628" y="643689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6A20C6A1-F860-44CB-B75C-170E667E528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489150" cy="213784"/>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9706832" y="783818"/>
            <a:ext cx="2485168" cy="276999"/>
          </a:xfrm>
          <a:prstGeom prst="rect">
            <a:avLst/>
          </a:prstGeom>
        </p:spPr>
        <p:txBody>
          <a:bodyPr wrap="none">
            <a:spAutoFit/>
          </a:bodyPr>
          <a:lstStyle/>
          <a:p>
            <a:r>
              <a:rPr lang="en-US" sz="1200" b="1" dirty="0" smtClean="0">
                <a:solidFill>
                  <a:srgbClr val="FF0000"/>
                </a:solidFill>
              </a:rPr>
              <a:t>Cross-coupled </a:t>
            </a:r>
            <a:r>
              <a:rPr lang="en-US" sz="1200" b="1" dirty="0">
                <a:solidFill>
                  <a:srgbClr val="FF0000"/>
                </a:solidFill>
              </a:rPr>
              <a:t>oscillator waveforms.</a:t>
            </a:r>
          </a:p>
        </p:txBody>
      </p:sp>
      <p:sp>
        <p:nvSpPr>
          <p:cNvPr id="9" name="Rectangle 8"/>
          <p:cNvSpPr/>
          <p:nvPr/>
        </p:nvSpPr>
        <p:spPr>
          <a:xfrm>
            <a:off x="9805882" y="3431943"/>
            <a:ext cx="2386118" cy="1754326"/>
          </a:xfrm>
          <a:prstGeom prst="rect">
            <a:avLst/>
          </a:prstGeom>
        </p:spPr>
        <p:txBody>
          <a:bodyPr wrap="square">
            <a:spAutoFit/>
          </a:bodyPr>
          <a:lstStyle/>
          <a:p>
            <a:pPr marL="285750" indent="-285750" algn="just">
              <a:buFont typeface="Wingdings" panose="05000000000000000000" pitchFamily="2" charset="2"/>
              <a:buChar char="q"/>
            </a:pPr>
            <a:r>
              <a:rPr lang="en-US" i="1" kern="0" dirty="0">
                <a:solidFill>
                  <a:sysClr val="windowText" lastClr="000000"/>
                </a:solidFill>
                <a:latin typeface="KaTeX_Math"/>
              </a:rPr>
              <a:t>I</a:t>
            </a:r>
            <a:r>
              <a:rPr lang="en-US" i="1" kern="0" baseline="-25000" dirty="0">
                <a:solidFill>
                  <a:sysClr val="windowText" lastClr="000000"/>
                </a:solidFill>
                <a:latin typeface="KaTeX_Math"/>
              </a:rPr>
              <a:t>D</a:t>
            </a:r>
            <a:r>
              <a:rPr lang="en-US" kern="0" baseline="-25000" dirty="0">
                <a:solidFill>
                  <a:sysClr val="windowText" lastClr="000000"/>
                </a:solidFill>
                <a:latin typeface="KaTeX_Main"/>
              </a:rPr>
              <a:t>1</a:t>
            </a:r>
            <a:r>
              <a:rPr lang="en-US" kern="0" dirty="0">
                <a:solidFill>
                  <a:sysClr val="windowText" lastClr="000000"/>
                </a:solidFill>
                <a:latin typeface="fkGroteskNeue"/>
              </a:rPr>
              <a:t>, </a:t>
            </a:r>
            <a:r>
              <a:rPr lang="en-US" i="1" kern="0" dirty="0">
                <a:solidFill>
                  <a:sysClr val="windowText" lastClr="000000"/>
                </a:solidFill>
                <a:latin typeface="KaTeX_Math"/>
              </a:rPr>
              <a:t>I</a:t>
            </a:r>
            <a:r>
              <a:rPr lang="en-US" i="1" kern="0" baseline="-25000" dirty="0">
                <a:solidFill>
                  <a:sysClr val="windowText" lastClr="000000"/>
                </a:solidFill>
                <a:latin typeface="KaTeX_Math"/>
              </a:rPr>
              <a:t>D</a:t>
            </a:r>
            <a:r>
              <a:rPr lang="en-US" kern="0" baseline="-25000" dirty="0">
                <a:solidFill>
                  <a:sysClr val="windowText" lastClr="000000"/>
                </a:solidFill>
                <a:latin typeface="KaTeX_Main"/>
              </a:rPr>
              <a:t>2</a:t>
            </a:r>
            <a:r>
              <a:rPr lang="en-US" kern="0" dirty="0">
                <a:solidFill>
                  <a:sysClr val="windowText" lastClr="000000"/>
                </a:solidFill>
                <a:latin typeface="fkGroteskNeue"/>
              </a:rPr>
              <a:t>: Pulsed drain currents.</a:t>
            </a:r>
          </a:p>
          <a:p>
            <a:pPr marL="285750" indent="-285750" algn="just">
              <a:buFont typeface="Wingdings" panose="05000000000000000000" pitchFamily="2" charset="2"/>
              <a:buChar char="q"/>
            </a:pPr>
            <a:r>
              <a:rPr lang="en-US" i="1" kern="0" dirty="0">
                <a:solidFill>
                  <a:sysClr val="windowText" lastClr="000000"/>
                </a:solidFill>
                <a:latin typeface="KaTeX_Math"/>
              </a:rPr>
              <a:t>V</a:t>
            </a:r>
            <a:r>
              <a:rPr lang="en-US" i="1" kern="0" baseline="-25000" dirty="0">
                <a:solidFill>
                  <a:sysClr val="windowText" lastClr="000000"/>
                </a:solidFill>
                <a:latin typeface="KaTeX_Math"/>
              </a:rPr>
              <a:t>X</a:t>
            </a:r>
            <a:r>
              <a:rPr lang="en-US" kern="0" dirty="0">
                <a:solidFill>
                  <a:sysClr val="windowText" lastClr="000000"/>
                </a:solidFill>
                <a:latin typeface="fkGroteskNeue"/>
              </a:rPr>
              <a:t>, </a:t>
            </a:r>
            <a:r>
              <a:rPr lang="en-US" i="1" kern="0" dirty="0">
                <a:solidFill>
                  <a:sysClr val="windowText" lastClr="000000"/>
                </a:solidFill>
                <a:latin typeface="KaTeX_Math"/>
              </a:rPr>
              <a:t>V</a:t>
            </a:r>
            <a:r>
              <a:rPr lang="en-US" i="1" kern="0" baseline="-25000" dirty="0">
                <a:solidFill>
                  <a:sysClr val="windowText" lastClr="000000"/>
                </a:solidFill>
                <a:latin typeface="KaTeX_Math"/>
              </a:rPr>
              <a:t>Y</a:t>
            </a:r>
            <a:r>
              <a:rPr lang="en-US" kern="0" baseline="-25000" dirty="0">
                <a:solidFill>
                  <a:sysClr val="windowText" lastClr="000000"/>
                </a:solidFill>
                <a:latin typeface="fkGroteskNeue"/>
              </a:rPr>
              <a:t> </a:t>
            </a:r>
            <a:r>
              <a:rPr lang="en-US" kern="0" dirty="0">
                <a:solidFill>
                  <a:sysClr val="windowText" lastClr="000000"/>
                </a:solidFill>
                <a:latin typeface="fkGroteskNeue"/>
              </a:rPr>
              <a:t>: Out-of-phase, sinusoidal </a:t>
            </a:r>
            <a:r>
              <a:rPr lang="en-US" kern="0" dirty="0" smtClean="0">
                <a:solidFill>
                  <a:sysClr val="windowText" lastClr="000000"/>
                </a:solidFill>
                <a:latin typeface="fkGroteskNeue"/>
              </a:rPr>
              <a:t>voltage waveforms </a:t>
            </a:r>
            <a:r>
              <a:rPr lang="en-US" kern="0" dirty="0">
                <a:solidFill>
                  <a:sysClr val="windowText" lastClr="000000"/>
                </a:solidFill>
                <a:latin typeface="fkGroteskNeue"/>
              </a:rPr>
              <a:t>due to LC filtering.</a:t>
            </a:r>
          </a:p>
        </p:txBody>
      </p:sp>
      <p:sp>
        <p:nvSpPr>
          <p:cNvPr id="10" name="Rectangle 9"/>
          <p:cNvSpPr/>
          <p:nvPr/>
        </p:nvSpPr>
        <p:spPr>
          <a:xfrm>
            <a:off x="552873" y="5499429"/>
            <a:ext cx="11308080" cy="615553"/>
          </a:xfrm>
          <a:prstGeom prst="rect">
            <a:avLst/>
          </a:prstGeom>
        </p:spPr>
        <p:txBody>
          <a:bodyPr wrap="square">
            <a:spAutoFit/>
          </a:bodyPr>
          <a:lstStyle/>
          <a:p>
            <a:pPr lvl="0" algn="ctr"/>
            <a:r>
              <a:rPr lang="en-US" sz="2000" b="1" kern="0" dirty="0">
                <a:solidFill>
                  <a:srgbClr val="C00000"/>
                </a:solidFill>
                <a:latin typeface="fkGroteskNeue"/>
              </a:rPr>
              <a:t>Takeaway</a:t>
            </a:r>
            <a:r>
              <a:rPr lang="en-US" sz="2000" b="1" kern="0" dirty="0" smtClean="0">
                <a:solidFill>
                  <a:srgbClr val="C00000"/>
                </a:solidFill>
                <a:latin typeface="fkGroteskNeue"/>
              </a:rPr>
              <a:t>:</a:t>
            </a:r>
            <a:endParaRPr lang="en-US" sz="2000" b="1" kern="0" dirty="0">
              <a:solidFill>
                <a:srgbClr val="C00000"/>
              </a:solidFill>
              <a:latin typeface="fkGroteskNeue"/>
            </a:endParaRPr>
          </a:p>
          <a:p>
            <a:pPr algn="ctr"/>
            <a:r>
              <a:rPr lang="en-US" sz="1400" kern="0" dirty="0" smtClean="0">
                <a:solidFill>
                  <a:sysClr val="windowText" lastClr="000000"/>
                </a:solidFill>
                <a:latin typeface="fkGroteskNeue"/>
              </a:rPr>
              <a:t>Despite </a:t>
            </a:r>
            <a:r>
              <a:rPr lang="en-US" sz="1400" kern="0" dirty="0">
                <a:solidFill>
                  <a:sysClr val="windowText" lastClr="000000"/>
                </a:solidFill>
                <a:latin typeface="fkGroteskNeue"/>
              </a:rPr>
              <a:t>pulsed device currents, parallel tanks ensure sinusoidal </a:t>
            </a:r>
            <a:r>
              <a:rPr lang="en-US" sz="1400" kern="0" dirty="0" smtClean="0">
                <a:solidFill>
                  <a:sysClr val="windowText" lastClr="000000"/>
                </a:solidFill>
                <a:latin typeface="fkGroteskNeue"/>
              </a:rPr>
              <a:t>voltage—even-order </a:t>
            </a:r>
            <a:r>
              <a:rPr lang="en-US" sz="1400" kern="0" dirty="0">
                <a:solidFill>
                  <a:sysClr val="windowText" lastClr="000000"/>
                </a:solidFill>
                <a:latin typeface="fkGroteskNeue"/>
              </a:rPr>
              <a:t>harmonics are filtered out, yielding a pure output.</a:t>
            </a:r>
          </a:p>
        </p:txBody>
      </p:sp>
      <p:pic>
        <p:nvPicPr>
          <p:cNvPr id="11" name="Picture 10"/>
          <p:cNvPicPr>
            <a:picLocks noChangeAspect="1"/>
          </p:cNvPicPr>
          <p:nvPr/>
        </p:nvPicPr>
        <p:blipFill rotWithShape="1">
          <a:blip r:embed="rId2">
            <a:duotone>
              <a:prstClr val="black"/>
              <a:schemeClr val="bg1">
                <a:lumMod val="65000"/>
                <a:tint val="45000"/>
                <a:satMod val="400000"/>
              </a:schemeClr>
            </a:duotone>
          </a:blip>
          <a:srcRect t="4623"/>
          <a:stretch/>
        </p:blipFill>
        <p:spPr>
          <a:xfrm>
            <a:off x="5047159" y="1227666"/>
            <a:ext cx="3398341" cy="1924484"/>
          </a:xfrm>
          <a:prstGeom prst="rect">
            <a:avLst/>
          </a:prstGeom>
        </p:spPr>
      </p:pic>
      <p:pic>
        <p:nvPicPr>
          <p:cNvPr id="12" name="Picture 11"/>
          <p:cNvPicPr>
            <a:picLocks noChangeAspect="1"/>
          </p:cNvPicPr>
          <p:nvPr/>
        </p:nvPicPr>
        <p:blipFill>
          <a:blip r:embed="rId3">
            <a:duotone>
              <a:prstClr val="black"/>
              <a:schemeClr val="bg1">
                <a:lumMod val="65000"/>
                <a:tint val="45000"/>
                <a:satMod val="400000"/>
              </a:schemeClr>
            </a:duotone>
          </a:blip>
          <a:stretch>
            <a:fillRect/>
          </a:stretch>
        </p:blipFill>
        <p:spPr>
          <a:xfrm>
            <a:off x="10037233" y="1113366"/>
            <a:ext cx="2002368" cy="1550083"/>
          </a:xfrm>
          <a:prstGeom prst="rect">
            <a:avLst/>
          </a:prstGeom>
        </p:spPr>
      </p:pic>
      <p:sp>
        <p:nvSpPr>
          <p:cNvPr id="13" name="Rectangle 12"/>
          <p:cNvSpPr/>
          <p:nvPr/>
        </p:nvSpPr>
        <p:spPr>
          <a:xfrm>
            <a:off x="4186766" y="3797104"/>
            <a:ext cx="5477934" cy="1815882"/>
          </a:xfrm>
          <a:prstGeom prst="rect">
            <a:avLst/>
          </a:prstGeom>
        </p:spPr>
        <p:txBody>
          <a:bodyPr wrap="square">
            <a:spAutoFit/>
          </a:bodyPr>
          <a:lstStyle/>
          <a:p>
            <a:pPr algn="just"/>
            <a:r>
              <a:rPr lang="en-US" sz="1200" dirty="0">
                <a:solidFill>
                  <a:srgbClr val="231F20"/>
                </a:solidFill>
                <a:latin typeface="T3Font_2251"/>
              </a:rPr>
              <a:t>It is instructive to sketch the waveforms of the </a:t>
            </a:r>
            <a:r>
              <a:rPr lang="en-US" sz="1200" dirty="0" smtClean="0">
                <a:solidFill>
                  <a:srgbClr val="231F20"/>
                </a:solidFill>
                <a:latin typeface="T3Font_2251"/>
              </a:rPr>
              <a:t>oscillator. </a:t>
            </a:r>
          </a:p>
          <a:p>
            <a:pPr marL="285750" indent="-285750" algn="just">
              <a:buFont typeface="Wingdings" panose="05000000000000000000" pitchFamily="2" charset="2"/>
              <a:buChar char="q"/>
            </a:pPr>
            <a:r>
              <a:rPr lang="en-US" sz="1200" dirty="0" smtClean="0">
                <a:solidFill>
                  <a:srgbClr val="231F20"/>
                </a:solidFill>
                <a:latin typeface="T3Font_2251"/>
              </a:rPr>
              <a:t>We </a:t>
            </a:r>
            <a:r>
              <a:rPr lang="en-US" sz="1200" dirty="0">
                <a:solidFill>
                  <a:srgbClr val="231F20"/>
                </a:solidFill>
                <a:latin typeface="T3Font_2251"/>
              </a:rPr>
              <a:t>generally choose the loop gain greater than unity so as to ensure large swings. </a:t>
            </a:r>
            <a:endParaRPr lang="en-US" sz="1200" dirty="0" smtClean="0">
              <a:solidFill>
                <a:srgbClr val="231F20"/>
              </a:solidFill>
              <a:latin typeface="T3Font_2251"/>
            </a:endParaRPr>
          </a:p>
          <a:p>
            <a:pPr marL="285750" indent="-285750" algn="just">
              <a:buFont typeface="Wingdings" panose="05000000000000000000" pitchFamily="2" charset="2"/>
              <a:buChar char="q"/>
            </a:pPr>
            <a:r>
              <a:rPr lang="en-US" sz="1200" dirty="0" smtClean="0">
                <a:solidFill>
                  <a:srgbClr val="231F20"/>
                </a:solidFill>
                <a:latin typeface="T3Font_2252"/>
              </a:rPr>
              <a:t>M</a:t>
            </a:r>
            <a:r>
              <a:rPr lang="en-US" sz="1000" dirty="0" smtClean="0">
                <a:solidFill>
                  <a:srgbClr val="231F20"/>
                </a:solidFill>
                <a:latin typeface="T3Font_2253"/>
              </a:rPr>
              <a:t>1 </a:t>
            </a:r>
            <a:r>
              <a:rPr lang="en-US" sz="1200" dirty="0" smtClean="0">
                <a:solidFill>
                  <a:srgbClr val="231F20"/>
                </a:solidFill>
                <a:latin typeface="T3Font_2251"/>
              </a:rPr>
              <a:t>and </a:t>
            </a:r>
            <a:r>
              <a:rPr lang="en-US" sz="1200" dirty="0" smtClean="0">
                <a:solidFill>
                  <a:srgbClr val="231F20"/>
                </a:solidFill>
                <a:latin typeface="T3Font_2252"/>
              </a:rPr>
              <a:t>M</a:t>
            </a:r>
            <a:r>
              <a:rPr lang="en-US" sz="1000" dirty="0" smtClean="0">
                <a:solidFill>
                  <a:srgbClr val="231F20"/>
                </a:solidFill>
                <a:latin typeface="T3Font_2253"/>
              </a:rPr>
              <a:t>2 </a:t>
            </a:r>
            <a:r>
              <a:rPr lang="en-US" sz="1200" dirty="0">
                <a:solidFill>
                  <a:srgbClr val="231F20"/>
                </a:solidFill>
                <a:latin typeface="T3Font_2251"/>
              </a:rPr>
              <a:t>experience complete switching if </a:t>
            </a:r>
            <a:r>
              <a:rPr lang="en-US" sz="1200" dirty="0">
                <a:solidFill>
                  <a:srgbClr val="231F20"/>
                </a:solidFill>
                <a:latin typeface="T3Font_2254"/>
              </a:rPr>
              <a:t>(</a:t>
            </a:r>
            <a:r>
              <a:rPr lang="en-US" sz="1200" dirty="0" err="1">
                <a:solidFill>
                  <a:srgbClr val="231F20"/>
                </a:solidFill>
                <a:latin typeface="T3Font_2252"/>
              </a:rPr>
              <a:t>g</a:t>
            </a:r>
            <a:r>
              <a:rPr lang="en-US" sz="1000" baseline="-25000" dirty="0" err="1">
                <a:solidFill>
                  <a:srgbClr val="231F20"/>
                </a:solidFill>
                <a:latin typeface="T3Font_2255"/>
              </a:rPr>
              <a:t>m</a:t>
            </a:r>
            <a:r>
              <a:rPr lang="en-US" sz="1200" dirty="0" err="1">
                <a:solidFill>
                  <a:srgbClr val="231F20"/>
                </a:solidFill>
                <a:latin typeface="T3Font_2252"/>
              </a:rPr>
              <a:t>R</a:t>
            </a:r>
            <a:r>
              <a:rPr lang="en-US" sz="1000" baseline="-25000" dirty="0" err="1">
                <a:solidFill>
                  <a:srgbClr val="231F20"/>
                </a:solidFill>
                <a:latin typeface="T3Font_2255"/>
              </a:rPr>
              <a:t>p</a:t>
            </a:r>
            <a:r>
              <a:rPr lang="en-US" sz="1200" dirty="0">
                <a:solidFill>
                  <a:srgbClr val="231F20"/>
                </a:solidFill>
                <a:latin typeface="T3Font_2254"/>
              </a:rPr>
              <a:t>)</a:t>
            </a:r>
            <a:r>
              <a:rPr lang="en-US" sz="1000" baseline="30000" dirty="0">
                <a:solidFill>
                  <a:srgbClr val="231F20"/>
                </a:solidFill>
                <a:latin typeface="T3Font_2253"/>
              </a:rPr>
              <a:t>2</a:t>
            </a:r>
            <a:r>
              <a:rPr lang="en-US" sz="1000" dirty="0">
                <a:solidFill>
                  <a:srgbClr val="231F20"/>
                </a:solidFill>
                <a:latin typeface="T3Font_2253"/>
              </a:rPr>
              <a:t> </a:t>
            </a:r>
            <a:r>
              <a:rPr lang="en-US" sz="1200" dirty="0">
                <a:solidFill>
                  <a:srgbClr val="231F20"/>
                </a:solidFill>
                <a:latin typeface="T3Font_2251"/>
              </a:rPr>
              <a:t>is sufficiently large; thus, as, for example, </a:t>
            </a:r>
            <a:r>
              <a:rPr lang="en-US" sz="1200" dirty="0">
                <a:solidFill>
                  <a:srgbClr val="231F20"/>
                </a:solidFill>
                <a:latin typeface="T3Font_2252"/>
              </a:rPr>
              <a:t>V</a:t>
            </a:r>
            <a:r>
              <a:rPr lang="en-US" sz="1000" dirty="0">
                <a:solidFill>
                  <a:srgbClr val="231F20"/>
                </a:solidFill>
                <a:latin typeface="T3Font_2255"/>
              </a:rPr>
              <a:t>X </a:t>
            </a:r>
            <a:r>
              <a:rPr lang="en-US" sz="1200" dirty="0">
                <a:solidFill>
                  <a:srgbClr val="231F20"/>
                </a:solidFill>
                <a:latin typeface="T3Font_2251"/>
              </a:rPr>
              <a:t>falls and </a:t>
            </a:r>
            <a:r>
              <a:rPr lang="en-US" sz="1200" dirty="0" smtClean="0">
                <a:solidFill>
                  <a:srgbClr val="231F20"/>
                </a:solidFill>
                <a:latin typeface="T3Font_2252"/>
              </a:rPr>
              <a:t>V</a:t>
            </a:r>
            <a:r>
              <a:rPr lang="en-US" sz="1000" dirty="0" smtClean="0">
                <a:solidFill>
                  <a:srgbClr val="231F20"/>
                </a:solidFill>
                <a:latin typeface="T3Font_2255"/>
              </a:rPr>
              <a:t>Y </a:t>
            </a:r>
            <a:r>
              <a:rPr lang="en-US" sz="1200" dirty="0" smtClean="0">
                <a:solidFill>
                  <a:srgbClr val="231F20"/>
                </a:solidFill>
                <a:latin typeface="T3Font_2251"/>
              </a:rPr>
              <a:t>rises</a:t>
            </a:r>
            <a:r>
              <a:rPr lang="en-US" sz="1200" dirty="0">
                <a:solidFill>
                  <a:srgbClr val="231F20"/>
                </a:solidFill>
                <a:latin typeface="T3Font_2251"/>
              </a:rPr>
              <a:t>, </a:t>
            </a:r>
            <a:r>
              <a:rPr lang="en-US" sz="1200" dirty="0">
                <a:solidFill>
                  <a:srgbClr val="231F20"/>
                </a:solidFill>
                <a:latin typeface="T3Font_2252"/>
              </a:rPr>
              <a:t>M</a:t>
            </a:r>
            <a:r>
              <a:rPr lang="en-US" sz="1000" dirty="0">
                <a:solidFill>
                  <a:srgbClr val="231F20"/>
                </a:solidFill>
                <a:latin typeface="T3Font_2253"/>
              </a:rPr>
              <a:t>2 </a:t>
            </a:r>
            <a:r>
              <a:rPr lang="en-US" sz="1200" dirty="0">
                <a:solidFill>
                  <a:srgbClr val="231F20"/>
                </a:solidFill>
                <a:latin typeface="T3Font_2251"/>
              </a:rPr>
              <a:t>begins to turn off and </a:t>
            </a:r>
            <a:r>
              <a:rPr lang="en-US" sz="1200" dirty="0">
                <a:solidFill>
                  <a:srgbClr val="231F20"/>
                </a:solidFill>
                <a:latin typeface="T3Font_2252"/>
              </a:rPr>
              <a:t>M</a:t>
            </a:r>
            <a:r>
              <a:rPr lang="en-US" sz="1000" dirty="0">
                <a:solidFill>
                  <a:srgbClr val="231F20"/>
                </a:solidFill>
                <a:latin typeface="T3Font_2253"/>
              </a:rPr>
              <a:t>1 </a:t>
            </a:r>
            <a:r>
              <a:rPr lang="en-US" sz="1200" dirty="0">
                <a:solidFill>
                  <a:srgbClr val="231F20"/>
                </a:solidFill>
                <a:latin typeface="T3Font_2251"/>
              </a:rPr>
              <a:t>turns on more. </a:t>
            </a:r>
            <a:endParaRPr lang="en-US" sz="1200" dirty="0" smtClean="0">
              <a:solidFill>
                <a:srgbClr val="231F20"/>
              </a:solidFill>
              <a:latin typeface="T3Font_2251"/>
            </a:endParaRPr>
          </a:p>
          <a:p>
            <a:pPr marL="285750" indent="-285750" algn="just">
              <a:buFont typeface="Wingdings" panose="05000000000000000000" pitchFamily="2" charset="2"/>
              <a:buChar char="q"/>
            </a:pPr>
            <a:r>
              <a:rPr lang="en-US" sz="1200" dirty="0" smtClean="0">
                <a:solidFill>
                  <a:srgbClr val="231F20"/>
                </a:solidFill>
                <a:latin typeface="T3Font_2251"/>
              </a:rPr>
              <a:t>The </a:t>
            </a:r>
            <a:r>
              <a:rPr lang="en-US" sz="1200" dirty="0">
                <a:solidFill>
                  <a:srgbClr val="231F20"/>
                </a:solidFill>
                <a:latin typeface="T3Font_2251"/>
              </a:rPr>
              <a:t>drain currents therefore swing between 0 and </a:t>
            </a:r>
            <a:r>
              <a:rPr lang="en-US" sz="1200" dirty="0" smtClean="0">
                <a:solidFill>
                  <a:srgbClr val="231F20"/>
                </a:solidFill>
                <a:latin typeface="T3Font_2251"/>
              </a:rPr>
              <a:t>a maximum value. </a:t>
            </a:r>
            <a:r>
              <a:rPr lang="en-US" sz="1200" dirty="0">
                <a:solidFill>
                  <a:srgbClr val="231F20"/>
                </a:solidFill>
                <a:latin typeface="T3Font_2251"/>
              </a:rPr>
              <a:t>Flowing through their respective tanks, these currents </a:t>
            </a:r>
            <a:r>
              <a:rPr lang="en-US" sz="1200" dirty="0" smtClean="0">
                <a:solidFill>
                  <a:srgbClr val="231F20"/>
                </a:solidFill>
                <a:latin typeface="T3Font_2251"/>
              </a:rPr>
              <a:t>generate </a:t>
            </a:r>
            <a:r>
              <a:rPr lang="en-US" sz="1200" dirty="0" smtClean="0">
                <a:solidFill>
                  <a:srgbClr val="231F20"/>
                </a:solidFill>
                <a:latin typeface="T3Font_2252"/>
              </a:rPr>
              <a:t>V</a:t>
            </a:r>
            <a:r>
              <a:rPr lang="en-US" sz="1000" dirty="0" smtClean="0">
                <a:solidFill>
                  <a:srgbClr val="231F20"/>
                </a:solidFill>
                <a:latin typeface="T3Font_2255"/>
              </a:rPr>
              <a:t>X </a:t>
            </a:r>
            <a:r>
              <a:rPr lang="en-US" sz="1200" dirty="0">
                <a:solidFill>
                  <a:srgbClr val="231F20"/>
                </a:solidFill>
                <a:latin typeface="T3Font_2251"/>
              </a:rPr>
              <a:t>and </a:t>
            </a:r>
            <a:r>
              <a:rPr lang="en-US" sz="1200" dirty="0" smtClean="0">
                <a:solidFill>
                  <a:srgbClr val="231F20"/>
                </a:solidFill>
                <a:latin typeface="T3Font_2252"/>
              </a:rPr>
              <a:t>V</a:t>
            </a:r>
            <a:r>
              <a:rPr lang="en-US" sz="1000" dirty="0" smtClean="0">
                <a:solidFill>
                  <a:srgbClr val="231F20"/>
                </a:solidFill>
                <a:latin typeface="T3Font_2255"/>
              </a:rPr>
              <a:t>Y.</a:t>
            </a:r>
            <a:endParaRPr lang="en-US" sz="3200" dirty="0"/>
          </a:p>
        </p:txBody>
      </p:sp>
      <p:sp>
        <p:nvSpPr>
          <p:cNvPr id="14" name="Rectangle 13"/>
          <p:cNvSpPr/>
          <p:nvPr/>
        </p:nvSpPr>
        <p:spPr>
          <a:xfrm>
            <a:off x="5286993" y="2114034"/>
            <a:ext cx="441146" cy="369332"/>
          </a:xfrm>
          <a:prstGeom prst="rect">
            <a:avLst/>
          </a:prstGeom>
        </p:spPr>
        <p:txBody>
          <a:bodyPr wrap="none">
            <a:spAutoFit/>
          </a:bodyPr>
          <a:lstStyle/>
          <a:p>
            <a:r>
              <a:rPr lang="en-US" b="1" i="1" kern="0" dirty="0">
                <a:solidFill>
                  <a:srgbClr val="C00000"/>
                </a:solidFill>
                <a:latin typeface="KaTeX_Math"/>
              </a:rPr>
              <a:t>V</a:t>
            </a:r>
            <a:r>
              <a:rPr lang="en-US" b="1" i="1" kern="0" baseline="-25000" dirty="0">
                <a:solidFill>
                  <a:srgbClr val="C00000"/>
                </a:solidFill>
                <a:latin typeface="KaTeX_Math"/>
              </a:rPr>
              <a:t>X</a:t>
            </a:r>
            <a:endParaRPr lang="en-US" b="1" dirty="0">
              <a:solidFill>
                <a:srgbClr val="C00000"/>
              </a:solidFill>
            </a:endParaRPr>
          </a:p>
        </p:txBody>
      </p:sp>
      <p:sp>
        <p:nvSpPr>
          <p:cNvPr id="15" name="Rectangle 14"/>
          <p:cNvSpPr/>
          <p:nvPr/>
        </p:nvSpPr>
        <p:spPr>
          <a:xfrm>
            <a:off x="7725394" y="2156368"/>
            <a:ext cx="441146" cy="369332"/>
          </a:xfrm>
          <a:prstGeom prst="rect">
            <a:avLst/>
          </a:prstGeom>
        </p:spPr>
        <p:txBody>
          <a:bodyPr wrap="none">
            <a:spAutoFit/>
          </a:bodyPr>
          <a:lstStyle/>
          <a:p>
            <a:r>
              <a:rPr lang="en-US" b="1" i="1" kern="0" dirty="0" smtClean="0">
                <a:solidFill>
                  <a:srgbClr val="C00000"/>
                </a:solidFill>
                <a:latin typeface="KaTeX_Math"/>
              </a:rPr>
              <a:t>V</a:t>
            </a:r>
            <a:r>
              <a:rPr lang="en-US" b="1" i="1" kern="0" baseline="-25000" dirty="0" smtClean="0">
                <a:solidFill>
                  <a:srgbClr val="C00000"/>
                </a:solidFill>
                <a:latin typeface="KaTeX_Math"/>
              </a:rPr>
              <a:t>Y</a:t>
            </a:r>
            <a:endParaRPr lang="en-US" b="1" dirty="0">
              <a:solidFill>
                <a:srgbClr val="C00000"/>
              </a:solidFill>
            </a:endParaRPr>
          </a:p>
        </p:txBody>
      </p:sp>
      <p:sp>
        <p:nvSpPr>
          <p:cNvPr id="2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781490366"/>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56920A7-5E56-4D70-9858-48F52CD3590F}"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89150" cy="238060"/>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12075" y="4052319"/>
            <a:ext cx="7144117" cy="1505027"/>
          </a:xfrm>
          <a:prstGeom prst="rect">
            <a:avLst/>
          </a:prstGeom>
        </p:spPr>
      </p:pic>
      <p:pic>
        <p:nvPicPr>
          <p:cNvPr id="8" name="Picture 7"/>
          <p:cNvPicPr>
            <a:picLocks noChangeAspect="1"/>
          </p:cNvPicPr>
          <p:nvPr/>
        </p:nvPicPr>
        <p:blipFill>
          <a:blip r:embed="rId3"/>
          <a:stretch>
            <a:fillRect/>
          </a:stretch>
        </p:blipFill>
        <p:spPr>
          <a:xfrm>
            <a:off x="8185085" y="1527128"/>
            <a:ext cx="2552831" cy="1771741"/>
          </a:xfrm>
          <a:prstGeom prst="rect">
            <a:avLst/>
          </a:prstGeom>
        </p:spPr>
      </p:pic>
      <p:sp>
        <p:nvSpPr>
          <p:cNvPr id="9" name="Rectangle 8"/>
          <p:cNvSpPr/>
          <p:nvPr/>
        </p:nvSpPr>
        <p:spPr>
          <a:xfrm>
            <a:off x="8068687" y="3228145"/>
            <a:ext cx="3228833" cy="276999"/>
          </a:xfrm>
          <a:prstGeom prst="rect">
            <a:avLst/>
          </a:prstGeom>
        </p:spPr>
        <p:txBody>
          <a:bodyPr wrap="none">
            <a:spAutoFit/>
          </a:bodyPr>
          <a:lstStyle/>
          <a:p>
            <a:r>
              <a:rPr lang="en-US" sz="1200" b="1" dirty="0">
                <a:solidFill>
                  <a:srgbClr val="FF0000"/>
                </a:solidFill>
              </a:rPr>
              <a:t>Figure 1.22 Cross-coupled oscillator waveforms.</a:t>
            </a:r>
          </a:p>
        </p:txBody>
      </p:sp>
      <p:pic>
        <p:nvPicPr>
          <p:cNvPr id="10" name="Picture 9"/>
          <p:cNvPicPr>
            <a:picLocks noChangeAspect="1"/>
          </p:cNvPicPr>
          <p:nvPr/>
        </p:nvPicPr>
        <p:blipFill rotWithShape="1">
          <a:blip r:embed="rId4">
            <a:duotone>
              <a:prstClr val="black"/>
              <a:schemeClr val="bg1">
                <a:lumMod val="65000"/>
                <a:tint val="45000"/>
                <a:satMod val="400000"/>
              </a:schemeClr>
            </a:duotone>
          </a:blip>
          <a:srcRect t="4623"/>
          <a:stretch/>
        </p:blipFill>
        <p:spPr>
          <a:xfrm>
            <a:off x="2862759" y="1545166"/>
            <a:ext cx="3398341" cy="1924484"/>
          </a:xfrm>
          <a:prstGeom prst="rect">
            <a:avLst/>
          </a:prstGeom>
        </p:spPr>
      </p:pic>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75516985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85191" y="1699591"/>
            <a:ext cx="10883347" cy="255435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Key Performance and Design </a:t>
            </a:r>
            <a:r>
              <a:rPr lang="en-US" dirty="0" smtClean="0">
                <a:latin typeface="fkGrotesk"/>
              </a:rPr>
              <a:t>Considerations</a:t>
            </a:r>
            <a:endParaRPr lang="en-US" dirty="0"/>
          </a:p>
        </p:txBody>
      </p:sp>
      <p:sp>
        <p:nvSpPr>
          <p:cNvPr id="3" name="Text Placeholder 2"/>
          <p:cNvSpPr>
            <a:spLocks noGrp="1"/>
          </p:cNvSpPr>
          <p:nvPr>
            <p:ph type="body" idx="1"/>
          </p:nvPr>
        </p:nvSpPr>
        <p:spPr>
          <a:xfrm>
            <a:off x="844550" y="1108692"/>
            <a:ext cx="10742083" cy="5201424"/>
          </a:xfrm>
        </p:spPr>
        <p:txBody>
          <a:bodyPr/>
          <a:lstStyle/>
          <a:p>
            <a:pPr algn="ctr"/>
            <a:r>
              <a:rPr lang="en-US" b="1" dirty="0" smtClean="0">
                <a:solidFill>
                  <a:srgbClr val="C00000"/>
                </a:solidFill>
                <a:latin typeface="fkGroteskNeue"/>
              </a:rPr>
              <a:t>Fundamental </a:t>
            </a:r>
            <a:r>
              <a:rPr lang="en-US" b="1" dirty="0">
                <a:solidFill>
                  <a:srgbClr val="C00000"/>
                </a:solidFill>
                <a:latin typeface="fkGroteskNeue"/>
              </a:rPr>
              <a:t>Points</a:t>
            </a:r>
            <a:r>
              <a:rPr lang="en-US" b="1" dirty="0" smtClean="0">
                <a:solidFill>
                  <a:srgbClr val="C00000"/>
                </a:solidFill>
                <a:latin typeface="fkGroteskNeue"/>
              </a:rPr>
              <a:t>:</a:t>
            </a:r>
          </a:p>
          <a:p>
            <a:pPr algn="ctr"/>
            <a:endParaRPr lang="en-US" b="1" dirty="0">
              <a:solidFill>
                <a:srgbClr val="C00000"/>
              </a:solidFill>
              <a:latin typeface="fkGroteskNeue"/>
            </a:endParaRPr>
          </a:p>
          <a:p>
            <a:pPr marL="742950" lvl="1" indent="-285750" algn="l">
              <a:lnSpc>
                <a:spcPct val="150000"/>
              </a:lnSpc>
              <a:buFont typeface="Wingdings" panose="05000000000000000000" pitchFamily="2" charset="2"/>
              <a:buChar char="q"/>
            </a:pPr>
            <a:r>
              <a:rPr lang="en-US" dirty="0">
                <a:latin typeface="fkGroteskNeue"/>
              </a:rPr>
              <a:t>Common-mode output voltage ≈ </a:t>
            </a:r>
            <a:r>
              <a:rPr lang="en-US" i="1" dirty="0" smtClean="0">
                <a:latin typeface="KaTeX_Math"/>
              </a:rPr>
              <a:t>V</a:t>
            </a:r>
            <a:r>
              <a:rPr lang="en-US" i="1" baseline="-25000" dirty="0" smtClean="0">
                <a:latin typeface="KaTeX_Math"/>
              </a:rPr>
              <a:t>DD</a:t>
            </a:r>
            <a:r>
              <a:rPr lang="en-US" dirty="0">
                <a:latin typeface="fkGroteskNeue"/>
              </a:rPr>
              <a:t>.</a:t>
            </a:r>
          </a:p>
          <a:p>
            <a:pPr marL="742950" lvl="1" indent="-285750" algn="just">
              <a:lnSpc>
                <a:spcPct val="150000"/>
              </a:lnSpc>
              <a:buFont typeface="Wingdings" panose="05000000000000000000" pitchFamily="2" charset="2"/>
              <a:buChar char="q"/>
            </a:pPr>
            <a:r>
              <a:rPr lang="en-US" dirty="0">
                <a:latin typeface="fkGroteskNeue"/>
              </a:rPr>
              <a:t>Voltage at each node is sinusoidal; current is not.</a:t>
            </a:r>
          </a:p>
          <a:p>
            <a:pPr marL="742950" lvl="1" indent="-285750" algn="just">
              <a:lnSpc>
                <a:spcPct val="150000"/>
              </a:lnSpc>
              <a:buFont typeface="Wingdings" panose="05000000000000000000" pitchFamily="2" charset="2"/>
              <a:buChar char="q"/>
            </a:pPr>
            <a:r>
              <a:rPr lang="en-US" dirty="0">
                <a:latin typeface="fkGroteskNeue"/>
              </a:rPr>
              <a:t>The oscillator’s ability to filter harmonics and produce clean waveforms is what makes LC-based designs critical for RF and clock circuits.</a:t>
            </a:r>
          </a:p>
          <a:p>
            <a:pPr marL="742950" lvl="1" indent="-285750" algn="just">
              <a:lnSpc>
                <a:spcPct val="150000"/>
              </a:lnSpc>
              <a:buFont typeface="Wingdings" panose="05000000000000000000" pitchFamily="2" charset="2"/>
              <a:buChar char="q"/>
            </a:pPr>
            <a:r>
              <a:rPr lang="en-US" dirty="0">
                <a:latin typeface="fkGroteskNeue"/>
              </a:rPr>
              <a:t>Maximum </a:t>
            </a:r>
            <a:r>
              <a:rPr lang="en-US" i="1" dirty="0" smtClean="0">
                <a:latin typeface="KaTeX_Math"/>
              </a:rPr>
              <a:t>V</a:t>
            </a:r>
            <a:r>
              <a:rPr lang="en-US" i="1" baseline="-25000" dirty="0" smtClean="0">
                <a:latin typeface="KaTeX_Math"/>
              </a:rPr>
              <a:t>DS</a:t>
            </a:r>
            <a:r>
              <a:rPr lang="en-US" dirty="0">
                <a:latin typeface="fkGroteskNeue"/>
              </a:rPr>
              <a:t> seen by transistors is </a:t>
            </a:r>
            <a:r>
              <a:rPr lang="en-US" i="1" dirty="0" err="1" smtClean="0">
                <a:latin typeface="KaTeX_Math"/>
              </a:rPr>
              <a:t>V</a:t>
            </a:r>
            <a:r>
              <a:rPr lang="en-US" i="1" baseline="-25000" dirty="0" err="1" smtClean="0">
                <a:latin typeface="KaTeX_Math"/>
              </a:rPr>
              <a:t>DD</a:t>
            </a:r>
            <a:r>
              <a:rPr lang="en-US" dirty="0" err="1" smtClean="0">
                <a:latin typeface="KaTeX_Main"/>
              </a:rPr>
              <a:t>+</a:t>
            </a:r>
            <a:r>
              <a:rPr lang="en-US" i="1" dirty="0" err="1" smtClean="0">
                <a:latin typeface="KaTeX_Math"/>
              </a:rPr>
              <a:t>V</a:t>
            </a:r>
            <a:r>
              <a:rPr lang="en-US" i="1" baseline="-25000" dirty="0" err="1" smtClean="0">
                <a:latin typeface="KaTeX_Math"/>
              </a:rPr>
              <a:t>p</a:t>
            </a:r>
            <a:r>
              <a:rPr lang="en-US" dirty="0">
                <a:latin typeface="fkGroteskNeue"/>
              </a:rPr>
              <a:t>, which may set constraints in process choice and reliability</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marL="742950" lvl="1" indent="-285750" algn="l">
              <a:buFont typeface="Wingdings" panose="05000000000000000000" pitchFamily="2" charset="2"/>
              <a:buChar char="q"/>
            </a:pPr>
            <a:endParaRPr lang="en-US" dirty="0">
              <a:latin typeface="fkGroteskNeue"/>
            </a:endParaRPr>
          </a:p>
          <a:p>
            <a:pPr algn="ctr"/>
            <a:r>
              <a:rPr lang="en-US" b="1" dirty="0">
                <a:solidFill>
                  <a:srgbClr val="C00000"/>
                </a:solidFill>
                <a:latin typeface="fkGroteskNeue"/>
              </a:rPr>
              <a:t>Takeaway</a:t>
            </a:r>
            <a:r>
              <a:rPr lang="en-US" b="1" dirty="0" smtClean="0">
                <a:solidFill>
                  <a:srgbClr val="C00000"/>
                </a:solidFill>
                <a:latin typeface="fkGroteskNeue"/>
              </a:rPr>
              <a:t>:</a:t>
            </a:r>
          </a:p>
          <a:p>
            <a:pPr algn="ctr"/>
            <a:r>
              <a:rPr lang="en-US" dirty="0">
                <a:latin typeface="fkGroteskNeue"/>
              </a:rPr>
              <a:t/>
            </a:r>
            <a:br>
              <a:rPr lang="en-US" dirty="0">
                <a:latin typeface="fkGroteskNeue"/>
              </a:rPr>
            </a:br>
            <a:r>
              <a:rPr lang="en-US" dirty="0">
                <a:latin typeface="fkGroteskNeue"/>
              </a:rPr>
              <a:t>Understand and balance tank Q, loop gain, and device stress—all are essential for a robust, high-performance LC oscillator.</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A502DC5-6FAB-4B3F-A53D-627BEB51703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45794" cy="254245"/>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82458327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424197" y="1117405"/>
            <a:ext cx="8804135" cy="296098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874644" y="4830417"/>
            <a:ext cx="10664686" cy="169959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929217" y="4561619"/>
            <a:ext cx="10593916" cy="1938992"/>
          </a:xfrm>
        </p:spPr>
        <p:txBody>
          <a:bodyPr/>
          <a:lstStyle/>
          <a:p>
            <a:pPr algn="ctr"/>
            <a:r>
              <a:rPr lang="en-US" sz="1800" b="1" dirty="0">
                <a:solidFill>
                  <a:srgbClr val="C00000"/>
                </a:solidFill>
                <a:latin typeface="fkGrotesk"/>
              </a:rPr>
              <a:t>Oscillation Test Using Differential Impedance</a:t>
            </a:r>
          </a:p>
          <a:p>
            <a:pPr algn="ctr"/>
            <a:r>
              <a:rPr lang="en-US" sz="1800" b="1" dirty="0">
                <a:solidFill>
                  <a:srgbClr val="C00000"/>
                </a:solidFill>
                <a:latin typeface="fkGroteskNeue"/>
              </a:rPr>
              <a:t>Concept:</a:t>
            </a:r>
            <a:r>
              <a:rPr lang="en-US" sz="1800" dirty="0">
                <a:latin typeface="fkGroteskNeue"/>
              </a:rPr>
              <a:t/>
            </a:r>
            <a:br>
              <a:rPr lang="en-US" sz="1800" dirty="0">
                <a:latin typeface="fkGroteskNeue"/>
              </a:rPr>
            </a:br>
            <a:r>
              <a:rPr lang="en-US" sz="1800" dirty="0">
                <a:latin typeface="fkGroteskNeue"/>
              </a:rPr>
              <a:t>To check if an LC oscillator will oscillate, measure the impedance between the two tank nodes (X and Y).</a:t>
            </a:r>
          </a:p>
          <a:p>
            <a:pPr marL="285750" indent="-285750" algn="l">
              <a:buFont typeface="Wingdings" panose="05000000000000000000" pitchFamily="2" charset="2"/>
              <a:buChar char="q"/>
            </a:pPr>
            <a:r>
              <a:rPr lang="en-US" sz="1800" dirty="0">
                <a:latin typeface="fkGroteskNeue"/>
              </a:rPr>
              <a:t>If the impedance goes to infinity at some frequency, oscillation is possible</a:t>
            </a:r>
            <a:r>
              <a:rPr lang="en-US" sz="1800" dirty="0" smtClean="0">
                <a:latin typeface="fkGroteskNeue"/>
              </a:rPr>
              <a:t>.</a:t>
            </a:r>
          </a:p>
          <a:p>
            <a:pPr marL="285750" indent="-285750" algn="l">
              <a:buFont typeface="Wingdings" panose="05000000000000000000" pitchFamily="2" charset="2"/>
              <a:buChar char="q"/>
            </a:pPr>
            <a:endParaRPr lang="en-US" sz="1800" dirty="0">
              <a:latin typeface="fkGroteskNeue"/>
            </a:endParaRPr>
          </a:p>
          <a:p>
            <a:pPr algn="ctr"/>
            <a:r>
              <a:rPr lang="en-US" sz="1800" b="1" dirty="0">
                <a:solidFill>
                  <a:srgbClr val="C00000"/>
                </a:solidFill>
                <a:latin typeface="fkGroteskNeue"/>
              </a:rPr>
              <a:t>Fundamental Takeaway:</a:t>
            </a:r>
            <a:r>
              <a:rPr lang="en-US" sz="1800" dirty="0">
                <a:latin typeface="fkGroteskNeue"/>
              </a:rPr>
              <a:t/>
            </a:r>
            <a:br>
              <a:rPr lang="en-US" sz="1800" dirty="0">
                <a:latin typeface="fkGroteskNeue"/>
              </a:rPr>
            </a:br>
            <a:r>
              <a:rPr lang="en-US" sz="1800" dirty="0">
                <a:latin typeface="fkGroteskNeue"/>
              </a:rPr>
              <a:t>Testing for infinite impedance between nodes reveals if the circuit supports sustained oscillation</a:t>
            </a:r>
            <a:r>
              <a:rPr lang="en-US" sz="1800" dirty="0" smtClean="0">
                <a:latin typeface="fkGroteskNeue"/>
              </a:rPr>
              <a:t>.</a:t>
            </a:r>
            <a:endParaRPr lang="en-US" sz="1800" dirty="0">
              <a:latin typeface="fkGroteskNeue"/>
            </a:endParaRPr>
          </a:p>
        </p:txBody>
      </p:sp>
      <p:sp>
        <p:nvSpPr>
          <p:cNvPr id="5" name="Date Placeholder 4"/>
          <p:cNvSpPr>
            <a:spLocks noGrp="1"/>
          </p:cNvSpPr>
          <p:nvPr>
            <p:ph type="dt" sz="half" idx="6"/>
          </p:nvPr>
        </p:nvSpPr>
        <p:spPr>
          <a:xfrm>
            <a:off x="643315"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D5F44258-E54C-4DE3-A3BF-08B9A04E7DA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032501" y="6524506"/>
            <a:ext cx="606221" cy="25398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t="3850" b="9149"/>
          <a:stretch/>
        </p:blipFill>
        <p:spPr>
          <a:xfrm>
            <a:off x="1921728" y="1286633"/>
            <a:ext cx="7926280" cy="2451887"/>
          </a:xfrm>
          <a:prstGeom prst="rect">
            <a:avLst/>
          </a:prstGeom>
        </p:spPr>
      </p:pic>
      <p:sp>
        <p:nvSpPr>
          <p:cNvPr id="8" name="Rectangle 7"/>
          <p:cNvSpPr/>
          <p:nvPr/>
        </p:nvSpPr>
        <p:spPr>
          <a:xfrm>
            <a:off x="1591732" y="4068289"/>
            <a:ext cx="8881535" cy="415498"/>
          </a:xfrm>
          <a:prstGeom prst="rect">
            <a:avLst/>
          </a:prstGeom>
        </p:spPr>
        <p:txBody>
          <a:bodyPr wrap="square">
            <a:spAutoFit/>
          </a:bodyPr>
          <a:lstStyle/>
          <a:p>
            <a:r>
              <a:rPr lang="en-US" sz="1050" b="1" i="0" u="none" strike="noStrike" baseline="0" dirty="0" smtClean="0">
                <a:solidFill>
                  <a:srgbClr val="FF0000"/>
                </a:solidFill>
                <a:latin typeface="T3Font_285"/>
              </a:rPr>
              <a:t>Figure 1.23 </a:t>
            </a:r>
            <a:r>
              <a:rPr lang="en-US" sz="1050" b="1" i="0" u="none" strike="noStrike" baseline="0" dirty="0" smtClean="0">
                <a:solidFill>
                  <a:srgbClr val="FF0000"/>
                </a:solidFill>
                <a:latin typeface="T3Font_281"/>
              </a:rPr>
              <a:t>(a) Small-signal model of oscillator, (b) model with merged tanks, and (c) equivalent circuit for calculating</a:t>
            </a:r>
            <a:r>
              <a:rPr lang="en-US" sz="1050" b="1" i="0" u="none" strike="noStrike" dirty="0" smtClean="0">
                <a:solidFill>
                  <a:srgbClr val="FF0000"/>
                </a:solidFill>
                <a:latin typeface="T3Font_281"/>
              </a:rPr>
              <a:t>  </a:t>
            </a:r>
            <a:r>
              <a:rPr lang="en-US" sz="1050" b="1" i="0" u="none" strike="noStrike" baseline="0" dirty="0" smtClean="0">
                <a:solidFill>
                  <a:srgbClr val="FF0000"/>
                </a:solidFill>
                <a:latin typeface="T3Font_281"/>
              </a:rPr>
              <a:t>output resistance of cross-coupled pair.</a:t>
            </a:r>
            <a:endParaRPr lang="en-US" sz="2800" b="1" dirty="0">
              <a:solidFill>
                <a:srgbClr val="FF0000"/>
              </a:solidFill>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167682011"/>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719189" y="4232838"/>
            <a:ext cx="5461859" cy="262516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695738" y="1421295"/>
            <a:ext cx="10942983" cy="179898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54489" y="1118631"/>
            <a:ext cx="11076517" cy="3385542"/>
          </a:xfrm>
        </p:spPr>
        <p:txBody>
          <a:bodyPr/>
          <a:lstStyle/>
          <a:p>
            <a:pPr algn="ctr"/>
            <a:r>
              <a:rPr lang="en-US" sz="1800" b="1" dirty="0">
                <a:solidFill>
                  <a:srgbClr val="C00000"/>
                </a:solidFill>
                <a:latin typeface="fkGrotesk"/>
              </a:rPr>
              <a:t>Small-Signal Model and Merged Tank</a:t>
            </a:r>
          </a:p>
          <a:p>
            <a:pPr algn="ctr"/>
            <a:r>
              <a:rPr lang="en-US" sz="1800" b="1" dirty="0">
                <a:solidFill>
                  <a:srgbClr val="C00000"/>
                </a:solidFill>
                <a:latin typeface="fkGroteskNeue"/>
              </a:rPr>
              <a:t>Concept:</a:t>
            </a:r>
          </a:p>
          <a:p>
            <a:pPr algn="l"/>
            <a:r>
              <a:rPr lang="en-US" sz="1800" dirty="0">
                <a:latin typeface="fkGroteskNeue"/>
              </a:rPr>
              <a:t>For differential nodes X and Y, combine both tanks as shown in Fig. </a:t>
            </a:r>
            <a:r>
              <a:rPr lang="en-US" sz="1800" dirty="0" smtClean="0">
                <a:latin typeface="fkGroteskNeue"/>
              </a:rPr>
              <a:t>(b</a:t>
            </a:r>
            <a:r>
              <a:rPr lang="en-US" sz="1800" dirty="0">
                <a:latin typeface="fkGroteskNeue"/>
              </a:rPr>
              <a:t>):</a:t>
            </a:r>
          </a:p>
          <a:p>
            <a:pPr marL="742950" lvl="1" indent="-285750" algn="l">
              <a:buFont typeface="Wingdings" panose="05000000000000000000" pitchFamily="2" charset="2"/>
              <a:buChar char="q"/>
            </a:pPr>
            <a:r>
              <a:rPr lang="en-US" sz="2000" dirty="0">
                <a:latin typeface="fkGroteskNeue"/>
              </a:rPr>
              <a:t>Inductance doubles: </a:t>
            </a:r>
            <a:r>
              <a:rPr lang="en-US" sz="2000" dirty="0" smtClean="0">
                <a:latin typeface="KaTeX_Main"/>
              </a:rPr>
              <a:t>2</a:t>
            </a:r>
            <a:r>
              <a:rPr lang="en-US" sz="2000" i="1" dirty="0" smtClean="0">
                <a:latin typeface="KaTeX_Math"/>
              </a:rPr>
              <a:t>L</a:t>
            </a:r>
            <a:endParaRPr lang="en-US" sz="2000" dirty="0">
              <a:latin typeface="fkGroteskNeue"/>
            </a:endParaRPr>
          </a:p>
          <a:p>
            <a:pPr marL="742950" lvl="1" indent="-285750" algn="l">
              <a:buFont typeface="Wingdings" panose="05000000000000000000" pitchFamily="2" charset="2"/>
              <a:buChar char="q"/>
            </a:pPr>
            <a:r>
              <a:rPr lang="en-US" sz="2000" dirty="0">
                <a:latin typeface="fkGroteskNeue"/>
              </a:rPr>
              <a:t>Capacitance and resistance halves: </a:t>
            </a:r>
            <a:r>
              <a:rPr lang="en-US" sz="2000" dirty="0" smtClean="0">
                <a:latin typeface="KaTeX_Main"/>
              </a:rPr>
              <a:t>2</a:t>
            </a:r>
            <a:r>
              <a:rPr lang="en-US" sz="2000" i="1" dirty="0" smtClean="0">
                <a:latin typeface="KaTeX_Math"/>
              </a:rPr>
              <a:t>C</a:t>
            </a:r>
            <a:r>
              <a:rPr lang="en-US" sz="2000" dirty="0">
                <a:latin typeface="fkGroteskNeue"/>
              </a:rPr>
              <a:t>, </a:t>
            </a:r>
            <a:r>
              <a:rPr lang="en-US" sz="2000" dirty="0" smtClean="0">
                <a:latin typeface="KaTeX_Main"/>
              </a:rPr>
              <a:t>2</a:t>
            </a:r>
            <a:r>
              <a:rPr lang="en-US" sz="2000" i="1" dirty="0" smtClean="0">
                <a:latin typeface="KaTeX_Math"/>
              </a:rPr>
              <a:t>Rp</a:t>
            </a:r>
          </a:p>
          <a:p>
            <a:pPr marL="742950" lvl="1" indent="-285750" algn="l">
              <a:buFont typeface="Arial" panose="020B0604020202020204" pitchFamily="34" charset="0"/>
              <a:buChar char="•"/>
            </a:pPr>
            <a:endParaRPr lang="en-US" sz="1600" dirty="0">
              <a:latin typeface="fkGroteskNeue"/>
            </a:endParaRPr>
          </a:p>
          <a:p>
            <a:pPr algn="l"/>
            <a:r>
              <a:rPr lang="en-US" sz="1800" dirty="0">
                <a:latin typeface="fkGroteskNeue"/>
              </a:rPr>
              <a:t>Redraws the circuit as a single tank between X and Y for easier analysis and impedance calculation</a:t>
            </a:r>
            <a:r>
              <a:rPr lang="en-US" sz="1800" dirty="0" smtClean="0">
                <a:latin typeface="fkGroteskNeue"/>
              </a:rPr>
              <a:t>.</a:t>
            </a:r>
          </a:p>
          <a:p>
            <a:pPr marL="342900" indent="-342900" algn="l">
              <a:buFont typeface="Arial" panose="020B0604020202020204" pitchFamily="34" charset="0"/>
              <a:buChar char="•"/>
            </a:pPr>
            <a:endParaRPr lang="en-US" sz="1800" dirty="0">
              <a:latin typeface="fkGroteskNeue"/>
            </a:endParaRPr>
          </a:p>
          <a:p>
            <a:pPr algn="ctr"/>
            <a:r>
              <a:rPr lang="en-US" sz="1800" b="1" dirty="0" smtClean="0">
                <a:solidFill>
                  <a:srgbClr val="C00000"/>
                </a:solidFill>
                <a:latin typeface="fkGroteskNeue"/>
              </a:rPr>
              <a:t>Fundamental </a:t>
            </a:r>
            <a:r>
              <a:rPr lang="en-US" sz="1800" b="1" dirty="0">
                <a:solidFill>
                  <a:srgbClr val="C00000"/>
                </a:solidFill>
                <a:latin typeface="fkGroteskNeue"/>
              </a:rPr>
              <a:t>Takeaway:</a:t>
            </a:r>
            <a:r>
              <a:rPr lang="en-US" sz="1800" dirty="0">
                <a:latin typeface="fkGroteskNeue"/>
              </a:rPr>
              <a:t/>
            </a:r>
            <a:br>
              <a:rPr lang="en-US" sz="1800" dirty="0">
                <a:latin typeface="fkGroteskNeue"/>
              </a:rPr>
            </a:br>
            <a:r>
              <a:rPr lang="en-US" sz="1800" dirty="0">
                <a:latin typeface="fkGroteskNeue"/>
              </a:rPr>
              <a:t>Merging tanks into a single equivalent tank simplifies the math without changing the physics for differential analysis.</a:t>
            </a:r>
          </a:p>
          <a:p>
            <a:endParaRPr lang="en-US" dirty="0"/>
          </a:p>
        </p:txBody>
      </p:sp>
      <p:sp>
        <p:nvSpPr>
          <p:cNvPr id="4" name="Footer Placeholder 3"/>
          <p:cNvSpPr>
            <a:spLocks noGrp="1"/>
          </p:cNvSpPr>
          <p:nvPr>
            <p:ph type="ftr" sz="quarter" idx="5"/>
          </p:nvPr>
        </p:nvSpPr>
        <p:spPr>
          <a:xfrm>
            <a:off x="4366358" y="6462908"/>
            <a:ext cx="2576608" cy="18065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 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700EB49-967B-47B3-93DF-FEA798564924}"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529610" cy="213784"/>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r="32223"/>
          <a:stretch/>
        </p:blipFill>
        <p:spPr>
          <a:xfrm>
            <a:off x="3028103" y="4265882"/>
            <a:ext cx="4748344" cy="2490967"/>
          </a:xfrm>
          <a:prstGeom prst="rect">
            <a:avLst/>
          </a:prstGeom>
        </p:spPr>
      </p:pic>
    </p:spTree>
    <p:extLst>
      <p:ext uri="{BB962C8B-B14F-4D97-AF65-F5344CB8AC3E}">
        <p14:creationId xmlns:p14="http://schemas.microsoft.com/office/powerpoint/2010/main" val="1397475578"/>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022007" y="4685993"/>
            <a:ext cx="2840039" cy="1898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1003852" y="1411357"/>
            <a:ext cx="10038521" cy="195800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34611" y="1118631"/>
            <a:ext cx="10598150" cy="3600986"/>
          </a:xfrm>
        </p:spPr>
        <p:txBody>
          <a:bodyPr/>
          <a:lstStyle/>
          <a:p>
            <a:pPr algn="ctr"/>
            <a:r>
              <a:rPr lang="en-US" b="1" dirty="0">
                <a:solidFill>
                  <a:srgbClr val="C00000"/>
                </a:solidFill>
                <a:latin typeface="fkGrotesk"/>
              </a:rPr>
              <a:t>Output Resistance of the Cross-Coupled Pair</a:t>
            </a:r>
          </a:p>
          <a:p>
            <a:pPr algn="ctr"/>
            <a:r>
              <a:rPr lang="en-US" b="1" dirty="0">
                <a:solidFill>
                  <a:srgbClr val="C00000"/>
                </a:solidFill>
                <a:latin typeface="fkGroteskNeue"/>
              </a:rPr>
              <a:t>Concept:</a:t>
            </a:r>
          </a:p>
          <a:p>
            <a:pPr marL="742950" lvl="1" indent="-285750" algn="l">
              <a:buFont typeface="Wingdings" panose="05000000000000000000" pitchFamily="2" charset="2"/>
              <a:buChar char="q"/>
            </a:pPr>
            <a:r>
              <a:rPr lang="en-US" dirty="0">
                <a:latin typeface="fkGroteskNeue"/>
              </a:rPr>
              <a:t>The cross-coupled transistors provide a negative resistance between X and Y.</a:t>
            </a:r>
          </a:p>
          <a:p>
            <a:pPr marL="742950" lvl="1" indent="-285750" algn="l">
              <a:buFont typeface="Wingdings" panose="05000000000000000000" pitchFamily="2" charset="2"/>
              <a:buChar char="q"/>
            </a:pPr>
            <a:r>
              <a:rPr lang="en-US" dirty="0">
                <a:latin typeface="fkGroteskNeue"/>
              </a:rPr>
              <a:t>By KVL and inspection, this resistance is </a:t>
            </a:r>
            <a:r>
              <a:rPr lang="en-US" dirty="0" smtClean="0">
                <a:latin typeface="KaTeX_Main"/>
              </a:rPr>
              <a:t>−2/</a:t>
            </a:r>
            <a:r>
              <a:rPr lang="en-US" i="1" dirty="0" smtClean="0">
                <a:latin typeface="KaTeX_Math"/>
              </a:rPr>
              <a:t>gm</a:t>
            </a:r>
            <a:r>
              <a:rPr lang="en-US" dirty="0" smtClean="0">
                <a:latin typeface="fkGroteskNeue"/>
              </a:rPr>
              <a:t>.</a:t>
            </a:r>
          </a:p>
          <a:p>
            <a:pPr marL="742950" lvl="1" indent="-285750" algn="l">
              <a:buFont typeface="Arial" panose="020B0604020202020204" pitchFamily="34" charset="0"/>
              <a:buChar char="•"/>
            </a:pPr>
            <a:endParaRPr lang="en-US" dirty="0">
              <a:latin typeface="fkGroteskNeue"/>
            </a:endParaRPr>
          </a:p>
          <a:p>
            <a:pPr algn="ctr"/>
            <a:r>
              <a:rPr lang="en-US" b="1" dirty="0">
                <a:solidFill>
                  <a:srgbClr val="C00000"/>
                </a:solidFill>
                <a:latin typeface="fkGroteskNeue"/>
              </a:rPr>
              <a:t>Figure Integration:</a:t>
            </a:r>
            <a:r>
              <a:rPr lang="en-US" dirty="0">
                <a:latin typeface="fkGroteskNeue"/>
              </a:rPr>
              <a:t/>
            </a:r>
            <a:br>
              <a:rPr lang="en-US" dirty="0">
                <a:latin typeface="fkGroteskNeue"/>
              </a:rPr>
            </a:br>
            <a:r>
              <a:rPr lang="en-US" dirty="0" smtClean="0">
                <a:latin typeface="fkGroteskNeue"/>
              </a:rPr>
              <a:t>Fig. (c): The tank is in parallel with the negative resistance provided by </a:t>
            </a:r>
            <a:r>
              <a:rPr lang="en-US" i="1" dirty="0" smtClean="0">
                <a:latin typeface="KaTeX_Math"/>
              </a:rPr>
              <a:t>M</a:t>
            </a:r>
            <a:r>
              <a:rPr lang="en-US" dirty="0" smtClean="0">
                <a:latin typeface="KaTeX_Main"/>
              </a:rPr>
              <a:t>1,</a:t>
            </a:r>
            <a:r>
              <a:rPr lang="en-US" i="1" dirty="0" smtClean="0">
                <a:latin typeface="KaTeX_Math"/>
              </a:rPr>
              <a:t>M</a:t>
            </a:r>
            <a:r>
              <a:rPr lang="en-US" dirty="0" smtClean="0">
                <a:latin typeface="KaTeX_Main"/>
              </a:rPr>
              <a:t>2</a:t>
            </a:r>
            <a:r>
              <a:rPr lang="en-US" dirty="0" smtClean="0">
                <a:latin typeface="fkGroteskNeue"/>
              </a:rPr>
              <a:t>.</a:t>
            </a:r>
          </a:p>
          <a:p>
            <a:pPr algn="ctr"/>
            <a:endParaRPr lang="en-US" dirty="0" smtClean="0">
              <a:latin typeface="fkGroteskNeue"/>
            </a:endParaRPr>
          </a:p>
          <a:p>
            <a:pPr algn="ctr"/>
            <a:r>
              <a:rPr lang="en-US" b="1" dirty="0" smtClean="0">
                <a:solidFill>
                  <a:srgbClr val="C00000"/>
                </a:solidFill>
                <a:latin typeface="fkGroteskNeue"/>
              </a:rPr>
              <a:t>Fundamental Takeaway:</a:t>
            </a:r>
            <a:r>
              <a:rPr lang="en-US" dirty="0" smtClean="0">
                <a:latin typeface="fkGroteskNeue"/>
              </a:rPr>
              <a:t/>
            </a:r>
            <a:br>
              <a:rPr lang="en-US" dirty="0" smtClean="0">
                <a:latin typeface="fkGroteskNeue"/>
              </a:rPr>
            </a:br>
            <a:r>
              <a:rPr lang="en-US" dirty="0" smtClean="0">
                <a:latin typeface="fkGroteskNeue"/>
              </a:rPr>
              <a:t>Cross-coupled pairs convert their gain into negative resistance, essential for overcoming tank losses and starting oscillations</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F0634F92-7D6B-467B-86F1-A09BC1F67F3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012623" y="6435055"/>
            <a:ext cx="586342" cy="273859"/>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l="69576" t="29317"/>
          <a:stretch/>
        </p:blipFill>
        <p:spPr>
          <a:xfrm>
            <a:off x="4430532" y="4722531"/>
            <a:ext cx="2115925" cy="1747855"/>
          </a:xfrm>
          <a:prstGeom prst="rect">
            <a:avLst/>
          </a:prstGeom>
        </p:spPr>
      </p:pic>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08702303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44733" y="2282659"/>
            <a:ext cx="10770233" cy="223269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t>Oscillation Condition &amp; Mathematical </a:t>
            </a:r>
            <a:r>
              <a:rPr lang="en-US" dirty="0" smtClean="0"/>
              <a:t>Test</a:t>
            </a:r>
            <a:endParaRPr lang="en-US" dirty="0"/>
          </a:p>
        </p:txBody>
      </p:sp>
      <p:sp>
        <p:nvSpPr>
          <p:cNvPr id="3" name="Text Placeholder 2"/>
          <p:cNvSpPr>
            <a:spLocks noGrp="1"/>
          </p:cNvSpPr>
          <p:nvPr>
            <p:ph type="body" idx="1"/>
          </p:nvPr>
        </p:nvSpPr>
        <p:spPr>
          <a:xfrm>
            <a:off x="844550" y="1327353"/>
            <a:ext cx="10674350" cy="4616648"/>
          </a:xfrm>
        </p:spPr>
        <p:txBody>
          <a:bodyPr/>
          <a:lstStyle/>
          <a:p>
            <a:pPr algn="ctr"/>
            <a:r>
              <a:rPr lang="en-US" b="1" dirty="0">
                <a:solidFill>
                  <a:srgbClr val="C00000"/>
                </a:solidFill>
                <a:latin typeface="fkGroteskNeue"/>
              </a:rPr>
              <a:t>Concept</a:t>
            </a:r>
            <a:r>
              <a:rPr lang="en-US" b="1" dirty="0" smtClean="0">
                <a:solidFill>
                  <a:srgbClr val="C00000"/>
                </a:solidFill>
                <a:latin typeface="fkGroteskNeue"/>
              </a:rPr>
              <a:t>:</a:t>
            </a:r>
          </a:p>
          <a:p>
            <a:pPr algn="ctr"/>
            <a:r>
              <a:rPr lang="en-US" dirty="0" smtClean="0">
                <a:latin typeface="fkGroteskNeue"/>
              </a:rPr>
              <a:t/>
            </a:r>
            <a:br>
              <a:rPr lang="en-US" dirty="0" smtClean="0">
                <a:latin typeface="fkGroteskNeue"/>
              </a:rPr>
            </a:br>
            <a:r>
              <a:rPr lang="en-US" b="1" dirty="0" smtClean="0">
                <a:solidFill>
                  <a:srgbClr val="C00000"/>
                </a:solidFill>
                <a:latin typeface="fkGroteskNeue"/>
              </a:rPr>
              <a:t>Oscillation occurs if the parallel combination of:</a:t>
            </a:r>
          </a:p>
          <a:p>
            <a:pPr marL="342900" indent="-342900" algn="l">
              <a:buFont typeface="Wingdings" panose="05000000000000000000" pitchFamily="2" charset="2"/>
              <a:buChar char="q"/>
            </a:pPr>
            <a:r>
              <a:rPr lang="en-US" dirty="0" smtClean="0">
                <a:latin typeface="fkGroteskNeue"/>
              </a:rPr>
              <a:t>The </a:t>
            </a:r>
            <a:r>
              <a:rPr lang="en-US" dirty="0">
                <a:latin typeface="fkGroteskNeue"/>
              </a:rPr>
              <a:t>tank impedance (at resonance, very high)</a:t>
            </a:r>
          </a:p>
          <a:p>
            <a:pPr marL="342900" indent="-342900" algn="l">
              <a:buFont typeface="Wingdings" panose="05000000000000000000" pitchFamily="2" charset="2"/>
              <a:buChar char="q"/>
            </a:pPr>
            <a:r>
              <a:rPr lang="en-US" dirty="0">
                <a:latin typeface="fkGroteskNeue"/>
              </a:rPr>
              <a:t>The negative resistance (at the right </a:t>
            </a:r>
            <a:r>
              <a:rPr lang="en-US" i="1" dirty="0" smtClean="0">
                <a:latin typeface="KaTeX_Math"/>
              </a:rPr>
              <a:t>gm</a:t>
            </a:r>
            <a:r>
              <a:rPr lang="en-US" dirty="0" smtClean="0">
                <a:latin typeface="fkGroteskNeue"/>
              </a:rPr>
              <a:t>) goes </a:t>
            </a:r>
            <a:r>
              <a:rPr lang="en-US" dirty="0">
                <a:latin typeface="fkGroteskNeue"/>
              </a:rPr>
              <a:t>to infinity — this means the circuit supports </a:t>
            </a:r>
            <a:r>
              <a:rPr lang="en-US" dirty="0" err="1">
                <a:latin typeface="fkGroteskNeue"/>
              </a:rPr>
              <a:t>undamped</a:t>
            </a:r>
            <a:r>
              <a:rPr lang="en-US" dirty="0">
                <a:latin typeface="fkGroteskNeue"/>
              </a:rPr>
              <a:t> oscillations</a:t>
            </a:r>
            <a:r>
              <a:rPr lang="en-US" dirty="0" smtClean="0">
                <a:latin typeface="fkGroteskNeue"/>
              </a:rPr>
              <a:t>.</a:t>
            </a:r>
            <a:endParaRPr lang="en-US" dirty="0">
              <a:latin typeface="fkGroteskNeue"/>
            </a:endParaRPr>
          </a:p>
          <a:p>
            <a:pPr marL="342900" indent="-342900" algn="l">
              <a:buFont typeface="Wingdings" panose="05000000000000000000" pitchFamily="2" charset="2"/>
              <a:buChar char="q"/>
            </a:pPr>
            <a:r>
              <a:rPr lang="en-US" dirty="0">
                <a:latin typeface="fkGroteskNeue"/>
              </a:rPr>
              <a:t>At resonance</a:t>
            </a:r>
            <a:r>
              <a:rPr lang="en-US" dirty="0" smtClean="0">
                <a:latin typeface="fkGroteskNeue"/>
              </a:rPr>
              <a:t>:</a:t>
            </a:r>
          </a:p>
          <a:p>
            <a:pPr algn="l">
              <a:buFont typeface="Arial" panose="020B0604020202020204" pitchFamily="34" charset="0"/>
              <a:buChar char="•"/>
            </a:pPr>
            <a:endParaRPr lang="en-US" dirty="0">
              <a:latin typeface="fkGroteskNeue"/>
            </a:endParaRPr>
          </a:p>
          <a:p>
            <a:pPr algn="l"/>
            <a:r>
              <a:rPr lang="en-US" dirty="0">
                <a:latin typeface="KaTeX_Main"/>
              </a:rPr>
              <a:t> </a:t>
            </a:r>
            <a:r>
              <a:rPr lang="en-US" dirty="0" smtClean="0">
                <a:latin typeface="KaTeX_Main"/>
              </a:rPr>
              <a:t>    </a:t>
            </a:r>
            <a:endParaRPr lang="en-US" dirty="0" smtClean="0">
              <a:latin typeface="KaTeX_Size3"/>
            </a:endParaRPr>
          </a:p>
          <a:p>
            <a:pPr algn="l"/>
            <a:r>
              <a:rPr lang="en-US" dirty="0" smtClean="0">
                <a:latin typeface="fkGroteskNeue"/>
              </a:rPr>
              <a:t>This </a:t>
            </a:r>
            <a:r>
              <a:rPr lang="en-US" dirty="0">
                <a:latin typeface="fkGroteskNeue"/>
              </a:rPr>
              <a:t>leads directly to the startup condition: </a:t>
            </a:r>
            <a:r>
              <a:rPr lang="en-US" i="1" dirty="0" err="1" smtClean="0">
                <a:latin typeface="KaTeX_Math"/>
              </a:rPr>
              <a:t>g</a:t>
            </a:r>
            <a:r>
              <a:rPr lang="en-US" i="1" baseline="-25000" dirty="0" err="1" smtClean="0">
                <a:latin typeface="KaTeX_Math"/>
              </a:rPr>
              <a:t>m</a:t>
            </a:r>
            <a:r>
              <a:rPr lang="en-US" i="1" dirty="0" err="1" smtClean="0">
                <a:latin typeface="KaTeX_Math"/>
              </a:rPr>
              <a:t>R</a:t>
            </a:r>
            <a:r>
              <a:rPr lang="en-US" i="1" baseline="-25000" dirty="0" err="1" smtClean="0">
                <a:latin typeface="KaTeX_Math"/>
              </a:rPr>
              <a:t>p</a:t>
            </a:r>
            <a:r>
              <a:rPr lang="en-US" dirty="0" smtClean="0">
                <a:latin typeface="KaTeX_Main"/>
              </a:rPr>
              <a:t>=1</a:t>
            </a:r>
            <a:r>
              <a:rPr lang="en-US" dirty="0" smtClean="0">
                <a:latin typeface="fkGroteskNeue"/>
              </a:rPr>
              <a:t>.</a:t>
            </a:r>
          </a:p>
          <a:p>
            <a:pPr algn="l"/>
            <a:endParaRPr lang="en-US" dirty="0">
              <a:latin typeface="fkGroteskNeue"/>
            </a:endParaRPr>
          </a:p>
          <a:p>
            <a:pPr algn="ctr"/>
            <a:r>
              <a:rPr lang="en-US" b="1" dirty="0">
                <a:solidFill>
                  <a:srgbClr val="C00000"/>
                </a:solidFill>
                <a:latin typeface="fkGroteskNeue"/>
              </a:rPr>
              <a:t>Fundamental Takeaway:</a:t>
            </a:r>
            <a:r>
              <a:rPr lang="en-US" dirty="0">
                <a:latin typeface="fkGroteskNeue"/>
              </a:rPr>
              <a:t/>
            </a:r>
            <a:br>
              <a:rPr lang="en-US" dirty="0">
                <a:latin typeface="fkGroteskNeue"/>
              </a:rPr>
            </a:br>
            <a:r>
              <a:rPr lang="en-US" dirty="0">
                <a:latin typeface="fkGroteskNeue"/>
              </a:rPr>
              <a:t>The circuit oscillates if the negative resistance cancels the tank’s loss, exactly matching at startup.</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1CBC567-7B15-4107-815C-5F8D2608081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78162" cy="254245"/>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duotone>
              <a:prstClr val="black"/>
              <a:schemeClr val="bg1">
                <a:lumMod val="65000"/>
                <a:tint val="45000"/>
                <a:satMod val="400000"/>
              </a:schemeClr>
            </a:duotone>
          </a:blip>
          <a:stretch>
            <a:fillRect/>
          </a:stretch>
        </p:blipFill>
        <p:spPr>
          <a:xfrm>
            <a:off x="2857406" y="3337966"/>
            <a:ext cx="3606985" cy="673135"/>
          </a:xfrm>
          <a:prstGeom prst="rect">
            <a:avLst/>
          </a:prstGeom>
        </p:spPr>
      </p:pic>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83899255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Intuitive &amp; Rigorous </a:t>
            </a:r>
            <a:r>
              <a:rPr lang="en-US" dirty="0" smtClean="0"/>
              <a:t>Perspective</a:t>
            </a:r>
            <a:endParaRPr lang="en-US" dirty="0"/>
          </a:p>
        </p:txBody>
      </p:sp>
      <p:sp>
        <p:nvSpPr>
          <p:cNvPr id="3" name="Text Placeholder 2"/>
          <p:cNvSpPr>
            <a:spLocks noGrp="1"/>
          </p:cNvSpPr>
          <p:nvPr>
            <p:ph type="body" idx="1"/>
          </p:nvPr>
        </p:nvSpPr>
        <p:spPr>
          <a:xfrm>
            <a:off x="844550" y="1327353"/>
            <a:ext cx="10670117" cy="3693319"/>
          </a:xfrm>
        </p:spPr>
        <p:txBody>
          <a:bodyPr/>
          <a:lstStyle/>
          <a:p>
            <a:pPr algn="ctr"/>
            <a:r>
              <a:rPr lang="en-US" b="1" dirty="0">
                <a:solidFill>
                  <a:srgbClr val="C00000"/>
                </a:solidFill>
                <a:latin typeface="fkGroteskNeue"/>
              </a:rPr>
              <a:t>Concept:</a:t>
            </a:r>
          </a:p>
          <a:p>
            <a:pPr marL="342900" indent="-342900" algn="l">
              <a:buFont typeface="Wingdings" panose="05000000000000000000" pitchFamily="2" charset="2"/>
              <a:buChar char="q"/>
            </a:pPr>
            <a:r>
              <a:rPr lang="en-US" dirty="0">
                <a:latin typeface="fkGroteskNeue"/>
              </a:rPr>
              <a:t>The exact </a:t>
            </a:r>
            <a:r>
              <a:rPr lang="en-US" dirty="0" smtClean="0">
                <a:latin typeface="fkGroteskNeue"/>
              </a:rPr>
              <a:t>math </a:t>
            </a:r>
            <a:r>
              <a:rPr lang="en-US" dirty="0">
                <a:latin typeface="fkGroteskNeue"/>
              </a:rPr>
              <a:t>confirms oscillation at  </a:t>
            </a:r>
            <a:r>
              <a:rPr lang="en-US" dirty="0" smtClean="0">
                <a:latin typeface="fkGroteskNeue"/>
              </a:rPr>
              <a:t>                   when</a:t>
            </a:r>
            <a:r>
              <a:rPr lang="en-US" dirty="0">
                <a:latin typeface="fkGroteskNeue"/>
              </a:rPr>
              <a:t> </a:t>
            </a:r>
            <a:r>
              <a:rPr lang="en-US" i="1" dirty="0" err="1" smtClean="0">
                <a:latin typeface="KaTeX_Math"/>
              </a:rPr>
              <a:t>g</a:t>
            </a:r>
            <a:r>
              <a:rPr lang="en-US" i="1" baseline="-25000" dirty="0" err="1" smtClean="0">
                <a:latin typeface="KaTeX_Math"/>
              </a:rPr>
              <a:t>m</a:t>
            </a:r>
            <a:r>
              <a:rPr lang="en-US" i="1" dirty="0" err="1" smtClean="0">
                <a:latin typeface="KaTeX_Math"/>
              </a:rPr>
              <a:t>R</a:t>
            </a:r>
            <a:r>
              <a:rPr lang="en-US" i="1" baseline="-25000" dirty="0" err="1" smtClean="0">
                <a:latin typeface="KaTeX_Math"/>
              </a:rPr>
              <a:t>p</a:t>
            </a:r>
            <a:r>
              <a:rPr lang="en-US" dirty="0" smtClean="0">
                <a:latin typeface="KaTeX_Main"/>
              </a:rPr>
              <a:t>=1</a:t>
            </a:r>
            <a:r>
              <a:rPr lang="en-US" dirty="0">
                <a:latin typeface="fkGroteskNeue"/>
              </a:rPr>
              <a:t>, same as impedance test.</a:t>
            </a:r>
          </a:p>
          <a:p>
            <a:pPr marL="342900" indent="-342900" algn="l">
              <a:buFont typeface="Wingdings" panose="05000000000000000000" pitchFamily="2" charset="2"/>
              <a:buChar char="q"/>
            </a:pPr>
            <a:r>
              <a:rPr lang="en-US" dirty="0">
                <a:latin typeface="fkGroteskNeue"/>
              </a:rPr>
              <a:t>The cross-coupled pair’s negative resistance is mathematically just as valid and crucial in complex analysis as it is intuitively</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marL="342900" indent="-342900" algn="l">
              <a:buFont typeface="Wingdings" panose="05000000000000000000" pitchFamily="2" charset="2"/>
              <a:buChar char="q"/>
            </a:pPr>
            <a:endParaRPr lang="en-US" dirty="0">
              <a:latin typeface="fkGroteskNeue"/>
            </a:endParaRPr>
          </a:p>
          <a:p>
            <a:pPr algn="ctr"/>
            <a:r>
              <a:rPr lang="en-US" b="1" dirty="0">
                <a:solidFill>
                  <a:srgbClr val="C00000"/>
                </a:solidFill>
                <a:latin typeface="fkGroteskNeue"/>
              </a:rPr>
              <a:t>Fundamental Takeaway</a:t>
            </a:r>
            <a:r>
              <a:rPr lang="en-US" b="1" dirty="0" smtClean="0">
                <a:solidFill>
                  <a:srgbClr val="C00000"/>
                </a:solidFill>
                <a:latin typeface="fkGroteskNeue"/>
              </a:rPr>
              <a:t>:</a:t>
            </a:r>
          </a:p>
          <a:p>
            <a:pPr algn="just"/>
            <a:r>
              <a:rPr lang="en-US" dirty="0">
                <a:latin typeface="fkGroteskNeue"/>
              </a:rPr>
              <a:t/>
            </a:r>
            <a:br>
              <a:rPr lang="en-US" dirty="0">
                <a:latin typeface="fkGroteskNeue"/>
              </a:rPr>
            </a:br>
            <a:r>
              <a:rPr lang="en-US" dirty="0">
                <a:latin typeface="fkGroteskNeue"/>
              </a:rPr>
              <a:t>Both intuitive circuit analysis and rigorous impedance calculations point to the same requirement: negative resistance = tank loss for startup. Cross-coupled LC oscillators embody this physical principle beautifully.</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712DD0AC-60F2-4FB6-8F14-D85FECBFDF4D}"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64874" cy="270429"/>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5571037" y="1621358"/>
            <a:ext cx="1143059" cy="304816"/>
          </a:xfrm>
          <a:prstGeom prst="rect">
            <a:avLst/>
          </a:prstGeom>
        </p:spPr>
      </p:pic>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660863338"/>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Pair with LC Loads</a:t>
            </a:r>
            <a:endParaRPr lang="en-US" dirty="0"/>
          </a:p>
        </p:txBody>
      </p:sp>
      <p:sp>
        <p:nvSpPr>
          <p:cNvPr id="3" name="Text Placeholder 2"/>
          <p:cNvSpPr>
            <a:spLocks noGrp="1"/>
          </p:cNvSpPr>
          <p:nvPr>
            <p:ph type="body" idx="1"/>
          </p:nvPr>
        </p:nvSpPr>
        <p:spPr>
          <a:xfrm>
            <a:off x="759882" y="1132620"/>
            <a:ext cx="6728885" cy="2462213"/>
          </a:xfrm>
        </p:spPr>
        <p:txBody>
          <a:bodyPr/>
          <a:lstStyle/>
          <a:p>
            <a:pPr marL="342900" indent="-342900" algn="just">
              <a:buFont typeface="Wingdings" panose="05000000000000000000" pitchFamily="2" charset="2"/>
              <a:buChar char="q"/>
            </a:pPr>
            <a:r>
              <a:rPr lang="en-US" sz="1600" dirty="0" smtClean="0">
                <a:latin typeface="fkGroteskNeue"/>
              </a:rPr>
              <a:t>Essentials</a:t>
            </a:r>
            <a:r>
              <a:rPr lang="en-US" sz="1600" dirty="0">
                <a:latin typeface="fkGroteskNeue"/>
              </a:rPr>
              <a:t>: Two transistors (M1, M2) form a differential pair. Each drain is loaded with a parallel LC tank (L, C, </a:t>
            </a:r>
            <a:r>
              <a:rPr lang="en-US" sz="1600" dirty="0" err="1" smtClean="0">
                <a:latin typeface="fkGroteskNeue"/>
              </a:rPr>
              <a:t>Rp</a:t>
            </a:r>
            <a:r>
              <a:rPr lang="en-US" sz="1600" dirty="0">
                <a:latin typeface="fkGroteskNeue"/>
              </a:rPr>
              <a:t>) and biased with tail current </a:t>
            </a:r>
            <a:r>
              <a:rPr lang="en-US" sz="1600" dirty="0" smtClean="0">
                <a:latin typeface="fkGroteskNeue"/>
              </a:rPr>
              <a:t>ISS</a:t>
            </a:r>
            <a:r>
              <a:rPr lang="en-US" sz="1600" dirty="0">
                <a:latin typeface="fkGroteskNeue"/>
              </a:rPr>
              <a:t>.</a:t>
            </a:r>
          </a:p>
          <a:p>
            <a:pPr marL="342900" indent="-342900" algn="just">
              <a:buFont typeface="Wingdings" panose="05000000000000000000" pitchFamily="2" charset="2"/>
              <a:buChar char="q"/>
            </a:pPr>
            <a:r>
              <a:rPr lang="en-US" sz="1600" dirty="0">
                <a:latin typeface="fkGroteskNeue"/>
              </a:rPr>
              <a:t>Core Idea:</a:t>
            </a:r>
            <a:br>
              <a:rPr lang="en-US" sz="1600" dirty="0">
                <a:latin typeface="fkGroteskNeue"/>
              </a:rPr>
            </a:br>
            <a:r>
              <a:rPr lang="en-US" sz="1600" dirty="0">
                <a:latin typeface="fkGroteskNeue"/>
              </a:rPr>
              <a:t>The tail current splits between the two devices according to the input, and the LC tanks set the frequency selectivity and shape the output waveform at nodes X and Y.</a:t>
            </a:r>
          </a:p>
          <a:p>
            <a:pPr marL="342900" indent="-342900" algn="just">
              <a:buFont typeface="Wingdings" panose="05000000000000000000" pitchFamily="2" charset="2"/>
              <a:buChar char="q"/>
            </a:pPr>
            <a:r>
              <a:rPr lang="en-US" sz="1600" dirty="0">
                <a:latin typeface="fkGroteskNeue"/>
              </a:rPr>
              <a:t>Key Point:</a:t>
            </a:r>
            <a:br>
              <a:rPr lang="en-US" sz="1600" dirty="0">
                <a:latin typeface="fkGroteskNeue"/>
              </a:rPr>
            </a:br>
            <a:r>
              <a:rPr lang="en-US" sz="1600" dirty="0">
                <a:latin typeface="fkGroteskNeue"/>
              </a:rPr>
              <a:t>This arrangement provides differential outputs, meaning </a:t>
            </a:r>
            <a:r>
              <a:rPr lang="en-US" sz="1600" dirty="0" smtClean="0">
                <a:latin typeface="fkGroteskNeue"/>
              </a:rPr>
              <a:t>VX </a:t>
            </a:r>
            <a:r>
              <a:rPr lang="en-US" sz="1600" dirty="0">
                <a:latin typeface="fkGroteskNeue"/>
              </a:rPr>
              <a:t>and </a:t>
            </a:r>
            <a:r>
              <a:rPr lang="en-US" sz="1600" dirty="0" smtClean="0">
                <a:latin typeface="fkGroteskNeue"/>
              </a:rPr>
              <a:t>VY </a:t>
            </a:r>
            <a:r>
              <a:rPr lang="en-US" sz="1600" dirty="0">
                <a:latin typeface="fkGroteskNeue"/>
              </a:rPr>
              <a:t>always move in opposite </a:t>
            </a:r>
            <a:r>
              <a:rPr lang="en-US" sz="1600" dirty="0" smtClean="0">
                <a:latin typeface="fkGroteskNeue"/>
              </a:rPr>
              <a:t>directions</a:t>
            </a:r>
            <a:endParaRPr lang="en-US" sz="1600" dirty="0">
              <a:latin typeface="fkGroteskNeue"/>
            </a:endParaRPr>
          </a:p>
        </p:txBody>
      </p:sp>
      <p:sp>
        <p:nvSpPr>
          <p:cNvPr id="5" name="Date Placeholder 4"/>
          <p:cNvSpPr>
            <a:spLocks noGrp="1"/>
          </p:cNvSpPr>
          <p:nvPr>
            <p:ph type="dt" sz="half" idx="6"/>
          </p:nvPr>
        </p:nvSpPr>
        <p:spPr>
          <a:xfrm>
            <a:off x="3242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6A2A331B-A6F3-4338-A82B-FBE21A4C6423}"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18654" y="6585061"/>
            <a:ext cx="509006" cy="171789"/>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97368" y="3976007"/>
            <a:ext cx="8119532" cy="2339102"/>
          </a:xfrm>
          <a:prstGeom prst="rect">
            <a:avLst/>
          </a:prstGeom>
        </p:spPr>
        <p:txBody>
          <a:bodyPr wrap="square">
            <a:spAutoFit/>
          </a:bodyPr>
          <a:lstStyle/>
          <a:p>
            <a:r>
              <a:rPr lang="en-US" b="1" i="0" dirty="0" smtClean="0">
                <a:solidFill>
                  <a:srgbClr val="C00000"/>
                </a:solidFill>
                <a:effectLst/>
                <a:latin typeface="fkGrotesk"/>
              </a:rPr>
              <a:t>Gain/Phase Response</a:t>
            </a:r>
          </a:p>
          <a:p>
            <a:pPr marL="285750" indent="-285750">
              <a:buFont typeface="Wingdings" panose="05000000000000000000" pitchFamily="2" charset="2"/>
              <a:buChar char="q"/>
            </a:pPr>
            <a:r>
              <a:rPr lang="en-US" sz="1600" b="1" i="0" dirty="0" smtClean="0">
                <a:solidFill>
                  <a:srgbClr val="00B050"/>
                </a:solidFill>
                <a:effectLst/>
                <a:latin typeface="fkGroteskNeue"/>
              </a:rPr>
              <a:t>Gain Response:</a:t>
            </a:r>
            <a:r>
              <a:rPr lang="en-US" sz="1600" b="0" i="0" dirty="0" smtClean="0">
                <a:effectLst/>
                <a:latin typeface="fkGroteskNeue"/>
              </a:rPr>
              <a:t/>
            </a:r>
            <a:br>
              <a:rPr lang="en-US" sz="1600" b="0" i="0" dirty="0" smtClean="0">
                <a:effectLst/>
                <a:latin typeface="fkGroteskNeue"/>
              </a:rPr>
            </a:br>
            <a:r>
              <a:rPr lang="en-US" sz="1600" b="0" i="0" dirty="0" smtClean="0">
                <a:effectLst/>
                <a:latin typeface="fkGroteskNeue"/>
              </a:rPr>
              <a:t>Shows a sharp gain peak at ω0, characteristic of resonance—thanks to high-Q tanks, output voltage is maximum at the resonance frequency.</a:t>
            </a:r>
          </a:p>
          <a:p>
            <a:pPr marL="285750" indent="-285750">
              <a:buFont typeface="Wingdings" panose="05000000000000000000" pitchFamily="2" charset="2"/>
              <a:buChar char="q"/>
            </a:pPr>
            <a:r>
              <a:rPr lang="en-US" sz="1600" b="1" i="0" dirty="0" smtClean="0">
                <a:solidFill>
                  <a:srgbClr val="00B050"/>
                </a:solidFill>
                <a:effectLst/>
                <a:latin typeface="fkGroteskNeue"/>
              </a:rPr>
              <a:t>Phase Response:</a:t>
            </a:r>
            <a:r>
              <a:rPr lang="en-US" sz="1600" b="0" i="0" dirty="0" smtClean="0">
                <a:effectLst/>
                <a:latin typeface="fkGroteskNeue"/>
              </a:rPr>
              <a:t/>
            </a:r>
            <a:br>
              <a:rPr lang="en-US" sz="1600" b="0" i="0" dirty="0" smtClean="0">
                <a:effectLst/>
                <a:latin typeface="fkGroteskNeue"/>
              </a:rPr>
            </a:br>
            <a:r>
              <a:rPr lang="en-US" sz="1600" b="0" i="0" dirty="0" smtClean="0">
                <a:effectLst/>
                <a:latin typeface="fkGroteskNeue"/>
              </a:rPr>
              <a:t>The phase transitions rapidly near ω0, another sign of the strong filtering of the tank.</a:t>
            </a:r>
          </a:p>
          <a:p>
            <a:pPr marL="285750" indent="-285750">
              <a:buFont typeface="Wingdings" panose="05000000000000000000" pitchFamily="2" charset="2"/>
              <a:buChar char="q"/>
            </a:pPr>
            <a:endParaRPr lang="en-US" sz="1600" b="0" i="0" dirty="0" smtClean="0">
              <a:effectLst/>
              <a:latin typeface="fkGroteskNeue"/>
            </a:endParaRPr>
          </a:p>
          <a:p>
            <a:pPr algn="ctr"/>
            <a:r>
              <a:rPr lang="en-US" sz="1600" b="1" i="0" dirty="0" smtClean="0">
                <a:solidFill>
                  <a:srgbClr val="C00000"/>
                </a:solidFill>
                <a:effectLst/>
                <a:latin typeface="fkGroteskNeue"/>
              </a:rPr>
              <a:t>Intuitive Takeaway:</a:t>
            </a:r>
            <a:r>
              <a:rPr lang="en-US" sz="1600" b="0" i="0" dirty="0" smtClean="0">
                <a:effectLst/>
                <a:latin typeface="fkGroteskNeue"/>
              </a:rPr>
              <a:t/>
            </a:r>
            <a:br>
              <a:rPr lang="en-US" sz="1600" b="0" i="0" dirty="0" smtClean="0">
                <a:effectLst/>
                <a:latin typeface="fkGroteskNeue"/>
              </a:rPr>
            </a:br>
            <a:r>
              <a:rPr lang="en-US" sz="1600" b="0" i="0" dirty="0" smtClean="0">
                <a:effectLst/>
                <a:latin typeface="fkGroteskNeue"/>
              </a:rPr>
              <a:t>The parallel tank acts like a narrow </a:t>
            </a:r>
            <a:r>
              <a:rPr lang="en-US" sz="1600" b="0" i="0" dirty="0" err="1" smtClean="0">
                <a:effectLst/>
                <a:latin typeface="fkGroteskNeue"/>
              </a:rPr>
              <a:t>bandpass</a:t>
            </a:r>
            <a:r>
              <a:rPr lang="en-US" sz="1600" b="0" i="0" dirty="0" smtClean="0">
                <a:effectLst/>
                <a:latin typeface="fkGroteskNeue"/>
              </a:rPr>
              <a:t> filter, allowing oscillations only at ω0.</a:t>
            </a:r>
            <a:endParaRPr lang="en-US" sz="1600" b="0" i="0" dirty="0">
              <a:effectLst/>
              <a:latin typeface="fkGroteskNeue"/>
            </a:endParaRPr>
          </a:p>
        </p:txBody>
      </p:sp>
      <p:pic>
        <p:nvPicPr>
          <p:cNvPr id="8" name="Picture 7"/>
          <p:cNvPicPr>
            <a:picLocks noChangeAspect="1"/>
          </p:cNvPicPr>
          <p:nvPr/>
        </p:nvPicPr>
        <p:blipFill rotWithShape="1">
          <a:blip r:embed="rId2"/>
          <a:srcRect r="59740"/>
          <a:stretch/>
        </p:blipFill>
        <p:spPr>
          <a:xfrm>
            <a:off x="8358547" y="1233963"/>
            <a:ext cx="2694687" cy="2044805"/>
          </a:xfrm>
          <a:prstGeom prst="rect">
            <a:avLst/>
          </a:prstGeom>
        </p:spPr>
      </p:pic>
      <p:pic>
        <p:nvPicPr>
          <p:cNvPr id="9" name="Picture 8"/>
          <p:cNvPicPr>
            <a:picLocks noChangeAspect="1"/>
          </p:cNvPicPr>
          <p:nvPr/>
        </p:nvPicPr>
        <p:blipFill rotWithShape="1">
          <a:blip r:embed="rId2"/>
          <a:srcRect l="41335"/>
          <a:stretch/>
        </p:blipFill>
        <p:spPr>
          <a:xfrm>
            <a:off x="8157632" y="3989864"/>
            <a:ext cx="3926591" cy="2044805"/>
          </a:xfrm>
          <a:prstGeom prst="rect">
            <a:avLst/>
          </a:prstGeom>
        </p:spPr>
      </p:pic>
      <p:sp>
        <p:nvSpPr>
          <p:cNvPr id="10" name="Rectangle 9"/>
          <p:cNvSpPr/>
          <p:nvPr/>
        </p:nvSpPr>
        <p:spPr>
          <a:xfrm>
            <a:off x="622300" y="1134533"/>
            <a:ext cx="10837333" cy="2573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Rectangle 10"/>
          <p:cNvSpPr/>
          <p:nvPr/>
        </p:nvSpPr>
        <p:spPr>
          <a:xfrm>
            <a:off x="105833" y="3860800"/>
            <a:ext cx="11849100" cy="2573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021745018"/>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55374" y="1232452"/>
            <a:ext cx="5536096" cy="457199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err="1">
                <a:latin typeface="fkGrotesk"/>
              </a:rPr>
              <a:t>Input/Output</a:t>
            </a:r>
            <a:r>
              <a:rPr lang="en-US" dirty="0">
                <a:latin typeface="fkGrotesk"/>
              </a:rPr>
              <a:t> Currents and </a:t>
            </a:r>
            <a:r>
              <a:rPr lang="en-US" dirty="0" smtClean="0">
                <a:latin typeface="fkGrotesk"/>
              </a:rPr>
              <a:t>Voltages</a:t>
            </a:r>
            <a:endParaRPr lang="en-US" dirty="0"/>
          </a:p>
        </p:txBody>
      </p:sp>
      <p:sp>
        <p:nvSpPr>
          <p:cNvPr id="3" name="Text Placeholder 2"/>
          <p:cNvSpPr>
            <a:spLocks noGrp="1"/>
          </p:cNvSpPr>
          <p:nvPr>
            <p:ph type="body" idx="1"/>
          </p:nvPr>
        </p:nvSpPr>
        <p:spPr>
          <a:xfrm>
            <a:off x="1073150" y="1188205"/>
            <a:ext cx="4631911" cy="5078313"/>
          </a:xfrm>
        </p:spPr>
        <p:txBody>
          <a:bodyPr/>
          <a:lstStyle/>
          <a:p>
            <a:pPr marL="342900" indent="-342900" algn="just">
              <a:lnSpc>
                <a:spcPct val="150000"/>
              </a:lnSpc>
              <a:buFont typeface="Wingdings" panose="05000000000000000000" pitchFamily="2" charset="2"/>
              <a:buChar char="q"/>
            </a:pPr>
            <a:r>
              <a:rPr lang="en-US" b="1" dirty="0" smtClean="0">
                <a:solidFill>
                  <a:srgbClr val="C00000"/>
                </a:solidFill>
                <a:latin typeface="fkGroteskNeue"/>
              </a:rPr>
              <a:t>Current </a:t>
            </a:r>
            <a:r>
              <a:rPr lang="en-US" b="1" dirty="0">
                <a:solidFill>
                  <a:srgbClr val="C00000"/>
                </a:solidFill>
                <a:latin typeface="fkGroteskNeue"/>
              </a:rPr>
              <a:t>Waveforms (</a:t>
            </a:r>
            <a:r>
              <a:rPr lang="en-US" b="1" dirty="0" smtClean="0">
                <a:solidFill>
                  <a:srgbClr val="C00000"/>
                </a:solidFill>
                <a:latin typeface="fkGroteskNeue"/>
              </a:rPr>
              <a:t>I</a:t>
            </a:r>
            <a:r>
              <a:rPr lang="en-US" b="1" baseline="-25000" dirty="0" smtClean="0">
                <a:solidFill>
                  <a:srgbClr val="C00000"/>
                </a:solidFill>
                <a:latin typeface="fkGroteskNeue"/>
              </a:rPr>
              <a:t>D1</a:t>
            </a:r>
            <a:r>
              <a:rPr lang="en-US" b="1" dirty="0">
                <a:solidFill>
                  <a:srgbClr val="C00000"/>
                </a:solidFill>
                <a:latin typeface="fkGroteskNeue"/>
              </a:rPr>
              <a:t>, </a:t>
            </a:r>
            <a:r>
              <a:rPr lang="en-US" b="1" dirty="0" smtClean="0">
                <a:solidFill>
                  <a:srgbClr val="C00000"/>
                </a:solidFill>
                <a:latin typeface="fkGroteskNeue"/>
              </a:rPr>
              <a:t>I</a:t>
            </a:r>
            <a:r>
              <a:rPr lang="en-US" b="1" baseline="-25000" dirty="0" smtClean="0">
                <a:solidFill>
                  <a:srgbClr val="C00000"/>
                </a:solidFill>
                <a:latin typeface="fkGroteskNeue"/>
              </a:rPr>
              <a:t>D2</a:t>
            </a:r>
            <a:r>
              <a:rPr lang="en-US" b="1" dirty="0">
                <a:solidFill>
                  <a:srgbClr val="C00000"/>
                </a:solidFill>
                <a:latin typeface="fkGroteskNeue"/>
              </a:rPr>
              <a:t>):</a:t>
            </a:r>
            <a:br>
              <a:rPr lang="en-US" b="1" dirty="0">
                <a:solidFill>
                  <a:srgbClr val="C00000"/>
                </a:solidFill>
                <a:latin typeface="fkGroteskNeue"/>
              </a:rPr>
            </a:br>
            <a:r>
              <a:rPr lang="en-US" dirty="0">
                <a:latin typeface="fkGroteskNeue"/>
              </a:rPr>
              <a:t>With a large signal, each drain current switches sharply between 0 and </a:t>
            </a:r>
            <a:r>
              <a:rPr lang="en-US" dirty="0" smtClean="0">
                <a:latin typeface="fkGroteskNeue"/>
              </a:rPr>
              <a:t>ISS</a:t>
            </a:r>
            <a:r>
              <a:rPr lang="en-US" dirty="0">
                <a:latin typeface="fkGroteskNeue"/>
              </a:rPr>
              <a:t>, much like a square wave.</a:t>
            </a:r>
          </a:p>
          <a:p>
            <a:pPr marL="342900" indent="-342900" algn="just">
              <a:lnSpc>
                <a:spcPct val="150000"/>
              </a:lnSpc>
              <a:buFont typeface="Wingdings" panose="05000000000000000000" pitchFamily="2" charset="2"/>
              <a:buChar char="q"/>
            </a:pPr>
            <a:r>
              <a:rPr lang="en-US" b="1" dirty="0">
                <a:solidFill>
                  <a:srgbClr val="C00000"/>
                </a:solidFill>
                <a:latin typeface="fkGroteskNeue"/>
              </a:rPr>
              <a:t>Voltage Waveforms (</a:t>
            </a:r>
            <a:r>
              <a:rPr lang="en-US" b="1" dirty="0" smtClean="0">
                <a:solidFill>
                  <a:srgbClr val="C00000"/>
                </a:solidFill>
                <a:latin typeface="fkGroteskNeue"/>
              </a:rPr>
              <a:t>V</a:t>
            </a:r>
            <a:r>
              <a:rPr lang="en-US" b="1" baseline="-25000" dirty="0" smtClean="0">
                <a:solidFill>
                  <a:srgbClr val="C00000"/>
                </a:solidFill>
                <a:latin typeface="fkGroteskNeue"/>
              </a:rPr>
              <a:t>X</a:t>
            </a:r>
            <a:r>
              <a:rPr lang="en-US" b="1" dirty="0">
                <a:solidFill>
                  <a:srgbClr val="C00000"/>
                </a:solidFill>
                <a:latin typeface="fkGroteskNeue"/>
              </a:rPr>
              <a:t>, </a:t>
            </a:r>
            <a:r>
              <a:rPr lang="en-US" b="1" dirty="0" smtClean="0">
                <a:solidFill>
                  <a:srgbClr val="C00000"/>
                </a:solidFill>
                <a:latin typeface="fkGroteskNeue"/>
              </a:rPr>
              <a:t>V</a:t>
            </a:r>
            <a:r>
              <a:rPr lang="en-US" b="1" baseline="-25000" dirty="0" smtClean="0">
                <a:solidFill>
                  <a:srgbClr val="C00000"/>
                </a:solidFill>
                <a:latin typeface="fkGroteskNeue"/>
              </a:rPr>
              <a:t>Y</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Despite the abrupt currents, the LC filtering at each node transforms these into smooth, nearly sinusoidal voltages, with a phase difference of 180</a:t>
            </a:r>
            <a:r>
              <a:rPr lang="en-US" dirty="0" smtClean="0">
                <a:latin typeface="fkGroteskNeue"/>
              </a:rPr>
              <a:t>°.</a:t>
            </a: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FF8B554F-7B3D-4D5B-B394-8358D236D41F}"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05334" cy="27852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945719" y="1730323"/>
            <a:ext cx="4769095" cy="2025754"/>
          </a:xfrm>
          <a:prstGeom prst="rect">
            <a:avLst/>
          </a:prstGeom>
        </p:spPr>
      </p:pic>
      <p:sp>
        <p:nvSpPr>
          <p:cNvPr id="8" name="Rectangle 7"/>
          <p:cNvSpPr/>
          <p:nvPr/>
        </p:nvSpPr>
        <p:spPr>
          <a:xfrm>
            <a:off x="6390860" y="4381669"/>
            <a:ext cx="5661439" cy="1015663"/>
          </a:xfrm>
          <a:prstGeom prst="rect">
            <a:avLst/>
          </a:prstGeom>
        </p:spPr>
        <p:txBody>
          <a:bodyPr wrap="square">
            <a:spAutoFit/>
          </a:bodyPr>
          <a:lstStyle/>
          <a:p>
            <a:pPr lvl="0" algn="ctr"/>
            <a:r>
              <a:rPr lang="en-US" sz="2000" b="1" kern="0" dirty="0">
                <a:solidFill>
                  <a:srgbClr val="C00000"/>
                </a:solidFill>
                <a:latin typeface="fkGroteskNeue"/>
              </a:rPr>
              <a:t>Intuitive Takeaway:</a:t>
            </a:r>
            <a:r>
              <a:rPr lang="en-US" sz="2000" kern="0" dirty="0">
                <a:solidFill>
                  <a:prstClr val="black"/>
                </a:solidFill>
                <a:latin typeface="fkGroteskNeue"/>
              </a:rPr>
              <a:t/>
            </a:r>
            <a:br>
              <a:rPr lang="en-US" sz="2000" kern="0" dirty="0">
                <a:solidFill>
                  <a:prstClr val="black"/>
                </a:solidFill>
                <a:latin typeface="fkGroteskNeue"/>
              </a:rPr>
            </a:br>
            <a:r>
              <a:rPr lang="en-US" sz="2000" kern="0" dirty="0">
                <a:solidFill>
                  <a:prstClr val="black"/>
                </a:solidFill>
                <a:latin typeface="fkGroteskNeue"/>
              </a:rPr>
              <a:t>The LC tanks “sculpt” the square current waves into clean sine waves, suppressing harmonics.</a:t>
            </a: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71583649"/>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26774" y="1182756"/>
            <a:ext cx="5170019" cy="512859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Frequency Components in Square </a:t>
            </a:r>
            <a:r>
              <a:rPr lang="en-US" dirty="0" smtClean="0">
                <a:latin typeface="fkGrotesk"/>
              </a:rPr>
              <a:t>Wave</a:t>
            </a:r>
            <a:endParaRPr lang="en-US" dirty="0"/>
          </a:p>
        </p:txBody>
      </p:sp>
      <p:sp>
        <p:nvSpPr>
          <p:cNvPr id="3" name="Text Placeholder 2"/>
          <p:cNvSpPr>
            <a:spLocks noGrp="1"/>
          </p:cNvSpPr>
          <p:nvPr>
            <p:ph type="body" idx="1"/>
          </p:nvPr>
        </p:nvSpPr>
        <p:spPr>
          <a:xfrm>
            <a:off x="505883" y="1344286"/>
            <a:ext cx="5037161" cy="5078313"/>
          </a:xfrm>
        </p:spPr>
        <p:txBody>
          <a:bodyPr/>
          <a:lstStyle/>
          <a:p>
            <a:pPr marL="342900" indent="-342900" algn="ctr">
              <a:lnSpc>
                <a:spcPct val="150000"/>
              </a:lnSpc>
              <a:buFont typeface="Wingdings" panose="05000000000000000000" pitchFamily="2" charset="2"/>
              <a:buChar char="q"/>
            </a:pPr>
            <a:r>
              <a:rPr lang="en-US" dirty="0">
                <a:solidFill>
                  <a:srgbClr val="C00000"/>
                </a:solidFill>
                <a:latin typeface="fkGrotesk"/>
              </a:rPr>
              <a:t> </a:t>
            </a:r>
            <a:r>
              <a:rPr lang="en-US" b="1" dirty="0" smtClean="0">
                <a:solidFill>
                  <a:srgbClr val="C00000"/>
                </a:solidFill>
                <a:latin typeface="fkGroteskNeue"/>
              </a:rPr>
              <a:t>Boxed </a:t>
            </a:r>
            <a:r>
              <a:rPr lang="en-US" b="1" dirty="0">
                <a:solidFill>
                  <a:srgbClr val="C00000"/>
                </a:solidFill>
                <a:latin typeface="fkGroteskNeue"/>
              </a:rPr>
              <a:t>Harmonic Content</a:t>
            </a:r>
            <a:r>
              <a:rPr lang="en-US" b="1" dirty="0" smtClean="0">
                <a:solidFill>
                  <a:srgbClr val="C00000"/>
                </a:solidFill>
                <a:latin typeface="fkGroteskNeue"/>
              </a:rPr>
              <a:t>:</a:t>
            </a:r>
            <a:r>
              <a:rPr lang="en-US" dirty="0">
                <a:latin typeface="fkGroteskNeue"/>
              </a:rPr>
              <a:t/>
            </a:r>
            <a:br>
              <a:rPr lang="en-US" dirty="0">
                <a:latin typeface="fkGroteskNeue"/>
              </a:rPr>
            </a:br>
            <a:r>
              <a:rPr lang="en-US" dirty="0">
                <a:latin typeface="fkGroteskNeue"/>
              </a:rPr>
              <a:t>Magnifies the key point that a square wave toggling between +1 and –1 contains a fundamental at 4/π amplitude.</a:t>
            </a:r>
          </a:p>
          <a:p>
            <a:pPr marL="342900" indent="-342900" algn="ctr">
              <a:lnSpc>
                <a:spcPct val="150000"/>
              </a:lnSpc>
              <a:buFont typeface="Wingdings" panose="05000000000000000000" pitchFamily="2" charset="2"/>
              <a:buChar char="q"/>
            </a:pPr>
            <a:r>
              <a:rPr lang="en-US" b="1" dirty="0">
                <a:solidFill>
                  <a:srgbClr val="C00000"/>
                </a:solidFill>
                <a:latin typeface="fkGroteskNeue"/>
              </a:rPr>
              <a:t>Intuitive Use:</a:t>
            </a:r>
            <a:r>
              <a:rPr lang="en-US" dirty="0">
                <a:latin typeface="fkGroteskNeue"/>
              </a:rPr>
              <a:t/>
            </a:r>
            <a:br>
              <a:rPr lang="en-US" dirty="0">
                <a:latin typeface="fkGroteskNeue"/>
              </a:rPr>
            </a:br>
            <a:r>
              <a:rPr lang="en-US" dirty="0">
                <a:latin typeface="fkGroteskNeue"/>
              </a:rPr>
              <a:t>The amplitude of the voltage swing from the square-like current is understood via the fundamental harmonic—explaining why the output swing is (</a:t>
            </a:r>
            <a:r>
              <a:rPr lang="en-US" dirty="0" smtClean="0">
                <a:latin typeface="fkGroteskNeue"/>
              </a:rPr>
              <a:t>2/π)I</a:t>
            </a:r>
            <a:r>
              <a:rPr lang="en-US" baseline="-25000" dirty="0" smtClean="0">
                <a:latin typeface="fkGroteskNeue"/>
              </a:rPr>
              <a:t>SS</a:t>
            </a:r>
            <a:r>
              <a:rPr lang="en-US" dirty="0" smtClean="0">
                <a:latin typeface="fkGroteskNeue"/>
              </a:rPr>
              <a:t> </a:t>
            </a:r>
            <a:r>
              <a:rPr lang="en-US" dirty="0" err="1" smtClean="0">
                <a:latin typeface="fkGroteskNeue"/>
              </a:rPr>
              <a:t>R</a:t>
            </a:r>
            <a:r>
              <a:rPr lang="en-US" baseline="-25000" dirty="0" err="1" smtClean="0">
                <a:latin typeface="fkGroteskNeue"/>
              </a:rPr>
              <a:t>p</a:t>
            </a:r>
            <a:r>
              <a:rPr lang="en-US" dirty="0" smtClean="0">
                <a:latin typeface="fkGroteskNeue"/>
              </a:rPr>
              <a:t> </a:t>
            </a:r>
            <a:r>
              <a:rPr lang="en-US" dirty="0">
                <a:latin typeface="fkGroteskNeue"/>
              </a:rPr>
              <a:t>for each side, and 8/π </a:t>
            </a:r>
            <a:r>
              <a:rPr lang="en-US" dirty="0" smtClean="0">
                <a:latin typeface="fkGroteskNeue"/>
              </a:rPr>
              <a:t>I</a:t>
            </a:r>
            <a:r>
              <a:rPr lang="en-US" baseline="-25000" dirty="0" smtClean="0">
                <a:latin typeface="fkGroteskNeue"/>
              </a:rPr>
              <a:t>SS</a:t>
            </a:r>
            <a:r>
              <a:rPr lang="en-US" dirty="0" smtClean="0">
                <a:latin typeface="fkGroteskNeue"/>
              </a:rPr>
              <a:t> </a:t>
            </a:r>
            <a:r>
              <a:rPr lang="en-US" dirty="0" err="1" smtClean="0">
                <a:latin typeface="fkGroteskNeue"/>
              </a:rPr>
              <a:t>R</a:t>
            </a:r>
            <a:r>
              <a:rPr lang="en-US" baseline="-25000" dirty="0" err="1" smtClean="0">
                <a:latin typeface="fkGroteskNeue"/>
              </a:rPr>
              <a:t>p</a:t>
            </a:r>
            <a:r>
              <a:rPr lang="en-US" dirty="0" smtClean="0">
                <a:latin typeface="fkGroteskNeue"/>
              </a:rPr>
              <a:t> </a:t>
            </a:r>
            <a:r>
              <a:rPr lang="en-US" dirty="0">
                <a:latin typeface="fkGroteskNeue"/>
              </a:rPr>
              <a:t>peak-to-peak differential</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a:xfrm>
            <a:off x="643315"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99F5C3C-5150-40AF-8B88-3721549A3E94}"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616160" cy="263920"/>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015653" y="1676363"/>
            <a:ext cx="3809628" cy="2885698"/>
          </a:xfrm>
          <a:prstGeom prst="rect">
            <a:avLst/>
          </a:prstGeom>
        </p:spPr>
      </p:pic>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617804795"/>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85191" y="1361661"/>
            <a:ext cx="7185991" cy="386632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Differential Pair with Negative </a:t>
            </a:r>
            <a:r>
              <a:rPr lang="en-US" dirty="0" smtClean="0">
                <a:latin typeface="fkGrotesk"/>
              </a:rPr>
              <a:t>Feedback</a:t>
            </a:r>
            <a:endParaRPr lang="en-US" dirty="0"/>
          </a:p>
        </p:txBody>
      </p:sp>
      <p:sp>
        <p:nvSpPr>
          <p:cNvPr id="3" name="Text Placeholder 2"/>
          <p:cNvSpPr>
            <a:spLocks noGrp="1"/>
          </p:cNvSpPr>
          <p:nvPr>
            <p:ph type="body" idx="1"/>
          </p:nvPr>
        </p:nvSpPr>
        <p:spPr>
          <a:xfrm>
            <a:off x="844550" y="1327353"/>
            <a:ext cx="6898217" cy="3636316"/>
          </a:xfrm>
        </p:spPr>
        <p:txBody>
          <a:bodyPr/>
          <a:lstStyle/>
          <a:p>
            <a:pPr marL="342900" indent="-342900" algn="just">
              <a:lnSpc>
                <a:spcPct val="150000"/>
              </a:lnSpc>
              <a:buFont typeface="Wingdings" panose="05000000000000000000" pitchFamily="2" charset="2"/>
              <a:buChar char="q"/>
            </a:pPr>
            <a:r>
              <a:rPr lang="en-US" b="1" dirty="0" smtClean="0">
                <a:solidFill>
                  <a:srgbClr val="C00000"/>
                </a:solidFill>
                <a:latin typeface="fkGroteskNeue"/>
              </a:rPr>
              <a:t>Description</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Shows a configuration where feedback opposes the motion—phase shift around loop totals 360°, but doesn't produce sustained oscillations</a:t>
            </a:r>
            <a:r>
              <a:rPr lang="en-US" dirty="0" smtClean="0">
                <a:latin typeface="fkGroteskNeue"/>
              </a:rPr>
              <a:t>.</a:t>
            </a:r>
          </a:p>
          <a:p>
            <a:pPr marL="342900" indent="-342900" algn="just">
              <a:lnSpc>
                <a:spcPct val="150000"/>
              </a:lnSpc>
              <a:buFont typeface="Wingdings" panose="05000000000000000000" pitchFamily="2" charset="2"/>
              <a:buChar char="q"/>
            </a:pPr>
            <a:endParaRPr lang="en-US" dirty="0">
              <a:latin typeface="fkGroteskNeue"/>
            </a:endParaRPr>
          </a:p>
          <a:p>
            <a:pPr marL="342900" indent="-342900" algn="just">
              <a:lnSpc>
                <a:spcPct val="150000"/>
              </a:lnSpc>
              <a:buFont typeface="Wingdings" panose="05000000000000000000" pitchFamily="2" charset="2"/>
              <a:buChar char="q"/>
            </a:pPr>
            <a:r>
              <a:rPr lang="en-US" b="1" dirty="0">
                <a:solidFill>
                  <a:srgbClr val="C00000"/>
                </a:solidFill>
                <a:latin typeface="fkGroteskNeue"/>
              </a:rPr>
              <a:t>Takeaway:</a:t>
            </a:r>
            <a:r>
              <a:rPr lang="en-US" dirty="0">
                <a:latin typeface="fkGroteskNeue"/>
              </a:rPr>
              <a:t/>
            </a:r>
            <a:br>
              <a:rPr lang="en-US" dirty="0">
                <a:latin typeface="fkGroteskNeue"/>
              </a:rPr>
            </a:br>
            <a:r>
              <a:rPr lang="en-US" dirty="0">
                <a:latin typeface="fkGroteskNeue"/>
              </a:rPr>
              <a:t>Not all feedback arrangements in this topology will result in oscillation!</a:t>
            </a: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45643D8-D822-4A14-8A34-FF397CEF674E}"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96890" cy="263920"/>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223207" y="1275478"/>
            <a:ext cx="3699773" cy="3843174"/>
          </a:xfrm>
          <a:prstGeom prst="rect">
            <a:avLst/>
          </a:prstGeom>
        </p:spPr>
      </p:pic>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229292826"/>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15260" y="1141682"/>
            <a:ext cx="6505731" cy="249973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367749" y="4055165"/>
            <a:ext cx="11648660" cy="198782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55650" y="232833"/>
            <a:ext cx="10788650" cy="523220"/>
          </a:xfrm>
        </p:spPr>
        <p:txBody>
          <a:bodyPr/>
          <a:lstStyle/>
          <a:p>
            <a:r>
              <a:rPr lang="en-US" dirty="0">
                <a:latin typeface="fkGrotesk"/>
              </a:rPr>
              <a:t>Differential Pair with Positive Feedback (Cross-Coupled</a:t>
            </a:r>
            <a:r>
              <a:rPr lang="en-US" dirty="0" smtClean="0">
                <a:latin typeface="fkGrotesk"/>
              </a:rPr>
              <a:t>)</a:t>
            </a:r>
            <a:endParaRPr lang="en-US" dirty="0"/>
          </a:p>
        </p:txBody>
      </p:sp>
      <p:sp>
        <p:nvSpPr>
          <p:cNvPr id="3" name="Text Placeholder 2"/>
          <p:cNvSpPr>
            <a:spLocks noGrp="1"/>
          </p:cNvSpPr>
          <p:nvPr>
            <p:ph type="body" idx="1"/>
          </p:nvPr>
        </p:nvSpPr>
        <p:spPr>
          <a:xfrm>
            <a:off x="645585" y="1158020"/>
            <a:ext cx="6970183" cy="2462213"/>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Description</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Feedback lines are swapped, introducing extra 180° phase shift and providing a total of 0° (or multiples of 360°), fulfilling </a:t>
            </a:r>
            <a:r>
              <a:rPr lang="en-US" dirty="0" err="1">
                <a:latin typeface="fkGroteskNeue"/>
              </a:rPr>
              <a:t>Barkhausen's</a:t>
            </a:r>
            <a:r>
              <a:rPr lang="en-US" dirty="0">
                <a:latin typeface="fkGroteskNeue"/>
              </a:rPr>
              <a:t> criterion.</a:t>
            </a:r>
          </a:p>
          <a:p>
            <a:pPr marL="342900" indent="-342900" algn="l">
              <a:buFont typeface="Wingdings" panose="05000000000000000000" pitchFamily="2" charset="2"/>
              <a:buChar char="q"/>
            </a:pPr>
            <a:r>
              <a:rPr lang="en-US" dirty="0">
                <a:solidFill>
                  <a:srgbClr val="C00000"/>
                </a:solidFill>
                <a:latin typeface="fkGroteskNeue"/>
              </a:rPr>
              <a:t>Key Point:</a:t>
            </a:r>
            <a:r>
              <a:rPr lang="en-US" dirty="0">
                <a:latin typeface="fkGroteskNeue"/>
              </a:rPr>
              <a:t/>
            </a:r>
            <a:br>
              <a:rPr lang="en-US" dirty="0">
                <a:latin typeface="fkGroteskNeue"/>
              </a:rPr>
            </a:br>
            <a:r>
              <a:rPr lang="en-US" dirty="0">
                <a:latin typeface="fkGroteskNeue"/>
              </a:rPr>
              <a:t>This “cross-coupled” form (with M</a:t>
            </a:r>
            <a:r>
              <a:rPr lang="en-US" baseline="-25000" dirty="0">
                <a:latin typeface="fkGroteskNeue"/>
              </a:rPr>
              <a:t>1</a:t>
            </a:r>
            <a:r>
              <a:rPr lang="en-US" dirty="0">
                <a:latin typeface="fkGroteskNeue"/>
              </a:rPr>
              <a:t> and M</a:t>
            </a:r>
            <a:r>
              <a:rPr lang="en-US" baseline="-25000" dirty="0">
                <a:latin typeface="fkGroteskNeue"/>
              </a:rPr>
              <a:t>2</a:t>
            </a:r>
            <a:r>
              <a:rPr lang="en-US" dirty="0">
                <a:latin typeface="fkGroteskNeue"/>
              </a:rPr>
              <a:t> feeding opposite gates) is the classic architecture for robust, startup-guaranteed LC oscillators</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a:xfrm>
            <a:off x="742707" y="6474811"/>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D95CEC5D-AC10-48D1-B15F-ADC58CB954EC}"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606221" cy="313615"/>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6058" r="4512"/>
          <a:stretch/>
        </p:blipFill>
        <p:spPr>
          <a:xfrm>
            <a:off x="7339477" y="1149930"/>
            <a:ext cx="4523448" cy="2524029"/>
          </a:xfrm>
          <a:prstGeom prst="rect">
            <a:avLst/>
          </a:prstGeom>
        </p:spPr>
      </p:pic>
      <p:sp>
        <p:nvSpPr>
          <p:cNvPr id="8" name="Rectangle 7"/>
          <p:cNvSpPr/>
          <p:nvPr/>
        </p:nvSpPr>
        <p:spPr>
          <a:xfrm>
            <a:off x="431800" y="3732306"/>
            <a:ext cx="11658600" cy="2308324"/>
          </a:xfrm>
          <a:prstGeom prst="rect">
            <a:avLst/>
          </a:prstGeom>
        </p:spPr>
        <p:txBody>
          <a:bodyPr wrap="square">
            <a:spAutoFit/>
          </a:bodyPr>
          <a:lstStyle/>
          <a:p>
            <a:pPr algn="ctr"/>
            <a:r>
              <a:rPr lang="en-US" b="1" i="0" dirty="0" smtClean="0">
                <a:solidFill>
                  <a:srgbClr val="C00000"/>
                </a:solidFill>
                <a:effectLst/>
                <a:latin typeface="fkGrotesk"/>
              </a:rPr>
              <a:t>Cross-Coupled Pair Schematic</a:t>
            </a:r>
          </a:p>
          <a:p>
            <a:pPr marL="285750" indent="-285750" algn="ctr">
              <a:buFont typeface="Wingdings" panose="05000000000000000000" pitchFamily="2" charset="2"/>
              <a:buChar char="q"/>
            </a:pPr>
            <a:r>
              <a:rPr lang="en-US" b="1" i="0" dirty="0" smtClean="0">
                <a:solidFill>
                  <a:srgbClr val="C00000"/>
                </a:solidFill>
                <a:effectLst/>
                <a:latin typeface="fkGroteskNeue"/>
              </a:rPr>
              <a:t>Simplified Schematic:</a:t>
            </a:r>
            <a:r>
              <a:rPr lang="en-US" b="0" i="0" dirty="0" smtClean="0">
                <a:effectLst/>
                <a:latin typeface="fkGroteskNeue"/>
              </a:rPr>
              <a:t/>
            </a:r>
            <a:br>
              <a:rPr lang="en-US" b="0" i="0" dirty="0" smtClean="0">
                <a:effectLst/>
                <a:latin typeface="fkGroteskNeue"/>
              </a:rPr>
            </a:br>
            <a:r>
              <a:rPr lang="en-US" b="0" i="0" dirty="0" smtClean="0">
                <a:effectLst/>
                <a:latin typeface="fkGroteskNeue"/>
              </a:rPr>
              <a:t>Presents the most common modern implementation. This setup nearly always oscillates as long as gm </a:t>
            </a:r>
            <a:r>
              <a:rPr lang="en-US" b="0" i="0" dirty="0" err="1" smtClean="0">
                <a:effectLst/>
                <a:latin typeface="fkGroteskNeue"/>
              </a:rPr>
              <a:t>Rp</a:t>
            </a:r>
            <a:r>
              <a:rPr lang="en-US" b="0" i="0" dirty="0" smtClean="0">
                <a:effectLst/>
                <a:latin typeface="fkGroteskNeue"/>
              </a:rPr>
              <a:t> ≥ 1 and biasing is correct.</a:t>
            </a:r>
          </a:p>
          <a:p>
            <a:pPr marL="285750" indent="-285750">
              <a:buFont typeface="Wingdings" panose="05000000000000000000" pitchFamily="2" charset="2"/>
              <a:buChar char="q"/>
            </a:pPr>
            <a:endParaRPr lang="en-US" b="0" i="0" dirty="0" smtClean="0">
              <a:effectLst/>
              <a:latin typeface="fkGroteskNeue"/>
            </a:endParaRPr>
          </a:p>
          <a:p>
            <a:pPr algn="ctr"/>
            <a:r>
              <a:rPr lang="en-US" b="1" i="0" dirty="0" smtClean="0">
                <a:solidFill>
                  <a:srgbClr val="C00000"/>
                </a:solidFill>
                <a:effectLst/>
                <a:latin typeface="fkGroteskNeue"/>
              </a:rPr>
              <a:t>Intuitive Takeaway:</a:t>
            </a:r>
            <a:r>
              <a:rPr lang="en-US" b="0" i="0" dirty="0" smtClean="0">
                <a:effectLst/>
                <a:latin typeface="fkGroteskNeue"/>
              </a:rPr>
              <a:t/>
            </a:r>
            <a:br>
              <a:rPr lang="en-US" b="0" i="0" dirty="0" smtClean="0">
                <a:effectLst/>
                <a:latin typeface="fkGroteskNeue"/>
              </a:rPr>
            </a:br>
            <a:r>
              <a:rPr lang="en-US" b="0" i="0" dirty="0" smtClean="0">
                <a:effectLst/>
                <a:latin typeface="fkGroteskNeue"/>
              </a:rPr>
              <a:t>Cross-coupled LC oscillators are “fool-proof” because their symmetry, feedback, and operating point guarantee both reliable startup and large output swing</a:t>
            </a:r>
            <a:endParaRPr lang="en-US" b="0" i="0" dirty="0">
              <a:effectLst/>
              <a:latin typeface="fkGroteskNeue"/>
            </a:endParaRPr>
          </a:p>
        </p:txBody>
      </p:sp>
      <p:sp>
        <p:nvSpPr>
          <p:cNvPr id="10"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2376388"/>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Overall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60050" cy="4001095"/>
          </a:xfrm>
        </p:spPr>
        <p:txBody>
          <a:bodyPr/>
          <a:lstStyle/>
          <a:p>
            <a:pPr marL="342900" indent="-342900" algn="l">
              <a:lnSpc>
                <a:spcPct val="150000"/>
              </a:lnSpc>
              <a:buFont typeface="Wingdings" panose="05000000000000000000" pitchFamily="2" charset="2"/>
              <a:buChar char="q"/>
            </a:pPr>
            <a:r>
              <a:rPr lang="en-US" dirty="0" smtClean="0">
                <a:latin typeface="fkGroteskNeue"/>
              </a:rPr>
              <a:t>The </a:t>
            </a:r>
            <a:r>
              <a:rPr lang="en-US" dirty="0">
                <a:latin typeface="fkGroteskNeue"/>
              </a:rPr>
              <a:t>LC tanks filter abrupt switching into sinusoidal voltages: square current in, sine voltage out.</a:t>
            </a:r>
          </a:p>
          <a:p>
            <a:pPr marL="342900" indent="-342900" algn="l">
              <a:lnSpc>
                <a:spcPct val="150000"/>
              </a:lnSpc>
              <a:buFont typeface="Wingdings" panose="05000000000000000000" pitchFamily="2" charset="2"/>
              <a:buChar char="q"/>
            </a:pPr>
            <a:r>
              <a:rPr lang="en-US" dirty="0">
                <a:latin typeface="fkGroteskNeue"/>
              </a:rPr>
              <a:t>Output swing is maximized not by device size, but by bias current and tank resistance, with simple relationships based on waveform harmonics.</a:t>
            </a:r>
          </a:p>
          <a:p>
            <a:pPr marL="342900" indent="-342900" algn="l">
              <a:lnSpc>
                <a:spcPct val="150000"/>
              </a:lnSpc>
              <a:buFont typeface="Wingdings" panose="05000000000000000000" pitchFamily="2" charset="2"/>
              <a:buChar char="q"/>
            </a:pPr>
            <a:r>
              <a:rPr lang="en-US" dirty="0">
                <a:latin typeface="fkGroteskNeue"/>
              </a:rPr>
              <a:t>Proper feedback is essential—cross-coupling creates the necessary phase for startup and clean oscillation.</a:t>
            </a:r>
          </a:p>
          <a:p>
            <a:pPr marL="342900" indent="-342900" algn="l">
              <a:lnSpc>
                <a:spcPct val="150000"/>
              </a:lnSpc>
              <a:buFont typeface="Wingdings" panose="05000000000000000000" pitchFamily="2" charset="2"/>
              <a:buChar char="q"/>
            </a:pPr>
            <a:r>
              <a:rPr lang="en-US" dirty="0">
                <a:latin typeface="fkGroteskNeue"/>
              </a:rPr>
              <a:t>These topologies balance biasing, symmetry, Q, and feedback to deliver the robust oscillators found in every serious PLL or RF system.</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4FDC206-E1D1-4175-A8B5-8820BD002E9F}"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685734" cy="313615"/>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843915979"/>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75862" y="2564296"/>
            <a:ext cx="6649277" cy="198782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1182757" y="4909929"/>
            <a:ext cx="9790043" cy="113306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Lossless LC Tank—Natural </a:t>
            </a:r>
            <a:r>
              <a:rPr lang="en-US" dirty="0" smtClean="0">
                <a:latin typeface="fkGrotesk"/>
              </a:rPr>
              <a:t>Oscillation</a:t>
            </a:r>
            <a:endParaRPr lang="en-US" dirty="0"/>
          </a:p>
        </p:txBody>
      </p:sp>
      <p:sp>
        <p:nvSpPr>
          <p:cNvPr id="3" name="Text Placeholder 2"/>
          <p:cNvSpPr>
            <a:spLocks noGrp="1"/>
          </p:cNvSpPr>
          <p:nvPr>
            <p:ph type="body" idx="1"/>
          </p:nvPr>
        </p:nvSpPr>
        <p:spPr>
          <a:xfrm>
            <a:off x="560916" y="1356986"/>
            <a:ext cx="6004983" cy="3170099"/>
          </a:xfrm>
        </p:spPr>
        <p:txBody>
          <a:bodyPr/>
          <a:lstStyle/>
          <a:p>
            <a:pPr algn="just"/>
            <a:r>
              <a:rPr lang="en-US" dirty="0">
                <a:latin typeface="fkGrotesk"/>
              </a:rPr>
              <a:t> </a:t>
            </a:r>
            <a:r>
              <a:rPr lang="en-US" b="1" dirty="0" smtClean="0">
                <a:solidFill>
                  <a:srgbClr val="FF0000"/>
                </a:solidFill>
                <a:latin typeface="fkGroteskNeue"/>
              </a:rPr>
              <a:t>Concept</a:t>
            </a:r>
            <a:r>
              <a:rPr lang="en-US" b="1" dirty="0">
                <a:solidFill>
                  <a:srgbClr val="FF0000"/>
                </a:solidFill>
                <a:latin typeface="fkGroteskNeue"/>
              </a:rPr>
              <a:t>:</a:t>
            </a:r>
            <a:r>
              <a:rPr lang="en-US" dirty="0">
                <a:latin typeface="fkGroteskNeue"/>
              </a:rPr>
              <a:t> Shows a basic LC oscillator with a charged capacitor </a:t>
            </a:r>
            <a:r>
              <a:rPr lang="en-US" dirty="0" smtClean="0">
                <a:latin typeface="fkGroteskNeue"/>
              </a:rPr>
              <a:t>(</a:t>
            </a:r>
            <a:r>
              <a:rPr lang="en-US" i="1" dirty="0" smtClean="0">
                <a:latin typeface="KaTeX_Math"/>
              </a:rPr>
              <a:t>C</a:t>
            </a:r>
            <a:r>
              <a:rPr lang="en-US" dirty="0" smtClean="0">
                <a:latin typeface="KaTeX_Main"/>
              </a:rPr>
              <a:t>1</a:t>
            </a:r>
            <a:r>
              <a:rPr lang="en-US" dirty="0">
                <a:latin typeface="fkGroteskNeue"/>
              </a:rPr>
              <a:t>) and an inductor </a:t>
            </a:r>
            <a:r>
              <a:rPr lang="en-US" dirty="0" smtClean="0">
                <a:latin typeface="fkGroteskNeue"/>
              </a:rPr>
              <a:t>(</a:t>
            </a:r>
            <a:r>
              <a:rPr lang="en-US" i="1" dirty="0" smtClean="0">
                <a:latin typeface="KaTeX_Math"/>
              </a:rPr>
              <a:t>L</a:t>
            </a:r>
            <a:r>
              <a:rPr lang="en-US" dirty="0" smtClean="0">
                <a:latin typeface="KaTeX_Main"/>
              </a:rPr>
              <a:t>1</a:t>
            </a:r>
            <a:r>
              <a:rPr lang="en-US" dirty="0">
                <a:latin typeface="fkGroteskNeue"/>
              </a:rPr>
              <a:t>), no losses.</a:t>
            </a:r>
          </a:p>
          <a:p>
            <a:pPr algn="ctr"/>
            <a:r>
              <a:rPr lang="en-US" b="1" dirty="0">
                <a:solidFill>
                  <a:srgbClr val="00B050"/>
                </a:solidFill>
                <a:latin typeface="fkGroteskNeue"/>
              </a:rPr>
              <a:t>Process:</a:t>
            </a:r>
          </a:p>
          <a:p>
            <a:pPr marL="742950" lvl="1" indent="-285750" algn="just">
              <a:buFont typeface="Wingdings" panose="05000000000000000000" pitchFamily="2" charset="2"/>
              <a:buChar char="q"/>
            </a:pPr>
            <a:r>
              <a:rPr lang="en-US" dirty="0">
                <a:latin typeface="fkGroteskNeue"/>
              </a:rPr>
              <a:t>Initially, all energy is in the capacitor as electric energy </a:t>
            </a:r>
            <a:r>
              <a:rPr lang="en-US" dirty="0" smtClean="0">
                <a:latin typeface="fkGroteskNeue"/>
              </a:rPr>
              <a:t>(</a:t>
            </a:r>
            <a:r>
              <a:rPr lang="en-US" i="1" dirty="0" smtClean="0">
                <a:latin typeface="KaTeX_Math"/>
              </a:rPr>
              <a:t>V</a:t>
            </a:r>
            <a:r>
              <a:rPr lang="en-US" dirty="0" smtClean="0">
                <a:latin typeface="KaTeX_Main"/>
              </a:rPr>
              <a:t>0</a:t>
            </a:r>
            <a:r>
              <a:rPr lang="en-US" dirty="0">
                <a:latin typeface="fkGroteskNeue"/>
              </a:rPr>
              <a:t> across </a:t>
            </a:r>
            <a:r>
              <a:rPr lang="en-US" i="1" dirty="0" smtClean="0">
                <a:latin typeface="KaTeX_Math"/>
              </a:rPr>
              <a:t>C</a:t>
            </a:r>
            <a:r>
              <a:rPr lang="en-US" dirty="0" smtClean="0">
                <a:latin typeface="KaTeX_Main"/>
              </a:rPr>
              <a:t>1</a:t>
            </a:r>
            <a:r>
              <a:rPr lang="en-US" dirty="0">
                <a:latin typeface="fkGroteskNeue"/>
              </a:rPr>
              <a:t>).</a:t>
            </a:r>
          </a:p>
          <a:p>
            <a:pPr marL="742950" lvl="1" indent="-285750" algn="just">
              <a:buFont typeface="Wingdings" panose="05000000000000000000" pitchFamily="2" charset="2"/>
              <a:buChar char="q"/>
            </a:pPr>
            <a:r>
              <a:rPr lang="en-US" dirty="0">
                <a:latin typeface="fkGroteskNeue"/>
              </a:rPr>
              <a:t>As the circuit is released, this energy converts to magnetic form in </a:t>
            </a:r>
            <a:r>
              <a:rPr lang="en-US" i="1" dirty="0" smtClean="0">
                <a:latin typeface="KaTeX_Math"/>
              </a:rPr>
              <a:t>L</a:t>
            </a:r>
            <a:r>
              <a:rPr lang="en-US" dirty="0" smtClean="0">
                <a:latin typeface="KaTeX_Main"/>
              </a:rPr>
              <a:t>1</a:t>
            </a:r>
            <a:r>
              <a:rPr lang="en-US" dirty="0">
                <a:latin typeface="fkGroteskNeue"/>
              </a:rPr>
              <a:t>, making current flow.</a:t>
            </a:r>
          </a:p>
          <a:p>
            <a:pPr marL="742950" lvl="1" indent="-285750" algn="just">
              <a:buFont typeface="Wingdings" panose="05000000000000000000" pitchFamily="2" charset="2"/>
              <a:buChar char="q"/>
            </a:pPr>
            <a:r>
              <a:rPr lang="en-US" dirty="0">
                <a:latin typeface="fkGroteskNeue"/>
              </a:rPr>
              <a:t>The process reverses cyclically, swapping energy between C and L, causing sinusoidal voltage oscillation </a:t>
            </a:r>
            <a:r>
              <a:rPr lang="en-US" dirty="0" smtClean="0">
                <a:latin typeface="fkGroteskNeue"/>
              </a:rPr>
              <a:t>(</a:t>
            </a:r>
            <a:r>
              <a:rPr lang="en-US" i="1" dirty="0" err="1" smtClean="0">
                <a:latin typeface="KaTeX_Math"/>
              </a:rPr>
              <a:t>Vout</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75E95969-BF58-42CB-937F-07C0BCA005AF}"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37702" cy="262337"/>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221089" y="477079"/>
            <a:ext cx="3886318" cy="3588026"/>
          </a:xfrm>
          <a:prstGeom prst="rect">
            <a:avLst/>
          </a:prstGeom>
        </p:spPr>
      </p:pic>
      <p:sp>
        <p:nvSpPr>
          <p:cNvPr id="8" name="Rectangle 7"/>
          <p:cNvSpPr/>
          <p:nvPr/>
        </p:nvSpPr>
        <p:spPr>
          <a:xfrm>
            <a:off x="8365311" y="4115856"/>
            <a:ext cx="3826689" cy="253916"/>
          </a:xfrm>
          <a:prstGeom prst="rect">
            <a:avLst/>
          </a:prstGeom>
        </p:spPr>
        <p:txBody>
          <a:bodyPr wrap="none">
            <a:spAutoFit/>
          </a:bodyPr>
          <a:lstStyle/>
          <a:p>
            <a:r>
              <a:rPr lang="en-US" sz="1050" b="1" i="0" u="none" strike="noStrike" baseline="0" dirty="0" smtClean="0">
                <a:solidFill>
                  <a:srgbClr val="FF0000"/>
                </a:solidFill>
                <a:latin typeface="T3Font_336"/>
              </a:rPr>
              <a:t>(a) Response of a lossless LC tank to an initial condition,</a:t>
            </a:r>
            <a:endParaRPr lang="en-US" sz="2800" b="1" dirty="0">
              <a:solidFill>
                <a:srgbClr val="FF0000"/>
              </a:solidFill>
            </a:endParaRPr>
          </a:p>
        </p:txBody>
      </p:sp>
      <p:sp>
        <p:nvSpPr>
          <p:cNvPr id="9" name="Rectangle 8"/>
          <p:cNvSpPr/>
          <p:nvPr/>
        </p:nvSpPr>
        <p:spPr>
          <a:xfrm>
            <a:off x="1070114" y="4955810"/>
            <a:ext cx="9843052" cy="923330"/>
          </a:xfrm>
          <a:prstGeom prst="rect">
            <a:avLst/>
          </a:prstGeom>
        </p:spPr>
        <p:txBody>
          <a:bodyPr wrap="square">
            <a:spAutoFit/>
          </a:bodyPr>
          <a:lstStyle/>
          <a:p>
            <a:pPr algn="ctr"/>
            <a:r>
              <a:rPr lang="en-US" b="1" dirty="0">
                <a:solidFill>
                  <a:srgbClr val="00B050"/>
                </a:solidFill>
                <a:latin typeface="fkGroteskNeue"/>
              </a:rPr>
              <a:t>Key Insight:</a:t>
            </a:r>
            <a:r>
              <a:rPr lang="en-US" dirty="0">
                <a:latin typeface="fkGroteskNeue"/>
              </a:rPr>
              <a:t/>
            </a:r>
            <a:br>
              <a:rPr lang="en-US" dirty="0">
                <a:latin typeface="fkGroteskNeue"/>
              </a:rPr>
            </a:br>
            <a:r>
              <a:rPr lang="en-US" dirty="0">
                <a:latin typeface="fkGroteskNeue"/>
              </a:rPr>
              <a:t>In a perfect LC (no loss), this oscillation would continue forever. The voltage alternates smoothly, just like an </a:t>
            </a:r>
            <a:r>
              <a:rPr lang="en-US" dirty="0" err="1">
                <a:latin typeface="fkGroteskNeue"/>
              </a:rPr>
              <a:t>undamped</a:t>
            </a:r>
            <a:r>
              <a:rPr lang="en-US" dirty="0">
                <a:latin typeface="fkGroteskNeue"/>
              </a:rPr>
              <a:t> pendulum swinging back and forth</a:t>
            </a:r>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435715172"/>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434548" y="4823792"/>
            <a:ext cx="10015330" cy="146105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1202635" y="2623931"/>
            <a:ext cx="6052930" cy="146105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err="1">
                <a:latin typeface="fkGrotesk"/>
              </a:rPr>
              <a:t>Lossy</a:t>
            </a:r>
            <a:r>
              <a:rPr lang="en-US" dirty="0">
                <a:latin typeface="fkGrotesk"/>
              </a:rPr>
              <a:t> LC Tank—Oscillation </a:t>
            </a:r>
            <a:r>
              <a:rPr lang="en-US" dirty="0" smtClean="0">
                <a:latin typeface="fkGrotesk"/>
              </a:rPr>
              <a:t>Decay</a:t>
            </a:r>
            <a:endParaRPr lang="en-US" dirty="0"/>
          </a:p>
        </p:txBody>
      </p:sp>
      <p:sp>
        <p:nvSpPr>
          <p:cNvPr id="3" name="Text Placeholder 2"/>
          <p:cNvSpPr>
            <a:spLocks noGrp="1"/>
          </p:cNvSpPr>
          <p:nvPr>
            <p:ph type="body" idx="1"/>
          </p:nvPr>
        </p:nvSpPr>
        <p:spPr>
          <a:xfrm>
            <a:off x="844550" y="1327353"/>
            <a:ext cx="6550163" cy="2631490"/>
          </a:xfrm>
        </p:spPr>
        <p:txBody>
          <a:bodyPr/>
          <a:lstStyle/>
          <a:p>
            <a:pPr algn="l">
              <a:lnSpc>
                <a:spcPct val="150000"/>
              </a:lnSpc>
            </a:pPr>
            <a:r>
              <a:rPr lang="en-US" dirty="0">
                <a:latin typeface="fkGrotesk"/>
              </a:rPr>
              <a:t> </a:t>
            </a:r>
            <a:r>
              <a:rPr lang="en-US" dirty="0" smtClean="0">
                <a:latin typeface="fkGroteskNeue"/>
              </a:rPr>
              <a:t>Concept</a:t>
            </a:r>
            <a:r>
              <a:rPr lang="en-US" dirty="0">
                <a:latin typeface="fkGroteskNeue"/>
              </a:rPr>
              <a:t>: Adds a resistor </a:t>
            </a:r>
            <a:r>
              <a:rPr lang="en-US" dirty="0" smtClean="0">
                <a:latin typeface="fkGroteskNeue"/>
              </a:rPr>
              <a:t>(</a:t>
            </a:r>
            <a:r>
              <a:rPr lang="en-US" i="1" dirty="0" err="1" smtClean="0">
                <a:latin typeface="KaTeX_Math"/>
              </a:rPr>
              <a:t>Rp</a:t>
            </a:r>
            <a:r>
              <a:rPr lang="en-US" dirty="0">
                <a:latin typeface="fkGroteskNeue"/>
              </a:rPr>
              <a:t>) in parallel with the LC tank to model energy loss.</a:t>
            </a:r>
          </a:p>
          <a:p>
            <a:pPr algn="ctr">
              <a:lnSpc>
                <a:spcPct val="150000"/>
              </a:lnSpc>
            </a:pPr>
            <a:r>
              <a:rPr lang="en-US" b="1" dirty="0">
                <a:solidFill>
                  <a:srgbClr val="C00000"/>
                </a:solidFill>
                <a:latin typeface="fkGroteskNeue"/>
              </a:rPr>
              <a:t>Process:</a:t>
            </a:r>
          </a:p>
          <a:p>
            <a:pPr marL="742950" lvl="1" indent="-285750" algn="l">
              <a:lnSpc>
                <a:spcPct val="150000"/>
              </a:lnSpc>
              <a:buFont typeface="Wingdings" panose="05000000000000000000" pitchFamily="2" charset="2"/>
              <a:buChar char="q"/>
            </a:pPr>
            <a:r>
              <a:rPr lang="en-US" dirty="0">
                <a:latin typeface="fkGroteskNeue"/>
              </a:rPr>
              <a:t>Some energy is now dissipated as heat each cycle.</a:t>
            </a:r>
          </a:p>
          <a:p>
            <a:pPr marL="742950" lvl="1" indent="-285750" algn="l">
              <a:lnSpc>
                <a:spcPct val="150000"/>
              </a:lnSpc>
              <a:buFont typeface="Wingdings" panose="05000000000000000000" pitchFamily="2" charset="2"/>
              <a:buChar char="q"/>
            </a:pPr>
            <a:r>
              <a:rPr lang="en-US" dirty="0">
                <a:latin typeface="fkGroteskNeue"/>
              </a:rPr>
              <a:t>The amplitude of the oscillation </a:t>
            </a:r>
            <a:r>
              <a:rPr lang="en-US" dirty="0" smtClean="0">
                <a:latin typeface="fkGroteskNeue"/>
              </a:rPr>
              <a:t>(</a:t>
            </a:r>
            <a:r>
              <a:rPr lang="en-US" i="1" dirty="0" err="1" smtClean="0">
                <a:latin typeface="KaTeX_Math"/>
              </a:rPr>
              <a:t>Vout</a:t>
            </a:r>
            <a:r>
              <a:rPr lang="en-US" dirty="0">
                <a:latin typeface="fkGroteskNeue"/>
              </a:rPr>
              <a:t>) decreases with time (exponential decay</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E6F4369-5171-41D3-A6B1-9860EDCB1914}"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70070" cy="294705"/>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60142" y="89515"/>
            <a:ext cx="4107787" cy="3944923"/>
          </a:xfrm>
          <a:prstGeom prst="rect">
            <a:avLst/>
          </a:prstGeom>
        </p:spPr>
      </p:pic>
      <p:sp>
        <p:nvSpPr>
          <p:cNvPr id="8" name="Rectangle 7"/>
          <p:cNvSpPr/>
          <p:nvPr/>
        </p:nvSpPr>
        <p:spPr>
          <a:xfrm>
            <a:off x="8061380" y="4180645"/>
            <a:ext cx="3390672" cy="369332"/>
          </a:xfrm>
          <a:prstGeom prst="rect">
            <a:avLst/>
          </a:prstGeom>
        </p:spPr>
        <p:txBody>
          <a:bodyPr wrap="none">
            <a:spAutoFit/>
          </a:bodyPr>
          <a:lstStyle/>
          <a:p>
            <a:r>
              <a:rPr lang="en-US" b="1" dirty="0">
                <a:solidFill>
                  <a:srgbClr val="FF0000"/>
                </a:solidFill>
                <a:latin typeface="T3Font_336"/>
              </a:rPr>
              <a:t>R</a:t>
            </a:r>
            <a:r>
              <a:rPr lang="en-US" b="1" i="0" u="none" strike="noStrike" baseline="0" dirty="0" smtClean="0">
                <a:solidFill>
                  <a:srgbClr val="FF0000"/>
                </a:solidFill>
                <a:latin typeface="T3Font_336"/>
              </a:rPr>
              <a:t>esponse of a </a:t>
            </a:r>
            <a:r>
              <a:rPr lang="en-US" b="1" i="0" u="none" strike="noStrike" baseline="0" dirty="0" err="1" smtClean="0">
                <a:solidFill>
                  <a:srgbClr val="FF0000"/>
                </a:solidFill>
                <a:latin typeface="T3Font_336"/>
              </a:rPr>
              <a:t>lossy</a:t>
            </a:r>
            <a:r>
              <a:rPr lang="en-US" b="1" i="0" u="none" strike="noStrike" baseline="0" dirty="0" smtClean="0">
                <a:solidFill>
                  <a:srgbClr val="FF0000"/>
                </a:solidFill>
                <a:latin typeface="T3Font_336"/>
              </a:rPr>
              <a:t> LC tank,</a:t>
            </a:r>
            <a:endParaRPr lang="en-US" sz="4800" b="1" dirty="0">
              <a:solidFill>
                <a:srgbClr val="FF0000"/>
              </a:solidFill>
            </a:endParaRPr>
          </a:p>
        </p:txBody>
      </p:sp>
      <p:sp>
        <p:nvSpPr>
          <p:cNvPr id="10" name="Rectangle 9"/>
          <p:cNvSpPr/>
          <p:nvPr/>
        </p:nvSpPr>
        <p:spPr>
          <a:xfrm>
            <a:off x="1427921" y="4817958"/>
            <a:ext cx="10061713" cy="1338828"/>
          </a:xfrm>
          <a:prstGeom prst="rect">
            <a:avLst/>
          </a:prstGeom>
        </p:spPr>
        <p:txBody>
          <a:bodyPr wrap="square">
            <a:spAutoFit/>
          </a:bodyPr>
          <a:lstStyle/>
          <a:p>
            <a:pPr algn="ctr">
              <a:lnSpc>
                <a:spcPct val="150000"/>
              </a:lnSpc>
            </a:pPr>
            <a:r>
              <a:rPr lang="en-US" b="1" dirty="0">
                <a:solidFill>
                  <a:srgbClr val="C00000"/>
                </a:solidFill>
                <a:latin typeface="fkGroteskNeue"/>
              </a:rPr>
              <a:t>Key Insight:</a:t>
            </a:r>
            <a:r>
              <a:rPr lang="en-US" dirty="0">
                <a:latin typeface="fkGroteskNeue"/>
              </a:rPr>
              <a:t/>
            </a:r>
            <a:br>
              <a:rPr lang="en-US" dirty="0">
                <a:latin typeface="fkGroteskNeue"/>
              </a:rPr>
            </a:br>
            <a:r>
              <a:rPr lang="en-US" dirty="0">
                <a:latin typeface="fkGroteskNeue"/>
              </a:rPr>
              <a:t>Like a pendulum slowed by air resistance, real LC tanks lose energy. Once released, oscillations will slowly die away unless energy is “tapped in” externally.</a:t>
            </a:r>
          </a:p>
        </p:txBody>
      </p:sp>
      <p:sp>
        <p:nvSpPr>
          <p:cNvPr id="12"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616176741"/>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858078" y="4719430"/>
            <a:ext cx="10780643" cy="160517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1133061" y="2599082"/>
            <a:ext cx="5923722" cy="160517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40316" y="0"/>
            <a:ext cx="10593196" cy="1046440"/>
          </a:xfrm>
        </p:spPr>
        <p:txBody>
          <a:bodyPr/>
          <a:lstStyle/>
          <a:p>
            <a:r>
              <a:rPr lang="en-US" dirty="0">
                <a:latin typeface="fkGrotesk"/>
              </a:rPr>
              <a:t>Tapping the Tank—Sustained Oscillation with Negative </a:t>
            </a:r>
            <a:r>
              <a:rPr lang="en-US" dirty="0" smtClean="0">
                <a:latin typeface="fkGrotesk"/>
              </a:rPr>
              <a:t>Resistance</a:t>
            </a:r>
            <a:endParaRPr lang="en-US" dirty="0"/>
          </a:p>
        </p:txBody>
      </p:sp>
      <p:sp>
        <p:nvSpPr>
          <p:cNvPr id="3" name="Text Placeholder 2"/>
          <p:cNvSpPr>
            <a:spLocks noGrp="1"/>
          </p:cNvSpPr>
          <p:nvPr>
            <p:ph type="body" idx="1"/>
          </p:nvPr>
        </p:nvSpPr>
        <p:spPr>
          <a:xfrm>
            <a:off x="844550" y="1327353"/>
            <a:ext cx="5730875" cy="2893100"/>
          </a:xfrm>
        </p:spPr>
        <p:txBody>
          <a:bodyPr/>
          <a:lstStyle/>
          <a:p>
            <a:pPr algn="ctr"/>
            <a:r>
              <a:rPr lang="en-US" b="1" dirty="0" smtClean="0">
                <a:solidFill>
                  <a:srgbClr val="C00000"/>
                </a:solidFill>
                <a:latin typeface="fkGroteskNeue"/>
              </a:rPr>
              <a:t>Concept</a:t>
            </a:r>
            <a:r>
              <a:rPr lang="en-US" b="1" dirty="0">
                <a:solidFill>
                  <a:srgbClr val="C00000"/>
                </a:solidFill>
                <a:latin typeface="fkGroteskNeue"/>
              </a:rPr>
              <a:t>:</a:t>
            </a:r>
            <a:r>
              <a:rPr lang="en-US" dirty="0">
                <a:latin typeface="fkGroteskNeue"/>
              </a:rPr>
              <a:t> Shows the addition of a negative resistance </a:t>
            </a:r>
            <a:r>
              <a:rPr lang="en-US" dirty="0" smtClean="0">
                <a:latin typeface="fkGroteskNeue"/>
              </a:rPr>
              <a:t>(</a:t>
            </a:r>
            <a:r>
              <a:rPr lang="en-US" dirty="0" smtClean="0">
                <a:latin typeface="KaTeX_Main"/>
              </a:rPr>
              <a:t>−</a:t>
            </a:r>
            <a:r>
              <a:rPr lang="en-US" i="1" dirty="0" err="1">
                <a:latin typeface="KaTeX_Math"/>
              </a:rPr>
              <a:t>Rp</a:t>
            </a:r>
            <a:r>
              <a:rPr lang="en-US" dirty="0">
                <a:latin typeface="fkGroteskNeue"/>
              </a:rPr>
              <a:t>) in parallel to the tank.</a:t>
            </a:r>
          </a:p>
          <a:p>
            <a:pPr marL="342900" indent="-342900" algn="l">
              <a:buFont typeface="Arial" panose="020B0604020202020204" pitchFamily="34" charset="0"/>
              <a:buChar char="•"/>
            </a:pPr>
            <a:endParaRPr lang="en-US" dirty="0" smtClean="0">
              <a:latin typeface="fkGroteskNeue"/>
            </a:endParaRPr>
          </a:p>
          <a:p>
            <a:pPr algn="ctr"/>
            <a:r>
              <a:rPr lang="en-US" b="1" dirty="0" smtClean="0">
                <a:solidFill>
                  <a:srgbClr val="C00000"/>
                </a:solidFill>
                <a:latin typeface="fkGroteskNeue"/>
              </a:rPr>
              <a:t>Process</a:t>
            </a:r>
            <a:r>
              <a:rPr lang="en-US" b="1" dirty="0">
                <a:solidFill>
                  <a:srgbClr val="C00000"/>
                </a:solidFill>
                <a:latin typeface="fkGroteskNeue"/>
              </a:rPr>
              <a:t>:</a:t>
            </a:r>
          </a:p>
          <a:p>
            <a:pPr marL="742950" lvl="1" indent="-285750" algn="just">
              <a:lnSpc>
                <a:spcPct val="150000"/>
              </a:lnSpc>
              <a:buFont typeface="Wingdings" panose="05000000000000000000" pitchFamily="2" charset="2"/>
              <a:buChar char="q"/>
            </a:pPr>
            <a:r>
              <a:rPr lang="en-US" dirty="0">
                <a:latin typeface="fkGroteskNeue"/>
              </a:rPr>
              <a:t>This negative resistance exactly cancels out the tank loss </a:t>
            </a:r>
            <a:r>
              <a:rPr lang="en-US" dirty="0" smtClean="0">
                <a:latin typeface="fkGroteskNeue"/>
              </a:rPr>
              <a:t>(</a:t>
            </a:r>
            <a:r>
              <a:rPr lang="en-US" i="1" dirty="0" err="1" smtClean="0">
                <a:latin typeface="KaTeX_Math"/>
              </a:rPr>
              <a:t>Rp</a:t>
            </a:r>
            <a:r>
              <a:rPr lang="en-US" dirty="0">
                <a:latin typeface="fkGroteskNeue"/>
              </a:rPr>
              <a:t>), so the circuit becomes lossless.</a:t>
            </a:r>
          </a:p>
          <a:p>
            <a:pPr marL="742950" lvl="1" indent="-285750" algn="just">
              <a:lnSpc>
                <a:spcPct val="150000"/>
              </a:lnSpc>
              <a:buFont typeface="Wingdings" panose="05000000000000000000" pitchFamily="2" charset="2"/>
              <a:buChar char="q"/>
            </a:pPr>
            <a:r>
              <a:rPr lang="en-US" dirty="0">
                <a:latin typeface="fkGroteskNeue"/>
              </a:rPr>
              <a:t>The oscillation in </a:t>
            </a:r>
            <a:r>
              <a:rPr lang="en-US" i="1" dirty="0" err="1" smtClean="0">
                <a:latin typeface="KaTeX_Math"/>
              </a:rPr>
              <a:t>Vout</a:t>
            </a:r>
            <a:r>
              <a:rPr lang="en-US" dirty="0">
                <a:latin typeface="fkGroteskNeue"/>
              </a:rPr>
              <a:t> now remains steady (constant amplitude)—no more decay</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a:xfrm>
            <a:off x="643315" y="640523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2CE2B5D-97D0-489F-A93D-617DD51E3B1E}"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102075" y="6355541"/>
            <a:ext cx="437255" cy="263920"/>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311933" y="1156683"/>
            <a:ext cx="3587934" cy="2902099"/>
          </a:xfrm>
          <a:prstGeom prst="rect">
            <a:avLst/>
          </a:prstGeom>
        </p:spPr>
      </p:pic>
      <p:sp>
        <p:nvSpPr>
          <p:cNvPr id="8" name="Rectangle 7"/>
          <p:cNvSpPr/>
          <p:nvPr/>
        </p:nvSpPr>
        <p:spPr>
          <a:xfrm>
            <a:off x="7480300" y="4127556"/>
            <a:ext cx="3306233" cy="246221"/>
          </a:xfrm>
          <a:prstGeom prst="rect">
            <a:avLst/>
          </a:prstGeom>
        </p:spPr>
        <p:txBody>
          <a:bodyPr wrap="square">
            <a:spAutoFit/>
          </a:bodyPr>
          <a:lstStyle/>
          <a:p>
            <a:r>
              <a:rPr lang="en-US" sz="1000" b="1" dirty="0">
                <a:solidFill>
                  <a:srgbClr val="FF0000"/>
                </a:solidFill>
                <a:latin typeface="T3Font_336"/>
              </a:rPr>
              <a:t>U</a:t>
            </a:r>
            <a:r>
              <a:rPr lang="en-US" sz="1000" b="1" i="0" u="none" strike="noStrike" baseline="0" dirty="0" smtClean="0">
                <a:solidFill>
                  <a:srgbClr val="FF0000"/>
                </a:solidFill>
                <a:latin typeface="T3Font_336"/>
              </a:rPr>
              <a:t>se of a</a:t>
            </a:r>
            <a:r>
              <a:rPr lang="en-US" sz="1000" b="1" i="0" u="none" strike="noStrike" dirty="0" smtClean="0">
                <a:solidFill>
                  <a:srgbClr val="FF0000"/>
                </a:solidFill>
                <a:latin typeface="T3Font_336"/>
              </a:rPr>
              <a:t> </a:t>
            </a:r>
            <a:r>
              <a:rPr lang="en-US" sz="1000" b="1" i="0" u="none" strike="noStrike" baseline="0" dirty="0" smtClean="0">
                <a:solidFill>
                  <a:srgbClr val="FF0000"/>
                </a:solidFill>
                <a:latin typeface="T3Font_336"/>
              </a:rPr>
              <a:t>negative resistance to sustain</a:t>
            </a:r>
            <a:r>
              <a:rPr lang="en-US" sz="1000" b="1" i="0" u="none" strike="noStrike" dirty="0" smtClean="0">
                <a:solidFill>
                  <a:srgbClr val="FF0000"/>
                </a:solidFill>
                <a:latin typeface="T3Font_336"/>
              </a:rPr>
              <a:t> </a:t>
            </a:r>
            <a:r>
              <a:rPr lang="en-US" sz="1000" b="1" i="0" u="none" strike="noStrike" baseline="0" dirty="0" smtClean="0">
                <a:solidFill>
                  <a:srgbClr val="FF0000"/>
                </a:solidFill>
                <a:latin typeface="T3Font_336"/>
              </a:rPr>
              <a:t>oscillation.</a:t>
            </a:r>
            <a:endParaRPr lang="en-US" sz="2400" b="1" dirty="0">
              <a:solidFill>
                <a:srgbClr val="FF0000"/>
              </a:solidFill>
            </a:endParaRPr>
          </a:p>
        </p:txBody>
      </p:sp>
      <p:sp>
        <p:nvSpPr>
          <p:cNvPr id="10" name="Rectangle 9"/>
          <p:cNvSpPr/>
          <p:nvPr/>
        </p:nvSpPr>
        <p:spPr>
          <a:xfrm>
            <a:off x="752059" y="4658933"/>
            <a:ext cx="10956235" cy="1749197"/>
          </a:xfrm>
          <a:prstGeom prst="rect">
            <a:avLst/>
          </a:prstGeom>
        </p:spPr>
        <p:txBody>
          <a:bodyPr wrap="square">
            <a:spAutoFit/>
          </a:bodyPr>
          <a:lstStyle/>
          <a:p>
            <a:pPr algn="ctr">
              <a:lnSpc>
                <a:spcPct val="150000"/>
              </a:lnSpc>
            </a:pPr>
            <a:r>
              <a:rPr lang="en-US" sz="2000" b="1" dirty="0">
                <a:solidFill>
                  <a:srgbClr val="C00000"/>
                </a:solidFill>
                <a:latin typeface="fkGroteskNeue"/>
              </a:rPr>
              <a:t>Key Insight:</a:t>
            </a:r>
            <a:r>
              <a:rPr lang="en-US" dirty="0">
                <a:latin typeface="fkGroteskNeue"/>
              </a:rPr>
              <a:t/>
            </a:r>
            <a:br>
              <a:rPr lang="en-US" dirty="0">
                <a:latin typeface="fkGroteskNeue"/>
              </a:rPr>
            </a:br>
            <a:r>
              <a:rPr lang="en-US" dirty="0">
                <a:latin typeface="fkGroteskNeue"/>
              </a:rPr>
              <a:t>Negative resistance is a “mathematical tap” that replenishes lost energy each cycle. In practical LC oscillators, an active circuit (like a cross-coupled transistor pair) supplies this negative resistance, allowing continuous, </a:t>
            </a:r>
            <a:r>
              <a:rPr lang="en-US" dirty="0" err="1">
                <a:latin typeface="fkGroteskNeue"/>
              </a:rPr>
              <a:t>undamped</a:t>
            </a:r>
            <a:r>
              <a:rPr lang="en-US" dirty="0">
                <a:latin typeface="fkGroteskNeue"/>
              </a:rPr>
              <a:t> oscillation.</a:t>
            </a:r>
          </a:p>
        </p:txBody>
      </p:sp>
      <p:sp>
        <p:nvSpPr>
          <p:cNvPr id="13"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744080221"/>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818321" y="4711147"/>
            <a:ext cx="11098695" cy="1342611"/>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775253" y="2765563"/>
            <a:ext cx="6708912" cy="160517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Circuit Exhibiting Negative </a:t>
            </a:r>
            <a:r>
              <a:rPr lang="en-US" dirty="0" smtClean="0">
                <a:latin typeface="fkGrotesk"/>
              </a:rPr>
              <a:t>Resistance</a:t>
            </a:r>
            <a:endParaRPr lang="en-US" dirty="0"/>
          </a:p>
        </p:txBody>
      </p:sp>
      <p:sp>
        <p:nvSpPr>
          <p:cNvPr id="3" name="Text Placeholder 2"/>
          <p:cNvSpPr>
            <a:spLocks noGrp="1"/>
          </p:cNvSpPr>
          <p:nvPr>
            <p:ph type="body" idx="1"/>
          </p:nvPr>
        </p:nvSpPr>
        <p:spPr>
          <a:xfrm>
            <a:off x="844550" y="1327353"/>
            <a:ext cx="6371259" cy="3077766"/>
          </a:xfrm>
        </p:spPr>
        <p:txBody>
          <a:bodyPr/>
          <a:lstStyle/>
          <a:p>
            <a:pPr algn="just"/>
            <a:r>
              <a:rPr lang="en-US" b="1" dirty="0" smtClean="0">
                <a:solidFill>
                  <a:srgbClr val="C00000"/>
                </a:solidFill>
                <a:latin typeface="fkGroteskNeue"/>
              </a:rPr>
              <a:t>Concept</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A MOS transistor </a:t>
            </a:r>
            <a:r>
              <a:rPr lang="en-US" dirty="0" smtClean="0">
                <a:latin typeface="fkGroteskNeue"/>
              </a:rPr>
              <a:t>(</a:t>
            </a:r>
            <a:r>
              <a:rPr lang="en-US" i="1" dirty="0" smtClean="0">
                <a:latin typeface="KaTeX_Math"/>
              </a:rPr>
              <a:t>M</a:t>
            </a:r>
            <a:r>
              <a:rPr lang="en-US" baseline="-25000" dirty="0" smtClean="0">
                <a:latin typeface="KaTeX_Main"/>
              </a:rPr>
              <a:t>1</a:t>
            </a:r>
            <a:r>
              <a:rPr lang="en-US" dirty="0">
                <a:latin typeface="fkGroteskNeue"/>
              </a:rPr>
              <a:t>) and two capacitors </a:t>
            </a:r>
            <a:r>
              <a:rPr lang="en-US" dirty="0" smtClean="0">
                <a:latin typeface="fkGroteskNeue"/>
              </a:rPr>
              <a:t>(</a:t>
            </a:r>
            <a:r>
              <a:rPr lang="en-US" i="1" dirty="0" smtClean="0">
                <a:latin typeface="KaTeX_Math"/>
              </a:rPr>
              <a:t>C</a:t>
            </a:r>
            <a:r>
              <a:rPr lang="en-US" baseline="-25000" dirty="0" smtClean="0">
                <a:latin typeface="KaTeX_Main"/>
              </a:rPr>
              <a:t>1</a:t>
            </a:r>
            <a:r>
              <a:rPr lang="en-US" dirty="0">
                <a:latin typeface="fkGroteskNeue"/>
              </a:rPr>
              <a:t>, </a:t>
            </a:r>
            <a:r>
              <a:rPr lang="en-US" i="1" dirty="0" smtClean="0">
                <a:latin typeface="KaTeX_Math"/>
              </a:rPr>
              <a:t>C</a:t>
            </a:r>
            <a:r>
              <a:rPr lang="en-US" baseline="-25000" dirty="0" smtClean="0">
                <a:latin typeface="KaTeX_Main"/>
              </a:rPr>
              <a:t>2</a:t>
            </a:r>
            <a:r>
              <a:rPr lang="en-US" dirty="0">
                <a:latin typeface="fkGroteskNeue"/>
              </a:rPr>
              <a:t>) arranged so current between X and Y can flow either direction. No DC ground for the source</a:t>
            </a:r>
            <a:r>
              <a:rPr lang="en-US" dirty="0" smtClean="0">
                <a:latin typeface="fkGroteskNeue"/>
              </a:rPr>
              <a:t>.</a:t>
            </a:r>
          </a:p>
          <a:p>
            <a:pPr algn="just"/>
            <a:endParaRPr lang="en-US" dirty="0">
              <a:latin typeface="fkGroteskNeue"/>
            </a:endParaRPr>
          </a:p>
          <a:p>
            <a:pPr algn="ctr"/>
            <a:r>
              <a:rPr lang="en-US" b="1" dirty="0">
                <a:solidFill>
                  <a:srgbClr val="C00000"/>
                </a:solidFill>
                <a:latin typeface="fkGroteskNeue"/>
              </a:rPr>
              <a:t>Fundamental Insight</a:t>
            </a:r>
            <a:r>
              <a:rPr lang="en-US" b="1" dirty="0" smtClean="0">
                <a:solidFill>
                  <a:srgbClr val="C00000"/>
                </a:solidFill>
                <a:latin typeface="fkGroteskNeue"/>
              </a:rPr>
              <a:t>:</a:t>
            </a:r>
          </a:p>
          <a:p>
            <a:pPr algn="just"/>
            <a:r>
              <a:rPr lang="en-US" dirty="0" smtClean="0">
                <a:latin typeface="fkGroteskNeue"/>
              </a:rPr>
              <a:t>This </a:t>
            </a:r>
            <a:r>
              <a:rPr lang="en-US" dirty="0">
                <a:latin typeface="fkGroteskNeue"/>
              </a:rPr>
              <a:t>structure can provide a negative resistance between X and Y (as the small-signal current flows “backward” to compensate losses in a resonator</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097EED8-02CA-4237-8E4A-F1CA9BB74FC3}"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655916" cy="323555"/>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87732" y="1242403"/>
            <a:ext cx="3093601" cy="2661045"/>
          </a:xfrm>
          <a:prstGeom prst="rect">
            <a:avLst/>
          </a:prstGeom>
        </p:spPr>
      </p:pic>
      <p:sp>
        <p:nvSpPr>
          <p:cNvPr id="8" name="Rectangle 7"/>
          <p:cNvSpPr/>
          <p:nvPr/>
        </p:nvSpPr>
        <p:spPr>
          <a:xfrm>
            <a:off x="8065006" y="4074812"/>
            <a:ext cx="2606804" cy="253916"/>
          </a:xfrm>
          <a:prstGeom prst="rect">
            <a:avLst/>
          </a:prstGeom>
        </p:spPr>
        <p:txBody>
          <a:bodyPr wrap="none">
            <a:spAutoFit/>
          </a:bodyPr>
          <a:lstStyle/>
          <a:p>
            <a:r>
              <a:rPr lang="en-US" sz="1050" b="1" i="0" u="none" strike="noStrike" baseline="0" dirty="0" smtClean="0">
                <a:solidFill>
                  <a:srgbClr val="FF0000"/>
                </a:solidFill>
                <a:latin typeface="T3Font_347"/>
              </a:rPr>
              <a:t>Circuit exhibiting negative resistance.</a:t>
            </a:r>
            <a:endParaRPr lang="en-US" sz="2800" b="1" dirty="0">
              <a:solidFill>
                <a:srgbClr val="FF0000"/>
              </a:solidFill>
            </a:endParaRPr>
          </a:p>
        </p:txBody>
      </p:sp>
      <p:sp>
        <p:nvSpPr>
          <p:cNvPr id="10" name="Rectangle 9"/>
          <p:cNvSpPr/>
          <p:nvPr/>
        </p:nvSpPr>
        <p:spPr>
          <a:xfrm>
            <a:off x="785192" y="4698689"/>
            <a:ext cx="10893286" cy="1323439"/>
          </a:xfrm>
          <a:prstGeom prst="rect">
            <a:avLst/>
          </a:prstGeom>
        </p:spPr>
        <p:txBody>
          <a:bodyPr wrap="square">
            <a:spAutoFit/>
          </a:bodyPr>
          <a:lstStyle/>
          <a:p>
            <a:pPr algn="ctr"/>
            <a:r>
              <a:rPr lang="en-US" sz="2000" b="1" dirty="0">
                <a:solidFill>
                  <a:srgbClr val="C00000"/>
                </a:solidFill>
                <a:latin typeface="fkGroteskNeue"/>
              </a:rPr>
              <a:t>Key Point:</a:t>
            </a:r>
            <a:r>
              <a:rPr lang="en-US" sz="2000" dirty="0">
                <a:latin typeface="fkGroteskNeue"/>
              </a:rPr>
              <a:t/>
            </a:r>
            <a:br>
              <a:rPr lang="en-US" sz="2000" dirty="0">
                <a:latin typeface="fkGroteskNeue"/>
              </a:rPr>
            </a:br>
            <a:r>
              <a:rPr lang="en-US" sz="2000" dirty="0">
                <a:latin typeface="fkGroteskNeue"/>
              </a:rPr>
              <a:t>Negative resistance allows the circuit to actively offset tank losses, making continuous oscillation possible just like the cross-coupled pair—but through a different topology</a:t>
            </a:r>
          </a:p>
          <a:p>
            <a:pPr algn="just"/>
            <a:endParaRPr lang="en-US" sz="2000" dirty="0"/>
          </a:p>
        </p:txBody>
      </p:sp>
      <p:sp>
        <p:nvSpPr>
          <p:cNvPr id="13"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730014173"/>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85232" y="1248833"/>
            <a:ext cx="6206067" cy="3521950"/>
          </a:xfrm>
          <a:prstGeom prst="rect">
            <a:avLst/>
          </a:prstGeom>
          <a:solidFill>
            <a:schemeClr val="bg1">
              <a:lumMod val="85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 name="Title 1"/>
          <p:cNvSpPr>
            <a:spLocks noGrp="1"/>
          </p:cNvSpPr>
          <p:nvPr>
            <p:ph type="title"/>
          </p:nvPr>
        </p:nvSpPr>
        <p:spPr>
          <a:xfrm>
            <a:off x="819150" y="347725"/>
            <a:ext cx="10593196" cy="523220"/>
          </a:xfrm>
        </p:spPr>
        <p:txBody>
          <a:bodyPr/>
          <a:lstStyle/>
          <a:p>
            <a:r>
              <a:rPr lang="en-US" dirty="0">
                <a:latin typeface="fkGrotesk"/>
              </a:rPr>
              <a:t>Basic Three-Point </a:t>
            </a:r>
            <a:r>
              <a:rPr lang="en-US" dirty="0" smtClean="0">
                <a:latin typeface="fkGrotesk"/>
              </a:rPr>
              <a:t>Oscillator</a:t>
            </a:r>
            <a:endParaRPr lang="en-US" dirty="0"/>
          </a:p>
        </p:txBody>
      </p:sp>
      <p:sp>
        <p:nvSpPr>
          <p:cNvPr id="3" name="Text Placeholder 2"/>
          <p:cNvSpPr>
            <a:spLocks noGrp="1"/>
          </p:cNvSpPr>
          <p:nvPr>
            <p:ph type="body" idx="1"/>
          </p:nvPr>
        </p:nvSpPr>
        <p:spPr>
          <a:xfrm>
            <a:off x="641350" y="1337661"/>
            <a:ext cx="5865283" cy="3385542"/>
          </a:xfrm>
        </p:spPr>
        <p:txBody>
          <a:bodyPr/>
          <a:lstStyle/>
          <a:p>
            <a:pPr algn="ctr"/>
            <a:r>
              <a:rPr lang="en-US" b="1" dirty="0" smtClean="0">
                <a:solidFill>
                  <a:srgbClr val="C00000"/>
                </a:solidFill>
                <a:latin typeface="fkGroteskNeue"/>
              </a:rPr>
              <a:t>Concept:</a:t>
            </a:r>
          </a:p>
          <a:p>
            <a:pPr algn="ctr"/>
            <a:r>
              <a:rPr lang="en-US" dirty="0">
                <a:latin typeface="fkGroteskNeue"/>
              </a:rPr>
              <a:t/>
            </a:r>
            <a:br>
              <a:rPr lang="en-US" dirty="0">
                <a:latin typeface="fkGroteskNeue"/>
              </a:rPr>
            </a:br>
            <a:r>
              <a:rPr lang="en-US" dirty="0">
                <a:latin typeface="fkGroteskNeue"/>
              </a:rPr>
              <a:t>Shows a tank with inductor </a:t>
            </a:r>
            <a:r>
              <a:rPr lang="en-US" dirty="0" smtClean="0">
                <a:latin typeface="fkGroteskNeue"/>
              </a:rPr>
              <a:t>(</a:t>
            </a:r>
            <a:r>
              <a:rPr lang="en-US" i="1" dirty="0" smtClean="0">
                <a:latin typeface="KaTeX_Math"/>
              </a:rPr>
              <a:t>L</a:t>
            </a:r>
            <a:r>
              <a:rPr lang="en-US" baseline="-25000" dirty="0" smtClean="0">
                <a:latin typeface="KaTeX_Main"/>
              </a:rPr>
              <a:t>1</a:t>
            </a:r>
            <a:r>
              <a:rPr lang="en-US" dirty="0">
                <a:latin typeface="fkGroteskNeue"/>
              </a:rPr>
              <a:t>), two capacitors </a:t>
            </a:r>
            <a:r>
              <a:rPr lang="en-US" dirty="0" smtClean="0">
                <a:latin typeface="fkGroteskNeue"/>
              </a:rPr>
              <a:t>(</a:t>
            </a:r>
            <a:r>
              <a:rPr lang="en-US" i="1" dirty="0" smtClean="0">
                <a:latin typeface="KaTeX_Math"/>
              </a:rPr>
              <a:t>C</a:t>
            </a:r>
            <a:r>
              <a:rPr lang="en-US" baseline="-25000" dirty="0" smtClean="0">
                <a:latin typeface="KaTeX_Main"/>
              </a:rPr>
              <a:t>1</a:t>
            </a:r>
            <a:r>
              <a:rPr lang="en-US" dirty="0" smtClean="0">
                <a:latin typeface="KaTeX_Main"/>
              </a:rPr>
              <a:t>,</a:t>
            </a:r>
            <a:r>
              <a:rPr lang="en-US" i="1" dirty="0" smtClean="0">
                <a:latin typeface="KaTeX_Math"/>
              </a:rPr>
              <a:t>C</a:t>
            </a:r>
            <a:r>
              <a:rPr lang="en-US" baseline="-25000" dirty="0" smtClean="0">
                <a:latin typeface="KaTeX_Main"/>
              </a:rPr>
              <a:t>2</a:t>
            </a:r>
            <a:r>
              <a:rPr lang="en-US" dirty="0">
                <a:latin typeface="fkGroteskNeue"/>
              </a:rPr>
              <a:t>), and one MOS transistor across the tank</a:t>
            </a:r>
            <a:r>
              <a:rPr lang="en-US" dirty="0" smtClean="0">
                <a:latin typeface="fkGroteskNeue"/>
              </a:rPr>
              <a:t>.</a:t>
            </a:r>
          </a:p>
          <a:p>
            <a:pPr algn="l"/>
            <a:endParaRPr lang="en-US" dirty="0">
              <a:latin typeface="fkGroteskNeue"/>
            </a:endParaRPr>
          </a:p>
          <a:p>
            <a:pPr algn="ctr"/>
            <a:r>
              <a:rPr lang="en-US" b="1" dirty="0">
                <a:solidFill>
                  <a:srgbClr val="C00000"/>
                </a:solidFill>
                <a:latin typeface="fkGroteskNeue"/>
              </a:rPr>
              <a:t>Key Step</a:t>
            </a:r>
            <a:r>
              <a:rPr lang="en-US" b="1" dirty="0" smtClean="0">
                <a:solidFill>
                  <a:srgbClr val="C00000"/>
                </a:solidFill>
                <a:latin typeface="fkGroteskNeue"/>
              </a:rPr>
              <a:t>:</a:t>
            </a:r>
          </a:p>
          <a:p>
            <a:pPr algn="ctr"/>
            <a:r>
              <a:rPr lang="en-US" dirty="0">
                <a:latin typeface="fkGroteskNeue"/>
              </a:rPr>
              <a:t/>
            </a:r>
            <a:br>
              <a:rPr lang="en-US" dirty="0">
                <a:latin typeface="fkGroteskNeue"/>
              </a:rPr>
            </a:br>
            <a:r>
              <a:rPr lang="en-US" dirty="0">
                <a:latin typeface="fkGroteskNeue"/>
              </a:rPr>
              <a:t>This “three-point” configuration (“Hartley” or “</a:t>
            </a:r>
            <a:r>
              <a:rPr lang="en-US" dirty="0" err="1">
                <a:latin typeface="fkGroteskNeue"/>
              </a:rPr>
              <a:t>Colpitts</a:t>
            </a:r>
            <a:r>
              <a:rPr lang="en-US" dirty="0">
                <a:latin typeface="fkGroteskNeue"/>
              </a:rPr>
              <a:t>” oscillators, depending on node connected to ground) uses transformer-like feedback for oscillation</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A5FC0E4F-3542-4574-A1FD-116ECAD4366D}"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29610" cy="221876"/>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819900" y="1921386"/>
            <a:ext cx="5210410" cy="1880231"/>
          </a:xfrm>
          <a:prstGeom prst="rect">
            <a:avLst/>
          </a:prstGeom>
        </p:spPr>
      </p:pic>
      <p:sp>
        <p:nvSpPr>
          <p:cNvPr id="8" name="Rectangle 7"/>
          <p:cNvSpPr/>
          <p:nvPr/>
        </p:nvSpPr>
        <p:spPr>
          <a:xfrm>
            <a:off x="6976533" y="1896533"/>
            <a:ext cx="2137834" cy="1811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0" name="Rectangle 9"/>
          <p:cNvSpPr/>
          <p:nvPr/>
        </p:nvSpPr>
        <p:spPr>
          <a:xfrm>
            <a:off x="1050235" y="5055849"/>
            <a:ext cx="10489096" cy="923330"/>
          </a:xfrm>
          <a:prstGeom prst="rect">
            <a:avLst/>
          </a:prstGeom>
        </p:spPr>
        <p:txBody>
          <a:bodyPr wrap="square">
            <a:spAutoFit/>
          </a:bodyPr>
          <a:lstStyle/>
          <a:p>
            <a:pPr algn="ctr"/>
            <a:r>
              <a:rPr lang="en-US" b="1" dirty="0">
                <a:solidFill>
                  <a:srgbClr val="C00000"/>
                </a:solidFill>
                <a:latin typeface="fkGroteskNeue"/>
              </a:rPr>
              <a:t>Physical Explanation:</a:t>
            </a:r>
            <a:r>
              <a:rPr lang="en-US" dirty="0">
                <a:latin typeface="fkGroteskNeue"/>
              </a:rPr>
              <a:t/>
            </a:r>
            <a:br>
              <a:rPr lang="en-US" dirty="0">
                <a:latin typeface="fkGroteskNeue"/>
              </a:rPr>
            </a:br>
            <a:r>
              <a:rPr lang="en-US" dirty="0">
                <a:latin typeface="fkGroteskNeue"/>
              </a:rPr>
              <a:t>The combination of </a:t>
            </a:r>
            <a:r>
              <a:rPr lang="en-US" i="1" dirty="0">
                <a:latin typeface="KaTeX_Math"/>
              </a:rPr>
              <a:t>C</a:t>
            </a:r>
            <a:r>
              <a:rPr lang="en-US" baseline="-25000" dirty="0">
                <a:latin typeface="KaTeX_Main"/>
              </a:rPr>
              <a:t>1</a:t>
            </a:r>
            <a:r>
              <a:rPr lang="en-US" dirty="0">
                <a:latin typeface="fkGroteskNeue"/>
              </a:rPr>
              <a:t> and </a:t>
            </a:r>
            <a:r>
              <a:rPr lang="en-US" i="1" dirty="0">
                <a:latin typeface="KaTeX_Math"/>
              </a:rPr>
              <a:t>C</a:t>
            </a:r>
            <a:r>
              <a:rPr lang="en-US" baseline="-25000" dirty="0">
                <a:latin typeface="KaTeX_Main"/>
              </a:rPr>
              <a:t>2</a:t>
            </a:r>
            <a:r>
              <a:rPr lang="en-US" dirty="0">
                <a:latin typeface="fkGroteskNeue"/>
              </a:rPr>
              <a:t> divides tank voltage and provides the necessary phase shift between gate and source/drain, enabling negative resistance to appear at the critical point</a:t>
            </a:r>
            <a:endParaRPr lang="en-US" dirty="0"/>
          </a:p>
        </p:txBody>
      </p:sp>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196429313"/>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Equivalent Loss </a:t>
            </a:r>
            <a:r>
              <a:rPr lang="en-US" dirty="0" smtClean="0">
                <a:latin typeface="fkGrotesk"/>
              </a:rPr>
              <a:t>Model</a:t>
            </a:r>
            <a:endParaRPr lang="en-US" dirty="0"/>
          </a:p>
        </p:txBody>
      </p:sp>
      <p:sp>
        <p:nvSpPr>
          <p:cNvPr id="3" name="Text Placeholder 2"/>
          <p:cNvSpPr>
            <a:spLocks noGrp="1"/>
          </p:cNvSpPr>
          <p:nvPr>
            <p:ph type="body" idx="1"/>
          </p:nvPr>
        </p:nvSpPr>
        <p:spPr>
          <a:xfrm>
            <a:off x="844550" y="1327353"/>
            <a:ext cx="5436980" cy="4616648"/>
          </a:xfrm>
        </p:spPr>
        <p:txBody>
          <a:bodyPr/>
          <a:lstStyle/>
          <a:p>
            <a:pPr algn="just">
              <a:lnSpc>
                <a:spcPct val="150000"/>
              </a:lnSpc>
            </a:pPr>
            <a:r>
              <a:rPr lang="en-US" b="1" dirty="0" smtClean="0">
                <a:solidFill>
                  <a:srgbClr val="C00000"/>
                </a:solidFill>
                <a:latin typeface="fkGroteskNeue"/>
              </a:rPr>
              <a:t>Insight</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Loss in </a:t>
            </a:r>
            <a:r>
              <a:rPr lang="en-US" i="1" dirty="0" smtClean="0">
                <a:latin typeface="KaTeX_Math"/>
              </a:rPr>
              <a:t>L</a:t>
            </a:r>
            <a:r>
              <a:rPr lang="en-US" baseline="-25000" dirty="0" smtClean="0">
                <a:latin typeface="KaTeX_Main"/>
              </a:rPr>
              <a:t>1</a:t>
            </a:r>
            <a:r>
              <a:rPr lang="en-US" dirty="0">
                <a:latin typeface="fkGroteskNeue"/>
              </a:rPr>
              <a:t> is modeled as series </a:t>
            </a:r>
            <a:r>
              <a:rPr lang="en-US" i="1" dirty="0" smtClean="0">
                <a:latin typeface="KaTeX_Math"/>
              </a:rPr>
              <a:t>RS</a:t>
            </a:r>
            <a:r>
              <a:rPr lang="en-US" dirty="0">
                <a:latin typeface="fkGroteskNeue"/>
              </a:rPr>
              <a:t>, and the active device provides negative resistance in parallel.</a:t>
            </a:r>
          </a:p>
          <a:p>
            <a:pPr algn="ctr">
              <a:lnSpc>
                <a:spcPct val="150000"/>
              </a:lnSpc>
            </a:pPr>
            <a:r>
              <a:rPr lang="en-US" b="1" dirty="0">
                <a:solidFill>
                  <a:srgbClr val="C00000"/>
                </a:solidFill>
                <a:latin typeface="fkGroteskNeue"/>
              </a:rPr>
              <a:t>Startup Condition:</a:t>
            </a:r>
            <a:r>
              <a:rPr lang="en-US" dirty="0">
                <a:latin typeface="fkGroteskNeue"/>
              </a:rPr>
              <a:t/>
            </a:r>
            <a:br>
              <a:rPr lang="en-US" dirty="0">
                <a:latin typeface="fkGroteskNeue"/>
              </a:rPr>
            </a:br>
            <a:r>
              <a:rPr lang="en-US" dirty="0">
                <a:latin typeface="fkGroteskNeue"/>
              </a:rPr>
              <a:t>Oscillation starts if the negative resistance magnitude is at least as large as the equivalent tank loss, which in this topology depends on the ratio  </a:t>
            </a:r>
            <a:r>
              <a:rPr lang="en-US" dirty="0" smtClean="0">
                <a:latin typeface="fkGroteskNeue"/>
              </a:rPr>
              <a:t>       and </a:t>
            </a:r>
            <a:r>
              <a:rPr lang="en-US" dirty="0">
                <a:latin typeface="fkGroteskNeue"/>
              </a:rPr>
              <a:t>the tank Q.</a:t>
            </a:r>
          </a:p>
          <a:p>
            <a:pPr algn="just">
              <a:lnSpc>
                <a:spcPct val="150000"/>
              </a:lnSpc>
            </a:pP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D7C405F-2B42-4027-9C48-7C31100E5332}"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497242" cy="157140"/>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709197" y="5118652"/>
            <a:ext cx="556591" cy="318052"/>
          </a:xfrm>
          <a:prstGeom prst="rect">
            <a:avLst/>
          </a:prstGeom>
        </p:spPr>
      </p:pic>
      <p:pic>
        <p:nvPicPr>
          <p:cNvPr id="8" name="Picture 7"/>
          <p:cNvPicPr>
            <a:picLocks noChangeAspect="1"/>
          </p:cNvPicPr>
          <p:nvPr/>
        </p:nvPicPr>
        <p:blipFill>
          <a:blip r:embed="rId3"/>
          <a:stretch>
            <a:fillRect/>
          </a:stretch>
        </p:blipFill>
        <p:spPr>
          <a:xfrm>
            <a:off x="6921499" y="1976419"/>
            <a:ext cx="5210410" cy="1880231"/>
          </a:xfrm>
          <a:prstGeom prst="rect">
            <a:avLst/>
          </a:prstGeom>
        </p:spPr>
      </p:pic>
      <p:sp>
        <p:nvSpPr>
          <p:cNvPr id="9" name="Rectangle 8"/>
          <p:cNvSpPr/>
          <p:nvPr/>
        </p:nvSpPr>
        <p:spPr>
          <a:xfrm>
            <a:off x="9770533" y="2311401"/>
            <a:ext cx="2226734" cy="15324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0" name="Rectangle 9"/>
          <p:cNvSpPr/>
          <p:nvPr/>
        </p:nvSpPr>
        <p:spPr>
          <a:xfrm>
            <a:off x="385232" y="1248832"/>
            <a:ext cx="6206067" cy="455561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257108446"/>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77101" y="1190234"/>
            <a:ext cx="8253611" cy="139112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Three Practical Oscillator </a:t>
            </a:r>
            <a:r>
              <a:rPr lang="en-US" dirty="0" smtClean="0">
                <a:latin typeface="fkGrotesk"/>
              </a:rPr>
              <a:t>Realizations</a:t>
            </a:r>
            <a:endParaRPr lang="en-US" dirty="0"/>
          </a:p>
        </p:txBody>
      </p:sp>
      <p:sp>
        <p:nvSpPr>
          <p:cNvPr id="3" name="Text Placeholder 2"/>
          <p:cNvSpPr>
            <a:spLocks noGrp="1"/>
          </p:cNvSpPr>
          <p:nvPr>
            <p:ph type="body" idx="1"/>
          </p:nvPr>
        </p:nvSpPr>
        <p:spPr>
          <a:xfrm>
            <a:off x="857250" y="1111453"/>
            <a:ext cx="10936817" cy="2769989"/>
          </a:xfrm>
        </p:spPr>
        <p:txBody>
          <a:bodyPr/>
          <a:lstStyle/>
          <a:p>
            <a:pPr algn="l">
              <a:lnSpc>
                <a:spcPct val="150000"/>
              </a:lnSpc>
            </a:pPr>
            <a:r>
              <a:rPr lang="en-US" dirty="0" smtClean="0">
                <a:latin typeface="fkGroteskNeue"/>
              </a:rPr>
              <a:t>(</a:t>
            </a:r>
            <a:r>
              <a:rPr lang="en-US" dirty="0">
                <a:latin typeface="fkGroteskNeue"/>
              </a:rPr>
              <a:t>a): Basic three-point with source grounded (often “Hartley” or “</a:t>
            </a:r>
            <a:r>
              <a:rPr lang="en-US" dirty="0" err="1">
                <a:latin typeface="fkGroteskNeue"/>
              </a:rPr>
              <a:t>Colpitts</a:t>
            </a:r>
            <a:r>
              <a:rPr lang="en-US" dirty="0">
                <a:latin typeface="fkGroteskNeue"/>
              </a:rPr>
              <a:t>”).</a:t>
            </a:r>
          </a:p>
          <a:p>
            <a:pPr algn="l">
              <a:lnSpc>
                <a:spcPct val="150000"/>
              </a:lnSpc>
            </a:pPr>
            <a:r>
              <a:rPr lang="en-US" dirty="0">
                <a:latin typeface="fkGroteskNeue"/>
              </a:rPr>
              <a:t>(b): Adds a bias tail current for better stability and practical operation.</a:t>
            </a:r>
          </a:p>
          <a:p>
            <a:pPr algn="l">
              <a:lnSpc>
                <a:spcPct val="150000"/>
              </a:lnSpc>
            </a:pPr>
            <a:r>
              <a:rPr lang="en-US" dirty="0">
                <a:latin typeface="fkGroteskNeue"/>
              </a:rPr>
              <a:t>(c): Swaps which node is grounded—the “</a:t>
            </a:r>
            <a:r>
              <a:rPr lang="en-US" dirty="0" err="1">
                <a:latin typeface="fkGroteskNeue"/>
              </a:rPr>
              <a:t>Colpitts</a:t>
            </a:r>
            <a:r>
              <a:rPr lang="en-US" dirty="0">
                <a:latin typeface="fkGroteskNeue"/>
              </a:rPr>
              <a:t> oscillator” is a classic.</a:t>
            </a:r>
          </a:p>
          <a:p>
            <a:pPr algn="ctr">
              <a:lnSpc>
                <a:spcPct val="150000"/>
              </a:lnSpc>
            </a:pPr>
            <a:r>
              <a:rPr lang="en-US" dirty="0">
                <a:solidFill>
                  <a:srgbClr val="C00000"/>
                </a:solidFill>
                <a:latin typeface="fkGroteskNeue"/>
              </a:rPr>
              <a:t>Key Intuition:</a:t>
            </a:r>
            <a:r>
              <a:rPr lang="en-US" dirty="0">
                <a:latin typeface="fkGroteskNeue"/>
              </a:rPr>
              <a:t/>
            </a:r>
            <a:br>
              <a:rPr lang="en-US" dirty="0">
                <a:latin typeface="fkGroteskNeue"/>
              </a:rPr>
            </a:br>
            <a:r>
              <a:rPr lang="en-US" dirty="0">
                <a:latin typeface="fkGroteskNeue"/>
              </a:rPr>
              <a:t>Each of these is a special case of providing feedback with precise phase and gain; a negative resistance is synthesized at the active device’s terminals to cancel tank loss</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a:xfrm>
            <a:off x="82222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219EC764-AF5D-4C7A-A8A8-D3E3889F7E57}"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537702" cy="18950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703444" y="3949708"/>
            <a:ext cx="6392911" cy="2325946"/>
          </a:xfrm>
          <a:prstGeom prst="rect">
            <a:avLst/>
          </a:prstGeom>
        </p:spPr>
      </p:pic>
      <p:sp>
        <p:nvSpPr>
          <p:cNvPr id="8" name="Rectangle 7"/>
          <p:cNvSpPr/>
          <p:nvPr/>
        </p:nvSpPr>
        <p:spPr>
          <a:xfrm>
            <a:off x="3843894" y="6236757"/>
            <a:ext cx="3804055" cy="276999"/>
          </a:xfrm>
          <a:prstGeom prst="rect">
            <a:avLst/>
          </a:prstGeom>
        </p:spPr>
        <p:txBody>
          <a:bodyPr wrap="none">
            <a:spAutoFit/>
          </a:bodyPr>
          <a:lstStyle/>
          <a:p>
            <a:r>
              <a:rPr lang="en-US" sz="1200" b="1" i="0" u="none" strike="noStrike" baseline="0" dirty="0" smtClean="0">
                <a:solidFill>
                  <a:srgbClr val="FF0000"/>
                </a:solidFill>
                <a:latin typeface="T3Font_359"/>
              </a:rPr>
              <a:t>Oscillators derived from the three-point topology.</a:t>
            </a:r>
            <a:endParaRPr lang="en-US" sz="3600" b="1" dirty="0">
              <a:solidFill>
                <a:srgbClr val="FF0000"/>
              </a:solidFill>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1025039675"/>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Key Formula </a:t>
            </a:r>
            <a:r>
              <a:rPr lang="en-US" dirty="0" smtClean="0"/>
              <a:t>Connections</a:t>
            </a: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09A872D-0301-4CD3-9C61-C60134F33DEA}"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505334" cy="18950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65206" y="1100563"/>
            <a:ext cx="4662168" cy="2256721"/>
          </a:xfrm>
          <a:prstGeom prst="rect">
            <a:avLst/>
          </a:prstGeom>
        </p:spPr>
      </p:pic>
      <p:pic>
        <p:nvPicPr>
          <p:cNvPr id="8" name="Picture 7"/>
          <p:cNvPicPr>
            <a:picLocks noChangeAspect="1"/>
          </p:cNvPicPr>
          <p:nvPr/>
        </p:nvPicPr>
        <p:blipFill>
          <a:blip r:embed="rId3"/>
          <a:stretch>
            <a:fillRect/>
          </a:stretch>
        </p:blipFill>
        <p:spPr>
          <a:xfrm>
            <a:off x="6058843" y="1375796"/>
            <a:ext cx="5519342" cy="1774908"/>
          </a:xfrm>
          <a:prstGeom prst="rect">
            <a:avLst/>
          </a:prstGeom>
        </p:spPr>
      </p:pic>
      <p:sp>
        <p:nvSpPr>
          <p:cNvPr id="9" name="Rectangle 8"/>
          <p:cNvSpPr/>
          <p:nvPr/>
        </p:nvSpPr>
        <p:spPr>
          <a:xfrm>
            <a:off x="448733" y="3216470"/>
            <a:ext cx="11087100" cy="1200329"/>
          </a:xfrm>
          <a:prstGeom prst="rect">
            <a:avLst/>
          </a:prstGeom>
        </p:spPr>
        <p:txBody>
          <a:bodyPr wrap="square">
            <a:spAutoFit/>
          </a:bodyPr>
          <a:lstStyle/>
          <a:p>
            <a:r>
              <a:rPr lang="en-US" b="1" i="0" dirty="0" smtClean="0">
                <a:solidFill>
                  <a:srgbClr val="C00000"/>
                </a:solidFill>
                <a:effectLst/>
                <a:latin typeface="fkGroteskNeue"/>
              </a:rPr>
              <a:t>Design Takeaway:</a:t>
            </a:r>
            <a:r>
              <a:rPr lang="en-US" b="0" i="0" dirty="0" smtClean="0">
                <a:effectLst/>
                <a:latin typeface="fkGroteskNeue"/>
              </a:rPr>
              <a:t/>
            </a:r>
            <a:br>
              <a:rPr lang="en-US" b="0" i="0" dirty="0" smtClean="0">
                <a:effectLst/>
                <a:latin typeface="fkGroteskNeue"/>
              </a:rPr>
            </a:br>
            <a:r>
              <a:rPr lang="en-US" b="0" i="0" dirty="0" smtClean="0">
                <a:effectLst/>
                <a:latin typeface="fkGroteskNeue"/>
              </a:rPr>
              <a:t>For a given Q, this “three-point” oscillator requires more </a:t>
            </a:r>
            <a:r>
              <a:rPr lang="en-US" b="0" i="0" dirty="0" err="1" smtClean="0">
                <a:effectLst/>
                <a:latin typeface="fkGroteskNeue"/>
              </a:rPr>
              <a:t>transconductance</a:t>
            </a:r>
            <a:r>
              <a:rPr lang="en-US" b="0" i="0" dirty="0" smtClean="0">
                <a:effectLst/>
                <a:latin typeface="fkGroteskNeue"/>
              </a:rPr>
              <a:t> than the cross-coupled oscillator (minimum </a:t>
            </a:r>
            <a:r>
              <a:rPr lang="en-US" b="0" i="1" dirty="0" err="1" smtClean="0">
                <a:effectLst/>
                <a:latin typeface="KaTeX_Math"/>
              </a:rPr>
              <a:t>g</a:t>
            </a:r>
            <a:r>
              <a:rPr lang="en-US" b="0" i="1" baseline="-25000" dirty="0" err="1" smtClean="0">
                <a:effectLst/>
                <a:latin typeface="KaTeX_Math"/>
              </a:rPr>
              <a:t>m</a:t>
            </a:r>
            <a:r>
              <a:rPr lang="en-US" b="0" i="1" dirty="0" err="1" smtClean="0">
                <a:effectLst/>
                <a:latin typeface="KaTeX_Math"/>
              </a:rPr>
              <a:t>R</a:t>
            </a:r>
            <a:r>
              <a:rPr lang="en-US" b="0" i="1" baseline="-25000" dirty="0" err="1" smtClean="0">
                <a:effectLst/>
                <a:latin typeface="KaTeX_Math"/>
              </a:rPr>
              <a:t>p</a:t>
            </a:r>
            <a:r>
              <a:rPr lang="en-US" b="0" i="0" dirty="0" smtClean="0">
                <a:effectLst/>
                <a:latin typeface="KaTeX_Main"/>
              </a:rPr>
              <a:t>=4</a:t>
            </a:r>
            <a:r>
              <a:rPr lang="en-US" b="0" i="0" dirty="0" smtClean="0">
                <a:effectLst/>
                <a:latin typeface="fkGroteskNeue"/>
              </a:rPr>
              <a:t> for </a:t>
            </a:r>
            <a:r>
              <a:rPr lang="en-US" b="0" i="1" dirty="0" smtClean="0">
                <a:effectLst/>
                <a:latin typeface="KaTeX_Math"/>
              </a:rPr>
              <a:t>C</a:t>
            </a:r>
            <a:r>
              <a:rPr lang="en-US" b="0" i="0" baseline="-25000" dirty="0" smtClean="0">
                <a:effectLst/>
                <a:latin typeface="KaTeX_Main"/>
              </a:rPr>
              <a:t>1</a:t>
            </a:r>
            <a:r>
              <a:rPr lang="en-US" b="0" i="0" dirty="0" smtClean="0">
                <a:effectLst/>
                <a:latin typeface="KaTeX_Main"/>
              </a:rPr>
              <a:t>=</a:t>
            </a:r>
            <a:r>
              <a:rPr lang="en-US" b="0" i="1" dirty="0" smtClean="0">
                <a:effectLst/>
                <a:latin typeface="KaTeX_Math"/>
              </a:rPr>
              <a:t>C</a:t>
            </a:r>
            <a:r>
              <a:rPr lang="en-US" b="0" i="0" baseline="-25000" dirty="0" smtClean="0">
                <a:effectLst/>
                <a:latin typeface="KaTeX_Main"/>
              </a:rPr>
              <a:t>2</a:t>
            </a:r>
            <a:r>
              <a:rPr lang="en-US" b="0" i="0" dirty="0" smtClean="0">
                <a:effectLst/>
                <a:latin typeface="fkGroteskNeue"/>
              </a:rPr>
              <a:t>).</a:t>
            </a:r>
            <a:br>
              <a:rPr lang="en-US" b="0" i="0" dirty="0" smtClean="0">
                <a:effectLst/>
                <a:latin typeface="fkGroteskNeue"/>
              </a:rPr>
            </a:br>
            <a:r>
              <a:rPr lang="en-US" b="0" i="0" dirty="0" smtClean="0">
                <a:effectLst/>
                <a:latin typeface="fkGroteskNeue"/>
              </a:rPr>
              <a:t>The </a:t>
            </a:r>
            <a:r>
              <a:rPr lang="en-US" b="0" i="0" dirty="0" err="1" smtClean="0">
                <a:effectLst/>
                <a:latin typeface="fkGroteskNeue"/>
              </a:rPr>
              <a:t>Colpitts</a:t>
            </a:r>
            <a:r>
              <a:rPr lang="en-US" b="0" i="0" dirty="0" smtClean="0">
                <a:effectLst/>
                <a:latin typeface="fkGroteskNeue"/>
              </a:rPr>
              <a:t> and Hartley are robust but need careful component scaling.</a:t>
            </a:r>
            <a:endParaRPr lang="en-US" b="0" i="0" dirty="0">
              <a:effectLst/>
              <a:latin typeface="fkGroteskNeue"/>
            </a:endParaRPr>
          </a:p>
        </p:txBody>
      </p:sp>
      <p:sp>
        <p:nvSpPr>
          <p:cNvPr id="10" name="Rectangle 9"/>
          <p:cNvSpPr/>
          <p:nvPr/>
        </p:nvSpPr>
        <p:spPr>
          <a:xfrm>
            <a:off x="706967" y="4484638"/>
            <a:ext cx="10629899" cy="1477328"/>
          </a:xfrm>
          <a:prstGeom prst="rect">
            <a:avLst/>
          </a:prstGeom>
        </p:spPr>
        <p:txBody>
          <a:bodyPr wrap="square">
            <a:spAutoFit/>
          </a:bodyPr>
          <a:lstStyle/>
          <a:p>
            <a:r>
              <a:rPr lang="en-US" b="1" i="0" dirty="0" smtClean="0">
                <a:solidFill>
                  <a:srgbClr val="C00000"/>
                </a:solidFill>
                <a:effectLst/>
                <a:latin typeface="fkGrotesk"/>
              </a:rPr>
              <a:t>Conceptual Summary</a:t>
            </a:r>
          </a:p>
          <a:p>
            <a:pPr marL="285750" indent="-285750">
              <a:buFont typeface="Wingdings" panose="05000000000000000000" pitchFamily="2" charset="2"/>
              <a:buChar char="q"/>
            </a:pPr>
            <a:r>
              <a:rPr lang="en-US" b="0" i="0" dirty="0" smtClean="0">
                <a:effectLst/>
                <a:latin typeface="fkGroteskNeue"/>
              </a:rPr>
              <a:t>Any LC oscillator fundamentally works by generating negative resistance to cancel tank loss—this can be done by a variety of active circuit arrangements.</a:t>
            </a:r>
          </a:p>
          <a:p>
            <a:pPr marL="285750" indent="-285750">
              <a:buFont typeface="Wingdings" panose="05000000000000000000" pitchFamily="2" charset="2"/>
              <a:buChar char="q"/>
            </a:pPr>
            <a:r>
              <a:rPr lang="en-US" b="0" i="0" dirty="0" smtClean="0">
                <a:effectLst/>
                <a:latin typeface="fkGroteskNeue"/>
              </a:rPr>
              <a:t>The placement and proportion of tank elements control startup, frequency, and voltage swing.</a:t>
            </a:r>
          </a:p>
          <a:p>
            <a:pPr marL="285750" indent="-285750">
              <a:buFont typeface="Wingdings" panose="05000000000000000000" pitchFamily="2" charset="2"/>
              <a:buChar char="q"/>
            </a:pPr>
            <a:r>
              <a:rPr lang="en-US" b="0" i="0" dirty="0" smtClean="0">
                <a:effectLst/>
                <a:latin typeface="fkGroteskNeue"/>
              </a:rPr>
              <a:t>"Three-point" oscillators are the historical basis for many practical VCOs and still widely used in RF</a:t>
            </a:r>
            <a:endParaRPr lang="en-US" b="0" i="0" dirty="0">
              <a:effectLst/>
              <a:latin typeface="fkGroteskNeue"/>
            </a:endParaRPr>
          </a:p>
        </p:txBody>
      </p:sp>
      <p:sp>
        <p:nvSpPr>
          <p:cNvPr id="11"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578548084"/>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39537" y="1271154"/>
            <a:ext cx="5672252" cy="47493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Differential Oscillator from Three-Point </a:t>
            </a:r>
            <a:r>
              <a:rPr lang="en-US" dirty="0" smtClean="0">
                <a:latin typeface="fkGrotesk"/>
              </a:rPr>
              <a:t>Topology</a:t>
            </a:r>
            <a:endParaRPr lang="en-US" dirty="0"/>
          </a:p>
        </p:txBody>
      </p:sp>
      <p:sp>
        <p:nvSpPr>
          <p:cNvPr id="3" name="Text Placeholder 2"/>
          <p:cNvSpPr>
            <a:spLocks noGrp="1"/>
          </p:cNvSpPr>
          <p:nvPr>
            <p:ph type="body" idx="1"/>
          </p:nvPr>
        </p:nvSpPr>
        <p:spPr>
          <a:xfrm>
            <a:off x="844550" y="1327353"/>
            <a:ext cx="5357283" cy="4565352"/>
          </a:xfrm>
        </p:spPr>
        <p:txBody>
          <a:bodyPr/>
          <a:lstStyle/>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C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This shows a differential oscillator using two tanks and cross-coupled MOSFETs. Bias currents ensure steady-state operation.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C00000"/>
                </a:solidFill>
                <a:latin typeface="inter"/>
                <a:ea typeface="inter"/>
                <a:cs typeface="inter"/>
              </a:rPr>
              <a:t>Fundamental Insight: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Each side behaves like a one-port oscillator, and the resistor and inductor network creates the conditions for negative resistance and starts oscillation in both halves.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C00000"/>
                </a:solidFill>
                <a:latin typeface="inter"/>
                <a:ea typeface="inter"/>
                <a:cs typeface="inter"/>
              </a:rPr>
              <a:t>Key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The differential structure boosts symmetry, noise immunity, and output swing—making such designs ideal for clock and RF circuits.</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5A1CBF4D-2238-4FCE-AE4D-8E9CFEE928FE}"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665855" cy="323555"/>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182802" y="1101643"/>
            <a:ext cx="4134062" cy="3181514"/>
          </a:xfrm>
          <a:prstGeom prst="rect">
            <a:avLst/>
          </a:prstGeom>
        </p:spPr>
      </p:pic>
      <p:sp>
        <p:nvSpPr>
          <p:cNvPr id="8" name="Rectangle 7"/>
          <p:cNvSpPr/>
          <p:nvPr/>
        </p:nvSpPr>
        <p:spPr>
          <a:xfrm>
            <a:off x="7999747" y="4582812"/>
            <a:ext cx="3217547" cy="253916"/>
          </a:xfrm>
          <a:prstGeom prst="rect">
            <a:avLst/>
          </a:prstGeom>
        </p:spPr>
        <p:txBody>
          <a:bodyPr wrap="none">
            <a:spAutoFit/>
          </a:bodyPr>
          <a:lstStyle/>
          <a:p>
            <a:r>
              <a:rPr lang="en-US" sz="1050" b="1" i="0" u="none" strike="noStrike" baseline="0" dirty="0" smtClean="0">
                <a:solidFill>
                  <a:srgbClr val="FF0000"/>
                </a:solidFill>
                <a:latin typeface="T3Font_380"/>
              </a:rPr>
              <a:t>Differential oscillator derived from the topology</a:t>
            </a:r>
            <a:endParaRPr lang="en-US" sz="2800" b="1" dirty="0">
              <a:solidFill>
                <a:srgbClr val="FF0000"/>
              </a:solidFill>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163384503"/>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123710" y="5097982"/>
            <a:ext cx="10415532" cy="99397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688088" y="1287338"/>
            <a:ext cx="6805137" cy="298525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13315" y="152400"/>
            <a:ext cx="11080751" cy="523220"/>
          </a:xfrm>
        </p:spPr>
        <p:txBody>
          <a:bodyPr/>
          <a:lstStyle/>
          <a:p>
            <a:r>
              <a:rPr lang="en-US" dirty="0">
                <a:latin typeface="fkGrotesk"/>
              </a:rPr>
              <a:t>VCO (Voltage-Controlled Oscillator) Tuning </a:t>
            </a:r>
            <a:r>
              <a:rPr lang="en-US" dirty="0" smtClean="0">
                <a:latin typeface="fkGrotesk"/>
              </a:rPr>
              <a:t>Characteristic</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6658610" cy="2898229"/>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C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Displays the relationship between control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 and output frequency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C00000"/>
                    </a:solidFill>
                    <a:latin typeface="inter"/>
                    <a:ea typeface="inter"/>
                    <a:cs typeface="inter"/>
                  </a:rPr>
                  <a:t>Fundamental Principle:</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The VCO’s frequency changes linearly with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 where the slope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oMath>
                </a14:m>
                <a:r>
                  <a:rPr lang="en-US" dirty="0">
                    <a:solidFill>
                      <a:srgbClr val="000000"/>
                    </a:solidFill>
                    <a:latin typeface="inter"/>
                    <a:ea typeface="inter"/>
                    <a:cs typeface="inter"/>
                  </a:rPr>
                  <a:t> is the “VCO gain</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658610" cy="2898229"/>
              </a:xfrm>
              <a:blipFill>
                <a:blip r:embed="rId2"/>
                <a:stretch>
                  <a:fillRect l="-2198" r="-3114" b="-2526"/>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DCE41841-54FD-4FE5-979F-69E690F4899D}"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81058" cy="22996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909635" y="1130216"/>
            <a:ext cx="3702240" cy="3276768"/>
          </a:xfrm>
          <a:prstGeom prst="rect">
            <a:avLst/>
          </a:prstGeom>
        </p:spPr>
      </p:pic>
      <p:sp>
        <p:nvSpPr>
          <p:cNvPr id="8" name="Rectangle 7"/>
          <p:cNvSpPr/>
          <p:nvPr/>
        </p:nvSpPr>
        <p:spPr>
          <a:xfrm>
            <a:off x="8440245" y="4540478"/>
            <a:ext cx="1952779" cy="261610"/>
          </a:xfrm>
          <a:prstGeom prst="rect">
            <a:avLst/>
          </a:prstGeom>
        </p:spPr>
        <p:txBody>
          <a:bodyPr wrap="none">
            <a:spAutoFit/>
          </a:bodyPr>
          <a:lstStyle/>
          <a:p>
            <a:r>
              <a:rPr lang="en-US" sz="1100" b="1" i="0" u="none" strike="noStrike" baseline="0" dirty="0" smtClean="0">
                <a:solidFill>
                  <a:srgbClr val="FF0000"/>
                </a:solidFill>
                <a:latin typeface="T3Font_380"/>
              </a:rPr>
              <a:t>VCO tuning characteristic.</a:t>
            </a:r>
            <a:endParaRPr lang="en-US" sz="3200" b="1" dirty="0">
              <a:solidFill>
                <a:srgbClr val="FF0000"/>
              </a:solidFill>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
        <p:nvSpPr>
          <p:cNvPr id="11" name="Rectangle 10"/>
          <p:cNvSpPr/>
          <p:nvPr/>
        </p:nvSpPr>
        <p:spPr>
          <a:xfrm>
            <a:off x="1033083" y="5126975"/>
            <a:ext cx="10376687" cy="923330"/>
          </a:xfrm>
          <a:prstGeom prst="rect">
            <a:avLst/>
          </a:prstGeom>
        </p:spPr>
        <p:txBody>
          <a:bodyPr wrap="square">
            <a:spAutoFit/>
          </a:bodyPr>
          <a:lstStyle/>
          <a:p>
            <a:pPr algn="ctr"/>
            <a:r>
              <a:rPr lang="en-US" b="1" dirty="0">
                <a:solidFill>
                  <a:srgbClr val="C00000"/>
                </a:solidFill>
                <a:latin typeface="inter"/>
                <a:ea typeface="inter"/>
                <a:cs typeface="inter"/>
              </a:rPr>
              <a:t>Takeaway:</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This linear tuning curve allows precise electronic frequency control, enabling applications like PLLs (Phase-Locked Loops).</a:t>
            </a:r>
            <a:endParaRPr lang="en-US" dirty="0"/>
          </a:p>
        </p:txBody>
      </p:sp>
    </p:spTree>
    <p:extLst>
      <p:ext uri="{BB962C8B-B14F-4D97-AF65-F5344CB8AC3E}">
        <p14:creationId xmlns:p14="http://schemas.microsoft.com/office/powerpoint/2010/main" val="338885747"/>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45327" y="1214509"/>
            <a:ext cx="7938022" cy="382682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Phase Growth with Time (VCO Output</a:t>
            </a:r>
            <a:r>
              <a:rPr lang="en-US" dirty="0" smtClean="0">
                <a:latin typeface="fkGrotesk"/>
              </a:rPr>
              <a: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463830" y="1172087"/>
                <a:ext cx="7749586" cy="4154984"/>
              </a:xfrm>
            </p:spPr>
            <p:txBody>
              <a:bodyPr/>
              <a:lstStyle/>
              <a:p>
                <a:pPr marL="342900" marR="0" lvl="0" indent="-342900">
                  <a:lnSpc>
                    <a:spcPct val="150000"/>
                  </a:lnSpc>
                  <a:buFont typeface="Wingdings" panose="05000000000000000000" pitchFamily="2" charset="2"/>
                  <a:buChar char="q"/>
                  <a:tabLst>
                    <a:tab pos="571500" algn="l"/>
                  </a:tabLst>
                </a:pPr>
                <a:r>
                  <a:rPr lang="en-US" b="1" dirty="0">
                    <a:solidFill>
                      <a:srgbClr val="C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Shows phase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oMath>
                </a14:m>
                <a:r>
                  <a:rPr lang="en-US" dirty="0">
                    <a:solidFill>
                      <a:srgbClr val="000000"/>
                    </a:solidFill>
                    <a:latin typeface="inter"/>
                    <a:ea typeface="inter"/>
                    <a:cs typeface="inter"/>
                  </a:rPr>
                  <a:t> versus time for a periodic VCO output.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buFont typeface="Wingdings" panose="05000000000000000000" pitchFamily="2" charset="2"/>
                  <a:buChar char="q"/>
                  <a:tabLst>
                    <a:tab pos="571500" algn="l"/>
                  </a:tabLst>
                </a:pPr>
                <a:r>
                  <a:rPr lang="en-US" b="1" dirty="0">
                    <a:solidFill>
                      <a:srgbClr val="C00000"/>
                    </a:solidFill>
                    <a:latin typeface="inter"/>
                    <a:ea typeface="inter"/>
                    <a:cs typeface="inter"/>
                  </a:rPr>
                  <a:t>Foundational Insight: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For a constant frequency, phase increases linearly—each crossing of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sets the oscillation’s cycles.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buFont typeface="Wingdings" panose="05000000000000000000" pitchFamily="2" charset="2"/>
                  <a:buChar char="q"/>
                  <a:tabLst>
                    <a:tab pos="571500" algn="l"/>
                  </a:tabLst>
                </a:pPr>
                <a:r>
                  <a:rPr lang="en-US" b="1" dirty="0">
                    <a:solidFill>
                      <a:srgbClr val="C00000"/>
                    </a:solidFill>
                    <a:latin typeface="inter"/>
                    <a:ea typeface="inter"/>
                    <a:cs typeface="inter"/>
                  </a:rPr>
                  <a:t>Key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In frequency/phase modulation, any control voltage change alters the slope (frequency), hence the rate at which phase grows.</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463830" y="1172087"/>
                <a:ext cx="7749586" cy="4154984"/>
              </a:xfrm>
              <a:blipFill>
                <a:blip r:embed="rId2"/>
                <a:stretch>
                  <a:fillRect l="-1888" r="-2046"/>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17C1F11-2A85-492A-9CA2-25CEC7AF6A71}"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67073" cy="25398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7112" t="6399" r="7198"/>
          <a:stretch/>
        </p:blipFill>
        <p:spPr>
          <a:xfrm>
            <a:off x="8537097" y="1254265"/>
            <a:ext cx="3244908" cy="2660325"/>
          </a:xfrm>
          <a:prstGeom prst="rect">
            <a:avLst/>
          </a:prstGeom>
        </p:spPr>
      </p:pic>
      <p:sp>
        <p:nvSpPr>
          <p:cNvPr id="8" name="Rectangle 7"/>
          <p:cNvSpPr/>
          <p:nvPr/>
        </p:nvSpPr>
        <p:spPr>
          <a:xfrm>
            <a:off x="9037823" y="4116409"/>
            <a:ext cx="1899879" cy="253916"/>
          </a:xfrm>
          <a:prstGeom prst="rect">
            <a:avLst/>
          </a:prstGeom>
        </p:spPr>
        <p:txBody>
          <a:bodyPr wrap="none">
            <a:spAutoFit/>
          </a:bodyPr>
          <a:lstStyle/>
          <a:p>
            <a:r>
              <a:rPr lang="en-US" sz="1050" b="1" i="0" u="none" strike="noStrike" baseline="0" dirty="0" smtClean="0">
                <a:solidFill>
                  <a:srgbClr val="FF0000"/>
                </a:solidFill>
                <a:latin typeface="T3Font_380"/>
              </a:rPr>
              <a:t>Growth of phase with time.</a:t>
            </a:r>
            <a:endParaRPr lang="en-US" sz="2800" b="1" dirty="0">
              <a:solidFill>
                <a:srgbClr val="FF0000"/>
              </a:solidFill>
            </a:endParaRPr>
          </a:p>
        </p:txBody>
      </p:sp>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616127906"/>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Equations—VCO </a:t>
            </a:r>
            <a:r>
              <a:rPr lang="en-US" dirty="0" smtClean="0">
                <a:latin typeface="fkGrotesk"/>
              </a:rPr>
              <a:t>Behavior</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590530" cy="3469732"/>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br>
                  <a:rPr lang="en-US" dirty="0">
                    <a:solidFill>
                      <a:srgbClr val="000000"/>
                    </a:solidFill>
                    <a:latin typeface="inter"/>
                    <a:ea typeface="inter"/>
                    <a:cs typeface="inter"/>
                  </a:rPr>
                </a:br>
                <a:r>
                  <a:rPr lang="en-US" dirty="0">
                    <a:solidFill>
                      <a:srgbClr val="000000"/>
                    </a:solidFill>
                    <a:latin typeface="inter"/>
                    <a:ea typeface="inter"/>
                    <a:cs typeface="inter"/>
                  </a:rPr>
                  <a:t>Describes how control voltage tunes output frequency.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nary>
                      <m:naryPr>
                        <m:limLoc m:val="undOvr"/>
                        <m:subHide m:val="on"/>
                        <m:sup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naryPr>
                      <m:sub/>
                      <m:sup/>
                      <m:e>
                        <m:r>
                          <a:rPr lang="en-US" i="1">
                            <a:latin typeface="Cambria Math" panose="02040503050406030204" pitchFamily="18" charset="0"/>
                            <a:ea typeface="Calibri" panose="020F0502020204030204" pitchFamily="34" charset="0"/>
                            <a:cs typeface="Times New Roman" panose="02020603050405020304" pitchFamily="18" charset="0"/>
                          </a:rPr>
                          <m:t> </m:t>
                        </m:r>
                      </m:e>
                    </m:nary>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a:t>
                </a:r>
                <a:br>
                  <a:rPr lang="en-US" dirty="0">
                    <a:solidFill>
                      <a:srgbClr val="000000"/>
                    </a:solidFill>
                    <a:latin typeface="inter"/>
                    <a:ea typeface="inter"/>
                    <a:cs typeface="inter"/>
                  </a:rPr>
                </a:br>
                <a:r>
                  <a:rPr lang="en-US" dirty="0">
                    <a:solidFill>
                      <a:srgbClr val="000000"/>
                    </a:solidFill>
                    <a:latin typeface="inter"/>
                    <a:ea typeface="inter"/>
                    <a:cs typeface="inter"/>
                  </a:rPr>
                  <a:t>Shows frequency and phase are controlled by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“Excess phase”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𝑒𝑥</m:t>
                        </m:r>
                      </m:sub>
                    </m:sSub>
                  </m:oMath>
                </a14:m>
                <a:r>
                  <a:rPr lang="en-US" dirty="0">
                    <a:solidFill>
                      <a:srgbClr val="000000"/>
                    </a:solidFill>
                    <a:latin typeface="inter"/>
                    <a:ea typeface="inter"/>
                    <a:cs typeface="inter"/>
                  </a:rPr>
                  <a:t>) is directly proportional to the integral of the control voltage—essential for PLL theory and design.</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90530" cy="3469732"/>
              </a:xfrm>
              <a:blipFill>
                <a:blip r:embed="rId2"/>
                <a:stretch>
                  <a:fillRect l="-1382" r="-1727"/>
                </a:stretch>
              </a:blipFill>
            </p:spPr>
            <p:txBody>
              <a:bodyPr/>
              <a:lstStyle/>
              <a:p>
                <a:r>
                  <a:rPr lang="en-US">
                    <a:noFill/>
                  </a:rPr>
                  <a:t> </a:t>
                </a:r>
              </a:p>
            </p:txBody>
          </p:sp>
        </mc:Fallback>
      </mc:AlternateContent>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1A53DDF-F72D-4EDA-A991-AD5FDFC5D480}"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481058" cy="205692"/>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642717871"/>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696180" y="1214510"/>
            <a:ext cx="11280032" cy="298525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Summary of Concepts Across </a:t>
            </a:r>
            <a:r>
              <a:rPr lang="en-US" dirty="0" smtClean="0">
                <a:latin typeface="fkGrotesk"/>
              </a:rPr>
              <a:t>Figures</a:t>
            </a:r>
            <a:endParaRPr lang="en-US" dirty="0"/>
          </a:p>
        </p:txBody>
      </p:sp>
      <p:sp>
        <p:nvSpPr>
          <p:cNvPr id="3" name="Text Placeholder 2"/>
          <p:cNvSpPr>
            <a:spLocks noGrp="1"/>
          </p:cNvSpPr>
          <p:nvPr>
            <p:ph type="body" idx="1"/>
          </p:nvPr>
        </p:nvSpPr>
        <p:spPr>
          <a:xfrm>
            <a:off x="844550" y="1327353"/>
            <a:ext cx="11058834" cy="4142160"/>
          </a:xfrm>
        </p:spPr>
        <p:txBody>
          <a:bodyPr/>
          <a:lstStyle/>
          <a:p>
            <a:pPr marL="342900" marR="0" lvl="0" indent="-342900" algn="just">
              <a:lnSpc>
                <a:spcPct val="150000"/>
              </a:lnSpc>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Three-point</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and </a:t>
            </a:r>
            <a:r>
              <a:rPr lang="en-US" b="1" dirty="0">
                <a:solidFill>
                  <a:srgbClr val="000000"/>
                </a:solidFill>
                <a:latin typeface="inter"/>
                <a:ea typeface="inter"/>
                <a:cs typeface="inter"/>
              </a:rPr>
              <a:t>cross-coupled oscillators</a:t>
            </a:r>
            <a:r>
              <a:rPr lang="en-US" dirty="0">
                <a:solidFill>
                  <a:srgbClr val="000000"/>
                </a:solidFill>
                <a:latin typeface="inter"/>
                <a:ea typeface="inter"/>
                <a:cs typeface="inter"/>
              </a:rPr>
              <a:t> transform bias current and tank Q into clean, tunable oscillations.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VCOs</a:t>
            </a:r>
            <a:r>
              <a:rPr lang="en-US" dirty="0">
                <a:solidFill>
                  <a:srgbClr val="000000"/>
                </a:solidFill>
                <a:latin typeface="inter"/>
                <a:ea typeface="inter"/>
                <a:cs typeface="inter"/>
              </a:rPr>
              <a:t> use a voltage to set oscillation frequency, with phase and frequency tightly linked. This is fundamental to modern communication, clocking, and control systems.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Differential </a:t>
            </a:r>
            <a:r>
              <a:rPr lang="en-US" b="1" dirty="0" smtClean="0">
                <a:solidFill>
                  <a:srgbClr val="000000"/>
                </a:solidFill>
                <a:latin typeface="inter"/>
                <a:ea typeface="inter"/>
                <a:cs typeface="inter"/>
              </a:rPr>
              <a:t>designs</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are preferred for noise/coupling immunity and double-ended signal swing</a:t>
            </a:r>
            <a:r>
              <a:rPr lang="en-US" dirty="0" smtClean="0">
                <a:solidFill>
                  <a:srgbClr val="000000"/>
                </a:solidFill>
                <a:latin typeface="inter"/>
                <a:ea typeface="inter"/>
                <a:cs typeface="inter"/>
              </a:rPr>
              <a:t>.</a:t>
            </a:r>
          </a:p>
          <a:p>
            <a:pPr marL="342900" marR="0" lvl="0" indent="-342900">
              <a:lnSpc>
                <a:spcPct val="150000"/>
              </a:lnSpc>
              <a:spcBef>
                <a:spcPts val="525"/>
              </a:spcBef>
              <a:spcAft>
                <a:spcPts val="525"/>
              </a:spcAft>
              <a:buFont typeface="Wingdings" panose="05000000000000000000" pitchFamily="2" charset="2"/>
              <a:buChar char="q"/>
              <a:tabLst>
                <a:tab pos="571500" algn="l"/>
              </a:tabLst>
            </a:pP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These conceptual breakdowns show how oscillator circuits are built not just for generating a signal, but for precise, voltage-programmable frequency/phase control—fundamental to all PLLs and frequency synthesizers.</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CF04429-591B-4012-8282-86782292D63B}"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21518" cy="229968"/>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751141233"/>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72499" y="3221335"/>
            <a:ext cx="11280032" cy="279104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VCO Sensing a Square </a:t>
            </a:r>
            <a:r>
              <a:rPr lang="en-US" dirty="0" smtClean="0">
                <a:latin typeface="fkGrotesk"/>
              </a:rPr>
              <a:t>Wave</a:t>
            </a:r>
            <a:endParaRPr lang="en-US" dirty="0"/>
          </a:p>
        </p:txBody>
      </p:sp>
      <p:sp>
        <p:nvSpPr>
          <p:cNvPr id="3" name="Text Placeholder 2"/>
          <p:cNvSpPr>
            <a:spLocks noGrp="1"/>
          </p:cNvSpPr>
          <p:nvPr>
            <p:ph type="body" idx="1"/>
          </p:nvPr>
        </p:nvSpPr>
        <p:spPr>
          <a:xfrm>
            <a:off x="492981" y="3180006"/>
            <a:ext cx="11298803" cy="3046988"/>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Concept</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The control voltage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is a square wave, alternating between </a:t>
            </a:r>
            <a:r>
              <a:rPr lang="en-US" dirty="0" smtClean="0">
                <a:latin typeface="KaTeX_Main"/>
              </a:rPr>
              <a:t>+</a:t>
            </a:r>
            <a:r>
              <a:rPr lang="en-US" i="1" dirty="0" smtClean="0">
                <a:latin typeface="KaTeX_Math"/>
              </a:rPr>
              <a:t>V</a:t>
            </a:r>
            <a:r>
              <a:rPr lang="en-US" baseline="-25000" dirty="0" smtClean="0">
                <a:latin typeface="KaTeX_Main"/>
              </a:rPr>
              <a:t>1</a:t>
            </a:r>
            <a:r>
              <a:rPr lang="en-US" dirty="0">
                <a:latin typeface="fkGroteskNeue"/>
              </a:rPr>
              <a:t> and </a:t>
            </a:r>
            <a:r>
              <a:rPr lang="en-US" dirty="0" smtClean="0">
                <a:latin typeface="KaTeX_Main"/>
              </a:rPr>
              <a:t>−</a:t>
            </a:r>
            <a:r>
              <a:rPr lang="en-US" i="1" dirty="0">
                <a:latin typeface="KaTeX_Math"/>
              </a:rPr>
              <a:t>V</a:t>
            </a:r>
            <a:r>
              <a:rPr lang="en-US" baseline="-25000" dirty="0">
                <a:latin typeface="KaTeX_Main"/>
              </a:rPr>
              <a:t>1</a:t>
            </a:r>
            <a:r>
              <a:rPr lang="en-US" dirty="0">
                <a:latin typeface="fkGroteskNeue"/>
              </a:rPr>
              <a:t> with </a:t>
            </a:r>
            <a:r>
              <a:rPr lang="en-US" dirty="0" smtClean="0">
                <a:latin typeface="fkGroteskNeue"/>
              </a:rPr>
              <a:t>period </a:t>
            </a:r>
            <a:r>
              <a:rPr lang="en-US" i="1" dirty="0" smtClean="0">
                <a:latin typeface="KaTeX_Math"/>
              </a:rPr>
              <a:t>T</a:t>
            </a:r>
            <a:r>
              <a:rPr lang="en-US" i="1" baseline="-25000" dirty="0" smtClean="0">
                <a:latin typeface="KaTeX_Math"/>
              </a:rPr>
              <a:t>m</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marL="342900" indent="-342900" algn="l">
              <a:buFont typeface="Wingdings" panose="05000000000000000000" pitchFamily="2" charset="2"/>
              <a:buChar char="q"/>
            </a:pPr>
            <a:r>
              <a:rPr lang="en-US" b="1" dirty="0">
                <a:solidFill>
                  <a:srgbClr val="C00000"/>
                </a:solidFill>
                <a:latin typeface="fkGroteskNeue"/>
              </a:rPr>
              <a:t>Key Behavior</a:t>
            </a:r>
            <a:r>
              <a:rPr lang="en-US" b="1" dirty="0" smtClean="0">
                <a:solidFill>
                  <a:srgbClr val="C00000"/>
                </a:solidFill>
                <a:latin typeface="fkGroteskNeue"/>
              </a:rPr>
              <a:t>:</a:t>
            </a:r>
          </a:p>
          <a:p>
            <a:pPr lvl="1" algn="l"/>
            <a:r>
              <a:rPr lang="en-US" dirty="0">
                <a:latin typeface="fkGroteskNeue"/>
              </a:rPr>
              <a:t/>
            </a:r>
            <a:br>
              <a:rPr lang="en-US" dirty="0">
                <a:latin typeface="fkGroteskNeue"/>
              </a:rPr>
            </a:br>
            <a:r>
              <a:rPr lang="en-US" sz="2000" dirty="0">
                <a:latin typeface="fkGroteskNeue"/>
              </a:rPr>
              <a:t>As </a:t>
            </a:r>
            <a:r>
              <a:rPr lang="en-US" sz="2000" i="1" dirty="0" err="1" smtClean="0">
                <a:latin typeface="KaTeX_Math"/>
              </a:rPr>
              <a:t>V</a:t>
            </a:r>
            <a:r>
              <a:rPr lang="en-US" sz="2000" i="1" baseline="-25000" dirty="0" err="1" smtClean="0">
                <a:latin typeface="KaTeX_Math"/>
              </a:rPr>
              <a:t>cont</a:t>
            </a:r>
            <a:r>
              <a:rPr lang="en-US" sz="2000" dirty="0" smtClean="0">
                <a:latin typeface="KaTeX_Main"/>
              </a:rPr>
              <a:t>(</a:t>
            </a:r>
            <a:r>
              <a:rPr lang="en-US" sz="2000" i="1" dirty="0" smtClean="0">
                <a:latin typeface="KaTeX_Math"/>
              </a:rPr>
              <a:t>t</a:t>
            </a:r>
            <a:r>
              <a:rPr lang="en-US" sz="2000" dirty="0">
                <a:latin typeface="KaTeX_Main"/>
              </a:rPr>
              <a:t>)</a:t>
            </a:r>
            <a:r>
              <a:rPr lang="en-US" sz="2000" dirty="0">
                <a:latin typeface="fkGroteskNeue"/>
              </a:rPr>
              <a:t> switches, the VCO’s output frequency shifts between two values:</a:t>
            </a:r>
          </a:p>
          <a:p>
            <a:pPr marL="1257300" lvl="2" indent="-342900" algn="l">
              <a:buFont typeface="Wingdings" panose="05000000000000000000" pitchFamily="2" charset="2"/>
              <a:buChar char="q"/>
            </a:pPr>
            <a:r>
              <a:rPr lang="en-US" sz="2000" dirty="0">
                <a:latin typeface="fkGroteskNeue"/>
              </a:rPr>
              <a:t>For </a:t>
            </a:r>
            <a:r>
              <a:rPr lang="en-US" sz="2000" dirty="0" smtClean="0">
                <a:latin typeface="KaTeX_Main"/>
              </a:rPr>
              <a:t>+</a:t>
            </a:r>
            <a:r>
              <a:rPr lang="en-US" sz="2000" i="1" dirty="0" smtClean="0">
                <a:latin typeface="KaTeX_Math"/>
              </a:rPr>
              <a:t>V</a:t>
            </a:r>
            <a:r>
              <a:rPr lang="en-US" sz="2000" baseline="-25000" dirty="0" smtClean="0">
                <a:latin typeface="KaTeX_Main"/>
              </a:rPr>
              <a:t>1</a:t>
            </a:r>
            <a:r>
              <a:rPr lang="en-US" sz="2000" dirty="0">
                <a:latin typeface="fkGroteskNeue"/>
              </a:rPr>
              <a:t>: </a:t>
            </a:r>
            <a:r>
              <a:rPr lang="el-GR" sz="2000" i="1" dirty="0" smtClean="0">
                <a:latin typeface="KaTeX_Math"/>
              </a:rPr>
              <a:t>ω</a:t>
            </a:r>
            <a:r>
              <a:rPr lang="en-US" sz="2000" i="1" baseline="-25000" dirty="0" smtClean="0">
                <a:latin typeface="KaTeX_Math"/>
              </a:rPr>
              <a:t>out</a:t>
            </a:r>
            <a:r>
              <a:rPr lang="en-US" sz="2000" i="1" dirty="0" smtClean="0">
                <a:latin typeface="KaTeX_Math"/>
              </a:rPr>
              <a:t> </a:t>
            </a:r>
            <a:r>
              <a:rPr lang="en-US" sz="2000" dirty="0" smtClean="0">
                <a:latin typeface="KaTeX_Main"/>
              </a:rPr>
              <a:t>= </a:t>
            </a:r>
            <a:r>
              <a:rPr lang="el-GR" sz="2000" i="1" dirty="0" smtClean="0">
                <a:latin typeface="KaTeX_Math"/>
              </a:rPr>
              <a:t>ω</a:t>
            </a:r>
            <a:r>
              <a:rPr lang="el-GR" sz="2000" baseline="-25000" dirty="0" smtClean="0">
                <a:latin typeface="KaTeX_Main"/>
              </a:rPr>
              <a:t>0</a:t>
            </a:r>
            <a:r>
              <a:rPr lang="el-GR" sz="2000" dirty="0" smtClean="0">
                <a:latin typeface="KaTeX_Main"/>
              </a:rPr>
              <a:t>+</a:t>
            </a:r>
            <a:r>
              <a:rPr lang="en-US" sz="2000" i="1" dirty="0">
                <a:latin typeface="KaTeX_Math"/>
              </a:rPr>
              <a:t>K</a:t>
            </a:r>
            <a:r>
              <a:rPr lang="en-US" sz="2000" i="1" baseline="-25000" dirty="0">
                <a:latin typeface="KaTeX_Math"/>
              </a:rPr>
              <a:t>VCO</a:t>
            </a:r>
            <a:r>
              <a:rPr lang="en-US" sz="2000" i="1" dirty="0">
                <a:latin typeface="KaTeX_Math"/>
              </a:rPr>
              <a:t>V</a:t>
            </a:r>
            <a:r>
              <a:rPr lang="en-US" sz="2000" baseline="-25000" dirty="0">
                <a:latin typeface="KaTeX_Main"/>
              </a:rPr>
              <a:t>1</a:t>
            </a:r>
            <a:endParaRPr lang="en-US" sz="2000" baseline="-25000" dirty="0">
              <a:latin typeface="fkGroteskNeue"/>
            </a:endParaRPr>
          </a:p>
          <a:p>
            <a:pPr marL="1257300" lvl="2" indent="-342900" algn="l">
              <a:buFont typeface="Wingdings" panose="05000000000000000000" pitchFamily="2" charset="2"/>
              <a:buChar char="q"/>
            </a:pPr>
            <a:r>
              <a:rPr lang="en-US" sz="2000" dirty="0">
                <a:latin typeface="fkGroteskNeue"/>
              </a:rPr>
              <a:t>For </a:t>
            </a:r>
            <a:r>
              <a:rPr lang="en-US" sz="2000" dirty="0" smtClean="0">
                <a:latin typeface="KaTeX_Main"/>
              </a:rPr>
              <a:t>−</a:t>
            </a:r>
            <a:r>
              <a:rPr lang="en-US" sz="2000" i="1" dirty="0">
                <a:latin typeface="KaTeX_Math"/>
              </a:rPr>
              <a:t>V</a:t>
            </a:r>
            <a:r>
              <a:rPr lang="en-US" sz="2000" baseline="-25000" dirty="0">
                <a:latin typeface="KaTeX_Main"/>
              </a:rPr>
              <a:t>1</a:t>
            </a:r>
            <a:r>
              <a:rPr lang="en-US" sz="2000" dirty="0">
                <a:latin typeface="fkGroteskNeue"/>
              </a:rPr>
              <a:t>: </a:t>
            </a:r>
            <a:r>
              <a:rPr lang="el-GR" sz="2000" i="1" dirty="0" smtClean="0">
                <a:latin typeface="KaTeX_Math"/>
              </a:rPr>
              <a:t>ω</a:t>
            </a:r>
            <a:r>
              <a:rPr lang="en-US" sz="2000" i="1" baseline="-25000" dirty="0" smtClean="0">
                <a:latin typeface="KaTeX_Math"/>
              </a:rPr>
              <a:t>out</a:t>
            </a:r>
            <a:r>
              <a:rPr lang="en-US" sz="2000" i="1" dirty="0" smtClean="0">
                <a:latin typeface="KaTeX_Math"/>
              </a:rPr>
              <a:t> </a:t>
            </a:r>
            <a:r>
              <a:rPr lang="en-US" sz="2000" dirty="0" smtClean="0">
                <a:latin typeface="KaTeX_Main"/>
              </a:rPr>
              <a:t>= </a:t>
            </a:r>
            <a:r>
              <a:rPr lang="el-GR" sz="2000" i="1" dirty="0" smtClean="0">
                <a:latin typeface="KaTeX_Math"/>
              </a:rPr>
              <a:t>ω</a:t>
            </a:r>
            <a:r>
              <a:rPr lang="el-GR" sz="2000" baseline="-25000" dirty="0" smtClean="0">
                <a:latin typeface="KaTeX_Main"/>
              </a:rPr>
              <a:t>0</a:t>
            </a:r>
            <a:r>
              <a:rPr lang="el-GR" sz="2000" dirty="0">
                <a:latin typeface="KaTeX_Main"/>
              </a:rPr>
              <a:t>−</a:t>
            </a:r>
            <a:r>
              <a:rPr lang="en-US" sz="2000" i="1" dirty="0">
                <a:latin typeface="KaTeX_Math"/>
              </a:rPr>
              <a:t>K</a:t>
            </a:r>
            <a:r>
              <a:rPr lang="en-US" sz="2000" i="1" baseline="-25000" dirty="0">
                <a:latin typeface="KaTeX_Math"/>
              </a:rPr>
              <a:t>VCO</a:t>
            </a:r>
            <a:r>
              <a:rPr lang="en-US" sz="2000" i="1" dirty="0">
                <a:latin typeface="KaTeX_Math"/>
              </a:rPr>
              <a:t>V</a:t>
            </a:r>
            <a:r>
              <a:rPr lang="en-US" sz="2000" baseline="-25000" dirty="0">
                <a:latin typeface="KaTeX_Main"/>
              </a:rPr>
              <a:t>1</a:t>
            </a:r>
            <a:r>
              <a:rPr lang="en-US" sz="2000" dirty="0">
                <a:latin typeface="fkGroteskNeue"/>
              </a:rPr>
              <a:t/>
            </a:r>
            <a:br>
              <a:rPr lang="en-US" sz="2000" dirty="0">
                <a:latin typeface="fkGroteskNeue"/>
              </a:rPr>
            </a:br>
            <a:r>
              <a:rPr lang="en-US" sz="2000" dirty="0">
                <a:latin typeface="fkGroteskNeue"/>
              </a:rPr>
              <a:t>This means the VCO toggles rapidly between two frequencies.</a:t>
            </a:r>
          </a:p>
          <a:p>
            <a:pPr algn="l"/>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F76AA787-D88F-4BF4-AC29-4B077FA8D68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64874" cy="262337"/>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1584" t="15116" r="39015" b="2696"/>
          <a:stretch/>
        </p:blipFill>
        <p:spPr>
          <a:xfrm>
            <a:off x="2299936" y="1110222"/>
            <a:ext cx="6577028" cy="2027166"/>
          </a:xfrm>
          <a:prstGeom prst="rect">
            <a:avLst/>
          </a:prstGeom>
        </p:spPr>
      </p:pic>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4255479591"/>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88088" y="1287338"/>
            <a:ext cx="6805137" cy="298525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Output </a:t>
            </a:r>
            <a:r>
              <a:rPr lang="en-US" dirty="0" smtClean="0">
                <a:latin typeface="fkGrotesk"/>
              </a:rPr>
              <a:t>Waveform</a:t>
            </a:r>
            <a:endParaRPr lang="en-US" dirty="0"/>
          </a:p>
        </p:txBody>
      </p:sp>
      <p:sp>
        <p:nvSpPr>
          <p:cNvPr id="3" name="Text Placeholder 2"/>
          <p:cNvSpPr>
            <a:spLocks noGrp="1"/>
          </p:cNvSpPr>
          <p:nvPr>
            <p:ph type="body" idx="1"/>
          </p:nvPr>
        </p:nvSpPr>
        <p:spPr>
          <a:xfrm>
            <a:off x="844550" y="1327353"/>
            <a:ext cx="6160549" cy="2769989"/>
          </a:xfrm>
        </p:spPr>
        <p:txBody>
          <a:bodyPr/>
          <a:lstStyle/>
          <a:p>
            <a:pPr marL="342900" indent="-342900" algn="just">
              <a:buFont typeface="Wingdings" panose="05000000000000000000" pitchFamily="2" charset="2"/>
              <a:buChar char="q"/>
            </a:pPr>
            <a:r>
              <a:rPr lang="en-US" b="1" dirty="0" smtClean="0">
                <a:solidFill>
                  <a:srgbClr val="C00000"/>
                </a:solidFill>
                <a:latin typeface="fkGroteskNeue"/>
              </a:rPr>
              <a:t>Signal</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The output is a sinusoidal signal, but its frequency switches whenever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changes state.</a:t>
            </a:r>
          </a:p>
          <a:p>
            <a:pPr marL="342900" indent="-342900" algn="just">
              <a:buFont typeface="Wingdings" panose="05000000000000000000" pitchFamily="2" charset="2"/>
              <a:buChar char="q"/>
            </a:pPr>
            <a:r>
              <a:rPr lang="en-US" b="1" dirty="0">
                <a:solidFill>
                  <a:srgbClr val="C00000"/>
                </a:solidFill>
                <a:latin typeface="fkGroteskNeue"/>
              </a:rPr>
              <a:t>Impact:</a:t>
            </a:r>
            <a:r>
              <a:rPr lang="en-US" dirty="0">
                <a:latin typeface="fkGroteskNeue"/>
              </a:rPr>
              <a:t/>
            </a:r>
            <a:br>
              <a:rPr lang="en-US" dirty="0">
                <a:latin typeface="fkGroteskNeue"/>
              </a:rPr>
            </a:br>
            <a:r>
              <a:rPr lang="en-US" dirty="0">
                <a:latin typeface="fkGroteskNeue"/>
              </a:rPr>
              <a:t>During each half of the square wave period, the VCO frequency stays constant, resulting in different numbers of wiggles per interval depending on whether the VCO is at the “high” or “low” frequency.</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0D2116C-EA58-4D7B-B2AD-28BE1D88C9B7}"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513426" cy="205692"/>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61310"/>
          <a:stretch/>
        </p:blipFill>
        <p:spPr>
          <a:xfrm>
            <a:off x="7840133" y="1551397"/>
            <a:ext cx="3966818" cy="2284002"/>
          </a:xfrm>
          <a:prstGeom prst="rect">
            <a:avLst/>
          </a:prstGeom>
        </p:spPr>
      </p:pic>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991311460"/>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79996" y="1206417"/>
            <a:ext cx="6805137" cy="407768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Total Output Phase </a:t>
            </a:r>
            <a:r>
              <a:rPr lang="en-US" i="1" dirty="0" smtClean="0">
                <a:latin typeface="KaTeX_Math"/>
              </a:rPr>
              <a:t>ϕ</a:t>
            </a:r>
            <a:r>
              <a:rPr lang="en-US" dirty="0" smtClean="0">
                <a:latin typeface="KaTeX_Main"/>
              </a:rPr>
              <a:t>(</a:t>
            </a:r>
            <a:r>
              <a:rPr lang="en-US" i="1" dirty="0" smtClean="0">
                <a:latin typeface="KaTeX_Math"/>
              </a:rPr>
              <a:t>t</a:t>
            </a:r>
            <a:r>
              <a:rPr lang="en-US" dirty="0" smtClean="0">
                <a:latin typeface="KaTeX_Main"/>
              </a:rPr>
              <a:t>)</a:t>
            </a:r>
            <a:endParaRPr lang="en-US" dirty="0"/>
          </a:p>
        </p:txBody>
      </p:sp>
      <p:sp>
        <p:nvSpPr>
          <p:cNvPr id="3" name="Text Placeholder 2"/>
          <p:cNvSpPr>
            <a:spLocks noGrp="1"/>
          </p:cNvSpPr>
          <p:nvPr>
            <p:ph type="body" idx="1"/>
          </p:nvPr>
        </p:nvSpPr>
        <p:spPr>
          <a:xfrm>
            <a:off x="844550" y="1327353"/>
            <a:ext cx="6239107" cy="3877985"/>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What’s </a:t>
            </a:r>
            <a:r>
              <a:rPr lang="en-US" b="1" dirty="0">
                <a:solidFill>
                  <a:srgbClr val="C00000"/>
                </a:solidFill>
                <a:latin typeface="fkGroteskNeue"/>
              </a:rPr>
              <a:t>Shown:</a:t>
            </a:r>
            <a:r>
              <a:rPr lang="en-US" dirty="0">
                <a:latin typeface="fkGroteskNeue"/>
              </a:rPr>
              <a:t/>
            </a:r>
            <a:br>
              <a:rPr lang="en-US" dirty="0">
                <a:latin typeface="fkGroteskNeue"/>
              </a:rPr>
            </a:br>
            <a:r>
              <a:rPr lang="en-US" dirty="0">
                <a:latin typeface="fkGroteskNeue"/>
              </a:rPr>
              <a:t>Plots the phase accumulated by the VCO over time.</a:t>
            </a:r>
          </a:p>
          <a:p>
            <a:pPr marL="342900" indent="-342900" algn="l">
              <a:buFont typeface="Wingdings" panose="05000000000000000000" pitchFamily="2" charset="2"/>
              <a:buChar char="q"/>
            </a:pPr>
            <a:r>
              <a:rPr lang="en-US" b="1" dirty="0">
                <a:solidFill>
                  <a:srgbClr val="C00000"/>
                </a:solidFill>
                <a:latin typeface="fkGroteskNeue"/>
              </a:rPr>
              <a:t>Mechanism:</a:t>
            </a:r>
          </a:p>
          <a:p>
            <a:pPr marL="742950" lvl="1" indent="-285750" algn="l">
              <a:buFont typeface="Arial" panose="020B0604020202020204" pitchFamily="34" charset="0"/>
              <a:buChar char="•"/>
            </a:pPr>
            <a:r>
              <a:rPr lang="en-US" dirty="0">
                <a:latin typeface="fkGroteskNeue"/>
              </a:rPr>
              <a:t>For constant </a:t>
            </a:r>
            <a:r>
              <a:rPr lang="en-US" i="1" dirty="0" err="1" smtClean="0">
                <a:latin typeface="KaTeX_Math"/>
              </a:rPr>
              <a:t>V</a:t>
            </a:r>
            <a:r>
              <a:rPr lang="en-US" i="1" baseline="-25000" dirty="0" err="1" smtClean="0">
                <a:latin typeface="KaTeX_Math"/>
              </a:rPr>
              <a:t>cont</a:t>
            </a:r>
            <a:r>
              <a:rPr lang="en-US" dirty="0">
                <a:latin typeface="fkGroteskNeue"/>
              </a:rPr>
              <a:t>, phase grows as a straight line.</a:t>
            </a:r>
          </a:p>
          <a:p>
            <a:pPr marL="742950" lvl="1" indent="-285750" algn="just">
              <a:buFont typeface="Arial" panose="020B0604020202020204" pitchFamily="34" charset="0"/>
              <a:buChar char="•"/>
            </a:pPr>
            <a:r>
              <a:rPr lang="en-US" dirty="0">
                <a:latin typeface="fkGroteskNeue"/>
              </a:rPr>
              <a:t>When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toggles, the </a:t>
            </a:r>
            <a:r>
              <a:rPr lang="en-US" i="1" dirty="0">
                <a:latin typeface="fkGroteskNeue"/>
              </a:rPr>
              <a:t>slope</a:t>
            </a:r>
            <a:r>
              <a:rPr lang="en-US" dirty="0">
                <a:latin typeface="fkGroteskNeue"/>
              </a:rPr>
              <a:t> of phase (i.e., frequency) also toggles. So the phase trace is a series of piecewise linear segments with alternating slopes.</a:t>
            </a:r>
          </a:p>
          <a:p>
            <a:pPr marL="342900" indent="-342900" algn="l">
              <a:buFont typeface="Wingdings" panose="05000000000000000000" pitchFamily="2" charset="2"/>
              <a:buChar char="q"/>
            </a:pPr>
            <a:r>
              <a:rPr lang="en-US" b="1" dirty="0">
                <a:solidFill>
                  <a:srgbClr val="C00000"/>
                </a:solidFill>
                <a:latin typeface="fkGroteskNeue"/>
              </a:rPr>
              <a:t>Key Point:</a:t>
            </a:r>
            <a:r>
              <a:rPr lang="en-US" dirty="0">
                <a:latin typeface="fkGroteskNeue"/>
              </a:rPr>
              <a:t/>
            </a:r>
            <a:br>
              <a:rPr lang="en-US" dirty="0">
                <a:latin typeface="fkGroteskNeue"/>
              </a:rPr>
            </a:br>
            <a:r>
              <a:rPr lang="en-US" dirty="0">
                <a:latin typeface="fkGroteskNeue"/>
              </a:rPr>
              <a:t>Phase is the time-integral of frequency. Switching between two frequencies produces a “kinked” (but continuous) phase trajectory—ramp segments of different slopes.</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36DB8299-EE51-4549-90B2-A6EB0970FF65}"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9"/>
            <a:ext cx="650991" cy="173324"/>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36525" y="1565544"/>
            <a:ext cx="3745527" cy="2413862"/>
          </a:xfrm>
          <a:prstGeom prst="rect">
            <a:avLst/>
          </a:prstGeom>
        </p:spPr>
      </p:pic>
      <p:sp>
        <p:nvSpPr>
          <p:cNvPr id="8"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970024975"/>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58616" y="1238786"/>
            <a:ext cx="6805137" cy="3867288"/>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19150" y="347725"/>
            <a:ext cx="10593196" cy="523220"/>
          </a:xfrm>
        </p:spPr>
        <p:txBody>
          <a:bodyPr/>
          <a:lstStyle/>
          <a:p>
            <a:r>
              <a:rPr lang="en-US" dirty="0">
                <a:latin typeface="fkGrotesk"/>
              </a:rPr>
              <a:t>Excess Phase </a:t>
            </a:r>
            <a:r>
              <a:rPr lang="en-US" i="1" dirty="0" err="1" smtClean="0">
                <a:latin typeface="KaTeX_Math"/>
              </a:rPr>
              <a:t>ϕ</a:t>
            </a:r>
            <a:r>
              <a:rPr lang="en-US" i="1" baseline="-25000" dirty="0" err="1" smtClean="0">
                <a:latin typeface="KaTeX_Math"/>
              </a:rPr>
              <a:t>ex</a:t>
            </a:r>
            <a:r>
              <a:rPr lang="en-US" dirty="0" smtClean="0">
                <a:latin typeface="KaTeX_Main"/>
              </a:rPr>
              <a:t>(</a:t>
            </a:r>
            <a:r>
              <a:rPr lang="en-US" i="1" dirty="0" smtClean="0">
                <a:latin typeface="KaTeX_Math"/>
              </a:rPr>
              <a:t>t</a:t>
            </a:r>
            <a:r>
              <a:rPr lang="en-US" dirty="0" smtClean="0">
                <a:latin typeface="KaTeX_Main"/>
              </a:rPr>
              <a:t>)</a:t>
            </a:r>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FEF7F073-9E15-4A60-B945-DEFAB2851CC9}"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576403" cy="273859"/>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8" name="Table 7"/>
          <p:cNvGraphicFramePr>
            <a:graphicFrameLocks noGrp="1"/>
          </p:cNvGraphicFramePr>
          <p:nvPr>
            <p:extLst>
              <p:ext uri="{D42A27DB-BD31-4B8C-83A1-F6EECF244321}">
                <p14:modId xmlns:p14="http://schemas.microsoft.com/office/powerpoint/2010/main" val="4164123857"/>
              </p:ext>
            </p:extLst>
          </p:nvPr>
        </p:nvGraphicFramePr>
        <p:xfrm>
          <a:off x="532855" y="1221998"/>
          <a:ext cx="6778421" cy="3596640"/>
        </p:xfrm>
        <a:graphic>
          <a:graphicData uri="http://schemas.openxmlformats.org/drawingml/2006/table">
            <a:tbl>
              <a:tblPr firstRow="1" bandRow="1">
                <a:tableStyleId>{5940675A-B579-460E-94D1-54222C63F5DA}</a:tableStyleId>
              </a:tblPr>
              <a:tblGrid>
                <a:gridCol w="6778421">
                  <a:extLst>
                    <a:ext uri="{9D8B030D-6E8A-4147-A177-3AD203B41FA5}">
                      <a16:colId xmlns:a16="http://schemas.microsoft.com/office/drawing/2014/main" val="4160098982"/>
                    </a:ext>
                  </a:extLst>
                </a:gridCol>
              </a:tblGrid>
              <a:tr h="370840">
                <a:tc>
                  <a:txBody>
                    <a:bodyPr/>
                    <a:lstStyle/>
                    <a:p>
                      <a:pPr marL="285750" indent="-285750">
                        <a:lnSpc>
                          <a:spcPct val="100000"/>
                        </a:lnSpc>
                        <a:buFont typeface="Wingdings" panose="05000000000000000000" pitchFamily="2" charset="2"/>
                        <a:buChar char="q"/>
                      </a:pPr>
                      <a:r>
                        <a:rPr lang="en-US" sz="2000" b="1" dirty="0" smtClean="0">
                          <a:solidFill>
                            <a:srgbClr val="C00000"/>
                          </a:solidFill>
                          <a:latin typeface="fkGroteskNeue"/>
                        </a:rPr>
                        <a:t>Definition:</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8447383"/>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sz="2000" dirty="0" smtClean="0">
                          <a:latin typeface="fkGroteskNeue"/>
                        </a:rPr>
                        <a:t>Excess phase is just the </a:t>
                      </a:r>
                      <a:r>
                        <a:rPr lang="en-US" sz="2000" i="1" dirty="0" smtClean="0">
                          <a:latin typeface="fkGroteskNeue"/>
                        </a:rPr>
                        <a:t>additional</a:t>
                      </a:r>
                      <a:r>
                        <a:rPr lang="en-US" sz="2000" dirty="0" smtClean="0">
                          <a:latin typeface="fkGroteskNeue"/>
                        </a:rPr>
                        <a:t> phase above what would be accumulated if frequency was always at </a:t>
                      </a:r>
                      <a:r>
                        <a:rPr lang="en-US" sz="2000" i="1" dirty="0" smtClean="0">
                          <a:latin typeface="KaTeX_Math"/>
                        </a:rPr>
                        <a:t>ω</a:t>
                      </a:r>
                      <a:r>
                        <a:rPr lang="en-US" sz="2000" baseline="-25000" dirty="0" smtClean="0">
                          <a:latin typeface="KaTeX_Main"/>
                        </a:rPr>
                        <a:t>0</a:t>
                      </a:r>
                      <a:r>
                        <a:rPr lang="en-US" sz="2000" dirty="0" smtClean="0">
                          <a:latin typeface="fkGroteskNeue"/>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58576301"/>
                  </a:ext>
                </a:extLst>
              </a:tr>
              <a:tr h="370840">
                <a:tc>
                  <a:txBody>
                    <a:bodyPr/>
                    <a:lstStyle/>
                    <a:p>
                      <a:pPr marL="285750" indent="-285750">
                        <a:lnSpc>
                          <a:spcPct val="100000"/>
                        </a:lnSpc>
                        <a:buFont typeface="Wingdings" panose="05000000000000000000" pitchFamily="2" charset="2"/>
                        <a:buChar char="q"/>
                      </a:pPr>
                      <a:r>
                        <a:rPr lang="en-US" sz="2000" b="1" dirty="0" smtClean="0">
                          <a:solidFill>
                            <a:srgbClr val="C00000"/>
                          </a:solidFill>
                          <a:latin typeface="fkGroteskNeue"/>
                        </a:rPr>
                        <a:t>Shape:</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401625"/>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sz="2000" dirty="0" smtClean="0">
                          <a:latin typeface="fkGroteskNeue"/>
                        </a:rPr>
                        <a:t>For a square wave input, excess phase forms a triangle (a triangular waveform).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9705037"/>
                  </a:ext>
                </a:extLst>
              </a:tr>
              <a:tr h="370840">
                <a:tc>
                  <a:txBody>
                    <a:bodyPr/>
                    <a:lstStyle/>
                    <a:p>
                      <a:pPr marL="285750" indent="-285750">
                        <a:lnSpc>
                          <a:spcPct val="100000"/>
                        </a:lnSpc>
                        <a:buFont typeface="Wingdings" panose="05000000000000000000" pitchFamily="2" charset="2"/>
                        <a:buChar char="q"/>
                      </a:pPr>
                      <a:r>
                        <a:rPr lang="en-US" sz="2000" b="1" dirty="0" smtClean="0">
                          <a:solidFill>
                            <a:srgbClr val="C00000"/>
                          </a:solidFill>
                          <a:latin typeface="fkGroteskNeue"/>
                        </a:rPr>
                        <a:t>Peak Value:</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548855"/>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sz="2000" dirty="0" smtClean="0">
                          <a:latin typeface="fkGroteskNeue"/>
                        </a:rPr>
                        <a:t>The triangle’s maximum is </a:t>
                      </a:r>
                      <a:r>
                        <a:rPr lang="en-US" sz="2000" dirty="0" smtClean="0">
                          <a:latin typeface="KaTeX_Main"/>
                        </a:rPr>
                        <a:t>(</a:t>
                      </a:r>
                      <a:r>
                        <a:rPr lang="en-US" sz="2000" i="1" dirty="0" smtClean="0">
                          <a:latin typeface="KaTeX_Math"/>
                        </a:rPr>
                        <a:t>K</a:t>
                      </a:r>
                      <a:r>
                        <a:rPr lang="en-US" sz="2000" i="1" baseline="-25000" dirty="0" smtClean="0">
                          <a:latin typeface="KaTeX_Math"/>
                        </a:rPr>
                        <a:t>VCO</a:t>
                      </a:r>
                      <a:r>
                        <a:rPr lang="en-US" sz="2000" i="1" dirty="0" smtClean="0">
                          <a:latin typeface="KaTeX_Math"/>
                        </a:rPr>
                        <a:t>V</a:t>
                      </a:r>
                      <a:r>
                        <a:rPr lang="en-US" sz="2000" baseline="-25000" dirty="0" smtClean="0">
                          <a:latin typeface="KaTeX_Main"/>
                        </a:rPr>
                        <a:t>1</a:t>
                      </a:r>
                      <a:r>
                        <a:rPr lang="en-US" sz="2000" i="1" dirty="0" smtClean="0">
                          <a:latin typeface="KaTeX_Math"/>
                        </a:rPr>
                        <a:t>T</a:t>
                      </a:r>
                      <a:r>
                        <a:rPr lang="en-US" sz="2000" i="1" baseline="-25000" dirty="0" smtClean="0">
                          <a:latin typeface="KaTeX_Math"/>
                        </a:rPr>
                        <a:t>m</a:t>
                      </a:r>
                      <a:r>
                        <a:rPr lang="en-US" sz="2000" dirty="0" smtClean="0">
                          <a:latin typeface="KaTeX_Main"/>
                        </a:rPr>
                        <a:t>)/2</a:t>
                      </a:r>
                      <a:r>
                        <a:rPr lang="en-US" sz="2000" dirty="0" smtClean="0">
                          <a:latin typeface="fkGroteskNeue"/>
                        </a:rPr>
                        <a:t>, reflecting the time the control input “pushes” phase up or down away from the carrier baseline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5829807"/>
                  </a:ext>
                </a:extLst>
              </a:tr>
            </a:tbl>
          </a:graphicData>
        </a:graphic>
      </p:graphicFrame>
      <p:pic>
        <p:nvPicPr>
          <p:cNvPr id="10" name="Picture 9"/>
          <p:cNvPicPr>
            <a:picLocks noChangeAspect="1"/>
          </p:cNvPicPr>
          <p:nvPr/>
        </p:nvPicPr>
        <p:blipFill>
          <a:blip r:embed="rId2"/>
          <a:stretch>
            <a:fillRect/>
          </a:stretch>
        </p:blipFill>
        <p:spPr>
          <a:xfrm>
            <a:off x="7605610" y="1664638"/>
            <a:ext cx="4235889" cy="1935859"/>
          </a:xfrm>
          <a:prstGeom prst="rect">
            <a:avLst/>
          </a:prstGeom>
        </p:spPr>
      </p:pic>
      <p:sp>
        <p:nvSpPr>
          <p:cNvPr id="9"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880874401"/>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Conceptual </a:t>
            </a:r>
            <a:r>
              <a:rPr lang="en-US" dirty="0" smtClean="0">
                <a:latin typeface="fkGrotesk"/>
              </a:rPr>
              <a:t>Takeaways</a:t>
            </a:r>
            <a:endParaRPr lang="en-US" dirty="0"/>
          </a:p>
        </p:txBody>
      </p:sp>
      <p:sp>
        <p:nvSpPr>
          <p:cNvPr id="3" name="Text Placeholder 2"/>
          <p:cNvSpPr>
            <a:spLocks noGrp="1"/>
          </p:cNvSpPr>
          <p:nvPr>
            <p:ph type="body" idx="1"/>
          </p:nvPr>
        </p:nvSpPr>
        <p:spPr>
          <a:xfrm>
            <a:off x="794854" y="1010245"/>
            <a:ext cx="11181798" cy="5021311"/>
          </a:xfrm>
        </p:spPr>
        <p:txBody>
          <a:bodyPr/>
          <a:lstStyle/>
          <a:p>
            <a:pPr marL="342900" indent="-342900" algn="l">
              <a:lnSpc>
                <a:spcPct val="150000"/>
              </a:lnSpc>
              <a:buFont typeface="Wingdings" panose="05000000000000000000" pitchFamily="2" charset="2"/>
              <a:buChar char="q"/>
            </a:pPr>
            <a:r>
              <a:rPr lang="en-US" b="1" dirty="0" smtClean="0">
                <a:solidFill>
                  <a:srgbClr val="C00000"/>
                </a:solidFill>
                <a:latin typeface="fkGroteskNeue"/>
              </a:rPr>
              <a:t>VCO </a:t>
            </a:r>
            <a:r>
              <a:rPr lang="en-US" b="1" dirty="0">
                <a:solidFill>
                  <a:srgbClr val="C00000"/>
                </a:solidFill>
                <a:latin typeface="fkGroteskNeue"/>
              </a:rPr>
              <a:t>Behavior as an Integrator:</a:t>
            </a:r>
            <a:r>
              <a:rPr lang="en-US" dirty="0">
                <a:latin typeface="fkGroteskNeue"/>
              </a:rPr>
              <a:t/>
            </a:r>
            <a:br>
              <a:rPr lang="en-US" dirty="0">
                <a:latin typeface="fkGroteskNeue"/>
              </a:rPr>
            </a:br>
            <a:r>
              <a:rPr lang="en-US" dirty="0">
                <a:latin typeface="fkGroteskNeue"/>
              </a:rPr>
              <a:t>The total phase at the VCO output is always the </a:t>
            </a:r>
            <a:r>
              <a:rPr lang="en-US" i="1" dirty="0">
                <a:latin typeface="fkGroteskNeue"/>
              </a:rPr>
              <a:t>integral</a:t>
            </a:r>
            <a:r>
              <a:rPr lang="en-US" dirty="0">
                <a:latin typeface="fkGroteskNeue"/>
              </a:rPr>
              <a:t> of the instantaneous frequency, and the instantaneous frequency responds directly (and piecewise-constantly) to the control voltage.</a:t>
            </a:r>
          </a:p>
          <a:p>
            <a:pPr marL="342900" indent="-342900" algn="l">
              <a:lnSpc>
                <a:spcPct val="150000"/>
              </a:lnSpc>
              <a:buFont typeface="Wingdings" panose="05000000000000000000" pitchFamily="2" charset="2"/>
              <a:buChar char="q"/>
            </a:pPr>
            <a:r>
              <a:rPr lang="en-US" b="1" dirty="0">
                <a:solidFill>
                  <a:srgbClr val="C00000"/>
                </a:solidFill>
                <a:latin typeface="fkGroteskNeue"/>
              </a:rPr>
              <a:t>FM/PM Modulation:</a:t>
            </a:r>
            <a:r>
              <a:rPr lang="en-US" dirty="0">
                <a:latin typeface="fkGroteskNeue"/>
              </a:rPr>
              <a:t/>
            </a:r>
            <a:br>
              <a:rPr lang="en-US" dirty="0">
                <a:latin typeface="fkGroteskNeue"/>
              </a:rPr>
            </a:br>
            <a:r>
              <a:rPr lang="en-US" dirty="0">
                <a:latin typeface="fkGroteskNeue"/>
              </a:rPr>
              <a:t>This example shows the core of frequency and phase modulation: if the input to the VCO changes in discrete steps (square wave), the frequency toggles, and the phase follows as a ramp, integrating those toggles into a triangle.</a:t>
            </a:r>
          </a:p>
          <a:p>
            <a:pPr marL="342900" indent="-342900" algn="l">
              <a:lnSpc>
                <a:spcPct val="150000"/>
              </a:lnSpc>
              <a:buFont typeface="Wingdings" panose="05000000000000000000" pitchFamily="2" charset="2"/>
              <a:buChar char="q"/>
            </a:pPr>
            <a:r>
              <a:rPr lang="en-US" b="1" dirty="0">
                <a:solidFill>
                  <a:srgbClr val="C00000"/>
                </a:solidFill>
                <a:latin typeface="fkGroteskNeue"/>
              </a:rPr>
              <a:t>PLL Relevance</a:t>
            </a:r>
            <a:r>
              <a:rPr lang="en-US" b="1" dirty="0" smtClean="0">
                <a:solidFill>
                  <a:srgbClr val="C00000"/>
                </a:solidFill>
                <a:latin typeface="fkGroteskNeue"/>
              </a:rPr>
              <a:t>:</a:t>
            </a:r>
            <a:r>
              <a:rPr lang="en-US" dirty="0">
                <a:latin typeface="fkGroteskNeue"/>
              </a:rPr>
              <a:t/>
            </a:r>
            <a:br>
              <a:rPr lang="en-US" dirty="0">
                <a:latin typeface="fkGroteskNeue"/>
              </a:rPr>
            </a:br>
            <a:r>
              <a:rPr lang="en-US" dirty="0">
                <a:latin typeface="fkGroteskNeue"/>
              </a:rPr>
              <a:t>In PLLs, the </a:t>
            </a:r>
            <a:r>
              <a:rPr lang="en-US" i="1" dirty="0">
                <a:latin typeface="fkGroteskNeue"/>
              </a:rPr>
              <a:t>integral</a:t>
            </a:r>
            <a:r>
              <a:rPr lang="en-US" dirty="0">
                <a:latin typeface="fkGroteskNeue"/>
              </a:rPr>
              <a:t> relationship between phase (output) and control voltage (input) is what enables loop filtering and noise shaping, making this foundational for both understanding and design</a:t>
            </a:r>
            <a:r>
              <a:rPr lang="en-US" dirty="0" smtClean="0">
                <a:latin typeface="fkGroteskNeue"/>
              </a:rPr>
              <a:t>.</a:t>
            </a:r>
            <a:endParaRPr lang="en-US" dirty="0">
              <a:latin typeface="fkGroteskNeue"/>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E8CF6F23-606F-4BB7-B526-0809C2C7152C}"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2689067642"/>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latin typeface="fkGrotesk"/>
              </a:rPr>
              <a:t>Summary</a:t>
            </a:r>
            <a:endParaRPr lang="en-US" dirty="0"/>
          </a:p>
        </p:txBody>
      </p:sp>
      <p:sp>
        <p:nvSpPr>
          <p:cNvPr id="3" name="Text Placeholder 2"/>
          <p:cNvSpPr>
            <a:spLocks noGrp="1"/>
          </p:cNvSpPr>
          <p:nvPr>
            <p:ph type="body" idx="1"/>
          </p:nvPr>
        </p:nvSpPr>
        <p:spPr>
          <a:xfrm>
            <a:off x="844550" y="1327353"/>
            <a:ext cx="10494010" cy="3077766"/>
          </a:xfrm>
        </p:spPr>
        <p:txBody>
          <a:bodyPr/>
          <a:lstStyle/>
          <a:p>
            <a:pPr marL="342900" indent="-342900" algn="l">
              <a:lnSpc>
                <a:spcPct val="150000"/>
              </a:lnSpc>
              <a:buFont typeface="Wingdings" panose="05000000000000000000" pitchFamily="2" charset="2"/>
              <a:buChar char="q"/>
            </a:pPr>
            <a:r>
              <a:rPr lang="en-US" dirty="0" smtClean="0">
                <a:latin typeface="fkGroteskNeue"/>
              </a:rPr>
              <a:t>The </a:t>
            </a:r>
            <a:r>
              <a:rPr lang="en-US" dirty="0">
                <a:latin typeface="fkGroteskNeue"/>
              </a:rPr>
              <a:t>example visually links control voltage, output frequency, and output phase for a VCO—showing how a non-sinusoidal (digital) control input maps to phase and frequency changes.</a:t>
            </a:r>
          </a:p>
          <a:p>
            <a:pPr marL="342900" indent="-342900" algn="l">
              <a:lnSpc>
                <a:spcPct val="150000"/>
              </a:lnSpc>
              <a:buFont typeface="Wingdings" panose="05000000000000000000" pitchFamily="2" charset="2"/>
              <a:buChar char="q"/>
            </a:pPr>
            <a:r>
              <a:rPr lang="en-US" dirty="0">
                <a:latin typeface="fkGroteskNeue"/>
              </a:rPr>
              <a:t>The </a:t>
            </a:r>
            <a:r>
              <a:rPr lang="en-US" i="1" dirty="0">
                <a:latin typeface="fkGroteskNeue"/>
              </a:rPr>
              <a:t>output phase is always continuous</a:t>
            </a:r>
            <a:r>
              <a:rPr lang="en-US" dirty="0">
                <a:latin typeface="fkGroteskNeue"/>
              </a:rPr>
              <a:t>, even if frequency jumps.</a:t>
            </a:r>
          </a:p>
          <a:p>
            <a:pPr marL="342900" indent="-342900" algn="l">
              <a:lnSpc>
                <a:spcPct val="150000"/>
              </a:lnSpc>
              <a:buFont typeface="Wingdings" panose="05000000000000000000" pitchFamily="2" charset="2"/>
              <a:buChar char="q"/>
            </a:pPr>
            <a:r>
              <a:rPr lang="en-US" dirty="0">
                <a:latin typeface="fkGroteskNeue"/>
              </a:rPr>
              <a:t>The </a:t>
            </a:r>
            <a:r>
              <a:rPr lang="en-US" i="1" dirty="0">
                <a:latin typeface="fkGroteskNeue"/>
              </a:rPr>
              <a:t>excess phase</a:t>
            </a:r>
            <a:r>
              <a:rPr lang="en-US" dirty="0">
                <a:latin typeface="fkGroteskNeue"/>
              </a:rPr>
              <a:t> (over a fixed baseline) captures all modulation and is a key metric in communication and PLL design</a:t>
            </a:r>
          </a:p>
          <a:p>
            <a:endParaRPr lang="en-US" dirty="0"/>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E958B0C-F929-4331-9B9A-CA55E0DBA9AC}" type="datetime1">
              <a:rPr kumimoji="0" lang="en-US" sz="1200" b="0" i="0" u="none" strike="noStrike" kern="0" cap="none" spc="-10" normalizeH="0" baseline="0" noProof="0" smtClean="0">
                <a:ln>
                  <a:noFill/>
                </a:ln>
                <a:solidFill>
                  <a:prstClr val="black"/>
                </a:solidFill>
                <a:effectLst/>
                <a:uLnTx/>
                <a:uFillTx/>
                <a:latin typeface="Verdana"/>
                <a:ea typeface="+mn-ea"/>
              </a:rPr>
              <a:t>9/1/2026</a:t>
            </a:fld>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67201" cy="222884"/>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Footer Placeholder 3"/>
          <p:cNvSpPr>
            <a:spLocks noGrp="1"/>
          </p:cNvSpPr>
          <p:nvPr>
            <p:ph type="ftr" sz="quarter" idx="5"/>
          </p:nvPr>
        </p:nvSpPr>
        <p:spPr>
          <a:xfrm>
            <a:off x="4338913" y="6594842"/>
            <a:ext cx="2916651" cy="263158"/>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0" normalizeH="0" baseline="0" noProof="0" smtClean="0">
                <a:ln>
                  <a:noFill/>
                </a:ln>
                <a:solidFill>
                  <a:srgbClr val="C00000"/>
                </a:solidFill>
                <a:effectLst/>
                <a:uLnTx/>
                <a:uFillTx/>
                <a:latin typeface="Verdana"/>
                <a:ea typeface="+mn-ea"/>
              </a:rPr>
              <a:t>Neeraj Mishra AAMD BITS Pilani </a:t>
            </a:r>
            <a:endParaRPr kumimoji="0" lang="en-US" sz="1200" b="1" i="0" u="none" strike="noStrike" kern="0" cap="none" spc="-10" normalizeH="0" baseline="0" noProof="0" dirty="0">
              <a:ln>
                <a:noFill/>
              </a:ln>
              <a:solidFill>
                <a:srgbClr val="C00000"/>
              </a:solidFill>
              <a:effectLst/>
              <a:uLnTx/>
              <a:uFillTx/>
              <a:latin typeface="Verdana"/>
              <a:ea typeface="+mn-ea"/>
            </a:endParaRPr>
          </a:p>
        </p:txBody>
      </p:sp>
    </p:spTree>
    <p:extLst>
      <p:ext uri="{BB962C8B-B14F-4D97-AF65-F5344CB8AC3E}">
        <p14:creationId xmlns:p14="http://schemas.microsoft.com/office/powerpoint/2010/main" val="373302709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21173</TotalTime>
  <Words>10108</Words>
  <Application>Microsoft Office PowerPoint</Application>
  <PresentationFormat>Widescreen</PresentationFormat>
  <Paragraphs>2230</Paragraphs>
  <Slides>162</Slides>
  <Notes>6</Notes>
  <HiddenSlides>6</HiddenSlides>
  <MMClips>0</MMClips>
  <ScaleCrop>false</ScaleCrop>
  <HeadingPairs>
    <vt:vector size="6" baseType="variant">
      <vt:variant>
        <vt:lpstr>Fonts Used</vt:lpstr>
      </vt:variant>
      <vt:variant>
        <vt:i4>59</vt:i4>
      </vt:variant>
      <vt:variant>
        <vt:lpstr>Theme</vt:lpstr>
      </vt:variant>
      <vt:variant>
        <vt:i4>2</vt:i4>
      </vt:variant>
      <vt:variant>
        <vt:lpstr>Slide Titles</vt:lpstr>
      </vt:variant>
      <vt:variant>
        <vt:i4>162</vt:i4>
      </vt:variant>
    </vt:vector>
  </HeadingPairs>
  <TitlesOfParts>
    <vt:vector size="223" baseType="lpstr">
      <vt:lpstr>Malgun Gothic</vt:lpstr>
      <vt:lpstr>Arial</vt:lpstr>
      <vt:lpstr>Calibri</vt:lpstr>
      <vt:lpstr>Calibri Light</vt:lpstr>
      <vt:lpstr>Cambria Math</vt:lpstr>
      <vt:lpstr>Courier New</vt:lpstr>
      <vt:lpstr>fkGrotesk</vt:lpstr>
      <vt:lpstr>fkGroteskNeue</vt:lpstr>
      <vt:lpstr>Georgia</vt:lpstr>
      <vt:lpstr>Gill Sans MT</vt:lpstr>
      <vt:lpstr>inter</vt:lpstr>
      <vt:lpstr>KaTeX_Main</vt:lpstr>
      <vt:lpstr>KaTeX_Math</vt:lpstr>
      <vt:lpstr>KaTeX_Size3</vt:lpstr>
      <vt:lpstr>Symbol</vt:lpstr>
      <vt:lpstr>T3Font_100</vt:lpstr>
      <vt:lpstr>T3Font_104</vt:lpstr>
      <vt:lpstr>T3Font_105</vt:lpstr>
      <vt:lpstr>T3Font_128</vt:lpstr>
      <vt:lpstr>T3Font_129</vt:lpstr>
      <vt:lpstr>T3Font_130</vt:lpstr>
      <vt:lpstr>T3Font_131</vt:lpstr>
      <vt:lpstr>T3Font_134</vt:lpstr>
      <vt:lpstr>T3Font_139</vt:lpstr>
      <vt:lpstr>T3Font_140</vt:lpstr>
      <vt:lpstr>T3Font_141</vt:lpstr>
      <vt:lpstr>T3Font_142</vt:lpstr>
      <vt:lpstr>T3Font_151</vt:lpstr>
      <vt:lpstr>T3Font_153</vt:lpstr>
      <vt:lpstr>T3Font_159</vt:lpstr>
      <vt:lpstr>T3Font_164</vt:lpstr>
      <vt:lpstr>T3Font_165</vt:lpstr>
      <vt:lpstr>T3Font_185</vt:lpstr>
      <vt:lpstr>T3Font_189</vt:lpstr>
      <vt:lpstr>T3Font_200</vt:lpstr>
      <vt:lpstr>T3Font_206</vt:lpstr>
      <vt:lpstr>T3Font_215</vt:lpstr>
      <vt:lpstr>T3Font_216</vt:lpstr>
      <vt:lpstr>T3Font_2251</vt:lpstr>
      <vt:lpstr>T3Font_2252</vt:lpstr>
      <vt:lpstr>T3Font_2253</vt:lpstr>
      <vt:lpstr>T3Font_2254</vt:lpstr>
      <vt:lpstr>T3Font_2255</vt:lpstr>
      <vt:lpstr>T3Font_249</vt:lpstr>
      <vt:lpstr>T3Font_274</vt:lpstr>
      <vt:lpstr>T3Font_281</vt:lpstr>
      <vt:lpstr>T3Font_285</vt:lpstr>
      <vt:lpstr>T3Font_336</vt:lpstr>
      <vt:lpstr>T3Font_347</vt:lpstr>
      <vt:lpstr>T3Font_359</vt:lpstr>
      <vt:lpstr>T3Font_380</vt:lpstr>
      <vt:lpstr>T3Font_76</vt:lpstr>
      <vt:lpstr>T3Font_83</vt:lpstr>
      <vt:lpstr>T3Font_85</vt:lpstr>
      <vt:lpstr>T3Font_88</vt:lpstr>
      <vt:lpstr>T3Font_92</vt:lpstr>
      <vt:lpstr>Times New Roman</vt:lpstr>
      <vt:lpstr>Verdana</vt:lpstr>
      <vt:lpstr>Wingdings</vt:lpstr>
      <vt:lpstr>1_Office Theme</vt:lpstr>
      <vt:lpstr>2_Office Theme</vt:lpstr>
      <vt:lpstr>PowerPoint Presentation</vt:lpstr>
      <vt:lpstr>Trend of Ever-Increasing Data Rate</vt:lpstr>
      <vt:lpstr>PowerPoint Presentation</vt:lpstr>
      <vt:lpstr>Problem Context and Motivation</vt:lpstr>
      <vt:lpstr>PowerPoint Presentation</vt:lpstr>
      <vt:lpstr>Multiphase Generation deep dive</vt:lpstr>
      <vt:lpstr>PowerPoint Presentation</vt:lpstr>
      <vt:lpstr>Comparative Table: Advanced Multiphase Clock Generation</vt:lpstr>
      <vt:lpstr>Advanced Insights</vt:lpstr>
      <vt:lpstr>Introduction to High-Speed Data Conversion </vt:lpstr>
      <vt:lpstr>Four-Way Time Interleaved ADC Architecture</vt:lpstr>
      <vt:lpstr>Cont..</vt:lpstr>
      <vt:lpstr>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Oscillator Essentials for PLL</vt:lpstr>
      <vt:lpstr>Oscillator Essentials</vt:lpstr>
      <vt:lpstr>Pendulum and Electronic Oscillators for PLLs</vt:lpstr>
      <vt:lpstr>Physical Setup and Energy </vt:lpstr>
      <vt:lpstr>Cont..</vt:lpstr>
      <vt:lpstr>Cont..</vt:lpstr>
      <vt:lpstr>2. How Feedback Sustains Oscillation</vt:lpstr>
      <vt:lpstr>3. Connecting Mechanical Examples with Electronic Counterparts</vt:lpstr>
      <vt:lpstr>4. Frequency Selectivity and Feedback: The Heart of Oscillators and PLLs</vt:lpstr>
      <vt:lpstr>Mechanical Analogy &amp; Oscillatory Feedback</vt:lpstr>
      <vt:lpstr>Cont..</vt:lpstr>
      <vt:lpstr>Simple feedback system:</vt:lpstr>
      <vt:lpstr>Barkhausen's Criteria &amp; Oscillatory Feedback</vt:lpstr>
      <vt:lpstr>Oscillatory Feedback System: Intuitive Understanding</vt:lpstr>
      <vt:lpstr>Cont..</vt:lpstr>
      <vt:lpstr>Deep Dive</vt:lpstr>
      <vt:lpstr>Cont..</vt:lpstr>
      <vt:lpstr>Cont..</vt:lpstr>
      <vt:lpstr>Cont..</vt:lpstr>
      <vt:lpstr>Cont..</vt:lpstr>
      <vt:lpstr>2. Barkhausen Criteria: The Mathematical Foundation</vt:lpstr>
      <vt:lpstr>Condition for Marginally Stable Oscillation</vt:lpstr>
      <vt:lpstr>3. Oscillation Growth Mechanism </vt:lpstr>
      <vt:lpstr>Cont..</vt:lpstr>
      <vt:lpstr>Cont..</vt:lpstr>
      <vt:lpstr>4. Noise-Initiated Oscillation </vt:lpstr>
      <vt:lpstr>Circuit Configuration</vt:lpstr>
      <vt:lpstr>5. Impedance Perspective</vt:lpstr>
      <vt:lpstr>Infinite Port Impedance at Oscillation Frequency</vt:lpstr>
      <vt:lpstr>Designer Application - Impedance-Based Verification </vt:lpstr>
      <vt:lpstr>6.Progression: From Mechanical to Electronic</vt:lpstr>
      <vt:lpstr>7. Stability vs. Oscillation: The Fine Line</vt:lpstr>
      <vt:lpstr>Oscillator Analysis Methods: From Fundamentals to Real Circuit Design</vt:lpstr>
      <vt:lpstr>Common Source (CS) Stage Analysis</vt:lpstr>
      <vt:lpstr>Cont..</vt:lpstr>
      <vt:lpstr>Adding Delay for Oscillation The Delay Line Solution:</vt:lpstr>
      <vt:lpstr>Circuit Configuration</vt:lpstr>
      <vt:lpstr>Output Impedance Calculation </vt:lpstr>
      <vt:lpstr>Fundamental Insights</vt:lpstr>
      <vt:lpstr>Progressive Learning Path</vt:lpstr>
      <vt:lpstr>Fundamental Intuition for Oscillator Startup, Growth, and Topologies</vt:lpstr>
      <vt:lpstr>1. Startup Condition Beyond Barkhausen</vt:lpstr>
      <vt:lpstr>Cont..</vt:lpstr>
      <vt:lpstr>2. Oscillation Growth vs. Steady-State</vt:lpstr>
      <vt:lpstr>Impulse Response</vt:lpstr>
      <vt:lpstr>Sinusoidal Input at Oscillation Frequency</vt:lpstr>
      <vt:lpstr>3. Positive Feedback at DC and Ring-Latch Behavior</vt:lpstr>
      <vt:lpstr>4. Ring Oscillator Foundations</vt:lpstr>
      <vt:lpstr>Fundamental Intuition for Ring Oscillator Operation and Scaling</vt:lpstr>
      <vt:lpstr>1. Ring Oscillator Phase Shift and Frequency: Scaling with N</vt:lpstr>
      <vt:lpstr>2. Three-Stage Ring Oscillator: Fundamental Operation</vt:lpstr>
      <vt:lpstr>2. Three-Stage Ring Oscillator: Fundamental Operation</vt:lpstr>
      <vt:lpstr>3. Extracting Oscillation Frequency and Startup Condition</vt:lpstr>
      <vt:lpstr>Cont..</vt:lpstr>
      <vt:lpstr>3. Extracting Oscillation Frequency and Startup Condition</vt:lpstr>
      <vt:lpstr>4. Waveform Phase Separation and Capacitance Modeling</vt:lpstr>
      <vt:lpstr>5. Key Pedagogical Takeaways</vt:lpstr>
      <vt:lpstr>Key Learning Points</vt:lpstr>
      <vt:lpstr>Nonlinearity, Amplitude, and Waveform Properties in Practice</vt:lpstr>
      <vt:lpstr>1. Nonlinearity and Amplitude Stabilization</vt:lpstr>
      <vt:lpstr>2. Ideal and Practical Waveform Shapes</vt:lpstr>
      <vt:lpstr>3. Inverter-Based Rings: Supply Voltage Effects and Delay</vt:lpstr>
      <vt:lpstr>Cont..</vt:lpstr>
      <vt:lpstr>4. Startup and Amplitude Growth</vt:lpstr>
      <vt:lpstr>5. Key Takeaways</vt:lpstr>
      <vt:lpstr>Nonlinearity and Oscillation Amplitude</vt:lpstr>
      <vt:lpstr>Design Insights</vt:lpstr>
      <vt:lpstr>Fundamental Takeaways</vt:lpstr>
      <vt:lpstr>Fundamental Understanding of Lossy LC Tanks and Oscillator Resonance</vt:lpstr>
      <vt:lpstr>1. Basic LC Tank Behavior</vt:lpstr>
      <vt:lpstr>2. Realistic Losses in the LC Tank</vt:lpstr>
      <vt:lpstr>3. Relationship Between Lp, Rp, and L1, RS</vt:lpstr>
      <vt:lpstr>Cont..</vt:lpstr>
      <vt:lpstr>Cont..</vt:lpstr>
      <vt:lpstr>Frequency Dependence and Approximations in Lossy LC Tanks</vt:lpstr>
      <vt:lpstr>Cont..</vt:lpstr>
      <vt:lpstr>Example </vt:lpstr>
      <vt:lpstr>4. Visualizing the Lossy Parallel LC Tank</vt:lpstr>
      <vt:lpstr>Summary</vt:lpstr>
      <vt:lpstr>Frequency-Dependent 𝑅𝑝 of a Lossy Inductor Tank</vt:lpstr>
      <vt:lpstr>Cont..</vt:lpstr>
      <vt:lpstr>Visual Aid Explanation</vt:lpstr>
      <vt:lpstr>Summary</vt:lpstr>
      <vt:lpstr>Sharper Resonance and Phase from Higher Rp</vt:lpstr>
      <vt:lpstr>Doubling Rp </vt:lpstr>
      <vt:lpstr>Visual Intuition </vt:lpstr>
      <vt:lpstr>Takeaway</vt:lpstr>
      <vt:lpstr>Cont..</vt:lpstr>
      <vt:lpstr>Quality Factor Q Fundamentals</vt:lpstr>
      <vt:lpstr>Amplifier with Tuned Load</vt:lpstr>
      <vt:lpstr>Explaining Q Factor for Ring Oscillators — Fundamental, Intuitive Approach</vt:lpstr>
      <vt:lpstr>Measuring and Visualizing Q: The Ring-Down Method</vt:lpstr>
      <vt:lpstr>Intuitive Summary </vt:lpstr>
      <vt:lpstr>Quality Factor and Oscillator Types: Ring vs LC</vt:lpstr>
      <vt:lpstr>Pedagogical Conclusion</vt:lpstr>
      <vt:lpstr>Cont..</vt:lpstr>
      <vt:lpstr>Comparison: Ring Oscillator vs LC Oscillator Quality Factor</vt:lpstr>
      <vt:lpstr>Intuitive Takeaways</vt:lpstr>
      <vt:lpstr>LC Oscillators as Feedback Systems</vt:lpstr>
      <vt:lpstr>Analysis of Latch-Up in LC Oscillators</vt:lpstr>
      <vt:lpstr>Circuit Topologies and Redrawn Forms Figures: </vt:lpstr>
      <vt:lpstr>Oscillator Waveforms and Operation</vt:lpstr>
      <vt:lpstr>Cont..</vt:lpstr>
      <vt:lpstr>Key Performance and Design Considerations</vt:lpstr>
      <vt:lpstr>Cont..</vt:lpstr>
      <vt:lpstr>Cont..</vt:lpstr>
      <vt:lpstr>Cont..</vt:lpstr>
      <vt:lpstr>Oscillation Condition &amp; Mathematical Test</vt:lpstr>
      <vt:lpstr>Intuitive &amp; Rigorous Perspective</vt:lpstr>
      <vt:lpstr>Differential Pair with LC Loads</vt:lpstr>
      <vt:lpstr>Input/Output Currents and Voltages</vt:lpstr>
      <vt:lpstr>Frequency Components in Square Wave</vt:lpstr>
      <vt:lpstr>Differential Pair with Negative Feedback</vt:lpstr>
      <vt:lpstr>Differential Pair with Positive Feedback (Cross-Coupled)</vt:lpstr>
      <vt:lpstr>Overall Takeaways</vt:lpstr>
      <vt:lpstr>Lossless LC Tank—Natural Oscillation</vt:lpstr>
      <vt:lpstr>Lossy LC Tank—Oscillation Decay</vt:lpstr>
      <vt:lpstr>Tapping the Tank—Sustained Oscillation with Negative Resistance</vt:lpstr>
      <vt:lpstr>Circuit Exhibiting Negative Resistance</vt:lpstr>
      <vt:lpstr>Basic Three-Point Oscillator</vt:lpstr>
      <vt:lpstr>Equivalent Loss Model</vt:lpstr>
      <vt:lpstr>Three Practical Oscillator Realizations</vt:lpstr>
      <vt:lpstr>Key Formula Connections</vt:lpstr>
      <vt:lpstr>Differential Oscillator from Three-Point Topology</vt:lpstr>
      <vt:lpstr>VCO (Voltage-Controlled Oscillator) Tuning Characteristic</vt:lpstr>
      <vt:lpstr>Phase Growth with Time (VCO Output)</vt:lpstr>
      <vt:lpstr>Key Equations—VCO Behavior</vt:lpstr>
      <vt:lpstr>Summary of Concepts Across Figures</vt:lpstr>
      <vt:lpstr>VCO Sensing a Square Wave</vt:lpstr>
      <vt:lpstr>Output Waveform</vt:lpstr>
      <vt:lpstr>Total Output Phase ϕ(t)</vt:lpstr>
      <vt:lpstr>Excess Phase ϕex(t)</vt:lpstr>
      <vt:lpstr>Conceptual Takeaways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144</cp:revision>
  <dcterms:created xsi:type="dcterms:W3CDTF">2025-10-03T04:47:07Z</dcterms:created>
  <dcterms:modified xsi:type="dcterms:W3CDTF">2026-09-06T04:43:14Z</dcterms:modified>
</cp:coreProperties>
</file>