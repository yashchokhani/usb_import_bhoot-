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6" r:id="rId2"/>
  </p:sldMasterIdLst>
  <p:sldIdLst>
    <p:sldId id="312" r:id="rId3"/>
    <p:sldId id="270" r:id="rId4"/>
    <p:sldId id="271" r:id="rId5"/>
    <p:sldId id="272" r:id="rId6"/>
    <p:sldId id="273" r:id="rId7"/>
    <p:sldId id="274" r:id="rId8"/>
    <p:sldId id="338" r:id="rId9"/>
    <p:sldId id="275" r:id="rId10"/>
    <p:sldId id="276" r:id="rId11"/>
    <p:sldId id="277" r:id="rId12"/>
    <p:sldId id="278" r:id="rId13"/>
    <p:sldId id="279" r:id="rId14"/>
    <p:sldId id="280" r:id="rId15"/>
    <p:sldId id="281" r:id="rId16"/>
    <p:sldId id="282" r:id="rId17"/>
    <p:sldId id="337" r:id="rId18"/>
    <p:sldId id="283" r:id="rId19"/>
    <p:sldId id="284" r:id="rId20"/>
    <p:sldId id="285" r:id="rId21"/>
    <p:sldId id="286" r:id="rId22"/>
    <p:sldId id="287" r:id="rId23"/>
    <p:sldId id="288" r:id="rId24"/>
    <p:sldId id="289" r:id="rId25"/>
    <p:sldId id="290" r:id="rId26"/>
    <p:sldId id="291" r:id="rId27"/>
    <p:sldId id="292" r:id="rId28"/>
    <p:sldId id="293" r:id="rId29"/>
    <p:sldId id="294" r:id="rId30"/>
    <p:sldId id="295" r:id="rId31"/>
    <p:sldId id="296" r:id="rId32"/>
    <p:sldId id="297" r:id="rId33"/>
    <p:sldId id="298" r:id="rId34"/>
    <p:sldId id="299" r:id="rId35"/>
    <p:sldId id="300" r:id="rId36"/>
    <p:sldId id="301" r:id="rId37"/>
    <p:sldId id="302" r:id="rId38"/>
    <p:sldId id="303" r:id="rId39"/>
    <p:sldId id="304" r:id="rId40"/>
    <p:sldId id="305" r:id="rId41"/>
    <p:sldId id="306" r:id="rId42"/>
    <p:sldId id="307" r:id="rId43"/>
    <p:sldId id="308" r:id="rId44"/>
    <p:sldId id="309" r:id="rId45"/>
    <p:sldId id="310" r:id="rId46"/>
    <p:sldId id="311" r:id="rId47"/>
    <p:sldId id="257" r:id="rId48"/>
    <p:sldId id="258" r:id="rId49"/>
    <p:sldId id="259" r:id="rId50"/>
    <p:sldId id="260" r:id="rId51"/>
    <p:sldId id="261" r:id="rId52"/>
    <p:sldId id="262" r:id="rId53"/>
    <p:sldId id="263" r:id="rId54"/>
    <p:sldId id="265" r:id="rId55"/>
    <p:sldId id="266" r:id="rId56"/>
    <p:sldId id="267" r:id="rId57"/>
    <p:sldId id="268" r:id="rId58"/>
    <p:sldId id="269"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6CF9316-BBA3-4D17-8762-7ADCE3402F64}">
          <p14:sldIdLst>
            <p14:sldId id="312"/>
            <p14:sldId id="270"/>
            <p14:sldId id="271"/>
            <p14:sldId id="272"/>
            <p14:sldId id="273"/>
            <p14:sldId id="274"/>
            <p14:sldId id="338"/>
            <p14:sldId id="275"/>
            <p14:sldId id="276"/>
            <p14:sldId id="277"/>
            <p14:sldId id="278"/>
            <p14:sldId id="279"/>
            <p14:sldId id="280"/>
            <p14:sldId id="281"/>
            <p14:sldId id="282"/>
            <p14:sldId id="337"/>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Lst>
        </p14:section>
        <p14:section name="Untitled Section" id="{C79EA3D2-F1CE-439F-B7AA-2D2FFD584763}">
          <p14:sldIdLst>
            <p14:sldId id="257"/>
            <p14:sldId id="258"/>
            <p14:sldId id="259"/>
            <p14:sldId id="260"/>
            <p14:sldId id="261"/>
            <p14:sldId id="262"/>
            <p14:sldId id="263"/>
            <p14:sldId id="265"/>
            <p14:sldId id="266"/>
            <p14:sldId id="267"/>
            <p14:sldId id="268"/>
            <p14:sldId id="269"/>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08" autoAdjust="0"/>
    <p:restoredTop sz="94660"/>
  </p:normalViewPr>
  <p:slideViewPr>
    <p:cSldViewPr snapToGrid="0">
      <p:cViewPr>
        <p:scale>
          <a:sx n="75" d="100"/>
          <a:sy n="75" d="100"/>
        </p:scale>
        <p:origin x="3280" y="20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slide" Target="slides/slide8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400" b="0" i="0">
                <a:solidFill>
                  <a:schemeClr val="tx1"/>
                </a:solidFill>
                <a:latin typeface="Verdana"/>
                <a:cs typeface="Verdan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927805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553545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7" name="Holder 7"/>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307709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4" name="Holder 4"/>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127240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3" name="Holder 3"/>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4" name="Holder 4"/>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243185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0E9FC59-1A4A-4FEE-ADED-E32BD91D7827}"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8/22/2026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3492B3-B2DA-45D0-B3BC-3686B337CF6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9129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0E9FC59-1A4A-4FEE-ADED-E32BD91D7827}"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8/22/2026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3492B3-B2DA-45D0-B3BC-3686B337CF6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847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0E9FC59-1A4A-4FEE-ADED-E32BD91D7827}"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8/22/2026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3492B3-B2DA-45D0-B3BC-3686B337CF6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7920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0E9FC59-1A4A-4FEE-ADED-E32BD91D7827}"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8/22/2026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3492B3-B2DA-45D0-B3BC-3686B337CF6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750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0E9FC59-1A4A-4FEE-ADED-E32BD91D7827}"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8/22/2026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3492B3-B2DA-45D0-B3BC-3686B337CF6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1693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0E9FC59-1A4A-4FEE-ADED-E32BD91D7827}"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8/22/2026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3492B3-B2DA-45D0-B3BC-3686B337CF6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21699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0E9FC59-1A4A-4FEE-ADED-E32BD91D7827}"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8/22/2026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3492B3-B2DA-45D0-B3BC-3686B337CF6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18779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0E9FC59-1A4A-4FEE-ADED-E32BD91D7827}"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8/22/2026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3492B3-B2DA-45D0-B3BC-3686B337CF6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3870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0E9FC59-1A4A-4FEE-ADED-E32BD91D7827}"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8/22/2026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3492B3-B2DA-45D0-B3BC-3686B337CF6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6176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0E9FC59-1A4A-4FEE-ADED-E32BD91D7827}"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8/22/2026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3492B3-B2DA-45D0-B3BC-3686B337CF6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66963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0E9FC59-1A4A-4FEE-ADED-E32BD91D7827}"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8/22/2026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3492B3-B2DA-45D0-B3BC-3686B337CF6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94119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13054" y="984503"/>
            <a:ext cx="10609580" cy="114300"/>
          </a:xfrm>
          <a:custGeom>
            <a:avLst/>
            <a:gdLst/>
            <a:ahLst/>
            <a:cxnLst/>
            <a:rect l="l" t="t" r="r" b="b"/>
            <a:pathLst>
              <a:path w="10609580" h="114300">
                <a:moveTo>
                  <a:pt x="10609326" y="0"/>
                </a:moveTo>
                <a:lnTo>
                  <a:pt x="0" y="0"/>
                </a:lnTo>
                <a:lnTo>
                  <a:pt x="0" y="4572"/>
                </a:lnTo>
                <a:lnTo>
                  <a:pt x="0" y="9144"/>
                </a:lnTo>
                <a:lnTo>
                  <a:pt x="0" y="114300"/>
                </a:lnTo>
                <a:lnTo>
                  <a:pt x="6206490" y="114300"/>
                </a:lnTo>
                <a:lnTo>
                  <a:pt x="6206490" y="9144"/>
                </a:lnTo>
                <a:lnTo>
                  <a:pt x="10609326" y="9144"/>
                </a:lnTo>
                <a:lnTo>
                  <a:pt x="10609326" y="0"/>
                </a:lnTo>
                <a:close/>
              </a:path>
            </a:pathLst>
          </a:custGeom>
          <a:solidFill>
            <a:srgbClr val="CB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7" name="bg object 17"/>
          <p:cNvSpPr/>
          <p:nvPr/>
        </p:nvSpPr>
        <p:spPr>
          <a:xfrm>
            <a:off x="813053" y="6169914"/>
            <a:ext cx="10565130" cy="3175"/>
          </a:xfrm>
          <a:custGeom>
            <a:avLst/>
            <a:gdLst/>
            <a:ahLst/>
            <a:cxnLst/>
            <a:rect l="l" t="t" r="r" b="b"/>
            <a:pathLst>
              <a:path w="10565130" h="3175">
                <a:moveTo>
                  <a:pt x="10565130" y="3048"/>
                </a:moveTo>
                <a:lnTo>
                  <a:pt x="10565130" y="0"/>
                </a:lnTo>
                <a:lnTo>
                  <a:pt x="0" y="0"/>
                </a:lnTo>
                <a:lnTo>
                  <a:pt x="0" y="3048"/>
                </a:lnTo>
                <a:lnTo>
                  <a:pt x="10565130" y="3048"/>
                </a:lnTo>
                <a:close/>
              </a:path>
            </a:pathLst>
          </a:custGeom>
          <a:solidFill>
            <a:srgbClr val="CB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 name="Holder 2"/>
          <p:cNvSpPr>
            <a:spLocks noGrp="1"/>
          </p:cNvSpPr>
          <p:nvPr>
            <p:ph type="title"/>
          </p:nvPr>
        </p:nvSpPr>
        <p:spPr>
          <a:xfrm>
            <a:off x="819150" y="347725"/>
            <a:ext cx="10593196" cy="572389"/>
          </a:xfrm>
          <a:prstGeom prst="rect">
            <a:avLst/>
          </a:prstGeom>
        </p:spPr>
        <p:txBody>
          <a:bodyPr wrap="square" lIns="0" tIns="0" rIns="0" bIns="0">
            <a:spAutoFit/>
          </a:bodyPr>
          <a:lstStyle>
            <a:lvl1pPr>
              <a:defRPr sz="3400" b="0" i="0">
                <a:solidFill>
                  <a:schemeClr val="tx1"/>
                </a:solidFill>
                <a:latin typeface="Verdana"/>
                <a:cs typeface="Verdana"/>
              </a:defRPr>
            </a:lvl1pPr>
          </a:lstStyle>
          <a:p>
            <a:endParaRPr/>
          </a:p>
        </p:txBody>
      </p:sp>
      <p:sp>
        <p:nvSpPr>
          <p:cNvPr id="3" name="Holder 3"/>
          <p:cNvSpPr>
            <a:spLocks noGrp="1"/>
          </p:cNvSpPr>
          <p:nvPr>
            <p:ph type="body" idx="1"/>
          </p:nvPr>
        </p:nvSpPr>
        <p:spPr>
          <a:xfrm>
            <a:off x="844550" y="1327353"/>
            <a:ext cx="5730875" cy="1549400"/>
          </a:xfrm>
          <a:prstGeom prst="rect">
            <a:avLst/>
          </a:prstGeom>
        </p:spPr>
        <p:txBody>
          <a:bodyPr wrap="square" lIns="0" tIns="0" rIns="0" bIns="0">
            <a:spAutoFit/>
          </a:bodyPr>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a:xfrm>
            <a:off x="5531611" y="6276791"/>
            <a:ext cx="1130300" cy="210820"/>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a:xfrm>
            <a:off x="891794" y="6276028"/>
            <a:ext cx="1085214" cy="211583"/>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a:xfrm>
            <a:off x="10952988" y="6276028"/>
            <a:ext cx="384399" cy="214631"/>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1178770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0E9FC59-1A4A-4FEE-ADED-E32BD91D7827}"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8/22/2026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53492B3-B2DA-45D0-B3BC-3686B337CF6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8294805"/>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user-images.githubusercontent.com/95447782/169705559-7645319b-32b3-4648-aef2-40e8bcba475a.png"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user-images.githubusercontent.com/95447782/169830226-30c82a40-0b12-4cb1-b82f-134cdf2b8eb1.png"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localhost:3000/category/Layout/article/layoutMatching" TargetMode="External"/><Relationship Id="rId2" Type="http://schemas.openxmlformats.org/officeDocument/2006/relationships/hyperlink" Target="https://localhost:3000/category/Layout/article/layoutBasics#resistors" TargetMode="Externa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analoghub.ie/category/Layout/article/layoutMatchingPatterns"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 Id="rId14" Type="http://schemas.openxmlformats.org/officeDocument/2006/relationships/image" Target="../media/image5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65.png"/><Relationship Id="rId3" Type="http://schemas.openxmlformats.org/officeDocument/2006/relationships/image" Target="../media/image47.png"/><Relationship Id="rId7" Type="http://schemas.openxmlformats.org/officeDocument/2006/relationships/image" Target="../media/image48.png"/><Relationship Id="rId12" Type="http://schemas.openxmlformats.org/officeDocument/2006/relationships/image" Target="../media/image58.png"/><Relationship Id="rId2"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62.png"/><Relationship Id="rId11" Type="http://schemas.openxmlformats.org/officeDocument/2006/relationships/image" Target="../media/image64.png"/><Relationship Id="rId5" Type="http://schemas.openxmlformats.org/officeDocument/2006/relationships/image" Target="../media/image61.png"/><Relationship Id="rId15" Type="http://schemas.openxmlformats.org/officeDocument/2006/relationships/image" Target="../media/image57.png"/><Relationship Id="rId10" Type="http://schemas.openxmlformats.org/officeDocument/2006/relationships/image" Target="../media/image46.png"/><Relationship Id="rId4" Type="http://schemas.openxmlformats.org/officeDocument/2006/relationships/image" Target="../media/image60.png"/><Relationship Id="rId9" Type="http://schemas.openxmlformats.org/officeDocument/2006/relationships/image" Target="../media/image63.png"/><Relationship Id="rId14" Type="http://schemas.openxmlformats.org/officeDocument/2006/relationships/image" Target="../media/image55.png"/></Relationships>
</file>

<file path=ppt/slides/_rels/slide51.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65.png"/><Relationship Id="rId3" Type="http://schemas.openxmlformats.org/officeDocument/2006/relationships/image" Target="../media/image47.png"/><Relationship Id="rId7" Type="http://schemas.openxmlformats.org/officeDocument/2006/relationships/image" Target="../media/image48.png"/><Relationship Id="rId12" Type="http://schemas.openxmlformats.org/officeDocument/2006/relationships/image" Target="../media/image58.png"/><Relationship Id="rId2"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62.png"/><Relationship Id="rId11" Type="http://schemas.openxmlformats.org/officeDocument/2006/relationships/image" Target="../media/image64.png"/><Relationship Id="rId5" Type="http://schemas.openxmlformats.org/officeDocument/2006/relationships/image" Target="../media/image61.png"/><Relationship Id="rId15" Type="http://schemas.openxmlformats.org/officeDocument/2006/relationships/image" Target="../media/image57.png"/><Relationship Id="rId10" Type="http://schemas.openxmlformats.org/officeDocument/2006/relationships/image" Target="../media/image46.png"/><Relationship Id="rId4" Type="http://schemas.openxmlformats.org/officeDocument/2006/relationships/image" Target="../media/image60.png"/><Relationship Id="rId9" Type="http://schemas.openxmlformats.org/officeDocument/2006/relationships/image" Target="../media/image63.png"/><Relationship Id="rId14" Type="http://schemas.openxmlformats.org/officeDocument/2006/relationships/image" Target="../media/image55.png"/></Relationships>
</file>

<file path=ppt/slides/_rels/slide5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65.png"/><Relationship Id="rId3" Type="http://schemas.openxmlformats.org/officeDocument/2006/relationships/image" Target="../media/image59.png"/><Relationship Id="rId7" Type="http://schemas.openxmlformats.org/officeDocument/2006/relationships/image" Target="../media/image48.png"/><Relationship Id="rId12" Type="http://schemas.openxmlformats.org/officeDocument/2006/relationships/image" Target="../media/image58.png"/><Relationship Id="rId2" Type="http://schemas.openxmlformats.org/officeDocument/2006/relationships/image" Target="../media/image61.png"/><Relationship Id="rId1" Type="http://schemas.openxmlformats.org/officeDocument/2006/relationships/slideLayout" Target="../slideLayouts/slideLayout3.xml"/><Relationship Id="rId6" Type="http://schemas.openxmlformats.org/officeDocument/2006/relationships/image" Target="../media/image62.png"/><Relationship Id="rId11" Type="http://schemas.openxmlformats.org/officeDocument/2006/relationships/image" Target="../media/image64.png"/><Relationship Id="rId5" Type="http://schemas.openxmlformats.org/officeDocument/2006/relationships/image" Target="../media/image60.png"/><Relationship Id="rId15" Type="http://schemas.openxmlformats.org/officeDocument/2006/relationships/image" Target="../media/image57.png"/><Relationship Id="rId10" Type="http://schemas.openxmlformats.org/officeDocument/2006/relationships/image" Target="../media/image46.png"/><Relationship Id="rId4" Type="http://schemas.openxmlformats.org/officeDocument/2006/relationships/image" Target="../media/image47.png"/><Relationship Id="rId9" Type="http://schemas.openxmlformats.org/officeDocument/2006/relationships/image" Target="../media/image63.png"/><Relationship Id="rId14" Type="http://schemas.openxmlformats.org/officeDocument/2006/relationships/image" Target="../media/image55.png"/></Relationships>
</file>

<file path=ppt/slides/_rels/slide5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68.png"/><Relationship Id="rId7" Type="http://schemas.openxmlformats.org/officeDocument/2006/relationships/image" Target="../media/image69.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52.png"/><Relationship Id="rId4" Type="http://schemas.openxmlformats.org/officeDocument/2006/relationships/image" Target="../media/image60.png"/></Relationships>
</file>

<file path=ppt/slides/_rels/slide5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68.png"/><Relationship Id="rId7" Type="http://schemas.openxmlformats.org/officeDocument/2006/relationships/image" Target="../media/image76.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52.png"/><Relationship Id="rId10" Type="http://schemas.openxmlformats.org/officeDocument/2006/relationships/image" Target="../media/image77.png"/><Relationship Id="rId4" Type="http://schemas.openxmlformats.org/officeDocument/2006/relationships/image" Target="../media/image75.png"/><Relationship Id="rId9" Type="http://schemas.openxmlformats.org/officeDocument/2006/relationships/image" Target="../media/image63.png"/></Relationships>
</file>

<file path=ppt/slides/_rels/slide6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68.png"/><Relationship Id="rId7" Type="http://schemas.openxmlformats.org/officeDocument/2006/relationships/image" Target="../media/image76.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52.png"/><Relationship Id="rId10" Type="http://schemas.openxmlformats.org/officeDocument/2006/relationships/image" Target="../media/image77.png"/><Relationship Id="rId4" Type="http://schemas.openxmlformats.org/officeDocument/2006/relationships/image" Target="../media/image75.png"/><Relationship Id="rId9" Type="http://schemas.openxmlformats.org/officeDocument/2006/relationships/image" Target="../media/image6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47.png"/><Relationship Id="rId7" Type="http://schemas.openxmlformats.org/officeDocument/2006/relationships/image" Target="../media/image65.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88.png"/><Relationship Id="rId4" Type="http://schemas.openxmlformats.org/officeDocument/2006/relationships/image" Target="../media/image50.png"/><Relationship Id="rId9" Type="http://schemas.openxmlformats.org/officeDocument/2006/relationships/image" Target="../media/image63.png"/></Relationships>
</file>

<file path=ppt/slides/_rels/slide79.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47.png"/><Relationship Id="rId7" Type="http://schemas.openxmlformats.org/officeDocument/2006/relationships/image" Target="../media/image65.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88.png"/><Relationship Id="rId4" Type="http://schemas.openxmlformats.org/officeDocument/2006/relationships/image" Target="../media/image50.png"/><Relationship Id="rId9" Type="http://schemas.openxmlformats.org/officeDocument/2006/relationships/image" Target="../media/image63.png"/></Relationships>
</file>

<file path=ppt/slides/_rels/slide8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81.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100.png"/><Relationship Id="rId3" Type="http://schemas.openxmlformats.org/officeDocument/2006/relationships/image" Target="../media/image49.png"/><Relationship Id="rId7" Type="http://schemas.openxmlformats.org/officeDocument/2006/relationships/image" Target="../media/image56.png"/><Relationship Id="rId12" Type="http://schemas.openxmlformats.org/officeDocument/2006/relationships/image" Target="../media/image99.png"/><Relationship Id="rId2" Type="http://schemas.openxmlformats.org/officeDocument/2006/relationships/image" Target="../media/image95.png"/><Relationship Id="rId16"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52.png"/><Relationship Id="rId11" Type="http://schemas.openxmlformats.org/officeDocument/2006/relationships/image" Target="../media/image98.png"/><Relationship Id="rId5" Type="http://schemas.openxmlformats.org/officeDocument/2006/relationships/image" Target="../media/image97.png"/><Relationship Id="rId15" Type="http://schemas.openxmlformats.org/officeDocument/2006/relationships/image" Target="../media/image77.png"/><Relationship Id="rId10" Type="http://schemas.openxmlformats.org/officeDocument/2006/relationships/image" Target="../media/image55.png"/><Relationship Id="rId4" Type="http://schemas.openxmlformats.org/officeDocument/2006/relationships/image" Target="../media/image96.png"/><Relationship Id="rId9" Type="http://schemas.openxmlformats.org/officeDocument/2006/relationships/image" Target="../media/image69.png"/><Relationship Id="rId1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p:nvPr/>
        </p:nvSpPr>
        <p:spPr>
          <a:xfrm>
            <a:off x="2169075" y="953173"/>
            <a:ext cx="8444910" cy="5793894"/>
          </a:xfrm>
          <a:prstGeom prst="rect">
            <a:avLst/>
          </a:prstGeom>
        </p:spPr>
        <p:txBody>
          <a:bodyPr vert="horz" wrap="square" lIns="0" tIns="1270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smtClean="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smtClean="0">
                <a:ln>
                  <a:noFill/>
                </a:ln>
                <a:solidFill>
                  <a:srgbClr val="000000"/>
                </a:solidFill>
                <a:effectLst/>
                <a:uLnTx/>
                <a:uFillTx/>
                <a:latin typeface="Calibri" panose="020F0502020204030204"/>
                <a:ea typeface="+mn-ea"/>
                <a:cs typeface="+mn-cs"/>
              </a:rPr>
              <a:t> </a:t>
            </a:r>
            <a:r>
              <a:rPr kumimoji="0" lang="en-US" sz="3600" b="0" i="0" u="none" strike="noStrike" kern="1200" cap="none" spc="0" normalizeH="0" baseline="0" noProof="0" dirty="0" smtClean="0">
                <a:ln>
                  <a:noFill/>
                </a:ln>
                <a:solidFill>
                  <a:srgbClr val="EEB500"/>
                </a:solidFill>
                <a:effectLst/>
                <a:uLnTx/>
                <a:uFillTx/>
                <a:latin typeface="Calibri" panose="020F0502020204030204"/>
                <a:ea typeface="+mn-ea"/>
                <a:cs typeface="+mn-cs"/>
              </a:rPr>
              <a:t>Advance Analog and Mixed Signal Design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smtClean="0">
                <a:ln>
                  <a:noFill/>
                </a:ln>
                <a:solidFill>
                  <a:srgbClr val="000000"/>
                </a:solidFill>
                <a:effectLst/>
                <a:uLnTx/>
                <a:uFillTx/>
                <a:latin typeface="Calibri" panose="020F0502020204030204"/>
                <a:ea typeface="+mn-ea"/>
                <a:cs typeface="+mn-cs"/>
              </a:rPr>
              <a:t> </a:t>
            </a:r>
            <a:endParaRPr kumimoji="0" sz="3600" b="0" i="0" u="none" strike="noStrike" kern="0" cap="none" spc="0" normalizeH="0" baseline="0" noProof="0" dirty="0" smtClean="0">
              <a:ln>
                <a:noFill/>
              </a:ln>
              <a:solidFill>
                <a:sysClr val="windowText" lastClr="000000"/>
              </a:solidFill>
              <a:effectLst/>
              <a:uLnTx/>
              <a:uFillTx/>
              <a:latin typeface="Calibri Light"/>
              <a:ea typeface="+mn-ea"/>
              <a:cs typeface="Calibri Light"/>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r>
              <a:rPr kumimoji="0" sz="3600" b="1" i="0" u="none" strike="noStrike" kern="0" cap="none" spc="-25" normalizeH="0" baseline="0" noProof="0" dirty="0" smtClean="0">
                <a:ln>
                  <a:noFill/>
                </a:ln>
                <a:solidFill>
                  <a:srgbClr val="8AA7DA"/>
                </a:solidFill>
                <a:effectLst/>
                <a:uLnTx/>
                <a:uFillTx/>
                <a:latin typeface="Calibri Light"/>
                <a:ea typeface="+mn-ea"/>
                <a:cs typeface="Calibri Light"/>
              </a:rPr>
              <a:t>Lecture</a:t>
            </a:r>
            <a:r>
              <a:rPr kumimoji="0" sz="3600" b="1" i="0" u="none" strike="noStrike" kern="0" cap="none" spc="-165" normalizeH="0" baseline="0" noProof="0" dirty="0" smtClean="0">
                <a:ln>
                  <a:noFill/>
                </a:ln>
                <a:solidFill>
                  <a:srgbClr val="8AA7DA"/>
                </a:solidFill>
                <a:effectLst/>
                <a:uLnTx/>
                <a:uFillTx/>
                <a:latin typeface="Calibri Light"/>
                <a:ea typeface="+mn-ea"/>
                <a:cs typeface="Calibri Light"/>
              </a:rPr>
              <a:t> </a:t>
            </a:r>
            <a:r>
              <a:rPr kumimoji="0" sz="3600" b="1" i="0" u="none" strike="noStrike" kern="0" cap="none" spc="-25" normalizeH="0" baseline="0" noProof="0" dirty="0" smtClean="0">
                <a:ln>
                  <a:noFill/>
                </a:ln>
                <a:solidFill>
                  <a:srgbClr val="8AA7DA"/>
                </a:solidFill>
                <a:effectLst/>
                <a:uLnTx/>
                <a:uFillTx/>
                <a:latin typeface="Calibri Light"/>
                <a:ea typeface="+mn-ea"/>
                <a:cs typeface="Calibri Light"/>
              </a:rPr>
              <a:t> </a:t>
            </a:r>
            <a:r>
              <a:rPr kumimoji="0" lang="en-US" sz="3600" b="1" i="0" u="none" strike="noStrike" kern="0" cap="none" spc="-25" normalizeH="0" baseline="0" noProof="0" dirty="0" smtClean="0">
                <a:ln>
                  <a:noFill/>
                </a:ln>
                <a:solidFill>
                  <a:srgbClr val="8AA7DA"/>
                </a:solidFill>
                <a:effectLst/>
                <a:uLnTx/>
                <a:uFillTx/>
                <a:latin typeface="Calibri Light"/>
                <a:ea typeface="+mn-ea"/>
                <a:cs typeface="Calibri Light"/>
              </a:rPr>
              <a:t>12</a:t>
            </a:r>
          </a:p>
          <a:p>
            <a:pPr marL="1928495" marR="1921510" lvl="0" indent="-1270" algn="ctr" defTabSz="914400" rtl="0" eaLnBrk="1" fontAlgn="auto" latinLnBrk="0" hangingPunct="1">
              <a:lnSpc>
                <a:spcPts val="3890"/>
              </a:lnSpc>
              <a:spcBef>
                <a:spcPts val="5"/>
              </a:spcBef>
              <a:spcAft>
                <a:spcPts val="0"/>
              </a:spcAft>
              <a:buClrTx/>
              <a:buSzTx/>
              <a:buFontTx/>
              <a:buNone/>
              <a:tabLst/>
              <a:defRPr/>
            </a:pPr>
            <a:r>
              <a:rPr kumimoji="0" lang="en-US" sz="3600" b="0" i="0" u="none" strike="noStrike" kern="1200" cap="none" spc="-10" normalizeH="0" baseline="0" noProof="0" dirty="0" smtClean="0">
                <a:ln>
                  <a:noFill/>
                </a:ln>
                <a:solidFill>
                  <a:srgbClr val="FFC000">
                    <a:lumMod val="50000"/>
                  </a:srgbClr>
                </a:solidFill>
                <a:effectLst/>
                <a:uLnTx/>
                <a:uFillTx/>
                <a:latin typeface="Calibri" panose="020F0502020204030204"/>
                <a:ea typeface="+mn-ea"/>
                <a:cs typeface="+mn-cs"/>
              </a:rPr>
              <a:t>Design Insights of Low-</a:t>
            </a:r>
            <a:r>
              <a:rPr kumimoji="0" lang="en-US" sz="3600" b="0" i="0" u="none" strike="noStrike" kern="1200" cap="none" spc="0" normalizeH="0" baseline="0" noProof="0" dirty="0" smtClean="0">
                <a:ln>
                  <a:noFill/>
                </a:ln>
                <a:solidFill>
                  <a:srgbClr val="FFC000">
                    <a:lumMod val="50000"/>
                  </a:srgbClr>
                </a:solidFill>
                <a:effectLst/>
                <a:uLnTx/>
                <a:uFillTx/>
                <a:latin typeface="Calibri" panose="020F0502020204030204"/>
                <a:ea typeface="+mn-ea"/>
                <a:cs typeface="+mn-cs"/>
              </a:rPr>
              <a:t>Dropout</a:t>
            </a:r>
            <a:r>
              <a:rPr kumimoji="0" lang="en-US" sz="3600" b="0" i="0" u="none" strike="noStrike" kern="1200" cap="none" spc="-35" normalizeH="0" baseline="0" noProof="0" dirty="0" smtClean="0">
                <a:ln>
                  <a:noFill/>
                </a:ln>
                <a:solidFill>
                  <a:srgbClr val="FFC000">
                    <a:lumMod val="50000"/>
                  </a:srgbClr>
                </a:solidFill>
                <a:effectLst/>
                <a:uLnTx/>
                <a:uFillTx/>
                <a:latin typeface="Calibri" panose="020F0502020204030204"/>
                <a:ea typeface="+mn-ea"/>
                <a:cs typeface="+mn-cs"/>
              </a:rPr>
              <a:t> </a:t>
            </a:r>
            <a:r>
              <a:rPr kumimoji="0" lang="en-US" sz="3600" b="0" i="0" u="none" strike="noStrike" kern="1200" cap="none" spc="0" normalizeH="0" baseline="0" noProof="0" dirty="0" smtClean="0">
                <a:ln>
                  <a:noFill/>
                </a:ln>
                <a:solidFill>
                  <a:srgbClr val="FFC000">
                    <a:lumMod val="50000"/>
                  </a:srgbClr>
                </a:solidFill>
                <a:effectLst/>
                <a:uLnTx/>
                <a:uFillTx/>
                <a:latin typeface="Calibri" panose="020F0502020204030204"/>
                <a:ea typeface="+mn-ea"/>
                <a:cs typeface="+mn-cs"/>
              </a:rPr>
              <a:t>(</a:t>
            </a:r>
            <a:r>
              <a:rPr lang="en-US" sz="3600" dirty="0" smtClean="0">
                <a:solidFill>
                  <a:srgbClr val="FFC000">
                    <a:lumMod val="50000"/>
                  </a:srgbClr>
                </a:solidFill>
                <a:latin typeface="Calibri" panose="020F0502020204030204"/>
              </a:rPr>
              <a:t>Analog &amp; Digital)</a:t>
            </a:r>
          </a:p>
          <a:p>
            <a:pPr marL="1928495" marR="1921510" lvl="0" indent="-1270" algn="ctr" defTabSz="914400" rtl="0" eaLnBrk="1" fontAlgn="auto" latinLnBrk="0" hangingPunct="1">
              <a:lnSpc>
                <a:spcPts val="3890"/>
              </a:lnSpc>
              <a:spcBef>
                <a:spcPts val="5"/>
              </a:spcBef>
              <a:spcAft>
                <a:spcPts val="0"/>
              </a:spcAft>
              <a:buClrTx/>
              <a:buSzTx/>
              <a:buFontTx/>
              <a:buNone/>
              <a:tabLst/>
              <a:defRPr/>
            </a:pPr>
            <a:r>
              <a:rPr kumimoji="0" sz="3200" b="1" i="0" u="none" strike="noStrike" kern="0" cap="none" spc="0" normalizeH="0" baseline="0" noProof="0" dirty="0" smtClean="0">
                <a:ln>
                  <a:noFill/>
                </a:ln>
                <a:solidFill>
                  <a:srgbClr val="00B050"/>
                </a:solidFill>
                <a:effectLst/>
                <a:uLnTx/>
                <a:uFillTx/>
                <a:latin typeface="Calibri Light"/>
                <a:ea typeface="+mn-ea"/>
                <a:cs typeface="Calibri Light"/>
              </a:rPr>
              <a:t>Dr.</a:t>
            </a:r>
            <a:r>
              <a:rPr kumimoji="0" sz="3200" b="1" i="0" u="none" strike="noStrike" kern="0" cap="none" spc="-75" normalizeH="0" baseline="0" noProof="0" dirty="0" smtClean="0">
                <a:ln>
                  <a:noFill/>
                </a:ln>
                <a:solidFill>
                  <a:srgbClr val="00B050"/>
                </a:solidFill>
                <a:effectLst/>
                <a:uLnTx/>
                <a:uFillTx/>
                <a:latin typeface="Calibri Light"/>
                <a:ea typeface="+mn-ea"/>
                <a:cs typeface="Calibri Light"/>
              </a:rPr>
              <a:t> </a:t>
            </a:r>
            <a:r>
              <a:rPr kumimoji="0" lang="en-US" sz="3200" b="1" i="0" u="none" strike="noStrike" kern="0" cap="none" spc="-30" normalizeH="0" baseline="0" noProof="0" dirty="0" smtClean="0">
                <a:ln>
                  <a:noFill/>
                </a:ln>
                <a:solidFill>
                  <a:srgbClr val="00B050"/>
                </a:solidFill>
                <a:effectLst/>
                <a:uLnTx/>
                <a:uFillTx/>
                <a:latin typeface="Calibri Light"/>
                <a:ea typeface="+mn-ea"/>
                <a:cs typeface="Calibri Light"/>
              </a:rPr>
              <a:t>Neeraj Mishra</a:t>
            </a:r>
            <a:endParaRPr kumimoji="0" sz="3200" b="1" i="0" u="none" strike="noStrike" kern="0" cap="none" spc="0" normalizeH="0" baseline="0" noProof="0" dirty="0" smtClean="0">
              <a:ln>
                <a:noFill/>
              </a:ln>
              <a:solidFill>
                <a:srgbClr val="00B050"/>
              </a:solidFill>
              <a:effectLst/>
              <a:uLnTx/>
              <a:uFillTx/>
              <a:latin typeface="Calibri Light"/>
              <a:ea typeface="+mn-ea"/>
              <a:cs typeface="Calibri Light"/>
            </a:endParaRPr>
          </a:p>
          <a:p>
            <a:pPr marL="0" marR="0" lvl="0" indent="0" algn="ctr" defTabSz="914400" rtl="0" eaLnBrk="1" fontAlgn="auto" latinLnBrk="0" hangingPunct="1">
              <a:lnSpc>
                <a:spcPct val="100000"/>
              </a:lnSpc>
              <a:spcBef>
                <a:spcPts val="1135"/>
              </a:spcBef>
              <a:spcAft>
                <a:spcPts val="0"/>
              </a:spcAft>
              <a:buClrTx/>
              <a:buSzTx/>
              <a:buFontTx/>
              <a:buNone/>
              <a:tabLst/>
              <a:defRPr/>
            </a:pP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High Performance Electronics Lab</a:t>
            </a:r>
            <a:endParaRPr kumimoji="0" sz="2400" b="0" i="0" u="none" strike="noStrike" kern="0" cap="none" spc="0" normalizeH="0" baseline="0" noProof="0" dirty="0">
              <a:ln>
                <a:noFill/>
              </a:ln>
              <a:solidFill>
                <a:srgbClr val="FF0000"/>
              </a:solidFill>
              <a:effectLst/>
              <a:uLnTx/>
              <a:uFillTx/>
              <a:latin typeface="Calibri Light"/>
              <a:ea typeface="+mn-ea"/>
              <a:cs typeface="Calibri Ligh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smtClean="0">
                <a:ln>
                  <a:noFill/>
                </a:ln>
                <a:solidFill>
                  <a:srgbClr val="FF0000"/>
                </a:solidFill>
                <a:effectLst/>
                <a:uLnTx/>
                <a:uFillTx/>
                <a:latin typeface="Calibri Light"/>
                <a:ea typeface="+mn-ea"/>
                <a:cs typeface="Calibri Light"/>
              </a:rPr>
              <a:t>Electrical &amp; </a:t>
            </a:r>
            <a:r>
              <a:rPr kumimoji="0" sz="2400" b="0" i="0" u="none" strike="noStrike" kern="0" cap="none" spc="0" normalizeH="0" baseline="0" noProof="0" dirty="0" smtClean="0">
                <a:ln>
                  <a:noFill/>
                </a:ln>
                <a:solidFill>
                  <a:srgbClr val="FF0000"/>
                </a:solidFill>
                <a:effectLst/>
                <a:uLnTx/>
                <a:uFillTx/>
                <a:latin typeface="Calibri Light"/>
                <a:ea typeface="+mn-ea"/>
                <a:cs typeface="Calibri Light"/>
              </a:rPr>
              <a:t>Electronic</a:t>
            </a:r>
            <a:r>
              <a:rPr kumimoji="0" lang="en-US" sz="2400" b="0" i="0" u="none" strike="noStrike" kern="0" cap="none" spc="0" normalizeH="0" baseline="0" noProof="0" dirty="0" smtClean="0">
                <a:ln>
                  <a:noFill/>
                </a:ln>
                <a:solidFill>
                  <a:srgbClr val="FF0000"/>
                </a:solidFill>
                <a:effectLst/>
                <a:uLnTx/>
                <a:uFillTx/>
                <a:latin typeface="Calibri Light"/>
                <a:ea typeface="+mn-ea"/>
                <a:cs typeface="Calibri Light"/>
              </a:rPr>
              <a:t>s</a:t>
            </a:r>
            <a:r>
              <a:rPr kumimoji="0" sz="2400" b="0" i="0" u="none" strike="noStrike" kern="0" cap="none" spc="-40" normalizeH="0" baseline="0" noProof="0" dirty="0" smtClean="0">
                <a:ln>
                  <a:noFill/>
                </a:ln>
                <a:solidFill>
                  <a:srgbClr val="FF0000"/>
                </a:solidFill>
                <a:effectLst/>
                <a:uLnTx/>
                <a:uFillTx/>
                <a:latin typeface="Calibri Light"/>
                <a:ea typeface="+mn-ea"/>
                <a:cs typeface="Calibri Light"/>
              </a:rPr>
              <a:t> </a:t>
            </a:r>
            <a:r>
              <a:rPr kumimoji="0" sz="2400" b="0" i="0" u="none" strike="noStrike" kern="0" cap="none" spc="0" normalizeH="0" baseline="0" noProof="0" dirty="0">
                <a:ln>
                  <a:noFill/>
                </a:ln>
                <a:solidFill>
                  <a:srgbClr val="FF0000"/>
                </a:solidFill>
                <a:effectLst/>
                <a:uLnTx/>
                <a:uFillTx/>
                <a:latin typeface="Calibri Light"/>
                <a:ea typeface="+mn-ea"/>
                <a:cs typeface="Calibri Light"/>
              </a:rPr>
              <a:t>Eng.</a:t>
            </a:r>
            <a:r>
              <a:rPr kumimoji="0" sz="2400" b="0" i="0" u="none" strike="noStrike" kern="0" cap="none" spc="-55" normalizeH="0" baseline="0" noProof="0" dirty="0">
                <a:ln>
                  <a:noFill/>
                </a:ln>
                <a:solidFill>
                  <a:srgbClr val="FF0000"/>
                </a:solidFill>
                <a:effectLst/>
                <a:uLnTx/>
                <a:uFillTx/>
                <a:latin typeface="Calibri Light"/>
                <a:ea typeface="+mn-ea"/>
                <a:cs typeface="Calibri Light"/>
              </a:rPr>
              <a:t> </a:t>
            </a:r>
            <a:r>
              <a:rPr kumimoji="0" sz="2400" b="0" i="0" u="none" strike="noStrike" kern="0" cap="none" spc="-10" normalizeH="0" baseline="0" noProof="0" dirty="0">
                <a:ln>
                  <a:noFill/>
                </a:ln>
                <a:solidFill>
                  <a:srgbClr val="FF0000"/>
                </a:solidFill>
                <a:effectLst/>
                <a:uLnTx/>
                <a:uFillTx/>
                <a:latin typeface="Calibri Light"/>
                <a:ea typeface="+mn-ea"/>
                <a:cs typeface="Calibri Light"/>
              </a:rPr>
              <a:t>Dept.</a:t>
            </a:r>
            <a:endParaRPr kumimoji="0" sz="2400" b="0" i="0" u="none" strike="noStrike" kern="0" cap="none" spc="0" normalizeH="0" baseline="0" noProof="0" dirty="0">
              <a:ln>
                <a:noFill/>
              </a:ln>
              <a:solidFill>
                <a:srgbClr val="FF0000"/>
              </a:solidFill>
              <a:effectLst/>
              <a:uLnTx/>
              <a:uFillTx/>
              <a:latin typeface="Calibri Light"/>
              <a:ea typeface="+mn-ea"/>
              <a:cs typeface="Calibri Light"/>
            </a:endParaRPr>
          </a:p>
          <a:p>
            <a:pPr marL="1697355" marR="169418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Birla Institute of Technology &amp; Science </a:t>
            </a:r>
            <a:r>
              <a:rPr kumimoji="0" lang="en-US" sz="2400" b="0" i="0" u="none" strike="noStrike" kern="0" cap="none" spc="-10" normalizeH="0" baseline="0" noProof="0" dirty="0" err="1" smtClean="0">
                <a:ln>
                  <a:noFill/>
                </a:ln>
                <a:solidFill>
                  <a:srgbClr val="FF0000"/>
                </a:solidFill>
                <a:effectLst/>
                <a:uLnTx/>
                <a:uFillTx/>
                <a:latin typeface="Calibri Light"/>
                <a:ea typeface="+mn-ea"/>
                <a:cs typeface="Calibri Light"/>
              </a:rPr>
              <a:t>Pilani</a:t>
            </a: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 </a:t>
            </a:r>
            <a:r>
              <a:rPr kumimoji="0" lang="en-US" sz="2400" b="0" i="0" u="none" strike="noStrike" kern="0" cap="none" spc="-10" normalizeH="0" baseline="0" noProof="0" dirty="0" err="1" smtClean="0">
                <a:ln>
                  <a:noFill/>
                </a:ln>
                <a:solidFill>
                  <a:srgbClr val="FF0000"/>
                </a:solidFill>
                <a:effectLst/>
                <a:uLnTx/>
                <a:uFillTx/>
                <a:latin typeface="Calibri Light"/>
                <a:ea typeface="+mn-ea"/>
                <a:cs typeface="Calibri Light"/>
              </a:rPr>
              <a:t>Pilani</a:t>
            </a: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 Campus</a:t>
            </a:r>
            <a:endParaRPr kumimoji="0" sz="2400" b="0" i="0" u="none" strike="noStrike" kern="0" cap="none" spc="0" normalizeH="0" baseline="0" noProof="0" dirty="0">
              <a:ln>
                <a:noFill/>
              </a:ln>
              <a:solidFill>
                <a:srgbClr val="FF0000"/>
              </a:solidFill>
              <a:effectLst/>
              <a:uLnTx/>
              <a:uFillTx/>
              <a:latin typeface="Calibri Light"/>
              <a:ea typeface="+mn-ea"/>
              <a:cs typeface="Calibri Light"/>
            </a:endParaRPr>
          </a:p>
        </p:txBody>
      </p:sp>
      <p:sp>
        <p:nvSpPr>
          <p:cNvPr id="5" name="object 3"/>
          <p:cNvSpPr/>
          <p:nvPr/>
        </p:nvSpPr>
        <p:spPr>
          <a:xfrm>
            <a:off x="10667" y="995172"/>
            <a:ext cx="12171045" cy="91440"/>
          </a:xfrm>
          <a:custGeom>
            <a:avLst/>
            <a:gdLst/>
            <a:ahLst/>
            <a:cxnLst/>
            <a:rect l="l" t="t" r="r" b="b"/>
            <a:pathLst>
              <a:path w="12171045" h="91440">
                <a:moveTo>
                  <a:pt x="12170664" y="0"/>
                </a:moveTo>
                <a:lnTo>
                  <a:pt x="0" y="0"/>
                </a:lnTo>
                <a:lnTo>
                  <a:pt x="0" y="91439"/>
                </a:lnTo>
                <a:lnTo>
                  <a:pt x="12170664" y="91439"/>
                </a:lnTo>
                <a:lnTo>
                  <a:pt x="12170664" y="0"/>
                </a:lnTo>
                <a:close/>
              </a:path>
            </a:pathLst>
          </a:custGeom>
          <a:solidFill>
            <a:srgbClr val="EEB5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endParaRPr>
          </a:p>
        </p:txBody>
      </p:sp>
      <p:sp>
        <p:nvSpPr>
          <p:cNvPr id="6" name="object 4"/>
          <p:cNvSpPr/>
          <p:nvPr/>
        </p:nvSpPr>
        <p:spPr>
          <a:xfrm>
            <a:off x="10667" y="2235707"/>
            <a:ext cx="12171045" cy="91440"/>
          </a:xfrm>
          <a:custGeom>
            <a:avLst/>
            <a:gdLst/>
            <a:ahLst/>
            <a:cxnLst/>
            <a:rect l="l" t="t" r="r" b="b"/>
            <a:pathLst>
              <a:path w="12171045" h="91439">
                <a:moveTo>
                  <a:pt x="12170664" y="0"/>
                </a:moveTo>
                <a:lnTo>
                  <a:pt x="0" y="0"/>
                </a:lnTo>
                <a:lnTo>
                  <a:pt x="0" y="91439"/>
                </a:lnTo>
                <a:lnTo>
                  <a:pt x="12170664" y="91439"/>
                </a:lnTo>
                <a:lnTo>
                  <a:pt x="12170664" y="0"/>
                </a:lnTo>
                <a:close/>
              </a:path>
            </a:pathLst>
          </a:custGeom>
          <a:solidFill>
            <a:srgbClr val="91BCE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endParaRPr>
          </a:p>
        </p:txBody>
      </p:sp>
      <p:sp>
        <p:nvSpPr>
          <p:cNvPr id="7" name="object 5"/>
          <p:cNvSpPr/>
          <p:nvPr/>
        </p:nvSpPr>
        <p:spPr>
          <a:xfrm>
            <a:off x="0" y="4582427"/>
            <a:ext cx="12171045" cy="91440"/>
          </a:xfrm>
          <a:custGeom>
            <a:avLst/>
            <a:gdLst/>
            <a:ahLst/>
            <a:cxnLst/>
            <a:rect l="l" t="t" r="r" b="b"/>
            <a:pathLst>
              <a:path w="12171045" h="91439">
                <a:moveTo>
                  <a:pt x="12170664" y="0"/>
                </a:moveTo>
                <a:lnTo>
                  <a:pt x="0" y="0"/>
                </a:lnTo>
                <a:lnTo>
                  <a:pt x="0" y="91439"/>
                </a:lnTo>
                <a:lnTo>
                  <a:pt x="12170664" y="91439"/>
                </a:lnTo>
                <a:lnTo>
                  <a:pt x="12170664" y="0"/>
                </a:lnTo>
                <a:close/>
              </a:path>
            </a:pathLst>
          </a:custGeom>
          <a:solidFill>
            <a:srgbClr val="FF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endParaRPr>
          </a:p>
        </p:txBody>
      </p:sp>
      <p:pic>
        <p:nvPicPr>
          <p:cNvPr id="10" name="Picture 9"/>
          <p:cNvPicPr>
            <a:picLocks noChangeAspect="1"/>
          </p:cNvPicPr>
          <p:nvPr/>
        </p:nvPicPr>
        <p:blipFill>
          <a:blip r:embed="rId2"/>
          <a:stretch>
            <a:fillRect/>
          </a:stretch>
        </p:blipFill>
        <p:spPr>
          <a:xfrm>
            <a:off x="97196" y="87966"/>
            <a:ext cx="3093560" cy="802320"/>
          </a:xfrm>
          <a:prstGeom prst="rect">
            <a:avLst/>
          </a:prstGeom>
        </p:spPr>
      </p:pic>
      <p:pic>
        <p:nvPicPr>
          <p:cNvPr id="11" name="Picture 10"/>
          <p:cNvPicPr>
            <a:picLocks noChangeAspect="1"/>
          </p:cNvPicPr>
          <p:nvPr/>
        </p:nvPicPr>
        <p:blipFill>
          <a:blip r:embed="rId3"/>
          <a:stretch>
            <a:fillRect/>
          </a:stretch>
        </p:blipFill>
        <p:spPr>
          <a:xfrm>
            <a:off x="9078410" y="5828120"/>
            <a:ext cx="3113590" cy="1029880"/>
          </a:xfrm>
          <a:prstGeom prst="rect">
            <a:avLst/>
          </a:prstGeom>
        </p:spPr>
      </p:pic>
    </p:spTree>
    <p:extLst>
      <p:ext uri="{BB962C8B-B14F-4D97-AF65-F5344CB8AC3E}">
        <p14:creationId xmlns:p14="http://schemas.microsoft.com/office/powerpoint/2010/main" val="8595617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b="1" dirty="0" smtClean="0"/>
              <a:t>Introduction </a:t>
            </a:r>
            <a:r>
              <a:rPr lang="en-US" b="1" dirty="0" smtClean="0"/>
              <a:t>to design Insights of LDOs</a:t>
            </a:r>
            <a:r>
              <a:rPr lang="en-US" b="1" dirty="0"/>
              <a:t/>
            </a:r>
            <a:br>
              <a:rPr lang="en-US" b="1" dirty="0"/>
            </a:br>
            <a:endParaRPr lang="en-US" dirty="0"/>
          </a:p>
        </p:txBody>
      </p:sp>
      <p:sp>
        <p:nvSpPr>
          <p:cNvPr id="3" name="Text Placeholder 2"/>
          <p:cNvSpPr>
            <a:spLocks noGrp="1"/>
          </p:cNvSpPr>
          <p:nvPr>
            <p:ph type="body" idx="1"/>
          </p:nvPr>
        </p:nvSpPr>
        <p:spPr>
          <a:xfrm>
            <a:off x="792299" y="1235913"/>
            <a:ext cx="10595280" cy="2154436"/>
          </a:xfrm>
        </p:spPr>
        <p:txBody>
          <a:bodyPr/>
          <a:lstStyle/>
          <a:p>
            <a:pPr algn="just"/>
            <a:r>
              <a:rPr lang="en-US" b="1" dirty="0" smtClean="0"/>
              <a:t>Low-dropout </a:t>
            </a:r>
            <a:r>
              <a:rPr lang="en-US" b="1" dirty="0"/>
              <a:t>regulator (LDO)</a:t>
            </a:r>
            <a:r>
              <a:rPr lang="en-US" dirty="0"/>
              <a:t> - is a critical building block that generates </a:t>
            </a:r>
            <a:endParaRPr lang="en-US" dirty="0" smtClean="0"/>
          </a:p>
          <a:p>
            <a:pPr algn="just"/>
            <a:endParaRPr lang="en-US" dirty="0" smtClean="0"/>
          </a:p>
          <a:p>
            <a:pPr marL="914400" lvl="1" indent="-457200" algn="just">
              <a:buFont typeface="Wingdings" panose="05000000000000000000" pitchFamily="2" charset="2"/>
              <a:buChar char="q"/>
            </a:pPr>
            <a:r>
              <a:rPr lang="en-US" sz="2000" dirty="0"/>
              <a:t>A</a:t>
            </a:r>
            <a:r>
              <a:rPr lang="en-US" sz="2000" dirty="0" smtClean="0"/>
              <a:t> </a:t>
            </a:r>
            <a:r>
              <a:rPr lang="en-US" sz="2000" dirty="0"/>
              <a:t>stable voltage (which can be used as a voltage reference or a supply) irrespective of the external conditions (supply voltage variation, noise etc.). </a:t>
            </a:r>
            <a:endParaRPr lang="en-US" sz="2000" dirty="0" smtClean="0"/>
          </a:p>
          <a:p>
            <a:pPr marL="914400" lvl="1" indent="-457200" algn="just">
              <a:buFont typeface="Wingdings" panose="05000000000000000000" pitchFamily="2" charset="2"/>
              <a:buChar char="q"/>
            </a:pPr>
            <a:r>
              <a:rPr lang="en-US" sz="2000" dirty="0" smtClean="0"/>
              <a:t>An </a:t>
            </a:r>
            <a:r>
              <a:rPr lang="en-US" sz="2000" dirty="0"/>
              <a:t>LDO helps in achieving better performance of the internal circuits and usually used together with the bandgap reference to ensure a constant output voltage.</a:t>
            </a:r>
          </a:p>
          <a:p>
            <a:pPr algn="just"/>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descr="image"/>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91457" y="3362960"/>
            <a:ext cx="5731510" cy="3495040"/>
          </a:xfrm>
          <a:prstGeom prst="rect">
            <a:avLst/>
          </a:prstGeom>
          <a:noFill/>
          <a:ln>
            <a:noFill/>
          </a:ln>
        </p:spPr>
      </p:pic>
      <p:pic>
        <p:nvPicPr>
          <p:cNvPr id="8" name="Picture 7" descr="image"/>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0885" y="3260227"/>
            <a:ext cx="4890498" cy="3375706"/>
          </a:xfrm>
          <a:prstGeom prst="rect">
            <a:avLst/>
          </a:prstGeom>
          <a:noFill/>
          <a:ln>
            <a:noFill/>
          </a:ln>
        </p:spPr>
      </p:pic>
    </p:spTree>
    <p:extLst>
      <p:ext uri="{BB962C8B-B14F-4D97-AF65-F5344CB8AC3E}">
        <p14:creationId xmlns:p14="http://schemas.microsoft.com/office/powerpoint/2010/main" val="2712756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descr="image"/>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302838"/>
            <a:ext cx="5731510" cy="4513580"/>
          </a:xfrm>
          <a:prstGeom prst="rect">
            <a:avLst/>
          </a:prstGeom>
          <a:noFill/>
          <a:ln>
            <a:noFill/>
          </a:ln>
        </p:spPr>
      </p:pic>
      <p:pic>
        <p:nvPicPr>
          <p:cNvPr id="8" name="Picture 7" descr="image"/>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77948" y="1739900"/>
            <a:ext cx="5731510" cy="3439160"/>
          </a:xfrm>
          <a:prstGeom prst="rect">
            <a:avLst/>
          </a:prstGeom>
          <a:noFill/>
          <a:ln>
            <a:noFill/>
          </a:ln>
        </p:spPr>
      </p:pic>
    </p:spTree>
    <p:extLst>
      <p:ext uri="{BB962C8B-B14F-4D97-AF65-F5344CB8AC3E}">
        <p14:creationId xmlns:p14="http://schemas.microsoft.com/office/powerpoint/2010/main" val="2654618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descr="image"/>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59982" y="1256710"/>
            <a:ext cx="5731510" cy="4431665"/>
          </a:xfrm>
          <a:prstGeom prst="rect">
            <a:avLst/>
          </a:prstGeom>
          <a:noFill/>
          <a:ln>
            <a:noFill/>
          </a:ln>
        </p:spPr>
      </p:pic>
    </p:spTree>
    <p:extLst>
      <p:ext uri="{BB962C8B-B14F-4D97-AF65-F5344CB8AC3E}">
        <p14:creationId xmlns:p14="http://schemas.microsoft.com/office/powerpoint/2010/main" val="34464649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b="1" dirty="0"/>
              <a:t>Principle of operation</a:t>
            </a:r>
            <a:br>
              <a:rPr lang="en-US" b="1" dirty="0"/>
            </a:br>
            <a:endParaRPr lang="en-US" dirty="0"/>
          </a:p>
        </p:txBody>
      </p:sp>
      <p:sp>
        <p:nvSpPr>
          <p:cNvPr id="4" name="Footer Placeholder 3"/>
          <p:cNvSpPr>
            <a:spLocks noGrp="1"/>
          </p:cNvSpPr>
          <p:nvPr>
            <p:ph type="ftr" sz="quarter" idx="5"/>
          </p:nvPr>
        </p:nvSpPr>
        <p:spPr>
          <a:xfrm>
            <a:off x="5492282" y="6483268"/>
            <a:ext cx="1606608" cy="261661"/>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488672" y="653166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Text Placeholder 6"/>
          <p:cNvSpPr>
            <a:spLocks noGrp="1"/>
          </p:cNvSpPr>
          <p:nvPr>
            <p:ph type="body" idx="1"/>
          </p:nvPr>
        </p:nvSpPr>
        <p:spPr>
          <a:xfrm>
            <a:off x="7934631" y="1170599"/>
            <a:ext cx="4041059" cy="3693319"/>
          </a:xfrm>
          <a:prstGeom prst="rect">
            <a:avLst/>
          </a:prstGeom>
        </p:spPr>
        <p:txBody>
          <a:bodyPr wrap="square">
            <a:spAutoFit/>
          </a:bodyPr>
          <a:lstStyle/>
          <a:p>
            <a:pPr algn="just"/>
            <a:r>
              <a:rPr lang="en-US" b="1" dirty="0">
                <a:latin typeface="Inter"/>
              </a:rPr>
              <a:t>The principle of operation</a:t>
            </a:r>
            <a:r>
              <a:rPr lang="en-US" dirty="0">
                <a:latin typeface="Inter"/>
              </a:rPr>
              <a:t> of an LDO can be explained as a voltage-controlled voltage source (VCVS). This VCVS is controlled by two voltages </a:t>
            </a:r>
            <a:endParaRPr lang="en-US" dirty="0" smtClean="0">
              <a:latin typeface="Inter"/>
            </a:endParaRPr>
          </a:p>
          <a:p>
            <a:pPr marL="800100" lvl="1" indent="-342900" algn="just">
              <a:buFont typeface="Wingdings" panose="05000000000000000000" pitchFamily="2" charset="2"/>
              <a:buChar char="q"/>
            </a:pPr>
            <a:r>
              <a:rPr lang="en-US" sz="2000" dirty="0">
                <a:latin typeface="Inter"/>
              </a:rPr>
              <a:t>R</a:t>
            </a:r>
            <a:r>
              <a:rPr lang="en-US" sz="2000" b="1" dirty="0" smtClean="0">
                <a:latin typeface="Inter"/>
              </a:rPr>
              <a:t>eference </a:t>
            </a:r>
            <a:r>
              <a:rPr lang="en-US" sz="2000" b="1" dirty="0">
                <a:latin typeface="Inter"/>
              </a:rPr>
              <a:t>voltage</a:t>
            </a:r>
            <a:r>
              <a:rPr lang="en-US" sz="2000" dirty="0">
                <a:latin typeface="Inter"/>
              </a:rPr>
              <a:t> </a:t>
            </a:r>
            <a:r>
              <a:rPr lang="en-US" sz="2000" dirty="0">
                <a:latin typeface="KaTeX_Main"/>
              </a:rPr>
              <a:t>(</a:t>
            </a:r>
            <a:r>
              <a:rPr lang="en-US" sz="2000" dirty="0" err="1">
                <a:latin typeface="KaTeX_Main"/>
              </a:rPr>
              <a:t>V</a:t>
            </a:r>
            <a:r>
              <a:rPr lang="en-US" sz="2000" baseline="-25000" dirty="0" err="1">
                <a:latin typeface="KaTeX_Main"/>
              </a:rPr>
              <a:t>ref</a:t>
            </a:r>
            <a:r>
              <a:rPr lang="en-US" sz="2000" dirty="0" smtClean="0">
                <a:latin typeface="KaTeX_Main"/>
              </a:rPr>
              <a:t>)</a:t>
            </a:r>
            <a:endParaRPr lang="en-US" sz="2000" dirty="0" smtClean="0">
              <a:latin typeface="Inter"/>
            </a:endParaRPr>
          </a:p>
          <a:p>
            <a:pPr marL="800100" lvl="1" indent="-342900" algn="just">
              <a:buFont typeface="Wingdings" panose="05000000000000000000" pitchFamily="2" charset="2"/>
              <a:buChar char="q"/>
            </a:pPr>
            <a:r>
              <a:rPr lang="en-US" sz="2000" b="1" dirty="0" smtClean="0">
                <a:latin typeface="Inter"/>
              </a:rPr>
              <a:t>feedback </a:t>
            </a:r>
            <a:r>
              <a:rPr lang="en-US" sz="2000" b="1" dirty="0">
                <a:latin typeface="Inter"/>
              </a:rPr>
              <a:t>voltage</a:t>
            </a:r>
            <a:r>
              <a:rPr lang="en-US" sz="2000" dirty="0">
                <a:latin typeface="Inter"/>
              </a:rPr>
              <a:t> </a:t>
            </a:r>
            <a:r>
              <a:rPr lang="en-US" sz="2000" dirty="0">
                <a:latin typeface="KaTeX_Main"/>
              </a:rPr>
              <a:t>(</a:t>
            </a:r>
            <a:r>
              <a:rPr lang="en-US" sz="2000" dirty="0" err="1">
                <a:latin typeface="KaTeX_Main"/>
              </a:rPr>
              <a:t>V</a:t>
            </a:r>
            <a:r>
              <a:rPr lang="en-US" sz="2000" baseline="-25000" dirty="0" err="1">
                <a:latin typeface="KaTeX_Main"/>
              </a:rPr>
              <a:t>fb</a:t>
            </a:r>
            <a:r>
              <a:rPr lang="en-US" sz="2000" dirty="0" smtClean="0">
                <a:latin typeface="KaTeX_Main"/>
              </a:rPr>
              <a:t>)</a:t>
            </a:r>
            <a:r>
              <a:rPr lang="en-US" sz="2000" dirty="0">
                <a:latin typeface="Inter"/>
              </a:rPr>
              <a:t> </a:t>
            </a:r>
            <a:endParaRPr lang="en-US" sz="2000" dirty="0" smtClean="0">
              <a:latin typeface="Inter"/>
            </a:endParaRPr>
          </a:p>
          <a:p>
            <a:pPr algn="just"/>
            <a:r>
              <a:rPr lang="en-US" dirty="0" smtClean="0">
                <a:latin typeface="Inter"/>
              </a:rPr>
              <a:t>It targeting </a:t>
            </a:r>
            <a:r>
              <a:rPr lang="en-US" dirty="0">
                <a:latin typeface="Inter"/>
              </a:rPr>
              <a:t>to maintain a constant voltage </a:t>
            </a:r>
            <a:r>
              <a:rPr lang="en-US" dirty="0">
                <a:latin typeface="KaTeX_Main"/>
              </a:rPr>
              <a:t>(</a:t>
            </a:r>
            <a:r>
              <a:rPr lang="en-US" dirty="0" err="1">
                <a:latin typeface="KaTeX_Main"/>
              </a:rPr>
              <a:t>V</a:t>
            </a:r>
            <a:r>
              <a:rPr lang="en-US" baseline="-25000" dirty="0" err="1">
                <a:latin typeface="KaTeX_Main"/>
              </a:rPr>
              <a:t>out</a:t>
            </a:r>
            <a:r>
              <a:rPr lang="en-US" dirty="0" smtClean="0">
                <a:latin typeface="KaTeX_Main"/>
              </a:rPr>
              <a:t>)</a:t>
            </a:r>
            <a:r>
              <a:rPr lang="en-US" dirty="0">
                <a:latin typeface="Inter"/>
              </a:rPr>
              <a:t> equal to </a:t>
            </a:r>
            <a:r>
              <a:rPr lang="en-US" dirty="0" err="1" smtClean="0">
                <a:latin typeface="KaTeX_Main"/>
              </a:rPr>
              <a:t>V</a:t>
            </a:r>
            <a:r>
              <a:rPr lang="en-US" baseline="-25000" dirty="0" err="1" smtClean="0">
                <a:latin typeface="KaTeX_Main"/>
              </a:rPr>
              <a:t>ref</a:t>
            </a:r>
            <a:r>
              <a:rPr lang="en-US" i="1" dirty="0">
                <a:latin typeface="KaTeX_Math"/>
              </a:rPr>
              <a:t> </a:t>
            </a:r>
            <a:r>
              <a:rPr lang="en-US" dirty="0" smtClean="0">
                <a:latin typeface="Inter"/>
              </a:rPr>
              <a:t>by </a:t>
            </a:r>
            <a:r>
              <a:rPr lang="en-US" dirty="0">
                <a:latin typeface="Inter"/>
              </a:rPr>
              <a:t>supplying sufficient current to the feedback resistance </a:t>
            </a:r>
            <a:r>
              <a:rPr lang="en-US" dirty="0" smtClean="0">
                <a:latin typeface="KaTeX_Main"/>
              </a:rPr>
              <a:t>R</a:t>
            </a:r>
            <a:r>
              <a:rPr lang="en-US" baseline="-25000" dirty="0" smtClean="0">
                <a:latin typeface="KaTeX_Main"/>
              </a:rPr>
              <a:t>1</a:t>
            </a:r>
            <a:r>
              <a:rPr lang="en-US" dirty="0">
                <a:latin typeface="KaTeX_Main"/>
              </a:rPr>
              <a:t>​</a:t>
            </a:r>
            <a:r>
              <a:rPr lang="en-US" dirty="0">
                <a:latin typeface="Inter"/>
              </a:rPr>
              <a:t> and load resistance </a:t>
            </a:r>
            <a:r>
              <a:rPr lang="en-US" dirty="0" smtClean="0">
                <a:latin typeface="KaTeX_Main"/>
              </a:rPr>
              <a:t>R</a:t>
            </a:r>
            <a:r>
              <a:rPr lang="en-US" baseline="-25000" dirty="0" smtClean="0">
                <a:latin typeface="KaTeX_Main"/>
              </a:rPr>
              <a:t>L</a:t>
            </a:r>
            <a:r>
              <a:rPr lang="en-US" dirty="0" smtClean="0">
                <a:latin typeface="KaTeX_Main"/>
              </a:rPr>
              <a:t>​</a:t>
            </a:r>
            <a:r>
              <a:rPr lang="en-US" dirty="0">
                <a:latin typeface="Inter"/>
              </a:rPr>
              <a:t>. </a:t>
            </a:r>
            <a:endParaRPr lang="en-US" dirty="0"/>
          </a:p>
        </p:txBody>
      </p:sp>
      <p:grpSp>
        <p:nvGrpSpPr>
          <p:cNvPr id="15" name="Group 14"/>
          <p:cNvGrpSpPr/>
          <p:nvPr/>
        </p:nvGrpSpPr>
        <p:grpSpPr>
          <a:xfrm>
            <a:off x="-19665" y="1126045"/>
            <a:ext cx="7710748" cy="3085260"/>
            <a:chOff x="2182761" y="3544780"/>
            <a:chExt cx="7710748" cy="3085260"/>
          </a:xfrm>
        </p:grpSpPr>
        <p:pic>
          <p:nvPicPr>
            <p:cNvPr id="8" name="Picture 7"/>
            <p:cNvPicPr>
              <a:picLocks noChangeAspect="1"/>
            </p:cNvPicPr>
            <p:nvPr/>
          </p:nvPicPr>
          <p:blipFill>
            <a:blip r:embed="rId2"/>
            <a:stretch>
              <a:fillRect/>
            </a:stretch>
          </p:blipFill>
          <p:spPr>
            <a:xfrm>
              <a:off x="2349966" y="3575533"/>
              <a:ext cx="7264773" cy="3054507"/>
            </a:xfrm>
            <a:prstGeom prst="rect">
              <a:avLst/>
            </a:prstGeom>
          </p:spPr>
        </p:pic>
        <p:sp>
          <p:nvSpPr>
            <p:cNvPr id="3" name="Rectangle 2"/>
            <p:cNvSpPr/>
            <p:nvPr/>
          </p:nvSpPr>
          <p:spPr>
            <a:xfrm>
              <a:off x="2182761" y="3682010"/>
              <a:ext cx="209544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Inter"/>
                  <a:ea typeface="+mn-ea"/>
                  <a:cs typeface="+mn-cs"/>
                </a:rPr>
                <a:t>reference voltage</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Rectangle 8"/>
            <p:cNvSpPr/>
            <p:nvPr/>
          </p:nvSpPr>
          <p:spPr>
            <a:xfrm>
              <a:off x="3138564" y="5190700"/>
              <a:ext cx="205697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Inter"/>
                  <a:ea typeface="+mn-ea"/>
                  <a:cs typeface="+mn-cs"/>
                </a:rPr>
                <a:t>feedback voltage</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Rectangle 9"/>
            <p:cNvSpPr/>
            <p:nvPr/>
          </p:nvSpPr>
          <p:spPr>
            <a:xfrm>
              <a:off x="7875008" y="4361279"/>
              <a:ext cx="2018501"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Inter"/>
                  <a:ea typeface="+mn-ea"/>
                  <a:cs typeface="+mn-cs"/>
                </a:rPr>
                <a:t>constant voltage</a:t>
              </a:r>
              <a:endParaRPr kumimoji="0" lang="en-US" sz="1800" b="1" i="0" u="none" strike="noStrike" kern="1200" cap="none" spc="0" normalizeH="0" baseline="0" noProof="0" dirty="0">
                <a:ln>
                  <a:noFill/>
                </a:ln>
                <a:solidFill>
                  <a:prstClr val="black"/>
                </a:solidFill>
                <a:effectLst/>
                <a:uLnTx/>
                <a:uFillTx/>
                <a:latin typeface="Calibri"/>
                <a:ea typeface="+mn-ea"/>
                <a:cs typeface="+mn-cs"/>
              </a:endParaRPr>
            </a:p>
          </p:txBody>
        </p:sp>
        <p:sp>
          <p:nvSpPr>
            <p:cNvPr id="11" name="Rectangle 10"/>
            <p:cNvSpPr/>
            <p:nvPr/>
          </p:nvSpPr>
          <p:spPr>
            <a:xfrm>
              <a:off x="6028230" y="4585455"/>
              <a:ext cx="212109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Inter"/>
                  <a:ea typeface="+mn-ea"/>
                  <a:cs typeface="+mn-cs"/>
                </a:rPr>
                <a:t>quiescent current</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Rectangle 11"/>
            <p:cNvSpPr/>
            <p:nvPr/>
          </p:nvSpPr>
          <p:spPr>
            <a:xfrm>
              <a:off x="6079196" y="3692826"/>
              <a:ext cx="174919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Inter"/>
                  <a:ea typeface="+mn-ea"/>
                  <a:cs typeface="+mn-cs"/>
                </a:rPr>
                <a:t>control voltage </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Rectangle 12"/>
            <p:cNvSpPr/>
            <p:nvPr/>
          </p:nvSpPr>
          <p:spPr>
            <a:xfrm>
              <a:off x="3804348" y="3544780"/>
              <a:ext cx="1544012"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Inter"/>
                  <a:ea typeface="+mn-ea"/>
                  <a:cs typeface="+mn-cs"/>
                </a:rPr>
                <a:t>error voltage </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4" name="Rectangle 13"/>
            <p:cNvSpPr/>
            <p:nvPr/>
          </p:nvSpPr>
          <p:spPr>
            <a:xfrm>
              <a:off x="3638609" y="4102128"/>
              <a:ext cx="81304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Inter"/>
                  <a:ea typeface="+mn-ea"/>
                  <a:cs typeface="+mn-cs"/>
                </a:rPr>
                <a:t>VCVS</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16" name="Straight Arrow Connector 15"/>
            <p:cNvCxnSpPr/>
            <p:nvPr/>
          </p:nvCxnSpPr>
          <p:spPr>
            <a:xfrm flipH="1">
              <a:off x="5630092" y="3924300"/>
              <a:ext cx="521471" cy="1208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2886880" y="4563682"/>
              <a:ext cx="191590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Inter"/>
                  <a:ea typeface="+mn-ea"/>
                  <a:cs typeface="+mn-cs"/>
                </a:rPr>
                <a:t>subtraction block</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19" name="Straight Arrow Connector 18"/>
            <p:cNvCxnSpPr/>
            <p:nvPr/>
          </p:nvCxnSpPr>
          <p:spPr>
            <a:xfrm flipH="1">
              <a:off x="6353993" y="4867275"/>
              <a:ext cx="424632" cy="2668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8" name="Rectangle 17"/>
          <p:cNvSpPr/>
          <p:nvPr/>
        </p:nvSpPr>
        <p:spPr>
          <a:xfrm>
            <a:off x="412954" y="5068481"/>
            <a:ext cx="11611898" cy="1323439"/>
          </a:xfrm>
          <a:prstGeom prst="rect">
            <a:avLst/>
          </a:prstGeom>
        </p:spPr>
        <p:txBody>
          <a:bodyPr wrap="square">
            <a:spAutoFit/>
          </a:bodyPr>
          <a:lstStyle/>
          <a:p>
            <a:pPr lvl="0" algn="just"/>
            <a:r>
              <a:rPr lang="en-US" sz="2000" kern="0" dirty="0">
                <a:solidFill>
                  <a:prstClr val="black"/>
                </a:solidFill>
                <a:latin typeface="Inter"/>
              </a:rPr>
              <a:t>The feedback resistance </a:t>
            </a:r>
            <a:r>
              <a:rPr lang="en-US" sz="2000" i="1" kern="0" dirty="0">
                <a:solidFill>
                  <a:prstClr val="black"/>
                </a:solidFill>
                <a:latin typeface="KaTeX_Math"/>
              </a:rPr>
              <a:t>R</a:t>
            </a:r>
            <a:r>
              <a:rPr lang="en-US" sz="2000" kern="0" baseline="-25000" dirty="0">
                <a:solidFill>
                  <a:prstClr val="black"/>
                </a:solidFill>
                <a:latin typeface="KaTeX_Main"/>
              </a:rPr>
              <a:t>1</a:t>
            </a:r>
            <a:r>
              <a:rPr lang="en-US" sz="2000" kern="0" dirty="0">
                <a:solidFill>
                  <a:prstClr val="black"/>
                </a:solidFill>
                <a:latin typeface="KaTeX_Main"/>
              </a:rPr>
              <a:t>​</a:t>
            </a:r>
            <a:r>
              <a:rPr lang="en-US" sz="2000" kern="0" dirty="0">
                <a:solidFill>
                  <a:prstClr val="black"/>
                </a:solidFill>
                <a:latin typeface="Inter"/>
              </a:rPr>
              <a:t> defines a minimum current at </a:t>
            </a:r>
            <a:r>
              <a:rPr lang="en-US" sz="2000" b="1" kern="0" dirty="0">
                <a:solidFill>
                  <a:prstClr val="black"/>
                </a:solidFill>
                <a:latin typeface="Inter"/>
              </a:rPr>
              <a:t>no-load condition</a:t>
            </a:r>
            <a:r>
              <a:rPr lang="en-US" sz="2000" kern="0" dirty="0">
                <a:solidFill>
                  <a:prstClr val="black"/>
                </a:solidFill>
                <a:latin typeface="Verdana"/>
              </a:rPr>
              <a:t> </a:t>
            </a:r>
            <a:r>
              <a:rPr lang="en-US" sz="2000" kern="0" dirty="0">
                <a:solidFill>
                  <a:prstClr val="black"/>
                </a:solidFill>
                <a:latin typeface="Inter"/>
              </a:rPr>
              <a:t>which is called </a:t>
            </a:r>
            <a:r>
              <a:rPr lang="en-US" sz="2000" b="1" kern="0" dirty="0">
                <a:solidFill>
                  <a:prstClr val="black"/>
                </a:solidFill>
                <a:latin typeface="Inter"/>
              </a:rPr>
              <a:t>quiescent current</a:t>
            </a:r>
            <a:r>
              <a:rPr lang="en-US" sz="2000" kern="0" dirty="0">
                <a:solidFill>
                  <a:prstClr val="black"/>
                </a:solidFill>
                <a:latin typeface="Inter"/>
              </a:rPr>
              <a:t> </a:t>
            </a:r>
            <a:r>
              <a:rPr lang="en-US" sz="2000" kern="0" dirty="0">
                <a:solidFill>
                  <a:prstClr val="black"/>
                </a:solidFill>
                <a:latin typeface="KaTeX_Main"/>
              </a:rPr>
              <a:t>(</a:t>
            </a:r>
            <a:r>
              <a:rPr lang="en-US" sz="2000" kern="0" dirty="0" err="1">
                <a:solidFill>
                  <a:prstClr val="black"/>
                </a:solidFill>
                <a:latin typeface="KaTeX_Main"/>
              </a:rPr>
              <a:t>I</a:t>
            </a:r>
            <a:r>
              <a:rPr lang="en-US" sz="2000" kern="0" baseline="-25000" dirty="0" err="1">
                <a:solidFill>
                  <a:prstClr val="black"/>
                </a:solidFill>
                <a:latin typeface="KaTeX_Main"/>
              </a:rPr>
              <a:t>q</a:t>
            </a:r>
            <a:r>
              <a:rPr lang="en-US" sz="2000" kern="0" dirty="0">
                <a:solidFill>
                  <a:prstClr val="black"/>
                </a:solidFill>
                <a:latin typeface="KaTeX_Main"/>
              </a:rPr>
              <a:t>)</a:t>
            </a:r>
            <a:r>
              <a:rPr lang="en-US" sz="2000" kern="0" dirty="0">
                <a:solidFill>
                  <a:prstClr val="black"/>
                </a:solidFill>
                <a:latin typeface="Inter"/>
              </a:rPr>
              <a:t>. Elaborating further the control stage of an LDO, we can represent it as a subtraction block, producing the error voltage </a:t>
            </a:r>
            <a:r>
              <a:rPr lang="en-US" sz="2000" kern="0" dirty="0">
                <a:solidFill>
                  <a:prstClr val="black"/>
                </a:solidFill>
                <a:latin typeface="KaTeX_Main"/>
              </a:rPr>
              <a:t>V</a:t>
            </a:r>
            <a:r>
              <a:rPr lang="en-US" sz="2000" kern="0" baseline="-25000" dirty="0">
                <a:solidFill>
                  <a:prstClr val="black"/>
                </a:solidFill>
                <a:latin typeface="KaTeX_Main"/>
              </a:rPr>
              <a:t>E</a:t>
            </a:r>
            <a:r>
              <a:rPr lang="en-US" sz="2000" kern="0" dirty="0">
                <a:solidFill>
                  <a:prstClr val="black"/>
                </a:solidFill>
                <a:latin typeface="Inter"/>
              </a:rPr>
              <a:t> followed by the gain stage, generating the control voltage </a:t>
            </a:r>
            <a:r>
              <a:rPr lang="en-US" sz="2000" kern="0" dirty="0" err="1">
                <a:solidFill>
                  <a:prstClr val="black"/>
                </a:solidFill>
                <a:latin typeface="KaTeX_Main"/>
              </a:rPr>
              <a:t>V</a:t>
            </a:r>
            <a:r>
              <a:rPr lang="en-US" sz="2000" kern="0" baseline="-25000" dirty="0" err="1">
                <a:solidFill>
                  <a:prstClr val="black"/>
                </a:solidFill>
                <a:latin typeface="KaTeX_Main"/>
              </a:rPr>
              <a:t>c</a:t>
            </a:r>
            <a:r>
              <a:rPr lang="en-US" sz="2000" kern="0" dirty="0">
                <a:solidFill>
                  <a:prstClr val="black"/>
                </a:solidFill>
                <a:latin typeface="Inter"/>
              </a:rPr>
              <a:t> :</a:t>
            </a:r>
            <a:endParaRPr lang="en-US" sz="2000" kern="0" dirty="0">
              <a:solidFill>
                <a:prstClr val="black"/>
              </a:solidFill>
              <a:latin typeface="Verdana"/>
            </a:endParaRPr>
          </a:p>
        </p:txBody>
      </p:sp>
    </p:spTree>
    <p:extLst>
      <p:ext uri="{BB962C8B-B14F-4D97-AF65-F5344CB8AC3E}">
        <p14:creationId xmlns:p14="http://schemas.microsoft.com/office/powerpoint/2010/main" val="1653502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7708490" y="1327353"/>
            <a:ext cx="3666646" cy="3385542"/>
          </a:xfrm>
        </p:spPr>
        <p:txBody>
          <a:bodyPr/>
          <a:lstStyle/>
          <a:p>
            <a:pPr algn="ctr"/>
            <a:r>
              <a:rPr lang="en-US" b="1" dirty="0" smtClean="0">
                <a:solidFill>
                  <a:srgbClr val="C00000"/>
                </a:solidFill>
              </a:rPr>
              <a:t>How it work</a:t>
            </a:r>
          </a:p>
          <a:p>
            <a:pPr algn="ctr"/>
            <a:endParaRPr lang="en-US" b="1" dirty="0" smtClean="0">
              <a:solidFill>
                <a:srgbClr val="C00000"/>
              </a:solidFill>
            </a:endParaRPr>
          </a:p>
          <a:p>
            <a:pPr marL="342900" indent="-342900" algn="just">
              <a:buFont typeface="Wingdings" panose="05000000000000000000" pitchFamily="2" charset="2"/>
              <a:buChar char="q"/>
            </a:pPr>
            <a:r>
              <a:rPr lang="en-US" dirty="0" smtClean="0"/>
              <a:t>Subtraction </a:t>
            </a:r>
            <a:r>
              <a:rPr lang="en-US" dirty="0"/>
              <a:t>and gain can be implemented using </a:t>
            </a:r>
            <a:r>
              <a:rPr lang="en-US" dirty="0" smtClean="0"/>
              <a:t>OTA </a:t>
            </a:r>
            <a:r>
              <a:rPr lang="en-US" dirty="0"/>
              <a:t>and usually called an </a:t>
            </a:r>
            <a:r>
              <a:rPr lang="en-US" b="1" dirty="0"/>
              <a:t>error amplifier</a:t>
            </a:r>
            <a:r>
              <a:rPr lang="en-US" dirty="0"/>
              <a:t>. </a:t>
            </a:r>
            <a:endParaRPr lang="en-US" dirty="0" smtClean="0"/>
          </a:p>
          <a:p>
            <a:pPr marL="342900" indent="-342900" algn="just">
              <a:buFont typeface="Wingdings" panose="05000000000000000000" pitchFamily="2" charset="2"/>
              <a:buChar char="q"/>
            </a:pPr>
            <a:r>
              <a:rPr lang="en-US" dirty="0" smtClean="0"/>
              <a:t>The </a:t>
            </a:r>
            <a:r>
              <a:rPr lang="en-US" dirty="0"/>
              <a:t>voltage controlled current source is represented by the MOS transistor and usually called a </a:t>
            </a:r>
            <a:r>
              <a:rPr lang="en-US" b="1" dirty="0"/>
              <a:t>pass device</a:t>
            </a:r>
            <a:r>
              <a:rPr lang="en-US" dirty="0"/>
              <a:t>:</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pSp>
        <p:nvGrpSpPr>
          <p:cNvPr id="13" name="Group 12"/>
          <p:cNvGrpSpPr/>
          <p:nvPr/>
        </p:nvGrpSpPr>
        <p:grpSpPr>
          <a:xfrm>
            <a:off x="261027" y="1355675"/>
            <a:ext cx="6511380" cy="3549832"/>
            <a:chOff x="2473285" y="2614204"/>
            <a:chExt cx="6511380" cy="3549832"/>
          </a:xfrm>
        </p:grpSpPr>
        <p:pic>
          <p:nvPicPr>
            <p:cNvPr id="7" name="Picture 6"/>
            <p:cNvPicPr>
              <a:picLocks noChangeAspect="1"/>
            </p:cNvPicPr>
            <p:nvPr/>
          </p:nvPicPr>
          <p:blipFill>
            <a:blip r:embed="rId2"/>
            <a:stretch>
              <a:fillRect/>
            </a:stretch>
          </p:blipFill>
          <p:spPr>
            <a:xfrm>
              <a:off x="2473285" y="2614204"/>
              <a:ext cx="6477333" cy="3549832"/>
            </a:xfrm>
            <a:prstGeom prst="rect">
              <a:avLst/>
            </a:prstGeom>
          </p:spPr>
        </p:pic>
        <p:sp>
          <p:nvSpPr>
            <p:cNvPr id="8" name="Rectangle 7"/>
            <p:cNvSpPr/>
            <p:nvPr/>
          </p:nvSpPr>
          <p:spPr>
            <a:xfrm>
              <a:off x="2646454" y="2621671"/>
              <a:ext cx="217033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Subtraction and gain </a:t>
              </a:r>
            </a:p>
          </p:txBody>
        </p:sp>
        <p:sp>
          <p:nvSpPr>
            <p:cNvPr id="9" name="Rectangle 8"/>
            <p:cNvSpPr/>
            <p:nvPr/>
          </p:nvSpPr>
          <p:spPr>
            <a:xfrm>
              <a:off x="3687767" y="3422860"/>
              <a:ext cx="55797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OTA</a:t>
              </a:r>
            </a:p>
          </p:txBody>
        </p:sp>
        <p:sp>
          <p:nvSpPr>
            <p:cNvPr id="10" name="Rectangle 9"/>
            <p:cNvSpPr/>
            <p:nvPr/>
          </p:nvSpPr>
          <p:spPr>
            <a:xfrm>
              <a:off x="3863297" y="3971500"/>
              <a:ext cx="158286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alibri"/>
                  <a:ea typeface="+mn-ea"/>
                  <a:cs typeface="+mn-cs"/>
                </a:rPr>
                <a:t>error amplifier</a:t>
              </a:r>
              <a:endParaRPr kumimoji="0" lang="en-US" sz="1800" b="0" i="0" u="none" strike="noStrike" kern="1200" cap="none" spc="0" normalizeH="0" baseline="0" noProof="0" dirty="0">
                <a:ln>
                  <a:noFill/>
                </a:ln>
                <a:solidFill>
                  <a:srgbClr val="FF0000"/>
                </a:solidFill>
                <a:effectLst/>
                <a:uLnTx/>
                <a:uFillTx/>
                <a:latin typeface="Calibri"/>
                <a:ea typeface="+mn-ea"/>
                <a:cs typeface="+mn-cs"/>
              </a:endParaRPr>
            </a:p>
          </p:txBody>
        </p:sp>
        <p:sp>
          <p:nvSpPr>
            <p:cNvPr id="11" name="Rectangle 10"/>
            <p:cNvSpPr/>
            <p:nvPr/>
          </p:nvSpPr>
          <p:spPr>
            <a:xfrm>
              <a:off x="5689276" y="3035328"/>
              <a:ext cx="329538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voltage controlled current source</a:t>
              </a:r>
            </a:p>
          </p:txBody>
        </p:sp>
        <p:sp>
          <p:nvSpPr>
            <p:cNvPr id="12" name="Rectangle 11"/>
            <p:cNvSpPr/>
            <p:nvPr/>
          </p:nvSpPr>
          <p:spPr>
            <a:xfrm>
              <a:off x="5830138" y="3666700"/>
              <a:ext cx="1271951"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alibri"/>
                  <a:ea typeface="+mn-ea"/>
                  <a:cs typeface="+mn-cs"/>
                </a:rPr>
                <a:t>pass device</a:t>
              </a:r>
              <a:endParaRPr kumimoji="0" lang="en-US" sz="1800" b="0" i="0" u="none" strike="noStrike" kern="1200" cap="none" spc="0" normalizeH="0" baseline="0" noProof="0" dirty="0">
                <a:ln>
                  <a:noFill/>
                </a:ln>
                <a:solidFill>
                  <a:srgbClr val="FF0000"/>
                </a:solidFill>
                <a:effectLst/>
                <a:uLnTx/>
                <a:uFillTx/>
                <a:latin typeface="Calibri"/>
                <a:ea typeface="+mn-ea"/>
                <a:cs typeface="+mn-cs"/>
              </a:endParaRPr>
            </a:p>
          </p:txBody>
        </p:sp>
      </p:grpSp>
    </p:spTree>
    <p:extLst>
      <p:ext uri="{BB962C8B-B14F-4D97-AF65-F5344CB8AC3E}">
        <p14:creationId xmlns:p14="http://schemas.microsoft.com/office/powerpoint/2010/main" val="7798653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Real LDOs</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989435" y="1209620"/>
            <a:ext cx="8941965" cy="4546529"/>
          </a:xfrm>
          <a:prstGeom prst="rect">
            <a:avLst/>
          </a:prstGeom>
        </p:spPr>
      </p:pic>
    </p:spTree>
    <p:extLst>
      <p:ext uri="{BB962C8B-B14F-4D97-AF65-F5344CB8AC3E}">
        <p14:creationId xmlns:p14="http://schemas.microsoft.com/office/powerpoint/2010/main" val="1814988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7035079" y="1226684"/>
            <a:ext cx="4852121" cy="4924425"/>
          </a:xfrm>
        </p:spPr>
        <p:txBody>
          <a:bodyPr/>
          <a:lstStyle/>
          <a:p>
            <a:pPr algn="ctr"/>
            <a:r>
              <a:rPr lang="en-US" b="1" dirty="0">
                <a:solidFill>
                  <a:srgbClr val="C00000"/>
                </a:solidFill>
              </a:rPr>
              <a:t>The difference between </a:t>
            </a:r>
            <a:endParaRPr lang="en-US" b="1" dirty="0" smtClean="0">
              <a:solidFill>
                <a:srgbClr val="C00000"/>
              </a:solidFill>
            </a:endParaRPr>
          </a:p>
          <a:p>
            <a:pPr algn="ctr"/>
            <a:endParaRPr lang="en-US" b="1" dirty="0" smtClean="0">
              <a:solidFill>
                <a:srgbClr val="C00000"/>
              </a:solidFill>
            </a:endParaRPr>
          </a:p>
          <a:p>
            <a:pPr marL="342900" indent="-342900" algn="just">
              <a:buFont typeface="Wingdings" panose="05000000000000000000" pitchFamily="2" charset="2"/>
              <a:buChar char="q"/>
            </a:pPr>
            <a:r>
              <a:rPr lang="en-US" dirty="0"/>
              <a:t>T</a:t>
            </a:r>
            <a:r>
              <a:rPr lang="en-US" dirty="0" smtClean="0"/>
              <a:t>he </a:t>
            </a:r>
            <a:r>
              <a:rPr lang="en-US" dirty="0"/>
              <a:t>feedback voltage </a:t>
            </a:r>
            <a:r>
              <a:rPr lang="en-US" dirty="0" err="1" smtClean="0"/>
              <a:t>V</a:t>
            </a:r>
            <a:r>
              <a:rPr lang="en-US" baseline="-25000" dirty="0" err="1" smtClean="0"/>
              <a:t>fb</a:t>
            </a:r>
            <a:r>
              <a:rPr lang="en-US" baseline="-25000" dirty="0" smtClean="0"/>
              <a:t>​</a:t>
            </a:r>
            <a:r>
              <a:rPr lang="en-US" dirty="0"/>
              <a:t> and the reference voltage </a:t>
            </a:r>
            <a:r>
              <a:rPr lang="en-US" dirty="0" err="1" smtClean="0"/>
              <a:t>V</a:t>
            </a:r>
            <a:r>
              <a:rPr lang="en-US" baseline="-25000" dirty="0" err="1" smtClean="0"/>
              <a:t>ref</a:t>
            </a:r>
            <a:r>
              <a:rPr lang="en-US" baseline="-25000" dirty="0"/>
              <a:t> </a:t>
            </a:r>
            <a:r>
              <a:rPr lang="en-US" dirty="0"/>
              <a:t>produces the control voltage </a:t>
            </a:r>
            <a:r>
              <a:rPr lang="en-US" dirty="0" err="1" smtClean="0"/>
              <a:t>V</a:t>
            </a:r>
            <a:r>
              <a:rPr lang="en-US" baseline="-25000" dirty="0" err="1" smtClean="0"/>
              <a:t>c</a:t>
            </a:r>
            <a:r>
              <a:rPr lang="en-US" baseline="-25000" dirty="0" smtClean="0"/>
              <a:t>​</a:t>
            </a:r>
            <a:r>
              <a:rPr lang="en-US" dirty="0"/>
              <a:t> which determines current through the pass device, </a:t>
            </a:r>
            <a:endParaRPr lang="en-US" dirty="0" smtClean="0"/>
          </a:p>
          <a:p>
            <a:pPr marL="342900" indent="-342900" algn="just">
              <a:buFont typeface="Wingdings" panose="05000000000000000000" pitchFamily="2" charset="2"/>
              <a:buChar char="q"/>
            </a:pPr>
            <a:r>
              <a:rPr lang="en-US" dirty="0" smtClean="0"/>
              <a:t>It </a:t>
            </a:r>
            <a:r>
              <a:rPr lang="en-US" dirty="0"/>
              <a:t>ensuring that enough current is supplied to the load resistance </a:t>
            </a:r>
            <a:r>
              <a:rPr lang="en-US" i="1" dirty="0" smtClean="0"/>
              <a:t>R</a:t>
            </a:r>
            <a:r>
              <a:rPr lang="en-US" i="1" baseline="-25000" dirty="0" smtClean="0"/>
              <a:t>L</a:t>
            </a:r>
            <a:r>
              <a:rPr lang="en-US" dirty="0"/>
              <a:t>​ and </a:t>
            </a:r>
            <a:r>
              <a:rPr lang="en-US" i="1" dirty="0" err="1" smtClean="0"/>
              <a:t>V</a:t>
            </a:r>
            <a:r>
              <a:rPr lang="en-US" i="1" baseline="-25000" dirty="0" err="1" smtClean="0"/>
              <a:t>out</a:t>
            </a:r>
            <a:r>
              <a:rPr lang="en-US" baseline="-25000" dirty="0" smtClean="0"/>
              <a:t>​ </a:t>
            </a:r>
            <a:r>
              <a:rPr lang="en-US" dirty="0" smtClean="0"/>
              <a:t>= </a:t>
            </a:r>
            <a:r>
              <a:rPr lang="en-US" i="1" dirty="0" err="1" smtClean="0"/>
              <a:t>V</a:t>
            </a:r>
            <a:r>
              <a:rPr lang="en-US" i="1" baseline="-25000" dirty="0" err="1" smtClean="0"/>
              <a:t>ref</a:t>
            </a:r>
            <a:r>
              <a:rPr lang="en-US" baseline="-25000" dirty="0"/>
              <a:t>​</a:t>
            </a:r>
            <a:r>
              <a:rPr lang="en-US" dirty="0"/>
              <a:t> is maintained. </a:t>
            </a:r>
            <a:endParaRPr lang="en-US" dirty="0" smtClean="0"/>
          </a:p>
          <a:p>
            <a:pPr marL="342900" indent="-342900" algn="just">
              <a:buFont typeface="Wingdings" panose="05000000000000000000" pitchFamily="2" charset="2"/>
              <a:buChar char="q"/>
            </a:pPr>
            <a:r>
              <a:rPr lang="en-US" dirty="0" smtClean="0"/>
              <a:t>The </a:t>
            </a:r>
            <a:r>
              <a:rPr lang="en-US" dirty="0"/>
              <a:t>load capacitance </a:t>
            </a:r>
            <a:r>
              <a:rPr lang="en-US" dirty="0" smtClean="0"/>
              <a:t>C</a:t>
            </a:r>
            <a:r>
              <a:rPr lang="en-US" baseline="-25000" dirty="0" smtClean="0"/>
              <a:t>L​</a:t>
            </a:r>
            <a:r>
              <a:rPr lang="en-US" dirty="0"/>
              <a:t> is playing a vital role during load transients (by supplying extra current) and stability, which </a:t>
            </a:r>
            <a:r>
              <a:rPr lang="en-US" dirty="0" smtClean="0"/>
              <a:t>will </a:t>
            </a:r>
            <a:r>
              <a:rPr lang="en-US" dirty="0"/>
              <a:t>be discussed later.</a:t>
            </a:r>
          </a:p>
        </p:txBody>
      </p:sp>
      <p:sp>
        <p:nvSpPr>
          <p:cNvPr id="4" name="Footer Placeholder 3"/>
          <p:cNvSpPr>
            <a:spLocks noGrp="1"/>
          </p:cNvSpPr>
          <p:nvPr>
            <p:ph type="ftr" sz="quarter" idx="5"/>
          </p:nvPr>
        </p:nvSpPr>
        <p:spPr>
          <a:xfrm>
            <a:off x="5505485" y="6533693"/>
            <a:ext cx="1522332" cy="47235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pSp>
        <p:nvGrpSpPr>
          <p:cNvPr id="7" name="Group 6"/>
          <p:cNvGrpSpPr/>
          <p:nvPr/>
        </p:nvGrpSpPr>
        <p:grpSpPr>
          <a:xfrm>
            <a:off x="343053" y="1168333"/>
            <a:ext cx="6530233" cy="3561218"/>
            <a:chOff x="2737461" y="2987706"/>
            <a:chExt cx="6530233" cy="3561218"/>
          </a:xfrm>
        </p:grpSpPr>
        <p:pic>
          <p:nvPicPr>
            <p:cNvPr id="8" name="Picture 7"/>
            <p:cNvPicPr>
              <a:picLocks noChangeAspect="1"/>
            </p:cNvPicPr>
            <p:nvPr/>
          </p:nvPicPr>
          <p:blipFill>
            <a:blip r:embed="rId2"/>
            <a:stretch>
              <a:fillRect/>
            </a:stretch>
          </p:blipFill>
          <p:spPr>
            <a:xfrm>
              <a:off x="2737461" y="2999092"/>
              <a:ext cx="6477333" cy="3549832"/>
            </a:xfrm>
            <a:prstGeom prst="rect">
              <a:avLst/>
            </a:prstGeom>
          </p:spPr>
        </p:pic>
        <p:sp>
          <p:nvSpPr>
            <p:cNvPr id="9" name="Rectangle 8"/>
            <p:cNvSpPr/>
            <p:nvPr/>
          </p:nvSpPr>
          <p:spPr>
            <a:xfrm>
              <a:off x="2929483" y="2987706"/>
              <a:ext cx="217033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Subtraction and gain </a:t>
              </a:r>
            </a:p>
          </p:txBody>
        </p:sp>
        <p:sp>
          <p:nvSpPr>
            <p:cNvPr id="10" name="Rectangle 9"/>
            <p:cNvSpPr/>
            <p:nvPr/>
          </p:nvSpPr>
          <p:spPr>
            <a:xfrm>
              <a:off x="3970796" y="3788895"/>
              <a:ext cx="55797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OTA</a:t>
              </a:r>
            </a:p>
          </p:txBody>
        </p:sp>
        <p:sp>
          <p:nvSpPr>
            <p:cNvPr id="11" name="Rectangle 10"/>
            <p:cNvSpPr/>
            <p:nvPr/>
          </p:nvSpPr>
          <p:spPr>
            <a:xfrm>
              <a:off x="4146326" y="4337535"/>
              <a:ext cx="158286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alibri"/>
                  <a:ea typeface="+mn-ea"/>
                  <a:cs typeface="+mn-cs"/>
                </a:rPr>
                <a:t>error amplifier</a:t>
              </a:r>
              <a:endParaRPr kumimoji="0" lang="en-US" sz="1800" b="0" i="0" u="none" strike="noStrike" kern="1200" cap="none" spc="0" normalizeH="0" baseline="0" noProof="0" dirty="0">
                <a:ln>
                  <a:noFill/>
                </a:ln>
                <a:solidFill>
                  <a:srgbClr val="FF0000"/>
                </a:solidFill>
                <a:effectLst/>
                <a:uLnTx/>
                <a:uFillTx/>
                <a:latin typeface="Calibri"/>
                <a:ea typeface="+mn-ea"/>
                <a:cs typeface="+mn-cs"/>
              </a:endParaRPr>
            </a:p>
          </p:txBody>
        </p:sp>
        <p:sp>
          <p:nvSpPr>
            <p:cNvPr id="12" name="Rectangle 11"/>
            <p:cNvSpPr/>
            <p:nvPr/>
          </p:nvSpPr>
          <p:spPr>
            <a:xfrm>
              <a:off x="5972305" y="3401363"/>
              <a:ext cx="329538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voltage controlled current source</a:t>
              </a:r>
            </a:p>
          </p:txBody>
        </p:sp>
        <p:sp>
          <p:nvSpPr>
            <p:cNvPr id="13" name="Rectangle 12"/>
            <p:cNvSpPr/>
            <p:nvPr/>
          </p:nvSpPr>
          <p:spPr>
            <a:xfrm>
              <a:off x="6113167" y="4032735"/>
              <a:ext cx="1271951"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alibri"/>
                  <a:ea typeface="+mn-ea"/>
                  <a:cs typeface="+mn-cs"/>
                </a:rPr>
                <a:t>pass device</a:t>
              </a:r>
              <a:endParaRPr kumimoji="0" lang="en-US" sz="1800" b="0" i="0" u="none" strike="noStrike" kern="1200" cap="none" spc="0" normalizeH="0" baseline="0" noProof="0" dirty="0">
                <a:ln>
                  <a:noFill/>
                </a:ln>
                <a:solidFill>
                  <a:srgbClr val="FF0000"/>
                </a:solidFill>
                <a:effectLst/>
                <a:uLnTx/>
                <a:uFillTx/>
                <a:latin typeface="Calibri"/>
                <a:ea typeface="+mn-ea"/>
                <a:cs typeface="+mn-cs"/>
              </a:endParaRPr>
            </a:p>
          </p:txBody>
        </p:sp>
      </p:grpSp>
    </p:spTree>
    <p:extLst>
      <p:ext uri="{BB962C8B-B14F-4D97-AF65-F5344CB8AC3E}">
        <p14:creationId xmlns:p14="http://schemas.microsoft.com/office/powerpoint/2010/main" val="305969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Practical </a:t>
            </a:r>
            <a:r>
              <a:rPr lang="en-US" dirty="0"/>
              <a:t>example of an LDO</a:t>
            </a:r>
            <a:endParaRPr lang="en-US" dirty="0"/>
          </a:p>
        </p:txBody>
      </p:sp>
      <p:sp>
        <p:nvSpPr>
          <p:cNvPr id="3" name="Text Placeholder 2"/>
          <p:cNvSpPr>
            <a:spLocks noGrp="1"/>
          </p:cNvSpPr>
          <p:nvPr>
            <p:ph type="body" idx="1"/>
          </p:nvPr>
        </p:nvSpPr>
        <p:spPr>
          <a:xfrm>
            <a:off x="844550" y="1327353"/>
            <a:ext cx="10795762" cy="923330"/>
          </a:xfrm>
        </p:spPr>
        <p:txBody>
          <a:bodyPr/>
          <a:lstStyle/>
          <a:p>
            <a:pPr algn="just"/>
            <a:r>
              <a:rPr lang="en-US" dirty="0"/>
              <a:t>Let's have a look on a practical example of an LDO to understand its operation better. The picture below represents a simple LDO with an NMOS pass device and no load.</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081026" y="2451531"/>
            <a:ext cx="9792203" cy="2997354"/>
          </a:xfrm>
          <a:prstGeom prst="rect">
            <a:avLst/>
          </a:prstGeom>
        </p:spPr>
      </p:pic>
      <p:sp>
        <p:nvSpPr>
          <p:cNvPr id="8" name="Rectangle 7"/>
          <p:cNvSpPr/>
          <p:nvPr/>
        </p:nvSpPr>
        <p:spPr>
          <a:xfrm>
            <a:off x="4333179" y="2851044"/>
            <a:ext cx="1913152" cy="369332"/>
          </a:xfrm>
          <a:prstGeom prst="rect">
            <a:avLst/>
          </a:prstGeom>
        </p:spPr>
        <p:txBody>
          <a:bodyPr wrap="none">
            <a:spAutoFit/>
          </a:bodyPr>
          <a:lstStyle/>
          <a:p>
            <a:r>
              <a:rPr lang="en-US" dirty="0">
                <a:solidFill>
                  <a:srgbClr val="C00000"/>
                </a:solidFill>
              </a:rPr>
              <a:t>NMOS pass device</a:t>
            </a:r>
          </a:p>
        </p:txBody>
      </p:sp>
      <p:sp>
        <p:nvSpPr>
          <p:cNvPr id="9" name="Rectangle 8"/>
          <p:cNvSpPr/>
          <p:nvPr/>
        </p:nvSpPr>
        <p:spPr>
          <a:xfrm>
            <a:off x="4757072" y="3814605"/>
            <a:ext cx="915635" cy="369332"/>
          </a:xfrm>
          <a:prstGeom prst="rect">
            <a:avLst/>
          </a:prstGeom>
        </p:spPr>
        <p:txBody>
          <a:bodyPr wrap="none">
            <a:spAutoFit/>
          </a:bodyPr>
          <a:lstStyle/>
          <a:p>
            <a:r>
              <a:rPr lang="en-US" dirty="0" smtClean="0">
                <a:solidFill>
                  <a:srgbClr val="C00000"/>
                </a:solidFill>
              </a:rPr>
              <a:t>No </a:t>
            </a:r>
            <a:r>
              <a:rPr lang="en-US" dirty="0">
                <a:solidFill>
                  <a:srgbClr val="C00000"/>
                </a:solidFill>
              </a:rPr>
              <a:t>load</a:t>
            </a:r>
          </a:p>
        </p:txBody>
      </p:sp>
    </p:spTree>
    <p:extLst>
      <p:ext uri="{BB962C8B-B14F-4D97-AF65-F5344CB8AC3E}">
        <p14:creationId xmlns:p14="http://schemas.microsoft.com/office/powerpoint/2010/main" val="5645035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005503" y="103695"/>
            <a:ext cx="9792203" cy="2997354"/>
          </a:xfrm>
          <a:prstGeom prst="rect">
            <a:avLst/>
          </a:prstGeom>
        </p:spPr>
      </p:pic>
      <p:pic>
        <p:nvPicPr>
          <p:cNvPr id="8" name="Picture 7"/>
          <p:cNvPicPr>
            <a:picLocks noChangeAspect="1"/>
          </p:cNvPicPr>
          <p:nvPr/>
        </p:nvPicPr>
        <p:blipFill>
          <a:blip r:embed="rId3"/>
          <a:stretch>
            <a:fillRect/>
          </a:stretch>
        </p:blipFill>
        <p:spPr>
          <a:xfrm>
            <a:off x="1012179" y="3332346"/>
            <a:ext cx="9984740" cy="3525654"/>
          </a:xfrm>
          <a:prstGeom prst="rect">
            <a:avLst/>
          </a:prstGeom>
        </p:spPr>
      </p:pic>
    </p:spTree>
    <p:extLst>
      <p:ext uri="{BB962C8B-B14F-4D97-AF65-F5344CB8AC3E}">
        <p14:creationId xmlns:p14="http://schemas.microsoft.com/office/powerpoint/2010/main" val="34475213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a:t>LDO operation under load</a:t>
            </a:r>
            <a:br>
              <a:rPr lang="en-US" dirty="0"/>
            </a:b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590082" y="1157686"/>
            <a:ext cx="10541542" cy="2952902"/>
          </a:xfrm>
          <a:prstGeom prst="rect">
            <a:avLst/>
          </a:prstGeom>
        </p:spPr>
      </p:pic>
      <p:pic>
        <p:nvPicPr>
          <p:cNvPr id="8" name="Picture 7"/>
          <p:cNvPicPr>
            <a:picLocks noChangeAspect="1"/>
          </p:cNvPicPr>
          <p:nvPr/>
        </p:nvPicPr>
        <p:blipFill>
          <a:blip r:embed="rId3"/>
          <a:stretch>
            <a:fillRect/>
          </a:stretch>
        </p:blipFill>
        <p:spPr>
          <a:xfrm>
            <a:off x="426858" y="4252671"/>
            <a:ext cx="11417887" cy="2463927"/>
          </a:xfrm>
          <a:prstGeom prst="rect">
            <a:avLst/>
          </a:prstGeom>
        </p:spPr>
      </p:pic>
    </p:spTree>
    <p:extLst>
      <p:ext uri="{BB962C8B-B14F-4D97-AF65-F5344CB8AC3E}">
        <p14:creationId xmlns:p14="http://schemas.microsoft.com/office/powerpoint/2010/main" val="17955354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b="1" dirty="0">
                <a:latin typeface="Times New Roman" panose="02020603050405020304" pitchFamily="18" charset="0"/>
                <a:cs typeface="Times New Roman" panose="02020603050405020304" pitchFamily="18" charset="0"/>
              </a:rPr>
              <a:t>LDO topologies</a:t>
            </a:r>
            <a:r>
              <a:rPr lang="en-US" b="1" dirty="0"/>
              <a:t/>
            </a:r>
            <a:br>
              <a:rPr lang="en-US" b="1" dirty="0"/>
            </a:br>
            <a:endParaRPr lang="en-US" dirty="0"/>
          </a:p>
        </p:txBody>
      </p:sp>
      <p:sp>
        <p:nvSpPr>
          <p:cNvPr id="3" name="Text Placeholder 2"/>
          <p:cNvSpPr>
            <a:spLocks noGrp="1"/>
          </p:cNvSpPr>
          <p:nvPr>
            <p:ph type="body" idx="1"/>
          </p:nvPr>
        </p:nvSpPr>
        <p:spPr>
          <a:xfrm>
            <a:off x="844550" y="1327353"/>
            <a:ext cx="10675005" cy="3385542"/>
          </a:xfrm>
        </p:spPr>
        <p:txBody>
          <a:bodyPr/>
          <a:lstStyle/>
          <a:p>
            <a:pPr algn="just"/>
            <a:r>
              <a:rPr lang="en-US" dirty="0">
                <a:latin typeface="Times New Roman" panose="02020603050405020304" pitchFamily="18" charset="0"/>
                <a:cs typeface="Times New Roman" panose="02020603050405020304" pitchFamily="18" charset="0"/>
              </a:rPr>
              <a:t>LDOs have a variety of topologies and oriented for use with analog or digital circuits. There are two main LDO topologies: </a:t>
            </a:r>
            <a:r>
              <a:rPr lang="en-US" b="1" dirty="0">
                <a:latin typeface="Times New Roman" panose="02020603050405020304" pitchFamily="18" charset="0"/>
                <a:cs typeface="Times New Roman" panose="02020603050405020304" pitchFamily="18" charset="0"/>
              </a:rPr>
              <a:t>NMOS-</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PMOS-</a:t>
            </a:r>
            <a:r>
              <a:rPr lang="en-US" dirty="0">
                <a:latin typeface="Times New Roman" panose="02020603050405020304" pitchFamily="18" charset="0"/>
                <a:cs typeface="Times New Roman" panose="02020603050405020304" pitchFamily="18" charset="0"/>
              </a:rPr>
              <a:t> based</a:t>
            </a:r>
            <a:r>
              <a:rPr lang="en-US" dirty="0" smtClean="0">
                <a:latin typeface="Times New Roman" panose="02020603050405020304" pitchFamily="18" charset="0"/>
                <a:cs typeface="Times New Roman" panose="02020603050405020304" pitchFamily="18" charset="0"/>
              </a:rPr>
              <a:t>.</a:t>
            </a:r>
          </a:p>
          <a:p>
            <a:pPr algn="l"/>
            <a:endParaRPr lang="en-US" dirty="0">
              <a:latin typeface="Times New Roman" panose="02020603050405020304" pitchFamily="18" charset="0"/>
              <a:cs typeface="Times New Roman" panose="02020603050405020304" pitchFamily="18" charset="0"/>
            </a:endParaRPr>
          </a:p>
          <a:p>
            <a:pPr algn="l"/>
            <a:r>
              <a:rPr lang="en-US" b="1" dirty="0">
                <a:solidFill>
                  <a:srgbClr val="FF0000"/>
                </a:solidFill>
                <a:latin typeface="Times New Roman" panose="02020603050405020304" pitchFamily="18" charset="0"/>
                <a:cs typeface="Times New Roman" panose="02020603050405020304" pitchFamily="18" charset="0"/>
              </a:rPr>
              <a:t>By architecture:</a:t>
            </a:r>
            <a:endParaRPr lang="en-US" dirty="0">
              <a:solidFill>
                <a:srgbClr val="FF0000"/>
              </a:solidFill>
              <a:latin typeface="Times New Roman" panose="02020603050405020304" pitchFamily="18" charset="0"/>
              <a:cs typeface="Times New Roman" panose="02020603050405020304" pitchFamily="18" charset="0"/>
            </a:endParaRPr>
          </a:p>
          <a:p>
            <a:pPr marL="800100" lvl="1" indent="-342900" algn="l">
              <a:buFont typeface="Wingdings" panose="05000000000000000000" pitchFamily="2" charset="2"/>
              <a:buChar char="q"/>
            </a:pPr>
            <a:r>
              <a:rPr lang="en-US" sz="2000" dirty="0">
                <a:solidFill>
                  <a:srgbClr val="00B050"/>
                </a:solidFill>
                <a:latin typeface="Times New Roman" panose="02020603050405020304" pitchFamily="18" charset="0"/>
                <a:cs typeface="Times New Roman" panose="02020603050405020304" pitchFamily="18" charset="0"/>
              </a:rPr>
              <a:t>With an off-chip load capacitor</a:t>
            </a:r>
          </a:p>
          <a:p>
            <a:pPr marL="800100" lvl="1" indent="-342900" algn="l">
              <a:buFont typeface="Wingdings" panose="05000000000000000000" pitchFamily="2" charset="2"/>
              <a:buChar char="q"/>
            </a:pPr>
            <a:r>
              <a:rPr lang="en-US" sz="2000" dirty="0" smtClean="0">
                <a:solidFill>
                  <a:srgbClr val="00B050"/>
                </a:solidFill>
                <a:latin typeface="Times New Roman" panose="02020603050405020304" pitchFamily="18" charset="0"/>
                <a:cs typeface="Times New Roman" panose="02020603050405020304" pitchFamily="18" charset="0"/>
              </a:rPr>
              <a:t>Capacitor-less</a:t>
            </a:r>
          </a:p>
          <a:p>
            <a:pPr algn="l">
              <a:buFont typeface="Arial" panose="020B0604020202020204" pitchFamily="34" charset="0"/>
              <a:buChar char="•"/>
            </a:pPr>
            <a:endParaRPr lang="en-US" dirty="0">
              <a:solidFill>
                <a:srgbClr val="FF0000"/>
              </a:solidFill>
              <a:latin typeface="Times New Roman" panose="02020603050405020304" pitchFamily="18" charset="0"/>
              <a:cs typeface="Times New Roman" panose="02020603050405020304" pitchFamily="18" charset="0"/>
            </a:endParaRPr>
          </a:p>
          <a:p>
            <a:pPr algn="l"/>
            <a:r>
              <a:rPr lang="en-US" b="1" dirty="0">
                <a:solidFill>
                  <a:srgbClr val="FF0000"/>
                </a:solidFill>
                <a:latin typeface="Times New Roman" panose="02020603050405020304" pitchFamily="18" charset="0"/>
                <a:cs typeface="Times New Roman" panose="02020603050405020304" pitchFamily="18" charset="0"/>
              </a:rPr>
              <a:t>By Pass device type:</a:t>
            </a:r>
            <a:endParaRPr lang="en-US" dirty="0">
              <a:solidFill>
                <a:srgbClr val="FF0000"/>
              </a:solidFill>
              <a:latin typeface="Times New Roman" panose="02020603050405020304" pitchFamily="18" charset="0"/>
              <a:cs typeface="Times New Roman" panose="02020603050405020304" pitchFamily="18" charset="0"/>
            </a:endParaRPr>
          </a:p>
          <a:p>
            <a:pPr marL="800100" lvl="1" indent="-342900" algn="l">
              <a:buFont typeface="Wingdings" panose="05000000000000000000" pitchFamily="2" charset="2"/>
              <a:buChar char="q"/>
            </a:pPr>
            <a:r>
              <a:rPr lang="en-US" dirty="0">
                <a:solidFill>
                  <a:srgbClr val="00B050"/>
                </a:solidFill>
                <a:latin typeface="Times New Roman" panose="02020603050405020304" pitchFamily="18" charset="0"/>
                <a:cs typeface="Times New Roman" panose="02020603050405020304" pitchFamily="18" charset="0"/>
              </a:rPr>
              <a:t>NMOS-based</a:t>
            </a:r>
          </a:p>
          <a:p>
            <a:pPr marL="800100" lvl="1" indent="-342900" algn="l">
              <a:buFont typeface="Wingdings" panose="05000000000000000000" pitchFamily="2" charset="2"/>
              <a:buChar char="q"/>
            </a:pPr>
            <a:r>
              <a:rPr lang="en-US" dirty="0">
                <a:solidFill>
                  <a:srgbClr val="00B050"/>
                </a:solidFill>
                <a:latin typeface="Times New Roman" panose="02020603050405020304" pitchFamily="18" charset="0"/>
                <a:cs typeface="Times New Roman" panose="02020603050405020304" pitchFamily="18" charset="0"/>
              </a:rPr>
              <a:t>PMOS-based</a:t>
            </a:r>
          </a:p>
          <a:p>
            <a:endParaRPr lang="en-US" dirty="0">
              <a:solidFill>
                <a:srgbClr val="FF0000"/>
              </a:solidFill>
            </a:endParaRPr>
          </a:p>
        </p:txBody>
      </p:sp>
      <p:sp>
        <p:nvSpPr>
          <p:cNvPr id="4" name="Footer Placeholder 3"/>
          <p:cNvSpPr>
            <a:spLocks noGrp="1"/>
          </p:cNvSpPr>
          <p:nvPr>
            <p:ph type="ftr" sz="quarter" idx="5"/>
          </p:nvPr>
        </p:nvSpPr>
        <p:spPr>
          <a:xfrm>
            <a:off x="5352500" y="6503034"/>
            <a:ext cx="1481931" cy="227704"/>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590136" y="6530551"/>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8511723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PMOS V/S NMOS LDOs</a:t>
            </a:r>
            <a:endParaRPr lang="en-US" dirty="0"/>
          </a:p>
        </p:txBody>
      </p:sp>
      <p:sp>
        <p:nvSpPr>
          <p:cNvPr id="4" name="Footer Placeholder 3"/>
          <p:cNvSpPr>
            <a:spLocks noGrp="1"/>
          </p:cNvSpPr>
          <p:nvPr>
            <p:ph type="ftr" sz="quarter" idx="5"/>
          </p:nvPr>
        </p:nvSpPr>
        <p:spPr>
          <a:xfrm>
            <a:off x="5456196" y="6342779"/>
            <a:ext cx="1529065" cy="30311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608990" y="6502271"/>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206259" y="1396910"/>
            <a:ext cx="9373082" cy="3505380"/>
          </a:xfrm>
          <a:prstGeom prst="rect">
            <a:avLst/>
          </a:prstGeom>
        </p:spPr>
      </p:pic>
      <p:sp>
        <p:nvSpPr>
          <p:cNvPr id="3" name="Rectangle 2"/>
          <p:cNvSpPr/>
          <p:nvPr/>
        </p:nvSpPr>
        <p:spPr>
          <a:xfrm>
            <a:off x="8260608" y="2484362"/>
            <a:ext cx="1737976"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B050"/>
                </a:solidFill>
                <a:effectLst/>
                <a:uLnTx/>
                <a:uFillTx/>
                <a:latin typeface="Inter"/>
                <a:ea typeface="+mn-ea"/>
                <a:cs typeface="+mn-cs"/>
              </a:rPr>
              <a:t>NMOS-based</a:t>
            </a:r>
          </a:p>
        </p:txBody>
      </p:sp>
      <p:sp>
        <p:nvSpPr>
          <p:cNvPr id="8" name="Rectangle 7"/>
          <p:cNvSpPr/>
          <p:nvPr/>
        </p:nvSpPr>
        <p:spPr>
          <a:xfrm>
            <a:off x="3344619" y="2536613"/>
            <a:ext cx="1723549"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srgbClr val="00B050"/>
                </a:solidFill>
                <a:effectLst/>
                <a:uLnTx/>
                <a:uFillTx/>
                <a:latin typeface="Inter"/>
                <a:ea typeface="+mn-ea"/>
                <a:cs typeface="+mn-cs"/>
              </a:rPr>
              <a:t>PMOS-based</a:t>
            </a:r>
            <a:endParaRPr kumimoji="0" lang="en-US" sz="2000" b="0" i="0" u="none" strike="noStrike" kern="0" cap="none" spc="0" normalizeH="0" baseline="0" noProof="0" dirty="0">
              <a:ln>
                <a:noFill/>
              </a:ln>
              <a:solidFill>
                <a:srgbClr val="00B050"/>
              </a:solidFill>
              <a:effectLst/>
              <a:uLnTx/>
              <a:uFillTx/>
              <a:latin typeface="Inter"/>
              <a:ea typeface="+mn-ea"/>
              <a:cs typeface="+mn-cs"/>
            </a:endParaRPr>
          </a:p>
        </p:txBody>
      </p:sp>
    </p:spTree>
    <p:extLst>
      <p:ext uri="{BB962C8B-B14F-4D97-AF65-F5344CB8AC3E}">
        <p14:creationId xmlns:p14="http://schemas.microsoft.com/office/powerpoint/2010/main" val="2113426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PMOS V/S NMOS LDOs</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0" y="1112441"/>
            <a:ext cx="11925300" cy="2585323"/>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Inter"/>
                <a:ea typeface="+mn-ea"/>
                <a:cs typeface="+mn-cs"/>
              </a:rPr>
              <a:t>A bandgap voltage reference provides a stable reference signal for the regulator. </a:t>
            </a:r>
            <a:endParaRPr kumimoji="0" lang="en-US" sz="1800" b="0" i="0" u="none" strike="noStrike" kern="1200" cap="none" spc="0" normalizeH="0" baseline="0" noProof="0" dirty="0" smtClean="0">
              <a:ln>
                <a:noFill/>
              </a:ln>
              <a:solidFill>
                <a:prstClr val="black"/>
              </a:solidFill>
              <a:effectLst/>
              <a:uLnTx/>
              <a:uFillTx/>
              <a:latin typeface="Inter"/>
              <a:ea typeface="+mn-ea"/>
              <a:cs typeface="+mn-cs"/>
            </a:endParaRPr>
          </a:p>
          <a:p>
            <a:pPr marL="742950" lvl="1" indent="-285750" algn="just">
              <a:buFont typeface="Wingdings" panose="05000000000000000000" pitchFamily="2" charset="2"/>
              <a:buChar char="q"/>
              <a:defRPr/>
            </a:pPr>
            <a:r>
              <a:rPr kumimoji="0" lang="en-US" b="0" i="0" u="none" strike="noStrike" kern="1200" cap="none" spc="0" normalizeH="0" baseline="0" noProof="0" dirty="0" smtClean="0">
                <a:ln>
                  <a:noFill/>
                </a:ln>
                <a:solidFill>
                  <a:prstClr val="black"/>
                </a:solidFill>
                <a:effectLst/>
                <a:uLnTx/>
                <a:uFillTx/>
                <a:latin typeface="Inter"/>
                <a:ea typeface="+mn-ea"/>
                <a:cs typeface="+mn-cs"/>
              </a:rPr>
              <a:t>An </a:t>
            </a:r>
            <a:r>
              <a:rPr kumimoji="0" lang="en-US" b="0" i="0" u="none" strike="noStrike" kern="1200" cap="none" spc="0" normalizeH="0" baseline="0" noProof="0" dirty="0">
                <a:ln>
                  <a:noFill/>
                </a:ln>
                <a:solidFill>
                  <a:prstClr val="black"/>
                </a:solidFill>
                <a:effectLst/>
                <a:uLnTx/>
                <a:uFillTx/>
                <a:latin typeface="Inter"/>
                <a:ea typeface="+mn-ea"/>
                <a:cs typeface="+mn-cs"/>
              </a:rPr>
              <a:t>error amplifier (EA), typically implemented as an OTA (Operational </a:t>
            </a:r>
            <a:r>
              <a:rPr kumimoji="0" lang="en-US" b="0" i="0" u="none" strike="noStrike" kern="1200" cap="none" spc="0" normalizeH="0" baseline="0" noProof="0" dirty="0" err="1">
                <a:ln>
                  <a:noFill/>
                </a:ln>
                <a:solidFill>
                  <a:prstClr val="black"/>
                </a:solidFill>
                <a:effectLst/>
                <a:uLnTx/>
                <a:uFillTx/>
                <a:latin typeface="Inter"/>
                <a:ea typeface="+mn-ea"/>
                <a:cs typeface="+mn-cs"/>
              </a:rPr>
              <a:t>Transconductance</a:t>
            </a:r>
            <a:r>
              <a:rPr kumimoji="0" lang="en-US" b="0" i="0" u="none" strike="noStrike" kern="1200" cap="none" spc="0" normalizeH="0" baseline="0" noProof="0" dirty="0">
                <a:ln>
                  <a:noFill/>
                </a:ln>
                <a:solidFill>
                  <a:prstClr val="black"/>
                </a:solidFill>
                <a:effectLst/>
                <a:uLnTx/>
                <a:uFillTx/>
                <a:latin typeface="Inter"/>
                <a:ea typeface="+mn-ea"/>
                <a:cs typeface="+mn-cs"/>
              </a:rPr>
              <a:t> Amplifier), detects differences between the feedback voltage and the reference voltage, adjusting the pass-element resistance accordingly. </a:t>
            </a:r>
            <a:endParaRPr kumimoji="0" lang="en-US" b="0" i="0" u="none" strike="noStrike" kern="1200" cap="none" spc="0" normalizeH="0" baseline="0" noProof="0" dirty="0" smtClean="0">
              <a:ln>
                <a:noFill/>
              </a:ln>
              <a:solidFill>
                <a:prstClr val="black"/>
              </a:solidFill>
              <a:effectLst/>
              <a:uLnTx/>
              <a:uFillTx/>
              <a:latin typeface="Inter"/>
              <a:ea typeface="+mn-ea"/>
              <a:cs typeface="+mn-cs"/>
            </a:endParaRPr>
          </a:p>
          <a:p>
            <a:pPr marL="742950" lvl="1" indent="-285750" algn="just">
              <a:buFont typeface="Wingdings" panose="05000000000000000000" pitchFamily="2" charset="2"/>
              <a:buChar char="q"/>
              <a:defRPr/>
            </a:pPr>
            <a:r>
              <a:rPr kumimoji="0" lang="en-US" b="0" i="0" u="none" strike="noStrike" kern="1200" cap="none" spc="0" normalizeH="0" baseline="0" noProof="0" dirty="0" smtClean="0">
                <a:ln>
                  <a:noFill/>
                </a:ln>
                <a:solidFill>
                  <a:prstClr val="black"/>
                </a:solidFill>
                <a:effectLst/>
                <a:uLnTx/>
                <a:uFillTx/>
                <a:latin typeface="Inter"/>
                <a:ea typeface="+mn-ea"/>
                <a:cs typeface="+mn-cs"/>
              </a:rPr>
              <a:t>A </a:t>
            </a:r>
            <a:r>
              <a:rPr kumimoji="0" lang="en-US" b="0" i="0" u="none" strike="noStrike" kern="1200" cap="none" spc="0" normalizeH="0" baseline="0" noProof="0" dirty="0">
                <a:ln>
                  <a:noFill/>
                </a:ln>
                <a:solidFill>
                  <a:prstClr val="black"/>
                </a:solidFill>
                <a:effectLst/>
                <a:uLnTx/>
                <a:uFillTx/>
                <a:latin typeface="Inter"/>
                <a:ea typeface="+mn-ea"/>
                <a:cs typeface="+mn-cs"/>
              </a:rPr>
              <a:t>feedback resistor network divides the output voltage for comparison with the reference voltage </a:t>
            </a:r>
            <a:r>
              <a:rPr kumimoji="0" lang="en-US" b="0" i="0" u="none" strike="noStrike" kern="1200" cap="none" spc="0" normalizeH="0" baseline="0" noProof="0" dirty="0" smtClean="0">
                <a:ln>
                  <a:noFill/>
                </a:ln>
                <a:solidFill>
                  <a:prstClr val="black"/>
                </a:solidFill>
                <a:effectLst/>
                <a:uLnTx/>
                <a:uFillTx/>
                <a:latin typeface="Inter"/>
                <a:ea typeface="+mn-ea"/>
                <a:cs typeface="+mn-cs"/>
              </a:rPr>
              <a:t>(</a:t>
            </a:r>
            <a:r>
              <a:rPr kumimoji="0" lang="en-US" b="0" i="1" u="none" strike="noStrike" kern="1200" cap="none" spc="0" normalizeH="0" baseline="0" noProof="0" dirty="0" err="1" smtClean="0">
                <a:ln>
                  <a:noFill/>
                </a:ln>
                <a:solidFill>
                  <a:prstClr val="black"/>
                </a:solidFill>
                <a:effectLst/>
                <a:uLnTx/>
                <a:uFillTx/>
                <a:latin typeface="KaTeX_Math"/>
                <a:ea typeface="+mn-ea"/>
                <a:cs typeface="+mn-cs"/>
              </a:rPr>
              <a:t>V</a:t>
            </a:r>
            <a:r>
              <a:rPr kumimoji="0" lang="en-US" b="0" i="1" u="none" strike="noStrike" kern="1200" cap="none" spc="0" normalizeH="0" baseline="-25000" noProof="0" dirty="0" err="1" smtClean="0">
                <a:ln>
                  <a:noFill/>
                </a:ln>
                <a:solidFill>
                  <a:prstClr val="black"/>
                </a:solidFill>
                <a:effectLst/>
                <a:uLnTx/>
                <a:uFillTx/>
                <a:latin typeface="KaTeX_Math"/>
                <a:ea typeface="+mn-ea"/>
                <a:cs typeface="+mn-cs"/>
              </a:rPr>
              <a:t>ref</a:t>
            </a:r>
            <a:r>
              <a:rPr kumimoji="0" lang="en-US" b="0" i="0" u="none" strike="noStrike" kern="1200" cap="none" spc="0" normalizeH="0" baseline="-25000" noProof="0" dirty="0">
                <a:ln>
                  <a:noFill/>
                </a:ln>
                <a:solidFill>
                  <a:prstClr val="black"/>
                </a:solidFill>
                <a:effectLst/>
                <a:uLnTx/>
                <a:uFillTx/>
                <a:latin typeface="KaTeX_Main"/>
                <a:ea typeface="+mn-ea"/>
                <a:cs typeface="+mn-cs"/>
              </a:rPr>
              <a:t>​</a:t>
            </a:r>
            <a:r>
              <a:rPr kumimoji="0" lang="en-US" b="0" i="0" u="none" strike="noStrike" kern="1200" cap="none" spc="0" normalizeH="0" baseline="0" noProof="0" dirty="0">
                <a:ln>
                  <a:noFill/>
                </a:ln>
                <a:solidFill>
                  <a:prstClr val="black"/>
                </a:solidFill>
                <a:effectLst/>
                <a:uLnTx/>
                <a:uFillTx/>
                <a:latin typeface="Inter"/>
                <a:ea typeface="+mn-ea"/>
                <a:cs typeface="+mn-cs"/>
              </a:rPr>
              <a:t>). The pass device (usually a MOSFET) regulates resistance between the input and output voltages to maintain stability. </a:t>
            </a:r>
            <a:endParaRPr kumimoji="0" lang="en-US" b="0" i="0" u="none" strike="noStrike" kern="1200" cap="none" spc="0" normalizeH="0" baseline="0" noProof="0" dirty="0" smtClean="0">
              <a:ln>
                <a:noFill/>
              </a:ln>
              <a:solidFill>
                <a:prstClr val="black"/>
              </a:solidFill>
              <a:effectLst/>
              <a:uLnTx/>
              <a:uFillTx/>
              <a:latin typeface="Inter"/>
              <a:ea typeface="+mn-ea"/>
              <a:cs typeface="+mn-cs"/>
            </a:endParaRPr>
          </a:p>
          <a:p>
            <a:pPr marL="742950" lvl="1" indent="-285750" algn="just">
              <a:buFont typeface="Wingdings" panose="05000000000000000000" pitchFamily="2" charset="2"/>
              <a:buChar char="q"/>
              <a:defRPr/>
            </a:pPr>
            <a:r>
              <a:rPr kumimoji="0" lang="en-US" b="0" i="0" u="none" strike="noStrike" kern="1200" cap="none" spc="0" normalizeH="0" baseline="0" noProof="0" dirty="0" smtClean="0">
                <a:ln>
                  <a:noFill/>
                </a:ln>
                <a:solidFill>
                  <a:prstClr val="black"/>
                </a:solidFill>
                <a:effectLst/>
                <a:uLnTx/>
                <a:uFillTx/>
                <a:latin typeface="Inter"/>
                <a:ea typeface="+mn-ea"/>
                <a:cs typeface="+mn-cs"/>
              </a:rPr>
              <a:t>In </a:t>
            </a:r>
            <a:r>
              <a:rPr kumimoji="0" lang="en-US" b="0" i="0" u="none" strike="noStrike" kern="1200" cap="none" spc="0" normalizeH="0" baseline="0" noProof="0" dirty="0">
                <a:ln>
                  <a:noFill/>
                </a:ln>
                <a:solidFill>
                  <a:prstClr val="black"/>
                </a:solidFill>
                <a:effectLst/>
                <a:uLnTx/>
                <a:uFillTx/>
                <a:latin typeface="Inter"/>
                <a:ea typeface="+mn-ea"/>
                <a:cs typeface="+mn-cs"/>
              </a:rPr>
              <a:t>practical applications, the pass device is commonly a PMOS transistor. Next, we’ll compare the use of PMOS vs. NMOS topologies:</a:t>
            </a:r>
            <a:endParaRPr kumimoji="0" lang="en-US"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7"/>
          <p:cNvPicPr>
            <a:picLocks noChangeAspect="1"/>
          </p:cNvPicPr>
          <p:nvPr/>
        </p:nvPicPr>
        <p:blipFill>
          <a:blip r:embed="rId2"/>
          <a:stretch>
            <a:fillRect/>
          </a:stretch>
        </p:blipFill>
        <p:spPr>
          <a:xfrm>
            <a:off x="372116" y="3803518"/>
            <a:ext cx="5581937" cy="2590933"/>
          </a:xfrm>
          <a:prstGeom prst="rect">
            <a:avLst/>
          </a:prstGeom>
        </p:spPr>
      </p:pic>
      <p:pic>
        <p:nvPicPr>
          <p:cNvPr id="9" name="Picture 8" descr="diagram"/>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9908" y="3469064"/>
            <a:ext cx="5612091" cy="3388936"/>
          </a:xfrm>
          <a:prstGeom prst="rect">
            <a:avLst/>
          </a:prstGeom>
          <a:noFill/>
          <a:ln>
            <a:noFill/>
          </a:ln>
        </p:spPr>
      </p:pic>
    </p:spTree>
    <p:extLst>
      <p:ext uri="{BB962C8B-B14F-4D97-AF65-F5344CB8AC3E}">
        <p14:creationId xmlns:p14="http://schemas.microsoft.com/office/powerpoint/2010/main" val="18267853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PMOS LDOs/NMOS LDOs</a:t>
            </a:r>
            <a:endParaRPr lang="en-US" dirty="0"/>
          </a:p>
        </p:txBody>
      </p:sp>
      <p:sp>
        <p:nvSpPr>
          <p:cNvPr id="3" name="Text Placeholder 2"/>
          <p:cNvSpPr>
            <a:spLocks noGrp="1"/>
          </p:cNvSpPr>
          <p:nvPr>
            <p:ph type="body" idx="1"/>
          </p:nvPr>
        </p:nvSpPr>
        <p:spPr>
          <a:xfrm>
            <a:off x="374469" y="1327353"/>
            <a:ext cx="11220631" cy="2154436"/>
          </a:xfrm>
        </p:spPr>
        <p:txBody>
          <a:bodyPr/>
          <a:lstStyle/>
          <a:p>
            <a:pPr marL="342900" indent="-342900" algn="just">
              <a:buFont typeface="Wingdings" panose="05000000000000000000" pitchFamily="2" charset="2"/>
              <a:buChar char="q"/>
            </a:pPr>
            <a:r>
              <a:rPr lang="en-US" dirty="0"/>
              <a:t>PMOS LDOs is the most commonly used topology due to their low dropout voltage, while NMOS pass transistors are practical when the supply voltage is significantly higher than the regulated output. </a:t>
            </a:r>
            <a:endParaRPr lang="en-US" dirty="0" smtClean="0"/>
          </a:p>
          <a:p>
            <a:pPr marL="342900" indent="-342900" algn="just">
              <a:buFont typeface="Wingdings" panose="05000000000000000000" pitchFamily="2" charset="2"/>
              <a:buChar char="q"/>
            </a:pPr>
            <a:r>
              <a:rPr lang="en-US" dirty="0" smtClean="0"/>
              <a:t>In </a:t>
            </a:r>
            <a:r>
              <a:rPr lang="en-US" dirty="0"/>
              <a:t>an NMOS configuration, the pass transistor acts as a common drain (source follower) with positive gain, whereas the PMOS operates as a common source with negative feedback. This difference requires the op-amp polarity to be adapted accordingly.</a:t>
            </a:r>
          </a:p>
        </p:txBody>
      </p:sp>
      <p:sp>
        <p:nvSpPr>
          <p:cNvPr id="4" name="Footer Placeholder 3"/>
          <p:cNvSpPr>
            <a:spLocks noGrp="1"/>
          </p:cNvSpPr>
          <p:nvPr>
            <p:ph type="ftr" sz="quarter" idx="5"/>
          </p:nvPr>
        </p:nvSpPr>
        <p:spPr>
          <a:xfrm>
            <a:off x="5531610" y="6492690"/>
            <a:ext cx="1529589" cy="2637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4919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2174522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Advantage</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Text Placeholder 6"/>
          <p:cNvSpPr>
            <a:spLocks noGrp="1"/>
          </p:cNvSpPr>
          <p:nvPr>
            <p:ph type="body" idx="1"/>
          </p:nvPr>
        </p:nvSpPr>
        <p:spPr>
          <a:xfrm>
            <a:off x="844550" y="1327353"/>
            <a:ext cx="10495895" cy="3385542"/>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The </a:t>
            </a:r>
            <a:r>
              <a:rPr kumimoji="0" lang="en-US" sz="2000" b="0" i="0" u="none" strike="noStrike" kern="120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primary advantage of PMOS LDOs </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is their </a:t>
            </a:r>
            <a:r>
              <a:rPr kumimoji="0" lang="en-US" sz="2000" b="0" i="0" u="none" strike="noStrike" kern="120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lower dropout voltage</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endParaRPr kumimoji="0" lang="en-US" sz="20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mn-cs"/>
            </a:endParaRP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mn-cs"/>
              </a:rPr>
              <a:t>The </a:t>
            </a:r>
            <a:r>
              <a:rPr kumimoji="0" lang="en-US" sz="2000" b="0" i="0" u="none" strike="noStrike" kern="120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error amplifier </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output </a:t>
            </a:r>
            <a:r>
              <a:rPr kumimoji="0" lang="en-US" sz="20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mn-cs"/>
              </a:rPr>
              <a:t>(</a:t>
            </a:r>
            <a:r>
              <a:rPr kumimoji="0" lang="en-US" sz="2000" b="0" i="1" u="none" strike="noStrike" kern="1200" cap="none" spc="0" normalizeH="0" baseline="0" noProof="0" dirty="0" err="1" smtClean="0">
                <a:ln>
                  <a:noFill/>
                </a:ln>
                <a:solidFill>
                  <a:prstClr val="black"/>
                </a:solidFill>
                <a:effectLst/>
                <a:uLnTx/>
                <a:uFillTx/>
                <a:latin typeface="Verdana" panose="020B0604030504040204" pitchFamily="34" charset="0"/>
                <a:ea typeface="Verdana" panose="020B0604030504040204" pitchFamily="34" charset="0"/>
                <a:cs typeface="+mn-cs"/>
              </a:rPr>
              <a:t>EA</a:t>
            </a:r>
            <a:r>
              <a:rPr kumimoji="0" lang="en-US" sz="2000" b="0" i="1" u="none" strike="noStrike" kern="1200" cap="none" spc="0" normalizeH="0" baseline="-25000" noProof="0" dirty="0" err="1" smtClean="0">
                <a:ln>
                  <a:noFill/>
                </a:ln>
                <a:solidFill>
                  <a:prstClr val="black"/>
                </a:solidFill>
                <a:effectLst/>
                <a:uLnTx/>
                <a:uFillTx/>
                <a:latin typeface="Verdana" panose="020B0604030504040204" pitchFamily="34" charset="0"/>
                <a:ea typeface="Verdana" panose="020B0604030504040204" pitchFamily="34" charset="0"/>
                <a:cs typeface="+mn-cs"/>
              </a:rPr>
              <a:t>out</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in a </a:t>
            </a:r>
            <a:r>
              <a:rPr kumimoji="0" lang="en-US" sz="2000" b="0" i="0" u="none" strike="noStrike" kern="120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PMOS design </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can swing between </a:t>
            </a:r>
            <a:r>
              <a:rPr kumimoji="0" lang="en-US" sz="2000" b="1" i="0" u="none" strike="noStrike" kern="120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GND</a:t>
            </a:r>
            <a:r>
              <a:rPr kumimoji="0" lang="en-US" sz="2000" b="0" i="0" u="none" strike="noStrike" kern="120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 and </a:t>
            </a:r>
            <a:r>
              <a:rPr kumimoji="0" lang="en-US" sz="2000" b="0" i="1" u="none" strike="noStrike" kern="1200" cap="none" spc="0" normalizeH="0" baseline="0" noProof="0" dirty="0" smtClean="0">
                <a:ln>
                  <a:noFill/>
                </a:ln>
                <a:solidFill>
                  <a:srgbClr val="00B050"/>
                </a:solidFill>
                <a:effectLst/>
                <a:uLnTx/>
                <a:uFillTx/>
                <a:latin typeface="Verdana" panose="020B0604030504040204" pitchFamily="34" charset="0"/>
                <a:ea typeface="Verdana" panose="020B0604030504040204" pitchFamily="34" charset="0"/>
                <a:cs typeface="+mn-cs"/>
              </a:rPr>
              <a:t>Vin</a:t>
            </a:r>
            <a:r>
              <a:rPr kumimoji="0" lang="en-US" sz="2000" b="0" i="0" u="none" strike="noStrike" kern="120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a:t>
            </a:r>
            <a:r>
              <a:rPr kumimoji="0" lang="en-US" sz="2000" b="0" i="1" u="none" strike="noStrike" kern="120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Vth</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with </a:t>
            </a:r>
            <a:r>
              <a:rPr kumimoji="0" lang="en-US" sz="2000" b="0" i="0" u="none" strike="noStrike" kern="120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dropout</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en-US" sz="2000" b="0" i="0" u="none" strike="noStrike" kern="120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voltage</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primarily dependent on </a:t>
            </a:r>
            <a:r>
              <a:rPr kumimoji="0" lang="en-US" sz="2000" b="0" i="1" u="none" strike="noStrike" kern="1200" cap="none" spc="0" normalizeH="0" baseline="0" noProof="0" dirty="0" err="1" smtClean="0">
                <a:ln>
                  <a:noFill/>
                </a:ln>
                <a:solidFill>
                  <a:srgbClr val="00B050"/>
                </a:solidFill>
                <a:effectLst/>
                <a:uLnTx/>
                <a:uFillTx/>
                <a:latin typeface="Verdana" panose="020B0604030504040204" pitchFamily="34" charset="0"/>
                <a:ea typeface="Verdana" panose="020B0604030504040204" pitchFamily="34" charset="0"/>
                <a:cs typeface="+mn-cs"/>
              </a:rPr>
              <a:t>V</a:t>
            </a:r>
            <a:r>
              <a:rPr kumimoji="0" lang="en-US" sz="2000" b="0" i="1" u="none" strike="noStrike" kern="1200" cap="none" spc="0" normalizeH="0" baseline="-25000" noProof="0" dirty="0" err="1" smtClean="0">
                <a:ln>
                  <a:noFill/>
                </a:ln>
                <a:solidFill>
                  <a:srgbClr val="00B050"/>
                </a:solidFill>
                <a:effectLst/>
                <a:uLnTx/>
                <a:uFillTx/>
                <a:latin typeface="Verdana" panose="020B0604030504040204" pitchFamily="34" charset="0"/>
                <a:ea typeface="Verdana" panose="020B0604030504040204" pitchFamily="34" charset="0"/>
                <a:cs typeface="+mn-cs"/>
              </a:rPr>
              <a:t>ds</a:t>
            </a:r>
            <a:r>
              <a:rPr kumimoji="0" lang="en-US" sz="2000" b="0" i="0" u="none" strike="noStrike" kern="1200" cap="none" spc="0" normalizeH="0" baseline="0" noProof="0" dirty="0" smtClean="0">
                <a:ln>
                  <a:noFill/>
                </a:ln>
                <a:solidFill>
                  <a:srgbClr val="00B050"/>
                </a:solidFill>
                <a:effectLst/>
                <a:uLnTx/>
                <a:uFillTx/>
                <a:latin typeface="Verdana" panose="020B0604030504040204" pitchFamily="34" charset="0"/>
                <a:ea typeface="Verdana" panose="020B0604030504040204" pitchFamily="34" charset="0"/>
                <a:cs typeface="+mn-cs"/>
              </a:rPr>
              <a:t>​</a:t>
            </a:r>
            <a:r>
              <a:rPr kumimoji="0" lang="en-US" sz="20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en-US" sz="2000" b="0" i="0" u="none" strike="noStrike" kern="120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around 50mV for saturated devices</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endParaRPr kumimoji="0" lang="en-US" sz="20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mn-cs"/>
            </a:endParaRP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mn-cs"/>
              </a:rPr>
              <a:t>In </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contrast, </a:t>
            </a:r>
            <a:r>
              <a:rPr kumimoji="0" lang="en-US" sz="2000" b="0" i="0" u="none" strike="noStrike" kern="120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NMOS LDOs </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require the </a:t>
            </a:r>
            <a:r>
              <a:rPr kumimoji="0" lang="en-US" sz="2000" b="0" i="0" u="none" strike="noStrike" kern="120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output</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of the </a:t>
            </a:r>
            <a:r>
              <a:rPr kumimoji="0" lang="en-US" sz="2000" b="0" i="0" u="none" strike="noStrike" kern="120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error amplifier </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to be </a:t>
            </a:r>
            <a:r>
              <a:rPr kumimoji="0" lang="en-US" sz="2000" b="0" i="0" u="none" strike="noStrike" kern="120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at least </a:t>
            </a:r>
            <a:r>
              <a:rPr kumimoji="0" lang="en-US" sz="2000" b="0" i="1" u="none" strike="noStrike" kern="1200" cap="none" spc="0" normalizeH="0" baseline="0" noProof="0" dirty="0" smtClean="0">
                <a:ln>
                  <a:noFill/>
                </a:ln>
                <a:solidFill>
                  <a:srgbClr val="00B050"/>
                </a:solidFill>
                <a:effectLst/>
                <a:uLnTx/>
                <a:uFillTx/>
                <a:latin typeface="Verdana" panose="020B0604030504040204" pitchFamily="34" charset="0"/>
                <a:ea typeface="Verdana" panose="020B0604030504040204" pitchFamily="34" charset="0"/>
                <a:cs typeface="+mn-cs"/>
              </a:rPr>
              <a:t>V</a:t>
            </a:r>
            <a:r>
              <a:rPr kumimoji="0" lang="en-US" sz="2000" b="0" i="1" u="none" strike="noStrike" kern="1200" cap="none" spc="0" normalizeH="0" baseline="-25000" noProof="0" dirty="0" smtClean="0">
                <a:ln>
                  <a:noFill/>
                </a:ln>
                <a:solidFill>
                  <a:srgbClr val="00B050"/>
                </a:solidFill>
                <a:effectLst/>
                <a:uLnTx/>
                <a:uFillTx/>
                <a:latin typeface="Verdana" panose="020B0604030504040204" pitchFamily="34" charset="0"/>
                <a:ea typeface="Verdana" panose="020B0604030504040204" pitchFamily="34" charset="0"/>
                <a:cs typeface="+mn-cs"/>
              </a:rPr>
              <a:t>th</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above the </a:t>
            </a:r>
            <a:r>
              <a:rPr kumimoji="0" lang="en-US" sz="2000" b="0" i="0" u="none" strike="noStrike" kern="120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output voltage</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en-US" sz="2000" b="0" i="0" u="none" strike="noStrike" kern="120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to turn on the pass transistor</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endParaRPr kumimoji="0" lang="en-US" sz="20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mn-cs"/>
            </a:endParaRP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mn-cs"/>
              </a:rPr>
              <a:t>This </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means the </a:t>
            </a:r>
            <a:r>
              <a:rPr kumimoji="0" lang="en-US" sz="2000" b="0" i="0" u="none" strike="noStrike" kern="120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output voltage </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is </a:t>
            </a:r>
            <a:r>
              <a:rPr kumimoji="0" lang="en-US" sz="2000" b="0" i="0" u="none" strike="noStrike" kern="1200" cap="none" spc="0" normalizeH="0" baseline="0" noProof="0" dirty="0">
                <a:ln>
                  <a:noFill/>
                </a:ln>
                <a:solidFill>
                  <a:srgbClr val="00B050"/>
                </a:solidFill>
                <a:effectLst/>
                <a:uLnTx/>
                <a:uFillTx/>
                <a:latin typeface="Verdana" panose="020B0604030504040204" pitchFamily="34" charset="0"/>
                <a:ea typeface="Verdana" panose="020B0604030504040204" pitchFamily="34" charset="0"/>
                <a:cs typeface="+mn-cs"/>
              </a:rPr>
              <a:t>inherently limited </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to at least V</a:t>
            </a:r>
            <a:r>
              <a:rPr kumimoji="0" lang="en-US" sz="2000" b="0" i="0" u="none" strike="noStrike" kern="1200" cap="none" spc="0" normalizeH="0" baseline="-25000" noProof="0" dirty="0">
                <a:ln>
                  <a:noFill/>
                </a:ln>
                <a:solidFill>
                  <a:prstClr val="black"/>
                </a:solidFill>
                <a:effectLst/>
                <a:uLnTx/>
                <a:uFillTx/>
                <a:latin typeface="Verdana" panose="020B0604030504040204" pitchFamily="34" charset="0"/>
                <a:ea typeface="Verdana" panose="020B0604030504040204" pitchFamily="34" charset="0"/>
                <a:cs typeface="+mn-cs"/>
              </a:rPr>
              <a:t>th</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below the input voltage, with additional margin for loop regulation. </a:t>
            </a:r>
            <a:endParaRPr kumimoji="0" lang="en-US" sz="20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mn-cs"/>
            </a:endParaRP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mn-cs"/>
              </a:rPr>
              <a:t>Furthermore</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NMOS pass devices are typically high-power or high-voltage transistors designed to handle significant current and voltage, and their threshold voltage is often higher than the standard 1V of regular transistors.</a:t>
            </a:r>
          </a:p>
        </p:txBody>
      </p:sp>
    </p:spTree>
    <p:extLst>
      <p:ext uri="{BB962C8B-B14F-4D97-AF65-F5344CB8AC3E}">
        <p14:creationId xmlns:p14="http://schemas.microsoft.com/office/powerpoint/2010/main" val="1982897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Single Stage OTAs</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descr="image"/>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550" y="1136877"/>
            <a:ext cx="9455015" cy="4793660"/>
          </a:xfrm>
          <a:prstGeom prst="rect">
            <a:avLst/>
          </a:prstGeom>
          <a:noFill/>
          <a:ln>
            <a:noFill/>
          </a:ln>
        </p:spPr>
      </p:pic>
    </p:spTree>
    <p:extLst>
      <p:ext uri="{BB962C8B-B14F-4D97-AF65-F5344CB8AC3E}">
        <p14:creationId xmlns:p14="http://schemas.microsoft.com/office/powerpoint/2010/main" val="923580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descr="image">
            <a:hlinkClick r:id="rId2" tgtFrame="&quot;_blank&quot;"/>
          </p:cNvPr>
          <p:cNvPicPr/>
          <p:nvPr/>
        </p:nvPicPr>
        <p:blipFill>
          <a:blip r:embed="rId3">
            <a:extLst>
              <a:ext uri="{28A0092B-C50C-407E-A947-70E740481C1C}">
                <a14:useLocalDpi xmlns:a14="http://schemas.microsoft.com/office/drawing/2010/main" val="0"/>
              </a:ext>
            </a:extLst>
          </a:blip>
          <a:srcRect/>
          <a:stretch>
            <a:fillRect/>
          </a:stretch>
        </p:blipFill>
        <p:spPr bwMode="auto">
          <a:xfrm>
            <a:off x="458742" y="266519"/>
            <a:ext cx="6188710" cy="6281420"/>
          </a:xfrm>
          <a:prstGeom prst="rect">
            <a:avLst/>
          </a:prstGeom>
          <a:noFill/>
          <a:ln>
            <a:noFill/>
          </a:ln>
        </p:spPr>
      </p:pic>
    </p:spTree>
    <p:extLst>
      <p:ext uri="{BB962C8B-B14F-4D97-AF65-F5344CB8AC3E}">
        <p14:creationId xmlns:p14="http://schemas.microsoft.com/office/powerpoint/2010/main" val="2199216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2 Stage or Millar OTAs</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descr="image">
            <a:hlinkClick r:id="rId2" tgtFrame="&quot;_blank&quo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6539" y="1148125"/>
            <a:ext cx="10713312" cy="4865144"/>
          </a:xfrm>
          <a:prstGeom prst="rect">
            <a:avLst/>
          </a:prstGeom>
          <a:noFill/>
          <a:ln>
            <a:noFill/>
          </a:ln>
        </p:spPr>
      </p:pic>
    </p:spTree>
    <p:extLst>
      <p:ext uri="{BB962C8B-B14F-4D97-AF65-F5344CB8AC3E}">
        <p14:creationId xmlns:p14="http://schemas.microsoft.com/office/powerpoint/2010/main" val="2655690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Folded </a:t>
            </a:r>
            <a:r>
              <a:rPr lang="en-US" dirty="0" err="1" smtClean="0"/>
              <a:t>Cascode</a:t>
            </a:r>
            <a:r>
              <a:rPr lang="en-US" dirty="0" smtClean="0"/>
              <a:t> OTAs</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descr="image"/>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9013" y="1279434"/>
            <a:ext cx="10201502" cy="4781732"/>
          </a:xfrm>
          <a:prstGeom prst="rect">
            <a:avLst/>
          </a:prstGeom>
          <a:noFill/>
          <a:ln>
            <a:noFill/>
          </a:ln>
        </p:spPr>
      </p:pic>
    </p:spTree>
    <p:extLst>
      <p:ext uri="{BB962C8B-B14F-4D97-AF65-F5344CB8AC3E}">
        <p14:creationId xmlns:p14="http://schemas.microsoft.com/office/powerpoint/2010/main" val="3006072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Telescopic OP AMP/OTAs</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descr="image"/>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1359" y="1121773"/>
            <a:ext cx="10307864" cy="4808764"/>
          </a:xfrm>
          <a:prstGeom prst="rect">
            <a:avLst/>
          </a:prstGeom>
          <a:noFill/>
          <a:ln>
            <a:noFill/>
          </a:ln>
        </p:spPr>
      </p:pic>
    </p:spTree>
    <p:extLst>
      <p:ext uri="{BB962C8B-B14F-4D97-AF65-F5344CB8AC3E}">
        <p14:creationId xmlns:p14="http://schemas.microsoft.com/office/powerpoint/2010/main" val="2851267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Comparison</a:t>
            </a:r>
            <a:endParaRPr lang="en-US" dirty="0"/>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608614" y="1333917"/>
            <a:ext cx="3979539" cy="1806611"/>
          </a:xfrm>
          <a:prstGeom prst="rect">
            <a:avLst/>
          </a:prstGeom>
        </p:spPr>
      </p:pic>
      <p:pic>
        <p:nvPicPr>
          <p:cNvPr id="8" name="Picture 7"/>
          <p:cNvPicPr>
            <a:picLocks noChangeAspect="1"/>
          </p:cNvPicPr>
          <p:nvPr/>
        </p:nvPicPr>
        <p:blipFill>
          <a:blip r:embed="rId3"/>
          <a:stretch>
            <a:fillRect/>
          </a:stretch>
        </p:blipFill>
        <p:spPr>
          <a:xfrm>
            <a:off x="5485706" y="1287461"/>
            <a:ext cx="5829600" cy="1835244"/>
          </a:xfrm>
          <a:prstGeom prst="rect">
            <a:avLst/>
          </a:prstGeom>
        </p:spPr>
      </p:pic>
    </p:spTree>
    <p:extLst>
      <p:ext uri="{BB962C8B-B14F-4D97-AF65-F5344CB8AC3E}">
        <p14:creationId xmlns:p14="http://schemas.microsoft.com/office/powerpoint/2010/main" val="426928726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b="1" dirty="0"/>
              <a:t>Feedback resistance calculation</a:t>
            </a:r>
            <a:br>
              <a:rPr lang="en-US" b="1" dirty="0"/>
            </a:b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516466" y="1162103"/>
            <a:ext cx="11277600" cy="923330"/>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The reference voltage is usually provided by the bandgap reference and usually outputs a fixed voltage, that might be different from what we want to see at the output of LDO. Solution to this is to use a voltage divider in the feedback of the LDO:</a:t>
            </a:r>
          </a:p>
        </p:txBody>
      </p:sp>
      <p:pic>
        <p:nvPicPr>
          <p:cNvPr id="8" name="Picture 7"/>
          <p:cNvPicPr>
            <a:picLocks noChangeAspect="1"/>
          </p:cNvPicPr>
          <p:nvPr/>
        </p:nvPicPr>
        <p:blipFill>
          <a:blip r:embed="rId2"/>
          <a:stretch>
            <a:fillRect/>
          </a:stretch>
        </p:blipFill>
        <p:spPr>
          <a:xfrm>
            <a:off x="4565258" y="2284081"/>
            <a:ext cx="7626742" cy="4064209"/>
          </a:xfrm>
          <a:prstGeom prst="rect">
            <a:avLst/>
          </a:prstGeom>
        </p:spPr>
      </p:pic>
      <p:pic>
        <p:nvPicPr>
          <p:cNvPr id="9" name="Picture 8"/>
          <p:cNvPicPr>
            <a:picLocks noChangeAspect="1"/>
          </p:cNvPicPr>
          <p:nvPr/>
        </p:nvPicPr>
        <p:blipFill rotWithShape="1">
          <a:blip r:embed="rId3"/>
          <a:srcRect r="52756" b="13149"/>
          <a:stretch/>
        </p:blipFill>
        <p:spPr>
          <a:xfrm>
            <a:off x="91561" y="2633527"/>
            <a:ext cx="4428188" cy="3044462"/>
          </a:xfrm>
          <a:prstGeom prst="rect">
            <a:avLst/>
          </a:prstGeom>
        </p:spPr>
      </p:pic>
    </p:spTree>
    <p:extLst>
      <p:ext uri="{BB962C8B-B14F-4D97-AF65-F5344CB8AC3E}">
        <p14:creationId xmlns:p14="http://schemas.microsoft.com/office/powerpoint/2010/main" val="14367631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47386" y="1330211"/>
            <a:ext cx="11246428" cy="4426177"/>
          </a:xfrm>
          <a:prstGeom prst="rect">
            <a:avLst/>
          </a:prstGeom>
        </p:spPr>
      </p:pic>
    </p:spTree>
    <p:extLst>
      <p:ext uri="{BB962C8B-B14F-4D97-AF65-F5344CB8AC3E}">
        <p14:creationId xmlns:p14="http://schemas.microsoft.com/office/powerpoint/2010/main" val="402604039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203141" y="1415993"/>
            <a:ext cx="7169518" cy="2197213"/>
          </a:xfrm>
          <a:prstGeom prst="rect">
            <a:avLst/>
          </a:prstGeom>
        </p:spPr>
      </p:pic>
      <p:sp>
        <p:nvSpPr>
          <p:cNvPr id="8" name="Rectangle 7"/>
          <p:cNvSpPr/>
          <p:nvPr/>
        </p:nvSpPr>
        <p:spPr>
          <a:xfrm>
            <a:off x="6409510" y="1872342"/>
            <a:ext cx="1219200" cy="814252"/>
          </a:xfrm>
          <a:prstGeom prst="rect">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37157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b="1" dirty="0"/>
              <a:t>Output voltage error</a:t>
            </a:r>
            <a:br>
              <a:rPr lang="en-US" b="1" dirty="0"/>
            </a:br>
            <a:endParaRPr lang="en-US" dirty="0"/>
          </a:p>
        </p:txBody>
      </p:sp>
      <p:sp>
        <p:nvSpPr>
          <p:cNvPr id="3" name="Text Placeholder 2"/>
          <p:cNvSpPr>
            <a:spLocks noGrp="1"/>
          </p:cNvSpPr>
          <p:nvPr>
            <p:ph type="body" idx="1"/>
          </p:nvPr>
        </p:nvSpPr>
        <p:spPr>
          <a:xfrm>
            <a:off x="844550" y="1327353"/>
            <a:ext cx="7512050" cy="2646878"/>
          </a:xfrm>
        </p:spPr>
        <p:txBody>
          <a:bodyPr/>
          <a:lstStyle/>
          <a:p>
            <a:r>
              <a:rPr lang="en-US" dirty="0"/>
              <a:t>There are </a:t>
            </a:r>
            <a:r>
              <a:rPr lang="en-US" b="1" u="sng" dirty="0"/>
              <a:t>3 main sources</a:t>
            </a:r>
            <a:r>
              <a:rPr lang="en-US" dirty="0"/>
              <a:t> of the output error in LDO</a:t>
            </a:r>
            <a:r>
              <a:rPr lang="en-US" dirty="0" smtClean="0"/>
              <a:t>: </a:t>
            </a:r>
          </a:p>
          <a:p>
            <a:endParaRPr lang="en-US" dirty="0" smtClean="0"/>
          </a:p>
          <a:p>
            <a:r>
              <a:rPr lang="en-US" dirty="0" smtClean="0"/>
              <a:t>Voltage </a:t>
            </a:r>
            <a:r>
              <a:rPr lang="en-US" dirty="0"/>
              <a:t>divider mismatch </a:t>
            </a:r>
            <a:endParaRPr lang="en-US" dirty="0" smtClean="0"/>
          </a:p>
          <a:p>
            <a:endParaRPr lang="en-US" dirty="0"/>
          </a:p>
          <a:p>
            <a:pPr marL="800100" lvl="1" indent="-342900">
              <a:buFont typeface="Wingdings" panose="05000000000000000000" pitchFamily="2" charset="2"/>
              <a:buChar char="q"/>
            </a:pPr>
            <a:r>
              <a:rPr lang="en-US" sz="2400" dirty="0" smtClean="0">
                <a:solidFill>
                  <a:srgbClr val="00B050"/>
                </a:solidFill>
              </a:rPr>
              <a:t>(</a:t>
            </a:r>
            <a:r>
              <a:rPr lang="en-US" sz="2400" i="1" dirty="0" smtClean="0">
                <a:solidFill>
                  <a:srgbClr val="00B050"/>
                </a:solidFill>
              </a:rPr>
              <a:t>R</a:t>
            </a:r>
            <a:r>
              <a:rPr lang="en-US" sz="2400" baseline="-25000" dirty="0" smtClean="0">
                <a:solidFill>
                  <a:srgbClr val="00B050"/>
                </a:solidFill>
              </a:rPr>
              <a:t>1</a:t>
            </a:r>
            <a:r>
              <a:rPr lang="en-US" sz="2400" dirty="0">
                <a:solidFill>
                  <a:srgbClr val="00B050"/>
                </a:solidFill>
              </a:rPr>
              <a:t>​ and </a:t>
            </a:r>
            <a:r>
              <a:rPr lang="en-US" sz="2400" i="1" dirty="0" smtClean="0">
                <a:solidFill>
                  <a:srgbClr val="00B050"/>
                </a:solidFill>
              </a:rPr>
              <a:t>R</a:t>
            </a:r>
            <a:r>
              <a:rPr lang="en-US" sz="2400" baseline="-25000" dirty="0" smtClean="0">
                <a:solidFill>
                  <a:srgbClr val="00B050"/>
                </a:solidFill>
              </a:rPr>
              <a:t>2</a:t>
            </a:r>
            <a:r>
              <a:rPr lang="en-US" sz="2400" dirty="0">
                <a:solidFill>
                  <a:srgbClr val="00B050"/>
                </a:solidFill>
              </a:rPr>
              <a:t>​</a:t>
            </a:r>
            <a:r>
              <a:rPr lang="en-US" sz="2400" dirty="0" smtClean="0">
                <a:solidFill>
                  <a:srgbClr val="00B050"/>
                </a:solidFill>
              </a:rPr>
              <a:t>)</a:t>
            </a:r>
          </a:p>
          <a:p>
            <a:pPr marL="800100" lvl="1" indent="-342900">
              <a:buFont typeface="Wingdings" panose="05000000000000000000" pitchFamily="2" charset="2"/>
              <a:buChar char="q"/>
            </a:pPr>
            <a:r>
              <a:rPr lang="en-US" sz="2400" dirty="0" smtClean="0">
                <a:solidFill>
                  <a:srgbClr val="00B050"/>
                </a:solidFill>
              </a:rPr>
              <a:t>Gain </a:t>
            </a:r>
            <a:r>
              <a:rPr lang="en-US" sz="2400" dirty="0">
                <a:solidFill>
                  <a:srgbClr val="00B050"/>
                </a:solidFill>
              </a:rPr>
              <a:t>error of error </a:t>
            </a:r>
            <a:r>
              <a:rPr lang="en-US" sz="2400" dirty="0" smtClean="0">
                <a:solidFill>
                  <a:srgbClr val="00B050"/>
                </a:solidFill>
              </a:rPr>
              <a:t>amplifier</a:t>
            </a:r>
          </a:p>
          <a:p>
            <a:pPr marL="800100" lvl="1" indent="-342900">
              <a:buFont typeface="Wingdings" panose="05000000000000000000" pitchFamily="2" charset="2"/>
              <a:buChar char="q"/>
            </a:pPr>
            <a:r>
              <a:rPr lang="en-US" sz="2400" dirty="0" smtClean="0">
                <a:solidFill>
                  <a:srgbClr val="00B050"/>
                </a:solidFill>
              </a:rPr>
              <a:t>Reference </a:t>
            </a:r>
            <a:r>
              <a:rPr lang="en-US" sz="2400" dirty="0">
                <a:solidFill>
                  <a:srgbClr val="00B050"/>
                </a:solidFill>
              </a:rPr>
              <a:t>voltage error</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24161324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smtClean="0"/>
              <a:t>1. Voltage </a:t>
            </a:r>
            <a:r>
              <a:rPr lang="en-US" dirty="0"/>
              <a:t>divider mismatch</a:t>
            </a:r>
            <a:br>
              <a:rPr lang="en-US" dirty="0"/>
            </a:br>
            <a:endParaRPr lang="en-US" dirty="0"/>
          </a:p>
        </p:txBody>
      </p:sp>
      <p:sp>
        <p:nvSpPr>
          <p:cNvPr id="3" name="Text Placeholder 2"/>
          <p:cNvSpPr>
            <a:spLocks noGrp="1"/>
          </p:cNvSpPr>
          <p:nvPr>
            <p:ph type="body" idx="1"/>
          </p:nvPr>
        </p:nvSpPr>
        <p:spPr>
          <a:xfrm>
            <a:off x="385234" y="1403554"/>
            <a:ext cx="6523566" cy="3323987"/>
          </a:xfrm>
        </p:spPr>
        <p:txBody>
          <a:bodyPr/>
          <a:lstStyle/>
          <a:p>
            <a:pPr marL="342900" indent="-342900" algn="just">
              <a:buFont typeface="Wingdings" panose="05000000000000000000" pitchFamily="2" charset="2"/>
              <a:buChar char="q"/>
            </a:pPr>
            <a:r>
              <a:rPr lang="en-US" sz="2400" dirty="0"/>
              <a:t>The resistor value variation in CMOS process in generally big and can be up to 15-30%, depending on the </a:t>
            </a:r>
            <a:r>
              <a:rPr lang="en-US" sz="2400" dirty="0">
                <a:hlinkClick r:id="rId2"/>
              </a:rPr>
              <a:t>resistor type</a:t>
            </a:r>
            <a:r>
              <a:rPr lang="en-US" sz="2400" dirty="0"/>
              <a:t>. </a:t>
            </a:r>
            <a:endParaRPr lang="en-US" sz="2400" dirty="0" smtClean="0"/>
          </a:p>
          <a:p>
            <a:pPr marL="342900" indent="-342900" algn="just">
              <a:buFont typeface="Wingdings" panose="05000000000000000000" pitchFamily="2" charset="2"/>
              <a:buChar char="q"/>
            </a:pPr>
            <a:r>
              <a:rPr lang="en-US" sz="2400" dirty="0" smtClean="0"/>
              <a:t>Since </a:t>
            </a:r>
            <a:r>
              <a:rPr lang="en-US" sz="2400" dirty="0"/>
              <a:t>only the </a:t>
            </a:r>
            <a:r>
              <a:rPr lang="en-US" sz="2400" dirty="0" smtClean="0"/>
              <a:t>ratio between</a:t>
            </a:r>
            <a:r>
              <a:rPr lang="en-US" sz="2400" dirty="0"/>
              <a:t> </a:t>
            </a:r>
            <a:r>
              <a:rPr lang="en-US" sz="2400" i="1" dirty="0" smtClean="0"/>
              <a:t>R</a:t>
            </a:r>
            <a:r>
              <a:rPr lang="en-US" sz="2400" dirty="0" smtClean="0"/>
              <a:t>1</a:t>
            </a:r>
            <a:r>
              <a:rPr lang="en-US" sz="2400" dirty="0"/>
              <a:t>​ and </a:t>
            </a:r>
            <a:r>
              <a:rPr lang="en-US" sz="2400" i="1" dirty="0" smtClean="0"/>
              <a:t>R</a:t>
            </a:r>
            <a:r>
              <a:rPr lang="en-US" sz="2400" dirty="0" smtClean="0"/>
              <a:t>2</a:t>
            </a:r>
            <a:r>
              <a:rPr lang="en-US" sz="2400" dirty="0"/>
              <a:t>​ matters (and not their absolute values), we can neglect the error, introduced by the divider if we </a:t>
            </a:r>
            <a:r>
              <a:rPr lang="en-US" sz="2400" dirty="0">
                <a:hlinkClick r:id="rId3"/>
              </a:rPr>
              <a:t>match</a:t>
            </a:r>
            <a:r>
              <a:rPr lang="en-US" sz="2400" dirty="0"/>
              <a:t> them in layout.</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4"/>
          <a:srcRect r="52756" b="13149"/>
          <a:stretch/>
        </p:blipFill>
        <p:spPr>
          <a:xfrm>
            <a:off x="7196304" y="1382395"/>
            <a:ext cx="4428188" cy="3044462"/>
          </a:xfrm>
          <a:prstGeom prst="rect">
            <a:avLst/>
          </a:prstGeom>
        </p:spPr>
      </p:pic>
    </p:spTree>
    <p:extLst>
      <p:ext uri="{BB962C8B-B14F-4D97-AF65-F5344CB8AC3E}">
        <p14:creationId xmlns:p14="http://schemas.microsoft.com/office/powerpoint/2010/main" val="249447982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smtClean="0"/>
              <a:t>2 Gain </a:t>
            </a:r>
            <a:r>
              <a:rPr lang="en-US" dirty="0"/>
              <a:t>error of error amplifier</a:t>
            </a:r>
            <a:br>
              <a:rPr lang="en-US" dirty="0"/>
            </a:b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28335" y="1419138"/>
            <a:ext cx="11284530" cy="3359323"/>
          </a:xfrm>
          <a:prstGeom prst="rect">
            <a:avLst/>
          </a:prstGeom>
        </p:spPr>
      </p:pic>
      <p:sp>
        <p:nvSpPr>
          <p:cNvPr id="3" name="Rectangle 2"/>
          <p:cNvSpPr/>
          <p:nvPr/>
        </p:nvSpPr>
        <p:spPr>
          <a:xfrm>
            <a:off x="5338354" y="2033451"/>
            <a:ext cx="1754777" cy="470263"/>
          </a:xfrm>
          <a:prstGeom prst="rect">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Rectangle 7"/>
          <p:cNvSpPr/>
          <p:nvPr/>
        </p:nvSpPr>
        <p:spPr>
          <a:xfrm>
            <a:off x="5072742" y="4310742"/>
            <a:ext cx="2211978" cy="470263"/>
          </a:xfrm>
          <a:prstGeom prst="rect">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6722191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815880" y="1339742"/>
            <a:ext cx="8560240" cy="4178515"/>
          </a:xfrm>
          <a:prstGeom prst="rect">
            <a:avLst/>
          </a:prstGeom>
        </p:spPr>
      </p:pic>
    </p:spTree>
    <p:extLst>
      <p:ext uri="{BB962C8B-B14F-4D97-AF65-F5344CB8AC3E}">
        <p14:creationId xmlns:p14="http://schemas.microsoft.com/office/powerpoint/2010/main" val="414878748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a:t>3 Reference voltage error</a:t>
            </a:r>
            <a:br>
              <a:rPr lang="en-US" dirty="0"/>
            </a:b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91835" y="1501729"/>
            <a:ext cx="11284530" cy="1771741"/>
          </a:xfrm>
          <a:prstGeom prst="rect">
            <a:avLst/>
          </a:prstGeom>
        </p:spPr>
      </p:pic>
    </p:spTree>
    <p:extLst>
      <p:ext uri="{BB962C8B-B14F-4D97-AF65-F5344CB8AC3E}">
        <p14:creationId xmlns:p14="http://schemas.microsoft.com/office/powerpoint/2010/main" val="338850523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Calculation Example</a:t>
            </a:r>
            <a:endParaRPr lang="en-US" dirty="0"/>
          </a:p>
        </p:txBody>
      </p:sp>
      <p:sp>
        <p:nvSpPr>
          <p:cNvPr id="4" name="Footer Placeholder 3"/>
          <p:cNvSpPr>
            <a:spLocks noGrp="1"/>
          </p:cNvSpPr>
          <p:nvPr>
            <p:ph type="ftr" sz="quarter" idx="5"/>
          </p:nvPr>
        </p:nvSpPr>
        <p:spPr>
          <a:xfrm>
            <a:off x="5489278" y="6386858"/>
            <a:ext cx="1715856" cy="21714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12762" y="1457286"/>
            <a:ext cx="1473276" cy="1505027"/>
          </a:xfrm>
          <a:prstGeom prst="rect">
            <a:avLst/>
          </a:prstGeom>
        </p:spPr>
      </p:pic>
      <p:pic>
        <p:nvPicPr>
          <p:cNvPr id="8" name="Picture 7"/>
          <p:cNvPicPr>
            <a:picLocks noChangeAspect="1"/>
          </p:cNvPicPr>
          <p:nvPr/>
        </p:nvPicPr>
        <p:blipFill>
          <a:blip r:embed="rId3"/>
          <a:stretch>
            <a:fillRect/>
          </a:stretch>
        </p:blipFill>
        <p:spPr>
          <a:xfrm>
            <a:off x="4376772" y="1248968"/>
            <a:ext cx="7455283" cy="2978303"/>
          </a:xfrm>
          <a:prstGeom prst="rect">
            <a:avLst/>
          </a:prstGeom>
        </p:spPr>
      </p:pic>
    </p:spTree>
    <p:extLst>
      <p:ext uri="{BB962C8B-B14F-4D97-AF65-F5344CB8AC3E}">
        <p14:creationId xmlns:p14="http://schemas.microsoft.com/office/powerpoint/2010/main" val="110077917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a:xfrm>
            <a:off x="5489277" y="6429190"/>
            <a:ext cx="1461856" cy="2510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371397" y="1523952"/>
            <a:ext cx="7874405" cy="1854295"/>
          </a:xfrm>
          <a:prstGeom prst="rect">
            <a:avLst/>
          </a:prstGeom>
        </p:spPr>
      </p:pic>
    </p:spTree>
    <p:extLst>
      <p:ext uri="{BB962C8B-B14F-4D97-AF65-F5344CB8AC3E}">
        <p14:creationId xmlns:p14="http://schemas.microsoft.com/office/powerpoint/2010/main" val="253886799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Feedback Resistor Highlights</a:t>
            </a:r>
            <a:endParaRPr lang="en-US" dirty="0"/>
          </a:p>
        </p:txBody>
      </p:sp>
      <p:sp>
        <p:nvSpPr>
          <p:cNvPr id="3" name="Text Placeholder 2"/>
          <p:cNvSpPr>
            <a:spLocks noGrp="1"/>
          </p:cNvSpPr>
          <p:nvPr>
            <p:ph type="body" idx="1"/>
          </p:nvPr>
        </p:nvSpPr>
        <p:spPr>
          <a:xfrm>
            <a:off x="844550" y="1327353"/>
            <a:ext cx="10687050" cy="2893100"/>
          </a:xfrm>
        </p:spPr>
        <p:txBody>
          <a:bodyPr/>
          <a:lstStyle/>
          <a:p>
            <a:pPr marL="342900" indent="-342900" algn="just">
              <a:buFont typeface="Wingdings" panose="05000000000000000000" pitchFamily="2" charset="2"/>
              <a:buChar char="q"/>
            </a:pPr>
            <a:r>
              <a:rPr lang="en-US" sz="2400" i="1" dirty="0"/>
              <a:t>Use </a:t>
            </a:r>
            <a:r>
              <a:rPr lang="en-US" sz="2400" b="1" i="1" dirty="0"/>
              <a:t>low-mismatch resistors</a:t>
            </a:r>
            <a:r>
              <a:rPr lang="en-US" sz="2400" i="1" dirty="0"/>
              <a:t>, such as polysilicon resistors;</a:t>
            </a:r>
          </a:p>
          <a:p>
            <a:pPr marL="342900" indent="-342900" algn="just">
              <a:buFont typeface="Wingdings" panose="05000000000000000000" pitchFamily="2" charset="2"/>
              <a:buChar char="q"/>
            </a:pPr>
            <a:r>
              <a:rPr lang="en-US" sz="2400" b="1" i="1" dirty="0"/>
              <a:t>Make resistors</a:t>
            </a:r>
            <a:r>
              <a:rPr lang="en-US" sz="2400" i="1" dirty="0"/>
              <a:t> as </a:t>
            </a:r>
            <a:r>
              <a:rPr lang="en-US" sz="2400" b="1" i="1" dirty="0"/>
              <a:t>wide</a:t>
            </a:r>
            <a:r>
              <a:rPr lang="en-US" sz="2400" i="1" dirty="0"/>
              <a:t> as possible to reduce mismatch;</a:t>
            </a:r>
          </a:p>
          <a:p>
            <a:pPr marL="342900" indent="-342900" algn="just">
              <a:buFont typeface="Wingdings" panose="05000000000000000000" pitchFamily="2" charset="2"/>
              <a:buChar char="q"/>
            </a:pPr>
            <a:r>
              <a:rPr lang="en-US" sz="2400" i="1" dirty="0"/>
              <a:t>Use </a:t>
            </a:r>
            <a:r>
              <a:rPr lang="en-US" sz="2400" b="1" i="1" dirty="0"/>
              <a:t>unit-sized segments</a:t>
            </a:r>
            <a:r>
              <a:rPr lang="en-US" sz="2400" i="1" dirty="0"/>
              <a:t>; connect resistors in parallel or in series, if needed;</a:t>
            </a:r>
          </a:p>
          <a:p>
            <a:pPr marL="342900" indent="-342900" algn="just">
              <a:buFont typeface="Wingdings" panose="05000000000000000000" pitchFamily="2" charset="2"/>
              <a:buChar char="q"/>
            </a:pPr>
            <a:r>
              <a:rPr lang="en-US" sz="2400" b="1" i="1" dirty="0">
                <a:hlinkClick r:id="rId2"/>
              </a:rPr>
              <a:t>Match</a:t>
            </a:r>
            <a:r>
              <a:rPr lang="en-US" sz="2400" i="1" dirty="0"/>
              <a:t> feedback resistors in layout;</a:t>
            </a:r>
          </a:p>
          <a:p>
            <a:pPr marL="342900" indent="-342900" algn="just">
              <a:buFont typeface="Wingdings" panose="05000000000000000000" pitchFamily="2" charset="2"/>
              <a:buChar char="q"/>
            </a:pPr>
            <a:r>
              <a:rPr lang="en-US" sz="2400" i="1" dirty="0"/>
              <a:t>Total </a:t>
            </a:r>
            <a:r>
              <a:rPr lang="en-US" sz="2400" b="1" i="1" dirty="0"/>
              <a:t>resistance defines quiescent current </a:t>
            </a:r>
            <a:r>
              <a:rPr lang="en-US" sz="2400" b="1" i="1" dirty="0" smtClean="0"/>
              <a:t>(</a:t>
            </a:r>
            <a:r>
              <a:rPr lang="en-US" sz="2400" b="1" i="1" dirty="0" err="1" smtClean="0"/>
              <a:t>Iq</a:t>
            </a:r>
            <a:r>
              <a:rPr lang="en-US" sz="2400" b="1" i="1" dirty="0"/>
              <a:t>​)</a:t>
            </a:r>
            <a:r>
              <a:rPr lang="en-US" sz="2400" i="1" dirty="0"/>
              <a:t> - a trade-off between stability and power consumption;</a:t>
            </a:r>
          </a:p>
          <a:p>
            <a:endParaRPr lang="en-US" dirty="0"/>
          </a:p>
        </p:txBody>
      </p:sp>
      <p:sp>
        <p:nvSpPr>
          <p:cNvPr id="4" name="Footer Placeholder 3"/>
          <p:cNvSpPr>
            <a:spLocks noGrp="1"/>
          </p:cNvSpPr>
          <p:nvPr>
            <p:ph type="ftr" sz="quarter" idx="5"/>
          </p:nvPr>
        </p:nvSpPr>
        <p:spPr>
          <a:xfrm>
            <a:off x="5531611" y="6276790"/>
            <a:ext cx="1436456" cy="3018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52521861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Stability &amp; Transfer Function</a:t>
            </a:r>
            <a:endParaRPr lang="en-US" dirty="0"/>
          </a:p>
        </p:txBody>
      </p:sp>
      <p:sp>
        <p:nvSpPr>
          <p:cNvPr id="3" name="Text Placeholder 2"/>
          <p:cNvSpPr>
            <a:spLocks noGrp="1"/>
          </p:cNvSpPr>
          <p:nvPr>
            <p:ph type="body" idx="1"/>
          </p:nvPr>
        </p:nvSpPr>
        <p:spPr>
          <a:xfrm>
            <a:off x="7696199" y="1437420"/>
            <a:ext cx="4188834" cy="3693319"/>
          </a:xfrm>
        </p:spPr>
        <p:txBody>
          <a:bodyPr/>
          <a:lstStyle/>
          <a:p>
            <a:pPr marL="342900" indent="-342900" algn="just">
              <a:buFont typeface="Wingdings" panose="05000000000000000000" pitchFamily="2" charset="2"/>
              <a:buChar char="q"/>
            </a:pPr>
            <a:r>
              <a:rPr lang="en-US" sz="2400" dirty="0"/>
              <a:t>As any feedback system, the LDO is a subject to stability analysis. </a:t>
            </a:r>
            <a:endParaRPr lang="en-US" sz="2400" dirty="0" smtClean="0"/>
          </a:p>
          <a:p>
            <a:pPr marL="342900" indent="-342900" algn="just">
              <a:buFont typeface="Wingdings" panose="05000000000000000000" pitchFamily="2" charset="2"/>
              <a:buChar char="q"/>
            </a:pPr>
            <a:r>
              <a:rPr lang="en-US" sz="2400" dirty="0" smtClean="0"/>
              <a:t>Let's </a:t>
            </a:r>
            <a:r>
              <a:rPr lang="en-US" sz="2400" dirty="0"/>
              <a:t>dive into a typical LDO structure and understand the location and role of the poles and zeros. </a:t>
            </a:r>
            <a:endParaRPr lang="en-US" sz="2400" dirty="0" smtClean="0"/>
          </a:p>
          <a:p>
            <a:pPr marL="342900" indent="-342900" algn="just">
              <a:buFont typeface="Wingdings" panose="05000000000000000000" pitchFamily="2" charset="2"/>
              <a:buChar char="q"/>
            </a:pPr>
            <a:r>
              <a:rPr lang="en-US" sz="2400" dirty="0" smtClean="0"/>
              <a:t>In </a:t>
            </a:r>
            <a:r>
              <a:rPr lang="en-US" sz="2400" dirty="0"/>
              <a:t>a typical LDO there are two main poles.</a:t>
            </a:r>
          </a:p>
        </p:txBody>
      </p:sp>
      <p:sp>
        <p:nvSpPr>
          <p:cNvPr id="4" name="Footer Placeholder 3"/>
          <p:cNvSpPr>
            <a:spLocks noGrp="1"/>
          </p:cNvSpPr>
          <p:nvPr>
            <p:ph type="ftr" sz="quarter" idx="5"/>
          </p:nvPr>
        </p:nvSpPr>
        <p:spPr>
          <a:xfrm>
            <a:off x="5531610" y="6276790"/>
            <a:ext cx="1554989" cy="3018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64933" y="1436984"/>
            <a:ext cx="6515435" cy="4540483"/>
          </a:xfrm>
          <a:prstGeom prst="rect">
            <a:avLst/>
          </a:prstGeom>
        </p:spPr>
      </p:pic>
    </p:spTree>
    <p:extLst>
      <p:ext uri="{BB962C8B-B14F-4D97-AF65-F5344CB8AC3E}">
        <p14:creationId xmlns:p14="http://schemas.microsoft.com/office/powerpoint/2010/main" val="353848948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65630" y="1269351"/>
            <a:ext cx="10077968" cy="2235315"/>
          </a:xfrm>
          <a:prstGeom prst="rect">
            <a:avLst/>
          </a:prstGeom>
        </p:spPr>
      </p:pic>
      <p:pic>
        <p:nvPicPr>
          <p:cNvPr id="8" name="Picture 7"/>
          <p:cNvPicPr>
            <a:picLocks noChangeAspect="1"/>
          </p:cNvPicPr>
          <p:nvPr/>
        </p:nvPicPr>
        <p:blipFill>
          <a:blip r:embed="rId3"/>
          <a:stretch>
            <a:fillRect/>
          </a:stretch>
        </p:blipFill>
        <p:spPr>
          <a:xfrm>
            <a:off x="2084163" y="3740618"/>
            <a:ext cx="7321926" cy="1886047"/>
          </a:xfrm>
          <a:prstGeom prst="rect">
            <a:avLst/>
          </a:prstGeom>
        </p:spPr>
      </p:pic>
    </p:spTree>
    <p:extLst>
      <p:ext uri="{BB962C8B-B14F-4D97-AF65-F5344CB8AC3E}">
        <p14:creationId xmlns:p14="http://schemas.microsoft.com/office/powerpoint/2010/main" val="322687972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2063543" y="1635033"/>
            <a:ext cx="8064914" cy="3587934"/>
          </a:xfrm>
          <a:prstGeom prst="rect">
            <a:avLst/>
          </a:prstGeom>
        </p:spPr>
      </p:pic>
    </p:spTree>
    <p:extLst>
      <p:ext uri="{BB962C8B-B14F-4D97-AF65-F5344CB8AC3E}">
        <p14:creationId xmlns:p14="http://schemas.microsoft.com/office/powerpoint/2010/main" val="15374562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Transfer function of the </a:t>
            </a:r>
            <a:r>
              <a:rPr lang="en-US" dirty="0" smtClean="0"/>
              <a:t>LDO</a:t>
            </a:r>
            <a:endParaRPr lang="en-US" dirty="0"/>
          </a:p>
        </p:txBody>
      </p:sp>
      <p:sp>
        <p:nvSpPr>
          <p:cNvPr id="4" name="Footer Placeholder 3"/>
          <p:cNvSpPr>
            <a:spLocks noGrp="1"/>
          </p:cNvSpPr>
          <p:nvPr>
            <p:ph type="ftr" sz="quarter" idx="5"/>
          </p:nvPr>
        </p:nvSpPr>
        <p:spPr>
          <a:xfrm>
            <a:off x="5531610" y="6276791"/>
            <a:ext cx="1529589"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21039" y="1205380"/>
            <a:ext cx="10611195" cy="2858619"/>
          </a:xfrm>
          <a:prstGeom prst="rect">
            <a:avLst/>
          </a:prstGeom>
        </p:spPr>
      </p:pic>
    </p:spTree>
    <p:extLst>
      <p:ext uri="{BB962C8B-B14F-4D97-AF65-F5344CB8AC3E}">
        <p14:creationId xmlns:p14="http://schemas.microsoft.com/office/powerpoint/2010/main" val="119426335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smtClean="0"/>
              <a:t>Compensation</a:t>
            </a:r>
            <a:r>
              <a:rPr lang="en-US" dirty="0"/>
              <a:t/>
            </a:r>
            <a:br>
              <a:rPr lang="en-US" dirty="0"/>
            </a:br>
            <a:endParaRPr lang="en-US" dirty="0"/>
          </a:p>
        </p:txBody>
      </p:sp>
      <p:sp>
        <p:nvSpPr>
          <p:cNvPr id="3" name="Text Placeholder 2"/>
          <p:cNvSpPr>
            <a:spLocks noGrp="1"/>
          </p:cNvSpPr>
          <p:nvPr>
            <p:ph type="body" idx="1"/>
          </p:nvPr>
        </p:nvSpPr>
        <p:spPr>
          <a:xfrm>
            <a:off x="844550" y="1327353"/>
            <a:ext cx="11000120" cy="1969770"/>
          </a:xfrm>
        </p:spPr>
        <p:txBody>
          <a:bodyPr/>
          <a:lstStyle/>
          <a:p>
            <a:pPr algn="just"/>
            <a:r>
              <a:rPr lang="en-US" dirty="0"/>
              <a:t>In the previous chapter we saw that the load pole </a:t>
            </a:r>
            <a:r>
              <a:rPr lang="en-US" i="1" dirty="0" smtClean="0"/>
              <a:t>ω</a:t>
            </a:r>
            <a:r>
              <a:rPr lang="en-US" i="1" baseline="-25000" dirty="0" smtClean="0"/>
              <a:t>p</a:t>
            </a:r>
            <a:r>
              <a:rPr lang="en-US" baseline="-25000" dirty="0" smtClean="0"/>
              <a:t>2</a:t>
            </a:r>
            <a:r>
              <a:rPr lang="en-US" dirty="0"/>
              <a:t>​ moves, when the load is changing. </a:t>
            </a:r>
            <a:r>
              <a:rPr lang="en-US" dirty="0" smtClean="0"/>
              <a:t>This </a:t>
            </a:r>
            <a:r>
              <a:rPr lang="en-US" dirty="0"/>
              <a:t>effect lead to change in phase margin, which can lead to unstable condition (oscillations). There are two main ways to compensate this effect:</a:t>
            </a:r>
          </a:p>
          <a:p>
            <a:pPr marL="800100" lvl="1" indent="-342900" algn="just">
              <a:buFont typeface="Wingdings" panose="05000000000000000000" pitchFamily="2" charset="2"/>
              <a:buChar char="q"/>
            </a:pPr>
            <a:r>
              <a:rPr lang="en-US" sz="2400" dirty="0"/>
              <a:t>Zero insertion</a:t>
            </a:r>
          </a:p>
          <a:p>
            <a:pPr marL="800100" lvl="1" indent="-342900" algn="just">
              <a:buFont typeface="Wingdings" panose="05000000000000000000" pitchFamily="2" charset="2"/>
              <a:buChar char="q"/>
            </a:pPr>
            <a:r>
              <a:rPr lang="en-US" sz="2400" i="1" dirty="0" err="1" smtClean="0"/>
              <a:t>C</a:t>
            </a:r>
            <a:r>
              <a:rPr lang="en-US" sz="2400" i="1" baseline="-25000" dirty="0" err="1" smtClean="0"/>
              <a:t>gs</a:t>
            </a:r>
            <a:r>
              <a:rPr lang="en-US" sz="2400" baseline="-25000" dirty="0"/>
              <a:t>​</a:t>
            </a:r>
            <a:r>
              <a:rPr lang="en-US" sz="2400" dirty="0"/>
              <a:t> shielding through buffer</a:t>
            </a:r>
          </a:p>
          <a:p>
            <a:pPr algn="just"/>
            <a:endParaRPr lang="en-US" dirty="0"/>
          </a:p>
        </p:txBody>
      </p:sp>
      <p:sp>
        <p:nvSpPr>
          <p:cNvPr id="4" name="Footer Placeholder 3"/>
          <p:cNvSpPr>
            <a:spLocks noGrp="1"/>
          </p:cNvSpPr>
          <p:nvPr>
            <p:ph type="ftr" sz="quarter" idx="5"/>
          </p:nvPr>
        </p:nvSpPr>
        <p:spPr>
          <a:xfrm>
            <a:off x="5531611" y="6276791"/>
            <a:ext cx="1368722" cy="24254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57497657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Using a ESR </a:t>
            </a:r>
            <a:r>
              <a:rPr lang="en-US" dirty="0" smtClean="0"/>
              <a:t>zero</a:t>
            </a:r>
            <a:endParaRPr lang="en-US" dirty="0"/>
          </a:p>
        </p:txBody>
      </p:sp>
      <p:sp>
        <p:nvSpPr>
          <p:cNvPr id="3" name="Text Placeholder 2"/>
          <p:cNvSpPr>
            <a:spLocks noGrp="1"/>
          </p:cNvSpPr>
          <p:nvPr>
            <p:ph type="body" idx="1"/>
          </p:nvPr>
        </p:nvSpPr>
        <p:spPr>
          <a:xfrm>
            <a:off x="844550" y="1327353"/>
            <a:ext cx="11117078" cy="923330"/>
          </a:xfrm>
        </p:spPr>
        <p:txBody>
          <a:bodyPr/>
          <a:lstStyle/>
          <a:p>
            <a:pPr algn="just"/>
            <a:r>
              <a:rPr lang="en-US" dirty="0"/>
              <a:t>One of the ways to compensate our LDO with external capacitor is to utilize the capacitor's equivalent series resistance (ESR). Every capacitor model contains the series resistance that represents the losses in the capacitor.</a:t>
            </a:r>
          </a:p>
        </p:txBody>
      </p:sp>
      <p:sp>
        <p:nvSpPr>
          <p:cNvPr id="4" name="Footer Placeholder 3"/>
          <p:cNvSpPr>
            <a:spLocks noGrp="1"/>
          </p:cNvSpPr>
          <p:nvPr>
            <p:ph type="ftr" sz="quarter" idx="5"/>
          </p:nvPr>
        </p:nvSpPr>
        <p:spPr>
          <a:xfrm>
            <a:off x="5489278" y="6479991"/>
            <a:ext cx="1538056" cy="29334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713994" y="651309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320506" y="2356630"/>
            <a:ext cx="9512789" cy="4102311"/>
          </a:xfrm>
          <a:prstGeom prst="rect">
            <a:avLst/>
          </a:prstGeom>
        </p:spPr>
      </p:pic>
    </p:spTree>
    <p:extLst>
      <p:ext uri="{BB962C8B-B14F-4D97-AF65-F5344CB8AC3E}">
        <p14:creationId xmlns:p14="http://schemas.microsoft.com/office/powerpoint/2010/main" val="38865166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88021" y="1286933"/>
            <a:ext cx="10563534" cy="4148667"/>
          </a:xfrm>
          <a:prstGeom prst="rect">
            <a:avLst/>
          </a:prstGeom>
        </p:spPr>
      </p:pic>
    </p:spTree>
    <p:extLst>
      <p:ext uri="{BB962C8B-B14F-4D97-AF65-F5344CB8AC3E}">
        <p14:creationId xmlns:p14="http://schemas.microsoft.com/office/powerpoint/2010/main" val="397772702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Using a </a:t>
            </a:r>
            <a:r>
              <a:rPr lang="en-US" dirty="0" smtClean="0"/>
              <a:t>buffer</a:t>
            </a:r>
            <a:endParaRPr lang="en-US" dirty="0"/>
          </a:p>
        </p:txBody>
      </p:sp>
      <p:sp>
        <p:nvSpPr>
          <p:cNvPr id="3" name="Text Placeholder 2"/>
          <p:cNvSpPr>
            <a:spLocks noGrp="1"/>
          </p:cNvSpPr>
          <p:nvPr>
            <p:ph type="body" idx="1"/>
          </p:nvPr>
        </p:nvSpPr>
        <p:spPr>
          <a:xfrm>
            <a:off x="844550" y="1327353"/>
            <a:ext cx="10968222" cy="923330"/>
          </a:xfrm>
        </p:spPr>
        <p:txBody>
          <a:bodyPr/>
          <a:lstStyle/>
          <a:p>
            <a:pPr algn="just"/>
            <a:r>
              <a:rPr lang="en-US" dirty="0"/>
              <a:t>Another way to compensate an LDO is to add a buffer between the output of the amplifier and the pass device. Effectively, adding a buffer will shield the output of the error amplifier from the large </a:t>
            </a:r>
            <a:r>
              <a:rPr lang="en-US" i="1" dirty="0" err="1" smtClean="0"/>
              <a:t>Cgs</a:t>
            </a:r>
            <a:r>
              <a:rPr lang="en-US" dirty="0"/>
              <a:t>​ of the pass device</a:t>
            </a:r>
          </a:p>
        </p:txBody>
      </p:sp>
      <p:sp>
        <p:nvSpPr>
          <p:cNvPr id="4" name="Footer Placeholder 3"/>
          <p:cNvSpPr>
            <a:spLocks noGrp="1"/>
          </p:cNvSpPr>
          <p:nvPr>
            <p:ph type="ftr" sz="quarter" idx="5"/>
          </p:nvPr>
        </p:nvSpPr>
        <p:spPr>
          <a:xfrm>
            <a:off x="5277611" y="6327590"/>
            <a:ext cx="1470322" cy="3780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046812" y="2399339"/>
            <a:ext cx="9665197" cy="3854648"/>
          </a:xfrm>
          <a:prstGeom prst="rect">
            <a:avLst/>
          </a:prstGeom>
        </p:spPr>
      </p:pic>
    </p:spTree>
    <p:extLst>
      <p:ext uri="{BB962C8B-B14F-4D97-AF65-F5344CB8AC3E}">
        <p14:creationId xmlns:p14="http://schemas.microsoft.com/office/powerpoint/2010/main" val="307755911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a:xfrm>
            <a:off x="5497743" y="6352991"/>
            <a:ext cx="1478789" cy="29334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501362" y="1771565"/>
            <a:ext cx="11189275" cy="3314870"/>
          </a:xfrm>
          <a:prstGeom prst="rect">
            <a:avLst/>
          </a:prstGeom>
        </p:spPr>
      </p:pic>
    </p:spTree>
    <p:extLst>
      <p:ext uri="{BB962C8B-B14F-4D97-AF65-F5344CB8AC3E}">
        <p14:creationId xmlns:p14="http://schemas.microsoft.com/office/powerpoint/2010/main" val="210520955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LDO </a:t>
            </a:r>
            <a:r>
              <a:rPr lang="en-US" dirty="0" err="1" smtClean="0"/>
              <a:t>Parasitics</a:t>
            </a:r>
            <a:endParaRPr lang="en-US" dirty="0"/>
          </a:p>
        </p:txBody>
      </p:sp>
      <p:sp>
        <p:nvSpPr>
          <p:cNvPr id="3" name="Text Placeholder 2"/>
          <p:cNvSpPr>
            <a:spLocks noGrp="1"/>
          </p:cNvSpPr>
          <p:nvPr>
            <p:ph type="body" idx="1"/>
          </p:nvPr>
        </p:nvSpPr>
        <p:spPr>
          <a:xfrm>
            <a:off x="844550" y="1327353"/>
            <a:ext cx="10978855" cy="923330"/>
          </a:xfrm>
        </p:spPr>
        <p:txBody>
          <a:bodyPr/>
          <a:lstStyle/>
          <a:p>
            <a:pPr algn="just"/>
            <a:r>
              <a:rPr lang="en-US" dirty="0"/>
              <a:t>In the design of LDO with an off-chip capacitor, it's very important to take into account </a:t>
            </a:r>
            <a:r>
              <a:rPr lang="en-US" dirty="0" err="1"/>
              <a:t>parasitics</a:t>
            </a:r>
            <a:r>
              <a:rPr lang="en-US" dirty="0"/>
              <a:t>, associated with the output node. The main contributors are I/O pads, </a:t>
            </a:r>
            <a:r>
              <a:rPr lang="en-US" dirty="0" err="1"/>
              <a:t>bondwires</a:t>
            </a:r>
            <a:r>
              <a:rPr lang="en-US" dirty="0"/>
              <a:t>, packaging and PCB trace:</a:t>
            </a:r>
          </a:p>
        </p:txBody>
      </p:sp>
      <p:sp>
        <p:nvSpPr>
          <p:cNvPr id="4" name="Footer Placeholder 3"/>
          <p:cNvSpPr>
            <a:spLocks noGrp="1"/>
          </p:cNvSpPr>
          <p:nvPr>
            <p:ph type="ftr" sz="quarter" idx="5"/>
          </p:nvPr>
        </p:nvSpPr>
        <p:spPr>
          <a:xfrm>
            <a:off x="5480810" y="6344524"/>
            <a:ext cx="1504189" cy="31874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2508897" y="2451492"/>
            <a:ext cx="6887639" cy="3119575"/>
          </a:xfrm>
          <a:prstGeom prst="rect">
            <a:avLst/>
          </a:prstGeom>
        </p:spPr>
      </p:pic>
    </p:spTree>
    <p:extLst>
      <p:ext uri="{BB962C8B-B14F-4D97-AF65-F5344CB8AC3E}">
        <p14:creationId xmlns:p14="http://schemas.microsoft.com/office/powerpoint/2010/main" val="233901994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LDO </a:t>
            </a:r>
            <a:r>
              <a:rPr lang="en-US" dirty="0" err="1" smtClean="0"/>
              <a:t>Parasitics</a:t>
            </a:r>
            <a:endParaRPr lang="en-US" dirty="0"/>
          </a:p>
        </p:txBody>
      </p:sp>
      <p:sp>
        <p:nvSpPr>
          <p:cNvPr id="3" name="Text Placeholder 2"/>
          <p:cNvSpPr>
            <a:spLocks noGrp="1"/>
          </p:cNvSpPr>
          <p:nvPr>
            <p:ph type="body" idx="1"/>
          </p:nvPr>
        </p:nvSpPr>
        <p:spPr>
          <a:xfrm>
            <a:off x="819149" y="1124153"/>
            <a:ext cx="11255301" cy="2123658"/>
          </a:xfrm>
        </p:spPr>
        <p:txBody>
          <a:bodyPr/>
          <a:lstStyle/>
          <a:p>
            <a:pPr algn="just"/>
            <a:r>
              <a:rPr lang="en-US" sz="1800" dirty="0"/>
              <a:t>Let's now have a detailed look into these contributors. </a:t>
            </a:r>
            <a:endParaRPr lang="en-US" sz="1800" dirty="0" smtClean="0"/>
          </a:p>
          <a:p>
            <a:pPr marL="800100" lvl="1" indent="-342900" algn="just">
              <a:buFont typeface="Wingdings" panose="05000000000000000000" pitchFamily="2" charset="2"/>
              <a:buChar char="q"/>
            </a:pPr>
            <a:r>
              <a:rPr lang="en-US" sz="2000" dirty="0" smtClean="0"/>
              <a:t>The </a:t>
            </a:r>
            <a:r>
              <a:rPr lang="en-US" sz="2000" dirty="0"/>
              <a:t>I/O pad is a large piece of metal so its contribution is mostly capacitive. The typical capacitance for the analog I/O pad is around </a:t>
            </a:r>
            <a:r>
              <a:rPr lang="en-US" sz="2000" i="1" dirty="0"/>
              <a:t>1-2pF</a:t>
            </a:r>
            <a:r>
              <a:rPr lang="en-US" sz="2000" dirty="0"/>
              <a:t> and usually mentioned in the process </a:t>
            </a:r>
            <a:r>
              <a:rPr lang="en-US" sz="2000" dirty="0" smtClean="0"/>
              <a:t>documentation.</a:t>
            </a:r>
          </a:p>
          <a:p>
            <a:pPr marL="800100" lvl="1" indent="-342900" algn="just">
              <a:buFont typeface="Wingdings" panose="05000000000000000000" pitchFamily="2" charset="2"/>
              <a:buChar char="q"/>
            </a:pPr>
            <a:r>
              <a:rPr lang="en-US" sz="2000" dirty="0" smtClean="0"/>
              <a:t>The </a:t>
            </a:r>
            <a:r>
              <a:rPr lang="en-US" sz="2000" dirty="0"/>
              <a:t>next piece is the </a:t>
            </a:r>
            <a:r>
              <a:rPr lang="en-US" sz="2000" dirty="0" err="1"/>
              <a:t>bondwire</a:t>
            </a:r>
            <a:r>
              <a:rPr lang="en-US" sz="2000" dirty="0"/>
              <a:t> - metal interconnect between the chip and package. </a:t>
            </a:r>
            <a:r>
              <a:rPr lang="en-US" sz="2000" dirty="0" err="1"/>
              <a:t>Bondwires</a:t>
            </a:r>
            <a:r>
              <a:rPr lang="en-US" sz="2000" dirty="0"/>
              <a:t> are typically made of gold to achieve low resistance </a:t>
            </a:r>
            <a:r>
              <a:rPr lang="en-US" sz="2000" dirty="0" smtClean="0"/>
              <a:t>(≈</a:t>
            </a:r>
            <a:r>
              <a:rPr lang="en-US" sz="2000" dirty="0"/>
              <a:t>50</a:t>
            </a:r>
            <a:r>
              <a:rPr lang="en-US" sz="2000" i="1" dirty="0"/>
              <a:t>m</a:t>
            </a:r>
            <a:r>
              <a:rPr lang="en-US" sz="2000" dirty="0"/>
              <a:t>Ω/</a:t>
            </a:r>
            <a:r>
              <a:rPr lang="en-US" sz="2000" i="1" dirty="0"/>
              <a:t>mm</a:t>
            </a:r>
            <a:r>
              <a:rPr lang="en-US" sz="2000" dirty="0"/>
              <a:t>). </a:t>
            </a:r>
            <a:endParaRPr lang="en-US" sz="2000" dirty="0" smtClean="0"/>
          </a:p>
          <a:p>
            <a:pPr marL="800100" lvl="1" indent="-342900" algn="just">
              <a:buFont typeface="Wingdings" panose="05000000000000000000" pitchFamily="2" charset="2"/>
              <a:buChar char="q"/>
            </a:pPr>
            <a:r>
              <a:rPr lang="en-US" sz="2000" dirty="0" smtClean="0"/>
              <a:t>However</a:t>
            </a:r>
            <a:r>
              <a:rPr lang="en-US" sz="2000" dirty="0"/>
              <a:t>, due to relatively big length, the </a:t>
            </a:r>
            <a:r>
              <a:rPr lang="en-US" sz="2000" dirty="0" err="1"/>
              <a:t>bondwire</a:t>
            </a:r>
            <a:r>
              <a:rPr lang="en-US" sz="2000" dirty="0"/>
              <a:t> brings a significant inductance to the picture </a:t>
            </a:r>
            <a:r>
              <a:rPr lang="en-US" sz="2000" dirty="0" smtClean="0"/>
              <a:t>(≈</a:t>
            </a:r>
            <a:r>
              <a:rPr lang="en-US" sz="2000" dirty="0"/>
              <a:t>1</a:t>
            </a:r>
            <a:r>
              <a:rPr lang="en-US" sz="2000" i="1" dirty="0"/>
              <a:t>nH</a:t>
            </a:r>
            <a:r>
              <a:rPr lang="en-US" sz="2000" dirty="0"/>
              <a:t>/</a:t>
            </a:r>
            <a:r>
              <a:rPr lang="en-US" sz="2000" i="1" dirty="0"/>
              <a:t>mm</a:t>
            </a:r>
            <a:r>
              <a:rPr lang="en-US" sz="2000" dirty="0"/>
              <a:t>) and it has to be taken into </a:t>
            </a:r>
            <a:r>
              <a:rPr lang="en-US" sz="2000" dirty="0" smtClean="0"/>
              <a:t>account.</a:t>
            </a:r>
            <a:endParaRPr lang="en-US" sz="2000" dirty="0"/>
          </a:p>
        </p:txBody>
      </p:sp>
      <p:sp>
        <p:nvSpPr>
          <p:cNvPr id="4" name="Footer Placeholder 3"/>
          <p:cNvSpPr>
            <a:spLocks noGrp="1"/>
          </p:cNvSpPr>
          <p:nvPr>
            <p:ph type="ftr" sz="quarter" idx="5"/>
          </p:nvPr>
        </p:nvSpPr>
        <p:spPr>
          <a:xfrm>
            <a:off x="5421544" y="6420723"/>
            <a:ext cx="1665056" cy="2256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730927" y="641149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464579" y="3261393"/>
            <a:ext cx="9288088" cy="3048029"/>
          </a:xfrm>
          <a:prstGeom prst="rect">
            <a:avLst/>
          </a:prstGeom>
        </p:spPr>
      </p:pic>
    </p:spTree>
    <p:extLst>
      <p:ext uri="{BB962C8B-B14F-4D97-AF65-F5344CB8AC3E}">
        <p14:creationId xmlns:p14="http://schemas.microsoft.com/office/powerpoint/2010/main" val="407925912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a:xfrm>
            <a:off x="5506210" y="6479990"/>
            <a:ext cx="1453389" cy="2510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381000" y="1166157"/>
            <a:ext cx="11531600" cy="4520387"/>
          </a:xfrm>
          <a:prstGeom prst="rect">
            <a:avLst/>
          </a:prstGeom>
        </p:spPr>
      </p:pic>
    </p:spTree>
    <p:extLst>
      <p:ext uri="{BB962C8B-B14F-4D97-AF65-F5344CB8AC3E}">
        <p14:creationId xmlns:p14="http://schemas.microsoft.com/office/powerpoint/2010/main" val="215899341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06981" y="368318"/>
            <a:ext cx="7222634" cy="386411"/>
          </a:xfrm>
          <a:prstGeom prst="rect">
            <a:avLst/>
          </a:prstGeom>
        </p:spPr>
        <p:txBody>
          <a:bodyPr vert="horz" wrap="square" lIns="0" tIns="8659" rIns="0" bIns="0" rtlCol="0">
            <a:spAutoFit/>
          </a:bodyPr>
          <a:lstStyle/>
          <a:p>
            <a:pPr marL="8659">
              <a:spcBef>
                <a:spcPts val="68"/>
              </a:spcBef>
            </a:pPr>
            <a:r>
              <a:rPr sz="2454" i="1" dirty="0"/>
              <a:t>Digital</a:t>
            </a:r>
            <a:r>
              <a:rPr sz="2454" i="1" spc="-48" dirty="0"/>
              <a:t> </a:t>
            </a:r>
            <a:r>
              <a:rPr sz="2454" spc="-17" dirty="0"/>
              <a:t>LDO</a:t>
            </a:r>
            <a:endParaRPr sz="2454" dirty="0"/>
          </a:p>
        </p:txBody>
      </p:sp>
      <p:sp>
        <p:nvSpPr>
          <p:cNvPr id="3" name="object 3"/>
          <p:cNvSpPr txBox="1"/>
          <p:nvPr/>
        </p:nvSpPr>
        <p:spPr>
          <a:xfrm>
            <a:off x="7300439" y="4112760"/>
            <a:ext cx="3826885" cy="651315"/>
          </a:xfrm>
          <a:prstGeom prst="rect">
            <a:avLst/>
          </a:prstGeom>
        </p:spPr>
        <p:txBody>
          <a:bodyPr vert="horz" wrap="square" lIns="0" tIns="45893" rIns="0" bIns="0" rtlCol="0">
            <a:spAutoFit/>
          </a:bodyPr>
          <a:lstStyle/>
          <a:p>
            <a:pPr marL="329037" marR="0" lvl="0" indent="-320378" algn="l" defTabSz="914400" rtl="0" eaLnBrk="1" fontAlgn="auto" latinLnBrk="0" hangingPunct="1">
              <a:lnSpc>
                <a:spcPct val="100000"/>
              </a:lnSpc>
              <a:spcBef>
                <a:spcPts val="361"/>
              </a:spcBef>
              <a:spcAft>
                <a:spcPts val="0"/>
              </a:spcAft>
              <a:buClr>
                <a:srgbClr val="CC0000"/>
              </a:buClr>
              <a:buSzTx/>
              <a:buFont typeface="Wingdings"/>
              <a:buChar char=""/>
              <a:tabLst>
                <a:tab pos="329037"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Digital</a:t>
            </a:r>
            <a:r>
              <a:rPr kumimoji="0" sz="1227" b="0" i="0" u="none" strike="noStrike" kern="1200" cap="none" spc="-20"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control,</a:t>
            </a:r>
            <a:r>
              <a:rPr kumimoji="0" sz="1227" b="0" i="0" u="none" strike="noStrike" kern="1200" cap="none" spc="-3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sandwiched</a:t>
            </a:r>
            <a:r>
              <a:rPr kumimoji="0" sz="1227" b="0" i="0" u="none" strike="noStrike" kern="1200" cap="none" spc="-3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by</a:t>
            </a:r>
            <a:r>
              <a:rPr kumimoji="0" sz="1227" b="0" i="0" u="none" strike="noStrike" kern="1200" cap="none" spc="-3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ADC</a:t>
            </a:r>
            <a:r>
              <a:rPr kumimoji="0" sz="1227" b="0" i="0" u="none" strike="noStrike" kern="1200" cap="none" spc="-3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and</a:t>
            </a:r>
            <a:r>
              <a:rPr kumimoji="0" sz="1227" b="0" i="0" u="none" strike="noStrike" kern="1200" cap="none" spc="-34" normalizeH="0" baseline="0" noProof="0" dirty="0">
                <a:ln>
                  <a:noFill/>
                </a:ln>
                <a:solidFill>
                  <a:prstClr val="black"/>
                </a:solidFill>
                <a:effectLst/>
                <a:uLnTx/>
                <a:uFillTx/>
                <a:latin typeface="Verdana"/>
                <a:ea typeface="+mn-ea"/>
                <a:cs typeface="Verdana"/>
              </a:rPr>
              <a:t> </a:t>
            </a:r>
            <a:r>
              <a:rPr kumimoji="0" sz="1227" b="0" i="0" u="none" strike="noStrike" kern="1200" cap="none" spc="-17" normalizeH="0" baseline="0" noProof="0" dirty="0">
                <a:ln>
                  <a:noFill/>
                </a:ln>
                <a:solidFill>
                  <a:prstClr val="black"/>
                </a:solidFill>
                <a:effectLst/>
                <a:uLnTx/>
                <a:uFillTx/>
                <a:latin typeface="Verdana"/>
                <a:ea typeface="+mn-ea"/>
                <a:cs typeface="Verdana"/>
              </a:rPr>
              <a:t>DAC</a:t>
            </a:r>
            <a:endParaRPr kumimoji="0" sz="1227" b="0" i="0" u="none" strike="noStrike" kern="1200" cap="none" spc="0" normalizeH="0" baseline="0" noProof="0">
              <a:ln>
                <a:noFill/>
              </a:ln>
              <a:solidFill>
                <a:prstClr val="black"/>
              </a:solidFill>
              <a:effectLst/>
              <a:uLnTx/>
              <a:uFillTx/>
              <a:latin typeface="Verdana"/>
              <a:ea typeface="+mn-ea"/>
              <a:cs typeface="Verdana"/>
            </a:endParaRPr>
          </a:p>
          <a:p>
            <a:pPr marL="329037" marR="448529" lvl="0" indent="-320810" algn="l" defTabSz="914400" rtl="0" eaLnBrk="1" fontAlgn="auto" latinLnBrk="0" hangingPunct="1">
              <a:lnSpc>
                <a:spcPct val="100000"/>
              </a:lnSpc>
              <a:spcBef>
                <a:spcPts val="293"/>
              </a:spcBef>
              <a:spcAft>
                <a:spcPts val="0"/>
              </a:spcAft>
              <a:buClr>
                <a:srgbClr val="CC0000"/>
              </a:buClr>
              <a:buSzTx/>
              <a:buFont typeface="Wingdings"/>
              <a:buChar char=""/>
              <a:tabLst>
                <a:tab pos="329037"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ADC:</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analog</a:t>
            </a:r>
            <a:r>
              <a:rPr kumimoji="0" sz="1227" b="0" i="0" u="none" strike="noStrike" kern="1200" cap="none" spc="-2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to</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digital</a:t>
            </a:r>
            <a:r>
              <a:rPr kumimoji="0" sz="1227" b="0" i="0" u="none" strike="noStrike" kern="1200" cap="none" spc="-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converter,</a:t>
            </a:r>
            <a:r>
              <a:rPr kumimoji="0" sz="1227" b="0" i="0" u="none" strike="noStrike" kern="1200" cap="none" spc="-37" normalizeH="0" baseline="0" noProof="0" dirty="0">
                <a:ln>
                  <a:noFill/>
                </a:ln>
                <a:solidFill>
                  <a:prstClr val="black"/>
                </a:solidFill>
                <a:effectLst/>
                <a:uLnTx/>
                <a:uFillTx/>
                <a:latin typeface="Verdana"/>
                <a:ea typeface="+mn-ea"/>
                <a:cs typeface="Verdana"/>
              </a:rPr>
              <a:t> </a:t>
            </a:r>
            <a:r>
              <a:rPr kumimoji="0" sz="1227" b="0" i="0" u="none" strike="noStrike" kern="1200" cap="none" spc="-14" normalizeH="0" baseline="0" noProof="0" dirty="0">
                <a:ln>
                  <a:noFill/>
                </a:ln>
                <a:solidFill>
                  <a:prstClr val="black"/>
                </a:solidFill>
                <a:effectLst/>
                <a:uLnTx/>
                <a:uFillTx/>
                <a:latin typeface="Verdana"/>
                <a:ea typeface="+mn-ea"/>
                <a:cs typeface="Verdana"/>
              </a:rPr>
              <a:t>DAC: </a:t>
            </a:r>
            <a:r>
              <a:rPr kumimoji="0" sz="1227" b="0" i="0" u="none" strike="noStrike" kern="1200" cap="none" spc="0" normalizeH="0" baseline="0" noProof="0" dirty="0">
                <a:ln>
                  <a:noFill/>
                </a:ln>
                <a:solidFill>
                  <a:prstClr val="black"/>
                </a:solidFill>
                <a:effectLst/>
                <a:uLnTx/>
                <a:uFillTx/>
                <a:latin typeface="Verdana"/>
                <a:ea typeface="+mn-ea"/>
                <a:cs typeface="Verdana"/>
              </a:rPr>
              <a:t>digital</a:t>
            </a:r>
            <a:r>
              <a:rPr kumimoji="0" sz="1227" b="0" i="0" u="none" strike="noStrike" kern="1200" cap="none" spc="-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to</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analog</a:t>
            </a:r>
            <a:r>
              <a:rPr kumimoji="0" sz="1227" b="0" i="0" u="none" strike="noStrike" kern="1200" cap="none" spc="-27"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converter</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grpSp>
        <p:nvGrpSpPr>
          <p:cNvPr id="4" name="object 4"/>
          <p:cNvGrpSpPr/>
          <p:nvPr/>
        </p:nvGrpSpPr>
        <p:grpSpPr>
          <a:xfrm>
            <a:off x="3358371" y="2416653"/>
            <a:ext cx="296141" cy="466725"/>
            <a:chOff x="3934205" y="2634995"/>
            <a:chExt cx="434340" cy="684530"/>
          </a:xfrm>
        </p:grpSpPr>
        <p:sp>
          <p:nvSpPr>
            <p:cNvPr id="5" name="object 5"/>
            <p:cNvSpPr/>
            <p:nvPr/>
          </p:nvSpPr>
          <p:spPr>
            <a:xfrm>
              <a:off x="4206239" y="2872739"/>
              <a:ext cx="119380" cy="234950"/>
            </a:xfrm>
            <a:custGeom>
              <a:avLst/>
              <a:gdLst/>
              <a:ahLst/>
              <a:cxnLst/>
              <a:rect l="l" t="t" r="r" b="b"/>
              <a:pathLst>
                <a:path w="119379" h="234950">
                  <a:moveTo>
                    <a:pt x="0" y="234696"/>
                  </a:moveTo>
                  <a:lnTo>
                    <a:pt x="0" y="0"/>
                  </a:lnTo>
                </a:path>
                <a:path w="119379" h="234950">
                  <a:moveTo>
                    <a:pt x="0" y="234696"/>
                  </a:moveTo>
                  <a:lnTo>
                    <a:pt x="118872" y="234696"/>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4206239" y="2872739"/>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p:nvPr/>
          </p:nvSpPr>
          <p:spPr>
            <a:xfrm>
              <a:off x="4325111" y="2678429"/>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 name="object 8"/>
            <p:cNvSpPr/>
            <p:nvPr/>
          </p:nvSpPr>
          <p:spPr>
            <a:xfrm>
              <a:off x="4281683" y="2634995"/>
              <a:ext cx="86995" cy="86995"/>
            </a:xfrm>
            <a:custGeom>
              <a:avLst/>
              <a:gdLst/>
              <a:ahLst/>
              <a:cxnLst/>
              <a:rect l="l" t="t" r="r" b="b"/>
              <a:pathLst>
                <a:path w="86995" h="86994">
                  <a:moveTo>
                    <a:pt x="43421" y="0"/>
                  </a:moveTo>
                  <a:lnTo>
                    <a:pt x="26519" y="3412"/>
                  </a:lnTo>
                  <a:lnTo>
                    <a:pt x="12714" y="12720"/>
                  </a:lnTo>
                  <a:lnTo>
                    <a:pt x="3407" y="26526"/>
                  </a:lnTo>
                  <a:lnTo>
                    <a:pt x="0" y="43433"/>
                  </a:lnTo>
                  <a:lnTo>
                    <a:pt x="3412" y="60341"/>
                  </a:lnTo>
                  <a:lnTo>
                    <a:pt x="12720" y="74147"/>
                  </a:lnTo>
                  <a:lnTo>
                    <a:pt x="26526" y="83455"/>
                  </a:lnTo>
                  <a:lnTo>
                    <a:pt x="43434" y="86867"/>
                  </a:lnTo>
                  <a:lnTo>
                    <a:pt x="60341" y="83455"/>
                  </a:lnTo>
                  <a:lnTo>
                    <a:pt x="74147" y="74147"/>
                  </a:lnTo>
                  <a:lnTo>
                    <a:pt x="83455" y="60341"/>
                  </a:lnTo>
                  <a:lnTo>
                    <a:pt x="86868" y="43433"/>
                  </a:lnTo>
                  <a:lnTo>
                    <a:pt x="83447" y="26526"/>
                  </a:lnTo>
                  <a:lnTo>
                    <a:pt x="74136" y="12720"/>
                  </a:lnTo>
                  <a:lnTo>
                    <a:pt x="60328" y="3412"/>
                  </a:lnTo>
                  <a:lnTo>
                    <a:pt x="43421"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9" name="object 9"/>
            <p:cNvSpPr/>
            <p:nvPr/>
          </p:nvSpPr>
          <p:spPr>
            <a:xfrm>
              <a:off x="4325111" y="3108959"/>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10" name="object 10"/>
            <p:cNvPicPr/>
            <p:nvPr/>
          </p:nvPicPr>
          <p:blipFill>
            <a:blip r:embed="rId2" cstate="print"/>
            <a:stretch>
              <a:fillRect/>
            </a:stretch>
          </p:blipFill>
          <p:spPr>
            <a:xfrm>
              <a:off x="3934205" y="2876549"/>
              <a:ext cx="208788" cy="233934"/>
            </a:xfrm>
            <a:prstGeom prst="rect">
              <a:avLst/>
            </a:prstGeom>
          </p:spPr>
        </p:pic>
      </p:grpSp>
      <p:sp>
        <p:nvSpPr>
          <p:cNvPr id="11" name="object 11"/>
          <p:cNvSpPr txBox="1"/>
          <p:nvPr/>
        </p:nvSpPr>
        <p:spPr>
          <a:xfrm>
            <a:off x="3487751" y="2221899"/>
            <a:ext cx="253278"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5" normalizeH="0" baseline="13888" noProof="0" dirty="0">
                <a:ln>
                  <a:noFill/>
                </a:ln>
                <a:solidFill>
                  <a:prstClr val="black"/>
                </a:solidFill>
                <a:effectLst/>
                <a:uLnTx/>
                <a:uFillTx/>
                <a:latin typeface="Verdana"/>
                <a:ea typeface="+mn-ea"/>
                <a:cs typeface="Verdana"/>
              </a:rPr>
              <a:t>V</a:t>
            </a:r>
            <a:r>
              <a:rPr kumimoji="0" sz="818" b="0" i="0" u="none" strike="noStrike" kern="1200" cap="none" spc="-17" normalizeH="0" baseline="0" noProof="0" dirty="0">
                <a:ln>
                  <a:noFill/>
                </a:ln>
                <a:solidFill>
                  <a:prstClr val="black"/>
                </a:solidFill>
                <a:effectLst/>
                <a:uLnTx/>
                <a:uFillTx/>
                <a:latin typeface="Verdana"/>
                <a:ea typeface="+mn-ea"/>
                <a:cs typeface="Verdana"/>
              </a:rPr>
              <a:t>in</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grpSp>
        <p:nvGrpSpPr>
          <p:cNvPr id="12" name="object 12"/>
          <p:cNvGrpSpPr/>
          <p:nvPr/>
        </p:nvGrpSpPr>
        <p:grpSpPr>
          <a:xfrm>
            <a:off x="2939618" y="3530558"/>
            <a:ext cx="209983" cy="513917"/>
            <a:chOff x="3320034" y="4268723"/>
            <a:chExt cx="307975" cy="753745"/>
          </a:xfrm>
        </p:grpSpPr>
        <p:sp>
          <p:nvSpPr>
            <p:cNvPr id="13" name="object 13"/>
            <p:cNvSpPr/>
            <p:nvPr/>
          </p:nvSpPr>
          <p:spPr>
            <a:xfrm>
              <a:off x="3473196" y="4277867"/>
              <a:ext cx="0" cy="511809"/>
            </a:xfrm>
            <a:custGeom>
              <a:avLst/>
              <a:gdLst/>
              <a:ahLst/>
              <a:cxnLst/>
              <a:rect l="l" t="t" r="r" b="b"/>
              <a:pathLst>
                <a:path h="511810">
                  <a:moveTo>
                    <a:pt x="0" y="511301"/>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4" name="object 14"/>
            <p:cNvSpPr/>
            <p:nvPr/>
          </p:nvSpPr>
          <p:spPr>
            <a:xfrm>
              <a:off x="3320034" y="4283201"/>
              <a:ext cx="307975" cy="0"/>
            </a:xfrm>
            <a:custGeom>
              <a:avLst/>
              <a:gdLst/>
              <a:ahLst/>
              <a:cxnLst/>
              <a:rect l="l" t="t" r="r" b="b"/>
              <a:pathLst>
                <a:path w="307975">
                  <a:moveTo>
                    <a:pt x="307848" y="0"/>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5" name="object 15"/>
            <p:cNvSpPr/>
            <p:nvPr/>
          </p:nvSpPr>
          <p:spPr>
            <a:xfrm>
              <a:off x="3355848" y="4908041"/>
              <a:ext cx="234950" cy="0"/>
            </a:xfrm>
            <a:custGeom>
              <a:avLst/>
              <a:gdLst/>
              <a:ahLst/>
              <a:cxnLst/>
              <a:rect l="l" t="t" r="r" b="b"/>
              <a:pathLst>
                <a:path w="234950">
                  <a:moveTo>
                    <a:pt x="0" y="0"/>
                  </a:moveTo>
                  <a:lnTo>
                    <a:pt x="23469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6"/>
            <p:cNvSpPr/>
            <p:nvPr/>
          </p:nvSpPr>
          <p:spPr>
            <a:xfrm>
              <a:off x="3414522" y="4957571"/>
              <a:ext cx="116205" cy="0"/>
            </a:xfrm>
            <a:custGeom>
              <a:avLst/>
              <a:gdLst/>
              <a:ahLst/>
              <a:cxnLst/>
              <a:rect l="l" t="t" r="r" b="b"/>
              <a:pathLst>
                <a:path w="116204">
                  <a:moveTo>
                    <a:pt x="0" y="0"/>
                  </a:moveTo>
                  <a:lnTo>
                    <a:pt x="115823"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7" name="object 17"/>
            <p:cNvSpPr/>
            <p:nvPr/>
          </p:nvSpPr>
          <p:spPr>
            <a:xfrm>
              <a:off x="3441954" y="5007863"/>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8" name="object 18"/>
            <p:cNvSpPr/>
            <p:nvPr/>
          </p:nvSpPr>
          <p:spPr>
            <a:xfrm>
              <a:off x="3473196" y="4711445"/>
              <a:ext cx="0" cy="196850"/>
            </a:xfrm>
            <a:custGeom>
              <a:avLst/>
              <a:gdLst/>
              <a:ahLst/>
              <a:cxnLst/>
              <a:rect l="l" t="t" r="r" b="b"/>
              <a:pathLst>
                <a:path h="196850">
                  <a:moveTo>
                    <a:pt x="0" y="196595"/>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9" name="object 19"/>
          <p:cNvGrpSpPr/>
          <p:nvPr/>
        </p:nvGrpSpPr>
        <p:grpSpPr>
          <a:xfrm>
            <a:off x="2052147" y="2408774"/>
            <a:ext cx="1667741" cy="1635702"/>
            <a:chOff x="2018410" y="2623439"/>
            <a:chExt cx="2446020" cy="2399030"/>
          </a:xfrm>
        </p:grpSpPr>
        <p:sp>
          <p:nvSpPr>
            <p:cNvPr id="20" name="object 20"/>
            <p:cNvSpPr/>
            <p:nvPr/>
          </p:nvSpPr>
          <p:spPr>
            <a:xfrm>
              <a:off x="2937509" y="2638044"/>
              <a:ext cx="546100" cy="704215"/>
            </a:xfrm>
            <a:custGeom>
              <a:avLst/>
              <a:gdLst/>
              <a:ahLst/>
              <a:cxnLst/>
              <a:rect l="l" t="t" r="r" b="b"/>
              <a:pathLst>
                <a:path w="546100" h="704214">
                  <a:moveTo>
                    <a:pt x="0" y="0"/>
                  </a:moveTo>
                  <a:lnTo>
                    <a:pt x="545592" y="352044"/>
                  </a:lnTo>
                  <a:lnTo>
                    <a:pt x="0" y="704088"/>
                  </a:lnTo>
                  <a:lnTo>
                    <a:pt x="0" y="0"/>
                  </a:lnTo>
                  <a:close/>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1" name="object 21"/>
            <p:cNvSpPr/>
            <p:nvPr/>
          </p:nvSpPr>
          <p:spPr>
            <a:xfrm>
              <a:off x="3473957" y="2992374"/>
              <a:ext cx="464820" cy="0"/>
            </a:xfrm>
            <a:custGeom>
              <a:avLst/>
              <a:gdLst/>
              <a:ahLst/>
              <a:cxnLst/>
              <a:rect l="l" t="t" r="r" b="b"/>
              <a:pathLst>
                <a:path w="464820">
                  <a:moveTo>
                    <a:pt x="0" y="0"/>
                  </a:moveTo>
                  <a:lnTo>
                    <a:pt x="46482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2" name="object 22"/>
            <p:cNvSpPr/>
            <p:nvPr/>
          </p:nvSpPr>
          <p:spPr>
            <a:xfrm>
              <a:off x="2033015" y="2718054"/>
              <a:ext cx="886460" cy="0"/>
            </a:xfrm>
            <a:custGeom>
              <a:avLst/>
              <a:gdLst/>
              <a:ahLst/>
              <a:cxnLst/>
              <a:rect l="l" t="t" r="r" b="b"/>
              <a:pathLst>
                <a:path w="886460">
                  <a:moveTo>
                    <a:pt x="0" y="0"/>
                  </a:moveTo>
                  <a:lnTo>
                    <a:pt x="88620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3" name="object 23"/>
            <p:cNvSpPr/>
            <p:nvPr/>
          </p:nvSpPr>
          <p:spPr>
            <a:xfrm>
              <a:off x="3473195" y="3692652"/>
              <a:ext cx="0" cy="508000"/>
            </a:xfrm>
            <a:custGeom>
              <a:avLst/>
              <a:gdLst/>
              <a:ahLst/>
              <a:cxnLst/>
              <a:rect l="l" t="t" r="r" b="b"/>
              <a:pathLst>
                <a:path h="508000">
                  <a:moveTo>
                    <a:pt x="0" y="507492"/>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24" name="object 24"/>
            <p:cNvPicPr/>
            <p:nvPr/>
          </p:nvPicPr>
          <p:blipFill>
            <a:blip r:embed="rId3" cstate="print"/>
            <a:stretch>
              <a:fillRect/>
            </a:stretch>
          </p:blipFill>
          <p:spPr>
            <a:xfrm>
              <a:off x="3429756" y="3649218"/>
              <a:ext cx="86868" cy="86868"/>
            </a:xfrm>
            <a:prstGeom prst="rect">
              <a:avLst/>
            </a:prstGeom>
          </p:spPr>
        </p:pic>
        <p:sp>
          <p:nvSpPr>
            <p:cNvPr id="25" name="object 25"/>
            <p:cNvSpPr/>
            <p:nvPr/>
          </p:nvSpPr>
          <p:spPr>
            <a:xfrm>
              <a:off x="3320033" y="4202430"/>
              <a:ext cx="307975" cy="0"/>
            </a:xfrm>
            <a:custGeom>
              <a:avLst/>
              <a:gdLst/>
              <a:ahLst/>
              <a:cxnLst/>
              <a:rect l="l" t="t" r="r" b="b"/>
              <a:pathLst>
                <a:path w="307975">
                  <a:moveTo>
                    <a:pt x="307848" y="0"/>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6" name="object 26"/>
            <p:cNvSpPr/>
            <p:nvPr/>
          </p:nvSpPr>
          <p:spPr>
            <a:xfrm>
              <a:off x="4325111" y="3278124"/>
              <a:ext cx="5080" cy="741045"/>
            </a:xfrm>
            <a:custGeom>
              <a:avLst/>
              <a:gdLst/>
              <a:ahLst/>
              <a:cxnLst/>
              <a:rect l="l" t="t" r="r" b="b"/>
              <a:pathLst>
                <a:path w="5079" h="741045">
                  <a:moveTo>
                    <a:pt x="0" y="0"/>
                  </a:moveTo>
                  <a:lnTo>
                    <a:pt x="4572" y="740664"/>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7" name="object 27"/>
            <p:cNvSpPr/>
            <p:nvPr/>
          </p:nvSpPr>
          <p:spPr>
            <a:xfrm>
              <a:off x="2497835" y="3675888"/>
              <a:ext cx="1832610" cy="12700"/>
            </a:xfrm>
            <a:custGeom>
              <a:avLst/>
              <a:gdLst/>
              <a:ahLst/>
              <a:cxnLst/>
              <a:rect l="l" t="t" r="r" b="b"/>
              <a:pathLst>
                <a:path w="1832610" h="12700">
                  <a:moveTo>
                    <a:pt x="0" y="12192"/>
                  </a:moveTo>
                  <a:lnTo>
                    <a:pt x="183261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28" name="object 28"/>
            <p:cNvPicPr/>
            <p:nvPr/>
          </p:nvPicPr>
          <p:blipFill>
            <a:blip r:embed="rId4" cstate="print"/>
            <a:stretch>
              <a:fillRect/>
            </a:stretch>
          </p:blipFill>
          <p:spPr>
            <a:xfrm>
              <a:off x="4287011" y="3632450"/>
              <a:ext cx="86867" cy="86867"/>
            </a:xfrm>
            <a:prstGeom prst="rect">
              <a:avLst/>
            </a:prstGeom>
          </p:spPr>
        </p:pic>
        <p:sp>
          <p:nvSpPr>
            <p:cNvPr id="29" name="object 29"/>
            <p:cNvSpPr/>
            <p:nvPr/>
          </p:nvSpPr>
          <p:spPr>
            <a:xfrm>
              <a:off x="2497835" y="3248406"/>
              <a:ext cx="3175" cy="449580"/>
            </a:xfrm>
            <a:custGeom>
              <a:avLst/>
              <a:gdLst/>
              <a:ahLst/>
              <a:cxnLst/>
              <a:rect l="l" t="t" r="r" b="b"/>
              <a:pathLst>
                <a:path w="3175" h="449579">
                  <a:moveTo>
                    <a:pt x="0" y="0"/>
                  </a:moveTo>
                  <a:lnTo>
                    <a:pt x="3048" y="44958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0" name="object 30"/>
            <p:cNvSpPr/>
            <p:nvPr/>
          </p:nvSpPr>
          <p:spPr>
            <a:xfrm>
              <a:off x="2497073" y="3256788"/>
              <a:ext cx="440690" cy="0"/>
            </a:xfrm>
            <a:custGeom>
              <a:avLst/>
              <a:gdLst/>
              <a:ahLst/>
              <a:cxnLst/>
              <a:rect l="l" t="t" r="r" b="b"/>
              <a:pathLst>
                <a:path w="440689">
                  <a:moveTo>
                    <a:pt x="0" y="0"/>
                  </a:moveTo>
                  <a:lnTo>
                    <a:pt x="44043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1" name="object 31"/>
            <p:cNvSpPr/>
            <p:nvPr/>
          </p:nvSpPr>
          <p:spPr>
            <a:xfrm>
              <a:off x="4331969" y="4500372"/>
              <a:ext cx="0" cy="243204"/>
            </a:xfrm>
            <a:custGeom>
              <a:avLst/>
              <a:gdLst/>
              <a:ahLst/>
              <a:cxnLst/>
              <a:rect l="l" t="t" r="r" b="b"/>
              <a:pathLst>
                <a:path h="243204">
                  <a:moveTo>
                    <a:pt x="0" y="0"/>
                  </a:moveTo>
                  <a:lnTo>
                    <a:pt x="0" y="243078"/>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2" name="object 32"/>
            <p:cNvSpPr/>
            <p:nvPr/>
          </p:nvSpPr>
          <p:spPr>
            <a:xfrm>
              <a:off x="4215383" y="4908042"/>
              <a:ext cx="234315" cy="0"/>
            </a:xfrm>
            <a:custGeom>
              <a:avLst/>
              <a:gdLst/>
              <a:ahLst/>
              <a:cxnLst/>
              <a:rect l="l" t="t" r="r" b="b"/>
              <a:pathLst>
                <a:path w="234314">
                  <a:moveTo>
                    <a:pt x="0" y="0"/>
                  </a:moveTo>
                  <a:lnTo>
                    <a:pt x="23393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3" name="object 33"/>
            <p:cNvSpPr/>
            <p:nvPr/>
          </p:nvSpPr>
          <p:spPr>
            <a:xfrm>
              <a:off x="4274057" y="4957572"/>
              <a:ext cx="115570" cy="0"/>
            </a:xfrm>
            <a:custGeom>
              <a:avLst/>
              <a:gdLst/>
              <a:ahLst/>
              <a:cxnLst/>
              <a:rect l="l" t="t" r="r" b="b"/>
              <a:pathLst>
                <a:path w="115570">
                  <a:moveTo>
                    <a:pt x="0" y="0"/>
                  </a:moveTo>
                  <a:lnTo>
                    <a:pt x="11506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4" name="object 34"/>
            <p:cNvSpPr/>
            <p:nvPr/>
          </p:nvSpPr>
          <p:spPr>
            <a:xfrm>
              <a:off x="4301489" y="5007864"/>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5" name="object 35"/>
            <p:cNvSpPr/>
            <p:nvPr/>
          </p:nvSpPr>
          <p:spPr>
            <a:xfrm>
              <a:off x="4332731" y="4711446"/>
              <a:ext cx="0" cy="196850"/>
            </a:xfrm>
            <a:custGeom>
              <a:avLst/>
              <a:gdLst/>
              <a:ahLst/>
              <a:cxnLst/>
              <a:rect l="l" t="t" r="r" b="b"/>
              <a:pathLst>
                <a:path h="196850">
                  <a:moveTo>
                    <a:pt x="0" y="196595"/>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36" name="object 36"/>
          <p:cNvSpPr txBox="1"/>
          <p:nvPr/>
        </p:nvSpPr>
        <p:spPr>
          <a:xfrm>
            <a:off x="3642080" y="3040773"/>
            <a:ext cx="328613"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0" normalizeH="0" baseline="13888" noProof="0" dirty="0">
                <a:ln>
                  <a:noFill/>
                </a:ln>
                <a:solidFill>
                  <a:prstClr val="black"/>
                </a:solidFill>
                <a:effectLst/>
                <a:uLnTx/>
                <a:uFillTx/>
                <a:latin typeface="Verdana"/>
                <a:ea typeface="+mn-ea"/>
                <a:cs typeface="Verdana"/>
              </a:rPr>
              <a:t>V</a:t>
            </a:r>
            <a:r>
              <a:rPr kumimoji="0" sz="818" b="0" i="0" u="none" strike="noStrike" kern="1200" cap="none" spc="-14" normalizeH="0" baseline="0" noProof="0" dirty="0">
                <a:ln>
                  <a:noFill/>
                </a:ln>
                <a:solidFill>
                  <a:prstClr val="black"/>
                </a:solidFill>
                <a:effectLst/>
                <a:uLnTx/>
                <a:uFillTx/>
                <a:latin typeface="Verdana"/>
                <a:ea typeface="+mn-ea"/>
                <a:cs typeface="Verdana"/>
              </a:rPr>
              <a:t>out</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sp>
        <p:nvSpPr>
          <p:cNvPr id="37" name="object 37"/>
          <p:cNvSpPr txBox="1"/>
          <p:nvPr/>
        </p:nvSpPr>
        <p:spPr>
          <a:xfrm>
            <a:off x="2730768" y="2547471"/>
            <a:ext cx="124258" cy="197578"/>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34" normalizeH="0" baseline="0" noProof="0" dirty="0">
                <a:ln>
                  <a:noFill/>
                </a:ln>
                <a:solidFill>
                  <a:prstClr val="black"/>
                </a:solidFill>
                <a:effectLst/>
                <a:uLnTx/>
                <a:uFillTx/>
                <a:latin typeface="Verdana"/>
                <a:ea typeface="+mn-ea"/>
                <a:cs typeface="Verdana"/>
              </a:rPr>
              <a:t>A</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grpSp>
        <p:nvGrpSpPr>
          <p:cNvPr id="38" name="object 38"/>
          <p:cNvGrpSpPr/>
          <p:nvPr/>
        </p:nvGrpSpPr>
        <p:grpSpPr>
          <a:xfrm>
            <a:off x="9210917" y="1902208"/>
            <a:ext cx="276658" cy="1029999"/>
            <a:chOff x="9058656" y="1828673"/>
            <a:chExt cx="405765" cy="1510665"/>
          </a:xfrm>
        </p:grpSpPr>
        <p:sp>
          <p:nvSpPr>
            <p:cNvPr id="39" name="object 39"/>
            <p:cNvSpPr/>
            <p:nvPr/>
          </p:nvSpPr>
          <p:spPr>
            <a:xfrm>
              <a:off x="9330690" y="2037588"/>
              <a:ext cx="119380" cy="234315"/>
            </a:xfrm>
            <a:custGeom>
              <a:avLst/>
              <a:gdLst/>
              <a:ahLst/>
              <a:cxnLst/>
              <a:rect l="l" t="t" r="r" b="b"/>
              <a:pathLst>
                <a:path w="119379" h="234314">
                  <a:moveTo>
                    <a:pt x="0" y="233934"/>
                  </a:moveTo>
                  <a:lnTo>
                    <a:pt x="0" y="0"/>
                  </a:lnTo>
                </a:path>
                <a:path w="119379" h="234314">
                  <a:moveTo>
                    <a:pt x="0" y="233934"/>
                  </a:moveTo>
                  <a:lnTo>
                    <a:pt x="118872" y="233934"/>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0" name="object 40"/>
            <p:cNvSpPr/>
            <p:nvPr/>
          </p:nvSpPr>
          <p:spPr>
            <a:xfrm>
              <a:off x="9330690" y="2037588"/>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1" name="object 41"/>
            <p:cNvSpPr/>
            <p:nvPr/>
          </p:nvSpPr>
          <p:spPr>
            <a:xfrm>
              <a:off x="9449562" y="1843278"/>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2" name="object 42"/>
            <p:cNvSpPr/>
            <p:nvPr/>
          </p:nvSpPr>
          <p:spPr>
            <a:xfrm>
              <a:off x="9449562" y="2273808"/>
              <a:ext cx="0" cy="1050925"/>
            </a:xfrm>
            <a:custGeom>
              <a:avLst/>
              <a:gdLst/>
              <a:ahLst/>
              <a:cxnLst/>
              <a:rect l="l" t="t" r="r" b="b"/>
              <a:pathLst>
                <a:path h="1050925">
                  <a:moveTo>
                    <a:pt x="0" y="1050798"/>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43" name="object 43"/>
            <p:cNvPicPr/>
            <p:nvPr/>
          </p:nvPicPr>
          <p:blipFill>
            <a:blip r:embed="rId2" cstate="print"/>
            <a:stretch>
              <a:fillRect/>
            </a:stretch>
          </p:blipFill>
          <p:spPr>
            <a:xfrm>
              <a:off x="9058656" y="2041398"/>
              <a:ext cx="208787" cy="233934"/>
            </a:xfrm>
            <a:prstGeom prst="rect">
              <a:avLst/>
            </a:prstGeom>
          </p:spPr>
        </p:pic>
      </p:grpSp>
      <p:sp>
        <p:nvSpPr>
          <p:cNvPr id="44" name="object 44"/>
          <p:cNvSpPr txBox="1"/>
          <p:nvPr/>
        </p:nvSpPr>
        <p:spPr>
          <a:xfrm>
            <a:off x="9994991" y="1635338"/>
            <a:ext cx="253278"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5" normalizeH="0" baseline="13888" noProof="0" dirty="0">
                <a:ln>
                  <a:noFill/>
                </a:ln>
                <a:solidFill>
                  <a:prstClr val="black"/>
                </a:solidFill>
                <a:effectLst/>
                <a:uLnTx/>
                <a:uFillTx/>
                <a:latin typeface="Verdana"/>
                <a:ea typeface="+mn-ea"/>
                <a:cs typeface="Verdana"/>
              </a:rPr>
              <a:t>V</a:t>
            </a:r>
            <a:r>
              <a:rPr kumimoji="0" sz="818" b="0" i="0" u="none" strike="noStrike" kern="1200" cap="none" spc="-17" normalizeH="0" baseline="0" noProof="0" dirty="0">
                <a:ln>
                  <a:noFill/>
                </a:ln>
                <a:solidFill>
                  <a:prstClr val="black"/>
                </a:solidFill>
                <a:effectLst/>
                <a:uLnTx/>
                <a:uFillTx/>
                <a:latin typeface="Verdana"/>
                <a:ea typeface="+mn-ea"/>
                <a:cs typeface="Verdana"/>
              </a:rPr>
              <a:t>in</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grpSp>
        <p:nvGrpSpPr>
          <p:cNvPr id="45" name="object 45"/>
          <p:cNvGrpSpPr/>
          <p:nvPr/>
        </p:nvGrpSpPr>
        <p:grpSpPr>
          <a:xfrm>
            <a:off x="8363451" y="1954684"/>
            <a:ext cx="1856509" cy="946006"/>
            <a:chOff x="7815706" y="1905638"/>
            <a:chExt cx="2722880" cy="1387475"/>
          </a:xfrm>
        </p:grpSpPr>
        <p:sp>
          <p:nvSpPr>
            <p:cNvPr id="46" name="object 46"/>
            <p:cNvSpPr/>
            <p:nvPr/>
          </p:nvSpPr>
          <p:spPr>
            <a:xfrm>
              <a:off x="8598407" y="3034283"/>
              <a:ext cx="1925955" cy="1270"/>
            </a:xfrm>
            <a:custGeom>
              <a:avLst/>
              <a:gdLst/>
              <a:ahLst/>
              <a:cxnLst/>
              <a:rect l="l" t="t" r="r" b="b"/>
              <a:pathLst>
                <a:path w="1925954" h="1269">
                  <a:moveTo>
                    <a:pt x="0" y="0"/>
                  </a:moveTo>
                  <a:lnTo>
                    <a:pt x="1925574" y="762"/>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7" name="object 47"/>
            <p:cNvSpPr/>
            <p:nvPr/>
          </p:nvSpPr>
          <p:spPr>
            <a:xfrm>
              <a:off x="7830311" y="1920243"/>
              <a:ext cx="755650" cy="1358265"/>
            </a:xfrm>
            <a:custGeom>
              <a:avLst/>
              <a:gdLst/>
              <a:ahLst/>
              <a:cxnLst/>
              <a:rect l="l" t="t" r="r" b="b"/>
              <a:pathLst>
                <a:path w="755650" h="1358264">
                  <a:moveTo>
                    <a:pt x="0" y="125857"/>
                  </a:moveTo>
                  <a:lnTo>
                    <a:pt x="9890" y="76868"/>
                  </a:lnTo>
                  <a:lnTo>
                    <a:pt x="36863" y="36863"/>
                  </a:lnTo>
                  <a:lnTo>
                    <a:pt x="76868" y="9890"/>
                  </a:lnTo>
                  <a:lnTo>
                    <a:pt x="125857" y="0"/>
                  </a:lnTo>
                  <a:lnTo>
                    <a:pt x="629285" y="0"/>
                  </a:lnTo>
                  <a:lnTo>
                    <a:pt x="678273" y="9890"/>
                  </a:lnTo>
                  <a:lnTo>
                    <a:pt x="718278" y="36863"/>
                  </a:lnTo>
                  <a:lnTo>
                    <a:pt x="745251" y="76868"/>
                  </a:lnTo>
                  <a:lnTo>
                    <a:pt x="755142" y="125857"/>
                  </a:lnTo>
                  <a:lnTo>
                    <a:pt x="755142" y="1232027"/>
                  </a:lnTo>
                  <a:lnTo>
                    <a:pt x="745251" y="1281015"/>
                  </a:lnTo>
                  <a:lnTo>
                    <a:pt x="718278" y="1321020"/>
                  </a:lnTo>
                  <a:lnTo>
                    <a:pt x="678273" y="1347993"/>
                  </a:lnTo>
                  <a:lnTo>
                    <a:pt x="629285" y="1357884"/>
                  </a:lnTo>
                  <a:lnTo>
                    <a:pt x="125857" y="1357884"/>
                  </a:lnTo>
                  <a:lnTo>
                    <a:pt x="76868" y="1347993"/>
                  </a:lnTo>
                  <a:lnTo>
                    <a:pt x="36863" y="1321020"/>
                  </a:lnTo>
                  <a:lnTo>
                    <a:pt x="9890" y="1281015"/>
                  </a:lnTo>
                  <a:lnTo>
                    <a:pt x="0" y="1232027"/>
                  </a:lnTo>
                  <a:lnTo>
                    <a:pt x="0" y="125857"/>
                  </a:lnTo>
                  <a:close/>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48" name="object 48"/>
          <p:cNvSpPr txBox="1"/>
          <p:nvPr/>
        </p:nvSpPr>
        <p:spPr>
          <a:xfrm>
            <a:off x="8555516" y="2135636"/>
            <a:ext cx="188834" cy="584489"/>
          </a:xfrm>
          <a:prstGeom prst="rect">
            <a:avLst/>
          </a:prstGeom>
        </p:spPr>
        <p:txBody>
          <a:bodyPr vert="vert" wrap="square" lIns="0" tIns="9525" rIns="0" bIns="0" rtlCol="0">
            <a:spAutoFit/>
          </a:bodyPr>
          <a:lstStyle/>
          <a:p>
            <a:pPr marL="8659" marR="0" lvl="0" indent="0" algn="l" defTabSz="914400" rtl="0" eaLnBrk="1" fontAlgn="auto" latinLnBrk="0" hangingPunct="1">
              <a:lnSpc>
                <a:spcPct val="100000"/>
              </a:lnSpc>
              <a:spcBef>
                <a:spcPts val="75"/>
              </a:spcBef>
              <a:spcAft>
                <a:spcPts val="0"/>
              </a:spcAft>
              <a:buClrTx/>
              <a:buSzTx/>
              <a:buFontTx/>
              <a:buNone/>
              <a:tabLst/>
              <a:defRPr/>
            </a:pPr>
            <a:r>
              <a:rPr kumimoji="0" sz="1227" b="0" i="0" u="none" strike="noStrike" kern="1200" cap="none" spc="-7" normalizeH="0" baseline="0" noProof="0" dirty="0">
                <a:ln>
                  <a:noFill/>
                </a:ln>
                <a:solidFill>
                  <a:prstClr val="black"/>
                </a:solidFill>
                <a:effectLst/>
                <a:uLnTx/>
                <a:uFillTx/>
                <a:latin typeface="Verdana"/>
                <a:ea typeface="+mn-ea"/>
                <a:cs typeface="Verdana"/>
              </a:rPr>
              <a:t>Control</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49" name="object 49"/>
          <p:cNvSpPr/>
          <p:nvPr/>
        </p:nvSpPr>
        <p:spPr>
          <a:xfrm>
            <a:off x="7549930" y="2614071"/>
            <a:ext cx="299605" cy="2598"/>
          </a:xfrm>
          <a:custGeom>
            <a:avLst/>
            <a:gdLst/>
            <a:ahLst/>
            <a:cxnLst/>
            <a:rect l="l" t="t" r="r" b="b"/>
            <a:pathLst>
              <a:path w="439420" h="3810">
                <a:moveTo>
                  <a:pt x="0" y="0"/>
                </a:moveTo>
                <a:lnTo>
                  <a:pt x="438912" y="381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0" name="object 50"/>
          <p:cNvSpPr txBox="1"/>
          <p:nvPr/>
        </p:nvSpPr>
        <p:spPr>
          <a:xfrm>
            <a:off x="7470745" y="2362343"/>
            <a:ext cx="124258" cy="197578"/>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34" normalizeH="0" baseline="0" noProof="0" dirty="0">
                <a:ln>
                  <a:noFill/>
                </a:ln>
                <a:solidFill>
                  <a:prstClr val="black"/>
                </a:solidFill>
                <a:effectLst/>
                <a:uLnTx/>
                <a:uFillTx/>
                <a:latin typeface="Verdana"/>
                <a:ea typeface="+mn-ea"/>
                <a:cs typeface="Verdana"/>
              </a:rPr>
              <a:t>V</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51" name="object 51"/>
          <p:cNvSpPr txBox="1"/>
          <p:nvPr/>
        </p:nvSpPr>
        <p:spPr>
          <a:xfrm>
            <a:off x="7577252" y="2452744"/>
            <a:ext cx="160193" cy="134612"/>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818" b="0" i="0" u="none" strike="noStrike" kern="1200" cap="none" spc="-17" normalizeH="0" baseline="0" noProof="0" dirty="0">
                <a:ln>
                  <a:noFill/>
                </a:ln>
                <a:solidFill>
                  <a:prstClr val="black"/>
                </a:solidFill>
                <a:effectLst/>
                <a:uLnTx/>
                <a:uFillTx/>
                <a:latin typeface="Verdana"/>
                <a:ea typeface="+mn-ea"/>
                <a:cs typeface="Verdana"/>
              </a:rPr>
              <a:t>ref</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grpSp>
        <p:nvGrpSpPr>
          <p:cNvPr id="52" name="object 52"/>
          <p:cNvGrpSpPr/>
          <p:nvPr/>
        </p:nvGrpSpPr>
        <p:grpSpPr>
          <a:xfrm>
            <a:off x="8792162" y="3593934"/>
            <a:ext cx="210416" cy="513917"/>
            <a:chOff x="8444483" y="4309871"/>
            <a:chExt cx="308610" cy="753745"/>
          </a:xfrm>
        </p:grpSpPr>
        <p:sp>
          <p:nvSpPr>
            <p:cNvPr id="53" name="object 53"/>
            <p:cNvSpPr/>
            <p:nvPr/>
          </p:nvSpPr>
          <p:spPr>
            <a:xfrm>
              <a:off x="8597645" y="4319015"/>
              <a:ext cx="0" cy="511809"/>
            </a:xfrm>
            <a:custGeom>
              <a:avLst/>
              <a:gdLst/>
              <a:ahLst/>
              <a:cxnLst/>
              <a:rect l="l" t="t" r="r" b="b"/>
              <a:pathLst>
                <a:path h="511810">
                  <a:moveTo>
                    <a:pt x="0" y="511301"/>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4" name="object 54"/>
            <p:cNvSpPr/>
            <p:nvPr/>
          </p:nvSpPr>
          <p:spPr>
            <a:xfrm>
              <a:off x="8444483" y="4324349"/>
              <a:ext cx="308610" cy="0"/>
            </a:xfrm>
            <a:custGeom>
              <a:avLst/>
              <a:gdLst/>
              <a:ahLst/>
              <a:cxnLst/>
              <a:rect l="l" t="t" r="r" b="b"/>
              <a:pathLst>
                <a:path w="308609">
                  <a:moveTo>
                    <a:pt x="308609" y="0"/>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5" name="object 55"/>
            <p:cNvSpPr/>
            <p:nvPr/>
          </p:nvSpPr>
          <p:spPr>
            <a:xfrm>
              <a:off x="8480297" y="4949189"/>
              <a:ext cx="234950" cy="0"/>
            </a:xfrm>
            <a:custGeom>
              <a:avLst/>
              <a:gdLst/>
              <a:ahLst/>
              <a:cxnLst/>
              <a:rect l="l" t="t" r="r" b="b"/>
              <a:pathLst>
                <a:path w="234950">
                  <a:moveTo>
                    <a:pt x="0" y="0"/>
                  </a:moveTo>
                  <a:lnTo>
                    <a:pt x="23469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6" name="object 56"/>
            <p:cNvSpPr/>
            <p:nvPr/>
          </p:nvSpPr>
          <p:spPr>
            <a:xfrm>
              <a:off x="8538971" y="4999481"/>
              <a:ext cx="116205" cy="0"/>
            </a:xfrm>
            <a:custGeom>
              <a:avLst/>
              <a:gdLst/>
              <a:ahLst/>
              <a:cxnLst/>
              <a:rect l="l" t="t" r="r" b="b"/>
              <a:pathLst>
                <a:path w="116204">
                  <a:moveTo>
                    <a:pt x="0" y="0"/>
                  </a:moveTo>
                  <a:lnTo>
                    <a:pt x="115823"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7" name="object 57"/>
            <p:cNvSpPr/>
            <p:nvPr/>
          </p:nvSpPr>
          <p:spPr>
            <a:xfrm>
              <a:off x="8566403" y="5049011"/>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8" name="object 58"/>
            <p:cNvSpPr/>
            <p:nvPr/>
          </p:nvSpPr>
          <p:spPr>
            <a:xfrm>
              <a:off x="8597645" y="4753355"/>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object 59"/>
          <p:cNvGrpSpPr/>
          <p:nvPr/>
        </p:nvGrpSpPr>
        <p:grpSpPr>
          <a:xfrm>
            <a:off x="7643966" y="1679409"/>
            <a:ext cx="2861743" cy="2418483"/>
            <a:chOff x="6760463" y="1501902"/>
            <a:chExt cx="4197223" cy="3547109"/>
          </a:xfrm>
        </p:grpSpPr>
        <p:sp>
          <p:nvSpPr>
            <p:cNvPr id="60" name="object 60"/>
            <p:cNvSpPr/>
            <p:nvPr/>
          </p:nvSpPr>
          <p:spPr>
            <a:xfrm>
              <a:off x="8597645" y="3733800"/>
              <a:ext cx="0" cy="508634"/>
            </a:xfrm>
            <a:custGeom>
              <a:avLst/>
              <a:gdLst/>
              <a:ahLst/>
              <a:cxnLst/>
              <a:rect l="l" t="t" r="r" b="b"/>
              <a:pathLst>
                <a:path h="508635">
                  <a:moveTo>
                    <a:pt x="0" y="508254"/>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61" name="object 61"/>
            <p:cNvPicPr/>
            <p:nvPr/>
          </p:nvPicPr>
          <p:blipFill>
            <a:blip r:embed="rId5" cstate="print"/>
            <a:stretch>
              <a:fillRect/>
            </a:stretch>
          </p:blipFill>
          <p:spPr>
            <a:xfrm>
              <a:off x="8554206" y="3690366"/>
              <a:ext cx="86867" cy="86868"/>
            </a:xfrm>
            <a:prstGeom prst="rect">
              <a:avLst/>
            </a:prstGeom>
          </p:spPr>
        </p:pic>
        <p:sp>
          <p:nvSpPr>
            <p:cNvPr id="62" name="object 62"/>
            <p:cNvSpPr/>
            <p:nvPr/>
          </p:nvSpPr>
          <p:spPr>
            <a:xfrm>
              <a:off x="8444483" y="4243578"/>
              <a:ext cx="308610" cy="0"/>
            </a:xfrm>
            <a:custGeom>
              <a:avLst/>
              <a:gdLst/>
              <a:ahLst/>
              <a:cxnLst/>
              <a:rect l="l" t="t" r="r" b="b"/>
              <a:pathLst>
                <a:path w="308609">
                  <a:moveTo>
                    <a:pt x="308609" y="0"/>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63" name="object 63"/>
            <p:cNvSpPr/>
            <p:nvPr/>
          </p:nvSpPr>
          <p:spPr>
            <a:xfrm>
              <a:off x="9449561" y="3319272"/>
              <a:ext cx="5080" cy="741680"/>
            </a:xfrm>
            <a:custGeom>
              <a:avLst/>
              <a:gdLst/>
              <a:ahLst/>
              <a:cxnLst/>
              <a:rect l="l" t="t" r="r" b="b"/>
              <a:pathLst>
                <a:path w="5079" h="741679">
                  <a:moveTo>
                    <a:pt x="0" y="0"/>
                  </a:moveTo>
                  <a:lnTo>
                    <a:pt x="4572" y="741426"/>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64" name="object 64"/>
            <p:cNvSpPr/>
            <p:nvPr/>
          </p:nvSpPr>
          <p:spPr>
            <a:xfrm>
              <a:off x="6760463" y="3717036"/>
              <a:ext cx="2694940" cy="7620"/>
            </a:xfrm>
            <a:custGeom>
              <a:avLst/>
              <a:gdLst/>
              <a:ahLst/>
              <a:cxnLst/>
              <a:rect l="l" t="t" r="r" b="b"/>
              <a:pathLst>
                <a:path w="2694940" h="7620">
                  <a:moveTo>
                    <a:pt x="0" y="7619"/>
                  </a:moveTo>
                  <a:lnTo>
                    <a:pt x="269443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65" name="object 65"/>
            <p:cNvPicPr/>
            <p:nvPr/>
          </p:nvPicPr>
          <p:blipFill>
            <a:blip r:embed="rId6" cstate="print"/>
            <a:stretch>
              <a:fillRect/>
            </a:stretch>
          </p:blipFill>
          <p:spPr>
            <a:xfrm>
              <a:off x="9411461" y="3673598"/>
              <a:ext cx="86868" cy="86867"/>
            </a:xfrm>
            <a:prstGeom prst="rect">
              <a:avLst/>
            </a:prstGeom>
          </p:spPr>
        </p:pic>
        <p:sp>
          <p:nvSpPr>
            <p:cNvPr id="66" name="object 66"/>
            <p:cNvSpPr/>
            <p:nvPr/>
          </p:nvSpPr>
          <p:spPr>
            <a:xfrm>
              <a:off x="6768845" y="3025140"/>
              <a:ext cx="3810" cy="691515"/>
            </a:xfrm>
            <a:custGeom>
              <a:avLst/>
              <a:gdLst/>
              <a:ahLst/>
              <a:cxnLst/>
              <a:rect l="l" t="t" r="r" b="b"/>
              <a:pathLst>
                <a:path w="3809" h="691514">
                  <a:moveTo>
                    <a:pt x="0" y="0"/>
                  </a:moveTo>
                  <a:lnTo>
                    <a:pt x="3810" y="691134"/>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67" name="object 67"/>
            <p:cNvSpPr/>
            <p:nvPr/>
          </p:nvSpPr>
          <p:spPr>
            <a:xfrm>
              <a:off x="7601711" y="3025140"/>
              <a:ext cx="228600" cy="0"/>
            </a:xfrm>
            <a:custGeom>
              <a:avLst/>
              <a:gdLst/>
              <a:ahLst/>
              <a:cxnLst/>
              <a:rect l="l" t="t" r="r" b="b"/>
              <a:pathLst>
                <a:path w="228600">
                  <a:moveTo>
                    <a:pt x="0" y="0"/>
                  </a:moveTo>
                  <a:lnTo>
                    <a:pt x="22860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68" name="object 68"/>
            <p:cNvSpPr/>
            <p:nvPr/>
          </p:nvSpPr>
          <p:spPr>
            <a:xfrm>
              <a:off x="9343643" y="4949190"/>
              <a:ext cx="234315" cy="0"/>
            </a:xfrm>
            <a:custGeom>
              <a:avLst/>
              <a:gdLst/>
              <a:ahLst/>
              <a:cxnLst/>
              <a:rect l="l" t="t" r="r" b="b"/>
              <a:pathLst>
                <a:path w="234315">
                  <a:moveTo>
                    <a:pt x="0" y="0"/>
                  </a:moveTo>
                  <a:lnTo>
                    <a:pt x="23393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69" name="object 69"/>
            <p:cNvSpPr/>
            <p:nvPr/>
          </p:nvSpPr>
          <p:spPr>
            <a:xfrm>
              <a:off x="9402317" y="4999481"/>
              <a:ext cx="115570" cy="0"/>
            </a:xfrm>
            <a:custGeom>
              <a:avLst/>
              <a:gdLst/>
              <a:ahLst/>
              <a:cxnLst/>
              <a:rect l="l" t="t" r="r" b="b"/>
              <a:pathLst>
                <a:path w="115570">
                  <a:moveTo>
                    <a:pt x="0" y="0"/>
                  </a:moveTo>
                  <a:lnTo>
                    <a:pt x="11506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0" name="object 70"/>
            <p:cNvSpPr/>
            <p:nvPr/>
          </p:nvSpPr>
          <p:spPr>
            <a:xfrm>
              <a:off x="9429749" y="5049011"/>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1" name="object 71"/>
            <p:cNvSpPr/>
            <p:nvPr/>
          </p:nvSpPr>
          <p:spPr>
            <a:xfrm>
              <a:off x="9460229" y="4753355"/>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2" name="object 72"/>
            <p:cNvSpPr/>
            <p:nvPr/>
          </p:nvSpPr>
          <p:spPr>
            <a:xfrm>
              <a:off x="9792461" y="2279904"/>
              <a:ext cx="119380" cy="234315"/>
            </a:xfrm>
            <a:custGeom>
              <a:avLst/>
              <a:gdLst/>
              <a:ahLst/>
              <a:cxnLst/>
              <a:rect l="l" t="t" r="r" b="b"/>
              <a:pathLst>
                <a:path w="119379" h="234314">
                  <a:moveTo>
                    <a:pt x="0" y="233934"/>
                  </a:moveTo>
                  <a:lnTo>
                    <a:pt x="0" y="0"/>
                  </a:lnTo>
                </a:path>
                <a:path w="119379" h="234314">
                  <a:moveTo>
                    <a:pt x="0" y="233934"/>
                  </a:moveTo>
                  <a:lnTo>
                    <a:pt x="118872" y="233934"/>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3" name="object 73"/>
            <p:cNvSpPr/>
            <p:nvPr/>
          </p:nvSpPr>
          <p:spPr>
            <a:xfrm>
              <a:off x="9792461" y="2279904"/>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4" name="object 74"/>
            <p:cNvSpPr/>
            <p:nvPr/>
          </p:nvSpPr>
          <p:spPr>
            <a:xfrm>
              <a:off x="9911333" y="1843278"/>
              <a:ext cx="3810" cy="438150"/>
            </a:xfrm>
            <a:custGeom>
              <a:avLst/>
              <a:gdLst/>
              <a:ahLst/>
              <a:cxnLst/>
              <a:rect l="l" t="t" r="r" b="b"/>
              <a:pathLst>
                <a:path w="3809" h="438150">
                  <a:moveTo>
                    <a:pt x="0" y="438150"/>
                  </a:moveTo>
                  <a:lnTo>
                    <a:pt x="381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75" name="object 75"/>
            <p:cNvPicPr/>
            <p:nvPr/>
          </p:nvPicPr>
          <p:blipFill>
            <a:blip r:embed="rId7" cstate="print"/>
            <a:stretch>
              <a:fillRect/>
            </a:stretch>
          </p:blipFill>
          <p:spPr>
            <a:xfrm>
              <a:off x="9871713" y="1799844"/>
              <a:ext cx="86867" cy="86867"/>
            </a:xfrm>
            <a:prstGeom prst="rect">
              <a:avLst/>
            </a:prstGeom>
          </p:spPr>
        </p:pic>
        <p:sp>
          <p:nvSpPr>
            <p:cNvPr id="76" name="object 76"/>
            <p:cNvSpPr/>
            <p:nvPr/>
          </p:nvSpPr>
          <p:spPr>
            <a:xfrm>
              <a:off x="9911333" y="2515362"/>
              <a:ext cx="3810" cy="520065"/>
            </a:xfrm>
            <a:custGeom>
              <a:avLst/>
              <a:gdLst/>
              <a:ahLst/>
              <a:cxnLst/>
              <a:rect l="l" t="t" r="r" b="b"/>
              <a:pathLst>
                <a:path w="3809" h="520064">
                  <a:moveTo>
                    <a:pt x="3809" y="519684"/>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77" name="object 77"/>
            <p:cNvPicPr/>
            <p:nvPr/>
          </p:nvPicPr>
          <p:blipFill>
            <a:blip r:embed="rId8" cstate="print"/>
            <a:stretch>
              <a:fillRect/>
            </a:stretch>
          </p:blipFill>
          <p:spPr>
            <a:xfrm>
              <a:off x="9871709" y="2991612"/>
              <a:ext cx="86867" cy="86867"/>
            </a:xfrm>
            <a:prstGeom prst="rect">
              <a:avLst/>
            </a:prstGeom>
          </p:spPr>
        </p:pic>
        <p:pic>
          <p:nvPicPr>
            <p:cNvPr id="78" name="object 78"/>
            <p:cNvPicPr/>
            <p:nvPr/>
          </p:nvPicPr>
          <p:blipFill>
            <a:blip r:embed="rId9" cstate="print"/>
            <a:stretch>
              <a:fillRect/>
            </a:stretch>
          </p:blipFill>
          <p:spPr>
            <a:xfrm>
              <a:off x="9520427" y="2282952"/>
              <a:ext cx="208788" cy="233934"/>
            </a:xfrm>
            <a:prstGeom prst="rect">
              <a:avLst/>
            </a:prstGeom>
          </p:spPr>
        </p:pic>
        <p:sp>
          <p:nvSpPr>
            <p:cNvPr id="79" name="object 79"/>
            <p:cNvSpPr/>
            <p:nvPr/>
          </p:nvSpPr>
          <p:spPr>
            <a:xfrm>
              <a:off x="10800672" y="2895219"/>
              <a:ext cx="118111" cy="234315"/>
            </a:xfrm>
            <a:custGeom>
              <a:avLst/>
              <a:gdLst/>
              <a:ahLst/>
              <a:cxnLst/>
              <a:rect l="l" t="t" r="r" b="b"/>
              <a:pathLst>
                <a:path w="118109" h="234314">
                  <a:moveTo>
                    <a:pt x="0" y="233934"/>
                  </a:moveTo>
                  <a:lnTo>
                    <a:pt x="0" y="0"/>
                  </a:lnTo>
                </a:path>
                <a:path w="118109" h="234314">
                  <a:moveTo>
                    <a:pt x="0" y="233934"/>
                  </a:moveTo>
                  <a:lnTo>
                    <a:pt x="118110" y="233934"/>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0" name="object 80"/>
            <p:cNvSpPr/>
            <p:nvPr/>
          </p:nvSpPr>
          <p:spPr>
            <a:xfrm>
              <a:off x="10796015" y="2916174"/>
              <a:ext cx="118110" cy="0"/>
            </a:xfrm>
            <a:custGeom>
              <a:avLst/>
              <a:gdLst/>
              <a:ahLst/>
              <a:cxnLst/>
              <a:rect l="l" t="t" r="r" b="b"/>
              <a:pathLst>
                <a:path w="118109">
                  <a:moveTo>
                    <a:pt x="0" y="0"/>
                  </a:moveTo>
                  <a:lnTo>
                    <a:pt x="11811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1" name="object 81"/>
            <p:cNvSpPr/>
            <p:nvPr/>
          </p:nvSpPr>
          <p:spPr>
            <a:xfrm>
              <a:off x="10914125" y="1853946"/>
              <a:ext cx="0" cy="1064260"/>
            </a:xfrm>
            <a:custGeom>
              <a:avLst/>
              <a:gdLst/>
              <a:ahLst/>
              <a:cxnLst/>
              <a:rect l="l" t="t" r="r" b="b"/>
              <a:pathLst>
                <a:path h="1064260">
                  <a:moveTo>
                    <a:pt x="0" y="1063752"/>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2" name="object 82"/>
            <p:cNvSpPr/>
            <p:nvPr/>
          </p:nvSpPr>
          <p:spPr>
            <a:xfrm>
              <a:off x="10914125" y="3152394"/>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3" name="object 83"/>
            <p:cNvSpPr/>
            <p:nvPr/>
          </p:nvSpPr>
          <p:spPr>
            <a:xfrm>
              <a:off x="10870691" y="3304794"/>
              <a:ext cx="86995" cy="86995"/>
            </a:xfrm>
            <a:custGeom>
              <a:avLst/>
              <a:gdLst/>
              <a:ahLst/>
              <a:cxnLst/>
              <a:rect l="l" t="t" r="r" b="b"/>
              <a:pathLst>
                <a:path w="86995" h="86995">
                  <a:moveTo>
                    <a:pt x="43433" y="0"/>
                  </a:moveTo>
                  <a:lnTo>
                    <a:pt x="26526" y="3412"/>
                  </a:lnTo>
                  <a:lnTo>
                    <a:pt x="12720" y="12720"/>
                  </a:lnTo>
                  <a:lnTo>
                    <a:pt x="3412" y="26526"/>
                  </a:lnTo>
                  <a:lnTo>
                    <a:pt x="0" y="43434"/>
                  </a:lnTo>
                  <a:lnTo>
                    <a:pt x="3412" y="60341"/>
                  </a:lnTo>
                  <a:lnTo>
                    <a:pt x="12720" y="74147"/>
                  </a:lnTo>
                  <a:lnTo>
                    <a:pt x="26526" y="83455"/>
                  </a:lnTo>
                  <a:lnTo>
                    <a:pt x="43433" y="86868"/>
                  </a:lnTo>
                  <a:lnTo>
                    <a:pt x="60341" y="83455"/>
                  </a:lnTo>
                  <a:lnTo>
                    <a:pt x="74147" y="74147"/>
                  </a:lnTo>
                  <a:lnTo>
                    <a:pt x="83455" y="60341"/>
                  </a:lnTo>
                  <a:lnTo>
                    <a:pt x="86867" y="43434"/>
                  </a:lnTo>
                  <a:lnTo>
                    <a:pt x="83455" y="26526"/>
                  </a:lnTo>
                  <a:lnTo>
                    <a:pt x="74147" y="12720"/>
                  </a:lnTo>
                  <a:lnTo>
                    <a:pt x="60341" y="3412"/>
                  </a:lnTo>
                  <a:lnTo>
                    <a:pt x="43433"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84" name="object 84"/>
            <p:cNvPicPr/>
            <p:nvPr/>
          </p:nvPicPr>
          <p:blipFill>
            <a:blip r:embed="rId10" cstate="print"/>
            <a:stretch>
              <a:fillRect/>
            </a:stretch>
          </p:blipFill>
          <p:spPr>
            <a:xfrm>
              <a:off x="10523981" y="2919984"/>
              <a:ext cx="208787" cy="233934"/>
            </a:xfrm>
            <a:prstGeom prst="rect">
              <a:avLst/>
            </a:prstGeom>
          </p:spPr>
        </p:pic>
        <p:sp>
          <p:nvSpPr>
            <p:cNvPr id="85" name="object 85"/>
            <p:cNvSpPr/>
            <p:nvPr/>
          </p:nvSpPr>
          <p:spPr>
            <a:xfrm>
              <a:off x="10169609" y="2546560"/>
              <a:ext cx="254000" cy="230504"/>
            </a:xfrm>
            <a:custGeom>
              <a:avLst/>
              <a:gdLst/>
              <a:ahLst/>
              <a:cxnLst/>
              <a:rect l="l" t="t" r="r" b="b"/>
              <a:pathLst>
                <a:path w="254000" h="230505">
                  <a:moveTo>
                    <a:pt x="0" y="0"/>
                  </a:moveTo>
                  <a:lnTo>
                    <a:pt x="253746" y="230124"/>
                  </a:lnTo>
                </a:path>
              </a:pathLst>
            </a:custGeom>
            <a:ln w="63246">
              <a:solidFill>
                <a:srgbClr val="000000"/>
              </a:solidFill>
              <a:prstDash val="dot"/>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6" name="object 86"/>
            <p:cNvSpPr/>
            <p:nvPr/>
          </p:nvSpPr>
          <p:spPr>
            <a:xfrm>
              <a:off x="9451085" y="3343656"/>
              <a:ext cx="1463040" cy="6985"/>
            </a:xfrm>
            <a:custGeom>
              <a:avLst/>
              <a:gdLst/>
              <a:ahLst/>
              <a:cxnLst/>
              <a:rect l="l" t="t" r="r" b="b"/>
              <a:pathLst>
                <a:path w="1463040" h="6985">
                  <a:moveTo>
                    <a:pt x="0" y="0"/>
                  </a:moveTo>
                  <a:lnTo>
                    <a:pt x="1463040" y="6858"/>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87" name="object 87"/>
            <p:cNvPicPr/>
            <p:nvPr/>
          </p:nvPicPr>
          <p:blipFill>
            <a:blip r:embed="rId11" cstate="print"/>
            <a:stretch>
              <a:fillRect/>
            </a:stretch>
          </p:blipFill>
          <p:spPr>
            <a:xfrm>
              <a:off x="9407651" y="3300222"/>
              <a:ext cx="86868" cy="86868"/>
            </a:xfrm>
            <a:prstGeom prst="rect">
              <a:avLst/>
            </a:prstGeom>
          </p:spPr>
        </p:pic>
        <p:sp>
          <p:nvSpPr>
            <p:cNvPr id="88" name="object 88"/>
            <p:cNvSpPr/>
            <p:nvPr/>
          </p:nvSpPr>
          <p:spPr>
            <a:xfrm>
              <a:off x="9451085" y="1846326"/>
              <a:ext cx="1463040" cy="7620"/>
            </a:xfrm>
            <a:custGeom>
              <a:avLst/>
              <a:gdLst/>
              <a:ahLst/>
              <a:cxnLst/>
              <a:rect l="l" t="t" r="r" b="b"/>
              <a:pathLst>
                <a:path w="1463040" h="7619">
                  <a:moveTo>
                    <a:pt x="0" y="0"/>
                  </a:moveTo>
                  <a:lnTo>
                    <a:pt x="1463040" y="762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89" name="object 89"/>
            <p:cNvPicPr/>
            <p:nvPr/>
          </p:nvPicPr>
          <p:blipFill>
            <a:blip r:embed="rId12" cstate="print"/>
            <a:stretch>
              <a:fillRect/>
            </a:stretch>
          </p:blipFill>
          <p:spPr>
            <a:xfrm>
              <a:off x="10870691" y="1810515"/>
              <a:ext cx="86868" cy="86868"/>
            </a:xfrm>
            <a:prstGeom prst="rect">
              <a:avLst/>
            </a:prstGeom>
          </p:spPr>
        </p:pic>
        <p:pic>
          <p:nvPicPr>
            <p:cNvPr id="90" name="object 90"/>
            <p:cNvPicPr/>
            <p:nvPr/>
          </p:nvPicPr>
          <p:blipFill>
            <a:blip r:embed="rId11" cstate="print"/>
            <a:stretch>
              <a:fillRect/>
            </a:stretch>
          </p:blipFill>
          <p:spPr>
            <a:xfrm>
              <a:off x="9407651" y="1802892"/>
              <a:ext cx="86868" cy="86868"/>
            </a:xfrm>
            <a:prstGeom prst="rect">
              <a:avLst/>
            </a:prstGeom>
          </p:spPr>
        </p:pic>
        <p:sp>
          <p:nvSpPr>
            <p:cNvPr id="91" name="object 91"/>
            <p:cNvSpPr/>
            <p:nvPr/>
          </p:nvSpPr>
          <p:spPr>
            <a:xfrm>
              <a:off x="10174985" y="1545336"/>
              <a:ext cx="0" cy="300990"/>
            </a:xfrm>
            <a:custGeom>
              <a:avLst/>
              <a:gdLst/>
              <a:ahLst/>
              <a:cxnLst/>
              <a:rect l="l" t="t" r="r" b="b"/>
              <a:pathLst>
                <a:path h="300989">
                  <a:moveTo>
                    <a:pt x="0" y="0"/>
                  </a:moveTo>
                  <a:lnTo>
                    <a:pt x="0" y="30099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92" name="object 92"/>
            <p:cNvPicPr/>
            <p:nvPr/>
          </p:nvPicPr>
          <p:blipFill>
            <a:blip r:embed="rId13" cstate="print"/>
            <a:stretch>
              <a:fillRect/>
            </a:stretch>
          </p:blipFill>
          <p:spPr>
            <a:xfrm>
              <a:off x="10131546" y="1802892"/>
              <a:ext cx="86867" cy="86867"/>
            </a:xfrm>
            <a:prstGeom prst="rect">
              <a:avLst/>
            </a:prstGeom>
          </p:spPr>
        </p:pic>
        <p:pic>
          <p:nvPicPr>
            <p:cNvPr id="93" name="object 93"/>
            <p:cNvPicPr/>
            <p:nvPr/>
          </p:nvPicPr>
          <p:blipFill>
            <a:blip r:embed="rId14" cstate="print"/>
            <a:stretch>
              <a:fillRect/>
            </a:stretch>
          </p:blipFill>
          <p:spPr>
            <a:xfrm>
              <a:off x="10131551" y="1501902"/>
              <a:ext cx="86867" cy="86867"/>
            </a:xfrm>
            <a:prstGeom prst="rect">
              <a:avLst/>
            </a:prstGeom>
          </p:spPr>
        </p:pic>
        <p:sp>
          <p:nvSpPr>
            <p:cNvPr id="94" name="object 94"/>
            <p:cNvSpPr/>
            <p:nvPr/>
          </p:nvSpPr>
          <p:spPr>
            <a:xfrm>
              <a:off x="6980681" y="2785872"/>
              <a:ext cx="621030" cy="478155"/>
            </a:xfrm>
            <a:custGeom>
              <a:avLst/>
              <a:gdLst/>
              <a:ahLst/>
              <a:cxnLst/>
              <a:rect l="l" t="t" r="r" b="b"/>
              <a:pathLst>
                <a:path w="621029" h="478154">
                  <a:moveTo>
                    <a:pt x="621029" y="0"/>
                  </a:moveTo>
                  <a:lnTo>
                    <a:pt x="621029" y="477773"/>
                  </a:lnTo>
                  <a:lnTo>
                    <a:pt x="124205" y="477773"/>
                  </a:lnTo>
                  <a:lnTo>
                    <a:pt x="0" y="238886"/>
                  </a:lnTo>
                  <a:lnTo>
                    <a:pt x="124205" y="0"/>
                  </a:lnTo>
                  <a:lnTo>
                    <a:pt x="621029" y="0"/>
                  </a:lnTo>
                  <a:close/>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95" name="object 95"/>
          <p:cNvSpPr txBox="1"/>
          <p:nvPr/>
        </p:nvSpPr>
        <p:spPr>
          <a:xfrm>
            <a:off x="7916416" y="2628646"/>
            <a:ext cx="278390" cy="155270"/>
          </a:xfrm>
          <a:prstGeom prst="rect">
            <a:avLst/>
          </a:prstGeom>
        </p:spPr>
        <p:txBody>
          <a:bodyPr vert="horz" wrap="square" lIns="0" tIns="8226" rIns="0" bIns="0" rtlCol="0">
            <a:spAutoFit/>
          </a:bodyPr>
          <a:lstStyle/>
          <a:p>
            <a:pPr marL="8659" marR="0" lvl="0" indent="0" algn="l" defTabSz="914400" rtl="0" eaLnBrk="1" fontAlgn="auto" latinLnBrk="0" hangingPunct="1">
              <a:lnSpc>
                <a:spcPct val="100000"/>
              </a:lnSpc>
              <a:spcBef>
                <a:spcPts val="65"/>
              </a:spcBef>
              <a:spcAft>
                <a:spcPts val="0"/>
              </a:spcAft>
              <a:buClrTx/>
              <a:buSzTx/>
              <a:buFontTx/>
              <a:buNone/>
              <a:tabLst/>
              <a:defRPr/>
            </a:pPr>
            <a:r>
              <a:rPr kumimoji="0" sz="955" b="0" i="0" u="none" strike="noStrike" kern="1200" cap="none" spc="-17" normalizeH="0" baseline="0" noProof="0" dirty="0">
                <a:ln>
                  <a:noFill/>
                </a:ln>
                <a:solidFill>
                  <a:prstClr val="black"/>
                </a:solidFill>
                <a:effectLst/>
                <a:uLnTx/>
                <a:uFillTx/>
                <a:latin typeface="Verdana"/>
                <a:ea typeface="+mn-ea"/>
                <a:cs typeface="Verdana"/>
              </a:rPr>
              <a:t>ADC</a:t>
            </a:r>
            <a:endParaRPr kumimoji="0" sz="955" b="0" i="0" u="none" strike="noStrike" kern="1200" cap="none" spc="0" normalizeH="0" baseline="0" noProof="0">
              <a:ln>
                <a:noFill/>
              </a:ln>
              <a:solidFill>
                <a:prstClr val="black"/>
              </a:solidFill>
              <a:effectLst/>
              <a:uLnTx/>
              <a:uFillTx/>
              <a:latin typeface="Verdana"/>
              <a:ea typeface="+mn-ea"/>
              <a:cs typeface="Verdana"/>
            </a:endParaRPr>
          </a:p>
        </p:txBody>
      </p:sp>
      <p:grpSp>
        <p:nvGrpSpPr>
          <p:cNvPr id="96" name="object 96"/>
          <p:cNvGrpSpPr/>
          <p:nvPr/>
        </p:nvGrpSpPr>
        <p:grpSpPr>
          <a:xfrm>
            <a:off x="7642322" y="1505794"/>
            <a:ext cx="2918114" cy="1228725"/>
            <a:chOff x="6758051" y="1247266"/>
            <a:chExt cx="4279900" cy="1802130"/>
          </a:xfrm>
        </p:grpSpPr>
        <p:sp>
          <p:nvSpPr>
            <p:cNvPr id="97" name="object 97"/>
            <p:cNvSpPr/>
            <p:nvPr/>
          </p:nvSpPr>
          <p:spPr>
            <a:xfrm>
              <a:off x="6772656" y="3033521"/>
              <a:ext cx="215900" cy="1270"/>
            </a:xfrm>
            <a:custGeom>
              <a:avLst/>
              <a:gdLst/>
              <a:ahLst/>
              <a:cxnLst/>
              <a:rect l="l" t="t" r="r" b="b"/>
              <a:pathLst>
                <a:path w="215900" h="1269">
                  <a:moveTo>
                    <a:pt x="0" y="762"/>
                  </a:moveTo>
                  <a:lnTo>
                    <a:pt x="215646"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98" name="object 98"/>
            <p:cNvSpPr/>
            <p:nvPr/>
          </p:nvSpPr>
          <p:spPr>
            <a:xfrm>
              <a:off x="9035032" y="1261871"/>
              <a:ext cx="1988185" cy="215900"/>
            </a:xfrm>
            <a:custGeom>
              <a:avLst/>
              <a:gdLst/>
              <a:ahLst/>
              <a:cxnLst/>
              <a:rect l="l" t="t" r="r" b="b"/>
              <a:pathLst>
                <a:path w="1988184" h="215900">
                  <a:moveTo>
                    <a:pt x="0" y="215646"/>
                  </a:moveTo>
                  <a:lnTo>
                    <a:pt x="32366" y="151966"/>
                  </a:lnTo>
                  <a:lnTo>
                    <a:pt x="68678" y="128626"/>
                  </a:lnTo>
                  <a:lnTo>
                    <a:pt x="114725" y="113319"/>
                  </a:lnTo>
                  <a:lnTo>
                    <a:pt x="167741" y="107823"/>
                  </a:lnTo>
                  <a:lnTo>
                    <a:pt x="826287" y="107823"/>
                  </a:lnTo>
                  <a:lnTo>
                    <a:pt x="879303" y="102326"/>
                  </a:lnTo>
                  <a:lnTo>
                    <a:pt x="925350" y="87019"/>
                  </a:lnTo>
                  <a:lnTo>
                    <a:pt x="961662" y="63679"/>
                  </a:lnTo>
                  <a:lnTo>
                    <a:pt x="985476" y="34080"/>
                  </a:lnTo>
                  <a:lnTo>
                    <a:pt x="994029" y="0"/>
                  </a:lnTo>
                  <a:lnTo>
                    <a:pt x="1002581" y="34080"/>
                  </a:lnTo>
                  <a:lnTo>
                    <a:pt x="1026395" y="63679"/>
                  </a:lnTo>
                  <a:lnTo>
                    <a:pt x="1062707" y="87019"/>
                  </a:lnTo>
                  <a:lnTo>
                    <a:pt x="1108754" y="102326"/>
                  </a:lnTo>
                  <a:lnTo>
                    <a:pt x="1161770" y="107823"/>
                  </a:lnTo>
                  <a:lnTo>
                    <a:pt x="1820316" y="107823"/>
                  </a:lnTo>
                  <a:lnTo>
                    <a:pt x="1873332" y="113319"/>
                  </a:lnTo>
                  <a:lnTo>
                    <a:pt x="1919379" y="128626"/>
                  </a:lnTo>
                  <a:lnTo>
                    <a:pt x="1955691" y="151966"/>
                  </a:lnTo>
                  <a:lnTo>
                    <a:pt x="1979505" y="181565"/>
                  </a:lnTo>
                  <a:lnTo>
                    <a:pt x="1988058" y="215646"/>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99" name="object 99"/>
          <p:cNvSpPr txBox="1"/>
          <p:nvPr/>
        </p:nvSpPr>
        <p:spPr>
          <a:xfrm>
            <a:off x="9170830" y="1315395"/>
            <a:ext cx="1424853" cy="197578"/>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0" normalizeH="0" baseline="0" noProof="0" dirty="0">
                <a:ln>
                  <a:noFill/>
                </a:ln>
                <a:solidFill>
                  <a:srgbClr val="FF0000"/>
                </a:solidFill>
                <a:effectLst/>
                <a:uLnTx/>
                <a:uFillTx/>
                <a:latin typeface="Verdana"/>
                <a:ea typeface="+mn-ea"/>
                <a:cs typeface="Verdana"/>
              </a:rPr>
              <a:t>DAC</a:t>
            </a:r>
            <a:r>
              <a:rPr kumimoji="0" sz="1227" b="0" i="0" u="none" strike="noStrike" kern="1200" cap="none" spc="3" normalizeH="0" baseline="0" noProof="0" dirty="0">
                <a:ln>
                  <a:noFill/>
                </a:ln>
                <a:solidFill>
                  <a:srgbClr val="FF0000"/>
                </a:solidFill>
                <a:effectLst/>
                <a:uLnTx/>
                <a:uFillTx/>
                <a:latin typeface="Verdana"/>
                <a:ea typeface="+mn-ea"/>
                <a:cs typeface="Verdana"/>
              </a:rPr>
              <a:t> </a:t>
            </a:r>
            <a:r>
              <a:rPr kumimoji="0" sz="1227" b="0" i="0" u="none" strike="noStrike" kern="1200" cap="none" spc="0" normalizeH="0" baseline="0" noProof="0" dirty="0">
                <a:ln>
                  <a:noFill/>
                </a:ln>
                <a:solidFill>
                  <a:srgbClr val="FF0000"/>
                </a:solidFill>
                <a:effectLst/>
                <a:uLnTx/>
                <a:uFillTx/>
                <a:latin typeface="Verdana"/>
                <a:ea typeface="+mn-ea"/>
                <a:cs typeface="Verdana"/>
              </a:rPr>
              <a:t>=</a:t>
            </a:r>
            <a:r>
              <a:rPr kumimoji="0" sz="1227" b="0" i="0" u="none" strike="noStrike" kern="1200" cap="none" spc="7" normalizeH="0" baseline="0" noProof="0" dirty="0">
                <a:ln>
                  <a:noFill/>
                </a:ln>
                <a:solidFill>
                  <a:srgbClr val="FF0000"/>
                </a:solidFill>
                <a:effectLst/>
                <a:uLnTx/>
                <a:uFillTx/>
                <a:latin typeface="Verdana"/>
                <a:ea typeface="+mn-ea"/>
                <a:cs typeface="Verdana"/>
              </a:rPr>
              <a:t> </a:t>
            </a:r>
            <a:r>
              <a:rPr kumimoji="0" sz="1227" b="0" i="0" u="none" strike="noStrike" kern="1200" cap="none" spc="-14" normalizeH="0" baseline="0" noProof="0" dirty="0">
                <a:ln>
                  <a:noFill/>
                </a:ln>
                <a:solidFill>
                  <a:srgbClr val="FF0000"/>
                </a:solidFill>
                <a:effectLst/>
                <a:uLnTx/>
                <a:uFillTx/>
                <a:latin typeface="Verdana"/>
                <a:ea typeface="+mn-ea"/>
                <a:cs typeface="Verdana"/>
              </a:rPr>
              <a:t>power-</a:t>
            </a:r>
            <a:r>
              <a:rPr kumimoji="0" sz="1227" b="0" i="0" u="none" strike="noStrike" kern="1200" cap="none" spc="-17" normalizeH="0" baseline="0" noProof="0" dirty="0">
                <a:ln>
                  <a:noFill/>
                </a:ln>
                <a:solidFill>
                  <a:srgbClr val="FF0000"/>
                </a:solidFill>
                <a:effectLst/>
                <a:uLnTx/>
                <a:uFillTx/>
                <a:latin typeface="Verdana"/>
                <a:ea typeface="+mn-ea"/>
                <a:cs typeface="Verdana"/>
              </a:rPr>
              <a:t>FET</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grpSp>
        <p:nvGrpSpPr>
          <p:cNvPr id="100" name="object 100"/>
          <p:cNvGrpSpPr/>
          <p:nvPr/>
        </p:nvGrpSpPr>
        <p:grpSpPr>
          <a:xfrm>
            <a:off x="3504884" y="3334171"/>
            <a:ext cx="294841" cy="520411"/>
            <a:chOff x="4149090" y="3980688"/>
            <a:chExt cx="432434" cy="763270"/>
          </a:xfrm>
        </p:grpSpPr>
        <p:sp>
          <p:nvSpPr>
            <p:cNvPr id="101" name="object 101"/>
            <p:cNvSpPr/>
            <p:nvPr/>
          </p:nvSpPr>
          <p:spPr>
            <a:xfrm>
              <a:off x="4331970" y="4500372"/>
              <a:ext cx="0" cy="243204"/>
            </a:xfrm>
            <a:custGeom>
              <a:avLst/>
              <a:gdLst/>
              <a:ahLst/>
              <a:cxnLst/>
              <a:rect l="l" t="t" r="r" b="b"/>
              <a:pathLst>
                <a:path h="243204">
                  <a:moveTo>
                    <a:pt x="0" y="0"/>
                  </a:moveTo>
                  <a:lnTo>
                    <a:pt x="0" y="243078"/>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2" name="object 102"/>
            <p:cNvSpPr/>
            <p:nvPr/>
          </p:nvSpPr>
          <p:spPr>
            <a:xfrm>
              <a:off x="4222242" y="4390644"/>
              <a:ext cx="107950" cy="45720"/>
            </a:xfrm>
            <a:custGeom>
              <a:avLst/>
              <a:gdLst/>
              <a:ahLst/>
              <a:cxnLst/>
              <a:rect l="l" t="t" r="r" b="b"/>
              <a:pathLst>
                <a:path w="107950" h="45720">
                  <a:moveTo>
                    <a:pt x="107441" y="45719"/>
                  </a:moveTo>
                  <a:lnTo>
                    <a:pt x="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3" name="object 103"/>
            <p:cNvSpPr/>
            <p:nvPr/>
          </p:nvSpPr>
          <p:spPr>
            <a:xfrm>
              <a:off x="4222242" y="4344924"/>
              <a:ext cx="215900" cy="47625"/>
            </a:xfrm>
            <a:custGeom>
              <a:avLst/>
              <a:gdLst/>
              <a:ahLst/>
              <a:cxnLst/>
              <a:rect l="l" t="t" r="r" b="b"/>
              <a:pathLst>
                <a:path w="215900" h="47625">
                  <a:moveTo>
                    <a:pt x="0" y="47243"/>
                  </a:moveTo>
                  <a:lnTo>
                    <a:pt x="21564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4" name="object 104"/>
            <p:cNvSpPr/>
            <p:nvPr/>
          </p:nvSpPr>
          <p:spPr>
            <a:xfrm>
              <a:off x="4222242" y="4301490"/>
              <a:ext cx="215900" cy="43815"/>
            </a:xfrm>
            <a:custGeom>
              <a:avLst/>
              <a:gdLst/>
              <a:ahLst/>
              <a:cxnLst/>
              <a:rect l="l" t="t" r="r" b="b"/>
              <a:pathLst>
                <a:path w="215900" h="43814">
                  <a:moveTo>
                    <a:pt x="215646" y="43433"/>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5" name="object 105"/>
            <p:cNvSpPr/>
            <p:nvPr/>
          </p:nvSpPr>
          <p:spPr>
            <a:xfrm>
              <a:off x="4223766" y="4252722"/>
              <a:ext cx="215900" cy="50800"/>
            </a:xfrm>
            <a:custGeom>
              <a:avLst/>
              <a:gdLst/>
              <a:ahLst/>
              <a:cxnLst/>
              <a:rect l="l" t="t" r="r" b="b"/>
              <a:pathLst>
                <a:path w="215900" h="50800">
                  <a:moveTo>
                    <a:pt x="0" y="50291"/>
                  </a:moveTo>
                  <a:lnTo>
                    <a:pt x="21564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6" name="object 106"/>
            <p:cNvSpPr/>
            <p:nvPr/>
          </p:nvSpPr>
          <p:spPr>
            <a:xfrm>
              <a:off x="4223766" y="4207764"/>
              <a:ext cx="215900" cy="45085"/>
            </a:xfrm>
            <a:custGeom>
              <a:avLst/>
              <a:gdLst/>
              <a:ahLst/>
              <a:cxnLst/>
              <a:rect l="l" t="t" r="r" b="b"/>
              <a:pathLst>
                <a:path w="215900" h="45085">
                  <a:moveTo>
                    <a:pt x="215646" y="44957"/>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7" name="object 107"/>
            <p:cNvSpPr/>
            <p:nvPr/>
          </p:nvSpPr>
          <p:spPr>
            <a:xfrm>
              <a:off x="4222242" y="4160520"/>
              <a:ext cx="215900" cy="47625"/>
            </a:xfrm>
            <a:custGeom>
              <a:avLst/>
              <a:gdLst/>
              <a:ahLst/>
              <a:cxnLst/>
              <a:rect l="l" t="t" r="r" b="b"/>
              <a:pathLst>
                <a:path w="215900" h="47625">
                  <a:moveTo>
                    <a:pt x="0" y="47243"/>
                  </a:moveTo>
                  <a:lnTo>
                    <a:pt x="21564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8" name="object 108"/>
            <p:cNvSpPr/>
            <p:nvPr/>
          </p:nvSpPr>
          <p:spPr>
            <a:xfrm>
              <a:off x="4329684" y="4114038"/>
              <a:ext cx="108585" cy="46990"/>
            </a:xfrm>
            <a:custGeom>
              <a:avLst/>
              <a:gdLst/>
              <a:ahLst/>
              <a:cxnLst/>
              <a:rect l="l" t="t" r="r" b="b"/>
              <a:pathLst>
                <a:path w="108585" h="46989">
                  <a:moveTo>
                    <a:pt x="108203" y="46481"/>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9" name="object 109"/>
            <p:cNvSpPr/>
            <p:nvPr/>
          </p:nvSpPr>
          <p:spPr>
            <a:xfrm>
              <a:off x="4331208" y="4024122"/>
              <a:ext cx="0" cy="92710"/>
            </a:xfrm>
            <a:custGeom>
              <a:avLst/>
              <a:gdLst/>
              <a:ahLst/>
              <a:cxnLst/>
              <a:rect l="l" t="t" r="r" b="b"/>
              <a:pathLst>
                <a:path h="92710">
                  <a:moveTo>
                    <a:pt x="0" y="92201"/>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0" name="object 110"/>
            <p:cNvSpPr/>
            <p:nvPr/>
          </p:nvSpPr>
          <p:spPr>
            <a:xfrm>
              <a:off x="4287779" y="3980688"/>
              <a:ext cx="86995" cy="86995"/>
            </a:xfrm>
            <a:custGeom>
              <a:avLst/>
              <a:gdLst/>
              <a:ahLst/>
              <a:cxnLst/>
              <a:rect l="l" t="t" r="r" b="b"/>
              <a:pathLst>
                <a:path w="86995" h="86995">
                  <a:moveTo>
                    <a:pt x="43421" y="0"/>
                  </a:moveTo>
                  <a:lnTo>
                    <a:pt x="26519" y="3412"/>
                  </a:lnTo>
                  <a:lnTo>
                    <a:pt x="12714" y="12720"/>
                  </a:lnTo>
                  <a:lnTo>
                    <a:pt x="3407" y="26526"/>
                  </a:lnTo>
                  <a:lnTo>
                    <a:pt x="0" y="43434"/>
                  </a:lnTo>
                  <a:lnTo>
                    <a:pt x="3412" y="60341"/>
                  </a:lnTo>
                  <a:lnTo>
                    <a:pt x="12720" y="74147"/>
                  </a:lnTo>
                  <a:lnTo>
                    <a:pt x="26526" y="83455"/>
                  </a:lnTo>
                  <a:lnTo>
                    <a:pt x="43434" y="86868"/>
                  </a:lnTo>
                  <a:lnTo>
                    <a:pt x="60341" y="83453"/>
                  </a:lnTo>
                  <a:lnTo>
                    <a:pt x="74147" y="74142"/>
                  </a:lnTo>
                  <a:lnTo>
                    <a:pt x="83455" y="60336"/>
                  </a:lnTo>
                  <a:lnTo>
                    <a:pt x="86868" y="43434"/>
                  </a:lnTo>
                  <a:lnTo>
                    <a:pt x="83447" y="26526"/>
                  </a:lnTo>
                  <a:lnTo>
                    <a:pt x="74136" y="12720"/>
                  </a:lnTo>
                  <a:lnTo>
                    <a:pt x="60328" y="3412"/>
                  </a:lnTo>
                  <a:lnTo>
                    <a:pt x="43421"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1" name="object 111"/>
            <p:cNvSpPr/>
            <p:nvPr/>
          </p:nvSpPr>
          <p:spPr>
            <a:xfrm>
              <a:off x="4331208" y="4437888"/>
              <a:ext cx="0" cy="92710"/>
            </a:xfrm>
            <a:custGeom>
              <a:avLst/>
              <a:gdLst/>
              <a:ahLst/>
              <a:cxnLst/>
              <a:rect l="l" t="t" r="r" b="b"/>
              <a:pathLst>
                <a:path h="92710">
                  <a:moveTo>
                    <a:pt x="0" y="92201"/>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2" name="object 112"/>
            <p:cNvSpPr/>
            <p:nvPr/>
          </p:nvSpPr>
          <p:spPr>
            <a:xfrm>
              <a:off x="4287774" y="4486656"/>
              <a:ext cx="86995" cy="86995"/>
            </a:xfrm>
            <a:custGeom>
              <a:avLst/>
              <a:gdLst/>
              <a:ahLst/>
              <a:cxnLst/>
              <a:rect l="l" t="t" r="r" b="b"/>
              <a:pathLst>
                <a:path w="86995" h="86995">
                  <a:moveTo>
                    <a:pt x="43434" y="0"/>
                  </a:moveTo>
                  <a:lnTo>
                    <a:pt x="26526" y="3412"/>
                  </a:lnTo>
                  <a:lnTo>
                    <a:pt x="12720" y="12720"/>
                  </a:lnTo>
                  <a:lnTo>
                    <a:pt x="3412" y="26526"/>
                  </a:lnTo>
                  <a:lnTo>
                    <a:pt x="0" y="43434"/>
                  </a:lnTo>
                  <a:lnTo>
                    <a:pt x="3412" y="60341"/>
                  </a:lnTo>
                  <a:lnTo>
                    <a:pt x="12720" y="74147"/>
                  </a:lnTo>
                  <a:lnTo>
                    <a:pt x="26526" y="83455"/>
                  </a:lnTo>
                  <a:lnTo>
                    <a:pt x="43434" y="86868"/>
                  </a:lnTo>
                  <a:lnTo>
                    <a:pt x="60341" y="83455"/>
                  </a:lnTo>
                  <a:lnTo>
                    <a:pt x="74147" y="74147"/>
                  </a:lnTo>
                  <a:lnTo>
                    <a:pt x="83455" y="60341"/>
                  </a:lnTo>
                  <a:lnTo>
                    <a:pt x="86868" y="43434"/>
                  </a:lnTo>
                  <a:lnTo>
                    <a:pt x="83455" y="26526"/>
                  </a:lnTo>
                  <a:lnTo>
                    <a:pt x="74147" y="12720"/>
                  </a:lnTo>
                  <a:lnTo>
                    <a:pt x="60341" y="3412"/>
                  </a:lnTo>
                  <a:lnTo>
                    <a:pt x="43434"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3" name="object 113"/>
            <p:cNvSpPr/>
            <p:nvPr/>
          </p:nvSpPr>
          <p:spPr>
            <a:xfrm>
              <a:off x="4158615" y="4146207"/>
              <a:ext cx="413384" cy="275590"/>
            </a:xfrm>
            <a:custGeom>
              <a:avLst/>
              <a:gdLst/>
              <a:ahLst/>
              <a:cxnLst/>
              <a:rect l="l" t="t" r="r" b="b"/>
              <a:pathLst>
                <a:path w="413385" h="275589">
                  <a:moveTo>
                    <a:pt x="0" y="275297"/>
                  </a:moveTo>
                  <a:lnTo>
                    <a:pt x="413308" y="0"/>
                  </a:lnTo>
                </a:path>
              </a:pathLst>
            </a:custGeom>
            <a:ln w="1905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4" name="object 114"/>
            <p:cNvSpPr/>
            <p:nvPr/>
          </p:nvSpPr>
          <p:spPr>
            <a:xfrm>
              <a:off x="4483862" y="4146213"/>
              <a:ext cx="88265" cy="79375"/>
            </a:xfrm>
            <a:custGeom>
              <a:avLst/>
              <a:gdLst/>
              <a:ahLst/>
              <a:cxnLst/>
              <a:rect l="l" t="t" r="r" b="b"/>
              <a:pathLst>
                <a:path w="88264" h="79375">
                  <a:moveTo>
                    <a:pt x="49288" y="79235"/>
                  </a:moveTo>
                  <a:lnTo>
                    <a:pt x="88061" y="0"/>
                  </a:lnTo>
                  <a:lnTo>
                    <a:pt x="0" y="5245"/>
                  </a:lnTo>
                </a:path>
              </a:pathLst>
            </a:custGeom>
            <a:ln w="1905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5" name="object 115"/>
          <p:cNvGrpSpPr/>
          <p:nvPr/>
        </p:nvGrpSpPr>
        <p:grpSpPr>
          <a:xfrm>
            <a:off x="7423593" y="1796739"/>
            <a:ext cx="2231448" cy="2131002"/>
            <a:chOff x="6437248" y="1673986"/>
            <a:chExt cx="3272790" cy="3125470"/>
          </a:xfrm>
        </p:grpSpPr>
        <p:sp>
          <p:nvSpPr>
            <p:cNvPr id="116" name="object 116"/>
            <p:cNvSpPr/>
            <p:nvPr/>
          </p:nvSpPr>
          <p:spPr>
            <a:xfrm>
              <a:off x="9460229" y="4541519"/>
              <a:ext cx="0" cy="243204"/>
            </a:xfrm>
            <a:custGeom>
              <a:avLst/>
              <a:gdLst/>
              <a:ahLst/>
              <a:cxnLst/>
              <a:rect l="l" t="t" r="r" b="b"/>
              <a:pathLst>
                <a:path h="243204">
                  <a:moveTo>
                    <a:pt x="0" y="0"/>
                  </a:moveTo>
                  <a:lnTo>
                    <a:pt x="0" y="243077"/>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7" name="object 117"/>
            <p:cNvSpPr/>
            <p:nvPr/>
          </p:nvSpPr>
          <p:spPr>
            <a:xfrm>
              <a:off x="9416795" y="4498085"/>
              <a:ext cx="86995" cy="86995"/>
            </a:xfrm>
            <a:custGeom>
              <a:avLst/>
              <a:gdLst/>
              <a:ahLst/>
              <a:cxnLst/>
              <a:rect l="l" t="t" r="r" b="b"/>
              <a:pathLst>
                <a:path w="86995" h="86995">
                  <a:moveTo>
                    <a:pt x="43433" y="0"/>
                  </a:moveTo>
                  <a:lnTo>
                    <a:pt x="26526" y="3412"/>
                  </a:lnTo>
                  <a:lnTo>
                    <a:pt x="12720" y="12720"/>
                  </a:lnTo>
                  <a:lnTo>
                    <a:pt x="3412" y="26526"/>
                  </a:lnTo>
                  <a:lnTo>
                    <a:pt x="0" y="43434"/>
                  </a:lnTo>
                  <a:lnTo>
                    <a:pt x="3412" y="60341"/>
                  </a:lnTo>
                  <a:lnTo>
                    <a:pt x="12720" y="74147"/>
                  </a:lnTo>
                  <a:lnTo>
                    <a:pt x="26526" y="83455"/>
                  </a:lnTo>
                  <a:lnTo>
                    <a:pt x="43433" y="86868"/>
                  </a:lnTo>
                  <a:lnTo>
                    <a:pt x="60341" y="83455"/>
                  </a:lnTo>
                  <a:lnTo>
                    <a:pt x="74147" y="74147"/>
                  </a:lnTo>
                  <a:lnTo>
                    <a:pt x="83455" y="60341"/>
                  </a:lnTo>
                  <a:lnTo>
                    <a:pt x="86867" y="43434"/>
                  </a:lnTo>
                  <a:lnTo>
                    <a:pt x="83455" y="26526"/>
                  </a:lnTo>
                  <a:lnTo>
                    <a:pt x="74147" y="12720"/>
                  </a:lnTo>
                  <a:lnTo>
                    <a:pt x="60341" y="3412"/>
                  </a:lnTo>
                  <a:lnTo>
                    <a:pt x="43433"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8" name="object 118"/>
            <p:cNvSpPr/>
            <p:nvPr/>
          </p:nvSpPr>
          <p:spPr>
            <a:xfrm>
              <a:off x="9350501" y="4418838"/>
              <a:ext cx="108585" cy="45720"/>
            </a:xfrm>
            <a:custGeom>
              <a:avLst/>
              <a:gdLst/>
              <a:ahLst/>
              <a:cxnLst/>
              <a:rect l="l" t="t" r="r" b="b"/>
              <a:pathLst>
                <a:path w="108584" h="45720">
                  <a:moveTo>
                    <a:pt x="108203" y="45719"/>
                  </a:moveTo>
                  <a:lnTo>
                    <a:pt x="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9" name="object 119"/>
            <p:cNvSpPr/>
            <p:nvPr/>
          </p:nvSpPr>
          <p:spPr>
            <a:xfrm>
              <a:off x="9350501" y="4372355"/>
              <a:ext cx="215900" cy="48260"/>
            </a:xfrm>
            <a:custGeom>
              <a:avLst/>
              <a:gdLst/>
              <a:ahLst/>
              <a:cxnLst/>
              <a:rect l="l" t="t" r="r" b="b"/>
              <a:pathLst>
                <a:path w="215900" h="48260">
                  <a:moveTo>
                    <a:pt x="0" y="48006"/>
                  </a:moveTo>
                  <a:lnTo>
                    <a:pt x="215646"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0" name="object 120"/>
            <p:cNvSpPr/>
            <p:nvPr/>
          </p:nvSpPr>
          <p:spPr>
            <a:xfrm>
              <a:off x="9350501" y="4329683"/>
              <a:ext cx="215900" cy="43180"/>
            </a:xfrm>
            <a:custGeom>
              <a:avLst/>
              <a:gdLst/>
              <a:ahLst/>
              <a:cxnLst/>
              <a:rect l="l" t="t" r="r" b="b"/>
              <a:pathLst>
                <a:path w="215900" h="43179">
                  <a:moveTo>
                    <a:pt x="215646" y="42672"/>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1" name="object 121"/>
            <p:cNvSpPr/>
            <p:nvPr/>
          </p:nvSpPr>
          <p:spPr>
            <a:xfrm>
              <a:off x="9352025" y="4280154"/>
              <a:ext cx="216535" cy="51435"/>
            </a:xfrm>
            <a:custGeom>
              <a:avLst/>
              <a:gdLst/>
              <a:ahLst/>
              <a:cxnLst/>
              <a:rect l="l" t="t" r="r" b="b"/>
              <a:pathLst>
                <a:path w="216534" h="51435">
                  <a:moveTo>
                    <a:pt x="0" y="51054"/>
                  </a:moveTo>
                  <a:lnTo>
                    <a:pt x="216408"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2" name="object 122"/>
            <p:cNvSpPr/>
            <p:nvPr/>
          </p:nvSpPr>
          <p:spPr>
            <a:xfrm>
              <a:off x="9352025" y="4235957"/>
              <a:ext cx="216535" cy="44450"/>
            </a:xfrm>
            <a:custGeom>
              <a:avLst/>
              <a:gdLst/>
              <a:ahLst/>
              <a:cxnLst/>
              <a:rect l="l" t="t" r="r" b="b"/>
              <a:pathLst>
                <a:path w="216534" h="44450">
                  <a:moveTo>
                    <a:pt x="216407" y="44195"/>
                  </a:moveTo>
                  <a:lnTo>
                    <a:pt x="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3" name="object 123"/>
            <p:cNvSpPr/>
            <p:nvPr/>
          </p:nvSpPr>
          <p:spPr>
            <a:xfrm>
              <a:off x="9350501" y="4187951"/>
              <a:ext cx="215900" cy="48260"/>
            </a:xfrm>
            <a:custGeom>
              <a:avLst/>
              <a:gdLst/>
              <a:ahLst/>
              <a:cxnLst/>
              <a:rect l="l" t="t" r="r" b="b"/>
              <a:pathLst>
                <a:path w="215900" h="48260">
                  <a:moveTo>
                    <a:pt x="0" y="48006"/>
                  </a:moveTo>
                  <a:lnTo>
                    <a:pt x="215646"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4" name="object 124"/>
            <p:cNvSpPr/>
            <p:nvPr/>
          </p:nvSpPr>
          <p:spPr>
            <a:xfrm>
              <a:off x="9458705" y="4142232"/>
              <a:ext cx="107950" cy="45720"/>
            </a:xfrm>
            <a:custGeom>
              <a:avLst/>
              <a:gdLst/>
              <a:ahLst/>
              <a:cxnLst/>
              <a:rect l="l" t="t" r="r" b="b"/>
              <a:pathLst>
                <a:path w="107950" h="45720">
                  <a:moveTo>
                    <a:pt x="107442" y="45720"/>
                  </a:moveTo>
                  <a:lnTo>
                    <a:pt x="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5" name="object 125"/>
            <p:cNvSpPr/>
            <p:nvPr/>
          </p:nvSpPr>
          <p:spPr>
            <a:xfrm>
              <a:off x="9460229" y="4051554"/>
              <a:ext cx="0" cy="92710"/>
            </a:xfrm>
            <a:custGeom>
              <a:avLst/>
              <a:gdLst/>
              <a:ahLst/>
              <a:cxnLst/>
              <a:rect l="l" t="t" r="r" b="b"/>
              <a:pathLst>
                <a:path h="92710">
                  <a:moveTo>
                    <a:pt x="0" y="92202"/>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6" name="object 126"/>
            <p:cNvSpPr/>
            <p:nvPr/>
          </p:nvSpPr>
          <p:spPr>
            <a:xfrm>
              <a:off x="9416800" y="4008119"/>
              <a:ext cx="86995" cy="86995"/>
            </a:xfrm>
            <a:custGeom>
              <a:avLst/>
              <a:gdLst/>
              <a:ahLst/>
              <a:cxnLst/>
              <a:rect l="l" t="t" r="r" b="b"/>
              <a:pathLst>
                <a:path w="86995" h="86995">
                  <a:moveTo>
                    <a:pt x="43421" y="0"/>
                  </a:moveTo>
                  <a:lnTo>
                    <a:pt x="26521" y="3412"/>
                  </a:lnTo>
                  <a:lnTo>
                    <a:pt x="12719" y="12720"/>
                  </a:lnTo>
                  <a:lnTo>
                    <a:pt x="3412" y="26526"/>
                  </a:lnTo>
                  <a:lnTo>
                    <a:pt x="0" y="43433"/>
                  </a:lnTo>
                  <a:lnTo>
                    <a:pt x="3412" y="60341"/>
                  </a:lnTo>
                  <a:lnTo>
                    <a:pt x="12720" y="74147"/>
                  </a:lnTo>
                  <a:lnTo>
                    <a:pt x="26526" y="83455"/>
                  </a:lnTo>
                  <a:lnTo>
                    <a:pt x="43433" y="86867"/>
                  </a:lnTo>
                  <a:lnTo>
                    <a:pt x="60341" y="83453"/>
                  </a:lnTo>
                  <a:lnTo>
                    <a:pt x="74147" y="74142"/>
                  </a:lnTo>
                  <a:lnTo>
                    <a:pt x="83455" y="60336"/>
                  </a:lnTo>
                  <a:lnTo>
                    <a:pt x="86867" y="43433"/>
                  </a:lnTo>
                  <a:lnTo>
                    <a:pt x="83453" y="26526"/>
                  </a:lnTo>
                  <a:lnTo>
                    <a:pt x="74141" y="12720"/>
                  </a:lnTo>
                  <a:lnTo>
                    <a:pt x="60330" y="3412"/>
                  </a:lnTo>
                  <a:lnTo>
                    <a:pt x="43421"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7" name="object 127"/>
            <p:cNvSpPr/>
            <p:nvPr/>
          </p:nvSpPr>
          <p:spPr>
            <a:xfrm>
              <a:off x="9460229" y="4466082"/>
              <a:ext cx="0" cy="92710"/>
            </a:xfrm>
            <a:custGeom>
              <a:avLst/>
              <a:gdLst/>
              <a:ahLst/>
              <a:cxnLst/>
              <a:rect l="l" t="t" r="r" b="b"/>
              <a:pathLst>
                <a:path h="92710">
                  <a:moveTo>
                    <a:pt x="0" y="92202"/>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8" name="object 128"/>
            <p:cNvSpPr/>
            <p:nvPr/>
          </p:nvSpPr>
          <p:spPr>
            <a:xfrm>
              <a:off x="9287636" y="4173651"/>
              <a:ext cx="412750" cy="275590"/>
            </a:xfrm>
            <a:custGeom>
              <a:avLst/>
              <a:gdLst/>
              <a:ahLst/>
              <a:cxnLst/>
              <a:rect l="l" t="t" r="r" b="b"/>
              <a:pathLst>
                <a:path w="412750" h="275589">
                  <a:moveTo>
                    <a:pt x="0" y="275285"/>
                  </a:moveTo>
                  <a:lnTo>
                    <a:pt x="412559" y="0"/>
                  </a:lnTo>
                </a:path>
              </a:pathLst>
            </a:custGeom>
            <a:ln w="1905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9" name="object 129"/>
            <p:cNvSpPr/>
            <p:nvPr/>
          </p:nvSpPr>
          <p:spPr>
            <a:xfrm>
              <a:off x="9612132" y="4173652"/>
              <a:ext cx="88265" cy="79375"/>
            </a:xfrm>
            <a:custGeom>
              <a:avLst/>
              <a:gdLst/>
              <a:ahLst/>
              <a:cxnLst/>
              <a:rect l="l" t="t" r="r" b="b"/>
              <a:pathLst>
                <a:path w="88265" h="79375">
                  <a:moveTo>
                    <a:pt x="49352" y="79273"/>
                  </a:moveTo>
                  <a:lnTo>
                    <a:pt x="88061" y="0"/>
                  </a:lnTo>
                  <a:lnTo>
                    <a:pt x="0" y="5321"/>
                  </a:lnTo>
                </a:path>
              </a:pathLst>
            </a:custGeom>
            <a:ln w="1905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30" name="object 130"/>
            <p:cNvSpPr/>
            <p:nvPr/>
          </p:nvSpPr>
          <p:spPr>
            <a:xfrm>
              <a:off x="6451853" y="1688591"/>
              <a:ext cx="1078230" cy="146685"/>
            </a:xfrm>
            <a:custGeom>
              <a:avLst/>
              <a:gdLst/>
              <a:ahLst/>
              <a:cxnLst/>
              <a:rect l="l" t="t" r="r" b="b"/>
              <a:pathLst>
                <a:path w="1078229" h="146685">
                  <a:moveTo>
                    <a:pt x="0" y="146303"/>
                  </a:moveTo>
                  <a:lnTo>
                    <a:pt x="8943" y="117830"/>
                  </a:lnTo>
                  <a:lnTo>
                    <a:pt x="33332" y="94578"/>
                  </a:lnTo>
                  <a:lnTo>
                    <a:pt x="69506" y="78900"/>
                  </a:lnTo>
                  <a:lnTo>
                    <a:pt x="113804" y="73151"/>
                  </a:lnTo>
                  <a:lnTo>
                    <a:pt x="425310" y="73151"/>
                  </a:lnTo>
                  <a:lnTo>
                    <a:pt x="469608" y="67403"/>
                  </a:lnTo>
                  <a:lnTo>
                    <a:pt x="505782" y="51725"/>
                  </a:lnTo>
                  <a:lnTo>
                    <a:pt x="530171" y="28473"/>
                  </a:lnTo>
                  <a:lnTo>
                    <a:pt x="539115" y="0"/>
                  </a:lnTo>
                  <a:lnTo>
                    <a:pt x="548058" y="28473"/>
                  </a:lnTo>
                  <a:lnTo>
                    <a:pt x="572447" y="51725"/>
                  </a:lnTo>
                  <a:lnTo>
                    <a:pt x="608621" y="67403"/>
                  </a:lnTo>
                  <a:lnTo>
                    <a:pt x="652919" y="73151"/>
                  </a:lnTo>
                  <a:lnTo>
                    <a:pt x="964425" y="73151"/>
                  </a:lnTo>
                  <a:lnTo>
                    <a:pt x="1008723" y="78900"/>
                  </a:lnTo>
                  <a:lnTo>
                    <a:pt x="1044897" y="94578"/>
                  </a:lnTo>
                  <a:lnTo>
                    <a:pt x="1069286" y="117830"/>
                  </a:lnTo>
                  <a:lnTo>
                    <a:pt x="1078230" y="146303"/>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31" name="object 131"/>
            <p:cNvSpPr/>
            <p:nvPr/>
          </p:nvSpPr>
          <p:spPr>
            <a:xfrm>
              <a:off x="7725917" y="1707641"/>
              <a:ext cx="1078230" cy="146685"/>
            </a:xfrm>
            <a:custGeom>
              <a:avLst/>
              <a:gdLst/>
              <a:ahLst/>
              <a:cxnLst/>
              <a:rect l="l" t="t" r="r" b="b"/>
              <a:pathLst>
                <a:path w="1078229" h="146685">
                  <a:moveTo>
                    <a:pt x="0" y="146303"/>
                  </a:moveTo>
                  <a:lnTo>
                    <a:pt x="8943" y="117830"/>
                  </a:lnTo>
                  <a:lnTo>
                    <a:pt x="33332" y="94578"/>
                  </a:lnTo>
                  <a:lnTo>
                    <a:pt x="69506" y="78900"/>
                  </a:lnTo>
                  <a:lnTo>
                    <a:pt x="113804" y="73151"/>
                  </a:lnTo>
                  <a:lnTo>
                    <a:pt x="425310" y="73151"/>
                  </a:lnTo>
                  <a:lnTo>
                    <a:pt x="469608" y="67403"/>
                  </a:lnTo>
                  <a:lnTo>
                    <a:pt x="505782" y="51725"/>
                  </a:lnTo>
                  <a:lnTo>
                    <a:pt x="530171" y="28473"/>
                  </a:lnTo>
                  <a:lnTo>
                    <a:pt x="539115" y="0"/>
                  </a:lnTo>
                  <a:lnTo>
                    <a:pt x="548058" y="28473"/>
                  </a:lnTo>
                  <a:lnTo>
                    <a:pt x="572447" y="51725"/>
                  </a:lnTo>
                  <a:lnTo>
                    <a:pt x="608621" y="67403"/>
                  </a:lnTo>
                  <a:lnTo>
                    <a:pt x="652919" y="73151"/>
                  </a:lnTo>
                  <a:lnTo>
                    <a:pt x="964425" y="73151"/>
                  </a:lnTo>
                  <a:lnTo>
                    <a:pt x="1008723" y="78900"/>
                  </a:lnTo>
                  <a:lnTo>
                    <a:pt x="1044897" y="94578"/>
                  </a:lnTo>
                  <a:lnTo>
                    <a:pt x="1069286" y="117830"/>
                  </a:lnTo>
                  <a:lnTo>
                    <a:pt x="1078230" y="146303"/>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132" name="object 132"/>
          <p:cNvSpPr txBox="1"/>
          <p:nvPr/>
        </p:nvSpPr>
        <p:spPr>
          <a:xfrm>
            <a:off x="3096378" y="2388564"/>
            <a:ext cx="223405" cy="197578"/>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17" normalizeH="0" baseline="0" noProof="0" dirty="0">
                <a:ln>
                  <a:noFill/>
                </a:ln>
                <a:solidFill>
                  <a:prstClr val="black"/>
                </a:solidFill>
                <a:effectLst/>
                <a:uLnTx/>
                <a:uFillTx/>
                <a:latin typeface="Verdana"/>
                <a:ea typeface="+mn-ea"/>
                <a:cs typeface="Verdana"/>
              </a:rPr>
              <a:t>V</a:t>
            </a:r>
            <a:r>
              <a:rPr kumimoji="0" sz="1227" b="0" i="0" u="none" strike="noStrike" kern="1200" cap="none" spc="-25" normalizeH="0" baseline="-20833" noProof="0" dirty="0">
                <a:ln>
                  <a:noFill/>
                </a:ln>
                <a:solidFill>
                  <a:prstClr val="black"/>
                </a:solidFill>
                <a:effectLst/>
                <a:uLnTx/>
                <a:uFillTx/>
                <a:latin typeface="Verdana"/>
                <a:ea typeface="+mn-ea"/>
                <a:cs typeface="Verdana"/>
              </a:rPr>
              <a:t>g</a:t>
            </a:r>
            <a:endParaRPr kumimoji="0" sz="1227" b="0" i="0" u="none" strike="noStrike" kern="1200" cap="none" spc="0" normalizeH="0" baseline="-20833" noProof="0">
              <a:ln>
                <a:noFill/>
              </a:ln>
              <a:solidFill>
                <a:prstClr val="black"/>
              </a:solidFill>
              <a:effectLst/>
              <a:uLnTx/>
              <a:uFillTx/>
              <a:latin typeface="Verdana"/>
              <a:ea typeface="+mn-ea"/>
              <a:cs typeface="Verdana"/>
            </a:endParaRPr>
          </a:p>
        </p:txBody>
      </p:sp>
      <p:sp>
        <p:nvSpPr>
          <p:cNvPr id="133" name="object 133"/>
          <p:cNvSpPr txBox="1"/>
          <p:nvPr/>
        </p:nvSpPr>
        <p:spPr>
          <a:xfrm>
            <a:off x="7633677" y="1499079"/>
            <a:ext cx="352858" cy="197578"/>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17" normalizeH="0" baseline="0" noProof="0" dirty="0">
                <a:ln>
                  <a:noFill/>
                </a:ln>
                <a:solidFill>
                  <a:srgbClr val="FF0000"/>
                </a:solidFill>
                <a:effectLst/>
                <a:uLnTx/>
                <a:uFillTx/>
                <a:latin typeface="Verdana"/>
                <a:ea typeface="+mn-ea"/>
                <a:cs typeface="Verdana"/>
              </a:rPr>
              <a:t>ADC</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134" name="object 134"/>
          <p:cNvSpPr txBox="1"/>
          <p:nvPr/>
        </p:nvSpPr>
        <p:spPr>
          <a:xfrm>
            <a:off x="8398312" y="1511858"/>
            <a:ext cx="556780" cy="197578"/>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7" normalizeH="0" baseline="0" noProof="0" dirty="0">
                <a:ln>
                  <a:noFill/>
                </a:ln>
                <a:solidFill>
                  <a:srgbClr val="FF0000"/>
                </a:solidFill>
                <a:effectLst/>
                <a:uLnTx/>
                <a:uFillTx/>
                <a:latin typeface="Verdana"/>
                <a:ea typeface="+mn-ea"/>
                <a:cs typeface="Verdana"/>
              </a:rPr>
              <a:t>control</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135" name="object 135"/>
          <p:cNvSpPr txBox="1"/>
          <p:nvPr/>
        </p:nvSpPr>
        <p:spPr>
          <a:xfrm>
            <a:off x="1173024" y="4115309"/>
            <a:ext cx="2690380" cy="197578"/>
          </a:xfrm>
          <a:prstGeom prst="rect">
            <a:avLst/>
          </a:prstGeom>
        </p:spPr>
        <p:txBody>
          <a:bodyPr vert="horz" wrap="square" lIns="0" tIns="8659" rIns="0" bIns="0" rtlCol="0">
            <a:spAutoFit/>
          </a:bodyPr>
          <a:lstStyle/>
          <a:p>
            <a:pPr marL="329037" marR="0" lvl="0" indent="-320378" algn="l" defTabSz="914400" rtl="0" eaLnBrk="1" fontAlgn="auto" latinLnBrk="0" hangingPunct="1">
              <a:lnSpc>
                <a:spcPct val="100000"/>
              </a:lnSpc>
              <a:spcBef>
                <a:spcPts val="68"/>
              </a:spcBef>
              <a:spcAft>
                <a:spcPts val="0"/>
              </a:spcAft>
              <a:buClr>
                <a:srgbClr val="CC0000"/>
              </a:buClr>
              <a:buSzTx/>
              <a:buFont typeface="Wingdings"/>
              <a:buChar char=""/>
              <a:tabLst>
                <a:tab pos="329037"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Analog</a:t>
            </a:r>
            <a:r>
              <a:rPr kumimoji="0" sz="1227" b="0" i="0" u="none" strike="noStrike" kern="1200" cap="none" spc="-17"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circuit-</a:t>
            </a:r>
            <a:r>
              <a:rPr kumimoji="0" sz="1227" b="0" i="0" u="none" strike="noStrike" kern="1200" cap="none" spc="0" normalizeH="0" baseline="0" noProof="0" dirty="0">
                <a:ln>
                  <a:noFill/>
                </a:ln>
                <a:solidFill>
                  <a:prstClr val="black"/>
                </a:solidFill>
                <a:effectLst/>
                <a:uLnTx/>
                <a:uFillTx/>
                <a:latin typeface="Verdana"/>
                <a:ea typeface="+mn-ea"/>
                <a:cs typeface="Verdana"/>
              </a:rPr>
              <a:t>based</a:t>
            </a:r>
            <a:r>
              <a:rPr kumimoji="0" sz="1227" b="0" i="0" u="none" strike="noStrike" kern="1200" cap="none" spc="3"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feedback</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136" name="object 136"/>
          <p:cNvSpPr txBox="1"/>
          <p:nvPr/>
        </p:nvSpPr>
        <p:spPr>
          <a:xfrm>
            <a:off x="1718236" y="2361064"/>
            <a:ext cx="124258" cy="197578"/>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34" normalizeH="0" baseline="0" noProof="0" dirty="0">
                <a:ln>
                  <a:noFill/>
                </a:ln>
                <a:solidFill>
                  <a:prstClr val="black"/>
                </a:solidFill>
                <a:effectLst/>
                <a:uLnTx/>
                <a:uFillTx/>
                <a:latin typeface="Verdana"/>
                <a:ea typeface="+mn-ea"/>
                <a:cs typeface="Verdana"/>
              </a:rPr>
              <a:t>V</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137" name="object 137"/>
          <p:cNvSpPr txBox="1"/>
          <p:nvPr/>
        </p:nvSpPr>
        <p:spPr>
          <a:xfrm>
            <a:off x="1824822" y="2451514"/>
            <a:ext cx="160193" cy="134612"/>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818" b="0" i="0" u="none" strike="noStrike" kern="1200" cap="none" spc="-17" normalizeH="0" baseline="0" noProof="0" dirty="0">
                <a:ln>
                  <a:noFill/>
                </a:ln>
                <a:solidFill>
                  <a:prstClr val="black"/>
                </a:solidFill>
                <a:effectLst/>
                <a:uLnTx/>
                <a:uFillTx/>
                <a:latin typeface="Verdana"/>
                <a:ea typeface="+mn-ea"/>
                <a:cs typeface="Verdana"/>
              </a:rPr>
              <a:t>ref</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sp>
        <p:nvSpPr>
          <p:cNvPr id="138" name="object 138"/>
          <p:cNvSpPr txBox="1"/>
          <p:nvPr/>
        </p:nvSpPr>
        <p:spPr>
          <a:xfrm>
            <a:off x="3726221" y="3589236"/>
            <a:ext cx="379268"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10" normalizeH="0" baseline="13888" noProof="0" dirty="0">
                <a:ln>
                  <a:noFill/>
                </a:ln>
                <a:solidFill>
                  <a:prstClr val="black"/>
                </a:solidFill>
                <a:effectLst/>
                <a:uLnTx/>
                <a:uFillTx/>
                <a:latin typeface="Verdana"/>
                <a:ea typeface="+mn-ea"/>
                <a:cs typeface="Verdana"/>
              </a:rPr>
              <a:t>R</a:t>
            </a:r>
            <a:r>
              <a:rPr kumimoji="0" sz="818" b="0" i="0" u="none" strike="noStrike" kern="1200" cap="none" spc="-7" normalizeH="0" baseline="0" noProof="0" dirty="0">
                <a:ln>
                  <a:noFill/>
                </a:ln>
                <a:solidFill>
                  <a:prstClr val="black"/>
                </a:solidFill>
                <a:effectLst/>
                <a:uLnTx/>
                <a:uFillTx/>
                <a:latin typeface="Verdana"/>
                <a:ea typeface="+mn-ea"/>
                <a:cs typeface="Verdana"/>
              </a:rPr>
              <a:t>load</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sp>
        <p:nvSpPr>
          <p:cNvPr id="139" name="object 139"/>
          <p:cNvSpPr txBox="1"/>
          <p:nvPr/>
        </p:nvSpPr>
        <p:spPr>
          <a:xfrm>
            <a:off x="8866625" y="2731043"/>
            <a:ext cx="635577" cy="155270"/>
          </a:xfrm>
          <a:prstGeom prst="rect">
            <a:avLst/>
          </a:prstGeom>
        </p:spPr>
        <p:txBody>
          <a:bodyPr vert="horz" wrap="square" lIns="0" tIns="8226" rIns="0" bIns="0" rtlCol="0">
            <a:spAutoFit/>
          </a:bodyPr>
          <a:lstStyle/>
          <a:p>
            <a:pPr marL="25977" marR="0" lvl="0" indent="0" algn="l" defTabSz="914400" rtl="0" eaLnBrk="1" fontAlgn="auto" latinLnBrk="0" hangingPunct="1">
              <a:lnSpc>
                <a:spcPct val="100000"/>
              </a:lnSpc>
              <a:spcBef>
                <a:spcPts val="65"/>
              </a:spcBef>
              <a:spcAft>
                <a:spcPts val="0"/>
              </a:spcAft>
              <a:buClrTx/>
              <a:buSzTx/>
              <a:buFontTx/>
              <a:buNone/>
              <a:tabLst/>
              <a:defRPr/>
            </a:pPr>
            <a:r>
              <a:rPr kumimoji="0" sz="955" b="0" i="0" u="none" strike="noStrike" kern="1200" cap="none" spc="-7" normalizeH="0" baseline="0" noProof="0" dirty="0">
                <a:ln>
                  <a:noFill/>
                </a:ln>
                <a:solidFill>
                  <a:prstClr val="black"/>
                </a:solidFill>
                <a:effectLst/>
                <a:uLnTx/>
                <a:uFillTx/>
                <a:latin typeface="Verdana"/>
                <a:ea typeface="+mn-ea"/>
                <a:cs typeface="Verdana"/>
              </a:rPr>
              <a:t>V</a:t>
            </a:r>
            <a:r>
              <a:rPr kumimoji="0" sz="920" b="0" i="0" u="none" strike="noStrike" kern="1200" cap="none" spc="-10" normalizeH="0" baseline="-21604" noProof="0" dirty="0">
                <a:ln>
                  <a:noFill/>
                </a:ln>
                <a:solidFill>
                  <a:prstClr val="black"/>
                </a:solidFill>
                <a:effectLst/>
                <a:uLnTx/>
                <a:uFillTx/>
                <a:latin typeface="Verdana"/>
                <a:ea typeface="+mn-ea"/>
                <a:cs typeface="Verdana"/>
              </a:rPr>
              <a:t>g</a:t>
            </a:r>
            <a:r>
              <a:rPr kumimoji="0" sz="955" b="0" i="0" u="none" strike="noStrike" kern="1200" cap="none" spc="-7" normalizeH="0" baseline="0" noProof="0" dirty="0">
                <a:ln>
                  <a:noFill/>
                </a:ln>
                <a:solidFill>
                  <a:prstClr val="black"/>
                </a:solidFill>
                <a:effectLst/>
                <a:uLnTx/>
                <a:uFillTx/>
                <a:latin typeface="Verdana"/>
                <a:ea typeface="+mn-ea"/>
                <a:cs typeface="Verdana"/>
              </a:rPr>
              <a:t>[n-</a:t>
            </a:r>
            <a:r>
              <a:rPr kumimoji="0" sz="955" b="0" i="0" u="none" strike="noStrike" kern="1200" cap="none" spc="-14" normalizeH="0" baseline="0" noProof="0" dirty="0">
                <a:ln>
                  <a:noFill/>
                </a:ln>
                <a:solidFill>
                  <a:prstClr val="black"/>
                </a:solidFill>
                <a:effectLst/>
                <a:uLnTx/>
                <a:uFillTx/>
                <a:latin typeface="Verdana"/>
                <a:ea typeface="+mn-ea"/>
                <a:cs typeface="Verdana"/>
              </a:rPr>
              <a:t>1:0]</a:t>
            </a:r>
            <a:endParaRPr kumimoji="0" sz="955" b="0" i="0" u="none" strike="noStrike" kern="1200" cap="none" spc="0" normalizeH="0" baseline="0" noProof="0">
              <a:ln>
                <a:noFill/>
              </a:ln>
              <a:solidFill>
                <a:prstClr val="black"/>
              </a:solidFill>
              <a:effectLst/>
              <a:uLnTx/>
              <a:uFillTx/>
              <a:latin typeface="Verdana"/>
              <a:ea typeface="+mn-ea"/>
              <a:cs typeface="Verdana"/>
            </a:endParaRPr>
          </a:p>
        </p:txBody>
      </p:sp>
      <p:sp>
        <p:nvSpPr>
          <p:cNvPr id="140" name="object 140"/>
          <p:cNvSpPr txBox="1"/>
          <p:nvPr/>
        </p:nvSpPr>
        <p:spPr>
          <a:xfrm>
            <a:off x="9494670" y="3104314"/>
            <a:ext cx="574098" cy="589352"/>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0" normalizeH="0" baseline="13888" noProof="0" dirty="0">
                <a:ln>
                  <a:noFill/>
                </a:ln>
                <a:solidFill>
                  <a:prstClr val="black"/>
                </a:solidFill>
                <a:effectLst/>
                <a:uLnTx/>
                <a:uFillTx/>
                <a:latin typeface="Verdana"/>
                <a:ea typeface="+mn-ea"/>
                <a:cs typeface="Verdana"/>
              </a:rPr>
              <a:t>V</a:t>
            </a:r>
            <a:r>
              <a:rPr kumimoji="0" sz="818" b="0" i="0" u="none" strike="noStrike" kern="1200" cap="none" spc="-14" normalizeH="0" baseline="0" noProof="0" dirty="0">
                <a:ln>
                  <a:noFill/>
                </a:ln>
                <a:solidFill>
                  <a:prstClr val="black"/>
                </a:solidFill>
                <a:effectLst/>
                <a:uLnTx/>
                <a:uFillTx/>
                <a:latin typeface="Verdana"/>
                <a:ea typeface="+mn-ea"/>
                <a:cs typeface="Verdana"/>
              </a:rPr>
              <a:t>out</a:t>
            </a:r>
            <a:endParaRPr kumimoji="0" sz="818" b="0" i="0" u="none" strike="noStrike" kern="1200" cap="none" spc="0" normalizeH="0" baseline="0" noProof="0">
              <a:ln>
                <a:noFill/>
              </a:ln>
              <a:solidFill>
                <a:prstClr val="black"/>
              </a:solidFill>
              <a:effectLst/>
              <a:uLnTx/>
              <a:uFillTx/>
              <a:latin typeface="Verdana"/>
              <a:ea typeface="+mn-ea"/>
              <a:cs typeface="Verdana"/>
            </a:endParaRPr>
          </a:p>
          <a:p>
            <a:pPr marL="0" marR="0" lvl="0" indent="0" algn="l" defTabSz="914400" rtl="0" eaLnBrk="1" fontAlgn="auto" latinLnBrk="0" hangingPunct="1">
              <a:lnSpc>
                <a:spcPct val="100000"/>
              </a:lnSpc>
              <a:spcBef>
                <a:spcPts val="558"/>
              </a:spcBef>
              <a:spcAft>
                <a:spcPts val="0"/>
              </a:spcAft>
              <a:buClrTx/>
              <a:buSzTx/>
              <a:buFontTx/>
              <a:buNone/>
              <a:tabLst/>
              <a:defRPr/>
            </a:pPr>
            <a:endParaRPr kumimoji="0" sz="818" b="0" i="0" u="none" strike="noStrike" kern="1200" cap="none" spc="0" normalizeH="0" baseline="0" noProof="0">
              <a:ln>
                <a:noFill/>
              </a:ln>
              <a:solidFill>
                <a:prstClr val="black"/>
              </a:solidFill>
              <a:effectLst/>
              <a:uLnTx/>
              <a:uFillTx/>
              <a:latin typeface="Verdana"/>
              <a:ea typeface="+mn-ea"/>
              <a:cs typeface="Verdana"/>
            </a:endParaRPr>
          </a:p>
          <a:p>
            <a:pPr marL="220368" marR="0" lvl="0" indent="0" algn="l" defTabSz="914400" rtl="0" eaLnBrk="1" fontAlgn="auto" latinLnBrk="0" hangingPunct="1">
              <a:lnSpc>
                <a:spcPct val="100000"/>
              </a:lnSpc>
              <a:spcBef>
                <a:spcPts val="0"/>
              </a:spcBef>
              <a:spcAft>
                <a:spcPts val="0"/>
              </a:spcAft>
              <a:buClrTx/>
              <a:buSzTx/>
              <a:buFontTx/>
              <a:buNone/>
              <a:tabLst/>
              <a:defRPr/>
            </a:pPr>
            <a:r>
              <a:rPr kumimoji="0" sz="1841" b="0" i="0" u="none" strike="noStrike" kern="1200" cap="none" spc="-10" normalizeH="0" baseline="13888" noProof="0" dirty="0">
                <a:ln>
                  <a:noFill/>
                </a:ln>
                <a:solidFill>
                  <a:prstClr val="black"/>
                </a:solidFill>
                <a:effectLst/>
                <a:uLnTx/>
                <a:uFillTx/>
                <a:latin typeface="Verdana"/>
                <a:ea typeface="+mn-ea"/>
                <a:cs typeface="Verdana"/>
              </a:rPr>
              <a:t>R</a:t>
            </a:r>
            <a:r>
              <a:rPr kumimoji="0" sz="818" b="0" i="0" u="none" strike="noStrike" kern="1200" cap="none" spc="-7" normalizeH="0" baseline="0" noProof="0" dirty="0">
                <a:ln>
                  <a:noFill/>
                </a:ln>
                <a:solidFill>
                  <a:prstClr val="black"/>
                </a:solidFill>
                <a:effectLst/>
                <a:uLnTx/>
                <a:uFillTx/>
                <a:latin typeface="Verdana"/>
                <a:ea typeface="+mn-ea"/>
                <a:cs typeface="Verdana"/>
              </a:rPr>
              <a:t>load</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sp>
        <p:nvSpPr>
          <p:cNvPr id="141" name="object 141"/>
          <p:cNvSpPr txBox="1"/>
          <p:nvPr/>
        </p:nvSpPr>
        <p:spPr>
          <a:xfrm>
            <a:off x="2629367" y="3503116"/>
            <a:ext cx="330344"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0" normalizeH="0" baseline="13888" noProof="0" dirty="0">
                <a:ln>
                  <a:noFill/>
                </a:ln>
                <a:solidFill>
                  <a:prstClr val="black"/>
                </a:solidFill>
                <a:effectLst/>
                <a:uLnTx/>
                <a:uFillTx/>
                <a:latin typeface="Verdana"/>
                <a:ea typeface="+mn-ea"/>
                <a:cs typeface="Verdana"/>
              </a:rPr>
              <a:t>C</a:t>
            </a:r>
            <a:r>
              <a:rPr kumimoji="0" sz="818" b="0" i="0" u="none" strike="noStrike" kern="1200" cap="none" spc="-14" normalizeH="0" baseline="0" noProof="0" dirty="0">
                <a:ln>
                  <a:noFill/>
                </a:ln>
                <a:solidFill>
                  <a:prstClr val="black"/>
                </a:solidFill>
                <a:effectLst/>
                <a:uLnTx/>
                <a:uFillTx/>
                <a:latin typeface="Verdana"/>
                <a:ea typeface="+mn-ea"/>
                <a:cs typeface="Verdana"/>
              </a:rPr>
              <a:t>out</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sp>
        <p:nvSpPr>
          <p:cNvPr id="142" name="object 142"/>
          <p:cNvSpPr txBox="1"/>
          <p:nvPr/>
        </p:nvSpPr>
        <p:spPr>
          <a:xfrm>
            <a:off x="8459211" y="3547026"/>
            <a:ext cx="330344"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0" normalizeH="0" baseline="13888" noProof="0" dirty="0">
                <a:ln>
                  <a:noFill/>
                </a:ln>
                <a:solidFill>
                  <a:prstClr val="black"/>
                </a:solidFill>
                <a:effectLst/>
                <a:uLnTx/>
                <a:uFillTx/>
                <a:latin typeface="Verdana"/>
                <a:ea typeface="+mn-ea"/>
                <a:cs typeface="Verdana"/>
              </a:rPr>
              <a:t>C</a:t>
            </a:r>
            <a:r>
              <a:rPr kumimoji="0" sz="818" b="0" i="0" u="none" strike="noStrike" kern="1200" cap="none" spc="-14" normalizeH="0" baseline="0" noProof="0" dirty="0">
                <a:ln>
                  <a:noFill/>
                </a:ln>
                <a:solidFill>
                  <a:prstClr val="black"/>
                </a:solidFill>
                <a:effectLst/>
                <a:uLnTx/>
                <a:uFillTx/>
                <a:latin typeface="Verdana"/>
                <a:ea typeface="+mn-ea"/>
                <a:cs typeface="Verdana"/>
              </a:rPr>
              <a:t>out</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grpSp>
        <p:nvGrpSpPr>
          <p:cNvPr id="143" name="object 143"/>
          <p:cNvGrpSpPr/>
          <p:nvPr/>
        </p:nvGrpSpPr>
        <p:grpSpPr>
          <a:xfrm>
            <a:off x="8878408" y="2114788"/>
            <a:ext cx="654194" cy="497465"/>
            <a:chOff x="8570976" y="2140457"/>
            <a:chExt cx="959485" cy="729615"/>
          </a:xfrm>
        </p:grpSpPr>
        <p:sp>
          <p:nvSpPr>
            <p:cNvPr id="144" name="object 144"/>
            <p:cNvSpPr/>
            <p:nvPr/>
          </p:nvSpPr>
          <p:spPr>
            <a:xfrm>
              <a:off x="8585454" y="2154935"/>
              <a:ext cx="509905" cy="1905"/>
            </a:xfrm>
            <a:custGeom>
              <a:avLst/>
              <a:gdLst/>
              <a:ahLst/>
              <a:cxnLst/>
              <a:rect l="l" t="t" r="r" b="b"/>
              <a:pathLst>
                <a:path w="509904" h="1905">
                  <a:moveTo>
                    <a:pt x="0" y="0"/>
                  </a:moveTo>
                  <a:lnTo>
                    <a:pt x="509778" y="1524"/>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45" name="object 145"/>
            <p:cNvSpPr/>
            <p:nvPr/>
          </p:nvSpPr>
          <p:spPr>
            <a:xfrm>
              <a:off x="8597646" y="2398775"/>
              <a:ext cx="932815" cy="0"/>
            </a:xfrm>
            <a:custGeom>
              <a:avLst/>
              <a:gdLst/>
              <a:ahLst/>
              <a:cxnLst/>
              <a:rect l="l" t="t" r="r" b="b"/>
              <a:pathLst>
                <a:path w="932815">
                  <a:moveTo>
                    <a:pt x="0" y="0"/>
                  </a:moveTo>
                  <a:lnTo>
                    <a:pt x="932688"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46" name="object 146"/>
            <p:cNvSpPr/>
            <p:nvPr/>
          </p:nvSpPr>
          <p:spPr>
            <a:xfrm>
              <a:off x="9017127" y="2620898"/>
              <a:ext cx="0" cy="249554"/>
            </a:xfrm>
            <a:custGeom>
              <a:avLst/>
              <a:gdLst/>
              <a:ahLst/>
              <a:cxnLst/>
              <a:rect l="l" t="t" r="r" b="b"/>
              <a:pathLst>
                <a:path h="249555">
                  <a:moveTo>
                    <a:pt x="0" y="0"/>
                  </a:moveTo>
                  <a:lnTo>
                    <a:pt x="0" y="249174"/>
                  </a:lnTo>
                </a:path>
              </a:pathLst>
            </a:custGeom>
            <a:ln w="63246">
              <a:solidFill>
                <a:srgbClr val="000000"/>
              </a:solidFill>
              <a:prstDash val="dot"/>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151" name="object 85"/>
          <p:cNvSpPr/>
          <p:nvPr/>
        </p:nvSpPr>
        <p:spPr>
          <a:xfrm>
            <a:off x="10077921" y="2472638"/>
            <a:ext cx="173182" cy="157162"/>
          </a:xfrm>
          <a:custGeom>
            <a:avLst/>
            <a:gdLst/>
            <a:ahLst/>
            <a:cxnLst/>
            <a:rect l="l" t="t" r="r" b="b"/>
            <a:pathLst>
              <a:path w="254000" h="230505">
                <a:moveTo>
                  <a:pt x="0" y="0"/>
                </a:moveTo>
                <a:lnTo>
                  <a:pt x="253746" y="230124"/>
                </a:lnTo>
              </a:path>
            </a:pathLst>
          </a:custGeom>
          <a:ln w="63246">
            <a:solidFill>
              <a:srgbClr val="000000"/>
            </a:solidFill>
            <a:prstDash val="dot"/>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52" name="object 85"/>
          <p:cNvSpPr/>
          <p:nvPr/>
        </p:nvSpPr>
        <p:spPr>
          <a:xfrm>
            <a:off x="10192221" y="2548838"/>
            <a:ext cx="173182" cy="157162"/>
          </a:xfrm>
          <a:custGeom>
            <a:avLst/>
            <a:gdLst/>
            <a:ahLst/>
            <a:cxnLst/>
            <a:rect l="l" t="t" r="r" b="b"/>
            <a:pathLst>
              <a:path w="254000" h="230505">
                <a:moveTo>
                  <a:pt x="0" y="0"/>
                </a:moveTo>
                <a:lnTo>
                  <a:pt x="253746" y="230124"/>
                </a:lnTo>
              </a:path>
            </a:pathLst>
          </a:custGeom>
          <a:ln w="63246">
            <a:solidFill>
              <a:srgbClr val="000000"/>
            </a:solidFill>
            <a:prstDash val="dot"/>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53" name="object 146"/>
          <p:cNvSpPr/>
          <p:nvPr/>
        </p:nvSpPr>
        <p:spPr>
          <a:xfrm>
            <a:off x="9195302" y="2564600"/>
            <a:ext cx="0" cy="170151"/>
          </a:xfrm>
          <a:custGeom>
            <a:avLst/>
            <a:gdLst/>
            <a:ahLst/>
            <a:cxnLst/>
            <a:rect l="l" t="t" r="r" b="b"/>
            <a:pathLst>
              <a:path h="249555">
                <a:moveTo>
                  <a:pt x="0" y="0"/>
                </a:moveTo>
                <a:lnTo>
                  <a:pt x="0" y="249174"/>
                </a:lnTo>
              </a:path>
            </a:pathLst>
          </a:custGeom>
          <a:ln w="63246">
            <a:solidFill>
              <a:srgbClr val="000000"/>
            </a:solidFill>
            <a:prstDash val="dot"/>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81398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1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3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3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3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4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4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4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5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5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36" grpId="0"/>
      <p:bldP spid="37" grpId="0"/>
      <p:bldP spid="44" grpId="0"/>
      <p:bldP spid="48" grpId="0"/>
      <p:bldP spid="49" grpId="0" animBg="1"/>
      <p:bldP spid="50" grpId="0"/>
      <p:bldP spid="51" grpId="0"/>
      <p:bldP spid="95" grpId="0"/>
      <p:bldP spid="99" grpId="0"/>
      <p:bldP spid="132" grpId="0"/>
      <p:bldP spid="133" grpId="0"/>
      <p:bldP spid="134" grpId="0"/>
      <p:bldP spid="135" grpId="0"/>
      <p:bldP spid="136" grpId="0"/>
      <p:bldP spid="137" grpId="0"/>
      <p:bldP spid="138" grpId="0"/>
      <p:bldP spid="139" grpId="0"/>
      <p:bldP spid="140" grpId="0"/>
      <p:bldP spid="141" grpId="0"/>
      <p:bldP spid="142" grpId="0"/>
      <p:bldP spid="151" grpId="0" animBg="1"/>
      <p:bldP spid="152" grpId="0" animBg="1"/>
      <p:bldP spid="15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53998"/>
          </a:xfrm>
        </p:spPr>
        <p:txBody>
          <a:bodyPr/>
          <a:lstStyle/>
          <a:p>
            <a:r>
              <a:rPr lang="en-US" sz="3600" b="1" dirty="0" smtClean="0">
                <a:latin typeface="Verdana" panose="020B0604030504040204" pitchFamily="34" charset="0"/>
                <a:ea typeface="Verdana" panose="020B0604030504040204" pitchFamily="34" charset="0"/>
                <a:cs typeface="Times New Roman" panose="02020603050405020304" pitchFamily="18" charset="0"/>
              </a:rPr>
              <a:t>Digital </a:t>
            </a:r>
            <a:r>
              <a:rPr lang="en-US" sz="3600" b="1" dirty="0">
                <a:latin typeface="Verdana" panose="020B0604030504040204" pitchFamily="34" charset="0"/>
                <a:ea typeface="Verdana" panose="020B0604030504040204" pitchFamily="34" charset="0"/>
                <a:cs typeface="Times New Roman" panose="02020603050405020304" pitchFamily="18" charset="0"/>
              </a:rPr>
              <a:t>LDO</a:t>
            </a:r>
            <a:endParaRPr lang="en-US" dirty="0"/>
          </a:p>
        </p:txBody>
      </p:sp>
      <p:sp>
        <p:nvSpPr>
          <p:cNvPr id="4" name="Footer Placeholder 3"/>
          <p:cNvSpPr>
            <a:spLocks noGrp="1"/>
          </p:cNvSpPr>
          <p:nvPr>
            <p:ph type="ftr" sz="quarter" idx="5"/>
          </p:nvPr>
        </p:nvSpPr>
        <p:spPr>
          <a:xfrm>
            <a:off x="5518910" y="6537141"/>
            <a:ext cx="1478789" cy="3208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421894" y="653637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Text Placeholder 6"/>
          <p:cNvSpPr>
            <a:spLocks noGrp="1"/>
          </p:cNvSpPr>
          <p:nvPr>
            <p:ph type="body" idx="1"/>
          </p:nvPr>
        </p:nvSpPr>
        <p:spPr>
          <a:xfrm>
            <a:off x="844550" y="1327353"/>
            <a:ext cx="10830983" cy="5025863"/>
          </a:xfrm>
        </p:spPr>
        <p:txBody>
          <a:bodyPr/>
          <a:lstStyle/>
          <a:p>
            <a:pPr algn="just">
              <a:lnSpc>
                <a:spcPct val="107000"/>
              </a:lnSpc>
              <a:spcAft>
                <a:spcPts val="800"/>
              </a:spcAft>
            </a:pPr>
            <a:r>
              <a:rPr lang="en-US" sz="1800" dirty="0" smtClean="0">
                <a:latin typeface="Verdana" panose="020B0604030504040204" pitchFamily="34" charset="0"/>
                <a:ea typeface="Verdana" panose="020B0604030504040204" pitchFamily="34" charset="0"/>
                <a:cs typeface="Times New Roman" panose="02020603050405020304" pitchFamily="18" charset="0"/>
              </a:rPr>
              <a:t>A </a:t>
            </a:r>
            <a:r>
              <a:rPr lang="en-US" sz="1800" b="1" dirty="0">
                <a:latin typeface="Verdana" panose="020B0604030504040204" pitchFamily="34" charset="0"/>
                <a:ea typeface="Verdana" panose="020B0604030504040204" pitchFamily="34" charset="0"/>
                <a:cs typeface="Times New Roman" panose="02020603050405020304" pitchFamily="18" charset="0"/>
              </a:rPr>
              <a:t>digital LDO</a:t>
            </a:r>
            <a:r>
              <a:rPr lang="en-US" sz="1800" dirty="0">
                <a:latin typeface="Verdana" panose="020B0604030504040204" pitchFamily="34" charset="0"/>
                <a:ea typeface="Verdana" panose="020B0604030504040204" pitchFamily="34" charset="0"/>
                <a:cs typeface="Times New Roman" panose="02020603050405020304" pitchFamily="18" charset="0"/>
              </a:rPr>
              <a:t> replaces the traditional analog feedback loop with a </a:t>
            </a:r>
            <a:r>
              <a:rPr lang="en-US" sz="1800" b="1" dirty="0">
                <a:latin typeface="Verdana" panose="020B0604030504040204" pitchFamily="34" charset="0"/>
                <a:ea typeface="Verdana" panose="020B0604030504040204" pitchFamily="34" charset="0"/>
                <a:cs typeface="Times New Roman" panose="02020603050405020304" pitchFamily="18" charset="0"/>
              </a:rPr>
              <a:t>digital feedback loop</a:t>
            </a:r>
            <a:r>
              <a:rPr lang="en-US" sz="1800" dirty="0">
                <a:latin typeface="Verdana" panose="020B0604030504040204" pitchFamily="34" charset="0"/>
                <a:ea typeface="Verdana" panose="020B0604030504040204" pitchFamily="34" charset="0"/>
                <a:cs typeface="Times New Roman" panose="02020603050405020304" pitchFamily="18" charset="0"/>
              </a:rPr>
              <a:t>.</a:t>
            </a:r>
          </a:p>
          <a:p>
            <a:pPr marL="285750" indent="-285750" algn="just">
              <a:lnSpc>
                <a:spcPct val="107000"/>
              </a:lnSpc>
              <a:spcAft>
                <a:spcPts val="800"/>
              </a:spcAft>
              <a:buFont typeface="Arial" panose="020B0604020202020204" pitchFamily="34" charset="0"/>
              <a:buChar char="•"/>
            </a:pPr>
            <a:r>
              <a:rPr lang="en-US" sz="1800" dirty="0" smtClean="0">
                <a:latin typeface="Verdana" panose="020B0604030504040204" pitchFamily="34" charset="0"/>
                <a:ea typeface="Verdana" panose="020B0604030504040204" pitchFamily="34" charset="0"/>
                <a:cs typeface="Times New Roman" panose="02020603050405020304" pitchFamily="18" charset="0"/>
              </a:rPr>
              <a:t>The </a:t>
            </a:r>
            <a:r>
              <a:rPr lang="en-US" sz="1800" dirty="0">
                <a:latin typeface="Verdana" panose="020B0604030504040204" pitchFamily="34" charset="0"/>
                <a:ea typeface="Verdana" panose="020B0604030504040204" pitchFamily="34" charset="0"/>
                <a:cs typeface="Times New Roman" panose="02020603050405020304" pitchFamily="18" charset="0"/>
              </a:rPr>
              <a:t>idea: use </a:t>
            </a:r>
            <a:r>
              <a:rPr lang="en-US" sz="1800" b="1" dirty="0">
                <a:latin typeface="Verdana" panose="020B0604030504040204" pitchFamily="34" charset="0"/>
                <a:ea typeface="Verdana" panose="020B0604030504040204" pitchFamily="34" charset="0"/>
                <a:cs typeface="Times New Roman" panose="02020603050405020304" pitchFamily="18" charset="0"/>
              </a:rPr>
              <a:t>digital control hardware</a:t>
            </a:r>
            <a:r>
              <a:rPr lang="en-US" sz="1800" dirty="0">
                <a:latin typeface="Verdana" panose="020B0604030504040204" pitchFamily="34" charset="0"/>
                <a:ea typeface="Verdana" panose="020B0604030504040204" pitchFamily="34" charset="0"/>
                <a:cs typeface="Times New Roman" panose="02020603050405020304" pitchFamily="18" charset="0"/>
              </a:rPr>
              <a:t> as the controller, surrounded by:</a:t>
            </a:r>
          </a:p>
          <a:p>
            <a:pPr marL="800100" lvl="1" indent="-342900" algn="just">
              <a:lnSpc>
                <a:spcPct val="107000"/>
              </a:lnSpc>
              <a:spcAft>
                <a:spcPts val="800"/>
              </a:spcAft>
              <a:buSzPts val="1000"/>
              <a:buFont typeface="Wingdings" panose="05000000000000000000" pitchFamily="2" charset="2"/>
              <a:buChar char="q"/>
              <a:tabLst>
                <a:tab pos="457200" algn="l"/>
              </a:tabLst>
            </a:pPr>
            <a:r>
              <a:rPr lang="en-US" sz="1600" dirty="0">
                <a:latin typeface="Verdana" panose="020B0604030504040204" pitchFamily="34" charset="0"/>
                <a:ea typeface="Verdana" panose="020B0604030504040204" pitchFamily="34" charset="0"/>
                <a:cs typeface="Times New Roman" panose="02020603050405020304" pitchFamily="18" charset="0"/>
              </a:rPr>
              <a:t>An </a:t>
            </a:r>
            <a:r>
              <a:rPr lang="en-US" sz="1600" b="1" dirty="0">
                <a:latin typeface="Verdana" panose="020B0604030504040204" pitchFamily="34" charset="0"/>
                <a:ea typeface="Verdana" panose="020B0604030504040204" pitchFamily="34" charset="0"/>
                <a:cs typeface="Times New Roman" panose="02020603050405020304" pitchFamily="18" charset="0"/>
              </a:rPr>
              <a:t>ADC</a:t>
            </a:r>
            <a:r>
              <a:rPr lang="en-US" sz="1600" dirty="0">
                <a:latin typeface="Verdana" panose="020B0604030504040204" pitchFamily="34" charset="0"/>
                <a:ea typeface="Verdana" panose="020B0604030504040204" pitchFamily="34" charset="0"/>
                <a:cs typeface="Times New Roman" panose="02020603050405020304" pitchFamily="18" charset="0"/>
              </a:rPr>
              <a:t> (to sense the voltage difference).</a:t>
            </a:r>
          </a:p>
          <a:p>
            <a:pPr marL="800100" lvl="1" indent="-342900" algn="just">
              <a:lnSpc>
                <a:spcPct val="107000"/>
              </a:lnSpc>
              <a:spcAft>
                <a:spcPts val="800"/>
              </a:spcAft>
              <a:buSzPts val="1000"/>
              <a:buFont typeface="Wingdings" panose="05000000000000000000" pitchFamily="2" charset="2"/>
              <a:buChar char="q"/>
              <a:tabLst>
                <a:tab pos="457200" algn="l"/>
              </a:tabLst>
            </a:pPr>
            <a:r>
              <a:rPr lang="en-US" sz="1600" dirty="0">
                <a:latin typeface="Verdana" panose="020B0604030504040204" pitchFamily="34" charset="0"/>
                <a:ea typeface="Verdana" panose="020B0604030504040204" pitchFamily="34" charset="0"/>
                <a:cs typeface="Times New Roman" panose="02020603050405020304" pitchFamily="18" charset="0"/>
              </a:rPr>
              <a:t>A </a:t>
            </a:r>
            <a:r>
              <a:rPr lang="en-US" sz="1600" b="1" dirty="0">
                <a:latin typeface="Verdana" panose="020B0604030504040204" pitchFamily="34" charset="0"/>
                <a:ea typeface="Verdana" panose="020B0604030504040204" pitchFamily="34" charset="0"/>
                <a:cs typeface="Times New Roman" panose="02020603050405020304" pitchFamily="18" charset="0"/>
              </a:rPr>
              <a:t>DAC implemented as a power-FET array</a:t>
            </a:r>
            <a:r>
              <a:rPr lang="en-US" sz="1600" dirty="0">
                <a:latin typeface="Verdana" panose="020B0604030504040204" pitchFamily="34" charset="0"/>
                <a:ea typeface="Verdana" panose="020B0604030504040204" pitchFamily="34" charset="0"/>
                <a:cs typeface="Times New Roman" panose="02020603050405020304" pitchFamily="18" charset="0"/>
              </a:rPr>
              <a:t> (to regulate the output).</a:t>
            </a:r>
          </a:p>
          <a:p>
            <a:pPr marL="285750" indent="-285750" algn="just">
              <a:lnSpc>
                <a:spcPct val="107000"/>
              </a:lnSpc>
              <a:spcAft>
                <a:spcPts val="800"/>
              </a:spcAft>
              <a:buFont typeface="Arial" panose="020B0604020202020204" pitchFamily="34" charset="0"/>
              <a:buChar char="•"/>
            </a:pPr>
            <a:r>
              <a:rPr lang="en-US" sz="1800" dirty="0" smtClean="0">
                <a:latin typeface="Verdana" panose="020B0604030504040204" pitchFamily="34" charset="0"/>
                <a:ea typeface="Verdana" panose="020B0604030504040204" pitchFamily="34" charset="0"/>
                <a:cs typeface="Times New Roman" panose="02020603050405020304" pitchFamily="18" charset="0"/>
              </a:rPr>
              <a:t>Operation </a:t>
            </a:r>
            <a:r>
              <a:rPr lang="en-US" sz="1800" dirty="0">
                <a:latin typeface="Verdana" panose="020B0604030504040204" pitchFamily="34" charset="0"/>
                <a:ea typeface="Verdana" panose="020B0604030504040204" pitchFamily="34" charset="0"/>
                <a:cs typeface="Times New Roman" panose="02020603050405020304" pitchFamily="18" charset="0"/>
              </a:rPr>
              <a:t>flow:</a:t>
            </a:r>
          </a:p>
          <a:p>
            <a:pPr marL="800100" lvl="1" indent="-342900" algn="just">
              <a:lnSpc>
                <a:spcPct val="107000"/>
              </a:lnSpc>
              <a:spcAft>
                <a:spcPts val="800"/>
              </a:spcAft>
              <a:buFont typeface="+mj-lt"/>
              <a:buAutoNum type="arabicPeriod"/>
              <a:tabLst>
                <a:tab pos="457200" algn="l"/>
              </a:tabLst>
            </a:pPr>
            <a:r>
              <a:rPr lang="en-US" sz="1600" dirty="0">
                <a:latin typeface="Verdana" panose="020B0604030504040204" pitchFamily="34" charset="0"/>
                <a:ea typeface="Verdana" panose="020B0604030504040204" pitchFamily="34" charset="0"/>
                <a:cs typeface="Times New Roman" panose="02020603050405020304" pitchFamily="18" charset="0"/>
              </a:rPr>
              <a:t>The </a:t>
            </a:r>
            <a:r>
              <a:rPr lang="en-US" sz="1600" b="1" dirty="0">
                <a:latin typeface="Verdana" panose="020B0604030504040204" pitchFamily="34" charset="0"/>
                <a:ea typeface="Verdana" panose="020B0604030504040204" pitchFamily="34" charset="0"/>
                <a:cs typeface="Times New Roman" panose="02020603050405020304" pitchFamily="18" charset="0"/>
              </a:rPr>
              <a:t>ADC</a:t>
            </a:r>
            <a:r>
              <a:rPr lang="en-US" sz="1600" dirty="0">
                <a:latin typeface="Verdana" panose="020B0604030504040204" pitchFamily="34" charset="0"/>
                <a:ea typeface="Verdana" panose="020B0604030504040204" pitchFamily="34" charset="0"/>
                <a:cs typeface="Times New Roman" panose="02020603050405020304" pitchFamily="18" charset="0"/>
              </a:rPr>
              <a:t> measures the difference between the reference voltage and the output voltage.</a:t>
            </a:r>
          </a:p>
          <a:p>
            <a:pPr marL="800100" lvl="1" indent="-342900" algn="just">
              <a:lnSpc>
                <a:spcPct val="107000"/>
              </a:lnSpc>
              <a:spcAft>
                <a:spcPts val="800"/>
              </a:spcAft>
              <a:buFont typeface="+mj-lt"/>
              <a:buAutoNum type="arabicPeriod"/>
              <a:tabLst>
                <a:tab pos="457200" algn="l"/>
              </a:tabLst>
            </a:pPr>
            <a:r>
              <a:rPr lang="en-US" sz="1600" dirty="0">
                <a:latin typeface="Verdana" panose="020B0604030504040204" pitchFamily="34" charset="0"/>
                <a:ea typeface="Verdana" panose="020B0604030504040204" pitchFamily="34" charset="0"/>
                <a:cs typeface="Times New Roman" panose="02020603050405020304" pitchFamily="18" charset="0"/>
              </a:rPr>
              <a:t>It generates an </a:t>
            </a:r>
            <a:r>
              <a:rPr lang="en-US" sz="1600" b="1" dirty="0">
                <a:latin typeface="Verdana" panose="020B0604030504040204" pitchFamily="34" charset="0"/>
                <a:ea typeface="Verdana" panose="020B0604030504040204" pitchFamily="34" charset="0"/>
                <a:cs typeface="Times New Roman" panose="02020603050405020304" pitchFamily="18" charset="0"/>
              </a:rPr>
              <a:t>error code</a:t>
            </a:r>
            <a:r>
              <a:rPr lang="en-US" sz="1600" dirty="0">
                <a:latin typeface="Verdana" panose="020B0604030504040204" pitchFamily="34" charset="0"/>
                <a:ea typeface="Verdana" panose="020B0604030504040204" pitchFamily="34" charset="0"/>
                <a:cs typeface="Times New Roman" panose="02020603050405020304" pitchFamily="18" charset="0"/>
              </a:rPr>
              <a:t> proportional to this difference.</a:t>
            </a:r>
          </a:p>
          <a:p>
            <a:pPr marL="800100" lvl="1" indent="-342900" algn="just">
              <a:lnSpc>
                <a:spcPct val="107000"/>
              </a:lnSpc>
              <a:spcAft>
                <a:spcPts val="800"/>
              </a:spcAft>
              <a:buFont typeface="+mj-lt"/>
              <a:buAutoNum type="arabicPeriod"/>
              <a:tabLst>
                <a:tab pos="457200" algn="l"/>
              </a:tabLst>
            </a:pPr>
            <a:r>
              <a:rPr lang="en-US" sz="1600" dirty="0">
                <a:latin typeface="Verdana" panose="020B0604030504040204" pitchFamily="34" charset="0"/>
                <a:ea typeface="Verdana" panose="020B0604030504040204" pitchFamily="34" charset="0"/>
                <a:cs typeface="Times New Roman" panose="02020603050405020304" pitchFamily="18" charset="0"/>
              </a:rPr>
              <a:t>The </a:t>
            </a:r>
            <a:r>
              <a:rPr lang="en-US" sz="1600" b="1" dirty="0">
                <a:latin typeface="Verdana" panose="020B0604030504040204" pitchFamily="34" charset="0"/>
                <a:ea typeface="Verdana" panose="020B0604030504040204" pitchFamily="34" charset="0"/>
                <a:cs typeface="Times New Roman" panose="02020603050405020304" pitchFamily="18" charset="0"/>
              </a:rPr>
              <a:t>digital controller</a:t>
            </a:r>
            <a:r>
              <a:rPr lang="en-US" sz="1600" dirty="0">
                <a:latin typeface="Verdana" panose="020B0604030504040204" pitchFamily="34" charset="0"/>
                <a:ea typeface="Verdana" panose="020B0604030504040204" pitchFamily="34" charset="0"/>
                <a:cs typeface="Times New Roman" panose="02020603050405020304" pitchFamily="18" charset="0"/>
              </a:rPr>
              <a:t> processes this error code and produces a digital output </a:t>
            </a:r>
            <a:r>
              <a:rPr lang="en-US" sz="1600" dirty="0" err="1">
                <a:latin typeface="Verdana" panose="020B0604030504040204" pitchFamily="34" charset="0"/>
                <a:ea typeface="Verdana" panose="020B0604030504040204" pitchFamily="34" charset="0"/>
                <a:cs typeface="Times New Roman" panose="02020603050405020304" pitchFamily="18" charset="0"/>
              </a:rPr>
              <a:t>VgV_gVg</a:t>
            </a:r>
            <a:r>
              <a:rPr lang="en-US" sz="1600" dirty="0">
                <a:latin typeface="Verdana" panose="020B0604030504040204" pitchFamily="34" charset="0"/>
                <a:ea typeface="Verdana" panose="020B0604030504040204" pitchFamily="34" charset="0"/>
                <a:cs typeface="Times New Roman" panose="02020603050405020304" pitchFamily="18" charset="0"/>
              </a:rPr>
              <a:t>​.</a:t>
            </a:r>
          </a:p>
          <a:p>
            <a:pPr marL="800100" lvl="1" indent="-342900" algn="just">
              <a:lnSpc>
                <a:spcPct val="107000"/>
              </a:lnSpc>
              <a:spcAft>
                <a:spcPts val="800"/>
              </a:spcAft>
              <a:buFont typeface="+mj-lt"/>
              <a:buAutoNum type="arabicPeriod"/>
              <a:tabLst>
                <a:tab pos="457200" algn="l"/>
              </a:tabLst>
            </a:pPr>
            <a:r>
              <a:rPr lang="en-US" sz="1600" dirty="0">
                <a:latin typeface="Verdana" panose="020B0604030504040204" pitchFamily="34" charset="0"/>
                <a:ea typeface="Verdana" panose="020B0604030504040204" pitchFamily="34" charset="0"/>
                <a:cs typeface="Times New Roman" panose="02020603050405020304" pitchFamily="18" charset="0"/>
              </a:rPr>
              <a:t>Each bit of </a:t>
            </a:r>
            <a:r>
              <a:rPr lang="en-US" sz="1600" dirty="0" err="1">
                <a:latin typeface="Verdana" panose="020B0604030504040204" pitchFamily="34" charset="0"/>
                <a:ea typeface="Verdana" panose="020B0604030504040204" pitchFamily="34" charset="0"/>
                <a:cs typeface="Times New Roman" panose="02020603050405020304" pitchFamily="18" charset="0"/>
              </a:rPr>
              <a:t>VgV_gVg</a:t>
            </a:r>
            <a:r>
              <a:rPr lang="en-US" sz="1600" dirty="0">
                <a:latin typeface="Verdana" panose="020B0604030504040204" pitchFamily="34" charset="0"/>
                <a:ea typeface="Verdana" panose="020B0604030504040204" pitchFamily="34" charset="0"/>
                <a:cs typeface="Times New Roman" panose="02020603050405020304" pitchFamily="18" charset="0"/>
              </a:rPr>
              <a:t>​ drives one power transistor in the </a:t>
            </a:r>
            <a:r>
              <a:rPr lang="en-US" sz="1600" b="1" dirty="0">
                <a:latin typeface="Verdana" panose="020B0604030504040204" pitchFamily="34" charset="0"/>
                <a:ea typeface="Verdana" panose="020B0604030504040204" pitchFamily="34" charset="0"/>
                <a:cs typeface="Times New Roman" panose="02020603050405020304" pitchFamily="18" charset="0"/>
              </a:rPr>
              <a:t>FET array</a:t>
            </a:r>
            <a:r>
              <a:rPr lang="en-US" sz="1600" dirty="0">
                <a:latin typeface="Verdana" panose="020B0604030504040204" pitchFamily="34" charset="0"/>
                <a:ea typeface="Verdana" panose="020B0604030504040204" pitchFamily="34" charset="0"/>
                <a:cs typeface="Times New Roman" panose="02020603050405020304" pitchFamily="18" charset="0"/>
              </a:rPr>
              <a:t>, turning it ON or OFF.</a:t>
            </a:r>
          </a:p>
          <a:p>
            <a:pPr marL="800100" lvl="1" indent="-342900" algn="just">
              <a:lnSpc>
                <a:spcPct val="107000"/>
              </a:lnSpc>
              <a:spcAft>
                <a:spcPts val="800"/>
              </a:spcAft>
              <a:buFont typeface="+mj-lt"/>
              <a:buAutoNum type="arabicPeriod"/>
              <a:tabLst>
                <a:tab pos="457200" algn="l"/>
              </a:tabLst>
            </a:pPr>
            <a:r>
              <a:rPr lang="en-US" sz="1600" dirty="0">
                <a:latin typeface="Verdana" panose="020B0604030504040204" pitchFamily="34" charset="0"/>
                <a:ea typeface="Verdana" panose="020B0604030504040204" pitchFamily="34" charset="0"/>
                <a:cs typeface="Times New Roman" panose="02020603050405020304" pitchFamily="18" charset="0"/>
              </a:rPr>
              <a:t>By adjusting how many FETs conduct, the </a:t>
            </a:r>
            <a:r>
              <a:rPr lang="en-US" sz="1600" b="1" dirty="0">
                <a:latin typeface="Verdana" panose="020B0604030504040204" pitchFamily="34" charset="0"/>
                <a:ea typeface="Verdana" panose="020B0604030504040204" pitchFamily="34" charset="0"/>
                <a:cs typeface="Times New Roman" panose="02020603050405020304" pitchFamily="18" charset="0"/>
              </a:rPr>
              <a:t>effective resistance</a:t>
            </a:r>
            <a:r>
              <a:rPr lang="en-US" sz="1600" dirty="0">
                <a:latin typeface="Verdana" panose="020B0604030504040204" pitchFamily="34" charset="0"/>
                <a:ea typeface="Verdana" panose="020B0604030504040204" pitchFamily="34" charset="0"/>
                <a:cs typeface="Times New Roman" panose="02020603050405020304" pitchFamily="18" charset="0"/>
              </a:rPr>
              <a:t> of the array changes, thereby regulating the output voltage toward the reference.</a:t>
            </a:r>
          </a:p>
          <a:p>
            <a:pPr marL="285750" indent="-285750" algn="just">
              <a:lnSpc>
                <a:spcPct val="107000"/>
              </a:lnSpc>
              <a:spcAft>
                <a:spcPts val="800"/>
              </a:spcAft>
              <a:buFont typeface="Arial" panose="020B0604020202020204" pitchFamily="34" charset="0"/>
              <a:buChar char="•"/>
            </a:pPr>
            <a:r>
              <a:rPr lang="en-US" sz="1800" dirty="0" smtClean="0">
                <a:latin typeface="Verdana" panose="020B0604030504040204" pitchFamily="34" charset="0"/>
                <a:ea typeface="Verdana" panose="020B0604030504040204" pitchFamily="34" charset="0"/>
                <a:cs typeface="Times New Roman" panose="02020603050405020304" pitchFamily="18" charset="0"/>
              </a:rPr>
              <a:t>Similar </a:t>
            </a:r>
            <a:r>
              <a:rPr lang="en-US" sz="1800" dirty="0">
                <a:latin typeface="Verdana" panose="020B0604030504040204" pitchFamily="34" charset="0"/>
                <a:ea typeface="Verdana" panose="020B0604030504040204" pitchFamily="34" charset="0"/>
                <a:cs typeface="Times New Roman" panose="02020603050405020304" pitchFamily="18" charset="0"/>
              </a:rPr>
              <a:t>to the analog case, a </a:t>
            </a:r>
            <a:r>
              <a:rPr lang="en-US" sz="1800" b="1" dirty="0" err="1">
                <a:latin typeface="Verdana" panose="020B0604030504040204" pitchFamily="34" charset="0"/>
                <a:ea typeface="Verdana" panose="020B0604030504040204" pitchFamily="34" charset="0"/>
                <a:cs typeface="Times New Roman" panose="02020603050405020304" pitchFamily="18" charset="0"/>
              </a:rPr>
              <a:t>Cout</a:t>
            </a:r>
            <a:r>
              <a:rPr lang="en-US" sz="1800" b="1" dirty="0">
                <a:latin typeface="Verdana" panose="020B0604030504040204" pitchFamily="34" charset="0"/>
                <a:ea typeface="Verdana" panose="020B0604030504040204" pitchFamily="34" charset="0"/>
                <a:cs typeface="Times New Roman" panose="02020603050405020304" pitchFamily="18" charset="0"/>
              </a:rPr>
              <a:t> capacitor</a:t>
            </a:r>
            <a:r>
              <a:rPr lang="en-US" sz="1800" dirty="0">
                <a:latin typeface="Verdana" panose="020B0604030504040204" pitchFamily="34" charset="0"/>
                <a:ea typeface="Verdana" panose="020B0604030504040204" pitchFamily="34" charset="0"/>
                <a:cs typeface="Times New Roman" panose="02020603050405020304" pitchFamily="18" charset="0"/>
              </a:rPr>
              <a:t> is still required since the feedback speed of the digital LDO is not infinite.</a:t>
            </a:r>
          </a:p>
          <a:p>
            <a:endParaRPr lang="en-US" dirty="0"/>
          </a:p>
        </p:txBody>
      </p:sp>
    </p:spTree>
    <p:extLst>
      <p:ext uri="{BB962C8B-B14F-4D97-AF65-F5344CB8AC3E}">
        <p14:creationId xmlns:p14="http://schemas.microsoft.com/office/powerpoint/2010/main" val="396180717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98148" y="237085"/>
            <a:ext cx="7222634" cy="531526"/>
          </a:xfrm>
          <a:prstGeom prst="rect">
            <a:avLst/>
          </a:prstGeom>
        </p:spPr>
        <p:txBody>
          <a:bodyPr vert="horz" wrap="square" lIns="0" tIns="8226" rIns="0" bIns="0" rtlCol="0">
            <a:spAutoFit/>
          </a:bodyPr>
          <a:lstStyle/>
          <a:p>
            <a:pPr marL="8659">
              <a:spcBef>
                <a:spcPts val="65"/>
              </a:spcBef>
            </a:pPr>
            <a:r>
              <a:rPr dirty="0"/>
              <a:t>Analog</a:t>
            </a:r>
            <a:r>
              <a:rPr spc="-41" dirty="0"/>
              <a:t> </a:t>
            </a:r>
            <a:r>
              <a:rPr dirty="0"/>
              <a:t>vs</a:t>
            </a:r>
            <a:r>
              <a:rPr spc="-48" dirty="0"/>
              <a:t> </a:t>
            </a:r>
            <a:r>
              <a:rPr dirty="0"/>
              <a:t>Digital</a:t>
            </a:r>
            <a:r>
              <a:rPr spc="-48" dirty="0"/>
              <a:t> </a:t>
            </a:r>
            <a:r>
              <a:rPr spc="-14" dirty="0"/>
              <a:t>LDOs</a:t>
            </a:r>
          </a:p>
        </p:txBody>
      </p:sp>
      <p:sp>
        <p:nvSpPr>
          <p:cNvPr id="3" name="object 3"/>
          <p:cNvSpPr txBox="1"/>
          <p:nvPr/>
        </p:nvSpPr>
        <p:spPr>
          <a:xfrm>
            <a:off x="1086139" y="1392749"/>
            <a:ext cx="3245427" cy="1568629"/>
          </a:xfrm>
          <a:prstGeom prst="rect">
            <a:avLst/>
          </a:prstGeom>
        </p:spPr>
        <p:txBody>
          <a:bodyPr vert="horz" wrap="square" lIns="0" tIns="50223" rIns="0" bIns="0" rtlCol="0">
            <a:spAutoFit/>
          </a:bodyPr>
          <a:lstStyle/>
          <a:p>
            <a:pPr marL="8659" marR="0" lvl="0" indent="0" algn="l" defTabSz="914400" rtl="0" eaLnBrk="1" fontAlgn="auto" latinLnBrk="0" hangingPunct="1">
              <a:lnSpc>
                <a:spcPct val="100000"/>
              </a:lnSpc>
              <a:spcBef>
                <a:spcPts val="395"/>
              </a:spcBef>
              <a:spcAft>
                <a:spcPts val="0"/>
              </a:spcAft>
              <a:buClrTx/>
              <a:buSzTx/>
              <a:buFontTx/>
              <a:buNone/>
              <a:tabLst/>
              <a:defRPr/>
            </a:pPr>
            <a:r>
              <a:rPr kumimoji="0" sz="1364" b="1" i="0" u="none" strike="noStrike" kern="1200" cap="none" spc="0" normalizeH="0" baseline="0" noProof="0" dirty="0">
                <a:ln>
                  <a:noFill/>
                </a:ln>
                <a:solidFill>
                  <a:prstClr val="black"/>
                </a:solidFill>
                <a:effectLst/>
                <a:uLnTx/>
                <a:uFillTx/>
                <a:latin typeface="Verdana"/>
                <a:ea typeface="+mn-ea"/>
                <a:cs typeface="Verdana"/>
              </a:rPr>
              <a:t>Analog</a:t>
            </a:r>
            <a:r>
              <a:rPr kumimoji="0" sz="1364" b="1" i="0" u="none" strike="noStrike" kern="1200" cap="none" spc="-44" normalizeH="0" baseline="0" noProof="0" dirty="0">
                <a:ln>
                  <a:noFill/>
                </a:ln>
                <a:solidFill>
                  <a:prstClr val="black"/>
                </a:solidFill>
                <a:effectLst/>
                <a:uLnTx/>
                <a:uFillTx/>
                <a:latin typeface="Verdana"/>
                <a:ea typeface="+mn-ea"/>
                <a:cs typeface="Verdana"/>
              </a:rPr>
              <a:t> </a:t>
            </a:r>
            <a:r>
              <a:rPr kumimoji="0" sz="1364" b="1" i="0" u="none" strike="noStrike" kern="1200" cap="none" spc="-17" normalizeH="0" baseline="0" noProof="0" dirty="0">
                <a:ln>
                  <a:noFill/>
                </a:ln>
                <a:solidFill>
                  <a:prstClr val="black"/>
                </a:solidFill>
                <a:effectLst/>
                <a:uLnTx/>
                <a:uFillTx/>
                <a:latin typeface="Verdana"/>
                <a:ea typeface="+mn-ea"/>
                <a:cs typeface="Verdana"/>
              </a:rPr>
              <a:t>LDO</a:t>
            </a:r>
            <a:endParaRPr kumimoji="0" sz="1364" b="0" i="0" u="none" strike="noStrike" kern="1200" cap="none" spc="0" normalizeH="0" baseline="0" noProof="0" dirty="0">
              <a:ln>
                <a:noFill/>
              </a:ln>
              <a:solidFill>
                <a:prstClr val="black"/>
              </a:solidFill>
              <a:effectLst/>
              <a:uLnTx/>
              <a:uFillTx/>
              <a:latin typeface="Verdana"/>
              <a:ea typeface="+mn-ea"/>
              <a:cs typeface="Verdana"/>
            </a:endParaRPr>
          </a:p>
          <a:p>
            <a:pPr marL="329037" marR="0" lvl="0" indent="-320378" algn="l" defTabSz="914400" rtl="0" eaLnBrk="1" fontAlgn="auto" latinLnBrk="0" hangingPunct="1">
              <a:lnSpc>
                <a:spcPct val="100000"/>
              </a:lnSpc>
              <a:spcBef>
                <a:spcPts val="324"/>
              </a:spcBef>
              <a:spcAft>
                <a:spcPts val="0"/>
              </a:spcAft>
              <a:buClr>
                <a:srgbClr val="CC0000"/>
              </a:buClr>
              <a:buSzTx/>
              <a:buFont typeface="Wingdings"/>
              <a:buChar char=""/>
              <a:tabLst>
                <a:tab pos="329037" algn="l"/>
              </a:tabLst>
              <a:defRPr/>
            </a:pPr>
            <a:r>
              <a:rPr kumimoji="0" sz="1364" b="0" i="0" u="none" strike="noStrike" kern="1200" cap="none" spc="-14" normalizeH="0" baseline="0" noProof="0" dirty="0">
                <a:ln>
                  <a:noFill/>
                </a:ln>
                <a:solidFill>
                  <a:prstClr val="black"/>
                </a:solidFill>
                <a:effectLst/>
                <a:uLnTx/>
                <a:uFillTx/>
                <a:latin typeface="Verdana"/>
                <a:ea typeface="+mn-ea"/>
                <a:cs typeface="Verdana"/>
              </a:rPr>
              <a:t>Pros</a:t>
            </a:r>
            <a:endParaRPr kumimoji="0" sz="1364" b="0" i="0" u="none" strike="noStrike" kern="1200" cap="none" spc="0" normalizeH="0" baseline="0" noProof="0" dirty="0">
              <a:ln>
                <a:noFill/>
              </a:ln>
              <a:solidFill>
                <a:prstClr val="black"/>
              </a:solidFill>
              <a:effectLst/>
              <a:uLnTx/>
              <a:uFillTx/>
              <a:latin typeface="Verdana"/>
              <a:ea typeface="+mn-ea"/>
              <a:cs typeface="Verdana"/>
            </a:endParaRPr>
          </a:p>
          <a:p>
            <a:pPr marL="627767" marR="16885" lvl="1" indent="-298298" algn="l" defTabSz="914400" rtl="0" eaLnBrk="1" fontAlgn="auto" latinLnBrk="0" hangingPunct="1">
              <a:lnSpc>
                <a:spcPct val="100000"/>
              </a:lnSpc>
              <a:spcBef>
                <a:spcPts val="296"/>
              </a:spcBef>
              <a:spcAft>
                <a:spcPts val="0"/>
              </a:spcAft>
              <a:buClr>
                <a:srgbClr val="CC0000"/>
              </a:buClr>
              <a:buSzTx/>
              <a:buFont typeface="Wingdings"/>
              <a:buChar char=""/>
              <a:tabLst>
                <a:tab pos="627767"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High</a:t>
            </a:r>
            <a:r>
              <a:rPr kumimoji="0" sz="1227" b="0" i="0" u="none" strike="noStrike" kern="1200" cap="none" spc="-20"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bandwidth</a:t>
            </a:r>
            <a:r>
              <a:rPr kumimoji="0" sz="1227" b="0" i="0" u="none" strike="noStrike" kern="1200" cap="none" spc="-1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for</a:t>
            </a:r>
            <a:r>
              <a:rPr kumimoji="0" sz="1227" b="0" i="0" u="none" strike="noStrike" kern="1200" cap="none" spc="-2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fast</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transient response</a:t>
            </a:r>
            <a:endParaRPr kumimoji="0" sz="1227" b="0" i="0" u="none" strike="noStrike" kern="1200" cap="none" spc="0" normalizeH="0" baseline="0" noProof="0" dirty="0">
              <a:ln>
                <a:noFill/>
              </a:ln>
              <a:solidFill>
                <a:prstClr val="black"/>
              </a:solidFill>
              <a:effectLst/>
              <a:uLnTx/>
              <a:uFillTx/>
              <a:latin typeface="Verdana"/>
              <a:ea typeface="+mn-ea"/>
              <a:cs typeface="Verdana"/>
            </a:endParaRPr>
          </a:p>
          <a:p>
            <a:pPr marL="627767" marR="3464" lvl="1" indent="-298298" algn="l" defTabSz="914400" rtl="0" eaLnBrk="1" fontAlgn="auto" latinLnBrk="0" hangingPunct="1">
              <a:lnSpc>
                <a:spcPct val="100000"/>
              </a:lnSpc>
              <a:spcBef>
                <a:spcPts val="296"/>
              </a:spcBef>
              <a:spcAft>
                <a:spcPts val="0"/>
              </a:spcAft>
              <a:buClr>
                <a:srgbClr val="CC0000"/>
              </a:buClr>
              <a:buSzTx/>
              <a:buFont typeface="Wingdings"/>
              <a:buChar char=""/>
              <a:tabLst>
                <a:tab pos="627767"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High</a:t>
            </a:r>
            <a:r>
              <a:rPr kumimoji="0" sz="1227" b="0" i="0" u="none" strike="noStrike" kern="1200" cap="none" spc="-31"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power</a:t>
            </a:r>
            <a:r>
              <a:rPr kumimoji="0" sz="1227" b="0" i="0" u="none" strike="noStrike" kern="1200" cap="none" spc="-3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supply</a:t>
            </a:r>
            <a:r>
              <a:rPr kumimoji="0" sz="1227" b="0" i="0" u="none" strike="noStrike" kern="1200" cap="none" spc="-31"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rejection</a:t>
            </a:r>
            <a:r>
              <a:rPr kumimoji="0" sz="1227" b="0" i="0" u="none" strike="noStrike" kern="1200" cap="none" spc="-27"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ratio (PSRR)</a:t>
            </a:r>
            <a:endParaRPr kumimoji="0" sz="1227" b="0" i="0" u="none" strike="noStrike" kern="1200" cap="none" spc="0" normalizeH="0" baseline="0" noProof="0" dirty="0">
              <a:ln>
                <a:noFill/>
              </a:ln>
              <a:solidFill>
                <a:prstClr val="black"/>
              </a:solidFill>
              <a:effectLst/>
              <a:uLnTx/>
              <a:uFillTx/>
              <a:latin typeface="Verdana"/>
              <a:ea typeface="+mn-ea"/>
              <a:cs typeface="Verdana"/>
            </a:endParaRPr>
          </a:p>
          <a:p>
            <a:pPr marL="627767" marR="0" lvl="1" indent="-298298" algn="l" defTabSz="914400" rtl="0" eaLnBrk="1" fontAlgn="auto" latinLnBrk="0" hangingPunct="1">
              <a:lnSpc>
                <a:spcPct val="100000"/>
              </a:lnSpc>
              <a:spcBef>
                <a:spcPts val="293"/>
              </a:spcBef>
              <a:spcAft>
                <a:spcPts val="0"/>
              </a:spcAft>
              <a:buClr>
                <a:srgbClr val="CC0000"/>
              </a:buClr>
              <a:buSzTx/>
              <a:buFont typeface="Wingdings"/>
              <a:buChar char=""/>
              <a:tabLst>
                <a:tab pos="627767"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Small</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output</a:t>
            </a:r>
            <a:r>
              <a:rPr kumimoji="0" sz="1227" b="0" i="0" u="none" strike="noStrike" kern="1200" cap="none" spc="-20"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ripple</a:t>
            </a:r>
            <a:endParaRPr kumimoji="0" sz="1227" b="0" i="0" u="none" strike="noStrike" kern="1200" cap="none" spc="0" normalizeH="0" baseline="0" noProof="0" dirty="0">
              <a:ln>
                <a:noFill/>
              </a:ln>
              <a:solidFill>
                <a:prstClr val="black"/>
              </a:solidFill>
              <a:effectLst/>
              <a:uLnTx/>
              <a:uFillTx/>
              <a:latin typeface="Verdana"/>
              <a:ea typeface="+mn-ea"/>
              <a:cs typeface="Verdana"/>
            </a:endParaRPr>
          </a:p>
        </p:txBody>
      </p:sp>
      <p:sp>
        <p:nvSpPr>
          <p:cNvPr id="4" name="object 4"/>
          <p:cNvSpPr txBox="1"/>
          <p:nvPr/>
        </p:nvSpPr>
        <p:spPr>
          <a:xfrm>
            <a:off x="1086140" y="3163303"/>
            <a:ext cx="3202565" cy="1131394"/>
          </a:xfrm>
          <a:prstGeom prst="rect">
            <a:avLst/>
          </a:prstGeom>
        </p:spPr>
        <p:txBody>
          <a:bodyPr vert="horz" wrap="square" lIns="0" tIns="50223" rIns="0" bIns="0" rtlCol="0">
            <a:spAutoFit/>
          </a:bodyPr>
          <a:lstStyle/>
          <a:p>
            <a:pPr marL="329037" marR="0" lvl="0" indent="-320378" algn="l" defTabSz="914400" rtl="0" eaLnBrk="1" fontAlgn="auto" latinLnBrk="0" hangingPunct="1">
              <a:lnSpc>
                <a:spcPct val="100000"/>
              </a:lnSpc>
              <a:spcBef>
                <a:spcPts val="395"/>
              </a:spcBef>
              <a:spcAft>
                <a:spcPts val="0"/>
              </a:spcAft>
              <a:buClr>
                <a:srgbClr val="CC0000"/>
              </a:buClr>
              <a:buSzTx/>
              <a:buFont typeface="Wingdings"/>
              <a:buChar char=""/>
              <a:tabLst>
                <a:tab pos="329037" algn="l"/>
              </a:tabLst>
              <a:defRPr/>
            </a:pPr>
            <a:r>
              <a:rPr kumimoji="0" sz="1364" b="0" i="0" u="none" strike="noStrike" kern="1200" cap="none" spc="-14" normalizeH="0" baseline="0" noProof="0" dirty="0">
                <a:ln>
                  <a:noFill/>
                </a:ln>
                <a:solidFill>
                  <a:prstClr val="black"/>
                </a:solidFill>
                <a:effectLst/>
                <a:uLnTx/>
                <a:uFillTx/>
                <a:latin typeface="Verdana"/>
                <a:ea typeface="+mn-ea"/>
                <a:cs typeface="Verdana"/>
              </a:rPr>
              <a:t>Cons</a:t>
            </a:r>
            <a:endParaRPr kumimoji="0" sz="1364" b="0" i="0" u="none" strike="noStrike" kern="1200" cap="none" spc="0" normalizeH="0" baseline="0" noProof="0">
              <a:ln>
                <a:noFill/>
              </a:ln>
              <a:solidFill>
                <a:prstClr val="black"/>
              </a:solidFill>
              <a:effectLst/>
              <a:uLnTx/>
              <a:uFillTx/>
              <a:latin typeface="Verdana"/>
              <a:ea typeface="+mn-ea"/>
              <a:cs typeface="Verdana"/>
            </a:endParaRPr>
          </a:p>
          <a:p>
            <a:pPr marL="627767" marR="0" lvl="1" indent="-298298" algn="l" defTabSz="914400" rtl="0" eaLnBrk="1" fontAlgn="auto" latinLnBrk="0" hangingPunct="1">
              <a:lnSpc>
                <a:spcPct val="100000"/>
              </a:lnSpc>
              <a:spcBef>
                <a:spcPts val="296"/>
              </a:spcBef>
              <a:spcAft>
                <a:spcPts val="0"/>
              </a:spcAft>
              <a:buClr>
                <a:srgbClr val="CC0000"/>
              </a:buClr>
              <a:buSzTx/>
              <a:buFont typeface="Wingdings"/>
              <a:buChar char=""/>
              <a:tabLst>
                <a:tab pos="627767"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Complex/bulky</a:t>
            </a:r>
            <a:r>
              <a:rPr kumimoji="0" sz="1227" b="0" i="0" u="none" strike="noStrike" kern="1200" cap="none" spc="-3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analog</a:t>
            </a:r>
            <a:r>
              <a:rPr kumimoji="0" sz="1227" b="0" i="0" u="none" strike="noStrike" kern="1200" cap="none" spc="-44"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design</a:t>
            </a:r>
            <a:endParaRPr kumimoji="0" sz="1227" b="0" i="0" u="none" strike="noStrike" kern="1200" cap="none" spc="0" normalizeH="0" baseline="0" noProof="0">
              <a:ln>
                <a:noFill/>
              </a:ln>
              <a:solidFill>
                <a:prstClr val="black"/>
              </a:solidFill>
              <a:effectLst/>
              <a:uLnTx/>
              <a:uFillTx/>
              <a:latin typeface="Verdana"/>
              <a:ea typeface="+mn-ea"/>
              <a:cs typeface="Verdana"/>
            </a:endParaRPr>
          </a:p>
          <a:p>
            <a:pPr marL="627767" marR="0" lvl="1" indent="-298298" algn="l" defTabSz="914400" rtl="0" eaLnBrk="1" fontAlgn="auto" latinLnBrk="0" hangingPunct="1">
              <a:lnSpc>
                <a:spcPct val="100000"/>
              </a:lnSpc>
              <a:spcBef>
                <a:spcPts val="293"/>
              </a:spcBef>
              <a:spcAft>
                <a:spcPts val="0"/>
              </a:spcAft>
              <a:buClr>
                <a:srgbClr val="CC0000"/>
              </a:buClr>
              <a:buSzTx/>
              <a:buFont typeface="Wingdings"/>
              <a:buChar char=""/>
              <a:tabLst>
                <a:tab pos="627767"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Limited</a:t>
            </a:r>
            <a:r>
              <a:rPr kumimoji="0" sz="1227" b="0" i="0" u="none" strike="noStrike" kern="1200" cap="none" spc="-1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scalability</a:t>
            </a:r>
            <a:r>
              <a:rPr kumimoji="0" sz="1227" b="0" i="0" u="none" strike="noStrike" kern="1200" cap="none" spc="-1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to</a:t>
            </a:r>
            <a:r>
              <a:rPr kumimoji="0" sz="1227" b="0" i="0" u="none" strike="noStrike" kern="1200" cap="none" spc="-31"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low</a:t>
            </a:r>
            <a:r>
              <a:rPr kumimoji="0" sz="1227" b="0" i="0" u="none" strike="noStrike" kern="1200" cap="none" spc="-27"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voltage</a:t>
            </a:r>
            <a:endParaRPr kumimoji="0" sz="1227" b="0" i="0" u="none" strike="noStrike" kern="1200" cap="none" spc="0" normalizeH="0" baseline="0" noProof="0">
              <a:ln>
                <a:noFill/>
              </a:ln>
              <a:solidFill>
                <a:prstClr val="black"/>
              </a:solidFill>
              <a:effectLst/>
              <a:uLnTx/>
              <a:uFillTx/>
              <a:latin typeface="Verdana"/>
              <a:ea typeface="+mn-ea"/>
              <a:cs typeface="Verdana"/>
            </a:endParaRPr>
          </a:p>
          <a:p>
            <a:pPr marL="627767" marR="48490" lvl="1" indent="-298298" algn="l" defTabSz="914400" rtl="0" eaLnBrk="1" fontAlgn="auto" latinLnBrk="0" hangingPunct="1">
              <a:lnSpc>
                <a:spcPct val="100000"/>
              </a:lnSpc>
              <a:spcBef>
                <a:spcPts val="293"/>
              </a:spcBef>
              <a:spcAft>
                <a:spcPts val="0"/>
              </a:spcAft>
              <a:buClr>
                <a:srgbClr val="CC0000"/>
              </a:buClr>
              <a:buSzTx/>
              <a:buFont typeface="Wingdings"/>
              <a:buChar char=""/>
              <a:tabLst>
                <a:tab pos="627767"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Loop</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gain</a:t>
            </a:r>
            <a:r>
              <a:rPr kumimoji="0" sz="1227" b="0" i="0" u="none" strike="noStrike" kern="1200" cap="none" spc="-1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depends</a:t>
            </a:r>
            <a:r>
              <a:rPr kumimoji="0" sz="1227" b="0" i="0" u="none" strike="noStrike" kern="1200" cap="none" spc="-10"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on</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operating voltage</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5" name="object 5"/>
          <p:cNvSpPr txBox="1"/>
          <p:nvPr/>
        </p:nvSpPr>
        <p:spPr>
          <a:xfrm>
            <a:off x="7513872" y="1223415"/>
            <a:ext cx="1116589" cy="509044"/>
          </a:xfrm>
          <a:prstGeom prst="rect">
            <a:avLst/>
          </a:prstGeom>
        </p:spPr>
        <p:txBody>
          <a:bodyPr vert="horz" wrap="square" lIns="0" tIns="50223" rIns="0" bIns="0" rtlCol="0">
            <a:spAutoFit/>
          </a:bodyPr>
          <a:lstStyle/>
          <a:p>
            <a:pPr marL="8659" marR="0" lvl="0" indent="0" algn="l" defTabSz="914400" rtl="0" eaLnBrk="1" fontAlgn="auto" latinLnBrk="0" hangingPunct="1">
              <a:lnSpc>
                <a:spcPct val="100000"/>
              </a:lnSpc>
              <a:spcBef>
                <a:spcPts val="395"/>
              </a:spcBef>
              <a:spcAft>
                <a:spcPts val="0"/>
              </a:spcAft>
              <a:buClrTx/>
              <a:buSzTx/>
              <a:buFontTx/>
              <a:buNone/>
              <a:tabLst/>
              <a:defRPr/>
            </a:pPr>
            <a:r>
              <a:rPr kumimoji="0" sz="1364" b="1" i="0" u="none" strike="noStrike" kern="1200" cap="none" spc="0" normalizeH="0" baseline="0" noProof="0" dirty="0">
                <a:ln>
                  <a:noFill/>
                </a:ln>
                <a:solidFill>
                  <a:prstClr val="black"/>
                </a:solidFill>
                <a:effectLst/>
                <a:uLnTx/>
                <a:uFillTx/>
                <a:latin typeface="Verdana"/>
                <a:ea typeface="+mn-ea"/>
                <a:cs typeface="Verdana"/>
              </a:rPr>
              <a:t>Digital</a:t>
            </a:r>
            <a:r>
              <a:rPr kumimoji="0" sz="1364" b="1" i="0" u="none" strike="noStrike" kern="1200" cap="none" spc="-37" normalizeH="0" baseline="0" noProof="0" dirty="0">
                <a:ln>
                  <a:noFill/>
                </a:ln>
                <a:solidFill>
                  <a:prstClr val="black"/>
                </a:solidFill>
                <a:effectLst/>
                <a:uLnTx/>
                <a:uFillTx/>
                <a:latin typeface="Verdana"/>
                <a:ea typeface="+mn-ea"/>
                <a:cs typeface="Verdana"/>
              </a:rPr>
              <a:t> </a:t>
            </a:r>
            <a:r>
              <a:rPr kumimoji="0" sz="1364" b="1" i="0" u="none" strike="noStrike" kern="1200" cap="none" spc="-17" normalizeH="0" baseline="0" noProof="0" dirty="0">
                <a:ln>
                  <a:noFill/>
                </a:ln>
                <a:solidFill>
                  <a:prstClr val="black"/>
                </a:solidFill>
                <a:effectLst/>
                <a:uLnTx/>
                <a:uFillTx/>
                <a:latin typeface="Verdana"/>
                <a:ea typeface="+mn-ea"/>
                <a:cs typeface="Verdana"/>
              </a:rPr>
              <a:t>LDO</a:t>
            </a:r>
            <a:endParaRPr kumimoji="0" sz="1364" b="0" i="0" u="none" strike="noStrike" kern="1200" cap="none" spc="0" normalizeH="0" baseline="0" noProof="0" dirty="0">
              <a:ln>
                <a:noFill/>
              </a:ln>
              <a:solidFill>
                <a:prstClr val="black"/>
              </a:solidFill>
              <a:effectLst/>
              <a:uLnTx/>
              <a:uFillTx/>
              <a:latin typeface="Verdana"/>
              <a:ea typeface="+mn-ea"/>
              <a:cs typeface="Verdana"/>
            </a:endParaRPr>
          </a:p>
          <a:p>
            <a:pPr marL="329037" marR="0" lvl="0" indent="-320378" algn="l" defTabSz="914400" rtl="0" eaLnBrk="1" fontAlgn="auto" latinLnBrk="0" hangingPunct="1">
              <a:lnSpc>
                <a:spcPct val="100000"/>
              </a:lnSpc>
              <a:spcBef>
                <a:spcPts val="324"/>
              </a:spcBef>
              <a:spcAft>
                <a:spcPts val="0"/>
              </a:spcAft>
              <a:buClr>
                <a:srgbClr val="CC0000"/>
              </a:buClr>
              <a:buSzTx/>
              <a:buFont typeface="Wingdings"/>
              <a:buChar char=""/>
              <a:tabLst>
                <a:tab pos="329037" algn="l"/>
              </a:tabLst>
              <a:defRPr/>
            </a:pPr>
            <a:r>
              <a:rPr kumimoji="0" sz="1364" b="0" i="0" u="none" strike="noStrike" kern="1200" cap="none" spc="-14" normalizeH="0" baseline="0" noProof="0" dirty="0">
                <a:ln>
                  <a:noFill/>
                </a:ln>
                <a:solidFill>
                  <a:prstClr val="black"/>
                </a:solidFill>
                <a:effectLst/>
                <a:uLnTx/>
                <a:uFillTx/>
                <a:latin typeface="Verdana"/>
                <a:ea typeface="+mn-ea"/>
                <a:cs typeface="Verdana"/>
              </a:rPr>
              <a:t>Pros</a:t>
            </a:r>
            <a:endParaRPr kumimoji="0" sz="1364" b="0" i="0" u="none" strike="noStrike" kern="1200" cap="none" spc="0" normalizeH="0" baseline="0" noProof="0" dirty="0">
              <a:ln>
                <a:noFill/>
              </a:ln>
              <a:solidFill>
                <a:prstClr val="black"/>
              </a:solidFill>
              <a:effectLst/>
              <a:uLnTx/>
              <a:uFillTx/>
              <a:latin typeface="Verdana"/>
              <a:ea typeface="+mn-ea"/>
              <a:cs typeface="Verdana"/>
            </a:endParaRPr>
          </a:p>
        </p:txBody>
      </p:sp>
      <p:sp>
        <p:nvSpPr>
          <p:cNvPr id="6" name="object 6"/>
          <p:cNvSpPr txBox="1"/>
          <p:nvPr/>
        </p:nvSpPr>
        <p:spPr>
          <a:xfrm>
            <a:off x="7834795" y="1759719"/>
            <a:ext cx="3209492" cy="1029857"/>
          </a:xfrm>
          <a:prstGeom prst="rect">
            <a:avLst/>
          </a:prstGeom>
        </p:spPr>
        <p:txBody>
          <a:bodyPr vert="horz" wrap="square" lIns="0" tIns="8659" rIns="0" bIns="0" rtlCol="0">
            <a:spAutoFit/>
          </a:bodyPr>
          <a:lstStyle/>
          <a:p>
            <a:pPr marL="306957" marR="246345" lvl="0" indent="-298298" algn="l" defTabSz="914400" rtl="0" eaLnBrk="1" fontAlgn="auto" latinLnBrk="0" hangingPunct="1">
              <a:lnSpc>
                <a:spcPct val="100000"/>
              </a:lnSpc>
              <a:spcBef>
                <a:spcPts val="68"/>
              </a:spcBef>
              <a:spcAft>
                <a:spcPts val="0"/>
              </a:spcAft>
              <a:buClr>
                <a:srgbClr val="CC0000"/>
              </a:buClr>
              <a:buSzTx/>
              <a:buFont typeface="Wingdings"/>
              <a:buChar char=""/>
              <a:tabLst>
                <a:tab pos="306957"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No</a:t>
            </a:r>
            <a:r>
              <a:rPr kumimoji="0" sz="1227" b="0" i="0" u="none" strike="noStrike" kern="1200" cap="none" spc="-1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major</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analog</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components</a:t>
            </a:r>
            <a:r>
              <a:rPr kumimoji="0" sz="1227" b="0" i="0" u="none" strike="noStrike" kern="1200" cap="none" spc="-17" normalizeH="0" baseline="0" noProof="0" dirty="0">
                <a:ln>
                  <a:noFill/>
                </a:ln>
                <a:solidFill>
                  <a:prstClr val="black"/>
                </a:solidFill>
                <a:effectLst/>
                <a:uLnTx/>
                <a:uFillTx/>
                <a:latin typeface="Verdana"/>
                <a:ea typeface="+mn-ea"/>
                <a:cs typeface="Verdana"/>
              </a:rPr>
              <a:t> and </a:t>
            </a:r>
            <a:r>
              <a:rPr kumimoji="0" sz="1227" b="0" i="0" u="none" strike="noStrike" kern="1200" cap="none" spc="0" normalizeH="0" baseline="0" noProof="0" dirty="0">
                <a:ln>
                  <a:noFill/>
                </a:ln>
                <a:solidFill>
                  <a:prstClr val="black"/>
                </a:solidFill>
                <a:effectLst/>
                <a:uLnTx/>
                <a:uFillTx/>
                <a:latin typeface="Verdana"/>
                <a:ea typeface="+mn-ea"/>
                <a:cs typeface="Verdana"/>
              </a:rPr>
              <a:t>synthesizable</a:t>
            </a:r>
            <a:r>
              <a:rPr kumimoji="0" sz="1227" b="0" i="0" u="none" strike="noStrike" kern="1200" cap="none" spc="-55"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control</a:t>
            </a:r>
            <a:endParaRPr kumimoji="0" sz="1227" b="0" i="0" u="none" strike="noStrike" kern="1200" cap="none" spc="0" normalizeH="0" baseline="0" noProof="0">
              <a:ln>
                <a:noFill/>
              </a:ln>
              <a:solidFill>
                <a:prstClr val="black"/>
              </a:solidFill>
              <a:effectLst/>
              <a:uLnTx/>
              <a:uFillTx/>
              <a:latin typeface="Verdana"/>
              <a:ea typeface="+mn-ea"/>
              <a:cs typeface="Verdana"/>
            </a:endParaRPr>
          </a:p>
          <a:p>
            <a:pPr marL="306524" marR="0" lvl="0" indent="-297865" algn="l" defTabSz="914400" rtl="0" eaLnBrk="1" fontAlgn="auto" latinLnBrk="0" hangingPunct="1">
              <a:lnSpc>
                <a:spcPct val="100000"/>
              </a:lnSpc>
              <a:spcBef>
                <a:spcPts val="293"/>
              </a:spcBef>
              <a:spcAft>
                <a:spcPts val="0"/>
              </a:spcAft>
              <a:buClr>
                <a:srgbClr val="CC0000"/>
              </a:buClr>
              <a:buSzTx/>
              <a:buFont typeface="Wingdings"/>
              <a:buChar char=""/>
              <a:tabLst>
                <a:tab pos="306524"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Scales</a:t>
            </a:r>
            <a:r>
              <a:rPr kumimoji="0" sz="1227" b="0" i="0" u="none" strike="noStrike" kern="1200" cap="none" spc="-1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well</a:t>
            </a:r>
            <a:r>
              <a:rPr kumimoji="0" sz="1227" b="0" i="0" u="none" strike="noStrike" kern="1200" cap="none" spc="-10"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for</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14" normalizeH="0" baseline="0" noProof="0" dirty="0">
                <a:ln>
                  <a:noFill/>
                </a:ln>
                <a:solidFill>
                  <a:prstClr val="black"/>
                </a:solidFill>
                <a:effectLst/>
                <a:uLnTx/>
                <a:uFillTx/>
                <a:latin typeface="Verdana"/>
                <a:ea typeface="+mn-ea"/>
                <a:cs typeface="Verdana"/>
              </a:rPr>
              <a:t>low-</a:t>
            </a:r>
            <a:r>
              <a:rPr kumimoji="0" sz="1227" b="0" i="0" u="none" strike="noStrike" kern="1200" cap="none" spc="0" normalizeH="0" baseline="0" noProof="0" dirty="0">
                <a:ln>
                  <a:noFill/>
                </a:ln>
                <a:solidFill>
                  <a:prstClr val="black"/>
                </a:solidFill>
                <a:effectLst/>
                <a:uLnTx/>
                <a:uFillTx/>
                <a:latin typeface="Verdana"/>
                <a:ea typeface="+mn-ea"/>
                <a:cs typeface="Verdana"/>
              </a:rPr>
              <a:t>voltage</a:t>
            </a:r>
            <a:r>
              <a:rPr kumimoji="0" sz="1227" b="0" i="0" u="none" strike="noStrike" kern="1200" cap="none" spc="-14"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operation</a:t>
            </a:r>
            <a:endParaRPr kumimoji="0" sz="1227" b="0" i="0" u="none" strike="noStrike" kern="1200" cap="none" spc="0" normalizeH="0" baseline="0" noProof="0">
              <a:ln>
                <a:noFill/>
              </a:ln>
              <a:solidFill>
                <a:prstClr val="black"/>
              </a:solidFill>
              <a:effectLst/>
              <a:uLnTx/>
              <a:uFillTx/>
              <a:latin typeface="Verdana"/>
              <a:ea typeface="+mn-ea"/>
              <a:cs typeface="Verdana"/>
            </a:endParaRPr>
          </a:p>
          <a:p>
            <a:pPr marL="306524" marR="101309" lvl="0" indent="-298298" algn="l" defTabSz="914400" rtl="0" eaLnBrk="1" fontAlgn="auto" latinLnBrk="0" hangingPunct="1">
              <a:lnSpc>
                <a:spcPct val="100000"/>
              </a:lnSpc>
              <a:spcBef>
                <a:spcPts val="296"/>
              </a:spcBef>
              <a:spcAft>
                <a:spcPts val="0"/>
              </a:spcAft>
              <a:buClr>
                <a:srgbClr val="CC0000"/>
              </a:buClr>
              <a:buSzTx/>
              <a:buFont typeface="Wingdings"/>
              <a:buChar char=""/>
              <a:tabLst>
                <a:tab pos="306524"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Decouples</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loop</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gain</a:t>
            </a:r>
            <a:r>
              <a:rPr kumimoji="0" sz="1227" b="0" i="0" u="none" strike="noStrike" kern="1200" cap="none" spc="-2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from</a:t>
            </a:r>
            <a:r>
              <a:rPr kumimoji="0" sz="1227" b="0" i="0" u="none" strike="noStrike" kern="1200" cap="none" spc="-27"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operating voltage</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7" name="object 7"/>
          <p:cNvSpPr txBox="1"/>
          <p:nvPr/>
        </p:nvSpPr>
        <p:spPr>
          <a:xfrm>
            <a:off x="7513872" y="3035721"/>
            <a:ext cx="764165" cy="218236"/>
          </a:xfrm>
          <a:prstGeom prst="rect">
            <a:avLst/>
          </a:prstGeom>
        </p:spPr>
        <p:txBody>
          <a:bodyPr vert="horz" wrap="square" lIns="0" tIns="8226" rIns="0" bIns="0" rtlCol="0">
            <a:spAutoFit/>
          </a:bodyPr>
          <a:lstStyle/>
          <a:p>
            <a:pPr marL="329037" marR="0" lvl="0" indent="-320378" algn="l" defTabSz="914400" rtl="0" eaLnBrk="1" fontAlgn="auto" latinLnBrk="0" hangingPunct="1">
              <a:lnSpc>
                <a:spcPct val="100000"/>
              </a:lnSpc>
              <a:spcBef>
                <a:spcPts val="65"/>
              </a:spcBef>
              <a:spcAft>
                <a:spcPts val="0"/>
              </a:spcAft>
              <a:buClr>
                <a:srgbClr val="CC0000"/>
              </a:buClr>
              <a:buSzTx/>
              <a:buFont typeface="Wingdings"/>
              <a:buChar char=""/>
              <a:tabLst>
                <a:tab pos="329037" algn="l"/>
              </a:tabLst>
              <a:defRPr/>
            </a:pPr>
            <a:r>
              <a:rPr kumimoji="0" sz="1364" b="0" i="0" u="none" strike="noStrike" kern="1200" cap="none" spc="-14" normalizeH="0" baseline="0" noProof="0" dirty="0">
                <a:ln>
                  <a:noFill/>
                </a:ln>
                <a:solidFill>
                  <a:prstClr val="black"/>
                </a:solidFill>
                <a:effectLst/>
                <a:uLnTx/>
                <a:uFillTx/>
                <a:latin typeface="Verdana"/>
                <a:ea typeface="+mn-ea"/>
                <a:cs typeface="Verdana"/>
              </a:rPr>
              <a:t>Cons</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sp>
        <p:nvSpPr>
          <p:cNvPr id="8" name="object 8"/>
          <p:cNvSpPr txBox="1"/>
          <p:nvPr/>
        </p:nvSpPr>
        <p:spPr>
          <a:xfrm>
            <a:off x="7834951" y="3243540"/>
            <a:ext cx="1813214" cy="689787"/>
          </a:xfrm>
          <a:prstGeom prst="rect">
            <a:avLst/>
          </a:prstGeom>
        </p:spPr>
        <p:txBody>
          <a:bodyPr vert="horz" wrap="square" lIns="0" tIns="45893" rIns="0" bIns="0" rtlCol="0">
            <a:spAutoFit/>
          </a:bodyPr>
          <a:lstStyle/>
          <a:p>
            <a:pPr marL="306524" marR="0" lvl="0" indent="-297865" algn="l" defTabSz="914400" rtl="0" eaLnBrk="1" fontAlgn="auto" latinLnBrk="0" hangingPunct="1">
              <a:lnSpc>
                <a:spcPct val="100000"/>
              </a:lnSpc>
              <a:spcBef>
                <a:spcPts val="361"/>
              </a:spcBef>
              <a:spcAft>
                <a:spcPts val="0"/>
              </a:spcAft>
              <a:buClr>
                <a:srgbClr val="CC0000"/>
              </a:buClr>
              <a:buSzTx/>
              <a:buFont typeface="Wingdings"/>
              <a:buChar char=""/>
              <a:tabLst>
                <a:tab pos="306524"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Low</a:t>
            </a:r>
            <a:r>
              <a:rPr kumimoji="0" sz="1227" b="0" i="0" u="none" strike="noStrike" kern="1200" cap="none" spc="-7" normalizeH="0" baseline="0" noProof="0" dirty="0">
                <a:ln>
                  <a:noFill/>
                </a:ln>
                <a:solidFill>
                  <a:prstClr val="black"/>
                </a:solidFill>
                <a:effectLst/>
                <a:uLnTx/>
                <a:uFillTx/>
                <a:latin typeface="Verdana"/>
                <a:ea typeface="+mn-ea"/>
                <a:cs typeface="Verdana"/>
              </a:rPr>
              <a:t> bandwidth</a:t>
            </a:r>
            <a:endParaRPr kumimoji="0" sz="1227" b="0" i="0" u="none" strike="noStrike" kern="1200" cap="none" spc="0" normalizeH="0" baseline="0" noProof="0">
              <a:ln>
                <a:noFill/>
              </a:ln>
              <a:solidFill>
                <a:prstClr val="black"/>
              </a:solidFill>
              <a:effectLst/>
              <a:uLnTx/>
              <a:uFillTx/>
              <a:latin typeface="Verdana"/>
              <a:ea typeface="+mn-ea"/>
              <a:cs typeface="Verdana"/>
            </a:endParaRPr>
          </a:p>
          <a:p>
            <a:pPr marL="306524" marR="0" lvl="0" indent="-297865" algn="l" defTabSz="914400" rtl="0" eaLnBrk="1" fontAlgn="auto" latinLnBrk="0" hangingPunct="1">
              <a:lnSpc>
                <a:spcPct val="100000"/>
              </a:lnSpc>
              <a:spcBef>
                <a:spcPts val="293"/>
              </a:spcBef>
              <a:spcAft>
                <a:spcPts val="0"/>
              </a:spcAft>
              <a:buClr>
                <a:srgbClr val="CC0000"/>
              </a:buClr>
              <a:buSzTx/>
              <a:buFont typeface="Wingdings"/>
              <a:buChar char=""/>
              <a:tabLst>
                <a:tab pos="306524"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Low</a:t>
            </a:r>
            <a:r>
              <a:rPr kumimoji="0" sz="1227" b="0" i="0" u="none" strike="noStrike" kern="1200" cap="none" spc="-7" normalizeH="0" baseline="0" noProof="0" dirty="0">
                <a:ln>
                  <a:noFill/>
                </a:ln>
                <a:solidFill>
                  <a:prstClr val="black"/>
                </a:solidFill>
                <a:effectLst/>
                <a:uLnTx/>
                <a:uFillTx/>
                <a:latin typeface="Verdana"/>
                <a:ea typeface="+mn-ea"/>
                <a:cs typeface="Verdana"/>
              </a:rPr>
              <a:t> </a:t>
            </a:r>
            <a:r>
              <a:rPr kumimoji="0" sz="1227" b="0" i="0" u="none" strike="noStrike" kern="1200" cap="none" spc="-14" normalizeH="0" baseline="0" noProof="0" dirty="0">
                <a:ln>
                  <a:noFill/>
                </a:ln>
                <a:solidFill>
                  <a:prstClr val="black"/>
                </a:solidFill>
                <a:effectLst/>
                <a:uLnTx/>
                <a:uFillTx/>
                <a:latin typeface="Verdana"/>
                <a:ea typeface="+mn-ea"/>
                <a:cs typeface="Verdana"/>
              </a:rPr>
              <a:t>PSRR</a:t>
            </a:r>
            <a:endParaRPr kumimoji="0" sz="1227" b="0" i="0" u="none" strike="noStrike" kern="1200" cap="none" spc="0" normalizeH="0" baseline="0" noProof="0">
              <a:ln>
                <a:noFill/>
              </a:ln>
              <a:solidFill>
                <a:prstClr val="black"/>
              </a:solidFill>
              <a:effectLst/>
              <a:uLnTx/>
              <a:uFillTx/>
              <a:latin typeface="Verdana"/>
              <a:ea typeface="+mn-ea"/>
              <a:cs typeface="Verdana"/>
            </a:endParaRPr>
          </a:p>
          <a:p>
            <a:pPr marL="306524" marR="0" lvl="0" indent="-297865" algn="l" defTabSz="914400" rtl="0" eaLnBrk="1" fontAlgn="auto" latinLnBrk="0" hangingPunct="1">
              <a:lnSpc>
                <a:spcPct val="100000"/>
              </a:lnSpc>
              <a:spcBef>
                <a:spcPts val="296"/>
              </a:spcBef>
              <a:spcAft>
                <a:spcPts val="0"/>
              </a:spcAft>
              <a:buClr>
                <a:srgbClr val="CC0000"/>
              </a:buClr>
              <a:buSzTx/>
              <a:buFont typeface="Wingdings"/>
              <a:buChar char=""/>
              <a:tabLst>
                <a:tab pos="306524"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Large</a:t>
            </a:r>
            <a:r>
              <a:rPr kumimoji="0" sz="1227" b="0" i="0" u="none" strike="noStrike" kern="1200" cap="none" spc="-3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output</a:t>
            </a:r>
            <a:r>
              <a:rPr kumimoji="0" sz="1227" b="0" i="0" u="none" strike="noStrike" kern="1200" cap="none" spc="-27"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ripple</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Tree>
    <p:extLst>
      <p:ext uri="{BB962C8B-B14F-4D97-AF65-F5344CB8AC3E}">
        <p14:creationId xmlns:p14="http://schemas.microsoft.com/office/powerpoint/2010/main" val="3847800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Analog v/s Digital LDOs</a:t>
            </a:r>
            <a:endParaRPr lang="en-US" dirty="0"/>
          </a:p>
        </p:txBody>
      </p:sp>
      <p:sp>
        <p:nvSpPr>
          <p:cNvPr id="3" name="Content Placeholder 2"/>
          <p:cNvSpPr>
            <a:spLocks noGrp="1"/>
          </p:cNvSpPr>
          <p:nvPr>
            <p:ph sz="half" idx="2"/>
          </p:nvPr>
        </p:nvSpPr>
        <p:spPr>
          <a:xfrm>
            <a:off x="592666" y="1518074"/>
            <a:ext cx="5303520" cy="4308872"/>
          </a:xfrm>
        </p:spPr>
        <p:txBody>
          <a:bodyPr/>
          <a:lstStyle/>
          <a:p>
            <a:pPr algn="just"/>
            <a:r>
              <a:rPr lang="en-US" b="1" dirty="0"/>
              <a:t>Analog LDO – Advantages:</a:t>
            </a:r>
            <a:endParaRPr lang="en-US" dirty="0"/>
          </a:p>
          <a:p>
            <a:pPr marL="800100" lvl="1" indent="-342900" algn="just">
              <a:buFont typeface="Wingdings" panose="05000000000000000000" pitchFamily="2" charset="2"/>
              <a:buChar char="q"/>
            </a:pPr>
            <a:r>
              <a:rPr lang="en-US" sz="2000" b="1" dirty="0"/>
              <a:t>High bandwidth</a:t>
            </a:r>
            <a:r>
              <a:rPr lang="en-US" sz="2000" dirty="0"/>
              <a:t> → enables fast transient response.</a:t>
            </a:r>
          </a:p>
          <a:p>
            <a:pPr marL="800100" lvl="1" indent="-342900" algn="just">
              <a:buFont typeface="Wingdings" panose="05000000000000000000" pitchFamily="2" charset="2"/>
              <a:buChar char="q"/>
            </a:pPr>
            <a:r>
              <a:rPr lang="en-US" sz="2000" b="1" dirty="0"/>
              <a:t>High PSRR (Power Supply Rejection Ratio)</a:t>
            </a:r>
            <a:r>
              <a:rPr lang="en-US" sz="2000" dirty="0"/>
              <a:t> → effective noise suppression.</a:t>
            </a:r>
          </a:p>
          <a:p>
            <a:pPr marL="800100" lvl="1" indent="-342900" algn="just">
              <a:buFont typeface="Wingdings" panose="05000000000000000000" pitchFamily="2" charset="2"/>
              <a:buChar char="q"/>
            </a:pPr>
            <a:r>
              <a:rPr lang="en-US" sz="2000" b="1" dirty="0"/>
              <a:t>Low output ripple</a:t>
            </a:r>
            <a:r>
              <a:rPr lang="en-US" sz="2000" dirty="0"/>
              <a:t> → cleaner regulated voltage.</a:t>
            </a:r>
          </a:p>
          <a:p>
            <a:pPr algn="just"/>
            <a:r>
              <a:rPr lang="en-US" b="1" dirty="0"/>
              <a:t>Analog LDO – Limitations:</a:t>
            </a:r>
            <a:endParaRPr lang="en-US" dirty="0"/>
          </a:p>
          <a:p>
            <a:pPr marL="800100" lvl="1" indent="-342900" algn="just">
              <a:buFont typeface="Wingdings" panose="05000000000000000000" pitchFamily="2" charset="2"/>
              <a:buChar char="q"/>
            </a:pPr>
            <a:r>
              <a:rPr lang="en-US" sz="2000" dirty="0"/>
              <a:t>Requires </a:t>
            </a:r>
            <a:r>
              <a:rPr lang="en-US" sz="2000" b="1" dirty="0"/>
              <a:t>bulky and complex analog circuit design</a:t>
            </a:r>
            <a:r>
              <a:rPr lang="en-US" sz="2000" dirty="0"/>
              <a:t>.</a:t>
            </a:r>
          </a:p>
          <a:p>
            <a:pPr marL="800100" lvl="1" indent="-342900" algn="just">
              <a:buFont typeface="Wingdings" panose="05000000000000000000" pitchFamily="2" charset="2"/>
              <a:buChar char="q"/>
            </a:pPr>
            <a:r>
              <a:rPr lang="en-US" sz="2000" b="1" dirty="0"/>
              <a:t>Scalability issues</a:t>
            </a:r>
            <a:r>
              <a:rPr lang="en-US" sz="2000" dirty="0"/>
              <a:t> at low supply voltages.</a:t>
            </a:r>
          </a:p>
          <a:p>
            <a:pPr marL="800100" lvl="1" indent="-342900" algn="just">
              <a:buFont typeface="Wingdings" panose="05000000000000000000" pitchFamily="2" charset="2"/>
              <a:buChar char="q"/>
            </a:pPr>
            <a:r>
              <a:rPr lang="en-US" sz="2000" b="1" dirty="0"/>
              <a:t>Loop gain depends</a:t>
            </a:r>
            <a:r>
              <a:rPr lang="en-US" sz="2000" dirty="0"/>
              <a:t> on the input operating voltage.</a:t>
            </a:r>
          </a:p>
          <a:p>
            <a:pPr algn="just"/>
            <a:endParaRPr lang="en-US" dirty="0"/>
          </a:p>
        </p:txBody>
      </p:sp>
      <p:sp>
        <p:nvSpPr>
          <p:cNvPr id="4" name="Content Placeholder 3"/>
          <p:cNvSpPr>
            <a:spLocks noGrp="1"/>
          </p:cNvSpPr>
          <p:nvPr>
            <p:ph sz="half" idx="3"/>
          </p:nvPr>
        </p:nvSpPr>
        <p:spPr>
          <a:xfrm>
            <a:off x="6278880" y="1577340"/>
            <a:ext cx="5303520" cy="4001095"/>
          </a:xfrm>
        </p:spPr>
        <p:txBody>
          <a:bodyPr/>
          <a:lstStyle/>
          <a:p>
            <a:pPr algn="just"/>
            <a:r>
              <a:rPr lang="en-US" b="1" dirty="0"/>
              <a:t>Digital LDO – Advantages:</a:t>
            </a:r>
            <a:endParaRPr lang="en-US" dirty="0"/>
          </a:p>
          <a:p>
            <a:pPr marL="800100" lvl="1" indent="-342900" algn="just">
              <a:buFont typeface="Wingdings" panose="05000000000000000000" pitchFamily="2" charset="2"/>
              <a:buChar char="q"/>
            </a:pPr>
            <a:r>
              <a:rPr lang="en-US" sz="2000" dirty="0"/>
              <a:t>No major analog components → </a:t>
            </a:r>
            <a:r>
              <a:rPr lang="en-US" sz="2000" b="1" dirty="0"/>
              <a:t>fully synthesizable digital control</a:t>
            </a:r>
            <a:r>
              <a:rPr lang="en-US" sz="2000" dirty="0"/>
              <a:t>.</a:t>
            </a:r>
          </a:p>
          <a:p>
            <a:pPr marL="800100" lvl="1" indent="-342900" algn="just">
              <a:buFont typeface="Wingdings" panose="05000000000000000000" pitchFamily="2" charset="2"/>
              <a:buChar char="q"/>
            </a:pPr>
            <a:r>
              <a:rPr lang="en-US" sz="2000" b="1" dirty="0"/>
              <a:t>Well-suited for low supply voltage</a:t>
            </a:r>
            <a:r>
              <a:rPr lang="en-US" sz="2000" dirty="0"/>
              <a:t> operation.</a:t>
            </a:r>
          </a:p>
          <a:p>
            <a:pPr marL="800100" lvl="1" indent="-342900" algn="just">
              <a:buFont typeface="Wingdings" panose="05000000000000000000" pitchFamily="2" charset="2"/>
              <a:buChar char="q"/>
            </a:pPr>
            <a:r>
              <a:rPr lang="en-US" sz="2000" b="1" dirty="0"/>
              <a:t>Loop gain is independent</a:t>
            </a:r>
            <a:r>
              <a:rPr lang="en-US" sz="2000" dirty="0"/>
              <a:t> of the input operating voltage.</a:t>
            </a:r>
          </a:p>
          <a:p>
            <a:pPr algn="just"/>
            <a:r>
              <a:rPr lang="en-US" b="1" dirty="0"/>
              <a:t>Digital LDO – Limitations:</a:t>
            </a:r>
            <a:endParaRPr lang="en-US" dirty="0"/>
          </a:p>
          <a:p>
            <a:pPr marL="800100" lvl="1" indent="-342900" algn="just">
              <a:buFont typeface="Wingdings" panose="05000000000000000000" pitchFamily="2" charset="2"/>
              <a:buChar char="q"/>
            </a:pPr>
            <a:r>
              <a:rPr lang="en-US" sz="2000" b="1" dirty="0"/>
              <a:t>Low bandwidth</a:t>
            </a:r>
            <a:r>
              <a:rPr lang="en-US" sz="2000" dirty="0"/>
              <a:t> → slower transient response.</a:t>
            </a:r>
          </a:p>
          <a:p>
            <a:pPr marL="800100" lvl="1" indent="-342900" algn="just">
              <a:buFont typeface="Wingdings" panose="05000000000000000000" pitchFamily="2" charset="2"/>
              <a:buChar char="q"/>
            </a:pPr>
            <a:r>
              <a:rPr lang="en-US" sz="2000" b="1" dirty="0"/>
              <a:t>Poorer PSRR</a:t>
            </a:r>
            <a:r>
              <a:rPr lang="en-US" sz="2000" dirty="0"/>
              <a:t> compared to analog.</a:t>
            </a:r>
          </a:p>
          <a:p>
            <a:pPr marL="800100" lvl="1" indent="-342900" algn="just">
              <a:buFont typeface="Wingdings" panose="05000000000000000000" pitchFamily="2" charset="2"/>
              <a:buChar char="q"/>
            </a:pPr>
            <a:r>
              <a:rPr lang="en-US" sz="2000" b="1" dirty="0"/>
              <a:t>Larger output ripple</a:t>
            </a:r>
            <a:r>
              <a:rPr lang="en-US" sz="2000" dirty="0"/>
              <a:t>.</a:t>
            </a:r>
          </a:p>
          <a:p>
            <a:pPr algn="just"/>
            <a:endParaRPr lang="en-US" dirty="0"/>
          </a:p>
        </p:txBody>
      </p:sp>
      <p:sp>
        <p:nvSpPr>
          <p:cNvPr id="5" name="Footer Placeholder 4"/>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Date Placeholder 5"/>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7" name="Slide Number Placeholder 6"/>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9529361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72548" y="249785"/>
            <a:ext cx="7222634" cy="531526"/>
          </a:xfrm>
          <a:prstGeom prst="rect">
            <a:avLst/>
          </a:prstGeom>
        </p:spPr>
        <p:txBody>
          <a:bodyPr vert="horz" wrap="square" lIns="0" tIns="8226" rIns="0" bIns="0" rtlCol="0">
            <a:spAutoFit/>
          </a:bodyPr>
          <a:lstStyle/>
          <a:p>
            <a:pPr marL="8659">
              <a:spcBef>
                <a:spcPts val="65"/>
              </a:spcBef>
            </a:pPr>
            <a:r>
              <a:rPr dirty="0"/>
              <a:t>Input</a:t>
            </a:r>
            <a:r>
              <a:rPr spc="-24" dirty="0"/>
              <a:t> </a:t>
            </a:r>
            <a:r>
              <a:rPr spc="-7" dirty="0"/>
              <a:t>Voltage</a:t>
            </a:r>
          </a:p>
        </p:txBody>
      </p:sp>
      <p:sp>
        <p:nvSpPr>
          <p:cNvPr id="3" name="object 3"/>
          <p:cNvSpPr txBox="1"/>
          <p:nvPr/>
        </p:nvSpPr>
        <p:spPr>
          <a:xfrm>
            <a:off x="330025" y="3989894"/>
            <a:ext cx="2637991" cy="757445"/>
          </a:xfrm>
          <a:prstGeom prst="rect">
            <a:avLst/>
          </a:prstGeom>
        </p:spPr>
        <p:txBody>
          <a:bodyPr vert="horz" wrap="square" lIns="0" tIns="50223" rIns="0" bIns="0" rtlCol="0">
            <a:spAutoFit/>
          </a:bodyPr>
          <a:lstStyle/>
          <a:p>
            <a:pPr marL="346354" marR="0" lvl="0" indent="-320378" algn="l" defTabSz="914400" rtl="0" eaLnBrk="1" fontAlgn="auto" latinLnBrk="0" hangingPunct="1">
              <a:lnSpc>
                <a:spcPct val="100000"/>
              </a:lnSpc>
              <a:spcBef>
                <a:spcPts val="395"/>
              </a:spcBef>
              <a:spcAft>
                <a:spcPts val="0"/>
              </a:spcAft>
              <a:buClr>
                <a:srgbClr val="CC0000"/>
              </a:buClr>
              <a:buSzTx/>
              <a:buFont typeface="Wingdings"/>
              <a:buChar char=""/>
              <a:tabLst>
                <a:tab pos="346354" algn="l"/>
              </a:tabLst>
              <a:defRPr/>
            </a:pPr>
            <a:r>
              <a:rPr kumimoji="0" sz="1364" b="0" i="0" u="none" strike="noStrike" kern="1200" cap="none" spc="0" normalizeH="0" baseline="0" noProof="0" dirty="0">
                <a:ln>
                  <a:noFill/>
                </a:ln>
                <a:solidFill>
                  <a:prstClr val="black"/>
                </a:solidFill>
                <a:effectLst/>
                <a:uLnTx/>
                <a:uFillTx/>
                <a:latin typeface="Verdana"/>
                <a:ea typeface="+mn-ea"/>
                <a:cs typeface="Verdana"/>
              </a:rPr>
              <a:t>Limited</a:t>
            </a:r>
            <a:r>
              <a:rPr kumimoji="0" sz="1364" b="0" i="0" u="none" strike="noStrike" kern="1200" cap="none" spc="-17"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V</a:t>
            </a:r>
            <a:r>
              <a:rPr kumimoji="0" sz="1330" b="0" i="0" u="none" strike="noStrike" kern="1200" cap="none" spc="0" normalizeH="0" baseline="-21367" noProof="0" dirty="0">
                <a:ln>
                  <a:noFill/>
                </a:ln>
                <a:solidFill>
                  <a:prstClr val="black"/>
                </a:solidFill>
                <a:effectLst/>
                <a:uLnTx/>
                <a:uFillTx/>
                <a:latin typeface="Verdana"/>
                <a:ea typeface="+mn-ea"/>
                <a:cs typeface="Verdana"/>
              </a:rPr>
              <a:t>in</a:t>
            </a:r>
            <a:r>
              <a:rPr kumimoji="0" sz="1330" b="0" i="0" u="none" strike="noStrike" kern="1200" cap="none" spc="205" normalizeH="0" baseline="-21367" noProof="0" dirty="0">
                <a:ln>
                  <a:noFill/>
                </a:ln>
                <a:solidFill>
                  <a:prstClr val="black"/>
                </a:solidFill>
                <a:effectLst/>
                <a:uLnTx/>
                <a:uFillTx/>
                <a:latin typeface="Verdana"/>
                <a:ea typeface="+mn-ea"/>
                <a:cs typeface="Verdana"/>
              </a:rPr>
              <a:t> </a:t>
            </a:r>
            <a:r>
              <a:rPr kumimoji="0" sz="1364" b="0" i="0" u="none" strike="noStrike" kern="1200" cap="none" spc="-7" normalizeH="0" baseline="0" noProof="0" dirty="0">
                <a:ln>
                  <a:noFill/>
                </a:ln>
                <a:solidFill>
                  <a:prstClr val="black"/>
                </a:solidFill>
                <a:effectLst/>
                <a:uLnTx/>
                <a:uFillTx/>
                <a:latin typeface="Verdana"/>
                <a:ea typeface="+mn-ea"/>
                <a:cs typeface="Verdana"/>
              </a:rPr>
              <a:t>scalability</a:t>
            </a:r>
            <a:endParaRPr kumimoji="0" sz="1364" b="0" i="0" u="none" strike="noStrike" kern="1200" cap="none" spc="0" normalizeH="0" baseline="0" noProof="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324"/>
              </a:spcBef>
              <a:spcAft>
                <a:spcPts val="0"/>
              </a:spcAft>
              <a:buClr>
                <a:srgbClr val="CC0000"/>
              </a:buClr>
              <a:buSzTx/>
              <a:buFont typeface="Wingdings"/>
              <a:buChar char=""/>
              <a:tabLst>
                <a:tab pos="346354" algn="l"/>
              </a:tabLst>
              <a:defRPr/>
            </a:pPr>
            <a:r>
              <a:rPr kumimoji="0" sz="1364" b="0" i="0" u="none" strike="noStrike" kern="1200" cap="none" spc="0" normalizeH="0" baseline="0" noProof="0" dirty="0">
                <a:ln>
                  <a:noFill/>
                </a:ln>
                <a:solidFill>
                  <a:prstClr val="black"/>
                </a:solidFill>
                <a:effectLst/>
                <a:uLnTx/>
                <a:uFillTx/>
                <a:latin typeface="Verdana"/>
                <a:ea typeface="+mn-ea"/>
                <a:cs typeface="Verdana"/>
              </a:rPr>
              <a:t>Typically,</a:t>
            </a:r>
            <a:r>
              <a:rPr kumimoji="0" sz="1364" b="0" i="0" u="none" strike="noStrike" kern="1200" cap="none" spc="-7"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V</a:t>
            </a:r>
            <a:r>
              <a:rPr kumimoji="0" sz="1330" b="0" i="0" u="none" strike="noStrike" kern="1200" cap="none" spc="0" normalizeH="0" baseline="-21367" noProof="0" dirty="0">
                <a:ln>
                  <a:noFill/>
                </a:ln>
                <a:solidFill>
                  <a:prstClr val="black"/>
                </a:solidFill>
                <a:effectLst/>
                <a:uLnTx/>
                <a:uFillTx/>
                <a:latin typeface="Verdana"/>
                <a:ea typeface="+mn-ea"/>
                <a:cs typeface="Verdana"/>
              </a:rPr>
              <a:t>in</a:t>
            </a:r>
            <a:r>
              <a:rPr kumimoji="0" sz="1330" b="0" i="0" u="none" strike="noStrike" kern="1200" cap="none" spc="220" normalizeH="0" baseline="-21367"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&gt;</a:t>
            </a:r>
            <a:r>
              <a:rPr kumimoji="0" sz="1364" b="0" i="0" u="none" strike="noStrike" kern="1200" cap="none" spc="-24" normalizeH="0" baseline="0" noProof="0" dirty="0">
                <a:ln>
                  <a:noFill/>
                </a:ln>
                <a:solidFill>
                  <a:prstClr val="black"/>
                </a:solidFill>
                <a:effectLst/>
                <a:uLnTx/>
                <a:uFillTx/>
                <a:latin typeface="Verdana"/>
                <a:ea typeface="+mn-ea"/>
                <a:cs typeface="Verdana"/>
              </a:rPr>
              <a:t> </a:t>
            </a:r>
            <a:r>
              <a:rPr kumimoji="0" sz="1364" b="0" i="0" u="none" strike="noStrike" kern="1200" cap="none" spc="-14" normalizeH="0" baseline="0" noProof="0" dirty="0">
                <a:ln>
                  <a:noFill/>
                </a:ln>
                <a:solidFill>
                  <a:prstClr val="black"/>
                </a:solidFill>
                <a:effectLst/>
                <a:uLnTx/>
                <a:uFillTx/>
                <a:latin typeface="Verdana"/>
                <a:ea typeface="+mn-ea"/>
                <a:cs typeface="Verdana"/>
              </a:rPr>
              <a:t>0.6-0.7V</a:t>
            </a:r>
            <a:endParaRPr kumimoji="0" sz="1364" b="0" i="0" u="none" strike="noStrike" kern="1200" cap="none" spc="0" normalizeH="0" baseline="0" noProof="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327"/>
              </a:spcBef>
              <a:spcAft>
                <a:spcPts val="0"/>
              </a:spcAft>
              <a:buClr>
                <a:srgbClr val="CC0000"/>
              </a:buClr>
              <a:buSzTx/>
              <a:buFont typeface="Wingdings"/>
              <a:buChar char=""/>
              <a:tabLst>
                <a:tab pos="346354" algn="l"/>
              </a:tabLst>
              <a:defRPr/>
            </a:pPr>
            <a:r>
              <a:rPr kumimoji="0" sz="1364" b="0" i="0" u="none" strike="noStrike" kern="1200" cap="none" spc="0" normalizeH="0" baseline="0" noProof="0" dirty="0">
                <a:ln>
                  <a:noFill/>
                </a:ln>
                <a:solidFill>
                  <a:prstClr val="black"/>
                </a:solidFill>
                <a:effectLst/>
                <a:uLnTx/>
                <a:uFillTx/>
                <a:latin typeface="Verdana"/>
                <a:ea typeface="+mn-ea"/>
                <a:cs typeface="Verdana"/>
              </a:rPr>
              <a:t>A</a:t>
            </a:r>
            <a:r>
              <a:rPr kumimoji="0" sz="1364" b="0" i="0" u="none" strike="noStrike" kern="1200" cap="none" spc="-17" normalizeH="0" baseline="0" noProof="0" dirty="0">
                <a:ln>
                  <a:noFill/>
                </a:ln>
                <a:solidFill>
                  <a:prstClr val="black"/>
                </a:solidFill>
                <a:effectLst/>
                <a:uLnTx/>
                <a:uFillTx/>
                <a:latin typeface="Verdana"/>
                <a:ea typeface="+mn-ea"/>
                <a:cs typeface="Verdana"/>
              </a:rPr>
              <a:t> </a:t>
            </a:r>
            <a:r>
              <a:rPr kumimoji="0" sz="1364" b="0" i="0" u="none" strike="noStrike" kern="1200" cap="none" spc="-14" normalizeH="0" baseline="0" noProof="0" dirty="0">
                <a:ln>
                  <a:noFill/>
                </a:ln>
                <a:solidFill>
                  <a:prstClr val="black"/>
                </a:solidFill>
                <a:effectLst/>
                <a:uLnTx/>
                <a:uFillTx/>
                <a:latin typeface="Verdana"/>
                <a:ea typeface="+mn-ea"/>
                <a:cs typeface="Verdana"/>
              </a:rPr>
              <a:t>high-</a:t>
            </a:r>
            <a:r>
              <a:rPr kumimoji="0" sz="1364" b="0" i="0" u="none" strike="noStrike" kern="1200" cap="none" spc="0" normalizeH="0" baseline="0" noProof="0" dirty="0">
                <a:ln>
                  <a:noFill/>
                </a:ln>
                <a:solidFill>
                  <a:prstClr val="black"/>
                </a:solidFill>
                <a:effectLst/>
                <a:uLnTx/>
                <a:uFillTx/>
                <a:latin typeface="Verdana"/>
                <a:ea typeface="+mn-ea"/>
                <a:cs typeface="Verdana"/>
              </a:rPr>
              <a:t>speed</a:t>
            </a:r>
            <a:r>
              <a:rPr kumimoji="0" sz="1364" b="0" i="0" u="none" strike="noStrike" kern="1200" cap="none" spc="3"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OP</a:t>
            </a:r>
            <a:r>
              <a:rPr kumimoji="0" sz="1364" b="0" i="0" u="none" strike="noStrike" kern="1200" cap="none" spc="-17" normalizeH="0" baseline="0" noProof="0" dirty="0">
                <a:ln>
                  <a:noFill/>
                </a:ln>
                <a:solidFill>
                  <a:prstClr val="black"/>
                </a:solidFill>
                <a:effectLst/>
                <a:uLnTx/>
                <a:uFillTx/>
                <a:latin typeface="Verdana"/>
                <a:ea typeface="+mn-ea"/>
                <a:cs typeface="Verdana"/>
              </a:rPr>
              <a:t> </a:t>
            </a:r>
            <a:r>
              <a:rPr kumimoji="0" sz="1364" b="0" i="0" u="none" strike="noStrike" kern="1200" cap="none" spc="-7" normalizeH="0" baseline="0" noProof="0" dirty="0">
                <a:ln>
                  <a:noFill/>
                </a:ln>
                <a:solidFill>
                  <a:prstClr val="black"/>
                </a:solidFill>
                <a:effectLst/>
                <a:uLnTx/>
                <a:uFillTx/>
                <a:latin typeface="Verdana"/>
                <a:ea typeface="+mn-ea"/>
                <a:cs typeface="Verdana"/>
              </a:rPr>
              <a:t>amplifier</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sp>
        <p:nvSpPr>
          <p:cNvPr id="4" name="object 4"/>
          <p:cNvSpPr txBox="1"/>
          <p:nvPr/>
        </p:nvSpPr>
        <p:spPr>
          <a:xfrm>
            <a:off x="3811398" y="4171927"/>
            <a:ext cx="2115416" cy="509044"/>
          </a:xfrm>
          <a:prstGeom prst="rect">
            <a:avLst/>
          </a:prstGeom>
        </p:spPr>
        <p:txBody>
          <a:bodyPr vert="horz" wrap="square" lIns="0" tIns="50223" rIns="0" bIns="0" rtlCol="0">
            <a:spAutoFit/>
          </a:bodyPr>
          <a:lstStyle/>
          <a:p>
            <a:pPr marL="346354" marR="0" lvl="0" indent="-320378" algn="l" defTabSz="914400" rtl="0" eaLnBrk="1" fontAlgn="auto" latinLnBrk="0" hangingPunct="1">
              <a:lnSpc>
                <a:spcPct val="100000"/>
              </a:lnSpc>
              <a:spcBef>
                <a:spcPts val="395"/>
              </a:spcBef>
              <a:spcAft>
                <a:spcPts val="0"/>
              </a:spcAft>
              <a:buClr>
                <a:srgbClr val="CC0000"/>
              </a:buClr>
              <a:buSzTx/>
              <a:buFont typeface="Wingdings"/>
              <a:buChar char=""/>
              <a:tabLst>
                <a:tab pos="346354" algn="l"/>
              </a:tabLst>
              <a:defRPr/>
            </a:pPr>
            <a:r>
              <a:rPr kumimoji="0" sz="1364" b="0" i="0" u="none" strike="noStrike" kern="1200" cap="none" spc="0" normalizeH="0" baseline="0" noProof="0" dirty="0">
                <a:ln>
                  <a:noFill/>
                </a:ln>
                <a:solidFill>
                  <a:prstClr val="black"/>
                </a:solidFill>
                <a:effectLst/>
                <a:uLnTx/>
                <a:uFillTx/>
                <a:latin typeface="Verdana"/>
                <a:ea typeface="+mn-ea"/>
                <a:cs typeface="Verdana"/>
              </a:rPr>
              <a:t>Better</a:t>
            </a:r>
            <a:r>
              <a:rPr kumimoji="0" sz="1364" b="0" i="0" u="none" strike="noStrike" kern="1200" cap="none" spc="-3"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V</a:t>
            </a:r>
            <a:r>
              <a:rPr kumimoji="0" sz="1330" b="0" i="0" u="none" strike="noStrike" kern="1200" cap="none" spc="0" normalizeH="0" baseline="-21367" noProof="0" dirty="0">
                <a:ln>
                  <a:noFill/>
                </a:ln>
                <a:solidFill>
                  <a:prstClr val="black"/>
                </a:solidFill>
                <a:effectLst/>
                <a:uLnTx/>
                <a:uFillTx/>
                <a:latin typeface="Verdana"/>
                <a:ea typeface="+mn-ea"/>
                <a:cs typeface="Verdana"/>
              </a:rPr>
              <a:t>in</a:t>
            </a:r>
            <a:r>
              <a:rPr kumimoji="0" sz="1330" b="0" i="0" u="none" strike="noStrike" kern="1200" cap="none" spc="245" normalizeH="0" baseline="-21367" noProof="0" dirty="0">
                <a:ln>
                  <a:noFill/>
                </a:ln>
                <a:solidFill>
                  <a:prstClr val="black"/>
                </a:solidFill>
                <a:effectLst/>
                <a:uLnTx/>
                <a:uFillTx/>
                <a:latin typeface="Verdana"/>
                <a:ea typeface="+mn-ea"/>
                <a:cs typeface="Verdana"/>
              </a:rPr>
              <a:t> </a:t>
            </a:r>
            <a:r>
              <a:rPr kumimoji="0" sz="1364" b="0" i="0" u="none" strike="noStrike" kern="1200" cap="none" spc="-7" normalizeH="0" baseline="0" noProof="0" dirty="0">
                <a:ln>
                  <a:noFill/>
                </a:ln>
                <a:solidFill>
                  <a:prstClr val="black"/>
                </a:solidFill>
                <a:effectLst/>
                <a:uLnTx/>
                <a:uFillTx/>
                <a:latin typeface="Verdana"/>
                <a:ea typeface="+mn-ea"/>
                <a:cs typeface="Verdana"/>
              </a:rPr>
              <a:t>scalability</a:t>
            </a:r>
            <a:endParaRPr kumimoji="0" sz="1364" b="0" i="0" u="none" strike="noStrike" kern="1200" cap="none" spc="0" normalizeH="0" baseline="0" noProof="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324"/>
              </a:spcBef>
              <a:spcAft>
                <a:spcPts val="0"/>
              </a:spcAft>
              <a:buClr>
                <a:srgbClr val="CC0000"/>
              </a:buClr>
              <a:buSzTx/>
              <a:buFont typeface="Wingdings"/>
              <a:buChar char=""/>
              <a:tabLst>
                <a:tab pos="346354" algn="l"/>
              </a:tabLst>
              <a:defRPr/>
            </a:pPr>
            <a:r>
              <a:rPr kumimoji="0" sz="1364" b="0" i="0" u="none" strike="noStrike" kern="1200" cap="none" spc="0" normalizeH="0" baseline="0" noProof="0" dirty="0">
                <a:ln>
                  <a:noFill/>
                </a:ln>
                <a:solidFill>
                  <a:prstClr val="black"/>
                </a:solidFill>
                <a:effectLst/>
                <a:uLnTx/>
                <a:uFillTx/>
                <a:latin typeface="Verdana"/>
                <a:ea typeface="+mn-ea"/>
                <a:cs typeface="Verdana"/>
              </a:rPr>
              <a:t>0.5V</a:t>
            </a:r>
            <a:r>
              <a:rPr kumimoji="0" sz="1364" b="0" i="0" u="none" strike="noStrike" kern="1200" cap="none" spc="-14"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or</a:t>
            </a:r>
            <a:r>
              <a:rPr kumimoji="0" sz="1364" b="0" i="0" u="none" strike="noStrike" kern="1200" cap="none" spc="-20" normalizeH="0" baseline="0" noProof="0" dirty="0">
                <a:ln>
                  <a:noFill/>
                </a:ln>
                <a:solidFill>
                  <a:prstClr val="black"/>
                </a:solidFill>
                <a:effectLst/>
                <a:uLnTx/>
                <a:uFillTx/>
                <a:latin typeface="Verdana"/>
                <a:ea typeface="+mn-ea"/>
                <a:cs typeface="Verdana"/>
              </a:rPr>
              <a:t> </a:t>
            </a:r>
            <a:r>
              <a:rPr kumimoji="0" sz="1364" b="0" i="0" u="none" strike="noStrike" kern="1200" cap="none" spc="-14" normalizeH="0" baseline="0" noProof="0" dirty="0">
                <a:ln>
                  <a:noFill/>
                </a:ln>
                <a:solidFill>
                  <a:prstClr val="black"/>
                </a:solidFill>
                <a:effectLst/>
                <a:uLnTx/>
                <a:uFillTx/>
                <a:latin typeface="Verdana"/>
                <a:ea typeface="+mn-ea"/>
                <a:cs typeface="Verdana"/>
              </a:rPr>
              <a:t>less</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grpSp>
        <p:nvGrpSpPr>
          <p:cNvPr id="5" name="object 5"/>
          <p:cNvGrpSpPr/>
          <p:nvPr/>
        </p:nvGrpSpPr>
        <p:grpSpPr>
          <a:xfrm>
            <a:off x="2460933" y="2221827"/>
            <a:ext cx="296141" cy="467158"/>
            <a:chOff x="3934205" y="2274570"/>
            <a:chExt cx="434340" cy="685165"/>
          </a:xfrm>
        </p:grpSpPr>
        <p:sp>
          <p:nvSpPr>
            <p:cNvPr id="6" name="object 6"/>
            <p:cNvSpPr/>
            <p:nvPr/>
          </p:nvSpPr>
          <p:spPr>
            <a:xfrm>
              <a:off x="4206239" y="2513076"/>
              <a:ext cx="119380" cy="234315"/>
            </a:xfrm>
            <a:custGeom>
              <a:avLst/>
              <a:gdLst/>
              <a:ahLst/>
              <a:cxnLst/>
              <a:rect l="l" t="t" r="r" b="b"/>
              <a:pathLst>
                <a:path w="119379" h="234314">
                  <a:moveTo>
                    <a:pt x="0" y="233934"/>
                  </a:moveTo>
                  <a:lnTo>
                    <a:pt x="0" y="0"/>
                  </a:lnTo>
                </a:path>
                <a:path w="119379" h="234314">
                  <a:moveTo>
                    <a:pt x="0" y="233934"/>
                  </a:moveTo>
                  <a:lnTo>
                    <a:pt x="118872" y="233934"/>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p:nvPr/>
          </p:nvSpPr>
          <p:spPr>
            <a:xfrm>
              <a:off x="4206239" y="2513076"/>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 name="object 8"/>
            <p:cNvSpPr/>
            <p:nvPr/>
          </p:nvSpPr>
          <p:spPr>
            <a:xfrm>
              <a:off x="4325111" y="2318004"/>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9" name="object 9"/>
            <p:cNvSpPr/>
            <p:nvPr/>
          </p:nvSpPr>
          <p:spPr>
            <a:xfrm>
              <a:off x="4281683" y="2274570"/>
              <a:ext cx="86995" cy="86995"/>
            </a:xfrm>
            <a:custGeom>
              <a:avLst/>
              <a:gdLst/>
              <a:ahLst/>
              <a:cxnLst/>
              <a:rect l="l" t="t" r="r" b="b"/>
              <a:pathLst>
                <a:path w="86995" h="86994">
                  <a:moveTo>
                    <a:pt x="43421" y="0"/>
                  </a:moveTo>
                  <a:lnTo>
                    <a:pt x="26519" y="3412"/>
                  </a:lnTo>
                  <a:lnTo>
                    <a:pt x="12714" y="12720"/>
                  </a:lnTo>
                  <a:lnTo>
                    <a:pt x="3407" y="26526"/>
                  </a:lnTo>
                  <a:lnTo>
                    <a:pt x="0" y="43433"/>
                  </a:lnTo>
                  <a:lnTo>
                    <a:pt x="3412" y="60341"/>
                  </a:lnTo>
                  <a:lnTo>
                    <a:pt x="12720" y="74147"/>
                  </a:lnTo>
                  <a:lnTo>
                    <a:pt x="26526" y="83455"/>
                  </a:lnTo>
                  <a:lnTo>
                    <a:pt x="43434" y="86867"/>
                  </a:lnTo>
                  <a:lnTo>
                    <a:pt x="60341" y="83455"/>
                  </a:lnTo>
                  <a:lnTo>
                    <a:pt x="74147" y="74147"/>
                  </a:lnTo>
                  <a:lnTo>
                    <a:pt x="83455" y="60341"/>
                  </a:lnTo>
                  <a:lnTo>
                    <a:pt x="86868" y="43433"/>
                  </a:lnTo>
                  <a:lnTo>
                    <a:pt x="83447" y="26526"/>
                  </a:lnTo>
                  <a:lnTo>
                    <a:pt x="74136" y="12720"/>
                  </a:lnTo>
                  <a:lnTo>
                    <a:pt x="60328" y="3412"/>
                  </a:lnTo>
                  <a:lnTo>
                    <a:pt x="43421"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 name="object 10"/>
            <p:cNvSpPr/>
            <p:nvPr/>
          </p:nvSpPr>
          <p:spPr>
            <a:xfrm>
              <a:off x="4325111" y="2748534"/>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11" name="object 11"/>
            <p:cNvPicPr/>
            <p:nvPr/>
          </p:nvPicPr>
          <p:blipFill>
            <a:blip r:embed="rId2" cstate="print"/>
            <a:stretch>
              <a:fillRect/>
            </a:stretch>
          </p:blipFill>
          <p:spPr>
            <a:xfrm>
              <a:off x="3934205" y="2516124"/>
              <a:ext cx="208788" cy="234696"/>
            </a:xfrm>
            <a:prstGeom prst="rect">
              <a:avLst/>
            </a:prstGeom>
          </p:spPr>
        </p:pic>
      </p:grpSp>
      <p:sp>
        <p:nvSpPr>
          <p:cNvPr id="12" name="object 12"/>
          <p:cNvSpPr txBox="1"/>
          <p:nvPr/>
        </p:nvSpPr>
        <p:spPr>
          <a:xfrm>
            <a:off x="2590313" y="2027335"/>
            <a:ext cx="253278"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5" normalizeH="0" baseline="13888" noProof="0" dirty="0">
                <a:ln>
                  <a:noFill/>
                </a:ln>
                <a:solidFill>
                  <a:prstClr val="black"/>
                </a:solidFill>
                <a:effectLst/>
                <a:uLnTx/>
                <a:uFillTx/>
                <a:latin typeface="Verdana"/>
                <a:ea typeface="+mn-ea"/>
                <a:cs typeface="Verdana"/>
              </a:rPr>
              <a:t>V</a:t>
            </a:r>
            <a:r>
              <a:rPr kumimoji="0" sz="818" b="0" i="0" u="none" strike="noStrike" kern="1200" cap="none" spc="-17" normalizeH="0" baseline="0" noProof="0" dirty="0">
                <a:ln>
                  <a:noFill/>
                </a:ln>
                <a:solidFill>
                  <a:prstClr val="black"/>
                </a:solidFill>
                <a:effectLst/>
                <a:uLnTx/>
                <a:uFillTx/>
                <a:latin typeface="Verdana"/>
                <a:ea typeface="+mn-ea"/>
                <a:cs typeface="Verdana"/>
              </a:rPr>
              <a:t>in</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grpSp>
        <p:nvGrpSpPr>
          <p:cNvPr id="13" name="object 13"/>
          <p:cNvGrpSpPr/>
          <p:nvPr/>
        </p:nvGrpSpPr>
        <p:grpSpPr>
          <a:xfrm>
            <a:off x="2042180" y="3335731"/>
            <a:ext cx="209983" cy="513917"/>
            <a:chOff x="3320034" y="3908297"/>
            <a:chExt cx="307975" cy="753745"/>
          </a:xfrm>
        </p:grpSpPr>
        <p:sp>
          <p:nvSpPr>
            <p:cNvPr id="14" name="object 14"/>
            <p:cNvSpPr/>
            <p:nvPr/>
          </p:nvSpPr>
          <p:spPr>
            <a:xfrm>
              <a:off x="3473196" y="3918203"/>
              <a:ext cx="0" cy="511809"/>
            </a:xfrm>
            <a:custGeom>
              <a:avLst/>
              <a:gdLst/>
              <a:ahLst/>
              <a:cxnLst/>
              <a:rect l="l" t="t" r="r" b="b"/>
              <a:pathLst>
                <a:path h="511810">
                  <a:moveTo>
                    <a:pt x="0" y="511302"/>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5" name="object 15"/>
            <p:cNvSpPr/>
            <p:nvPr/>
          </p:nvSpPr>
          <p:spPr>
            <a:xfrm>
              <a:off x="3320034" y="3922775"/>
              <a:ext cx="307975" cy="0"/>
            </a:xfrm>
            <a:custGeom>
              <a:avLst/>
              <a:gdLst/>
              <a:ahLst/>
              <a:cxnLst/>
              <a:rect l="l" t="t" r="r" b="b"/>
              <a:pathLst>
                <a:path w="307975">
                  <a:moveTo>
                    <a:pt x="307848" y="0"/>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6"/>
            <p:cNvSpPr/>
            <p:nvPr/>
          </p:nvSpPr>
          <p:spPr>
            <a:xfrm>
              <a:off x="3355848" y="4547615"/>
              <a:ext cx="234950" cy="0"/>
            </a:xfrm>
            <a:custGeom>
              <a:avLst/>
              <a:gdLst/>
              <a:ahLst/>
              <a:cxnLst/>
              <a:rect l="l" t="t" r="r" b="b"/>
              <a:pathLst>
                <a:path w="234950">
                  <a:moveTo>
                    <a:pt x="0" y="0"/>
                  </a:moveTo>
                  <a:lnTo>
                    <a:pt x="23469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7" name="object 17"/>
            <p:cNvSpPr/>
            <p:nvPr/>
          </p:nvSpPr>
          <p:spPr>
            <a:xfrm>
              <a:off x="3414522" y="4597907"/>
              <a:ext cx="116205" cy="0"/>
            </a:xfrm>
            <a:custGeom>
              <a:avLst/>
              <a:gdLst/>
              <a:ahLst/>
              <a:cxnLst/>
              <a:rect l="l" t="t" r="r" b="b"/>
              <a:pathLst>
                <a:path w="116204">
                  <a:moveTo>
                    <a:pt x="0" y="0"/>
                  </a:moveTo>
                  <a:lnTo>
                    <a:pt x="115823"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8" name="object 18"/>
            <p:cNvSpPr/>
            <p:nvPr/>
          </p:nvSpPr>
          <p:spPr>
            <a:xfrm>
              <a:off x="3441954" y="4647437"/>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9" name="object 19"/>
            <p:cNvSpPr/>
            <p:nvPr/>
          </p:nvSpPr>
          <p:spPr>
            <a:xfrm>
              <a:off x="3473196" y="4351781"/>
              <a:ext cx="0" cy="196215"/>
            </a:xfrm>
            <a:custGeom>
              <a:avLst/>
              <a:gdLst/>
              <a:ahLst/>
              <a:cxnLst/>
              <a:rect l="l" t="t" r="r" b="b"/>
              <a:pathLst>
                <a:path h="196214">
                  <a:moveTo>
                    <a:pt x="0" y="195833"/>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0" name="object 20"/>
          <p:cNvGrpSpPr/>
          <p:nvPr/>
        </p:nvGrpSpPr>
        <p:grpSpPr>
          <a:xfrm>
            <a:off x="1154709" y="2214466"/>
            <a:ext cx="1667741" cy="1635269"/>
            <a:chOff x="2018410" y="2263775"/>
            <a:chExt cx="2446020" cy="2398395"/>
          </a:xfrm>
        </p:grpSpPr>
        <p:sp>
          <p:nvSpPr>
            <p:cNvPr id="21" name="object 21"/>
            <p:cNvSpPr/>
            <p:nvPr/>
          </p:nvSpPr>
          <p:spPr>
            <a:xfrm>
              <a:off x="2937509" y="2278379"/>
              <a:ext cx="546100" cy="704215"/>
            </a:xfrm>
            <a:custGeom>
              <a:avLst/>
              <a:gdLst/>
              <a:ahLst/>
              <a:cxnLst/>
              <a:rect l="l" t="t" r="r" b="b"/>
              <a:pathLst>
                <a:path w="546100" h="704214">
                  <a:moveTo>
                    <a:pt x="0" y="0"/>
                  </a:moveTo>
                  <a:lnTo>
                    <a:pt x="545592" y="352044"/>
                  </a:lnTo>
                  <a:lnTo>
                    <a:pt x="0" y="704088"/>
                  </a:lnTo>
                  <a:lnTo>
                    <a:pt x="0" y="0"/>
                  </a:lnTo>
                  <a:close/>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2" name="object 22"/>
            <p:cNvSpPr/>
            <p:nvPr/>
          </p:nvSpPr>
          <p:spPr>
            <a:xfrm>
              <a:off x="3473957" y="2632709"/>
              <a:ext cx="464820" cy="0"/>
            </a:xfrm>
            <a:custGeom>
              <a:avLst/>
              <a:gdLst/>
              <a:ahLst/>
              <a:cxnLst/>
              <a:rect l="l" t="t" r="r" b="b"/>
              <a:pathLst>
                <a:path w="464820">
                  <a:moveTo>
                    <a:pt x="0" y="0"/>
                  </a:moveTo>
                  <a:lnTo>
                    <a:pt x="46482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3" name="object 23"/>
            <p:cNvSpPr/>
            <p:nvPr/>
          </p:nvSpPr>
          <p:spPr>
            <a:xfrm>
              <a:off x="2033015" y="2357627"/>
              <a:ext cx="886460" cy="0"/>
            </a:xfrm>
            <a:custGeom>
              <a:avLst/>
              <a:gdLst/>
              <a:ahLst/>
              <a:cxnLst/>
              <a:rect l="l" t="t" r="r" b="b"/>
              <a:pathLst>
                <a:path w="886460">
                  <a:moveTo>
                    <a:pt x="0" y="0"/>
                  </a:moveTo>
                  <a:lnTo>
                    <a:pt x="88620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4" name="object 24"/>
            <p:cNvSpPr/>
            <p:nvPr/>
          </p:nvSpPr>
          <p:spPr>
            <a:xfrm>
              <a:off x="3473195" y="3332225"/>
              <a:ext cx="0" cy="508634"/>
            </a:xfrm>
            <a:custGeom>
              <a:avLst/>
              <a:gdLst/>
              <a:ahLst/>
              <a:cxnLst/>
              <a:rect l="l" t="t" r="r" b="b"/>
              <a:pathLst>
                <a:path h="508635">
                  <a:moveTo>
                    <a:pt x="0" y="508254"/>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25" name="object 25"/>
            <p:cNvPicPr/>
            <p:nvPr/>
          </p:nvPicPr>
          <p:blipFill>
            <a:blip r:embed="rId3" cstate="print"/>
            <a:stretch>
              <a:fillRect/>
            </a:stretch>
          </p:blipFill>
          <p:spPr>
            <a:xfrm>
              <a:off x="3429756" y="3288791"/>
              <a:ext cx="86868" cy="86867"/>
            </a:xfrm>
            <a:prstGeom prst="rect">
              <a:avLst/>
            </a:prstGeom>
          </p:spPr>
        </p:pic>
        <p:sp>
          <p:nvSpPr>
            <p:cNvPr id="26" name="object 26"/>
            <p:cNvSpPr/>
            <p:nvPr/>
          </p:nvSpPr>
          <p:spPr>
            <a:xfrm>
              <a:off x="3320033" y="3842003"/>
              <a:ext cx="307975" cy="0"/>
            </a:xfrm>
            <a:custGeom>
              <a:avLst/>
              <a:gdLst/>
              <a:ahLst/>
              <a:cxnLst/>
              <a:rect l="l" t="t" r="r" b="b"/>
              <a:pathLst>
                <a:path w="307975">
                  <a:moveTo>
                    <a:pt x="307848" y="0"/>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7" name="object 27"/>
            <p:cNvSpPr/>
            <p:nvPr/>
          </p:nvSpPr>
          <p:spPr>
            <a:xfrm>
              <a:off x="4325111" y="2917698"/>
              <a:ext cx="5080" cy="741680"/>
            </a:xfrm>
            <a:custGeom>
              <a:avLst/>
              <a:gdLst/>
              <a:ahLst/>
              <a:cxnLst/>
              <a:rect l="l" t="t" r="r" b="b"/>
              <a:pathLst>
                <a:path w="5079" h="741679">
                  <a:moveTo>
                    <a:pt x="0" y="0"/>
                  </a:moveTo>
                  <a:lnTo>
                    <a:pt x="4572" y="741426"/>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8" name="object 28"/>
            <p:cNvSpPr/>
            <p:nvPr/>
          </p:nvSpPr>
          <p:spPr>
            <a:xfrm>
              <a:off x="2497835" y="3315461"/>
              <a:ext cx="1832610" cy="12700"/>
            </a:xfrm>
            <a:custGeom>
              <a:avLst/>
              <a:gdLst/>
              <a:ahLst/>
              <a:cxnLst/>
              <a:rect l="l" t="t" r="r" b="b"/>
              <a:pathLst>
                <a:path w="1832610" h="12700">
                  <a:moveTo>
                    <a:pt x="0" y="12191"/>
                  </a:moveTo>
                  <a:lnTo>
                    <a:pt x="183261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29" name="object 29"/>
            <p:cNvPicPr/>
            <p:nvPr/>
          </p:nvPicPr>
          <p:blipFill>
            <a:blip r:embed="rId4" cstate="print"/>
            <a:stretch>
              <a:fillRect/>
            </a:stretch>
          </p:blipFill>
          <p:spPr>
            <a:xfrm>
              <a:off x="4287011" y="3272024"/>
              <a:ext cx="86867" cy="86868"/>
            </a:xfrm>
            <a:prstGeom prst="rect">
              <a:avLst/>
            </a:prstGeom>
          </p:spPr>
        </p:pic>
        <p:sp>
          <p:nvSpPr>
            <p:cNvPr id="30" name="object 30"/>
            <p:cNvSpPr/>
            <p:nvPr/>
          </p:nvSpPr>
          <p:spPr>
            <a:xfrm>
              <a:off x="2497835" y="2887980"/>
              <a:ext cx="3175" cy="450850"/>
            </a:xfrm>
            <a:custGeom>
              <a:avLst/>
              <a:gdLst/>
              <a:ahLst/>
              <a:cxnLst/>
              <a:rect l="l" t="t" r="r" b="b"/>
              <a:pathLst>
                <a:path w="3175" h="450850">
                  <a:moveTo>
                    <a:pt x="0" y="0"/>
                  </a:moveTo>
                  <a:lnTo>
                    <a:pt x="3048" y="450342"/>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1" name="object 31"/>
            <p:cNvSpPr/>
            <p:nvPr/>
          </p:nvSpPr>
          <p:spPr>
            <a:xfrm>
              <a:off x="2497073" y="2896362"/>
              <a:ext cx="440690" cy="0"/>
            </a:xfrm>
            <a:custGeom>
              <a:avLst/>
              <a:gdLst/>
              <a:ahLst/>
              <a:cxnLst/>
              <a:rect l="l" t="t" r="r" b="b"/>
              <a:pathLst>
                <a:path w="440689">
                  <a:moveTo>
                    <a:pt x="0" y="0"/>
                  </a:moveTo>
                  <a:lnTo>
                    <a:pt x="44043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2" name="object 32"/>
            <p:cNvSpPr/>
            <p:nvPr/>
          </p:nvSpPr>
          <p:spPr>
            <a:xfrm>
              <a:off x="4331969" y="4139945"/>
              <a:ext cx="0" cy="243204"/>
            </a:xfrm>
            <a:custGeom>
              <a:avLst/>
              <a:gdLst/>
              <a:ahLst/>
              <a:cxnLst/>
              <a:rect l="l" t="t" r="r" b="b"/>
              <a:pathLst>
                <a:path h="243204">
                  <a:moveTo>
                    <a:pt x="0" y="0"/>
                  </a:moveTo>
                  <a:lnTo>
                    <a:pt x="0" y="243077"/>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3" name="object 33"/>
            <p:cNvSpPr/>
            <p:nvPr/>
          </p:nvSpPr>
          <p:spPr>
            <a:xfrm>
              <a:off x="4215383" y="4547616"/>
              <a:ext cx="234315" cy="0"/>
            </a:xfrm>
            <a:custGeom>
              <a:avLst/>
              <a:gdLst/>
              <a:ahLst/>
              <a:cxnLst/>
              <a:rect l="l" t="t" r="r" b="b"/>
              <a:pathLst>
                <a:path w="234314">
                  <a:moveTo>
                    <a:pt x="0" y="0"/>
                  </a:moveTo>
                  <a:lnTo>
                    <a:pt x="23393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4" name="object 34"/>
            <p:cNvSpPr/>
            <p:nvPr/>
          </p:nvSpPr>
          <p:spPr>
            <a:xfrm>
              <a:off x="4274057" y="4597907"/>
              <a:ext cx="115570" cy="0"/>
            </a:xfrm>
            <a:custGeom>
              <a:avLst/>
              <a:gdLst/>
              <a:ahLst/>
              <a:cxnLst/>
              <a:rect l="l" t="t" r="r" b="b"/>
              <a:pathLst>
                <a:path w="115570">
                  <a:moveTo>
                    <a:pt x="0" y="0"/>
                  </a:moveTo>
                  <a:lnTo>
                    <a:pt x="11506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5" name="object 35"/>
            <p:cNvSpPr/>
            <p:nvPr/>
          </p:nvSpPr>
          <p:spPr>
            <a:xfrm>
              <a:off x="4301489" y="4647438"/>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6" name="object 36"/>
            <p:cNvSpPr/>
            <p:nvPr/>
          </p:nvSpPr>
          <p:spPr>
            <a:xfrm>
              <a:off x="4332731" y="4351782"/>
              <a:ext cx="0" cy="196215"/>
            </a:xfrm>
            <a:custGeom>
              <a:avLst/>
              <a:gdLst/>
              <a:ahLst/>
              <a:cxnLst/>
              <a:rect l="l" t="t" r="r" b="b"/>
              <a:pathLst>
                <a:path h="196214">
                  <a:moveTo>
                    <a:pt x="0" y="195833"/>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37" name="object 37"/>
          <p:cNvSpPr txBox="1"/>
          <p:nvPr/>
        </p:nvSpPr>
        <p:spPr>
          <a:xfrm>
            <a:off x="2744642" y="2846209"/>
            <a:ext cx="328613"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0" normalizeH="0" baseline="13888" noProof="0" dirty="0">
                <a:ln>
                  <a:noFill/>
                </a:ln>
                <a:solidFill>
                  <a:prstClr val="black"/>
                </a:solidFill>
                <a:effectLst/>
                <a:uLnTx/>
                <a:uFillTx/>
                <a:latin typeface="Verdana"/>
                <a:ea typeface="+mn-ea"/>
                <a:cs typeface="Verdana"/>
              </a:rPr>
              <a:t>V</a:t>
            </a:r>
            <a:r>
              <a:rPr kumimoji="0" sz="818" b="0" i="0" u="none" strike="noStrike" kern="1200" cap="none" spc="-14" normalizeH="0" baseline="0" noProof="0" dirty="0">
                <a:ln>
                  <a:noFill/>
                </a:ln>
                <a:solidFill>
                  <a:prstClr val="black"/>
                </a:solidFill>
                <a:effectLst/>
                <a:uLnTx/>
                <a:uFillTx/>
                <a:latin typeface="Verdana"/>
                <a:ea typeface="+mn-ea"/>
                <a:cs typeface="Verdana"/>
              </a:rPr>
              <a:t>out</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sp>
        <p:nvSpPr>
          <p:cNvPr id="38" name="object 38"/>
          <p:cNvSpPr txBox="1"/>
          <p:nvPr/>
        </p:nvSpPr>
        <p:spPr>
          <a:xfrm>
            <a:off x="1833330" y="2352907"/>
            <a:ext cx="124258" cy="197578"/>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34" normalizeH="0" baseline="0" noProof="0" dirty="0">
                <a:ln>
                  <a:noFill/>
                </a:ln>
                <a:solidFill>
                  <a:prstClr val="black"/>
                </a:solidFill>
                <a:effectLst/>
                <a:uLnTx/>
                <a:uFillTx/>
                <a:latin typeface="Verdana"/>
                <a:ea typeface="+mn-ea"/>
                <a:cs typeface="Verdana"/>
              </a:rPr>
              <a:t>A</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grpSp>
        <p:nvGrpSpPr>
          <p:cNvPr id="39" name="object 39"/>
          <p:cNvGrpSpPr/>
          <p:nvPr/>
        </p:nvGrpSpPr>
        <p:grpSpPr>
          <a:xfrm>
            <a:off x="5510377" y="1854094"/>
            <a:ext cx="276658" cy="1029999"/>
            <a:chOff x="9058656" y="1468247"/>
            <a:chExt cx="405765" cy="1510665"/>
          </a:xfrm>
        </p:grpSpPr>
        <p:sp>
          <p:nvSpPr>
            <p:cNvPr id="40" name="object 40"/>
            <p:cNvSpPr/>
            <p:nvPr/>
          </p:nvSpPr>
          <p:spPr>
            <a:xfrm>
              <a:off x="9330690" y="1677924"/>
              <a:ext cx="119380" cy="234315"/>
            </a:xfrm>
            <a:custGeom>
              <a:avLst/>
              <a:gdLst/>
              <a:ahLst/>
              <a:cxnLst/>
              <a:rect l="l" t="t" r="r" b="b"/>
              <a:pathLst>
                <a:path w="119379" h="234314">
                  <a:moveTo>
                    <a:pt x="0" y="233934"/>
                  </a:moveTo>
                  <a:lnTo>
                    <a:pt x="0" y="0"/>
                  </a:lnTo>
                </a:path>
                <a:path w="119379" h="234314">
                  <a:moveTo>
                    <a:pt x="0" y="233934"/>
                  </a:moveTo>
                  <a:lnTo>
                    <a:pt x="118872" y="233934"/>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1" name="object 41"/>
            <p:cNvSpPr/>
            <p:nvPr/>
          </p:nvSpPr>
          <p:spPr>
            <a:xfrm>
              <a:off x="9330690" y="1677924"/>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2" name="object 42"/>
            <p:cNvSpPr/>
            <p:nvPr/>
          </p:nvSpPr>
          <p:spPr>
            <a:xfrm>
              <a:off x="9449562" y="1482852"/>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3" name="object 43"/>
            <p:cNvSpPr/>
            <p:nvPr/>
          </p:nvSpPr>
          <p:spPr>
            <a:xfrm>
              <a:off x="9449562" y="1913381"/>
              <a:ext cx="0" cy="1050925"/>
            </a:xfrm>
            <a:custGeom>
              <a:avLst/>
              <a:gdLst/>
              <a:ahLst/>
              <a:cxnLst/>
              <a:rect l="l" t="t" r="r" b="b"/>
              <a:pathLst>
                <a:path h="1050925">
                  <a:moveTo>
                    <a:pt x="0" y="1050798"/>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44" name="object 44"/>
            <p:cNvPicPr/>
            <p:nvPr/>
          </p:nvPicPr>
          <p:blipFill>
            <a:blip r:embed="rId5" cstate="print"/>
            <a:stretch>
              <a:fillRect/>
            </a:stretch>
          </p:blipFill>
          <p:spPr>
            <a:xfrm>
              <a:off x="9058656" y="1680972"/>
              <a:ext cx="208787" cy="234696"/>
            </a:xfrm>
            <a:prstGeom prst="rect">
              <a:avLst/>
            </a:prstGeom>
          </p:spPr>
        </p:pic>
      </p:grpSp>
      <p:sp>
        <p:nvSpPr>
          <p:cNvPr id="45" name="object 45"/>
          <p:cNvSpPr txBox="1"/>
          <p:nvPr/>
        </p:nvSpPr>
        <p:spPr>
          <a:xfrm>
            <a:off x="6294451" y="1587488"/>
            <a:ext cx="253278"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5" normalizeH="0" baseline="13888" noProof="0" dirty="0">
                <a:ln>
                  <a:noFill/>
                </a:ln>
                <a:solidFill>
                  <a:prstClr val="black"/>
                </a:solidFill>
                <a:effectLst/>
                <a:uLnTx/>
                <a:uFillTx/>
                <a:latin typeface="Verdana"/>
                <a:ea typeface="+mn-ea"/>
                <a:cs typeface="Verdana"/>
              </a:rPr>
              <a:t>V</a:t>
            </a:r>
            <a:r>
              <a:rPr kumimoji="0" sz="818" b="0" i="0" u="none" strike="noStrike" kern="1200" cap="none" spc="-17" normalizeH="0" baseline="0" noProof="0" dirty="0">
                <a:ln>
                  <a:noFill/>
                </a:ln>
                <a:solidFill>
                  <a:prstClr val="black"/>
                </a:solidFill>
                <a:effectLst/>
                <a:uLnTx/>
                <a:uFillTx/>
                <a:latin typeface="Verdana"/>
                <a:ea typeface="+mn-ea"/>
                <a:cs typeface="Verdana"/>
              </a:rPr>
              <a:t>in</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grpSp>
        <p:nvGrpSpPr>
          <p:cNvPr id="46" name="object 46"/>
          <p:cNvGrpSpPr/>
          <p:nvPr/>
        </p:nvGrpSpPr>
        <p:grpSpPr>
          <a:xfrm>
            <a:off x="4662911" y="1907088"/>
            <a:ext cx="1856509" cy="945573"/>
            <a:chOff x="7815706" y="1545973"/>
            <a:chExt cx="2722880" cy="1386840"/>
          </a:xfrm>
        </p:grpSpPr>
        <p:sp>
          <p:nvSpPr>
            <p:cNvPr id="47" name="object 47"/>
            <p:cNvSpPr/>
            <p:nvPr/>
          </p:nvSpPr>
          <p:spPr>
            <a:xfrm>
              <a:off x="8598407" y="2673858"/>
              <a:ext cx="1925955" cy="1270"/>
            </a:xfrm>
            <a:custGeom>
              <a:avLst/>
              <a:gdLst/>
              <a:ahLst/>
              <a:cxnLst/>
              <a:rect l="l" t="t" r="r" b="b"/>
              <a:pathLst>
                <a:path w="1925954" h="1269">
                  <a:moveTo>
                    <a:pt x="0" y="0"/>
                  </a:moveTo>
                  <a:lnTo>
                    <a:pt x="1925574" y="762"/>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8" name="object 48"/>
            <p:cNvSpPr/>
            <p:nvPr/>
          </p:nvSpPr>
          <p:spPr>
            <a:xfrm>
              <a:off x="7830311" y="1560578"/>
              <a:ext cx="755650" cy="1357630"/>
            </a:xfrm>
            <a:custGeom>
              <a:avLst/>
              <a:gdLst/>
              <a:ahLst/>
              <a:cxnLst/>
              <a:rect l="l" t="t" r="r" b="b"/>
              <a:pathLst>
                <a:path w="755650" h="1357630">
                  <a:moveTo>
                    <a:pt x="0" y="125857"/>
                  </a:moveTo>
                  <a:lnTo>
                    <a:pt x="9890" y="76868"/>
                  </a:lnTo>
                  <a:lnTo>
                    <a:pt x="36863" y="36863"/>
                  </a:lnTo>
                  <a:lnTo>
                    <a:pt x="76868" y="9890"/>
                  </a:lnTo>
                  <a:lnTo>
                    <a:pt x="125857" y="0"/>
                  </a:lnTo>
                  <a:lnTo>
                    <a:pt x="629285" y="0"/>
                  </a:lnTo>
                  <a:lnTo>
                    <a:pt x="678273" y="9890"/>
                  </a:lnTo>
                  <a:lnTo>
                    <a:pt x="718278" y="36863"/>
                  </a:lnTo>
                  <a:lnTo>
                    <a:pt x="745251" y="76868"/>
                  </a:lnTo>
                  <a:lnTo>
                    <a:pt x="755142" y="125857"/>
                  </a:lnTo>
                  <a:lnTo>
                    <a:pt x="755142" y="1231265"/>
                  </a:lnTo>
                  <a:lnTo>
                    <a:pt x="745251" y="1280253"/>
                  </a:lnTo>
                  <a:lnTo>
                    <a:pt x="718278" y="1320258"/>
                  </a:lnTo>
                  <a:lnTo>
                    <a:pt x="678273" y="1347231"/>
                  </a:lnTo>
                  <a:lnTo>
                    <a:pt x="629285" y="1357122"/>
                  </a:lnTo>
                  <a:lnTo>
                    <a:pt x="125857" y="1357122"/>
                  </a:lnTo>
                  <a:lnTo>
                    <a:pt x="76868" y="1347231"/>
                  </a:lnTo>
                  <a:lnTo>
                    <a:pt x="36863" y="1320258"/>
                  </a:lnTo>
                  <a:lnTo>
                    <a:pt x="9890" y="1280253"/>
                  </a:lnTo>
                  <a:lnTo>
                    <a:pt x="0" y="1231265"/>
                  </a:lnTo>
                  <a:lnTo>
                    <a:pt x="0" y="125857"/>
                  </a:lnTo>
                  <a:close/>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49" name="object 49"/>
          <p:cNvSpPr txBox="1"/>
          <p:nvPr/>
        </p:nvSpPr>
        <p:spPr>
          <a:xfrm>
            <a:off x="4854976" y="2087785"/>
            <a:ext cx="188834" cy="584489"/>
          </a:xfrm>
          <a:prstGeom prst="rect">
            <a:avLst/>
          </a:prstGeom>
        </p:spPr>
        <p:txBody>
          <a:bodyPr vert="vert" wrap="square" lIns="0" tIns="9525" rIns="0" bIns="0" rtlCol="0">
            <a:spAutoFit/>
          </a:bodyPr>
          <a:lstStyle/>
          <a:p>
            <a:pPr marL="8659" marR="0" lvl="0" indent="0" algn="l" defTabSz="914400" rtl="0" eaLnBrk="1" fontAlgn="auto" latinLnBrk="0" hangingPunct="1">
              <a:lnSpc>
                <a:spcPct val="100000"/>
              </a:lnSpc>
              <a:spcBef>
                <a:spcPts val="75"/>
              </a:spcBef>
              <a:spcAft>
                <a:spcPts val="0"/>
              </a:spcAft>
              <a:buClrTx/>
              <a:buSzTx/>
              <a:buFontTx/>
              <a:buNone/>
              <a:tabLst/>
              <a:defRPr/>
            </a:pPr>
            <a:r>
              <a:rPr kumimoji="0" sz="1227" b="0" i="0" u="none" strike="noStrike" kern="1200" cap="none" spc="-7" normalizeH="0" baseline="0" noProof="0" dirty="0">
                <a:ln>
                  <a:noFill/>
                </a:ln>
                <a:solidFill>
                  <a:prstClr val="black"/>
                </a:solidFill>
                <a:effectLst/>
                <a:uLnTx/>
                <a:uFillTx/>
                <a:latin typeface="Verdana"/>
                <a:ea typeface="+mn-ea"/>
                <a:cs typeface="Verdana"/>
              </a:rPr>
              <a:t>Control</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50" name="object 50"/>
          <p:cNvSpPr/>
          <p:nvPr/>
        </p:nvSpPr>
        <p:spPr>
          <a:xfrm>
            <a:off x="3849390" y="2566477"/>
            <a:ext cx="299605" cy="2165"/>
          </a:xfrm>
          <a:custGeom>
            <a:avLst/>
            <a:gdLst/>
            <a:ahLst/>
            <a:cxnLst/>
            <a:rect l="l" t="t" r="r" b="b"/>
            <a:pathLst>
              <a:path w="439420" h="3175">
                <a:moveTo>
                  <a:pt x="0" y="0"/>
                </a:moveTo>
                <a:lnTo>
                  <a:pt x="438912" y="3048"/>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1" name="object 51"/>
          <p:cNvSpPr txBox="1"/>
          <p:nvPr/>
        </p:nvSpPr>
        <p:spPr>
          <a:xfrm>
            <a:off x="3586055" y="2441492"/>
            <a:ext cx="124258" cy="197578"/>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34" normalizeH="0" baseline="0" noProof="0" dirty="0">
                <a:ln>
                  <a:noFill/>
                </a:ln>
                <a:solidFill>
                  <a:prstClr val="black"/>
                </a:solidFill>
                <a:effectLst/>
                <a:uLnTx/>
                <a:uFillTx/>
                <a:latin typeface="Verdana"/>
                <a:ea typeface="+mn-ea"/>
                <a:cs typeface="Verdana"/>
              </a:rPr>
              <a:t>V</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52" name="object 52"/>
          <p:cNvSpPr txBox="1"/>
          <p:nvPr/>
        </p:nvSpPr>
        <p:spPr>
          <a:xfrm>
            <a:off x="3876712" y="2404893"/>
            <a:ext cx="160193" cy="134612"/>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818" b="0" i="0" u="none" strike="noStrike" kern="1200" cap="none" spc="-17" normalizeH="0" baseline="0" noProof="0" dirty="0">
                <a:ln>
                  <a:noFill/>
                </a:ln>
                <a:solidFill>
                  <a:prstClr val="black"/>
                </a:solidFill>
                <a:effectLst/>
                <a:uLnTx/>
                <a:uFillTx/>
                <a:latin typeface="Verdana"/>
                <a:ea typeface="+mn-ea"/>
                <a:cs typeface="Verdana"/>
              </a:rPr>
              <a:t>ref</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grpSp>
        <p:nvGrpSpPr>
          <p:cNvPr id="53" name="object 53"/>
          <p:cNvGrpSpPr/>
          <p:nvPr/>
        </p:nvGrpSpPr>
        <p:grpSpPr>
          <a:xfrm>
            <a:off x="5091622" y="3546340"/>
            <a:ext cx="210416" cy="513917"/>
            <a:chOff x="8444483" y="3950208"/>
            <a:chExt cx="308610" cy="753745"/>
          </a:xfrm>
        </p:grpSpPr>
        <p:sp>
          <p:nvSpPr>
            <p:cNvPr id="54" name="object 54"/>
            <p:cNvSpPr/>
            <p:nvPr/>
          </p:nvSpPr>
          <p:spPr>
            <a:xfrm>
              <a:off x="8597645" y="3959352"/>
              <a:ext cx="0" cy="511809"/>
            </a:xfrm>
            <a:custGeom>
              <a:avLst/>
              <a:gdLst/>
              <a:ahLst/>
              <a:cxnLst/>
              <a:rect l="l" t="t" r="r" b="b"/>
              <a:pathLst>
                <a:path h="511810">
                  <a:moveTo>
                    <a:pt x="0" y="511302"/>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5" name="object 55"/>
            <p:cNvSpPr/>
            <p:nvPr/>
          </p:nvSpPr>
          <p:spPr>
            <a:xfrm>
              <a:off x="8444483" y="3964686"/>
              <a:ext cx="308610" cy="0"/>
            </a:xfrm>
            <a:custGeom>
              <a:avLst/>
              <a:gdLst/>
              <a:ahLst/>
              <a:cxnLst/>
              <a:rect l="l" t="t" r="r" b="b"/>
              <a:pathLst>
                <a:path w="308609">
                  <a:moveTo>
                    <a:pt x="308609" y="0"/>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6" name="object 56"/>
            <p:cNvSpPr/>
            <p:nvPr/>
          </p:nvSpPr>
          <p:spPr>
            <a:xfrm>
              <a:off x="8480297" y="4589526"/>
              <a:ext cx="234950" cy="0"/>
            </a:xfrm>
            <a:custGeom>
              <a:avLst/>
              <a:gdLst/>
              <a:ahLst/>
              <a:cxnLst/>
              <a:rect l="l" t="t" r="r" b="b"/>
              <a:pathLst>
                <a:path w="234950">
                  <a:moveTo>
                    <a:pt x="0" y="0"/>
                  </a:moveTo>
                  <a:lnTo>
                    <a:pt x="23469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7" name="object 57"/>
            <p:cNvSpPr/>
            <p:nvPr/>
          </p:nvSpPr>
          <p:spPr>
            <a:xfrm>
              <a:off x="8538971" y="4639056"/>
              <a:ext cx="116205" cy="0"/>
            </a:xfrm>
            <a:custGeom>
              <a:avLst/>
              <a:gdLst/>
              <a:ahLst/>
              <a:cxnLst/>
              <a:rect l="l" t="t" r="r" b="b"/>
              <a:pathLst>
                <a:path w="116204">
                  <a:moveTo>
                    <a:pt x="0" y="0"/>
                  </a:moveTo>
                  <a:lnTo>
                    <a:pt x="115823"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8" name="object 58"/>
            <p:cNvSpPr/>
            <p:nvPr/>
          </p:nvSpPr>
          <p:spPr>
            <a:xfrm>
              <a:off x="8566403" y="4689348"/>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9" name="object 59"/>
            <p:cNvSpPr/>
            <p:nvPr/>
          </p:nvSpPr>
          <p:spPr>
            <a:xfrm>
              <a:off x="8597645" y="4392930"/>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0" name="object 60"/>
          <p:cNvGrpSpPr/>
          <p:nvPr/>
        </p:nvGrpSpPr>
        <p:grpSpPr>
          <a:xfrm>
            <a:off x="3933469" y="1631295"/>
            <a:ext cx="2871788" cy="2429308"/>
            <a:chOff x="6745858" y="1141475"/>
            <a:chExt cx="4211955" cy="3562985"/>
          </a:xfrm>
        </p:grpSpPr>
        <p:sp>
          <p:nvSpPr>
            <p:cNvPr id="61" name="object 61"/>
            <p:cNvSpPr/>
            <p:nvPr/>
          </p:nvSpPr>
          <p:spPr>
            <a:xfrm>
              <a:off x="8597645" y="3374136"/>
              <a:ext cx="0" cy="508000"/>
            </a:xfrm>
            <a:custGeom>
              <a:avLst/>
              <a:gdLst/>
              <a:ahLst/>
              <a:cxnLst/>
              <a:rect l="l" t="t" r="r" b="b"/>
              <a:pathLst>
                <a:path h="508000">
                  <a:moveTo>
                    <a:pt x="0" y="507491"/>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62" name="object 62"/>
            <p:cNvPicPr/>
            <p:nvPr/>
          </p:nvPicPr>
          <p:blipFill>
            <a:blip r:embed="rId6" cstate="print"/>
            <a:stretch>
              <a:fillRect/>
            </a:stretch>
          </p:blipFill>
          <p:spPr>
            <a:xfrm>
              <a:off x="8554206" y="3330702"/>
              <a:ext cx="86867" cy="86867"/>
            </a:xfrm>
            <a:prstGeom prst="rect">
              <a:avLst/>
            </a:prstGeom>
          </p:spPr>
        </p:pic>
        <p:sp>
          <p:nvSpPr>
            <p:cNvPr id="63" name="object 63"/>
            <p:cNvSpPr/>
            <p:nvPr/>
          </p:nvSpPr>
          <p:spPr>
            <a:xfrm>
              <a:off x="8444483" y="3883152"/>
              <a:ext cx="308610" cy="0"/>
            </a:xfrm>
            <a:custGeom>
              <a:avLst/>
              <a:gdLst/>
              <a:ahLst/>
              <a:cxnLst/>
              <a:rect l="l" t="t" r="r" b="b"/>
              <a:pathLst>
                <a:path w="308609">
                  <a:moveTo>
                    <a:pt x="308609" y="0"/>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64" name="object 64"/>
            <p:cNvSpPr/>
            <p:nvPr/>
          </p:nvSpPr>
          <p:spPr>
            <a:xfrm>
              <a:off x="9449561" y="2959608"/>
              <a:ext cx="5080" cy="741045"/>
            </a:xfrm>
            <a:custGeom>
              <a:avLst/>
              <a:gdLst/>
              <a:ahLst/>
              <a:cxnLst/>
              <a:rect l="l" t="t" r="r" b="b"/>
              <a:pathLst>
                <a:path w="5079" h="741045">
                  <a:moveTo>
                    <a:pt x="0" y="0"/>
                  </a:moveTo>
                  <a:lnTo>
                    <a:pt x="4572" y="740664"/>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65" name="object 65"/>
            <p:cNvSpPr/>
            <p:nvPr/>
          </p:nvSpPr>
          <p:spPr>
            <a:xfrm>
              <a:off x="6760463" y="3357371"/>
              <a:ext cx="2694940" cy="7620"/>
            </a:xfrm>
            <a:custGeom>
              <a:avLst/>
              <a:gdLst/>
              <a:ahLst/>
              <a:cxnLst/>
              <a:rect l="l" t="t" r="r" b="b"/>
              <a:pathLst>
                <a:path w="2694940" h="7620">
                  <a:moveTo>
                    <a:pt x="0" y="7620"/>
                  </a:moveTo>
                  <a:lnTo>
                    <a:pt x="269443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66" name="object 66"/>
            <p:cNvPicPr/>
            <p:nvPr/>
          </p:nvPicPr>
          <p:blipFill>
            <a:blip r:embed="rId7" cstate="print"/>
            <a:stretch>
              <a:fillRect/>
            </a:stretch>
          </p:blipFill>
          <p:spPr>
            <a:xfrm>
              <a:off x="9411461" y="3313934"/>
              <a:ext cx="86868" cy="86868"/>
            </a:xfrm>
            <a:prstGeom prst="rect">
              <a:avLst/>
            </a:prstGeom>
          </p:spPr>
        </p:pic>
        <p:sp>
          <p:nvSpPr>
            <p:cNvPr id="67" name="object 67"/>
            <p:cNvSpPr/>
            <p:nvPr/>
          </p:nvSpPr>
          <p:spPr>
            <a:xfrm>
              <a:off x="6768845" y="2664713"/>
              <a:ext cx="3810" cy="691515"/>
            </a:xfrm>
            <a:custGeom>
              <a:avLst/>
              <a:gdLst/>
              <a:ahLst/>
              <a:cxnLst/>
              <a:rect l="l" t="t" r="r" b="b"/>
              <a:pathLst>
                <a:path w="3809" h="691514">
                  <a:moveTo>
                    <a:pt x="0" y="0"/>
                  </a:moveTo>
                  <a:lnTo>
                    <a:pt x="3810" y="691134"/>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68" name="object 68"/>
            <p:cNvSpPr/>
            <p:nvPr/>
          </p:nvSpPr>
          <p:spPr>
            <a:xfrm>
              <a:off x="7601711" y="2664713"/>
              <a:ext cx="228600" cy="0"/>
            </a:xfrm>
            <a:custGeom>
              <a:avLst/>
              <a:gdLst/>
              <a:ahLst/>
              <a:cxnLst/>
              <a:rect l="l" t="t" r="r" b="b"/>
              <a:pathLst>
                <a:path w="228600">
                  <a:moveTo>
                    <a:pt x="0" y="0"/>
                  </a:moveTo>
                  <a:lnTo>
                    <a:pt x="22860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69" name="object 69"/>
            <p:cNvSpPr/>
            <p:nvPr/>
          </p:nvSpPr>
          <p:spPr>
            <a:xfrm>
              <a:off x="9343643" y="4589525"/>
              <a:ext cx="234315" cy="0"/>
            </a:xfrm>
            <a:custGeom>
              <a:avLst/>
              <a:gdLst/>
              <a:ahLst/>
              <a:cxnLst/>
              <a:rect l="l" t="t" r="r" b="b"/>
              <a:pathLst>
                <a:path w="234315">
                  <a:moveTo>
                    <a:pt x="0" y="0"/>
                  </a:moveTo>
                  <a:lnTo>
                    <a:pt x="23393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0" name="object 70"/>
            <p:cNvSpPr/>
            <p:nvPr/>
          </p:nvSpPr>
          <p:spPr>
            <a:xfrm>
              <a:off x="9402317" y="4639055"/>
              <a:ext cx="115570" cy="0"/>
            </a:xfrm>
            <a:custGeom>
              <a:avLst/>
              <a:gdLst/>
              <a:ahLst/>
              <a:cxnLst/>
              <a:rect l="l" t="t" r="r" b="b"/>
              <a:pathLst>
                <a:path w="115570">
                  <a:moveTo>
                    <a:pt x="0" y="0"/>
                  </a:moveTo>
                  <a:lnTo>
                    <a:pt x="11506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1" name="object 71"/>
            <p:cNvSpPr/>
            <p:nvPr/>
          </p:nvSpPr>
          <p:spPr>
            <a:xfrm>
              <a:off x="9429749" y="4689347"/>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2" name="object 72"/>
            <p:cNvSpPr/>
            <p:nvPr/>
          </p:nvSpPr>
          <p:spPr>
            <a:xfrm>
              <a:off x="9460229" y="4392929"/>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3" name="object 73"/>
            <p:cNvSpPr/>
            <p:nvPr/>
          </p:nvSpPr>
          <p:spPr>
            <a:xfrm>
              <a:off x="9792461" y="1919477"/>
              <a:ext cx="119380" cy="234315"/>
            </a:xfrm>
            <a:custGeom>
              <a:avLst/>
              <a:gdLst/>
              <a:ahLst/>
              <a:cxnLst/>
              <a:rect l="l" t="t" r="r" b="b"/>
              <a:pathLst>
                <a:path w="119379" h="234314">
                  <a:moveTo>
                    <a:pt x="0" y="233934"/>
                  </a:moveTo>
                  <a:lnTo>
                    <a:pt x="0" y="0"/>
                  </a:lnTo>
                </a:path>
                <a:path w="119379" h="234314">
                  <a:moveTo>
                    <a:pt x="0" y="233934"/>
                  </a:moveTo>
                  <a:lnTo>
                    <a:pt x="118872" y="233934"/>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4" name="object 74"/>
            <p:cNvSpPr/>
            <p:nvPr/>
          </p:nvSpPr>
          <p:spPr>
            <a:xfrm>
              <a:off x="9792461" y="1919477"/>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5" name="object 75"/>
            <p:cNvSpPr/>
            <p:nvPr/>
          </p:nvSpPr>
          <p:spPr>
            <a:xfrm>
              <a:off x="9911333" y="1482851"/>
              <a:ext cx="3810" cy="438150"/>
            </a:xfrm>
            <a:custGeom>
              <a:avLst/>
              <a:gdLst/>
              <a:ahLst/>
              <a:cxnLst/>
              <a:rect l="l" t="t" r="r" b="b"/>
              <a:pathLst>
                <a:path w="3809" h="438150">
                  <a:moveTo>
                    <a:pt x="0" y="438150"/>
                  </a:moveTo>
                  <a:lnTo>
                    <a:pt x="381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76" name="object 76"/>
            <p:cNvPicPr/>
            <p:nvPr/>
          </p:nvPicPr>
          <p:blipFill>
            <a:blip r:embed="rId8" cstate="print"/>
            <a:stretch>
              <a:fillRect/>
            </a:stretch>
          </p:blipFill>
          <p:spPr>
            <a:xfrm>
              <a:off x="9871713" y="1439419"/>
              <a:ext cx="86867" cy="86867"/>
            </a:xfrm>
            <a:prstGeom prst="rect">
              <a:avLst/>
            </a:prstGeom>
          </p:spPr>
        </p:pic>
        <p:sp>
          <p:nvSpPr>
            <p:cNvPr id="77" name="object 77"/>
            <p:cNvSpPr/>
            <p:nvPr/>
          </p:nvSpPr>
          <p:spPr>
            <a:xfrm>
              <a:off x="9911333" y="2155697"/>
              <a:ext cx="3810" cy="519430"/>
            </a:xfrm>
            <a:custGeom>
              <a:avLst/>
              <a:gdLst/>
              <a:ahLst/>
              <a:cxnLst/>
              <a:rect l="l" t="t" r="r" b="b"/>
              <a:pathLst>
                <a:path w="3809" h="519430">
                  <a:moveTo>
                    <a:pt x="3809" y="518922"/>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78" name="object 78"/>
            <p:cNvPicPr/>
            <p:nvPr/>
          </p:nvPicPr>
          <p:blipFill>
            <a:blip r:embed="rId9" cstate="print"/>
            <a:stretch>
              <a:fillRect/>
            </a:stretch>
          </p:blipFill>
          <p:spPr>
            <a:xfrm>
              <a:off x="9871709" y="2631186"/>
              <a:ext cx="86867" cy="86867"/>
            </a:xfrm>
            <a:prstGeom prst="rect">
              <a:avLst/>
            </a:prstGeom>
          </p:spPr>
        </p:pic>
        <p:pic>
          <p:nvPicPr>
            <p:cNvPr id="79" name="object 79"/>
            <p:cNvPicPr/>
            <p:nvPr/>
          </p:nvPicPr>
          <p:blipFill>
            <a:blip r:embed="rId10" cstate="print"/>
            <a:stretch>
              <a:fillRect/>
            </a:stretch>
          </p:blipFill>
          <p:spPr>
            <a:xfrm>
              <a:off x="9520427" y="1923287"/>
              <a:ext cx="208788" cy="233934"/>
            </a:xfrm>
            <a:prstGeom prst="rect">
              <a:avLst/>
            </a:prstGeom>
          </p:spPr>
        </p:pic>
        <p:sp>
          <p:nvSpPr>
            <p:cNvPr id="80" name="object 80"/>
            <p:cNvSpPr/>
            <p:nvPr/>
          </p:nvSpPr>
          <p:spPr>
            <a:xfrm>
              <a:off x="10796015" y="2556509"/>
              <a:ext cx="118110" cy="234315"/>
            </a:xfrm>
            <a:custGeom>
              <a:avLst/>
              <a:gdLst/>
              <a:ahLst/>
              <a:cxnLst/>
              <a:rect l="l" t="t" r="r" b="b"/>
              <a:pathLst>
                <a:path w="118109" h="234314">
                  <a:moveTo>
                    <a:pt x="0" y="233934"/>
                  </a:moveTo>
                  <a:lnTo>
                    <a:pt x="0" y="0"/>
                  </a:lnTo>
                </a:path>
                <a:path w="118109" h="234314">
                  <a:moveTo>
                    <a:pt x="0" y="233934"/>
                  </a:moveTo>
                  <a:lnTo>
                    <a:pt x="118110" y="233934"/>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1" name="object 81"/>
            <p:cNvSpPr/>
            <p:nvPr/>
          </p:nvSpPr>
          <p:spPr>
            <a:xfrm>
              <a:off x="10796015" y="2556509"/>
              <a:ext cx="118110" cy="0"/>
            </a:xfrm>
            <a:custGeom>
              <a:avLst/>
              <a:gdLst/>
              <a:ahLst/>
              <a:cxnLst/>
              <a:rect l="l" t="t" r="r" b="b"/>
              <a:pathLst>
                <a:path w="118109">
                  <a:moveTo>
                    <a:pt x="0" y="0"/>
                  </a:moveTo>
                  <a:lnTo>
                    <a:pt x="11811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2" name="object 82"/>
            <p:cNvSpPr/>
            <p:nvPr/>
          </p:nvSpPr>
          <p:spPr>
            <a:xfrm>
              <a:off x="10914125" y="1493519"/>
              <a:ext cx="0" cy="1064895"/>
            </a:xfrm>
            <a:custGeom>
              <a:avLst/>
              <a:gdLst/>
              <a:ahLst/>
              <a:cxnLst/>
              <a:rect l="l" t="t" r="r" b="b"/>
              <a:pathLst>
                <a:path h="1064895">
                  <a:moveTo>
                    <a:pt x="0" y="1064514"/>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3" name="object 83"/>
            <p:cNvSpPr/>
            <p:nvPr/>
          </p:nvSpPr>
          <p:spPr>
            <a:xfrm>
              <a:off x="10914125" y="2791968"/>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4" name="object 84"/>
            <p:cNvSpPr/>
            <p:nvPr/>
          </p:nvSpPr>
          <p:spPr>
            <a:xfrm>
              <a:off x="10870691" y="2945130"/>
              <a:ext cx="86995" cy="86995"/>
            </a:xfrm>
            <a:custGeom>
              <a:avLst/>
              <a:gdLst/>
              <a:ahLst/>
              <a:cxnLst/>
              <a:rect l="l" t="t" r="r" b="b"/>
              <a:pathLst>
                <a:path w="86995" h="86994">
                  <a:moveTo>
                    <a:pt x="43433" y="0"/>
                  </a:moveTo>
                  <a:lnTo>
                    <a:pt x="26526" y="3412"/>
                  </a:lnTo>
                  <a:lnTo>
                    <a:pt x="12720" y="12720"/>
                  </a:lnTo>
                  <a:lnTo>
                    <a:pt x="3412" y="26526"/>
                  </a:lnTo>
                  <a:lnTo>
                    <a:pt x="0" y="43434"/>
                  </a:lnTo>
                  <a:lnTo>
                    <a:pt x="3412" y="60341"/>
                  </a:lnTo>
                  <a:lnTo>
                    <a:pt x="12720" y="74147"/>
                  </a:lnTo>
                  <a:lnTo>
                    <a:pt x="26526" y="83455"/>
                  </a:lnTo>
                  <a:lnTo>
                    <a:pt x="43433" y="86868"/>
                  </a:lnTo>
                  <a:lnTo>
                    <a:pt x="60341" y="83455"/>
                  </a:lnTo>
                  <a:lnTo>
                    <a:pt x="74147" y="74147"/>
                  </a:lnTo>
                  <a:lnTo>
                    <a:pt x="83455" y="60341"/>
                  </a:lnTo>
                  <a:lnTo>
                    <a:pt x="86867" y="43434"/>
                  </a:lnTo>
                  <a:lnTo>
                    <a:pt x="83455" y="26526"/>
                  </a:lnTo>
                  <a:lnTo>
                    <a:pt x="74147" y="12720"/>
                  </a:lnTo>
                  <a:lnTo>
                    <a:pt x="60341" y="3412"/>
                  </a:lnTo>
                  <a:lnTo>
                    <a:pt x="43433"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85" name="object 85"/>
            <p:cNvPicPr/>
            <p:nvPr/>
          </p:nvPicPr>
          <p:blipFill>
            <a:blip r:embed="rId11" cstate="print"/>
            <a:stretch>
              <a:fillRect/>
            </a:stretch>
          </p:blipFill>
          <p:spPr>
            <a:xfrm>
              <a:off x="10523981" y="2559558"/>
              <a:ext cx="208787" cy="233934"/>
            </a:xfrm>
            <a:prstGeom prst="rect">
              <a:avLst/>
            </a:prstGeom>
          </p:spPr>
        </p:pic>
        <p:sp>
          <p:nvSpPr>
            <p:cNvPr id="86" name="object 86"/>
            <p:cNvSpPr/>
            <p:nvPr/>
          </p:nvSpPr>
          <p:spPr>
            <a:xfrm>
              <a:off x="10192892" y="2209418"/>
              <a:ext cx="254000" cy="231140"/>
            </a:xfrm>
            <a:custGeom>
              <a:avLst/>
              <a:gdLst/>
              <a:ahLst/>
              <a:cxnLst/>
              <a:rect l="l" t="t" r="r" b="b"/>
              <a:pathLst>
                <a:path w="254000" h="231139">
                  <a:moveTo>
                    <a:pt x="0" y="0"/>
                  </a:moveTo>
                  <a:lnTo>
                    <a:pt x="253746" y="230886"/>
                  </a:lnTo>
                </a:path>
              </a:pathLst>
            </a:custGeom>
            <a:ln w="63246">
              <a:solidFill>
                <a:srgbClr val="000000"/>
              </a:solidFill>
              <a:prstDash val="dot"/>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7" name="object 87"/>
            <p:cNvSpPr/>
            <p:nvPr/>
          </p:nvSpPr>
          <p:spPr>
            <a:xfrm>
              <a:off x="9451085" y="2983230"/>
              <a:ext cx="1463040" cy="7620"/>
            </a:xfrm>
            <a:custGeom>
              <a:avLst/>
              <a:gdLst/>
              <a:ahLst/>
              <a:cxnLst/>
              <a:rect l="l" t="t" r="r" b="b"/>
              <a:pathLst>
                <a:path w="1463040" h="7619">
                  <a:moveTo>
                    <a:pt x="0" y="0"/>
                  </a:moveTo>
                  <a:lnTo>
                    <a:pt x="1463040" y="762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88" name="object 88"/>
            <p:cNvPicPr/>
            <p:nvPr/>
          </p:nvPicPr>
          <p:blipFill>
            <a:blip r:embed="rId12" cstate="print"/>
            <a:stretch>
              <a:fillRect/>
            </a:stretch>
          </p:blipFill>
          <p:spPr>
            <a:xfrm>
              <a:off x="9407651" y="2939796"/>
              <a:ext cx="86868" cy="86868"/>
            </a:xfrm>
            <a:prstGeom prst="rect">
              <a:avLst/>
            </a:prstGeom>
          </p:spPr>
        </p:pic>
        <p:sp>
          <p:nvSpPr>
            <p:cNvPr id="89" name="object 89"/>
            <p:cNvSpPr/>
            <p:nvPr/>
          </p:nvSpPr>
          <p:spPr>
            <a:xfrm>
              <a:off x="9451085" y="1485899"/>
              <a:ext cx="1463040" cy="7620"/>
            </a:xfrm>
            <a:custGeom>
              <a:avLst/>
              <a:gdLst/>
              <a:ahLst/>
              <a:cxnLst/>
              <a:rect l="l" t="t" r="r" b="b"/>
              <a:pathLst>
                <a:path w="1463040" h="7619">
                  <a:moveTo>
                    <a:pt x="0" y="0"/>
                  </a:moveTo>
                  <a:lnTo>
                    <a:pt x="1463040" y="762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90" name="object 90"/>
            <p:cNvPicPr/>
            <p:nvPr/>
          </p:nvPicPr>
          <p:blipFill>
            <a:blip r:embed="rId13" cstate="print"/>
            <a:stretch>
              <a:fillRect/>
            </a:stretch>
          </p:blipFill>
          <p:spPr>
            <a:xfrm>
              <a:off x="10870691" y="1450089"/>
              <a:ext cx="86868" cy="86868"/>
            </a:xfrm>
            <a:prstGeom prst="rect">
              <a:avLst/>
            </a:prstGeom>
          </p:spPr>
        </p:pic>
        <p:pic>
          <p:nvPicPr>
            <p:cNvPr id="91" name="object 91"/>
            <p:cNvPicPr/>
            <p:nvPr/>
          </p:nvPicPr>
          <p:blipFill>
            <a:blip r:embed="rId14" cstate="print"/>
            <a:stretch>
              <a:fillRect/>
            </a:stretch>
          </p:blipFill>
          <p:spPr>
            <a:xfrm>
              <a:off x="9407651" y="1442465"/>
              <a:ext cx="86868" cy="86868"/>
            </a:xfrm>
            <a:prstGeom prst="rect">
              <a:avLst/>
            </a:prstGeom>
          </p:spPr>
        </p:pic>
        <p:sp>
          <p:nvSpPr>
            <p:cNvPr id="92" name="object 92"/>
            <p:cNvSpPr/>
            <p:nvPr/>
          </p:nvSpPr>
          <p:spPr>
            <a:xfrm>
              <a:off x="10174985" y="1184909"/>
              <a:ext cx="0" cy="300990"/>
            </a:xfrm>
            <a:custGeom>
              <a:avLst/>
              <a:gdLst/>
              <a:ahLst/>
              <a:cxnLst/>
              <a:rect l="l" t="t" r="r" b="b"/>
              <a:pathLst>
                <a:path h="300990">
                  <a:moveTo>
                    <a:pt x="0" y="0"/>
                  </a:moveTo>
                  <a:lnTo>
                    <a:pt x="0" y="30099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93" name="object 93"/>
            <p:cNvPicPr/>
            <p:nvPr/>
          </p:nvPicPr>
          <p:blipFill>
            <a:blip r:embed="rId15" cstate="print"/>
            <a:stretch>
              <a:fillRect/>
            </a:stretch>
          </p:blipFill>
          <p:spPr>
            <a:xfrm>
              <a:off x="10131546" y="1442465"/>
              <a:ext cx="86867" cy="86867"/>
            </a:xfrm>
            <a:prstGeom prst="rect">
              <a:avLst/>
            </a:prstGeom>
          </p:spPr>
        </p:pic>
        <p:pic>
          <p:nvPicPr>
            <p:cNvPr id="94" name="object 94"/>
            <p:cNvPicPr/>
            <p:nvPr/>
          </p:nvPicPr>
          <p:blipFill>
            <a:blip r:embed="rId14" cstate="print"/>
            <a:stretch>
              <a:fillRect/>
            </a:stretch>
          </p:blipFill>
          <p:spPr>
            <a:xfrm>
              <a:off x="10131551" y="1141475"/>
              <a:ext cx="86867" cy="86867"/>
            </a:xfrm>
            <a:prstGeom prst="rect">
              <a:avLst/>
            </a:prstGeom>
          </p:spPr>
        </p:pic>
        <p:sp>
          <p:nvSpPr>
            <p:cNvPr id="95" name="object 95"/>
            <p:cNvSpPr/>
            <p:nvPr/>
          </p:nvSpPr>
          <p:spPr>
            <a:xfrm>
              <a:off x="6980681" y="2426208"/>
              <a:ext cx="621030" cy="478155"/>
            </a:xfrm>
            <a:custGeom>
              <a:avLst/>
              <a:gdLst/>
              <a:ahLst/>
              <a:cxnLst/>
              <a:rect l="l" t="t" r="r" b="b"/>
              <a:pathLst>
                <a:path w="621029" h="478155">
                  <a:moveTo>
                    <a:pt x="621029" y="0"/>
                  </a:moveTo>
                  <a:lnTo>
                    <a:pt x="621029" y="477773"/>
                  </a:lnTo>
                  <a:lnTo>
                    <a:pt x="124205" y="477773"/>
                  </a:lnTo>
                  <a:lnTo>
                    <a:pt x="0" y="238886"/>
                  </a:lnTo>
                  <a:lnTo>
                    <a:pt x="124205" y="0"/>
                  </a:lnTo>
                  <a:lnTo>
                    <a:pt x="621029" y="0"/>
                  </a:lnTo>
                  <a:close/>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96" name="object 96"/>
          <p:cNvSpPr txBox="1"/>
          <p:nvPr/>
        </p:nvSpPr>
        <p:spPr>
          <a:xfrm>
            <a:off x="4215876" y="2580795"/>
            <a:ext cx="278390" cy="155270"/>
          </a:xfrm>
          <a:prstGeom prst="rect">
            <a:avLst/>
          </a:prstGeom>
        </p:spPr>
        <p:txBody>
          <a:bodyPr vert="horz" wrap="square" lIns="0" tIns="8226" rIns="0" bIns="0" rtlCol="0">
            <a:spAutoFit/>
          </a:bodyPr>
          <a:lstStyle/>
          <a:p>
            <a:pPr marL="8659" marR="0" lvl="0" indent="0" algn="l" defTabSz="914400" rtl="0" eaLnBrk="1" fontAlgn="auto" latinLnBrk="0" hangingPunct="1">
              <a:lnSpc>
                <a:spcPct val="100000"/>
              </a:lnSpc>
              <a:spcBef>
                <a:spcPts val="65"/>
              </a:spcBef>
              <a:spcAft>
                <a:spcPts val="0"/>
              </a:spcAft>
              <a:buClrTx/>
              <a:buSzTx/>
              <a:buFontTx/>
              <a:buNone/>
              <a:tabLst/>
              <a:defRPr/>
            </a:pPr>
            <a:r>
              <a:rPr kumimoji="0" sz="955" b="0" i="0" u="none" strike="noStrike" kern="1200" cap="none" spc="-17" normalizeH="0" baseline="0" noProof="0" dirty="0">
                <a:ln>
                  <a:noFill/>
                </a:ln>
                <a:solidFill>
                  <a:prstClr val="black"/>
                </a:solidFill>
                <a:effectLst/>
                <a:uLnTx/>
                <a:uFillTx/>
                <a:latin typeface="Verdana"/>
                <a:ea typeface="+mn-ea"/>
                <a:cs typeface="Verdana"/>
              </a:rPr>
              <a:t>ADC</a:t>
            </a:r>
            <a:endParaRPr kumimoji="0" sz="955" b="0" i="0" u="none" strike="noStrike" kern="1200" cap="none" spc="0" normalizeH="0" baseline="0" noProof="0">
              <a:ln>
                <a:noFill/>
              </a:ln>
              <a:solidFill>
                <a:prstClr val="black"/>
              </a:solidFill>
              <a:effectLst/>
              <a:uLnTx/>
              <a:uFillTx/>
              <a:latin typeface="Verdana"/>
              <a:ea typeface="+mn-ea"/>
              <a:cs typeface="Verdana"/>
            </a:endParaRPr>
          </a:p>
        </p:txBody>
      </p:sp>
      <p:grpSp>
        <p:nvGrpSpPr>
          <p:cNvPr id="97" name="object 97"/>
          <p:cNvGrpSpPr/>
          <p:nvPr/>
        </p:nvGrpSpPr>
        <p:grpSpPr>
          <a:xfrm>
            <a:off x="3941783" y="2665624"/>
            <a:ext cx="2012806" cy="1214004"/>
            <a:chOff x="6758051" y="2658491"/>
            <a:chExt cx="2952115" cy="1780539"/>
          </a:xfrm>
        </p:grpSpPr>
        <p:sp>
          <p:nvSpPr>
            <p:cNvPr id="98" name="object 98"/>
            <p:cNvSpPr/>
            <p:nvPr/>
          </p:nvSpPr>
          <p:spPr>
            <a:xfrm>
              <a:off x="6772656" y="2673096"/>
              <a:ext cx="215900" cy="1270"/>
            </a:xfrm>
            <a:custGeom>
              <a:avLst/>
              <a:gdLst/>
              <a:ahLst/>
              <a:cxnLst/>
              <a:rect l="l" t="t" r="r" b="b"/>
              <a:pathLst>
                <a:path w="215900" h="1269">
                  <a:moveTo>
                    <a:pt x="0" y="762"/>
                  </a:moveTo>
                  <a:lnTo>
                    <a:pt x="215646"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99" name="object 99"/>
            <p:cNvSpPr/>
            <p:nvPr/>
          </p:nvSpPr>
          <p:spPr>
            <a:xfrm>
              <a:off x="9460230" y="4181094"/>
              <a:ext cx="0" cy="243204"/>
            </a:xfrm>
            <a:custGeom>
              <a:avLst/>
              <a:gdLst/>
              <a:ahLst/>
              <a:cxnLst/>
              <a:rect l="l" t="t" r="r" b="b"/>
              <a:pathLst>
                <a:path h="243204">
                  <a:moveTo>
                    <a:pt x="0" y="0"/>
                  </a:moveTo>
                  <a:lnTo>
                    <a:pt x="0" y="243077"/>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0" name="object 100"/>
            <p:cNvSpPr/>
            <p:nvPr/>
          </p:nvSpPr>
          <p:spPr>
            <a:xfrm>
              <a:off x="9416796" y="4137660"/>
              <a:ext cx="86995" cy="86995"/>
            </a:xfrm>
            <a:custGeom>
              <a:avLst/>
              <a:gdLst/>
              <a:ahLst/>
              <a:cxnLst/>
              <a:rect l="l" t="t" r="r" b="b"/>
              <a:pathLst>
                <a:path w="86995" h="86995">
                  <a:moveTo>
                    <a:pt x="43433" y="0"/>
                  </a:moveTo>
                  <a:lnTo>
                    <a:pt x="26526" y="3412"/>
                  </a:lnTo>
                  <a:lnTo>
                    <a:pt x="12720" y="12720"/>
                  </a:lnTo>
                  <a:lnTo>
                    <a:pt x="3412" y="26526"/>
                  </a:lnTo>
                  <a:lnTo>
                    <a:pt x="0" y="43434"/>
                  </a:lnTo>
                  <a:lnTo>
                    <a:pt x="3412" y="60341"/>
                  </a:lnTo>
                  <a:lnTo>
                    <a:pt x="12720" y="74147"/>
                  </a:lnTo>
                  <a:lnTo>
                    <a:pt x="26526" y="83455"/>
                  </a:lnTo>
                  <a:lnTo>
                    <a:pt x="43433" y="86868"/>
                  </a:lnTo>
                  <a:lnTo>
                    <a:pt x="60341" y="83455"/>
                  </a:lnTo>
                  <a:lnTo>
                    <a:pt x="74147" y="74147"/>
                  </a:lnTo>
                  <a:lnTo>
                    <a:pt x="83455" y="60341"/>
                  </a:lnTo>
                  <a:lnTo>
                    <a:pt x="86867" y="43434"/>
                  </a:lnTo>
                  <a:lnTo>
                    <a:pt x="83455" y="26526"/>
                  </a:lnTo>
                  <a:lnTo>
                    <a:pt x="74147" y="12720"/>
                  </a:lnTo>
                  <a:lnTo>
                    <a:pt x="60341" y="3412"/>
                  </a:lnTo>
                  <a:lnTo>
                    <a:pt x="43433"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1" name="object 101"/>
            <p:cNvSpPr/>
            <p:nvPr/>
          </p:nvSpPr>
          <p:spPr>
            <a:xfrm>
              <a:off x="9350502" y="4058412"/>
              <a:ext cx="108585" cy="45720"/>
            </a:xfrm>
            <a:custGeom>
              <a:avLst/>
              <a:gdLst/>
              <a:ahLst/>
              <a:cxnLst/>
              <a:rect l="l" t="t" r="r" b="b"/>
              <a:pathLst>
                <a:path w="108584" h="45720">
                  <a:moveTo>
                    <a:pt x="108203" y="45719"/>
                  </a:moveTo>
                  <a:lnTo>
                    <a:pt x="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2" name="object 102"/>
            <p:cNvSpPr/>
            <p:nvPr/>
          </p:nvSpPr>
          <p:spPr>
            <a:xfrm>
              <a:off x="9350502" y="4012691"/>
              <a:ext cx="215900" cy="47625"/>
            </a:xfrm>
            <a:custGeom>
              <a:avLst/>
              <a:gdLst/>
              <a:ahLst/>
              <a:cxnLst/>
              <a:rect l="l" t="t" r="r" b="b"/>
              <a:pathLst>
                <a:path w="215900" h="47625">
                  <a:moveTo>
                    <a:pt x="0" y="47243"/>
                  </a:moveTo>
                  <a:lnTo>
                    <a:pt x="21564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3" name="object 103"/>
            <p:cNvSpPr/>
            <p:nvPr/>
          </p:nvSpPr>
          <p:spPr>
            <a:xfrm>
              <a:off x="9350502" y="3969258"/>
              <a:ext cx="215900" cy="43815"/>
            </a:xfrm>
            <a:custGeom>
              <a:avLst/>
              <a:gdLst/>
              <a:ahLst/>
              <a:cxnLst/>
              <a:rect l="l" t="t" r="r" b="b"/>
              <a:pathLst>
                <a:path w="215900" h="43814">
                  <a:moveTo>
                    <a:pt x="215646" y="43433"/>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4" name="object 104"/>
            <p:cNvSpPr/>
            <p:nvPr/>
          </p:nvSpPr>
          <p:spPr>
            <a:xfrm>
              <a:off x="9352026" y="3920490"/>
              <a:ext cx="216535" cy="50800"/>
            </a:xfrm>
            <a:custGeom>
              <a:avLst/>
              <a:gdLst/>
              <a:ahLst/>
              <a:cxnLst/>
              <a:rect l="l" t="t" r="r" b="b"/>
              <a:pathLst>
                <a:path w="216534" h="50800">
                  <a:moveTo>
                    <a:pt x="0" y="50292"/>
                  </a:moveTo>
                  <a:lnTo>
                    <a:pt x="216408"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5" name="object 105"/>
            <p:cNvSpPr/>
            <p:nvPr/>
          </p:nvSpPr>
          <p:spPr>
            <a:xfrm>
              <a:off x="9352026" y="3875532"/>
              <a:ext cx="216535" cy="45085"/>
            </a:xfrm>
            <a:custGeom>
              <a:avLst/>
              <a:gdLst/>
              <a:ahLst/>
              <a:cxnLst/>
              <a:rect l="l" t="t" r="r" b="b"/>
              <a:pathLst>
                <a:path w="216534" h="45085">
                  <a:moveTo>
                    <a:pt x="216407" y="44958"/>
                  </a:moveTo>
                  <a:lnTo>
                    <a:pt x="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6" name="object 106"/>
            <p:cNvSpPr/>
            <p:nvPr/>
          </p:nvSpPr>
          <p:spPr>
            <a:xfrm>
              <a:off x="9350502" y="3828288"/>
              <a:ext cx="215900" cy="47625"/>
            </a:xfrm>
            <a:custGeom>
              <a:avLst/>
              <a:gdLst/>
              <a:ahLst/>
              <a:cxnLst/>
              <a:rect l="l" t="t" r="r" b="b"/>
              <a:pathLst>
                <a:path w="215900" h="47625">
                  <a:moveTo>
                    <a:pt x="0" y="47243"/>
                  </a:moveTo>
                  <a:lnTo>
                    <a:pt x="21564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7" name="object 107"/>
            <p:cNvSpPr/>
            <p:nvPr/>
          </p:nvSpPr>
          <p:spPr>
            <a:xfrm>
              <a:off x="9458705" y="3782568"/>
              <a:ext cx="107950" cy="45720"/>
            </a:xfrm>
            <a:custGeom>
              <a:avLst/>
              <a:gdLst/>
              <a:ahLst/>
              <a:cxnLst/>
              <a:rect l="l" t="t" r="r" b="b"/>
              <a:pathLst>
                <a:path w="107950" h="45720">
                  <a:moveTo>
                    <a:pt x="107442" y="45719"/>
                  </a:moveTo>
                  <a:lnTo>
                    <a:pt x="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8" name="object 108"/>
            <p:cNvSpPr/>
            <p:nvPr/>
          </p:nvSpPr>
          <p:spPr>
            <a:xfrm>
              <a:off x="9460230" y="3691890"/>
              <a:ext cx="0" cy="92710"/>
            </a:xfrm>
            <a:custGeom>
              <a:avLst/>
              <a:gdLst/>
              <a:ahLst/>
              <a:cxnLst/>
              <a:rect l="l" t="t" r="r" b="b"/>
              <a:pathLst>
                <a:path h="92710">
                  <a:moveTo>
                    <a:pt x="0" y="92201"/>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9" name="object 109"/>
            <p:cNvSpPr/>
            <p:nvPr/>
          </p:nvSpPr>
          <p:spPr>
            <a:xfrm>
              <a:off x="9416801" y="3648455"/>
              <a:ext cx="86995" cy="86995"/>
            </a:xfrm>
            <a:custGeom>
              <a:avLst/>
              <a:gdLst/>
              <a:ahLst/>
              <a:cxnLst/>
              <a:rect l="l" t="t" r="r" b="b"/>
              <a:pathLst>
                <a:path w="86995" h="86995">
                  <a:moveTo>
                    <a:pt x="43421" y="0"/>
                  </a:moveTo>
                  <a:lnTo>
                    <a:pt x="26521" y="3412"/>
                  </a:lnTo>
                  <a:lnTo>
                    <a:pt x="12719" y="12720"/>
                  </a:lnTo>
                  <a:lnTo>
                    <a:pt x="3412" y="26526"/>
                  </a:lnTo>
                  <a:lnTo>
                    <a:pt x="0" y="43434"/>
                  </a:lnTo>
                  <a:lnTo>
                    <a:pt x="3412" y="60341"/>
                  </a:lnTo>
                  <a:lnTo>
                    <a:pt x="12720" y="74147"/>
                  </a:lnTo>
                  <a:lnTo>
                    <a:pt x="26526" y="83455"/>
                  </a:lnTo>
                  <a:lnTo>
                    <a:pt x="43433" y="86868"/>
                  </a:lnTo>
                  <a:lnTo>
                    <a:pt x="60341" y="83453"/>
                  </a:lnTo>
                  <a:lnTo>
                    <a:pt x="74147" y="74142"/>
                  </a:lnTo>
                  <a:lnTo>
                    <a:pt x="83455" y="60336"/>
                  </a:lnTo>
                  <a:lnTo>
                    <a:pt x="86867" y="43434"/>
                  </a:lnTo>
                  <a:lnTo>
                    <a:pt x="83453" y="26526"/>
                  </a:lnTo>
                  <a:lnTo>
                    <a:pt x="74141" y="12720"/>
                  </a:lnTo>
                  <a:lnTo>
                    <a:pt x="60330" y="3412"/>
                  </a:lnTo>
                  <a:lnTo>
                    <a:pt x="43421"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0" name="object 110"/>
            <p:cNvSpPr/>
            <p:nvPr/>
          </p:nvSpPr>
          <p:spPr>
            <a:xfrm>
              <a:off x="9460230" y="4106418"/>
              <a:ext cx="0" cy="91440"/>
            </a:xfrm>
            <a:custGeom>
              <a:avLst/>
              <a:gdLst/>
              <a:ahLst/>
              <a:cxnLst/>
              <a:rect l="l" t="t" r="r" b="b"/>
              <a:pathLst>
                <a:path h="91439">
                  <a:moveTo>
                    <a:pt x="0" y="91439"/>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1" name="object 111"/>
            <p:cNvSpPr/>
            <p:nvPr/>
          </p:nvSpPr>
          <p:spPr>
            <a:xfrm>
              <a:off x="9287636" y="3813987"/>
              <a:ext cx="412750" cy="275590"/>
            </a:xfrm>
            <a:custGeom>
              <a:avLst/>
              <a:gdLst/>
              <a:ahLst/>
              <a:cxnLst/>
              <a:rect l="l" t="t" r="r" b="b"/>
              <a:pathLst>
                <a:path w="412750" h="275589">
                  <a:moveTo>
                    <a:pt x="0" y="275285"/>
                  </a:moveTo>
                  <a:lnTo>
                    <a:pt x="412559" y="0"/>
                  </a:lnTo>
                </a:path>
              </a:pathLst>
            </a:custGeom>
            <a:ln w="1905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2" name="object 112"/>
            <p:cNvSpPr/>
            <p:nvPr/>
          </p:nvSpPr>
          <p:spPr>
            <a:xfrm>
              <a:off x="9612132" y="3813989"/>
              <a:ext cx="88265" cy="79375"/>
            </a:xfrm>
            <a:custGeom>
              <a:avLst/>
              <a:gdLst/>
              <a:ahLst/>
              <a:cxnLst/>
              <a:rect l="l" t="t" r="r" b="b"/>
              <a:pathLst>
                <a:path w="88265" h="79375">
                  <a:moveTo>
                    <a:pt x="49352" y="79273"/>
                  </a:moveTo>
                  <a:lnTo>
                    <a:pt x="88061" y="0"/>
                  </a:lnTo>
                  <a:lnTo>
                    <a:pt x="0" y="5321"/>
                  </a:lnTo>
                </a:path>
              </a:pathLst>
            </a:custGeom>
            <a:ln w="1905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3" name="object 113"/>
          <p:cNvGrpSpPr/>
          <p:nvPr/>
        </p:nvGrpSpPr>
        <p:grpSpPr>
          <a:xfrm>
            <a:off x="2607446" y="3139343"/>
            <a:ext cx="294841" cy="520411"/>
            <a:chOff x="4149090" y="3620261"/>
            <a:chExt cx="432434" cy="763270"/>
          </a:xfrm>
        </p:grpSpPr>
        <p:sp>
          <p:nvSpPr>
            <p:cNvPr id="114" name="object 114"/>
            <p:cNvSpPr/>
            <p:nvPr/>
          </p:nvSpPr>
          <p:spPr>
            <a:xfrm>
              <a:off x="4331970" y="4139945"/>
              <a:ext cx="0" cy="243204"/>
            </a:xfrm>
            <a:custGeom>
              <a:avLst/>
              <a:gdLst/>
              <a:ahLst/>
              <a:cxnLst/>
              <a:rect l="l" t="t" r="r" b="b"/>
              <a:pathLst>
                <a:path h="243204">
                  <a:moveTo>
                    <a:pt x="0" y="0"/>
                  </a:moveTo>
                  <a:lnTo>
                    <a:pt x="0" y="243077"/>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5" name="object 115"/>
            <p:cNvSpPr/>
            <p:nvPr/>
          </p:nvSpPr>
          <p:spPr>
            <a:xfrm>
              <a:off x="4222242" y="4030217"/>
              <a:ext cx="107950" cy="46990"/>
            </a:xfrm>
            <a:custGeom>
              <a:avLst/>
              <a:gdLst/>
              <a:ahLst/>
              <a:cxnLst/>
              <a:rect l="l" t="t" r="r" b="b"/>
              <a:pathLst>
                <a:path w="107950" h="46989">
                  <a:moveTo>
                    <a:pt x="107441" y="46481"/>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6" name="object 116"/>
            <p:cNvSpPr/>
            <p:nvPr/>
          </p:nvSpPr>
          <p:spPr>
            <a:xfrm>
              <a:off x="4222242" y="3984497"/>
              <a:ext cx="215900" cy="48260"/>
            </a:xfrm>
            <a:custGeom>
              <a:avLst/>
              <a:gdLst/>
              <a:ahLst/>
              <a:cxnLst/>
              <a:rect l="l" t="t" r="r" b="b"/>
              <a:pathLst>
                <a:path w="215900" h="48260">
                  <a:moveTo>
                    <a:pt x="0" y="48006"/>
                  </a:moveTo>
                  <a:lnTo>
                    <a:pt x="215646"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7" name="object 117"/>
            <p:cNvSpPr/>
            <p:nvPr/>
          </p:nvSpPr>
          <p:spPr>
            <a:xfrm>
              <a:off x="4222242" y="3941825"/>
              <a:ext cx="215900" cy="43180"/>
            </a:xfrm>
            <a:custGeom>
              <a:avLst/>
              <a:gdLst/>
              <a:ahLst/>
              <a:cxnLst/>
              <a:rect l="l" t="t" r="r" b="b"/>
              <a:pathLst>
                <a:path w="215900" h="43179">
                  <a:moveTo>
                    <a:pt x="215646" y="42672"/>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8" name="object 118"/>
            <p:cNvSpPr/>
            <p:nvPr/>
          </p:nvSpPr>
          <p:spPr>
            <a:xfrm>
              <a:off x="4223766" y="3892295"/>
              <a:ext cx="215900" cy="51435"/>
            </a:xfrm>
            <a:custGeom>
              <a:avLst/>
              <a:gdLst/>
              <a:ahLst/>
              <a:cxnLst/>
              <a:rect l="l" t="t" r="r" b="b"/>
              <a:pathLst>
                <a:path w="215900" h="51435">
                  <a:moveTo>
                    <a:pt x="0" y="51053"/>
                  </a:moveTo>
                  <a:lnTo>
                    <a:pt x="21564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9" name="object 119"/>
            <p:cNvSpPr/>
            <p:nvPr/>
          </p:nvSpPr>
          <p:spPr>
            <a:xfrm>
              <a:off x="4223766" y="3848099"/>
              <a:ext cx="215900" cy="44450"/>
            </a:xfrm>
            <a:custGeom>
              <a:avLst/>
              <a:gdLst/>
              <a:ahLst/>
              <a:cxnLst/>
              <a:rect l="l" t="t" r="r" b="b"/>
              <a:pathLst>
                <a:path w="215900" h="44450">
                  <a:moveTo>
                    <a:pt x="215646" y="44195"/>
                  </a:moveTo>
                  <a:lnTo>
                    <a:pt x="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0" name="object 120"/>
            <p:cNvSpPr/>
            <p:nvPr/>
          </p:nvSpPr>
          <p:spPr>
            <a:xfrm>
              <a:off x="4222242" y="3800093"/>
              <a:ext cx="215900" cy="48260"/>
            </a:xfrm>
            <a:custGeom>
              <a:avLst/>
              <a:gdLst/>
              <a:ahLst/>
              <a:cxnLst/>
              <a:rect l="l" t="t" r="r" b="b"/>
              <a:pathLst>
                <a:path w="215900" h="48260">
                  <a:moveTo>
                    <a:pt x="0" y="48005"/>
                  </a:moveTo>
                  <a:lnTo>
                    <a:pt x="215646"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1" name="object 121"/>
            <p:cNvSpPr/>
            <p:nvPr/>
          </p:nvSpPr>
          <p:spPr>
            <a:xfrm>
              <a:off x="4329684" y="3754373"/>
              <a:ext cx="108585" cy="45720"/>
            </a:xfrm>
            <a:custGeom>
              <a:avLst/>
              <a:gdLst/>
              <a:ahLst/>
              <a:cxnLst/>
              <a:rect l="l" t="t" r="r" b="b"/>
              <a:pathLst>
                <a:path w="108585" h="45720">
                  <a:moveTo>
                    <a:pt x="108203" y="45719"/>
                  </a:moveTo>
                  <a:lnTo>
                    <a:pt x="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2" name="object 122"/>
            <p:cNvSpPr/>
            <p:nvPr/>
          </p:nvSpPr>
          <p:spPr>
            <a:xfrm>
              <a:off x="4331208" y="3663695"/>
              <a:ext cx="0" cy="92710"/>
            </a:xfrm>
            <a:custGeom>
              <a:avLst/>
              <a:gdLst/>
              <a:ahLst/>
              <a:cxnLst/>
              <a:rect l="l" t="t" r="r" b="b"/>
              <a:pathLst>
                <a:path h="92710">
                  <a:moveTo>
                    <a:pt x="0" y="92201"/>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3" name="object 123"/>
            <p:cNvSpPr/>
            <p:nvPr/>
          </p:nvSpPr>
          <p:spPr>
            <a:xfrm>
              <a:off x="4287779" y="3620261"/>
              <a:ext cx="86995" cy="86995"/>
            </a:xfrm>
            <a:custGeom>
              <a:avLst/>
              <a:gdLst/>
              <a:ahLst/>
              <a:cxnLst/>
              <a:rect l="l" t="t" r="r" b="b"/>
              <a:pathLst>
                <a:path w="86995" h="86995">
                  <a:moveTo>
                    <a:pt x="43421" y="0"/>
                  </a:moveTo>
                  <a:lnTo>
                    <a:pt x="26519" y="3412"/>
                  </a:lnTo>
                  <a:lnTo>
                    <a:pt x="12714" y="12720"/>
                  </a:lnTo>
                  <a:lnTo>
                    <a:pt x="3407" y="26526"/>
                  </a:lnTo>
                  <a:lnTo>
                    <a:pt x="0" y="43434"/>
                  </a:lnTo>
                  <a:lnTo>
                    <a:pt x="3412" y="60341"/>
                  </a:lnTo>
                  <a:lnTo>
                    <a:pt x="12720" y="74147"/>
                  </a:lnTo>
                  <a:lnTo>
                    <a:pt x="26526" y="83455"/>
                  </a:lnTo>
                  <a:lnTo>
                    <a:pt x="43434" y="86868"/>
                  </a:lnTo>
                  <a:lnTo>
                    <a:pt x="60341" y="83453"/>
                  </a:lnTo>
                  <a:lnTo>
                    <a:pt x="74147" y="74142"/>
                  </a:lnTo>
                  <a:lnTo>
                    <a:pt x="83455" y="60336"/>
                  </a:lnTo>
                  <a:lnTo>
                    <a:pt x="86868" y="43434"/>
                  </a:lnTo>
                  <a:lnTo>
                    <a:pt x="83447" y="26526"/>
                  </a:lnTo>
                  <a:lnTo>
                    <a:pt x="74136" y="12720"/>
                  </a:lnTo>
                  <a:lnTo>
                    <a:pt x="60328" y="3412"/>
                  </a:lnTo>
                  <a:lnTo>
                    <a:pt x="43421"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4" name="object 124"/>
            <p:cNvSpPr/>
            <p:nvPr/>
          </p:nvSpPr>
          <p:spPr>
            <a:xfrm>
              <a:off x="4331208" y="4078223"/>
              <a:ext cx="0" cy="92710"/>
            </a:xfrm>
            <a:custGeom>
              <a:avLst/>
              <a:gdLst/>
              <a:ahLst/>
              <a:cxnLst/>
              <a:rect l="l" t="t" r="r" b="b"/>
              <a:pathLst>
                <a:path h="92710">
                  <a:moveTo>
                    <a:pt x="0" y="92201"/>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5" name="object 125"/>
            <p:cNvSpPr/>
            <p:nvPr/>
          </p:nvSpPr>
          <p:spPr>
            <a:xfrm>
              <a:off x="4287774" y="4126991"/>
              <a:ext cx="86995" cy="86995"/>
            </a:xfrm>
            <a:custGeom>
              <a:avLst/>
              <a:gdLst/>
              <a:ahLst/>
              <a:cxnLst/>
              <a:rect l="l" t="t" r="r" b="b"/>
              <a:pathLst>
                <a:path w="86995" h="86995">
                  <a:moveTo>
                    <a:pt x="43434" y="0"/>
                  </a:moveTo>
                  <a:lnTo>
                    <a:pt x="26526" y="3412"/>
                  </a:lnTo>
                  <a:lnTo>
                    <a:pt x="12720" y="12720"/>
                  </a:lnTo>
                  <a:lnTo>
                    <a:pt x="3412" y="26526"/>
                  </a:lnTo>
                  <a:lnTo>
                    <a:pt x="0" y="43433"/>
                  </a:lnTo>
                  <a:lnTo>
                    <a:pt x="3412" y="60341"/>
                  </a:lnTo>
                  <a:lnTo>
                    <a:pt x="12720" y="74147"/>
                  </a:lnTo>
                  <a:lnTo>
                    <a:pt x="26526" y="83455"/>
                  </a:lnTo>
                  <a:lnTo>
                    <a:pt x="43434" y="86867"/>
                  </a:lnTo>
                  <a:lnTo>
                    <a:pt x="60341" y="83455"/>
                  </a:lnTo>
                  <a:lnTo>
                    <a:pt x="74147" y="74147"/>
                  </a:lnTo>
                  <a:lnTo>
                    <a:pt x="83455" y="60341"/>
                  </a:lnTo>
                  <a:lnTo>
                    <a:pt x="86868" y="43433"/>
                  </a:lnTo>
                  <a:lnTo>
                    <a:pt x="83455" y="26526"/>
                  </a:lnTo>
                  <a:lnTo>
                    <a:pt x="74147" y="12720"/>
                  </a:lnTo>
                  <a:lnTo>
                    <a:pt x="60341" y="3412"/>
                  </a:lnTo>
                  <a:lnTo>
                    <a:pt x="43434"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6" name="object 126"/>
            <p:cNvSpPr/>
            <p:nvPr/>
          </p:nvSpPr>
          <p:spPr>
            <a:xfrm>
              <a:off x="4158615" y="3785781"/>
              <a:ext cx="413384" cy="275590"/>
            </a:xfrm>
            <a:custGeom>
              <a:avLst/>
              <a:gdLst/>
              <a:ahLst/>
              <a:cxnLst/>
              <a:rect l="l" t="t" r="r" b="b"/>
              <a:pathLst>
                <a:path w="413385" h="275589">
                  <a:moveTo>
                    <a:pt x="0" y="275297"/>
                  </a:moveTo>
                  <a:lnTo>
                    <a:pt x="413308" y="0"/>
                  </a:lnTo>
                </a:path>
              </a:pathLst>
            </a:custGeom>
            <a:ln w="1905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7" name="object 127"/>
            <p:cNvSpPr/>
            <p:nvPr/>
          </p:nvSpPr>
          <p:spPr>
            <a:xfrm>
              <a:off x="4483862" y="3785787"/>
              <a:ext cx="88265" cy="79375"/>
            </a:xfrm>
            <a:custGeom>
              <a:avLst/>
              <a:gdLst/>
              <a:ahLst/>
              <a:cxnLst/>
              <a:rect l="l" t="t" r="r" b="b"/>
              <a:pathLst>
                <a:path w="88264" h="79375">
                  <a:moveTo>
                    <a:pt x="49288" y="79235"/>
                  </a:moveTo>
                  <a:lnTo>
                    <a:pt x="88061" y="0"/>
                  </a:lnTo>
                  <a:lnTo>
                    <a:pt x="0" y="5245"/>
                  </a:lnTo>
                </a:path>
              </a:pathLst>
            </a:custGeom>
            <a:ln w="1905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128" name="object 128"/>
          <p:cNvSpPr txBox="1"/>
          <p:nvPr/>
        </p:nvSpPr>
        <p:spPr>
          <a:xfrm>
            <a:off x="2198940" y="2194001"/>
            <a:ext cx="223405" cy="197578"/>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17" normalizeH="0" baseline="0" noProof="0" dirty="0">
                <a:ln>
                  <a:noFill/>
                </a:ln>
                <a:solidFill>
                  <a:prstClr val="black"/>
                </a:solidFill>
                <a:effectLst/>
                <a:uLnTx/>
                <a:uFillTx/>
                <a:latin typeface="Verdana"/>
                <a:ea typeface="+mn-ea"/>
                <a:cs typeface="Verdana"/>
              </a:rPr>
              <a:t>V</a:t>
            </a:r>
            <a:r>
              <a:rPr kumimoji="0" sz="1227" b="0" i="0" u="none" strike="noStrike" kern="1200" cap="none" spc="-25" normalizeH="0" baseline="-20833" noProof="0" dirty="0">
                <a:ln>
                  <a:noFill/>
                </a:ln>
                <a:solidFill>
                  <a:prstClr val="black"/>
                </a:solidFill>
                <a:effectLst/>
                <a:uLnTx/>
                <a:uFillTx/>
                <a:latin typeface="Verdana"/>
                <a:ea typeface="+mn-ea"/>
                <a:cs typeface="Verdana"/>
              </a:rPr>
              <a:t>g</a:t>
            </a:r>
            <a:endParaRPr kumimoji="0" sz="1227" b="0" i="0" u="none" strike="noStrike" kern="1200" cap="none" spc="0" normalizeH="0" baseline="-20833" noProof="0">
              <a:ln>
                <a:noFill/>
              </a:ln>
              <a:solidFill>
                <a:prstClr val="black"/>
              </a:solidFill>
              <a:effectLst/>
              <a:uLnTx/>
              <a:uFillTx/>
              <a:latin typeface="Verdana"/>
              <a:ea typeface="+mn-ea"/>
              <a:cs typeface="Verdana"/>
            </a:endParaRPr>
          </a:p>
        </p:txBody>
      </p:sp>
      <p:sp>
        <p:nvSpPr>
          <p:cNvPr id="129" name="object 129"/>
          <p:cNvSpPr txBox="1"/>
          <p:nvPr/>
        </p:nvSpPr>
        <p:spPr>
          <a:xfrm>
            <a:off x="820878" y="2166550"/>
            <a:ext cx="124258" cy="197578"/>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34" normalizeH="0" baseline="0" noProof="0" dirty="0">
                <a:ln>
                  <a:noFill/>
                </a:ln>
                <a:solidFill>
                  <a:prstClr val="black"/>
                </a:solidFill>
                <a:effectLst/>
                <a:uLnTx/>
                <a:uFillTx/>
                <a:latin typeface="Verdana"/>
                <a:ea typeface="+mn-ea"/>
                <a:cs typeface="Verdana"/>
              </a:rPr>
              <a:t>V</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130" name="object 130"/>
          <p:cNvSpPr txBox="1"/>
          <p:nvPr/>
        </p:nvSpPr>
        <p:spPr>
          <a:xfrm>
            <a:off x="927384" y="2256951"/>
            <a:ext cx="160193" cy="134612"/>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818" b="0" i="0" u="none" strike="noStrike" kern="1200" cap="none" spc="-17" normalizeH="0" baseline="0" noProof="0" dirty="0">
                <a:ln>
                  <a:noFill/>
                </a:ln>
                <a:solidFill>
                  <a:prstClr val="black"/>
                </a:solidFill>
                <a:effectLst/>
                <a:uLnTx/>
                <a:uFillTx/>
                <a:latin typeface="Verdana"/>
                <a:ea typeface="+mn-ea"/>
                <a:cs typeface="Verdana"/>
              </a:rPr>
              <a:t>ref</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sp>
        <p:nvSpPr>
          <p:cNvPr id="131" name="object 131"/>
          <p:cNvSpPr txBox="1"/>
          <p:nvPr/>
        </p:nvSpPr>
        <p:spPr>
          <a:xfrm>
            <a:off x="2828783" y="3394672"/>
            <a:ext cx="379268"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10" normalizeH="0" baseline="13888" noProof="0" dirty="0">
                <a:ln>
                  <a:noFill/>
                </a:ln>
                <a:solidFill>
                  <a:prstClr val="black"/>
                </a:solidFill>
                <a:effectLst/>
                <a:uLnTx/>
                <a:uFillTx/>
                <a:latin typeface="Verdana"/>
                <a:ea typeface="+mn-ea"/>
                <a:cs typeface="Verdana"/>
              </a:rPr>
              <a:t>R</a:t>
            </a:r>
            <a:r>
              <a:rPr kumimoji="0" sz="818" b="0" i="0" u="none" strike="noStrike" kern="1200" cap="none" spc="-7" normalizeH="0" baseline="0" noProof="0" dirty="0">
                <a:ln>
                  <a:noFill/>
                </a:ln>
                <a:solidFill>
                  <a:prstClr val="black"/>
                </a:solidFill>
                <a:effectLst/>
                <a:uLnTx/>
                <a:uFillTx/>
                <a:latin typeface="Verdana"/>
                <a:ea typeface="+mn-ea"/>
                <a:cs typeface="Verdana"/>
              </a:rPr>
              <a:t>load</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sp>
        <p:nvSpPr>
          <p:cNvPr id="132" name="object 132"/>
          <p:cNvSpPr txBox="1"/>
          <p:nvPr/>
        </p:nvSpPr>
        <p:spPr>
          <a:xfrm>
            <a:off x="5166085" y="2683192"/>
            <a:ext cx="635577" cy="155270"/>
          </a:xfrm>
          <a:prstGeom prst="rect">
            <a:avLst/>
          </a:prstGeom>
        </p:spPr>
        <p:txBody>
          <a:bodyPr vert="horz" wrap="square" lIns="0" tIns="8226" rIns="0" bIns="0" rtlCol="0">
            <a:spAutoFit/>
          </a:bodyPr>
          <a:lstStyle/>
          <a:p>
            <a:pPr marL="25977" marR="0" lvl="0" indent="0" algn="l" defTabSz="914400" rtl="0" eaLnBrk="1" fontAlgn="auto" latinLnBrk="0" hangingPunct="1">
              <a:lnSpc>
                <a:spcPct val="100000"/>
              </a:lnSpc>
              <a:spcBef>
                <a:spcPts val="65"/>
              </a:spcBef>
              <a:spcAft>
                <a:spcPts val="0"/>
              </a:spcAft>
              <a:buClrTx/>
              <a:buSzTx/>
              <a:buFontTx/>
              <a:buNone/>
              <a:tabLst/>
              <a:defRPr/>
            </a:pPr>
            <a:r>
              <a:rPr kumimoji="0" sz="955" b="0" i="0" u="none" strike="noStrike" kern="1200" cap="none" spc="-7" normalizeH="0" baseline="0" noProof="0" dirty="0">
                <a:ln>
                  <a:noFill/>
                </a:ln>
                <a:solidFill>
                  <a:prstClr val="black"/>
                </a:solidFill>
                <a:effectLst/>
                <a:uLnTx/>
                <a:uFillTx/>
                <a:latin typeface="Verdana"/>
                <a:ea typeface="+mn-ea"/>
                <a:cs typeface="Verdana"/>
              </a:rPr>
              <a:t>V</a:t>
            </a:r>
            <a:r>
              <a:rPr kumimoji="0" sz="920" b="0" i="0" u="none" strike="noStrike" kern="1200" cap="none" spc="-10" normalizeH="0" baseline="-21604" noProof="0" dirty="0">
                <a:ln>
                  <a:noFill/>
                </a:ln>
                <a:solidFill>
                  <a:prstClr val="black"/>
                </a:solidFill>
                <a:effectLst/>
                <a:uLnTx/>
                <a:uFillTx/>
                <a:latin typeface="Verdana"/>
                <a:ea typeface="+mn-ea"/>
                <a:cs typeface="Verdana"/>
              </a:rPr>
              <a:t>g</a:t>
            </a:r>
            <a:r>
              <a:rPr kumimoji="0" sz="955" b="0" i="0" u="none" strike="noStrike" kern="1200" cap="none" spc="-7" normalizeH="0" baseline="0" noProof="0" dirty="0">
                <a:ln>
                  <a:noFill/>
                </a:ln>
                <a:solidFill>
                  <a:prstClr val="black"/>
                </a:solidFill>
                <a:effectLst/>
                <a:uLnTx/>
                <a:uFillTx/>
                <a:latin typeface="Verdana"/>
                <a:ea typeface="+mn-ea"/>
                <a:cs typeface="Verdana"/>
              </a:rPr>
              <a:t>[n-</a:t>
            </a:r>
            <a:r>
              <a:rPr kumimoji="0" sz="955" b="0" i="0" u="none" strike="noStrike" kern="1200" cap="none" spc="-14" normalizeH="0" baseline="0" noProof="0" dirty="0">
                <a:ln>
                  <a:noFill/>
                </a:ln>
                <a:solidFill>
                  <a:prstClr val="black"/>
                </a:solidFill>
                <a:effectLst/>
                <a:uLnTx/>
                <a:uFillTx/>
                <a:latin typeface="Verdana"/>
                <a:ea typeface="+mn-ea"/>
                <a:cs typeface="Verdana"/>
              </a:rPr>
              <a:t>1:0]</a:t>
            </a:r>
            <a:endParaRPr kumimoji="0" sz="955" b="0" i="0" u="none" strike="noStrike" kern="1200" cap="none" spc="0" normalizeH="0" baseline="0" noProof="0">
              <a:ln>
                <a:noFill/>
              </a:ln>
              <a:solidFill>
                <a:prstClr val="black"/>
              </a:solidFill>
              <a:effectLst/>
              <a:uLnTx/>
              <a:uFillTx/>
              <a:latin typeface="Verdana"/>
              <a:ea typeface="+mn-ea"/>
              <a:cs typeface="Verdana"/>
            </a:endParaRPr>
          </a:p>
        </p:txBody>
      </p:sp>
      <p:sp>
        <p:nvSpPr>
          <p:cNvPr id="133" name="object 133"/>
          <p:cNvSpPr txBox="1"/>
          <p:nvPr/>
        </p:nvSpPr>
        <p:spPr>
          <a:xfrm>
            <a:off x="5794130" y="3056463"/>
            <a:ext cx="574098" cy="589352"/>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0" normalizeH="0" baseline="13888" noProof="0" dirty="0">
                <a:ln>
                  <a:noFill/>
                </a:ln>
                <a:solidFill>
                  <a:prstClr val="black"/>
                </a:solidFill>
                <a:effectLst/>
                <a:uLnTx/>
                <a:uFillTx/>
                <a:latin typeface="Verdana"/>
                <a:ea typeface="+mn-ea"/>
                <a:cs typeface="Verdana"/>
              </a:rPr>
              <a:t>V</a:t>
            </a:r>
            <a:r>
              <a:rPr kumimoji="0" sz="818" b="0" i="0" u="none" strike="noStrike" kern="1200" cap="none" spc="-14" normalizeH="0" baseline="0" noProof="0" dirty="0">
                <a:ln>
                  <a:noFill/>
                </a:ln>
                <a:solidFill>
                  <a:prstClr val="black"/>
                </a:solidFill>
                <a:effectLst/>
                <a:uLnTx/>
                <a:uFillTx/>
                <a:latin typeface="Verdana"/>
                <a:ea typeface="+mn-ea"/>
                <a:cs typeface="Verdana"/>
              </a:rPr>
              <a:t>out</a:t>
            </a:r>
            <a:endParaRPr kumimoji="0" sz="818" b="0" i="0" u="none" strike="noStrike" kern="1200" cap="none" spc="0" normalizeH="0" baseline="0" noProof="0">
              <a:ln>
                <a:noFill/>
              </a:ln>
              <a:solidFill>
                <a:prstClr val="black"/>
              </a:solidFill>
              <a:effectLst/>
              <a:uLnTx/>
              <a:uFillTx/>
              <a:latin typeface="Verdana"/>
              <a:ea typeface="+mn-ea"/>
              <a:cs typeface="Verdana"/>
            </a:endParaRPr>
          </a:p>
          <a:p>
            <a:pPr marL="0" marR="0" lvl="0" indent="0" algn="l" defTabSz="914400" rtl="0" eaLnBrk="1" fontAlgn="auto" latinLnBrk="0" hangingPunct="1">
              <a:lnSpc>
                <a:spcPct val="100000"/>
              </a:lnSpc>
              <a:spcBef>
                <a:spcPts val="558"/>
              </a:spcBef>
              <a:spcAft>
                <a:spcPts val="0"/>
              </a:spcAft>
              <a:buClrTx/>
              <a:buSzTx/>
              <a:buFontTx/>
              <a:buNone/>
              <a:tabLst/>
              <a:defRPr/>
            </a:pPr>
            <a:endParaRPr kumimoji="0" sz="818" b="0" i="0" u="none" strike="noStrike" kern="1200" cap="none" spc="0" normalizeH="0" baseline="0" noProof="0">
              <a:ln>
                <a:noFill/>
              </a:ln>
              <a:solidFill>
                <a:prstClr val="black"/>
              </a:solidFill>
              <a:effectLst/>
              <a:uLnTx/>
              <a:uFillTx/>
              <a:latin typeface="Verdana"/>
              <a:ea typeface="+mn-ea"/>
              <a:cs typeface="Verdana"/>
            </a:endParaRPr>
          </a:p>
          <a:p>
            <a:pPr marL="220368" marR="0" lvl="0" indent="0" algn="l" defTabSz="914400" rtl="0" eaLnBrk="1" fontAlgn="auto" latinLnBrk="0" hangingPunct="1">
              <a:lnSpc>
                <a:spcPct val="100000"/>
              </a:lnSpc>
              <a:spcBef>
                <a:spcPts val="0"/>
              </a:spcBef>
              <a:spcAft>
                <a:spcPts val="0"/>
              </a:spcAft>
              <a:buClrTx/>
              <a:buSzTx/>
              <a:buFontTx/>
              <a:buNone/>
              <a:tabLst/>
              <a:defRPr/>
            </a:pPr>
            <a:r>
              <a:rPr kumimoji="0" sz="1841" b="0" i="0" u="none" strike="noStrike" kern="1200" cap="none" spc="-10" normalizeH="0" baseline="13888" noProof="0" dirty="0">
                <a:ln>
                  <a:noFill/>
                </a:ln>
                <a:solidFill>
                  <a:prstClr val="black"/>
                </a:solidFill>
                <a:effectLst/>
                <a:uLnTx/>
                <a:uFillTx/>
                <a:latin typeface="Verdana"/>
                <a:ea typeface="+mn-ea"/>
                <a:cs typeface="Verdana"/>
              </a:rPr>
              <a:t>R</a:t>
            </a:r>
            <a:r>
              <a:rPr kumimoji="0" sz="818" b="0" i="0" u="none" strike="noStrike" kern="1200" cap="none" spc="-7" normalizeH="0" baseline="0" noProof="0" dirty="0">
                <a:ln>
                  <a:noFill/>
                </a:ln>
                <a:solidFill>
                  <a:prstClr val="black"/>
                </a:solidFill>
                <a:effectLst/>
                <a:uLnTx/>
                <a:uFillTx/>
                <a:latin typeface="Verdana"/>
                <a:ea typeface="+mn-ea"/>
                <a:cs typeface="Verdana"/>
              </a:rPr>
              <a:t>load</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sp>
        <p:nvSpPr>
          <p:cNvPr id="134" name="object 134"/>
          <p:cNvSpPr txBox="1"/>
          <p:nvPr/>
        </p:nvSpPr>
        <p:spPr>
          <a:xfrm>
            <a:off x="1731929" y="3308552"/>
            <a:ext cx="330344"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0" normalizeH="0" baseline="13888" noProof="0" dirty="0">
                <a:ln>
                  <a:noFill/>
                </a:ln>
                <a:solidFill>
                  <a:prstClr val="black"/>
                </a:solidFill>
                <a:effectLst/>
                <a:uLnTx/>
                <a:uFillTx/>
                <a:latin typeface="Verdana"/>
                <a:ea typeface="+mn-ea"/>
                <a:cs typeface="Verdana"/>
              </a:rPr>
              <a:t>C</a:t>
            </a:r>
            <a:r>
              <a:rPr kumimoji="0" sz="818" b="0" i="0" u="none" strike="noStrike" kern="1200" cap="none" spc="-14" normalizeH="0" baseline="0" noProof="0" dirty="0">
                <a:ln>
                  <a:noFill/>
                </a:ln>
                <a:solidFill>
                  <a:prstClr val="black"/>
                </a:solidFill>
                <a:effectLst/>
                <a:uLnTx/>
                <a:uFillTx/>
                <a:latin typeface="Verdana"/>
                <a:ea typeface="+mn-ea"/>
                <a:cs typeface="Verdana"/>
              </a:rPr>
              <a:t>out</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sp>
        <p:nvSpPr>
          <p:cNvPr id="135" name="object 135"/>
          <p:cNvSpPr txBox="1"/>
          <p:nvPr/>
        </p:nvSpPr>
        <p:spPr>
          <a:xfrm>
            <a:off x="4758671" y="3499176"/>
            <a:ext cx="330344"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0" normalizeH="0" baseline="13888" noProof="0" dirty="0">
                <a:ln>
                  <a:noFill/>
                </a:ln>
                <a:solidFill>
                  <a:prstClr val="black"/>
                </a:solidFill>
                <a:effectLst/>
                <a:uLnTx/>
                <a:uFillTx/>
                <a:latin typeface="Verdana"/>
                <a:ea typeface="+mn-ea"/>
                <a:cs typeface="Verdana"/>
              </a:rPr>
              <a:t>C</a:t>
            </a:r>
            <a:r>
              <a:rPr kumimoji="0" sz="818" b="0" i="0" u="none" strike="noStrike" kern="1200" cap="none" spc="-14" normalizeH="0" baseline="0" noProof="0" dirty="0">
                <a:ln>
                  <a:noFill/>
                </a:ln>
                <a:solidFill>
                  <a:prstClr val="black"/>
                </a:solidFill>
                <a:effectLst/>
                <a:uLnTx/>
                <a:uFillTx/>
                <a:latin typeface="Verdana"/>
                <a:ea typeface="+mn-ea"/>
                <a:cs typeface="Verdana"/>
              </a:rPr>
              <a:t>out</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grpSp>
        <p:nvGrpSpPr>
          <p:cNvPr id="136" name="object 136"/>
          <p:cNvGrpSpPr/>
          <p:nvPr/>
        </p:nvGrpSpPr>
        <p:grpSpPr>
          <a:xfrm>
            <a:off x="5177868" y="2067194"/>
            <a:ext cx="654194" cy="497465"/>
            <a:chOff x="8570976" y="1780794"/>
            <a:chExt cx="959485" cy="729615"/>
          </a:xfrm>
        </p:grpSpPr>
        <p:sp>
          <p:nvSpPr>
            <p:cNvPr id="137" name="object 137"/>
            <p:cNvSpPr/>
            <p:nvPr/>
          </p:nvSpPr>
          <p:spPr>
            <a:xfrm>
              <a:off x="8585454" y="1795272"/>
              <a:ext cx="509905" cy="1905"/>
            </a:xfrm>
            <a:custGeom>
              <a:avLst/>
              <a:gdLst/>
              <a:ahLst/>
              <a:cxnLst/>
              <a:rect l="l" t="t" r="r" b="b"/>
              <a:pathLst>
                <a:path w="509904" h="1905">
                  <a:moveTo>
                    <a:pt x="0" y="0"/>
                  </a:moveTo>
                  <a:lnTo>
                    <a:pt x="509778" y="1524"/>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38" name="object 138"/>
            <p:cNvSpPr/>
            <p:nvPr/>
          </p:nvSpPr>
          <p:spPr>
            <a:xfrm>
              <a:off x="8597646" y="2038350"/>
              <a:ext cx="932815" cy="0"/>
            </a:xfrm>
            <a:custGeom>
              <a:avLst/>
              <a:gdLst/>
              <a:ahLst/>
              <a:cxnLst/>
              <a:rect l="l" t="t" r="r" b="b"/>
              <a:pathLst>
                <a:path w="932815">
                  <a:moveTo>
                    <a:pt x="0" y="0"/>
                  </a:moveTo>
                  <a:lnTo>
                    <a:pt x="932688"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39" name="object 139"/>
            <p:cNvSpPr/>
            <p:nvPr/>
          </p:nvSpPr>
          <p:spPr>
            <a:xfrm>
              <a:off x="9017127" y="2260473"/>
              <a:ext cx="0" cy="250190"/>
            </a:xfrm>
            <a:custGeom>
              <a:avLst/>
              <a:gdLst/>
              <a:ahLst/>
              <a:cxnLst/>
              <a:rect l="l" t="t" r="r" b="b"/>
              <a:pathLst>
                <a:path h="250189">
                  <a:moveTo>
                    <a:pt x="0" y="0"/>
                  </a:moveTo>
                  <a:lnTo>
                    <a:pt x="0" y="249936"/>
                  </a:lnTo>
                </a:path>
              </a:pathLst>
            </a:custGeom>
            <a:ln w="63246">
              <a:solidFill>
                <a:srgbClr val="000000"/>
              </a:solidFill>
              <a:prstDash val="dot"/>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140" name="object 140"/>
          <p:cNvSpPr txBox="1"/>
          <p:nvPr/>
        </p:nvSpPr>
        <p:spPr>
          <a:xfrm>
            <a:off x="345403" y="1604961"/>
            <a:ext cx="1150793" cy="218236"/>
          </a:xfrm>
          <a:prstGeom prst="rect">
            <a:avLst/>
          </a:prstGeom>
        </p:spPr>
        <p:txBody>
          <a:bodyPr vert="horz" wrap="square" lIns="0" tIns="8226" rIns="0" bIns="0" rtlCol="0">
            <a:spAutoFit/>
          </a:bodyPr>
          <a:lstStyle/>
          <a:p>
            <a:pPr marL="8659" marR="0" lvl="0" indent="0" algn="l" defTabSz="914400" rtl="0" eaLnBrk="1" fontAlgn="auto" latinLnBrk="0" hangingPunct="1">
              <a:lnSpc>
                <a:spcPct val="100000"/>
              </a:lnSpc>
              <a:spcBef>
                <a:spcPts val="65"/>
              </a:spcBef>
              <a:spcAft>
                <a:spcPts val="0"/>
              </a:spcAft>
              <a:buClrTx/>
              <a:buSzTx/>
              <a:buFontTx/>
              <a:buNone/>
              <a:tabLst/>
              <a:defRPr/>
            </a:pPr>
            <a:r>
              <a:rPr kumimoji="0" sz="1364" b="1" i="0" u="none" strike="noStrike" kern="1200" cap="none" spc="0" normalizeH="0" baseline="0" noProof="0" dirty="0">
                <a:ln>
                  <a:noFill/>
                </a:ln>
                <a:solidFill>
                  <a:prstClr val="black"/>
                </a:solidFill>
                <a:effectLst/>
                <a:uLnTx/>
                <a:uFillTx/>
                <a:latin typeface="Verdana"/>
                <a:ea typeface="+mn-ea"/>
                <a:cs typeface="Verdana"/>
              </a:rPr>
              <a:t>Analog</a:t>
            </a:r>
            <a:r>
              <a:rPr kumimoji="0" sz="1364" b="1" i="0" u="none" strike="noStrike" kern="1200" cap="none" spc="-44" normalizeH="0" baseline="0" noProof="0" dirty="0">
                <a:ln>
                  <a:noFill/>
                </a:ln>
                <a:solidFill>
                  <a:prstClr val="black"/>
                </a:solidFill>
                <a:effectLst/>
                <a:uLnTx/>
                <a:uFillTx/>
                <a:latin typeface="Verdana"/>
                <a:ea typeface="+mn-ea"/>
                <a:cs typeface="Verdana"/>
              </a:rPr>
              <a:t> </a:t>
            </a:r>
            <a:r>
              <a:rPr kumimoji="0" sz="1364" b="1" i="0" u="none" strike="noStrike" kern="1200" cap="none" spc="-17" normalizeH="0" baseline="0" noProof="0" dirty="0">
                <a:ln>
                  <a:noFill/>
                </a:ln>
                <a:solidFill>
                  <a:prstClr val="black"/>
                </a:solidFill>
                <a:effectLst/>
                <a:uLnTx/>
                <a:uFillTx/>
                <a:latin typeface="Verdana"/>
                <a:ea typeface="+mn-ea"/>
                <a:cs typeface="Verdana"/>
              </a:rPr>
              <a:t>LDO</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sp>
        <p:nvSpPr>
          <p:cNvPr id="141" name="object 141"/>
          <p:cNvSpPr txBox="1"/>
          <p:nvPr/>
        </p:nvSpPr>
        <p:spPr>
          <a:xfrm>
            <a:off x="4815452" y="1397527"/>
            <a:ext cx="1116589" cy="218236"/>
          </a:xfrm>
          <a:prstGeom prst="rect">
            <a:avLst/>
          </a:prstGeom>
        </p:spPr>
        <p:txBody>
          <a:bodyPr vert="horz" wrap="square" lIns="0" tIns="8226" rIns="0" bIns="0" rtlCol="0">
            <a:spAutoFit/>
          </a:bodyPr>
          <a:lstStyle/>
          <a:p>
            <a:pPr marL="8659" marR="0" lvl="0" indent="0" algn="l" defTabSz="914400" rtl="0" eaLnBrk="1" fontAlgn="auto" latinLnBrk="0" hangingPunct="1">
              <a:lnSpc>
                <a:spcPct val="100000"/>
              </a:lnSpc>
              <a:spcBef>
                <a:spcPts val="65"/>
              </a:spcBef>
              <a:spcAft>
                <a:spcPts val="0"/>
              </a:spcAft>
              <a:buClrTx/>
              <a:buSzTx/>
              <a:buFontTx/>
              <a:buNone/>
              <a:tabLst/>
              <a:defRPr/>
            </a:pPr>
            <a:r>
              <a:rPr kumimoji="0" sz="1364" b="1" i="0" u="none" strike="noStrike" kern="1200" cap="none" spc="0" normalizeH="0" baseline="0" noProof="0" dirty="0">
                <a:ln>
                  <a:noFill/>
                </a:ln>
                <a:solidFill>
                  <a:prstClr val="black"/>
                </a:solidFill>
                <a:effectLst/>
                <a:uLnTx/>
                <a:uFillTx/>
                <a:latin typeface="Verdana"/>
                <a:ea typeface="+mn-ea"/>
                <a:cs typeface="Verdana"/>
              </a:rPr>
              <a:t>Digital</a:t>
            </a:r>
            <a:r>
              <a:rPr kumimoji="0" sz="1364" b="1" i="0" u="none" strike="noStrike" kern="1200" cap="none" spc="-37" normalizeH="0" baseline="0" noProof="0" dirty="0">
                <a:ln>
                  <a:noFill/>
                </a:ln>
                <a:solidFill>
                  <a:prstClr val="black"/>
                </a:solidFill>
                <a:effectLst/>
                <a:uLnTx/>
                <a:uFillTx/>
                <a:latin typeface="Verdana"/>
                <a:ea typeface="+mn-ea"/>
                <a:cs typeface="Verdana"/>
              </a:rPr>
              <a:t> </a:t>
            </a:r>
            <a:r>
              <a:rPr kumimoji="0" sz="1364" b="1" i="0" u="none" strike="noStrike" kern="1200" cap="none" spc="-17" normalizeH="0" baseline="0" noProof="0" dirty="0">
                <a:ln>
                  <a:noFill/>
                </a:ln>
                <a:solidFill>
                  <a:prstClr val="black"/>
                </a:solidFill>
                <a:effectLst/>
                <a:uLnTx/>
                <a:uFillTx/>
                <a:latin typeface="Verdana"/>
                <a:ea typeface="+mn-ea"/>
                <a:cs typeface="Verdana"/>
              </a:rPr>
              <a:t>LDO</a:t>
            </a:r>
            <a:endParaRPr kumimoji="0" sz="1364" b="0" i="0" u="none" strike="noStrike" kern="1200" cap="none" spc="0" normalizeH="0" baseline="0" noProof="0" dirty="0">
              <a:ln>
                <a:noFill/>
              </a:ln>
              <a:solidFill>
                <a:prstClr val="black"/>
              </a:solidFill>
              <a:effectLst/>
              <a:uLnTx/>
              <a:uFillTx/>
              <a:latin typeface="Verdana"/>
              <a:ea typeface="+mn-ea"/>
              <a:cs typeface="Verdana"/>
            </a:endParaRPr>
          </a:p>
        </p:txBody>
      </p:sp>
      <p:sp>
        <p:nvSpPr>
          <p:cNvPr id="143" name="Rectangle 142"/>
          <p:cNvSpPr/>
          <p:nvPr/>
        </p:nvSpPr>
        <p:spPr>
          <a:xfrm>
            <a:off x="7943850" y="1075556"/>
            <a:ext cx="4152900" cy="4934108"/>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200" b="1"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Analog </a:t>
            </a:r>
            <a:r>
              <a:rPr kumimoji="0" lang="en-US" sz="1200" b="1"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LDO:</a:t>
            </a:r>
            <a:endParaRPr kumimoji="0" lang="en-US" sz="11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lgn="l" defTabSz="914400" rtl="0" eaLnBrk="1" fontAlgn="auto" latinLnBrk="0" hangingPunct="1">
              <a:lnSpc>
                <a:spcPct val="107000"/>
              </a:lnSpc>
              <a:spcBef>
                <a:spcPts val="0"/>
              </a:spcBef>
              <a:spcAft>
                <a:spcPts val="800"/>
              </a:spcAft>
              <a:buClrTx/>
              <a:buSzPts val="1000"/>
              <a:buFont typeface="Wingdings" panose="05000000000000000000" pitchFamily="2" charset="2"/>
              <a:buChar char="q"/>
              <a:tabLst>
                <a:tab pos="457200" algn="l"/>
              </a:tabLst>
              <a:defRPr/>
            </a:pPr>
            <a:r>
              <a:rPr kumimoji="0" lang="en-US" sz="12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The </a:t>
            </a:r>
            <a:r>
              <a:rPr kumimoji="0" lang="en-US" sz="1200" b="1"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input voltage</a:t>
            </a:r>
            <a:r>
              <a:rPr kumimoji="0" lang="en-US" sz="12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 feeds both the </a:t>
            </a:r>
            <a:r>
              <a:rPr kumimoji="0" lang="en-US" sz="1200" b="1"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power FET</a:t>
            </a:r>
            <a:r>
              <a:rPr kumimoji="0" lang="en-US" sz="12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 and the </a:t>
            </a:r>
            <a:r>
              <a:rPr kumimoji="0" lang="en-US" sz="1200" b="1"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analog amplifier</a:t>
            </a:r>
            <a:r>
              <a:rPr kumimoji="0" lang="en-US" sz="12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a:t>
            </a:r>
            <a:endParaRPr kumimoji="0" lang="en-US" sz="11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lgn="l" defTabSz="914400" rtl="0" eaLnBrk="1" fontAlgn="auto" latinLnBrk="0" hangingPunct="1">
              <a:lnSpc>
                <a:spcPct val="107000"/>
              </a:lnSpc>
              <a:spcBef>
                <a:spcPts val="0"/>
              </a:spcBef>
              <a:spcAft>
                <a:spcPts val="800"/>
              </a:spcAft>
              <a:buClrTx/>
              <a:buSzPts val="1000"/>
              <a:buFont typeface="Wingdings" panose="05000000000000000000" pitchFamily="2" charset="2"/>
              <a:buChar char="q"/>
              <a:tabLst>
                <a:tab pos="457200" algn="l"/>
              </a:tabLst>
              <a:defRPr/>
            </a:pPr>
            <a:r>
              <a:rPr kumimoji="0" lang="en-US" sz="12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If the input voltage is too low, designing a high-performance amplifier becomes very difficult.</a:t>
            </a:r>
            <a:endParaRPr kumimoji="0" lang="en-US" sz="11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lgn="l" defTabSz="914400" rtl="0" eaLnBrk="1" fontAlgn="auto" latinLnBrk="0" hangingPunct="1">
              <a:lnSpc>
                <a:spcPct val="107000"/>
              </a:lnSpc>
              <a:spcBef>
                <a:spcPts val="0"/>
              </a:spcBef>
              <a:spcAft>
                <a:spcPts val="800"/>
              </a:spcAft>
              <a:buClrTx/>
              <a:buSzPts val="1000"/>
              <a:buFont typeface="Wingdings" panose="05000000000000000000" pitchFamily="2" charset="2"/>
              <a:buChar char="q"/>
              <a:tabLst>
                <a:tab pos="457200" algn="l"/>
              </a:tabLst>
              <a:defRPr/>
            </a:pPr>
            <a:r>
              <a:rPr kumimoji="0" lang="en-US" sz="12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As a result, the </a:t>
            </a:r>
            <a:r>
              <a:rPr kumimoji="0" lang="en-US" sz="1200" b="1"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minimum input voltage</a:t>
            </a:r>
            <a:r>
              <a:rPr kumimoji="0" lang="en-US" sz="12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 for analog LDOs is typically </a:t>
            </a:r>
            <a:r>
              <a:rPr kumimoji="0" lang="en-US" sz="1200" b="1"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0.6–0.7 V</a:t>
            </a:r>
            <a:r>
              <a:rPr kumimoji="0" lang="en-US" sz="12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 and in some cases up to </a:t>
            </a:r>
            <a:r>
              <a:rPr kumimoji="0" lang="en-US" sz="1200" b="1"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~1 V</a:t>
            </a:r>
            <a:r>
              <a:rPr kumimoji="0" lang="en-US" sz="12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a:t>
            </a:r>
            <a:endParaRPr kumimoji="0" lang="en-US" sz="11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lgn="l" defTabSz="914400" rtl="0" eaLnBrk="1" fontAlgn="auto" latinLnBrk="0" hangingPunct="1">
              <a:lnSpc>
                <a:spcPct val="107000"/>
              </a:lnSpc>
              <a:spcBef>
                <a:spcPts val="0"/>
              </a:spcBef>
              <a:spcAft>
                <a:spcPts val="800"/>
              </a:spcAft>
              <a:buClrTx/>
              <a:buSzPts val="1000"/>
              <a:buFont typeface="Wingdings" panose="05000000000000000000" pitchFamily="2" charset="2"/>
              <a:buChar char="q"/>
              <a:tabLst>
                <a:tab pos="457200" algn="l"/>
              </a:tabLst>
              <a:defRPr/>
            </a:pPr>
            <a:r>
              <a:rPr kumimoji="0" lang="en-US" sz="12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Since the amplifier must also be </a:t>
            </a:r>
            <a:r>
              <a:rPr kumimoji="0" lang="en-US" sz="1200" b="1"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high bandwidth</a:t>
            </a:r>
            <a:r>
              <a:rPr kumimoji="0" lang="en-US" sz="12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 achieving this under low supply voltage is even more challenging.</a:t>
            </a:r>
          </a:p>
          <a:p>
            <a:pPr marL="342900" marR="0" lvl="0" indent="-342900" algn="l" defTabSz="914400" rtl="0" eaLnBrk="1" fontAlgn="auto" latinLnBrk="0" hangingPunct="1">
              <a:lnSpc>
                <a:spcPct val="107000"/>
              </a:lnSpc>
              <a:spcBef>
                <a:spcPts val="0"/>
              </a:spcBef>
              <a:spcAft>
                <a:spcPts val="800"/>
              </a:spcAft>
              <a:buClrTx/>
              <a:buSzPts val="1000"/>
              <a:buFont typeface="Symbol" panose="05050102010706020507" pitchFamily="18" charset="2"/>
              <a:buChar char=""/>
              <a:tabLst>
                <a:tab pos="457200" algn="l"/>
              </a:tabLst>
              <a:defRPr/>
            </a:pPr>
            <a:endParaRPr kumimoji="0" lang="en-US" sz="11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en-US" sz="1200" b="1"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Digital LDO:</a:t>
            </a:r>
            <a:endParaRPr kumimoji="0" lang="en-US" sz="11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lgn="l" defTabSz="914400" rtl="0" eaLnBrk="1" fontAlgn="auto" latinLnBrk="0" hangingPunct="1">
              <a:lnSpc>
                <a:spcPct val="107000"/>
              </a:lnSpc>
              <a:spcBef>
                <a:spcPts val="0"/>
              </a:spcBef>
              <a:spcAft>
                <a:spcPts val="800"/>
              </a:spcAft>
              <a:buClrTx/>
              <a:buSzPts val="1000"/>
              <a:buFont typeface="Wingdings" panose="05000000000000000000" pitchFamily="2" charset="2"/>
              <a:buChar char="q"/>
              <a:tabLst>
                <a:tab pos="457200" algn="l"/>
              </a:tabLst>
              <a:defRPr/>
            </a:pPr>
            <a:r>
              <a:rPr kumimoji="0" lang="en-US" sz="12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Contains </a:t>
            </a:r>
            <a:r>
              <a:rPr kumimoji="0" lang="en-US" sz="1200" b="1"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no major analog components</a:t>
            </a:r>
            <a:r>
              <a:rPr kumimoji="0" lang="en-US" sz="12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 so it is not constrained by amplifier design.</a:t>
            </a:r>
            <a:endParaRPr kumimoji="0" lang="en-US" sz="11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lgn="l" defTabSz="914400" rtl="0" eaLnBrk="1" fontAlgn="auto" latinLnBrk="0" hangingPunct="1">
              <a:lnSpc>
                <a:spcPct val="107000"/>
              </a:lnSpc>
              <a:spcBef>
                <a:spcPts val="0"/>
              </a:spcBef>
              <a:spcAft>
                <a:spcPts val="800"/>
              </a:spcAft>
              <a:buClrTx/>
              <a:buSzPts val="1000"/>
              <a:buFont typeface="Wingdings" panose="05000000000000000000" pitchFamily="2" charset="2"/>
              <a:buChar char="q"/>
              <a:tabLst>
                <a:tab pos="457200" algn="l"/>
              </a:tabLst>
              <a:defRPr/>
            </a:pPr>
            <a:r>
              <a:rPr kumimoji="0" lang="en-US" sz="12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This gives </a:t>
            </a:r>
            <a:r>
              <a:rPr kumimoji="0" lang="en-US" sz="1200" b="1"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better scalability with input voltage</a:t>
            </a:r>
            <a:r>
              <a:rPr kumimoji="0" lang="en-US" sz="12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a:t>
            </a:r>
            <a:endParaRPr kumimoji="0" lang="en-US" sz="11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lgn="l" defTabSz="914400" rtl="0" eaLnBrk="1" fontAlgn="auto" latinLnBrk="0" hangingPunct="1">
              <a:lnSpc>
                <a:spcPct val="107000"/>
              </a:lnSpc>
              <a:spcBef>
                <a:spcPts val="0"/>
              </a:spcBef>
              <a:spcAft>
                <a:spcPts val="800"/>
              </a:spcAft>
              <a:buClrTx/>
              <a:buSzPts val="1000"/>
              <a:buFont typeface="Wingdings" panose="05000000000000000000" pitchFamily="2" charset="2"/>
              <a:buChar char="q"/>
              <a:tabLst>
                <a:tab pos="457200" algn="l"/>
              </a:tabLst>
              <a:defRPr/>
            </a:pPr>
            <a:r>
              <a:rPr kumimoji="0" lang="en-US" sz="12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Digital LDOs can typically operate with input voltages as low as </a:t>
            </a:r>
            <a:r>
              <a:rPr kumimoji="0" lang="en-US" sz="1200" b="1"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0.5 V or even less</a:t>
            </a:r>
            <a:r>
              <a:rPr kumimoji="0" lang="en-US" sz="1200" b="0"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a:t>
            </a:r>
            <a:endPar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387164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3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3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3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4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37" grpId="0"/>
      <p:bldP spid="38" grpId="0"/>
      <p:bldP spid="45" grpId="0"/>
      <p:bldP spid="49" grpId="0"/>
      <p:bldP spid="50" grpId="0" animBg="1"/>
      <p:bldP spid="51" grpId="0"/>
      <p:bldP spid="52" grpId="0"/>
      <p:bldP spid="96" grpId="0"/>
      <p:bldP spid="128" grpId="0"/>
      <p:bldP spid="129" grpId="0"/>
      <p:bldP spid="130" grpId="0"/>
      <p:bldP spid="131" grpId="0"/>
      <p:bldP spid="132" grpId="0"/>
      <p:bldP spid="133" grpId="0"/>
      <p:bldP spid="134" grpId="0"/>
      <p:bldP spid="135" grpId="0"/>
      <p:bldP spid="140" grpId="0"/>
      <p:bldP spid="141" grpId="0"/>
      <p:bldP spid="14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6967" y="84685"/>
            <a:ext cx="9098482" cy="531526"/>
          </a:xfrm>
          <a:prstGeom prst="rect">
            <a:avLst/>
          </a:prstGeom>
        </p:spPr>
        <p:txBody>
          <a:bodyPr vert="horz" wrap="square" lIns="0" tIns="8226" rIns="0" bIns="0" rtlCol="0">
            <a:spAutoFit/>
          </a:bodyPr>
          <a:lstStyle/>
          <a:p>
            <a:pPr marL="8659">
              <a:spcBef>
                <a:spcPts val="65"/>
              </a:spcBef>
            </a:pPr>
            <a:r>
              <a:rPr spc="-20" dirty="0"/>
              <a:t>Power-</a:t>
            </a:r>
            <a:r>
              <a:rPr dirty="0"/>
              <a:t>FET’s</a:t>
            </a:r>
            <a:r>
              <a:rPr spc="-44" dirty="0"/>
              <a:t> </a:t>
            </a:r>
            <a:r>
              <a:rPr spc="-20" dirty="0"/>
              <a:t>Source-</a:t>
            </a:r>
            <a:r>
              <a:rPr dirty="0"/>
              <a:t>Gate</a:t>
            </a:r>
            <a:r>
              <a:rPr spc="-48" dirty="0"/>
              <a:t> </a:t>
            </a:r>
            <a:r>
              <a:rPr dirty="0"/>
              <a:t>Voltage</a:t>
            </a:r>
            <a:r>
              <a:rPr spc="-51" dirty="0"/>
              <a:t> </a:t>
            </a:r>
            <a:r>
              <a:rPr spc="-7" dirty="0"/>
              <a:t>(V</a:t>
            </a:r>
            <a:r>
              <a:rPr sz="2557" spc="-10" baseline="-21111" dirty="0"/>
              <a:t>sg</a:t>
            </a:r>
            <a:r>
              <a:rPr sz="2591" spc="-7" dirty="0"/>
              <a:t>)</a:t>
            </a:r>
            <a:endParaRPr sz="2591" dirty="0"/>
          </a:p>
        </p:txBody>
      </p:sp>
      <p:sp>
        <p:nvSpPr>
          <p:cNvPr id="3" name="object 3"/>
          <p:cNvSpPr txBox="1"/>
          <p:nvPr/>
        </p:nvSpPr>
        <p:spPr>
          <a:xfrm>
            <a:off x="402066" y="3994572"/>
            <a:ext cx="3425103" cy="509044"/>
          </a:xfrm>
          <a:prstGeom prst="rect">
            <a:avLst/>
          </a:prstGeom>
        </p:spPr>
        <p:txBody>
          <a:bodyPr vert="horz" wrap="square" lIns="0" tIns="50223" rIns="0" bIns="0" rtlCol="0">
            <a:spAutoFit/>
          </a:bodyPr>
          <a:lstStyle/>
          <a:p>
            <a:pPr marL="346354" marR="0" lvl="0" indent="-320378" algn="l" defTabSz="914400" rtl="0" eaLnBrk="1" fontAlgn="auto" latinLnBrk="0" hangingPunct="1">
              <a:lnSpc>
                <a:spcPct val="100000"/>
              </a:lnSpc>
              <a:spcBef>
                <a:spcPts val="395"/>
              </a:spcBef>
              <a:spcAft>
                <a:spcPts val="0"/>
              </a:spcAft>
              <a:buClr>
                <a:srgbClr val="CC0000"/>
              </a:buClr>
              <a:buSzTx/>
              <a:buFont typeface="Wingdings"/>
              <a:buChar char=""/>
              <a:tabLst>
                <a:tab pos="346354" algn="l"/>
              </a:tabLst>
              <a:defRPr/>
            </a:pPr>
            <a:r>
              <a:rPr kumimoji="0" sz="1364" b="0" i="0" u="none" strike="noStrike" kern="1200" cap="none" spc="0" normalizeH="0" baseline="0" noProof="0" dirty="0">
                <a:ln>
                  <a:noFill/>
                </a:ln>
                <a:solidFill>
                  <a:prstClr val="black"/>
                </a:solidFill>
                <a:effectLst/>
                <a:uLnTx/>
                <a:uFillTx/>
                <a:latin typeface="Verdana"/>
                <a:ea typeface="+mn-ea"/>
                <a:cs typeface="Verdana"/>
              </a:rPr>
              <a:t>V</a:t>
            </a:r>
            <a:r>
              <a:rPr kumimoji="0" sz="1330" b="0" i="0" u="none" strike="noStrike" kern="1200" cap="none" spc="0" normalizeH="0" baseline="-21367" noProof="0" dirty="0">
                <a:ln>
                  <a:noFill/>
                </a:ln>
                <a:solidFill>
                  <a:prstClr val="black"/>
                </a:solidFill>
                <a:effectLst/>
                <a:uLnTx/>
                <a:uFillTx/>
                <a:latin typeface="Verdana"/>
                <a:ea typeface="+mn-ea"/>
                <a:cs typeface="Verdana"/>
              </a:rPr>
              <a:t>sg</a:t>
            </a:r>
            <a:r>
              <a:rPr kumimoji="0" sz="1364" b="0" i="0" u="none" strike="noStrike" kern="1200" cap="none" spc="0" normalizeH="0" baseline="0" noProof="0" dirty="0">
                <a:ln>
                  <a:noFill/>
                </a:ln>
                <a:solidFill>
                  <a:prstClr val="black"/>
                </a:solidFill>
                <a:effectLst/>
                <a:uLnTx/>
                <a:uFillTx/>
                <a:latin typeface="Verdana"/>
                <a:ea typeface="+mn-ea"/>
                <a:cs typeface="Verdana"/>
              </a:rPr>
              <a:t>=V</a:t>
            </a:r>
            <a:r>
              <a:rPr kumimoji="0" sz="1330" b="0" i="0" u="none" strike="noStrike" kern="1200" cap="none" spc="0" normalizeH="0" baseline="-21367" noProof="0" dirty="0">
                <a:ln>
                  <a:noFill/>
                </a:ln>
                <a:solidFill>
                  <a:prstClr val="black"/>
                </a:solidFill>
                <a:effectLst/>
                <a:uLnTx/>
                <a:uFillTx/>
                <a:latin typeface="Verdana"/>
                <a:ea typeface="+mn-ea"/>
                <a:cs typeface="Verdana"/>
              </a:rPr>
              <a:t>in</a:t>
            </a:r>
            <a:r>
              <a:rPr kumimoji="0" sz="1364" b="0" i="0" u="none" strike="noStrike" kern="1200" cap="none" spc="0" normalizeH="0" baseline="0" noProof="0" dirty="0">
                <a:ln>
                  <a:noFill/>
                </a:ln>
                <a:solidFill>
                  <a:prstClr val="black"/>
                </a:solidFill>
                <a:effectLst/>
                <a:uLnTx/>
                <a:uFillTx/>
                <a:latin typeface="Verdana"/>
                <a:ea typeface="+mn-ea"/>
                <a:cs typeface="Verdana"/>
              </a:rPr>
              <a:t>-V</a:t>
            </a:r>
            <a:r>
              <a:rPr kumimoji="0" sz="1330" b="0" i="0" u="none" strike="noStrike" kern="1200" cap="none" spc="0" normalizeH="0" baseline="-21367" noProof="0" dirty="0">
                <a:ln>
                  <a:noFill/>
                </a:ln>
                <a:solidFill>
                  <a:prstClr val="black"/>
                </a:solidFill>
                <a:effectLst/>
                <a:uLnTx/>
                <a:uFillTx/>
                <a:latin typeface="Verdana"/>
                <a:ea typeface="+mn-ea"/>
                <a:cs typeface="Verdana"/>
              </a:rPr>
              <a:t>g</a:t>
            </a:r>
            <a:r>
              <a:rPr kumimoji="0" sz="1330" b="0" i="0" u="none" strike="noStrike" kern="1200" cap="none" spc="235" normalizeH="0" baseline="-21367" noProof="0" dirty="0">
                <a:ln>
                  <a:noFill/>
                </a:ln>
                <a:solidFill>
                  <a:prstClr val="black"/>
                </a:solidFill>
                <a:effectLst/>
                <a:uLnTx/>
                <a:uFillTx/>
                <a:latin typeface="Verdana"/>
                <a:ea typeface="+mn-ea"/>
                <a:cs typeface="Verdana"/>
              </a:rPr>
              <a:t> </a:t>
            </a:r>
            <a:r>
              <a:rPr kumimoji="0" sz="1364" b="1" i="1" u="none" strike="noStrike" kern="1200" cap="none" spc="0" normalizeH="0" baseline="0" noProof="0" dirty="0">
                <a:ln>
                  <a:noFill/>
                </a:ln>
                <a:solidFill>
                  <a:prstClr val="black"/>
                </a:solidFill>
                <a:effectLst/>
                <a:uLnTx/>
                <a:uFillTx/>
                <a:latin typeface="Verdana"/>
                <a:ea typeface="+mn-ea"/>
                <a:cs typeface="Verdana"/>
              </a:rPr>
              <a:t>between</a:t>
            </a:r>
            <a:r>
              <a:rPr kumimoji="0" sz="1364" b="1" i="1" u="none" strike="noStrike" kern="1200" cap="none" spc="10" normalizeH="0" baseline="0" noProof="0" dirty="0">
                <a:ln>
                  <a:noFill/>
                </a:ln>
                <a:solidFill>
                  <a:prstClr val="black"/>
                </a:solidFill>
                <a:effectLst/>
                <a:uLnTx/>
                <a:uFillTx/>
                <a:latin typeface="Verdana"/>
                <a:ea typeface="+mn-ea"/>
                <a:cs typeface="Verdana"/>
              </a:rPr>
              <a:t> </a:t>
            </a:r>
            <a:r>
              <a:rPr kumimoji="0" sz="1364" b="0" i="0" u="none" strike="noStrike" kern="1200" cap="none" spc="-7" normalizeH="0" baseline="0" noProof="0" dirty="0">
                <a:ln>
                  <a:noFill/>
                </a:ln>
                <a:solidFill>
                  <a:prstClr val="black"/>
                </a:solidFill>
                <a:effectLst/>
                <a:uLnTx/>
                <a:uFillTx/>
                <a:latin typeface="Verdana"/>
                <a:ea typeface="+mn-ea"/>
                <a:cs typeface="Verdana"/>
              </a:rPr>
              <a:t>V</a:t>
            </a:r>
            <a:r>
              <a:rPr kumimoji="0" sz="1330" b="0" i="0" u="none" strike="noStrike" kern="1200" cap="none" spc="-10" normalizeH="0" baseline="-21367" noProof="0" dirty="0">
                <a:ln>
                  <a:noFill/>
                </a:ln>
                <a:solidFill>
                  <a:prstClr val="black"/>
                </a:solidFill>
                <a:effectLst/>
                <a:uLnTx/>
                <a:uFillTx/>
                <a:latin typeface="Verdana"/>
                <a:ea typeface="+mn-ea"/>
                <a:cs typeface="Verdana"/>
              </a:rPr>
              <a:t>in</a:t>
            </a:r>
            <a:r>
              <a:rPr kumimoji="0" sz="1364" b="0" i="0" u="none" strike="noStrike" kern="1200" cap="none" spc="-7" normalizeH="0" baseline="0" noProof="0" dirty="0">
                <a:ln>
                  <a:noFill/>
                </a:ln>
                <a:solidFill>
                  <a:prstClr val="black"/>
                </a:solidFill>
                <a:effectLst/>
                <a:uLnTx/>
                <a:uFillTx/>
                <a:latin typeface="Verdana"/>
                <a:ea typeface="+mn-ea"/>
                <a:cs typeface="Verdana"/>
              </a:rPr>
              <a:t>-</a:t>
            </a:r>
            <a:r>
              <a:rPr kumimoji="0" sz="1364" b="0" i="0" u="none" strike="noStrike" kern="1200" cap="none" spc="0" normalizeH="0" baseline="0" noProof="0" dirty="0">
                <a:ln>
                  <a:noFill/>
                </a:ln>
                <a:solidFill>
                  <a:prstClr val="black"/>
                </a:solidFill>
                <a:effectLst/>
                <a:uLnTx/>
                <a:uFillTx/>
                <a:latin typeface="Verdana"/>
                <a:ea typeface="+mn-ea"/>
                <a:cs typeface="Verdana"/>
              </a:rPr>
              <a:t>V</a:t>
            </a:r>
            <a:r>
              <a:rPr kumimoji="0" sz="1330" b="0" i="0" u="none" strike="noStrike" kern="1200" cap="none" spc="0" normalizeH="0" baseline="-21367" noProof="0" dirty="0">
                <a:ln>
                  <a:noFill/>
                </a:ln>
                <a:solidFill>
                  <a:prstClr val="black"/>
                </a:solidFill>
                <a:effectLst/>
                <a:uLnTx/>
                <a:uFillTx/>
                <a:latin typeface="Verdana"/>
                <a:ea typeface="+mn-ea"/>
                <a:cs typeface="Verdana"/>
              </a:rPr>
              <a:t>th</a:t>
            </a:r>
            <a:r>
              <a:rPr kumimoji="0" sz="1330" b="0" i="0" u="none" strike="noStrike" kern="1200" cap="none" spc="250" normalizeH="0" baseline="-21367"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and</a:t>
            </a:r>
            <a:r>
              <a:rPr kumimoji="0" sz="1364" b="0" i="0" u="none" strike="noStrike" kern="1200" cap="none" spc="-10" normalizeH="0" baseline="0" noProof="0" dirty="0">
                <a:ln>
                  <a:noFill/>
                </a:ln>
                <a:solidFill>
                  <a:prstClr val="black"/>
                </a:solidFill>
                <a:effectLst/>
                <a:uLnTx/>
                <a:uFillTx/>
                <a:latin typeface="Verdana"/>
                <a:ea typeface="+mn-ea"/>
                <a:cs typeface="Verdana"/>
              </a:rPr>
              <a:t> </a:t>
            </a:r>
            <a:r>
              <a:rPr kumimoji="0" sz="1364" b="0" i="0" u="none" strike="noStrike" kern="1200" cap="none" spc="-17" normalizeH="0" baseline="0" noProof="0" dirty="0">
                <a:ln>
                  <a:noFill/>
                </a:ln>
                <a:solidFill>
                  <a:prstClr val="black"/>
                </a:solidFill>
                <a:effectLst/>
                <a:uLnTx/>
                <a:uFillTx/>
                <a:latin typeface="Verdana"/>
                <a:ea typeface="+mn-ea"/>
                <a:cs typeface="Verdana"/>
              </a:rPr>
              <a:t>0V</a:t>
            </a:r>
            <a:endParaRPr kumimoji="0" sz="1364" b="0" i="0" u="none" strike="noStrike" kern="1200" cap="none" spc="0" normalizeH="0" baseline="0" noProof="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324"/>
              </a:spcBef>
              <a:spcAft>
                <a:spcPts val="0"/>
              </a:spcAft>
              <a:buClr>
                <a:srgbClr val="CC0000"/>
              </a:buClr>
              <a:buSzTx/>
              <a:buFont typeface="Wingdings"/>
              <a:buChar char=""/>
              <a:tabLst>
                <a:tab pos="346354" algn="l"/>
              </a:tabLst>
              <a:defRPr/>
            </a:pPr>
            <a:r>
              <a:rPr kumimoji="0" sz="1364" b="0" i="0" u="none" strike="noStrike" kern="1200" cap="none" spc="0" normalizeH="0" baseline="0" noProof="0" dirty="0">
                <a:ln>
                  <a:noFill/>
                </a:ln>
                <a:solidFill>
                  <a:prstClr val="black"/>
                </a:solidFill>
                <a:effectLst/>
                <a:uLnTx/>
                <a:uFillTx/>
                <a:latin typeface="Verdana"/>
                <a:ea typeface="+mn-ea"/>
                <a:cs typeface="Verdana"/>
              </a:rPr>
              <a:t>i.e.,</a:t>
            </a:r>
            <a:r>
              <a:rPr kumimoji="0" sz="1364" b="0" i="0" u="none" strike="noStrike" kern="1200" cap="none" spc="-17"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V</a:t>
            </a:r>
            <a:r>
              <a:rPr kumimoji="0" sz="1330" b="0" i="0" u="none" strike="noStrike" kern="1200" cap="none" spc="0" normalizeH="0" baseline="-21367" noProof="0" dirty="0">
                <a:ln>
                  <a:noFill/>
                </a:ln>
                <a:solidFill>
                  <a:prstClr val="black"/>
                </a:solidFill>
                <a:effectLst/>
                <a:uLnTx/>
                <a:uFillTx/>
                <a:latin typeface="Verdana"/>
                <a:ea typeface="+mn-ea"/>
                <a:cs typeface="Verdana"/>
              </a:rPr>
              <a:t>g</a:t>
            </a:r>
            <a:r>
              <a:rPr kumimoji="0" sz="1330" b="0" i="0" u="none" strike="noStrike" kern="1200" cap="none" spc="220" normalizeH="0" baseline="-21367"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is</a:t>
            </a:r>
            <a:r>
              <a:rPr kumimoji="0" sz="1364" b="0" i="0" u="none" strike="noStrike" kern="1200" cap="none" spc="-14"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analog</a:t>
            </a:r>
            <a:r>
              <a:rPr kumimoji="0" sz="1364" b="0" i="0" u="none" strike="noStrike" kern="1200" cap="none" spc="-14" normalizeH="0" baseline="0" noProof="0" dirty="0">
                <a:ln>
                  <a:noFill/>
                </a:ln>
                <a:solidFill>
                  <a:prstClr val="black"/>
                </a:solidFill>
                <a:effectLst/>
                <a:uLnTx/>
                <a:uFillTx/>
                <a:latin typeface="Verdana"/>
                <a:ea typeface="+mn-ea"/>
                <a:cs typeface="Verdana"/>
              </a:rPr>
              <a:t> </a:t>
            </a:r>
            <a:r>
              <a:rPr kumimoji="0" sz="1364" b="0" i="0" u="none" strike="noStrike" kern="1200" cap="none" spc="-7" normalizeH="0" baseline="0" noProof="0" dirty="0">
                <a:ln>
                  <a:noFill/>
                </a:ln>
                <a:solidFill>
                  <a:prstClr val="black"/>
                </a:solidFill>
                <a:effectLst/>
                <a:uLnTx/>
                <a:uFillTx/>
                <a:latin typeface="Verdana"/>
                <a:ea typeface="+mn-ea"/>
                <a:cs typeface="Verdana"/>
              </a:rPr>
              <a:t>voltage</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sp>
        <p:nvSpPr>
          <p:cNvPr id="4" name="object 4"/>
          <p:cNvSpPr txBox="1"/>
          <p:nvPr/>
        </p:nvSpPr>
        <p:spPr>
          <a:xfrm>
            <a:off x="8406483" y="4018386"/>
            <a:ext cx="2794289" cy="509044"/>
          </a:xfrm>
          <a:prstGeom prst="rect">
            <a:avLst/>
          </a:prstGeom>
        </p:spPr>
        <p:txBody>
          <a:bodyPr vert="horz" wrap="square" lIns="0" tIns="50223" rIns="0" bIns="0" rtlCol="0">
            <a:spAutoFit/>
          </a:bodyPr>
          <a:lstStyle/>
          <a:p>
            <a:pPr marL="346354" marR="0" lvl="0" indent="-320378" algn="l" defTabSz="914400" rtl="0" eaLnBrk="1" fontAlgn="auto" latinLnBrk="0" hangingPunct="1">
              <a:lnSpc>
                <a:spcPct val="100000"/>
              </a:lnSpc>
              <a:spcBef>
                <a:spcPts val="395"/>
              </a:spcBef>
              <a:spcAft>
                <a:spcPts val="0"/>
              </a:spcAft>
              <a:buClr>
                <a:srgbClr val="CC0000"/>
              </a:buClr>
              <a:buSzTx/>
              <a:buFont typeface="Wingdings"/>
              <a:buChar char=""/>
              <a:tabLst>
                <a:tab pos="346354" algn="l"/>
              </a:tabLst>
              <a:defRPr/>
            </a:pPr>
            <a:r>
              <a:rPr kumimoji="0" sz="1364" b="0" i="0" u="none" strike="noStrike" kern="1200" cap="none" spc="0" normalizeH="0" baseline="0" noProof="0" dirty="0">
                <a:ln>
                  <a:noFill/>
                </a:ln>
                <a:solidFill>
                  <a:prstClr val="black"/>
                </a:solidFill>
                <a:effectLst/>
                <a:uLnTx/>
                <a:uFillTx/>
                <a:latin typeface="Verdana"/>
                <a:ea typeface="+mn-ea"/>
                <a:cs typeface="Verdana"/>
              </a:rPr>
              <a:t>V</a:t>
            </a:r>
            <a:r>
              <a:rPr kumimoji="0" sz="1330" b="0" i="0" u="none" strike="noStrike" kern="1200" cap="none" spc="0" normalizeH="0" baseline="-21367" noProof="0" dirty="0">
                <a:ln>
                  <a:noFill/>
                </a:ln>
                <a:solidFill>
                  <a:prstClr val="black"/>
                </a:solidFill>
                <a:effectLst/>
                <a:uLnTx/>
                <a:uFillTx/>
                <a:latin typeface="Verdana"/>
                <a:ea typeface="+mn-ea"/>
                <a:cs typeface="Verdana"/>
              </a:rPr>
              <a:t>sg</a:t>
            </a:r>
            <a:r>
              <a:rPr kumimoji="0" sz="1364" b="0" i="0" u="none" strike="noStrike" kern="1200" cap="none" spc="0" normalizeH="0" baseline="0" noProof="0" dirty="0">
                <a:ln>
                  <a:noFill/>
                </a:ln>
                <a:solidFill>
                  <a:prstClr val="black"/>
                </a:solidFill>
                <a:effectLst/>
                <a:uLnTx/>
                <a:uFillTx/>
                <a:latin typeface="Verdana"/>
                <a:ea typeface="+mn-ea"/>
                <a:cs typeface="Verdana"/>
              </a:rPr>
              <a:t>=V</a:t>
            </a:r>
            <a:r>
              <a:rPr kumimoji="0" sz="1330" b="0" i="0" u="none" strike="noStrike" kern="1200" cap="none" spc="0" normalizeH="0" baseline="-21367" noProof="0" dirty="0">
                <a:ln>
                  <a:noFill/>
                </a:ln>
                <a:solidFill>
                  <a:prstClr val="black"/>
                </a:solidFill>
                <a:effectLst/>
                <a:uLnTx/>
                <a:uFillTx/>
                <a:latin typeface="Verdana"/>
                <a:ea typeface="+mn-ea"/>
                <a:cs typeface="Verdana"/>
              </a:rPr>
              <a:t>in</a:t>
            </a:r>
            <a:r>
              <a:rPr kumimoji="0" sz="1364" b="0" i="0" u="none" strike="noStrike" kern="1200" cap="none" spc="0" normalizeH="0" baseline="0" noProof="0" dirty="0">
                <a:ln>
                  <a:noFill/>
                </a:ln>
                <a:solidFill>
                  <a:prstClr val="black"/>
                </a:solidFill>
                <a:effectLst/>
                <a:uLnTx/>
                <a:uFillTx/>
                <a:latin typeface="Verdana"/>
                <a:ea typeface="+mn-ea"/>
                <a:cs typeface="Verdana"/>
              </a:rPr>
              <a:t>-V</a:t>
            </a:r>
            <a:r>
              <a:rPr kumimoji="0" sz="1330" b="0" i="0" u="none" strike="noStrike" kern="1200" cap="none" spc="0" normalizeH="0" baseline="-21367" noProof="0" dirty="0">
                <a:ln>
                  <a:noFill/>
                </a:ln>
                <a:solidFill>
                  <a:prstClr val="black"/>
                </a:solidFill>
                <a:effectLst/>
                <a:uLnTx/>
                <a:uFillTx/>
                <a:latin typeface="Verdana"/>
                <a:ea typeface="+mn-ea"/>
                <a:cs typeface="Verdana"/>
              </a:rPr>
              <a:t>g</a:t>
            </a:r>
            <a:r>
              <a:rPr kumimoji="0" sz="1364" b="0" i="0" u="none" strike="noStrike" kern="1200" cap="none" spc="0" normalizeH="0" baseline="0" noProof="0" dirty="0">
                <a:ln>
                  <a:noFill/>
                </a:ln>
                <a:solidFill>
                  <a:prstClr val="black"/>
                </a:solidFill>
                <a:effectLst/>
                <a:uLnTx/>
                <a:uFillTx/>
                <a:latin typeface="Verdana"/>
                <a:ea typeface="+mn-ea"/>
                <a:cs typeface="Verdana"/>
              </a:rPr>
              <a:t>:</a:t>
            </a:r>
            <a:r>
              <a:rPr kumimoji="0" sz="1364" b="0" i="0" u="none" strike="noStrike" kern="1200" cap="none" spc="-17" normalizeH="0" baseline="0" noProof="0" dirty="0">
                <a:ln>
                  <a:noFill/>
                </a:ln>
                <a:solidFill>
                  <a:prstClr val="black"/>
                </a:solidFill>
                <a:effectLst/>
                <a:uLnTx/>
                <a:uFillTx/>
                <a:latin typeface="Verdana"/>
                <a:ea typeface="+mn-ea"/>
                <a:cs typeface="Verdana"/>
              </a:rPr>
              <a:t> </a:t>
            </a:r>
            <a:r>
              <a:rPr kumimoji="0" sz="1364" b="1" i="1" u="none" strike="noStrike" kern="1200" cap="none" spc="0" normalizeH="0" baseline="0" noProof="0" dirty="0">
                <a:ln>
                  <a:noFill/>
                </a:ln>
                <a:solidFill>
                  <a:prstClr val="black"/>
                </a:solidFill>
                <a:effectLst/>
                <a:uLnTx/>
                <a:uFillTx/>
                <a:latin typeface="Verdana"/>
                <a:ea typeface="+mn-ea"/>
                <a:cs typeface="Verdana"/>
              </a:rPr>
              <a:t>either </a:t>
            </a:r>
            <a:r>
              <a:rPr kumimoji="0" sz="1364" b="0" i="0" u="none" strike="noStrike" kern="1200" cap="none" spc="0" normalizeH="0" baseline="0" noProof="0" dirty="0">
                <a:ln>
                  <a:noFill/>
                </a:ln>
                <a:solidFill>
                  <a:prstClr val="black"/>
                </a:solidFill>
                <a:effectLst/>
                <a:uLnTx/>
                <a:uFillTx/>
                <a:latin typeface="Verdana"/>
                <a:ea typeface="+mn-ea"/>
                <a:cs typeface="Verdana"/>
              </a:rPr>
              <a:t>0V</a:t>
            </a:r>
            <a:r>
              <a:rPr kumimoji="0" sz="1364" b="0" i="0" u="none" strike="noStrike" kern="1200" cap="none" spc="-17"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or</a:t>
            </a:r>
            <a:r>
              <a:rPr kumimoji="0" sz="1364" b="0" i="0" u="none" strike="noStrike" kern="1200" cap="none" spc="-17" normalizeH="0" baseline="0" noProof="0" dirty="0">
                <a:ln>
                  <a:noFill/>
                </a:ln>
                <a:solidFill>
                  <a:prstClr val="black"/>
                </a:solidFill>
                <a:effectLst/>
                <a:uLnTx/>
                <a:uFillTx/>
                <a:latin typeface="Verdana"/>
                <a:ea typeface="+mn-ea"/>
                <a:cs typeface="Verdana"/>
              </a:rPr>
              <a:t> V</a:t>
            </a:r>
            <a:r>
              <a:rPr kumimoji="0" sz="1330" b="0" i="0" u="none" strike="noStrike" kern="1200" cap="none" spc="-25" normalizeH="0" baseline="-21367" noProof="0" dirty="0">
                <a:ln>
                  <a:noFill/>
                </a:ln>
                <a:solidFill>
                  <a:prstClr val="black"/>
                </a:solidFill>
                <a:effectLst/>
                <a:uLnTx/>
                <a:uFillTx/>
                <a:latin typeface="Verdana"/>
                <a:ea typeface="+mn-ea"/>
                <a:cs typeface="Verdana"/>
              </a:rPr>
              <a:t>in</a:t>
            </a:r>
            <a:endParaRPr kumimoji="0" sz="1330" b="0" i="0" u="none" strike="noStrike" kern="1200" cap="none" spc="0" normalizeH="0" baseline="-21367" noProof="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327"/>
              </a:spcBef>
              <a:spcAft>
                <a:spcPts val="0"/>
              </a:spcAft>
              <a:buClr>
                <a:srgbClr val="CC0000"/>
              </a:buClr>
              <a:buSzTx/>
              <a:buFont typeface="Wingdings"/>
              <a:buChar char=""/>
              <a:tabLst>
                <a:tab pos="346354" algn="l"/>
              </a:tabLst>
              <a:defRPr/>
            </a:pPr>
            <a:r>
              <a:rPr kumimoji="0" sz="1364" b="0" i="0" u="none" strike="noStrike" kern="1200" cap="none" spc="0" normalizeH="0" baseline="0" noProof="0" dirty="0">
                <a:ln>
                  <a:noFill/>
                </a:ln>
                <a:solidFill>
                  <a:prstClr val="black"/>
                </a:solidFill>
                <a:effectLst/>
                <a:uLnTx/>
                <a:uFillTx/>
                <a:latin typeface="Verdana"/>
                <a:ea typeface="+mn-ea"/>
                <a:cs typeface="Verdana"/>
              </a:rPr>
              <a:t>i.e.,</a:t>
            </a:r>
            <a:r>
              <a:rPr kumimoji="0" sz="1364" b="0" i="0" u="none" strike="noStrike" kern="1200" cap="none" spc="-20"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V</a:t>
            </a:r>
            <a:r>
              <a:rPr kumimoji="0" sz="1330" b="0" i="0" u="none" strike="noStrike" kern="1200" cap="none" spc="0" normalizeH="0" baseline="-21367" noProof="0" dirty="0">
                <a:ln>
                  <a:noFill/>
                </a:ln>
                <a:solidFill>
                  <a:prstClr val="black"/>
                </a:solidFill>
                <a:effectLst/>
                <a:uLnTx/>
                <a:uFillTx/>
                <a:latin typeface="Verdana"/>
                <a:ea typeface="+mn-ea"/>
                <a:cs typeface="Verdana"/>
              </a:rPr>
              <a:t>g</a:t>
            </a:r>
            <a:r>
              <a:rPr kumimoji="0" sz="1330" b="0" i="0" u="none" strike="noStrike" kern="1200" cap="none" spc="209" normalizeH="0" baseline="-21367"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is</a:t>
            </a:r>
            <a:r>
              <a:rPr kumimoji="0" sz="1364" b="0" i="0" u="none" strike="noStrike" kern="1200" cap="none" spc="-20"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digital</a:t>
            </a:r>
            <a:r>
              <a:rPr kumimoji="0" sz="1364" b="0" i="0" u="none" strike="noStrike" kern="1200" cap="none" spc="-3" normalizeH="0" baseline="0" noProof="0" dirty="0">
                <a:ln>
                  <a:noFill/>
                </a:ln>
                <a:solidFill>
                  <a:prstClr val="black"/>
                </a:solidFill>
                <a:effectLst/>
                <a:uLnTx/>
                <a:uFillTx/>
                <a:latin typeface="Verdana"/>
                <a:ea typeface="+mn-ea"/>
                <a:cs typeface="Verdana"/>
              </a:rPr>
              <a:t> </a:t>
            </a:r>
            <a:r>
              <a:rPr kumimoji="0" sz="1364" b="0" i="0" u="none" strike="noStrike" kern="1200" cap="none" spc="-7" normalizeH="0" baseline="0" noProof="0" dirty="0">
                <a:ln>
                  <a:noFill/>
                </a:ln>
                <a:solidFill>
                  <a:prstClr val="black"/>
                </a:solidFill>
                <a:effectLst/>
                <a:uLnTx/>
                <a:uFillTx/>
                <a:latin typeface="Verdana"/>
                <a:ea typeface="+mn-ea"/>
                <a:cs typeface="Verdana"/>
              </a:rPr>
              <a:t>voltage</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grpSp>
        <p:nvGrpSpPr>
          <p:cNvPr id="5" name="object 5"/>
          <p:cNvGrpSpPr/>
          <p:nvPr/>
        </p:nvGrpSpPr>
        <p:grpSpPr>
          <a:xfrm>
            <a:off x="2532899" y="2137160"/>
            <a:ext cx="296141" cy="467158"/>
            <a:chOff x="3934205" y="2274570"/>
            <a:chExt cx="434340" cy="685165"/>
          </a:xfrm>
        </p:grpSpPr>
        <p:sp>
          <p:nvSpPr>
            <p:cNvPr id="6" name="object 6"/>
            <p:cNvSpPr/>
            <p:nvPr/>
          </p:nvSpPr>
          <p:spPr>
            <a:xfrm>
              <a:off x="4206239" y="2513076"/>
              <a:ext cx="119380" cy="234315"/>
            </a:xfrm>
            <a:custGeom>
              <a:avLst/>
              <a:gdLst/>
              <a:ahLst/>
              <a:cxnLst/>
              <a:rect l="l" t="t" r="r" b="b"/>
              <a:pathLst>
                <a:path w="119379" h="234314">
                  <a:moveTo>
                    <a:pt x="0" y="233934"/>
                  </a:moveTo>
                  <a:lnTo>
                    <a:pt x="0" y="0"/>
                  </a:lnTo>
                </a:path>
                <a:path w="119379" h="234314">
                  <a:moveTo>
                    <a:pt x="0" y="233934"/>
                  </a:moveTo>
                  <a:lnTo>
                    <a:pt x="118872" y="233934"/>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p:nvPr/>
          </p:nvSpPr>
          <p:spPr>
            <a:xfrm>
              <a:off x="4206239" y="2513076"/>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 name="object 8"/>
            <p:cNvSpPr/>
            <p:nvPr/>
          </p:nvSpPr>
          <p:spPr>
            <a:xfrm>
              <a:off x="4325111" y="2318004"/>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9" name="object 9"/>
            <p:cNvSpPr/>
            <p:nvPr/>
          </p:nvSpPr>
          <p:spPr>
            <a:xfrm>
              <a:off x="4281683" y="2274570"/>
              <a:ext cx="86995" cy="86995"/>
            </a:xfrm>
            <a:custGeom>
              <a:avLst/>
              <a:gdLst/>
              <a:ahLst/>
              <a:cxnLst/>
              <a:rect l="l" t="t" r="r" b="b"/>
              <a:pathLst>
                <a:path w="86995" h="86994">
                  <a:moveTo>
                    <a:pt x="43421" y="0"/>
                  </a:moveTo>
                  <a:lnTo>
                    <a:pt x="26519" y="3412"/>
                  </a:lnTo>
                  <a:lnTo>
                    <a:pt x="12714" y="12720"/>
                  </a:lnTo>
                  <a:lnTo>
                    <a:pt x="3407" y="26526"/>
                  </a:lnTo>
                  <a:lnTo>
                    <a:pt x="0" y="43433"/>
                  </a:lnTo>
                  <a:lnTo>
                    <a:pt x="3412" y="60341"/>
                  </a:lnTo>
                  <a:lnTo>
                    <a:pt x="12720" y="74147"/>
                  </a:lnTo>
                  <a:lnTo>
                    <a:pt x="26526" y="83455"/>
                  </a:lnTo>
                  <a:lnTo>
                    <a:pt x="43434" y="86867"/>
                  </a:lnTo>
                  <a:lnTo>
                    <a:pt x="60341" y="83455"/>
                  </a:lnTo>
                  <a:lnTo>
                    <a:pt x="74147" y="74147"/>
                  </a:lnTo>
                  <a:lnTo>
                    <a:pt x="83455" y="60341"/>
                  </a:lnTo>
                  <a:lnTo>
                    <a:pt x="86868" y="43433"/>
                  </a:lnTo>
                  <a:lnTo>
                    <a:pt x="83447" y="26526"/>
                  </a:lnTo>
                  <a:lnTo>
                    <a:pt x="74136" y="12720"/>
                  </a:lnTo>
                  <a:lnTo>
                    <a:pt x="60328" y="3412"/>
                  </a:lnTo>
                  <a:lnTo>
                    <a:pt x="43421"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 name="object 10"/>
            <p:cNvSpPr/>
            <p:nvPr/>
          </p:nvSpPr>
          <p:spPr>
            <a:xfrm>
              <a:off x="4325111" y="2748534"/>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11" name="object 11"/>
            <p:cNvPicPr/>
            <p:nvPr/>
          </p:nvPicPr>
          <p:blipFill>
            <a:blip r:embed="rId2" cstate="print"/>
            <a:stretch>
              <a:fillRect/>
            </a:stretch>
          </p:blipFill>
          <p:spPr>
            <a:xfrm>
              <a:off x="3934205" y="2516124"/>
              <a:ext cx="208788" cy="234696"/>
            </a:xfrm>
            <a:prstGeom prst="rect">
              <a:avLst/>
            </a:prstGeom>
          </p:spPr>
        </p:pic>
      </p:grpSp>
      <p:sp>
        <p:nvSpPr>
          <p:cNvPr id="12" name="object 12"/>
          <p:cNvSpPr txBox="1"/>
          <p:nvPr/>
        </p:nvSpPr>
        <p:spPr>
          <a:xfrm>
            <a:off x="2662279" y="1942668"/>
            <a:ext cx="253278"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5" normalizeH="0" baseline="13888" noProof="0" dirty="0">
                <a:ln>
                  <a:noFill/>
                </a:ln>
                <a:solidFill>
                  <a:prstClr val="black"/>
                </a:solidFill>
                <a:effectLst/>
                <a:uLnTx/>
                <a:uFillTx/>
                <a:latin typeface="Verdana"/>
                <a:ea typeface="+mn-ea"/>
                <a:cs typeface="Verdana"/>
              </a:rPr>
              <a:t>V</a:t>
            </a:r>
            <a:r>
              <a:rPr kumimoji="0" sz="818" b="0" i="0" u="none" strike="noStrike" kern="1200" cap="none" spc="-17" normalizeH="0" baseline="0" noProof="0" dirty="0">
                <a:ln>
                  <a:noFill/>
                </a:ln>
                <a:solidFill>
                  <a:prstClr val="black"/>
                </a:solidFill>
                <a:effectLst/>
                <a:uLnTx/>
                <a:uFillTx/>
                <a:latin typeface="Verdana"/>
                <a:ea typeface="+mn-ea"/>
                <a:cs typeface="Verdana"/>
              </a:rPr>
              <a:t>in</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grpSp>
        <p:nvGrpSpPr>
          <p:cNvPr id="13" name="object 13"/>
          <p:cNvGrpSpPr/>
          <p:nvPr/>
        </p:nvGrpSpPr>
        <p:grpSpPr>
          <a:xfrm>
            <a:off x="2114146" y="3251064"/>
            <a:ext cx="209983" cy="513917"/>
            <a:chOff x="3320034" y="3908297"/>
            <a:chExt cx="307975" cy="753745"/>
          </a:xfrm>
        </p:grpSpPr>
        <p:sp>
          <p:nvSpPr>
            <p:cNvPr id="14" name="object 14"/>
            <p:cNvSpPr/>
            <p:nvPr/>
          </p:nvSpPr>
          <p:spPr>
            <a:xfrm>
              <a:off x="3473196" y="3918203"/>
              <a:ext cx="0" cy="511809"/>
            </a:xfrm>
            <a:custGeom>
              <a:avLst/>
              <a:gdLst/>
              <a:ahLst/>
              <a:cxnLst/>
              <a:rect l="l" t="t" r="r" b="b"/>
              <a:pathLst>
                <a:path h="511810">
                  <a:moveTo>
                    <a:pt x="0" y="511302"/>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5" name="object 15"/>
            <p:cNvSpPr/>
            <p:nvPr/>
          </p:nvSpPr>
          <p:spPr>
            <a:xfrm>
              <a:off x="3320034" y="3922775"/>
              <a:ext cx="307975" cy="0"/>
            </a:xfrm>
            <a:custGeom>
              <a:avLst/>
              <a:gdLst/>
              <a:ahLst/>
              <a:cxnLst/>
              <a:rect l="l" t="t" r="r" b="b"/>
              <a:pathLst>
                <a:path w="307975">
                  <a:moveTo>
                    <a:pt x="307848" y="0"/>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6"/>
            <p:cNvSpPr/>
            <p:nvPr/>
          </p:nvSpPr>
          <p:spPr>
            <a:xfrm>
              <a:off x="3355848" y="4547615"/>
              <a:ext cx="234950" cy="0"/>
            </a:xfrm>
            <a:custGeom>
              <a:avLst/>
              <a:gdLst/>
              <a:ahLst/>
              <a:cxnLst/>
              <a:rect l="l" t="t" r="r" b="b"/>
              <a:pathLst>
                <a:path w="234950">
                  <a:moveTo>
                    <a:pt x="0" y="0"/>
                  </a:moveTo>
                  <a:lnTo>
                    <a:pt x="23469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7" name="object 17"/>
            <p:cNvSpPr/>
            <p:nvPr/>
          </p:nvSpPr>
          <p:spPr>
            <a:xfrm>
              <a:off x="3414522" y="4597907"/>
              <a:ext cx="116205" cy="0"/>
            </a:xfrm>
            <a:custGeom>
              <a:avLst/>
              <a:gdLst/>
              <a:ahLst/>
              <a:cxnLst/>
              <a:rect l="l" t="t" r="r" b="b"/>
              <a:pathLst>
                <a:path w="116204">
                  <a:moveTo>
                    <a:pt x="0" y="0"/>
                  </a:moveTo>
                  <a:lnTo>
                    <a:pt x="115823"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8" name="object 18"/>
            <p:cNvSpPr/>
            <p:nvPr/>
          </p:nvSpPr>
          <p:spPr>
            <a:xfrm>
              <a:off x="3441954" y="4647437"/>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9" name="object 19"/>
            <p:cNvSpPr/>
            <p:nvPr/>
          </p:nvSpPr>
          <p:spPr>
            <a:xfrm>
              <a:off x="3473196" y="4351781"/>
              <a:ext cx="0" cy="196215"/>
            </a:xfrm>
            <a:custGeom>
              <a:avLst/>
              <a:gdLst/>
              <a:ahLst/>
              <a:cxnLst/>
              <a:rect l="l" t="t" r="r" b="b"/>
              <a:pathLst>
                <a:path h="196214">
                  <a:moveTo>
                    <a:pt x="0" y="195833"/>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0" name="object 20"/>
          <p:cNvGrpSpPr/>
          <p:nvPr/>
        </p:nvGrpSpPr>
        <p:grpSpPr>
          <a:xfrm>
            <a:off x="1226675" y="2129799"/>
            <a:ext cx="1667741" cy="1635269"/>
            <a:chOff x="2018410" y="2263775"/>
            <a:chExt cx="2446020" cy="2398395"/>
          </a:xfrm>
        </p:grpSpPr>
        <p:sp>
          <p:nvSpPr>
            <p:cNvPr id="21" name="object 21"/>
            <p:cNvSpPr/>
            <p:nvPr/>
          </p:nvSpPr>
          <p:spPr>
            <a:xfrm>
              <a:off x="2937509" y="2278379"/>
              <a:ext cx="546100" cy="704215"/>
            </a:xfrm>
            <a:custGeom>
              <a:avLst/>
              <a:gdLst/>
              <a:ahLst/>
              <a:cxnLst/>
              <a:rect l="l" t="t" r="r" b="b"/>
              <a:pathLst>
                <a:path w="546100" h="704214">
                  <a:moveTo>
                    <a:pt x="0" y="0"/>
                  </a:moveTo>
                  <a:lnTo>
                    <a:pt x="545592" y="352044"/>
                  </a:lnTo>
                  <a:lnTo>
                    <a:pt x="0" y="704088"/>
                  </a:lnTo>
                  <a:lnTo>
                    <a:pt x="0" y="0"/>
                  </a:lnTo>
                  <a:close/>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2" name="object 22"/>
            <p:cNvSpPr/>
            <p:nvPr/>
          </p:nvSpPr>
          <p:spPr>
            <a:xfrm>
              <a:off x="3473957" y="2632709"/>
              <a:ext cx="464820" cy="0"/>
            </a:xfrm>
            <a:custGeom>
              <a:avLst/>
              <a:gdLst/>
              <a:ahLst/>
              <a:cxnLst/>
              <a:rect l="l" t="t" r="r" b="b"/>
              <a:pathLst>
                <a:path w="464820">
                  <a:moveTo>
                    <a:pt x="0" y="0"/>
                  </a:moveTo>
                  <a:lnTo>
                    <a:pt x="46482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3" name="object 23"/>
            <p:cNvSpPr/>
            <p:nvPr/>
          </p:nvSpPr>
          <p:spPr>
            <a:xfrm>
              <a:off x="2033015" y="2357627"/>
              <a:ext cx="886460" cy="0"/>
            </a:xfrm>
            <a:custGeom>
              <a:avLst/>
              <a:gdLst/>
              <a:ahLst/>
              <a:cxnLst/>
              <a:rect l="l" t="t" r="r" b="b"/>
              <a:pathLst>
                <a:path w="886460">
                  <a:moveTo>
                    <a:pt x="0" y="0"/>
                  </a:moveTo>
                  <a:lnTo>
                    <a:pt x="88620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4" name="object 24"/>
            <p:cNvSpPr/>
            <p:nvPr/>
          </p:nvSpPr>
          <p:spPr>
            <a:xfrm>
              <a:off x="3473195" y="3332225"/>
              <a:ext cx="0" cy="508634"/>
            </a:xfrm>
            <a:custGeom>
              <a:avLst/>
              <a:gdLst/>
              <a:ahLst/>
              <a:cxnLst/>
              <a:rect l="l" t="t" r="r" b="b"/>
              <a:pathLst>
                <a:path h="508635">
                  <a:moveTo>
                    <a:pt x="0" y="508254"/>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25" name="object 25"/>
            <p:cNvPicPr/>
            <p:nvPr/>
          </p:nvPicPr>
          <p:blipFill>
            <a:blip r:embed="rId3" cstate="print"/>
            <a:stretch>
              <a:fillRect/>
            </a:stretch>
          </p:blipFill>
          <p:spPr>
            <a:xfrm>
              <a:off x="3429756" y="3288791"/>
              <a:ext cx="86868" cy="86867"/>
            </a:xfrm>
            <a:prstGeom prst="rect">
              <a:avLst/>
            </a:prstGeom>
          </p:spPr>
        </p:pic>
        <p:sp>
          <p:nvSpPr>
            <p:cNvPr id="26" name="object 26"/>
            <p:cNvSpPr/>
            <p:nvPr/>
          </p:nvSpPr>
          <p:spPr>
            <a:xfrm>
              <a:off x="3320033" y="3842003"/>
              <a:ext cx="307975" cy="0"/>
            </a:xfrm>
            <a:custGeom>
              <a:avLst/>
              <a:gdLst/>
              <a:ahLst/>
              <a:cxnLst/>
              <a:rect l="l" t="t" r="r" b="b"/>
              <a:pathLst>
                <a:path w="307975">
                  <a:moveTo>
                    <a:pt x="307848" y="0"/>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7" name="object 27"/>
            <p:cNvSpPr/>
            <p:nvPr/>
          </p:nvSpPr>
          <p:spPr>
            <a:xfrm>
              <a:off x="4325111" y="2917698"/>
              <a:ext cx="5080" cy="741680"/>
            </a:xfrm>
            <a:custGeom>
              <a:avLst/>
              <a:gdLst/>
              <a:ahLst/>
              <a:cxnLst/>
              <a:rect l="l" t="t" r="r" b="b"/>
              <a:pathLst>
                <a:path w="5079" h="741679">
                  <a:moveTo>
                    <a:pt x="0" y="0"/>
                  </a:moveTo>
                  <a:lnTo>
                    <a:pt x="4572" y="741426"/>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8" name="object 28"/>
            <p:cNvSpPr/>
            <p:nvPr/>
          </p:nvSpPr>
          <p:spPr>
            <a:xfrm>
              <a:off x="2497835" y="3315461"/>
              <a:ext cx="1832610" cy="12700"/>
            </a:xfrm>
            <a:custGeom>
              <a:avLst/>
              <a:gdLst/>
              <a:ahLst/>
              <a:cxnLst/>
              <a:rect l="l" t="t" r="r" b="b"/>
              <a:pathLst>
                <a:path w="1832610" h="12700">
                  <a:moveTo>
                    <a:pt x="0" y="12191"/>
                  </a:moveTo>
                  <a:lnTo>
                    <a:pt x="183261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29" name="object 29"/>
            <p:cNvPicPr/>
            <p:nvPr/>
          </p:nvPicPr>
          <p:blipFill>
            <a:blip r:embed="rId4" cstate="print"/>
            <a:stretch>
              <a:fillRect/>
            </a:stretch>
          </p:blipFill>
          <p:spPr>
            <a:xfrm>
              <a:off x="4287011" y="3272024"/>
              <a:ext cx="86867" cy="86868"/>
            </a:xfrm>
            <a:prstGeom prst="rect">
              <a:avLst/>
            </a:prstGeom>
          </p:spPr>
        </p:pic>
        <p:sp>
          <p:nvSpPr>
            <p:cNvPr id="30" name="object 30"/>
            <p:cNvSpPr/>
            <p:nvPr/>
          </p:nvSpPr>
          <p:spPr>
            <a:xfrm>
              <a:off x="2497835" y="2887980"/>
              <a:ext cx="3175" cy="450850"/>
            </a:xfrm>
            <a:custGeom>
              <a:avLst/>
              <a:gdLst/>
              <a:ahLst/>
              <a:cxnLst/>
              <a:rect l="l" t="t" r="r" b="b"/>
              <a:pathLst>
                <a:path w="3175" h="450850">
                  <a:moveTo>
                    <a:pt x="0" y="0"/>
                  </a:moveTo>
                  <a:lnTo>
                    <a:pt x="3048" y="450342"/>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1" name="object 31"/>
            <p:cNvSpPr/>
            <p:nvPr/>
          </p:nvSpPr>
          <p:spPr>
            <a:xfrm>
              <a:off x="2497073" y="2896362"/>
              <a:ext cx="440690" cy="0"/>
            </a:xfrm>
            <a:custGeom>
              <a:avLst/>
              <a:gdLst/>
              <a:ahLst/>
              <a:cxnLst/>
              <a:rect l="l" t="t" r="r" b="b"/>
              <a:pathLst>
                <a:path w="440689">
                  <a:moveTo>
                    <a:pt x="0" y="0"/>
                  </a:moveTo>
                  <a:lnTo>
                    <a:pt x="44043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2" name="object 32"/>
            <p:cNvSpPr/>
            <p:nvPr/>
          </p:nvSpPr>
          <p:spPr>
            <a:xfrm>
              <a:off x="4331969" y="4139945"/>
              <a:ext cx="0" cy="243204"/>
            </a:xfrm>
            <a:custGeom>
              <a:avLst/>
              <a:gdLst/>
              <a:ahLst/>
              <a:cxnLst/>
              <a:rect l="l" t="t" r="r" b="b"/>
              <a:pathLst>
                <a:path h="243204">
                  <a:moveTo>
                    <a:pt x="0" y="0"/>
                  </a:moveTo>
                  <a:lnTo>
                    <a:pt x="0" y="243077"/>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3" name="object 33"/>
            <p:cNvSpPr/>
            <p:nvPr/>
          </p:nvSpPr>
          <p:spPr>
            <a:xfrm>
              <a:off x="4215383" y="4547616"/>
              <a:ext cx="234315" cy="0"/>
            </a:xfrm>
            <a:custGeom>
              <a:avLst/>
              <a:gdLst/>
              <a:ahLst/>
              <a:cxnLst/>
              <a:rect l="l" t="t" r="r" b="b"/>
              <a:pathLst>
                <a:path w="234314">
                  <a:moveTo>
                    <a:pt x="0" y="0"/>
                  </a:moveTo>
                  <a:lnTo>
                    <a:pt x="23393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4" name="object 34"/>
            <p:cNvSpPr/>
            <p:nvPr/>
          </p:nvSpPr>
          <p:spPr>
            <a:xfrm>
              <a:off x="4274057" y="4597907"/>
              <a:ext cx="115570" cy="0"/>
            </a:xfrm>
            <a:custGeom>
              <a:avLst/>
              <a:gdLst/>
              <a:ahLst/>
              <a:cxnLst/>
              <a:rect l="l" t="t" r="r" b="b"/>
              <a:pathLst>
                <a:path w="115570">
                  <a:moveTo>
                    <a:pt x="0" y="0"/>
                  </a:moveTo>
                  <a:lnTo>
                    <a:pt x="11506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5" name="object 35"/>
            <p:cNvSpPr/>
            <p:nvPr/>
          </p:nvSpPr>
          <p:spPr>
            <a:xfrm>
              <a:off x="4301489" y="4647438"/>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6" name="object 36"/>
            <p:cNvSpPr/>
            <p:nvPr/>
          </p:nvSpPr>
          <p:spPr>
            <a:xfrm>
              <a:off x="4332731" y="4351782"/>
              <a:ext cx="0" cy="196215"/>
            </a:xfrm>
            <a:custGeom>
              <a:avLst/>
              <a:gdLst/>
              <a:ahLst/>
              <a:cxnLst/>
              <a:rect l="l" t="t" r="r" b="b"/>
              <a:pathLst>
                <a:path h="196214">
                  <a:moveTo>
                    <a:pt x="0" y="195833"/>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37" name="object 37"/>
          <p:cNvSpPr txBox="1"/>
          <p:nvPr/>
        </p:nvSpPr>
        <p:spPr>
          <a:xfrm>
            <a:off x="2816608" y="2761542"/>
            <a:ext cx="328613"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0" normalizeH="0" baseline="13888" noProof="0" dirty="0">
                <a:ln>
                  <a:noFill/>
                </a:ln>
                <a:solidFill>
                  <a:prstClr val="black"/>
                </a:solidFill>
                <a:effectLst/>
                <a:uLnTx/>
                <a:uFillTx/>
                <a:latin typeface="Verdana"/>
                <a:ea typeface="+mn-ea"/>
                <a:cs typeface="Verdana"/>
              </a:rPr>
              <a:t>V</a:t>
            </a:r>
            <a:r>
              <a:rPr kumimoji="0" sz="818" b="0" i="0" u="none" strike="noStrike" kern="1200" cap="none" spc="-14" normalizeH="0" baseline="0" noProof="0" dirty="0">
                <a:ln>
                  <a:noFill/>
                </a:ln>
                <a:solidFill>
                  <a:prstClr val="black"/>
                </a:solidFill>
                <a:effectLst/>
                <a:uLnTx/>
                <a:uFillTx/>
                <a:latin typeface="Verdana"/>
                <a:ea typeface="+mn-ea"/>
                <a:cs typeface="Verdana"/>
              </a:rPr>
              <a:t>out</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sp>
        <p:nvSpPr>
          <p:cNvPr id="38" name="object 38"/>
          <p:cNvSpPr txBox="1"/>
          <p:nvPr/>
        </p:nvSpPr>
        <p:spPr>
          <a:xfrm>
            <a:off x="1905296" y="2268240"/>
            <a:ext cx="124258" cy="197578"/>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34" normalizeH="0" baseline="0" noProof="0" dirty="0">
                <a:ln>
                  <a:noFill/>
                </a:ln>
                <a:solidFill>
                  <a:prstClr val="black"/>
                </a:solidFill>
                <a:effectLst/>
                <a:uLnTx/>
                <a:uFillTx/>
                <a:latin typeface="Verdana"/>
                <a:ea typeface="+mn-ea"/>
                <a:cs typeface="Verdana"/>
              </a:rPr>
              <a:t>A</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grpSp>
        <p:nvGrpSpPr>
          <p:cNvPr id="39" name="object 39"/>
          <p:cNvGrpSpPr/>
          <p:nvPr/>
        </p:nvGrpSpPr>
        <p:grpSpPr>
          <a:xfrm>
            <a:off x="10126174" y="1611284"/>
            <a:ext cx="276658" cy="1029999"/>
            <a:chOff x="9058656" y="1468247"/>
            <a:chExt cx="405765" cy="1510665"/>
          </a:xfrm>
        </p:grpSpPr>
        <p:sp>
          <p:nvSpPr>
            <p:cNvPr id="40" name="object 40"/>
            <p:cNvSpPr/>
            <p:nvPr/>
          </p:nvSpPr>
          <p:spPr>
            <a:xfrm>
              <a:off x="9330690" y="1677924"/>
              <a:ext cx="119380" cy="234315"/>
            </a:xfrm>
            <a:custGeom>
              <a:avLst/>
              <a:gdLst/>
              <a:ahLst/>
              <a:cxnLst/>
              <a:rect l="l" t="t" r="r" b="b"/>
              <a:pathLst>
                <a:path w="119379" h="234314">
                  <a:moveTo>
                    <a:pt x="0" y="233934"/>
                  </a:moveTo>
                  <a:lnTo>
                    <a:pt x="0" y="0"/>
                  </a:lnTo>
                </a:path>
                <a:path w="119379" h="234314">
                  <a:moveTo>
                    <a:pt x="0" y="233934"/>
                  </a:moveTo>
                  <a:lnTo>
                    <a:pt x="118872" y="233934"/>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1" name="object 41"/>
            <p:cNvSpPr/>
            <p:nvPr/>
          </p:nvSpPr>
          <p:spPr>
            <a:xfrm>
              <a:off x="9330690" y="1677924"/>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2" name="object 42"/>
            <p:cNvSpPr/>
            <p:nvPr/>
          </p:nvSpPr>
          <p:spPr>
            <a:xfrm>
              <a:off x="9449562" y="1482852"/>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3" name="object 43"/>
            <p:cNvSpPr/>
            <p:nvPr/>
          </p:nvSpPr>
          <p:spPr>
            <a:xfrm>
              <a:off x="9449562" y="1913381"/>
              <a:ext cx="0" cy="1050925"/>
            </a:xfrm>
            <a:custGeom>
              <a:avLst/>
              <a:gdLst/>
              <a:ahLst/>
              <a:cxnLst/>
              <a:rect l="l" t="t" r="r" b="b"/>
              <a:pathLst>
                <a:path h="1050925">
                  <a:moveTo>
                    <a:pt x="0" y="1050798"/>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44" name="object 44"/>
            <p:cNvPicPr/>
            <p:nvPr/>
          </p:nvPicPr>
          <p:blipFill>
            <a:blip r:embed="rId5" cstate="print"/>
            <a:stretch>
              <a:fillRect/>
            </a:stretch>
          </p:blipFill>
          <p:spPr>
            <a:xfrm>
              <a:off x="9058656" y="1680972"/>
              <a:ext cx="208787" cy="234696"/>
            </a:xfrm>
            <a:prstGeom prst="rect">
              <a:avLst/>
            </a:prstGeom>
          </p:spPr>
        </p:pic>
      </p:grpSp>
      <p:sp>
        <p:nvSpPr>
          <p:cNvPr id="45" name="object 45"/>
          <p:cNvSpPr txBox="1"/>
          <p:nvPr/>
        </p:nvSpPr>
        <p:spPr>
          <a:xfrm>
            <a:off x="10910248" y="1344678"/>
            <a:ext cx="253278"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5" normalizeH="0" baseline="13888" noProof="0" dirty="0">
                <a:ln>
                  <a:noFill/>
                </a:ln>
                <a:solidFill>
                  <a:prstClr val="black"/>
                </a:solidFill>
                <a:effectLst/>
                <a:uLnTx/>
                <a:uFillTx/>
                <a:latin typeface="Verdana"/>
                <a:ea typeface="+mn-ea"/>
                <a:cs typeface="Verdana"/>
              </a:rPr>
              <a:t>V</a:t>
            </a:r>
            <a:r>
              <a:rPr kumimoji="0" sz="818" b="0" i="0" u="none" strike="noStrike" kern="1200" cap="none" spc="-17" normalizeH="0" baseline="0" noProof="0" dirty="0">
                <a:ln>
                  <a:noFill/>
                </a:ln>
                <a:solidFill>
                  <a:prstClr val="black"/>
                </a:solidFill>
                <a:effectLst/>
                <a:uLnTx/>
                <a:uFillTx/>
                <a:latin typeface="Verdana"/>
                <a:ea typeface="+mn-ea"/>
                <a:cs typeface="Verdana"/>
              </a:rPr>
              <a:t>in</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grpSp>
        <p:nvGrpSpPr>
          <p:cNvPr id="46" name="object 46"/>
          <p:cNvGrpSpPr/>
          <p:nvPr/>
        </p:nvGrpSpPr>
        <p:grpSpPr>
          <a:xfrm>
            <a:off x="9278708" y="1664278"/>
            <a:ext cx="1856509" cy="945573"/>
            <a:chOff x="7815706" y="1545973"/>
            <a:chExt cx="2722880" cy="1386840"/>
          </a:xfrm>
        </p:grpSpPr>
        <p:sp>
          <p:nvSpPr>
            <p:cNvPr id="47" name="object 47"/>
            <p:cNvSpPr/>
            <p:nvPr/>
          </p:nvSpPr>
          <p:spPr>
            <a:xfrm>
              <a:off x="8598407" y="2673858"/>
              <a:ext cx="1925955" cy="1270"/>
            </a:xfrm>
            <a:custGeom>
              <a:avLst/>
              <a:gdLst/>
              <a:ahLst/>
              <a:cxnLst/>
              <a:rect l="l" t="t" r="r" b="b"/>
              <a:pathLst>
                <a:path w="1925954" h="1269">
                  <a:moveTo>
                    <a:pt x="0" y="0"/>
                  </a:moveTo>
                  <a:lnTo>
                    <a:pt x="1925574" y="762"/>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8" name="object 48"/>
            <p:cNvSpPr/>
            <p:nvPr/>
          </p:nvSpPr>
          <p:spPr>
            <a:xfrm>
              <a:off x="7830311" y="1560578"/>
              <a:ext cx="755650" cy="1357630"/>
            </a:xfrm>
            <a:custGeom>
              <a:avLst/>
              <a:gdLst/>
              <a:ahLst/>
              <a:cxnLst/>
              <a:rect l="l" t="t" r="r" b="b"/>
              <a:pathLst>
                <a:path w="755650" h="1357630">
                  <a:moveTo>
                    <a:pt x="0" y="125857"/>
                  </a:moveTo>
                  <a:lnTo>
                    <a:pt x="9890" y="76868"/>
                  </a:lnTo>
                  <a:lnTo>
                    <a:pt x="36863" y="36863"/>
                  </a:lnTo>
                  <a:lnTo>
                    <a:pt x="76868" y="9890"/>
                  </a:lnTo>
                  <a:lnTo>
                    <a:pt x="125857" y="0"/>
                  </a:lnTo>
                  <a:lnTo>
                    <a:pt x="629285" y="0"/>
                  </a:lnTo>
                  <a:lnTo>
                    <a:pt x="678273" y="9890"/>
                  </a:lnTo>
                  <a:lnTo>
                    <a:pt x="718278" y="36863"/>
                  </a:lnTo>
                  <a:lnTo>
                    <a:pt x="745251" y="76868"/>
                  </a:lnTo>
                  <a:lnTo>
                    <a:pt x="755142" y="125857"/>
                  </a:lnTo>
                  <a:lnTo>
                    <a:pt x="755142" y="1231265"/>
                  </a:lnTo>
                  <a:lnTo>
                    <a:pt x="745251" y="1280253"/>
                  </a:lnTo>
                  <a:lnTo>
                    <a:pt x="718278" y="1320258"/>
                  </a:lnTo>
                  <a:lnTo>
                    <a:pt x="678273" y="1347231"/>
                  </a:lnTo>
                  <a:lnTo>
                    <a:pt x="629285" y="1357122"/>
                  </a:lnTo>
                  <a:lnTo>
                    <a:pt x="125857" y="1357122"/>
                  </a:lnTo>
                  <a:lnTo>
                    <a:pt x="76868" y="1347231"/>
                  </a:lnTo>
                  <a:lnTo>
                    <a:pt x="36863" y="1320258"/>
                  </a:lnTo>
                  <a:lnTo>
                    <a:pt x="9890" y="1280253"/>
                  </a:lnTo>
                  <a:lnTo>
                    <a:pt x="0" y="1231265"/>
                  </a:lnTo>
                  <a:lnTo>
                    <a:pt x="0" y="125857"/>
                  </a:lnTo>
                  <a:close/>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49" name="object 49"/>
          <p:cNvSpPr txBox="1"/>
          <p:nvPr/>
        </p:nvSpPr>
        <p:spPr>
          <a:xfrm>
            <a:off x="9470773" y="1844975"/>
            <a:ext cx="188834" cy="584489"/>
          </a:xfrm>
          <a:prstGeom prst="rect">
            <a:avLst/>
          </a:prstGeom>
        </p:spPr>
        <p:txBody>
          <a:bodyPr vert="vert" wrap="square" lIns="0" tIns="9525" rIns="0" bIns="0" rtlCol="0">
            <a:spAutoFit/>
          </a:bodyPr>
          <a:lstStyle/>
          <a:p>
            <a:pPr marL="8659" marR="0" lvl="0" indent="0" algn="l" defTabSz="914400" rtl="0" eaLnBrk="1" fontAlgn="auto" latinLnBrk="0" hangingPunct="1">
              <a:lnSpc>
                <a:spcPct val="100000"/>
              </a:lnSpc>
              <a:spcBef>
                <a:spcPts val="75"/>
              </a:spcBef>
              <a:spcAft>
                <a:spcPts val="0"/>
              </a:spcAft>
              <a:buClrTx/>
              <a:buSzTx/>
              <a:buFontTx/>
              <a:buNone/>
              <a:tabLst/>
              <a:defRPr/>
            </a:pPr>
            <a:r>
              <a:rPr kumimoji="0" sz="1227" b="0" i="0" u="none" strike="noStrike" kern="1200" cap="none" spc="-7" normalizeH="0" baseline="0" noProof="0" dirty="0">
                <a:ln>
                  <a:noFill/>
                </a:ln>
                <a:solidFill>
                  <a:prstClr val="black"/>
                </a:solidFill>
                <a:effectLst/>
                <a:uLnTx/>
                <a:uFillTx/>
                <a:latin typeface="Verdana"/>
                <a:ea typeface="+mn-ea"/>
                <a:cs typeface="Verdana"/>
              </a:rPr>
              <a:t>Control</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50" name="object 50"/>
          <p:cNvSpPr/>
          <p:nvPr/>
        </p:nvSpPr>
        <p:spPr>
          <a:xfrm>
            <a:off x="8465187" y="2323667"/>
            <a:ext cx="299605" cy="2165"/>
          </a:xfrm>
          <a:custGeom>
            <a:avLst/>
            <a:gdLst/>
            <a:ahLst/>
            <a:cxnLst/>
            <a:rect l="l" t="t" r="r" b="b"/>
            <a:pathLst>
              <a:path w="439420" h="3175">
                <a:moveTo>
                  <a:pt x="0" y="0"/>
                </a:moveTo>
                <a:lnTo>
                  <a:pt x="438912" y="3048"/>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1" name="object 51"/>
          <p:cNvSpPr txBox="1"/>
          <p:nvPr/>
        </p:nvSpPr>
        <p:spPr>
          <a:xfrm>
            <a:off x="8386002" y="2071682"/>
            <a:ext cx="124258" cy="197578"/>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34" normalizeH="0" baseline="0" noProof="0" dirty="0">
                <a:ln>
                  <a:noFill/>
                </a:ln>
                <a:solidFill>
                  <a:prstClr val="black"/>
                </a:solidFill>
                <a:effectLst/>
                <a:uLnTx/>
                <a:uFillTx/>
                <a:latin typeface="Verdana"/>
                <a:ea typeface="+mn-ea"/>
                <a:cs typeface="Verdana"/>
              </a:rPr>
              <a:t>V</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52" name="object 52"/>
          <p:cNvSpPr txBox="1"/>
          <p:nvPr/>
        </p:nvSpPr>
        <p:spPr>
          <a:xfrm>
            <a:off x="8492509" y="2162083"/>
            <a:ext cx="160193" cy="134612"/>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818" b="0" i="0" u="none" strike="noStrike" kern="1200" cap="none" spc="-17" normalizeH="0" baseline="0" noProof="0" dirty="0">
                <a:ln>
                  <a:noFill/>
                </a:ln>
                <a:solidFill>
                  <a:prstClr val="black"/>
                </a:solidFill>
                <a:effectLst/>
                <a:uLnTx/>
                <a:uFillTx/>
                <a:latin typeface="Verdana"/>
                <a:ea typeface="+mn-ea"/>
                <a:cs typeface="Verdana"/>
              </a:rPr>
              <a:t>ref</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grpSp>
        <p:nvGrpSpPr>
          <p:cNvPr id="53" name="object 53"/>
          <p:cNvGrpSpPr/>
          <p:nvPr/>
        </p:nvGrpSpPr>
        <p:grpSpPr>
          <a:xfrm>
            <a:off x="9707419" y="3303530"/>
            <a:ext cx="210416" cy="513917"/>
            <a:chOff x="8444483" y="3950208"/>
            <a:chExt cx="308610" cy="753745"/>
          </a:xfrm>
        </p:grpSpPr>
        <p:sp>
          <p:nvSpPr>
            <p:cNvPr id="54" name="object 54"/>
            <p:cNvSpPr/>
            <p:nvPr/>
          </p:nvSpPr>
          <p:spPr>
            <a:xfrm>
              <a:off x="8597645" y="3959352"/>
              <a:ext cx="0" cy="511809"/>
            </a:xfrm>
            <a:custGeom>
              <a:avLst/>
              <a:gdLst/>
              <a:ahLst/>
              <a:cxnLst/>
              <a:rect l="l" t="t" r="r" b="b"/>
              <a:pathLst>
                <a:path h="511810">
                  <a:moveTo>
                    <a:pt x="0" y="511302"/>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5" name="object 55"/>
            <p:cNvSpPr/>
            <p:nvPr/>
          </p:nvSpPr>
          <p:spPr>
            <a:xfrm>
              <a:off x="8444483" y="3964686"/>
              <a:ext cx="308610" cy="0"/>
            </a:xfrm>
            <a:custGeom>
              <a:avLst/>
              <a:gdLst/>
              <a:ahLst/>
              <a:cxnLst/>
              <a:rect l="l" t="t" r="r" b="b"/>
              <a:pathLst>
                <a:path w="308609">
                  <a:moveTo>
                    <a:pt x="308609" y="0"/>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6" name="object 56"/>
            <p:cNvSpPr/>
            <p:nvPr/>
          </p:nvSpPr>
          <p:spPr>
            <a:xfrm>
              <a:off x="8480297" y="4589526"/>
              <a:ext cx="234950" cy="0"/>
            </a:xfrm>
            <a:custGeom>
              <a:avLst/>
              <a:gdLst/>
              <a:ahLst/>
              <a:cxnLst/>
              <a:rect l="l" t="t" r="r" b="b"/>
              <a:pathLst>
                <a:path w="234950">
                  <a:moveTo>
                    <a:pt x="0" y="0"/>
                  </a:moveTo>
                  <a:lnTo>
                    <a:pt x="23469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7" name="object 57"/>
            <p:cNvSpPr/>
            <p:nvPr/>
          </p:nvSpPr>
          <p:spPr>
            <a:xfrm>
              <a:off x="8538971" y="4639056"/>
              <a:ext cx="116205" cy="0"/>
            </a:xfrm>
            <a:custGeom>
              <a:avLst/>
              <a:gdLst/>
              <a:ahLst/>
              <a:cxnLst/>
              <a:rect l="l" t="t" r="r" b="b"/>
              <a:pathLst>
                <a:path w="116204">
                  <a:moveTo>
                    <a:pt x="0" y="0"/>
                  </a:moveTo>
                  <a:lnTo>
                    <a:pt x="115823"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8" name="object 58"/>
            <p:cNvSpPr/>
            <p:nvPr/>
          </p:nvSpPr>
          <p:spPr>
            <a:xfrm>
              <a:off x="8566403" y="4689348"/>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9" name="object 59"/>
            <p:cNvSpPr/>
            <p:nvPr/>
          </p:nvSpPr>
          <p:spPr>
            <a:xfrm>
              <a:off x="8597645" y="4392930"/>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0" name="object 60"/>
          <p:cNvGrpSpPr/>
          <p:nvPr/>
        </p:nvGrpSpPr>
        <p:grpSpPr>
          <a:xfrm>
            <a:off x="8549266" y="1388485"/>
            <a:ext cx="2871788" cy="2429308"/>
            <a:chOff x="6745858" y="1141475"/>
            <a:chExt cx="4211955" cy="3562985"/>
          </a:xfrm>
        </p:grpSpPr>
        <p:sp>
          <p:nvSpPr>
            <p:cNvPr id="61" name="object 61"/>
            <p:cNvSpPr/>
            <p:nvPr/>
          </p:nvSpPr>
          <p:spPr>
            <a:xfrm>
              <a:off x="8597645" y="3374136"/>
              <a:ext cx="0" cy="508000"/>
            </a:xfrm>
            <a:custGeom>
              <a:avLst/>
              <a:gdLst/>
              <a:ahLst/>
              <a:cxnLst/>
              <a:rect l="l" t="t" r="r" b="b"/>
              <a:pathLst>
                <a:path h="508000">
                  <a:moveTo>
                    <a:pt x="0" y="507491"/>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62" name="object 62"/>
            <p:cNvPicPr/>
            <p:nvPr/>
          </p:nvPicPr>
          <p:blipFill>
            <a:blip r:embed="rId6" cstate="print"/>
            <a:stretch>
              <a:fillRect/>
            </a:stretch>
          </p:blipFill>
          <p:spPr>
            <a:xfrm>
              <a:off x="8554206" y="3330702"/>
              <a:ext cx="86867" cy="86867"/>
            </a:xfrm>
            <a:prstGeom prst="rect">
              <a:avLst/>
            </a:prstGeom>
          </p:spPr>
        </p:pic>
        <p:sp>
          <p:nvSpPr>
            <p:cNvPr id="63" name="object 63"/>
            <p:cNvSpPr/>
            <p:nvPr/>
          </p:nvSpPr>
          <p:spPr>
            <a:xfrm>
              <a:off x="8444483" y="3883152"/>
              <a:ext cx="308610" cy="0"/>
            </a:xfrm>
            <a:custGeom>
              <a:avLst/>
              <a:gdLst/>
              <a:ahLst/>
              <a:cxnLst/>
              <a:rect l="l" t="t" r="r" b="b"/>
              <a:pathLst>
                <a:path w="308609">
                  <a:moveTo>
                    <a:pt x="308609" y="0"/>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64" name="object 64"/>
            <p:cNvSpPr/>
            <p:nvPr/>
          </p:nvSpPr>
          <p:spPr>
            <a:xfrm>
              <a:off x="9449561" y="2959608"/>
              <a:ext cx="5080" cy="741045"/>
            </a:xfrm>
            <a:custGeom>
              <a:avLst/>
              <a:gdLst/>
              <a:ahLst/>
              <a:cxnLst/>
              <a:rect l="l" t="t" r="r" b="b"/>
              <a:pathLst>
                <a:path w="5079" h="741045">
                  <a:moveTo>
                    <a:pt x="0" y="0"/>
                  </a:moveTo>
                  <a:lnTo>
                    <a:pt x="4572" y="740664"/>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65" name="object 65"/>
            <p:cNvSpPr/>
            <p:nvPr/>
          </p:nvSpPr>
          <p:spPr>
            <a:xfrm>
              <a:off x="6760463" y="3357371"/>
              <a:ext cx="2694940" cy="7620"/>
            </a:xfrm>
            <a:custGeom>
              <a:avLst/>
              <a:gdLst/>
              <a:ahLst/>
              <a:cxnLst/>
              <a:rect l="l" t="t" r="r" b="b"/>
              <a:pathLst>
                <a:path w="2694940" h="7620">
                  <a:moveTo>
                    <a:pt x="0" y="7620"/>
                  </a:moveTo>
                  <a:lnTo>
                    <a:pt x="269443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66" name="object 66"/>
            <p:cNvPicPr/>
            <p:nvPr/>
          </p:nvPicPr>
          <p:blipFill>
            <a:blip r:embed="rId7" cstate="print"/>
            <a:stretch>
              <a:fillRect/>
            </a:stretch>
          </p:blipFill>
          <p:spPr>
            <a:xfrm>
              <a:off x="9411461" y="3313934"/>
              <a:ext cx="86868" cy="86868"/>
            </a:xfrm>
            <a:prstGeom prst="rect">
              <a:avLst/>
            </a:prstGeom>
          </p:spPr>
        </p:pic>
        <p:sp>
          <p:nvSpPr>
            <p:cNvPr id="67" name="object 67"/>
            <p:cNvSpPr/>
            <p:nvPr/>
          </p:nvSpPr>
          <p:spPr>
            <a:xfrm>
              <a:off x="6768845" y="2664713"/>
              <a:ext cx="3810" cy="691515"/>
            </a:xfrm>
            <a:custGeom>
              <a:avLst/>
              <a:gdLst/>
              <a:ahLst/>
              <a:cxnLst/>
              <a:rect l="l" t="t" r="r" b="b"/>
              <a:pathLst>
                <a:path w="3809" h="691514">
                  <a:moveTo>
                    <a:pt x="0" y="0"/>
                  </a:moveTo>
                  <a:lnTo>
                    <a:pt x="3810" y="691134"/>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68" name="object 68"/>
            <p:cNvSpPr/>
            <p:nvPr/>
          </p:nvSpPr>
          <p:spPr>
            <a:xfrm>
              <a:off x="7601711" y="2664713"/>
              <a:ext cx="228600" cy="0"/>
            </a:xfrm>
            <a:custGeom>
              <a:avLst/>
              <a:gdLst/>
              <a:ahLst/>
              <a:cxnLst/>
              <a:rect l="l" t="t" r="r" b="b"/>
              <a:pathLst>
                <a:path w="228600">
                  <a:moveTo>
                    <a:pt x="0" y="0"/>
                  </a:moveTo>
                  <a:lnTo>
                    <a:pt x="22860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69" name="object 69"/>
            <p:cNvSpPr/>
            <p:nvPr/>
          </p:nvSpPr>
          <p:spPr>
            <a:xfrm>
              <a:off x="9343643" y="4589525"/>
              <a:ext cx="234315" cy="0"/>
            </a:xfrm>
            <a:custGeom>
              <a:avLst/>
              <a:gdLst/>
              <a:ahLst/>
              <a:cxnLst/>
              <a:rect l="l" t="t" r="r" b="b"/>
              <a:pathLst>
                <a:path w="234315">
                  <a:moveTo>
                    <a:pt x="0" y="0"/>
                  </a:moveTo>
                  <a:lnTo>
                    <a:pt x="23393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0" name="object 70"/>
            <p:cNvSpPr/>
            <p:nvPr/>
          </p:nvSpPr>
          <p:spPr>
            <a:xfrm>
              <a:off x="9402317" y="4639055"/>
              <a:ext cx="115570" cy="0"/>
            </a:xfrm>
            <a:custGeom>
              <a:avLst/>
              <a:gdLst/>
              <a:ahLst/>
              <a:cxnLst/>
              <a:rect l="l" t="t" r="r" b="b"/>
              <a:pathLst>
                <a:path w="115570">
                  <a:moveTo>
                    <a:pt x="0" y="0"/>
                  </a:moveTo>
                  <a:lnTo>
                    <a:pt x="11506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1" name="object 71"/>
            <p:cNvSpPr/>
            <p:nvPr/>
          </p:nvSpPr>
          <p:spPr>
            <a:xfrm>
              <a:off x="9429749" y="4689347"/>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2" name="object 72"/>
            <p:cNvSpPr/>
            <p:nvPr/>
          </p:nvSpPr>
          <p:spPr>
            <a:xfrm>
              <a:off x="9460229" y="4392929"/>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3" name="object 73"/>
            <p:cNvSpPr/>
            <p:nvPr/>
          </p:nvSpPr>
          <p:spPr>
            <a:xfrm>
              <a:off x="9792461" y="1919477"/>
              <a:ext cx="119380" cy="234315"/>
            </a:xfrm>
            <a:custGeom>
              <a:avLst/>
              <a:gdLst/>
              <a:ahLst/>
              <a:cxnLst/>
              <a:rect l="l" t="t" r="r" b="b"/>
              <a:pathLst>
                <a:path w="119379" h="234314">
                  <a:moveTo>
                    <a:pt x="0" y="233934"/>
                  </a:moveTo>
                  <a:lnTo>
                    <a:pt x="0" y="0"/>
                  </a:lnTo>
                </a:path>
                <a:path w="119379" h="234314">
                  <a:moveTo>
                    <a:pt x="0" y="233934"/>
                  </a:moveTo>
                  <a:lnTo>
                    <a:pt x="118872" y="233934"/>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4" name="object 74"/>
            <p:cNvSpPr/>
            <p:nvPr/>
          </p:nvSpPr>
          <p:spPr>
            <a:xfrm>
              <a:off x="9792461" y="1919477"/>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5" name="object 75"/>
            <p:cNvSpPr/>
            <p:nvPr/>
          </p:nvSpPr>
          <p:spPr>
            <a:xfrm>
              <a:off x="9911333" y="1482851"/>
              <a:ext cx="3810" cy="438150"/>
            </a:xfrm>
            <a:custGeom>
              <a:avLst/>
              <a:gdLst/>
              <a:ahLst/>
              <a:cxnLst/>
              <a:rect l="l" t="t" r="r" b="b"/>
              <a:pathLst>
                <a:path w="3809" h="438150">
                  <a:moveTo>
                    <a:pt x="0" y="438150"/>
                  </a:moveTo>
                  <a:lnTo>
                    <a:pt x="381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76" name="object 76"/>
            <p:cNvPicPr/>
            <p:nvPr/>
          </p:nvPicPr>
          <p:blipFill>
            <a:blip r:embed="rId8" cstate="print"/>
            <a:stretch>
              <a:fillRect/>
            </a:stretch>
          </p:blipFill>
          <p:spPr>
            <a:xfrm>
              <a:off x="9871713" y="1439419"/>
              <a:ext cx="86867" cy="86867"/>
            </a:xfrm>
            <a:prstGeom prst="rect">
              <a:avLst/>
            </a:prstGeom>
          </p:spPr>
        </p:pic>
        <p:sp>
          <p:nvSpPr>
            <p:cNvPr id="77" name="object 77"/>
            <p:cNvSpPr/>
            <p:nvPr/>
          </p:nvSpPr>
          <p:spPr>
            <a:xfrm>
              <a:off x="9911333" y="2155697"/>
              <a:ext cx="3810" cy="519430"/>
            </a:xfrm>
            <a:custGeom>
              <a:avLst/>
              <a:gdLst/>
              <a:ahLst/>
              <a:cxnLst/>
              <a:rect l="l" t="t" r="r" b="b"/>
              <a:pathLst>
                <a:path w="3809" h="519430">
                  <a:moveTo>
                    <a:pt x="3809" y="518922"/>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78" name="object 78"/>
            <p:cNvPicPr/>
            <p:nvPr/>
          </p:nvPicPr>
          <p:blipFill>
            <a:blip r:embed="rId9" cstate="print"/>
            <a:stretch>
              <a:fillRect/>
            </a:stretch>
          </p:blipFill>
          <p:spPr>
            <a:xfrm>
              <a:off x="9871709" y="2631186"/>
              <a:ext cx="86867" cy="86867"/>
            </a:xfrm>
            <a:prstGeom prst="rect">
              <a:avLst/>
            </a:prstGeom>
          </p:spPr>
        </p:pic>
        <p:pic>
          <p:nvPicPr>
            <p:cNvPr id="79" name="object 79"/>
            <p:cNvPicPr/>
            <p:nvPr/>
          </p:nvPicPr>
          <p:blipFill>
            <a:blip r:embed="rId10" cstate="print"/>
            <a:stretch>
              <a:fillRect/>
            </a:stretch>
          </p:blipFill>
          <p:spPr>
            <a:xfrm>
              <a:off x="9520427" y="1923287"/>
              <a:ext cx="208788" cy="233934"/>
            </a:xfrm>
            <a:prstGeom prst="rect">
              <a:avLst/>
            </a:prstGeom>
          </p:spPr>
        </p:pic>
        <p:sp>
          <p:nvSpPr>
            <p:cNvPr id="80" name="object 80"/>
            <p:cNvSpPr/>
            <p:nvPr/>
          </p:nvSpPr>
          <p:spPr>
            <a:xfrm>
              <a:off x="10796015" y="2556509"/>
              <a:ext cx="118110" cy="234315"/>
            </a:xfrm>
            <a:custGeom>
              <a:avLst/>
              <a:gdLst/>
              <a:ahLst/>
              <a:cxnLst/>
              <a:rect l="l" t="t" r="r" b="b"/>
              <a:pathLst>
                <a:path w="118109" h="234314">
                  <a:moveTo>
                    <a:pt x="0" y="233934"/>
                  </a:moveTo>
                  <a:lnTo>
                    <a:pt x="0" y="0"/>
                  </a:lnTo>
                </a:path>
                <a:path w="118109" h="234314">
                  <a:moveTo>
                    <a:pt x="0" y="233934"/>
                  </a:moveTo>
                  <a:lnTo>
                    <a:pt x="118110" y="233934"/>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1" name="object 81"/>
            <p:cNvSpPr/>
            <p:nvPr/>
          </p:nvSpPr>
          <p:spPr>
            <a:xfrm>
              <a:off x="10796015" y="2556509"/>
              <a:ext cx="118110" cy="0"/>
            </a:xfrm>
            <a:custGeom>
              <a:avLst/>
              <a:gdLst/>
              <a:ahLst/>
              <a:cxnLst/>
              <a:rect l="l" t="t" r="r" b="b"/>
              <a:pathLst>
                <a:path w="118109">
                  <a:moveTo>
                    <a:pt x="0" y="0"/>
                  </a:moveTo>
                  <a:lnTo>
                    <a:pt x="11811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2" name="object 82"/>
            <p:cNvSpPr/>
            <p:nvPr/>
          </p:nvSpPr>
          <p:spPr>
            <a:xfrm>
              <a:off x="10914125" y="1493519"/>
              <a:ext cx="0" cy="1064895"/>
            </a:xfrm>
            <a:custGeom>
              <a:avLst/>
              <a:gdLst/>
              <a:ahLst/>
              <a:cxnLst/>
              <a:rect l="l" t="t" r="r" b="b"/>
              <a:pathLst>
                <a:path h="1064895">
                  <a:moveTo>
                    <a:pt x="0" y="1064514"/>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3" name="object 83"/>
            <p:cNvSpPr/>
            <p:nvPr/>
          </p:nvSpPr>
          <p:spPr>
            <a:xfrm>
              <a:off x="10914125" y="2791968"/>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4" name="object 84"/>
            <p:cNvSpPr/>
            <p:nvPr/>
          </p:nvSpPr>
          <p:spPr>
            <a:xfrm>
              <a:off x="10870691" y="2945130"/>
              <a:ext cx="86995" cy="86995"/>
            </a:xfrm>
            <a:custGeom>
              <a:avLst/>
              <a:gdLst/>
              <a:ahLst/>
              <a:cxnLst/>
              <a:rect l="l" t="t" r="r" b="b"/>
              <a:pathLst>
                <a:path w="86995" h="86994">
                  <a:moveTo>
                    <a:pt x="43433" y="0"/>
                  </a:moveTo>
                  <a:lnTo>
                    <a:pt x="26526" y="3412"/>
                  </a:lnTo>
                  <a:lnTo>
                    <a:pt x="12720" y="12720"/>
                  </a:lnTo>
                  <a:lnTo>
                    <a:pt x="3412" y="26526"/>
                  </a:lnTo>
                  <a:lnTo>
                    <a:pt x="0" y="43434"/>
                  </a:lnTo>
                  <a:lnTo>
                    <a:pt x="3412" y="60341"/>
                  </a:lnTo>
                  <a:lnTo>
                    <a:pt x="12720" y="74147"/>
                  </a:lnTo>
                  <a:lnTo>
                    <a:pt x="26526" y="83455"/>
                  </a:lnTo>
                  <a:lnTo>
                    <a:pt x="43433" y="86868"/>
                  </a:lnTo>
                  <a:lnTo>
                    <a:pt x="60341" y="83455"/>
                  </a:lnTo>
                  <a:lnTo>
                    <a:pt x="74147" y="74147"/>
                  </a:lnTo>
                  <a:lnTo>
                    <a:pt x="83455" y="60341"/>
                  </a:lnTo>
                  <a:lnTo>
                    <a:pt x="86867" y="43434"/>
                  </a:lnTo>
                  <a:lnTo>
                    <a:pt x="83455" y="26526"/>
                  </a:lnTo>
                  <a:lnTo>
                    <a:pt x="74147" y="12720"/>
                  </a:lnTo>
                  <a:lnTo>
                    <a:pt x="60341" y="3412"/>
                  </a:lnTo>
                  <a:lnTo>
                    <a:pt x="43433"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85" name="object 85"/>
            <p:cNvPicPr/>
            <p:nvPr/>
          </p:nvPicPr>
          <p:blipFill>
            <a:blip r:embed="rId11" cstate="print"/>
            <a:stretch>
              <a:fillRect/>
            </a:stretch>
          </p:blipFill>
          <p:spPr>
            <a:xfrm>
              <a:off x="10523981" y="2559558"/>
              <a:ext cx="208787" cy="233934"/>
            </a:xfrm>
            <a:prstGeom prst="rect">
              <a:avLst/>
            </a:prstGeom>
          </p:spPr>
        </p:pic>
        <p:sp>
          <p:nvSpPr>
            <p:cNvPr id="86" name="object 86"/>
            <p:cNvSpPr/>
            <p:nvPr/>
          </p:nvSpPr>
          <p:spPr>
            <a:xfrm>
              <a:off x="10192892" y="2209418"/>
              <a:ext cx="254000" cy="231140"/>
            </a:xfrm>
            <a:custGeom>
              <a:avLst/>
              <a:gdLst/>
              <a:ahLst/>
              <a:cxnLst/>
              <a:rect l="l" t="t" r="r" b="b"/>
              <a:pathLst>
                <a:path w="254000" h="231139">
                  <a:moveTo>
                    <a:pt x="0" y="0"/>
                  </a:moveTo>
                  <a:lnTo>
                    <a:pt x="253746" y="230886"/>
                  </a:lnTo>
                </a:path>
              </a:pathLst>
            </a:custGeom>
            <a:ln w="63246">
              <a:solidFill>
                <a:srgbClr val="000000"/>
              </a:solidFill>
              <a:prstDash val="dot"/>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7" name="object 87"/>
            <p:cNvSpPr/>
            <p:nvPr/>
          </p:nvSpPr>
          <p:spPr>
            <a:xfrm>
              <a:off x="9451085" y="2983230"/>
              <a:ext cx="1463040" cy="7620"/>
            </a:xfrm>
            <a:custGeom>
              <a:avLst/>
              <a:gdLst/>
              <a:ahLst/>
              <a:cxnLst/>
              <a:rect l="l" t="t" r="r" b="b"/>
              <a:pathLst>
                <a:path w="1463040" h="7619">
                  <a:moveTo>
                    <a:pt x="0" y="0"/>
                  </a:moveTo>
                  <a:lnTo>
                    <a:pt x="1463040" y="762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88" name="object 88"/>
            <p:cNvPicPr/>
            <p:nvPr/>
          </p:nvPicPr>
          <p:blipFill>
            <a:blip r:embed="rId12" cstate="print"/>
            <a:stretch>
              <a:fillRect/>
            </a:stretch>
          </p:blipFill>
          <p:spPr>
            <a:xfrm>
              <a:off x="9407651" y="2939796"/>
              <a:ext cx="86868" cy="86868"/>
            </a:xfrm>
            <a:prstGeom prst="rect">
              <a:avLst/>
            </a:prstGeom>
          </p:spPr>
        </p:pic>
        <p:sp>
          <p:nvSpPr>
            <p:cNvPr id="89" name="object 89"/>
            <p:cNvSpPr/>
            <p:nvPr/>
          </p:nvSpPr>
          <p:spPr>
            <a:xfrm>
              <a:off x="9451085" y="1485899"/>
              <a:ext cx="1463040" cy="7620"/>
            </a:xfrm>
            <a:custGeom>
              <a:avLst/>
              <a:gdLst/>
              <a:ahLst/>
              <a:cxnLst/>
              <a:rect l="l" t="t" r="r" b="b"/>
              <a:pathLst>
                <a:path w="1463040" h="7619">
                  <a:moveTo>
                    <a:pt x="0" y="0"/>
                  </a:moveTo>
                  <a:lnTo>
                    <a:pt x="1463040" y="762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90" name="object 90"/>
            <p:cNvPicPr/>
            <p:nvPr/>
          </p:nvPicPr>
          <p:blipFill>
            <a:blip r:embed="rId13" cstate="print"/>
            <a:stretch>
              <a:fillRect/>
            </a:stretch>
          </p:blipFill>
          <p:spPr>
            <a:xfrm>
              <a:off x="10870691" y="1450089"/>
              <a:ext cx="86868" cy="86868"/>
            </a:xfrm>
            <a:prstGeom prst="rect">
              <a:avLst/>
            </a:prstGeom>
          </p:spPr>
        </p:pic>
        <p:pic>
          <p:nvPicPr>
            <p:cNvPr id="91" name="object 91"/>
            <p:cNvPicPr/>
            <p:nvPr/>
          </p:nvPicPr>
          <p:blipFill>
            <a:blip r:embed="rId14" cstate="print"/>
            <a:stretch>
              <a:fillRect/>
            </a:stretch>
          </p:blipFill>
          <p:spPr>
            <a:xfrm>
              <a:off x="9407651" y="1442465"/>
              <a:ext cx="86868" cy="86868"/>
            </a:xfrm>
            <a:prstGeom prst="rect">
              <a:avLst/>
            </a:prstGeom>
          </p:spPr>
        </p:pic>
        <p:sp>
          <p:nvSpPr>
            <p:cNvPr id="92" name="object 92"/>
            <p:cNvSpPr/>
            <p:nvPr/>
          </p:nvSpPr>
          <p:spPr>
            <a:xfrm>
              <a:off x="10174985" y="1184909"/>
              <a:ext cx="0" cy="300990"/>
            </a:xfrm>
            <a:custGeom>
              <a:avLst/>
              <a:gdLst/>
              <a:ahLst/>
              <a:cxnLst/>
              <a:rect l="l" t="t" r="r" b="b"/>
              <a:pathLst>
                <a:path h="300990">
                  <a:moveTo>
                    <a:pt x="0" y="0"/>
                  </a:moveTo>
                  <a:lnTo>
                    <a:pt x="0" y="30099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93" name="object 93"/>
            <p:cNvPicPr/>
            <p:nvPr/>
          </p:nvPicPr>
          <p:blipFill>
            <a:blip r:embed="rId15" cstate="print"/>
            <a:stretch>
              <a:fillRect/>
            </a:stretch>
          </p:blipFill>
          <p:spPr>
            <a:xfrm>
              <a:off x="10131546" y="1442465"/>
              <a:ext cx="86867" cy="86867"/>
            </a:xfrm>
            <a:prstGeom prst="rect">
              <a:avLst/>
            </a:prstGeom>
          </p:spPr>
        </p:pic>
        <p:pic>
          <p:nvPicPr>
            <p:cNvPr id="94" name="object 94"/>
            <p:cNvPicPr/>
            <p:nvPr/>
          </p:nvPicPr>
          <p:blipFill>
            <a:blip r:embed="rId14" cstate="print"/>
            <a:stretch>
              <a:fillRect/>
            </a:stretch>
          </p:blipFill>
          <p:spPr>
            <a:xfrm>
              <a:off x="10131551" y="1141475"/>
              <a:ext cx="86867" cy="86867"/>
            </a:xfrm>
            <a:prstGeom prst="rect">
              <a:avLst/>
            </a:prstGeom>
          </p:spPr>
        </p:pic>
        <p:sp>
          <p:nvSpPr>
            <p:cNvPr id="95" name="object 95"/>
            <p:cNvSpPr/>
            <p:nvPr/>
          </p:nvSpPr>
          <p:spPr>
            <a:xfrm>
              <a:off x="6980681" y="2426208"/>
              <a:ext cx="621030" cy="478155"/>
            </a:xfrm>
            <a:custGeom>
              <a:avLst/>
              <a:gdLst/>
              <a:ahLst/>
              <a:cxnLst/>
              <a:rect l="l" t="t" r="r" b="b"/>
              <a:pathLst>
                <a:path w="621029" h="478155">
                  <a:moveTo>
                    <a:pt x="621029" y="0"/>
                  </a:moveTo>
                  <a:lnTo>
                    <a:pt x="621029" y="477773"/>
                  </a:lnTo>
                  <a:lnTo>
                    <a:pt x="124205" y="477773"/>
                  </a:lnTo>
                  <a:lnTo>
                    <a:pt x="0" y="238886"/>
                  </a:lnTo>
                  <a:lnTo>
                    <a:pt x="124205" y="0"/>
                  </a:lnTo>
                  <a:lnTo>
                    <a:pt x="621029" y="0"/>
                  </a:lnTo>
                  <a:close/>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96" name="object 96"/>
          <p:cNvSpPr txBox="1"/>
          <p:nvPr/>
        </p:nvSpPr>
        <p:spPr>
          <a:xfrm>
            <a:off x="8831673" y="2337985"/>
            <a:ext cx="278390" cy="155270"/>
          </a:xfrm>
          <a:prstGeom prst="rect">
            <a:avLst/>
          </a:prstGeom>
        </p:spPr>
        <p:txBody>
          <a:bodyPr vert="horz" wrap="square" lIns="0" tIns="8226" rIns="0" bIns="0" rtlCol="0">
            <a:spAutoFit/>
          </a:bodyPr>
          <a:lstStyle/>
          <a:p>
            <a:pPr marL="8659" marR="0" lvl="0" indent="0" algn="l" defTabSz="914400" rtl="0" eaLnBrk="1" fontAlgn="auto" latinLnBrk="0" hangingPunct="1">
              <a:lnSpc>
                <a:spcPct val="100000"/>
              </a:lnSpc>
              <a:spcBef>
                <a:spcPts val="65"/>
              </a:spcBef>
              <a:spcAft>
                <a:spcPts val="0"/>
              </a:spcAft>
              <a:buClrTx/>
              <a:buSzTx/>
              <a:buFontTx/>
              <a:buNone/>
              <a:tabLst/>
              <a:defRPr/>
            </a:pPr>
            <a:r>
              <a:rPr kumimoji="0" sz="955" b="0" i="0" u="none" strike="noStrike" kern="1200" cap="none" spc="-17" normalizeH="0" baseline="0" noProof="0" dirty="0">
                <a:ln>
                  <a:noFill/>
                </a:ln>
                <a:solidFill>
                  <a:prstClr val="black"/>
                </a:solidFill>
                <a:effectLst/>
                <a:uLnTx/>
                <a:uFillTx/>
                <a:latin typeface="Verdana"/>
                <a:ea typeface="+mn-ea"/>
                <a:cs typeface="Verdana"/>
              </a:rPr>
              <a:t>ADC</a:t>
            </a:r>
            <a:endParaRPr kumimoji="0" sz="955" b="0" i="0" u="none" strike="noStrike" kern="1200" cap="none" spc="0" normalizeH="0" baseline="0" noProof="0">
              <a:ln>
                <a:noFill/>
              </a:ln>
              <a:solidFill>
                <a:prstClr val="black"/>
              </a:solidFill>
              <a:effectLst/>
              <a:uLnTx/>
              <a:uFillTx/>
              <a:latin typeface="Verdana"/>
              <a:ea typeface="+mn-ea"/>
              <a:cs typeface="Verdana"/>
            </a:endParaRPr>
          </a:p>
        </p:txBody>
      </p:sp>
      <p:grpSp>
        <p:nvGrpSpPr>
          <p:cNvPr id="97" name="object 97"/>
          <p:cNvGrpSpPr/>
          <p:nvPr/>
        </p:nvGrpSpPr>
        <p:grpSpPr>
          <a:xfrm>
            <a:off x="8557580" y="2422814"/>
            <a:ext cx="2012806" cy="1214004"/>
            <a:chOff x="6758051" y="2658491"/>
            <a:chExt cx="2952115" cy="1780539"/>
          </a:xfrm>
        </p:grpSpPr>
        <p:sp>
          <p:nvSpPr>
            <p:cNvPr id="98" name="object 98"/>
            <p:cNvSpPr/>
            <p:nvPr/>
          </p:nvSpPr>
          <p:spPr>
            <a:xfrm>
              <a:off x="6772656" y="2673096"/>
              <a:ext cx="215900" cy="1270"/>
            </a:xfrm>
            <a:custGeom>
              <a:avLst/>
              <a:gdLst/>
              <a:ahLst/>
              <a:cxnLst/>
              <a:rect l="l" t="t" r="r" b="b"/>
              <a:pathLst>
                <a:path w="215900" h="1269">
                  <a:moveTo>
                    <a:pt x="0" y="762"/>
                  </a:moveTo>
                  <a:lnTo>
                    <a:pt x="215646"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99" name="object 99"/>
            <p:cNvSpPr/>
            <p:nvPr/>
          </p:nvSpPr>
          <p:spPr>
            <a:xfrm>
              <a:off x="9460230" y="4181094"/>
              <a:ext cx="0" cy="243204"/>
            </a:xfrm>
            <a:custGeom>
              <a:avLst/>
              <a:gdLst/>
              <a:ahLst/>
              <a:cxnLst/>
              <a:rect l="l" t="t" r="r" b="b"/>
              <a:pathLst>
                <a:path h="243204">
                  <a:moveTo>
                    <a:pt x="0" y="0"/>
                  </a:moveTo>
                  <a:lnTo>
                    <a:pt x="0" y="243077"/>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0" name="object 100"/>
            <p:cNvSpPr/>
            <p:nvPr/>
          </p:nvSpPr>
          <p:spPr>
            <a:xfrm>
              <a:off x="9416796" y="4137660"/>
              <a:ext cx="86995" cy="86995"/>
            </a:xfrm>
            <a:custGeom>
              <a:avLst/>
              <a:gdLst/>
              <a:ahLst/>
              <a:cxnLst/>
              <a:rect l="l" t="t" r="r" b="b"/>
              <a:pathLst>
                <a:path w="86995" h="86995">
                  <a:moveTo>
                    <a:pt x="43433" y="0"/>
                  </a:moveTo>
                  <a:lnTo>
                    <a:pt x="26526" y="3412"/>
                  </a:lnTo>
                  <a:lnTo>
                    <a:pt x="12720" y="12720"/>
                  </a:lnTo>
                  <a:lnTo>
                    <a:pt x="3412" y="26526"/>
                  </a:lnTo>
                  <a:lnTo>
                    <a:pt x="0" y="43434"/>
                  </a:lnTo>
                  <a:lnTo>
                    <a:pt x="3412" y="60341"/>
                  </a:lnTo>
                  <a:lnTo>
                    <a:pt x="12720" y="74147"/>
                  </a:lnTo>
                  <a:lnTo>
                    <a:pt x="26526" y="83455"/>
                  </a:lnTo>
                  <a:lnTo>
                    <a:pt x="43433" y="86868"/>
                  </a:lnTo>
                  <a:lnTo>
                    <a:pt x="60341" y="83455"/>
                  </a:lnTo>
                  <a:lnTo>
                    <a:pt x="74147" y="74147"/>
                  </a:lnTo>
                  <a:lnTo>
                    <a:pt x="83455" y="60341"/>
                  </a:lnTo>
                  <a:lnTo>
                    <a:pt x="86867" y="43434"/>
                  </a:lnTo>
                  <a:lnTo>
                    <a:pt x="83455" y="26526"/>
                  </a:lnTo>
                  <a:lnTo>
                    <a:pt x="74147" y="12720"/>
                  </a:lnTo>
                  <a:lnTo>
                    <a:pt x="60341" y="3412"/>
                  </a:lnTo>
                  <a:lnTo>
                    <a:pt x="43433"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1" name="object 101"/>
            <p:cNvSpPr/>
            <p:nvPr/>
          </p:nvSpPr>
          <p:spPr>
            <a:xfrm>
              <a:off x="9350502" y="4058412"/>
              <a:ext cx="108585" cy="45720"/>
            </a:xfrm>
            <a:custGeom>
              <a:avLst/>
              <a:gdLst/>
              <a:ahLst/>
              <a:cxnLst/>
              <a:rect l="l" t="t" r="r" b="b"/>
              <a:pathLst>
                <a:path w="108584" h="45720">
                  <a:moveTo>
                    <a:pt x="108203" y="45719"/>
                  </a:moveTo>
                  <a:lnTo>
                    <a:pt x="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2" name="object 102"/>
            <p:cNvSpPr/>
            <p:nvPr/>
          </p:nvSpPr>
          <p:spPr>
            <a:xfrm>
              <a:off x="9350502" y="4012691"/>
              <a:ext cx="215900" cy="47625"/>
            </a:xfrm>
            <a:custGeom>
              <a:avLst/>
              <a:gdLst/>
              <a:ahLst/>
              <a:cxnLst/>
              <a:rect l="l" t="t" r="r" b="b"/>
              <a:pathLst>
                <a:path w="215900" h="47625">
                  <a:moveTo>
                    <a:pt x="0" y="47243"/>
                  </a:moveTo>
                  <a:lnTo>
                    <a:pt x="21564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3" name="object 103"/>
            <p:cNvSpPr/>
            <p:nvPr/>
          </p:nvSpPr>
          <p:spPr>
            <a:xfrm>
              <a:off x="9350502" y="3969258"/>
              <a:ext cx="215900" cy="43815"/>
            </a:xfrm>
            <a:custGeom>
              <a:avLst/>
              <a:gdLst/>
              <a:ahLst/>
              <a:cxnLst/>
              <a:rect l="l" t="t" r="r" b="b"/>
              <a:pathLst>
                <a:path w="215900" h="43814">
                  <a:moveTo>
                    <a:pt x="215646" y="43433"/>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4" name="object 104"/>
            <p:cNvSpPr/>
            <p:nvPr/>
          </p:nvSpPr>
          <p:spPr>
            <a:xfrm>
              <a:off x="9352026" y="3920490"/>
              <a:ext cx="216535" cy="50800"/>
            </a:xfrm>
            <a:custGeom>
              <a:avLst/>
              <a:gdLst/>
              <a:ahLst/>
              <a:cxnLst/>
              <a:rect l="l" t="t" r="r" b="b"/>
              <a:pathLst>
                <a:path w="216534" h="50800">
                  <a:moveTo>
                    <a:pt x="0" y="50292"/>
                  </a:moveTo>
                  <a:lnTo>
                    <a:pt x="216408"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5" name="object 105"/>
            <p:cNvSpPr/>
            <p:nvPr/>
          </p:nvSpPr>
          <p:spPr>
            <a:xfrm>
              <a:off x="9352026" y="3875532"/>
              <a:ext cx="216535" cy="45085"/>
            </a:xfrm>
            <a:custGeom>
              <a:avLst/>
              <a:gdLst/>
              <a:ahLst/>
              <a:cxnLst/>
              <a:rect l="l" t="t" r="r" b="b"/>
              <a:pathLst>
                <a:path w="216534" h="45085">
                  <a:moveTo>
                    <a:pt x="216407" y="44958"/>
                  </a:moveTo>
                  <a:lnTo>
                    <a:pt x="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6" name="object 106"/>
            <p:cNvSpPr/>
            <p:nvPr/>
          </p:nvSpPr>
          <p:spPr>
            <a:xfrm>
              <a:off x="9350502" y="3828288"/>
              <a:ext cx="215900" cy="47625"/>
            </a:xfrm>
            <a:custGeom>
              <a:avLst/>
              <a:gdLst/>
              <a:ahLst/>
              <a:cxnLst/>
              <a:rect l="l" t="t" r="r" b="b"/>
              <a:pathLst>
                <a:path w="215900" h="47625">
                  <a:moveTo>
                    <a:pt x="0" y="47243"/>
                  </a:moveTo>
                  <a:lnTo>
                    <a:pt x="21564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7" name="object 107"/>
            <p:cNvSpPr/>
            <p:nvPr/>
          </p:nvSpPr>
          <p:spPr>
            <a:xfrm>
              <a:off x="9458705" y="3782568"/>
              <a:ext cx="107950" cy="45720"/>
            </a:xfrm>
            <a:custGeom>
              <a:avLst/>
              <a:gdLst/>
              <a:ahLst/>
              <a:cxnLst/>
              <a:rect l="l" t="t" r="r" b="b"/>
              <a:pathLst>
                <a:path w="107950" h="45720">
                  <a:moveTo>
                    <a:pt x="107442" y="45719"/>
                  </a:moveTo>
                  <a:lnTo>
                    <a:pt x="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8" name="object 108"/>
            <p:cNvSpPr/>
            <p:nvPr/>
          </p:nvSpPr>
          <p:spPr>
            <a:xfrm>
              <a:off x="9460230" y="3691890"/>
              <a:ext cx="0" cy="92710"/>
            </a:xfrm>
            <a:custGeom>
              <a:avLst/>
              <a:gdLst/>
              <a:ahLst/>
              <a:cxnLst/>
              <a:rect l="l" t="t" r="r" b="b"/>
              <a:pathLst>
                <a:path h="92710">
                  <a:moveTo>
                    <a:pt x="0" y="92201"/>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9" name="object 109"/>
            <p:cNvSpPr/>
            <p:nvPr/>
          </p:nvSpPr>
          <p:spPr>
            <a:xfrm>
              <a:off x="9416801" y="3648455"/>
              <a:ext cx="86995" cy="86995"/>
            </a:xfrm>
            <a:custGeom>
              <a:avLst/>
              <a:gdLst/>
              <a:ahLst/>
              <a:cxnLst/>
              <a:rect l="l" t="t" r="r" b="b"/>
              <a:pathLst>
                <a:path w="86995" h="86995">
                  <a:moveTo>
                    <a:pt x="43421" y="0"/>
                  </a:moveTo>
                  <a:lnTo>
                    <a:pt x="26521" y="3412"/>
                  </a:lnTo>
                  <a:lnTo>
                    <a:pt x="12719" y="12720"/>
                  </a:lnTo>
                  <a:lnTo>
                    <a:pt x="3412" y="26526"/>
                  </a:lnTo>
                  <a:lnTo>
                    <a:pt x="0" y="43434"/>
                  </a:lnTo>
                  <a:lnTo>
                    <a:pt x="3412" y="60341"/>
                  </a:lnTo>
                  <a:lnTo>
                    <a:pt x="12720" y="74147"/>
                  </a:lnTo>
                  <a:lnTo>
                    <a:pt x="26526" y="83455"/>
                  </a:lnTo>
                  <a:lnTo>
                    <a:pt x="43433" y="86868"/>
                  </a:lnTo>
                  <a:lnTo>
                    <a:pt x="60341" y="83453"/>
                  </a:lnTo>
                  <a:lnTo>
                    <a:pt x="74147" y="74142"/>
                  </a:lnTo>
                  <a:lnTo>
                    <a:pt x="83455" y="60336"/>
                  </a:lnTo>
                  <a:lnTo>
                    <a:pt x="86867" y="43434"/>
                  </a:lnTo>
                  <a:lnTo>
                    <a:pt x="83453" y="26526"/>
                  </a:lnTo>
                  <a:lnTo>
                    <a:pt x="74141" y="12720"/>
                  </a:lnTo>
                  <a:lnTo>
                    <a:pt x="60330" y="3412"/>
                  </a:lnTo>
                  <a:lnTo>
                    <a:pt x="43421"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0" name="object 110"/>
            <p:cNvSpPr/>
            <p:nvPr/>
          </p:nvSpPr>
          <p:spPr>
            <a:xfrm>
              <a:off x="9460230" y="4106418"/>
              <a:ext cx="0" cy="91440"/>
            </a:xfrm>
            <a:custGeom>
              <a:avLst/>
              <a:gdLst/>
              <a:ahLst/>
              <a:cxnLst/>
              <a:rect l="l" t="t" r="r" b="b"/>
              <a:pathLst>
                <a:path h="91439">
                  <a:moveTo>
                    <a:pt x="0" y="91439"/>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1" name="object 111"/>
            <p:cNvSpPr/>
            <p:nvPr/>
          </p:nvSpPr>
          <p:spPr>
            <a:xfrm>
              <a:off x="9287636" y="3813987"/>
              <a:ext cx="412750" cy="275590"/>
            </a:xfrm>
            <a:custGeom>
              <a:avLst/>
              <a:gdLst/>
              <a:ahLst/>
              <a:cxnLst/>
              <a:rect l="l" t="t" r="r" b="b"/>
              <a:pathLst>
                <a:path w="412750" h="275589">
                  <a:moveTo>
                    <a:pt x="0" y="275285"/>
                  </a:moveTo>
                  <a:lnTo>
                    <a:pt x="412559" y="0"/>
                  </a:lnTo>
                </a:path>
              </a:pathLst>
            </a:custGeom>
            <a:ln w="1905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2" name="object 112"/>
            <p:cNvSpPr/>
            <p:nvPr/>
          </p:nvSpPr>
          <p:spPr>
            <a:xfrm>
              <a:off x="9612132" y="3813989"/>
              <a:ext cx="88265" cy="79375"/>
            </a:xfrm>
            <a:custGeom>
              <a:avLst/>
              <a:gdLst/>
              <a:ahLst/>
              <a:cxnLst/>
              <a:rect l="l" t="t" r="r" b="b"/>
              <a:pathLst>
                <a:path w="88265" h="79375">
                  <a:moveTo>
                    <a:pt x="49352" y="79273"/>
                  </a:moveTo>
                  <a:lnTo>
                    <a:pt x="88061" y="0"/>
                  </a:lnTo>
                  <a:lnTo>
                    <a:pt x="0" y="5321"/>
                  </a:lnTo>
                </a:path>
              </a:pathLst>
            </a:custGeom>
            <a:ln w="1905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3" name="object 113"/>
          <p:cNvGrpSpPr/>
          <p:nvPr/>
        </p:nvGrpSpPr>
        <p:grpSpPr>
          <a:xfrm>
            <a:off x="2679412" y="3054676"/>
            <a:ext cx="294841" cy="520411"/>
            <a:chOff x="4149090" y="3620261"/>
            <a:chExt cx="432434" cy="763270"/>
          </a:xfrm>
        </p:grpSpPr>
        <p:sp>
          <p:nvSpPr>
            <p:cNvPr id="114" name="object 114"/>
            <p:cNvSpPr/>
            <p:nvPr/>
          </p:nvSpPr>
          <p:spPr>
            <a:xfrm>
              <a:off x="4331970" y="4139945"/>
              <a:ext cx="0" cy="243204"/>
            </a:xfrm>
            <a:custGeom>
              <a:avLst/>
              <a:gdLst/>
              <a:ahLst/>
              <a:cxnLst/>
              <a:rect l="l" t="t" r="r" b="b"/>
              <a:pathLst>
                <a:path h="243204">
                  <a:moveTo>
                    <a:pt x="0" y="0"/>
                  </a:moveTo>
                  <a:lnTo>
                    <a:pt x="0" y="243077"/>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5" name="object 115"/>
            <p:cNvSpPr/>
            <p:nvPr/>
          </p:nvSpPr>
          <p:spPr>
            <a:xfrm>
              <a:off x="4222242" y="4030217"/>
              <a:ext cx="107950" cy="46990"/>
            </a:xfrm>
            <a:custGeom>
              <a:avLst/>
              <a:gdLst/>
              <a:ahLst/>
              <a:cxnLst/>
              <a:rect l="l" t="t" r="r" b="b"/>
              <a:pathLst>
                <a:path w="107950" h="46989">
                  <a:moveTo>
                    <a:pt x="107441" y="46481"/>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6" name="object 116"/>
            <p:cNvSpPr/>
            <p:nvPr/>
          </p:nvSpPr>
          <p:spPr>
            <a:xfrm>
              <a:off x="4222242" y="3984497"/>
              <a:ext cx="215900" cy="48260"/>
            </a:xfrm>
            <a:custGeom>
              <a:avLst/>
              <a:gdLst/>
              <a:ahLst/>
              <a:cxnLst/>
              <a:rect l="l" t="t" r="r" b="b"/>
              <a:pathLst>
                <a:path w="215900" h="48260">
                  <a:moveTo>
                    <a:pt x="0" y="48006"/>
                  </a:moveTo>
                  <a:lnTo>
                    <a:pt x="215646"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7" name="object 117"/>
            <p:cNvSpPr/>
            <p:nvPr/>
          </p:nvSpPr>
          <p:spPr>
            <a:xfrm>
              <a:off x="4222242" y="3941825"/>
              <a:ext cx="215900" cy="43180"/>
            </a:xfrm>
            <a:custGeom>
              <a:avLst/>
              <a:gdLst/>
              <a:ahLst/>
              <a:cxnLst/>
              <a:rect l="l" t="t" r="r" b="b"/>
              <a:pathLst>
                <a:path w="215900" h="43179">
                  <a:moveTo>
                    <a:pt x="215646" y="42672"/>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8" name="object 118"/>
            <p:cNvSpPr/>
            <p:nvPr/>
          </p:nvSpPr>
          <p:spPr>
            <a:xfrm>
              <a:off x="4223766" y="3892295"/>
              <a:ext cx="215900" cy="51435"/>
            </a:xfrm>
            <a:custGeom>
              <a:avLst/>
              <a:gdLst/>
              <a:ahLst/>
              <a:cxnLst/>
              <a:rect l="l" t="t" r="r" b="b"/>
              <a:pathLst>
                <a:path w="215900" h="51435">
                  <a:moveTo>
                    <a:pt x="0" y="51053"/>
                  </a:moveTo>
                  <a:lnTo>
                    <a:pt x="21564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9" name="object 119"/>
            <p:cNvSpPr/>
            <p:nvPr/>
          </p:nvSpPr>
          <p:spPr>
            <a:xfrm>
              <a:off x="4223766" y="3848099"/>
              <a:ext cx="215900" cy="44450"/>
            </a:xfrm>
            <a:custGeom>
              <a:avLst/>
              <a:gdLst/>
              <a:ahLst/>
              <a:cxnLst/>
              <a:rect l="l" t="t" r="r" b="b"/>
              <a:pathLst>
                <a:path w="215900" h="44450">
                  <a:moveTo>
                    <a:pt x="215646" y="44195"/>
                  </a:moveTo>
                  <a:lnTo>
                    <a:pt x="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0" name="object 120"/>
            <p:cNvSpPr/>
            <p:nvPr/>
          </p:nvSpPr>
          <p:spPr>
            <a:xfrm>
              <a:off x="4222242" y="3800093"/>
              <a:ext cx="215900" cy="48260"/>
            </a:xfrm>
            <a:custGeom>
              <a:avLst/>
              <a:gdLst/>
              <a:ahLst/>
              <a:cxnLst/>
              <a:rect l="l" t="t" r="r" b="b"/>
              <a:pathLst>
                <a:path w="215900" h="48260">
                  <a:moveTo>
                    <a:pt x="0" y="48005"/>
                  </a:moveTo>
                  <a:lnTo>
                    <a:pt x="215646"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1" name="object 121"/>
            <p:cNvSpPr/>
            <p:nvPr/>
          </p:nvSpPr>
          <p:spPr>
            <a:xfrm>
              <a:off x="4329684" y="3754373"/>
              <a:ext cx="108585" cy="45720"/>
            </a:xfrm>
            <a:custGeom>
              <a:avLst/>
              <a:gdLst/>
              <a:ahLst/>
              <a:cxnLst/>
              <a:rect l="l" t="t" r="r" b="b"/>
              <a:pathLst>
                <a:path w="108585" h="45720">
                  <a:moveTo>
                    <a:pt x="108203" y="45719"/>
                  </a:moveTo>
                  <a:lnTo>
                    <a:pt x="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2" name="object 122"/>
            <p:cNvSpPr/>
            <p:nvPr/>
          </p:nvSpPr>
          <p:spPr>
            <a:xfrm>
              <a:off x="4331208" y="3663695"/>
              <a:ext cx="0" cy="92710"/>
            </a:xfrm>
            <a:custGeom>
              <a:avLst/>
              <a:gdLst/>
              <a:ahLst/>
              <a:cxnLst/>
              <a:rect l="l" t="t" r="r" b="b"/>
              <a:pathLst>
                <a:path h="92710">
                  <a:moveTo>
                    <a:pt x="0" y="92201"/>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3" name="object 123"/>
            <p:cNvSpPr/>
            <p:nvPr/>
          </p:nvSpPr>
          <p:spPr>
            <a:xfrm>
              <a:off x="4287779" y="3620261"/>
              <a:ext cx="86995" cy="86995"/>
            </a:xfrm>
            <a:custGeom>
              <a:avLst/>
              <a:gdLst/>
              <a:ahLst/>
              <a:cxnLst/>
              <a:rect l="l" t="t" r="r" b="b"/>
              <a:pathLst>
                <a:path w="86995" h="86995">
                  <a:moveTo>
                    <a:pt x="43421" y="0"/>
                  </a:moveTo>
                  <a:lnTo>
                    <a:pt x="26519" y="3412"/>
                  </a:lnTo>
                  <a:lnTo>
                    <a:pt x="12714" y="12720"/>
                  </a:lnTo>
                  <a:lnTo>
                    <a:pt x="3407" y="26526"/>
                  </a:lnTo>
                  <a:lnTo>
                    <a:pt x="0" y="43434"/>
                  </a:lnTo>
                  <a:lnTo>
                    <a:pt x="3412" y="60341"/>
                  </a:lnTo>
                  <a:lnTo>
                    <a:pt x="12720" y="74147"/>
                  </a:lnTo>
                  <a:lnTo>
                    <a:pt x="26526" y="83455"/>
                  </a:lnTo>
                  <a:lnTo>
                    <a:pt x="43434" y="86868"/>
                  </a:lnTo>
                  <a:lnTo>
                    <a:pt x="60341" y="83453"/>
                  </a:lnTo>
                  <a:lnTo>
                    <a:pt x="74147" y="74142"/>
                  </a:lnTo>
                  <a:lnTo>
                    <a:pt x="83455" y="60336"/>
                  </a:lnTo>
                  <a:lnTo>
                    <a:pt x="86868" y="43434"/>
                  </a:lnTo>
                  <a:lnTo>
                    <a:pt x="83447" y="26526"/>
                  </a:lnTo>
                  <a:lnTo>
                    <a:pt x="74136" y="12720"/>
                  </a:lnTo>
                  <a:lnTo>
                    <a:pt x="60328" y="3412"/>
                  </a:lnTo>
                  <a:lnTo>
                    <a:pt x="43421"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4" name="object 124"/>
            <p:cNvSpPr/>
            <p:nvPr/>
          </p:nvSpPr>
          <p:spPr>
            <a:xfrm>
              <a:off x="4331208" y="4078223"/>
              <a:ext cx="0" cy="92710"/>
            </a:xfrm>
            <a:custGeom>
              <a:avLst/>
              <a:gdLst/>
              <a:ahLst/>
              <a:cxnLst/>
              <a:rect l="l" t="t" r="r" b="b"/>
              <a:pathLst>
                <a:path h="92710">
                  <a:moveTo>
                    <a:pt x="0" y="92201"/>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5" name="object 125"/>
            <p:cNvSpPr/>
            <p:nvPr/>
          </p:nvSpPr>
          <p:spPr>
            <a:xfrm>
              <a:off x="4287774" y="4126991"/>
              <a:ext cx="86995" cy="86995"/>
            </a:xfrm>
            <a:custGeom>
              <a:avLst/>
              <a:gdLst/>
              <a:ahLst/>
              <a:cxnLst/>
              <a:rect l="l" t="t" r="r" b="b"/>
              <a:pathLst>
                <a:path w="86995" h="86995">
                  <a:moveTo>
                    <a:pt x="43434" y="0"/>
                  </a:moveTo>
                  <a:lnTo>
                    <a:pt x="26526" y="3412"/>
                  </a:lnTo>
                  <a:lnTo>
                    <a:pt x="12720" y="12720"/>
                  </a:lnTo>
                  <a:lnTo>
                    <a:pt x="3412" y="26526"/>
                  </a:lnTo>
                  <a:lnTo>
                    <a:pt x="0" y="43433"/>
                  </a:lnTo>
                  <a:lnTo>
                    <a:pt x="3412" y="60341"/>
                  </a:lnTo>
                  <a:lnTo>
                    <a:pt x="12720" y="74147"/>
                  </a:lnTo>
                  <a:lnTo>
                    <a:pt x="26526" y="83455"/>
                  </a:lnTo>
                  <a:lnTo>
                    <a:pt x="43434" y="86867"/>
                  </a:lnTo>
                  <a:lnTo>
                    <a:pt x="60341" y="83455"/>
                  </a:lnTo>
                  <a:lnTo>
                    <a:pt x="74147" y="74147"/>
                  </a:lnTo>
                  <a:lnTo>
                    <a:pt x="83455" y="60341"/>
                  </a:lnTo>
                  <a:lnTo>
                    <a:pt x="86868" y="43433"/>
                  </a:lnTo>
                  <a:lnTo>
                    <a:pt x="83455" y="26526"/>
                  </a:lnTo>
                  <a:lnTo>
                    <a:pt x="74147" y="12720"/>
                  </a:lnTo>
                  <a:lnTo>
                    <a:pt x="60341" y="3412"/>
                  </a:lnTo>
                  <a:lnTo>
                    <a:pt x="43434"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6" name="object 126"/>
            <p:cNvSpPr/>
            <p:nvPr/>
          </p:nvSpPr>
          <p:spPr>
            <a:xfrm>
              <a:off x="4158615" y="3785781"/>
              <a:ext cx="413384" cy="275590"/>
            </a:xfrm>
            <a:custGeom>
              <a:avLst/>
              <a:gdLst/>
              <a:ahLst/>
              <a:cxnLst/>
              <a:rect l="l" t="t" r="r" b="b"/>
              <a:pathLst>
                <a:path w="413385" h="275589">
                  <a:moveTo>
                    <a:pt x="0" y="275297"/>
                  </a:moveTo>
                  <a:lnTo>
                    <a:pt x="413308" y="0"/>
                  </a:lnTo>
                </a:path>
              </a:pathLst>
            </a:custGeom>
            <a:ln w="1905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7" name="object 127"/>
            <p:cNvSpPr/>
            <p:nvPr/>
          </p:nvSpPr>
          <p:spPr>
            <a:xfrm>
              <a:off x="4483862" y="3785787"/>
              <a:ext cx="88265" cy="79375"/>
            </a:xfrm>
            <a:custGeom>
              <a:avLst/>
              <a:gdLst/>
              <a:ahLst/>
              <a:cxnLst/>
              <a:rect l="l" t="t" r="r" b="b"/>
              <a:pathLst>
                <a:path w="88264" h="79375">
                  <a:moveTo>
                    <a:pt x="49288" y="79235"/>
                  </a:moveTo>
                  <a:lnTo>
                    <a:pt x="88061" y="0"/>
                  </a:lnTo>
                  <a:lnTo>
                    <a:pt x="0" y="5245"/>
                  </a:lnTo>
                </a:path>
              </a:pathLst>
            </a:custGeom>
            <a:ln w="1905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128" name="object 128"/>
          <p:cNvSpPr txBox="1"/>
          <p:nvPr/>
        </p:nvSpPr>
        <p:spPr>
          <a:xfrm>
            <a:off x="2270906" y="2109334"/>
            <a:ext cx="223405" cy="197578"/>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17" normalizeH="0" baseline="0" noProof="0" dirty="0">
                <a:ln>
                  <a:noFill/>
                </a:ln>
                <a:solidFill>
                  <a:prstClr val="black"/>
                </a:solidFill>
                <a:effectLst/>
                <a:uLnTx/>
                <a:uFillTx/>
                <a:latin typeface="Verdana"/>
                <a:ea typeface="+mn-ea"/>
                <a:cs typeface="Verdana"/>
              </a:rPr>
              <a:t>V</a:t>
            </a:r>
            <a:r>
              <a:rPr kumimoji="0" sz="1227" b="0" i="0" u="none" strike="noStrike" kern="1200" cap="none" spc="-25" normalizeH="0" baseline="-20833" noProof="0" dirty="0">
                <a:ln>
                  <a:noFill/>
                </a:ln>
                <a:solidFill>
                  <a:prstClr val="black"/>
                </a:solidFill>
                <a:effectLst/>
                <a:uLnTx/>
                <a:uFillTx/>
                <a:latin typeface="Verdana"/>
                <a:ea typeface="+mn-ea"/>
                <a:cs typeface="Verdana"/>
              </a:rPr>
              <a:t>g</a:t>
            </a:r>
            <a:endParaRPr kumimoji="0" sz="1227" b="0" i="0" u="none" strike="noStrike" kern="1200" cap="none" spc="0" normalizeH="0" baseline="-20833" noProof="0">
              <a:ln>
                <a:noFill/>
              </a:ln>
              <a:solidFill>
                <a:prstClr val="black"/>
              </a:solidFill>
              <a:effectLst/>
              <a:uLnTx/>
              <a:uFillTx/>
              <a:latin typeface="Verdana"/>
              <a:ea typeface="+mn-ea"/>
              <a:cs typeface="Verdana"/>
            </a:endParaRPr>
          </a:p>
        </p:txBody>
      </p:sp>
      <p:sp>
        <p:nvSpPr>
          <p:cNvPr id="129" name="object 129"/>
          <p:cNvSpPr txBox="1"/>
          <p:nvPr/>
        </p:nvSpPr>
        <p:spPr>
          <a:xfrm>
            <a:off x="892844" y="2081883"/>
            <a:ext cx="124258" cy="197578"/>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34" normalizeH="0" baseline="0" noProof="0" dirty="0">
                <a:ln>
                  <a:noFill/>
                </a:ln>
                <a:solidFill>
                  <a:prstClr val="black"/>
                </a:solidFill>
                <a:effectLst/>
                <a:uLnTx/>
                <a:uFillTx/>
                <a:latin typeface="Verdana"/>
                <a:ea typeface="+mn-ea"/>
                <a:cs typeface="Verdana"/>
              </a:rPr>
              <a:t>V</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130" name="object 130"/>
          <p:cNvSpPr txBox="1"/>
          <p:nvPr/>
        </p:nvSpPr>
        <p:spPr>
          <a:xfrm>
            <a:off x="999350" y="2172284"/>
            <a:ext cx="160193" cy="134612"/>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818" b="0" i="0" u="none" strike="noStrike" kern="1200" cap="none" spc="-17" normalizeH="0" baseline="0" noProof="0" dirty="0">
                <a:ln>
                  <a:noFill/>
                </a:ln>
                <a:solidFill>
                  <a:prstClr val="black"/>
                </a:solidFill>
                <a:effectLst/>
                <a:uLnTx/>
                <a:uFillTx/>
                <a:latin typeface="Verdana"/>
                <a:ea typeface="+mn-ea"/>
                <a:cs typeface="Verdana"/>
              </a:rPr>
              <a:t>ref</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sp>
        <p:nvSpPr>
          <p:cNvPr id="131" name="object 131"/>
          <p:cNvSpPr txBox="1"/>
          <p:nvPr/>
        </p:nvSpPr>
        <p:spPr>
          <a:xfrm>
            <a:off x="2900749" y="3310005"/>
            <a:ext cx="379268"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10" normalizeH="0" baseline="13888" noProof="0" dirty="0">
                <a:ln>
                  <a:noFill/>
                </a:ln>
                <a:solidFill>
                  <a:prstClr val="black"/>
                </a:solidFill>
                <a:effectLst/>
                <a:uLnTx/>
                <a:uFillTx/>
                <a:latin typeface="Verdana"/>
                <a:ea typeface="+mn-ea"/>
                <a:cs typeface="Verdana"/>
              </a:rPr>
              <a:t>R</a:t>
            </a:r>
            <a:r>
              <a:rPr kumimoji="0" sz="818" b="0" i="0" u="none" strike="noStrike" kern="1200" cap="none" spc="-7" normalizeH="0" baseline="0" noProof="0" dirty="0">
                <a:ln>
                  <a:noFill/>
                </a:ln>
                <a:solidFill>
                  <a:prstClr val="black"/>
                </a:solidFill>
                <a:effectLst/>
                <a:uLnTx/>
                <a:uFillTx/>
                <a:latin typeface="Verdana"/>
                <a:ea typeface="+mn-ea"/>
                <a:cs typeface="Verdana"/>
              </a:rPr>
              <a:t>load</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sp>
        <p:nvSpPr>
          <p:cNvPr id="132" name="object 132"/>
          <p:cNvSpPr txBox="1"/>
          <p:nvPr/>
        </p:nvSpPr>
        <p:spPr>
          <a:xfrm>
            <a:off x="9781882" y="2440382"/>
            <a:ext cx="635577" cy="155270"/>
          </a:xfrm>
          <a:prstGeom prst="rect">
            <a:avLst/>
          </a:prstGeom>
        </p:spPr>
        <p:txBody>
          <a:bodyPr vert="horz" wrap="square" lIns="0" tIns="8226" rIns="0" bIns="0" rtlCol="0">
            <a:spAutoFit/>
          </a:bodyPr>
          <a:lstStyle/>
          <a:p>
            <a:pPr marL="25977" marR="0" lvl="0" indent="0" algn="l" defTabSz="914400" rtl="0" eaLnBrk="1" fontAlgn="auto" latinLnBrk="0" hangingPunct="1">
              <a:lnSpc>
                <a:spcPct val="100000"/>
              </a:lnSpc>
              <a:spcBef>
                <a:spcPts val="65"/>
              </a:spcBef>
              <a:spcAft>
                <a:spcPts val="0"/>
              </a:spcAft>
              <a:buClrTx/>
              <a:buSzTx/>
              <a:buFontTx/>
              <a:buNone/>
              <a:tabLst/>
              <a:defRPr/>
            </a:pPr>
            <a:r>
              <a:rPr kumimoji="0" sz="955" b="0" i="0" u="none" strike="noStrike" kern="1200" cap="none" spc="-7" normalizeH="0" baseline="0" noProof="0" dirty="0">
                <a:ln>
                  <a:noFill/>
                </a:ln>
                <a:solidFill>
                  <a:prstClr val="black"/>
                </a:solidFill>
                <a:effectLst/>
                <a:uLnTx/>
                <a:uFillTx/>
                <a:latin typeface="Verdana"/>
                <a:ea typeface="+mn-ea"/>
                <a:cs typeface="Verdana"/>
              </a:rPr>
              <a:t>V</a:t>
            </a:r>
            <a:r>
              <a:rPr kumimoji="0" sz="920" b="0" i="0" u="none" strike="noStrike" kern="1200" cap="none" spc="-10" normalizeH="0" baseline="-21604" noProof="0" dirty="0">
                <a:ln>
                  <a:noFill/>
                </a:ln>
                <a:solidFill>
                  <a:prstClr val="black"/>
                </a:solidFill>
                <a:effectLst/>
                <a:uLnTx/>
                <a:uFillTx/>
                <a:latin typeface="Verdana"/>
                <a:ea typeface="+mn-ea"/>
                <a:cs typeface="Verdana"/>
              </a:rPr>
              <a:t>g</a:t>
            </a:r>
            <a:r>
              <a:rPr kumimoji="0" sz="955" b="0" i="0" u="none" strike="noStrike" kern="1200" cap="none" spc="-7" normalizeH="0" baseline="0" noProof="0" dirty="0">
                <a:ln>
                  <a:noFill/>
                </a:ln>
                <a:solidFill>
                  <a:prstClr val="black"/>
                </a:solidFill>
                <a:effectLst/>
                <a:uLnTx/>
                <a:uFillTx/>
                <a:latin typeface="Verdana"/>
                <a:ea typeface="+mn-ea"/>
                <a:cs typeface="Verdana"/>
              </a:rPr>
              <a:t>[n-</a:t>
            </a:r>
            <a:r>
              <a:rPr kumimoji="0" sz="955" b="0" i="0" u="none" strike="noStrike" kern="1200" cap="none" spc="-14" normalizeH="0" baseline="0" noProof="0" dirty="0">
                <a:ln>
                  <a:noFill/>
                </a:ln>
                <a:solidFill>
                  <a:prstClr val="black"/>
                </a:solidFill>
                <a:effectLst/>
                <a:uLnTx/>
                <a:uFillTx/>
                <a:latin typeface="Verdana"/>
                <a:ea typeface="+mn-ea"/>
                <a:cs typeface="Verdana"/>
              </a:rPr>
              <a:t>1:0]</a:t>
            </a:r>
            <a:endParaRPr kumimoji="0" sz="955" b="0" i="0" u="none" strike="noStrike" kern="1200" cap="none" spc="0" normalizeH="0" baseline="0" noProof="0">
              <a:ln>
                <a:noFill/>
              </a:ln>
              <a:solidFill>
                <a:prstClr val="black"/>
              </a:solidFill>
              <a:effectLst/>
              <a:uLnTx/>
              <a:uFillTx/>
              <a:latin typeface="Verdana"/>
              <a:ea typeface="+mn-ea"/>
              <a:cs typeface="Verdana"/>
            </a:endParaRPr>
          </a:p>
        </p:txBody>
      </p:sp>
      <p:sp>
        <p:nvSpPr>
          <p:cNvPr id="133" name="object 133"/>
          <p:cNvSpPr txBox="1"/>
          <p:nvPr/>
        </p:nvSpPr>
        <p:spPr>
          <a:xfrm>
            <a:off x="10409927" y="2813653"/>
            <a:ext cx="574098" cy="589352"/>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0" normalizeH="0" baseline="13888" noProof="0" dirty="0">
                <a:ln>
                  <a:noFill/>
                </a:ln>
                <a:solidFill>
                  <a:prstClr val="black"/>
                </a:solidFill>
                <a:effectLst/>
                <a:uLnTx/>
                <a:uFillTx/>
                <a:latin typeface="Verdana"/>
                <a:ea typeface="+mn-ea"/>
                <a:cs typeface="Verdana"/>
              </a:rPr>
              <a:t>V</a:t>
            </a:r>
            <a:r>
              <a:rPr kumimoji="0" sz="818" b="0" i="0" u="none" strike="noStrike" kern="1200" cap="none" spc="-14" normalizeH="0" baseline="0" noProof="0" dirty="0">
                <a:ln>
                  <a:noFill/>
                </a:ln>
                <a:solidFill>
                  <a:prstClr val="black"/>
                </a:solidFill>
                <a:effectLst/>
                <a:uLnTx/>
                <a:uFillTx/>
                <a:latin typeface="Verdana"/>
                <a:ea typeface="+mn-ea"/>
                <a:cs typeface="Verdana"/>
              </a:rPr>
              <a:t>out</a:t>
            </a:r>
            <a:endParaRPr kumimoji="0" sz="818" b="0" i="0" u="none" strike="noStrike" kern="1200" cap="none" spc="0" normalizeH="0" baseline="0" noProof="0">
              <a:ln>
                <a:noFill/>
              </a:ln>
              <a:solidFill>
                <a:prstClr val="black"/>
              </a:solidFill>
              <a:effectLst/>
              <a:uLnTx/>
              <a:uFillTx/>
              <a:latin typeface="Verdana"/>
              <a:ea typeface="+mn-ea"/>
              <a:cs typeface="Verdana"/>
            </a:endParaRPr>
          </a:p>
          <a:p>
            <a:pPr marL="0" marR="0" lvl="0" indent="0" algn="l" defTabSz="914400" rtl="0" eaLnBrk="1" fontAlgn="auto" latinLnBrk="0" hangingPunct="1">
              <a:lnSpc>
                <a:spcPct val="100000"/>
              </a:lnSpc>
              <a:spcBef>
                <a:spcPts val="558"/>
              </a:spcBef>
              <a:spcAft>
                <a:spcPts val="0"/>
              </a:spcAft>
              <a:buClrTx/>
              <a:buSzTx/>
              <a:buFontTx/>
              <a:buNone/>
              <a:tabLst/>
              <a:defRPr/>
            </a:pPr>
            <a:endParaRPr kumimoji="0" sz="818" b="0" i="0" u="none" strike="noStrike" kern="1200" cap="none" spc="0" normalizeH="0" baseline="0" noProof="0">
              <a:ln>
                <a:noFill/>
              </a:ln>
              <a:solidFill>
                <a:prstClr val="black"/>
              </a:solidFill>
              <a:effectLst/>
              <a:uLnTx/>
              <a:uFillTx/>
              <a:latin typeface="Verdana"/>
              <a:ea typeface="+mn-ea"/>
              <a:cs typeface="Verdana"/>
            </a:endParaRPr>
          </a:p>
          <a:p>
            <a:pPr marL="220368" marR="0" lvl="0" indent="0" algn="l" defTabSz="914400" rtl="0" eaLnBrk="1" fontAlgn="auto" latinLnBrk="0" hangingPunct="1">
              <a:lnSpc>
                <a:spcPct val="100000"/>
              </a:lnSpc>
              <a:spcBef>
                <a:spcPts val="0"/>
              </a:spcBef>
              <a:spcAft>
                <a:spcPts val="0"/>
              </a:spcAft>
              <a:buClrTx/>
              <a:buSzTx/>
              <a:buFontTx/>
              <a:buNone/>
              <a:tabLst/>
              <a:defRPr/>
            </a:pPr>
            <a:r>
              <a:rPr kumimoji="0" sz="1841" b="0" i="0" u="none" strike="noStrike" kern="1200" cap="none" spc="-10" normalizeH="0" baseline="13888" noProof="0" dirty="0">
                <a:ln>
                  <a:noFill/>
                </a:ln>
                <a:solidFill>
                  <a:prstClr val="black"/>
                </a:solidFill>
                <a:effectLst/>
                <a:uLnTx/>
                <a:uFillTx/>
                <a:latin typeface="Verdana"/>
                <a:ea typeface="+mn-ea"/>
                <a:cs typeface="Verdana"/>
              </a:rPr>
              <a:t>R</a:t>
            </a:r>
            <a:r>
              <a:rPr kumimoji="0" sz="818" b="0" i="0" u="none" strike="noStrike" kern="1200" cap="none" spc="-7" normalizeH="0" baseline="0" noProof="0" dirty="0">
                <a:ln>
                  <a:noFill/>
                </a:ln>
                <a:solidFill>
                  <a:prstClr val="black"/>
                </a:solidFill>
                <a:effectLst/>
                <a:uLnTx/>
                <a:uFillTx/>
                <a:latin typeface="Verdana"/>
                <a:ea typeface="+mn-ea"/>
                <a:cs typeface="Verdana"/>
              </a:rPr>
              <a:t>load</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sp>
        <p:nvSpPr>
          <p:cNvPr id="134" name="object 134"/>
          <p:cNvSpPr txBox="1"/>
          <p:nvPr/>
        </p:nvSpPr>
        <p:spPr>
          <a:xfrm>
            <a:off x="1803895" y="3223885"/>
            <a:ext cx="330344"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0" normalizeH="0" baseline="13888" noProof="0" dirty="0">
                <a:ln>
                  <a:noFill/>
                </a:ln>
                <a:solidFill>
                  <a:prstClr val="black"/>
                </a:solidFill>
                <a:effectLst/>
                <a:uLnTx/>
                <a:uFillTx/>
                <a:latin typeface="Verdana"/>
                <a:ea typeface="+mn-ea"/>
                <a:cs typeface="Verdana"/>
              </a:rPr>
              <a:t>C</a:t>
            </a:r>
            <a:r>
              <a:rPr kumimoji="0" sz="818" b="0" i="0" u="none" strike="noStrike" kern="1200" cap="none" spc="-14" normalizeH="0" baseline="0" noProof="0" dirty="0">
                <a:ln>
                  <a:noFill/>
                </a:ln>
                <a:solidFill>
                  <a:prstClr val="black"/>
                </a:solidFill>
                <a:effectLst/>
                <a:uLnTx/>
                <a:uFillTx/>
                <a:latin typeface="Verdana"/>
                <a:ea typeface="+mn-ea"/>
                <a:cs typeface="Verdana"/>
              </a:rPr>
              <a:t>out</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sp>
        <p:nvSpPr>
          <p:cNvPr id="135" name="object 135"/>
          <p:cNvSpPr txBox="1"/>
          <p:nvPr/>
        </p:nvSpPr>
        <p:spPr>
          <a:xfrm>
            <a:off x="9374468" y="3256366"/>
            <a:ext cx="330344"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0" normalizeH="0" baseline="13888" noProof="0" dirty="0">
                <a:ln>
                  <a:noFill/>
                </a:ln>
                <a:solidFill>
                  <a:prstClr val="black"/>
                </a:solidFill>
                <a:effectLst/>
                <a:uLnTx/>
                <a:uFillTx/>
                <a:latin typeface="Verdana"/>
                <a:ea typeface="+mn-ea"/>
                <a:cs typeface="Verdana"/>
              </a:rPr>
              <a:t>C</a:t>
            </a:r>
            <a:r>
              <a:rPr kumimoji="0" sz="818" b="0" i="0" u="none" strike="noStrike" kern="1200" cap="none" spc="-14" normalizeH="0" baseline="0" noProof="0" dirty="0">
                <a:ln>
                  <a:noFill/>
                </a:ln>
                <a:solidFill>
                  <a:prstClr val="black"/>
                </a:solidFill>
                <a:effectLst/>
                <a:uLnTx/>
                <a:uFillTx/>
                <a:latin typeface="Verdana"/>
                <a:ea typeface="+mn-ea"/>
                <a:cs typeface="Verdana"/>
              </a:rPr>
              <a:t>out</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grpSp>
        <p:nvGrpSpPr>
          <p:cNvPr id="136" name="object 136"/>
          <p:cNvGrpSpPr/>
          <p:nvPr/>
        </p:nvGrpSpPr>
        <p:grpSpPr>
          <a:xfrm>
            <a:off x="9793665" y="1824384"/>
            <a:ext cx="654194" cy="497465"/>
            <a:chOff x="8570976" y="1780794"/>
            <a:chExt cx="959485" cy="729615"/>
          </a:xfrm>
        </p:grpSpPr>
        <p:sp>
          <p:nvSpPr>
            <p:cNvPr id="137" name="object 137"/>
            <p:cNvSpPr/>
            <p:nvPr/>
          </p:nvSpPr>
          <p:spPr>
            <a:xfrm>
              <a:off x="8585454" y="1795272"/>
              <a:ext cx="509905" cy="1905"/>
            </a:xfrm>
            <a:custGeom>
              <a:avLst/>
              <a:gdLst/>
              <a:ahLst/>
              <a:cxnLst/>
              <a:rect l="l" t="t" r="r" b="b"/>
              <a:pathLst>
                <a:path w="509904" h="1905">
                  <a:moveTo>
                    <a:pt x="0" y="0"/>
                  </a:moveTo>
                  <a:lnTo>
                    <a:pt x="509778" y="1524"/>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38" name="object 138"/>
            <p:cNvSpPr/>
            <p:nvPr/>
          </p:nvSpPr>
          <p:spPr>
            <a:xfrm>
              <a:off x="8597646" y="2038350"/>
              <a:ext cx="932815" cy="0"/>
            </a:xfrm>
            <a:custGeom>
              <a:avLst/>
              <a:gdLst/>
              <a:ahLst/>
              <a:cxnLst/>
              <a:rect l="l" t="t" r="r" b="b"/>
              <a:pathLst>
                <a:path w="932815">
                  <a:moveTo>
                    <a:pt x="0" y="0"/>
                  </a:moveTo>
                  <a:lnTo>
                    <a:pt x="932688"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39" name="object 139"/>
            <p:cNvSpPr/>
            <p:nvPr/>
          </p:nvSpPr>
          <p:spPr>
            <a:xfrm>
              <a:off x="9017127" y="2260473"/>
              <a:ext cx="0" cy="250190"/>
            </a:xfrm>
            <a:custGeom>
              <a:avLst/>
              <a:gdLst/>
              <a:ahLst/>
              <a:cxnLst/>
              <a:rect l="l" t="t" r="r" b="b"/>
              <a:pathLst>
                <a:path h="250189">
                  <a:moveTo>
                    <a:pt x="0" y="0"/>
                  </a:moveTo>
                  <a:lnTo>
                    <a:pt x="0" y="249936"/>
                  </a:lnTo>
                </a:path>
              </a:pathLst>
            </a:custGeom>
            <a:ln w="63246">
              <a:solidFill>
                <a:srgbClr val="000000"/>
              </a:solidFill>
              <a:prstDash val="dot"/>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140" name="object 140"/>
          <p:cNvSpPr txBox="1"/>
          <p:nvPr/>
        </p:nvSpPr>
        <p:spPr>
          <a:xfrm>
            <a:off x="417369" y="1520294"/>
            <a:ext cx="1150793" cy="218236"/>
          </a:xfrm>
          <a:prstGeom prst="rect">
            <a:avLst/>
          </a:prstGeom>
        </p:spPr>
        <p:txBody>
          <a:bodyPr vert="horz" wrap="square" lIns="0" tIns="8226" rIns="0" bIns="0" rtlCol="0">
            <a:spAutoFit/>
          </a:bodyPr>
          <a:lstStyle/>
          <a:p>
            <a:pPr marL="8659" marR="0" lvl="0" indent="0" algn="l" defTabSz="914400" rtl="0" eaLnBrk="1" fontAlgn="auto" latinLnBrk="0" hangingPunct="1">
              <a:lnSpc>
                <a:spcPct val="100000"/>
              </a:lnSpc>
              <a:spcBef>
                <a:spcPts val="65"/>
              </a:spcBef>
              <a:spcAft>
                <a:spcPts val="0"/>
              </a:spcAft>
              <a:buClrTx/>
              <a:buSzTx/>
              <a:buFontTx/>
              <a:buNone/>
              <a:tabLst/>
              <a:defRPr/>
            </a:pPr>
            <a:r>
              <a:rPr kumimoji="0" sz="1364" b="1" i="0" u="none" strike="noStrike" kern="1200" cap="none" spc="0" normalizeH="0" baseline="0" noProof="0" dirty="0">
                <a:ln>
                  <a:noFill/>
                </a:ln>
                <a:solidFill>
                  <a:prstClr val="black"/>
                </a:solidFill>
                <a:effectLst/>
                <a:uLnTx/>
                <a:uFillTx/>
                <a:latin typeface="Verdana"/>
                <a:ea typeface="+mn-ea"/>
                <a:cs typeface="Verdana"/>
              </a:rPr>
              <a:t>Analog</a:t>
            </a:r>
            <a:r>
              <a:rPr kumimoji="0" sz="1364" b="1" i="0" u="none" strike="noStrike" kern="1200" cap="none" spc="-44" normalizeH="0" baseline="0" noProof="0" dirty="0">
                <a:ln>
                  <a:noFill/>
                </a:ln>
                <a:solidFill>
                  <a:prstClr val="black"/>
                </a:solidFill>
                <a:effectLst/>
                <a:uLnTx/>
                <a:uFillTx/>
                <a:latin typeface="Verdana"/>
                <a:ea typeface="+mn-ea"/>
                <a:cs typeface="Verdana"/>
              </a:rPr>
              <a:t> </a:t>
            </a:r>
            <a:r>
              <a:rPr kumimoji="0" sz="1364" b="1" i="0" u="none" strike="noStrike" kern="1200" cap="none" spc="-17" normalizeH="0" baseline="0" noProof="0" dirty="0">
                <a:ln>
                  <a:noFill/>
                </a:ln>
                <a:solidFill>
                  <a:prstClr val="black"/>
                </a:solidFill>
                <a:effectLst/>
                <a:uLnTx/>
                <a:uFillTx/>
                <a:latin typeface="Verdana"/>
                <a:ea typeface="+mn-ea"/>
                <a:cs typeface="Verdana"/>
              </a:rPr>
              <a:t>LDO</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sp>
        <p:nvSpPr>
          <p:cNvPr id="141" name="object 141"/>
          <p:cNvSpPr txBox="1"/>
          <p:nvPr/>
        </p:nvSpPr>
        <p:spPr>
          <a:xfrm>
            <a:off x="8190883" y="1544184"/>
            <a:ext cx="1116589" cy="218236"/>
          </a:xfrm>
          <a:prstGeom prst="rect">
            <a:avLst/>
          </a:prstGeom>
        </p:spPr>
        <p:txBody>
          <a:bodyPr vert="horz" wrap="square" lIns="0" tIns="8226" rIns="0" bIns="0" rtlCol="0">
            <a:spAutoFit/>
          </a:bodyPr>
          <a:lstStyle/>
          <a:p>
            <a:pPr marL="8659" marR="0" lvl="0" indent="0" algn="l" defTabSz="914400" rtl="0" eaLnBrk="1" fontAlgn="auto" latinLnBrk="0" hangingPunct="1">
              <a:lnSpc>
                <a:spcPct val="100000"/>
              </a:lnSpc>
              <a:spcBef>
                <a:spcPts val="65"/>
              </a:spcBef>
              <a:spcAft>
                <a:spcPts val="0"/>
              </a:spcAft>
              <a:buClrTx/>
              <a:buSzTx/>
              <a:buFontTx/>
              <a:buNone/>
              <a:tabLst/>
              <a:defRPr/>
            </a:pPr>
            <a:r>
              <a:rPr kumimoji="0" sz="1364" b="1" i="0" u="none" strike="noStrike" kern="1200" cap="none" spc="0" normalizeH="0" baseline="0" noProof="0" dirty="0">
                <a:ln>
                  <a:noFill/>
                </a:ln>
                <a:solidFill>
                  <a:prstClr val="black"/>
                </a:solidFill>
                <a:effectLst/>
                <a:uLnTx/>
                <a:uFillTx/>
                <a:latin typeface="Verdana"/>
                <a:ea typeface="+mn-ea"/>
                <a:cs typeface="Verdana"/>
              </a:rPr>
              <a:t>Digital</a:t>
            </a:r>
            <a:r>
              <a:rPr kumimoji="0" sz="1364" b="1" i="0" u="none" strike="noStrike" kern="1200" cap="none" spc="-37" normalizeH="0" baseline="0" noProof="0" dirty="0">
                <a:ln>
                  <a:noFill/>
                </a:ln>
                <a:solidFill>
                  <a:prstClr val="black"/>
                </a:solidFill>
                <a:effectLst/>
                <a:uLnTx/>
                <a:uFillTx/>
                <a:latin typeface="Verdana"/>
                <a:ea typeface="+mn-ea"/>
                <a:cs typeface="Verdana"/>
              </a:rPr>
              <a:t> </a:t>
            </a:r>
            <a:r>
              <a:rPr kumimoji="0" sz="1364" b="1" i="0" u="none" strike="noStrike" kern="1200" cap="none" spc="-17" normalizeH="0" baseline="0" noProof="0" dirty="0">
                <a:ln>
                  <a:noFill/>
                </a:ln>
                <a:solidFill>
                  <a:prstClr val="black"/>
                </a:solidFill>
                <a:effectLst/>
                <a:uLnTx/>
                <a:uFillTx/>
                <a:latin typeface="Verdana"/>
                <a:ea typeface="+mn-ea"/>
                <a:cs typeface="Verdana"/>
              </a:rPr>
              <a:t>LDO</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spTree>
    <p:extLst>
      <p:ext uri="{BB962C8B-B14F-4D97-AF65-F5344CB8AC3E}">
        <p14:creationId xmlns:p14="http://schemas.microsoft.com/office/powerpoint/2010/main" val="256193279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Deep Dive</a:t>
            </a:r>
            <a:endParaRPr lang="en-US" dirty="0"/>
          </a:p>
        </p:txBody>
      </p:sp>
      <p:sp>
        <p:nvSpPr>
          <p:cNvPr id="5" name="Footer Placeholder 4"/>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Date Placeholder 5"/>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7" name="Slide Number Placeholder 6"/>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a:blip r:embed="rId2"/>
          <a:stretch>
            <a:fillRect/>
          </a:stretch>
        </p:blipFill>
        <p:spPr>
          <a:xfrm>
            <a:off x="1317468" y="1412810"/>
            <a:ext cx="6102664" cy="2521080"/>
          </a:xfrm>
          <a:prstGeom prst="rect">
            <a:avLst/>
          </a:prstGeom>
        </p:spPr>
      </p:pic>
    </p:spTree>
    <p:extLst>
      <p:ext uri="{BB962C8B-B14F-4D97-AF65-F5344CB8AC3E}">
        <p14:creationId xmlns:p14="http://schemas.microsoft.com/office/powerpoint/2010/main" val="417317492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8248" y="279418"/>
            <a:ext cx="7222634" cy="531526"/>
          </a:xfrm>
          <a:prstGeom prst="rect">
            <a:avLst/>
          </a:prstGeom>
        </p:spPr>
        <p:txBody>
          <a:bodyPr vert="horz" wrap="square" lIns="0" tIns="8226" rIns="0" bIns="0" rtlCol="0">
            <a:spAutoFit/>
          </a:bodyPr>
          <a:lstStyle/>
          <a:p>
            <a:pPr marL="8659">
              <a:spcBef>
                <a:spcPts val="65"/>
              </a:spcBef>
            </a:pPr>
            <a:r>
              <a:rPr dirty="0"/>
              <a:t>Output</a:t>
            </a:r>
            <a:r>
              <a:rPr spc="-24" dirty="0"/>
              <a:t> </a:t>
            </a:r>
            <a:r>
              <a:rPr spc="-7" dirty="0"/>
              <a:t>Voltage</a:t>
            </a:r>
          </a:p>
        </p:txBody>
      </p:sp>
      <p:sp>
        <p:nvSpPr>
          <p:cNvPr id="3" name="object 3"/>
          <p:cNvSpPr txBox="1"/>
          <p:nvPr/>
        </p:nvSpPr>
        <p:spPr>
          <a:xfrm>
            <a:off x="2437444" y="3947361"/>
            <a:ext cx="3712152" cy="757445"/>
          </a:xfrm>
          <a:prstGeom prst="rect">
            <a:avLst/>
          </a:prstGeom>
        </p:spPr>
        <p:txBody>
          <a:bodyPr vert="horz" wrap="square" lIns="0" tIns="50223" rIns="0" bIns="0" rtlCol="0">
            <a:spAutoFit/>
          </a:bodyPr>
          <a:lstStyle/>
          <a:p>
            <a:pPr marL="346354" marR="0" lvl="0" indent="-320378" algn="l" defTabSz="914400" rtl="0" eaLnBrk="1" fontAlgn="auto" latinLnBrk="0" hangingPunct="1">
              <a:lnSpc>
                <a:spcPct val="100000"/>
              </a:lnSpc>
              <a:spcBef>
                <a:spcPts val="395"/>
              </a:spcBef>
              <a:spcAft>
                <a:spcPts val="0"/>
              </a:spcAft>
              <a:buClr>
                <a:srgbClr val="CC0000"/>
              </a:buClr>
              <a:buSzTx/>
              <a:buFont typeface="Wingdings"/>
              <a:buChar char=""/>
              <a:tabLst>
                <a:tab pos="346354" algn="l"/>
              </a:tabLst>
              <a:defRPr/>
            </a:pPr>
            <a:r>
              <a:rPr kumimoji="0" sz="1364" b="1" i="0" u="none" strike="noStrike" kern="1200" cap="none" spc="0" normalizeH="0" baseline="0" noProof="0" dirty="0">
                <a:ln>
                  <a:noFill/>
                </a:ln>
                <a:solidFill>
                  <a:prstClr val="black"/>
                </a:solidFill>
                <a:effectLst/>
                <a:uLnTx/>
                <a:uFillTx/>
                <a:latin typeface="Verdana"/>
                <a:ea typeface="+mn-ea"/>
                <a:cs typeface="Verdana"/>
              </a:rPr>
              <a:t>V</a:t>
            </a:r>
            <a:r>
              <a:rPr kumimoji="0" sz="1330" b="1" i="0" u="none" strike="noStrike" kern="1200" cap="none" spc="0" normalizeH="0" baseline="-21367" noProof="0" dirty="0">
                <a:ln>
                  <a:noFill/>
                </a:ln>
                <a:solidFill>
                  <a:prstClr val="black"/>
                </a:solidFill>
                <a:effectLst/>
                <a:uLnTx/>
                <a:uFillTx/>
                <a:latin typeface="Verdana"/>
                <a:ea typeface="+mn-ea"/>
                <a:cs typeface="Verdana"/>
              </a:rPr>
              <a:t>out</a:t>
            </a:r>
            <a:r>
              <a:rPr kumimoji="0" sz="1330" b="1" i="0" u="none" strike="noStrike" kern="1200" cap="none" spc="245" normalizeH="0" baseline="-21367" noProof="0" dirty="0">
                <a:ln>
                  <a:noFill/>
                </a:ln>
                <a:solidFill>
                  <a:prstClr val="black"/>
                </a:solidFill>
                <a:effectLst/>
                <a:uLnTx/>
                <a:uFillTx/>
                <a:latin typeface="Verdana"/>
                <a:ea typeface="+mn-ea"/>
                <a:cs typeface="Verdana"/>
              </a:rPr>
              <a:t> </a:t>
            </a:r>
            <a:r>
              <a:rPr kumimoji="0" sz="1364" b="1" i="0" u="none" strike="noStrike" kern="1200" cap="none" spc="0" normalizeH="0" baseline="0" noProof="0" dirty="0">
                <a:ln>
                  <a:noFill/>
                </a:ln>
                <a:solidFill>
                  <a:prstClr val="black"/>
                </a:solidFill>
                <a:effectLst/>
                <a:uLnTx/>
                <a:uFillTx/>
                <a:latin typeface="Verdana"/>
                <a:ea typeface="+mn-ea"/>
                <a:cs typeface="Verdana"/>
              </a:rPr>
              <a:t>=</a:t>
            </a:r>
            <a:r>
              <a:rPr kumimoji="0" sz="1364" b="1" i="0" u="none" strike="noStrike" kern="1200" cap="none" spc="-3" normalizeH="0" baseline="0" noProof="0" dirty="0">
                <a:ln>
                  <a:noFill/>
                </a:ln>
                <a:solidFill>
                  <a:prstClr val="black"/>
                </a:solidFill>
                <a:effectLst/>
                <a:uLnTx/>
                <a:uFillTx/>
                <a:latin typeface="Verdana"/>
                <a:ea typeface="+mn-ea"/>
                <a:cs typeface="Verdana"/>
              </a:rPr>
              <a:t> </a:t>
            </a:r>
            <a:r>
              <a:rPr kumimoji="0" sz="1364" b="1" i="0" u="none" strike="noStrike" kern="1200" cap="none" spc="0" normalizeH="0" baseline="0" noProof="0" dirty="0">
                <a:ln>
                  <a:noFill/>
                </a:ln>
                <a:solidFill>
                  <a:prstClr val="black"/>
                </a:solidFill>
                <a:effectLst/>
                <a:uLnTx/>
                <a:uFillTx/>
                <a:latin typeface="Verdana"/>
                <a:ea typeface="+mn-ea"/>
                <a:cs typeface="Verdana"/>
              </a:rPr>
              <a:t>V</a:t>
            </a:r>
            <a:r>
              <a:rPr kumimoji="0" sz="1330" b="1" i="0" u="none" strike="noStrike" kern="1200" cap="none" spc="0" normalizeH="0" baseline="-21367" noProof="0" dirty="0">
                <a:ln>
                  <a:noFill/>
                </a:ln>
                <a:solidFill>
                  <a:prstClr val="black"/>
                </a:solidFill>
                <a:effectLst/>
                <a:uLnTx/>
                <a:uFillTx/>
                <a:latin typeface="Verdana"/>
                <a:ea typeface="+mn-ea"/>
                <a:cs typeface="Verdana"/>
              </a:rPr>
              <a:t>in</a:t>
            </a:r>
            <a:r>
              <a:rPr kumimoji="0" sz="1364" b="1" i="0" u="none" strike="noStrike" kern="1200" cap="none" spc="0" normalizeH="0" baseline="0" noProof="0" dirty="0">
                <a:ln>
                  <a:noFill/>
                </a:ln>
                <a:solidFill>
                  <a:prstClr val="black"/>
                </a:solidFill>
                <a:effectLst/>
                <a:uLnTx/>
                <a:uFillTx/>
                <a:latin typeface="Verdana"/>
                <a:ea typeface="+mn-ea"/>
                <a:cs typeface="Verdana"/>
              </a:rPr>
              <a:t>–0.2V</a:t>
            </a:r>
            <a:r>
              <a:rPr kumimoji="0" sz="1364" b="1" i="0" u="none" strike="noStrike" kern="1200" cap="none" spc="3" normalizeH="0" baseline="0" noProof="0" dirty="0">
                <a:ln>
                  <a:noFill/>
                </a:ln>
                <a:solidFill>
                  <a:prstClr val="black"/>
                </a:solidFill>
                <a:effectLst/>
                <a:uLnTx/>
                <a:uFillTx/>
                <a:latin typeface="Verdana"/>
                <a:ea typeface="+mn-ea"/>
                <a:cs typeface="Verdana"/>
              </a:rPr>
              <a:t> </a:t>
            </a:r>
            <a:r>
              <a:rPr kumimoji="0" sz="1364" b="1" i="0" u="none" strike="noStrike" kern="1200" cap="none" spc="0" normalizeH="0" baseline="0" noProof="0" dirty="0">
                <a:ln>
                  <a:noFill/>
                </a:ln>
                <a:solidFill>
                  <a:prstClr val="black"/>
                </a:solidFill>
                <a:effectLst/>
                <a:uLnTx/>
                <a:uFillTx/>
                <a:latin typeface="Verdana"/>
                <a:ea typeface="+mn-ea"/>
                <a:cs typeface="Verdana"/>
              </a:rPr>
              <a:t>to</a:t>
            </a:r>
            <a:r>
              <a:rPr kumimoji="0" sz="1364" b="1" i="0" u="none" strike="noStrike" kern="1200" cap="none" spc="-3" normalizeH="0" baseline="0" noProof="0" dirty="0">
                <a:ln>
                  <a:noFill/>
                </a:ln>
                <a:solidFill>
                  <a:prstClr val="black"/>
                </a:solidFill>
                <a:effectLst/>
                <a:uLnTx/>
                <a:uFillTx/>
                <a:latin typeface="Verdana"/>
                <a:ea typeface="+mn-ea"/>
                <a:cs typeface="Verdana"/>
              </a:rPr>
              <a:t> </a:t>
            </a:r>
            <a:r>
              <a:rPr kumimoji="0" sz="1364" b="1" i="0" u="none" strike="noStrike" kern="1200" cap="none" spc="-17" normalizeH="0" baseline="0" noProof="0" dirty="0">
                <a:ln>
                  <a:noFill/>
                </a:ln>
                <a:solidFill>
                  <a:prstClr val="black"/>
                </a:solidFill>
                <a:effectLst/>
                <a:uLnTx/>
                <a:uFillTx/>
                <a:latin typeface="Verdana"/>
                <a:ea typeface="+mn-ea"/>
                <a:cs typeface="Verdana"/>
              </a:rPr>
              <a:t>~0V</a:t>
            </a:r>
            <a:endParaRPr kumimoji="0" sz="1364" b="0" i="0" u="none" strike="noStrike" kern="1200" cap="none" spc="0" normalizeH="0" baseline="0" noProof="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324"/>
              </a:spcBef>
              <a:spcAft>
                <a:spcPts val="0"/>
              </a:spcAft>
              <a:buClr>
                <a:srgbClr val="CC0000"/>
              </a:buClr>
              <a:buSzTx/>
              <a:buFont typeface="Wingdings"/>
              <a:buChar char=""/>
              <a:tabLst>
                <a:tab pos="346354" algn="l"/>
              </a:tabLst>
              <a:defRPr/>
            </a:pPr>
            <a:r>
              <a:rPr kumimoji="0" sz="1364" b="0" i="0" u="none" strike="noStrike" kern="1200" cap="none" spc="0" normalizeH="0" baseline="0" noProof="0" dirty="0">
                <a:ln>
                  <a:noFill/>
                </a:ln>
                <a:solidFill>
                  <a:prstClr val="black"/>
                </a:solidFill>
                <a:effectLst/>
                <a:uLnTx/>
                <a:uFillTx/>
                <a:latin typeface="Verdana"/>
                <a:ea typeface="+mn-ea"/>
                <a:cs typeface="Verdana"/>
              </a:rPr>
              <a:t>Power</a:t>
            </a:r>
            <a:r>
              <a:rPr kumimoji="0" sz="1364" b="0" i="0" u="none" strike="noStrike" kern="1200" cap="none" spc="-37"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FET</a:t>
            </a:r>
            <a:r>
              <a:rPr kumimoji="0" sz="1364" b="0" i="0" u="none" strike="noStrike" kern="1200" cap="none" spc="-27"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is</a:t>
            </a:r>
            <a:r>
              <a:rPr kumimoji="0" sz="1364" b="0" i="0" u="none" strike="noStrike" kern="1200" cap="none" spc="-27"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typically</a:t>
            </a:r>
            <a:r>
              <a:rPr kumimoji="0" sz="1364" b="0" i="0" u="none" strike="noStrike" kern="1200" cap="none" spc="-10"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in</a:t>
            </a:r>
            <a:r>
              <a:rPr kumimoji="0" sz="1364" b="0" i="0" u="none" strike="noStrike" kern="1200" cap="none" spc="-34" normalizeH="0" baseline="0" noProof="0" dirty="0">
                <a:ln>
                  <a:noFill/>
                </a:ln>
                <a:solidFill>
                  <a:prstClr val="black"/>
                </a:solidFill>
                <a:effectLst/>
                <a:uLnTx/>
                <a:uFillTx/>
                <a:latin typeface="Verdana"/>
                <a:ea typeface="+mn-ea"/>
                <a:cs typeface="Verdana"/>
              </a:rPr>
              <a:t> </a:t>
            </a:r>
            <a:r>
              <a:rPr kumimoji="0" sz="1364" b="0" i="0" u="none" strike="noStrike" kern="1200" cap="none" spc="-7" normalizeH="0" baseline="0" noProof="0" dirty="0">
                <a:ln>
                  <a:noFill/>
                </a:ln>
                <a:solidFill>
                  <a:prstClr val="black"/>
                </a:solidFill>
                <a:effectLst/>
                <a:uLnTx/>
                <a:uFillTx/>
                <a:latin typeface="Verdana"/>
                <a:ea typeface="+mn-ea"/>
                <a:cs typeface="Verdana"/>
              </a:rPr>
              <a:t>saturation</a:t>
            </a:r>
            <a:endParaRPr kumimoji="0" sz="1364" b="0" i="0" u="none" strike="noStrike" kern="1200" cap="none" spc="0" normalizeH="0" baseline="0" noProof="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330"/>
              </a:spcBef>
              <a:spcAft>
                <a:spcPts val="0"/>
              </a:spcAft>
              <a:buClr>
                <a:srgbClr val="CC0000"/>
              </a:buClr>
              <a:buSzTx/>
              <a:buFont typeface="Wingdings"/>
              <a:buChar char=""/>
              <a:tabLst>
                <a:tab pos="346354" algn="l"/>
              </a:tabLst>
              <a:defRPr/>
            </a:pPr>
            <a:r>
              <a:rPr kumimoji="0" sz="1364" b="0" i="0" u="none" strike="noStrike" kern="1200" cap="none" spc="0" normalizeH="0" baseline="0" noProof="0" dirty="0">
                <a:ln>
                  <a:noFill/>
                </a:ln>
                <a:solidFill>
                  <a:prstClr val="black"/>
                </a:solidFill>
                <a:effectLst/>
                <a:uLnTx/>
                <a:uFillTx/>
                <a:latin typeface="Verdana"/>
                <a:ea typeface="+mn-ea"/>
                <a:cs typeface="Verdana"/>
              </a:rPr>
              <a:t>If</a:t>
            </a:r>
            <a:r>
              <a:rPr kumimoji="0" sz="1364" b="0" i="0" u="none" strike="noStrike" kern="1200" cap="none" spc="-24"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a</a:t>
            </a:r>
            <a:r>
              <a:rPr kumimoji="0" sz="1364" b="0" i="0" u="none" strike="noStrike" kern="1200" cap="none" spc="-17"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load</a:t>
            </a:r>
            <a:r>
              <a:rPr kumimoji="0" sz="1364" b="0" i="0" u="none" strike="noStrike" kern="1200" cap="none" spc="-14"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needs</a:t>
            </a:r>
            <a:r>
              <a:rPr kumimoji="0" sz="1364" b="0" i="0" u="none" strike="noStrike" kern="1200" cap="none" spc="-14" normalizeH="0" baseline="0" noProof="0" dirty="0">
                <a:ln>
                  <a:noFill/>
                </a:ln>
                <a:solidFill>
                  <a:prstClr val="black"/>
                </a:solidFill>
                <a:effectLst/>
                <a:uLnTx/>
                <a:uFillTx/>
                <a:latin typeface="Verdana"/>
                <a:ea typeface="+mn-ea"/>
                <a:cs typeface="Verdana"/>
              </a:rPr>
              <a:t> </a:t>
            </a:r>
            <a:r>
              <a:rPr kumimoji="0" sz="1364" b="0" i="0" u="none" strike="noStrike" kern="1200" cap="none" spc="-7" normalizeH="0" baseline="0" noProof="0" dirty="0">
                <a:ln>
                  <a:noFill/>
                </a:ln>
                <a:solidFill>
                  <a:prstClr val="black"/>
                </a:solidFill>
                <a:effectLst/>
                <a:uLnTx/>
                <a:uFillTx/>
                <a:latin typeface="Verdana"/>
                <a:ea typeface="+mn-ea"/>
                <a:cs typeface="Verdana"/>
              </a:rPr>
              <a:t>V</a:t>
            </a:r>
            <a:r>
              <a:rPr kumimoji="0" sz="1330" b="0" i="0" u="none" strike="noStrike" kern="1200" cap="none" spc="-10" normalizeH="0" baseline="-21367" noProof="0" dirty="0">
                <a:ln>
                  <a:noFill/>
                </a:ln>
                <a:solidFill>
                  <a:prstClr val="black"/>
                </a:solidFill>
                <a:effectLst/>
                <a:uLnTx/>
                <a:uFillTx/>
                <a:latin typeface="Verdana"/>
                <a:ea typeface="+mn-ea"/>
                <a:cs typeface="Verdana"/>
              </a:rPr>
              <a:t>in</a:t>
            </a:r>
            <a:r>
              <a:rPr kumimoji="0" sz="1364" b="0" i="0" u="none" strike="noStrike" kern="1200" cap="none" spc="-7" normalizeH="0" baseline="0" noProof="0" dirty="0">
                <a:ln>
                  <a:noFill/>
                </a:ln>
                <a:solidFill>
                  <a:prstClr val="black"/>
                </a:solidFill>
                <a:effectLst/>
                <a:uLnTx/>
                <a:uFillTx/>
                <a:latin typeface="Verdana"/>
                <a:ea typeface="+mn-ea"/>
                <a:cs typeface="Verdana"/>
              </a:rPr>
              <a:t>-</a:t>
            </a:r>
            <a:r>
              <a:rPr kumimoji="0" sz="1364" b="0" i="0" u="none" strike="noStrike" kern="1200" cap="none" spc="0" normalizeH="0" baseline="0" noProof="0" dirty="0">
                <a:ln>
                  <a:noFill/>
                </a:ln>
                <a:solidFill>
                  <a:prstClr val="black"/>
                </a:solidFill>
                <a:effectLst/>
                <a:uLnTx/>
                <a:uFillTx/>
                <a:latin typeface="Verdana"/>
                <a:ea typeface="+mn-ea"/>
                <a:cs typeface="Verdana"/>
              </a:rPr>
              <a:t>0.1V,</a:t>
            </a:r>
            <a:r>
              <a:rPr kumimoji="0" sz="1364" b="0" i="0" u="none" strike="noStrike" kern="1200" cap="none" spc="-17"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we</a:t>
            </a:r>
            <a:r>
              <a:rPr kumimoji="0" sz="1364" b="0" i="0" u="none" strike="noStrike" kern="1200" cap="none" spc="-17"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supply</a:t>
            </a:r>
            <a:r>
              <a:rPr kumimoji="0" sz="1364" b="0" i="0" u="none" strike="noStrike" kern="1200" cap="none" spc="-3" normalizeH="0" baseline="0" noProof="0" dirty="0">
                <a:ln>
                  <a:noFill/>
                </a:ln>
                <a:solidFill>
                  <a:prstClr val="black"/>
                </a:solidFill>
                <a:effectLst/>
                <a:uLnTx/>
                <a:uFillTx/>
                <a:latin typeface="Verdana"/>
                <a:ea typeface="+mn-ea"/>
                <a:cs typeface="Verdana"/>
              </a:rPr>
              <a:t> </a:t>
            </a:r>
            <a:r>
              <a:rPr kumimoji="0" sz="1364" b="0" i="0" u="none" strike="noStrike" kern="1200" cap="none" spc="-17" normalizeH="0" baseline="0" noProof="0" dirty="0">
                <a:ln>
                  <a:noFill/>
                </a:ln>
                <a:solidFill>
                  <a:prstClr val="black"/>
                </a:solidFill>
                <a:effectLst/>
                <a:uLnTx/>
                <a:uFillTx/>
                <a:latin typeface="Verdana"/>
                <a:ea typeface="+mn-ea"/>
                <a:cs typeface="Verdana"/>
              </a:rPr>
              <a:t>V</a:t>
            </a:r>
            <a:r>
              <a:rPr kumimoji="0" sz="1330" b="0" i="0" u="none" strike="noStrike" kern="1200" cap="none" spc="-25" normalizeH="0" baseline="-21367" noProof="0" dirty="0">
                <a:ln>
                  <a:noFill/>
                </a:ln>
                <a:solidFill>
                  <a:prstClr val="black"/>
                </a:solidFill>
                <a:effectLst/>
                <a:uLnTx/>
                <a:uFillTx/>
                <a:latin typeface="Verdana"/>
                <a:ea typeface="+mn-ea"/>
                <a:cs typeface="Verdana"/>
              </a:rPr>
              <a:t>in</a:t>
            </a:r>
            <a:endParaRPr kumimoji="0" sz="1330" b="0" i="0" u="none" strike="noStrike" kern="1200" cap="none" spc="0" normalizeH="0" baseline="-21367" noProof="0">
              <a:ln>
                <a:noFill/>
              </a:ln>
              <a:solidFill>
                <a:prstClr val="black"/>
              </a:solidFill>
              <a:effectLst/>
              <a:uLnTx/>
              <a:uFillTx/>
              <a:latin typeface="Verdana"/>
              <a:ea typeface="+mn-ea"/>
              <a:cs typeface="Verdana"/>
            </a:endParaRPr>
          </a:p>
        </p:txBody>
      </p:sp>
      <p:sp>
        <p:nvSpPr>
          <p:cNvPr id="4" name="object 4"/>
          <p:cNvSpPr txBox="1"/>
          <p:nvPr/>
        </p:nvSpPr>
        <p:spPr>
          <a:xfrm>
            <a:off x="6527092" y="3947361"/>
            <a:ext cx="3412548" cy="757445"/>
          </a:xfrm>
          <a:prstGeom prst="rect">
            <a:avLst/>
          </a:prstGeom>
        </p:spPr>
        <p:txBody>
          <a:bodyPr vert="horz" wrap="square" lIns="0" tIns="50223" rIns="0" bIns="0" rtlCol="0">
            <a:spAutoFit/>
          </a:bodyPr>
          <a:lstStyle/>
          <a:p>
            <a:pPr marL="346354" marR="0" lvl="0" indent="-320378" algn="l" defTabSz="914400" rtl="0" eaLnBrk="1" fontAlgn="auto" latinLnBrk="0" hangingPunct="1">
              <a:lnSpc>
                <a:spcPct val="100000"/>
              </a:lnSpc>
              <a:spcBef>
                <a:spcPts val="395"/>
              </a:spcBef>
              <a:spcAft>
                <a:spcPts val="0"/>
              </a:spcAft>
              <a:buClr>
                <a:srgbClr val="CC0000"/>
              </a:buClr>
              <a:buSzTx/>
              <a:buFont typeface="Wingdings"/>
              <a:buChar char=""/>
              <a:tabLst>
                <a:tab pos="346354" algn="l"/>
              </a:tabLst>
              <a:defRPr/>
            </a:pPr>
            <a:r>
              <a:rPr kumimoji="0" sz="1364" b="1" i="0" u="none" strike="noStrike" kern="1200" cap="none" spc="0" normalizeH="0" baseline="0" noProof="0" dirty="0">
                <a:ln>
                  <a:noFill/>
                </a:ln>
                <a:solidFill>
                  <a:prstClr val="black"/>
                </a:solidFill>
                <a:effectLst/>
                <a:uLnTx/>
                <a:uFillTx/>
                <a:latin typeface="Verdana"/>
                <a:ea typeface="+mn-ea"/>
                <a:cs typeface="Verdana"/>
              </a:rPr>
              <a:t>V</a:t>
            </a:r>
            <a:r>
              <a:rPr kumimoji="0" sz="1330" b="1" i="0" u="none" strike="noStrike" kern="1200" cap="none" spc="0" normalizeH="0" baseline="-21367" noProof="0" dirty="0">
                <a:ln>
                  <a:noFill/>
                </a:ln>
                <a:solidFill>
                  <a:prstClr val="black"/>
                </a:solidFill>
                <a:effectLst/>
                <a:uLnTx/>
                <a:uFillTx/>
                <a:latin typeface="Verdana"/>
                <a:ea typeface="+mn-ea"/>
                <a:cs typeface="Verdana"/>
              </a:rPr>
              <a:t>out</a:t>
            </a:r>
            <a:r>
              <a:rPr kumimoji="0" sz="1330" b="1" i="0" u="none" strike="noStrike" kern="1200" cap="none" spc="245" normalizeH="0" baseline="-21367" noProof="0" dirty="0">
                <a:ln>
                  <a:noFill/>
                </a:ln>
                <a:solidFill>
                  <a:prstClr val="black"/>
                </a:solidFill>
                <a:effectLst/>
                <a:uLnTx/>
                <a:uFillTx/>
                <a:latin typeface="Verdana"/>
                <a:ea typeface="+mn-ea"/>
                <a:cs typeface="Verdana"/>
              </a:rPr>
              <a:t> </a:t>
            </a:r>
            <a:r>
              <a:rPr kumimoji="0" sz="1364" b="1" i="0" u="none" strike="noStrike" kern="1200" cap="none" spc="0" normalizeH="0" baseline="0" noProof="0" dirty="0">
                <a:ln>
                  <a:noFill/>
                </a:ln>
                <a:solidFill>
                  <a:prstClr val="black"/>
                </a:solidFill>
                <a:effectLst/>
                <a:uLnTx/>
                <a:uFillTx/>
                <a:latin typeface="Verdana"/>
                <a:ea typeface="+mn-ea"/>
                <a:cs typeface="Verdana"/>
              </a:rPr>
              <a:t>=</a:t>
            </a:r>
            <a:r>
              <a:rPr kumimoji="0" sz="1364" b="1" i="0" u="none" strike="noStrike" kern="1200" cap="none" spc="-7" normalizeH="0" baseline="0" noProof="0" dirty="0">
                <a:ln>
                  <a:noFill/>
                </a:ln>
                <a:solidFill>
                  <a:prstClr val="black"/>
                </a:solidFill>
                <a:effectLst/>
                <a:uLnTx/>
                <a:uFillTx/>
                <a:latin typeface="Verdana"/>
                <a:ea typeface="+mn-ea"/>
                <a:cs typeface="Verdana"/>
              </a:rPr>
              <a:t> </a:t>
            </a:r>
            <a:r>
              <a:rPr kumimoji="0" sz="1364" b="1" i="0" u="none" strike="noStrike" kern="1200" cap="none" spc="0" normalizeH="0" baseline="0" noProof="0" dirty="0">
                <a:ln>
                  <a:noFill/>
                </a:ln>
                <a:solidFill>
                  <a:prstClr val="black"/>
                </a:solidFill>
                <a:effectLst/>
                <a:uLnTx/>
                <a:uFillTx/>
                <a:latin typeface="Verdana"/>
                <a:ea typeface="+mn-ea"/>
                <a:cs typeface="Verdana"/>
              </a:rPr>
              <a:t>V</a:t>
            </a:r>
            <a:r>
              <a:rPr kumimoji="0" sz="1330" b="1" i="0" u="none" strike="noStrike" kern="1200" cap="none" spc="0" normalizeH="0" baseline="-21367" noProof="0" dirty="0">
                <a:ln>
                  <a:noFill/>
                </a:ln>
                <a:solidFill>
                  <a:prstClr val="black"/>
                </a:solidFill>
                <a:effectLst/>
                <a:uLnTx/>
                <a:uFillTx/>
                <a:latin typeface="Verdana"/>
                <a:ea typeface="+mn-ea"/>
                <a:cs typeface="Verdana"/>
              </a:rPr>
              <a:t>in</a:t>
            </a:r>
            <a:r>
              <a:rPr kumimoji="0" sz="1364" b="1" i="0" u="none" strike="noStrike" kern="1200" cap="none" spc="0" normalizeH="0" baseline="0" noProof="0" dirty="0">
                <a:ln>
                  <a:noFill/>
                </a:ln>
                <a:solidFill>
                  <a:prstClr val="black"/>
                </a:solidFill>
                <a:effectLst/>
                <a:uLnTx/>
                <a:uFillTx/>
                <a:latin typeface="Verdana"/>
                <a:ea typeface="+mn-ea"/>
                <a:cs typeface="Verdana"/>
              </a:rPr>
              <a:t>–0.05V</a:t>
            </a:r>
            <a:r>
              <a:rPr kumimoji="0" sz="1364" b="1" i="0" u="none" strike="noStrike" kern="1200" cap="none" spc="3" normalizeH="0" baseline="0" noProof="0" dirty="0">
                <a:ln>
                  <a:noFill/>
                </a:ln>
                <a:solidFill>
                  <a:prstClr val="black"/>
                </a:solidFill>
                <a:effectLst/>
                <a:uLnTx/>
                <a:uFillTx/>
                <a:latin typeface="Verdana"/>
                <a:ea typeface="+mn-ea"/>
                <a:cs typeface="Verdana"/>
              </a:rPr>
              <a:t> </a:t>
            </a:r>
            <a:r>
              <a:rPr kumimoji="0" sz="1364" b="1" i="0" u="none" strike="noStrike" kern="1200" cap="none" spc="0" normalizeH="0" baseline="0" noProof="0" dirty="0">
                <a:ln>
                  <a:noFill/>
                </a:ln>
                <a:solidFill>
                  <a:prstClr val="black"/>
                </a:solidFill>
                <a:effectLst/>
                <a:uLnTx/>
                <a:uFillTx/>
                <a:latin typeface="Verdana"/>
                <a:ea typeface="+mn-ea"/>
                <a:cs typeface="Verdana"/>
              </a:rPr>
              <a:t>to</a:t>
            </a:r>
            <a:r>
              <a:rPr kumimoji="0" sz="1364" b="1" i="0" u="none" strike="noStrike" kern="1200" cap="none" spc="-10" normalizeH="0" baseline="0" noProof="0" dirty="0">
                <a:ln>
                  <a:noFill/>
                </a:ln>
                <a:solidFill>
                  <a:prstClr val="black"/>
                </a:solidFill>
                <a:effectLst/>
                <a:uLnTx/>
                <a:uFillTx/>
                <a:latin typeface="Verdana"/>
                <a:ea typeface="+mn-ea"/>
                <a:cs typeface="Verdana"/>
              </a:rPr>
              <a:t> </a:t>
            </a:r>
            <a:r>
              <a:rPr kumimoji="0" sz="1364" b="1" i="0" u="none" strike="noStrike" kern="1200" cap="none" spc="-17" normalizeH="0" baseline="0" noProof="0" dirty="0">
                <a:ln>
                  <a:noFill/>
                </a:ln>
                <a:solidFill>
                  <a:prstClr val="black"/>
                </a:solidFill>
                <a:effectLst/>
                <a:uLnTx/>
                <a:uFillTx/>
                <a:latin typeface="Verdana"/>
                <a:ea typeface="+mn-ea"/>
                <a:cs typeface="Verdana"/>
              </a:rPr>
              <a:t>~0V</a:t>
            </a:r>
            <a:endParaRPr kumimoji="0" sz="1364" b="0" i="0" u="none" strike="noStrike" kern="1200" cap="none" spc="0" normalizeH="0" baseline="0" noProof="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324"/>
              </a:spcBef>
              <a:spcAft>
                <a:spcPts val="0"/>
              </a:spcAft>
              <a:buClr>
                <a:srgbClr val="CC0000"/>
              </a:buClr>
              <a:buSzTx/>
              <a:buFont typeface="Wingdings"/>
              <a:buChar char=""/>
              <a:tabLst>
                <a:tab pos="346354" algn="l"/>
              </a:tabLst>
              <a:defRPr/>
            </a:pPr>
            <a:r>
              <a:rPr kumimoji="0" sz="1364" b="0" i="0" u="none" strike="noStrike" kern="1200" cap="none" spc="0" normalizeH="0" baseline="0" noProof="0" dirty="0">
                <a:ln>
                  <a:noFill/>
                </a:ln>
                <a:solidFill>
                  <a:prstClr val="black"/>
                </a:solidFill>
                <a:effectLst/>
                <a:uLnTx/>
                <a:uFillTx/>
                <a:latin typeface="Verdana"/>
                <a:ea typeface="+mn-ea"/>
                <a:cs typeface="Verdana"/>
              </a:rPr>
              <a:t>Power</a:t>
            </a:r>
            <a:r>
              <a:rPr kumimoji="0" sz="1364" b="0" i="0" u="none" strike="noStrike" kern="1200" cap="none" spc="-31"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FET</a:t>
            </a:r>
            <a:r>
              <a:rPr kumimoji="0" sz="1364" b="0" i="0" u="none" strike="noStrike" kern="1200" cap="none" spc="-20"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is</a:t>
            </a:r>
            <a:r>
              <a:rPr kumimoji="0" sz="1364" b="0" i="0" u="none" strike="noStrike" kern="1200" cap="none" spc="-24"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in</a:t>
            </a:r>
            <a:r>
              <a:rPr kumimoji="0" sz="1364" b="0" i="0" u="none" strike="noStrike" kern="1200" cap="none" spc="-17"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linear</a:t>
            </a:r>
            <a:r>
              <a:rPr kumimoji="0" sz="1364" b="0" i="0" u="none" strike="noStrike" kern="1200" cap="none" spc="-24"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to</a:t>
            </a:r>
            <a:r>
              <a:rPr kumimoji="0" sz="1364" b="0" i="0" u="none" strike="noStrike" kern="1200" cap="none" spc="-24" normalizeH="0" baseline="0" noProof="0" dirty="0">
                <a:ln>
                  <a:noFill/>
                </a:ln>
                <a:solidFill>
                  <a:prstClr val="black"/>
                </a:solidFill>
                <a:effectLst/>
                <a:uLnTx/>
                <a:uFillTx/>
                <a:latin typeface="Verdana"/>
                <a:ea typeface="+mn-ea"/>
                <a:cs typeface="Verdana"/>
              </a:rPr>
              <a:t> </a:t>
            </a:r>
            <a:r>
              <a:rPr kumimoji="0" sz="1364" b="0" i="0" u="none" strike="noStrike" kern="1200" cap="none" spc="-7" normalizeH="0" baseline="0" noProof="0" dirty="0">
                <a:ln>
                  <a:noFill/>
                </a:ln>
                <a:solidFill>
                  <a:prstClr val="black"/>
                </a:solidFill>
                <a:effectLst/>
                <a:uLnTx/>
                <a:uFillTx/>
                <a:latin typeface="Verdana"/>
                <a:ea typeface="+mn-ea"/>
                <a:cs typeface="Verdana"/>
              </a:rPr>
              <a:t>saturation</a:t>
            </a:r>
            <a:endParaRPr kumimoji="0" sz="1364" b="0" i="0" u="none" strike="noStrike" kern="1200" cap="none" spc="0" normalizeH="0" baseline="0" noProof="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327"/>
              </a:spcBef>
              <a:spcAft>
                <a:spcPts val="0"/>
              </a:spcAft>
              <a:buClr>
                <a:srgbClr val="CC0000"/>
              </a:buClr>
              <a:buSzTx/>
              <a:buFont typeface="Wingdings"/>
              <a:buChar char=""/>
              <a:tabLst>
                <a:tab pos="346354" algn="l"/>
              </a:tabLst>
              <a:defRPr/>
            </a:pPr>
            <a:r>
              <a:rPr kumimoji="0" sz="1364" b="0" i="0" u="none" strike="noStrike" kern="1200" cap="none" spc="0" normalizeH="0" baseline="0" noProof="0" dirty="0">
                <a:ln>
                  <a:noFill/>
                </a:ln>
                <a:solidFill>
                  <a:prstClr val="black"/>
                </a:solidFill>
                <a:effectLst/>
                <a:uLnTx/>
                <a:uFillTx/>
                <a:latin typeface="Verdana"/>
                <a:ea typeface="+mn-ea"/>
                <a:cs typeface="Verdana"/>
              </a:rPr>
              <a:t>Wider</a:t>
            </a:r>
            <a:r>
              <a:rPr kumimoji="0" sz="1364" b="0" i="0" u="none" strike="noStrike" kern="1200" cap="none" spc="-55"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output</a:t>
            </a:r>
            <a:r>
              <a:rPr kumimoji="0" sz="1364" b="0" i="0" u="none" strike="noStrike" kern="1200" cap="none" spc="-55"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voltage</a:t>
            </a:r>
            <a:r>
              <a:rPr kumimoji="0" sz="1364" b="0" i="0" u="none" strike="noStrike" kern="1200" cap="none" spc="-44" normalizeH="0" baseline="0" noProof="0" dirty="0">
                <a:ln>
                  <a:noFill/>
                </a:ln>
                <a:solidFill>
                  <a:prstClr val="black"/>
                </a:solidFill>
                <a:effectLst/>
                <a:uLnTx/>
                <a:uFillTx/>
                <a:latin typeface="Verdana"/>
                <a:ea typeface="+mn-ea"/>
                <a:cs typeface="Verdana"/>
              </a:rPr>
              <a:t> </a:t>
            </a:r>
            <a:r>
              <a:rPr kumimoji="0" sz="1364" b="0" i="0" u="none" strike="noStrike" kern="1200" cap="none" spc="-7" normalizeH="0" baseline="0" noProof="0" dirty="0">
                <a:ln>
                  <a:noFill/>
                </a:ln>
                <a:solidFill>
                  <a:prstClr val="black"/>
                </a:solidFill>
                <a:effectLst/>
                <a:uLnTx/>
                <a:uFillTx/>
                <a:latin typeface="Verdana"/>
                <a:ea typeface="+mn-ea"/>
                <a:cs typeface="Verdana"/>
              </a:rPr>
              <a:t>range</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grpSp>
        <p:nvGrpSpPr>
          <p:cNvPr id="5" name="object 5"/>
          <p:cNvGrpSpPr/>
          <p:nvPr/>
        </p:nvGrpSpPr>
        <p:grpSpPr>
          <a:xfrm>
            <a:off x="8226059" y="1648778"/>
            <a:ext cx="1354714" cy="1029999"/>
            <a:chOff x="9058656" y="1468247"/>
            <a:chExt cx="1986914" cy="1510665"/>
          </a:xfrm>
        </p:grpSpPr>
        <p:sp>
          <p:nvSpPr>
            <p:cNvPr id="6" name="object 6"/>
            <p:cNvSpPr/>
            <p:nvPr/>
          </p:nvSpPr>
          <p:spPr>
            <a:xfrm>
              <a:off x="11001756" y="1555242"/>
              <a:ext cx="0" cy="1348105"/>
            </a:xfrm>
            <a:custGeom>
              <a:avLst/>
              <a:gdLst/>
              <a:ahLst/>
              <a:cxnLst/>
              <a:rect l="l" t="t" r="r" b="b"/>
              <a:pathLst>
                <a:path h="1348105">
                  <a:moveTo>
                    <a:pt x="0" y="0"/>
                  </a:moveTo>
                  <a:lnTo>
                    <a:pt x="0" y="1347978"/>
                  </a:lnTo>
                </a:path>
              </a:pathLst>
            </a:custGeom>
            <a:ln w="28956">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p:nvPr/>
          </p:nvSpPr>
          <p:spPr>
            <a:xfrm>
              <a:off x="10958310" y="1482864"/>
              <a:ext cx="86995" cy="1492885"/>
            </a:xfrm>
            <a:custGeom>
              <a:avLst/>
              <a:gdLst/>
              <a:ahLst/>
              <a:cxnLst/>
              <a:rect l="l" t="t" r="r" b="b"/>
              <a:pathLst>
                <a:path w="86995" h="1492885">
                  <a:moveTo>
                    <a:pt x="86868" y="1405890"/>
                  </a:moveTo>
                  <a:lnTo>
                    <a:pt x="0" y="1405890"/>
                  </a:lnTo>
                  <a:lnTo>
                    <a:pt x="43434" y="1492758"/>
                  </a:lnTo>
                  <a:lnTo>
                    <a:pt x="86868" y="1405890"/>
                  </a:lnTo>
                  <a:close/>
                </a:path>
                <a:path w="86995" h="1492885">
                  <a:moveTo>
                    <a:pt x="86868" y="86868"/>
                  </a:moveTo>
                  <a:lnTo>
                    <a:pt x="43434" y="0"/>
                  </a:lnTo>
                  <a:lnTo>
                    <a:pt x="0" y="86868"/>
                  </a:lnTo>
                  <a:lnTo>
                    <a:pt x="86868" y="86868"/>
                  </a:lnTo>
                  <a:close/>
                </a:path>
              </a:pathLst>
            </a:custGeom>
            <a:solidFill>
              <a:srgbClr val="0000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 name="object 8"/>
            <p:cNvSpPr/>
            <p:nvPr/>
          </p:nvSpPr>
          <p:spPr>
            <a:xfrm>
              <a:off x="9330690" y="1677924"/>
              <a:ext cx="119380" cy="234315"/>
            </a:xfrm>
            <a:custGeom>
              <a:avLst/>
              <a:gdLst/>
              <a:ahLst/>
              <a:cxnLst/>
              <a:rect l="l" t="t" r="r" b="b"/>
              <a:pathLst>
                <a:path w="119379" h="234314">
                  <a:moveTo>
                    <a:pt x="0" y="233934"/>
                  </a:moveTo>
                  <a:lnTo>
                    <a:pt x="0" y="0"/>
                  </a:lnTo>
                </a:path>
                <a:path w="119379" h="234314">
                  <a:moveTo>
                    <a:pt x="0" y="233934"/>
                  </a:moveTo>
                  <a:lnTo>
                    <a:pt x="118872" y="233934"/>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9" name="object 9"/>
            <p:cNvSpPr/>
            <p:nvPr/>
          </p:nvSpPr>
          <p:spPr>
            <a:xfrm>
              <a:off x="9330690" y="1677924"/>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 name="object 10"/>
            <p:cNvSpPr/>
            <p:nvPr/>
          </p:nvSpPr>
          <p:spPr>
            <a:xfrm>
              <a:off x="9449562" y="1482852"/>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 name="object 11"/>
            <p:cNvSpPr/>
            <p:nvPr/>
          </p:nvSpPr>
          <p:spPr>
            <a:xfrm>
              <a:off x="9449562" y="1913381"/>
              <a:ext cx="0" cy="1050925"/>
            </a:xfrm>
            <a:custGeom>
              <a:avLst/>
              <a:gdLst/>
              <a:ahLst/>
              <a:cxnLst/>
              <a:rect l="l" t="t" r="r" b="b"/>
              <a:pathLst>
                <a:path h="1050925">
                  <a:moveTo>
                    <a:pt x="0" y="1050798"/>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12" name="object 12"/>
            <p:cNvPicPr/>
            <p:nvPr/>
          </p:nvPicPr>
          <p:blipFill>
            <a:blip r:embed="rId2" cstate="print"/>
            <a:stretch>
              <a:fillRect/>
            </a:stretch>
          </p:blipFill>
          <p:spPr>
            <a:xfrm>
              <a:off x="9058656" y="1680972"/>
              <a:ext cx="208787" cy="234696"/>
            </a:xfrm>
            <a:prstGeom prst="rect">
              <a:avLst/>
            </a:prstGeom>
          </p:spPr>
        </p:pic>
      </p:grpSp>
      <p:sp>
        <p:nvSpPr>
          <p:cNvPr id="13" name="object 13"/>
          <p:cNvSpPr txBox="1"/>
          <p:nvPr/>
        </p:nvSpPr>
        <p:spPr>
          <a:xfrm>
            <a:off x="9604545" y="2007855"/>
            <a:ext cx="696624" cy="208029"/>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95" b="1" i="0" u="none" strike="noStrike" kern="1200" cap="none" spc="-7" normalizeH="0" baseline="0" noProof="0" dirty="0">
                <a:ln>
                  <a:noFill/>
                </a:ln>
                <a:solidFill>
                  <a:srgbClr val="0000FF"/>
                </a:solidFill>
                <a:effectLst/>
                <a:uLnTx/>
                <a:uFillTx/>
                <a:latin typeface="Verdana"/>
                <a:ea typeface="+mn-ea"/>
                <a:cs typeface="Verdana"/>
              </a:rPr>
              <a:t>0.05V~</a:t>
            </a:r>
            <a:endParaRPr kumimoji="0" sz="1295" b="0" i="0" u="none" strike="noStrike" kern="1200" cap="none" spc="0" normalizeH="0" baseline="0" noProof="0">
              <a:ln>
                <a:noFill/>
              </a:ln>
              <a:solidFill>
                <a:prstClr val="black"/>
              </a:solidFill>
              <a:effectLst/>
              <a:uLnTx/>
              <a:uFillTx/>
              <a:latin typeface="Verdana"/>
              <a:ea typeface="+mn-ea"/>
              <a:cs typeface="Verdana"/>
            </a:endParaRPr>
          </a:p>
        </p:txBody>
      </p:sp>
      <p:grpSp>
        <p:nvGrpSpPr>
          <p:cNvPr id="14" name="object 14"/>
          <p:cNvGrpSpPr/>
          <p:nvPr/>
        </p:nvGrpSpPr>
        <p:grpSpPr>
          <a:xfrm>
            <a:off x="5086305" y="2283231"/>
            <a:ext cx="60614" cy="326015"/>
            <a:chOff x="4453684" y="2398778"/>
            <a:chExt cx="88900" cy="478155"/>
          </a:xfrm>
        </p:grpSpPr>
        <p:sp>
          <p:nvSpPr>
            <p:cNvPr id="15" name="object 15"/>
            <p:cNvSpPr/>
            <p:nvPr/>
          </p:nvSpPr>
          <p:spPr>
            <a:xfrm>
              <a:off x="4497026" y="2471164"/>
              <a:ext cx="2540" cy="333375"/>
            </a:xfrm>
            <a:custGeom>
              <a:avLst/>
              <a:gdLst/>
              <a:ahLst/>
              <a:cxnLst/>
              <a:rect l="l" t="t" r="r" b="b"/>
              <a:pathLst>
                <a:path w="2539" h="333375">
                  <a:moveTo>
                    <a:pt x="2120" y="0"/>
                  </a:moveTo>
                  <a:lnTo>
                    <a:pt x="0" y="332994"/>
                  </a:lnTo>
                </a:path>
              </a:pathLst>
            </a:custGeom>
            <a:ln w="28956">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6"/>
            <p:cNvSpPr/>
            <p:nvPr/>
          </p:nvSpPr>
          <p:spPr>
            <a:xfrm>
              <a:off x="4453674" y="2398788"/>
              <a:ext cx="88900" cy="478155"/>
            </a:xfrm>
            <a:custGeom>
              <a:avLst/>
              <a:gdLst/>
              <a:ahLst/>
              <a:cxnLst/>
              <a:rect l="l" t="t" r="r" b="b"/>
              <a:pathLst>
                <a:path w="88900" h="478155">
                  <a:moveTo>
                    <a:pt x="86868" y="391185"/>
                  </a:moveTo>
                  <a:lnTo>
                    <a:pt x="0" y="390626"/>
                  </a:lnTo>
                  <a:lnTo>
                    <a:pt x="42875" y="477774"/>
                  </a:lnTo>
                  <a:lnTo>
                    <a:pt x="86868" y="391185"/>
                  </a:lnTo>
                  <a:close/>
                </a:path>
                <a:path w="88900" h="478155">
                  <a:moveTo>
                    <a:pt x="88811" y="87134"/>
                  </a:moveTo>
                  <a:lnTo>
                    <a:pt x="45923" y="0"/>
                  </a:lnTo>
                  <a:lnTo>
                    <a:pt x="1943" y="86588"/>
                  </a:lnTo>
                  <a:lnTo>
                    <a:pt x="88811" y="87134"/>
                  </a:lnTo>
                  <a:close/>
                </a:path>
              </a:pathLst>
            </a:custGeom>
            <a:solidFill>
              <a:srgbClr val="0000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17" name="object 17"/>
          <p:cNvSpPr txBox="1"/>
          <p:nvPr/>
        </p:nvSpPr>
        <p:spPr>
          <a:xfrm>
            <a:off x="5158435" y="2320634"/>
            <a:ext cx="607868" cy="218236"/>
          </a:xfrm>
          <a:prstGeom prst="rect">
            <a:avLst/>
          </a:prstGeom>
        </p:spPr>
        <p:txBody>
          <a:bodyPr vert="horz" wrap="square" lIns="0" tIns="8226" rIns="0" bIns="0" rtlCol="0">
            <a:spAutoFit/>
          </a:bodyPr>
          <a:lstStyle/>
          <a:p>
            <a:pPr marL="8659" marR="0" lvl="0" indent="0" algn="l" defTabSz="914400" rtl="0" eaLnBrk="1" fontAlgn="auto" latinLnBrk="0" hangingPunct="1">
              <a:lnSpc>
                <a:spcPct val="100000"/>
              </a:lnSpc>
              <a:spcBef>
                <a:spcPts val="65"/>
              </a:spcBef>
              <a:spcAft>
                <a:spcPts val="0"/>
              </a:spcAft>
              <a:buClrTx/>
              <a:buSzTx/>
              <a:buFontTx/>
              <a:buNone/>
              <a:tabLst/>
              <a:defRPr/>
            </a:pPr>
            <a:r>
              <a:rPr kumimoji="0" sz="1364" b="1" i="0" u="none" strike="noStrike" kern="1200" cap="none" spc="-7" normalizeH="0" baseline="0" noProof="0" dirty="0">
                <a:ln>
                  <a:noFill/>
                </a:ln>
                <a:solidFill>
                  <a:srgbClr val="0000FF"/>
                </a:solidFill>
                <a:effectLst/>
                <a:uLnTx/>
                <a:uFillTx/>
                <a:latin typeface="Verdana"/>
                <a:ea typeface="+mn-ea"/>
                <a:cs typeface="Verdana"/>
              </a:rPr>
              <a:t>0.2V~</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grpSp>
        <p:nvGrpSpPr>
          <p:cNvPr id="18" name="object 18"/>
          <p:cNvGrpSpPr/>
          <p:nvPr/>
        </p:nvGrpSpPr>
        <p:grpSpPr>
          <a:xfrm>
            <a:off x="4732115" y="2198544"/>
            <a:ext cx="296141" cy="467158"/>
            <a:chOff x="3934205" y="2274570"/>
            <a:chExt cx="434340" cy="685165"/>
          </a:xfrm>
        </p:grpSpPr>
        <p:sp>
          <p:nvSpPr>
            <p:cNvPr id="19" name="object 19"/>
            <p:cNvSpPr/>
            <p:nvPr/>
          </p:nvSpPr>
          <p:spPr>
            <a:xfrm>
              <a:off x="4206239" y="2513076"/>
              <a:ext cx="119380" cy="234315"/>
            </a:xfrm>
            <a:custGeom>
              <a:avLst/>
              <a:gdLst/>
              <a:ahLst/>
              <a:cxnLst/>
              <a:rect l="l" t="t" r="r" b="b"/>
              <a:pathLst>
                <a:path w="119379" h="234314">
                  <a:moveTo>
                    <a:pt x="0" y="233934"/>
                  </a:moveTo>
                  <a:lnTo>
                    <a:pt x="0" y="0"/>
                  </a:lnTo>
                </a:path>
                <a:path w="119379" h="234314">
                  <a:moveTo>
                    <a:pt x="0" y="233934"/>
                  </a:moveTo>
                  <a:lnTo>
                    <a:pt x="118872" y="233934"/>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0" name="object 20"/>
            <p:cNvSpPr/>
            <p:nvPr/>
          </p:nvSpPr>
          <p:spPr>
            <a:xfrm>
              <a:off x="4206239" y="2513076"/>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1" name="object 21"/>
            <p:cNvSpPr/>
            <p:nvPr/>
          </p:nvSpPr>
          <p:spPr>
            <a:xfrm>
              <a:off x="4325111" y="2318004"/>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2" name="object 22"/>
            <p:cNvSpPr/>
            <p:nvPr/>
          </p:nvSpPr>
          <p:spPr>
            <a:xfrm>
              <a:off x="4281683" y="2274570"/>
              <a:ext cx="86995" cy="86995"/>
            </a:xfrm>
            <a:custGeom>
              <a:avLst/>
              <a:gdLst/>
              <a:ahLst/>
              <a:cxnLst/>
              <a:rect l="l" t="t" r="r" b="b"/>
              <a:pathLst>
                <a:path w="86995" h="86994">
                  <a:moveTo>
                    <a:pt x="43421" y="0"/>
                  </a:moveTo>
                  <a:lnTo>
                    <a:pt x="26519" y="3412"/>
                  </a:lnTo>
                  <a:lnTo>
                    <a:pt x="12714" y="12720"/>
                  </a:lnTo>
                  <a:lnTo>
                    <a:pt x="3407" y="26526"/>
                  </a:lnTo>
                  <a:lnTo>
                    <a:pt x="0" y="43433"/>
                  </a:lnTo>
                  <a:lnTo>
                    <a:pt x="3412" y="60341"/>
                  </a:lnTo>
                  <a:lnTo>
                    <a:pt x="12720" y="74147"/>
                  </a:lnTo>
                  <a:lnTo>
                    <a:pt x="26526" y="83455"/>
                  </a:lnTo>
                  <a:lnTo>
                    <a:pt x="43434" y="86867"/>
                  </a:lnTo>
                  <a:lnTo>
                    <a:pt x="60341" y="83455"/>
                  </a:lnTo>
                  <a:lnTo>
                    <a:pt x="74147" y="74147"/>
                  </a:lnTo>
                  <a:lnTo>
                    <a:pt x="83455" y="60341"/>
                  </a:lnTo>
                  <a:lnTo>
                    <a:pt x="86868" y="43433"/>
                  </a:lnTo>
                  <a:lnTo>
                    <a:pt x="83447" y="26526"/>
                  </a:lnTo>
                  <a:lnTo>
                    <a:pt x="74136" y="12720"/>
                  </a:lnTo>
                  <a:lnTo>
                    <a:pt x="60328" y="3412"/>
                  </a:lnTo>
                  <a:lnTo>
                    <a:pt x="43421"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3" name="object 23"/>
            <p:cNvSpPr/>
            <p:nvPr/>
          </p:nvSpPr>
          <p:spPr>
            <a:xfrm>
              <a:off x="4325111" y="2748534"/>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24" name="object 24"/>
            <p:cNvPicPr/>
            <p:nvPr/>
          </p:nvPicPr>
          <p:blipFill>
            <a:blip r:embed="rId3" cstate="print"/>
            <a:stretch>
              <a:fillRect/>
            </a:stretch>
          </p:blipFill>
          <p:spPr>
            <a:xfrm>
              <a:off x="3934205" y="2516124"/>
              <a:ext cx="208788" cy="234696"/>
            </a:xfrm>
            <a:prstGeom prst="rect">
              <a:avLst/>
            </a:prstGeom>
          </p:spPr>
        </p:pic>
      </p:grpSp>
      <p:sp>
        <p:nvSpPr>
          <p:cNvPr id="25" name="object 25"/>
          <p:cNvSpPr txBox="1"/>
          <p:nvPr/>
        </p:nvSpPr>
        <p:spPr>
          <a:xfrm>
            <a:off x="4861495" y="2004052"/>
            <a:ext cx="253278"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5" normalizeH="0" baseline="13888" noProof="0" dirty="0">
                <a:ln>
                  <a:noFill/>
                </a:ln>
                <a:solidFill>
                  <a:prstClr val="black"/>
                </a:solidFill>
                <a:effectLst/>
                <a:uLnTx/>
                <a:uFillTx/>
                <a:latin typeface="Verdana"/>
                <a:ea typeface="+mn-ea"/>
                <a:cs typeface="Verdana"/>
              </a:rPr>
              <a:t>V</a:t>
            </a:r>
            <a:r>
              <a:rPr kumimoji="0" sz="818" b="0" i="0" u="none" strike="noStrike" kern="1200" cap="none" spc="-17" normalizeH="0" baseline="0" noProof="0" dirty="0">
                <a:ln>
                  <a:noFill/>
                </a:ln>
                <a:solidFill>
                  <a:prstClr val="black"/>
                </a:solidFill>
                <a:effectLst/>
                <a:uLnTx/>
                <a:uFillTx/>
                <a:latin typeface="Verdana"/>
                <a:ea typeface="+mn-ea"/>
                <a:cs typeface="Verdana"/>
              </a:rPr>
              <a:t>in</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grpSp>
        <p:nvGrpSpPr>
          <p:cNvPr id="26" name="object 26"/>
          <p:cNvGrpSpPr/>
          <p:nvPr/>
        </p:nvGrpSpPr>
        <p:grpSpPr>
          <a:xfrm>
            <a:off x="4313362" y="3312448"/>
            <a:ext cx="209983" cy="513917"/>
            <a:chOff x="3320034" y="3908297"/>
            <a:chExt cx="307975" cy="753745"/>
          </a:xfrm>
        </p:grpSpPr>
        <p:sp>
          <p:nvSpPr>
            <p:cNvPr id="27" name="object 27"/>
            <p:cNvSpPr/>
            <p:nvPr/>
          </p:nvSpPr>
          <p:spPr>
            <a:xfrm>
              <a:off x="3473196" y="3918203"/>
              <a:ext cx="0" cy="511809"/>
            </a:xfrm>
            <a:custGeom>
              <a:avLst/>
              <a:gdLst/>
              <a:ahLst/>
              <a:cxnLst/>
              <a:rect l="l" t="t" r="r" b="b"/>
              <a:pathLst>
                <a:path h="511810">
                  <a:moveTo>
                    <a:pt x="0" y="511302"/>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8" name="object 28"/>
            <p:cNvSpPr/>
            <p:nvPr/>
          </p:nvSpPr>
          <p:spPr>
            <a:xfrm>
              <a:off x="3320034" y="3922775"/>
              <a:ext cx="307975" cy="0"/>
            </a:xfrm>
            <a:custGeom>
              <a:avLst/>
              <a:gdLst/>
              <a:ahLst/>
              <a:cxnLst/>
              <a:rect l="l" t="t" r="r" b="b"/>
              <a:pathLst>
                <a:path w="307975">
                  <a:moveTo>
                    <a:pt x="307848" y="0"/>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9" name="object 29"/>
            <p:cNvSpPr/>
            <p:nvPr/>
          </p:nvSpPr>
          <p:spPr>
            <a:xfrm>
              <a:off x="3355848" y="4547615"/>
              <a:ext cx="234950" cy="0"/>
            </a:xfrm>
            <a:custGeom>
              <a:avLst/>
              <a:gdLst/>
              <a:ahLst/>
              <a:cxnLst/>
              <a:rect l="l" t="t" r="r" b="b"/>
              <a:pathLst>
                <a:path w="234950">
                  <a:moveTo>
                    <a:pt x="0" y="0"/>
                  </a:moveTo>
                  <a:lnTo>
                    <a:pt x="23469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0" name="object 30"/>
            <p:cNvSpPr/>
            <p:nvPr/>
          </p:nvSpPr>
          <p:spPr>
            <a:xfrm>
              <a:off x="3414522" y="4597907"/>
              <a:ext cx="116205" cy="0"/>
            </a:xfrm>
            <a:custGeom>
              <a:avLst/>
              <a:gdLst/>
              <a:ahLst/>
              <a:cxnLst/>
              <a:rect l="l" t="t" r="r" b="b"/>
              <a:pathLst>
                <a:path w="116204">
                  <a:moveTo>
                    <a:pt x="0" y="0"/>
                  </a:moveTo>
                  <a:lnTo>
                    <a:pt x="115823"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1" name="object 31"/>
            <p:cNvSpPr/>
            <p:nvPr/>
          </p:nvSpPr>
          <p:spPr>
            <a:xfrm>
              <a:off x="3441954" y="4647437"/>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2" name="object 32"/>
            <p:cNvSpPr/>
            <p:nvPr/>
          </p:nvSpPr>
          <p:spPr>
            <a:xfrm>
              <a:off x="3473196" y="4351781"/>
              <a:ext cx="0" cy="196215"/>
            </a:xfrm>
            <a:custGeom>
              <a:avLst/>
              <a:gdLst/>
              <a:ahLst/>
              <a:cxnLst/>
              <a:rect l="l" t="t" r="r" b="b"/>
              <a:pathLst>
                <a:path h="196214">
                  <a:moveTo>
                    <a:pt x="0" y="195833"/>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3" name="object 33"/>
          <p:cNvGrpSpPr/>
          <p:nvPr/>
        </p:nvGrpSpPr>
        <p:grpSpPr>
          <a:xfrm>
            <a:off x="3425891" y="2191183"/>
            <a:ext cx="1667741" cy="1635269"/>
            <a:chOff x="2018410" y="2263775"/>
            <a:chExt cx="2446020" cy="2398395"/>
          </a:xfrm>
        </p:grpSpPr>
        <p:sp>
          <p:nvSpPr>
            <p:cNvPr id="34" name="object 34"/>
            <p:cNvSpPr/>
            <p:nvPr/>
          </p:nvSpPr>
          <p:spPr>
            <a:xfrm>
              <a:off x="2937509" y="2278379"/>
              <a:ext cx="546100" cy="704215"/>
            </a:xfrm>
            <a:custGeom>
              <a:avLst/>
              <a:gdLst/>
              <a:ahLst/>
              <a:cxnLst/>
              <a:rect l="l" t="t" r="r" b="b"/>
              <a:pathLst>
                <a:path w="546100" h="704214">
                  <a:moveTo>
                    <a:pt x="0" y="0"/>
                  </a:moveTo>
                  <a:lnTo>
                    <a:pt x="545592" y="352044"/>
                  </a:lnTo>
                  <a:lnTo>
                    <a:pt x="0" y="704088"/>
                  </a:lnTo>
                  <a:lnTo>
                    <a:pt x="0" y="0"/>
                  </a:lnTo>
                  <a:close/>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5" name="object 35"/>
            <p:cNvSpPr/>
            <p:nvPr/>
          </p:nvSpPr>
          <p:spPr>
            <a:xfrm>
              <a:off x="3473957" y="2632709"/>
              <a:ext cx="464820" cy="0"/>
            </a:xfrm>
            <a:custGeom>
              <a:avLst/>
              <a:gdLst/>
              <a:ahLst/>
              <a:cxnLst/>
              <a:rect l="l" t="t" r="r" b="b"/>
              <a:pathLst>
                <a:path w="464820">
                  <a:moveTo>
                    <a:pt x="0" y="0"/>
                  </a:moveTo>
                  <a:lnTo>
                    <a:pt x="46482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6" name="object 36"/>
            <p:cNvSpPr/>
            <p:nvPr/>
          </p:nvSpPr>
          <p:spPr>
            <a:xfrm>
              <a:off x="2033015" y="2357627"/>
              <a:ext cx="886460" cy="0"/>
            </a:xfrm>
            <a:custGeom>
              <a:avLst/>
              <a:gdLst/>
              <a:ahLst/>
              <a:cxnLst/>
              <a:rect l="l" t="t" r="r" b="b"/>
              <a:pathLst>
                <a:path w="886460">
                  <a:moveTo>
                    <a:pt x="0" y="0"/>
                  </a:moveTo>
                  <a:lnTo>
                    <a:pt x="88620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7" name="object 37"/>
            <p:cNvSpPr/>
            <p:nvPr/>
          </p:nvSpPr>
          <p:spPr>
            <a:xfrm>
              <a:off x="3473195" y="3332225"/>
              <a:ext cx="0" cy="508634"/>
            </a:xfrm>
            <a:custGeom>
              <a:avLst/>
              <a:gdLst/>
              <a:ahLst/>
              <a:cxnLst/>
              <a:rect l="l" t="t" r="r" b="b"/>
              <a:pathLst>
                <a:path h="508635">
                  <a:moveTo>
                    <a:pt x="0" y="508254"/>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38" name="object 38"/>
            <p:cNvPicPr/>
            <p:nvPr/>
          </p:nvPicPr>
          <p:blipFill>
            <a:blip r:embed="rId4" cstate="print"/>
            <a:stretch>
              <a:fillRect/>
            </a:stretch>
          </p:blipFill>
          <p:spPr>
            <a:xfrm>
              <a:off x="3429756" y="3288791"/>
              <a:ext cx="86868" cy="86867"/>
            </a:xfrm>
            <a:prstGeom prst="rect">
              <a:avLst/>
            </a:prstGeom>
          </p:spPr>
        </p:pic>
        <p:sp>
          <p:nvSpPr>
            <p:cNvPr id="39" name="object 39"/>
            <p:cNvSpPr/>
            <p:nvPr/>
          </p:nvSpPr>
          <p:spPr>
            <a:xfrm>
              <a:off x="3320033" y="3842003"/>
              <a:ext cx="307975" cy="0"/>
            </a:xfrm>
            <a:custGeom>
              <a:avLst/>
              <a:gdLst/>
              <a:ahLst/>
              <a:cxnLst/>
              <a:rect l="l" t="t" r="r" b="b"/>
              <a:pathLst>
                <a:path w="307975">
                  <a:moveTo>
                    <a:pt x="307848" y="0"/>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0" name="object 40"/>
            <p:cNvSpPr/>
            <p:nvPr/>
          </p:nvSpPr>
          <p:spPr>
            <a:xfrm>
              <a:off x="4325111" y="2917698"/>
              <a:ext cx="5080" cy="741680"/>
            </a:xfrm>
            <a:custGeom>
              <a:avLst/>
              <a:gdLst/>
              <a:ahLst/>
              <a:cxnLst/>
              <a:rect l="l" t="t" r="r" b="b"/>
              <a:pathLst>
                <a:path w="5079" h="741679">
                  <a:moveTo>
                    <a:pt x="0" y="0"/>
                  </a:moveTo>
                  <a:lnTo>
                    <a:pt x="4572" y="741426"/>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1" name="object 41"/>
            <p:cNvSpPr/>
            <p:nvPr/>
          </p:nvSpPr>
          <p:spPr>
            <a:xfrm>
              <a:off x="2497835" y="3315461"/>
              <a:ext cx="1832610" cy="12700"/>
            </a:xfrm>
            <a:custGeom>
              <a:avLst/>
              <a:gdLst/>
              <a:ahLst/>
              <a:cxnLst/>
              <a:rect l="l" t="t" r="r" b="b"/>
              <a:pathLst>
                <a:path w="1832610" h="12700">
                  <a:moveTo>
                    <a:pt x="0" y="12191"/>
                  </a:moveTo>
                  <a:lnTo>
                    <a:pt x="183261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42" name="object 42"/>
            <p:cNvPicPr/>
            <p:nvPr/>
          </p:nvPicPr>
          <p:blipFill>
            <a:blip r:embed="rId5" cstate="print"/>
            <a:stretch>
              <a:fillRect/>
            </a:stretch>
          </p:blipFill>
          <p:spPr>
            <a:xfrm>
              <a:off x="4287011" y="3272024"/>
              <a:ext cx="86867" cy="86868"/>
            </a:xfrm>
            <a:prstGeom prst="rect">
              <a:avLst/>
            </a:prstGeom>
          </p:spPr>
        </p:pic>
        <p:sp>
          <p:nvSpPr>
            <p:cNvPr id="43" name="object 43"/>
            <p:cNvSpPr/>
            <p:nvPr/>
          </p:nvSpPr>
          <p:spPr>
            <a:xfrm>
              <a:off x="2497835" y="2887980"/>
              <a:ext cx="3175" cy="450850"/>
            </a:xfrm>
            <a:custGeom>
              <a:avLst/>
              <a:gdLst/>
              <a:ahLst/>
              <a:cxnLst/>
              <a:rect l="l" t="t" r="r" b="b"/>
              <a:pathLst>
                <a:path w="3175" h="450850">
                  <a:moveTo>
                    <a:pt x="0" y="0"/>
                  </a:moveTo>
                  <a:lnTo>
                    <a:pt x="3048" y="450342"/>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4" name="object 44"/>
            <p:cNvSpPr/>
            <p:nvPr/>
          </p:nvSpPr>
          <p:spPr>
            <a:xfrm>
              <a:off x="2497073" y="2896362"/>
              <a:ext cx="440690" cy="0"/>
            </a:xfrm>
            <a:custGeom>
              <a:avLst/>
              <a:gdLst/>
              <a:ahLst/>
              <a:cxnLst/>
              <a:rect l="l" t="t" r="r" b="b"/>
              <a:pathLst>
                <a:path w="440689">
                  <a:moveTo>
                    <a:pt x="0" y="0"/>
                  </a:moveTo>
                  <a:lnTo>
                    <a:pt x="44043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5" name="object 45"/>
            <p:cNvSpPr/>
            <p:nvPr/>
          </p:nvSpPr>
          <p:spPr>
            <a:xfrm>
              <a:off x="4331969" y="4139945"/>
              <a:ext cx="0" cy="243204"/>
            </a:xfrm>
            <a:custGeom>
              <a:avLst/>
              <a:gdLst/>
              <a:ahLst/>
              <a:cxnLst/>
              <a:rect l="l" t="t" r="r" b="b"/>
              <a:pathLst>
                <a:path h="243204">
                  <a:moveTo>
                    <a:pt x="0" y="0"/>
                  </a:moveTo>
                  <a:lnTo>
                    <a:pt x="0" y="243077"/>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6" name="object 46"/>
            <p:cNvSpPr/>
            <p:nvPr/>
          </p:nvSpPr>
          <p:spPr>
            <a:xfrm>
              <a:off x="4215383" y="4547616"/>
              <a:ext cx="234315" cy="0"/>
            </a:xfrm>
            <a:custGeom>
              <a:avLst/>
              <a:gdLst/>
              <a:ahLst/>
              <a:cxnLst/>
              <a:rect l="l" t="t" r="r" b="b"/>
              <a:pathLst>
                <a:path w="234314">
                  <a:moveTo>
                    <a:pt x="0" y="0"/>
                  </a:moveTo>
                  <a:lnTo>
                    <a:pt x="23393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7" name="object 47"/>
            <p:cNvSpPr/>
            <p:nvPr/>
          </p:nvSpPr>
          <p:spPr>
            <a:xfrm>
              <a:off x="4274057" y="4597907"/>
              <a:ext cx="115570" cy="0"/>
            </a:xfrm>
            <a:custGeom>
              <a:avLst/>
              <a:gdLst/>
              <a:ahLst/>
              <a:cxnLst/>
              <a:rect l="l" t="t" r="r" b="b"/>
              <a:pathLst>
                <a:path w="115570">
                  <a:moveTo>
                    <a:pt x="0" y="0"/>
                  </a:moveTo>
                  <a:lnTo>
                    <a:pt x="11506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8" name="object 48"/>
            <p:cNvSpPr/>
            <p:nvPr/>
          </p:nvSpPr>
          <p:spPr>
            <a:xfrm>
              <a:off x="4301489" y="4647438"/>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9" name="object 49"/>
            <p:cNvSpPr/>
            <p:nvPr/>
          </p:nvSpPr>
          <p:spPr>
            <a:xfrm>
              <a:off x="4332731" y="4351782"/>
              <a:ext cx="0" cy="196215"/>
            </a:xfrm>
            <a:custGeom>
              <a:avLst/>
              <a:gdLst/>
              <a:ahLst/>
              <a:cxnLst/>
              <a:rect l="l" t="t" r="r" b="b"/>
              <a:pathLst>
                <a:path h="196214">
                  <a:moveTo>
                    <a:pt x="0" y="195833"/>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50" name="object 50"/>
          <p:cNvSpPr txBox="1"/>
          <p:nvPr/>
        </p:nvSpPr>
        <p:spPr>
          <a:xfrm>
            <a:off x="5015824" y="2822926"/>
            <a:ext cx="328613"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0" normalizeH="0" baseline="13888" noProof="0" dirty="0">
                <a:ln>
                  <a:noFill/>
                </a:ln>
                <a:solidFill>
                  <a:prstClr val="black"/>
                </a:solidFill>
                <a:effectLst/>
                <a:uLnTx/>
                <a:uFillTx/>
                <a:latin typeface="Verdana"/>
                <a:ea typeface="+mn-ea"/>
                <a:cs typeface="Verdana"/>
              </a:rPr>
              <a:t>V</a:t>
            </a:r>
            <a:r>
              <a:rPr kumimoji="0" sz="818" b="0" i="0" u="none" strike="noStrike" kern="1200" cap="none" spc="-14" normalizeH="0" baseline="0" noProof="0" dirty="0">
                <a:ln>
                  <a:noFill/>
                </a:ln>
                <a:solidFill>
                  <a:prstClr val="black"/>
                </a:solidFill>
                <a:effectLst/>
                <a:uLnTx/>
                <a:uFillTx/>
                <a:latin typeface="Verdana"/>
                <a:ea typeface="+mn-ea"/>
                <a:cs typeface="Verdana"/>
              </a:rPr>
              <a:t>out</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sp>
        <p:nvSpPr>
          <p:cNvPr id="51" name="object 51"/>
          <p:cNvSpPr txBox="1"/>
          <p:nvPr/>
        </p:nvSpPr>
        <p:spPr>
          <a:xfrm>
            <a:off x="4104512" y="2329624"/>
            <a:ext cx="124258" cy="197578"/>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34" normalizeH="0" baseline="0" noProof="0" dirty="0">
                <a:ln>
                  <a:noFill/>
                </a:ln>
                <a:solidFill>
                  <a:prstClr val="black"/>
                </a:solidFill>
                <a:effectLst/>
                <a:uLnTx/>
                <a:uFillTx/>
                <a:latin typeface="Verdana"/>
                <a:ea typeface="+mn-ea"/>
                <a:cs typeface="Verdana"/>
              </a:rPr>
              <a:t>A</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52" name="object 52"/>
          <p:cNvSpPr txBox="1"/>
          <p:nvPr/>
        </p:nvSpPr>
        <p:spPr>
          <a:xfrm>
            <a:off x="9010133" y="1382172"/>
            <a:ext cx="253278"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5" normalizeH="0" baseline="13888" noProof="0" dirty="0">
                <a:ln>
                  <a:noFill/>
                </a:ln>
                <a:solidFill>
                  <a:prstClr val="black"/>
                </a:solidFill>
                <a:effectLst/>
                <a:uLnTx/>
                <a:uFillTx/>
                <a:latin typeface="Verdana"/>
                <a:ea typeface="+mn-ea"/>
                <a:cs typeface="Verdana"/>
              </a:rPr>
              <a:t>V</a:t>
            </a:r>
            <a:r>
              <a:rPr kumimoji="0" sz="818" b="0" i="0" u="none" strike="noStrike" kern="1200" cap="none" spc="-17" normalizeH="0" baseline="0" noProof="0" dirty="0">
                <a:ln>
                  <a:noFill/>
                </a:ln>
                <a:solidFill>
                  <a:prstClr val="black"/>
                </a:solidFill>
                <a:effectLst/>
                <a:uLnTx/>
                <a:uFillTx/>
                <a:latin typeface="Verdana"/>
                <a:ea typeface="+mn-ea"/>
                <a:cs typeface="Verdana"/>
              </a:rPr>
              <a:t>in</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grpSp>
        <p:nvGrpSpPr>
          <p:cNvPr id="53" name="object 53"/>
          <p:cNvGrpSpPr/>
          <p:nvPr/>
        </p:nvGrpSpPr>
        <p:grpSpPr>
          <a:xfrm>
            <a:off x="7378593" y="1701772"/>
            <a:ext cx="1856509" cy="945573"/>
            <a:chOff x="7815706" y="1545973"/>
            <a:chExt cx="2722880" cy="1386840"/>
          </a:xfrm>
        </p:grpSpPr>
        <p:sp>
          <p:nvSpPr>
            <p:cNvPr id="54" name="object 54"/>
            <p:cNvSpPr/>
            <p:nvPr/>
          </p:nvSpPr>
          <p:spPr>
            <a:xfrm>
              <a:off x="8598407" y="2673858"/>
              <a:ext cx="1925955" cy="1270"/>
            </a:xfrm>
            <a:custGeom>
              <a:avLst/>
              <a:gdLst/>
              <a:ahLst/>
              <a:cxnLst/>
              <a:rect l="l" t="t" r="r" b="b"/>
              <a:pathLst>
                <a:path w="1925954" h="1269">
                  <a:moveTo>
                    <a:pt x="0" y="0"/>
                  </a:moveTo>
                  <a:lnTo>
                    <a:pt x="1925574" y="762"/>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5" name="object 55"/>
            <p:cNvSpPr/>
            <p:nvPr/>
          </p:nvSpPr>
          <p:spPr>
            <a:xfrm>
              <a:off x="7830311" y="1560578"/>
              <a:ext cx="755650" cy="1357630"/>
            </a:xfrm>
            <a:custGeom>
              <a:avLst/>
              <a:gdLst/>
              <a:ahLst/>
              <a:cxnLst/>
              <a:rect l="l" t="t" r="r" b="b"/>
              <a:pathLst>
                <a:path w="755650" h="1357630">
                  <a:moveTo>
                    <a:pt x="0" y="125857"/>
                  </a:moveTo>
                  <a:lnTo>
                    <a:pt x="9890" y="76868"/>
                  </a:lnTo>
                  <a:lnTo>
                    <a:pt x="36863" y="36863"/>
                  </a:lnTo>
                  <a:lnTo>
                    <a:pt x="76868" y="9890"/>
                  </a:lnTo>
                  <a:lnTo>
                    <a:pt x="125857" y="0"/>
                  </a:lnTo>
                  <a:lnTo>
                    <a:pt x="629285" y="0"/>
                  </a:lnTo>
                  <a:lnTo>
                    <a:pt x="678273" y="9890"/>
                  </a:lnTo>
                  <a:lnTo>
                    <a:pt x="718278" y="36863"/>
                  </a:lnTo>
                  <a:lnTo>
                    <a:pt x="745251" y="76868"/>
                  </a:lnTo>
                  <a:lnTo>
                    <a:pt x="755142" y="125857"/>
                  </a:lnTo>
                  <a:lnTo>
                    <a:pt x="755142" y="1231265"/>
                  </a:lnTo>
                  <a:lnTo>
                    <a:pt x="745251" y="1280253"/>
                  </a:lnTo>
                  <a:lnTo>
                    <a:pt x="718278" y="1320258"/>
                  </a:lnTo>
                  <a:lnTo>
                    <a:pt x="678273" y="1347231"/>
                  </a:lnTo>
                  <a:lnTo>
                    <a:pt x="629285" y="1357122"/>
                  </a:lnTo>
                  <a:lnTo>
                    <a:pt x="125857" y="1357122"/>
                  </a:lnTo>
                  <a:lnTo>
                    <a:pt x="76868" y="1347231"/>
                  </a:lnTo>
                  <a:lnTo>
                    <a:pt x="36863" y="1320258"/>
                  </a:lnTo>
                  <a:lnTo>
                    <a:pt x="9890" y="1280253"/>
                  </a:lnTo>
                  <a:lnTo>
                    <a:pt x="0" y="1231265"/>
                  </a:lnTo>
                  <a:lnTo>
                    <a:pt x="0" y="125857"/>
                  </a:lnTo>
                  <a:close/>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56" name="object 56"/>
          <p:cNvSpPr txBox="1"/>
          <p:nvPr/>
        </p:nvSpPr>
        <p:spPr>
          <a:xfrm>
            <a:off x="7570658" y="1882469"/>
            <a:ext cx="188834" cy="584489"/>
          </a:xfrm>
          <a:prstGeom prst="rect">
            <a:avLst/>
          </a:prstGeom>
        </p:spPr>
        <p:txBody>
          <a:bodyPr vert="vert" wrap="square" lIns="0" tIns="9525" rIns="0" bIns="0" rtlCol="0">
            <a:spAutoFit/>
          </a:bodyPr>
          <a:lstStyle/>
          <a:p>
            <a:pPr marL="8659" marR="0" lvl="0" indent="0" algn="l" defTabSz="914400" rtl="0" eaLnBrk="1" fontAlgn="auto" latinLnBrk="0" hangingPunct="1">
              <a:lnSpc>
                <a:spcPct val="100000"/>
              </a:lnSpc>
              <a:spcBef>
                <a:spcPts val="75"/>
              </a:spcBef>
              <a:spcAft>
                <a:spcPts val="0"/>
              </a:spcAft>
              <a:buClrTx/>
              <a:buSzTx/>
              <a:buFontTx/>
              <a:buNone/>
              <a:tabLst/>
              <a:defRPr/>
            </a:pPr>
            <a:r>
              <a:rPr kumimoji="0" sz="1227" b="0" i="0" u="none" strike="noStrike" kern="1200" cap="none" spc="-7" normalizeH="0" baseline="0" noProof="0" dirty="0">
                <a:ln>
                  <a:noFill/>
                </a:ln>
                <a:solidFill>
                  <a:prstClr val="black"/>
                </a:solidFill>
                <a:effectLst/>
                <a:uLnTx/>
                <a:uFillTx/>
                <a:latin typeface="Verdana"/>
                <a:ea typeface="+mn-ea"/>
                <a:cs typeface="Verdana"/>
              </a:rPr>
              <a:t>Control</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57" name="object 57"/>
          <p:cNvSpPr/>
          <p:nvPr/>
        </p:nvSpPr>
        <p:spPr>
          <a:xfrm>
            <a:off x="6565072" y="2361161"/>
            <a:ext cx="299605" cy="2165"/>
          </a:xfrm>
          <a:custGeom>
            <a:avLst/>
            <a:gdLst/>
            <a:ahLst/>
            <a:cxnLst/>
            <a:rect l="l" t="t" r="r" b="b"/>
            <a:pathLst>
              <a:path w="439420" h="3175">
                <a:moveTo>
                  <a:pt x="0" y="0"/>
                </a:moveTo>
                <a:lnTo>
                  <a:pt x="438912" y="3048"/>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8" name="object 58"/>
          <p:cNvSpPr txBox="1"/>
          <p:nvPr/>
        </p:nvSpPr>
        <p:spPr>
          <a:xfrm>
            <a:off x="6485887" y="2109176"/>
            <a:ext cx="124258" cy="197578"/>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34" normalizeH="0" baseline="0" noProof="0" dirty="0">
                <a:ln>
                  <a:noFill/>
                </a:ln>
                <a:solidFill>
                  <a:prstClr val="black"/>
                </a:solidFill>
                <a:effectLst/>
                <a:uLnTx/>
                <a:uFillTx/>
                <a:latin typeface="Verdana"/>
                <a:ea typeface="+mn-ea"/>
                <a:cs typeface="Verdana"/>
              </a:rPr>
              <a:t>V</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59" name="object 59"/>
          <p:cNvSpPr txBox="1"/>
          <p:nvPr/>
        </p:nvSpPr>
        <p:spPr>
          <a:xfrm>
            <a:off x="6592394" y="2199577"/>
            <a:ext cx="160193" cy="134612"/>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818" b="0" i="0" u="none" strike="noStrike" kern="1200" cap="none" spc="-17" normalizeH="0" baseline="0" noProof="0" dirty="0">
                <a:ln>
                  <a:noFill/>
                </a:ln>
                <a:solidFill>
                  <a:prstClr val="black"/>
                </a:solidFill>
                <a:effectLst/>
                <a:uLnTx/>
                <a:uFillTx/>
                <a:latin typeface="Verdana"/>
                <a:ea typeface="+mn-ea"/>
                <a:cs typeface="Verdana"/>
              </a:rPr>
              <a:t>ref</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grpSp>
        <p:nvGrpSpPr>
          <p:cNvPr id="60" name="object 60"/>
          <p:cNvGrpSpPr/>
          <p:nvPr/>
        </p:nvGrpSpPr>
        <p:grpSpPr>
          <a:xfrm>
            <a:off x="7807304" y="3341024"/>
            <a:ext cx="210416" cy="513917"/>
            <a:chOff x="8444483" y="3950208"/>
            <a:chExt cx="308610" cy="753745"/>
          </a:xfrm>
        </p:grpSpPr>
        <p:sp>
          <p:nvSpPr>
            <p:cNvPr id="61" name="object 61"/>
            <p:cNvSpPr/>
            <p:nvPr/>
          </p:nvSpPr>
          <p:spPr>
            <a:xfrm>
              <a:off x="8597645" y="3959352"/>
              <a:ext cx="0" cy="511809"/>
            </a:xfrm>
            <a:custGeom>
              <a:avLst/>
              <a:gdLst/>
              <a:ahLst/>
              <a:cxnLst/>
              <a:rect l="l" t="t" r="r" b="b"/>
              <a:pathLst>
                <a:path h="511810">
                  <a:moveTo>
                    <a:pt x="0" y="511302"/>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62" name="object 62"/>
            <p:cNvSpPr/>
            <p:nvPr/>
          </p:nvSpPr>
          <p:spPr>
            <a:xfrm>
              <a:off x="8444483" y="3964686"/>
              <a:ext cx="308610" cy="0"/>
            </a:xfrm>
            <a:custGeom>
              <a:avLst/>
              <a:gdLst/>
              <a:ahLst/>
              <a:cxnLst/>
              <a:rect l="l" t="t" r="r" b="b"/>
              <a:pathLst>
                <a:path w="308609">
                  <a:moveTo>
                    <a:pt x="308609" y="0"/>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63" name="object 63"/>
            <p:cNvSpPr/>
            <p:nvPr/>
          </p:nvSpPr>
          <p:spPr>
            <a:xfrm>
              <a:off x="8480297" y="4589526"/>
              <a:ext cx="234950" cy="0"/>
            </a:xfrm>
            <a:custGeom>
              <a:avLst/>
              <a:gdLst/>
              <a:ahLst/>
              <a:cxnLst/>
              <a:rect l="l" t="t" r="r" b="b"/>
              <a:pathLst>
                <a:path w="234950">
                  <a:moveTo>
                    <a:pt x="0" y="0"/>
                  </a:moveTo>
                  <a:lnTo>
                    <a:pt x="23469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64" name="object 64"/>
            <p:cNvSpPr/>
            <p:nvPr/>
          </p:nvSpPr>
          <p:spPr>
            <a:xfrm>
              <a:off x="8538971" y="4639056"/>
              <a:ext cx="116205" cy="0"/>
            </a:xfrm>
            <a:custGeom>
              <a:avLst/>
              <a:gdLst/>
              <a:ahLst/>
              <a:cxnLst/>
              <a:rect l="l" t="t" r="r" b="b"/>
              <a:pathLst>
                <a:path w="116204">
                  <a:moveTo>
                    <a:pt x="0" y="0"/>
                  </a:moveTo>
                  <a:lnTo>
                    <a:pt x="115823"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65" name="object 65"/>
            <p:cNvSpPr/>
            <p:nvPr/>
          </p:nvSpPr>
          <p:spPr>
            <a:xfrm>
              <a:off x="8566403" y="4689348"/>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66" name="object 66"/>
            <p:cNvSpPr/>
            <p:nvPr/>
          </p:nvSpPr>
          <p:spPr>
            <a:xfrm>
              <a:off x="8597645" y="4392930"/>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7" name="object 67"/>
          <p:cNvGrpSpPr/>
          <p:nvPr/>
        </p:nvGrpSpPr>
        <p:grpSpPr>
          <a:xfrm>
            <a:off x="6649151" y="1425979"/>
            <a:ext cx="2871788" cy="2429308"/>
            <a:chOff x="6745858" y="1141475"/>
            <a:chExt cx="4211955" cy="3562985"/>
          </a:xfrm>
        </p:grpSpPr>
        <p:sp>
          <p:nvSpPr>
            <p:cNvPr id="68" name="object 68"/>
            <p:cNvSpPr/>
            <p:nvPr/>
          </p:nvSpPr>
          <p:spPr>
            <a:xfrm>
              <a:off x="8597645" y="3374136"/>
              <a:ext cx="0" cy="508000"/>
            </a:xfrm>
            <a:custGeom>
              <a:avLst/>
              <a:gdLst/>
              <a:ahLst/>
              <a:cxnLst/>
              <a:rect l="l" t="t" r="r" b="b"/>
              <a:pathLst>
                <a:path h="508000">
                  <a:moveTo>
                    <a:pt x="0" y="507491"/>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69" name="object 69"/>
            <p:cNvPicPr/>
            <p:nvPr/>
          </p:nvPicPr>
          <p:blipFill>
            <a:blip r:embed="rId6" cstate="print"/>
            <a:stretch>
              <a:fillRect/>
            </a:stretch>
          </p:blipFill>
          <p:spPr>
            <a:xfrm>
              <a:off x="8554206" y="3330702"/>
              <a:ext cx="86867" cy="86867"/>
            </a:xfrm>
            <a:prstGeom prst="rect">
              <a:avLst/>
            </a:prstGeom>
          </p:spPr>
        </p:pic>
        <p:sp>
          <p:nvSpPr>
            <p:cNvPr id="70" name="object 70"/>
            <p:cNvSpPr/>
            <p:nvPr/>
          </p:nvSpPr>
          <p:spPr>
            <a:xfrm>
              <a:off x="8444483" y="3883152"/>
              <a:ext cx="308610" cy="0"/>
            </a:xfrm>
            <a:custGeom>
              <a:avLst/>
              <a:gdLst/>
              <a:ahLst/>
              <a:cxnLst/>
              <a:rect l="l" t="t" r="r" b="b"/>
              <a:pathLst>
                <a:path w="308609">
                  <a:moveTo>
                    <a:pt x="308609" y="0"/>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1" name="object 71"/>
            <p:cNvSpPr/>
            <p:nvPr/>
          </p:nvSpPr>
          <p:spPr>
            <a:xfrm>
              <a:off x="9449561" y="2959608"/>
              <a:ext cx="5080" cy="741045"/>
            </a:xfrm>
            <a:custGeom>
              <a:avLst/>
              <a:gdLst/>
              <a:ahLst/>
              <a:cxnLst/>
              <a:rect l="l" t="t" r="r" b="b"/>
              <a:pathLst>
                <a:path w="5079" h="741045">
                  <a:moveTo>
                    <a:pt x="0" y="0"/>
                  </a:moveTo>
                  <a:lnTo>
                    <a:pt x="4572" y="740664"/>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2" name="object 72"/>
            <p:cNvSpPr/>
            <p:nvPr/>
          </p:nvSpPr>
          <p:spPr>
            <a:xfrm>
              <a:off x="6760463" y="3357371"/>
              <a:ext cx="2694940" cy="7620"/>
            </a:xfrm>
            <a:custGeom>
              <a:avLst/>
              <a:gdLst/>
              <a:ahLst/>
              <a:cxnLst/>
              <a:rect l="l" t="t" r="r" b="b"/>
              <a:pathLst>
                <a:path w="2694940" h="7620">
                  <a:moveTo>
                    <a:pt x="0" y="7620"/>
                  </a:moveTo>
                  <a:lnTo>
                    <a:pt x="269443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73" name="object 73"/>
            <p:cNvPicPr/>
            <p:nvPr/>
          </p:nvPicPr>
          <p:blipFill>
            <a:blip r:embed="rId7" cstate="print"/>
            <a:stretch>
              <a:fillRect/>
            </a:stretch>
          </p:blipFill>
          <p:spPr>
            <a:xfrm>
              <a:off x="9411461" y="3313934"/>
              <a:ext cx="86868" cy="86868"/>
            </a:xfrm>
            <a:prstGeom prst="rect">
              <a:avLst/>
            </a:prstGeom>
          </p:spPr>
        </p:pic>
        <p:sp>
          <p:nvSpPr>
            <p:cNvPr id="74" name="object 74"/>
            <p:cNvSpPr/>
            <p:nvPr/>
          </p:nvSpPr>
          <p:spPr>
            <a:xfrm>
              <a:off x="6768845" y="2664713"/>
              <a:ext cx="3810" cy="691515"/>
            </a:xfrm>
            <a:custGeom>
              <a:avLst/>
              <a:gdLst/>
              <a:ahLst/>
              <a:cxnLst/>
              <a:rect l="l" t="t" r="r" b="b"/>
              <a:pathLst>
                <a:path w="3809" h="691514">
                  <a:moveTo>
                    <a:pt x="0" y="0"/>
                  </a:moveTo>
                  <a:lnTo>
                    <a:pt x="3810" y="691134"/>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5" name="object 75"/>
            <p:cNvSpPr/>
            <p:nvPr/>
          </p:nvSpPr>
          <p:spPr>
            <a:xfrm>
              <a:off x="7601711" y="2664713"/>
              <a:ext cx="228600" cy="0"/>
            </a:xfrm>
            <a:custGeom>
              <a:avLst/>
              <a:gdLst/>
              <a:ahLst/>
              <a:cxnLst/>
              <a:rect l="l" t="t" r="r" b="b"/>
              <a:pathLst>
                <a:path w="228600">
                  <a:moveTo>
                    <a:pt x="0" y="0"/>
                  </a:moveTo>
                  <a:lnTo>
                    <a:pt x="22860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6" name="object 76"/>
            <p:cNvSpPr/>
            <p:nvPr/>
          </p:nvSpPr>
          <p:spPr>
            <a:xfrm>
              <a:off x="9343643" y="4589525"/>
              <a:ext cx="234315" cy="0"/>
            </a:xfrm>
            <a:custGeom>
              <a:avLst/>
              <a:gdLst/>
              <a:ahLst/>
              <a:cxnLst/>
              <a:rect l="l" t="t" r="r" b="b"/>
              <a:pathLst>
                <a:path w="234315">
                  <a:moveTo>
                    <a:pt x="0" y="0"/>
                  </a:moveTo>
                  <a:lnTo>
                    <a:pt x="23393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7" name="object 77"/>
            <p:cNvSpPr/>
            <p:nvPr/>
          </p:nvSpPr>
          <p:spPr>
            <a:xfrm>
              <a:off x="9402317" y="4639055"/>
              <a:ext cx="115570" cy="0"/>
            </a:xfrm>
            <a:custGeom>
              <a:avLst/>
              <a:gdLst/>
              <a:ahLst/>
              <a:cxnLst/>
              <a:rect l="l" t="t" r="r" b="b"/>
              <a:pathLst>
                <a:path w="115570">
                  <a:moveTo>
                    <a:pt x="0" y="0"/>
                  </a:moveTo>
                  <a:lnTo>
                    <a:pt x="11506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8" name="object 78"/>
            <p:cNvSpPr/>
            <p:nvPr/>
          </p:nvSpPr>
          <p:spPr>
            <a:xfrm>
              <a:off x="9429749" y="4689347"/>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9" name="object 79"/>
            <p:cNvSpPr/>
            <p:nvPr/>
          </p:nvSpPr>
          <p:spPr>
            <a:xfrm>
              <a:off x="9460229" y="4392929"/>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0" name="object 80"/>
            <p:cNvSpPr/>
            <p:nvPr/>
          </p:nvSpPr>
          <p:spPr>
            <a:xfrm>
              <a:off x="9792461" y="1919477"/>
              <a:ext cx="119380" cy="234315"/>
            </a:xfrm>
            <a:custGeom>
              <a:avLst/>
              <a:gdLst/>
              <a:ahLst/>
              <a:cxnLst/>
              <a:rect l="l" t="t" r="r" b="b"/>
              <a:pathLst>
                <a:path w="119379" h="234314">
                  <a:moveTo>
                    <a:pt x="0" y="233934"/>
                  </a:moveTo>
                  <a:lnTo>
                    <a:pt x="0" y="0"/>
                  </a:lnTo>
                </a:path>
                <a:path w="119379" h="234314">
                  <a:moveTo>
                    <a:pt x="0" y="233934"/>
                  </a:moveTo>
                  <a:lnTo>
                    <a:pt x="118872" y="233934"/>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1" name="object 81"/>
            <p:cNvSpPr/>
            <p:nvPr/>
          </p:nvSpPr>
          <p:spPr>
            <a:xfrm>
              <a:off x="9792461" y="1919477"/>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2" name="object 82"/>
            <p:cNvSpPr/>
            <p:nvPr/>
          </p:nvSpPr>
          <p:spPr>
            <a:xfrm>
              <a:off x="9911333" y="1482851"/>
              <a:ext cx="3810" cy="438150"/>
            </a:xfrm>
            <a:custGeom>
              <a:avLst/>
              <a:gdLst/>
              <a:ahLst/>
              <a:cxnLst/>
              <a:rect l="l" t="t" r="r" b="b"/>
              <a:pathLst>
                <a:path w="3809" h="438150">
                  <a:moveTo>
                    <a:pt x="0" y="438150"/>
                  </a:moveTo>
                  <a:lnTo>
                    <a:pt x="381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83" name="object 83"/>
            <p:cNvPicPr/>
            <p:nvPr/>
          </p:nvPicPr>
          <p:blipFill>
            <a:blip r:embed="rId8" cstate="print"/>
            <a:stretch>
              <a:fillRect/>
            </a:stretch>
          </p:blipFill>
          <p:spPr>
            <a:xfrm>
              <a:off x="9871713" y="1439419"/>
              <a:ext cx="86867" cy="86867"/>
            </a:xfrm>
            <a:prstGeom prst="rect">
              <a:avLst/>
            </a:prstGeom>
          </p:spPr>
        </p:pic>
        <p:sp>
          <p:nvSpPr>
            <p:cNvPr id="84" name="object 84"/>
            <p:cNvSpPr/>
            <p:nvPr/>
          </p:nvSpPr>
          <p:spPr>
            <a:xfrm>
              <a:off x="9911333" y="2155697"/>
              <a:ext cx="3810" cy="519430"/>
            </a:xfrm>
            <a:custGeom>
              <a:avLst/>
              <a:gdLst/>
              <a:ahLst/>
              <a:cxnLst/>
              <a:rect l="l" t="t" r="r" b="b"/>
              <a:pathLst>
                <a:path w="3809" h="519430">
                  <a:moveTo>
                    <a:pt x="3809" y="518922"/>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85" name="object 85"/>
            <p:cNvPicPr/>
            <p:nvPr/>
          </p:nvPicPr>
          <p:blipFill>
            <a:blip r:embed="rId9" cstate="print"/>
            <a:stretch>
              <a:fillRect/>
            </a:stretch>
          </p:blipFill>
          <p:spPr>
            <a:xfrm>
              <a:off x="9871709" y="2631186"/>
              <a:ext cx="86867" cy="86867"/>
            </a:xfrm>
            <a:prstGeom prst="rect">
              <a:avLst/>
            </a:prstGeom>
          </p:spPr>
        </p:pic>
        <p:pic>
          <p:nvPicPr>
            <p:cNvPr id="86" name="object 86"/>
            <p:cNvPicPr/>
            <p:nvPr/>
          </p:nvPicPr>
          <p:blipFill>
            <a:blip r:embed="rId10" cstate="print"/>
            <a:stretch>
              <a:fillRect/>
            </a:stretch>
          </p:blipFill>
          <p:spPr>
            <a:xfrm>
              <a:off x="9520427" y="1923287"/>
              <a:ext cx="208788" cy="233934"/>
            </a:xfrm>
            <a:prstGeom prst="rect">
              <a:avLst/>
            </a:prstGeom>
          </p:spPr>
        </p:pic>
        <p:sp>
          <p:nvSpPr>
            <p:cNvPr id="87" name="object 87"/>
            <p:cNvSpPr/>
            <p:nvPr/>
          </p:nvSpPr>
          <p:spPr>
            <a:xfrm>
              <a:off x="10796015" y="2556509"/>
              <a:ext cx="118110" cy="234315"/>
            </a:xfrm>
            <a:custGeom>
              <a:avLst/>
              <a:gdLst/>
              <a:ahLst/>
              <a:cxnLst/>
              <a:rect l="l" t="t" r="r" b="b"/>
              <a:pathLst>
                <a:path w="118109" h="234314">
                  <a:moveTo>
                    <a:pt x="0" y="233934"/>
                  </a:moveTo>
                  <a:lnTo>
                    <a:pt x="0" y="0"/>
                  </a:lnTo>
                </a:path>
                <a:path w="118109" h="234314">
                  <a:moveTo>
                    <a:pt x="0" y="233934"/>
                  </a:moveTo>
                  <a:lnTo>
                    <a:pt x="118110" y="233934"/>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8" name="object 88"/>
            <p:cNvSpPr/>
            <p:nvPr/>
          </p:nvSpPr>
          <p:spPr>
            <a:xfrm>
              <a:off x="10796015" y="2556509"/>
              <a:ext cx="118110" cy="0"/>
            </a:xfrm>
            <a:custGeom>
              <a:avLst/>
              <a:gdLst/>
              <a:ahLst/>
              <a:cxnLst/>
              <a:rect l="l" t="t" r="r" b="b"/>
              <a:pathLst>
                <a:path w="118109">
                  <a:moveTo>
                    <a:pt x="0" y="0"/>
                  </a:moveTo>
                  <a:lnTo>
                    <a:pt x="11811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9" name="object 89"/>
            <p:cNvSpPr/>
            <p:nvPr/>
          </p:nvSpPr>
          <p:spPr>
            <a:xfrm>
              <a:off x="10914125" y="1493519"/>
              <a:ext cx="0" cy="1064895"/>
            </a:xfrm>
            <a:custGeom>
              <a:avLst/>
              <a:gdLst/>
              <a:ahLst/>
              <a:cxnLst/>
              <a:rect l="l" t="t" r="r" b="b"/>
              <a:pathLst>
                <a:path h="1064895">
                  <a:moveTo>
                    <a:pt x="0" y="1064514"/>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90" name="object 90"/>
            <p:cNvSpPr/>
            <p:nvPr/>
          </p:nvSpPr>
          <p:spPr>
            <a:xfrm>
              <a:off x="10914125" y="2791968"/>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91" name="object 91"/>
            <p:cNvSpPr/>
            <p:nvPr/>
          </p:nvSpPr>
          <p:spPr>
            <a:xfrm>
              <a:off x="10870691" y="2945130"/>
              <a:ext cx="86995" cy="86995"/>
            </a:xfrm>
            <a:custGeom>
              <a:avLst/>
              <a:gdLst/>
              <a:ahLst/>
              <a:cxnLst/>
              <a:rect l="l" t="t" r="r" b="b"/>
              <a:pathLst>
                <a:path w="86995" h="86994">
                  <a:moveTo>
                    <a:pt x="43433" y="0"/>
                  </a:moveTo>
                  <a:lnTo>
                    <a:pt x="26526" y="3412"/>
                  </a:lnTo>
                  <a:lnTo>
                    <a:pt x="12720" y="12720"/>
                  </a:lnTo>
                  <a:lnTo>
                    <a:pt x="3412" y="26526"/>
                  </a:lnTo>
                  <a:lnTo>
                    <a:pt x="0" y="43434"/>
                  </a:lnTo>
                  <a:lnTo>
                    <a:pt x="3412" y="60341"/>
                  </a:lnTo>
                  <a:lnTo>
                    <a:pt x="12720" y="74147"/>
                  </a:lnTo>
                  <a:lnTo>
                    <a:pt x="26526" y="83455"/>
                  </a:lnTo>
                  <a:lnTo>
                    <a:pt x="43433" y="86868"/>
                  </a:lnTo>
                  <a:lnTo>
                    <a:pt x="60341" y="83455"/>
                  </a:lnTo>
                  <a:lnTo>
                    <a:pt x="74147" y="74147"/>
                  </a:lnTo>
                  <a:lnTo>
                    <a:pt x="83455" y="60341"/>
                  </a:lnTo>
                  <a:lnTo>
                    <a:pt x="86867" y="43434"/>
                  </a:lnTo>
                  <a:lnTo>
                    <a:pt x="83455" y="26526"/>
                  </a:lnTo>
                  <a:lnTo>
                    <a:pt x="74147" y="12720"/>
                  </a:lnTo>
                  <a:lnTo>
                    <a:pt x="60341" y="3412"/>
                  </a:lnTo>
                  <a:lnTo>
                    <a:pt x="43433"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92" name="object 92"/>
            <p:cNvPicPr/>
            <p:nvPr/>
          </p:nvPicPr>
          <p:blipFill>
            <a:blip r:embed="rId11" cstate="print"/>
            <a:stretch>
              <a:fillRect/>
            </a:stretch>
          </p:blipFill>
          <p:spPr>
            <a:xfrm>
              <a:off x="10523981" y="2559558"/>
              <a:ext cx="208787" cy="233934"/>
            </a:xfrm>
            <a:prstGeom prst="rect">
              <a:avLst/>
            </a:prstGeom>
          </p:spPr>
        </p:pic>
        <p:sp>
          <p:nvSpPr>
            <p:cNvPr id="93" name="object 93"/>
            <p:cNvSpPr/>
            <p:nvPr/>
          </p:nvSpPr>
          <p:spPr>
            <a:xfrm>
              <a:off x="10192892" y="2209418"/>
              <a:ext cx="254000" cy="231140"/>
            </a:xfrm>
            <a:custGeom>
              <a:avLst/>
              <a:gdLst/>
              <a:ahLst/>
              <a:cxnLst/>
              <a:rect l="l" t="t" r="r" b="b"/>
              <a:pathLst>
                <a:path w="254000" h="231139">
                  <a:moveTo>
                    <a:pt x="0" y="0"/>
                  </a:moveTo>
                  <a:lnTo>
                    <a:pt x="253746" y="230886"/>
                  </a:lnTo>
                </a:path>
              </a:pathLst>
            </a:custGeom>
            <a:ln w="63246">
              <a:solidFill>
                <a:srgbClr val="000000"/>
              </a:solidFill>
              <a:prstDash val="dot"/>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94" name="object 94"/>
            <p:cNvSpPr/>
            <p:nvPr/>
          </p:nvSpPr>
          <p:spPr>
            <a:xfrm>
              <a:off x="9451085" y="2983230"/>
              <a:ext cx="1463040" cy="7620"/>
            </a:xfrm>
            <a:custGeom>
              <a:avLst/>
              <a:gdLst/>
              <a:ahLst/>
              <a:cxnLst/>
              <a:rect l="l" t="t" r="r" b="b"/>
              <a:pathLst>
                <a:path w="1463040" h="7619">
                  <a:moveTo>
                    <a:pt x="0" y="0"/>
                  </a:moveTo>
                  <a:lnTo>
                    <a:pt x="1463040" y="762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95" name="object 95"/>
            <p:cNvPicPr/>
            <p:nvPr/>
          </p:nvPicPr>
          <p:blipFill>
            <a:blip r:embed="rId12" cstate="print"/>
            <a:stretch>
              <a:fillRect/>
            </a:stretch>
          </p:blipFill>
          <p:spPr>
            <a:xfrm>
              <a:off x="9407651" y="2939796"/>
              <a:ext cx="86868" cy="86868"/>
            </a:xfrm>
            <a:prstGeom prst="rect">
              <a:avLst/>
            </a:prstGeom>
          </p:spPr>
        </p:pic>
        <p:sp>
          <p:nvSpPr>
            <p:cNvPr id="96" name="object 96"/>
            <p:cNvSpPr/>
            <p:nvPr/>
          </p:nvSpPr>
          <p:spPr>
            <a:xfrm>
              <a:off x="9451085" y="1485899"/>
              <a:ext cx="1463040" cy="7620"/>
            </a:xfrm>
            <a:custGeom>
              <a:avLst/>
              <a:gdLst/>
              <a:ahLst/>
              <a:cxnLst/>
              <a:rect l="l" t="t" r="r" b="b"/>
              <a:pathLst>
                <a:path w="1463040" h="7619">
                  <a:moveTo>
                    <a:pt x="0" y="0"/>
                  </a:moveTo>
                  <a:lnTo>
                    <a:pt x="1463040" y="762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97" name="object 97"/>
            <p:cNvPicPr/>
            <p:nvPr/>
          </p:nvPicPr>
          <p:blipFill>
            <a:blip r:embed="rId13" cstate="print"/>
            <a:stretch>
              <a:fillRect/>
            </a:stretch>
          </p:blipFill>
          <p:spPr>
            <a:xfrm>
              <a:off x="10870691" y="1450089"/>
              <a:ext cx="86868" cy="86868"/>
            </a:xfrm>
            <a:prstGeom prst="rect">
              <a:avLst/>
            </a:prstGeom>
          </p:spPr>
        </p:pic>
        <p:pic>
          <p:nvPicPr>
            <p:cNvPr id="98" name="object 98"/>
            <p:cNvPicPr/>
            <p:nvPr/>
          </p:nvPicPr>
          <p:blipFill>
            <a:blip r:embed="rId14" cstate="print"/>
            <a:stretch>
              <a:fillRect/>
            </a:stretch>
          </p:blipFill>
          <p:spPr>
            <a:xfrm>
              <a:off x="9407651" y="1442465"/>
              <a:ext cx="86868" cy="86868"/>
            </a:xfrm>
            <a:prstGeom prst="rect">
              <a:avLst/>
            </a:prstGeom>
          </p:spPr>
        </p:pic>
        <p:sp>
          <p:nvSpPr>
            <p:cNvPr id="99" name="object 99"/>
            <p:cNvSpPr/>
            <p:nvPr/>
          </p:nvSpPr>
          <p:spPr>
            <a:xfrm>
              <a:off x="10174985" y="1184909"/>
              <a:ext cx="0" cy="300990"/>
            </a:xfrm>
            <a:custGeom>
              <a:avLst/>
              <a:gdLst/>
              <a:ahLst/>
              <a:cxnLst/>
              <a:rect l="l" t="t" r="r" b="b"/>
              <a:pathLst>
                <a:path h="300990">
                  <a:moveTo>
                    <a:pt x="0" y="0"/>
                  </a:moveTo>
                  <a:lnTo>
                    <a:pt x="0" y="30099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100" name="object 100"/>
            <p:cNvPicPr/>
            <p:nvPr/>
          </p:nvPicPr>
          <p:blipFill>
            <a:blip r:embed="rId15" cstate="print"/>
            <a:stretch>
              <a:fillRect/>
            </a:stretch>
          </p:blipFill>
          <p:spPr>
            <a:xfrm>
              <a:off x="10131546" y="1442465"/>
              <a:ext cx="86867" cy="86867"/>
            </a:xfrm>
            <a:prstGeom prst="rect">
              <a:avLst/>
            </a:prstGeom>
          </p:spPr>
        </p:pic>
        <p:pic>
          <p:nvPicPr>
            <p:cNvPr id="101" name="object 101"/>
            <p:cNvPicPr/>
            <p:nvPr/>
          </p:nvPicPr>
          <p:blipFill>
            <a:blip r:embed="rId14" cstate="print"/>
            <a:stretch>
              <a:fillRect/>
            </a:stretch>
          </p:blipFill>
          <p:spPr>
            <a:xfrm>
              <a:off x="10131551" y="1141475"/>
              <a:ext cx="86867" cy="86867"/>
            </a:xfrm>
            <a:prstGeom prst="rect">
              <a:avLst/>
            </a:prstGeom>
          </p:spPr>
        </p:pic>
        <p:sp>
          <p:nvSpPr>
            <p:cNvPr id="102" name="object 102"/>
            <p:cNvSpPr/>
            <p:nvPr/>
          </p:nvSpPr>
          <p:spPr>
            <a:xfrm>
              <a:off x="6980681" y="2426208"/>
              <a:ext cx="621030" cy="478155"/>
            </a:xfrm>
            <a:custGeom>
              <a:avLst/>
              <a:gdLst/>
              <a:ahLst/>
              <a:cxnLst/>
              <a:rect l="l" t="t" r="r" b="b"/>
              <a:pathLst>
                <a:path w="621029" h="478155">
                  <a:moveTo>
                    <a:pt x="621029" y="0"/>
                  </a:moveTo>
                  <a:lnTo>
                    <a:pt x="621029" y="477773"/>
                  </a:lnTo>
                  <a:lnTo>
                    <a:pt x="124205" y="477773"/>
                  </a:lnTo>
                  <a:lnTo>
                    <a:pt x="0" y="238886"/>
                  </a:lnTo>
                  <a:lnTo>
                    <a:pt x="124205" y="0"/>
                  </a:lnTo>
                  <a:lnTo>
                    <a:pt x="621029" y="0"/>
                  </a:lnTo>
                  <a:close/>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103" name="object 103"/>
          <p:cNvSpPr txBox="1"/>
          <p:nvPr/>
        </p:nvSpPr>
        <p:spPr>
          <a:xfrm>
            <a:off x="6931558" y="2375479"/>
            <a:ext cx="278390" cy="155270"/>
          </a:xfrm>
          <a:prstGeom prst="rect">
            <a:avLst/>
          </a:prstGeom>
        </p:spPr>
        <p:txBody>
          <a:bodyPr vert="horz" wrap="square" lIns="0" tIns="8226" rIns="0" bIns="0" rtlCol="0">
            <a:spAutoFit/>
          </a:bodyPr>
          <a:lstStyle/>
          <a:p>
            <a:pPr marL="8659" marR="0" lvl="0" indent="0" algn="l" defTabSz="914400" rtl="0" eaLnBrk="1" fontAlgn="auto" latinLnBrk="0" hangingPunct="1">
              <a:lnSpc>
                <a:spcPct val="100000"/>
              </a:lnSpc>
              <a:spcBef>
                <a:spcPts val="65"/>
              </a:spcBef>
              <a:spcAft>
                <a:spcPts val="0"/>
              </a:spcAft>
              <a:buClrTx/>
              <a:buSzTx/>
              <a:buFontTx/>
              <a:buNone/>
              <a:tabLst/>
              <a:defRPr/>
            </a:pPr>
            <a:r>
              <a:rPr kumimoji="0" sz="955" b="0" i="0" u="none" strike="noStrike" kern="1200" cap="none" spc="-17" normalizeH="0" baseline="0" noProof="0" dirty="0">
                <a:ln>
                  <a:noFill/>
                </a:ln>
                <a:solidFill>
                  <a:prstClr val="black"/>
                </a:solidFill>
                <a:effectLst/>
                <a:uLnTx/>
                <a:uFillTx/>
                <a:latin typeface="Verdana"/>
                <a:ea typeface="+mn-ea"/>
                <a:cs typeface="Verdana"/>
              </a:rPr>
              <a:t>ADC</a:t>
            </a:r>
            <a:endParaRPr kumimoji="0" sz="955" b="0" i="0" u="none" strike="noStrike" kern="1200" cap="none" spc="0" normalizeH="0" baseline="0" noProof="0">
              <a:ln>
                <a:noFill/>
              </a:ln>
              <a:solidFill>
                <a:prstClr val="black"/>
              </a:solidFill>
              <a:effectLst/>
              <a:uLnTx/>
              <a:uFillTx/>
              <a:latin typeface="Verdana"/>
              <a:ea typeface="+mn-ea"/>
              <a:cs typeface="Verdana"/>
            </a:endParaRPr>
          </a:p>
        </p:txBody>
      </p:sp>
      <p:grpSp>
        <p:nvGrpSpPr>
          <p:cNvPr id="104" name="object 104"/>
          <p:cNvGrpSpPr/>
          <p:nvPr/>
        </p:nvGrpSpPr>
        <p:grpSpPr>
          <a:xfrm>
            <a:off x="6657465" y="2460308"/>
            <a:ext cx="2012806" cy="1214004"/>
            <a:chOff x="6758051" y="2658491"/>
            <a:chExt cx="2952115" cy="1780539"/>
          </a:xfrm>
        </p:grpSpPr>
        <p:sp>
          <p:nvSpPr>
            <p:cNvPr id="105" name="object 105"/>
            <p:cNvSpPr/>
            <p:nvPr/>
          </p:nvSpPr>
          <p:spPr>
            <a:xfrm>
              <a:off x="6772656" y="2673096"/>
              <a:ext cx="215900" cy="1270"/>
            </a:xfrm>
            <a:custGeom>
              <a:avLst/>
              <a:gdLst/>
              <a:ahLst/>
              <a:cxnLst/>
              <a:rect l="l" t="t" r="r" b="b"/>
              <a:pathLst>
                <a:path w="215900" h="1269">
                  <a:moveTo>
                    <a:pt x="0" y="762"/>
                  </a:moveTo>
                  <a:lnTo>
                    <a:pt x="215646"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6" name="object 106"/>
            <p:cNvSpPr/>
            <p:nvPr/>
          </p:nvSpPr>
          <p:spPr>
            <a:xfrm>
              <a:off x="9460230" y="4181094"/>
              <a:ext cx="0" cy="243204"/>
            </a:xfrm>
            <a:custGeom>
              <a:avLst/>
              <a:gdLst/>
              <a:ahLst/>
              <a:cxnLst/>
              <a:rect l="l" t="t" r="r" b="b"/>
              <a:pathLst>
                <a:path h="243204">
                  <a:moveTo>
                    <a:pt x="0" y="0"/>
                  </a:moveTo>
                  <a:lnTo>
                    <a:pt x="0" y="243077"/>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7" name="object 107"/>
            <p:cNvSpPr/>
            <p:nvPr/>
          </p:nvSpPr>
          <p:spPr>
            <a:xfrm>
              <a:off x="9416796" y="4137660"/>
              <a:ext cx="86995" cy="86995"/>
            </a:xfrm>
            <a:custGeom>
              <a:avLst/>
              <a:gdLst/>
              <a:ahLst/>
              <a:cxnLst/>
              <a:rect l="l" t="t" r="r" b="b"/>
              <a:pathLst>
                <a:path w="86995" h="86995">
                  <a:moveTo>
                    <a:pt x="43433" y="0"/>
                  </a:moveTo>
                  <a:lnTo>
                    <a:pt x="26526" y="3412"/>
                  </a:lnTo>
                  <a:lnTo>
                    <a:pt x="12720" y="12720"/>
                  </a:lnTo>
                  <a:lnTo>
                    <a:pt x="3412" y="26526"/>
                  </a:lnTo>
                  <a:lnTo>
                    <a:pt x="0" y="43434"/>
                  </a:lnTo>
                  <a:lnTo>
                    <a:pt x="3412" y="60341"/>
                  </a:lnTo>
                  <a:lnTo>
                    <a:pt x="12720" y="74147"/>
                  </a:lnTo>
                  <a:lnTo>
                    <a:pt x="26526" y="83455"/>
                  </a:lnTo>
                  <a:lnTo>
                    <a:pt x="43433" y="86868"/>
                  </a:lnTo>
                  <a:lnTo>
                    <a:pt x="60341" y="83455"/>
                  </a:lnTo>
                  <a:lnTo>
                    <a:pt x="74147" y="74147"/>
                  </a:lnTo>
                  <a:lnTo>
                    <a:pt x="83455" y="60341"/>
                  </a:lnTo>
                  <a:lnTo>
                    <a:pt x="86867" y="43434"/>
                  </a:lnTo>
                  <a:lnTo>
                    <a:pt x="83455" y="26526"/>
                  </a:lnTo>
                  <a:lnTo>
                    <a:pt x="74147" y="12720"/>
                  </a:lnTo>
                  <a:lnTo>
                    <a:pt x="60341" y="3412"/>
                  </a:lnTo>
                  <a:lnTo>
                    <a:pt x="43433"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8" name="object 108"/>
            <p:cNvSpPr/>
            <p:nvPr/>
          </p:nvSpPr>
          <p:spPr>
            <a:xfrm>
              <a:off x="9350502" y="4058412"/>
              <a:ext cx="108585" cy="45720"/>
            </a:xfrm>
            <a:custGeom>
              <a:avLst/>
              <a:gdLst/>
              <a:ahLst/>
              <a:cxnLst/>
              <a:rect l="l" t="t" r="r" b="b"/>
              <a:pathLst>
                <a:path w="108584" h="45720">
                  <a:moveTo>
                    <a:pt x="108203" y="45719"/>
                  </a:moveTo>
                  <a:lnTo>
                    <a:pt x="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9" name="object 109"/>
            <p:cNvSpPr/>
            <p:nvPr/>
          </p:nvSpPr>
          <p:spPr>
            <a:xfrm>
              <a:off x="9350502" y="4012691"/>
              <a:ext cx="215900" cy="47625"/>
            </a:xfrm>
            <a:custGeom>
              <a:avLst/>
              <a:gdLst/>
              <a:ahLst/>
              <a:cxnLst/>
              <a:rect l="l" t="t" r="r" b="b"/>
              <a:pathLst>
                <a:path w="215900" h="47625">
                  <a:moveTo>
                    <a:pt x="0" y="47243"/>
                  </a:moveTo>
                  <a:lnTo>
                    <a:pt x="21564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0" name="object 110"/>
            <p:cNvSpPr/>
            <p:nvPr/>
          </p:nvSpPr>
          <p:spPr>
            <a:xfrm>
              <a:off x="9350502" y="3969258"/>
              <a:ext cx="215900" cy="43815"/>
            </a:xfrm>
            <a:custGeom>
              <a:avLst/>
              <a:gdLst/>
              <a:ahLst/>
              <a:cxnLst/>
              <a:rect l="l" t="t" r="r" b="b"/>
              <a:pathLst>
                <a:path w="215900" h="43814">
                  <a:moveTo>
                    <a:pt x="215646" y="43433"/>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1" name="object 111"/>
            <p:cNvSpPr/>
            <p:nvPr/>
          </p:nvSpPr>
          <p:spPr>
            <a:xfrm>
              <a:off x="9352026" y="3920490"/>
              <a:ext cx="216535" cy="50800"/>
            </a:xfrm>
            <a:custGeom>
              <a:avLst/>
              <a:gdLst/>
              <a:ahLst/>
              <a:cxnLst/>
              <a:rect l="l" t="t" r="r" b="b"/>
              <a:pathLst>
                <a:path w="216534" h="50800">
                  <a:moveTo>
                    <a:pt x="0" y="50292"/>
                  </a:moveTo>
                  <a:lnTo>
                    <a:pt x="216408"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2" name="object 112"/>
            <p:cNvSpPr/>
            <p:nvPr/>
          </p:nvSpPr>
          <p:spPr>
            <a:xfrm>
              <a:off x="9352026" y="3875532"/>
              <a:ext cx="216535" cy="45085"/>
            </a:xfrm>
            <a:custGeom>
              <a:avLst/>
              <a:gdLst/>
              <a:ahLst/>
              <a:cxnLst/>
              <a:rect l="l" t="t" r="r" b="b"/>
              <a:pathLst>
                <a:path w="216534" h="45085">
                  <a:moveTo>
                    <a:pt x="216407" y="44958"/>
                  </a:moveTo>
                  <a:lnTo>
                    <a:pt x="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3" name="object 113"/>
            <p:cNvSpPr/>
            <p:nvPr/>
          </p:nvSpPr>
          <p:spPr>
            <a:xfrm>
              <a:off x="9350502" y="3828288"/>
              <a:ext cx="215900" cy="47625"/>
            </a:xfrm>
            <a:custGeom>
              <a:avLst/>
              <a:gdLst/>
              <a:ahLst/>
              <a:cxnLst/>
              <a:rect l="l" t="t" r="r" b="b"/>
              <a:pathLst>
                <a:path w="215900" h="47625">
                  <a:moveTo>
                    <a:pt x="0" y="47243"/>
                  </a:moveTo>
                  <a:lnTo>
                    <a:pt x="21564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4" name="object 114"/>
            <p:cNvSpPr/>
            <p:nvPr/>
          </p:nvSpPr>
          <p:spPr>
            <a:xfrm>
              <a:off x="9458705" y="3782568"/>
              <a:ext cx="107950" cy="45720"/>
            </a:xfrm>
            <a:custGeom>
              <a:avLst/>
              <a:gdLst/>
              <a:ahLst/>
              <a:cxnLst/>
              <a:rect l="l" t="t" r="r" b="b"/>
              <a:pathLst>
                <a:path w="107950" h="45720">
                  <a:moveTo>
                    <a:pt x="107442" y="45719"/>
                  </a:moveTo>
                  <a:lnTo>
                    <a:pt x="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5" name="object 115"/>
            <p:cNvSpPr/>
            <p:nvPr/>
          </p:nvSpPr>
          <p:spPr>
            <a:xfrm>
              <a:off x="9460230" y="3691890"/>
              <a:ext cx="0" cy="92710"/>
            </a:xfrm>
            <a:custGeom>
              <a:avLst/>
              <a:gdLst/>
              <a:ahLst/>
              <a:cxnLst/>
              <a:rect l="l" t="t" r="r" b="b"/>
              <a:pathLst>
                <a:path h="92710">
                  <a:moveTo>
                    <a:pt x="0" y="92201"/>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6" name="object 116"/>
            <p:cNvSpPr/>
            <p:nvPr/>
          </p:nvSpPr>
          <p:spPr>
            <a:xfrm>
              <a:off x="9416801" y="3648455"/>
              <a:ext cx="86995" cy="86995"/>
            </a:xfrm>
            <a:custGeom>
              <a:avLst/>
              <a:gdLst/>
              <a:ahLst/>
              <a:cxnLst/>
              <a:rect l="l" t="t" r="r" b="b"/>
              <a:pathLst>
                <a:path w="86995" h="86995">
                  <a:moveTo>
                    <a:pt x="43421" y="0"/>
                  </a:moveTo>
                  <a:lnTo>
                    <a:pt x="26521" y="3412"/>
                  </a:lnTo>
                  <a:lnTo>
                    <a:pt x="12719" y="12720"/>
                  </a:lnTo>
                  <a:lnTo>
                    <a:pt x="3412" y="26526"/>
                  </a:lnTo>
                  <a:lnTo>
                    <a:pt x="0" y="43434"/>
                  </a:lnTo>
                  <a:lnTo>
                    <a:pt x="3412" y="60341"/>
                  </a:lnTo>
                  <a:lnTo>
                    <a:pt x="12720" y="74147"/>
                  </a:lnTo>
                  <a:lnTo>
                    <a:pt x="26526" y="83455"/>
                  </a:lnTo>
                  <a:lnTo>
                    <a:pt x="43433" y="86868"/>
                  </a:lnTo>
                  <a:lnTo>
                    <a:pt x="60341" y="83453"/>
                  </a:lnTo>
                  <a:lnTo>
                    <a:pt x="74147" y="74142"/>
                  </a:lnTo>
                  <a:lnTo>
                    <a:pt x="83455" y="60336"/>
                  </a:lnTo>
                  <a:lnTo>
                    <a:pt x="86867" y="43434"/>
                  </a:lnTo>
                  <a:lnTo>
                    <a:pt x="83453" y="26526"/>
                  </a:lnTo>
                  <a:lnTo>
                    <a:pt x="74141" y="12720"/>
                  </a:lnTo>
                  <a:lnTo>
                    <a:pt x="60330" y="3412"/>
                  </a:lnTo>
                  <a:lnTo>
                    <a:pt x="43421"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7" name="object 117"/>
            <p:cNvSpPr/>
            <p:nvPr/>
          </p:nvSpPr>
          <p:spPr>
            <a:xfrm>
              <a:off x="9460230" y="4106418"/>
              <a:ext cx="0" cy="91440"/>
            </a:xfrm>
            <a:custGeom>
              <a:avLst/>
              <a:gdLst/>
              <a:ahLst/>
              <a:cxnLst/>
              <a:rect l="l" t="t" r="r" b="b"/>
              <a:pathLst>
                <a:path h="91439">
                  <a:moveTo>
                    <a:pt x="0" y="91439"/>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8" name="object 118"/>
            <p:cNvSpPr/>
            <p:nvPr/>
          </p:nvSpPr>
          <p:spPr>
            <a:xfrm>
              <a:off x="9287636" y="3813987"/>
              <a:ext cx="412750" cy="275590"/>
            </a:xfrm>
            <a:custGeom>
              <a:avLst/>
              <a:gdLst/>
              <a:ahLst/>
              <a:cxnLst/>
              <a:rect l="l" t="t" r="r" b="b"/>
              <a:pathLst>
                <a:path w="412750" h="275589">
                  <a:moveTo>
                    <a:pt x="0" y="275285"/>
                  </a:moveTo>
                  <a:lnTo>
                    <a:pt x="412559" y="0"/>
                  </a:lnTo>
                </a:path>
              </a:pathLst>
            </a:custGeom>
            <a:ln w="1905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19" name="object 119"/>
            <p:cNvSpPr/>
            <p:nvPr/>
          </p:nvSpPr>
          <p:spPr>
            <a:xfrm>
              <a:off x="9612132" y="3813989"/>
              <a:ext cx="88265" cy="79375"/>
            </a:xfrm>
            <a:custGeom>
              <a:avLst/>
              <a:gdLst/>
              <a:ahLst/>
              <a:cxnLst/>
              <a:rect l="l" t="t" r="r" b="b"/>
              <a:pathLst>
                <a:path w="88265" h="79375">
                  <a:moveTo>
                    <a:pt x="49352" y="79273"/>
                  </a:moveTo>
                  <a:lnTo>
                    <a:pt x="88061" y="0"/>
                  </a:lnTo>
                  <a:lnTo>
                    <a:pt x="0" y="5321"/>
                  </a:lnTo>
                </a:path>
              </a:pathLst>
            </a:custGeom>
            <a:ln w="1905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20" name="object 120"/>
          <p:cNvGrpSpPr/>
          <p:nvPr/>
        </p:nvGrpSpPr>
        <p:grpSpPr>
          <a:xfrm>
            <a:off x="4878628" y="3116060"/>
            <a:ext cx="294841" cy="520411"/>
            <a:chOff x="4149090" y="3620261"/>
            <a:chExt cx="432434" cy="763270"/>
          </a:xfrm>
        </p:grpSpPr>
        <p:sp>
          <p:nvSpPr>
            <p:cNvPr id="121" name="object 121"/>
            <p:cNvSpPr/>
            <p:nvPr/>
          </p:nvSpPr>
          <p:spPr>
            <a:xfrm>
              <a:off x="4331970" y="4139945"/>
              <a:ext cx="0" cy="243204"/>
            </a:xfrm>
            <a:custGeom>
              <a:avLst/>
              <a:gdLst/>
              <a:ahLst/>
              <a:cxnLst/>
              <a:rect l="l" t="t" r="r" b="b"/>
              <a:pathLst>
                <a:path h="243204">
                  <a:moveTo>
                    <a:pt x="0" y="0"/>
                  </a:moveTo>
                  <a:lnTo>
                    <a:pt x="0" y="243077"/>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2" name="object 122"/>
            <p:cNvSpPr/>
            <p:nvPr/>
          </p:nvSpPr>
          <p:spPr>
            <a:xfrm>
              <a:off x="4222242" y="4030217"/>
              <a:ext cx="107950" cy="46990"/>
            </a:xfrm>
            <a:custGeom>
              <a:avLst/>
              <a:gdLst/>
              <a:ahLst/>
              <a:cxnLst/>
              <a:rect l="l" t="t" r="r" b="b"/>
              <a:pathLst>
                <a:path w="107950" h="46989">
                  <a:moveTo>
                    <a:pt x="107441" y="46481"/>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3" name="object 123"/>
            <p:cNvSpPr/>
            <p:nvPr/>
          </p:nvSpPr>
          <p:spPr>
            <a:xfrm>
              <a:off x="4222242" y="3984497"/>
              <a:ext cx="215900" cy="48260"/>
            </a:xfrm>
            <a:custGeom>
              <a:avLst/>
              <a:gdLst/>
              <a:ahLst/>
              <a:cxnLst/>
              <a:rect l="l" t="t" r="r" b="b"/>
              <a:pathLst>
                <a:path w="215900" h="48260">
                  <a:moveTo>
                    <a:pt x="0" y="48006"/>
                  </a:moveTo>
                  <a:lnTo>
                    <a:pt x="215646"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4" name="object 124"/>
            <p:cNvSpPr/>
            <p:nvPr/>
          </p:nvSpPr>
          <p:spPr>
            <a:xfrm>
              <a:off x="4222242" y="3941825"/>
              <a:ext cx="215900" cy="43180"/>
            </a:xfrm>
            <a:custGeom>
              <a:avLst/>
              <a:gdLst/>
              <a:ahLst/>
              <a:cxnLst/>
              <a:rect l="l" t="t" r="r" b="b"/>
              <a:pathLst>
                <a:path w="215900" h="43179">
                  <a:moveTo>
                    <a:pt x="215646" y="42672"/>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5" name="object 125"/>
            <p:cNvSpPr/>
            <p:nvPr/>
          </p:nvSpPr>
          <p:spPr>
            <a:xfrm>
              <a:off x="4223766" y="3892295"/>
              <a:ext cx="215900" cy="51435"/>
            </a:xfrm>
            <a:custGeom>
              <a:avLst/>
              <a:gdLst/>
              <a:ahLst/>
              <a:cxnLst/>
              <a:rect l="l" t="t" r="r" b="b"/>
              <a:pathLst>
                <a:path w="215900" h="51435">
                  <a:moveTo>
                    <a:pt x="0" y="51053"/>
                  </a:moveTo>
                  <a:lnTo>
                    <a:pt x="215646"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6" name="object 126"/>
            <p:cNvSpPr/>
            <p:nvPr/>
          </p:nvSpPr>
          <p:spPr>
            <a:xfrm>
              <a:off x="4223766" y="3848099"/>
              <a:ext cx="215900" cy="44450"/>
            </a:xfrm>
            <a:custGeom>
              <a:avLst/>
              <a:gdLst/>
              <a:ahLst/>
              <a:cxnLst/>
              <a:rect l="l" t="t" r="r" b="b"/>
              <a:pathLst>
                <a:path w="215900" h="44450">
                  <a:moveTo>
                    <a:pt x="215646" y="44195"/>
                  </a:moveTo>
                  <a:lnTo>
                    <a:pt x="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7" name="object 127"/>
            <p:cNvSpPr/>
            <p:nvPr/>
          </p:nvSpPr>
          <p:spPr>
            <a:xfrm>
              <a:off x="4222242" y="3800093"/>
              <a:ext cx="215900" cy="48260"/>
            </a:xfrm>
            <a:custGeom>
              <a:avLst/>
              <a:gdLst/>
              <a:ahLst/>
              <a:cxnLst/>
              <a:rect l="l" t="t" r="r" b="b"/>
              <a:pathLst>
                <a:path w="215900" h="48260">
                  <a:moveTo>
                    <a:pt x="0" y="48005"/>
                  </a:moveTo>
                  <a:lnTo>
                    <a:pt x="215646"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8" name="object 128"/>
            <p:cNvSpPr/>
            <p:nvPr/>
          </p:nvSpPr>
          <p:spPr>
            <a:xfrm>
              <a:off x="4329684" y="3754373"/>
              <a:ext cx="108585" cy="45720"/>
            </a:xfrm>
            <a:custGeom>
              <a:avLst/>
              <a:gdLst/>
              <a:ahLst/>
              <a:cxnLst/>
              <a:rect l="l" t="t" r="r" b="b"/>
              <a:pathLst>
                <a:path w="108585" h="45720">
                  <a:moveTo>
                    <a:pt x="108203" y="45719"/>
                  </a:moveTo>
                  <a:lnTo>
                    <a:pt x="0" y="0"/>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29" name="object 129"/>
            <p:cNvSpPr/>
            <p:nvPr/>
          </p:nvSpPr>
          <p:spPr>
            <a:xfrm>
              <a:off x="4331208" y="3663695"/>
              <a:ext cx="0" cy="92710"/>
            </a:xfrm>
            <a:custGeom>
              <a:avLst/>
              <a:gdLst/>
              <a:ahLst/>
              <a:cxnLst/>
              <a:rect l="l" t="t" r="r" b="b"/>
              <a:pathLst>
                <a:path h="92710">
                  <a:moveTo>
                    <a:pt x="0" y="92201"/>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30" name="object 130"/>
            <p:cNvSpPr/>
            <p:nvPr/>
          </p:nvSpPr>
          <p:spPr>
            <a:xfrm>
              <a:off x="4287779" y="3620261"/>
              <a:ext cx="86995" cy="86995"/>
            </a:xfrm>
            <a:custGeom>
              <a:avLst/>
              <a:gdLst/>
              <a:ahLst/>
              <a:cxnLst/>
              <a:rect l="l" t="t" r="r" b="b"/>
              <a:pathLst>
                <a:path w="86995" h="86995">
                  <a:moveTo>
                    <a:pt x="43421" y="0"/>
                  </a:moveTo>
                  <a:lnTo>
                    <a:pt x="26519" y="3412"/>
                  </a:lnTo>
                  <a:lnTo>
                    <a:pt x="12714" y="12720"/>
                  </a:lnTo>
                  <a:lnTo>
                    <a:pt x="3407" y="26526"/>
                  </a:lnTo>
                  <a:lnTo>
                    <a:pt x="0" y="43434"/>
                  </a:lnTo>
                  <a:lnTo>
                    <a:pt x="3412" y="60341"/>
                  </a:lnTo>
                  <a:lnTo>
                    <a:pt x="12720" y="74147"/>
                  </a:lnTo>
                  <a:lnTo>
                    <a:pt x="26526" y="83455"/>
                  </a:lnTo>
                  <a:lnTo>
                    <a:pt x="43434" y="86868"/>
                  </a:lnTo>
                  <a:lnTo>
                    <a:pt x="60341" y="83453"/>
                  </a:lnTo>
                  <a:lnTo>
                    <a:pt x="74147" y="74142"/>
                  </a:lnTo>
                  <a:lnTo>
                    <a:pt x="83455" y="60336"/>
                  </a:lnTo>
                  <a:lnTo>
                    <a:pt x="86868" y="43434"/>
                  </a:lnTo>
                  <a:lnTo>
                    <a:pt x="83447" y="26526"/>
                  </a:lnTo>
                  <a:lnTo>
                    <a:pt x="74136" y="12720"/>
                  </a:lnTo>
                  <a:lnTo>
                    <a:pt x="60328" y="3412"/>
                  </a:lnTo>
                  <a:lnTo>
                    <a:pt x="43421"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31" name="object 131"/>
            <p:cNvSpPr/>
            <p:nvPr/>
          </p:nvSpPr>
          <p:spPr>
            <a:xfrm>
              <a:off x="4331208" y="4078223"/>
              <a:ext cx="0" cy="92710"/>
            </a:xfrm>
            <a:custGeom>
              <a:avLst/>
              <a:gdLst/>
              <a:ahLst/>
              <a:cxnLst/>
              <a:rect l="l" t="t" r="r" b="b"/>
              <a:pathLst>
                <a:path h="92710">
                  <a:moveTo>
                    <a:pt x="0" y="92201"/>
                  </a:moveTo>
                  <a:lnTo>
                    <a:pt x="0"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32" name="object 132"/>
            <p:cNvSpPr/>
            <p:nvPr/>
          </p:nvSpPr>
          <p:spPr>
            <a:xfrm>
              <a:off x="4287774" y="4126991"/>
              <a:ext cx="86995" cy="86995"/>
            </a:xfrm>
            <a:custGeom>
              <a:avLst/>
              <a:gdLst/>
              <a:ahLst/>
              <a:cxnLst/>
              <a:rect l="l" t="t" r="r" b="b"/>
              <a:pathLst>
                <a:path w="86995" h="86995">
                  <a:moveTo>
                    <a:pt x="43434" y="0"/>
                  </a:moveTo>
                  <a:lnTo>
                    <a:pt x="26526" y="3412"/>
                  </a:lnTo>
                  <a:lnTo>
                    <a:pt x="12720" y="12720"/>
                  </a:lnTo>
                  <a:lnTo>
                    <a:pt x="3412" y="26526"/>
                  </a:lnTo>
                  <a:lnTo>
                    <a:pt x="0" y="43433"/>
                  </a:lnTo>
                  <a:lnTo>
                    <a:pt x="3412" y="60341"/>
                  </a:lnTo>
                  <a:lnTo>
                    <a:pt x="12720" y="74147"/>
                  </a:lnTo>
                  <a:lnTo>
                    <a:pt x="26526" y="83455"/>
                  </a:lnTo>
                  <a:lnTo>
                    <a:pt x="43434" y="86867"/>
                  </a:lnTo>
                  <a:lnTo>
                    <a:pt x="60341" y="83455"/>
                  </a:lnTo>
                  <a:lnTo>
                    <a:pt x="74147" y="74147"/>
                  </a:lnTo>
                  <a:lnTo>
                    <a:pt x="83455" y="60341"/>
                  </a:lnTo>
                  <a:lnTo>
                    <a:pt x="86868" y="43433"/>
                  </a:lnTo>
                  <a:lnTo>
                    <a:pt x="83455" y="26526"/>
                  </a:lnTo>
                  <a:lnTo>
                    <a:pt x="74147" y="12720"/>
                  </a:lnTo>
                  <a:lnTo>
                    <a:pt x="60341" y="3412"/>
                  </a:lnTo>
                  <a:lnTo>
                    <a:pt x="43434"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33" name="object 133"/>
            <p:cNvSpPr/>
            <p:nvPr/>
          </p:nvSpPr>
          <p:spPr>
            <a:xfrm>
              <a:off x="4158615" y="3785781"/>
              <a:ext cx="413384" cy="275590"/>
            </a:xfrm>
            <a:custGeom>
              <a:avLst/>
              <a:gdLst/>
              <a:ahLst/>
              <a:cxnLst/>
              <a:rect l="l" t="t" r="r" b="b"/>
              <a:pathLst>
                <a:path w="413385" h="275589">
                  <a:moveTo>
                    <a:pt x="0" y="275297"/>
                  </a:moveTo>
                  <a:lnTo>
                    <a:pt x="413308" y="0"/>
                  </a:lnTo>
                </a:path>
              </a:pathLst>
            </a:custGeom>
            <a:ln w="1905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34" name="object 134"/>
            <p:cNvSpPr/>
            <p:nvPr/>
          </p:nvSpPr>
          <p:spPr>
            <a:xfrm>
              <a:off x="4483862" y="3785787"/>
              <a:ext cx="88265" cy="79375"/>
            </a:xfrm>
            <a:custGeom>
              <a:avLst/>
              <a:gdLst/>
              <a:ahLst/>
              <a:cxnLst/>
              <a:rect l="l" t="t" r="r" b="b"/>
              <a:pathLst>
                <a:path w="88264" h="79375">
                  <a:moveTo>
                    <a:pt x="49288" y="79235"/>
                  </a:moveTo>
                  <a:lnTo>
                    <a:pt x="88061" y="0"/>
                  </a:lnTo>
                  <a:lnTo>
                    <a:pt x="0" y="5245"/>
                  </a:lnTo>
                </a:path>
              </a:pathLst>
            </a:custGeom>
            <a:ln w="1905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135" name="object 135"/>
          <p:cNvSpPr txBox="1"/>
          <p:nvPr/>
        </p:nvSpPr>
        <p:spPr>
          <a:xfrm>
            <a:off x="4470122" y="2170718"/>
            <a:ext cx="223405" cy="197578"/>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17" normalizeH="0" baseline="0" noProof="0" dirty="0">
                <a:ln>
                  <a:noFill/>
                </a:ln>
                <a:solidFill>
                  <a:prstClr val="black"/>
                </a:solidFill>
                <a:effectLst/>
                <a:uLnTx/>
                <a:uFillTx/>
                <a:latin typeface="Verdana"/>
                <a:ea typeface="+mn-ea"/>
                <a:cs typeface="Verdana"/>
              </a:rPr>
              <a:t>V</a:t>
            </a:r>
            <a:r>
              <a:rPr kumimoji="0" sz="1227" b="0" i="0" u="none" strike="noStrike" kern="1200" cap="none" spc="-25" normalizeH="0" baseline="-20833" noProof="0" dirty="0">
                <a:ln>
                  <a:noFill/>
                </a:ln>
                <a:solidFill>
                  <a:prstClr val="black"/>
                </a:solidFill>
                <a:effectLst/>
                <a:uLnTx/>
                <a:uFillTx/>
                <a:latin typeface="Verdana"/>
                <a:ea typeface="+mn-ea"/>
                <a:cs typeface="Verdana"/>
              </a:rPr>
              <a:t>g</a:t>
            </a:r>
            <a:endParaRPr kumimoji="0" sz="1227" b="0" i="0" u="none" strike="noStrike" kern="1200" cap="none" spc="0" normalizeH="0" baseline="-20833" noProof="0">
              <a:ln>
                <a:noFill/>
              </a:ln>
              <a:solidFill>
                <a:prstClr val="black"/>
              </a:solidFill>
              <a:effectLst/>
              <a:uLnTx/>
              <a:uFillTx/>
              <a:latin typeface="Verdana"/>
              <a:ea typeface="+mn-ea"/>
              <a:cs typeface="Verdana"/>
            </a:endParaRPr>
          </a:p>
        </p:txBody>
      </p:sp>
      <p:sp>
        <p:nvSpPr>
          <p:cNvPr id="136" name="object 136"/>
          <p:cNvSpPr txBox="1"/>
          <p:nvPr/>
        </p:nvSpPr>
        <p:spPr>
          <a:xfrm>
            <a:off x="3092060" y="2143267"/>
            <a:ext cx="124258" cy="197578"/>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34" normalizeH="0" baseline="0" noProof="0" dirty="0">
                <a:ln>
                  <a:noFill/>
                </a:ln>
                <a:solidFill>
                  <a:prstClr val="black"/>
                </a:solidFill>
                <a:effectLst/>
                <a:uLnTx/>
                <a:uFillTx/>
                <a:latin typeface="Verdana"/>
                <a:ea typeface="+mn-ea"/>
                <a:cs typeface="Verdana"/>
              </a:rPr>
              <a:t>V</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137" name="object 137"/>
          <p:cNvSpPr txBox="1"/>
          <p:nvPr/>
        </p:nvSpPr>
        <p:spPr>
          <a:xfrm>
            <a:off x="3198566" y="2233668"/>
            <a:ext cx="160193" cy="134612"/>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818" b="0" i="0" u="none" strike="noStrike" kern="1200" cap="none" spc="-17" normalizeH="0" baseline="0" noProof="0" dirty="0">
                <a:ln>
                  <a:noFill/>
                </a:ln>
                <a:solidFill>
                  <a:prstClr val="black"/>
                </a:solidFill>
                <a:effectLst/>
                <a:uLnTx/>
                <a:uFillTx/>
                <a:latin typeface="Verdana"/>
                <a:ea typeface="+mn-ea"/>
                <a:cs typeface="Verdana"/>
              </a:rPr>
              <a:t>ref</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sp>
        <p:nvSpPr>
          <p:cNvPr id="138" name="object 138"/>
          <p:cNvSpPr txBox="1"/>
          <p:nvPr/>
        </p:nvSpPr>
        <p:spPr>
          <a:xfrm>
            <a:off x="5099965" y="3371389"/>
            <a:ext cx="379268"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10" normalizeH="0" baseline="13888" noProof="0" dirty="0">
                <a:ln>
                  <a:noFill/>
                </a:ln>
                <a:solidFill>
                  <a:prstClr val="black"/>
                </a:solidFill>
                <a:effectLst/>
                <a:uLnTx/>
                <a:uFillTx/>
                <a:latin typeface="Verdana"/>
                <a:ea typeface="+mn-ea"/>
                <a:cs typeface="Verdana"/>
              </a:rPr>
              <a:t>R</a:t>
            </a:r>
            <a:r>
              <a:rPr kumimoji="0" sz="818" b="0" i="0" u="none" strike="noStrike" kern="1200" cap="none" spc="-7" normalizeH="0" baseline="0" noProof="0" dirty="0">
                <a:ln>
                  <a:noFill/>
                </a:ln>
                <a:solidFill>
                  <a:prstClr val="black"/>
                </a:solidFill>
                <a:effectLst/>
                <a:uLnTx/>
                <a:uFillTx/>
                <a:latin typeface="Verdana"/>
                <a:ea typeface="+mn-ea"/>
                <a:cs typeface="Verdana"/>
              </a:rPr>
              <a:t>load</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sp>
        <p:nvSpPr>
          <p:cNvPr id="139" name="object 139"/>
          <p:cNvSpPr txBox="1"/>
          <p:nvPr/>
        </p:nvSpPr>
        <p:spPr>
          <a:xfrm>
            <a:off x="7881767" y="2477876"/>
            <a:ext cx="635577" cy="155270"/>
          </a:xfrm>
          <a:prstGeom prst="rect">
            <a:avLst/>
          </a:prstGeom>
        </p:spPr>
        <p:txBody>
          <a:bodyPr vert="horz" wrap="square" lIns="0" tIns="8226" rIns="0" bIns="0" rtlCol="0">
            <a:spAutoFit/>
          </a:bodyPr>
          <a:lstStyle/>
          <a:p>
            <a:pPr marL="25977" marR="0" lvl="0" indent="0" algn="l" defTabSz="914400" rtl="0" eaLnBrk="1" fontAlgn="auto" latinLnBrk="0" hangingPunct="1">
              <a:lnSpc>
                <a:spcPct val="100000"/>
              </a:lnSpc>
              <a:spcBef>
                <a:spcPts val="65"/>
              </a:spcBef>
              <a:spcAft>
                <a:spcPts val="0"/>
              </a:spcAft>
              <a:buClrTx/>
              <a:buSzTx/>
              <a:buFontTx/>
              <a:buNone/>
              <a:tabLst/>
              <a:defRPr/>
            </a:pPr>
            <a:r>
              <a:rPr kumimoji="0" sz="955" b="0" i="0" u="none" strike="noStrike" kern="1200" cap="none" spc="-7" normalizeH="0" baseline="0" noProof="0" dirty="0">
                <a:ln>
                  <a:noFill/>
                </a:ln>
                <a:solidFill>
                  <a:prstClr val="black"/>
                </a:solidFill>
                <a:effectLst/>
                <a:uLnTx/>
                <a:uFillTx/>
                <a:latin typeface="Verdana"/>
                <a:ea typeface="+mn-ea"/>
                <a:cs typeface="Verdana"/>
              </a:rPr>
              <a:t>V</a:t>
            </a:r>
            <a:r>
              <a:rPr kumimoji="0" sz="920" b="0" i="0" u="none" strike="noStrike" kern="1200" cap="none" spc="-10" normalizeH="0" baseline="-21604" noProof="0" dirty="0">
                <a:ln>
                  <a:noFill/>
                </a:ln>
                <a:solidFill>
                  <a:prstClr val="black"/>
                </a:solidFill>
                <a:effectLst/>
                <a:uLnTx/>
                <a:uFillTx/>
                <a:latin typeface="Verdana"/>
                <a:ea typeface="+mn-ea"/>
                <a:cs typeface="Verdana"/>
              </a:rPr>
              <a:t>g</a:t>
            </a:r>
            <a:r>
              <a:rPr kumimoji="0" sz="955" b="0" i="0" u="none" strike="noStrike" kern="1200" cap="none" spc="-7" normalizeH="0" baseline="0" noProof="0" dirty="0">
                <a:ln>
                  <a:noFill/>
                </a:ln>
                <a:solidFill>
                  <a:prstClr val="black"/>
                </a:solidFill>
                <a:effectLst/>
                <a:uLnTx/>
                <a:uFillTx/>
                <a:latin typeface="Verdana"/>
                <a:ea typeface="+mn-ea"/>
                <a:cs typeface="Verdana"/>
              </a:rPr>
              <a:t>[n-</a:t>
            </a:r>
            <a:r>
              <a:rPr kumimoji="0" sz="955" b="0" i="0" u="none" strike="noStrike" kern="1200" cap="none" spc="-14" normalizeH="0" baseline="0" noProof="0" dirty="0">
                <a:ln>
                  <a:noFill/>
                </a:ln>
                <a:solidFill>
                  <a:prstClr val="black"/>
                </a:solidFill>
                <a:effectLst/>
                <a:uLnTx/>
                <a:uFillTx/>
                <a:latin typeface="Verdana"/>
                <a:ea typeface="+mn-ea"/>
                <a:cs typeface="Verdana"/>
              </a:rPr>
              <a:t>1:0]</a:t>
            </a:r>
            <a:endParaRPr kumimoji="0" sz="955" b="0" i="0" u="none" strike="noStrike" kern="1200" cap="none" spc="0" normalizeH="0" baseline="0" noProof="0">
              <a:ln>
                <a:noFill/>
              </a:ln>
              <a:solidFill>
                <a:prstClr val="black"/>
              </a:solidFill>
              <a:effectLst/>
              <a:uLnTx/>
              <a:uFillTx/>
              <a:latin typeface="Verdana"/>
              <a:ea typeface="+mn-ea"/>
              <a:cs typeface="Verdana"/>
            </a:endParaRPr>
          </a:p>
        </p:txBody>
      </p:sp>
      <p:sp>
        <p:nvSpPr>
          <p:cNvPr id="140" name="object 140"/>
          <p:cNvSpPr txBox="1"/>
          <p:nvPr/>
        </p:nvSpPr>
        <p:spPr>
          <a:xfrm>
            <a:off x="8509812" y="2851147"/>
            <a:ext cx="574098" cy="589352"/>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0" normalizeH="0" baseline="13888" noProof="0" dirty="0">
                <a:ln>
                  <a:noFill/>
                </a:ln>
                <a:solidFill>
                  <a:prstClr val="black"/>
                </a:solidFill>
                <a:effectLst/>
                <a:uLnTx/>
                <a:uFillTx/>
                <a:latin typeface="Verdana"/>
                <a:ea typeface="+mn-ea"/>
                <a:cs typeface="Verdana"/>
              </a:rPr>
              <a:t>V</a:t>
            </a:r>
            <a:r>
              <a:rPr kumimoji="0" sz="818" b="0" i="0" u="none" strike="noStrike" kern="1200" cap="none" spc="-14" normalizeH="0" baseline="0" noProof="0" dirty="0">
                <a:ln>
                  <a:noFill/>
                </a:ln>
                <a:solidFill>
                  <a:prstClr val="black"/>
                </a:solidFill>
                <a:effectLst/>
                <a:uLnTx/>
                <a:uFillTx/>
                <a:latin typeface="Verdana"/>
                <a:ea typeface="+mn-ea"/>
                <a:cs typeface="Verdana"/>
              </a:rPr>
              <a:t>out</a:t>
            </a:r>
            <a:endParaRPr kumimoji="0" sz="818" b="0" i="0" u="none" strike="noStrike" kern="1200" cap="none" spc="0" normalizeH="0" baseline="0" noProof="0">
              <a:ln>
                <a:noFill/>
              </a:ln>
              <a:solidFill>
                <a:prstClr val="black"/>
              </a:solidFill>
              <a:effectLst/>
              <a:uLnTx/>
              <a:uFillTx/>
              <a:latin typeface="Verdana"/>
              <a:ea typeface="+mn-ea"/>
              <a:cs typeface="Verdana"/>
            </a:endParaRPr>
          </a:p>
          <a:p>
            <a:pPr marL="0" marR="0" lvl="0" indent="0" algn="l" defTabSz="914400" rtl="0" eaLnBrk="1" fontAlgn="auto" latinLnBrk="0" hangingPunct="1">
              <a:lnSpc>
                <a:spcPct val="100000"/>
              </a:lnSpc>
              <a:spcBef>
                <a:spcPts val="558"/>
              </a:spcBef>
              <a:spcAft>
                <a:spcPts val="0"/>
              </a:spcAft>
              <a:buClrTx/>
              <a:buSzTx/>
              <a:buFontTx/>
              <a:buNone/>
              <a:tabLst/>
              <a:defRPr/>
            </a:pPr>
            <a:endParaRPr kumimoji="0" sz="818" b="0" i="0" u="none" strike="noStrike" kern="1200" cap="none" spc="0" normalizeH="0" baseline="0" noProof="0">
              <a:ln>
                <a:noFill/>
              </a:ln>
              <a:solidFill>
                <a:prstClr val="black"/>
              </a:solidFill>
              <a:effectLst/>
              <a:uLnTx/>
              <a:uFillTx/>
              <a:latin typeface="Verdana"/>
              <a:ea typeface="+mn-ea"/>
              <a:cs typeface="Verdana"/>
            </a:endParaRPr>
          </a:p>
          <a:p>
            <a:pPr marL="220368" marR="0" lvl="0" indent="0" algn="l" defTabSz="914400" rtl="0" eaLnBrk="1" fontAlgn="auto" latinLnBrk="0" hangingPunct="1">
              <a:lnSpc>
                <a:spcPct val="100000"/>
              </a:lnSpc>
              <a:spcBef>
                <a:spcPts val="0"/>
              </a:spcBef>
              <a:spcAft>
                <a:spcPts val="0"/>
              </a:spcAft>
              <a:buClrTx/>
              <a:buSzTx/>
              <a:buFontTx/>
              <a:buNone/>
              <a:tabLst/>
              <a:defRPr/>
            </a:pPr>
            <a:r>
              <a:rPr kumimoji="0" sz="1841" b="0" i="0" u="none" strike="noStrike" kern="1200" cap="none" spc="-10" normalizeH="0" baseline="13888" noProof="0" dirty="0">
                <a:ln>
                  <a:noFill/>
                </a:ln>
                <a:solidFill>
                  <a:prstClr val="black"/>
                </a:solidFill>
                <a:effectLst/>
                <a:uLnTx/>
                <a:uFillTx/>
                <a:latin typeface="Verdana"/>
                <a:ea typeface="+mn-ea"/>
                <a:cs typeface="Verdana"/>
              </a:rPr>
              <a:t>R</a:t>
            </a:r>
            <a:r>
              <a:rPr kumimoji="0" sz="818" b="0" i="0" u="none" strike="noStrike" kern="1200" cap="none" spc="-7" normalizeH="0" baseline="0" noProof="0" dirty="0">
                <a:ln>
                  <a:noFill/>
                </a:ln>
                <a:solidFill>
                  <a:prstClr val="black"/>
                </a:solidFill>
                <a:effectLst/>
                <a:uLnTx/>
                <a:uFillTx/>
                <a:latin typeface="Verdana"/>
                <a:ea typeface="+mn-ea"/>
                <a:cs typeface="Verdana"/>
              </a:rPr>
              <a:t>load</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sp>
        <p:nvSpPr>
          <p:cNvPr id="141" name="object 141"/>
          <p:cNvSpPr txBox="1"/>
          <p:nvPr/>
        </p:nvSpPr>
        <p:spPr>
          <a:xfrm>
            <a:off x="4003111" y="3285269"/>
            <a:ext cx="330344"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0" normalizeH="0" baseline="13888" noProof="0" dirty="0">
                <a:ln>
                  <a:noFill/>
                </a:ln>
                <a:solidFill>
                  <a:prstClr val="black"/>
                </a:solidFill>
                <a:effectLst/>
                <a:uLnTx/>
                <a:uFillTx/>
                <a:latin typeface="Verdana"/>
                <a:ea typeface="+mn-ea"/>
                <a:cs typeface="Verdana"/>
              </a:rPr>
              <a:t>C</a:t>
            </a:r>
            <a:r>
              <a:rPr kumimoji="0" sz="818" b="0" i="0" u="none" strike="noStrike" kern="1200" cap="none" spc="-14" normalizeH="0" baseline="0" noProof="0" dirty="0">
                <a:ln>
                  <a:noFill/>
                </a:ln>
                <a:solidFill>
                  <a:prstClr val="black"/>
                </a:solidFill>
                <a:effectLst/>
                <a:uLnTx/>
                <a:uFillTx/>
                <a:latin typeface="Verdana"/>
                <a:ea typeface="+mn-ea"/>
                <a:cs typeface="Verdana"/>
              </a:rPr>
              <a:t>out</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sp>
        <p:nvSpPr>
          <p:cNvPr id="142" name="object 142"/>
          <p:cNvSpPr txBox="1"/>
          <p:nvPr/>
        </p:nvSpPr>
        <p:spPr>
          <a:xfrm>
            <a:off x="7474353" y="3293860"/>
            <a:ext cx="330344" cy="197641"/>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841" b="0" i="0" u="none" strike="noStrike" kern="1200" cap="none" spc="-20" normalizeH="0" baseline="13888" noProof="0" dirty="0">
                <a:ln>
                  <a:noFill/>
                </a:ln>
                <a:solidFill>
                  <a:prstClr val="black"/>
                </a:solidFill>
                <a:effectLst/>
                <a:uLnTx/>
                <a:uFillTx/>
                <a:latin typeface="Verdana"/>
                <a:ea typeface="+mn-ea"/>
                <a:cs typeface="Verdana"/>
              </a:rPr>
              <a:t>C</a:t>
            </a:r>
            <a:r>
              <a:rPr kumimoji="0" sz="818" b="0" i="0" u="none" strike="noStrike" kern="1200" cap="none" spc="-14" normalizeH="0" baseline="0" noProof="0" dirty="0">
                <a:ln>
                  <a:noFill/>
                </a:ln>
                <a:solidFill>
                  <a:prstClr val="black"/>
                </a:solidFill>
                <a:effectLst/>
                <a:uLnTx/>
                <a:uFillTx/>
                <a:latin typeface="Verdana"/>
                <a:ea typeface="+mn-ea"/>
                <a:cs typeface="Verdana"/>
              </a:rPr>
              <a:t>out</a:t>
            </a:r>
            <a:endParaRPr kumimoji="0" sz="818" b="0" i="0" u="none" strike="noStrike" kern="1200" cap="none" spc="0" normalizeH="0" baseline="0" noProof="0">
              <a:ln>
                <a:noFill/>
              </a:ln>
              <a:solidFill>
                <a:prstClr val="black"/>
              </a:solidFill>
              <a:effectLst/>
              <a:uLnTx/>
              <a:uFillTx/>
              <a:latin typeface="Verdana"/>
              <a:ea typeface="+mn-ea"/>
              <a:cs typeface="Verdana"/>
            </a:endParaRPr>
          </a:p>
        </p:txBody>
      </p:sp>
      <p:grpSp>
        <p:nvGrpSpPr>
          <p:cNvPr id="143" name="object 143"/>
          <p:cNvGrpSpPr/>
          <p:nvPr/>
        </p:nvGrpSpPr>
        <p:grpSpPr>
          <a:xfrm>
            <a:off x="7893550" y="1861878"/>
            <a:ext cx="654194" cy="497465"/>
            <a:chOff x="8570976" y="1780794"/>
            <a:chExt cx="959485" cy="729615"/>
          </a:xfrm>
        </p:grpSpPr>
        <p:sp>
          <p:nvSpPr>
            <p:cNvPr id="144" name="object 144"/>
            <p:cNvSpPr/>
            <p:nvPr/>
          </p:nvSpPr>
          <p:spPr>
            <a:xfrm>
              <a:off x="8585454" y="1795272"/>
              <a:ext cx="509905" cy="1905"/>
            </a:xfrm>
            <a:custGeom>
              <a:avLst/>
              <a:gdLst/>
              <a:ahLst/>
              <a:cxnLst/>
              <a:rect l="l" t="t" r="r" b="b"/>
              <a:pathLst>
                <a:path w="509904" h="1905">
                  <a:moveTo>
                    <a:pt x="0" y="0"/>
                  </a:moveTo>
                  <a:lnTo>
                    <a:pt x="509778" y="1524"/>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45" name="object 145"/>
            <p:cNvSpPr/>
            <p:nvPr/>
          </p:nvSpPr>
          <p:spPr>
            <a:xfrm>
              <a:off x="8597646" y="2038350"/>
              <a:ext cx="932815" cy="0"/>
            </a:xfrm>
            <a:custGeom>
              <a:avLst/>
              <a:gdLst/>
              <a:ahLst/>
              <a:cxnLst/>
              <a:rect l="l" t="t" r="r" b="b"/>
              <a:pathLst>
                <a:path w="932815">
                  <a:moveTo>
                    <a:pt x="0" y="0"/>
                  </a:moveTo>
                  <a:lnTo>
                    <a:pt x="932688" y="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46" name="object 146"/>
            <p:cNvSpPr/>
            <p:nvPr/>
          </p:nvSpPr>
          <p:spPr>
            <a:xfrm>
              <a:off x="9017127" y="2260473"/>
              <a:ext cx="0" cy="250190"/>
            </a:xfrm>
            <a:custGeom>
              <a:avLst/>
              <a:gdLst/>
              <a:ahLst/>
              <a:cxnLst/>
              <a:rect l="l" t="t" r="r" b="b"/>
              <a:pathLst>
                <a:path h="250189">
                  <a:moveTo>
                    <a:pt x="0" y="0"/>
                  </a:moveTo>
                  <a:lnTo>
                    <a:pt x="0" y="249936"/>
                  </a:lnTo>
                </a:path>
              </a:pathLst>
            </a:custGeom>
            <a:ln w="63246">
              <a:solidFill>
                <a:srgbClr val="000000"/>
              </a:solidFill>
              <a:prstDash val="dot"/>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147" name="object 147"/>
          <p:cNvSpPr txBox="1"/>
          <p:nvPr/>
        </p:nvSpPr>
        <p:spPr>
          <a:xfrm>
            <a:off x="2616585" y="1581678"/>
            <a:ext cx="1150793" cy="218236"/>
          </a:xfrm>
          <a:prstGeom prst="rect">
            <a:avLst/>
          </a:prstGeom>
        </p:spPr>
        <p:txBody>
          <a:bodyPr vert="horz" wrap="square" lIns="0" tIns="8226" rIns="0" bIns="0" rtlCol="0">
            <a:spAutoFit/>
          </a:bodyPr>
          <a:lstStyle/>
          <a:p>
            <a:pPr marL="8659" marR="0" lvl="0" indent="0" algn="l" defTabSz="914400" rtl="0" eaLnBrk="1" fontAlgn="auto" latinLnBrk="0" hangingPunct="1">
              <a:lnSpc>
                <a:spcPct val="100000"/>
              </a:lnSpc>
              <a:spcBef>
                <a:spcPts val="65"/>
              </a:spcBef>
              <a:spcAft>
                <a:spcPts val="0"/>
              </a:spcAft>
              <a:buClrTx/>
              <a:buSzTx/>
              <a:buFontTx/>
              <a:buNone/>
              <a:tabLst/>
              <a:defRPr/>
            </a:pPr>
            <a:r>
              <a:rPr kumimoji="0" sz="1364" b="1" i="0" u="none" strike="noStrike" kern="1200" cap="none" spc="0" normalizeH="0" baseline="0" noProof="0" dirty="0">
                <a:ln>
                  <a:noFill/>
                </a:ln>
                <a:solidFill>
                  <a:prstClr val="black"/>
                </a:solidFill>
                <a:effectLst/>
                <a:uLnTx/>
                <a:uFillTx/>
                <a:latin typeface="Verdana"/>
                <a:ea typeface="+mn-ea"/>
                <a:cs typeface="Verdana"/>
              </a:rPr>
              <a:t>Analog</a:t>
            </a:r>
            <a:r>
              <a:rPr kumimoji="0" sz="1364" b="1" i="0" u="none" strike="noStrike" kern="1200" cap="none" spc="-44" normalizeH="0" baseline="0" noProof="0" dirty="0">
                <a:ln>
                  <a:noFill/>
                </a:ln>
                <a:solidFill>
                  <a:prstClr val="black"/>
                </a:solidFill>
                <a:effectLst/>
                <a:uLnTx/>
                <a:uFillTx/>
                <a:latin typeface="Verdana"/>
                <a:ea typeface="+mn-ea"/>
                <a:cs typeface="Verdana"/>
              </a:rPr>
              <a:t> </a:t>
            </a:r>
            <a:r>
              <a:rPr kumimoji="0" sz="1364" b="1" i="0" u="none" strike="noStrike" kern="1200" cap="none" spc="-17" normalizeH="0" baseline="0" noProof="0" dirty="0">
                <a:ln>
                  <a:noFill/>
                </a:ln>
                <a:solidFill>
                  <a:prstClr val="black"/>
                </a:solidFill>
                <a:effectLst/>
                <a:uLnTx/>
                <a:uFillTx/>
                <a:latin typeface="Verdana"/>
                <a:ea typeface="+mn-ea"/>
                <a:cs typeface="Verdana"/>
              </a:rPr>
              <a:t>LDO</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sp>
        <p:nvSpPr>
          <p:cNvPr id="148" name="object 148"/>
          <p:cNvSpPr txBox="1"/>
          <p:nvPr/>
        </p:nvSpPr>
        <p:spPr>
          <a:xfrm>
            <a:off x="6290768" y="1581678"/>
            <a:ext cx="1116589" cy="218236"/>
          </a:xfrm>
          <a:prstGeom prst="rect">
            <a:avLst/>
          </a:prstGeom>
        </p:spPr>
        <p:txBody>
          <a:bodyPr vert="horz" wrap="square" lIns="0" tIns="8226" rIns="0" bIns="0" rtlCol="0">
            <a:spAutoFit/>
          </a:bodyPr>
          <a:lstStyle/>
          <a:p>
            <a:pPr marL="8659" marR="0" lvl="0" indent="0" algn="l" defTabSz="914400" rtl="0" eaLnBrk="1" fontAlgn="auto" latinLnBrk="0" hangingPunct="1">
              <a:lnSpc>
                <a:spcPct val="100000"/>
              </a:lnSpc>
              <a:spcBef>
                <a:spcPts val="65"/>
              </a:spcBef>
              <a:spcAft>
                <a:spcPts val="0"/>
              </a:spcAft>
              <a:buClrTx/>
              <a:buSzTx/>
              <a:buFontTx/>
              <a:buNone/>
              <a:tabLst/>
              <a:defRPr/>
            </a:pPr>
            <a:r>
              <a:rPr kumimoji="0" sz="1364" b="1" i="0" u="none" strike="noStrike" kern="1200" cap="none" spc="0" normalizeH="0" baseline="0" noProof="0" dirty="0">
                <a:ln>
                  <a:noFill/>
                </a:ln>
                <a:solidFill>
                  <a:prstClr val="black"/>
                </a:solidFill>
                <a:effectLst/>
                <a:uLnTx/>
                <a:uFillTx/>
                <a:latin typeface="Verdana"/>
                <a:ea typeface="+mn-ea"/>
                <a:cs typeface="Verdana"/>
              </a:rPr>
              <a:t>Digital</a:t>
            </a:r>
            <a:r>
              <a:rPr kumimoji="0" sz="1364" b="1" i="0" u="none" strike="noStrike" kern="1200" cap="none" spc="-37" normalizeH="0" baseline="0" noProof="0" dirty="0">
                <a:ln>
                  <a:noFill/>
                </a:ln>
                <a:solidFill>
                  <a:prstClr val="black"/>
                </a:solidFill>
                <a:effectLst/>
                <a:uLnTx/>
                <a:uFillTx/>
                <a:latin typeface="Verdana"/>
                <a:ea typeface="+mn-ea"/>
                <a:cs typeface="Verdana"/>
              </a:rPr>
              <a:t> </a:t>
            </a:r>
            <a:r>
              <a:rPr kumimoji="0" sz="1364" b="1" i="0" u="none" strike="noStrike" kern="1200" cap="none" spc="-17" normalizeH="0" baseline="0" noProof="0" dirty="0">
                <a:ln>
                  <a:noFill/>
                </a:ln>
                <a:solidFill>
                  <a:prstClr val="black"/>
                </a:solidFill>
                <a:effectLst/>
                <a:uLnTx/>
                <a:uFillTx/>
                <a:latin typeface="Verdana"/>
                <a:ea typeface="+mn-ea"/>
                <a:cs typeface="Verdana"/>
              </a:rPr>
              <a:t>LDO</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spTree>
    <p:extLst>
      <p:ext uri="{BB962C8B-B14F-4D97-AF65-F5344CB8AC3E}">
        <p14:creationId xmlns:p14="http://schemas.microsoft.com/office/powerpoint/2010/main" val="185871213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347725"/>
            <a:ext cx="11317096" cy="523220"/>
          </a:xfrm>
        </p:spPr>
        <p:txBody>
          <a:bodyPr/>
          <a:lstStyle/>
          <a:p>
            <a:r>
              <a:rPr lang="en-US" dirty="0"/>
              <a:t>Output Voltage Range – Analog vs. Digital LDO</a:t>
            </a:r>
          </a:p>
        </p:txBody>
      </p:sp>
      <p:sp>
        <p:nvSpPr>
          <p:cNvPr id="5" name="Footer Placeholder 4"/>
          <p:cNvSpPr>
            <a:spLocks noGrp="1"/>
          </p:cNvSpPr>
          <p:nvPr>
            <p:ph type="ftr" sz="quarter" idx="5"/>
          </p:nvPr>
        </p:nvSpPr>
        <p:spPr>
          <a:xfrm>
            <a:off x="5620510" y="6511741"/>
            <a:ext cx="1669289" cy="3462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Date Placeholder 5"/>
          <p:cNvSpPr>
            <a:spLocks noGrp="1"/>
          </p:cNvSpPr>
          <p:nvPr>
            <p:ph type="dt" sz="half" idx="6"/>
          </p:nvPr>
        </p:nvSpPr>
        <p:spPr>
          <a:xfrm>
            <a:off x="85344"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7" name="Slide Number Placeholder 6"/>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3" name="Picture 2"/>
          <p:cNvPicPr>
            <a:picLocks noChangeAspect="1"/>
          </p:cNvPicPr>
          <p:nvPr/>
        </p:nvPicPr>
        <p:blipFill>
          <a:blip r:embed="rId2"/>
          <a:stretch>
            <a:fillRect/>
          </a:stretch>
        </p:blipFill>
        <p:spPr>
          <a:xfrm>
            <a:off x="888809" y="1374676"/>
            <a:ext cx="7429882" cy="3854648"/>
          </a:xfrm>
          <a:prstGeom prst="rect">
            <a:avLst/>
          </a:prstGeom>
        </p:spPr>
      </p:pic>
    </p:spTree>
    <p:extLst>
      <p:ext uri="{BB962C8B-B14F-4D97-AF65-F5344CB8AC3E}">
        <p14:creationId xmlns:p14="http://schemas.microsoft.com/office/powerpoint/2010/main" val="379173858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702244" y="2111992"/>
            <a:ext cx="659390" cy="386195"/>
          </a:xfrm>
          <a:custGeom>
            <a:avLst/>
            <a:gdLst/>
            <a:ahLst/>
            <a:cxnLst/>
            <a:rect l="l" t="t" r="r" b="b"/>
            <a:pathLst>
              <a:path w="967104" h="566419">
                <a:moveTo>
                  <a:pt x="0" y="94361"/>
                </a:moveTo>
                <a:lnTo>
                  <a:pt x="7416" y="57628"/>
                </a:lnTo>
                <a:lnTo>
                  <a:pt x="27639" y="27635"/>
                </a:lnTo>
                <a:lnTo>
                  <a:pt x="57633" y="7414"/>
                </a:lnTo>
                <a:lnTo>
                  <a:pt x="94361" y="0"/>
                </a:lnTo>
                <a:lnTo>
                  <a:pt x="872616" y="0"/>
                </a:lnTo>
                <a:lnTo>
                  <a:pt x="909344" y="7414"/>
                </a:lnTo>
                <a:lnTo>
                  <a:pt x="939338" y="27635"/>
                </a:lnTo>
                <a:lnTo>
                  <a:pt x="959561" y="57628"/>
                </a:lnTo>
                <a:lnTo>
                  <a:pt x="966978" y="94361"/>
                </a:lnTo>
                <a:lnTo>
                  <a:pt x="966978" y="471805"/>
                </a:lnTo>
                <a:lnTo>
                  <a:pt x="959561" y="508532"/>
                </a:lnTo>
                <a:lnTo>
                  <a:pt x="939338" y="538526"/>
                </a:lnTo>
                <a:lnTo>
                  <a:pt x="909344" y="558749"/>
                </a:lnTo>
                <a:lnTo>
                  <a:pt x="872616" y="566166"/>
                </a:lnTo>
                <a:lnTo>
                  <a:pt x="94361" y="566166"/>
                </a:lnTo>
                <a:lnTo>
                  <a:pt x="57633" y="558749"/>
                </a:lnTo>
                <a:lnTo>
                  <a:pt x="27639" y="538526"/>
                </a:lnTo>
                <a:lnTo>
                  <a:pt x="7416" y="508532"/>
                </a:lnTo>
                <a:lnTo>
                  <a:pt x="0" y="471805"/>
                </a:lnTo>
                <a:lnTo>
                  <a:pt x="0" y="94361"/>
                </a:lnTo>
                <a:close/>
              </a:path>
            </a:pathLst>
          </a:custGeom>
          <a:ln w="28956">
            <a:solidFill>
              <a:srgbClr val="FF0000"/>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txBox="1"/>
          <p:nvPr/>
        </p:nvSpPr>
        <p:spPr>
          <a:xfrm>
            <a:off x="5785586" y="2186193"/>
            <a:ext cx="491836" cy="208029"/>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95" b="0" i="0" u="none" strike="noStrike" kern="1200" cap="none" spc="-14" normalizeH="0" baseline="0" noProof="0" dirty="0">
                <a:ln>
                  <a:noFill/>
                </a:ln>
                <a:solidFill>
                  <a:srgbClr val="BEBEBE"/>
                </a:solidFill>
                <a:effectLst/>
                <a:uLnTx/>
                <a:uFillTx/>
                <a:latin typeface="Verdana"/>
                <a:ea typeface="+mn-ea"/>
                <a:cs typeface="Verdana"/>
              </a:rPr>
              <a:t>DLDO</a:t>
            </a:r>
            <a:endParaRPr kumimoji="0" sz="1295" b="0" i="0" u="none" strike="noStrike" kern="1200" cap="none" spc="0" normalizeH="0" baseline="0" noProof="0">
              <a:ln>
                <a:noFill/>
              </a:ln>
              <a:solidFill>
                <a:prstClr val="black"/>
              </a:solidFill>
              <a:effectLst/>
              <a:uLnTx/>
              <a:uFillTx/>
              <a:latin typeface="Verdana"/>
              <a:ea typeface="+mn-ea"/>
              <a:cs typeface="Verdana"/>
            </a:endParaRPr>
          </a:p>
        </p:txBody>
      </p:sp>
      <p:grpSp>
        <p:nvGrpSpPr>
          <p:cNvPr id="4" name="object 4"/>
          <p:cNvGrpSpPr/>
          <p:nvPr/>
        </p:nvGrpSpPr>
        <p:grpSpPr>
          <a:xfrm>
            <a:off x="5690727" y="2102554"/>
            <a:ext cx="2253528" cy="1379826"/>
            <a:chOff x="7047610" y="2493900"/>
            <a:chExt cx="3305175" cy="2023745"/>
          </a:xfrm>
        </p:grpSpPr>
        <p:sp>
          <p:nvSpPr>
            <p:cNvPr id="5" name="object 5"/>
            <p:cNvSpPr/>
            <p:nvPr/>
          </p:nvSpPr>
          <p:spPr>
            <a:xfrm>
              <a:off x="7062215" y="3628646"/>
              <a:ext cx="967105" cy="872490"/>
            </a:xfrm>
            <a:custGeom>
              <a:avLst/>
              <a:gdLst/>
              <a:ahLst/>
              <a:cxnLst/>
              <a:rect l="l" t="t" r="r" b="b"/>
              <a:pathLst>
                <a:path w="967104" h="872489">
                  <a:moveTo>
                    <a:pt x="0" y="145415"/>
                  </a:moveTo>
                  <a:lnTo>
                    <a:pt x="7412" y="99450"/>
                  </a:lnTo>
                  <a:lnTo>
                    <a:pt x="28055" y="59532"/>
                  </a:lnTo>
                  <a:lnTo>
                    <a:pt x="59532" y="28055"/>
                  </a:lnTo>
                  <a:lnTo>
                    <a:pt x="99450" y="7412"/>
                  </a:lnTo>
                  <a:lnTo>
                    <a:pt x="145415" y="0"/>
                  </a:lnTo>
                  <a:lnTo>
                    <a:pt x="821563" y="0"/>
                  </a:lnTo>
                  <a:lnTo>
                    <a:pt x="867527" y="7412"/>
                  </a:lnTo>
                  <a:lnTo>
                    <a:pt x="907445" y="28055"/>
                  </a:lnTo>
                  <a:lnTo>
                    <a:pt x="938922" y="59532"/>
                  </a:lnTo>
                  <a:lnTo>
                    <a:pt x="959565" y="99450"/>
                  </a:lnTo>
                  <a:lnTo>
                    <a:pt x="966978" y="145415"/>
                  </a:lnTo>
                  <a:lnTo>
                    <a:pt x="966978" y="727075"/>
                  </a:lnTo>
                  <a:lnTo>
                    <a:pt x="959565" y="773034"/>
                  </a:lnTo>
                  <a:lnTo>
                    <a:pt x="938922" y="812951"/>
                  </a:lnTo>
                  <a:lnTo>
                    <a:pt x="907445" y="844430"/>
                  </a:lnTo>
                  <a:lnTo>
                    <a:pt x="867527" y="865075"/>
                  </a:lnTo>
                  <a:lnTo>
                    <a:pt x="821563" y="872490"/>
                  </a:lnTo>
                  <a:lnTo>
                    <a:pt x="145415" y="872490"/>
                  </a:lnTo>
                  <a:lnTo>
                    <a:pt x="99450" y="865075"/>
                  </a:lnTo>
                  <a:lnTo>
                    <a:pt x="59532" y="844430"/>
                  </a:lnTo>
                  <a:lnTo>
                    <a:pt x="28055" y="812951"/>
                  </a:lnTo>
                  <a:lnTo>
                    <a:pt x="7412" y="773034"/>
                  </a:lnTo>
                  <a:lnTo>
                    <a:pt x="0" y="727075"/>
                  </a:lnTo>
                  <a:lnTo>
                    <a:pt x="0" y="145415"/>
                  </a:lnTo>
                  <a:close/>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8216645" y="3624074"/>
              <a:ext cx="967105" cy="872490"/>
            </a:xfrm>
            <a:custGeom>
              <a:avLst/>
              <a:gdLst/>
              <a:ahLst/>
              <a:cxnLst/>
              <a:rect l="l" t="t" r="r" b="b"/>
              <a:pathLst>
                <a:path w="967104" h="872489">
                  <a:moveTo>
                    <a:pt x="0" y="145414"/>
                  </a:moveTo>
                  <a:lnTo>
                    <a:pt x="7412" y="99450"/>
                  </a:lnTo>
                  <a:lnTo>
                    <a:pt x="28055" y="59532"/>
                  </a:lnTo>
                  <a:lnTo>
                    <a:pt x="59532" y="28055"/>
                  </a:lnTo>
                  <a:lnTo>
                    <a:pt x="99450" y="7412"/>
                  </a:lnTo>
                  <a:lnTo>
                    <a:pt x="145415" y="0"/>
                  </a:lnTo>
                  <a:lnTo>
                    <a:pt x="821563" y="0"/>
                  </a:lnTo>
                  <a:lnTo>
                    <a:pt x="867527" y="7412"/>
                  </a:lnTo>
                  <a:lnTo>
                    <a:pt x="907445" y="28055"/>
                  </a:lnTo>
                  <a:lnTo>
                    <a:pt x="938922" y="59532"/>
                  </a:lnTo>
                  <a:lnTo>
                    <a:pt x="959565" y="99450"/>
                  </a:lnTo>
                  <a:lnTo>
                    <a:pt x="966978" y="145414"/>
                  </a:lnTo>
                  <a:lnTo>
                    <a:pt x="966978" y="727074"/>
                  </a:lnTo>
                  <a:lnTo>
                    <a:pt x="959565" y="773034"/>
                  </a:lnTo>
                  <a:lnTo>
                    <a:pt x="938922" y="812951"/>
                  </a:lnTo>
                  <a:lnTo>
                    <a:pt x="907445" y="844430"/>
                  </a:lnTo>
                  <a:lnTo>
                    <a:pt x="867527" y="865075"/>
                  </a:lnTo>
                  <a:lnTo>
                    <a:pt x="821563" y="872489"/>
                  </a:lnTo>
                  <a:lnTo>
                    <a:pt x="145415" y="872489"/>
                  </a:lnTo>
                  <a:lnTo>
                    <a:pt x="99450" y="865075"/>
                  </a:lnTo>
                  <a:lnTo>
                    <a:pt x="59532" y="844430"/>
                  </a:lnTo>
                  <a:lnTo>
                    <a:pt x="28055" y="812951"/>
                  </a:lnTo>
                  <a:lnTo>
                    <a:pt x="7412" y="773034"/>
                  </a:lnTo>
                  <a:lnTo>
                    <a:pt x="0" y="727074"/>
                  </a:lnTo>
                  <a:lnTo>
                    <a:pt x="0" y="145414"/>
                  </a:lnTo>
                  <a:close/>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p:nvPr/>
          </p:nvSpPr>
          <p:spPr>
            <a:xfrm>
              <a:off x="9371075" y="3630170"/>
              <a:ext cx="967105" cy="872490"/>
            </a:xfrm>
            <a:custGeom>
              <a:avLst/>
              <a:gdLst/>
              <a:ahLst/>
              <a:cxnLst/>
              <a:rect l="l" t="t" r="r" b="b"/>
              <a:pathLst>
                <a:path w="967104" h="872489">
                  <a:moveTo>
                    <a:pt x="0" y="145415"/>
                  </a:moveTo>
                  <a:lnTo>
                    <a:pt x="7412" y="99450"/>
                  </a:lnTo>
                  <a:lnTo>
                    <a:pt x="28055" y="59532"/>
                  </a:lnTo>
                  <a:lnTo>
                    <a:pt x="59532" y="28055"/>
                  </a:lnTo>
                  <a:lnTo>
                    <a:pt x="99450" y="7412"/>
                  </a:lnTo>
                  <a:lnTo>
                    <a:pt x="145415" y="0"/>
                  </a:lnTo>
                  <a:lnTo>
                    <a:pt x="821563" y="0"/>
                  </a:lnTo>
                  <a:lnTo>
                    <a:pt x="867527" y="7412"/>
                  </a:lnTo>
                  <a:lnTo>
                    <a:pt x="907445" y="28055"/>
                  </a:lnTo>
                  <a:lnTo>
                    <a:pt x="938922" y="59532"/>
                  </a:lnTo>
                  <a:lnTo>
                    <a:pt x="959565" y="99450"/>
                  </a:lnTo>
                  <a:lnTo>
                    <a:pt x="966978" y="145415"/>
                  </a:lnTo>
                  <a:lnTo>
                    <a:pt x="966978" y="727075"/>
                  </a:lnTo>
                  <a:lnTo>
                    <a:pt x="959565" y="773034"/>
                  </a:lnTo>
                  <a:lnTo>
                    <a:pt x="938922" y="812951"/>
                  </a:lnTo>
                  <a:lnTo>
                    <a:pt x="907445" y="844430"/>
                  </a:lnTo>
                  <a:lnTo>
                    <a:pt x="867527" y="865075"/>
                  </a:lnTo>
                  <a:lnTo>
                    <a:pt x="821563" y="872490"/>
                  </a:lnTo>
                  <a:lnTo>
                    <a:pt x="145415" y="872490"/>
                  </a:lnTo>
                  <a:lnTo>
                    <a:pt x="99450" y="865075"/>
                  </a:lnTo>
                  <a:lnTo>
                    <a:pt x="59532" y="844430"/>
                  </a:lnTo>
                  <a:lnTo>
                    <a:pt x="28055" y="812951"/>
                  </a:lnTo>
                  <a:lnTo>
                    <a:pt x="7412" y="773034"/>
                  </a:lnTo>
                  <a:lnTo>
                    <a:pt x="0" y="727075"/>
                  </a:lnTo>
                  <a:lnTo>
                    <a:pt x="0" y="145415"/>
                  </a:lnTo>
                  <a:close/>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8" name="object 8"/>
            <p:cNvSpPr/>
            <p:nvPr/>
          </p:nvSpPr>
          <p:spPr>
            <a:xfrm>
              <a:off x="8225789" y="2508505"/>
              <a:ext cx="967105" cy="566420"/>
            </a:xfrm>
            <a:custGeom>
              <a:avLst/>
              <a:gdLst/>
              <a:ahLst/>
              <a:cxnLst/>
              <a:rect l="l" t="t" r="r" b="b"/>
              <a:pathLst>
                <a:path w="967104" h="566419">
                  <a:moveTo>
                    <a:pt x="0" y="94361"/>
                  </a:moveTo>
                  <a:lnTo>
                    <a:pt x="7416" y="57628"/>
                  </a:lnTo>
                  <a:lnTo>
                    <a:pt x="27639" y="27635"/>
                  </a:lnTo>
                  <a:lnTo>
                    <a:pt x="57633" y="7414"/>
                  </a:lnTo>
                  <a:lnTo>
                    <a:pt x="94361" y="0"/>
                  </a:lnTo>
                  <a:lnTo>
                    <a:pt x="872616" y="0"/>
                  </a:lnTo>
                  <a:lnTo>
                    <a:pt x="909344" y="7414"/>
                  </a:lnTo>
                  <a:lnTo>
                    <a:pt x="939338" y="27635"/>
                  </a:lnTo>
                  <a:lnTo>
                    <a:pt x="959561" y="57628"/>
                  </a:lnTo>
                  <a:lnTo>
                    <a:pt x="966978" y="94361"/>
                  </a:lnTo>
                  <a:lnTo>
                    <a:pt x="966978" y="471805"/>
                  </a:lnTo>
                  <a:lnTo>
                    <a:pt x="959561" y="508532"/>
                  </a:lnTo>
                  <a:lnTo>
                    <a:pt x="939338" y="538526"/>
                  </a:lnTo>
                  <a:lnTo>
                    <a:pt x="909344" y="558749"/>
                  </a:lnTo>
                  <a:lnTo>
                    <a:pt x="872616" y="566166"/>
                  </a:lnTo>
                  <a:lnTo>
                    <a:pt x="94361" y="566166"/>
                  </a:lnTo>
                  <a:lnTo>
                    <a:pt x="57633" y="558749"/>
                  </a:lnTo>
                  <a:lnTo>
                    <a:pt x="27639" y="538526"/>
                  </a:lnTo>
                  <a:lnTo>
                    <a:pt x="7416" y="508532"/>
                  </a:lnTo>
                  <a:lnTo>
                    <a:pt x="0" y="471805"/>
                  </a:lnTo>
                  <a:lnTo>
                    <a:pt x="0" y="94361"/>
                  </a:lnTo>
                  <a:close/>
                </a:path>
              </a:pathLst>
            </a:custGeom>
            <a:ln w="28956">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9" name="object 9"/>
          <p:cNvSpPr/>
          <p:nvPr/>
        </p:nvSpPr>
        <p:spPr>
          <a:xfrm>
            <a:off x="2801621" y="2120305"/>
            <a:ext cx="659390" cy="386195"/>
          </a:xfrm>
          <a:custGeom>
            <a:avLst/>
            <a:gdLst/>
            <a:ahLst/>
            <a:cxnLst/>
            <a:rect l="l" t="t" r="r" b="b"/>
            <a:pathLst>
              <a:path w="967104" h="566419">
                <a:moveTo>
                  <a:pt x="0" y="94361"/>
                </a:moveTo>
                <a:lnTo>
                  <a:pt x="7416" y="57628"/>
                </a:lnTo>
                <a:lnTo>
                  <a:pt x="27639" y="27635"/>
                </a:lnTo>
                <a:lnTo>
                  <a:pt x="57633" y="7414"/>
                </a:lnTo>
                <a:lnTo>
                  <a:pt x="94361" y="0"/>
                </a:lnTo>
                <a:lnTo>
                  <a:pt x="872616" y="0"/>
                </a:lnTo>
                <a:lnTo>
                  <a:pt x="909344" y="7414"/>
                </a:lnTo>
                <a:lnTo>
                  <a:pt x="939338" y="27635"/>
                </a:lnTo>
                <a:lnTo>
                  <a:pt x="959561" y="57628"/>
                </a:lnTo>
                <a:lnTo>
                  <a:pt x="966978" y="94361"/>
                </a:lnTo>
                <a:lnTo>
                  <a:pt x="966978" y="471805"/>
                </a:lnTo>
                <a:lnTo>
                  <a:pt x="959561" y="508532"/>
                </a:lnTo>
                <a:lnTo>
                  <a:pt x="939338" y="538526"/>
                </a:lnTo>
                <a:lnTo>
                  <a:pt x="909344" y="558749"/>
                </a:lnTo>
                <a:lnTo>
                  <a:pt x="872616" y="566166"/>
                </a:lnTo>
                <a:lnTo>
                  <a:pt x="94361" y="566166"/>
                </a:lnTo>
                <a:lnTo>
                  <a:pt x="57633" y="558749"/>
                </a:lnTo>
                <a:lnTo>
                  <a:pt x="27639" y="538526"/>
                </a:lnTo>
                <a:lnTo>
                  <a:pt x="7416" y="508532"/>
                </a:lnTo>
                <a:lnTo>
                  <a:pt x="0" y="471805"/>
                </a:lnTo>
                <a:lnTo>
                  <a:pt x="0" y="94361"/>
                </a:lnTo>
                <a:close/>
              </a:path>
            </a:pathLst>
          </a:custGeom>
          <a:ln w="28956">
            <a:solidFill>
              <a:srgbClr val="FF0000"/>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0" name="object 10"/>
          <p:cNvSpPr txBox="1"/>
          <p:nvPr/>
        </p:nvSpPr>
        <p:spPr>
          <a:xfrm>
            <a:off x="2880671" y="2189306"/>
            <a:ext cx="501794" cy="218236"/>
          </a:xfrm>
          <a:prstGeom prst="rect">
            <a:avLst/>
          </a:prstGeom>
        </p:spPr>
        <p:txBody>
          <a:bodyPr vert="horz" wrap="square" lIns="0" tIns="8226" rIns="0" bIns="0" rtlCol="0">
            <a:spAutoFit/>
          </a:bodyPr>
          <a:lstStyle/>
          <a:p>
            <a:pPr marL="8659" marR="0" lvl="0" indent="0" algn="l" defTabSz="914400" rtl="0" eaLnBrk="1" fontAlgn="auto" latinLnBrk="0" hangingPunct="1">
              <a:lnSpc>
                <a:spcPct val="100000"/>
              </a:lnSpc>
              <a:spcBef>
                <a:spcPts val="65"/>
              </a:spcBef>
              <a:spcAft>
                <a:spcPts val="0"/>
              </a:spcAft>
              <a:buClrTx/>
              <a:buSzTx/>
              <a:buFontTx/>
              <a:buNone/>
              <a:tabLst/>
              <a:defRPr/>
            </a:pPr>
            <a:r>
              <a:rPr kumimoji="0" sz="1364" b="0" i="0" u="none" strike="noStrike" kern="1200" cap="none" spc="-14" normalizeH="0" baseline="0" noProof="0" dirty="0">
                <a:ln>
                  <a:noFill/>
                </a:ln>
                <a:solidFill>
                  <a:srgbClr val="D9D9D9"/>
                </a:solidFill>
                <a:effectLst/>
                <a:uLnTx/>
                <a:uFillTx/>
                <a:latin typeface="Verdana"/>
                <a:ea typeface="+mn-ea"/>
                <a:cs typeface="Verdana"/>
              </a:rPr>
              <a:t>ALDO</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sp>
        <p:nvSpPr>
          <p:cNvPr id="11" name="object 11"/>
          <p:cNvSpPr txBox="1">
            <a:spLocks noGrp="1"/>
          </p:cNvSpPr>
          <p:nvPr>
            <p:ph type="title"/>
          </p:nvPr>
        </p:nvSpPr>
        <p:spPr>
          <a:xfrm>
            <a:off x="914882" y="249785"/>
            <a:ext cx="7222634" cy="531526"/>
          </a:xfrm>
          <a:prstGeom prst="rect">
            <a:avLst/>
          </a:prstGeom>
        </p:spPr>
        <p:txBody>
          <a:bodyPr vert="horz" wrap="square" lIns="0" tIns="8226" rIns="0" bIns="0" rtlCol="0">
            <a:spAutoFit/>
          </a:bodyPr>
          <a:lstStyle/>
          <a:p>
            <a:pPr marL="8659">
              <a:spcBef>
                <a:spcPts val="65"/>
              </a:spcBef>
            </a:pPr>
            <a:r>
              <a:rPr dirty="0"/>
              <a:t>Dropout</a:t>
            </a:r>
            <a:r>
              <a:rPr spc="-102" dirty="0"/>
              <a:t> </a:t>
            </a:r>
            <a:r>
              <a:rPr dirty="0"/>
              <a:t>Voltage</a:t>
            </a:r>
            <a:r>
              <a:rPr spc="-109" dirty="0"/>
              <a:t> </a:t>
            </a:r>
            <a:r>
              <a:rPr spc="-7" dirty="0"/>
              <a:t>Requirement</a:t>
            </a:r>
          </a:p>
        </p:txBody>
      </p:sp>
      <p:sp>
        <p:nvSpPr>
          <p:cNvPr id="12" name="object 12"/>
          <p:cNvSpPr txBox="1"/>
          <p:nvPr/>
        </p:nvSpPr>
        <p:spPr>
          <a:xfrm>
            <a:off x="1399248" y="3511051"/>
            <a:ext cx="3760643" cy="509044"/>
          </a:xfrm>
          <a:prstGeom prst="rect">
            <a:avLst/>
          </a:prstGeom>
        </p:spPr>
        <p:txBody>
          <a:bodyPr vert="horz" wrap="square" lIns="0" tIns="50223" rIns="0" bIns="0" rtlCol="0">
            <a:spAutoFit/>
          </a:bodyPr>
          <a:lstStyle/>
          <a:p>
            <a:pPr marL="346354" marR="0" lvl="0" indent="-320378" algn="l" defTabSz="914400" rtl="0" eaLnBrk="1" fontAlgn="auto" latinLnBrk="0" hangingPunct="1">
              <a:lnSpc>
                <a:spcPct val="100000"/>
              </a:lnSpc>
              <a:spcBef>
                <a:spcPts val="395"/>
              </a:spcBef>
              <a:spcAft>
                <a:spcPts val="0"/>
              </a:spcAft>
              <a:buClr>
                <a:srgbClr val="CC0000"/>
              </a:buClr>
              <a:buSzTx/>
              <a:buFont typeface="Wingdings"/>
              <a:buChar char=""/>
              <a:tabLst>
                <a:tab pos="346354" algn="l"/>
              </a:tabLst>
              <a:defRPr/>
            </a:pPr>
            <a:r>
              <a:rPr kumimoji="0" sz="1364" b="0" i="0" u="none" strike="noStrike" kern="1200" cap="none" spc="0" normalizeH="0" baseline="0" noProof="0" dirty="0">
                <a:ln>
                  <a:noFill/>
                </a:ln>
                <a:solidFill>
                  <a:prstClr val="black"/>
                </a:solidFill>
                <a:effectLst/>
                <a:uLnTx/>
                <a:uFillTx/>
                <a:latin typeface="Verdana"/>
                <a:ea typeface="+mn-ea"/>
                <a:cs typeface="Verdana"/>
              </a:rPr>
              <a:t>V</a:t>
            </a:r>
            <a:r>
              <a:rPr kumimoji="0" sz="1330" b="0" i="0" u="none" strike="noStrike" kern="1200" cap="none" spc="0" normalizeH="0" baseline="-21367" noProof="0" dirty="0">
                <a:ln>
                  <a:noFill/>
                </a:ln>
                <a:solidFill>
                  <a:prstClr val="black"/>
                </a:solidFill>
                <a:effectLst/>
                <a:uLnTx/>
                <a:uFillTx/>
                <a:latin typeface="Verdana"/>
                <a:ea typeface="+mn-ea"/>
                <a:cs typeface="Verdana"/>
              </a:rPr>
              <a:t>in</a:t>
            </a:r>
            <a:r>
              <a:rPr kumimoji="0" sz="1330" b="0" i="0" u="none" strike="noStrike" kern="1200" cap="none" spc="240" normalizeH="0" baseline="-21367"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set</a:t>
            </a:r>
            <a:r>
              <a:rPr kumimoji="0" sz="1364" b="0" i="0" u="none" strike="noStrike" kern="1200" cap="none" spc="-10"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to</a:t>
            </a:r>
            <a:r>
              <a:rPr kumimoji="0" sz="1364" b="0" i="0" u="none" strike="noStrike" kern="1200" cap="none" spc="-10"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the</a:t>
            </a:r>
            <a:r>
              <a:rPr kumimoji="0" sz="1364" b="0" i="0" u="none" strike="noStrike" kern="1200" cap="none" spc="-14"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highest</a:t>
            </a:r>
            <a:r>
              <a:rPr kumimoji="0" sz="1364" b="0" i="0" u="none" strike="noStrike" kern="1200" cap="none" spc="-10"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VDD</a:t>
            </a:r>
            <a:r>
              <a:rPr kumimoji="0" sz="1364" b="0" i="0" u="none" strike="noStrike" kern="1200" cap="none" spc="-14" normalizeH="0" baseline="0" noProof="0" dirty="0">
                <a:ln>
                  <a:noFill/>
                </a:ln>
                <a:solidFill>
                  <a:prstClr val="black"/>
                </a:solidFill>
                <a:effectLst/>
                <a:uLnTx/>
                <a:uFillTx/>
                <a:latin typeface="Verdana"/>
                <a:ea typeface="+mn-ea"/>
                <a:cs typeface="Verdana"/>
              </a:rPr>
              <a:t> </a:t>
            </a:r>
            <a:r>
              <a:rPr kumimoji="0" sz="1364" b="0" i="0" u="none" strike="noStrike" kern="1200" cap="none" spc="-7" normalizeH="0" baseline="0" noProof="0" dirty="0">
                <a:ln>
                  <a:noFill/>
                </a:ln>
                <a:solidFill>
                  <a:prstClr val="black"/>
                </a:solidFill>
                <a:effectLst/>
                <a:uLnTx/>
                <a:uFillTx/>
                <a:latin typeface="Verdana"/>
                <a:ea typeface="+mn-ea"/>
                <a:cs typeface="Verdana"/>
              </a:rPr>
              <a:t>requirement</a:t>
            </a:r>
            <a:endParaRPr kumimoji="0" sz="1364" b="0" i="0" u="none" strike="noStrike" kern="1200" cap="none" spc="0" normalizeH="0" baseline="0" noProof="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324"/>
              </a:spcBef>
              <a:spcAft>
                <a:spcPts val="0"/>
              </a:spcAft>
              <a:buClr>
                <a:srgbClr val="CC0000"/>
              </a:buClr>
              <a:buSzTx/>
              <a:buFont typeface="Wingdings"/>
              <a:buChar char=""/>
              <a:tabLst>
                <a:tab pos="346354" algn="l"/>
              </a:tabLst>
              <a:defRPr/>
            </a:pPr>
            <a:r>
              <a:rPr kumimoji="0" sz="1364" b="0" i="0" u="none" strike="noStrike" kern="1200" cap="none" spc="0" normalizeH="0" baseline="0" noProof="0" dirty="0">
                <a:ln>
                  <a:noFill/>
                </a:ln>
                <a:solidFill>
                  <a:prstClr val="black"/>
                </a:solidFill>
                <a:effectLst/>
                <a:uLnTx/>
                <a:uFillTx/>
                <a:latin typeface="Verdana"/>
                <a:ea typeface="+mn-ea"/>
                <a:cs typeface="Verdana"/>
              </a:rPr>
              <a:t>An</a:t>
            </a:r>
            <a:r>
              <a:rPr kumimoji="0" sz="1364" b="0" i="0" u="none" strike="noStrike" kern="1200" cap="none" spc="-24"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LDO</a:t>
            </a:r>
            <a:r>
              <a:rPr kumimoji="0" sz="1364" b="0" i="0" u="none" strike="noStrike" kern="1200" cap="none" spc="-14"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can</a:t>
            </a:r>
            <a:r>
              <a:rPr kumimoji="0" sz="1364" b="0" i="0" u="none" strike="noStrike" kern="1200" cap="none" spc="-20"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be</a:t>
            </a:r>
            <a:r>
              <a:rPr kumimoji="0" sz="1364" b="0" i="0" u="none" strike="noStrike" kern="1200" cap="none" spc="-10" normalizeH="0" baseline="0" noProof="0" dirty="0">
                <a:ln>
                  <a:noFill/>
                </a:ln>
                <a:solidFill>
                  <a:prstClr val="black"/>
                </a:solidFill>
                <a:effectLst/>
                <a:uLnTx/>
                <a:uFillTx/>
                <a:latin typeface="Verdana"/>
                <a:ea typeface="+mn-ea"/>
                <a:cs typeface="Verdana"/>
              </a:rPr>
              <a:t> </a:t>
            </a:r>
            <a:r>
              <a:rPr kumimoji="0" sz="1364" b="0" i="0" u="none" strike="noStrike" kern="1200" cap="none" spc="-7" normalizeH="0" baseline="0" noProof="0" dirty="0">
                <a:ln>
                  <a:noFill/>
                </a:ln>
                <a:solidFill>
                  <a:prstClr val="black"/>
                </a:solidFill>
                <a:effectLst/>
                <a:uLnTx/>
                <a:uFillTx/>
                <a:latin typeface="Verdana"/>
                <a:ea typeface="+mn-ea"/>
                <a:cs typeface="Verdana"/>
              </a:rPr>
              <a:t>bypassed</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sp>
        <p:nvSpPr>
          <p:cNvPr id="13" name="object 13"/>
          <p:cNvSpPr/>
          <p:nvPr/>
        </p:nvSpPr>
        <p:spPr>
          <a:xfrm>
            <a:off x="3578342" y="2133813"/>
            <a:ext cx="659390" cy="385763"/>
          </a:xfrm>
          <a:custGeom>
            <a:avLst/>
            <a:gdLst/>
            <a:ahLst/>
            <a:cxnLst/>
            <a:rect l="l" t="t" r="r" b="b"/>
            <a:pathLst>
              <a:path w="967104" h="565785">
                <a:moveTo>
                  <a:pt x="0" y="94234"/>
                </a:moveTo>
                <a:lnTo>
                  <a:pt x="7405" y="57553"/>
                </a:lnTo>
                <a:lnTo>
                  <a:pt x="27600" y="27600"/>
                </a:lnTo>
                <a:lnTo>
                  <a:pt x="57553" y="7405"/>
                </a:lnTo>
                <a:lnTo>
                  <a:pt x="94234" y="0"/>
                </a:lnTo>
                <a:lnTo>
                  <a:pt x="872744" y="0"/>
                </a:lnTo>
                <a:lnTo>
                  <a:pt x="909424" y="7405"/>
                </a:lnTo>
                <a:lnTo>
                  <a:pt x="939377" y="27600"/>
                </a:lnTo>
                <a:lnTo>
                  <a:pt x="959572" y="57553"/>
                </a:lnTo>
                <a:lnTo>
                  <a:pt x="966978" y="94234"/>
                </a:lnTo>
                <a:lnTo>
                  <a:pt x="966978" y="471170"/>
                </a:lnTo>
                <a:lnTo>
                  <a:pt x="959572" y="507850"/>
                </a:lnTo>
                <a:lnTo>
                  <a:pt x="939377" y="537803"/>
                </a:lnTo>
                <a:lnTo>
                  <a:pt x="909424" y="557998"/>
                </a:lnTo>
                <a:lnTo>
                  <a:pt x="872744" y="565404"/>
                </a:lnTo>
                <a:lnTo>
                  <a:pt x="94234" y="565404"/>
                </a:lnTo>
                <a:lnTo>
                  <a:pt x="57553" y="557998"/>
                </a:lnTo>
                <a:lnTo>
                  <a:pt x="27600" y="537803"/>
                </a:lnTo>
                <a:lnTo>
                  <a:pt x="7405" y="507850"/>
                </a:lnTo>
                <a:lnTo>
                  <a:pt x="0" y="471170"/>
                </a:lnTo>
                <a:lnTo>
                  <a:pt x="0" y="94234"/>
                </a:lnTo>
                <a:close/>
              </a:path>
            </a:pathLst>
          </a:custGeom>
          <a:ln w="28956">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4" name="object 14"/>
          <p:cNvSpPr txBox="1"/>
          <p:nvPr/>
        </p:nvSpPr>
        <p:spPr>
          <a:xfrm>
            <a:off x="3657318" y="2202583"/>
            <a:ext cx="501794" cy="218236"/>
          </a:xfrm>
          <a:prstGeom prst="rect">
            <a:avLst/>
          </a:prstGeom>
        </p:spPr>
        <p:txBody>
          <a:bodyPr vert="horz" wrap="square" lIns="0" tIns="8226" rIns="0" bIns="0" rtlCol="0">
            <a:spAutoFit/>
          </a:bodyPr>
          <a:lstStyle/>
          <a:p>
            <a:pPr marL="8659" marR="0" lvl="0" indent="0" algn="l" defTabSz="914400" rtl="0" eaLnBrk="1" fontAlgn="auto" latinLnBrk="0" hangingPunct="1">
              <a:lnSpc>
                <a:spcPct val="100000"/>
              </a:lnSpc>
              <a:spcBef>
                <a:spcPts val="65"/>
              </a:spcBef>
              <a:spcAft>
                <a:spcPts val="0"/>
              </a:spcAft>
              <a:buClrTx/>
              <a:buSzTx/>
              <a:buFontTx/>
              <a:buNone/>
              <a:tabLst/>
              <a:defRPr/>
            </a:pPr>
            <a:r>
              <a:rPr kumimoji="0" sz="1364" b="0" i="0" u="none" strike="noStrike" kern="1200" cap="none" spc="-14" normalizeH="0" baseline="0" noProof="0" dirty="0">
                <a:ln>
                  <a:noFill/>
                </a:ln>
                <a:solidFill>
                  <a:prstClr val="black"/>
                </a:solidFill>
                <a:effectLst/>
                <a:uLnTx/>
                <a:uFillTx/>
                <a:latin typeface="Verdana"/>
                <a:ea typeface="+mn-ea"/>
                <a:cs typeface="Verdana"/>
              </a:rPr>
              <a:t>ALDO</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grpSp>
        <p:nvGrpSpPr>
          <p:cNvPr id="15" name="object 15"/>
          <p:cNvGrpSpPr/>
          <p:nvPr/>
        </p:nvGrpSpPr>
        <p:grpSpPr>
          <a:xfrm>
            <a:off x="1994160" y="1360642"/>
            <a:ext cx="2326698" cy="2143125"/>
            <a:chOff x="1625980" y="1405763"/>
            <a:chExt cx="3412490" cy="3143250"/>
          </a:xfrm>
        </p:grpSpPr>
        <p:sp>
          <p:nvSpPr>
            <p:cNvPr id="16" name="object 16"/>
            <p:cNvSpPr/>
            <p:nvPr/>
          </p:nvSpPr>
          <p:spPr>
            <a:xfrm>
              <a:off x="1640585" y="3659888"/>
              <a:ext cx="967105" cy="872490"/>
            </a:xfrm>
            <a:custGeom>
              <a:avLst/>
              <a:gdLst/>
              <a:ahLst/>
              <a:cxnLst/>
              <a:rect l="l" t="t" r="r" b="b"/>
              <a:pathLst>
                <a:path w="967105" h="872489">
                  <a:moveTo>
                    <a:pt x="0" y="145414"/>
                  </a:moveTo>
                  <a:lnTo>
                    <a:pt x="7412" y="99450"/>
                  </a:lnTo>
                  <a:lnTo>
                    <a:pt x="28055" y="59532"/>
                  </a:lnTo>
                  <a:lnTo>
                    <a:pt x="59532" y="28055"/>
                  </a:lnTo>
                  <a:lnTo>
                    <a:pt x="99450" y="7412"/>
                  </a:lnTo>
                  <a:lnTo>
                    <a:pt x="145415" y="0"/>
                  </a:lnTo>
                  <a:lnTo>
                    <a:pt x="821563" y="0"/>
                  </a:lnTo>
                  <a:lnTo>
                    <a:pt x="867527" y="7412"/>
                  </a:lnTo>
                  <a:lnTo>
                    <a:pt x="907445" y="28055"/>
                  </a:lnTo>
                  <a:lnTo>
                    <a:pt x="938922" y="59532"/>
                  </a:lnTo>
                  <a:lnTo>
                    <a:pt x="959565" y="99450"/>
                  </a:lnTo>
                  <a:lnTo>
                    <a:pt x="966978" y="145414"/>
                  </a:lnTo>
                  <a:lnTo>
                    <a:pt x="966978" y="727074"/>
                  </a:lnTo>
                  <a:lnTo>
                    <a:pt x="959565" y="773034"/>
                  </a:lnTo>
                  <a:lnTo>
                    <a:pt x="938922" y="812951"/>
                  </a:lnTo>
                  <a:lnTo>
                    <a:pt x="907445" y="844430"/>
                  </a:lnTo>
                  <a:lnTo>
                    <a:pt x="867527" y="865075"/>
                  </a:lnTo>
                  <a:lnTo>
                    <a:pt x="821563" y="872489"/>
                  </a:lnTo>
                  <a:lnTo>
                    <a:pt x="145415" y="872489"/>
                  </a:lnTo>
                  <a:lnTo>
                    <a:pt x="99450" y="865075"/>
                  </a:lnTo>
                  <a:lnTo>
                    <a:pt x="59532" y="844430"/>
                  </a:lnTo>
                  <a:lnTo>
                    <a:pt x="28055" y="812951"/>
                  </a:lnTo>
                  <a:lnTo>
                    <a:pt x="7412" y="773034"/>
                  </a:lnTo>
                  <a:lnTo>
                    <a:pt x="0" y="727074"/>
                  </a:lnTo>
                  <a:lnTo>
                    <a:pt x="0" y="145414"/>
                  </a:lnTo>
                  <a:close/>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7" name="object 17"/>
            <p:cNvSpPr/>
            <p:nvPr/>
          </p:nvSpPr>
          <p:spPr>
            <a:xfrm>
              <a:off x="2795016" y="3655316"/>
              <a:ext cx="967105" cy="871855"/>
            </a:xfrm>
            <a:custGeom>
              <a:avLst/>
              <a:gdLst/>
              <a:ahLst/>
              <a:cxnLst/>
              <a:rect l="l" t="t" r="r" b="b"/>
              <a:pathLst>
                <a:path w="967104" h="871854">
                  <a:moveTo>
                    <a:pt x="0" y="145287"/>
                  </a:moveTo>
                  <a:lnTo>
                    <a:pt x="7407" y="99366"/>
                  </a:lnTo>
                  <a:lnTo>
                    <a:pt x="28032" y="59483"/>
                  </a:lnTo>
                  <a:lnTo>
                    <a:pt x="59483" y="28032"/>
                  </a:lnTo>
                  <a:lnTo>
                    <a:pt x="99366" y="7407"/>
                  </a:lnTo>
                  <a:lnTo>
                    <a:pt x="145288" y="0"/>
                  </a:lnTo>
                  <a:lnTo>
                    <a:pt x="821690" y="0"/>
                  </a:lnTo>
                  <a:lnTo>
                    <a:pt x="867611" y="7407"/>
                  </a:lnTo>
                  <a:lnTo>
                    <a:pt x="907494" y="28032"/>
                  </a:lnTo>
                  <a:lnTo>
                    <a:pt x="938945" y="59483"/>
                  </a:lnTo>
                  <a:lnTo>
                    <a:pt x="959570" y="99366"/>
                  </a:lnTo>
                  <a:lnTo>
                    <a:pt x="966978" y="145287"/>
                  </a:lnTo>
                  <a:lnTo>
                    <a:pt x="966978" y="726440"/>
                  </a:lnTo>
                  <a:lnTo>
                    <a:pt x="959570" y="772361"/>
                  </a:lnTo>
                  <a:lnTo>
                    <a:pt x="938945" y="812244"/>
                  </a:lnTo>
                  <a:lnTo>
                    <a:pt x="907494" y="843695"/>
                  </a:lnTo>
                  <a:lnTo>
                    <a:pt x="867611" y="864320"/>
                  </a:lnTo>
                  <a:lnTo>
                    <a:pt x="821690" y="871728"/>
                  </a:lnTo>
                  <a:lnTo>
                    <a:pt x="145288" y="871728"/>
                  </a:lnTo>
                  <a:lnTo>
                    <a:pt x="99366" y="864320"/>
                  </a:lnTo>
                  <a:lnTo>
                    <a:pt x="59483" y="843695"/>
                  </a:lnTo>
                  <a:lnTo>
                    <a:pt x="28032" y="812244"/>
                  </a:lnTo>
                  <a:lnTo>
                    <a:pt x="7407" y="772361"/>
                  </a:lnTo>
                  <a:lnTo>
                    <a:pt x="0" y="726440"/>
                  </a:lnTo>
                  <a:lnTo>
                    <a:pt x="0" y="145287"/>
                  </a:lnTo>
                  <a:close/>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8" name="object 18"/>
            <p:cNvSpPr/>
            <p:nvPr/>
          </p:nvSpPr>
          <p:spPr>
            <a:xfrm>
              <a:off x="3949445" y="3661412"/>
              <a:ext cx="967105" cy="872490"/>
            </a:xfrm>
            <a:custGeom>
              <a:avLst/>
              <a:gdLst/>
              <a:ahLst/>
              <a:cxnLst/>
              <a:rect l="l" t="t" r="r" b="b"/>
              <a:pathLst>
                <a:path w="967104" h="872489">
                  <a:moveTo>
                    <a:pt x="0" y="145414"/>
                  </a:moveTo>
                  <a:lnTo>
                    <a:pt x="7412" y="99450"/>
                  </a:lnTo>
                  <a:lnTo>
                    <a:pt x="28055" y="59532"/>
                  </a:lnTo>
                  <a:lnTo>
                    <a:pt x="59532" y="28055"/>
                  </a:lnTo>
                  <a:lnTo>
                    <a:pt x="99450" y="7412"/>
                  </a:lnTo>
                  <a:lnTo>
                    <a:pt x="145415" y="0"/>
                  </a:lnTo>
                  <a:lnTo>
                    <a:pt x="821563" y="0"/>
                  </a:lnTo>
                  <a:lnTo>
                    <a:pt x="867527" y="7412"/>
                  </a:lnTo>
                  <a:lnTo>
                    <a:pt x="907445" y="28055"/>
                  </a:lnTo>
                  <a:lnTo>
                    <a:pt x="938922" y="59532"/>
                  </a:lnTo>
                  <a:lnTo>
                    <a:pt x="959565" y="99450"/>
                  </a:lnTo>
                  <a:lnTo>
                    <a:pt x="966978" y="145414"/>
                  </a:lnTo>
                  <a:lnTo>
                    <a:pt x="966978" y="727074"/>
                  </a:lnTo>
                  <a:lnTo>
                    <a:pt x="959565" y="773034"/>
                  </a:lnTo>
                  <a:lnTo>
                    <a:pt x="938922" y="812951"/>
                  </a:lnTo>
                  <a:lnTo>
                    <a:pt x="907445" y="844430"/>
                  </a:lnTo>
                  <a:lnTo>
                    <a:pt x="867527" y="865075"/>
                  </a:lnTo>
                  <a:lnTo>
                    <a:pt x="821563" y="872489"/>
                  </a:lnTo>
                  <a:lnTo>
                    <a:pt x="145415" y="872489"/>
                  </a:lnTo>
                  <a:lnTo>
                    <a:pt x="99450" y="865075"/>
                  </a:lnTo>
                  <a:lnTo>
                    <a:pt x="59532" y="844430"/>
                  </a:lnTo>
                  <a:lnTo>
                    <a:pt x="28055" y="812951"/>
                  </a:lnTo>
                  <a:lnTo>
                    <a:pt x="7412" y="773034"/>
                  </a:lnTo>
                  <a:lnTo>
                    <a:pt x="0" y="727074"/>
                  </a:lnTo>
                  <a:lnTo>
                    <a:pt x="0" y="145414"/>
                  </a:lnTo>
                  <a:close/>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19" name="object 19"/>
            <p:cNvSpPr/>
            <p:nvPr/>
          </p:nvSpPr>
          <p:spPr>
            <a:xfrm>
              <a:off x="2122169" y="3102102"/>
              <a:ext cx="0" cy="553720"/>
            </a:xfrm>
            <a:custGeom>
              <a:avLst/>
              <a:gdLst/>
              <a:ahLst/>
              <a:cxnLst/>
              <a:rect l="l" t="t" r="r" b="b"/>
              <a:pathLst>
                <a:path h="553720">
                  <a:moveTo>
                    <a:pt x="0" y="0"/>
                  </a:moveTo>
                  <a:lnTo>
                    <a:pt x="0" y="553212"/>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0" name="object 20"/>
            <p:cNvSpPr/>
            <p:nvPr/>
          </p:nvSpPr>
          <p:spPr>
            <a:xfrm>
              <a:off x="3285744" y="3108198"/>
              <a:ext cx="0" cy="553720"/>
            </a:xfrm>
            <a:custGeom>
              <a:avLst/>
              <a:gdLst/>
              <a:ahLst/>
              <a:cxnLst/>
              <a:rect l="l" t="t" r="r" b="b"/>
              <a:pathLst>
                <a:path h="553720">
                  <a:moveTo>
                    <a:pt x="0" y="0"/>
                  </a:moveTo>
                  <a:lnTo>
                    <a:pt x="0" y="553212"/>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1" name="object 21"/>
            <p:cNvSpPr/>
            <p:nvPr/>
          </p:nvSpPr>
          <p:spPr>
            <a:xfrm>
              <a:off x="4433316" y="3108198"/>
              <a:ext cx="0" cy="553720"/>
            </a:xfrm>
            <a:custGeom>
              <a:avLst/>
              <a:gdLst/>
              <a:ahLst/>
              <a:cxnLst/>
              <a:rect l="l" t="t" r="r" b="b"/>
              <a:pathLst>
                <a:path h="553720">
                  <a:moveTo>
                    <a:pt x="0" y="0"/>
                  </a:moveTo>
                  <a:lnTo>
                    <a:pt x="0" y="553212"/>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2" name="object 22"/>
            <p:cNvSpPr/>
            <p:nvPr/>
          </p:nvSpPr>
          <p:spPr>
            <a:xfrm>
              <a:off x="3284220" y="1991868"/>
              <a:ext cx="0" cy="1252220"/>
            </a:xfrm>
            <a:custGeom>
              <a:avLst/>
              <a:gdLst/>
              <a:ahLst/>
              <a:cxnLst/>
              <a:rect l="l" t="t" r="r" b="b"/>
              <a:pathLst>
                <a:path h="1252220">
                  <a:moveTo>
                    <a:pt x="0" y="0"/>
                  </a:moveTo>
                  <a:lnTo>
                    <a:pt x="0" y="1251966"/>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23" name="object 23"/>
            <p:cNvPicPr/>
            <p:nvPr/>
          </p:nvPicPr>
          <p:blipFill>
            <a:blip r:embed="rId2" cstate="print"/>
            <a:stretch>
              <a:fillRect/>
            </a:stretch>
          </p:blipFill>
          <p:spPr>
            <a:xfrm>
              <a:off x="3240786" y="1948434"/>
              <a:ext cx="86868" cy="86867"/>
            </a:xfrm>
            <a:prstGeom prst="rect">
              <a:avLst/>
            </a:prstGeom>
          </p:spPr>
        </p:pic>
        <p:sp>
          <p:nvSpPr>
            <p:cNvPr id="24" name="object 24"/>
            <p:cNvSpPr/>
            <p:nvPr/>
          </p:nvSpPr>
          <p:spPr>
            <a:xfrm>
              <a:off x="4433316" y="1991868"/>
              <a:ext cx="0" cy="552450"/>
            </a:xfrm>
            <a:custGeom>
              <a:avLst/>
              <a:gdLst/>
              <a:ahLst/>
              <a:cxnLst/>
              <a:rect l="l" t="t" r="r" b="b"/>
              <a:pathLst>
                <a:path h="552450">
                  <a:moveTo>
                    <a:pt x="0" y="0"/>
                  </a:moveTo>
                  <a:lnTo>
                    <a:pt x="0" y="55245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5" name="object 25"/>
            <p:cNvSpPr/>
            <p:nvPr/>
          </p:nvSpPr>
          <p:spPr>
            <a:xfrm>
              <a:off x="2122169" y="1987296"/>
              <a:ext cx="2311400" cy="5080"/>
            </a:xfrm>
            <a:custGeom>
              <a:avLst/>
              <a:gdLst/>
              <a:ahLst/>
              <a:cxnLst/>
              <a:rect l="l" t="t" r="r" b="b"/>
              <a:pathLst>
                <a:path w="2311400" h="5080">
                  <a:moveTo>
                    <a:pt x="0" y="0"/>
                  </a:moveTo>
                  <a:lnTo>
                    <a:pt x="2311146" y="4572"/>
                  </a:lnTo>
                </a:path>
              </a:pathLst>
            </a:custGeom>
            <a:ln w="2895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6" name="object 26"/>
            <p:cNvSpPr/>
            <p:nvPr/>
          </p:nvSpPr>
          <p:spPr>
            <a:xfrm>
              <a:off x="3277361" y="1420368"/>
              <a:ext cx="0" cy="553720"/>
            </a:xfrm>
            <a:custGeom>
              <a:avLst/>
              <a:gdLst/>
              <a:ahLst/>
              <a:cxnLst/>
              <a:rect l="l" t="t" r="r" b="b"/>
              <a:pathLst>
                <a:path h="553719">
                  <a:moveTo>
                    <a:pt x="0" y="0"/>
                  </a:moveTo>
                  <a:lnTo>
                    <a:pt x="0" y="553212"/>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7" name="object 27"/>
            <p:cNvSpPr/>
            <p:nvPr/>
          </p:nvSpPr>
          <p:spPr>
            <a:xfrm>
              <a:off x="4994909" y="2632710"/>
              <a:ext cx="0" cy="407670"/>
            </a:xfrm>
            <a:custGeom>
              <a:avLst/>
              <a:gdLst/>
              <a:ahLst/>
              <a:cxnLst/>
              <a:rect l="l" t="t" r="r" b="b"/>
              <a:pathLst>
                <a:path h="407669">
                  <a:moveTo>
                    <a:pt x="0" y="0"/>
                  </a:moveTo>
                  <a:lnTo>
                    <a:pt x="0" y="40767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28" name="object 28"/>
            <p:cNvSpPr/>
            <p:nvPr/>
          </p:nvSpPr>
          <p:spPr>
            <a:xfrm>
              <a:off x="4951463" y="2560332"/>
              <a:ext cx="86995" cy="552450"/>
            </a:xfrm>
            <a:custGeom>
              <a:avLst/>
              <a:gdLst/>
              <a:ahLst/>
              <a:cxnLst/>
              <a:rect l="l" t="t" r="r" b="b"/>
              <a:pathLst>
                <a:path w="86995" h="552450">
                  <a:moveTo>
                    <a:pt x="86868" y="465582"/>
                  </a:moveTo>
                  <a:lnTo>
                    <a:pt x="0" y="465582"/>
                  </a:lnTo>
                  <a:lnTo>
                    <a:pt x="43434" y="552450"/>
                  </a:lnTo>
                  <a:lnTo>
                    <a:pt x="86868" y="465582"/>
                  </a:lnTo>
                  <a:close/>
                </a:path>
                <a:path w="86995" h="552450">
                  <a:moveTo>
                    <a:pt x="86868" y="86868"/>
                  </a:moveTo>
                  <a:lnTo>
                    <a:pt x="43434" y="0"/>
                  </a:lnTo>
                  <a:lnTo>
                    <a:pt x="0" y="86868"/>
                  </a:lnTo>
                  <a:lnTo>
                    <a:pt x="86868" y="86868"/>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29" name="object 29"/>
          <p:cNvSpPr txBox="1"/>
          <p:nvPr/>
        </p:nvSpPr>
        <p:spPr>
          <a:xfrm>
            <a:off x="3698254" y="2847527"/>
            <a:ext cx="420399" cy="557024"/>
          </a:xfrm>
          <a:prstGeom prst="rect">
            <a:avLst/>
          </a:prstGeom>
        </p:spPr>
        <p:txBody>
          <a:bodyPr vert="horz" wrap="square" lIns="0" tIns="80530" rIns="0" bIns="0" rtlCol="0">
            <a:spAutoFit/>
          </a:bodyPr>
          <a:lstStyle/>
          <a:p>
            <a:pPr marL="29007" marR="0" lvl="0" indent="0" algn="l" defTabSz="914400" rtl="0" eaLnBrk="1" fontAlgn="auto" latinLnBrk="0" hangingPunct="1">
              <a:lnSpc>
                <a:spcPct val="100000"/>
              </a:lnSpc>
              <a:spcBef>
                <a:spcPts val="634"/>
              </a:spcBef>
              <a:spcAft>
                <a:spcPts val="0"/>
              </a:spcAft>
              <a:buClrTx/>
              <a:buSzTx/>
              <a:buFontTx/>
              <a:buNone/>
              <a:tabLst/>
              <a:defRPr/>
            </a:pPr>
            <a:r>
              <a:rPr kumimoji="0" sz="1227" b="0" i="0" u="none" strike="noStrike" kern="1200" cap="none" spc="-14" normalizeH="0" baseline="0" noProof="0" dirty="0">
                <a:ln>
                  <a:noFill/>
                </a:ln>
                <a:solidFill>
                  <a:prstClr val="black"/>
                </a:solidFill>
                <a:effectLst/>
                <a:uLnTx/>
                <a:uFillTx/>
                <a:latin typeface="Verdana"/>
                <a:ea typeface="+mn-ea"/>
                <a:cs typeface="Verdana"/>
              </a:rPr>
              <a:t>0.4V</a:t>
            </a:r>
            <a:endParaRPr kumimoji="0" sz="1227" b="0" i="0" u="none" strike="noStrike" kern="1200" cap="none" spc="0" normalizeH="0" baseline="0" noProof="0">
              <a:ln>
                <a:noFill/>
              </a:ln>
              <a:solidFill>
                <a:prstClr val="black"/>
              </a:solidFill>
              <a:effectLst/>
              <a:uLnTx/>
              <a:uFillTx/>
              <a:latin typeface="Verdana"/>
              <a:ea typeface="+mn-ea"/>
              <a:cs typeface="Verdana"/>
            </a:endParaRPr>
          </a:p>
          <a:p>
            <a:pPr marL="8659" marR="0" lvl="0" indent="0" algn="l" defTabSz="914400" rtl="0" eaLnBrk="1" fontAlgn="auto" latinLnBrk="0" hangingPunct="1">
              <a:lnSpc>
                <a:spcPct val="100000"/>
              </a:lnSpc>
              <a:spcBef>
                <a:spcPts val="627"/>
              </a:spcBef>
              <a:spcAft>
                <a:spcPts val="0"/>
              </a:spcAft>
              <a:buClrTx/>
              <a:buSzTx/>
              <a:buFontTx/>
              <a:buNone/>
              <a:tabLst/>
              <a:defRPr/>
            </a:pPr>
            <a:r>
              <a:rPr kumimoji="0" sz="1364" b="0" i="0" u="none" strike="noStrike" kern="1200" cap="none" spc="-14" normalizeH="0" baseline="0" noProof="0" dirty="0">
                <a:ln>
                  <a:noFill/>
                </a:ln>
                <a:solidFill>
                  <a:prstClr val="black"/>
                </a:solidFill>
                <a:effectLst/>
                <a:uLnTx/>
                <a:uFillTx/>
                <a:latin typeface="Verdana"/>
                <a:ea typeface="+mn-ea"/>
                <a:cs typeface="Verdana"/>
              </a:rPr>
              <a:t>Core</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sp>
        <p:nvSpPr>
          <p:cNvPr id="30" name="object 30"/>
          <p:cNvSpPr txBox="1"/>
          <p:nvPr/>
        </p:nvSpPr>
        <p:spPr>
          <a:xfrm>
            <a:off x="2123791" y="2780262"/>
            <a:ext cx="420399" cy="626973"/>
          </a:xfrm>
          <a:prstGeom prst="rect">
            <a:avLst/>
          </a:prstGeom>
        </p:spPr>
        <p:txBody>
          <a:bodyPr vert="horz" wrap="square" lIns="0" tIns="111702" rIns="0" bIns="0" rtlCol="0">
            <a:spAutoFit/>
          </a:bodyPr>
          <a:lstStyle/>
          <a:p>
            <a:pPr marL="32471" marR="0" lvl="0" indent="0" algn="l" defTabSz="914400" rtl="0" eaLnBrk="1" fontAlgn="auto" latinLnBrk="0" hangingPunct="1">
              <a:lnSpc>
                <a:spcPct val="100000"/>
              </a:lnSpc>
              <a:spcBef>
                <a:spcPts val="880"/>
              </a:spcBef>
              <a:spcAft>
                <a:spcPts val="0"/>
              </a:spcAft>
              <a:buClrTx/>
              <a:buSzTx/>
              <a:buFontTx/>
              <a:buNone/>
              <a:tabLst/>
              <a:defRPr/>
            </a:pPr>
            <a:r>
              <a:rPr kumimoji="0" sz="1227" b="0" i="0" u="none" strike="noStrike" kern="1200" cap="none" spc="-14" normalizeH="0" baseline="0" noProof="0" dirty="0">
                <a:ln>
                  <a:noFill/>
                </a:ln>
                <a:solidFill>
                  <a:prstClr val="black"/>
                </a:solidFill>
                <a:effectLst/>
                <a:uLnTx/>
                <a:uFillTx/>
                <a:latin typeface="Verdana"/>
                <a:ea typeface="+mn-ea"/>
                <a:cs typeface="Verdana"/>
              </a:rPr>
              <a:t>0.6V</a:t>
            </a:r>
            <a:endParaRPr kumimoji="0" sz="1227" b="0" i="0" u="none" strike="noStrike" kern="1200" cap="none" spc="0" normalizeH="0" baseline="0" noProof="0">
              <a:ln>
                <a:noFill/>
              </a:ln>
              <a:solidFill>
                <a:prstClr val="black"/>
              </a:solidFill>
              <a:effectLst/>
              <a:uLnTx/>
              <a:uFillTx/>
              <a:latin typeface="Verdana"/>
              <a:ea typeface="+mn-ea"/>
              <a:cs typeface="Verdana"/>
            </a:endParaRPr>
          </a:p>
          <a:p>
            <a:pPr marL="8659" marR="0" lvl="0" indent="0" algn="l" defTabSz="914400" rtl="0" eaLnBrk="1" fontAlgn="auto" latinLnBrk="0" hangingPunct="1">
              <a:lnSpc>
                <a:spcPct val="100000"/>
              </a:lnSpc>
              <a:spcBef>
                <a:spcPts val="903"/>
              </a:spcBef>
              <a:spcAft>
                <a:spcPts val="0"/>
              </a:spcAft>
              <a:buClrTx/>
              <a:buSzTx/>
              <a:buFontTx/>
              <a:buNone/>
              <a:tabLst/>
              <a:defRPr/>
            </a:pPr>
            <a:r>
              <a:rPr kumimoji="0" sz="1364" b="0" i="0" u="none" strike="noStrike" kern="1200" cap="none" spc="-14" normalizeH="0" baseline="0" noProof="0" dirty="0">
                <a:ln>
                  <a:noFill/>
                </a:ln>
                <a:solidFill>
                  <a:prstClr val="black"/>
                </a:solidFill>
                <a:effectLst/>
                <a:uLnTx/>
                <a:uFillTx/>
                <a:latin typeface="Verdana"/>
                <a:ea typeface="+mn-ea"/>
                <a:cs typeface="Verdana"/>
              </a:rPr>
              <a:t>Core</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sp>
        <p:nvSpPr>
          <p:cNvPr id="31" name="object 31"/>
          <p:cNvSpPr txBox="1"/>
          <p:nvPr/>
        </p:nvSpPr>
        <p:spPr>
          <a:xfrm>
            <a:off x="4336317" y="2212124"/>
            <a:ext cx="379268" cy="197578"/>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14" normalizeH="0" baseline="0" noProof="0" dirty="0">
                <a:ln>
                  <a:noFill/>
                </a:ln>
                <a:solidFill>
                  <a:prstClr val="black"/>
                </a:solidFill>
                <a:effectLst/>
                <a:uLnTx/>
                <a:uFillTx/>
                <a:latin typeface="Verdana"/>
                <a:ea typeface="+mn-ea"/>
                <a:cs typeface="Verdana"/>
              </a:rPr>
              <a:t>0.2V</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32" name="object 32"/>
          <p:cNvSpPr txBox="1"/>
          <p:nvPr/>
        </p:nvSpPr>
        <p:spPr>
          <a:xfrm>
            <a:off x="3166232" y="1374200"/>
            <a:ext cx="742517" cy="197578"/>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7" normalizeH="0" baseline="0" noProof="0" dirty="0">
                <a:ln>
                  <a:noFill/>
                </a:ln>
                <a:solidFill>
                  <a:prstClr val="black"/>
                </a:solidFill>
                <a:effectLst/>
                <a:uLnTx/>
                <a:uFillTx/>
                <a:latin typeface="Verdana"/>
                <a:ea typeface="+mn-ea"/>
                <a:cs typeface="Verdana"/>
              </a:rPr>
              <a:t>V</a:t>
            </a:r>
            <a:r>
              <a:rPr kumimoji="0" sz="1227" b="0" i="0" u="none" strike="noStrike" kern="1200" cap="none" spc="-10" normalizeH="0" baseline="-20833" noProof="0" dirty="0">
                <a:ln>
                  <a:noFill/>
                </a:ln>
                <a:solidFill>
                  <a:prstClr val="black"/>
                </a:solidFill>
                <a:effectLst/>
                <a:uLnTx/>
                <a:uFillTx/>
                <a:latin typeface="Verdana"/>
                <a:ea typeface="+mn-ea"/>
                <a:cs typeface="Verdana"/>
              </a:rPr>
              <a:t>in</a:t>
            </a:r>
            <a:r>
              <a:rPr kumimoji="0" sz="1227" b="0" i="0" u="none" strike="noStrike" kern="1200" cap="none" spc="-7" normalizeH="0" baseline="0" noProof="0" dirty="0">
                <a:ln>
                  <a:noFill/>
                </a:ln>
                <a:solidFill>
                  <a:prstClr val="black"/>
                </a:solidFill>
                <a:effectLst/>
                <a:uLnTx/>
                <a:uFillTx/>
                <a:latin typeface="Verdana"/>
                <a:ea typeface="+mn-ea"/>
                <a:cs typeface="Verdana"/>
              </a:rPr>
              <a:t>=0.6V</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33" name="object 33"/>
          <p:cNvSpPr txBox="1"/>
          <p:nvPr/>
        </p:nvSpPr>
        <p:spPr>
          <a:xfrm>
            <a:off x="2911022" y="2796828"/>
            <a:ext cx="427759" cy="607556"/>
          </a:xfrm>
          <a:prstGeom prst="rect">
            <a:avLst/>
          </a:prstGeom>
        </p:spPr>
        <p:txBody>
          <a:bodyPr vert="horz" wrap="square" lIns="0" tIns="96982" rIns="0" bIns="0" rtlCol="0">
            <a:spAutoFit/>
          </a:bodyPr>
          <a:lstStyle/>
          <a:p>
            <a:pPr marL="17318" marR="0" lvl="0" indent="0" algn="l" defTabSz="914400" rtl="0" eaLnBrk="1" fontAlgn="auto" latinLnBrk="0" hangingPunct="1">
              <a:lnSpc>
                <a:spcPct val="100000"/>
              </a:lnSpc>
              <a:spcBef>
                <a:spcPts val="764"/>
              </a:spcBef>
              <a:spcAft>
                <a:spcPts val="0"/>
              </a:spcAft>
              <a:buClrTx/>
              <a:buSzTx/>
              <a:buFontTx/>
              <a:buNone/>
              <a:tabLst/>
              <a:defRPr/>
            </a:pPr>
            <a:r>
              <a:rPr kumimoji="0" sz="1364" b="0" i="0" u="none" strike="noStrike" kern="1200" cap="none" spc="-14" normalizeH="0" baseline="0" noProof="0" dirty="0">
                <a:ln>
                  <a:noFill/>
                </a:ln>
                <a:solidFill>
                  <a:prstClr val="black"/>
                </a:solidFill>
                <a:effectLst/>
                <a:uLnTx/>
                <a:uFillTx/>
                <a:latin typeface="Verdana"/>
                <a:ea typeface="+mn-ea"/>
                <a:cs typeface="Verdana"/>
              </a:rPr>
              <a:t>0.5V</a:t>
            </a:r>
            <a:endParaRPr kumimoji="0" sz="1364" b="0" i="0" u="none" strike="noStrike" kern="1200" cap="none" spc="0" normalizeH="0" baseline="0" noProof="0">
              <a:ln>
                <a:noFill/>
              </a:ln>
              <a:solidFill>
                <a:prstClr val="black"/>
              </a:solidFill>
              <a:effectLst/>
              <a:uLnTx/>
              <a:uFillTx/>
              <a:latin typeface="Verdana"/>
              <a:ea typeface="+mn-ea"/>
              <a:cs typeface="Verdana"/>
            </a:endParaRPr>
          </a:p>
          <a:p>
            <a:pPr marL="8659" marR="0" lvl="0" indent="0" algn="l" defTabSz="914400" rtl="0" eaLnBrk="1" fontAlgn="auto" latinLnBrk="0" hangingPunct="1">
              <a:lnSpc>
                <a:spcPct val="100000"/>
              </a:lnSpc>
              <a:spcBef>
                <a:spcPts val="699"/>
              </a:spcBef>
              <a:spcAft>
                <a:spcPts val="0"/>
              </a:spcAft>
              <a:buClrTx/>
              <a:buSzTx/>
              <a:buFontTx/>
              <a:buNone/>
              <a:tabLst/>
              <a:defRPr/>
            </a:pPr>
            <a:r>
              <a:rPr kumimoji="0" sz="1364" b="0" i="0" u="none" strike="noStrike" kern="1200" cap="none" spc="-14" normalizeH="0" baseline="0" noProof="0" dirty="0">
                <a:ln>
                  <a:noFill/>
                </a:ln>
                <a:solidFill>
                  <a:prstClr val="black"/>
                </a:solidFill>
                <a:effectLst/>
                <a:uLnTx/>
                <a:uFillTx/>
                <a:latin typeface="Verdana"/>
                <a:ea typeface="+mn-ea"/>
                <a:cs typeface="Verdana"/>
              </a:rPr>
              <a:t>Core</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sp>
        <p:nvSpPr>
          <p:cNvPr id="34" name="object 34"/>
          <p:cNvSpPr txBox="1"/>
          <p:nvPr/>
        </p:nvSpPr>
        <p:spPr>
          <a:xfrm>
            <a:off x="6577388" y="2186636"/>
            <a:ext cx="491836" cy="208029"/>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95" b="0" i="0" u="none" strike="noStrike" kern="1200" cap="none" spc="-14" normalizeH="0" baseline="0" noProof="0" dirty="0">
                <a:ln>
                  <a:noFill/>
                </a:ln>
                <a:solidFill>
                  <a:prstClr val="black"/>
                </a:solidFill>
                <a:effectLst/>
                <a:uLnTx/>
                <a:uFillTx/>
                <a:latin typeface="Verdana"/>
                <a:ea typeface="+mn-ea"/>
                <a:cs typeface="Verdana"/>
              </a:rPr>
              <a:t>DLDO</a:t>
            </a:r>
            <a:endParaRPr kumimoji="0" sz="1295" b="0" i="0" u="none" strike="noStrike" kern="1200" cap="none" spc="0" normalizeH="0" baseline="0" noProof="0">
              <a:ln>
                <a:noFill/>
              </a:ln>
              <a:solidFill>
                <a:prstClr val="black"/>
              </a:solidFill>
              <a:effectLst/>
              <a:uLnTx/>
              <a:uFillTx/>
              <a:latin typeface="Verdana"/>
              <a:ea typeface="+mn-ea"/>
              <a:cs typeface="Verdana"/>
            </a:endParaRPr>
          </a:p>
        </p:txBody>
      </p:sp>
      <p:sp>
        <p:nvSpPr>
          <p:cNvPr id="35" name="object 35"/>
          <p:cNvSpPr/>
          <p:nvPr/>
        </p:nvSpPr>
        <p:spPr>
          <a:xfrm>
            <a:off x="7281141" y="2116668"/>
            <a:ext cx="659390" cy="386195"/>
          </a:xfrm>
          <a:custGeom>
            <a:avLst/>
            <a:gdLst/>
            <a:ahLst/>
            <a:cxnLst/>
            <a:rect l="l" t="t" r="r" b="b"/>
            <a:pathLst>
              <a:path w="967104" h="566419">
                <a:moveTo>
                  <a:pt x="0" y="94361"/>
                </a:moveTo>
                <a:lnTo>
                  <a:pt x="7416" y="57628"/>
                </a:lnTo>
                <a:lnTo>
                  <a:pt x="27639" y="27635"/>
                </a:lnTo>
                <a:lnTo>
                  <a:pt x="57633" y="7414"/>
                </a:lnTo>
                <a:lnTo>
                  <a:pt x="94361" y="0"/>
                </a:lnTo>
                <a:lnTo>
                  <a:pt x="872616" y="0"/>
                </a:lnTo>
                <a:lnTo>
                  <a:pt x="909344" y="7414"/>
                </a:lnTo>
                <a:lnTo>
                  <a:pt x="939338" y="27635"/>
                </a:lnTo>
                <a:lnTo>
                  <a:pt x="959561" y="57628"/>
                </a:lnTo>
                <a:lnTo>
                  <a:pt x="966978" y="94361"/>
                </a:lnTo>
                <a:lnTo>
                  <a:pt x="966978" y="471805"/>
                </a:lnTo>
                <a:lnTo>
                  <a:pt x="959561" y="508532"/>
                </a:lnTo>
                <a:lnTo>
                  <a:pt x="939338" y="538526"/>
                </a:lnTo>
                <a:lnTo>
                  <a:pt x="909344" y="558749"/>
                </a:lnTo>
                <a:lnTo>
                  <a:pt x="872616" y="566166"/>
                </a:lnTo>
                <a:lnTo>
                  <a:pt x="94361" y="566166"/>
                </a:lnTo>
                <a:lnTo>
                  <a:pt x="57633" y="558749"/>
                </a:lnTo>
                <a:lnTo>
                  <a:pt x="27639" y="538526"/>
                </a:lnTo>
                <a:lnTo>
                  <a:pt x="7416" y="508532"/>
                </a:lnTo>
                <a:lnTo>
                  <a:pt x="0" y="471805"/>
                </a:lnTo>
                <a:lnTo>
                  <a:pt x="0" y="94361"/>
                </a:lnTo>
                <a:close/>
              </a:path>
            </a:pathLst>
          </a:custGeom>
          <a:ln w="28956">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6" name="object 36"/>
          <p:cNvSpPr txBox="1"/>
          <p:nvPr/>
        </p:nvSpPr>
        <p:spPr>
          <a:xfrm>
            <a:off x="7364620" y="2190971"/>
            <a:ext cx="491836" cy="208029"/>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95" b="0" i="0" u="none" strike="noStrike" kern="1200" cap="none" spc="-14" normalizeH="0" baseline="0" noProof="0" dirty="0">
                <a:ln>
                  <a:noFill/>
                </a:ln>
                <a:solidFill>
                  <a:prstClr val="black"/>
                </a:solidFill>
                <a:effectLst/>
                <a:uLnTx/>
                <a:uFillTx/>
                <a:latin typeface="Verdana"/>
                <a:ea typeface="+mn-ea"/>
                <a:cs typeface="Verdana"/>
              </a:rPr>
              <a:t>DLDO</a:t>
            </a:r>
            <a:endParaRPr kumimoji="0" sz="1295" b="0" i="0" u="none" strike="noStrike" kern="1200" cap="none" spc="0" normalizeH="0" baseline="0" noProof="0">
              <a:ln>
                <a:noFill/>
              </a:ln>
              <a:solidFill>
                <a:prstClr val="black"/>
              </a:solidFill>
              <a:effectLst/>
              <a:uLnTx/>
              <a:uFillTx/>
              <a:latin typeface="Verdana"/>
              <a:ea typeface="+mn-ea"/>
              <a:cs typeface="Verdana"/>
            </a:endParaRPr>
          </a:p>
        </p:txBody>
      </p:sp>
      <p:grpSp>
        <p:nvGrpSpPr>
          <p:cNvPr id="37" name="object 37"/>
          <p:cNvGrpSpPr/>
          <p:nvPr/>
        </p:nvGrpSpPr>
        <p:grpSpPr>
          <a:xfrm>
            <a:off x="6021158" y="1344016"/>
            <a:ext cx="1996353" cy="1548245"/>
            <a:chOff x="7532243" y="1381378"/>
            <a:chExt cx="2927985" cy="2270760"/>
          </a:xfrm>
        </p:grpSpPr>
        <p:sp>
          <p:nvSpPr>
            <p:cNvPr id="38" name="object 38"/>
            <p:cNvSpPr/>
            <p:nvPr/>
          </p:nvSpPr>
          <p:spPr>
            <a:xfrm>
              <a:off x="7552944" y="3077718"/>
              <a:ext cx="0" cy="552450"/>
            </a:xfrm>
            <a:custGeom>
              <a:avLst/>
              <a:gdLst/>
              <a:ahLst/>
              <a:cxnLst/>
              <a:rect l="l" t="t" r="r" b="b"/>
              <a:pathLst>
                <a:path h="552450">
                  <a:moveTo>
                    <a:pt x="0" y="0"/>
                  </a:moveTo>
                  <a:lnTo>
                    <a:pt x="0" y="55245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39" name="object 39"/>
            <p:cNvSpPr/>
            <p:nvPr/>
          </p:nvSpPr>
          <p:spPr>
            <a:xfrm>
              <a:off x="8708898" y="3083813"/>
              <a:ext cx="0" cy="553720"/>
            </a:xfrm>
            <a:custGeom>
              <a:avLst/>
              <a:gdLst/>
              <a:ahLst/>
              <a:cxnLst/>
              <a:rect l="l" t="t" r="r" b="b"/>
              <a:pathLst>
                <a:path h="553720">
                  <a:moveTo>
                    <a:pt x="0" y="0"/>
                  </a:moveTo>
                  <a:lnTo>
                    <a:pt x="0" y="553212"/>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0" name="object 40"/>
            <p:cNvSpPr/>
            <p:nvPr/>
          </p:nvSpPr>
          <p:spPr>
            <a:xfrm>
              <a:off x="9863328" y="3083813"/>
              <a:ext cx="0" cy="553720"/>
            </a:xfrm>
            <a:custGeom>
              <a:avLst/>
              <a:gdLst/>
              <a:ahLst/>
              <a:cxnLst/>
              <a:rect l="l" t="t" r="r" b="b"/>
              <a:pathLst>
                <a:path h="553720">
                  <a:moveTo>
                    <a:pt x="0" y="0"/>
                  </a:moveTo>
                  <a:lnTo>
                    <a:pt x="0" y="553212"/>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1" name="object 41"/>
            <p:cNvSpPr/>
            <p:nvPr/>
          </p:nvSpPr>
          <p:spPr>
            <a:xfrm>
              <a:off x="7546848" y="1960625"/>
              <a:ext cx="6350" cy="1242060"/>
            </a:xfrm>
            <a:custGeom>
              <a:avLst/>
              <a:gdLst/>
              <a:ahLst/>
              <a:cxnLst/>
              <a:rect l="l" t="t" r="r" b="b"/>
              <a:pathLst>
                <a:path w="6350" h="1242060">
                  <a:moveTo>
                    <a:pt x="6096" y="0"/>
                  </a:moveTo>
                  <a:lnTo>
                    <a:pt x="0" y="124206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2" name="object 42"/>
            <p:cNvSpPr/>
            <p:nvPr/>
          </p:nvSpPr>
          <p:spPr>
            <a:xfrm>
              <a:off x="8708898" y="1966721"/>
              <a:ext cx="0" cy="553720"/>
            </a:xfrm>
            <a:custGeom>
              <a:avLst/>
              <a:gdLst/>
              <a:ahLst/>
              <a:cxnLst/>
              <a:rect l="l" t="t" r="r" b="b"/>
              <a:pathLst>
                <a:path h="553719">
                  <a:moveTo>
                    <a:pt x="0" y="0"/>
                  </a:moveTo>
                  <a:lnTo>
                    <a:pt x="0" y="553212"/>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pic>
          <p:nvPicPr>
            <p:cNvPr id="43" name="object 43"/>
            <p:cNvPicPr/>
            <p:nvPr/>
          </p:nvPicPr>
          <p:blipFill>
            <a:blip r:embed="rId3" cstate="print"/>
            <a:stretch>
              <a:fillRect/>
            </a:stretch>
          </p:blipFill>
          <p:spPr>
            <a:xfrm>
              <a:off x="8665464" y="1923287"/>
              <a:ext cx="86867" cy="86867"/>
            </a:xfrm>
            <a:prstGeom prst="rect">
              <a:avLst/>
            </a:prstGeom>
          </p:spPr>
        </p:pic>
        <p:sp>
          <p:nvSpPr>
            <p:cNvPr id="44" name="object 44"/>
            <p:cNvSpPr/>
            <p:nvPr/>
          </p:nvSpPr>
          <p:spPr>
            <a:xfrm>
              <a:off x="9863328" y="1966721"/>
              <a:ext cx="0" cy="553720"/>
            </a:xfrm>
            <a:custGeom>
              <a:avLst/>
              <a:gdLst/>
              <a:ahLst/>
              <a:cxnLst/>
              <a:rect l="l" t="t" r="r" b="b"/>
              <a:pathLst>
                <a:path h="553719">
                  <a:moveTo>
                    <a:pt x="0" y="0"/>
                  </a:moveTo>
                  <a:lnTo>
                    <a:pt x="0" y="553212"/>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5" name="object 45"/>
            <p:cNvSpPr/>
            <p:nvPr/>
          </p:nvSpPr>
          <p:spPr>
            <a:xfrm>
              <a:off x="7552944" y="1962149"/>
              <a:ext cx="2310765" cy="5080"/>
            </a:xfrm>
            <a:custGeom>
              <a:avLst/>
              <a:gdLst/>
              <a:ahLst/>
              <a:cxnLst/>
              <a:rect l="l" t="t" r="r" b="b"/>
              <a:pathLst>
                <a:path w="2310765" h="5080">
                  <a:moveTo>
                    <a:pt x="0" y="0"/>
                  </a:moveTo>
                  <a:lnTo>
                    <a:pt x="2310384" y="4572"/>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6" name="object 46"/>
            <p:cNvSpPr/>
            <p:nvPr/>
          </p:nvSpPr>
          <p:spPr>
            <a:xfrm>
              <a:off x="8708136" y="1395983"/>
              <a:ext cx="0" cy="553720"/>
            </a:xfrm>
            <a:custGeom>
              <a:avLst/>
              <a:gdLst/>
              <a:ahLst/>
              <a:cxnLst/>
              <a:rect l="l" t="t" r="r" b="b"/>
              <a:pathLst>
                <a:path h="553719">
                  <a:moveTo>
                    <a:pt x="0" y="0"/>
                  </a:moveTo>
                  <a:lnTo>
                    <a:pt x="0" y="553212"/>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7" name="object 47"/>
            <p:cNvSpPr/>
            <p:nvPr/>
          </p:nvSpPr>
          <p:spPr>
            <a:xfrm>
              <a:off x="10416540" y="2607563"/>
              <a:ext cx="0" cy="408940"/>
            </a:xfrm>
            <a:custGeom>
              <a:avLst/>
              <a:gdLst/>
              <a:ahLst/>
              <a:cxnLst/>
              <a:rect l="l" t="t" r="r" b="b"/>
              <a:pathLst>
                <a:path h="408939">
                  <a:moveTo>
                    <a:pt x="0" y="0"/>
                  </a:moveTo>
                  <a:lnTo>
                    <a:pt x="0" y="408431"/>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48" name="object 48"/>
            <p:cNvSpPr/>
            <p:nvPr/>
          </p:nvSpPr>
          <p:spPr>
            <a:xfrm>
              <a:off x="10373094" y="2535186"/>
              <a:ext cx="86995" cy="553720"/>
            </a:xfrm>
            <a:custGeom>
              <a:avLst/>
              <a:gdLst/>
              <a:ahLst/>
              <a:cxnLst/>
              <a:rect l="l" t="t" r="r" b="b"/>
              <a:pathLst>
                <a:path w="86995" h="553719">
                  <a:moveTo>
                    <a:pt x="86868" y="466344"/>
                  </a:moveTo>
                  <a:lnTo>
                    <a:pt x="0" y="466344"/>
                  </a:lnTo>
                  <a:lnTo>
                    <a:pt x="43434" y="553212"/>
                  </a:lnTo>
                  <a:lnTo>
                    <a:pt x="86868" y="466344"/>
                  </a:lnTo>
                  <a:close/>
                </a:path>
                <a:path w="86995" h="553719">
                  <a:moveTo>
                    <a:pt x="86868" y="86868"/>
                  </a:moveTo>
                  <a:lnTo>
                    <a:pt x="43434" y="0"/>
                  </a:lnTo>
                  <a:lnTo>
                    <a:pt x="0" y="86868"/>
                  </a:lnTo>
                  <a:lnTo>
                    <a:pt x="86868" y="86868"/>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49" name="object 49"/>
          <p:cNvSpPr txBox="1"/>
          <p:nvPr/>
        </p:nvSpPr>
        <p:spPr>
          <a:xfrm>
            <a:off x="7394869" y="2787219"/>
            <a:ext cx="420399" cy="601471"/>
          </a:xfrm>
          <a:prstGeom prst="rect">
            <a:avLst/>
          </a:prstGeom>
        </p:spPr>
        <p:txBody>
          <a:bodyPr vert="horz" wrap="square" lIns="0" tIns="99147" rIns="0" bIns="0" rtlCol="0">
            <a:spAutoFit/>
          </a:bodyPr>
          <a:lstStyle/>
          <a:p>
            <a:pPr marL="44160" marR="0" lvl="0" indent="0" algn="l" defTabSz="914400" rtl="0" eaLnBrk="1" fontAlgn="auto" latinLnBrk="0" hangingPunct="1">
              <a:lnSpc>
                <a:spcPct val="100000"/>
              </a:lnSpc>
              <a:spcBef>
                <a:spcPts val="781"/>
              </a:spcBef>
              <a:spcAft>
                <a:spcPts val="0"/>
              </a:spcAft>
              <a:buClrTx/>
              <a:buSzTx/>
              <a:buFontTx/>
              <a:buNone/>
              <a:tabLst/>
              <a:defRPr/>
            </a:pPr>
            <a:r>
              <a:rPr kumimoji="0" sz="1227" b="0" i="0" u="none" strike="noStrike" kern="1200" cap="none" spc="-14" normalizeH="0" baseline="0" noProof="0" dirty="0">
                <a:ln>
                  <a:noFill/>
                </a:ln>
                <a:solidFill>
                  <a:prstClr val="black"/>
                </a:solidFill>
                <a:effectLst/>
                <a:uLnTx/>
                <a:uFillTx/>
                <a:latin typeface="Verdana"/>
                <a:ea typeface="+mn-ea"/>
                <a:cs typeface="Verdana"/>
              </a:rPr>
              <a:t>0.4V</a:t>
            </a:r>
            <a:endParaRPr kumimoji="0" sz="1227" b="0" i="0" u="none" strike="noStrike" kern="1200" cap="none" spc="0" normalizeH="0" baseline="0" noProof="0">
              <a:ln>
                <a:noFill/>
              </a:ln>
              <a:solidFill>
                <a:prstClr val="black"/>
              </a:solidFill>
              <a:effectLst/>
              <a:uLnTx/>
              <a:uFillTx/>
              <a:latin typeface="Verdana"/>
              <a:ea typeface="+mn-ea"/>
              <a:cs typeface="Verdana"/>
            </a:endParaRPr>
          </a:p>
          <a:p>
            <a:pPr marL="8659" marR="0" lvl="0" indent="0" algn="l" defTabSz="914400" rtl="0" eaLnBrk="1" fontAlgn="auto" latinLnBrk="0" hangingPunct="1">
              <a:lnSpc>
                <a:spcPct val="100000"/>
              </a:lnSpc>
              <a:spcBef>
                <a:spcPts val="787"/>
              </a:spcBef>
              <a:spcAft>
                <a:spcPts val="0"/>
              </a:spcAft>
              <a:buClrTx/>
              <a:buSzTx/>
              <a:buFontTx/>
              <a:buNone/>
              <a:tabLst/>
              <a:defRPr/>
            </a:pPr>
            <a:r>
              <a:rPr kumimoji="0" sz="1364" b="0" i="0" u="none" strike="noStrike" kern="1200" cap="none" spc="-14" normalizeH="0" baseline="0" noProof="0" dirty="0">
                <a:ln>
                  <a:noFill/>
                </a:ln>
                <a:solidFill>
                  <a:prstClr val="black"/>
                </a:solidFill>
                <a:effectLst/>
                <a:uLnTx/>
                <a:uFillTx/>
                <a:latin typeface="Verdana"/>
                <a:ea typeface="+mn-ea"/>
                <a:cs typeface="Verdana"/>
              </a:rPr>
              <a:t>Core</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sp>
        <p:nvSpPr>
          <p:cNvPr id="50" name="object 50"/>
          <p:cNvSpPr txBox="1"/>
          <p:nvPr/>
        </p:nvSpPr>
        <p:spPr>
          <a:xfrm>
            <a:off x="6607637" y="2825789"/>
            <a:ext cx="421265" cy="555275"/>
          </a:xfrm>
          <a:prstGeom prst="rect">
            <a:avLst/>
          </a:prstGeom>
        </p:spPr>
        <p:txBody>
          <a:bodyPr vert="horz" wrap="square" lIns="0" tIns="78798" rIns="0" bIns="0" rtlCol="0">
            <a:spAutoFit/>
          </a:bodyPr>
          <a:lstStyle/>
          <a:p>
            <a:pPr marL="50654" marR="0" lvl="0" indent="0" algn="l" defTabSz="914400" rtl="0" eaLnBrk="1" fontAlgn="auto" latinLnBrk="0" hangingPunct="1">
              <a:lnSpc>
                <a:spcPct val="100000"/>
              </a:lnSpc>
              <a:spcBef>
                <a:spcPts val="620"/>
              </a:spcBef>
              <a:spcAft>
                <a:spcPts val="0"/>
              </a:spcAft>
              <a:buClrTx/>
              <a:buSzTx/>
              <a:buFontTx/>
              <a:buNone/>
              <a:tabLst/>
              <a:defRPr/>
            </a:pPr>
            <a:r>
              <a:rPr kumimoji="0" sz="1227" b="0" i="0" u="none" strike="noStrike" kern="1200" cap="none" spc="-14" normalizeH="0" baseline="0" noProof="0" dirty="0">
                <a:ln>
                  <a:noFill/>
                </a:ln>
                <a:solidFill>
                  <a:prstClr val="black"/>
                </a:solidFill>
                <a:effectLst/>
                <a:uLnTx/>
                <a:uFillTx/>
                <a:latin typeface="Verdana"/>
                <a:ea typeface="+mn-ea"/>
                <a:cs typeface="Verdana"/>
              </a:rPr>
              <a:t>0.5V</a:t>
            </a:r>
            <a:endParaRPr kumimoji="0" sz="1227" b="0" i="0" u="none" strike="noStrike" kern="1200" cap="none" spc="0" normalizeH="0" baseline="0" noProof="0">
              <a:ln>
                <a:noFill/>
              </a:ln>
              <a:solidFill>
                <a:prstClr val="black"/>
              </a:solidFill>
              <a:effectLst/>
              <a:uLnTx/>
              <a:uFillTx/>
              <a:latin typeface="Verdana"/>
              <a:ea typeface="+mn-ea"/>
              <a:cs typeface="Verdana"/>
            </a:endParaRPr>
          </a:p>
          <a:p>
            <a:pPr marL="8659" marR="0" lvl="0" indent="0" algn="l" defTabSz="914400" rtl="0" eaLnBrk="1" fontAlgn="auto" latinLnBrk="0" hangingPunct="1">
              <a:lnSpc>
                <a:spcPct val="100000"/>
              </a:lnSpc>
              <a:spcBef>
                <a:spcPts val="610"/>
              </a:spcBef>
              <a:spcAft>
                <a:spcPts val="0"/>
              </a:spcAft>
              <a:buClrTx/>
              <a:buSzTx/>
              <a:buFontTx/>
              <a:buNone/>
              <a:tabLst/>
              <a:defRPr/>
            </a:pPr>
            <a:r>
              <a:rPr kumimoji="0" sz="1364" b="0" i="0" u="none" strike="noStrike" kern="1200" cap="none" spc="-14" normalizeH="0" baseline="0" noProof="0" dirty="0">
                <a:ln>
                  <a:noFill/>
                </a:ln>
                <a:solidFill>
                  <a:prstClr val="black"/>
                </a:solidFill>
                <a:effectLst/>
                <a:uLnTx/>
                <a:uFillTx/>
                <a:latin typeface="Verdana"/>
                <a:ea typeface="+mn-ea"/>
                <a:cs typeface="Verdana"/>
              </a:rPr>
              <a:t>Core</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sp>
        <p:nvSpPr>
          <p:cNvPr id="51" name="object 51"/>
          <p:cNvSpPr txBox="1"/>
          <p:nvPr/>
        </p:nvSpPr>
        <p:spPr>
          <a:xfrm>
            <a:off x="5820406" y="2822763"/>
            <a:ext cx="420399" cy="558335"/>
          </a:xfrm>
          <a:prstGeom prst="rect">
            <a:avLst/>
          </a:prstGeom>
        </p:spPr>
        <p:txBody>
          <a:bodyPr vert="horz" wrap="square" lIns="0" tIns="81828" rIns="0" bIns="0" rtlCol="0">
            <a:spAutoFit/>
          </a:bodyPr>
          <a:lstStyle/>
          <a:p>
            <a:pPr marL="43727" marR="0" lvl="0" indent="0" algn="l" defTabSz="914400" rtl="0" eaLnBrk="1" fontAlgn="auto" latinLnBrk="0" hangingPunct="1">
              <a:lnSpc>
                <a:spcPct val="100000"/>
              </a:lnSpc>
              <a:spcBef>
                <a:spcPts val="644"/>
              </a:spcBef>
              <a:spcAft>
                <a:spcPts val="0"/>
              </a:spcAft>
              <a:buClrTx/>
              <a:buSzTx/>
              <a:buFontTx/>
              <a:buNone/>
              <a:tabLst/>
              <a:defRPr/>
            </a:pPr>
            <a:r>
              <a:rPr kumimoji="0" sz="1227" b="0" i="0" u="none" strike="noStrike" kern="1200" cap="none" spc="-14" normalizeH="0" baseline="0" noProof="0" dirty="0">
                <a:ln>
                  <a:noFill/>
                </a:ln>
                <a:solidFill>
                  <a:prstClr val="black"/>
                </a:solidFill>
                <a:effectLst/>
                <a:uLnTx/>
                <a:uFillTx/>
                <a:latin typeface="Verdana"/>
                <a:ea typeface="+mn-ea"/>
                <a:cs typeface="Verdana"/>
              </a:rPr>
              <a:t>0.6V</a:t>
            </a:r>
            <a:endParaRPr kumimoji="0" sz="1227" b="0" i="0" u="none" strike="noStrike" kern="1200" cap="none" spc="0" normalizeH="0" baseline="0" noProof="0">
              <a:ln>
                <a:noFill/>
              </a:ln>
              <a:solidFill>
                <a:prstClr val="black"/>
              </a:solidFill>
              <a:effectLst/>
              <a:uLnTx/>
              <a:uFillTx/>
              <a:latin typeface="Verdana"/>
              <a:ea typeface="+mn-ea"/>
              <a:cs typeface="Verdana"/>
            </a:endParaRPr>
          </a:p>
          <a:p>
            <a:pPr marL="8659" marR="0" lvl="0" indent="0" algn="l" defTabSz="914400" rtl="0" eaLnBrk="1" fontAlgn="auto" latinLnBrk="0" hangingPunct="1">
              <a:lnSpc>
                <a:spcPct val="100000"/>
              </a:lnSpc>
              <a:spcBef>
                <a:spcPts val="637"/>
              </a:spcBef>
              <a:spcAft>
                <a:spcPts val="0"/>
              </a:spcAft>
              <a:buClrTx/>
              <a:buSzTx/>
              <a:buFontTx/>
              <a:buNone/>
              <a:tabLst/>
              <a:defRPr/>
            </a:pPr>
            <a:r>
              <a:rPr kumimoji="0" sz="1364" b="0" i="0" u="none" strike="noStrike" kern="1200" cap="none" spc="-14" normalizeH="0" baseline="0" noProof="0" dirty="0">
                <a:ln>
                  <a:noFill/>
                </a:ln>
                <a:solidFill>
                  <a:prstClr val="black"/>
                </a:solidFill>
                <a:effectLst/>
                <a:uLnTx/>
                <a:uFillTx/>
                <a:latin typeface="Verdana"/>
                <a:ea typeface="+mn-ea"/>
                <a:cs typeface="Verdana"/>
              </a:rPr>
              <a:t>Core</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sp>
        <p:nvSpPr>
          <p:cNvPr id="52" name="object 52"/>
          <p:cNvSpPr txBox="1"/>
          <p:nvPr/>
        </p:nvSpPr>
        <p:spPr>
          <a:xfrm>
            <a:off x="8032855" y="2195315"/>
            <a:ext cx="379268" cy="197578"/>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14" normalizeH="0" baseline="0" noProof="0" dirty="0">
                <a:ln>
                  <a:noFill/>
                </a:ln>
                <a:solidFill>
                  <a:prstClr val="black"/>
                </a:solidFill>
                <a:effectLst/>
                <a:uLnTx/>
                <a:uFillTx/>
                <a:latin typeface="Verdana"/>
                <a:ea typeface="+mn-ea"/>
                <a:cs typeface="Verdana"/>
              </a:rPr>
              <a:t>0.2V</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53" name="object 53"/>
          <p:cNvSpPr txBox="1"/>
          <p:nvPr/>
        </p:nvSpPr>
        <p:spPr>
          <a:xfrm>
            <a:off x="6886478" y="1883588"/>
            <a:ext cx="379268" cy="197578"/>
          </a:xfrm>
          <a:prstGeom prst="rect">
            <a:avLst/>
          </a:prstGeom>
        </p:spPr>
        <p:txBody>
          <a:bodyPr vert="horz" wrap="square" lIns="0" tIns="8659" rIns="0" bIns="0" rtlCol="0">
            <a:spAutoFit/>
          </a:bodyPr>
          <a:lstStyle/>
          <a:p>
            <a:pPr marL="8659"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14" normalizeH="0" baseline="0" noProof="0" dirty="0">
                <a:ln>
                  <a:noFill/>
                </a:ln>
                <a:solidFill>
                  <a:prstClr val="black"/>
                </a:solidFill>
                <a:effectLst/>
                <a:uLnTx/>
                <a:uFillTx/>
                <a:latin typeface="Verdana"/>
                <a:ea typeface="+mn-ea"/>
                <a:cs typeface="Verdana"/>
              </a:rPr>
              <a:t>0.1V</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grpSp>
        <p:nvGrpSpPr>
          <p:cNvPr id="54" name="object 54"/>
          <p:cNvGrpSpPr/>
          <p:nvPr/>
        </p:nvGrpSpPr>
        <p:grpSpPr>
          <a:xfrm>
            <a:off x="7190218" y="2123422"/>
            <a:ext cx="59315" cy="376670"/>
            <a:chOff x="9246865" y="2524507"/>
            <a:chExt cx="86995" cy="552450"/>
          </a:xfrm>
        </p:grpSpPr>
        <p:sp>
          <p:nvSpPr>
            <p:cNvPr id="55" name="object 55"/>
            <p:cNvSpPr/>
            <p:nvPr/>
          </p:nvSpPr>
          <p:spPr>
            <a:xfrm>
              <a:off x="9290304" y="2596896"/>
              <a:ext cx="0" cy="407670"/>
            </a:xfrm>
            <a:custGeom>
              <a:avLst/>
              <a:gdLst/>
              <a:ahLst/>
              <a:cxnLst/>
              <a:rect l="l" t="t" r="r" b="b"/>
              <a:pathLst>
                <a:path h="407669">
                  <a:moveTo>
                    <a:pt x="0" y="0"/>
                  </a:moveTo>
                  <a:lnTo>
                    <a:pt x="0" y="407670"/>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6" name="object 56"/>
            <p:cNvSpPr/>
            <p:nvPr/>
          </p:nvSpPr>
          <p:spPr>
            <a:xfrm>
              <a:off x="9246857" y="2524518"/>
              <a:ext cx="86995" cy="552450"/>
            </a:xfrm>
            <a:custGeom>
              <a:avLst/>
              <a:gdLst/>
              <a:ahLst/>
              <a:cxnLst/>
              <a:rect l="l" t="t" r="r" b="b"/>
              <a:pathLst>
                <a:path w="86995" h="552450">
                  <a:moveTo>
                    <a:pt x="86868" y="465582"/>
                  </a:moveTo>
                  <a:lnTo>
                    <a:pt x="0" y="465582"/>
                  </a:lnTo>
                  <a:lnTo>
                    <a:pt x="43434" y="552450"/>
                  </a:lnTo>
                  <a:lnTo>
                    <a:pt x="86868" y="465582"/>
                  </a:lnTo>
                  <a:close/>
                </a:path>
                <a:path w="86995" h="552450">
                  <a:moveTo>
                    <a:pt x="86868" y="86868"/>
                  </a:moveTo>
                  <a:lnTo>
                    <a:pt x="43434" y="0"/>
                  </a:lnTo>
                  <a:lnTo>
                    <a:pt x="0" y="86868"/>
                  </a:lnTo>
                  <a:lnTo>
                    <a:pt x="86868" y="86868"/>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grpSp>
      <p:sp>
        <p:nvSpPr>
          <p:cNvPr id="57" name="object 57"/>
          <p:cNvSpPr/>
          <p:nvPr/>
        </p:nvSpPr>
        <p:spPr>
          <a:xfrm>
            <a:off x="1985415" y="2128618"/>
            <a:ext cx="659390" cy="385763"/>
          </a:xfrm>
          <a:custGeom>
            <a:avLst/>
            <a:gdLst/>
            <a:ahLst/>
            <a:cxnLst/>
            <a:rect l="l" t="t" r="r" b="b"/>
            <a:pathLst>
              <a:path w="967105" h="565785">
                <a:moveTo>
                  <a:pt x="0" y="94234"/>
                </a:moveTo>
                <a:lnTo>
                  <a:pt x="7405" y="57553"/>
                </a:lnTo>
                <a:lnTo>
                  <a:pt x="27600" y="27600"/>
                </a:lnTo>
                <a:lnTo>
                  <a:pt x="57553" y="7405"/>
                </a:lnTo>
                <a:lnTo>
                  <a:pt x="94234" y="0"/>
                </a:lnTo>
                <a:lnTo>
                  <a:pt x="872744" y="0"/>
                </a:lnTo>
                <a:lnTo>
                  <a:pt x="909424" y="7405"/>
                </a:lnTo>
                <a:lnTo>
                  <a:pt x="939377" y="27600"/>
                </a:lnTo>
                <a:lnTo>
                  <a:pt x="959572" y="57553"/>
                </a:lnTo>
                <a:lnTo>
                  <a:pt x="966978" y="94234"/>
                </a:lnTo>
                <a:lnTo>
                  <a:pt x="966978" y="471170"/>
                </a:lnTo>
                <a:lnTo>
                  <a:pt x="959572" y="507850"/>
                </a:lnTo>
                <a:lnTo>
                  <a:pt x="939377" y="537803"/>
                </a:lnTo>
                <a:lnTo>
                  <a:pt x="909424" y="557998"/>
                </a:lnTo>
                <a:lnTo>
                  <a:pt x="872744" y="565404"/>
                </a:lnTo>
                <a:lnTo>
                  <a:pt x="94234" y="565404"/>
                </a:lnTo>
                <a:lnTo>
                  <a:pt x="57553" y="557998"/>
                </a:lnTo>
                <a:lnTo>
                  <a:pt x="27600" y="537803"/>
                </a:lnTo>
                <a:lnTo>
                  <a:pt x="7405" y="507850"/>
                </a:lnTo>
                <a:lnTo>
                  <a:pt x="0" y="471170"/>
                </a:lnTo>
                <a:lnTo>
                  <a:pt x="0" y="94234"/>
                </a:lnTo>
                <a:close/>
              </a:path>
            </a:pathLst>
          </a:custGeom>
          <a:ln w="28955">
            <a:solidFill>
              <a:srgbClr val="FF0000"/>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
        <p:nvSpPr>
          <p:cNvPr id="58" name="object 58"/>
          <p:cNvSpPr txBox="1"/>
          <p:nvPr/>
        </p:nvSpPr>
        <p:spPr>
          <a:xfrm>
            <a:off x="2064117" y="2197347"/>
            <a:ext cx="501794" cy="218236"/>
          </a:xfrm>
          <a:prstGeom prst="rect">
            <a:avLst/>
          </a:prstGeom>
        </p:spPr>
        <p:txBody>
          <a:bodyPr vert="horz" wrap="square" lIns="0" tIns="8226" rIns="0" bIns="0" rtlCol="0">
            <a:spAutoFit/>
          </a:bodyPr>
          <a:lstStyle/>
          <a:p>
            <a:pPr marL="8659" marR="0" lvl="0" indent="0" algn="l" defTabSz="914400" rtl="0" eaLnBrk="1" fontAlgn="auto" latinLnBrk="0" hangingPunct="1">
              <a:lnSpc>
                <a:spcPct val="100000"/>
              </a:lnSpc>
              <a:spcBef>
                <a:spcPts val="65"/>
              </a:spcBef>
              <a:spcAft>
                <a:spcPts val="0"/>
              </a:spcAft>
              <a:buClrTx/>
              <a:buSzTx/>
              <a:buFontTx/>
              <a:buNone/>
              <a:tabLst/>
              <a:defRPr/>
            </a:pPr>
            <a:r>
              <a:rPr kumimoji="0" sz="1364" b="0" i="0" u="none" strike="noStrike" kern="1200" cap="none" spc="-14" normalizeH="0" baseline="0" noProof="0" dirty="0">
                <a:ln>
                  <a:noFill/>
                </a:ln>
                <a:solidFill>
                  <a:srgbClr val="D9D9D9"/>
                </a:solidFill>
                <a:effectLst/>
                <a:uLnTx/>
                <a:uFillTx/>
                <a:latin typeface="Verdana"/>
                <a:ea typeface="+mn-ea"/>
                <a:cs typeface="Verdana"/>
              </a:rPr>
              <a:t>ALDO</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sp>
        <p:nvSpPr>
          <p:cNvPr id="59" name="object 59"/>
          <p:cNvSpPr txBox="1"/>
          <p:nvPr/>
        </p:nvSpPr>
        <p:spPr>
          <a:xfrm>
            <a:off x="5316333" y="3731242"/>
            <a:ext cx="3282661" cy="509044"/>
          </a:xfrm>
          <a:prstGeom prst="rect">
            <a:avLst/>
          </a:prstGeom>
        </p:spPr>
        <p:txBody>
          <a:bodyPr vert="horz" wrap="square" lIns="0" tIns="50223" rIns="0" bIns="0" rtlCol="0">
            <a:spAutoFit/>
          </a:bodyPr>
          <a:lstStyle/>
          <a:p>
            <a:pPr marL="329037" marR="0" lvl="0" indent="-320378" algn="l" defTabSz="914400" rtl="0" eaLnBrk="1" fontAlgn="auto" latinLnBrk="0" hangingPunct="1">
              <a:lnSpc>
                <a:spcPct val="100000"/>
              </a:lnSpc>
              <a:spcBef>
                <a:spcPts val="395"/>
              </a:spcBef>
              <a:spcAft>
                <a:spcPts val="0"/>
              </a:spcAft>
              <a:buClr>
                <a:srgbClr val="CC0000"/>
              </a:buClr>
              <a:buSzTx/>
              <a:buFont typeface="Wingdings"/>
              <a:buChar char=""/>
              <a:tabLst>
                <a:tab pos="329037" algn="l"/>
              </a:tabLst>
              <a:defRPr/>
            </a:pPr>
            <a:r>
              <a:rPr kumimoji="0" sz="1364" b="0" i="0" u="none" strike="noStrike" kern="1200" cap="none" spc="0" normalizeH="0" baseline="0" noProof="0" dirty="0">
                <a:ln>
                  <a:noFill/>
                </a:ln>
                <a:solidFill>
                  <a:prstClr val="black"/>
                </a:solidFill>
                <a:effectLst/>
                <a:uLnTx/>
                <a:uFillTx/>
                <a:latin typeface="Verdana"/>
                <a:ea typeface="+mn-ea"/>
                <a:cs typeface="Verdana"/>
              </a:rPr>
              <a:t>Less</a:t>
            </a:r>
            <a:r>
              <a:rPr kumimoji="0" sz="1364" b="0" i="0" u="none" strike="noStrike" kern="1200" cap="none" spc="-48"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dropout</a:t>
            </a:r>
            <a:r>
              <a:rPr kumimoji="0" sz="1364" b="0" i="0" u="none" strike="noStrike" kern="1200" cap="none" spc="-41"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voltage</a:t>
            </a:r>
            <a:r>
              <a:rPr kumimoji="0" sz="1364" b="0" i="0" u="none" strike="noStrike" kern="1200" cap="none" spc="-34" normalizeH="0" baseline="0" noProof="0" dirty="0">
                <a:ln>
                  <a:noFill/>
                </a:ln>
                <a:solidFill>
                  <a:prstClr val="black"/>
                </a:solidFill>
                <a:effectLst/>
                <a:uLnTx/>
                <a:uFillTx/>
                <a:latin typeface="Verdana"/>
                <a:ea typeface="+mn-ea"/>
                <a:cs typeface="Verdana"/>
              </a:rPr>
              <a:t> </a:t>
            </a:r>
            <a:r>
              <a:rPr kumimoji="0" sz="1364" b="0" i="0" u="none" strike="noStrike" kern="1200" cap="none" spc="-7" normalizeH="0" baseline="0" noProof="0" dirty="0">
                <a:ln>
                  <a:noFill/>
                </a:ln>
                <a:solidFill>
                  <a:prstClr val="black"/>
                </a:solidFill>
                <a:effectLst/>
                <a:uLnTx/>
                <a:uFillTx/>
                <a:latin typeface="Verdana"/>
                <a:ea typeface="+mn-ea"/>
                <a:cs typeface="Verdana"/>
              </a:rPr>
              <a:t>requirement</a:t>
            </a:r>
            <a:endParaRPr kumimoji="0" sz="1364" b="0" i="0" u="none" strike="noStrike" kern="1200" cap="none" spc="0" normalizeH="0" baseline="0" noProof="0">
              <a:ln>
                <a:noFill/>
              </a:ln>
              <a:solidFill>
                <a:prstClr val="black"/>
              </a:solidFill>
              <a:effectLst/>
              <a:uLnTx/>
              <a:uFillTx/>
              <a:latin typeface="Verdana"/>
              <a:ea typeface="+mn-ea"/>
              <a:cs typeface="Verdana"/>
            </a:endParaRPr>
          </a:p>
          <a:p>
            <a:pPr marL="329037" marR="0" lvl="0" indent="-320378" algn="l" defTabSz="914400" rtl="0" eaLnBrk="1" fontAlgn="auto" latinLnBrk="0" hangingPunct="1">
              <a:lnSpc>
                <a:spcPct val="100000"/>
              </a:lnSpc>
              <a:spcBef>
                <a:spcPts val="324"/>
              </a:spcBef>
              <a:spcAft>
                <a:spcPts val="0"/>
              </a:spcAft>
              <a:buClr>
                <a:srgbClr val="CC0000"/>
              </a:buClr>
              <a:buSzTx/>
              <a:buFont typeface="Wingdings"/>
              <a:buChar char=""/>
              <a:tabLst>
                <a:tab pos="329037" algn="l"/>
              </a:tabLst>
              <a:defRPr/>
            </a:pPr>
            <a:r>
              <a:rPr kumimoji="0" sz="1364" b="0" i="0" u="none" strike="noStrike" kern="1200" cap="none" spc="0" normalizeH="0" baseline="0" noProof="0" dirty="0">
                <a:ln>
                  <a:noFill/>
                </a:ln>
                <a:solidFill>
                  <a:prstClr val="black"/>
                </a:solidFill>
                <a:effectLst/>
                <a:uLnTx/>
                <a:uFillTx/>
                <a:latin typeface="Verdana"/>
                <a:ea typeface="+mn-ea"/>
                <a:cs typeface="Verdana"/>
              </a:rPr>
              <a:t>Support</a:t>
            </a:r>
            <a:r>
              <a:rPr kumimoji="0" sz="1364" b="0" i="0" u="none" strike="noStrike" kern="1200" cap="none" spc="-44"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wider</a:t>
            </a:r>
            <a:r>
              <a:rPr kumimoji="0" sz="1364" b="0" i="0" u="none" strike="noStrike" kern="1200" cap="none" spc="-41" normalizeH="0" baseline="0" noProof="0" dirty="0">
                <a:ln>
                  <a:noFill/>
                </a:ln>
                <a:solidFill>
                  <a:prstClr val="black"/>
                </a:solidFill>
                <a:effectLst/>
                <a:uLnTx/>
                <a:uFillTx/>
                <a:latin typeface="Verdana"/>
                <a:ea typeface="+mn-ea"/>
                <a:cs typeface="Verdana"/>
              </a:rPr>
              <a:t> </a:t>
            </a:r>
            <a:r>
              <a:rPr kumimoji="0" sz="1364" b="0" i="0" u="none" strike="noStrike" kern="1200" cap="none" spc="0" normalizeH="0" baseline="0" noProof="0" dirty="0">
                <a:ln>
                  <a:noFill/>
                </a:ln>
                <a:solidFill>
                  <a:prstClr val="black"/>
                </a:solidFill>
                <a:effectLst/>
                <a:uLnTx/>
                <a:uFillTx/>
                <a:latin typeface="Verdana"/>
                <a:ea typeface="+mn-ea"/>
                <a:cs typeface="Verdana"/>
              </a:rPr>
              <a:t>output</a:t>
            </a:r>
            <a:r>
              <a:rPr kumimoji="0" sz="1364" b="0" i="0" u="none" strike="noStrike" kern="1200" cap="none" spc="-44" normalizeH="0" baseline="0" noProof="0" dirty="0">
                <a:ln>
                  <a:noFill/>
                </a:ln>
                <a:solidFill>
                  <a:prstClr val="black"/>
                </a:solidFill>
                <a:effectLst/>
                <a:uLnTx/>
                <a:uFillTx/>
                <a:latin typeface="Verdana"/>
                <a:ea typeface="+mn-ea"/>
                <a:cs typeface="Verdana"/>
              </a:rPr>
              <a:t> </a:t>
            </a:r>
            <a:r>
              <a:rPr kumimoji="0" sz="1364" b="0" i="0" u="none" strike="noStrike" kern="1200" cap="none" spc="-7" normalizeH="0" baseline="0" noProof="0" dirty="0">
                <a:ln>
                  <a:noFill/>
                </a:ln>
                <a:solidFill>
                  <a:prstClr val="black"/>
                </a:solidFill>
                <a:effectLst/>
                <a:uLnTx/>
                <a:uFillTx/>
                <a:latin typeface="Verdana"/>
                <a:ea typeface="+mn-ea"/>
                <a:cs typeface="Verdana"/>
              </a:rPr>
              <a:t>voltage</a:t>
            </a:r>
            <a:endParaRPr kumimoji="0" sz="1364" b="0" i="0" u="none" strike="noStrike" kern="1200" cap="none" spc="0" normalizeH="0" baseline="0" noProof="0">
              <a:ln>
                <a:noFill/>
              </a:ln>
              <a:solidFill>
                <a:prstClr val="black"/>
              </a:solidFill>
              <a:effectLst/>
              <a:uLnTx/>
              <a:uFillTx/>
              <a:latin typeface="Verdana"/>
              <a:ea typeface="+mn-ea"/>
              <a:cs typeface="Verdana"/>
            </a:endParaRPr>
          </a:p>
        </p:txBody>
      </p:sp>
      <p:sp>
        <p:nvSpPr>
          <p:cNvPr id="60" name="object 60"/>
          <p:cNvSpPr txBox="1"/>
          <p:nvPr/>
        </p:nvSpPr>
        <p:spPr>
          <a:xfrm>
            <a:off x="6850898" y="1372801"/>
            <a:ext cx="742950" cy="197578"/>
          </a:xfrm>
          <a:prstGeom prst="rect">
            <a:avLst/>
          </a:prstGeom>
        </p:spPr>
        <p:txBody>
          <a:bodyPr vert="horz" wrap="square" lIns="0" tIns="8659" rIns="0" bIns="0" rtlCol="0">
            <a:spAutoFit/>
          </a:bodyPr>
          <a:lstStyle/>
          <a:p>
            <a:pPr marL="25977" marR="0" lvl="0" indent="0" algn="l" defTabSz="914400" rtl="0" eaLnBrk="1" fontAlgn="auto" latinLnBrk="0" hangingPunct="1">
              <a:lnSpc>
                <a:spcPct val="100000"/>
              </a:lnSpc>
              <a:spcBef>
                <a:spcPts val="68"/>
              </a:spcBef>
              <a:spcAft>
                <a:spcPts val="0"/>
              </a:spcAft>
              <a:buClrTx/>
              <a:buSzTx/>
              <a:buFontTx/>
              <a:buNone/>
              <a:tabLst/>
              <a:defRPr/>
            </a:pPr>
            <a:r>
              <a:rPr kumimoji="0" sz="1227" b="0" i="0" u="none" strike="noStrike" kern="1200" cap="none" spc="-7" normalizeH="0" baseline="0" noProof="0" dirty="0">
                <a:ln>
                  <a:noFill/>
                </a:ln>
                <a:solidFill>
                  <a:prstClr val="black"/>
                </a:solidFill>
                <a:effectLst/>
                <a:uLnTx/>
                <a:uFillTx/>
                <a:latin typeface="Verdana"/>
                <a:ea typeface="+mn-ea"/>
                <a:cs typeface="Verdana"/>
              </a:rPr>
              <a:t>V</a:t>
            </a:r>
            <a:r>
              <a:rPr kumimoji="0" sz="1227" b="0" i="0" u="none" strike="noStrike" kern="1200" cap="none" spc="-10" normalizeH="0" baseline="-20833" noProof="0" dirty="0">
                <a:ln>
                  <a:noFill/>
                </a:ln>
                <a:solidFill>
                  <a:prstClr val="black"/>
                </a:solidFill>
                <a:effectLst/>
                <a:uLnTx/>
                <a:uFillTx/>
                <a:latin typeface="Verdana"/>
                <a:ea typeface="+mn-ea"/>
                <a:cs typeface="Verdana"/>
              </a:rPr>
              <a:t>in</a:t>
            </a:r>
            <a:r>
              <a:rPr kumimoji="0" sz="1227" b="0" i="0" u="none" strike="noStrike" kern="1200" cap="none" spc="-7" normalizeH="0" baseline="0" noProof="0" dirty="0">
                <a:ln>
                  <a:noFill/>
                </a:ln>
                <a:solidFill>
                  <a:prstClr val="black"/>
                </a:solidFill>
                <a:effectLst/>
                <a:uLnTx/>
                <a:uFillTx/>
                <a:latin typeface="Verdana"/>
                <a:ea typeface="+mn-ea"/>
                <a:cs typeface="Verdana"/>
              </a:rPr>
              <a:t>=0.6V</a:t>
            </a:r>
            <a:endParaRPr kumimoji="0" sz="1227" b="0" i="0" u="none" strike="noStrike" kern="1200" cap="none" spc="0" normalizeH="0" baseline="0" noProof="0">
              <a:ln>
                <a:noFill/>
              </a:ln>
              <a:solidFill>
                <a:prstClr val="black"/>
              </a:solidFill>
              <a:effectLst/>
              <a:uLnTx/>
              <a:uFillTx/>
              <a:latin typeface="Verdana"/>
              <a:ea typeface="+mn-ea"/>
              <a:cs typeface="Verdana"/>
            </a:endParaRPr>
          </a:p>
        </p:txBody>
      </p:sp>
      <p:sp>
        <p:nvSpPr>
          <p:cNvPr id="61" name="object 61"/>
          <p:cNvSpPr/>
          <p:nvPr/>
        </p:nvSpPr>
        <p:spPr>
          <a:xfrm>
            <a:off x="2332471" y="1755583"/>
            <a:ext cx="0" cy="775855"/>
          </a:xfrm>
          <a:custGeom>
            <a:avLst/>
            <a:gdLst/>
            <a:ahLst/>
            <a:cxnLst/>
            <a:rect l="l" t="t" r="r" b="b"/>
            <a:pathLst>
              <a:path h="1137920">
                <a:moveTo>
                  <a:pt x="0" y="0"/>
                </a:moveTo>
                <a:lnTo>
                  <a:pt x="0" y="1137666"/>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27"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4719913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347725"/>
            <a:ext cx="11317096" cy="1046440"/>
          </a:xfrm>
        </p:spPr>
        <p:txBody>
          <a:bodyPr/>
          <a:lstStyle/>
          <a:p>
            <a:r>
              <a:rPr lang="en-US" dirty="0"/>
              <a:t>Implication of Output Voltage Range in </a:t>
            </a:r>
            <a:r>
              <a:rPr lang="en-US" dirty="0" err="1"/>
              <a:t>SoC</a:t>
            </a:r>
            <a:r>
              <a:rPr lang="en-US" dirty="0"/>
              <a:t> Usage</a:t>
            </a:r>
          </a:p>
        </p:txBody>
      </p:sp>
      <p:sp>
        <p:nvSpPr>
          <p:cNvPr id="5" name="Footer Placeholder 4"/>
          <p:cNvSpPr>
            <a:spLocks noGrp="1"/>
          </p:cNvSpPr>
          <p:nvPr>
            <p:ph type="ftr" sz="quarter" idx="5"/>
          </p:nvPr>
        </p:nvSpPr>
        <p:spPr>
          <a:xfrm>
            <a:off x="6035414" y="6521811"/>
            <a:ext cx="1669289" cy="3462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Date Placeholder 5"/>
          <p:cNvSpPr>
            <a:spLocks noGrp="1"/>
          </p:cNvSpPr>
          <p:nvPr>
            <p:ph type="dt" sz="half" idx="6"/>
          </p:nvPr>
        </p:nvSpPr>
        <p:spPr>
          <a:xfrm>
            <a:off x="85344"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7" name="Slide Number Placeholder 6"/>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9" name="Rectangle 8"/>
          <p:cNvSpPr/>
          <p:nvPr/>
        </p:nvSpPr>
        <p:spPr>
          <a:xfrm>
            <a:off x="1212850" y="1185916"/>
            <a:ext cx="8680450" cy="5824671"/>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800"/>
              </a:spcAft>
              <a:buClrTx/>
              <a:buSzPts val="1000"/>
              <a:buFont typeface="Symbol" panose="05050102010706020507" pitchFamily="18" charset="2"/>
              <a:buChar char=""/>
              <a:tabLst>
                <a:tab pos="457200" algn="l"/>
              </a:tabLst>
              <a:defRPr/>
            </a:pP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Consider an </a:t>
            </a:r>
            <a:r>
              <a:rPr kumimoji="0" lang="en-US" sz="1000" b="0" i="0" u="none" strike="noStrike" kern="1200" cap="none" spc="0" normalizeH="0" baseline="0" noProof="0" dirty="0" err="1">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SoC</a:t>
            </a: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with </a:t>
            </a:r>
            <a:r>
              <a:rPr kumimoji="0" lang="en-US" sz="10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three cores</a:t>
            </a: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requiring:</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914400" rtl="0" eaLnBrk="1" fontAlgn="auto" latinLnBrk="0" hangingPunct="1">
              <a:lnSpc>
                <a:spcPct val="100000"/>
              </a:lnSpc>
              <a:spcBef>
                <a:spcPts val="0"/>
              </a:spcBef>
              <a:spcAft>
                <a:spcPts val="800"/>
              </a:spcAft>
              <a:buClrTx/>
              <a:buSzPts val="1000"/>
              <a:buFont typeface="Courier New" panose="02070309020205020404" pitchFamily="49" charset="0"/>
              <a:buChar char="o"/>
              <a:tabLst>
                <a:tab pos="914400" algn="l"/>
              </a:tabLst>
              <a:defRPr/>
            </a:pPr>
            <a:r>
              <a:rPr kumimoji="0" lang="en-US" sz="10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Core 1:</a:t>
            </a: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0.6 V</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914400" rtl="0" eaLnBrk="1" fontAlgn="auto" latinLnBrk="0" hangingPunct="1">
              <a:lnSpc>
                <a:spcPct val="100000"/>
              </a:lnSpc>
              <a:spcBef>
                <a:spcPts val="0"/>
              </a:spcBef>
              <a:spcAft>
                <a:spcPts val="800"/>
              </a:spcAft>
              <a:buClrTx/>
              <a:buSzPts val="1000"/>
              <a:buFont typeface="Courier New" panose="02070309020205020404" pitchFamily="49" charset="0"/>
              <a:buChar char="o"/>
              <a:tabLst>
                <a:tab pos="914400" algn="l"/>
              </a:tabLst>
              <a:defRPr/>
            </a:pPr>
            <a:r>
              <a:rPr kumimoji="0" lang="en-US" sz="10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Core 2:</a:t>
            </a: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0.5 V</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914400" rtl="0" eaLnBrk="1" fontAlgn="auto" latinLnBrk="0" hangingPunct="1">
              <a:lnSpc>
                <a:spcPct val="100000"/>
              </a:lnSpc>
              <a:spcBef>
                <a:spcPts val="0"/>
              </a:spcBef>
              <a:spcAft>
                <a:spcPts val="800"/>
              </a:spcAft>
              <a:buClrTx/>
              <a:buSzPts val="1000"/>
              <a:buFont typeface="Courier New" panose="02070309020205020404" pitchFamily="49" charset="0"/>
              <a:buChar char="o"/>
              <a:tabLst>
                <a:tab pos="914400" algn="l"/>
              </a:tabLst>
              <a:defRPr/>
            </a:pPr>
            <a:r>
              <a:rPr kumimoji="0" lang="en-US" sz="10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Core 3:</a:t>
            </a: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0.4 V</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800"/>
              </a:spcAft>
              <a:buClrTx/>
              <a:buSzPts val="1000"/>
              <a:buFont typeface="Symbol" panose="05050102010706020507" pitchFamily="18" charset="2"/>
              <a:buChar char=""/>
              <a:tabLst>
                <a:tab pos="457200" algn="l"/>
              </a:tabLst>
              <a:defRPr/>
            </a:pP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The </a:t>
            </a:r>
            <a:r>
              <a:rPr kumimoji="0" lang="en-US" sz="10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input supply</a:t>
            </a: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is set to the highest requirement, e.g. </a:t>
            </a:r>
            <a:r>
              <a:rPr kumimoji="0" lang="en-US" sz="10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0.6 V</a:t>
            </a: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Analog LDO Case</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800"/>
              </a:spcAft>
              <a:buClrTx/>
              <a:buSzPts val="1000"/>
              <a:buFont typeface="Symbol" panose="05050102010706020507" pitchFamily="18" charset="2"/>
              <a:buChar char=""/>
              <a:tabLst>
                <a:tab pos="457200" algn="l"/>
              </a:tabLst>
              <a:defRPr/>
            </a:pPr>
            <a:r>
              <a:rPr kumimoji="0" lang="en-US" sz="10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Core 1 (0.6 V):</a:t>
            </a: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Supplied </a:t>
            </a:r>
            <a:r>
              <a:rPr kumimoji="0" lang="en-US" sz="10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directly</a:t>
            </a: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from the input (no LDO needed).</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800"/>
              </a:spcAft>
              <a:buClrTx/>
              <a:buSzPts val="1000"/>
              <a:buFont typeface="Symbol" panose="05050102010706020507" pitchFamily="18" charset="2"/>
              <a:buChar char=""/>
              <a:tabLst>
                <a:tab pos="457200" algn="l"/>
              </a:tabLst>
              <a:defRPr/>
            </a:pPr>
            <a:r>
              <a:rPr kumimoji="0" lang="en-US" sz="10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Core 2 (0.5 V):</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914400" rtl="0" eaLnBrk="1" fontAlgn="auto" latinLnBrk="0" hangingPunct="1">
              <a:lnSpc>
                <a:spcPct val="100000"/>
              </a:lnSpc>
              <a:spcBef>
                <a:spcPts val="0"/>
              </a:spcBef>
              <a:spcAft>
                <a:spcPts val="800"/>
              </a:spcAft>
              <a:buClrTx/>
              <a:buSzPts val="1000"/>
              <a:buFont typeface="Courier New" panose="02070309020205020404" pitchFamily="49" charset="0"/>
              <a:buChar char="o"/>
              <a:tabLst>
                <a:tab pos="914400" algn="l"/>
              </a:tabLst>
              <a:defRPr/>
            </a:pP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Needs 100 mV lower than input.</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914400" rtl="0" eaLnBrk="1" fontAlgn="auto" latinLnBrk="0" hangingPunct="1">
              <a:lnSpc>
                <a:spcPct val="100000"/>
              </a:lnSpc>
              <a:spcBef>
                <a:spcPts val="0"/>
              </a:spcBef>
              <a:spcAft>
                <a:spcPts val="800"/>
              </a:spcAft>
              <a:buClrTx/>
              <a:buSzPts val="1000"/>
              <a:buFont typeface="Courier New" panose="02070309020205020404" pitchFamily="49" charset="0"/>
              <a:buChar char="o"/>
              <a:tabLst>
                <a:tab pos="914400" algn="l"/>
              </a:tabLst>
              <a:defRPr/>
            </a:pP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Analog LDO typically requires ~200 mV drop across the power FET (saturation).</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914400" rtl="0" eaLnBrk="1" fontAlgn="auto" latinLnBrk="0" hangingPunct="1">
              <a:lnSpc>
                <a:spcPct val="100000"/>
              </a:lnSpc>
              <a:spcBef>
                <a:spcPts val="0"/>
              </a:spcBef>
              <a:spcAft>
                <a:spcPts val="800"/>
              </a:spcAft>
              <a:buClrTx/>
              <a:buSzPts val="1000"/>
              <a:buFont typeface="Courier New" panose="02070309020205020404" pitchFamily="49" charset="0"/>
              <a:buChar char="o"/>
              <a:tabLst>
                <a:tab pos="914400" algn="l"/>
              </a:tabLst>
              <a:defRPr/>
            </a:pP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Therefore, it </a:t>
            </a:r>
            <a:r>
              <a:rPr kumimoji="0" lang="en-US" sz="10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cannot regulate down to 0.5 V</a:t>
            </a: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 must use 0.6 V directly.</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914400" rtl="0" eaLnBrk="1" fontAlgn="auto" latinLnBrk="0" hangingPunct="1">
              <a:lnSpc>
                <a:spcPct val="100000"/>
              </a:lnSpc>
              <a:spcBef>
                <a:spcPts val="0"/>
              </a:spcBef>
              <a:spcAft>
                <a:spcPts val="800"/>
              </a:spcAft>
              <a:buClrTx/>
              <a:buSzPts val="1000"/>
              <a:buFont typeface="Courier New" panose="02070309020205020404" pitchFamily="49" charset="0"/>
              <a:buChar char="o"/>
              <a:tabLst>
                <a:tab pos="914400" algn="l"/>
              </a:tabLst>
              <a:defRPr/>
            </a:pP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This results in </a:t>
            </a:r>
            <a:r>
              <a:rPr kumimoji="0" lang="en-US" sz="10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power waste</a:t>
            </a: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for this core.</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800"/>
              </a:spcAft>
              <a:buClrTx/>
              <a:buSzPts val="1000"/>
              <a:buFont typeface="Symbol" panose="05050102010706020507" pitchFamily="18" charset="2"/>
              <a:buChar char=""/>
              <a:tabLst>
                <a:tab pos="457200" algn="l"/>
              </a:tabLst>
              <a:defRPr/>
            </a:pPr>
            <a:r>
              <a:rPr kumimoji="0" lang="en-US" sz="10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Core 3 (0.4 V):</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914400" rtl="0" eaLnBrk="1" fontAlgn="auto" latinLnBrk="0" hangingPunct="1">
              <a:lnSpc>
                <a:spcPct val="100000"/>
              </a:lnSpc>
              <a:spcBef>
                <a:spcPts val="0"/>
              </a:spcBef>
              <a:spcAft>
                <a:spcPts val="800"/>
              </a:spcAft>
              <a:buClrTx/>
              <a:buSzPts val="1000"/>
              <a:buFont typeface="Courier New" panose="02070309020205020404" pitchFamily="49" charset="0"/>
              <a:buChar char="o"/>
              <a:tabLst>
                <a:tab pos="914400" algn="l"/>
              </a:tabLst>
              <a:defRPr/>
            </a:pP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Within the analog LDO regulation range.</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914400" rtl="0" eaLnBrk="1" fontAlgn="auto" latinLnBrk="0" hangingPunct="1">
              <a:lnSpc>
                <a:spcPct val="100000"/>
              </a:lnSpc>
              <a:spcBef>
                <a:spcPts val="0"/>
              </a:spcBef>
              <a:spcAft>
                <a:spcPts val="800"/>
              </a:spcAft>
              <a:buClrTx/>
              <a:buSzPts val="1000"/>
              <a:buFont typeface="Courier New" panose="02070309020205020404" pitchFamily="49" charset="0"/>
              <a:buChar char="o"/>
              <a:tabLst>
                <a:tab pos="914400" algn="l"/>
              </a:tabLst>
              <a:defRPr/>
            </a:pP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Can be supplied by an analog LDO.</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Digital LDO Case</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800"/>
              </a:spcAft>
              <a:buClrTx/>
              <a:buSzPts val="1000"/>
              <a:buFont typeface="Symbol" panose="05050102010706020507" pitchFamily="18" charset="2"/>
              <a:buChar char=""/>
              <a:tabLst>
                <a:tab pos="457200" algn="l"/>
              </a:tabLst>
              <a:defRPr/>
            </a:pPr>
            <a:r>
              <a:rPr kumimoji="0" lang="en-US" sz="10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Core 1 (0.6 V):</a:t>
            </a: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Direct supply.</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800"/>
              </a:spcAft>
              <a:buClrTx/>
              <a:buSzPts val="1000"/>
              <a:buFont typeface="Symbol" panose="05050102010706020507" pitchFamily="18" charset="2"/>
              <a:buChar char=""/>
              <a:tabLst>
                <a:tab pos="457200" algn="l"/>
              </a:tabLst>
              <a:defRPr/>
            </a:pPr>
            <a:r>
              <a:rPr kumimoji="0" lang="en-US" sz="10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Core 2 (0.5 V):</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914400" rtl="0" eaLnBrk="1" fontAlgn="auto" latinLnBrk="0" hangingPunct="1">
              <a:lnSpc>
                <a:spcPct val="100000"/>
              </a:lnSpc>
              <a:spcBef>
                <a:spcPts val="0"/>
              </a:spcBef>
              <a:spcAft>
                <a:spcPts val="800"/>
              </a:spcAft>
              <a:buClrTx/>
              <a:buSzPts val="1000"/>
              <a:buFont typeface="Courier New" panose="02070309020205020404" pitchFamily="49" charset="0"/>
              <a:buChar char="o"/>
              <a:tabLst>
                <a:tab pos="914400" algn="l"/>
              </a:tabLst>
              <a:defRPr/>
            </a:pP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Digital LDO has a much smaller required source-to-drain drop (~50 mV).</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914400" rtl="0" eaLnBrk="1" fontAlgn="auto" latinLnBrk="0" hangingPunct="1">
              <a:lnSpc>
                <a:spcPct val="100000"/>
              </a:lnSpc>
              <a:spcBef>
                <a:spcPts val="0"/>
              </a:spcBef>
              <a:spcAft>
                <a:spcPts val="800"/>
              </a:spcAft>
              <a:buClrTx/>
              <a:buSzPts val="1000"/>
              <a:buFont typeface="Courier New" panose="02070309020205020404" pitchFamily="49" charset="0"/>
              <a:buChar char="o"/>
              <a:tabLst>
                <a:tab pos="914400" algn="l"/>
              </a:tabLst>
              <a:defRPr/>
            </a:pP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Therefore, it </a:t>
            </a:r>
            <a:r>
              <a:rPr kumimoji="0" lang="en-US" sz="10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can regulate from 0.6 V down to 0.5 V</a:t>
            </a: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914400" rtl="0" eaLnBrk="1" fontAlgn="auto" latinLnBrk="0" hangingPunct="1">
              <a:lnSpc>
                <a:spcPct val="100000"/>
              </a:lnSpc>
              <a:spcBef>
                <a:spcPts val="0"/>
              </a:spcBef>
              <a:spcAft>
                <a:spcPts val="800"/>
              </a:spcAft>
              <a:buClrTx/>
              <a:buSzPts val="1000"/>
              <a:buFont typeface="Courier New" panose="02070309020205020404" pitchFamily="49" charset="0"/>
              <a:buChar char="o"/>
              <a:tabLst>
                <a:tab pos="914400" algn="l"/>
              </a:tabLst>
              <a:defRPr/>
            </a:pP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Provides a </a:t>
            </a:r>
            <a:r>
              <a:rPr kumimoji="0" lang="en-US" sz="10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better supply voltage match</a:t>
            </a: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compared to analog LDO.</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800"/>
              </a:spcAft>
              <a:buClrTx/>
              <a:buSzPts val="1000"/>
              <a:buFont typeface="Symbol" panose="05050102010706020507" pitchFamily="18" charset="2"/>
              <a:buChar char=""/>
              <a:tabLst>
                <a:tab pos="457200" algn="l"/>
              </a:tabLst>
              <a:defRPr/>
            </a:pPr>
            <a:r>
              <a:rPr kumimoji="0" lang="en-US" sz="10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Core 3 (0.4 V):</a:t>
            </a: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Also supported by digital LDO.</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528074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7148" y="270952"/>
            <a:ext cx="7222634" cy="531526"/>
          </a:xfrm>
          <a:prstGeom prst="rect">
            <a:avLst/>
          </a:prstGeom>
        </p:spPr>
        <p:txBody>
          <a:bodyPr vert="horz" wrap="square" lIns="0" tIns="8226" rIns="0" bIns="0" rtlCol="0">
            <a:spAutoFit/>
          </a:bodyPr>
          <a:lstStyle/>
          <a:p>
            <a:pPr marL="8659">
              <a:spcBef>
                <a:spcPts val="65"/>
              </a:spcBef>
            </a:pPr>
            <a:r>
              <a:rPr dirty="0"/>
              <a:t>Key</a:t>
            </a:r>
            <a:r>
              <a:rPr spc="-48" dirty="0"/>
              <a:t> </a:t>
            </a:r>
            <a:r>
              <a:rPr spc="-7" dirty="0"/>
              <a:t>Specifications</a:t>
            </a:r>
          </a:p>
        </p:txBody>
      </p:sp>
      <p:sp>
        <p:nvSpPr>
          <p:cNvPr id="3" name="object 3"/>
          <p:cNvSpPr txBox="1"/>
          <p:nvPr/>
        </p:nvSpPr>
        <p:spPr>
          <a:xfrm>
            <a:off x="789368" y="1286243"/>
            <a:ext cx="5798127" cy="3417457"/>
          </a:xfrm>
          <a:prstGeom prst="rect">
            <a:avLst/>
          </a:prstGeom>
        </p:spPr>
        <p:txBody>
          <a:bodyPr vert="horz" wrap="square" lIns="0" tIns="45893" rIns="0" bIns="0" rtlCol="0">
            <a:spAutoFit/>
          </a:bodyPr>
          <a:lstStyle/>
          <a:p>
            <a:pPr marL="346354" marR="0" lvl="0" indent="-320378" algn="l" defTabSz="914400" rtl="0" eaLnBrk="1" fontAlgn="auto" latinLnBrk="0" hangingPunct="1">
              <a:lnSpc>
                <a:spcPct val="100000"/>
              </a:lnSpc>
              <a:spcBef>
                <a:spcPts val="361"/>
              </a:spcBef>
              <a:spcAft>
                <a:spcPts val="0"/>
              </a:spcAft>
              <a:buClr>
                <a:srgbClr val="CC0000"/>
              </a:buClr>
              <a:buSzTx/>
              <a:buFont typeface="Wingdings"/>
              <a:buChar char=""/>
              <a:tabLst>
                <a:tab pos="346354"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Silicon</a:t>
            </a:r>
            <a:r>
              <a:rPr kumimoji="0" sz="1227" b="0" i="0" u="none" strike="noStrike" kern="1200" cap="none" spc="-41" normalizeH="0" baseline="0" noProof="0" dirty="0">
                <a:ln>
                  <a:noFill/>
                </a:ln>
                <a:solidFill>
                  <a:prstClr val="black"/>
                </a:solidFill>
                <a:effectLst/>
                <a:uLnTx/>
                <a:uFillTx/>
                <a:latin typeface="Verdana"/>
                <a:ea typeface="+mn-ea"/>
                <a:cs typeface="Verdana"/>
              </a:rPr>
              <a:t> </a:t>
            </a:r>
            <a:r>
              <a:rPr kumimoji="0" sz="1227" b="0" i="0" u="none" strike="noStrike" kern="1200" cap="none" spc="-14" normalizeH="0" baseline="0" noProof="0" dirty="0">
                <a:ln>
                  <a:noFill/>
                </a:ln>
                <a:solidFill>
                  <a:prstClr val="black"/>
                </a:solidFill>
                <a:effectLst/>
                <a:uLnTx/>
                <a:uFillTx/>
                <a:latin typeface="Verdana"/>
                <a:ea typeface="+mn-ea"/>
                <a:cs typeface="Verdana"/>
              </a:rPr>
              <a:t>area</a:t>
            </a:r>
            <a:endParaRPr kumimoji="0" sz="1227" b="0" i="0" u="none" strike="noStrike" kern="1200" cap="none" spc="0" normalizeH="0" baseline="0" noProof="0" dirty="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293"/>
              </a:spcBef>
              <a:spcAft>
                <a:spcPts val="0"/>
              </a:spcAft>
              <a:buClr>
                <a:srgbClr val="CC0000"/>
              </a:buClr>
              <a:buSzTx/>
              <a:buFont typeface="Wingdings"/>
              <a:buChar char=""/>
              <a:tabLst>
                <a:tab pos="346354"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Input,</a:t>
            </a:r>
            <a:r>
              <a:rPr kumimoji="0" sz="1227" b="0" i="0" u="none" strike="noStrike" kern="1200" cap="none" spc="-20"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reference,</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and</a:t>
            </a:r>
            <a:r>
              <a:rPr kumimoji="0" sz="1227" b="0" i="0" u="none" strike="noStrike" kern="1200" cap="none" spc="-2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output</a:t>
            </a:r>
            <a:r>
              <a:rPr kumimoji="0" sz="1227" b="0" i="0" u="none" strike="noStrike" kern="1200" cap="none" spc="-20"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voltage</a:t>
            </a:r>
            <a:r>
              <a:rPr kumimoji="0" sz="1227" b="0" i="0" u="none" strike="noStrike" kern="1200" cap="none" spc="-20"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(V</a:t>
            </a:r>
            <a:r>
              <a:rPr kumimoji="0" sz="1227" b="0" i="0" u="none" strike="noStrike" kern="1200" cap="none" spc="0" normalizeH="0" baseline="-20833" noProof="0" dirty="0">
                <a:ln>
                  <a:noFill/>
                </a:ln>
                <a:solidFill>
                  <a:prstClr val="black"/>
                </a:solidFill>
                <a:effectLst/>
                <a:uLnTx/>
                <a:uFillTx/>
                <a:latin typeface="Verdana"/>
                <a:ea typeface="+mn-ea"/>
                <a:cs typeface="Verdana"/>
              </a:rPr>
              <a:t>in</a:t>
            </a:r>
            <a:r>
              <a:rPr kumimoji="0" sz="1227" b="0" i="0" u="none" strike="noStrike" kern="1200" cap="none" spc="0" normalizeH="0" baseline="0" noProof="0" dirty="0">
                <a:ln>
                  <a:noFill/>
                </a:ln>
                <a:solidFill>
                  <a:prstClr val="black"/>
                </a:solidFill>
                <a:effectLst/>
                <a:uLnTx/>
                <a:uFillTx/>
                <a:latin typeface="Verdana"/>
                <a:ea typeface="+mn-ea"/>
                <a:cs typeface="Verdana"/>
              </a:rPr>
              <a:t>,</a:t>
            </a:r>
            <a:r>
              <a:rPr kumimoji="0" sz="1227" b="0" i="0" u="none" strike="noStrike" kern="1200" cap="none" spc="-31"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V</a:t>
            </a:r>
            <a:r>
              <a:rPr kumimoji="0" sz="1227" b="0" i="0" u="none" strike="noStrike" kern="1200" cap="none" spc="0" normalizeH="0" baseline="-20833" noProof="0" dirty="0">
                <a:ln>
                  <a:noFill/>
                </a:ln>
                <a:solidFill>
                  <a:prstClr val="black"/>
                </a:solidFill>
                <a:effectLst/>
                <a:uLnTx/>
                <a:uFillTx/>
                <a:latin typeface="Verdana"/>
                <a:ea typeface="+mn-ea"/>
                <a:cs typeface="Verdana"/>
              </a:rPr>
              <a:t>ref</a:t>
            </a:r>
            <a:r>
              <a:rPr kumimoji="0" sz="1227" b="0" i="0" u="none" strike="noStrike" kern="1200" cap="none" spc="0" normalizeH="0" baseline="0" noProof="0" dirty="0">
                <a:ln>
                  <a:noFill/>
                </a:ln>
                <a:solidFill>
                  <a:prstClr val="black"/>
                </a:solidFill>
                <a:effectLst/>
                <a:uLnTx/>
                <a:uFillTx/>
                <a:latin typeface="Verdana"/>
                <a:ea typeface="+mn-ea"/>
                <a:cs typeface="Verdana"/>
              </a:rPr>
              <a:t>,</a:t>
            </a:r>
            <a:r>
              <a:rPr kumimoji="0" sz="1227" b="0" i="0" u="none" strike="noStrike" kern="1200" cap="none" spc="-27"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V</a:t>
            </a:r>
            <a:r>
              <a:rPr kumimoji="0" sz="1227" b="0" i="0" u="none" strike="noStrike" kern="1200" cap="none" spc="-10" normalizeH="0" baseline="-20833" noProof="0" dirty="0">
                <a:ln>
                  <a:noFill/>
                </a:ln>
                <a:solidFill>
                  <a:prstClr val="black"/>
                </a:solidFill>
                <a:effectLst/>
                <a:uLnTx/>
                <a:uFillTx/>
                <a:latin typeface="Verdana"/>
                <a:ea typeface="+mn-ea"/>
                <a:cs typeface="Verdana"/>
              </a:rPr>
              <a:t>out</a:t>
            </a:r>
            <a:r>
              <a:rPr kumimoji="0" sz="1227" b="0" i="0" u="none" strike="noStrike" kern="1200" cap="none" spc="-7" normalizeH="0" baseline="0" noProof="0" dirty="0">
                <a:ln>
                  <a:noFill/>
                </a:ln>
                <a:solidFill>
                  <a:prstClr val="black"/>
                </a:solidFill>
                <a:effectLst/>
                <a:uLnTx/>
                <a:uFillTx/>
                <a:latin typeface="Verdana"/>
                <a:ea typeface="+mn-ea"/>
                <a:cs typeface="Verdana"/>
              </a:rPr>
              <a:t>)</a:t>
            </a:r>
            <a:endParaRPr kumimoji="0" sz="1227" b="0" i="0" u="none" strike="noStrike" kern="1200" cap="none" spc="0" normalizeH="0" baseline="0" noProof="0" dirty="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296"/>
              </a:spcBef>
              <a:spcAft>
                <a:spcPts val="0"/>
              </a:spcAft>
              <a:buClr>
                <a:srgbClr val="CC0000"/>
              </a:buClr>
              <a:buSzTx/>
              <a:buFont typeface="Wingdings"/>
              <a:buChar char=""/>
              <a:tabLst>
                <a:tab pos="346354"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Edge</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time</a:t>
            </a:r>
            <a:r>
              <a:rPr kumimoji="0" sz="1227" b="0" i="0" u="none" strike="noStrike" kern="1200" cap="none" spc="-17"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(t</a:t>
            </a:r>
            <a:r>
              <a:rPr kumimoji="0" sz="1227" b="0" i="0" u="none" strike="noStrike" kern="1200" cap="none" spc="-10" normalizeH="0" baseline="-20833" noProof="0" dirty="0">
                <a:ln>
                  <a:noFill/>
                </a:ln>
                <a:solidFill>
                  <a:prstClr val="black"/>
                </a:solidFill>
                <a:effectLst/>
                <a:uLnTx/>
                <a:uFillTx/>
                <a:latin typeface="Verdana"/>
                <a:ea typeface="+mn-ea"/>
                <a:cs typeface="Verdana"/>
              </a:rPr>
              <a:t>edge</a:t>
            </a:r>
            <a:r>
              <a:rPr kumimoji="0" sz="1227" b="0" i="0" u="none" strike="noStrike" kern="1200" cap="none" spc="-7" normalizeH="0" baseline="0" noProof="0" dirty="0">
                <a:ln>
                  <a:noFill/>
                </a:ln>
                <a:solidFill>
                  <a:prstClr val="black"/>
                </a:solidFill>
                <a:effectLst/>
                <a:uLnTx/>
                <a:uFillTx/>
                <a:latin typeface="Verdana"/>
                <a:ea typeface="+mn-ea"/>
                <a:cs typeface="Verdana"/>
              </a:rPr>
              <a:t>)</a:t>
            </a:r>
            <a:endParaRPr kumimoji="0" sz="1227" b="0" i="0" u="none" strike="noStrike" kern="1200" cap="none" spc="0" normalizeH="0" baseline="0" noProof="0" dirty="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293"/>
              </a:spcBef>
              <a:spcAft>
                <a:spcPts val="0"/>
              </a:spcAft>
              <a:buClr>
                <a:srgbClr val="CC0000"/>
              </a:buClr>
              <a:buSzTx/>
              <a:buFont typeface="Wingdings"/>
              <a:buChar char=""/>
              <a:tabLst>
                <a:tab pos="346354"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Voltage</a:t>
            </a:r>
            <a:r>
              <a:rPr kumimoji="0" sz="1227" b="0" i="0" u="none" strike="noStrike" kern="1200" cap="none" spc="-20"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droop</a:t>
            </a:r>
            <a:r>
              <a:rPr kumimoji="0" sz="1227" b="0" i="0" u="none" strike="noStrike" kern="1200" cap="none" spc="-3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and</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overshoot</a:t>
            </a:r>
            <a:r>
              <a:rPr kumimoji="0" sz="1227" b="0" i="0" u="none" strike="noStrike" kern="1200" cap="none" spc="-3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(V</a:t>
            </a:r>
            <a:r>
              <a:rPr kumimoji="0" sz="1227" b="0" i="0" u="none" strike="noStrike" kern="1200" cap="none" spc="0" normalizeH="0" baseline="-20833" noProof="0" dirty="0">
                <a:ln>
                  <a:noFill/>
                </a:ln>
                <a:solidFill>
                  <a:prstClr val="black"/>
                </a:solidFill>
                <a:effectLst/>
                <a:uLnTx/>
                <a:uFillTx/>
                <a:latin typeface="Verdana"/>
                <a:ea typeface="+mn-ea"/>
                <a:cs typeface="Verdana"/>
              </a:rPr>
              <a:t>droop</a:t>
            </a:r>
            <a:r>
              <a:rPr kumimoji="0" sz="1227" b="0" i="0" u="none" strike="noStrike" kern="1200" cap="none" spc="0" normalizeH="0" baseline="0" noProof="0" dirty="0">
                <a:ln>
                  <a:noFill/>
                </a:ln>
                <a:solidFill>
                  <a:prstClr val="black"/>
                </a:solidFill>
                <a:effectLst/>
                <a:uLnTx/>
                <a:uFillTx/>
                <a:latin typeface="Verdana"/>
                <a:ea typeface="+mn-ea"/>
                <a:cs typeface="Verdana"/>
              </a:rPr>
              <a:t>,</a:t>
            </a:r>
            <a:r>
              <a:rPr kumimoji="0" sz="1227" b="0" i="0" u="none" strike="noStrike" kern="1200" cap="none" spc="-31"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V</a:t>
            </a:r>
            <a:r>
              <a:rPr kumimoji="0" sz="1227" b="0" i="0" u="none" strike="noStrike" kern="1200" cap="none" spc="-10" normalizeH="0" baseline="-20833" noProof="0" dirty="0">
                <a:ln>
                  <a:noFill/>
                </a:ln>
                <a:solidFill>
                  <a:prstClr val="black"/>
                </a:solidFill>
                <a:effectLst/>
                <a:uLnTx/>
                <a:uFillTx/>
                <a:latin typeface="Verdana"/>
                <a:ea typeface="+mn-ea"/>
                <a:cs typeface="Verdana"/>
              </a:rPr>
              <a:t>overshoot</a:t>
            </a:r>
            <a:r>
              <a:rPr kumimoji="0" sz="1227" b="0" i="0" u="none" strike="noStrike" kern="1200" cap="none" spc="-7" normalizeH="0" baseline="0" noProof="0" dirty="0">
                <a:ln>
                  <a:noFill/>
                </a:ln>
                <a:solidFill>
                  <a:prstClr val="black"/>
                </a:solidFill>
                <a:effectLst/>
                <a:uLnTx/>
                <a:uFillTx/>
                <a:latin typeface="Verdana"/>
                <a:ea typeface="+mn-ea"/>
                <a:cs typeface="Verdana"/>
              </a:rPr>
              <a:t>)</a:t>
            </a:r>
            <a:endParaRPr kumimoji="0" sz="1227" b="0" i="0" u="none" strike="noStrike" kern="1200" cap="none" spc="0" normalizeH="0" baseline="0" noProof="0" dirty="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296"/>
              </a:spcBef>
              <a:spcAft>
                <a:spcPts val="0"/>
              </a:spcAft>
              <a:buClr>
                <a:srgbClr val="CC0000"/>
              </a:buClr>
              <a:buSzTx/>
              <a:buFont typeface="Wingdings"/>
              <a:buChar char=""/>
              <a:tabLst>
                <a:tab pos="346354"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Response</a:t>
            </a:r>
            <a:r>
              <a:rPr kumimoji="0" sz="1227" b="0" i="0" u="none" strike="noStrike" kern="1200" cap="none" spc="-4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and</a:t>
            </a:r>
            <a:r>
              <a:rPr kumimoji="0" sz="1227" b="0" i="0" u="none" strike="noStrike" kern="1200" cap="none" spc="-4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settling</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time</a:t>
            </a:r>
            <a:r>
              <a:rPr kumimoji="0" sz="1227" b="0" i="0" u="none" strike="noStrike" kern="1200" cap="none" spc="-31"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(t</a:t>
            </a:r>
            <a:r>
              <a:rPr kumimoji="0" sz="1227" b="0" i="0" u="none" strike="noStrike" kern="1200" cap="none" spc="0" normalizeH="0" baseline="-20833" noProof="0" dirty="0">
                <a:ln>
                  <a:noFill/>
                </a:ln>
                <a:solidFill>
                  <a:prstClr val="black"/>
                </a:solidFill>
                <a:effectLst/>
                <a:uLnTx/>
                <a:uFillTx/>
                <a:latin typeface="Verdana"/>
                <a:ea typeface="+mn-ea"/>
                <a:cs typeface="Verdana"/>
              </a:rPr>
              <a:t>response,</a:t>
            </a:r>
            <a:r>
              <a:rPr kumimoji="0" sz="1227" b="0" i="0" u="none" strike="noStrike" kern="1200" cap="none" spc="-35" normalizeH="0" baseline="-20833"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t</a:t>
            </a:r>
            <a:r>
              <a:rPr kumimoji="0" sz="1227" b="0" i="0" u="none" strike="noStrike" kern="1200" cap="none" spc="-10" normalizeH="0" baseline="-20833" noProof="0" dirty="0">
                <a:ln>
                  <a:noFill/>
                </a:ln>
                <a:solidFill>
                  <a:prstClr val="black"/>
                </a:solidFill>
                <a:effectLst/>
                <a:uLnTx/>
                <a:uFillTx/>
                <a:latin typeface="Verdana"/>
                <a:ea typeface="+mn-ea"/>
                <a:cs typeface="Verdana"/>
              </a:rPr>
              <a:t>settle</a:t>
            </a:r>
            <a:r>
              <a:rPr kumimoji="0" sz="1227" b="0" i="0" u="none" strike="noStrike" kern="1200" cap="none" spc="-7" normalizeH="0" baseline="0" noProof="0" dirty="0">
                <a:ln>
                  <a:noFill/>
                </a:ln>
                <a:solidFill>
                  <a:prstClr val="black"/>
                </a:solidFill>
                <a:effectLst/>
                <a:uLnTx/>
                <a:uFillTx/>
                <a:latin typeface="Verdana"/>
                <a:ea typeface="+mn-ea"/>
                <a:cs typeface="Verdana"/>
              </a:rPr>
              <a:t>)</a:t>
            </a:r>
            <a:endParaRPr kumimoji="0" sz="1227" b="0" i="0" u="none" strike="noStrike" kern="1200" cap="none" spc="0" normalizeH="0" baseline="0" noProof="0" dirty="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293"/>
              </a:spcBef>
              <a:spcAft>
                <a:spcPts val="0"/>
              </a:spcAft>
              <a:buClr>
                <a:srgbClr val="CC0000"/>
              </a:buClr>
              <a:buSzTx/>
              <a:buFont typeface="Wingdings"/>
              <a:buChar char=""/>
              <a:tabLst>
                <a:tab pos="346354"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Load,</a:t>
            </a:r>
            <a:r>
              <a:rPr kumimoji="0" sz="1227" b="0" i="0" u="none" strike="noStrike" kern="1200" cap="none" spc="-31"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quiescent,</a:t>
            </a:r>
            <a:r>
              <a:rPr kumimoji="0" sz="1227" b="0" i="0" u="none" strike="noStrike" kern="1200" cap="none" spc="-20"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power-</a:t>
            </a:r>
            <a:r>
              <a:rPr kumimoji="0" sz="1227" b="0" i="0" u="none" strike="noStrike" kern="1200" cap="none" spc="0" normalizeH="0" baseline="0" noProof="0" dirty="0">
                <a:ln>
                  <a:noFill/>
                </a:ln>
                <a:solidFill>
                  <a:prstClr val="black"/>
                </a:solidFill>
                <a:effectLst/>
                <a:uLnTx/>
                <a:uFillTx/>
                <a:latin typeface="Verdana"/>
                <a:ea typeface="+mn-ea"/>
                <a:cs typeface="Verdana"/>
              </a:rPr>
              <a:t>FET,</a:t>
            </a:r>
            <a:r>
              <a:rPr kumimoji="0" sz="1227" b="0" i="0" u="none" strike="noStrike" kern="1200" cap="none" spc="-2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and</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capacitor</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current</a:t>
            </a:r>
            <a:r>
              <a:rPr kumimoji="0" sz="1227" b="0" i="0" u="none" strike="noStrike" kern="1200" cap="none" spc="-3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(I</a:t>
            </a:r>
            <a:r>
              <a:rPr kumimoji="0" sz="1227" b="0" i="0" u="none" strike="noStrike" kern="1200" cap="none" spc="0" normalizeH="0" baseline="-20833" noProof="0" dirty="0">
                <a:ln>
                  <a:noFill/>
                </a:ln>
                <a:solidFill>
                  <a:prstClr val="black"/>
                </a:solidFill>
                <a:effectLst/>
                <a:uLnTx/>
                <a:uFillTx/>
                <a:latin typeface="Verdana"/>
                <a:ea typeface="+mn-ea"/>
                <a:cs typeface="Verdana"/>
              </a:rPr>
              <a:t>load</a:t>
            </a:r>
            <a:r>
              <a:rPr kumimoji="0" sz="1227" b="0" i="0" u="none" strike="noStrike" kern="1200" cap="none" spc="0" normalizeH="0" baseline="0" noProof="0" dirty="0">
                <a:ln>
                  <a:noFill/>
                </a:ln>
                <a:solidFill>
                  <a:prstClr val="black"/>
                </a:solidFill>
                <a:effectLst/>
                <a:uLnTx/>
                <a:uFillTx/>
                <a:latin typeface="Verdana"/>
                <a:ea typeface="+mn-ea"/>
                <a:cs typeface="Verdana"/>
              </a:rPr>
              <a:t>,</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I</a:t>
            </a:r>
            <a:r>
              <a:rPr kumimoji="0" sz="1227" b="0" i="0" u="none" strike="noStrike" kern="1200" cap="none" spc="0" normalizeH="0" baseline="-20833" noProof="0" dirty="0">
                <a:ln>
                  <a:noFill/>
                </a:ln>
                <a:solidFill>
                  <a:prstClr val="black"/>
                </a:solidFill>
                <a:effectLst/>
                <a:uLnTx/>
                <a:uFillTx/>
                <a:latin typeface="Verdana"/>
                <a:ea typeface="+mn-ea"/>
                <a:cs typeface="Verdana"/>
              </a:rPr>
              <a:t>q</a:t>
            </a:r>
            <a:r>
              <a:rPr kumimoji="0" sz="1227" b="0" i="0" u="none" strike="noStrike" kern="1200" cap="none" spc="0" normalizeH="0" baseline="0" noProof="0" dirty="0">
                <a:ln>
                  <a:noFill/>
                </a:ln>
                <a:solidFill>
                  <a:prstClr val="black"/>
                </a:solidFill>
                <a:effectLst/>
                <a:uLnTx/>
                <a:uFillTx/>
                <a:latin typeface="Verdana"/>
                <a:ea typeface="+mn-ea"/>
                <a:cs typeface="Verdana"/>
              </a:rPr>
              <a:t>,</a:t>
            </a:r>
            <a:r>
              <a:rPr kumimoji="0" sz="1227" b="0" i="0" u="none" strike="noStrike" kern="1200" cap="none" spc="-20"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I</a:t>
            </a:r>
            <a:r>
              <a:rPr kumimoji="0" sz="1227" b="0" i="0" u="none" strike="noStrike" kern="1200" cap="none" spc="0" normalizeH="0" baseline="-20833" noProof="0" dirty="0">
                <a:ln>
                  <a:noFill/>
                </a:ln>
                <a:solidFill>
                  <a:prstClr val="black"/>
                </a:solidFill>
                <a:effectLst/>
                <a:uLnTx/>
                <a:uFillTx/>
                <a:latin typeface="Verdana"/>
                <a:ea typeface="+mn-ea"/>
                <a:cs typeface="Verdana"/>
              </a:rPr>
              <a:t>pwr</a:t>
            </a:r>
            <a:r>
              <a:rPr kumimoji="0" sz="1227" b="0" i="0" u="none" strike="noStrike" kern="1200" cap="none" spc="0" normalizeH="0" baseline="0" noProof="0" dirty="0">
                <a:ln>
                  <a:noFill/>
                </a:ln>
                <a:solidFill>
                  <a:prstClr val="black"/>
                </a:solidFill>
                <a:effectLst/>
                <a:uLnTx/>
                <a:uFillTx/>
                <a:latin typeface="Verdana"/>
                <a:ea typeface="+mn-ea"/>
                <a:cs typeface="Verdana"/>
              </a:rPr>
              <a:t>,</a:t>
            </a:r>
            <a:r>
              <a:rPr kumimoji="0" sz="1227" b="0" i="0" u="none" strike="noStrike" kern="1200" cap="none" spc="-17"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I</a:t>
            </a:r>
            <a:r>
              <a:rPr kumimoji="0" sz="1227" b="0" i="0" u="none" strike="noStrike" kern="1200" cap="none" spc="-10" normalizeH="0" baseline="-20833" noProof="0" dirty="0">
                <a:ln>
                  <a:noFill/>
                </a:ln>
                <a:solidFill>
                  <a:prstClr val="black"/>
                </a:solidFill>
                <a:effectLst/>
                <a:uLnTx/>
                <a:uFillTx/>
                <a:latin typeface="Verdana"/>
                <a:ea typeface="+mn-ea"/>
                <a:cs typeface="Verdana"/>
              </a:rPr>
              <a:t>cap</a:t>
            </a:r>
            <a:r>
              <a:rPr kumimoji="0" sz="1227" b="0" i="0" u="none" strike="noStrike" kern="1200" cap="none" spc="-7" normalizeH="0" baseline="0" noProof="0" dirty="0">
                <a:ln>
                  <a:noFill/>
                </a:ln>
                <a:solidFill>
                  <a:prstClr val="black"/>
                </a:solidFill>
                <a:effectLst/>
                <a:uLnTx/>
                <a:uFillTx/>
                <a:latin typeface="Verdana"/>
                <a:ea typeface="+mn-ea"/>
                <a:cs typeface="Verdana"/>
              </a:rPr>
              <a:t>)</a:t>
            </a:r>
            <a:endParaRPr kumimoji="0" sz="1227" b="0" i="0" u="none" strike="noStrike" kern="1200" cap="none" spc="0" normalizeH="0" baseline="0" noProof="0" dirty="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293"/>
              </a:spcBef>
              <a:spcAft>
                <a:spcPts val="0"/>
              </a:spcAft>
              <a:buClr>
                <a:srgbClr val="CC0000"/>
              </a:buClr>
              <a:buSzTx/>
              <a:buFont typeface="Wingdings"/>
              <a:buChar char=""/>
              <a:tabLst>
                <a:tab pos="346354"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Peak</a:t>
            </a:r>
            <a:r>
              <a:rPr kumimoji="0" sz="1227" b="0" i="0" u="none" strike="noStrike" kern="1200" cap="none" spc="-3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current</a:t>
            </a:r>
            <a:r>
              <a:rPr kumimoji="0" sz="1227" b="0" i="0" u="none" strike="noStrike" kern="1200" cap="none" spc="-3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and</a:t>
            </a:r>
            <a:r>
              <a:rPr kumimoji="0" sz="1227" b="0" i="0" u="none" strike="noStrike" kern="1200" cap="none" spc="-3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power</a:t>
            </a:r>
            <a:r>
              <a:rPr kumimoji="0" sz="1227" b="0" i="0" u="none" strike="noStrike" kern="1200" cap="none" spc="-3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efficiency</a:t>
            </a:r>
            <a:r>
              <a:rPr kumimoji="0" sz="1227" b="0" i="0" u="none" strike="noStrike" kern="1200" cap="none" spc="-1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(CE</a:t>
            </a:r>
            <a:r>
              <a:rPr kumimoji="0" sz="1227" b="0" i="0" u="none" strike="noStrike" kern="1200" cap="none" spc="0" normalizeH="0" baseline="-20833" noProof="0" dirty="0">
                <a:ln>
                  <a:noFill/>
                </a:ln>
                <a:solidFill>
                  <a:prstClr val="black"/>
                </a:solidFill>
                <a:effectLst/>
                <a:uLnTx/>
                <a:uFillTx/>
                <a:latin typeface="Verdana"/>
                <a:ea typeface="+mn-ea"/>
                <a:cs typeface="Verdana"/>
              </a:rPr>
              <a:t>peak,</a:t>
            </a:r>
            <a:r>
              <a:rPr kumimoji="0" sz="1227" b="0" i="0" u="none" strike="noStrike" kern="1200" cap="none" spc="-15" normalizeH="0" baseline="-20833"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PE</a:t>
            </a:r>
            <a:r>
              <a:rPr kumimoji="0" sz="1227" b="0" i="0" u="none" strike="noStrike" kern="1200" cap="none" spc="-10" normalizeH="0" baseline="-20833" noProof="0" dirty="0">
                <a:ln>
                  <a:noFill/>
                </a:ln>
                <a:solidFill>
                  <a:prstClr val="black"/>
                </a:solidFill>
                <a:effectLst/>
                <a:uLnTx/>
                <a:uFillTx/>
                <a:latin typeface="Verdana"/>
                <a:ea typeface="+mn-ea"/>
                <a:cs typeface="Verdana"/>
              </a:rPr>
              <a:t>peak</a:t>
            </a:r>
            <a:r>
              <a:rPr kumimoji="0" sz="1227" b="0" i="0" u="none" strike="noStrike" kern="1200" cap="none" spc="-7" normalizeH="0" baseline="0" noProof="0" dirty="0">
                <a:ln>
                  <a:noFill/>
                </a:ln>
                <a:solidFill>
                  <a:prstClr val="black"/>
                </a:solidFill>
                <a:effectLst/>
                <a:uLnTx/>
                <a:uFillTx/>
                <a:latin typeface="Verdana"/>
                <a:ea typeface="+mn-ea"/>
                <a:cs typeface="Verdana"/>
              </a:rPr>
              <a:t>)</a:t>
            </a:r>
            <a:endParaRPr kumimoji="0" sz="1227" b="0" i="0" u="none" strike="noStrike" kern="1200" cap="none" spc="0" normalizeH="0" baseline="0" noProof="0" dirty="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296"/>
              </a:spcBef>
              <a:spcAft>
                <a:spcPts val="0"/>
              </a:spcAft>
              <a:buClr>
                <a:srgbClr val="CC0000"/>
              </a:buClr>
              <a:buSzTx/>
              <a:buFont typeface="Wingdings"/>
              <a:buChar char=""/>
              <a:tabLst>
                <a:tab pos="346354"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Dropout</a:t>
            </a:r>
            <a:r>
              <a:rPr kumimoji="0" sz="1227" b="0" i="0" u="none" strike="noStrike" kern="1200" cap="none" spc="-41"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voltage</a:t>
            </a:r>
            <a:r>
              <a:rPr kumimoji="0" sz="1227" b="0" i="0" u="none" strike="noStrike" kern="1200" cap="none" spc="-37"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(V</a:t>
            </a:r>
            <a:r>
              <a:rPr kumimoji="0" sz="1227" b="0" i="0" u="none" strike="noStrike" kern="1200" cap="none" spc="-10" normalizeH="0" baseline="-20833" noProof="0" dirty="0">
                <a:ln>
                  <a:noFill/>
                </a:ln>
                <a:solidFill>
                  <a:prstClr val="black"/>
                </a:solidFill>
                <a:effectLst/>
                <a:uLnTx/>
                <a:uFillTx/>
                <a:latin typeface="Verdana"/>
                <a:ea typeface="+mn-ea"/>
                <a:cs typeface="Verdana"/>
              </a:rPr>
              <a:t>dropout</a:t>
            </a:r>
            <a:r>
              <a:rPr kumimoji="0" sz="1227" b="0" i="0" u="none" strike="noStrike" kern="1200" cap="none" spc="-7" normalizeH="0" baseline="0" noProof="0" dirty="0">
                <a:ln>
                  <a:noFill/>
                </a:ln>
                <a:solidFill>
                  <a:prstClr val="black"/>
                </a:solidFill>
                <a:effectLst/>
                <a:uLnTx/>
                <a:uFillTx/>
                <a:latin typeface="Verdana"/>
                <a:ea typeface="+mn-ea"/>
                <a:cs typeface="Verdana"/>
              </a:rPr>
              <a:t>)</a:t>
            </a:r>
            <a:endParaRPr kumimoji="0" sz="1227" b="0" i="0" u="none" strike="noStrike" kern="1200" cap="none" spc="0" normalizeH="0" baseline="0" noProof="0" dirty="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293"/>
              </a:spcBef>
              <a:spcAft>
                <a:spcPts val="0"/>
              </a:spcAft>
              <a:buClr>
                <a:srgbClr val="CC0000"/>
              </a:buClr>
              <a:buSzTx/>
              <a:buFont typeface="Wingdings"/>
              <a:buChar char=""/>
              <a:tabLst>
                <a:tab pos="346354"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Power</a:t>
            </a:r>
            <a:r>
              <a:rPr kumimoji="0" sz="1227" b="0" i="0" u="none" strike="noStrike" kern="1200" cap="none" spc="-3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supply</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rejection</a:t>
            </a:r>
            <a:r>
              <a:rPr kumimoji="0" sz="1227" b="0" i="0" u="none" strike="noStrike" kern="1200" cap="none" spc="-1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ratio</a:t>
            </a:r>
            <a:r>
              <a:rPr kumimoji="0" sz="1227" b="0" i="0" u="none" strike="noStrike" kern="1200" cap="none" spc="-31"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(PSRR)</a:t>
            </a:r>
            <a:endParaRPr kumimoji="0" sz="1227" b="0" i="0" u="none" strike="noStrike" kern="1200" cap="none" spc="0" normalizeH="0" baseline="0" noProof="0" dirty="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296"/>
              </a:spcBef>
              <a:spcAft>
                <a:spcPts val="0"/>
              </a:spcAft>
              <a:buClr>
                <a:srgbClr val="CC0000"/>
              </a:buClr>
              <a:buSzTx/>
              <a:buFont typeface="Wingdings"/>
              <a:buChar char=""/>
              <a:tabLst>
                <a:tab pos="346354"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Load</a:t>
            </a:r>
            <a:r>
              <a:rPr kumimoji="0" sz="1227" b="0" i="0" u="none" strike="noStrike" kern="1200" cap="none" spc="-2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regulation</a:t>
            </a:r>
            <a:r>
              <a:rPr kumimoji="0" sz="1227" b="0" i="0" u="none" strike="noStrike" kern="1200" cap="none" spc="-1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performance</a:t>
            </a:r>
            <a:r>
              <a:rPr kumimoji="0" sz="1227" b="0" i="0" u="none" strike="noStrike" kern="1200" cap="none" spc="-2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FoMs:</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ps</a:t>
            </a:r>
            <a:r>
              <a:rPr kumimoji="0" sz="1227" b="0" i="0" u="none" strike="noStrike" kern="1200" cap="none" spc="-1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FoM</a:t>
            </a:r>
            <a:r>
              <a:rPr kumimoji="0" sz="1227" b="0" i="0" u="none" strike="noStrike" kern="1200" cap="none" spc="-20"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and</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pF</a:t>
            </a:r>
            <a:r>
              <a:rPr kumimoji="0" sz="1227" b="0" i="0" u="none" strike="noStrike" kern="1200" cap="none" spc="-14" normalizeH="0" baseline="0" noProof="0" dirty="0">
                <a:ln>
                  <a:noFill/>
                </a:ln>
                <a:solidFill>
                  <a:prstClr val="black"/>
                </a:solidFill>
                <a:effectLst/>
                <a:uLnTx/>
                <a:uFillTx/>
                <a:latin typeface="Verdana"/>
                <a:ea typeface="+mn-ea"/>
                <a:cs typeface="Verdana"/>
              </a:rPr>
              <a:t> </a:t>
            </a:r>
            <a:r>
              <a:rPr kumimoji="0" sz="1227" b="0" i="0" u="none" strike="noStrike" kern="1200" cap="none" spc="-17" normalizeH="0" baseline="0" noProof="0" dirty="0">
                <a:ln>
                  <a:noFill/>
                </a:ln>
                <a:solidFill>
                  <a:prstClr val="black"/>
                </a:solidFill>
                <a:effectLst/>
                <a:uLnTx/>
                <a:uFillTx/>
                <a:latin typeface="Verdana"/>
                <a:ea typeface="+mn-ea"/>
                <a:cs typeface="Verdana"/>
              </a:rPr>
              <a:t>FoM</a:t>
            </a:r>
            <a:endParaRPr kumimoji="0" sz="1227" b="0" i="0" u="none" strike="noStrike" kern="1200" cap="none" spc="0" normalizeH="0" baseline="0" noProof="0" dirty="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293"/>
              </a:spcBef>
              <a:spcAft>
                <a:spcPts val="0"/>
              </a:spcAft>
              <a:buClr>
                <a:srgbClr val="CC0000"/>
              </a:buClr>
              <a:buSzTx/>
              <a:buFont typeface="Wingdings"/>
              <a:buChar char=""/>
              <a:tabLst>
                <a:tab pos="346354"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Maximum</a:t>
            </a:r>
            <a:r>
              <a:rPr kumimoji="0" sz="1227" b="0" i="0" u="none" strike="noStrike" kern="1200" cap="none" spc="-3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and</a:t>
            </a:r>
            <a:r>
              <a:rPr kumimoji="0" sz="1227" b="0" i="0" u="none" strike="noStrike" kern="1200" cap="none" spc="-2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minimum</a:t>
            </a:r>
            <a:r>
              <a:rPr kumimoji="0" sz="1227" b="0" i="0" u="none" strike="noStrike" kern="1200" cap="none" spc="-1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load</a:t>
            </a:r>
            <a:r>
              <a:rPr kumimoji="0" sz="1227" b="0" i="0" u="none" strike="noStrike" kern="1200" cap="none" spc="-20"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current</a:t>
            </a:r>
            <a:r>
              <a:rPr kumimoji="0" sz="1227" b="0" i="0" u="none" strike="noStrike" kern="1200" cap="none" spc="-2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(I</a:t>
            </a:r>
            <a:r>
              <a:rPr kumimoji="0" sz="1227" b="0" i="0" u="none" strike="noStrike" kern="1200" cap="none" spc="0" normalizeH="0" baseline="-20833" noProof="0" dirty="0">
                <a:ln>
                  <a:noFill/>
                </a:ln>
                <a:solidFill>
                  <a:prstClr val="black"/>
                </a:solidFill>
                <a:effectLst/>
                <a:uLnTx/>
                <a:uFillTx/>
                <a:latin typeface="Verdana"/>
                <a:ea typeface="+mn-ea"/>
                <a:cs typeface="Verdana"/>
              </a:rPr>
              <a:t>load,max</a:t>
            </a:r>
            <a:r>
              <a:rPr kumimoji="0" sz="1227" b="0" i="0" u="none" strike="noStrike" kern="1200" cap="none" spc="0" normalizeH="0" baseline="0" noProof="0" dirty="0">
                <a:ln>
                  <a:noFill/>
                </a:ln>
                <a:solidFill>
                  <a:prstClr val="black"/>
                </a:solidFill>
                <a:effectLst/>
                <a:uLnTx/>
                <a:uFillTx/>
                <a:latin typeface="Verdana"/>
                <a:ea typeface="+mn-ea"/>
                <a:cs typeface="Verdana"/>
              </a:rPr>
              <a:t>,</a:t>
            </a:r>
            <a:r>
              <a:rPr kumimoji="0" sz="1227" b="0" i="0" u="none" strike="noStrike" kern="1200" cap="none" spc="-27"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I</a:t>
            </a:r>
            <a:r>
              <a:rPr kumimoji="0" sz="1227" b="0" i="0" u="none" strike="noStrike" kern="1200" cap="none" spc="-10" normalizeH="0" baseline="-20833" noProof="0" dirty="0">
                <a:ln>
                  <a:noFill/>
                </a:ln>
                <a:solidFill>
                  <a:prstClr val="black"/>
                </a:solidFill>
                <a:effectLst/>
                <a:uLnTx/>
                <a:uFillTx/>
                <a:latin typeface="Verdana"/>
                <a:ea typeface="+mn-ea"/>
                <a:cs typeface="Verdana"/>
              </a:rPr>
              <a:t>load,min</a:t>
            </a:r>
            <a:r>
              <a:rPr kumimoji="0" sz="1227" b="0" i="0" u="none" strike="noStrike" kern="1200" cap="none" spc="-7" normalizeH="0" baseline="0" noProof="0" dirty="0">
                <a:ln>
                  <a:noFill/>
                </a:ln>
                <a:solidFill>
                  <a:prstClr val="black"/>
                </a:solidFill>
                <a:effectLst/>
                <a:uLnTx/>
                <a:uFillTx/>
                <a:latin typeface="Verdana"/>
                <a:ea typeface="+mn-ea"/>
                <a:cs typeface="Verdana"/>
              </a:rPr>
              <a:t>)</a:t>
            </a:r>
            <a:endParaRPr kumimoji="0" sz="1227" b="0" i="0" u="none" strike="noStrike" kern="1200" cap="none" spc="0" normalizeH="0" baseline="0" noProof="0" dirty="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293"/>
              </a:spcBef>
              <a:spcAft>
                <a:spcPts val="0"/>
              </a:spcAft>
              <a:buClr>
                <a:srgbClr val="CC0000"/>
              </a:buClr>
              <a:buSzTx/>
              <a:buFont typeface="Wingdings"/>
              <a:buChar char=""/>
              <a:tabLst>
                <a:tab pos="346354"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DAC</a:t>
            </a:r>
            <a:r>
              <a:rPr kumimoji="0" sz="1227" b="0" i="0" u="none" strike="noStrike" kern="1200" cap="none" spc="-20"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and</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ADC</a:t>
            </a:r>
            <a:r>
              <a:rPr kumimoji="0" sz="1227" b="0" i="0" u="none" strike="noStrike" kern="1200" cap="none" spc="-20"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number</a:t>
            </a:r>
            <a:r>
              <a:rPr kumimoji="0" sz="1227" b="0" i="0" u="none" strike="noStrike" kern="1200" cap="none" spc="-2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of</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bits</a:t>
            </a:r>
            <a:r>
              <a:rPr kumimoji="0" sz="1227" b="0" i="0" u="none" strike="noStrike" kern="1200" cap="none" spc="-14"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(N</a:t>
            </a:r>
            <a:r>
              <a:rPr kumimoji="0" sz="1227" b="0" i="0" u="none" strike="noStrike" kern="1200" cap="none" spc="-10" normalizeH="0" baseline="-20833" noProof="0" dirty="0">
                <a:ln>
                  <a:noFill/>
                </a:ln>
                <a:solidFill>
                  <a:prstClr val="black"/>
                </a:solidFill>
                <a:effectLst/>
                <a:uLnTx/>
                <a:uFillTx/>
                <a:latin typeface="Verdana"/>
                <a:ea typeface="+mn-ea"/>
                <a:cs typeface="Verdana"/>
              </a:rPr>
              <a:t>DAC</a:t>
            </a:r>
            <a:r>
              <a:rPr kumimoji="0" sz="1227" b="0" i="0" u="none" strike="noStrike" kern="1200" cap="none" spc="-7" normalizeH="0" baseline="0" noProof="0" dirty="0">
                <a:ln>
                  <a:noFill/>
                </a:ln>
                <a:solidFill>
                  <a:prstClr val="black"/>
                </a:solidFill>
                <a:effectLst/>
                <a:uLnTx/>
                <a:uFillTx/>
                <a:latin typeface="Verdana"/>
                <a:ea typeface="+mn-ea"/>
                <a:cs typeface="Verdana"/>
              </a:rPr>
              <a:t>,N</a:t>
            </a:r>
            <a:r>
              <a:rPr kumimoji="0" sz="1227" b="0" i="0" u="none" strike="noStrike" kern="1200" cap="none" spc="-10" normalizeH="0" baseline="-20833" noProof="0" dirty="0">
                <a:ln>
                  <a:noFill/>
                </a:ln>
                <a:solidFill>
                  <a:prstClr val="black"/>
                </a:solidFill>
                <a:effectLst/>
                <a:uLnTx/>
                <a:uFillTx/>
                <a:latin typeface="Verdana"/>
                <a:ea typeface="+mn-ea"/>
                <a:cs typeface="Verdana"/>
              </a:rPr>
              <a:t>ADC</a:t>
            </a:r>
            <a:r>
              <a:rPr kumimoji="0" sz="1227" b="0" i="0" u="none" strike="noStrike" kern="1200" cap="none" spc="-7" normalizeH="0" baseline="0" noProof="0" dirty="0">
                <a:ln>
                  <a:noFill/>
                </a:ln>
                <a:solidFill>
                  <a:prstClr val="black"/>
                </a:solidFill>
                <a:effectLst/>
                <a:uLnTx/>
                <a:uFillTx/>
                <a:latin typeface="Verdana"/>
                <a:ea typeface="+mn-ea"/>
                <a:cs typeface="Verdana"/>
              </a:rPr>
              <a:t>)</a:t>
            </a:r>
            <a:endParaRPr kumimoji="0" sz="1227" b="0" i="0" u="none" strike="noStrike" kern="1200" cap="none" spc="0" normalizeH="0" baseline="0" noProof="0" dirty="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296"/>
              </a:spcBef>
              <a:spcAft>
                <a:spcPts val="0"/>
              </a:spcAft>
              <a:buClr>
                <a:srgbClr val="CC0000"/>
              </a:buClr>
              <a:buSzTx/>
              <a:buFont typeface="Wingdings"/>
              <a:buChar char=""/>
              <a:tabLst>
                <a:tab pos="346354" algn="l"/>
              </a:tabLst>
              <a:defRPr/>
            </a:pPr>
            <a:r>
              <a:rPr kumimoji="0" sz="1227" b="0" i="0" u="none" strike="noStrike" kern="1200" cap="none" spc="-7" normalizeH="0" baseline="0" noProof="0" dirty="0">
                <a:ln>
                  <a:noFill/>
                </a:ln>
                <a:solidFill>
                  <a:prstClr val="black"/>
                </a:solidFill>
                <a:effectLst/>
                <a:uLnTx/>
                <a:uFillTx/>
                <a:latin typeface="Verdana"/>
                <a:ea typeface="+mn-ea"/>
                <a:cs typeface="Verdana"/>
              </a:rPr>
              <a:t>Dead-</a:t>
            </a:r>
            <a:r>
              <a:rPr kumimoji="0" sz="1227" b="0" i="0" u="none" strike="noStrike" kern="1200" cap="none" spc="0" normalizeH="0" baseline="0" noProof="0" dirty="0">
                <a:ln>
                  <a:noFill/>
                </a:ln>
                <a:solidFill>
                  <a:prstClr val="black"/>
                </a:solidFill>
                <a:effectLst/>
                <a:uLnTx/>
                <a:uFillTx/>
                <a:latin typeface="Verdana"/>
                <a:ea typeface="+mn-ea"/>
                <a:cs typeface="Verdana"/>
              </a:rPr>
              <a:t>zone</a:t>
            </a:r>
            <a:r>
              <a:rPr kumimoji="0" sz="1227" b="0" i="0" u="none" strike="noStrike" kern="1200" cap="none" spc="-31"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voltage</a:t>
            </a:r>
            <a:r>
              <a:rPr kumimoji="0" sz="1227" b="0" i="0" u="none" strike="noStrike" kern="1200" cap="none" spc="-17" normalizeH="0" baseline="0" noProof="0" dirty="0">
                <a:ln>
                  <a:noFill/>
                </a:ln>
                <a:solidFill>
                  <a:prstClr val="black"/>
                </a:solidFill>
                <a:effectLst/>
                <a:uLnTx/>
                <a:uFillTx/>
                <a:latin typeface="Verdana"/>
                <a:ea typeface="+mn-ea"/>
                <a:cs typeface="Verdana"/>
              </a:rPr>
              <a:t> </a:t>
            </a:r>
            <a:r>
              <a:rPr kumimoji="0" sz="1227" b="0" i="0" u="none" strike="noStrike" kern="1200" cap="none" spc="-14" normalizeH="0" baseline="0" noProof="0" dirty="0">
                <a:ln>
                  <a:noFill/>
                </a:ln>
                <a:solidFill>
                  <a:prstClr val="black"/>
                </a:solidFill>
                <a:effectLst/>
                <a:uLnTx/>
                <a:uFillTx/>
                <a:latin typeface="Verdana"/>
                <a:ea typeface="+mn-ea"/>
                <a:cs typeface="Verdana"/>
              </a:rPr>
              <a:t>(V</a:t>
            </a:r>
            <a:r>
              <a:rPr kumimoji="0" sz="1227" b="0" i="0" u="none" strike="noStrike" kern="1200" cap="none" spc="-20" normalizeH="0" baseline="-20833" noProof="0" dirty="0">
                <a:ln>
                  <a:noFill/>
                </a:ln>
                <a:solidFill>
                  <a:prstClr val="black"/>
                </a:solidFill>
                <a:effectLst/>
                <a:uLnTx/>
                <a:uFillTx/>
                <a:latin typeface="Verdana"/>
                <a:ea typeface="+mn-ea"/>
                <a:cs typeface="Verdana"/>
              </a:rPr>
              <a:t>dz</a:t>
            </a:r>
            <a:r>
              <a:rPr kumimoji="0" sz="1227" b="0" i="0" u="none" strike="noStrike" kern="1200" cap="none" spc="-14" normalizeH="0" baseline="0" noProof="0" dirty="0">
                <a:ln>
                  <a:noFill/>
                </a:ln>
                <a:solidFill>
                  <a:prstClr val="black"/>
                </a:solidFill>
                <a:effectLst/>
                <a:uLnTx/>
                <a:uFillTx/>
                <a:latin typeface="Verdana"/>
                <a:ea typeface="+mn-ea"/>
                <a:cs typeface="Verdana"/>
              </a:rPr>
              <a:t>)</a:t>
            </a:r>
            <a:endParaRPr kumimoji="0" sz="1227" b="0" i="0" u="none" strike="noStrike" kern="1200" cap="none" spc="0" normalizeH="0" baseline="0" noProof="0" dirty="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293"/>
              </a:spcBef>
              <a:spcAft>
                <a:spcPts val="0"/>
              </a:spcAft>
              <a:buClr>
                <a:srgbClr val="CC0000"/>
              </a:buClr>
              <a:buSzTx/>
              <a:buFont typeface="Wingdings"/>
              <a:buChar char=""/>
              <a:tabLst>
                <a:tab pos="346354"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DAC</a:t>
            </a:r>
            <a:r>
              <a:rPr kumimoji="0" sz="1227" b="0" i="0" u="none" strike="noStrike" kern="1200" cap="none" spc="-31"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step</a:t>
            </a:r>
            <a:r>
              <a:rPr kumimoji="0" sz="1227" b="0" i="0" u="none" strike="noStrike" kern="1200" cap="none" spc="-20"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size</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7" normalizeH="0" baseline="0" noProof="0" dirty="0">
                <a:ln>
                  <a:noFill/>
                </a:ln>
                <a:solidFill>
                  <a:prstClr val="black"/>
                </a:solidFill>
                <a:effectLst/>
                <a:uLnTx/>
                <a:uFillTx/>
                <a:latin typeface="Verdana"/>
                <a:ea typeface="+mn-ea"/>
                <a:cs typeface="Verdana"/>
              </a:rPr>
              <a:t>(V</a:t>
            </a:r>
            <a:r>
              <a:rPr kumimoji="0" sz="1227" b="0" i="0" u="none" strike="noStrike" kern="1200" cap="none" spc="-10" normalizeH="0" baseline="-20833" noProof="0" dirty="0">
                <a:ln>
                  <a:noFill/>
                </a:ln>
                <a:solidFill>
                  <a:prstClr val="black"/>
                </a:solidFill>
                <a:effectLst/>
                <a:uLnTx/>
                <a:uFillTx/>
                <a:latin typeface="Verdana"/>
                <a:ea typeface="+mn-ea"/>
                <a:cs typeface="Verdana"/>
              </a:rPr>
              <a:t>DAC,ss</a:t>
            </a:r>
            <a:r>
              <a:rPr kumimoji="0" sz="1227" b="0" i="0" u="none" strike="noStrike" kern="1200" cap="none" spc="-7" normalizeH="0" baseline="0" noProof="0" dirty="0">
                <a:ln>
                  <a:noFill/>
                </a:ln>
                <a:solidFill>
                  <a:prstClr val="black"/>
                </a:solidFill>
                <a:effectLst/>
                <a:uLnTx/>
                <a:uFillTx/>
                <a:latin typeface="Verdana"/>
                <a:ea typeface="+mn-ea"/>
                <a:cs typeface="Verdana"/>
              </a:rPr>
              <a:t>)</a:t>
            </a:r>
            <a:endParaRPr kumimoji="0" sz="1227" b="0" i="0" u="none" strike="noStrike" kern="1200" cap="none" spc="0" normalizeH="0" baseline="0" noProof="0" dirty="0">
              <a:ln>
                <a:noFill/>
              </a:ln>
              <a:solidFill>
                <a:prstClr val="black"/>
              </a:solidFill>
              <a:effectLst/>
              <a:uLnTx/>
              <a:uFillTx/>
              <a:latin typeface="Verdana"/>
              <a:ea typeface="+mn-ea"/>
              <a:cs typeface="Verdana"/>
            </a:endParaRPr>
          </a:p>
          <a:p>
            <a:pPr marL="346354" marR="0" lvl="0" indent="-320378" algn="l" defTabSz="914400" rtl="0" eaLnBrk="1" fontAlgn="auto" latinLnBrk="0" hangingPunct="1">
              <a:lnSpc>
                <a:spcPct val="100000"/>
              </a:lnSpc>
              <a:spcBef>
                <a:spcPts val="296"/>
              </a:spcBef>
              <a:spcAft>
                <a:spcPts val="0"/>
              </a:spcAft>
              <a:buClr>
                <a:srgbClr val="CC0000"/>
              </a:buClr>
              <a:buSzTx/>
              <a:buFont typeface="Wingdings"/>
              <a:buChar char=""/>
              <a:tabLst>
                <a:tab pos="346354" algn="l"/>
              </a:tabLst>
              <a:defRPr/>
            </a:pPr>
            <a:r>
              <a:rPr kumimoji="0" sz="1227" b="0" i="0" u="none" strike="noStrike" kern="1200" cap="none" spc="0" normalizeH="0" baseline="0" noProof="0" dirty="0">
                <a:ln>
                  <a:noFill/>
                </a:ln>
                <a:solidFill>
                  <a:prstClr val="black"/>
                </a:solidFill>
                <a:effectLst/>
                <a:uLnTx/>
                <a:uFillTx/>
                <a:latin typeface="Verdana"/>
                <a:ea typeface="+mn-ea"/>
                <a:cs typeface="Verdana"/>
              </a:rPr>
              <a:t>IR</a:t>
            </a:r>
            <a:r>
              <a:rPr kumimoji="0" sz="1227" b="0" i="0" u="none" strike="noStrike" kern="1200" cap="none" spc="-17"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drop</a:t>
            </a:r>
            <a:r>
              <a:rPr kumimoji="0" sz="1227" b="0" i="0" u="none" strike="noStrike" kern="1200" cap="none" spc="-24" normalizeH="0" baseline="0" noProof="0" dirty="0">
                <a:ln>
                  <a:noFill/>
                </a:ln>
                <a:solidFill>
                  <a:prstClr val="black"/>
                </a:solidFill>
                <a:effectLst/>
                <a:uLnTx/>
                <a:uFillTx/>
                <a:latin typeface="Verdana"/>
                <a:ea typeface="+mn-ea"/>
                <a:cs typeface="Verdana"/>
              </a:rPr>
              <a:t> </a:t>
            </a:r>
            <a:r>
              <a:rPr kumimoji="0" sz="1227" b="0" i="0" u="none" strike="noStrike" kern="1200" cap="none" spc="0" normalizeH="0" baseline="0" noProof="0" dirty="0">
                <a:ln>
                  <a:noFill/>
                </a:ln>
                <a:solidFill>
                  <a:prstClr val="black"/>
                </a:solidFill>
                <a:effectLst/>
                <a:uLnTx/>
                <a:uFillTx/>
                <a:latin typeface="Verdana"/>
                <a:ea typeface="+mn-ea"/>
                <a:cs typeface="Verdana"/>
              </a:rPr>
              <a:t>voltage</a:t>
            </a:r>
            <a:r>
              <a:rPr kumimoji="0" sz="1227" b="0" i="0" u="none" strike="noStrike" kern="1200" cap="none" spc="-14" normalizeH="0" baseline="0" noProof="0" dirty="0">
                <a:ln>
                  <a:noFill/>
                </a:ln>
                <a:solidFill>
                  <a:prstClr val="black"/>
                </a:solidFill>
                <a:effectLst/>
                <a:uLnTx/>
                <a:uFillTx/>
                <a:latin typeface="Verdana"/>
                <a:ea typeface="+mn-ea"/>
                <a:cs typeface="Verdana"/>
              </a:rPr>
              <a:t> (V</a:t>
            </a:r>
            <a:r>
              <a:rPr kumimoji="0" sz="1227" b="0" i="0" u="none" strike="noStrike" kern="1200" cap="none" spc="-20" normalizeH="0" baseline="-20833" noProof="0" dirty="0">
                <a:ln>
                  <a:noFill/>
                </a:ln>
                <a:solidFill>
                  <a:prstClr val="black"/>
                </a:solidFill>
                <a:effectLst/>
                <a:uLnTx/>
                <a:uFillTx/>
                <a:latin typeface="Verdana"/>
                <a:ea typeface="+mn-ea"/>
                <a:cs typeface="Verdana"/>
              </a:rPr>
              <a:t>IR</a:t>
            </a:r>
            <a:r>
              <a:rPr kumimoji="0" sz="1227" b="0" i="0" u="none" strike="noStrike" kern="1200" cap="none" spc="-14" normalizeH="0" baseline="0" noProof="0" dirty="0">
                <a:ln>
                  <a:noFill/>
                </a:ln>
                <a:solidFill>
                  <a:prstClr val="black"/>
                </a:solidFill>
                <a:effectLst/>
                <a:uLnTx/>
                <a:uFillTx/>
                <a:latin typeface="Verdana"/>
                <a:ea typeface="+mn-ea"/>
                <a:cs typeface="Verdana"/>
              </a:rPr>
              <a:t>)</a:t>
            </a:r>
            <a:endParaRPr kumimoji="0" sz="1227" b="0" i="0" u="none" strike="noStrike" kern="1200" cap="none" spc="0" normalizeH="0" baseline="0" noProof="0" dirty="0">
              <a:ln>
                <a:noFill/>
              </a:ln>
              <a:solidFill>
                <a:prstClr val="black"/>
              </a:solidFill>
              <a:effectLst/>
              <a:uLnTx/>
              <a:uFillTx/>
              <a:latin typeface="Verdana"/>
              <a:ea typeface="+mn-ea"/>
              <a:cs typeface="Verdana"/>
            </a:endParaRPr>
          </a:p>
        </p:txBody>
      </p:sp>
    </p:spTree>
    <p:extLst>
      <p:ext uri="{BB962C8B-B14F-4D97-AF65-F5344CB8AC3E}">
        <p14:creationId xmlns:p14="http://schemas.microsoft.com/office/powerpoint/2010/main" val="105084035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45253" y="1832092"/>
            <a:ext cx="2831090" cy="1384589"/>
            <a:chOff x="1800479" y="2295908"/>
            <a:chExt cx="4152265" cy="2030730"/>
          </a:xfrm>
        </p:grpSpPr>
        <p:sp>
          <p:nvSpPr>
            <p:cNvPr id="3" name="object 3"/>
            <p:cNvSpPr/>
            <p:nvPr/>
          </p:nvSpPr>
          <p:spPr>
            <a:xfrm>
              <a:off x="3851910" y="2295908"/>
              <a:ext cx="2101215" cy="1013460"/>
            </a:xfrm>
            <a:custGeom>
              <a:avLst/>
              <a:gdLst/>
              <a:ahLst/>
              <a:cxnLst/>
              <a:rect l="l" t="t" r="r" b="b"/>
              <a:pathLst>
                <a:path w="2101215" h="1013460">
                  <a:moveTo>
                    <a:pt x="1931924" y="0"/>
                  </a:moveTo>
                  <a:lnTo>
                    <a:pt x="168910" y="0"/>
                  </a:lnTo>
                  <a:lnTo>
                    <a:pt x="124008" y="6033"/>
                  </a:lnTo>
                  <a:lnTo>
                    <a:pt x="83660" y="23062"/>
                  </a:lnTo>
                  <a:lnTo>
                    <a:pt x="49474" y="49474"/>
                  </a:lnTo>
                  <a:lnTo>
                    <a:pt x="23062" y="83660"/>
                  </a:lnTo>
                  <a:lnTo>
                    <a:pt x="6033" y="124008"/>
                  </a:lnTo>
                  <a:lnTo>
                    <a:pt x="0" y="168910"/>
                  </a:lnTo>
                  <a:lnTo>
                    <a:pt x="0" y="844550"/>
                  </a:lnTo>
                  <a:lnTo>
                    <a:pt x="6033" y="889451"/>
                  </a:lnTo>
                  <a:lnTo>
                    <a:pt x="23062" y="929799"/>
                  </a:lnTo>
                  <a:lnTo>
                    <a:pt x="49474" y="963985"/>
                  </a:lnTo>
                  <a:lnTo>
                    <a:pt x="83660" y="990397"/>
                  </a:lnTo>
                  <a:lnTo>
                    <a:pt x="124008" y="1007426"/>
                  </a:lnTo>
                  <a:lnTo>
                    <a:pt x="168910" y="1013460"/>
                  </a:lnTo>
                  <a:lnTo>
                    <a:pt x="1931924" y="1013460"/>
                  </a:lnTo>
                  <a:lnTo>
                    <a:pt x="1976825" y="1007426"/>
                  </a:lnTo>
                  <a:lnTo>
                    <a:pt x="2017173" y="990397"/>
                  </a:lnTo>
                  <a:lnTo>
                    <a:pt x="2051359" y="963985"/>
                  </a:lnTo>
                  <a:lnTo>
                    <a:pt x="2077771" y="929799"/>
                  </a:lnTo>
                  <a:lnTo>
                    <a:pt x="2094800" y="889451"/>
                  </a:lnTo>
                  <a:lnTo>
                    <a:pt x="2100834" y="844550"/>
                  </a:lnTo>
                  <a:lnTo>
                    <a:pt x="2100834" y="168910"/>
                  </a:lnTo>
                  <a:lnTo>
                    <a:pt x="2094800" y="124008"/>
                  </a:lnTo>
                  <a:lnTo>
                    <a:pt x="2077771" y="83660"/>
                  </a:lnTo>
                  <a:lnTo>
                    <a:pt x="2051359" y="49474"/>
                  </a:lnTo>
                  <a:lnTo>
                    <a:pt x="2017173" y="23062"/>
                  </a:lnTo>
                  <a:lnTo>
                    <a:pt x="1976825" y="6033"/>
                  </a:lnTo>
                  <a:lnTo>
                    <a:pt x="1931924" y="0"/>
                  </a:lnTo>
                  <a:close/>
                </a:path>
              </a:pathLst>
            </a:custGeom>
            <a:solidFill>
              <a:srgbClr val="FFFF00"/>
            </a:solidFill>
          </p:spPr>
          <p:txBody>
            <a:bodyPr wrap="square" lIns="0" tIns="0" rIns="0" bIns="0" rtlCol="0"/>
            <a:lstStyle/>
            <a:p>
              <a:endParaRPr sz="1227"/>
            </a:p>
          </p:txBody>
        </p:sp>
        <p:sp>
          <p:nvSpPr>
            <p:cNvPr id="4" name="object 4"/>
            <p:cNvSpPr/>
            <p:nvPr/>
          </p:nvSpPr>
          <p:spPr>
            <a:xfrm>
              <a:off x="3118104" y="3820669"/>
              <a:ext cx="636270" cy="506095"/>
            </a:xfrm>
            <a:custGeom>
              <a:avLst/>
              <a:gdLst/>
              <a:ahLst/>
              <a:cxnLst/>
              <a:rect l="l" t="t" r="r" b="b"/>
              <a:pathLst>
                <a:path w="636270" h="506095">
                  <a:moveTo>
                    <a:pt x="551942" y="0"/>
                  </a:moveTo>
                  <a:lnTo>
                    <a:pt x="84328" y="0"/>
                  </a:lnTo>
                  <a:lnTo>
                    <a:pt x="51504" y="6627"/>
                  </a:lnTo>
                  <a:lnTo>
                    <a:pt x="24699" y="24699"/>
                  </a:lnTo>
                  <a:lnTo>
                    <a:pt x="6627" y="51504"/>
                  </a:lnTo>
                  <a:lnTo>
                    <a:pt x="0" y="84327"/>
                  </a:lnTo>
                  <a:lnTo>
                    <a:pt x="0" y="421639"/>
                  </a:lnTo>
                  <a:lnTo>
                    <a:pt x="6627" y="454463"/>
                  </a:lnTo>
                  <a:lnTo>
                    <a:pt x="24699" y="481268"/>
                  </a:lnTo>
                  <a:lnTo>
                    <a:pt x="51504" y="499340"/>
                  </a:lnTo>
                  <a:lnTo>
                    <a:pt x="84328" y="505967"/>
                  </a:lnTo>
                  <a:lnTo>
                    <a:pt x="551942" y="505967"/>
                  </a:lnTo>
                  <a:lnTo>
                    <a:pt x="584765" y="499340"/>
                  </a:lnTo>
                  <a:lnTo>
                    <a:pt x="611570" y="481268"/>
                  </a:lnTo>
                  <a:lnTo>
                    <a:pt x="629642" y="454463"/>
                  </a:lnTo>
                  <a:lnTo>
                    <a:pt x="636270" y="421639"/>
                  </a:lnTo>
                  <a:lnTo>
                    <a:pt x="636270" y="84327"/>
                  </a:lnTo>
                  <a:lnTo>
                    <a:pt x="629642" y="51504"/>
                  </a:lnTo>
                  <a:lnTo>
                    <a:pt x="611570" y="24699"/>
                  </a:lnTo>
                  <a:lnTo>
                    <a:pt x="584765" y="6627"/>
                  </a:lnTo>
                  <a:lnTo>
                    <a:pt x="551942" y="0"/>
                  </a:lnTo>
                  <a:close/>
                </a:path>
              </a:pathLst>
            </a:custGeom>
            <a:solidFill>
              <a:srgbClr val="00FF00"/>
            </a:solidFill>
          </p:spPr>
          <p:txBody>
            <a:bodyPr wrap="square" lIns="0" tIns="0" rIns="0" bIns="0" rtlCol="0"/>
            <a:lstStyle/>
            <a:p>
              <a:endParaRPr sz="1227"/>
            </a:p>
          </p:txBody>
        </p:sp>
        <p:sp>
          <p:nvSpPr>
            <p:cNvPr id="5" name="object 5"/>
            <p:cNvSpPr/>
            <p:nvPr/>
          </p:nvSpPr>
          <p:spPr>
            <a:xfrm>
              <a:off x="1815084" y="2569463"/>
              <a:ext cx="621030" cy="478155"/>
            </a:xfrm>
            <a:custGeom>
              <a:avLst/>
              <a:gdLst/>
              <a:ahLst/>
              <a:cxnLst/>
              <a:rect l="l" t="t" r="r" b="b"/>
              <a:pathLst>
                <a:path w="621030" h="478155">
                  <a:moveTo>
                    <a:pt x="621030" y="0"/>
                  </a:moveTo>
                  <a:lnTo>
                    <a:pt x="124206" y="0"/>
                  </a:lnTo>
                  <a:lnTo>
                    <a:pt x="0" y="238886"/>
                  </a:lnTo>
                  <a:lnTo>
                    <a:pt x="124206" y="477773"/>
                  </a:lnTo>
                  <a:lnTo>
                    <a:pt x="621030" y="477773"/>
                  </a:lnTo>
                  <a:lnTo>
                    <a:pt x="621030" y="0"/>
                  </a:lnTo>
                  <a:close/>
                </a:path>
              </a:pathLst>
            </a:custGeom>
            <a:solidFill>
              <a:srgbClr val="FF0000"/>
            </a:solidFill>
          </p:spPr>
          <p:txBody>
            <a:bodyPr wrap="square" lIns="0" tIns="0" rIns="0" bIns="0" rtlCol="0"/>
            <a:lstStyle/>
            <a:p>
              <a:endParaRPr sz="1227"/>
            </a:p>
          </p:txBody>
        </p:sp>
        <p:sp>
          <p:nvSpPr>
            <p:cNvPr id="6" name="object 6"/>
            <p:cNvSpPr/>
            <p:nvPr/>
          </p:nvSpPr>
          <p:spPr>
            <a:xfrm>
              <a:off x="1815084" y="2569463"/>
              <a:ext cx="621030" cy="478155"/>
            </a:xfrm>
            <a:custGeom>
              <a:avLst/>
              <a:gdLst/>
              <a:ahLst/>
              <a:cxnLst/>
              <a:rect l="l" t="t" r="r" b="b"/>
              <a:pathLst>
                <a:path w="621030" h="478155">
                  <a:moveTo>
                    <a:pt x="621030" y="0"/>
                  </a:moveTo>
                  <a:lnTo>
                    <a:pt x="621030" y="477773"/>
                  </a:lnTo>
                  <a:lnTo>
                    <a:pt x="124206" y="477773"/>
                  </a:lnTo>
                  <a:lnTo>
                    <a:pt x="0" y="238886"/>
                  </a:lnTo>
                  <a:lnTo>
                    <a:pt x="124206" y="0"/>
                  </a:lnTo>
                  <a:lnTo>
                    <a:pt x="621030" y="0"/>
                  </a:lnTo>
                  <a:close/>
                </a:path>
              </a:pathLst>
            </a:custGeom>
            <a:ln w="28956">
              <a:solidFill>
                <a:srgbClr val="000000"/>
              </a:solidFill>
            </a:ln>
          </p:spPr>
          <p:txBody>
            <a:bodyPr wrap="square" lIns="0" tIns="0" rIns="0" bIns="0" rtlCol="0"/>
            <a:lstStyle/>
            <a:p>
              <a:endParaRPr sz="1227"/>
            </a:p>
          </p:txBody>
        </p:sp>
        <p:sp>
          <p:nvSpPr>
            <p:cNvPr id="7" name="object 7"/>
            <p:cNvSpPr/>
            <p:nvPr/>
          </p:nvSpPr>
          <p:spPr>
            <a:xfrm>
              <a:off x="4165092" y="2697479"/>
              <a:ext cx="119380" cy="234315"/>
            </a:xfrm>
            <a:custGeom>
              <a:avLst/>
              <a:gdLst/>
              <a:ahLst/>
              <a:cxnLst/>
              <a:rect l="l" t="t" r="r" b="b"/>
              <a:pathLst>
                <a:path w="119379" h="234314">
                  <a:moveTo>
                    <a:pt x="0" y="233934"/>
                  </a:moveTo>
                  <a:lnTo>
                    <a:pt x="0" y="0"/>
                  </a:lnTo>
                </a:path>
                <a:path w="119379" h="234314">
                  <a:moveTo>
                    <a:pt x="0" y="233934"/>
                  </a:moveTo>
                  <a:lnTo>
                    <a:pt x="118872" y="233934"/>
                  </a:lnTo>
                </a:path>
              </a:pathLst>
            </a:custGeom>
            <a:ln w="28956">
              <a:solidFill>
                <a:srgbClr val="000000"/>
              </a:solidFill>
            </a:ln>
          </p:spPr>
          <p:txBody>
            <a:bodyPr wrap="square" lIns="0" tIns="0" rIns="0" bIns="0" rtlCol="0"/>
            <a:lstStyle/>
            <a:p>
              <a:endParaRPr sz="1227"/>
            </a:p>
          </p:txBody>
        </p:sp>
        <p:sp>
          <p:nvSpPr>
            <p:cNvPr id="8" name="object 8"/>
            <p:cNvSpPr/>
            <p:nvPr/>
          </p:nvSpPr>
          <p:spPr>
            <a:xfrm>
              <a:off x="4165092" y="2697479"/>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endParaRPr sz="1227"/>
            </a:p>
          </p:txBody>
        </p:sp>
        <p:sp>
          <p:nvSpPr>
            <p:cNvPr id="9" name="object 9"/>
            <p:cNvSpPr/>
            <p:nvPr/>
          </p:nvSpPr>
          <p:spPr>
            <a:xfrm>
              <a:off x="4283964" y="2503169"/>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sp>
          <p:nvSpPr>
            <p:cNvPr id="10" name="object 10"/>
            <p:cNvSpPr/>
            <p:nvPr/>
          </p:nvSpPr>
          <p:spPr>
            <a:xfrm>
              <a:off x="4283964" y="2933699"/>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pic>
          <p:nvPicPr>
            <p:cNvPr id="11" name="object 11"/>
            <p:cNvPicPr/>
            <p:nvPr/>
          </p:nvPicPr>
          <p:blipFill>
            <a:blip r:embed="rId2" cstate="print"/>
            <a:stretch>
              <a:fillRect/>
            </a:stretch>
          </p:blipFill>
          <p:spPr>
            <a:xfrm>
              <a:off x="3893058" y="2701289"/>
              <a:ext cx="208788" cy="233934"/>
            </a:xfrm>
            <a:prstGeom prst="rect">
              <a:avLst/>
            </a:prstGeom>
          </p:spPr>
        </p:pic>
      </p:grpSp>
      <p:sp>
        <p:nvSpPr>
          <p:cNvPr id="12" name="object 12"/>
          <p:cNvSpPr txBox="1">
            <a:spLocks noGrp="1"/>
          </p:cNvSpPr>
          <p:nvPr>
            <p:ph type="title"/>
          </p:nvPr>
        </p:nvSpPr>
        <p:spPr>
          <a:xfrm>
            <a:off x="876781" y="381018"/>
            <a:ext cx="7222634" cy="531526"/>
          </a:xfrm>
          <a:prstGeom prst="rect">
            <a:avLst/>
          </a:prstGeom>
        </p:spPr>
        <p:txBody>
          <a:bodyPr vert="horz" wrap="square" lIns="0" tIns="8226" rIns="0" bIns="0" rtlCol="0">
            <a:spAutoFit/>
          </a:bodyPr>
          <a:lstStyle/>
          <a:p>
            <a:pPr>
              <a:spcBef>
                <a:spcPts val="65"/>
              </a:spcBef>
            </a:pPr>
            <a:r>
              <a:rPr dirty="0"/>
              <a:t>Silicon</a:t>
            </a:r>
            <a:r>
              <a:rPr spc="-48" dirty="0"/>
              <a:t> </a:t>
            </a:r>
            <a:r>
              <a:rPr spc="-14" dirty="0"/>
              <a:t>Area</a:t>
            </a:r>
          </a:p>
        </p:txBody>
      </p:sp>
      <p:sp>
        <p:nvSpPr>
          <p:cNvPr id="13" name="object 13"/>
          <p:cNvSpPr txBox="1"/>
          <p:nvPr/>
        </p:nvSpPr>
        <p:spPr>
          <a:xfrm>
            <a:off x="186556" y="4109468"/>
            <a:ext cx="6314209" cy="218236"/>
          </a:xfrm>
          <a:prstGeom prst="rect">
            <a:avLst/>
          </a:prstGeom>
        </p:spPr>
        <p:txBody>
          <a:bodyPr vert="horz" wrap="square" lIns="0" tIns="8226" rIns="0" bIns="0" rtlCol="0">
            <a:spAutoFit/>
          </a:bodyPr>
          <a:lstStyle/>
          <a:p>
            <a:pPr marL="329037" indent="-320378">
              <a:spcBef>
                <a:spcPts val="65"/>
              </a:spcBef>
              <a:buClr>
                <a:srgbClr val="CC0000"/>
              </a:buClr>
              <a:buFont typeface="Wingdings"/>
              <a:buChar char=""/>
              <a:tabLst>
                <a:tab pos="329037" algn="l"/>
              </a:tabLst>
            </a:pPr>
            <a:r>
              <a:rPr sz="1364" dirty="0">
                <a:latin typeface="Verdana"/>
                <a:cs typeface="Verdana"/>
              </a:rPr>
              <a:t>Active</a:t>
            </a:r>
            <a:r>
              <a:rPr sz="1364" spc="-44" dirty="0">
                <a:latin typeface="Verdana"/>
                <a:cs typeface="Verdana"/>
              </a:rPr>
              <a:t> </a:t>
            </a:r>
            <a:r>
              <a:rPr sz="1364" dirty="0">
                <a:latin typeface="Verdana"/>
                <a:cs typeface="Verdana"/>
              </a:rPr>
              <a:t>components</a:t>
            </a:r>
            <a:r>
              <a:rPr sz="1364" spc="-31" dirty="0">
                <a:latin typeface="Verdana"/>
                <a:cs typeface="Verdana"/>
              </a:rPr>
              <a:t> </a:t>
            </a:r>
            <a:r>
              <a:rPr sz="1364" dirty="0">
                <a:latin typeface="Verdana"/>
                <a:cs typeface="Verdana"/>
              </a:rPr>
              <a:t>scale</a:t>
            </a:r>
            <a:r>
              <a:rPr sz="1364" spc="-34" dirty="0">
                <a:latin typeface="Verdana"/>
                <a:cs typeface="Verdana"/>
              </a:rPr>
              <a:t> </a:t>
            </a:r>
            <a:r>
              <a:rPr sz="1364" dirty="0">
                <a:latin typeface="Verdana"/>
                <a:cs typeface="Verdana"/>
              </a:rPr>
              <a:t>better</a:t>
            </a:r>
            <a:r>
              <a:rPr sz="1364" spc="-34" dirty="0">
                <a:latin typeface="Verdana"/>
                <a:cs typeface="Verdana"/>
              </a:rPr>
              <a:t> </a:t>
            </a:r>
            <a:r>
              <a:rPr sz="1364" dirty="0">
                <a:latin typeface="Verdana"/>
                <a:cs typeface="Verdana"/>
              </a:rPr>
              <a:t>than</a:t>
            </a:r>
            <a:r>
              <a:rPr sz="1364" spc="-41" dirty="0">
                <a:latin typeface="Verdana"/>
                <a:cs typeface="Verdana"/>
              </a:rPr>
              <a:t> </a:t>
            </a:r>
            <a:r>
              <a:rPr sz="1364" dirty="0">
                <a:latin typeface="Verdana"/>
                <a:cs typeface="Verdana"/>
              </a:rPr>
              <a:t>passive</a:t>
            </a:r>
            <a:r>
              <a:rPr sz="1364" spc="-27" dirty="0">
                <a:latin typeface="Verdana"/>
                <a:cs typeface="Verdana"/>
              </a:rPr>
              <a:t> </a:t>
            </a:r>
            <a:r>
              <a:rPr sz="1364" dirty="0">
                <a:latin typeface="Verdana"/>
                <a:cs typeface="Verdana"/>
              </a:rPr>
              <a:t>with</a:t>
            </a:r>
            <a:r>
              <a:rPr sz="1364" spc="-37" dirty="0">
                <a:latin typeface="Verdana"/>
                <a:cs typeface="Verdana"/>
              </a:rPr>
              <a:t> </a:t>
            </a:r>
            <a:r>
              <a:rPr sz="1364" dirty="0">
                <a:latin typeface="Verdana"/>
                <a:cs typeface="Verdana"/>
              </a:rPr>
              <a:t>technology</a:t>
            </a:r>
            <a:r>
              <a:rPr sz="1364" spc="-31" dirty="0">
                <a:latin typeface="Verdana"/>
                <a:cs typeface="Verdana"/>
              </a:rPr>
              <a:t> </a:t>
            </a:r>
            <a:r>
              <a:rPr sz="1364" spc="-7" dirty="0">
                <a:latin typeface="Verdana"/>
                <a:cs typeface="Verdana"/>
              </a:rPr>
              <a:t>scaling</a:t>
            </a:r>
            <a:endParaRPr sz="1364" dirty="0">
              <a:latin typeface="Verdana"/>
              <a:cs typeface="Verdana"/>
            </a:endParaRPr>
          </a:p>
        </p:txBody>
      </p:sp>
      <p:sp>
        <p:nvSpPr>
          <p:cNvPr id="14" name="object 14"/>
          <p:cNvSpPr txBox="1"/>
          <p:nvPr/>
        </p:nvSpPr>
        <p:spPr>
          <a:xfrm>
            <a:off x="3036534" y="1649724"/>
            <a:ext cx="253278" cy="197641"/>
          </a:xfrm>
          <a:prstGeom prst="rect">
            <a:avLst/>
          </a:prstGeom>
        </p:spPr>
        <p:txBody>
          <a:bodyPr vert="horz" wrap="square" lIns="0" tIns="8659" rIns="0" bIns="0" rtlCol="0">
            <a:spAutoFit/>
          </a:bodyPr>
          <a:lstStyle/>
          <a:p>
            <a:pPr marL="25977">
              <a:spcBef>
                <a:spcPts val="68"/>
              </a:spcBef>
            </a:pPr>
            <a:r>
              <a:rPr sz="1841" spc="-25" baseline="13888" dirty="0">
                <a:latin typeface="Verdana"/>
                <a:cs typeface="Verdana"/>
              </a:rPr>
              <a:t>V</a:t>
            </a:r>
            <a:r>
              <a:rPr sz="818" spc="-17" dirty="0">
                <a:latin typeface="Verdana"/>
                <a:cs typeface="Verdana"/>
              </a:rPr>
              <a:t>in</a:t>
            </a:r>
            <a:endParaRPr sz="818">
              <a:latin typeface="Verdana"/>
              <a:cs typeface="Verdana"/>
            </a:endParaRPr>
          </a:p>
        </p:txBody>
      </p:sp>
      <p:grpSp>
        <p:nvGrpSpPr>
          <p:cNvPr id="15" name="object 15"/>
          <p:cNvGrpSpPr/>
          <p:nvPr/>
        </p:nvGrpSpPr>
        <p:grpSpPr>
          <a:xfrm>
            <a:off x="1424545" y="1998780"/>
            <a:ext cx="860714" cy="364981"/>
            <a:chOff x="2650108" y="2540383"/>
            <a:chExt cx="1262380" cy="535305"/>
          </a:xfrm>
        </p:grpSpPr>
        <p:sp>
          <p:nvSpPr>
            <p:cNvPr id="16" name="object 16"/>
            <p:cNvSpPr/>
            <p:nvPr/>
          </p:nvSpPr>
          <p:spPr>
            <a:xfrm>
              <a:off x="3432809" y="2817113"/>
              <a:ext cx="464820" cy="0"/>
            </a:xfrm>
            <a:custGeom>
              <a:avLst/>
              <a:gdLst/>
              <a:ahLst/>
              <a:cxnLst/>
              <a:rect l="l" t="t" r="r" b="b"/>
              <a:pathLst>
                <a:path w="464820">
                  <a:moveTo>
                    <a:pt x="0" y="0"/>
                  </a:moveTo>
                  <a:lnTo>
                    <a:pt x="464820" y="0"/>
                  </a:lnTo>
                </a:path>
              </a:pathLst>
            </a:custGeom>
            <a:ln w="28956">
              <a:solidFill>
                <a:srgbClr val="000000"/>
              </a:solidFill>
            </a:ln>
          </p:spPr>
          <p:txBody>
            <a:bodyPr wrap="square" lIns="0" tIns="0" rIns="0" bIns="0" rtlCol="0"/>
            <a:lstStyle/>
            <a:p>
              <a:endParaRPr sz="1227"/>
            </a:p>
          </p:txBody>
        </p:sp>
        <p:sp>
          <p:nvSpPr>
            <p:cNvPr id="17" name="object 17"/>
            <p:cNvSpPr/>
            <p:nvPr/>
          </p:nvSpPr>
          <p:spPr>
            <a:xfrm>
              <a:off x="2664713" y="2554988"/>
              <a:ext cx="755650" cy="506095"/>
            </a:xfrm>
            <a:custGeom>
              <a:avLst/>
              <a:gdLst/>
              <a:ahLst/>
              <a:cxnLst/>
              <a:rect l="l" t="t" r="r" b="b"/>
              <a:pathLst>
                <a:path w="755650" h="506094">
                  <a:moveTo>
                    <a:pt x="670814" y="0"/>
                  </a:moveTo>
                  <a:lnTo>
                    <a:pt x="84328" y="0"/>
                  </a:lnTo>
                  <a:lnTo>
                    <a:pt x="51504" y="6627"/>
                  </a:lnTo>
                  <a:lnTo>
                    <a:pt x="24699" y="24699"/>
                  </a:lnTo>
                  <a:lnTo>
                    <a:pt x="6627" y="51504"/>
                  </a:lnTo>
                  <a:lnTo>
                    <a:pt x="0" y="84327"/>
                  </a:lnTo>
                  <a:lnTo>
                    <a:pt x="0" y="421639"/>
                  </a:lnTo>
                  <a:lnTo>
                    <a:pt x="6627" y="454463"/>
                  </a:lnTo>
                  <a:lnTo>
                    <a:pt x="24699" y="481268"/>
                  </a:lnTo>
                  <a:lnTo>
                    <a:pt x="51504" y="499340"/>
                  </a:lnTo>
                  <a:lnTo>
                    <a:pt x="84328" y="505967"/>
                  </a:lnTo>
                  <a:lnTo>
                    <a:pt x="670814" y="505967"/>
                  </a:lnTo>
                  <a:lnTo>
                    <a:pt x="703637" y="499340"/>
                  </a:lnTo>
                  <a:lnTo>
                    <a:pt x="730442" y="481268"/>
                  </a:lnTo>
                  <a:lnTo>
                    <a:pt x="748514" y="454463"/>
                  </a:lnTo>
                  <a:lnTo>
                    <a:pt x="755142" y="421639"/>
                  </a:lnTo>
                  <a:lnTo>
                    <a:pt x="755142" y="84327"/>
                  </a:lnTo>
                  <a:lnTo>
                    <a:pt x="748514" y="51504"/>
                  </a:lnTo>
                  <a:lnTo>
                    <a:pt x="730442" y="24699"/>
                  </a:lnTo>
                  <a:lnTo>
                    <a:pt x="703637" y="6627"/>
                  </a:lnTo>
                  <a:lnTo>
                    <a:pt x="670814" y="0"/>
                  </a:lnTo>
                  <a:close/>
                </a:path>
              </a:pathLst>
            </a:custGeom>
            <a:solidFill>
              <a:srgbClr val="0000FF"/>
            </a:solidFill>
          </p:spPr>
          <p:txBody>
            <a:bodyPr wrap="square" lIns="0" tIns="0" rIns="0" bIns="0" rtlCol="0"/>
            <a:lstStyle/>
            <a:p>
              <a:endParaRPr sz="1227"/>
            </a:p>
          </p:txBody>
        </p:sp>
        <p:sp>
          <p:nvSpPr>
            <p:cNvPr id="18" name="object 18"/>
            <p:cNvSpPr/>
            <p:nvPr/>
          </p:nvSpPr>
          <p:spPr>
            <a:xfrm>
              <a:off x="2664713" y="2554988"/>
              <a:ext cx="755650" cy="506095"/>
            </a:xfrm>
            <a:custGeom>
              <a:avLst/>
              <a:gdLst/>
              <a:ahLst/>
              <a:cxnLst/>
              <a:rect l="l" t="t" r="r" b="b"/>
              <a:pathLst>
                <a:path w="755650" h="506094">
                  <a:moveTo>
                    <a:pt x="0" y="84327"/>
                  </a:moveTo>
                  <a:lnTo>
                    <a:pt x="6627" y="51504"/>
                  </a:lnTo>
                  <a:lnTo>
                    <a:pt x="24699" y="24699"/>
                  </a:lnTo>
                  <a:lnTo>
                    <a:pt x="51504" y="6627"/>
                  </a:lnTo>
                  <a:lnTo>
                    <a:pt x="84328" y="0"/>
                  </a:lnTo>
                  <a:lnTo>
                    <a:pt x="670814" y="0"/>
                  </a:lnTo>
                  <a:lnTo>
                    <a:pt x="703637" y="6627"/>
                  </a:lnTo>
                  <a:lnTo>
                    <a:pt x="730442" y="24699"/>
                  </a:lnTo>
                  <a:lnTo>
                    <a:pt x="748514" y="51504"/>
                  </a:lnTo>
                  <a:lnTo>
                    <a:pt x="755142" y="84327"/>
                  </a:lnTo>
                  <a:lnTo>
                    <a:pt x="755142" y="421639"/>
                  </a:lnTo>
                  <a:lnTo>
                    <a:pt x="748514" y="454463"/>
                  </a:lnTo>
                  <a:lnTo>
                    <a:pt x="730442" y="481268"/>
                  </a:lnTo>
                  <a:lnTo>
                    <a:pt x="703637" y="499340"/>
                  </a:lnTo>
                  <a:lnTo>
                    <a:pt x="670814" y="505967"/>
                  </a:lnTo>
                  <a:lnTo>
                    <a:pt x="84328" y="505967"/>
                  </a:lnTo>
                  <a:lnTo>
                    <a:pt x="51504" y="499340"/>
                  </a:lnTo>
                  <a:lnTo>
                    <a:pt x="24699" y="481268"/>
                  </a:lnTo>
                  <a:lnTo>
                    <a:pt x="6627" y="454463"/>
                  </a:lnTo>
                  <a:lnTo>
                    <a:pt x="0" y="421639"/>
                  </a:lnTo>
                  <a:lnTo>
                    <a:pt x="0" y="84327"/>
                  </a:lnTo>
                  <a:close/>
                </a:path>
              </a:pathLst>
            </a:custGeom>
            <a:ln w="28956">
              <a:solidFill>
                <a:srgbClr val="000000"/>
              </a:solidFill>
            </a:ln>
          </p:spPr>
          <p:txBody>
            <a:bodyPr wrap="square" lIns="0" tIns="0" rIns="0" bIns="0" rtlCol="0"/>
            <a:lstStyle/>
            <a:p>
              <a:endParaRPr sz="1227"/>
            </a:p>
          </p:txBody>
        </p:sp>
      </p:grpSp>
      <p:sp>
        <p:nvSpPr>
          <p:cNvPr id="19" name="object 19"/>
          <p:cNvSpPr txBox="1"/>
          <p:nvPr/>
        </p:nvSpPr>
        <p:spPr>
          <a:xfrm>
            <a:off x="1515007" y="2033969"/>
            <a:ext cx="353724" cy="260479"/>
          </a:xfrm>
          <a:prstGeom prst="rect">
            <a:avLst/>
          </a:prstGeom>
        </p:spPr>
        <p:txBody>
          <a:bodyPr vert="horz" wrap="square" lIns="0" tIns="8659" rIns="0" bIns="0" rtlCol="0">
            <a:spAutoFit/>
          </a:bodyPr>
          <a:lstStyle/>
          <a:p>
            <a:pPr marL="8659">
              <a:spcBef>
                <a:spcPts val="68"/>
              </a:spcBef>
            </a:pPr>
            <a:r>
              <a:rPr sz="1636" spc="-14" dirty="0">
                <a:solidFill>
                  <a:srgbClr val="FFFFFF"/>
                </a:solidFill>
                <a:latin typeface="Verdana"/>
                <a:cs typeface="Verdana"/>
              </a:rPr>
              <a:t>ctrl</a:t>
            </a:r>
            <a:endParaRPr sz="1636">
              <a:latin typeface="Verdana"/>
              <a:cs typeface="Verdana"/>
            </a:endParaRPr>
          </a:p>
        </p:txBody>
      </p:sp>
      <p:sp>
        <p:nvSpPr>
          <p:cNvPr id="20" name="object 20"/>
          <p:cNvSpPr/>
          <p:nvPr/>
        </p:nvSpPr>
        <p:spPr>
          <a:xfrm>
            <a:off x="611024" y="2077836"/>
            <a:ext cx="299605" cy="2165"/>
          </a:xfrm>
          <a:custGeom>
            <a:avLst/>
            <a:gdLst/>
            <a:ahLst/>
            <a:cxnLst/>
            <a:rect l="l" t="t" r="r" b="b"/>
            <a:pathLst>
              <a:path w="439419" h="3175">
                <a:moveTo>
                  <a:pt x="0" y="0"/>
                </a:moveTo>
                <a:lnTo>
                  <a:pt x="438912" y="3048"/>
                </a:lnTo>
              </a:path>
            </a:pathLst>
          </a:custGeom>
          <a:ln w="28955">
            <a:solidFill>
              <a:srgbClr val="000000"/>
            </a:solidFill>
          </a:ln>
        </p:spPr>
        <p:txBody>
          <a:bodyPr wrap="square" lIns="0" tIns="0" rIns="0" bIns="0" rtlCol="0"/>
          <a:lstStyle/>
          <a:p>
            <a:endParaRPr sz="1227"/>
          </a:p>
        </p:txBody>
      </p:sp>
      <p:sp>
        <p:nvSpPr>
          <p:cNvPr id="21" name="object 21"/>
          <p:cNvSpPr txBox="1"/>
          <p:nvPr/>
        </p:nvSpPr>
        <p:spPr>
          <a:xfrm>
            <a:off x="514537" y="1864302"/>
            <a:ext cx="301336" cy="197641"/>
          </a:xfrm>
          <a:prstGeom prst="rect">
            <a:avLst/>
          </a:prstGeom>
        </p:spPr>
        <p:txBody>
          <a:bodyPr vert="horz" wrap="square" lIns="0" tIns="8659" rIns="0" bIns="0" rtlCol="0">
            <a:spAutoFit/>
          </a:bodyPr>
          <a:lstStyle/>
          <a:p>
            <a:pPr marL="25977">
              <a:spcBef>
                <a:spcPts val="68"/>
              </a:spcBef>
            </a:pPr>
            <a:r>
              <a:rPr sz="1841" spc="-20" baseline="13888" dirty="0">
                <a:latin typeface="Verdana"/>
                <a:cs typeface="Verdana"/>
              </a:rPr>
              <a:t>V</a:t>
            </a:r>
            <a:r>
              <a:rPr sz="818" spc="-14" dirty="0">
                <a:latin typeface="Verdana"/>
                <a:cs typeface="Verdana"/>
              </a:rPr>
              <a:t>ref</a:t>
            </a:r>
            <a:endParaRPr sz="818">
              <a:latin typeface="Verdana"/>
              <a:cs typeface="Verdana"/>
            </a:endParaRPr>
          </a:p>
        </p:txBody>
      </p:sp>
      <p:grpSp>
        <p:nvGrpSpPr>
          <p:cNvPr id="22" name="object 22"/>
          <p:cNvGrpSpPr/>
          <p:nvPr/>
        </p:nvGrpSpPr>
        <p:grpSpPr>
          <a:xfrm>
            <a:off x="695104" y="2171267"/>
            <a:ext cx="1938338" cy="1400608"/>
            <a:chOff x="1580261" y="2793364"/>
            <a:chExt cx="2842895" cy="2054225"/>
          </a:xfrm>
        </p:grpSpPr>
        <p:sp>
          <p:nvSpPr>
            <p:cNvPr id="23" name="object 23"/>
            <p:cNvSpPr/>
            <p:nvPr/>
          </p:nvSpPr>
          <p:spPr>
            <a:xfrm>
              <a:off x="3432047" y="3517391"/>
              <a:ext cx="0" cy="508000"/>
            </a:xfrm>
            <a:custGeom>
              <a:avLst/>
              <a:gdLst/>
              <a:ahLst/>
              <a:cxnLst/>
              <a:rect l="l" t="t" r="r" b="b"/>
              <a:pathLst>
                <a:path h="508000">
                  <a:moveTo>
                    <a:pt x="0" y="507492"/>
                  </a:moveTo>
                  <a:lnTo>
                    <a:pt x="0" y="0"/>
                  </a:lnTo>
                </a:path>
              </a:pathLst>
            </a:custGeom>
            <a:ln w="28956">
              <a:solidFill>
                <a:srgbClr val="000000"/>
              </a:solidFill>
            </a:ln>
          </p:spPr>
          <p:txBody>
            <a:bodyPr wrap="square" lIns="0" tIns="0" rIns="0" bIns="0" rtlCol="0"/>
            <a:lstStyle/>
            <a:p>
              <a:endParaRPr sz="1227"/>
            </a:p>
          </p:txBody>
        </p:sp>
        <p:pic>
          <p:nvPicPr>
            <p:cNvPr id="24" name="object 24"/>
            <p:cNvPicPr/>
            <p:nvPr/>
          </p:nvPicPr>
          <p:blipFill>
            <a:blip r:embed="rId3" cstate="print"/>
            <a:stretch>
              <a:fillRect/>
            </a:stretch>
          </p:blipFill>
          <p:spPr>
            <a:xfrm>
              <a:off x="3388608" y="3473957"/>
              <a:ext cx="86868" cy="86867"/>
            </a:xfrm>
            <a:prstGeom prst="rect">
              <a:avLst/>
            </a:prstGeom>
          </p:spPr>
        </p:pic>
        <p:sp>
          <p:nvSpPr>
            <p:cNvPr id="25" name="object 25"/>
            <p:cNvSpPr/>
            <p:nvPr/>
          </p:nvSpPr>
          <p:spPr>
            <a:xfrm>
              <a:off x="3432047" y="4102607"/>
              <a:ext cx="0" cy="511809"/>
            </a:xfrm>
            <a:custGeom>
              <a:avLst/>
              <a:gdLst/>
              <a:ahLst/>
              <a:cxnLst/>
              <a:rect l="l" t="t" r="r" b="b"/>
              <a:pathLst>
                <a:path h="511810">
                  <a:moveTo>
                    <a:pt x="0" y="511301"/>
                  </a:moveTo>
                  <a:lnTo>
                    <a:pt x="0" y="0"/>
                  </a:lnTo>
                </a:path>
              </a:pathLst>
            </a:custGeom>
            <a:ln w="28956">
              <a:solidFill>
                <a:srgbClr val="000000"/>
              </a:solidFill>
            </a:ln>
          </p:spPr>
          <p:txBody>
            <a:bodyPr wrap="square" lIns="0" tIns="0" rIns="0" bIns="0" rtlCol="0"/>
            <a:lstStyle/>
            <a:p>
              <a:endParaRPr sz="1227"/>
            </a:p>
          </p:txBody>
        </p:sp>
        <p:sp>
          <p:nvSpPr>
            <p:cNvPr id="26" name="object 26"/>
            <p:cNvSpPr/>
            <p:nvPr/>
          </p:nvSpPr>
          <p:spPr>
            <a:xfrm>
              <a:off x="3278886" y="4026407"/>
              <a:ext cx="308610" cy="0"/>
            </a:xfrm>
            <a:custGeom>
              <a:avLst/>
              <a:gdLst/>
              <a:ahLst/>
              <a:cxnLst/>
              <a:rect l="l" t="t" r="r" b="b"/>
              <a:pathLst>
                <a:path w="308610">
                  <a:moveTo>
                    <a:pt x="308610" y="0"/>
                  </a:moveTo>
                  <a:lnTo>
                    <a:pt x="0" y="0"/>
                  </a:lnTo>
                </a:path>
              </a:pathLst>
            </a:custGeom>
            <a:ln w="28956">
              <a:solidFill>
                <a:srgbClr val="000000"/>
              </a:solidFill>
            </a:ln>
          </p:spPr>
          <p:txBody>
            <a:bodyPr wrap="square" lIns="0" tIns="0" rIns="0" bIns="0" rtlCol="0"/>
            <a:lstStyle/>
            <a:p>
              <a:endParaRPr sz="1227"/>
            </a:p>
          </p:txBody>
        </p:sp>
        <p:sp>
          <p:nvSpPr>
            <p:cNvPr id="27" name="object 27"/>
            <p:cNvSpPr/>
            <p:nvPr/>
          </p:nvSpPr>
          <p:spPr>
            <a:xfrm>
              <a:off x="3278886" y="4107941"/>
              <a:ext cx="308610" cy="0"/>
            </a:xfrm>
            <a:custGeom>
              <a:avLst/>
              <a:gdLst/>
              <a:ahLst/>
              <a:cxnLst/>
              <a:rect l="l" t="t" r="r" b="b"/>
              <a:pathLst>
                <a:path w="308610">
                  <a:moveTo>
                    <a:pt x="308610" y="0"/>
                  </a:moveTo>
                  <a:lnTo>
                    <a:pt x="0" y="0"/>
                  </a:lnTo>
                </a:path>
              </a:pathLst>
            </a:custGeom>
            <a:ln w="28956">
              <a:solidFill>
                <a:srgbClr val="000000"/>
              </a:solidFill>
            </a:ln>
          </p:spPr>
          <p:txBody>
            <a:bodyPr wrap="square" lIns="0" tIns="0" rIns="0" bIns="0" rtlCol="0"/>
            <a:lstStyle/>
            <a:p>
              <a:endParaRPr sz="1227"/>
            </a:p>
          </p:txBody>
        </p:sp>
        <p:sp>
          <p:nvSpPr>
            <p:cNvPr id="28" name="object 28"/>
            <p:cNvSpPr/>
            <p:nvPr/>
          </p:nvSpPr>
          <p:spPr>
            <a:xfrm>
              <a:off x="3315462" y="4732782"/>
              <a:ext cx="234315" cy="0"/>
            </a:xfrm>
            <a:custGeom>
              <a:avLst/>
              <a:gdLst/>
              <a:ahLst/>
              <a:cxnLst/>
              <a:rect l="l" t="t" r="r" b="b"/>
              <a:pathLst>
                <a:path w="234314">
                  <a:moveTo>
                    <a:pt x="0" y="0"/>
                  </a:moveTo>
                  <a:lnTo>
                    <a:pt x="233934" y="0"/>
                  </a:lnTo>
                </a:path>
              </a:pathLst>
            </a:custGeom>
            <a:ln w="28956">
              <a:solidFill>
                <a:srgbClr val="000000"/>
              </a:solidFill>
            </a:ln>
          </p:spPr>
          <p:txBody>
            <a:bodyPr wrap="square" lIns="0" tIns="0" rIns="0" bIns="0" rtlCol="0"/>
            <a:lstStyle/>
            <a:p>
              <a:endParaRPr sz="1227"/>
            </a:p>
          </p:txBody>
        </p:sp>
        <p:sp>
          <p:nvSpPr>
            <p:cNvPr id="29" name="object 29"/>
            <p:cNvSpPr/>
            <p:nvPr/>
          </p:nvSpPr>
          <p:spPr>
            <a:xfrm>
              <a:off x="3373374" y="4782311"/>
              <a:ext cx="116205" cy="0"/>
            </a:xfrm>
            <a:custGeom>
              <a:avLst/>
              <a:gdLst/>
              <a:ahLst/>
              <a:cxnLst/>
              <a:rect l="l" t="t" r="r" b="b"/>
              <a:pathLst>
                <a:path w="116204">
                  <a:moveTo>
                    <a:pt x="0" y="0"/>
                  </a:moveTo>
                  <a:lnTo>
                    <a:pt x="115823" y="0"/>
                  </a:lnTo>
                </a:path>
              </a:pathLst>
            </a:custGeom>
            <a:ln w="28956">
              <a:solidFill>
                <a:srgbClr val="000000"/>
              </a:solidFill>
            </a:ln>
          </p:spPr>
          <p:txBody>
            <a:bodyPr wrap="square" lIns="0" tIns="0" rIns="0" bIns="0" rtlCol="0"/>
            <a:lstStyle/>
            <a:p>
              <a:endParaRPr sz="1227"/>
            </a:p>
          </p:txBody>
        </p:sp>
        <p:sp>
          <p:nvSpPr>
            <p:cNvPr id="30" name="object 30"/>
            <p:cNvSpPr/>
            <p:nvPr/>
          </p:nvSpPr>
          <p:spPr>
            <a:xfrm>
              <a:off x="3400806" y="4832604"/>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endParaRPr sz="1227"/>
            </a:p>
          </p:txBody>
        </p:sp>
        <p:sp>
          <p:nvSpPr>
            <p:cNvPr id="31" name="object 31"/>
            <p:cNvSpPr/>
            <p:nvPr/>
          </p:nvSpPr>
          <p:spPr>
            <a:xfrm>
              <a:off x="3432047" y="4536185"/>
              <a:ext cx="0" cy="196850"/>
            </a:xfrm>
            <a:custGeom>
              <a:avLst/>
              <a:gdLst/>
              <a:ahLst/>
              <a:cxnLst/>
              <a:rect l="l" t="t" r="r" b="b"/>
              <a:pathLst>
                <a:path h="196850">
                  <a:moveTo>
                    <a:pt x="0" y="196595"/>
                  </a:moveTo>
                  <a:lnTo>
                    <a:pt x="0" y="0"/>
                  </a:lnTo>
                </a:path>
              </a:pathLst>
            </a:custGeom>
            <a:ln w="28956">
              <a:solidFill>
                <a:srgbClr val="000000"/>
              </a:solidFill>
            </a:ln>
          </p:spPr>
          <p:txBody>
            <a:bodyPr wrap="square" lIns="0" tIns="0" rIns="0" bIns="0" rtlCol="0"/>
            <a:lstStyle/>
            <a:p>
              <a:endParaRPr sz="1227"/>
            </a:p>
          </p:txBody>
        </p:sp>
        <p:sp>
          <p:nvSpPr>
            <p:cNvPr id="32" name="object 32"/>
            <p:cNvSpPr/>
            <p:nvPr/>
          </p:nvSpPr>
          <p:spPr>
            <a:xfrm>
              <a:off x="4283963" y="3102863"/>
              <a:ext cx="5080" cy="741045"/>
            </a:xfrm>
            <a:custGeom>
              <a:avLst/>
              <a:gdLst/>
              <a:ahLst/>
              <a:cxnLst/>
              <a:rect l="l" t="t" r="r" b="b"/>
              <a:pathLst>
                <a:path w="5079" h="741045">
                  <a:moveTo>
                    <a:pt x="0" y="0"/>
                  </a:moveTo>
                  <a:lnTo>
                    <a:pt x="4572" y="740664"/>
                  </a:lnTo>
                </a:path>
              </a:pathLst>
            </a:custGeom>
            <a:ln w="28955">
              <a:solidFill>
                <a:srgbClr val="000000"/>
              </a:solidFill>
            </a:ln>
          </p:spPr>
          <p:txBody>
            <a:bodyPr wrap="square" lIns="0" tIns="0" rIns="0" bIns="0" rtlCol="0"/>
            <a:lstStyle/>
            <a:p>
              <a:endParaRPr sz="1227"/>
            </a:p>
          </p:txBody>
        </p:sp>
        <p:sp>
          <p:nvSpPr>
            <p:cNvPr id="33" name="object 33"/>
            <p:cNvSpPr/>
            <p:nvPr/>
          </p:nvSpPr>
          <p:spPr>
            <a:xfrm>
              <a:off x="1594866" y="3500627"/>
              <a:ext cx="2694940" cy="7620"/>
            </a:xfrm>
            <a:custGeom>
              <a:avLst/>
              <a:gdLst/>
              <a:ahLst/>
              <a:cxnLst/>
              <a:rect l="l" t="t" r="r" b="b"/>
              <a:pathLst>
                <a:path w="2694940" h="7620">
                  <a:moveTo>
                    <a:pt x="0" y="7620"/>
                  </a:moveTo>
                  <a:lnTo>
                    <a:pt x="2694432" y="0"/>
                  </a:lnTo>
                </a:path>
              </a:pathLst>
            </a:custGeom>
            <a:ln w="28956">
              <a:solidFill>
                <a:srgbClr val="000000"/>
              </a:solidFill>
            </a:ln>
          </p:spPr>
          <p:txBody>
            <a:bodyPr wrap="square" lIns="0" tIns="0" rIns="0" bIns="0" rtlCol="0"/>
            <a:lstStyle/>
            <a:p>
              <a:endParaRPr sz="1227"/>
            </a:p>
          </p:txBody>
        </p:sp>
        <p:pic>
          <p:nvPicPr>
            <p:cNvPr id="34" name="object 34"/>
            <p:cNvPicPr/>
            <p:nvPr/>
          </p:nvPicPr>
          <p:blipFill>
            <a:blip r:embed="rId4" cstate="print"/>
            <a:stretch>
              <a:fillRect/>
            </a:stretch>
          </p:blipFill>
          <p:spPr>
            <a:xfrm>
              <a:off x="4245863" y="3457190"/>
              <a:ext cx="86867" cy="86868"/>
            </a:xfrm>
            <a:prstGeom prst="rect">
              <a:avLst/>
            </a:prstGeom>
          </p:spPr>
        </p:pic>
        <p:sp>
          <p:nvSpPr>
            <p:cNvPr id="35" name="object 35"/>
            <p:cNvSpPr/>
            <p:nvPr/>
          </p:nvSpPr>
          <p:spPr>
            <a:xfrm>
              <a:off x="1603248" y="2807969"/>
              <a:ext cx="3810" cy="691515"/>
            </a:xfrm>
            <a:custGeom>
              <a:avLst/>
              <a:gdLst/>
              <a:ahLst/>
              <a:cxnLst/>
              <a:rect l="l" t="t" r="r" b="b"/>
              <a:pathLst>
                <a:path w="3809" h="691514">
                  <a:moveTo>
                    <a:pt x="0" y="0"/>
                  </a:moveTo>
                  <a:lnTo>
                    <a:pt x="3810" y="691134"/>
                  </a:lnTo>
                </a:path>
              </a:pathLst>
            </a:custGeom>
            <a:ln w="28955">
              <a:solidFill>
                <a:srgbClr val="000000"/>
              </a:solidFill>
            </a:ln>
          </p:spPr>
          <p:txBody>
            <a:bodyPr wrap="square" lIns="0" tIns="0" rIns="0" bIns="0" rtlCol="0"/>
            <a:lstStyle/>
            <a:p>
              <a:endParaRPr sz="1227"/>
            </a:p>
          </p:txBody>
        </p:sp>
        <p:sp>
          <p:nvSpPr>
            <p:cNvPr id="36" name="object 36"/>
            <p:cNvSpPr/>
            <p:nvPr/>
          </p:nvSpPr>
          <p:spPr>
            <a:xfrm>
              <a:off x="2436113" y="2807969"/>
              <a:ext cx="228600" cy="0"/>
            </a:xfrm>
            <a:custGeom>
              <a:avLst/>
              <a:gdLst/>
              <a:ahLst/>
              <a:cxnLst/>
              <a:rect l="l" t="t" r="r" b="b"/>
              <a:pathLst>
                <a:path w="228600">
                  <a:moveTo>
                    <a:pt x="0" y="0"/>
                  </a:moveTo>
                  <a:lnTo>
                    <a:pt x="228600" y="0"/>
                  </a:lnTo>
                </a:path>
              </a:pathLst>
            </a:custGeom>
            <a:ln w="28956">
              <a:solidFill>
                <a:srgbClr val="000000"/>
              </a:solidFill>
            </a:ln>
          </p:spPr>
          <p:txBody>
            <a:bodyPr wrap="square" lIns="0" tIns="0" rIns="0" bIns="0" rtlCol="0"/>
            <a:lstStyle/>
            <a:p>
              <a:endParaRPr sz="1227"/>
            </a:p>
          </p:txBody>
        </p:sp>
        <p:sp>
          <p:nvSpPr>
            <p:cNvPr id="37" name="object 37"/>
            <p:cNvSpPr/>
            <p:nvPr/>
          </p:nvSpPr>
          <p:spPr>
            <a:xfrm>
              <a:off x="4290821" y="4324350"/>
              <a:ext cx="0" cy="243204"/>
            </a:xfrm>
            <a:custGeom>
              <a:avLst/>
              <a:gdLst/>
              <a:ahLst/>
              <a:cxnLst/>
              <a:rect l="l" t="t" r="r" b="b"/>
              <a:pathLst>
                <a:path h="243204">
                  <a:moveTo>
                    <a:pt x="0" y="0"/>
                  </a:moveTo>
                  <a:lnTo>
                    <a:pt x="0" y="243078"/>
                  </a:lnTo>
                </a:path>
              </a:pathLst>
            </a:custGeom>
            <a:ln w="28956">
              <a:solidFill>
                <a:srgbClr val="000000"/>
              </a:solidFill>
            </a:ln>
          </p:spPr>
          <p:txBody>
            <a:bodyPr wrap="square" lIns="0" tIns="0" rIns="0" bIns="0" rtlCol="0"/>
            <a:lstStyle/>
            <a:p>
              <a:endParaRPr sz="1227"/>
            </a:p>
          </p:txBody>
        </p:sp>
        <p:sp>
          <p:nvSpPr>
            <p:cNvPr id="38" name="object 38"/>
            <p:cNvSpPr/>
            <p:nvPr/>
          </p:nvSpPr>
          <p:spPr>
            <a:xfrm>
              <a:off x="4174236" y="4732782"/>
              <a:ext cx="234315" cy="0"/>
            </a:xfrm>
            <a:custGeom>
              <a:avLst/>
              <a:gdLst/>
              <a:ahLst/>
              <a:cxnLst/>
              <a:rect l="l" t="t" r="r" b="b"/>
              <a:pathLst>
                <a:path w="234314">
                  <a:moveTo>
                    <a:pt x="0" y="0"/>
                  </a:moveTo>
                  <a:lnTo>
                    <a:pt x="233934" y="0"/>
                  </a:lnTo>
                </a:path>
              </a:pathLst>
            </a:custGeom>
            <a:ln w="28956">
              <a:solidFill>
                <a:srgbClr val="000000"/>
              </a:solidFill>
            </a:ln>
          </p:spPr>
          <p:txBody>
            <a:bodyPr wrap="square" lIns="0" tIns="0" rIns="0" bIns="0" rtlCol="0"/>
            <a:lstStyle/>
            <a:p>
              <a:endParaRPr sz="1227"/>
            </a:p>
          </p:txBody>
        </p:sp>
        <p:sp>
          <p:nvSpPr>
            <p:cNvPr id="39" name="object 39"/>
            <p:cNvSpPr/>
            <p:nvPr/>
          </p:nvSpPr>
          <p:spPr>
            <a:xfrm>
              <a:off x="4232909" y="4782311"/>
              <a:ext cx="115570" cy="0"/>
            </a:xfrm>
            <a:custGeom>
              <a:avLst/>
              <a:gdLst/>
              <a:ahLst/>
              <a:cxnLst/>
              <a:rect l="l" t="t" r="r" b="b"/>
              <a:pathLst>
                <a:path w="115570">
                  <a:moveTo>
                    <a:pt x="0" y="0"/>
                  </a:moveTo>
                  <a:lnTo>
                    <a:pt x="115062" y="0"/>
                  </a:lnTo>
                </a:path>
              </a:pathLst>
            </a:custGeom>
            <a:ln w="28956">
              <a:solidFill>
                <a:srgbClr val="000000"/>
              </a:solidFill>
            </a:ln>
          </p:spPr>
          <p:txBody>
            <a:bodyPr wrap="square" lIns="0" tIns="0" rIns="0" bIns="0" rtlCol="0"/>
            <a:lstStyle/>
            <a:p>
              <a:endParaRPr sz="1227"/>
            </a:p>
          </p:txBody>
        </p:sp>
        <p:sp>
          <p:nvSpPr>
            <p:cNvPr id="40" name="object 40"/>
            <p:cNvSpPr/>
            <p:nvPr/>
          </p:nvSpPr>
          <p:spPr>
            <a:xfrm>
              <a:off x="4260341" y="4832604"/>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endParaRPr sz="1227"/>
            </a:p>
          </p:txBody>
        </p:sp>
        <p:sp>
          <p:nvSpPr>
            <p:cNvPr id="41" name="object 41"/>
            <p:cNvSpPr/>
            <p:nvPr/>
          </p:nvSpPr>
          <p:spPr>
            <a:xfrm>
              <a:off x="4291584" y="4536185"/>
              <a:ext cx="0" cy="196850"/>
            </a:xfrm>
            <a:custGeom>
              <a:avLst/>
              <a:gdLst/>
              <a:ahLst/>
              <a:cxnLst/>
              <a:rect l="l" t="t" r="r" b="b"/>
              <a:pathLst>
                <a:path h="196850">
                  <a:moveTo>
                    <a:pt x="0" y="196595"/>
                  </a:moveTo>
                  <a:lnTo>
                    <a:pt x="0" y="0"/>
                  </a:lnTo>
                </a:path>
              </a:pathLst>
            </a:custGeom>
            <a:ln w="28956">
              <a:solidFill>
                <a:srgbClr val="000000"/>
              </a:solidFill>
            </a:ln>
          </p:spPr>
          <p:txBody>
            <a:bodyPr wrap="square" lIns="0" tIns="0" rIns="0" bIns="0" rtlCol="0"/>
            <a:lstStyle/>
            <a:p>
              <a:endParaRPr sz="1227"/>
            </a:p>
          </p:txBody>
        </p:sp>
      </p:grpSp>
      <p:sp>
        <p:nvSpPr>
          <p:cNvPr id="42" name="object 42"/>
          <p:cNvSpPr txBox="1"/>
          <p:nvPr/>
        </p:nvSpPr>
        <p:spPr>
          <a:xfrm>
            <a:off x="2555780" y="2567825"/>
            <a:ext cx="328613" cy="197641"/>
          </a:xfrm>
          <a:prstGeom prst="rect">
            <a:avLst/>
          </a:prstGeom>
        </p:spPr>
        <p:txBody>
          <a:bodyPr vert="horz" wrap="square" lIns="0" tIns="8659" rIns="0" bIns="0" rtlCol="0">
            <a:spAutoFit/>
          </a:bodyPr>
          <a:lstStyle/>
          <a:p>
            <a:pPr marL="25977">
              <a:spcBef>
                <a:spcPts val="68"/>
              </a:spcBef>
            </a:pPr>
            <a:r>
              <a:rPr sz="1841" spc="-20" baseline="13888" dirty="0">
                <a:latin typeface="Verdana"/>
                <a:cs typeface="Verdana"/>
              </a:rPr>
              <a:t>V</a:t>
            </a:r>
            <a:r>
              <a:rPr sz="818" spc="-14" dirty="0">
                <a:latin typeface="Verdana"/>
                <a:cs typeface="Verdana"/>
              </a:rPr>
              <a:t>out</a:t>
            </a:r>
            <a:endParaRPr sz="818">
              <a:latin typeface="Verdana"/>
              <a:cs typeface="Verdana"/>
            </a:endParaRPr>
          </a:p>
        </p:txBody>
      </p:sp>
      <p:sp>
        <p:nvSpPr>
          <p:cNvPr id="43" name="object 43"/>
          <p:cNvSpPr txBox="1"/>
          <p:nvPr/>
        </p:nvSpPr>
        <p:spPr>
          <a:xfrm>
            <a:off x="908408" y="2076977"/>
            <a:ext cx="352858" cy="197578"/>
          </a:xfrm>
          <a:prstGeom prst="rect">
            <a:avLst/>
          </a:prstGeom>
        </p:spPr>
        <p:txBody>
          <a:bodyPr vert="horz" wrap="square" lIns="0" tIns="8659" rIns="0" bIns="0" rtlCol="0">
            <a:spAutoFit/>
          </a:bodyPr>
          <a:lstStyle/>
          <a:p>
            <a:pPr marL="8659">
              <a:spcBef>
                <a:spcPts val="68"/>
              </a:spcBef>
            </a:pPr>
            <a:r>
              <a:rPr sz="1227" spc="-17" dirty="0">
                <a:solidFill>
                  <a:srgbClr val="FFFFFF"/>
                </a:solidFill>
                <a:latin typeface="Verdana"/>
                <a:cs typeface="Verdana"/>
              </a:rPr>
              <a:t>ADC</a:t>
            </a:r>
            <a:endParaRPr sz="1227">
              <a:latin typeface="Verdana"/>
              <a:cs typeface="Verdana"/>
            </a:endParaRPr>
          </a:p>
        </p:txBody>
      </p:sp>
      <p:grpSp>
        <p:nvGrpSpPr>
          <p:cNvPr id="44" name="object 44"/>
          <p:cNvGrpSpPr/>
          <p:nvPr/>
        </p:nvGrpSpPr>
        <p:grpSpPr>
          <a:xfrm>
            <a:off x="703504" y="1747405"/>
            <a:ext cx="2863561" cy="1633538"/>
            <a:chOff x="1592580" y="2171700"/>
            <a:chExt cx="4199890" cy="2395855"/>
          </a:xfrm>
        </p:grpSpPr>
        <p:sp>
          <p:nvSpPr>
            <p:cNvPr id="45" name="object 45"/>
            <p:cNvSpPr/>
            <p:nvPr/>
          </p:nvSpPr>
          <p:spPr>
            <a:xfrm>
              <a:off x="4600956" y="2697480"/>
              <a:ext cx="119380" cy="234315"/>
            </a:xfrm>
            <a:custGeom>
              <a:avLst/>
              <a:gdLst/>
              <a:ahLst/>
              <a:cxnLst/>
              <a:rect l="l" t="t" r="r" b="b"/>
              <a:pathLst>
                <a:path w="119379" h="234314">
                  <a:moveTo>
                    <a:pt x="0" y="233934"/>
                  </a:moveTo>
                  <a:lnTo>
                    <a:pt x="0" y="0"/>
                  </a:lnTo>
                </a:path>
                <a:path w="119379" h="234314">
                  <a:moveTo>
                    <a:pt x="0" y="233934"/>
                  </a:moveTo>
                  <a:lnTo>
                    <a:pt x="118872" y="233934"/>
                  </a:lnTo>
                </a:path>
              </a:pathLst>
            </a:custGeom>
            <a:ln w="28956">
              <a:solidFill>
                <a:srgbClr val="000000"/>
              </a:solidFill>
            </a:ln>
          </p:spPr>
          <p:txBody>
            <a:bodyPr wrap="square" lIns="0" tIns="0" rIns="0" bIns="0" rtlCol="0"/>
            <a:lstStyle/>
            <a:p>
              <a:endParaRPr sz="1227"/>
            </a:p>
          </p:txBody>
        </p:sp>
        <p:sp>
          <p:nvSpPr>
            <p:cNvPr id="46" name="object 46"/>
            <p:cNvSpPr/>
            <p:nvPr/>
          </p:nvSpPr>
          <p:spPr>
            <a:xfrm>
              <a:off x="4600956" y="2697480"/>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endParaRPr sz="1227"/>
            </a:p>
          </p:txBody>
        </p:sp>
        <p:sp>
          <p:nvSpPr>
            <p:cNvPr id="47" name="object 47"/>
            <p:cNvSpPr/>
            <p:nvPr/>
          </p:nvSpPr>
          <p:spPr>
            <a:xfrm>
              <a:off x="4719828" y="2503170"/>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sp>
          <p:nvSpPr>
            <p:cNvPr id="48" name="object 48"/>
            <p:cNvSpPr/>
            <p:nvPr/>
          </p:nvSpPr>
          <p:spPr>
            <a:xfrm>
              <a:off x="4719828" y="2933700"/>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sp>
          <p:nvSpPr>
            <p:cNvPr id="49" name="object 49"/>
            <p:cNvSpPr/>
            <p:nvPr/>
          </p:nvSpPr>
          <p:spPr>
            <a:xfrm>
              <a:off x="4676394" y="3086100"/>
              <a:ext cx="86995" cy="86995"/>
            </a:xfrm>
            <a:custGeom>
              <a:avLst/>
              <a:gdLst/>
              <a:ahLst/>
              <a:cxnLst/>
              <a:rect l="l" t="t" r="r" b="b"/>
              <a:pathLst>
                <a:path w="86995" h="86994">
                  <a:moveTo>
                    <a:pt x="43434" y="0"/>
                  </a:moveTo>
                  <a:lnTo>
                    <a:pt x="26526" y="3412"/>
                  </a:lnTo>
                  <a:lnTo>
                    <a:pt x="12720" y="12720"/>
                  </a:lnTo>
                  <a:lnTo>
                    <a:pt x="3412" y="26526"/>
                  </a:lnTo>
                  <a:lnTo>
                    <a:pt x="0" y="43434"/>
                  </a:lnTo>
                  <a:lnTo>
                    <a:pt x="3412" y="60341"/>
                  </a:lnTo>
                  <a:lnTo>
                    <a:pt x="12720" y="74147"/>
                  </a:lnTo>
                  <a:lnTo>
                    <a:pt x="26526" y="83455"/>
                  </a:lnTo>
                  <a:lnTo>
                    <a:pt x="43434" y="86868"/>
                  </a:lnTo>
                  <a:lnTo>
                    <a:pt x="60341" y="83455"/>
                  </a:lnTo>
                  <a:lnTo>
                    <a:pt x="74147" y="74147"/>
                  </a:lnTo>
                  <a:lnTo>
                    <a:pt x="83455" y="60341"/>
                  </a:lnTo>
                  <a:lnTo>
                    <a:pt x="86868" y="43434"/>
                  </a:lnTo>
                  <a:lnTo>
                    <a:pt x="83455" y="26526"/>
                  </a:lnTo>
                  <a:lnTo>
                    <a:pt x="74147" y="12720"/>
                  </a:lnTo>
                  <a:lnTo>
                    <a:pt x="60341" y="3412"/>
                  </a:lnTo>
                  <a:lnTo>
                    <a:pt x="43434" y="0"/>
                  </a:lnTo>
                  <a:close/>
                </a:path>
              </a:pathLst>
            </a:custGeom>
            <a:solidFill>
              <a:srgbClr val="000000"/>
            </a:solidFill>
          </p:spPr>
          <p:txBody>
            <a:bodyPr wrap="square" lIns="0" tIns="0" rIns="0" bIns="0" rtlCol="0"/>
            <a:lstStyle/>
            <a:p>
              <a:endParaRPr sz="1227"/>
            </a:p>
          </p:txBody>
        </p:sp>
        <p:pic>
          <p:nvPicPr>
            <p:cNvPr id="50" name="object 50"/>
            <p:cNvPicPr/>
            <p:nvPr/>
          </p:nvPicPr>
          <p:blipFill>
            <a:blip r:embed="rId2" cstate="print"/>
            <a:stretch>
              <a:fillRect/>
            </a:stretch>
          </p:blipFill>
          <p:spPr>
            <a:xfrm>
              <a:off x="4328922" y="2701290"/>
              <a:ext cx="208788" cy="233934"/>
            </a:xfrm>
            <a:prstGeom prst="rect">
              <a:avLst/>
            </a:prstGeom>
          </p:spPr>
        </p:pic>
        <p:sp>
          <p:nvSpPr>
            <p:cNvPr id="51" name="object 51"/>
            <p:cNvSpPr/>
            <p:nvPr/>
          </p:nvSpPr>
          <p:spPr>
            <a:xfrm>
              <a:off x="5630418" y="2697480"/>
              <a:ext cx="118110" cy="234315"/>
            </a:xfrm>
            <a:custGeom>
              <a:avLst/>
              <a:gdLst/>
              <a:ahLst/>
              <a:cxnLst/>
              <a:rect l="l" t="t" r="r" b="b"/>
              <a:pathLst>
                <a:path w="118110" h="234314">
                  <a:moveTo>
                    <a:pt x="0" y="233934"/>
                  </a:moveTo>
                  <a:lnTo>
                    <a:pt x="0" y="0"/>
                  </a:lnTo>
                </a:path>
                <a:path w="118110" h="234314">
                  <a:moveTo>
                    <a:pt x="0" y="233934"/>
                  </a:moveTo>
                  <a:lnTo>
                    <a:pt x="118110" y="233934"/>
                  </a:lnTo>
                </a:path>
              </a:pathLst>
            </a:custGeom>
            <a:ln w="28956">
              <a:solidFill>
                <a:srgbClr val="000000"/>
              </a:solidFill>
            </a:ln>
          </p:spPr>
          <p:txBody>
            <a:bodyPr wrap="square" lIns="0" tIns="0" rIns="0" bIns="0" rtlCol="0"/>
            <a:lstStyle/>
            <a:p>
              <a:endParaRPr sz="1227"/>
            </a:p>
          </p:txBody>
        </p:sp>
        <p:sp>
          <p:nvSpPr>
            <p:cNvPr id="52" name="object 52"/>
            <p:cNvSpPr/>
            <p:nvPr/>
          </p:nvSpPr>
          <p:spPr>
            <a:xfrm>
              <a:off x="5630418" y="2697480"/>
              <a:ext cx="118110" cy="0"/>
            </a:xfrm>
            <a:custGeom>
              <a:avLst/>
              <a:gdLst/>
              <a:ahLst/>
              <a:cxnLst/>
              <a:rect l="l" t="t" r="r" b="b"/>
              <a:pathLst>
                <a:path w="118110">
                  <a:moveTo>
                    <a:pt x="0" y="0"/>
                  </a:moveTo>
                  <a:lnTo>
                    <a:pt x="118110" y="0"/>
                  </a:lnTo>
                </a:path>
              </a:pathLst>
            </a:custGeom>
            <a:ln w="28956">
              <a:solidFill>
                <a:srgbClr val="000000"/>
              </a:solidFill>
            </a:ln>
          </p:spPr>
          <p:txBody>
            <a:bodyPr wrap="square" lIns="0" tIns="0" rIns="0" bIns="0" rtlCol="0"/>
            <a:lstStyle/>
            <a:p>
              <a:endParaRPr sz="1227"/>
            </a:p>
          </p:txBody>
        </p:sp>
        <p:sp>
          <p:nvSpPr>
            <p:cNvPr id="53" name="object 53"/>
            <p:cNvSpPr/>
            <p:nvPr/>
          </p:nvSpPr>
          <p:spPr>
            <a:xfrm>
              <a:off x="5748527" y="2503170"/>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sp>
          <p:nvSpPr>
            <p:cNvPr id="54" name="object 54"/>
            <p:cNvSpPr/>
            <p:nvPr/>
          </p:nvSpPr>
          <p:spPr>
            <a:xfrm>
              <a:off x="5748527" y="2933700"/>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sp>
          <p:nvSpPr>
            <p:cNvPr id="55" name="object 55"/>
            <p:cNvSpPr/>
            <p:nvPr/>
          </p:nvSpPr>
          <p:spPr>
            <a:xfrm>
              <a:off x="5705094" y="3086100"/>
              <a:ext cx="86995" cy="86995"/>
            </a:xfrm>
            <a:custGeom>
              <a:avLst/>
              <a:gdLst/>
              <a:ahLst/>
              <a:cxnLst/>
              <a:rect l="l" t="t" r="r" b="b"/>
              <a:pathLst>
                <a:path w="86995" h="86994">
                  <a:moveTo>
                    <a:pt x="43434" y="0"/>
                  </a:moveTo>
                  <a:lnTo>
                    <a:pt x="26526" y="3412"/>
                  </a:lnTo>
                  <a:lnTo>
                    <a:pt x="12720" y="12720"/>
                  </a:lnTo>
                  <a:lnTo>
                    <a:pt x="3412" y="26526"/>
                  </a:lnTo>
                  <a:lnTo>
                    <a:pt x="0" y="43434"/>
                  </a:lnTo>
                  <a:lnTo>
                    <a:pt x="3412" y="60341"/>
                  </a:lnTo>
                  <a:lnTo>
                    <a:pt x="12720" y="74147"/>
                  </a:lnTo>
                  <a:lnTo>
                    <a:pt x="26526" y="83455"/>
                  </a:lnTo>
                  <a:lnTo>
                    <a:pt x="43434" y="86868"/>
                  </a:lnTo>
                  <a:lnTo>
                    <a:pt x="60341" y="83455"/>
                  </a:lnTo>
                  <a:lnTo>
                    <a:pt x="74147" y="74147"/>
                  </a:lnTo>
                  <a:lnTo>
                    <a:pt x="83455" y="60341"/>
                  </a:lnTo>
                  <a:lnTo>
                    <a:pt x="86868" y="43434"/>
                  </a:lnTo>
                  <a:lnTo>
                    <a:pt x="83455" y="26526"/>
                  </a:lnTo>
                  <a:lnTo>
                    <a:pt x="74147" y="12720"/>
                  </a:lnTo>
                  <a:lnTo>
                    <a:pt x="60341" y="3412"/>
                  </a:lnTo>
                  <a:lnTo>
                    <a:pt x="43434" y="0"/>
                  </a:lnTo>
                  <a:close/>
                </a:path>
              </a:pathLst>
            </a:custGeom>
            <a:solidFill>
              <a:srgbClr val="000000"/>
            </a:solidFill>
          </p:spPr>
          <p:txBody>
            <a:bodyPr wrap="square" lIns="0" tIns="0" rIns="0" bIns="0" rtlCol="0"/>
            <a:lstStyle/>
            <a:p>
              <a:endParaRPr sz="1227"/>
            </a:p>
          </p:txBody>
        </p:sp>
        <p:pic>
          <p:nvPicPr>
            <p:cNvPr id="56" name="object 56"/>
            <p:cNvPicPr/>
            <p:nvPr/>
          </p:nvPicPr>
          <p:blipFill>
            <a:blip r:embed="rId2" cstate="print"/>
            <a:stretch>
              <a:fillRect/>
            </a:stretch>
          </p:blipFill>
          <p:spPr>
            <a:xfrm>
              <a:off x="5358383" y="2701290"/>
              <a:ext cx="208788" cy="233934"/>
            </a:xfrm>
            <a:prstGeom prst="rect">
              <a:avLst/>
            </a:prstGeom>
          </p:spPr>
        </p:pic>
        <p:sp>
          <p:nvSpPr>
            <p:cNvPr id="57" name="object 57"/>
            <p:cNvSpPr/>
            <p:nvPr/>
          </p:nvSpPr>
          <p:spPr>
            <a:xfrm>
              <a:off x="4914519" y="2816733"/>
              <a:ext cx="329565" cy="0"/>
            </a:xfrm>
            <a:custGeom>
              <a:avLst/>
              <a:gdLst/>
              <a:ahLst/>
              <a:cxnLst/>
              <a:rect l="l" t="t" r="r" b="b"/>
              <a:pathLst>
                <a:path w="329564">
                  <a:moveTo>
                    <a:pt x="0" y="0"/>
                  </a:moveTo>
                  <a:lnTo>
                    <a:pt x="329184" y="0"/>
                  </a:lnTo>
                </a:path>
              </a:pathLst>
            </a:custGeom>
            <a:ln w="63246">
              <a:solidFill>
                <a:srgbClr val="000000"/>
              </a:solidFill>
              <a:prstDash val="dot"/>
            </a:ln>
          </p:spPr>
          <p:txBody>
            <a:bodyPr wrap="square" lIns="0" tIns="0" rIns="0" bIns="0" rtlCol="0"/>
            <a:lstStyle/>
            <a:p>
              <a:endParaRPr sz="1227"/>
            </a:p>
          </p:txBody>
        </p:sp>
        <p:sp>
          <p:nvSpPr>
            <p:cNvPr id="58" name="object 58"/>
            <p:cNvSpPr/>
            <p:nvPr/>
          </p:nvSpPr>
          <p:spPr>
            <a:xfrm>
              <a:off x="4285487" y="3124961"/>
              <a:ext cx="1463040" cy="6985"/>
            </a:xfrm>
            <a:custGeom>
              <a:avLst/>
              <a:gdLst/>
              <a:ahLst/>
              <a:cxnLst/>
              <a:rect l="l" t="t" r="r" b="b"/>
              <a:pathLst>
                <a:path w="1463039" h="6985">
                  <a:moveTo>
                    <a:pt x="0" y="0"/>
                  </a:moveTo>
                  <a:lnTo>
                    <a:pt x="1463040" y="6858"/>
                  </a:lnTo>
                </a:path>
              </a:pathLst>
            </a:custGeom>
            <a:ln w="28956">
              <a:solidFill>
                <a:srgbClr val="000000"/>
              </a:solidFill>
            </a:ln>
          </p:spPr>
          <p:txBody>
            <a:bodyPr wrap="square" lIns="0" tIns="0" rIns="0" bIns="0" rtlCol="0"/>
            <a:lstStyle/>
            <a:p>
              <a:endParaRPr sz="1227"/>
            </a:p>
          </p:txBody>
        </p:sp>
        <p:pic>
          <p:nvPicPr>
            <p:cNvPr id="59" name="object 59"/>
            <p:cNvPicPr/>
            <p:nvPr/>
          </p:nvPicPr>
          <p:blipFill>
            <a:blip r:embed="rId5" cstate="print"/>
            <a:stretch>
              <a:fillRect/>
            </a:stretch>
          </p:blipFill>
          <p:spPr>
            <a:xfrm>
              <a:off x="4242053" y="3081527"/>
              <a:ext cx="86867" cy="86868"/>
            </a:xfrm>
            <a:prstGeom prst="rect">
              <a:avLst/>
            </a:prstGeom>
          </p:spPr>
        </p:pic>
        <p:sp>
          <p:nvSpPr>
            <p:cNvPr id="60" name="object 60"/>
            <p:cNvSpPr/>
            <p:nvPr/>
          </p:nvSpPr>
          <p:spPr>
            <a:xfrm>
              <a:off x="4285487" y="2509265"/>
              <a:ext cx="1463040" cy="7620"/>
            </a:xfrm>
            <a:custGeom>
              <a:avLst/>
              <a:gdLst/>
              <a:ahLst/>
              <a:cxnLst/>
              <a:rect l="l" t="t" r="r" b="b"/>
              <a:pathLst>
                <a:path w="1463039" h="7619">
                  <a:moveTo>
                    <a:pt x="0" y="0"/>
                  </a:moveTo>
                  <a:lnTo>
                    <a:pt x="1463040" y="7620"/>
                  </a:lnTo>
                </a:path>
              </a:pathLst>
            </a:custGeom>
            <a:ln w="28955">
              <a:solidFill>
                <a:srgbClr val="000000"/>
              </a:solidFill>
            </a:ln>
          </p:spPr>
          <p:txBody>
            <a:bodyPr wrap="square" lIns="0" tIns="0" rIns="0" bIns="0" rtlCol="0"/>
            <a:lstStyle/>
            <a:p>
              <a:endParaRPr sz="1227"/>
            </a:p>
          </p:txBody>
        </p:sp>
        <p:pic>
          <p:nvPicPr>
            <p:cNvPr id="61" name="object 61"/>
            <p:cNvPicPr/>
            <p:nvPr/>
          </p:nvPicPr>
          <p:blipFill>
            <a:blip r:embed="rId6" cstate="print"/>
            <a:stretch>
              <a:fillRect/>
            </a:stretch>
          </p:blipFill>
          <p:spPr>
            <a:xfrm>
              <a:off x="5705094" y="2473455"/>
              <a:ext cx="86867" cy="86868"/>
            </a:xfrm>
            <a:prstGeom prst="rect">
              <a:avLst/>
            </a:prstGeom>
          </p:spPr>
        </p:pic>
        <p:pic>
          <p:nvPicPr>
            <p:cNvPr id="62" name="object 62"/>
            <p:cNvPicPr/>
            <p:nvPr/>
          </p:nvPicPr>
          <p:blipFill>
            <a:blip r:embed="rId5" cstate="print"/>
            <a:stretch>
              <a:fillRect/>
            </a:stretch>
          </p:blipFill>
          <p:spPr>
            <a:xfrm>
              <a:off x="4242053" y="2465831"/>
              <a:ext cx="86867" cy="86868"/>
            </a:xfrm>
            <a:prstGeom prst="rect">
              <a:avLst/>
            </a:prstGeom>
          </p:spPr>
        </p:pic>
        <p:sp>
          <p:nvSpPr>
            <p:cNvPr id="63" name="object 63"/>
            <p:cNvSpPr/>
            <p:nvPr/>
          </p:nvSpPr>
          <p:spPr>
            <a:xfrm>
              <a:off x="4997958" y="2215134"/>
              <a:ext cx="0" cy="300355"/>
            </a:xfrm>
            <a:custGeom>
              <a:avLst/>
              <a:gdLst/>
              <a:ahLst/>
              <a:cxnLst/>
              <a:rect l="l" t="t" r="r" b="b"/>
              <a:pathLst>
                <a:path h="300355">
                  <a:moveTo>
                    <a:pt x="0" y="0"/>
                  </a:moveTo>
                  <a:lnTo>
                    <a:pt x="0" y="300228"/>
                  </a:lnTo>
                </a:path>
              </a:pathLst>
            </a:custGeom>
            <a:ln w="28956">
              <a:solidFill>
                <a:srgbClr val="000000"/>
              </a:solidFill>
            </a:ln>
          </p:spPr>
          <p:txBody>
            <a:bodyPr wrap="square" lIns="0" tIns="0" rIns="0" bIns="0" rtlCol="0"/>
            <a:lstStyle/>
            <a:p>
              <a:endParaRPr sz="1227"/>
            </a:p>
          </p:txBody>
        </p:sp>
        <p:pic>
          <p:nvPicPr>
            <p:cNvPr id="64" name="object 64"/>
            <p:cNvPicPr/>
            <p:nvPr/>
          </p:nvPicPr>
          <p:blipFill>
            <a:blip r:embed="rId7" cstate="print"/>
            <a:stretch>
              <a:fillRect/>
            </a:stretch>
          </p:blipFill>
          <p:spPr>
            <a:xfrm>
              <a:off x="4954518" y="2471927"/>
              <a:ext cx="86868" cy="86867"/>
            </a:xfrm>
            <a:prstGeom prst="rect">
              <a:avLst/>
            </a:prstGeom>
          </p:spPr>
        </p:pic>
        <p:pic>
          <p:nvPicPr>
            <p:cNvPr id="65" name="object 65"/>
            <p:cNvPicPr/>
            <p:nvPr/>
          </p:nvPicPr>
          <p:blipFill>
            <a:blip r:embed="rId8" cstate="print"/>
            <a:stretch>
              <a:fillRect/>
            </a:stretch>
          </p:blipFill>
          <p:spPr>
            <a:xfrm>
              <a:off x="4954524" y="2171700"/>
              <a:ext cx="86868" cy="86867"/>
            </a:xfrm>
            <a:prstGeom prst="rect">
              <a:avLst/>
            </a:prstGeom>
          </p:spPr>
        </p:pic>
        <p:sp>
          <p:nvSpPr>
            <p:cNvPr id="66" name="object 66"/>
            <p:cNvSpPr/>
            <p:nvPr/>
          </p:nvSpPr>
          <p:spPr>
            <a:xfrm>
              <a:off x="3653790" y="2711195"/>
              <a:ext cx="137160" cy="193675"/>
            </a:xfrm>
            <a:custGeom>
              <a:avLst/>
              <a:gdLst/>
              <a:ahLst/>
              <a:cxnLst/>
              <a:rect l="l" t="t" r="r" b="b"/>
              <a:pathLst>
                <a:path w="137160" h="193675">
                  <a:moveTo>
                    <a:pt x="0" y="193548"/>
                  </a:moveTo>
                  <a:lnTo>
                    <a:pt x="137160" y="0"/>
                  </a:lnTo>
                </a:path>
              </a:pathLst>
            </a:custGeom>
            <a:ln w="28956">
              <a:solidFill>
                <a:srgbClr val="000000"/>
              </a:solidFill>
            </a:ln>
          </p:spPr>
          <p:txBody>
            <a:bodyPr wrap="square" lIns="0" tIns="0" rIns="0" bIns="0" rtlCol="0"/>
            <a:lstStyle/>
            <a:p>
              <a:endParaRPr sz="1227"/>
            </a:p>
          </p:txBody>
        </p:sp>
        <p:sp>
          <p:nvSpPr>
            <p:cNvPr id="67" name="object 67"/>
            <p:cNvSpPr/>
            <p:nvPr/>
          </p:nvSpPr>
          <p:spPr>
            <a:xfrm>
              <a:off x="1607058" y="2816351"/>
              <a:ext cx="215900" cy="1270"/>
            </a:xfrm>
            <a:custGeom>
              <a:avLst/>
              <a:gdLst/>
              <a:ahLst/>
              <a:cxnLst/>
              <a:rect l="l" t="t" r="r" b="b"/>
              <a:pathLst>
                <a:path w="215900" h="1269">
                  <a:moveTo>
                    <a:pt x="0" y="762"/>
                  </a:moveTo>
                  <a:lnTo>
                    <a:pt x="215646" y="0"/>
                  </a:lnTo>
                </a:path>
              </a:pathLst>
            </a:custGeom>
            <a:ln w="28955">
              <a:solidFill>
                <a:srgbClr val="000000"/>
              </a:solidFill>
            </a:ln>
          </p:spPr>
          <p:txBody>
            <a:bodyPr wrap="square" lIns="0" tIns="0" rIns="0" bIns="0" rtlCol="0"/>
            <a:lstStyle/>
            <a:p>
              <a:endParaRPr sz="1227"/>
            </a:p>
          </p:txBody>
        </p:sp>
        <p:sp>
          <p:nvSpPr>
            <p:cNvPr id="68" name="object 68"/>
            <p:cNvSpPr/>
            <p:nvPr/>
          </p:nvSpPr>
          <p:spPr>
            <a:xfrm>
              <a:off x="4290822" y="4324350"/>
              <a:ext cx="0" cy="243204"/>
            </a:xfrm>
            <a:custGeom>
              <a:avLst/>
              <a:gdLst/>
              <a:ahLst/>
              <a:cxnLst/>
              <a:rect l="l" t="t" r="r" b="b"/>
              <a:pathLst>
                <a:path h="243204">
                  <a:moveTo>
                    <a:pt x="0" y="0"/>
                  </a:moveTo>
                  <a:lnTo>
                    <a:pt x="0" y="243078"/>
                  </a:lnTo>
                </a:path>
              </a:pathLst>
            </a:custGeom>
            <a:ln w="28956">
              <a:solidFill>
                <a:srgbClr val="000000"/>
              </a:solidFill>
            </a:ln>
          </p:spPr>
          <p:txBody>
            <a:bodyPr wrap="square" lIns="0" tIns="0" rIns="0" bIns="0" rtlCol="0"/>
            <a:lstStyle/>
            <a:p>
              <a:endParaRPr sz="1227"/>
            </a:p>
          </p:txBody>
        </p:sp>
        <p:sp>
          <p:nvSpPr>
            <p:cNvPr id="69" name="object 69"/>
            <p:cNvSpPr/>
            <p:nvPr/>
          </p:nvSpPr>
          <p:spPr>
            <a:xfrm>
              <a:off x="4294631" y="4311395"/>
              <a:ext cx="0" cy="243204"/>
            </a:xfrm>
            <a:custGeom>
              <a:avLst/>
              <a:gdLst/>
              <a:ahLst/>
              <a:cxnLst/>
              <a:rect l="l" t="t" r="r" b="b"/>
              <a:pathLst>
                <a:path h="243204">
                  <a:moveTo>
                    <a:pt x="0" y="0"/>
                  </a:moveTo>
                  <a:lnTo>
                    <a:pt x="0" y="243077"/>
                  </a:lnTo>
                </a:path>
              </a:pathLst>
            </a:custGeom>
            <a:ln w="28956">
              <a:solidFill>
                <a:srgbClr val="000000"/>
              </a:solidFill>
            </a:ln>
          </p:spPr>
          <p:txBody>
            <a:bodyPr wrap="square" lIns="0" tIns="0" rIns="0" bIns="0" rtlCol="0"/>
            <a:lstStyle/>
            <a:p>
              <a:endParaRPr sz="1227"/>
            </a:p>
          </p:txBody>
        </p:sp>
        <p:sp>
          <p:nvSpPr>
            <p:cNvPr id="70" name="object 70"/>
            <p:cNvSpPr/>
            <p:nvPr/>
          </p:nvSpPr>
          <p:spPr>
            <a:xfrm>
              <a:off x="4184903" y="4201667"/>
              <a:ext cx="108585" cy="45720"/>
            </a:xfrm>
            <a:custGeom>
              <a:avLst/>
              <a:gdLst/>
              <a:ahLst/>
              <a:cxnLst/>
              <a:rect l="l" t="t" r="r" b="b"/>
              <a:pathLst>
                <a:path w="108585" h="45720">
                  <a:moveTo>
                    <a:pt x="108203" y="45719"/>
                  </a:moveTo>
                  <a:lnTo>
                    <a:pt x="0" y="0"/>
                  </a:lnTo>
                </a:path>
              </a:pathLst>
            </a:custGeom>
            <a:ln w="28955">
              <a:solidFill>
                <a:srgbClr val="000000"/>
              </a:solidFill>
            </a:ln>
          </p:spPr>
          <p:txBody>
            <a:bodyPr wrap="square" lIns="0" tIns="0" rIns="0" bIns="0" rtlCol="0"/>
            <a:lstStyle/>
            <a:p>
              <a:endParaRPr sz="1227"/>
            </a:p>
          </p:txBody>
        </p:sp>
        <p:sp>
          <p:nvSpPr>
            <p:cNvPr id="71" name="object 71"/>
            <p:cNvSpPr/>
            <p:nvPr/>
          </p:nvSpPr>
          <p:spPr>
            <a:xfrm>
              <a:off x="4184903" y="4155948"/>
              <a:ext cx="216535" cy="47625"/>
            </a:xfrm>
            <a:custGeom>
              <a:avLst/>
              <a:gdLst/>
              <a:ahLst/>
              <a:cxnLst/>
              <a:rect l="l" t="t" r="r" b="b"/>
              <a:pathLst>
                <a:path w="216535" h="47625">
                  <a:moveTo>
                    <a:pt x="0" y="47243"/>
                  </a:moveTo>
                  <a:lnTo>
                    <a:pt x="216408" y="0"/>
                  </a:lnTo>
                </a:path>
              </a:pathLst>
            </a:custGeom>
            <a:ln w="28956">
              <a:solidFill>
                <a:srgbClr val="000000"/>
              </a:solidFill>
            </a:ln>
          </p:spPr>
          <p:txBody>
            <a:bodyPr wrap="square" lIns="0" tIns="0" rIns="0" bIns="0" rtlCol="0"/>
            <a:lstStyle/>
            <a:p>
              <a:endParaRPr sz="1227"/>
            </a:p>
          </p:txBody>
        </p:sp>
        <p:sp>
          <p:nvSpPr>
            <p:cNvPr id="72" name="object 72"/>
            <p:cNvSpPr/>
            <p:nvPr/>
          </p:nvSpPr>
          <p:spPr>
            <a:xfrm>
              <a:off x="4184903" y="4112514"/>
              <a:ext cx="216535" cy="43815"/>
            </a:xfrm>
            <a:custGeom>
              <a:avLst/>
              <a:gdLst/>
              <a:ahLst/>
              <a:cxnLst/>
              <a:rect l="l" t="t" r="r" b="b"/>
              <a:pathLst>
                <a:path w="216535" h="43814">
                  <a:moveTo>
                    <a:pt x="216408" y="43433"/>
                  </a:moveTo>
                  <a:lnTo>
                    <a:pt x="0" y="0"/>
                  </a:lnTo>
                </a:path>
              </a:pathLst>
            </a:custGeom>
            <a:ln w="28956">
              <a:solidFill>
                <a:srgbClr val="000000"/>
              </a:solidFill>
            </a:ln>
          </p:spPr>
          <p:txBody>
            <a:bodyPr wrap="square" lIns="0" tIns="0" rIns="0" bIns="0" rtlCol="0"/>
            <a:lstStyle/>
            <a:p>
              <a:endParaRPr sz="1227"/>
            </a:p>
          </p:txBody>
        </p:sp>
        <p:sp>
          <p:nvSpPr>
            <p:cNvPr id="73" name="object 73"/>
            <p:cNvSpPr/>
            <p:nvPr/>
          </p:nvSpPr>
          <p:spPr>
            <a:xfrm>
              <a:off x="4186428" y="4063745"/>
              <a:ext cx="216535" cy="50800"/>
            </a:xfrm>
            <a:custGeom>
              <a:avLst/>
              <a:gdLst/>
              <a:ahLst/>
              <a:cxnLst/>
              <a:rect l="l" t="t" r="r" b="b"/>
              <a:pathLst>
                <a:path w="216535" h="50800">
                  <a:moveTo>
                    <a:pt x="0" y="50291"/>
                  </a:moveTo>
                  <a:lnTo>
                    <a:pt x="216408" y="0"/>
                  </a:lnTo>
                </a:path>
              </a:pathLst>
            </a:custGeom>
            <a:ln w="28956">
              <a:solidFill>
                <a:srgbClr val="000000"/>
              </a:solidFill>
            </a:ln>
          </p:spPr>
          <p:txBody>
            <a:bodyPr wrap="square" lIns="0" tIns="0" rIns="0" bIns="0" rtlCol="0"/>
            <a:lstStyle/>
            <a:p>
              <a:endParaRPr sz="1227"/>
            </a:p>
          </p:txBody>
        </p:sp>
        <p:sp>
          <p:nvSpPr>
            <p:cNvPr id="74" name="object 74"/>
            <p:cNvSpPr/>
            <p:nvPr/>
          </p:nvSpPr>
          <p:spPr>
            <a:xfrm>
              <a:off x="4186428" y="4018788"/>
              <a:ext cx="216535" cy="45085"/>
            </a:xfrm>
            <a:custGeom>
              <a:avLst/>
              <a:gdLst/>
              <a:ahLst/>
              <a:cxnLst/>
              <a:rect l="l" t="t" r="r" b="b"/>
              <a:pathLst>
                <a:path w="216535" h="45085">
                  <a:moveTo>
                    <a:pt x="216408" y="44957"/>
                  </a:moveTo>
                  <a:lnTo>
                    <a:pt x="0" y="0"/>
                  </a:lnTo>
                </a:path>
              </a:pathLst>
            </a:custGeom>
            <a:ln w="28955">
              <a:solidFill>
                <a:srgbClr val="000000"/>
              </a:solidFill>
            </a:ln>
          </p:spPr>
          <p:txBody>
            <a:bodyPr wrap="square" lIns="0" tIns="0" rIns="0" bIns="0" rtlCol="0"/>
            <a:lstStyle/>
            <a:p>
              <a:endParaRPr sz="1227"/>
            </a:p>
          </p:txBody>
        </p:sp>
        <p:sp>
          <p:nvSpPr>
            <p:cNvPr id="75" name="object 75"/>
            <p:cNvSpPr/>
            <p:nvPr/>
          </p:nvSpPr>
          <p:spPr>
            <a:xfrm>
              <a:off x="4184903" y="3971544"/>
              <a:ext cx="216535" cy="47625"/>
            </a:xfrm>
            <a:custGeom>
              <a:avLst/>
              <a:gdLst/>
              <a:ahLst/>
              <a:cxnLst/>
              <a:rect l="l" t="t" r="r" b="b"/>
              <a:pathLst>
                <a:path w="216535" h="47625">
                  <a:moveTo>
                    <a:pt x="0" y="47243"/>
                  </a:moveTo>
                  <a:lnTo>
                    <a:pt x="216408" y="0"/>
                  </a:lnTo>
                </a:path>
              </a:pathLst>
            </a:custGeom>
            <a:ln w="28956">
              <a:solidFill>
                <a:srgbClr val="000000"/>
              </a:solidFill>
            </a:ln>
          </p:spPr>
          <p:txBody>
            <a:bodyPr wrap="square" lIns="0" tIns="0" rIns="0" bIns="0" rtlCol="0"/>
            <a:lstStyle/>
            <a:p>
              <a:endParaRPr sz="1227"/>
            </a:p>
          </p:txBody>
        </p:sp>
        <p:sp>
          <p:nvSpPr>
            <p:cNvPr id="76" name="object 76"/>
            <p:cNvSpPr/>
            <p:nvPr/>
          </p:nvSpPr>
          <p:spPr>
            <a:xfrm>
              <a:off x="4293108" y="3925823"/>
              <a:ext cx="108585" cy="45720"/>
            </a:xfrm>
            <a:custGeom>
              <a:avLst/>
              <a:gdLst/>
              <a:ahLst/>
              <a:cxnLst/>
              <a:rect l="l" t="t" r="r" b="b"/>
              <a:pathLst>
                <a:path w="108585" h="45720">
                  <a:moveTo>
                    <a:pt x="108203" y="45719"/>
                  </a:moveTo>
                  <a:lnTo>
                    <a:pt x="0" y="0"/>
                  </a:lnTo>
                </a:path>
              </a:pathLst>
            </a:custGeom>
            <a:ln w="28955">
              <a:solidFill>
                <a:srgbClr val="000000"/>
              </a:solidFill>
            </a:ln>
          </p:spPr>
          <p:txBody>
            <a:bodyPr wrap="square" lIns="0" tIns="0" rIns="0" bIns="0" rtlCol="0"/>
            <a:lstStyle/>
            <a:p>
              <a:endParaRPr sz="1227"/>
            </a:p>
          </p:txBody>
        </p:sp>
        <p:sp>
          <p:nvSpPr>
            <p:cNvPr id="77" name="object 77"/>
            <p:cNvSpPr/>
            <p:nvPr/>
          </p:nvSpPr>
          <p:spPr>
            <a:xfrm>
              <a:off x="4294631" y="3835145"/>
              <a:ext cx="0" cy="92710"/>
            </a:xfrm>
            <a:custGeom>
              <a:avLst/>
              <a:gdLst/>
              <a:ahLst/>
              <a:cxnLst/>
              <a:rect l="l" t="t" r="r" b="b"/>
              <a:pathLst>
                <a:path h="92710">
                  <a:moveTo>
                    <a:pt x="0" y="92201"/>
                  </a:moveTo>
                  <a:lnTo>
                    <a:pt x="0" y="0"/>
                  </a:lnTo>
                </a:path>
              </a:pathLst>
            </a:custGeom>
            <a:ln w="28956">
              <a:solidFill>
                <a:srgbClr val="000000"/>
              </a:solidFill>
            </a:ln>
          </p:spPr>
          <p:txBody>
            <a:bodyPr wrap="square" lIns="0" tIns="0" rIns="0" bIns="0" rtlCol="0"/>
            <a:lstStyle/>
            <a:p>
              <a:endParaRPr sz="1227"/>
            </a:p>
          </p:txBody>
        </p:sp>
        <p:sp>
          <p:nvSpPr>
            <p:cNvPr id="78" name="object 78"/>
            <p:cNvSpPr/>
            <p:nvPr/>
          </p:nvSpPr>
          <p:spPr>
            <a:xfrm>
              <a:off x="4251203" y="3791711"/>
              <a:ext cx="86995" cy="86995"/>
            </a:xfrm>
            <a:custGeom>
              <a:avLst/>
              <a:gdLst/>
              <a:ahLst/>
              <a:cxnLst/>
              <a:rect l="l" t="t" r="r" b="b"/>
              <a:pathLst>
                <a:path w="86995" h="86995">
                  <a:moveTo>
                    <a:pt x="43421" y="0"/>
                  </a:moveTo>
                  <a:lnTo>
                    <a:pt x="26519" y="3412"/>
                  </a:lnTo>
                  <a:lnTo>
                    <a:pt x="12714" y="12720"/>
                  </a:lnTo>
                  <a:lnTo>
                    <a:pt x="3407" y="26526"/>
                  </a:lnTo>
                  <a:lnTo>
                    <a:pt x="0" y="43434"/>
                  </a:lnTo>
                  <a:lnTo>
                    <a:pt x="3412" y="60341"/>
                  </a:lnTo>
                  <a:lnTo>
                    <a:pt x="12720" y="74147"/>
                  </a:lnTo>
                  <a:lnTo>
                    <a:pt x="26526" y="83455"/>
                  </a:lnTo>
                  <a:lnTo>
                    <a:pt x="43434" y="86868"/>
                  </a:lnTo>
                  <a:lnTo>
                    <a:pt x="60341" y="83453"/>
                  </a:lnTo>
                  <a:lnTo>
                    <a:pt x="74147" y="74142"/>
                  </a:lnTo>
                  <a:lnTo>
                    <a:pt x="83455" y="60336"/>
                  </a:lnTo>
                  <a:lnTo>
                    <a:pt x="86868" y="43434"/>
                  </a:lnTo>
                  <a:lnTo>
                    <a:pt x="83447" y="26526"/>
                  </a:lnTo>
                  <a:lnTo>
                    <a:pt x="74136" y="12720"/>
                  </a:lnTo>
                  <a:lnTo>
                    <a:pt x="60328" y="3412"/>
                  </a:lnTo>
                  <a:lnTo>
                    <a:pt x="43421" y="0"/>
                  </a:lnTo>
                  <a:close/>
                </a:path>
              </a:pathLst>
            </a:custGeom>
            <a:solidFill>
              <a:srgbClr val="000000"/>
            </a:solidFill>
          </p:spPr>
          <p:txBody>
            <a:bodyPr wrap="square" lIns="0" tIns="0" rIns="0" bIns="0" rtlCol="0"/>
            <a:lstStyle/>
            <a:p>
              <a:endParaRPr sz="1227"/>
            </a:p>
          </p:txBody>
        </p:sp>
        <p:sp>
          <p:nvSpPr>
            <p:cNvPr id="79" name="object 79"/>
            <p:cNvSpPr/>
            <p:nvPr/>
          </p:nvSpPr>
          <p:spPr>
            <a:xfrm>
              <a:off x="4294631" y="4249673"/>
              <a:ext cx="0" cy="91440"/>
            </a:xfrm>
            <a:custGeom>
              <a:avLst/>
              <a:gdLst/>
              <a:ahLst/>
              <a:cxnLst/>
              <a:rect l="l" t="t" r="r" b="b"/>
              <a:pathLst>
                <a:path h="91439">
                  <a:moveTo>
                    <a:pt x="0" y="91439"/>
                  </a:moveTo>
                  <a:lnTo>
                    <a:pt x="0" y="0"/>
                  </a:lnTo>
                </a:path>
              </a:pathLst>
            </a:custGeom>
            <a:ln w="28956">
              <a:solidFill>
                <a:srgbClr val="000000"/>
              </a:solidFill>
            </a:ln>
          </p:spPr>
          <p:txBody>
            <a:bodyPr wrap="square" lIns="0" tIns="0" rIns="0" bIns="0" rtlCol="0"/>
            <a:lstStyle/>
            <a:p>
              <a:endParaRPr sz="1227"/>
            </a:p>
          </p:txBody>
        </p:sp>
        <p:sp>
          <p:nvSpPr>
            <p:cNvPr id="80" name="object 80"/>
            <p:cNvSpPr/>
            <p:nvPr/>
          </p:nvSpPr>
          <p:spPr>
            <a:xfrm>
              <a:off x="4251197" y="4297679"/>
              <a:ext cx="86995" cy="86995"/>
            </a:xfrm>
            <a:custGeom>
              <a:avLst/>
              <a:gdLst/>
              <a:ahLst/>
              <a:cxnLst/>
              <a:rect l="l" t="t" r="r" b="b"/>
              <a:pathLst>
                <a:path w="86995" h="86995">
                  <a:moveTo>
                    <a:pt x="43434" y="0"/>
                  </a:moveTo>
                  <a:lnTo>
                    <a:pt x="26526" y="3412"/>
                  </a:lnTo>
                  <a:lnTo>
                    <a:pt x="12720" y="12720"/>
                  </a:lnTo>
                  <a:lnTo>
                    <a:pt x="3412" y="26526"/>
                  </a:lnTo>
                  <a:lnTo>
                    <a:pt x="0" y="43434"/>
                  </a:lnTo>
                  <a:lnTo>
                    <a:pt x="3412" y="60341"/>
                  </a:lnTo>
                  <a:lnTo>
                    <a:pt x="12720" y="74147"/>
                  </a:lnTo>
                  <a:lnTo>
                    <a:pt x="26526" y="83455"/>
                  </a:lnTo>
                  <a:lnTo>
                    <a:pt x="43434" y="86868"/>
                  </a:lnTo>
                  <a:lnTo>
                    <a:pt x="60341" y="83455"/>
                  </a:lnTo>
                  <a:lnTo>
                    <a:pt x="74147" y="74147"/>
                  </a:lnTo>
                  <a:lnTo>
                    <a:pt x="83455" y="60341"/>
                  </a:lnTo>
                  <a:lnTo>
                    <a:pt x="86868" y="43434"/>
                  </a:lnTo>
                  <a:lnTo>
                    <a:pt x="83455" y="26526"/>
                  </a:lnTo>
                  <a:lnTo>
                    <a:pt x="74147" y="12720"/>
                  </a:lnTo>
                  <a:lnTo>
                    <a:pt x="60341" y="3412"/>
                  </a:lnTo>
                  <a:lnTo>
                    <a:pt x="43434" y="0"/>
                  </a:lnTo>
                  <a:close/>
                </a:path>
              </a:pathLst>
            </a:custGeom>
            <a:solidFill>
              <a:srgbClr val="000000"/>
            </a:solidFill>
          </p:spPr>
          <p:txBody>
            <a:bodyPr wrap="square" lIns="0" tIns="0" rIns="0" bIns="0" rtlCol="0"/>
            <a:lstStyle/>
            <a:p>
              <a:endParaRPr sz="1227"/>
            </a:p>
          </p:txBody>
        </p:sp>
        <p:sp>
          <p:nvSpPr>
            <p:cNvPr id="81" name="object 81"/>
            <p:cNvSpPr/>
            <p:nvPr/>
          </p:nvSpPr>
          <p:spPr>
            <a:xfrm>
              <a:off x="4122038" y="3957243"/>
              <a:ext cx="412750" cy="275590"/>
            </a:xfrm>
            <a:custGeom>
              <a:avLst/>
              <a:gdLst/>
              <a:ahLst/>
              <a:cxnLst/>
              <a:rect l="l" t="t" r="r" b="b"/>
              <a:pathLst>
                <a:path w="412750" h="275589">
                  <a:moveTo>
                    <a:pt x="0" y="275285"/>
                  </a:moveTo>
                  <a:lnTo>
                    <a:pt x="412559" y="0"/>
                  </a:lnTo>
                </a:path>
              </a:pathLst>
            </a:custGeom>
            <a:ln w="19050">
              <a:solidFill>
                <a:srgbClr val="000000"/>
              </a:solidFill>
            </a:ln>
          </p:spPr>
          <p:txBody>
            <a:bodyPr wrap="square" lIns="0" tIns="0" rIns="0" bIns="0" rtlCol="0"/>
            <a:lstStyle/>
            <a:p>
              <a:endParaRPr sz="1227"/>
            </a:p>
          </p:txBody>
        </p:sp>
        <p:sp>
          <p:nvSpPr>
            <p:cNvPr id="82" name="object 82"/>
            <p:cNvSpPr/>
            <p:nvPr/>
          </p:nvSpPr>
          <p:spPr>
            <a:xfrm>
              <a:off x="4446534" y="3957243"/>
              <a:ext cx="88265" cy="79375"/>
            </a:xfrm>
            <a:custGeom>
              <a:avLst/>
              <a:gdLst/>
              <a:ahLst/>
              <a:cxnLst/>
              <a:rect l="l" t="t" r="r" b="b"/>
              <a:pathLst>
                <a:path w="88264" h="79375">
                  <a:moveTo>
                    <a:pt x="49352" y="79273"/>
                  </a:moveTo>
                  <a:lnTo>
                    <a:pt x="88061" y="0"/>
                  </a:lnTo>
                  <a:lnTo>
                    <a:pt x="0" y="5321"/>
                  </a:lnTo>
                </a:path>
              </a:pathLst>
            </a:custGeom>
            <a:ln w="19050">
              <a:solidFill>
                <a:srgbClr val="000000"/>
              </a:solidFill>
            </a:ln>
          </p:spPr>
          <p:txBody>
            <a:bodyPr wrap="square" lIns="0" tIns="0" rIns="0" bIns="0" rtlCol="0"/>
            <a:lstStyle/>
            <a:p>
              <a:endParaRPr sz="1227"/>
            </a:p>
          </p:txBody>
        </p:sp>
      </p:grpSp>
      <p:grpSp>
        <p:nvGrpSpPr>
          <p:cNvPr id="83" name="object 83"/>
          <p:cNvGrpSpPr/>
          <p:nvPr/>
        </p:nvGrpSpPr>
        <p:grpSpPr>
          <a:xfrm>
            <a:off x="4350951" y="1683241"/>
            <a:ext cx="1950027" cy="1884218"/>
            <a:chOff x="6942169" y="2077593"/>
            <a:chExt cx="2860040" cy="2763520"/>
          </a:xfrm>
        </p:grpSpPr>
        <p:sp>
          <p:nvSpPr>
            <p:cNvPr id="84" name="object 84"/>
            <p:cNvSpPr/>
            <p:nvPr/>
          </p:nvSpPr>
          <p:spPr>
            <a:xfrm>
              <a:off x="8507900" y="2077593"/>
              <a:ext cx="1151890" cy="1294765"/>
            </a:xfrm>
            <a:custGeom>
              <a:avLst/>
              <a:gdLst/>
              <a:ahLst/>
              <a:cxnLst/>
              <a:rect l="l" t="t" r="r" b="b"/>
              <a:pathLst>
                <a:path w="1151890" h="1294764">
                  <a:moveTo>
                    <a:pt x="902" y="1294730"/>
                  </a:moveTo>
                  <a:lnTo>
                    <a:pt x="0" y="0"/>
                  </a:lnTo>
                  <a:lnTo>
                    <a:pt x="66628" y="1802"/>
                  </a:lnTo>
                  <a:lnTo>
                    <a:pt x="178272" y="12613"/>
                  </a:lnTo>
                  <a:lnTo>
                    <a:pt x="289916" y="32435"/>
                  </a:lnTo>
                  <a:lnTo>
                    <a:pt x="397960" y="63068"/>
                  </a:lnTo>
                  <a:lnTo>
                    <a:pt x="504204" y="101812"/>
                  </a:lnTo>
                  <a:lnTo>
                    <a:pt x="605945" y="150466"/>
                  </a:lnTo>
                  <a:lnTo>
                    <a:pt x="703184" y="208130"/>
                  </a:lnTo>
                  <a:lnTo>
                    <a:pt x="795021" y="273002"/>
                  </a:lnTo>
                  <a:lnTo>
                    <a:pt x="881456" y="346882"/>
                  </a:lnTo>
                  <a:lnTo>
                    <a:pt x="960687" y="427071"/>
                  </a:lnTo>
                  <a:lnTo>
                    <a:pt x="1031817" y="513566"/>
                  </a:lnTo>
                  <a:lnTo>
                    <a:pt x="1095741" y="606370"/>
                  </a:lnTo>
                  <a:lnTo>
                    <a:pt x="1151563" y="704578"/>
                  </a:lnTo>
                  <a:lnTo>
                    <a:pt x="902" y="1294730"/>
                  </a:lnTo>
                  <a:close/>
                </a:path>
              </a:pathLst>
            </a:custGeom>
            <a:solidFill>
              <a:srgbClr val="FF0000"/>
            </a:solidFill>
          </p:spPr>
          <p:txBody>
            <a:bodyPr wrap="square" lIns="0" tIns="0" rIns="0" bIns="0" rtlCol="0"/>
            <a:lstStyle/>
            <a:p>
              <a:endParaRPr sz="1227"/>
            </a:p>
          </p:txBody>
        </p:sp>
        <p:sp>
          <p:nvSpPr>
            <p:cNvPr id="85" name="object 85"/>
            <p:cNvSpPr/>
            <p:nvPr/>
          </p:nvSpPr>
          <p:spPr>
            <a:xfrm>
              <a:off x="8508802" y="2782172"/>
              <a:ext cx="1292225" cy="758825"/>
            </a:xfrm>
            <a:custGeom>
              <a:avLst/>
              <a:gdLst/>
              <a:ahLst/>
              <a:cxnLst/>
              <a:rect l="l" t="t" r="r" b="b"/>
              <a:pathLst>
                <a:path w="1292225" h="758825">
                  <a:moveTo>
                    <a:pt x="1282116" y="758637"/>
                  </a:moveTo>
                  <a:lnTo>
                    <a:pt x="0" y="590152"/>
                  </a:lnTo>
                  <a:lnTo>
                    <a:pt x="1150661" y="0"/>
                  </a:lnTo>
                  <a:lnTo>
                    <a:pt x="1194780" y="94604"/>
                  </a:lnTo>
                  <a:lnTo>
                    <a:pt x="1233496" y="200920"/>
                  </a:lnTo>
                  <a:lnTo>
                    <a:pt x="1262308" y="309942"/>
                  </a:lnTo>
                  <a:lnTo>
                    <a:pt x="1282116" y="420765"/>
                  </a:lnTo>
                  <a:lnTo>
                    <a:pt x="1292020" y="533388"/>
                  </a:lnTo>
                  <a:lnTo>
                    <a:pt x="1292020" y="646914"/>
                  </a:lnTo>
                  <a:lnTo>
                    <a:pt x="1282116" y="758637"/>
                  </a:lnTo>
                  <a:close/>
                </a:path>
              </a:pathLst>
            </a:custGeom>
            <a:solidFill>
              <a:srgbClr val="0000FF"/>
            </a:solidFill>
          </p:spPr>
          <p:txBody>
            <a:bodyPr wrap="square" lIns="0" tIns="0" rIns="0" bIns="0" rtlCol="0"/>
            <a:lstStyle/>
            <a:p>
              <a:endParaRPr sz="1227"/>
            </a:p>
          </p:txBody>
        </p:sp>
        <p:sp>
          <p:nvSpPr>
            <p:cNvPr id="86" name="object 86"/>
            <p:cNvSpPr/>
            <p:nvPr/>
          </p:nvSpPr>
          <p:spPr>
            <a:xfrm>
              <a:off x="8508801" y="2782171"/>
              <a:ext cx="1292225" cy="758825"/>
            </a:xfrm>
            <a:custGeom>
              <a:avLst/>
              <a:gdLst/>
              <a:ahLst/>
              <a:cxnLst/>
              <a:rect l="l" t="t" r="r" b="b"/>
              <a:pathLst>
                <a:path w="1292225" h="758825">
                  <a:moveTo>
                    <a:pt x="0" y="590151"/>
                  </a:moveTo>
                  <a:lnTo>
                    <a:pt x="1282116" y="758637"/>
                  </a:lnTo>
                  <a:lnTo>
                    <a:pt x="1292020" y="646914"/>
                  </a:lnTo>
                  <a:lnTo>
                    <a:pt x="1292020" y="533389"/>
                  </a:lnTo>
                  <a:lnTo>
                    <a:pt x="1282116" y="420764"/>
                  </a:lnTo>
                  <a:lnTo>
                    <a:pt x="1262308" y="309942"/>
                  </a:lnTo>
                  <a:lnTo>
                    <a:pt x="1233496" y="200921"/>
                  </a:lnTo>
                  <a:lnTo>
                    <a:pt x="1194781" y="94604"/>
                  </a:lnTo>
                  <a:lnTo>
                    <a:pt x="1150663" y="0"/>
                  </a:lnTo>
                  <a:lnTo>
                    <a:pt x="0" y="590151"/>
                  </a:lnTo>
                  <a:close/>
                </a:path>
              </a:pathLst>
            </a:custGeom>
            <a:ln w="3175">
              <a:solidFill>
                <a:srgbClr val="FFFFFF"/>
              </a:solidFill>
            </a:ln>
          </p:spPr>
          <p:txBody>
            <a:bodyPr wrap="square" lIns="0" tIns="0" rIns="0" bIns="0" rtlCol="0"/>
            <a:lstStyle/>
            <a:p>
              <a:endParaRPr sz="1227"/>
            </a:p>
          </p:txBody>
        </p:sp>
        <p:sp>
          <p:nvSpPr>
            <p:cNvPr id="87" name="object 87"/>
            <p:cNvSpPr/>
            <p:nvPr/>
          </p:nvSpPr>
          <p:spPr>
            <a:xfrm>
              <a:off x="8508800" y="3372324"/>
              <a:ext cx="1282700" cy="541655"/>
            </a:xfrm>
            <a:custGeom>
              <a:avLst/>
              <a:gdLst/>
              <a:ahLst/>
              <a:cxnLst/>
              <a:rect l="l" t="t" r="r" b="b"/>
              <a:pathLst>
                <a:path w="1282700" h="541654">
                  <a:moveTo>
                    <a:pt x="1174073" y="541498"/>
                  </a:moveTo>
                  <a:lnTo>
                    <a:pt x="0" y="0"/>
                  </a:lnTo>
                  <a:lnTo>
                    <a:pt x="1282116" y="168484"/>
                  </a:lnTo>
                  <a:lnTo>
                    <a:pt x="1274014" y="218941"/>
                  </a:lnTo>
                  <a:lnTo>
                    <a:pt x="1250605" y="328861"/>
                  </a:lnTo>
                  <a:lnTo>
                    <a:pt x="1216390" y="436982"/>
                  </a:lnTo>
                  <a:lnTo>
                    <a:pt x="1174073" y="541498"/>
                  </a:lnTo>
                  <a:close/>
                </a:path>
              </a:pathLst>
            </a:custGeom>
            <a:solidFill>
              <a:srgbClr val="FFFF00"/>
            </a:solidFill>
          </p:spPr>
          <p:txBody>
            <a:bodyPr wrap="square" lIns="0" tIns="0" rIns="0" bIns="0" rtlCol="0"/>
            <a:lstStyle/>
            <a:p>
              <a:endParaRPr sz="1227"/>
            </a:p>
          </p:txBody>
        </p:sp>
        <p:sp>
          <p:nvSpPr>
            <p:cNvPr id="88" name="object 88"/>
            <p:cNvSpPr/>
            <p:nvPr/>
          </p:nvSpPr>
          <p:spPr>
            <a:xfrm>
              <a:off x="8508801" y="3372323"/>
              <a:ext cx="1282700" cy="541655"/>
            </a:xfrm>
            <a:custGeom>
              <a:avLst/>
              <a:gdLst/>
              <a:ahLst/>
              <a:cxnLst/>
              <a:rect l="l" t="t" r="r" b="b"/>
              <a:pathLst>
                <a:path w="1282700" h="541654">
                  <a:moveTo>
                    <a:pt x="0" y="0"/>
                  </a:moveTo>
                  <a:lnTo>
                    <a:pt x="1174073" y="541498"/>
                  </a:lnTo>
                  <a:lnTo>
                    <a:pt x="1216390" y="436982"/>
                  </a:lnTo>
                  <a:lnTo>
                    <a:pt x="1250603" y="328863"/>
                  </a:lnTo>
                  <a:lnTo>
                    <a:pt x="1274013" y="218941"/>
                  </a:lnTo>
                  <a:lnTo>
                    <a:pt x="1282116" y="168486"/>
                  </a:lnTo>
                  <a:lnTo>
                    <a:pt x="0" y="0"/>
                  </a:lnTo>
                  <a:close/>
                </a:path>
              </a:pathLst>
            </a:custGeom>
            <a:ln w="3175">
              <a:solidFill>
                <a:srgbClr val="FFFFFF"/>
              </a:solidFill>
            </a:ln>
          </p:spPr>
          <p:txBody>
            <a:bodyPr wrap="square" lIns="0" tIns="0" rIns="0" bIns="0" rtlCol="0"/>
            <a:lstStyle/>
            <a:p>
              <a:endParaRPr sz="1227"/>
            </a:p>
          </p:txBody>
        </p:sp>
        <p:sp>
          <p:nvSpPr>
            <p:cNvPr id="89" name="object 89"/>
            <p:cNvSpPr/>
            <p:nvPr/>
          </p:nvSpPr>
          <p:spPr>
            <a:xfrm>
              <a:off x="6943069" y="2251484"/>
              <a:ext cx="2468245" cy="2588895"/>
            </a:xfrm>
            <a:custGeom>
              <a:avLst/>
              <a:gdLst/>
              <a:ahLst/>
              <a:cxnLst/>
              <a:rect l="l" t="t" r="r" b="b"/>
              <a:pathLst>
                <a:path w="2468245" h="2588895">
                  <a:moveTo>
                    <a:pt x="1292922" y="2588559"/>
                  </a:moveTo>
                  <a:lnTo>
                    <a:pt x="1180375" y="2583155"/>
                  </a:lnTo>
                  <a:lnTo>
                    <a:pt x="1068731" y="2568737"/>
                  </a:lnTo>
                  <a:lnTo>
                    <a:pt x="958886" y="2544412"/>
                  </a:lnTo>
                  <a:lnTo>
                    <a:pt x="850842" y="2510172"/>
                  </a:lnTo>
                  <a:lnTo>
                    <a:pt x="746400" y="2466925"/>
                  </a:lnTo>
                  <a:lnTo>
                    <a:pt x="646462" y="2414668"/>
                  </a:lnTo>
                  <a:lnTo>
                    <a:pt x="551924" y="2354302"/>
                  </a:lnTo>
                  <a:lnTo>
                    <a:pt x="461886" y="2285826"/>
                  </a:lnTo>
                  <a:lnTo>
                    <a:pt x="379054" y="2209241"/>
                  </a:lnTo>
                  <a:lnTo>
                    <a:pt x="302521" y="2126350"/>
                  </a:lnTo>
                  <a:lnTo>
                    <a:pt x="234094" y="2036250"/>
                  </a:lnTo>
                  <a:lnTo>
                    <a:pt x="173771" y="1941645"/>
                  </a:lnTo>
                  <a:lnTo>
                    <a:pt x="121550" y="1841635"/>
                  </a:lnTo>
                  <a:lnTo>
                    <a:pt x="78331" y="1737120"/>
                  </a:lnTo>
                  <a:lnTo>
                    <a:pt x="44118" y="1628999"/>
                  </a:lnTo>
                  <a:lnTo>
                    <a:pt x="19807" y="1519079"/>
                  </a:lnTo>
                  <a:lnTo>
                    <a:pt x="5403" y="1407356"/>
                  </a:lnTo>
                  <a:lnTo>
                    <a:pt x="0" y="1293830"/>
                  </a:lnTo>
                  <a:lnTo>
                    <a:pt x="5403" y="1181204"/>
                  </a:lnTo>
                  <a:lnTo>
                    <a:pt x="19807" y="1069482"/>
                  </a:lnTo>
                  <a:lnTo>
                    <a:pt x="44118" y="959559"/>
                  </a:lnTo>
                  <a:lnTo>
                    <a:pt x="78331" y="851441"/>
                  </a:lnTo>
                  <a:lnTo>
                    <a:pt x="121550" y="746925"/>
                  </a:lnTo>
                  <a:lnTo>
                    <a:pt x="173771" y="646916"/>
                  </a:lnTo>
                  <a:lnTo>
                    <a:pt x="234094" y="552311"/>
                  </a:lnTo>
                  <a:lnTo>
                    <a:pt x="302521" y="462211"/>
                  </a:lnTo>
                  <a:lnTo>
                    <a:pt x="379054" y="379320"/>
                  </a:lnTo>
                  <a:lnTo>
                    <a:pt x="461886" y="302735"/>
                  </a:lnTo>
                  <a:lnTo>
                    <a:pt x="551924" y="234259"/>
                  </a:lnTo>
                  <a:lnTo>
                    <a:pt x="646462" y="173893"/>
                  </a:lnTo>
                  <a:lnTo>
                    <a:pt x="746400" y="121636"/>
                  </a:lnTo>
                  <a:lnTo>
                    <a:pt x="850842" y="78386"/>
                  </a:lnTo>
                  <a:lnTo>
                    <a:pt x="958886" y="44149"/>
                  </a:lnTo>
                  <a:lnTo>
                    <a:pt x="1068731" y="19821"/>
                  </a:lnTo>
                  <a:lnTo>
                    <a:pt x="1180375" y="5406"/>
                  </a:lnTo>
                  <a:lnTo>
                    <a:pt x="1292922" y="0"/>
                  </a:lnTo>
                  <a:lnTo>
                    <a:pt x="1293822" y="1294730"/>
                  </a:lnTo>
                  <a:lnTo>
                    <a:pt x="2467895" y="1836229"/>
                  </a:lnTo>
                  <a:lnTo>
                    <a:pt x="2412973" y="1941645"/>
                  </a:lnTo>
                  <a:lnTo>
                    <a:pt x="2352649" y="2036250"/>
                  </a:lnTo>
                  <a:lnTo>
                    <a:pt x="2284222" y="2126350"/>
                  </a:lnTo>
                  <a:lnTo>
                    <a:pt x="2207689" y="2209241"/>
                  </a:lnTo>
                  <a:lnTo>
                    <a:pt x="2124857" y="2285826"/>
                  </a:lnTo>
                  <a:lnTo>
                    <a:pt x="2034819" y="2354302"/>
                  </a:lnTo>
                  <a:lnTo>
                    <a:pt x="1940281" y="2414668"/>
                  </a:lnTo>
                  <a:lnTo>
                    <a:pt x="1840343" y="2466925"/>
                  </a:lnTo>
                  <a:lnTo>
                    <a:pt x="1735902" y="2510172"/>
                  </a:lnTo>
                  <a:lnTo>
                    <a:pt x="1627855" y="2544412"/>
                  </a:lnTo>
                  <a:lnTo>
                    <a:pt x="1518013" y="2568737"/>
                  </a:lnTo>
                  <a:lnTo>
                    <a:pt x="1406369" y="2583155"/>
                  </a:lnTo>
                  <a:lnTo>
                    <a:pt x="1292922" y="2588559"/>
                  </a:lnTo>
                  <a:close/>
                </a:path>
              </a:pathLst>
            </a:custGeom>
            <a:solidFill>
              <a:srgbClr val="00FF00"/>
            </a:solidFill>
          </p:spPr>
          <p:txBody>
            <a:bodyPr wrap="square" lIns="0" tIns="0" rIns="0" bIns="0" rtlCol="0"/>
            <a:lstStyle/>
            <a:p>
              <a:endParaRPr sz="1227"/>
            </a:p>
          </p:txBody>
        </p:sp>
        <p:sp>
          <p:nvSpPr>
            <p:cNvPr id="90" name="object 90"/>
            <p:cNvSpPr/>
            <p:nvPr/>
          </p:nvSpPr>
          <p:spPr>
            <a:xfrm>
              <a:off x="6943069" y="2251485"/>
              <a:ext cx="2468245" cy="2588895"/>
            </a:xfrm>
            <a:custGeom>
              <a:avLst/>
              <a:gdLst/>
              <a:ahLst/>
              <a:cxnLst/>
              <a:rect l="l" t="t" r="r" b="b"/>
              <a:pathLst>
                <a:path w="2468245" h="2588895">
                  <a:moveTo>
                    <a:pt x="1293821" y="1294730"/>
                  </a:moveTo>
                  <a:lnTo>
                    <a:pt x="1292920" y="0"/>
                  </a:lnTo>
                  <a:lnTo>
                    <a:pt x="1180375" y="5405"/>
                  </a:lnTo>
                  <a:lnTo>
                    <a:pt x="1068730" y="19821"/>
                  </a:lnTo>
                  <a:lnTo>
                    <a:pt x="958886" y="44148"/>
                  </a:lnTo>
                  <a:lnTo>
                    <a:pt x="850842" y="78386"/>
                  </a:lnTo>
                  <a:lnTo>
                    <a:pt x="746400" y="121634"/>
                  </a:lnTo>
                  <a:lnTo>
                    <a:pt x="646460" y="173892"/>
                  </a:lnTo>
                  <a:lnTo>
                    <a:pt x="551922" y="234258"/>
                  </a:lnTo>
                  <a:lnTo>
                    <a:pt x="461886" y="302734"/>
                  </a:lnTo>
                  <a:lnTo>
                    <a:pt x="379052" y="379318"/>
                  </a:lnTo>
                  <a:lnTo>
                    <a:pt x="302521" y="462210"/>
                  </a:lnTo>
                  <a:lnTo>
                    <a:pt x="234094" y="552310"/>
                  </a:lnTo>
                  <a:lnTo>
                    <a:pt x="173770" y="646914"/>
                  </a:lnTo>
                  <a:lnTo>
                    <a:pt x="121548" y="746925"/>
                  </a:lnTo>
                  <a:lnTo>
                    <a:pt x="78331" y="851440"/>
                  </a:lnTo>
                  <a:lnTo>
                    <a:pt x="44117" y="959559"/>
                  </a:lnTo>
                  <a:lnTo>
                    <a:pt x="19807" y="1069481"/>
                  </a:lnTo>
                  <a:lnTo>
                    <a:pt x="5402" y="1181204"/>
                  </a:lnTo>
                  <a:lnTo>
                    <a:pt x="0" y="1293829"/>
                  </a:lnTo>
                  <a:lnTo>
                    <a:pt x="5402" y="1407354"/>
                  </a:lnTo>
                  <a:lnTo>
                    <a:pt x="19807" y="1519077"/>
                  </a:lnTo>
                  <a:lnTo>
                    <a:pt x="44117" y="1628999"/>
                  </a:lnTo>
                  <a:lnTo>
                    <a:pt x="78331" y="1737118"/>
                  </a:lnTo>
                  <a:lnTo>
                    <a:pt x="121548" y="1841634"/>
                  </a:lnTo>
                  <a:lnTo>
                    <a:pt x="173770" y="1941644"/>
                  </a:lnTo>
                  <a:lnTo>
                    <a:pt x="234094" y="2036249"/>
                  </a:lnTo>
                  <a:lnTo>
                    <a:pt x="302521" y="2126348"/>
                  </a:lnTo>
                  <a:lnTo>
                    <a:pt x="379052" y="2209240"/>
                  </a:lnTo>
                  <a:lnTo>
                    <a:pt x="461886" y="2285824"/>
                  </a:lnTo>
                  <a:lnTo>
                    <a:pt x="551922" y="2354300"/>
                  </a:lnTo>
                  <a:lnTo>
                    <a:pt x="646460" y="2414667"/>
                  </a:lnTo>
                  <a:lnTo>
                    <a:pt x="746400" y="2466924"/>
                  </a:lnTo>
                  <a:lnTo>
                    <a:pt x="850842" y="2510172"/>
                  </a:lnTo>
                  <a:lnTo>
                    <a:pt x="958886" y="2544410"/>
                  </a:lnTo>
                  <a:lnTo>
                    <a:pt x="1068730" y="2568737"/>
                  </a:lnTo>
                  <a:lnTo>
                    <a:pt x="1180375" y="2583153"/>
                  </a:lnTo>
                  <a:lnTo>
                    <a:pt x="1292920" y="2588559"/>
                  </a:lnTo>
                  <a:lnTo>
                    <a:pt x="1406366" y="2583153"/>
                  </a:lnTo>
                  <a:lnTo>
                    <a:pt x="1518011" y="2568737"/>
                  </a:lnTo>
                  <a:lnTo>
                    <a:pt x="1627855" y="2544410"/>
                  </a:lnTo>
                  <a:lnTo>
                    <a:pt x="1735899" y="2510172"/>
                  </a:lnTo>
                  <a:lnTo>
                    <a:pt x="1840341" y="2466924"/>
                  </a:lnTo>
                  <a:lnTo>
                    <a:pt x="1940281" y="2414667"/>
                  </a:lnTo>
                  <a:lnTo>
                    <a:pt x="2034819" y="2354300"/>
                  </a:lnTo>
                  <a:lnTo>
                    <a:pt x="2124856" y="2285824"/>
                  </a:lnTo>
                  <a:lnTo>
                    <a:pt x="2207689" y="2209240"/>
                  </a:lnTo>
                  <a:lnTo>
                    <a:pt x="2284220" y="2126348"/>
                  </a:lnTo>
                  <a:lnTo>
                    <a:pt x="2352647" y="2036249"/>
                  </a:lnTo>
                  <a:lnTo>
                    <a:pt x="2412972" y="1941644"/>
                  </a:lnTo>
                  <a:lnTo>
                    <a:pt x="2465193" y="1841634"/>
                  </a:lnTo>
                  <a:lnTo>
                    <a:pt x="2467894" y="1836228"/>
                  </a:lnTo>
                  <a:lnTo>
                    <a:pt x="1293821" y="1294730"/>
                  </a:lnTo>
                  <a:close/>
                </a:path>
              </a:pathLst>
            </a:custGeom>
            <a:ln w="3175">
              <a:solidFill>
                <a:srgbClr val="FFFFFF"/>
              </a:solidFill>
            </a:ln>
          </p:spPr>
          <p:txBody>
            <a:bodyPr wrap="square" lIns="0" tIns="0" rIns="0" bIns="0" rtlCol="0"/>
            <a:lstStyle/>
            <a:p>
              <a:endParaRPr sz="1227"/>
            </a:p>
          </p:txBody>
        </p:sp>
      </p:grpSp>
      <p:sp>
        <p:nvSpPr>
          <p:cNvPr id="91" name="object 91"/>
          <p:cNvSpPr txBox="1"/>
          <p:nvPr/>
        </p:nvSpPr>
        <p:spPr>
          <a:xfrm>
            <a:off x="5502496" y="1976775"/>
            <a:ext cx="769793" cy="897769"/>
          </a:xfrm>
          <a:prstGeom prst="rect">
            <a:avLst/>
          </a:prstGeom>
        </p:spPr>
        <p:txBody>
          <a:bodyPr vert="horz" wrap="square" lIns="0" tIns="8659" rIns="0" bIns="0" rtlCol="0">
            <a:spAutoFit/>
          </a:bodyPr>
          <a:lstStyle/>
          <a:p>
            <a:pPr marL="8659">
              <a:spcBef>
                <a:spcPts val="68"/>
              </a:spcBef>
            </a:pPr>
            <a:r>
              <a:rPr sz="1398" b="1" spc="-17" dirty="0">
                <a:solidFill>
                  <a:srgbClr val="FFFFFF"/>
                </a:solidFill>
                <a:latin typeface="Arial"/>
                <a:cs typeface="Arial"/>
              </a:rPr>
              <a:t>17.5%</a:t>
            </a:r>
            <a:endParaRPr sz="1398">
              <a:latin typeface="Arial"/>
              <a:cs typeface="Arial"/>
            </a:endParaRPr>
          </a:p>
          <a:p>
            <a:pPr marL="384886">
              <a:spcBef>
                <a:spcPts val="1169"/>
              </a:spcBef>
            </a:pPr>
            <a:r>
              <a:rPr sz="1398" b="1" spc="-48" dirty="0">
                <a:solidFill>
                  <a:srgbClr val="FFFFFF"/>
                </a:solidFill>
                <a:latin typeface="Arial"/>
                <a:cs typeface="Arial"/>
              </a:rPr>
              <a:t>9.6%</a:t>
            </a:r>
            <a:endParaRPr sz="1398">
              <a:latin typeface="Arial"/>
              <a:cs typeface="Arial"/>
            </a:endParaRPr>
          </a:p>
          <a:p>
            <a:pPr marL="428181">
              <a:spcBef>
                <a:spcPts val="675"/>
              </a:spcBef>
            </a:pPr>
            <a:r>
              <a:rPr sz="1398" b="1" spc="-133" dirty="0">
                <a:latin typeface="Arial"/>
                <a:cs typeface="Arial"/>
              </a:rPr>
              <a:t>4.8%</a:t>
            </a:r>
            <a:endParaRPr sz="1398">
              <a:latin typeface="Arial"/>
              <a:cs typeface="Arial"/>
            </a:endParaRPr>
          </a:p>
        </p:txBody>
      </p:sp>
      <p:sp>
        <p:nvSpPr>
          <p:cNvPr id="92" name="object 92"/>
          <p:cNvSpPr txBox="1"/>
          <p:nvPr/>
        </p:nvSpPr>
        <p:spPr>
          <a:xfrm>
            <a:off x="4824780" y="2639699"/>
            <a:ext cx="430790" cy="223867"/>
          </a:xfrm>
          <a:prstGeom prst="rect">
            <a:avLst/>
          </a:prstGeom>
        </p:spPr>
        <p:txBody>
          <a:bodyPr vert="horz" wrap="square" lIns="0" tIns="8659" rIns="0" bIns="0" rtlCol="0">
            <a:spAutoFit/>
          </a:bodyPr>
          <a:lstStyle/>
          <a:p>
            <a:pPr marL="8659">
              <a:spcBef>
                <a:spcPts val="68"/>
              </a:spcBef>
            </a:pPr>
            <a:r>
              <a:rPr sz="1398" b="1" spc="-139" dirty="0">
                <a:solidFill>
                  <a:srgbClr val="FFFFFF"/>
                </a:solidFill>
                <a:latin typeface="Arial"/>
                <a:cs typeface="Arial"/>
              </a:rPr>
              <a:t>68.1%</a:t>
            </a:r>
            <a:endParaRPr sz="1398">
              <a:latin typeface="Arial"/>
              <a:cs typeface="Arial"/>
            </a:endParaRPr>
          </a:p>
        </p:txBody>
      </p:sp>
      <p:sp>
        <p:nvSpPr>
          <p:cNvPr id="93" name="object 93"/>
          <p:cNvSpPr txBox="1"/>
          <p:nvPr/>
        </p:nvSpPr>
        <p:spPr>
          <a:xfrm>
            <a:off x="3812913" y="2947643"/>
            <a:ext cx="728663" cy="575245"/>
          </a:xfrm>
          <a:prstGeom prst="rect">
            <a:avLst/>
          </a:prstGeom>
        </p:spPr>
        <p:txBody>
          <a:bodyPr vert="horz" wrap="square" lIns="0" tIns="8659" rIns="0" bIns="0" rtlCol="0">
            <a:spAutoFit/>
          </a:bodyPr>
          <a:lstStyle/>
          <a:p>
            <a:pPr marL="8659" marR="3464">
              <a:spcBef>
                <a:spcPts val="68"/>
              </a:spcBef>
            </a:pPr>
            <a:r>
              <a:rPr sz="1227" spc="-7" dirty="0">
                <a:latin typeface="Verdana"/>
                <a:cs typeface="Verdana"/>
              </a:rPr>
              <a:t>Output capacitor </a:t>
            </a:r>
            <a:r>
              <a:rPr sz="1227" dirty="0">
                <a:latin typeface="Verdana"/>
                <a:cs typeface="Verdana"/>
              </a:rPr>
              <a:t>(100</a:t>
            </a:r>
            <a:r>
              <a:rPr sz="1227" spc="-17" dirty="0">
                <a:latin typeface="Verdana"/>
                <a:cs typeface="Verdana"/>
              </a:rPr>
              <a:t> pF)</a:t>
            </a:r>
            <a:endParaRPr sz="1227">
              <a:latin typeface="Verdana"/>
              <a:cs typeface="Verdana"/>
            </a:endParaRPr>
          </a:p>
        </p:txBody>
      </p:sp>
      <p:sp>
        <p:nvSpPr>
          <p:cNvPr id="94" name="object 94"/>
          <p:cNvSpPr txBox="1"/>
          <p:nvPr/>
        </p:nvSpPr>
        <p:spPr>
          <a:xfrm>
            <a:off x="6339931" y="2129983"/>
            <a:ext cx="758969" cy="386411"/>
          </a:xfrm>
          <a:prstGeom prst="rect">
            <a:avLst/>
          </a:prstGeom>
        </p:spPr>
        <p:txBody>
          <a:bodyPr vert="horz" wrap="square" lIns="0" tIns="8659" rIns="0" bIns="0" rtlCol="0">
            <a:spAutoFit/>
          </a:bodyPr>
          <a:lstStyle/>
          <a:p>
            <a:pPr marL="8659" marR="3464">
              <a:spcBef>
                <a:spcPts val="68"/>
              </a:spcBef>
            </a:pPr>
            <a:r>
              <a:rPr sz="1227" spc="-7" dirty="0">
                <a:latin typeface="Verdana"/>
                <a:cs typeface="Verdana"/>
              </a:rPr>
              <a:t>Digital controller</a:t>
            </a:r>
            <a:endParaRPr sz="1227">
              <a:latin typeface="Verdana"/>
              <a:cs typeface="Verdana"/>
            </a:endParaRPr>
          </a:p>
        </p:txBody>
      </p:sp>
      <p:sp>
        <p:nvSpPr>
          <p:cNvPr id="95" name="object 95"/>
          <p:cNvSpPr txBox="1"/>
          <p:nvPr/>
        </p:nvSpPr>
        <p:spPr>
          <a:xfrm>
            <a:off x="4214574" y="1347859"/>
            <a:ext cx="2389476" cy="514651"/>
          </a:xfrm>
          <a:prstGeom prst="rect">
            <a:avLst/>
          </a:prstGeom>
        </p:spPr>
        <p:txBody>
          <a:bodyPr vert="horz" wrap="square" lIns="0" tIns="8659" rIns="0" bIns="0" rtlCol="0">
            <a:spAutoFit/>
          </a:bodyPr>
          <a:lstStyle/>
          <a:p>
            <a:pPr marL="8659">
              <a:spcBef>
                <a:spcPts val="68"/>
              </a:spcBef>
            </a:pPr>
            <a:r>
              <a:rPr sz="1227" spc="-7" dirty="0">
                <a:latin typeface="Verdana"/>
                <a:cs typeface="Verdana"/>
              </a:rPr>
              <a:t>65-</a:t>
            </a:r>
            <a:r>
              <a:rPr sz="1227" dirty="0">
                <a:latin typeface="Verdana"/>
                <a:cs typeface="Verdana"/>
              </a:rPr>
              <a:t>nm</a:t>
            </a:r>
            <a:r>
              <a:rPr sz="1227" spc="-10" dirty="0">
                <a:latin typeface="Verdana"/>
                <a:cs typeface="Verdana"/>
              </a:rPr>
              <a:t> </a:t>
            </a:r>
            <a:r>
              <a:rPr sz="1227" dirty="0">
                <a:latin typeface="Verdana"/>
                <a:cs typeface="Verdana"/>
              </a:rPr>
              <a:t>example</a:t>
            </a:r>
            <a:r>
              <a:rPr sz="1227" spc="-3" dirty="0">
                <a:latin typeface="Verdana"/>
                <a:cs typeface="Verdana"/>
              </a:rPr>
              <a:t> </a:t>
            </a:r>
            <a:r>
              <a:rPr sz="1227" spc="-7" dirty="0">
                <a:latin typeface="Verdana"/>
                <a:cs typeface="Verdana"/>
              </a:rPr>
              <a:t>[Kim-VLSI19]</a:t>
            </a:r>
            <a:endParaRPr sz="1227">
              <a:latin typeface="Verdana"/>
              <a:cs typeface="Verdana"/>
            </a:endParaRPr>
          </a:p>
          <a:p>
            <a:pPr marR="261931" algn="r">
              <a:spcBef>
                <a:spcPts val="999"/>
              </a:spcBef>
            </a:pPr>
            <a:r>
              <a:rPr sz="1227" spc="-17" dirty="0">
                <a:latin typeface="Verdana"/>
                <a:cs typeface="Verdana"/>
              </a:rPr>
              <a:t>ADC</a:t>
            </a:r>
            <a:endParaRPr sz="1227">
              <a:latin typeface="Verdana"/>
              <a:cs typeface="Verdana"/>
            </a:endParaRPr>
          </a:p>
        </p:txBody>
      </p:sp>
      <p:sp>
        <p:nvSpPr>
          <p:cNvPr id="96" name="object 96"/>
          <p:cNvSpPr txBox="1"/>
          <p:nvPr/>
        </p:nvSpPr>
        <p:spPr>
          <a:xfrm>
            <a:off x="6316863" y="2805028"/>
            <a:ext cx="493135" cy="386411"/>
          </a:xfrm>
          <a:prstGeom prst="rect">
            <a:avLst/>
          </a:prstGeom>
        </p:spPr>
        <p:txBody>
          <a:bodyPr vert="horz" wrap="square" lIns="0" tIns="8659" rIns="0" bIns="0" rtlCol="0">
            <a:spAutoFit/>
          </a:bodyPr>
          <a:lstStyle/>
          <a:p>
            <a:pPr marL="8659" marR="3464">
              <a:spcBef>
                <a:spcPts val="68"/>
              </a:spcBef>
            </a:pPr>
            <a:r>
              <a:rPr sz="1227" spc="-7" dirty="0">
                <a:latin typeface="Verdana"/>
                <a:cs typeface="Verdana"/>
              </a:rPr>
              <a:t>Power </a:t>
            </a:r>
            <a:r>
              <a:rPr sz="1227" spc="-14" dirty="0">
                <a:latin typeface="Verdana"/>
                <a:cs typeface="Verdana"/>
              </a:rPr>
              <a:t>FETs</a:t>
            </a:r>
            <a:endParaRPr sz="1227">
              <a:latin typeface="Verdana"/>
              <a:cs typeface="Verdana"/>
            </a:endParaRPr>
          </a:p>
        </p:txBody>
      </p:sp>
      <p:sp>
        <p:nvSpPr>
          <p:cNvPr id="97" name="object 97"/>
          <p:cNvSpPr txBox="1"/>
          <p:nvPr/>
        </p:nvSpPr>
        <p:spPr>
          <a:xfrm>
            <a:off x="2667922" y="2995485"/>
            <a:ext cx="379268" cy="197641"/>
          </a:xfrm>
          <a:prstGeom prst="rect">
            <a:avLst/>
          </a:prstGeom>
        </p:spPr>
        <p:txBody>
          <a:bodyPr vert="horz" wrap="square" lIns="0" tIns="8659" rIns="0" bIns="0" rtlCol="0">
            <a:spAutoFit/>
          </a:bodyPr>
          <a:lstStyle/>
          <a:p>
            <a:pPr marL="25977">
              <a:spcBef>
                <a:spcPts val="68"/>
              </a:spcBef>
            </a:pPr>
            <a:r>
              <a:rPr sz="1841" spc="-10" baseline="13888" dirty="0">
                <a:latin typeface="Verdana"/>
                <a:cs typeface="Verdana"/>
              </a:rPr>
              <a:t>R</a:t>
            </a:r>
            <a:r>
              <a:rPr sz="818" spc="-7" dirty="0">
                <a:latin typeface="Verdana"/>
                <a:cs typeface="Verdana"/>
              </a:rPr>
              <a:t>load</a:t>
            </a:r>
            <a:endParaRPr sz="818">
              <a:latin typeface="Verdana"/>
              <a:cs typeface="Verdana"/>
            </a:endParaRPr>
          </a:p>
        </p:txBody>
      </p:sp>
      <p:sp>
        <p:nvSpPr>
          <p:cNvPr id="98" name="object 98"/>
          <p:cNvSpPr txBox="1"/>
          <p:nvPr/>
        </p:nvSpPr>
        <p:spPr>
          <a:xfrm>
            <a:off x="1906176" y="1825914"/>
            <a:ext cx="82261" cy="134612"/>
          </a:xfrm>
          <a:prstGeom prst="rect">
            <a:avLst/>
          </a:prstGeom>
        </p:spPr>
        <p:txBody>
          <a:bodyPr vert="horz" wrap="square" lIns="0" tIns="8659" rIns="0" bIns="0" rtlCol="0">
            <a:spAutoFit/>
          </a:bodyPr>
          <a:lstStyle/>
          <a:p>
            <a:pPr marL="8659">
              <a:spcBef>
                <a:spcPts val="68"/>
              </a:spcBef>
            </a:pPr>
            <a:r>
              <a:rPr sz="818" spc="-34" dirty="0">
                <a:latin typeface="Verdana"/>
                <a:cs typeface="Verdana"/>
              </a:rPr>
              <a:t>g</a:t>
            </a:r>
            <a:endParaRPr sz="818">
              <a:latin typeface="Verdana"/>
              <a:cs typeface="Verdana"/>
            </a:endParaRPr>
          </a:p>
        </p:txBody>
      </p:sp>
      <p:sp>
        <p:nvSpPr>
          <p:cNvPr id="99" name="object 99"/>
          <p:cNvSpPr txBox="1"/>
          <p:nvPr/>
        </p:nvSpPr>
        <p:spPr>
          <a:xfrm>
            <a:off x="1799669" y="1735514"/>
            <a:ext cx="768927" cy="197578"/>
          </a:xfrm>
          <a:prstGeom prst="rect">
            <a:avLst/>
          </a:prstGeom>
        </p:spPr>
        <p:txBody>
          <a:bodyPr vert="horz" wrap="square" lIns="0" tIns="8659" rIns="0" bIns="0" rtlCol="0">
            <a:spAutoFit/>
          </a:bodyPr>
          <a:lstStyle/>
          <a:p>
            <a:pPr marL="8659">
              <a:spcBef>
                <a:spcPts val="68"/>
              </a:spcBef>
            </a:pPr>
            <a:r>
              <a:rPr sz="1227" dirty="0">
                <a:latin typeface="Verdana"/>
                <a:cs typeface="Verdana"/>
              </a:rPr>
              <a:t>V</a:t>
            </a:r>
            <a:r>
              <a:rPr sz="1227" spc="85" dirty="0">
                <a:latin typeface="Verdana"/>
                <a:cs typeface="Verdana"/>
              </a:rPr>
              <a:t> </a:t>
            </a:r>
            <a:r>
              <a:rPr sz="1227" spc="-7" dirty="0">
                <a:latin typeface="Verdana"/>
                <a:cs typeface="Verdana"/>
              </a:rPr>
              <a:t>[n-</a:t>
            </a:r>
            <a:r>
              <a:rPr sz="1227" spc="-14" dirty="0">
                <a:latin typeface="Verdana"/>
                <a:cs typeface="Verdana"/>
              </a:rPr>
              <a:t>1:0]</a:t>
            </a:r>
            <a:endParaRPr sz="1227">
              <a:latin typeface="Verdana"/>
              <a:cs typeface="Verdana"/>
            </a:endParaRPr>
          </a:p>
        </p:txBody>
      </p:sp>
      <p:sp>
        <p:nvSpPr>
          <p:cNvPr id="100" name="object 100"/>
          <p:cNvSpPr txBox="1"/>
          <p:nvPr/>
        </p:nvSpPr>
        <p:spPr>
          <a:xfrm>
            <a:off x="1514890" y="3016410"/>
            <a:ext cx="330344" cy="197641"/>
          </a:xfrm>
          <a:prstGeom prst="rect">
            <a:avLst/>
          </a:prstGeom>
        </p:spPr>
        <p:txBody>
          <a:bodyPr vert="horz" wrap="square" lIns="0" tIns="8659" rIns="0" bIns="0" rtlCol="0">
            <a:spAutoFit/>
          </a:bodyPr>
          <a:lstStyle/>
          <a:p>
            <a:pPr marL="25977">
              <a:spcBef>
                <a:spcPts val="68"/>
              </a:spcBef>
            </a:pPr>
            <a:r>
              <a:rPr sz="1841" spc="-20" baseline="13888" dirty="0">
                <a:latin typeface="Verdana"/>
                <a:cs typeface="Verdana"/>
              </a:rPr>
              <a:t>C</a:t>
            </a:r>
            <a:r>
              <a:rPr sz="818" spc="-14" dirty="0">
                <a:latin typeface="Verdana"/>
                <a:cs typeface="Verdana"/>
              </a:rPr>
              <a:t>out</a:t>
            </a:r>
            <a:endParaRPr sz="818">
              <a:latin typeface="Verdana"/>
              <a:cs typeface="Verdana"/>
            </a:endParaRPr>
          </a:p>
        </p:txBody>
      </p:sp>
      <p:sp>
        <p:nvSpPr>
          <p:cNvPr id="102" name="Rectangle 101"/>
          <p:cNvSpPr/>
          <p:nvPr/>
        </p:nvSpPr>
        <p:spPr>
          <a:xfrm>
            <a:off x="7315200" y="1168549"/>
            <a:ext cx="4813300" cy="5580246"/>
          </a:xfrm>
          <a:prstGeom prst="rect">
            <a:avLst/>
          </a:prstGeom>
        </p:spPr>
        <p:txBody>
          <a:bodyPr wrap="square">
            <a:spAutoFit/>
          </a:bodyPr>
          <a:lstStyle/>
          <a:p>
            <a:pPr>
              <a:lnSpc>
                <a:spcPct val="107000"/>
              </a:lnSpc>
              <a:spcAft>
                <a:spcPts val="800"/>
              </a:spcAft>
            </a:pPr>
            <a:r>
              <a:rPr lang="en-US" sz="1400" dirty="0">
                <a:latin typeface="Verdana" panose="020B0604030504040204" pitchFamily="34" charset="0"/>
                <a:ea typeface="Verdana" panose="020B0604030504040204" pitchFamily="34" charset="0"/>
                <a:cs typeface="Times New Roman" panose="02020603050405020304" pitchFamily="18" charset="0"/>
              </a:rPr>
              <a:t>·  </a:t>
            </a:r>
            <a:r>
              <a:rPr lang="en-US" sz="1400" b="1" dirty="0">
                <a:latin typeface="Verdana" panose="020B0604030504040204" pitchFamily="34" charset="0"/>
                <a:ea typeface="Verdana" panose="020B0604030504040204" pitchFamily="34" charset="0"/>
                <a:cs typeface="Times New Roman" panose="02020603050405020304" pitchFamily="18" charset="0"/>
              </a:rPr>
              <a:t>Why important?</a:t>
            </a:r>
            <a:endParaRPr lang="en-US" sz="1200" dirty="0">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400" dirty="0">
                <a:latin typeface="Verdana" panose="020B0604030504040204" pitchFamily="34" charset="0"/>
                <a:ea typeface="Verdana" panose="020B0604030504040204" pitchFamily="34" charset="0"/>
                <a:cs typeface="Times New Roman" panose="02020603050405020304" pitchFamily="18" charset="0"/>
              </a:rPr>
              <a:t>In digital LDOs, </a:t>
            </a:r>
            <a:r>
              <a:rPr lang="en-US" sz="1400" b="1" dirty="0">
                <a:latin typeface="Verdana" panose="020B0604030504040204" pitchFamily="34" charset="0"/>
                <a:ea typeface="Verdana" panose="020B0604030504040204" pitchFamily="34" charset="0"/>
                <a:cs typeface="Times New Roman" panose="02020603050405020304" pitchFamily="18" charset="0"/>
              </a:rPr>
              <a:t>silicon area</a:t>
            </a:r>
            <a:r>
              <a:rPr lang="en-US" sz="1400" dirty="0">
                <a:latin typeface="Verdana" panose="020B0604030504040204" pitchFamily="34" charset="0"/>
                <a:ea typeface="Verdana" panose="020B0604030504040204" pitchFamily="34" charset="0"/>
                <a:cs typeface="Times New Roman" panose="02020603050405020304" pitchFamily="18" charset="0"/>
              </a:rPr>
              <a:t> is a critical factor since multiple LDOs are often integrated on a single chip.</a:t>
            </a:r>
            <a:endParaRPr lang="en-US" sz="1200"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spcAft>
                <a:spcPts val="800"/>
              </a:spcAft>
            </a:pPr>
            <a:r>
              <a:rPr lang="en-US" sz="1400" dirty="0">
                <a:latin typeface="Verdana" panose="020B0604030504040204" pitchFamily="34" charset="0"/>
                <a:ea typeface="Verdana" panose="020B0604030504040204" pitchFamily="34" charset="0"/>
                <a:cs typeface="Times New Roman" panose="02020603050405020304" pitchFamily="18" charset="0"/>
              </a:rPr>
              <a:t>·  </a:t>
            </a:r>
            <a:r>
              <a:rPr lang="en-US" sz="1400" b="1" dirty="0">
                <a:latin typeface="Verdana" panose="020B0604030504040204" pitchFamily="34" charset="0"/>
                <a:ea typeface="Verdana" panose="020B0604030504040204" pitchFamily="34" charset="0"/>
                <a:cs typeface="Times New Roman" panose="02020603050405020304" pitchFamily="18" charset="0"/>
              </a:rPr>
              <a:t>Area Breakdown (from recent publication):</a:t>
            </a:r>
            <a:endParaRPr lang="en-US" sz="1200" dirty="0">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400" b="1" dirty="0">
                <a:latin typeface="Verdana" panose="020B0604030504040204" pitchFamily="34" charset="0"/>
                <a:ea typeface="Verdana" panose="020B0604030504040204" pitchFamily="34" charset="0"/>
                <a:cs typeface="Times New Roman" panose="02020603050405020304" pitchFamily="18" charset="0"/>
              </a:rPr>
              <a:t>Output capacitor</a:t>
            </a:r>
            <a:r>
              <a:rPr lang="en-US" sz="1400" dirty="0">
                <a:latin typeface="Verdana" panose="020B0604030504040204" pitchFamily="34" charset="0"/>
                <a:ea typeface="Verdana" panose="020B0604030504040204" pitchFamily="34" charset="0"/>
                <a:cs typeface="Times New Roman" panose="02020603050405020304" pitchFamily="18" charset="0"/>
              </a:rPr>
              <a:t> → dominates, accounting for ~70% of the total area.</a:t>
            </a:r>
            <a:endParaRPr lang="en-US" sz="1200" dirty="0">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400" dirty="0" smtClean="0">
                <a:latin typeface="Verdana" panose="020B0604030504040204" pitchFamily="34" charset="0"/>
                <a:ea typeface="Verdana" panose="020B0604030504040204" pitchFamily="34" charset="0"/>
                <a:cs typeface="Times New Roman" panose="02020603050405020304" pitchFamily="18" charset="0"/>
              </a:rPr>
              <a:t>The remaining </a:t>
            </a:r>
            <a:r>
              <a:rPr lang="en-US" sz="1400" dirty="0">
                <a:latin typeface="Verdana" panose="020B0604030504040204" pitchFamily="34" charset="0"/>
                <a:ea typeface="Verdana" panose="020B0604030504040204" pitchFamily="34" charset="0"/>
                <a:cs typeface="Times New Roman" panose="02020603050405020304" pitchFamily="18" charset="0"/>
              </a:rPr>
              <a:t>area is shared among:</a:t>
            </a:r>
            <a:endParaRPr lang="en-US" sz="1200" dirty="0">
              <a:latin typeface="Verdana" panose="020B0604030504040204" pitchFamily="34" charset="0"/>
              <a:ea typeface="Verdana" panose="020B060403050404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400" b="1" dirty="0">
                <a:latin typeface="Verdana" panose="020B0604030504040204" pitchFamily="34" charset="0"/>
                <a:ea typeface="Verdana" panose="020B0604030504040204" pitchFamily="34" charset="0"/>
                <a:cs typeface="Times New Roman" panose="02020603050405020304" pitchFamily="18" charset="0"/>
              </a:rPr>
              <a:t>ADCs</a:t>
            </a:r>
            <a:endParaRPr lang="en-US" sz="1200" dirty="0">
              <a:latin typeface="Verdana" panose="020B0604030504040204" pitchFamily="34" charset="0"/>
              <a:ea typeface="Verdana" panose="020B060403050404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400" b="1" dirty="0">
                <a:latin typeface="Verdana" panose="020B0604030504040204" pitchFamily="34" charset="0"/>
                <a:ea typeface="Verdana" panose="020B0604030504040204" pitchFamily="34" charset="0"/>
                <a:cs typeface="Times New Roman" panose="02020603050405020304" pitchFamily="18" charset="0"/>
              </a:rPr>
              <a:t>Digital controllers</a:t>
            </a:r>
            <a:endParaRPr lang="en-US" sz="1200" dirty="0">
              <a:latin typeface="Verdana" panose="020B0604030504040204" pitchFamily="34" charset="0"/>
              <a:ea typeface="Verdana" panose="020B060403050404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400" b="1" dirty="0">
                <a:latin typeface="Verdana" panose="020B0604030504040204" pitchFamily="34" charset="0"/>
                <a:ea typeface="Verdana" panose="020B0604030504040204" pitchFamily="34" charset="0"/>
                <a:cs typeface="Times New Roman" panose="02020603050405020304" pitchFamily="18" charset="0"/>
              </a:rPr>
              <a:t>Power FETs</a:t>
            </a:r>
            <a:endParaRPr lang="en-US" sz="1200"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spcAft>
                <a:spcPts val="800"/>
              </a:spcAft>
            </a:pPr>
            <a:r>
              <a:rPr lang="en-US" sz="1400" dirty="0">
                <a:latin typeface="Verdana" panose="020B0604030504040204" pitchFamily="34" charset="0"/>
                <a:ea typeface="Verdana" panose="020B0604030504040204" pitchFamily="34" charset="0"/>
                <a:cs typeface="Times New Roman" panose="02020603050405020304" pitchFamily="18" charset="0"/>
              </a:rPr>
              <a:t>·  </a:t>
            </a:r>
            <a:r>
              <a:rPr lang="en-US" sz="1400" b="1" dirty="0">
                <a:latin typeface="Verdana" panose="020B0604030504040204" pitchFamily="34" charset="0"/>
                <a:ea typeface="Verdana" panose="020B0604030504040204" pitchFamily="34" charset="0"/>
                <a:cs typeface="Times New Roman" panose="02020603050405020304" pitchFamily="18" charset="0"/>
              </a:rPr>
              <a:t>Key Insight:</a:t>
            </a:r>
            <a:endParaRPr lang="en-US" sz="1200" dirty="0">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400" dirty="0">
                <a:latin typeface="Verdana" panose="020B0604030504040204" pitchFamily="34" charset="0"/>
                <a:ea typeface="Verdana" panose="020B0604030504040204" pitchFamily="34" charset="0"/>
                <a:cs typeface="Times New Roman" panose="02020603050405020304" pitchFamily="18" charset="0"/>
              </a:rPr>
              <a:t>With technology scaling, </a:t>
            </a:r>
            <a:r>
              <a:rPr lang="en-US" sz="1400" b="1" dirty="0">
                <a:latin typeface="Verdana" panose="020B0604030504040204" pitchFamily="34" charset="0"/>
                <a:ea typeface="Verdana" panose="020B0604030504040204" pitchFamily="34" charset="0"/>
                <a:cs typeface="Times New Roman" panose="02020603050405020304" pitchFamily="18" charset="0"/>
              </a:rPr>
              <a:t>active components</a:t>
            </a:r>
            <a:r>
              <a:rPr lang="en-US" sz="1400" dirty="0">
                <a:latin typeface="Verdana" panose="020B0604030504040204" pitchFamily="34" charset="0"/>
                <a:ea typeface="Verdana" panose="020B0604030504040204" pitchFamily="34" charset="0"/>
                <a:cs typeface="Times New Roman" panose="02020603050405020304" pitchFamily="18" charset="0"/>
              </a:rPr>
              <a:t> (transistors, controllers, ADCs) shrink significantly.</a:t>
            </a:r>
            <a:endParaRPr lang="en-US" sz="1200" dirty="0">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400" b="1" dirty="0">
                <a:latin typeface="Verdana" panose="020B0604030504040204" pitchFamily="34" charset="0"/>
                <a:ea typeface="Verdana" panose="020B0604030504040204" pitchFamily="34" charset="0"/>
                <a:cs typeface="Times New Roman" panose="02020603050405020304" pitchFamily="18" charset="0"/>
              </a:rPr>
              <a:t>Passive components</a:t>
            </a:r>
            <a:r>
              <a:rPr lang="en-US" sz="1400" dirty="0">
                <a:latin typeface="Verdana" panose="020B0604030504040204" pitchFamily="34" charset="0"/>
                <a:ea typeface="Verdana" panose="020B0604030504040204" pitchFamily="34" charset="0"/>
                <a:cs typeface="Times New Roman" panose="02020603050405020304" pitchFamily="18" charset="0"/>
              </a:rPr>
              <a:t> (like capacitors) do </a:t>
            </a:r>
            <a:r>
              <a:rPr lang="en-US" sz="1400" b="1" dirty="0">
                <a:latin typeface="Verdana" panose="020B0604030504040204" pitchFamily="34" charset="0"/>
                <a:ea typeface="Verdana" panose="020B0604030504040204" pitchFamily="34" charset="0"/>
                <a:cs typeface="Times New Roman" panose="02020603050405020304" pitchFamily="18" charset="0"/>
              </a:rPr>
              <a:t>not scale as effectively</a:t>
            </a:r>
            <a:r>
              <a:rPr lang="en-US" sz="1400" dirty="0">
                <a:latin typeface="Verdana" panose="020B0604030504040204" pitchFamily="34" charset="0"/>
                <a:ea typeface="Verdana" panose="020B0604030504040204" pitchFamily="34" charset="0"/>
                <a:cs typeface="Times New Roman" panose="02020603050405020304" pitchFamily="18" charset="0"/>
              </a:rPr>
              <a:t>.</a:t>
            </a:r>
            <a:endParaRPr lang="en-US" sz="1200" dirty="0">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400" dirty="0">
                <a:latin typeface="Verdana" panose="020B0604030504040204" pitchFamily="34" charset="0"/>
                <a:ea typeface="Verdana" panose="020B0604030504040204" pitchFamily="34" charset="0"/>
                <a:cs typeface="Times New Roman" panose="02020603050405020304" pitchFamily="18" charset="0"/>
              </a:rPr>
              <a:t>Thus, the </a:t>
            </a:r>
            <a:r>
              <a:rPr lang="en-US" sz="1400" b="1" dirty="0">
                <a:latin typeface="Verdana" panose="020B0604030504040204" pitchFamily="34" charset="0"/>
                <a:ea typeface="Verdana" panose="020B0604030504040204" pitchFamily="34" charset="0"/>
                <a:cs typeface="Times New Roman" panose="02020603050405020304" pitchFamily="18" charset="0"/>
              </a:rPr>
              <a:t>output capacitor remains the major contributor</a:t>
            </a:r>
            <a:r>
              <a:rPr lang="en-US" sz="1400" dirty="0">
                <a:latin typeface="Verdana" panose="020B0604030504040204" pitchFamily="34" charset="0"/>
                <a:ea typeface="Verdana" panose="020B0604030504040204" pitchFamily="34" charset="0"/>
                <a:cs typeface="Times New Roman" panose="02020603050405020304" pitchFamily="18" charset="0"/>
              </a:rPr>
              <a:t> to silicon area.</a:t>
            </a:r>
            <a:endParaRPr lang="en-US" sz="1200" dirty="0">
              <a:effectLst/>
              <a:latin typeface="Verdana" panose="020B0604030504040204" pitchFamily="34"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94912470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7081" y="266718"/>
            <a:ext cx="7222634" cy="531526"/>
          </a:xfrm>
          <a:prstGeom prst="rect">
            <a:avLst/>
          </a:prstGeom>
        </p:spPr>
        <p:txBody>
          <a:bodyPr vert="horz" wrap="square" lIns="0" tIns="8226" rIns="0" bIns="0" rtlCol="0">
            <a:spAutoFit/>
          </a:bodyPr>
          <a:lstStyle/>
          <a:p>
            <a:pPr marL="8659">
              <a:spcBef>
                <a:spcPts val="65"/>
              </a:spcBef>
            </a:pPr>
            <a:r>
              <a:rPr dirty="0"/>
              <a:t>Voltage</a:t>
            </a:r>
            <a:r>
              <a:rPr spc="-92" dirty="0"/>
              <a:t> </a:t>
            </a:r>
            <a:r>
              <a:rPr dirty="0"/>
              <a:t>Droop</a:t>
            </a:r>
            <a:r>
              <a:rPr spc="-85" dirty="0"/>
              <a:t> </a:t>
            </a:r>
            <a:r>
              <a:rPr spc="-7" dirty="0"/>
              <a:t>(V</a:t>
            </a:r>
            <a:r>
              <a:rPr sz="2557" spc="-10" baseline="-21111" dirty="0"/>
              <a:t>droop</a:t>
            </a:r>
            <a:r>
              <a:rPr sz="2591" spc="-7" dirty="0"/>
              <a:t>)</a:t>
            </a:r>
            <a:endParaRPr sz="2591" dirty="0"/>
          </a:p>
        </p:txBody>
      </p:sp>
      <p:sp>
        <p:nvSpPr>
          <p:cNvPr id="3" name="object 3"/>
          <p:cNvSpPr txBox="1"/>
          <p:nvPr/>
        </p:nvSpPr>
        <p:spPr>
          <a:xfrm>
            <a:off x="1178096" y="4273704"/>
            <a:ext cx="2708131" cy="428165"/>
          </a:xfrm>
          <a:prstGeom prst="rect">
            <a:avLst/>
          </a:prstGeom>
        </p:spPr>
        <p:txBody>
          <a:bodyPr vert="horz" wrap="square" lIns="0" tIns="8226" rIns="0" bIns="0" rtlCol="0">
            <a:spAutoFit/>
          </a:bodyPr>
          <a:lstStyle/>
          <a:p>
            <a:pPr marL="346354" indent="-320378">
              <a:spcBef>
                <a:spcPts val="65"/>
              </a:spcBef>
              <a:buClr>
                <a:srgbClr val="CC0000"/>
              </a:buClr>
              <a:buFont typeface="Wingdings"/>
              <a:buChar char=""/>
              <a:tabLst>
                <a:tab pos="346354" algn="l"/>
              </a:tabLst>
            </a:pPr>
            <a:r>
              <a:rPr sz="1364" dirty="0">
                <a:latin typeface="Verdana"/>
                <a:cs typeface="Verdana"/>
              </a:rPr>
              <a:t>V</a:t>
            </a:r>
            <a:r>
              <a:rPr sz="1330" baseline="-21367" dirty="0">
                <a:latin typeface="Verdana"/>
                <a:cs typeface="Verdana"/>
              </a:rPr>
              <a:t>out</a:t>
            </a:r>
            <a:r>
              <a:rPr sz="1364" dirty="0">
                <a:latin typeface="Verdana"/>
                <a:cs typeface="Verdana"/>
              </a:rPr>
              <a:t>’s</a:t>
            </a:r>
            <a:r>
              <a:rPr sz="1364" spc="-31" dirty="0">
                <a:latin typeface="Verdana"/>
                <a:cs typeface="Verdana"/>
              </a:rPr>
              <a:t> </a:t>
            </a:r>
            <a:r>
              <a:rPr sz="1364" dirty="0">
                <a:latin typeface="Verdana"/>
                <a:cs typeface="Verdana"/>
              </a:rPr>
              <a:t>maximum</a:t>
            </a:r>
            <a:r>
              <a:rPr sz="1364" spc="-17" dirty="0">
                <a:latin typeface="Verdana"/>
                <a:cs typeface="Verdana"/>
              </a:rPr>
              <a:t> </a:t>
            </a:r>
            <a:r>
              <a:rPr sz="1364" i="1" spc="-7" dirty="0">
                <a:latin typeface="Verdana"/>
                <a:cs typeface="Verdana"/>
              </a:rPr>
              <a:t>downward</a:t>
            </a:r>
            <a:endParaRPr sz="1364">
              <a:latin typeface="Verdana"/>
              <a:cs typeface="Verdana"/>
            </a:endParaRPr>
          </a:p>
          <a:p>
            <a:pPr marL="346354"/>
            <a:r>
              <a:rPr sz="1364" dirty="0">
                <a:latin typeface="Verdana"/>
                <a:cs typeface="Verdana"/>
              </a:rPr>
              <a:t>deviation</a:t>
            </a:r>
            <a:r>
              <a:rPr sz="1364" spc="-37" dirty="0">
                <a:latin typeface="Verdana"/>
                <a:cs typeface="Verdana"/>
              </a:rPr>
              <a:t> </a:t>
            </a:r>
            <a:r>
              <a:rPr sz="1364" dirty="0">
                <a:latin typeface="Verdana"/>
                <a:cs typeface="Verdana"/>
              </a:rPr>
              <a:t>from</a:t>
            </a:r>
            <a:r>
              <a:rPr sz="1364" spc="-48" dirty="0">
                <a:latin typeface="Verdana"/>
                <a:cs typeface="Verdana"/>
              </a:rPr>
              <a:t> </a:t>
            </a:r>
            <a:r>
              <a:rPr sz="1364" spc="-14" dirty="0">
                <a:latin typeface="Verdana"/>
                <a:cs typeface="Verdana"/>
              </a:rPr>
              <a:t>V</a:t>
            </a:r>
            <a:r>
              <a:rPr sz="1330" spc="-20" baseline="-21367" dirty="0">
                <a:latin typeface="Verdana"/>
                <a:cs typeface="Verdana"/>
              </a:rPr>
              <a:t>ref</a:t>
            </a:r>
            <a:endParaRPr sz="1330" baseline="-21367">
              <a:latin typeface="Verdana"/>
              <a:cs typeface="Verdana"/>
            </a:endParaRPr>
          </a:p>
        </p:txBody>
      </p:sp>
      <p:sp>
        <p:nvSpPr>
          <p:cNvPr id="4" name="object 4"/>
          <p:cNvSpPr txBox="1"/>
          <p:nvPr/>
        </p:nvSpPr>
        <p:spPr>
          <a:xfrm>
            <a:off x="1178097" y="4980286"/>
            <a:ext cx="2605953" cy="428165"/>
          </a:xfrm>
          <a:prstGeom prst="rect">
            <a:avLst/>
          </a:prstGeom>
        </p:spPr>
        <p:txBody>
          <a:bodyPr vert="horz" wrap="square" lIns="0" tIns="8226" rIns="0" bIns="0" rtlCol="0">
            <a:spAutoFit/>
          </a:bodyPr>
          <a:lstStyle/>
          <a:p>
            <a:pPr marL="346354" marR="29440" indent="-320810">
              <a:spcBef>
                <a:spcPts val="65"/>
              </a:spcBef>
              <a:buClr>
                <a:srgbClr val="CC0000"/>
              </a:buClr>
              <a:buFont typeface="Wingdings"/>
              <a:buChar char=""/>
              <a:tabLst>
                <a:tab pos="346354" algn="l"/>
              </a:tabLst>
            </a:pPr>
            <a:r>
              <a:rPr sz="1364" dirty="0">
                <a:latin typeface="Verdana"/>
                <a:cs typeface="Verdana"/>
              </a:rPr>
              <a:t>V</a:t>
            </a:r>
            <a:r>
              <a:rPr sz="1330" baseline="-21367" dirty="0">
                <a:latin typeface="Verdana"/>
                <a:cs typeface="Verdana"/>
              </a:rPr>
              <a:t>droop</a:t>
            </a:r>
            <a:r>
              <a:rPr sz="1330" spc="225" baseline="-21367" dirty="0">
                <a:latin typeface="Verdana"/>
                <a:cs typeface="Verdana"/>
              </a:rPr>
              <a:t> </a:t>
            </a:r>
            <a:r>
              <a:rPr sz="1364" dirty="0">
                <a:latin typeface="Verdana"/>
                <a:cs typeface="Verdana"/>
              </a:rPr>
              <a:t>is</a:t>
            </a:r>
            <a:r>
              <a:rPr sz="1364" spc="-10" dirty="0">
                <a:latin typeface="Verdana"/>
                <a:cs typeface="Verdana"/>
              </a:rPr>
              <a:t> </a:t>
            </a:r>
            <a:r>
              <a:rPr sz="1364" dirty="0">
                <a:latin typeface="Verdana"/>
                <a:cs typeface="Verdana"/>
              </a:rPr>
              <a:t>typically</a:t>
            </a:r>
            <a:r>
              <a:rPr sz="1364" spc="3" dirty="0">
                <a:latin typeface="Verdana"/>
                <a:cs typeface="Verdana"/>
              </a:rPr>
              <a:t> </a:t>
            </a:r>
            <a:r>
              <a:rPr sz="1364" spc="-7" dirty="0">
                <a:latin typeface="Verdana"/>
                <a:cs typeface="Verdana"/>
              </a:rPr>
              <a:t>targeted </a:t>
            </a:r>
            <a:r>
              <a:rPr sz="1364" dirty="0">
                <a:latin typeface="Verdana"/>
                <a:cs typeface="Verdana"/>
              </a:rPr>
              <a:t>to</a:t>
            </a:r>
            <a:r>
              <a:rPr sz="1364" spc="-24" dirty="0">
                <a:latin typeface="Verdana"/>
                <a:cs typeface="Verdana"/>
              </a:rPr>
              <a:t> </a:t>
            </a:r>
            <a:r>
              <a:rPr sz="1364" dirty="0">
                <a:latin typeface="Verdana"/>
                <a:cs typeface="Verdana"/>
              </a:rPr>
              <a:t>less</a:t>
            </a:r>
            <a:r>
              <a:rPr sz="1364" spc="-14" dirty="0">
                <a:latin typeface="Verdana"/>
                <a:cs typeface="Verdana"/>
              </a:rPr>
              <a:t> </a:t>
            </a:r>
            <a:r>
              <a:rPr sz="1364" dirty="0">
                <a:latin typeface="Verdana"/>
                <a:cs typeface="Verdana"/>
              </a:rPr>
              <a:t>than</a:t>
            </a:r>
            <a:r>
              <a:rPr sz="1364" spc="-17" dirty="0">
                <a:latin typeface="Verdana"/>
                <a:cs typeface="Verdana"/>
              </a:rPr>
              <a:t> </a:t>
            </a:r>
            <a:r>
              <a:rPr sz="1364" dirty="0">
                <a:latin typeface="Verdana"/>
                <a:cs typeface="Verdana"/>
              </a:rPr>
              <a:t>10%</a:t>
            </a:r>
            <a:r>
              <a:rPr sz="1364" spc="-10" dirty="0">
                <a:latin typeface="Verdana"/>
                <a:cs typeface="Verdana"/>
              </a:rPr>
              <a:t> </a:t>
            </a:r>
            <a:r>
              <a:rPr sz="1364" dirty="0">
                <a:latin typeface="Verdana"/>
                <a:cs typeface="Verdana"/>
              </a:rPr>
              <a:t>of</a:t>
            </a:r>
            <a:r>
              <a:rPr sz="1364" spc="-20" dirty="0">
                <a:latin typeface="Verdana"/>
                <a:cs typeface="Verdana"/>
              </a:rPr>
              <a:t> </a:t>
            </a:r>
            <a:r>
              <a:rPr sz="1364" spc="-14" dirty="0">
                <a:latin typeface="Verdana"/>
                <a:cs typeface="Verdana"/>
              </a:rPr>
              <a:t>V</a:t>
            </a:r>
            <a:r>
              <a:rPr sz="1330" spc="-20" baseline="-21367" dirty="0">
                <a:latin typeface="Verdana"/>
                <a:cs typeface="Verdana"/>
              </a:rPr>
              <a:t>out</a:t>
            </a:r>
            <a:endParaRPr sz="1330" baseline="-21367">
              <a:latin typeface="Verdana"/>
              <a:cs typeface="Verdana"/>
            </a:endParaRPr>
          </a:p>
        </p:txBody>
      </p:sp>
      <p:sp>
        <p:nvSpPr>
          <p:cNvPr id="5" name="object 5"/>
          <p:cNvSpPr txBox="1"/>
          <p:nvPr/>
        </p:nvSpPr>
        <p:spPr>
          <a:xfrm>
            <a:off x="1178096" y="5644057"/>
            <a:ext cx="2541010" cy="516640"/>
          </a:xfrm>
          <a:prstGeom prst="rect">
            <a:avLst/>
          </a:prstGeom>
        </p:spPr>
        <p:txBody>
          <a:bodyPr vert="horz" wrap="square" lIns="0" tIns="8659" rIns="0" bIns="0" rtlCol="0">
            <a:spAutoFit/>
          </a:bodyPr>
          <a:lstStyle/>
          <a:p>
            <a:pPr marL="346354" marR="29440" indent="-320810">
              <a:lnSpc>
                <a:spcPct val="120500"/>
              </a:lnSpc>
              <a:spcBef>
                <a:spcPts val="68"/>
              </a:spcBef>
              <a:buClr>
                <a:srgbClr val="CC0000"/>
              </a:buClr>
              <a:buFont typeface="Wingdings"/>
              <a:buChar char=""/>
              <a:tabLst>
                <a:tab pos="346354" algn="l"/>
              </a:tabLst>
            </a:pPr>
            <a:r>
              <a:rPr sz="1364" dirty="0">
                <a:latin typeface="Verdana"/>
                <a:cs typeface="Verdana"/>
              </a:rPr>
              <a:t>ΔI</a:t>
            </a:r>
            <a:r>
              <a:rPr sz="1330" baseline="-21367" dirty="0">
                <a:latin typeface="Verdana"/>
                <a:cs typeface="Verdana"/>
              </a:rPr>
              <a:t>load,max</a:t>
            </a:r>
            <a:r>
              <a:rPr sz="1330" spc="271" baseline="-21367" dirty="0">
                <a:latin typeface="Verdana"/>
                <a:cs typeface="Verdana"/>
              </a:rPr>
              <a:t> </a:t>
            </a:r>
            <a:r>
              <a:rPr sz="1364" dirty="0">
                <a:latin typeface="Verdana"/>
                <a:cs typeface="Verdana"/>
              </a:rPr>
              <a:t>can be</a:t>
            </a:r>
            <a:r>
              <a:rPr sz="1364" spc="10" dirty="0">
                <a:latin typeface="Verdana"/>
                <a:cs typeface="Verdana"/>
              </a:rPr>
              <a:t> </a:t>
            </a:r>
            <a:r>
              <a:rPr sz="1364" spc="-7" dirty="0">
                <a:latin typeface="Verdana"/>
                <a:cs typeface="Verdana"/>
              </a:rPr>
              <a:t>different </a:t>
            </a:r>
            <a:r>
              <a:rPr sz="2045" baseline="13888" dirty="0">
                <a:latin typeface="Verdana"/>
                <a:cs typeface="Verdana"/>
              </a:rPr>
              <a:t>from</a:t>
            </a:r>
            <a:r>
              <a:rPr sz="2045" spc="-51" baseline="13888" dirty="0">
                <a:latin typeface="Verdana"/>
                <a:cs typeface="Verdana"/>
              </a:rPr>
              <a:t> </a:t>
            </a:r>
            <a:r>
              <a:rPr sz="2045" spc="-10" baseline="13888" dirty="0">
                <a:latin typeface="Verdana"/>
                <a:cs typeface="Verdana"/>
              </a:rPr>
              <a:t>I</a:t>
            </a:r>
            <a:r>
              <a:rPr sz="886" spc="-7" dirty="0">
                <a:latin typeface="Verdana"/>
                <a:cs typeface="Verdana"/>
              </a:rPr>
              <a:t>load,max</a:t>
            </a:r>
            <a:endParaRPr sz="886">
              <a:latin typeface="Verdana"/>
              <a:cs typeface="Verdana"/>
            </a:endParaRPr>
          </a:p>
        </p:txBody>
      </p:sp>
      <p:grpSp>
        <p:nvGrpSpPr>
          <p:cNvPr id="6" name="object 6"/>
          <p:cNvGrpSpPr/>
          <p:nvPr/>
        </p:nvGrpSpPr>
        <p:grpSpPr>
          <a:xfrm>
            <a:off x="1060293" y="1493254"/>
            <a:ext cx="3065751" cy="1601932"/>
            <a:chOff x="1566385" y="1879662"/>
            <a:chExt cx="4496435" cy="2349500"/>
          </a:xfrm>
        </p:grpSpPr>
        <p:sp>
          <p:nvSpPr>
            <p:cNvPr id="7" name="object 7"/>
            <p:cNvSpPr/>
            <p:nvPr/>
          </p:nvSpPr>
          <p:spPr>
            <a:xfrm>
              <a:off x="1618869" y="3496436"/>
              <a:ext cx="4434205" cy="1905"/>
            </a:xfrm>
            <a:custGeom>
              <a:avLst/>
              <a:gdLst/>
              <a:ahLst/>
              <a:cxnLst/>
              <a:rect l="l" t="t" r="r" b="b"/>
              <a:pathLst>
                <a:path w="4434205" h="1904">
                  <a:moveTo>
                    <a:pt x="0" y="0"/>
                  </a:moveTo>
                  <a:lnTo>
                    <a:pt x="4434078" y="1574"/>
                  </a:lnTo>
                </a:path>
              </a:pathLst>
            </a:custGeom>
            <a:ln w="19050">
              <a:solidFill>
                <a:srgbClr val="000000"/>
              </a:solidFill>
            </a:ln>
          </p:spPr>
          <p:txBody>
            <a:bodyPr wrap="square" lIns="0" tIns="0" rIns="0" bIns="0" rtlCol="0"/>
            <a:lstStyle/>
            <a:p>
              <a:endParaRPr sz="1227"/>
            </a:p>
          </p:txBody>
        </p:sp>
        <p:sp>
          <p:nvSpPr>
            <p:cNvPr id="8" name="object 8"/>
            <p:cNvSpPr/>
            <p:nvPr/>
          </p:nvSpPr>
          <p:spPr>
            <a:xfrm>
              <a:off x="5976727" y="3453535"/>
              <a:ext cx="76835" cy="88900"/>
            </a:xfrm>
            <a:custGeom>
              <a:avLst/>
              <a:gdLst/>
              <a:ahLst/>
              <a:cxnLst/>
              <a:rect l="l" t="t" r="r" b="b"/>
              <a:pathLst>
                <a:path w="76835" h="88900">
                  <a:moveTo>
                    <a:pt x="38" y="0"/>
                  </a:moveTo>
                  <a:lnTo>
                    <a:pt x="76225" y="44475"/>
                  </a:lnTo>
                  <a:lnTo>
                    <a:pt x="0" y="88900"/>
                  </a:lnTo>
                </a:path>
              </a:pathLst>
            </a:custGeom>
            <a:ln w="19050">
              <a:solidFill>
                <a:srgbClr val="000000"/>
              </a:solidFill>
            </a:ln>
          </p:spPr>
          <p:txBody>
            <a:bodyPr wrap="square" lIns="0" tIns="0" rIns="0" bIns="0" rtlCol="0"/>
            <a:lstStyle/>
            <a:p>
              <a:endParaRPr sz="1227"/>
            </a:p>
          </p:txBody>
        </p:sp>
        <p:sp>
          <p:nvSpPr>
            <p:cNvPr id="9" name="object 9"/>
            <p:cNvSpPr/>
            <p:nvPr/>
          </p:nvSpPr>
          <p:spPr>
            <a:xfrm>
              <a:off x="1618869" y="1889187"/>
              <a:ext cx="1905" cy="1595755"/>
            </a:xfrm>
            <a:custGeom>
              <a:avLst/>
              <a:gdLst/>
              <a:ahLst/>
              <a:cxnLst/>
              <a:rect l="l" t="t" r="r" b="b"/>
              <a:pathLst>
                <a:path w="1905" h="1595754">
                  <a:moveTo>
                    <a:pt x="0" y="1595627"/>
                  </a:moveTo>
                  <a:lnTo>
                    <a:pt x="1574" y="0"/>
                  </a:lnTo>
                </a:path>
              </a:pathLst>
            </a:custGeom>
            <a:ln w="19050">
              <a:solidFill>
                <a:srgbClr val="000000"/>
              </a:solidFill>
            </a:ln>
          </p:spPr>
          <p:txBody>
            <a:bodyPr wrap="square" lIns="0" tIns="0" rIns="0" bIns="0" rtlCol="0"/>
            <a:lstStyle/>
            <a:p>
              <a:endParaRPr sz="1227"/>
            </a:p>
          </p:txBody>
        </p:sp>
        <p:sp>
          <p:nvSpPr>
            <p:cNvPr id="10" name="object 10"/>
            <p:cNvSpPr/>
            <p:nvPr/>
          </p:nvSpPr>
          <p:spPr>
            <a:xfrm>
              <a:off x="1575910" y="1889192"/>
              <a:ext cx="88900" cy="76835"/>
            </a:xfrm>
            <a:custGeom>
              <a:avLst/>
              <a:gdLst/>
              <a:ahLst/>
              <a:cxnLst/>
              <a:rect l="l" t="t" r="r" b="b"/>
              <a:pathLst>
                <a:path w="88900" h="76835">
                  <a:moveTo>
                    <a:pt x="0" y="76149"/>
                  </a:moveTo>
                  <a:lnTo>
                    <a:pt x="44526" y="0"/>
                  </a:lnTo>
                  <a:lnTo>
                    <a:pt x="88900" y="76238"/>
                  </a:lnTo>
                </a:path>
              </a:pathLst>
            </a:custGeom>
            <a:ln w="19050">
              <a:solidFill>
                <a:srgbClr val="000000"/>
              </a:solidFill>
            </a:ln>
          </p:spPr>
          <p:txBody>
            <a:bodyPr wrap="square" lIns="0" tIns="0" rIns="0" bIns="0" rtlCol="0"/>
            <a:lstStyle/>
            <a:p>
              <a:endParaRPr sz="1227"/>
            </a:p>
          </p:txBody>
        </p:sp>
        <p:sp>
          <p:nvSpPr>
            <p:cNvPr id="11" name="object 11"/>
            <p:cNvSpPr/>
            <p:nvPr/>
          </p:nvSpPr>
          <p:spPr>
            <a:xfrm>
              <a:off x="4090797" y="3871341"/>
              <a:ext cx="189230" cy="348615"/>
            </a:xfrm>
            <a:custGeom>
              <a:avLst/>
              <a:gdLst/>
              <a:ahLst/>
              <a:cxnLst/>
              <a:rect l="l" t="t" r="r" b="b"/>
              <a:pathLst>
                <a:path w="189229" h="348614">
                  <a:moveTo>
                    <a:pt x="141732" y="0"/>
                  </a:moveTo>
                  <a:lnTo>
                    <a:pt x="141732" y="253898"/>
                  </a:lnTo>
                  <a:lnTo>
                    <a:pt x="188976" y="253898"/>
                  </a:lnTo>
                  <a:lnTo>
                    <a:pt x="94488" y="348233"/>
                  </a:lnTo>
                  <a:lnTo>
                    <a:pt x="0" y="253898"/>
                  </a:lnTo>
                  <a:lnTo>
                    <a:pt x="47244" y="253898"/>
                  </a:lnTo>
                  <a:lnTo>
                    <a:pt x="47244" y="0"/>
                  </a:lnTo>
                  <a:lnTo>
                    <a:pt x="141732" y="0"/>
                  </a:lnTo>
                  <a:close/>
                </a:path>
              </a:pathLst>
            </a:custGeom>
            <a:ln w="19049">
              <a:solidFill>
                <a:srgbClr val="0000FF"/>
              </a:solidFill>
            </a:ln>
          </p:spPr>
          <p:txBody>
            <a:bodyPr wrap="square" lIns="0" tIns="0" rIns="0" bIns="0" rtlCol="0"/>
            <a:lstStyle/>
            <a:p>
              <a:endParaRPr sz="1227"/>
            </a:p>
          </p:txBody>
        </p:sp>
      </p:grpSp>
      <p:sp>
        <p:nvSpPr>
          <p:cNvPr id="12" name="object 12"/>
          <p:cNvSpPr txBox="1"/>
          <p:nvPr/>
        </p:nvSpPr>
        <p:spPr>
          <a:xfrm>
            <a:off x="4172076" y="2461014"/>
            <a:ext cx="442913" cy="218236"/>
          </a:xfrm>
          <a:prstGeom prst="rect">
            <a:avLst/>
          </a:prstGeom>
        </p:spPr>
        <p:txBody>
          <a:bodyPr vert="horz" wrap="square" lIns="0" tIns="8226" rIns="0" bIns="0" rtlCol="0">
            <a:spAutoFit/>
          </a:bodyPr>
          <a:lstStyle/>
          <a:p>
            <a:pPr marL="8659">
              <a:spcBef>
                <a:spcPts val="65"/>
              </a:spcBef>
            </a:pPr>
            <a:r>
              <a:rPr sz="1364" spc="-14" dirty="0">
                <a:latin typeface="Verdana"/>
                <a:cs typeface="Verdana"/>
              </a:rPr>
              <a:t>Time</a:t>
            </a:r>
            <a:endParaRPr sz="1364">
              <a:latin typeface="Verdana"/>
              <a:cs typeface="Verdana"/>
            </a:endParaRPr>
          </a:p>
        </p:txBody>
      </p:sp>
      <p:sp>
        <p:nvSpPr>
          <p:cNvPr id="13" name="object 13"/>
          <p:cNvSpPr txBox="1"/>
          <p:nvPr/>
        </p:nvSpPr>
        <p:spPr>
          <a:xfrm>
            <a:off x="738170" y="1932789"/>
            <a:ext cx="367578" cy="218107"/>
          </a:xfrm>
          <a:prstGeom prst="rect">
            <a:avLst/>
          </a:prstGeom>
        </p:spPr>
        <p:txBody>
          <a:bodyPr vert="horz" wrap="square" lIns="0" tIns="8226" rIns="0" bIns="0" rtlCol="0">
            <a:spAutoFit/>
          </a:bodyPr>
          <a:lstStyle/>
          <a:p>
            <a:pPr marL="25977">
              <a:spcBef>
                <a:spcPts val="65"/>
              </a:spcBef>
            </a:pPr>
            <a:r>
              <a:rPr sz="2045" spc="-10" baseline="13888" dirty="0">
                <a:latin typeface="Verdana"/>
                <a:cs typeface="Verdana"/>
              </a:rPr>
              <a:t>I</a:t>
            </a:r>
            <a:r>
              <a:rPr sz="886" spc="-7" dirty="0">
                <a:latin typeface="Verdana"/>
                <a:cs typeface="Verdana"/>
              </a:rPr>
              <a:t>load</a:t>
            </a:r>
            <a:endParaRPr sz="886">
              <a:latin typeface="Verdana"/>
              <a:cs typeface="Verdana"/>
            </a:endParaRPr>
          </a:p>
        </p:txBody>
      </p:sp>
      <p:grpSp>
        <p:nvGrpSpPr>
          <p:cNvPr id="14" name="object 14"/>
          <p:cNvGrpSpPr/>
          <p:nvPr/>
        </p:nvGrpSpPr>
        <p:grpSpPr>
          <a:xfrm>
            <a:off x="1051980" y="1705792"/>
            <a:ext cx="3065751" cy="2173865"/>
            <a:chOff x="1554193" y="2191385"/>
            <a:chExt cx="4496435" cy="3188335"/>
          </a:xfrm>
        </p:grpSpPr>
        <p:sp>
          <p:nvSpPr>
            <p:cNvPr id="15" name="object 15"/>
            <p:cNvSpPr/>
            <p:nvPr/>
          </p:nvSpPr>
          <p:spPr>
            <a:xfrm>
              <a:off x="1632966" y="3335272"/>
              <a:ext cx="2016125" cy="1905"/>
            </a:xfrm>
            <a:custGeom>
              <a:avLst/>
              <a:gdLst/>
              <a:ahLst/>
              <a:cxnLst/>
              <a:rect l="l" t="t" r="r" b="b"/>
              <a:pathLst>
                <a:path w="2016125" h="1904">
                  <a:moveTo>
                    <a:pt x="0" y="1587"/>
                  </a:moveTo>
                  <a:lnTo>
                    <a:pt x="2016125" y="0"/>
                  </a:lnTo>
                </a:path>
              </a:pathLst>
            </a:custGeom>
            <a:ln w="28956">
              <a:solidFill>
                <a:srgbClr val="C00000"/>
              </a:solidFill>
            </a:ln>
          </p:spPr>
          <p:txBody>
            <a:bodyPr wrap="square" lIns="0" tIns="0" rIns="0" bIns="0" rtlCol="0"/>
            <a:lstStyle/>
            <a:p>
              <a:endParaRPr sz="1227"/>
            </a:p>
          </p:txBody>
        </p:sp>
        <p:sp>
          <p:nvSpPr>
            <p:cNvPr id="16" name="object 16"/>
            <p:cNvSpPr/>
            <p:nvPr/>
          </p:nvSpPr>
          <p:spPr>
            <a:xfrm>
              <a:off x="3648451" y="2205990"/>
              <a:ext cx="711835" cy="1123315"/>
            </a:xfrm>
            <a:custGeom>
              <a:avLst/>
              <a:gdLst/>
              <a:ahLst/>
              <a:cxnLst/>
              <a:rect l="l" t="t" r="r" b="b"/>
              <a:pathLst>
                <a:path w="711835" h="1123314">
                  <a:moveTo>
                    <a:pt x="711720" y="0"/>
                  </a:moveTo>
                  <a:lnTo>
                    <a:pt x="0" y="1123238"/>
                  </a:lnTo>
                </a:path>
              </a:pathLst>
            </a:custGeom>
            <a:ln w="28955">
              <a:solidFill>
                <a:srgbClr val="C00000"/>
              </a:solidFill>
            </a:ln>
          </p:spPr>
          <p:txBody>
            <a:bodyPr wrap="square" lIns="0" tIns="0" rIns="0" bIns="0" rtlCol="0"/>
            <a:lstStyle/>
            <a:p>
              <a:endParaRPr sz="1227"/>
            </a:p>
          </p:txBody>
        </p:sp>
        <p:sp>
          <p:nvSpPr>
            <p:cNvPr id="17" name="object 17"/>
            <p:cNvSpPr/>
            <p:nvPr/>
          </p:nvSpPr>
          <p:spPr>
            <a:xfrm>
              <a:off x="4351019" y="2205991"/>
              <a:ext cx="1310005" cy="0"/>
            </a:xfrm>
            <a:custGeom>
              <a:avLst/>
              <a:gdLst/>
              <a:ahLst/>
              <a:cxnLst/>
              <a:rect l="l" t="t" r="r" b="b"/>
              <a:pathLst>
                <a:path w="1310004">
                  <a:moveTo>
                    <a:pt x="0" y="0"/>
                  </a:moveTo>
                  <a:lnTo>
                    <a:pt x="1309738" y="0"/>
                  </a:lnTo>
                </a:path>
              </a:pathLst>
            </a:custGeom>
            <a:ln w="28956">
              <a:solidFill>
                <a:srgbClr val="C00000"/>
              </a:solidFill>
            </a:ln>
          </p:spPr>
          <p:txBody>
            <a:bodyPr wrap="square" lIns="0" tIns="0" rIns="0" bIns="0" rtlCol="0"/>
            <a:lstStyle/>
            <a:p>
              <a:endParaRPr sz="1227"/>
            </a:p>
          </p:txBody>
        </p:sp>
        <p:sp>
          <p:nvSpPr>
            <p:cNvPr id="18" name="object 18"/>
            <p:cNvSpPr/>
            <p:nvPr/>
          </p:nvSpPr>
          <p:spPr>
            <a:xfrm>
              <a:off x="1606677" y="5323713"/>
              <a:ext cx="4434205" cy="1905"/>
            </a:xfrm>
            <a:custGeom>
              <a:avLst/>
              <a:gdLst/>
              <a:ahLst/>
              <a:cxnLst/>
              <a:rect l="l" t="t" r="r" b="b"/>
              <a:pathLst>
                <a:path w="4434205" h="1904">
                  <a:moveTo>
                    <a:pt x="0" y="0"/>
                  </a:moveTo>
                  <a:lnTo>
                    <a:pt x="4434078" y="1574"/>
                  </a:lnTo>
                </a:path>
              </a:pathLst>
            </a:custGeom>
            <a:ln w="19050">
              <a:solidFill>
                <a:srgbClr val="000000"/>
              </a:solidFill>
            </a:ln>
          </p:spPr>
          <p:txBody>
            <a:bodyPr wrap="square" lIns="0" tIns="0" rIns="0" bIns="0" rtlCol="0"/>
            <a:lstStyle/>
            <a:p>
              <a:endParaRPr sz="1227"/>
            </a:p>
          </p:txBody>
        </p:sp>
        <p:sp>
          <p:nvSpPr>
            <p:cNvPr id="19" name="object 19"/>
            <p:cNvSpPr/>
            <p:nvPr/>
          </p:nvSpPr>
          <p:spPr>
            <a:xfrm>
              <a:off x="5964534" y="5280812"/>
              <a:ext cx="76835" cy="88900"/>
            </a:xfrm>
            <a:custGeom>
              <a:avLst/>
              <a:gdLst/>
              <a:ahLst/>
              <a:cxnLst/>
              <a:rect l="l" t="t" r="r" b="b"/>
              <a:pathLst>
                <a:path w="76835" h="88900">
                  <a:moveTo>
                    <a:pt x="38" y="0"/>
                  </a:moveTo>
                  <a:lnTo>
                    <a:pt x="76225" y="44475"/>
                  </a:lnTo>
                  <a:lnTo>
                    <a:pt x="0" y="88899"/>
                  </a:lnTo>
                </a:path>
              </a:pathLst>
            </a:custGeom>
            <a:ln w="19050">
              <a:solidFill>
                <a:srgbClr val="000000"/>
              </a:solidFill>
            </a:ln>
          </p:spPr>
          <p:txBody>
            <a:bodyPr wrap="square" lIns="0" tIns="0" rIns="0" bIns="0" rtlCol="0"/>
            <a:lstStyle/>
            <a:p>
              <a:endParaRPr sz="1227"/>
            </a:p>
          </p:txBody>
        </p:sp>
        <p:sp>
          <p:nvSpPr>
            <p:cNvPr id="20" name="object 20"/>
            <p:cNvSpPr/>
            <p:nvPr/>
          </p:nvSpPr>
          <p:spPr>
            <a:xfrm>
              <a:off x="1606677" y="3717225"/>
              <a:ext cx="1905" cy="1595755"/>
            </a:xfrm>
            <a:custGeom>
              <a:avLst/>
              <a:gdLst/>
              <a:ahLst/>
              <a:cxnLst/>
              <a:rect l="l" t="t" r="r" b="b"/>
              <a:pathLst>
                <a:path w="1905" h="1595754">
                  <a:moveTo>
                    <a:pt x="0" y="1595627"/>
                  </a:moveTo>
                  <a:lnTo>
                    <a:pt x="1574" y="0"/>
                  </a:lnTo>
                </a:path>
              </a:pathLst>
            </a:custGeom>
            <a:ln w="19050">
              <a:solidFill>
                <a:srgbClr val="000000"/>
              </a:solidFill>
            </a:ln>
          </p:spPr>
          <p:txBody>
            <a:bodyPr wrap="square" lIns="0" tIns="0" rIns="0" bIns="0" rtlCol="0"/>
            <a:lstStyle/>
            <a:p>
              <a:endParaRPr sz="1227"/>
            </a:p>
          </p:txBody>
        </p:sp>
        <p:sp>
          <p:nvSpPr>
            <p:cNvPr id="21" name="object 21"/>
            <p:cNvSpPr/>
            <p:nvPr/>
          </p:nvSpPr>
          <p:spPr>
            <a:xfrm>
              <a:off x="1563718" y="3717230"/>
              <a:ext cx="88900" cy="76835"/>
            </a:xfrm>
            <a:custGeom>
              <a:avLst/>
              <a:gdLst/>
              <a:ahLst/>
              <a:cxnLst/>
              <a:rect l="l" t="t" r="r" b="b"/>
              <a:pathLst>
                <a:path w="88900" h="76835">
                  <a:moveTo>
                    <a:pt x="0" y="76149"/>
                  </a:moveTo>
                  <a:lnTo>
                    <a:pt x="44526" y="0"/>
                  </a:lnTo>
                  <a:lnTo>
                    <a:pt x="88900" y="76238"/>
                  </a:lnTo>
                </a:path>
              </a:pathLst>
            </a:custGeom>
            <a:ln w="19050">
              <a:solidFill>
                <a:srgbClr val="000000"/>
              </a:solidFill>
            </a:ln>
          </p:spPr>
          <p:txBody>
            <a:bodyPr wrap="square" lIns="0" tIns="0" rIns="0" bIns="0" rtlCol="0"/>
            <a:lstStyle/>
            <a:p>
              <a:endParaRPr sz="1227"/>
            </a:p>
          </p:txBody>
        </p:sp>
      </p:grpSp>
      <p:sp>
        <p:nvSpPr>
          <p:cNvPr id="22" name="object 22"/>
          <p:cNvSpPr txBox="1"/>
          <p:nvPr/>
        </p:nvSpPr>
        <p:spPr>
          <a:xfrm>
            <a:off x="2908086" y="3460863"/>
            <a:ext cx="1707140" cy="473358"/>
          </a:xfrm>
          <a:prstGeom prst="rect">
            <a:avLst/>
          </a:prstGeom>
        </p:spPr>
        <p:txBody>
          <a:bodyPr vert="horz" wrap="square" lIns="0" tIns="27709" rIns="0" bIns="0" rtlCol="0">
            <a:spAutoFit/>
          </a:bodyPr>
          <a:lstStyle/>
          <a:p>
            <a:pPr marL="34635">
              <a:spcBef>
                <a:spcPts val="218"/>
              </a:spcBef>
            </a:pPr>
            <a:r>
              <a:rPr sz="2045" spc="-10" baseline="13888" dirty="0">
                <a:solidFill>
                  <a:srgbClr val="0000FF"/>
                </a:solidFill>
                <a:latin typeface="Verdana"/>
                <a:cs typeface="Verdana"/>
              </a:rPr>
              <a:t>V</a:t>
            </a:r>
            <a:r>
              <a:rPr sz="886" spc="-7" dirty="0">
                <a:solidFill>
                  <a:srgbClr val="0000FF"/>
                </a:solidFill>
                <a:latin typeface="Verdana"/>
                <a:cs typeface="Verdana"/>
              </a:rPr>
              <a:t>droop</a:t>
            </a:r>
            <a:endParaRPr sz="886">
              <a:latin typeface="Verdana"/>
              <a:cs typeface="Verdana"/>
            </a:endParaRPr>
          </a:p>
          <a:p>
            <a:pPr marL="1263760">
              <a:spcBef>
                <a:spcPts val="150"/>
              </a:spcBef>
            </a:pPr>
            <a:r>
              <a:rPr sz="1364" spc="-14" dirty="0">
                <a:latin typeface="Verdana"/>
                <a:cs typeface="Verdana"/>
              </a:rPr>
              <a:t>Time</a:t>
            </a:r>
            <a:endParaRPr sz="1364">
              <a:latin typeface="Verdana"/>
              <a:cs typeface="Verdana"/>
            </a:endParaRPr>
          </a:p>
        </p:txBody>
      </p:sp>
      <p:sp>
        <p:nvSpPr>
          <p:cNvPr id="23" name="object 23"/>
          <p:cNvSpPr txBox="1"/>
          <p:nvPr/>
        </p:nvSpPr>
        <p:spPr>
          <a:xfrm>
            <a:off x="734743" y="3178942"/>
            <a:ext cx="358919" cy="218107"/>
          </a:xfrm>
          <a:prstGeom prst="rect">
            <a:avLst/>
          </a:prstGeom>
        </p:spPr>
        <p:txBody>
          <a:bodyPr vert="horz" wrap="square" lIns="0" tIns="8226" rIns="0" bIns="0" rtlCol="0">
            <a:spAutoFit/>
          </a:bodyPr>
          <a:lstStyle/>
          <a:p>
            <a:pPr marL="25977">
              <a:spcBef>
                <a:spcPts val="65"/>
              </a:spcBef>
            </a:pPr>
            <a:r>
              <a:rPr sz="2045" spc="-20" baseline="13888" dirty="0">
                <a:latin typeface="Verdana"/>
                <a:cs typeface="Verdana"/>
              </a:rPr>
              <a:t>V</a:t>
            </a:r>
            <a:r>
              <a:rPr sz="886" spc="-14" dirty="0">
                <a:latin typeface="Verdana"/>
                <a:cs typeface="Verdana"/>
              </a:rPr>
              <a:t>out</a:t>
            </a:r>
            <a:endParaRPr sz="886">
              <a:latin typeface="Verdana"/>
              <a:cs typeface="Verdana"/>
            </a:endParaRPr>
          </a:p>
        </p:txBody>
      </p:sp>
      <p:grpSp>
        <p:nvGrpSpPr>
          <p:cNvPr id="24" name="object 24"/>
          <p:cNvGrpSpPr/>
          <p:nvPr/>
        </p:nvGrpSpPr>
        <p:grpSpPr>
          <a:xfrm>
            <a:off x="1077026" y="1458575"/>
            <a:ext cx="2970068" cy="2211532"/>
            <a:chOff x="1590928" y="1828800"/>
            <a:chExt cx="4356100" cy="3243580"/>
          </a:xfrm>
        </p:grpSpPr>
        <p:sp>
          <p:nvSpPr>
            <p:cNvPr id="25" name="object 25"/>
            <p:cNvSpPr/>
            <p:nvPr/>
          </p:nvSpPr>
          <p:spPr>
            <a:xfrm>
              <a:off x="1605533" y="4259578"/>
              <a:ext cx="2016125" cy="1905"/>
            </a:xfrm>
            <a:custGeom>
              <a:avLst/>
              <a:gdLst/>
              <a:ahLst/>
              <a:cxnLst/>
              <a:rect l="l" t="t" r="r" b="b"/>
              <a:pathLst>
                <a:path w="2016125" h="1904">
                  <a:moveTo>
                    <a:pt x="0" y="1587"/>
                  </a:moveTo>
                  <a:lnTo>
                    <a:pt x="2016125" y="0"/>
                  </a:lnTo>
                </a:path>
              </a:pathLst>
            </a:custGeom>
            <a:ln w="28956">
              <a:solidFill>
                <a:srgbClr val="0000FF"/>
              </a:solidFill>
            </a:ln>
          </p:spPr>
          <p:txBody>
            <a:bodyPr wrap="square" lIns="0" tIns="0" rIns="0" bIns="0" rtlCol="0"/>
            <a:lstStyle/>
            <a:p>
              <a:endParaRPr sz="1227"/>
            </a:p>
          </p:txBody>
        </p:sp>
        <p:sp>
          <p:nvSpPr>
            <p:cNvPr id="26" name="object 26"/>
            <p:cNvSpPr/>
            <p:nvPr/>
          </p:nvSpPr>
          <p:spPr>
            <a:xfrm>
              <a:off x="3621024" y="4248148"/>
              <a:ext cx="2311400" cy="15240"/>
            </a:xfrm>
            <a:custGeom>
              <a:avLst/>
              <a:gdLst/>
              <a:ahLst/>
              <a:cxnLst/>
              <a:rect l="l" t="t" r="r" b="b"/>
              <a:pathLst>
                <a:path w="2311400" h="15239">
                  <a:moveTo>
                    <a:pt x="0" y="14643"/>
                  </a:moveTo>
                  <a:lnTo>
                    <a:pt x="2310777" y="0"/>
                  </a:lnTo>
                </a:path>
              </a:pathLst>
            </a:custGeom>
            <a:ln w="28956">
              <a:solidFill>
                <a:srgbClr val="0000FF"/>
              </a:solidFill>
              <a:prstDash val="sysDash"/>
            </a:ln>
          </p:spPr>
          <p:txBody>
            <a:bodyPr wrap="square" lIns="0" tIns="0" rIns="0" bIns="0" rtlCol="0"/>
            <a:lstStyle/>
            <a:p>
              <a:endParaRPr sz="1227"/>
            </a:p>
          </p:txBody>
        </p:sp>
        <p:sp>
          <p:nvSpPr>
            <p:cNvPr id="27" name="object 27"/>
            <p:cNvSpPr/>
            <p:nvPr/>
          </p:nvSpPr>
          <p:spPr>
            <a:xfrm>
              <a:off x="4090796" y="4714113"/>
              <a:ext cx="189230" cy="348615"/>
            </a:xfrm>
            <a:custGeom>
              <a:avLst/>
              <a:gdLst/>
              <a:ahLst/>
              <a:cxnLst/>
              <a:rect l="l" t="t" r="r" b="b"/>
              <a:pathLst>
                <a:path w="189229" h="348614">
                  <a:moveTo>
                    <a:pt x="47244" y="348234"/>
                  </a:moveTo>
                  <a:lnTo>
                    <a:pt x="47244" y="94335"/>
                  </a:lnTo>
                  <a:lnTo>
                    <a:pt x="0" y="94335"/>
                  </a:lnTo>
                  <a:lnTo>
                    <a:pt x="94488" y="0"/>
                  </a:lnTo>
                  <a:lnTo>
                    <a:pt x="188976" y="94335"/>
                  </a:lnTo>
                  <a:lnTo>
                    <a:pt x="141732" y="94335"/>
                  </a:lnTo>
                  <a:lnTo>
                    <a:pt x="141732" y="348234"/>
                  </a:lnTo>
                  <a:lnTo>
                    <a:pt x="47244" y="348234"/>
                  </a:lnTo>
                  <a:close/>
                </a:path>
              </a:pathLst>
            </a:custGeom>
            <a:ln w="19049">
              <a:solidFill>
                <a:srgbClr val="0000FF"/>
              </a:solidFill>
            </a:ln>
          </p:spPr>
          <p:txBody>
            <a:bodyPr wrap="square" lIns="0" tIns="0" rIns="0" bIns="0" rtlCol="0"/>
            <a:lstStyle/>
            <a:p>
              <a:endParaRPr sz="1227"/>
            </a:p>
          </p:txBody>
        </p:sp>
        <p:sp>
          <p:nvSpPr>
            <p:cNvPr id="28" name="object 28"/>
            <p:cNvSpPr/>
            <p:nvPr/>
          </p:nvSpPr>
          <p:spPr>
            <a:xfrm>
              <a:off x="3615689" y="3342138"/>
              <a:ext cx="2016125" cy="1905"/>
            </a:xfrm>
            <a:custGeom>
              <a:avLst/>
              <a:gdLst/>
              <a:ahLst/>
              <a:cxnLst/>
              <a:rect l="l" t="t" r="r" b="b"/>
              <a:pathLst>
                <a:path w="2016125" h="1904">
                  <a:moveTo>
                    <a:pt x="0" y="1739"/>
                  </a:moveTo>
                  <a:lnTo>
                    <a:pt x="2016125" y="0"/>
                  </a:lnTo>
                </a:path>
              </a:pathLst>
            </a:custGeom>
            <a:ln w="28956">
              <a:solidFill>
                <a:srgbClr val="C00000"/>
              </a:solidFill>
              <a:prstDash val="sysDash"/>
            </a:ln>
          </p:spPr>
          <p:txBody>
            <a:bodyPr wrap="square" lIns="0" tIns="0" rIns="0" bIns="0" rtlCol="0"/>
            <a:lstStyle/>
            <a:p>
              <a:endParaRPr sz="1227"/>
            </a:p>
          </p:txBody>
        </p:sp>
        <p:sp>
          <p:nvSpPr>
            <p:cNvPr id="29" name="object 29"/>
            <p:cNvSpPr/>
            <p:nvPr/>
          </p:nvSpPr>
          <p:spPr>
            <a:xfrm>
              <a:off x="4968620" y="1838325"/>
              <a:ext cx="189230" cy="347980"/>
            </a:xfrm>
            <a:custGeom>
              <a:avLst/>
              <a:gdLst/>
              <a:ahLst/>
              <a:cxnLst/>
              <a:rect l="l" t="t" r="r" b="b"/>
              <a:pathLst>
                <a:path w="189229" h="347980">
                  <a:moveTo>
                    <a:pt x="141732" y="0"/>
                  </a:moveTo>
                  <a:lnTo>
                    <a:pt x="141732" y="253136"/>
                  </a:lnTo>
                  <a:lnTo>
                    <a:pt x="188976" y="253136"/>
                  </a:lnTo>
                  <a:lnTo>
                    <a:pt x="94488" y="347472"/>
                  </a:lnTo>
                  <a:lnTo>
                    <a:pt x="0" y="253136"/>
                  </a:lnTo>
                  <a:lnTo>
                    <a:pt x="47244" y="253136"/>
                  </a:lnTo>
                  <a:lnTo>
                    <a:pt x="47244" y="0"/>
                  </a:lnTo>
                  <a:lnTo>
                    <a:pt x="141732" y="0"/>
                  </a:lnTo>
                  <a:close/>
                </a:path>
              </a:pathLst>
            </a:custGeom>
            <a:ln w="19049">
              <a:solidFill>
                <a:srgbClr val="C00000"/>
              </a:solidFill>
            </a:ln>
          </p:spPr>
          <p:txBody>
            <a:bodyPr wrap="square" lIns="0" tIns="0" rIns="0" bIns="0" rtlCol="0"/>
            <a:lstStyle/>
            <a:p>
              <a:endParaRPr sz="1227"/>
            </a:p>
          </p:txBody>
        </p:sp>
        <p:sp>
          <p:nvSpPr>
            <p:cNvPr id="30" name="object 30"/>
            <p:cNvSpPr/>
            <p:nvPr/>
          </p:nvSpPr>
          <p:spPr>
            <a:xfrm>
              <a:off x="4968620" y="3363086"/>
              <a:ext cx="189230" cy="347980"/>
            </a:xfrm>
            <a:custGeom>
              <a:avLst/>
              <a:gdLst/>
              <a:ahLst/>
              <a:cxnLst/>
              <a:rect l="l" t="t" r="r" b="b"/>
              <a:pathLst>
                <a:path w="189229" h="347979">
                  <a:moveTo>
                    <a:pt x="47244" y="347471"/>
                  </a:moveTo>
                  <a:lnTo>
                    <a:pt x="47244" y="94335"/>
                  </a:lnTo>
                  <a:lnTo>
                    <a:pt x="0" y="94335"/>
                  </a:lnTo>
                  <a:lnTo>
                    <a:pt x="94488" y="0"/>
                  </a:lnTo>
                  <a:lnTo>
                    <a:pt x="188976" y="94335"/>
                  </a:lnTo>
                  <a:lnTo>
                    <a:pt x="141732" y="94335"/>
                  </a:lnTo>
                  <a:lnTo>
                    <a:pt x="141732" y="347471"/>
                  </a:lnTo>
                  <a:lnTo>
                    <a:pt x="47244" y="347471"/>
                  </a:lnTo>
                  <a:close/>
                </a:path>
              </a:pathLst>
            </a:custGeom>
            <a:ln w="19049">
              <a:solidFill>
                <a:srgbClr val="C00000"/>
              </a:solidFill>
            </a:ln>
          </p:spPr>
          <p:txBody>
            <a:bodyPr wrap="square" lIns="0" tIns="0" rIns="0" bIns="0" rtlCol="0"/>
            <a:lstStyle/>
            <a:p>
              <a:endParaRPr sz="1227"/>
            </a:p>
          </p:txBody>
        </p:sp>
      </p:grpSp>
      <p:sp>
        <p:nvSpPr>
          <p:cNvPr id="31" name="object 31"/>
          <p:cNvSpPr txBox="1"/>
          <p:nvPr/>
        </p:nvSpPr>
        <p:spPr>
          <a:xfrm>
            <a:off x="3492732" y="1463072"/>
            <a:ext cx="781050" cy="218107"/>
          </a:xfrm>
          <a:prstGeom prst="rect">
            <a:avLst/>
          </a:prstGeom>
        </p:spPr>
        <p:txBody>
          <a:bodyPr vert="horz" wrap="square" lIns="0" tIns="8226" rIns="0" bIns="0" rtlCol="0">
            <a:spAutoFit/>
          </a:bodyPr>
          <a:lstStyle/>
          <a:p>
            <a:pPr marL="25977">
              <a:spcBef>
                <a:spcPts val="65"/>
              </a:spcBef>
            </a:pPr>
            <a:r>
              <a:rPr sz="2045" spc="-10" baseline="13888" dirty="0">
                <a:solidFill>
                  <a:srgbClr val="C00000"/>
                </a:solidFill>
                <a:latin typeface="Verdana"/>
                <a:cs typeface="Verdana"/>
              </a:rPr>
              <a:t>ΔI</a:t>
            </a:r>
            <a:r>
              <a:rPr sz="886" spc="-7" dirty="0">
                <a:solidFill>
                  <a:srgbClr val="C00000"/>
                </a:solidFill>
                <a:latin typeface="Verdana"/>
                <a:cs typeface="Verdana"/>
              </a:rPr>
              <a:t>load,max</a:t>
            </a:r>
            <a:endParaRPr sz="886">
              <a:latin typeface="Verdana"/>
              <a:cs typeface="Verdana"/>
            </a:endParaRPr>
          </a:p>
        </p:txBody>
      </p:sp>
      <p:grpSp>
        <p:nvGrpSpPr>
          <p:cNvPr id="32" name="object 32"/>
          <p:cNvGrpSpPr/>
          <p:nvPr/>
        </p:nvGrpSpPr>
        <p:grpSpPr>
          <a:xfrm>
            <a:off x="2450271" y="2953721"/>
            <a:ext cx="1703243" cy="484909"/>
            <a:chOff x="3605021" y="4021681"/>
            <a:chExt cx="2498090" cy="711200"/>
          </a:xfrm>
        </p:grpSpPr>
        <p:sp>
          <p:nvSpPr>
            <p:cNvPr id="33" name="object 33"/>
            <p:cNvSpPr/>
            <p:nvPr/>
          </p:nvSpPr>
          <p:spPr>
            <a:xfrm>
              <a:off x="5931407" y="4247391"/>
              <a:ext cx="156845" cy="1270"/>
            </a:xfrm>
            <a:custGeom>
              <a:avLst/>
              <a:gdLst/>
              <a:ahLst/>
              <a:cxnLst/>
              <a:rect l="l" t="t" r="r" b="b"/>
              <a:pathLst>
                <a:path w="156845" h="1270">
                  <a:moveTo>
                    <a:pt x="0" y="965"/>
                  </a:moveTo>
                  <a:lnTo>
                    <a:pt x="156806" y="0"/>
                  </a:lnTo>
                </a:path>
              </a:pathLst>
            </a:custGeom>
            <a:ln w="28956">
              <a:solidFill>
                <a:srgbClr val="0000FF"/>
              </a:solidFill>
            </a:ln>
          </p:spPr>
          <p:txBody>
            <a:bodyPr wrap="square" lIns="0" tIns="0" rIns="0" bIns="0" rtlCol="0"/>
            <a:lstStyle/>
            <a:p>
              <a:endParaRPr sz="1227"/>
            </a:p>
          </p:txBody>
        </p:sp>
        <p:sp>
          <p:nvSpPr>
            <p:cNvPr id="34" name="object 34"/>
            <p:cNvSpPr/>
            <p:nvPr/>
          </p:nvSpPr>
          <p:spPr>
            <a:xfrm>
              <a:off x="3619499" y="4036159"/>
              <a:ext cx="2312035" cy="682625"/>
            </a:xfrm>
            <a:custGeom>
              <a:avLst/>
              <a:gdLst/>
              <a:ahLst/>
              <a:cxnLst/>
              <a:rect l="l" t="t" r="r" b="b"/>
              <a:pathLst>
                <a:path w="2312035" h="682625">
                  <a:moveTo>
                    <a:pt x="0" y="226384"/>
                  </a:moveTo>
                  <a:lnTo>
                    <a:pt x="33806" y="272138"/>
                  </a:lnTo>
                  <a:lnTo>
                    <a:pt x="67655" y="317480"/>
                  </a:lnTo>
                  <a:lnTo>
                    <a:pt x="101591" y="361998"/>
                  </a:lnTo>
                  <a:lnTo>
                    <a:pt x="135656" y="405282"/>
                  </a:lnTo>
                  <a:lnTo>
                    <a:pt x="169893" y="446918"/>
                  </a:lnTo>
                  <a:lnTo>
                    <a:pt x="204346" y="486496"/>
                  </a:lnTo>
                  <a:lnTo>
                    <a:pt x="239058" y="523603"/>
                  </a:lnTo>
                  <a:lnTo>
                    <a:pt x="274072" y="557829"/>
                  </a:lnTo>
                  <a:lnTo>
                    <a:pt x="309431" y="588760"/>
                  </a:lnTo>
                  <a:lnTo>
                    <a:pt x="345179" y="615986"/>
                  </a:lnTo>
                  <a:lnTo>
                    <a:pt x="381358" y="639094"/>
                  </a:lnTo>
                  <a:lnTo>
                    <a:pt x="418012" y="657674"/>
                  </a:lnTo>
                  <a:lnTo>
                    <a:pt x="455185" y="671312"/>
                  </a:lnTo>
                  <a:lnTo>
                    <a:pt x="492918" y="679598"/>
                  </a:lnTo>
                  <a:lnTo>
                    <a:pt x="531256" y="682120"/>
                  </a:lnTo>
                  <a:lnTo>
                    <a:pt x="570242" y="678466"/>
                  </a:lnTo>
                  <a:lnTo>
                    <a:pt x="630881" y="654218"/>
                  </a:lnTo>
                  <a:lnTo>
                    <a:pt x="692883" y="606083"/>
                  </a:lnTo>
                  <a:lnTo>
                    <a:pt x="724358" y="574770"/>
                  </a:lnTo>
                  <a:lnTo>
                    <a:pt x="756129" y="539538"/>
                  </a:lnTo>
                  <a:lnTo>
                    <a:pt x="788183" y="501072"/>
                  </a:lnTo>
                  <a:lnTo>
                    <a:pt x="820504" y="460057"/>
                  </a:lnTo>
                  <a:lnTo>
                    <a:pt x="853078" y="417176"/>
                  </a:lnTo>
                  <a:lnTo>
                    <a:pt x="885890" y="373116"/>
                  </a:lnTo>
                  <a:lnTo>
                    <a:pt x="918925" y="328559"/>
                  </a:lnTo>
                  <a:lnTo>
                    <a:pt x="952169" y="284191"/>
                  </a:lnTo>
                  <a:lnTo>
                    <a:pt x="985607" y="240696"/>
                  </a:lnTo>
                  <a:lnTo>
                    <a:pt x="1019225" y="198758"/>
                  </a:lnTo>
                  <a:lnTo>
                    <a:pt x="1053007" y="159062"/>
                  </a:lnTo>
                  <a:lnTo>
                    <a:pt x="1086940" y="122292"/>
                  </a:lnTo>
                  <a:lnTo>
                    <a:pt x="1121008" y="89133"/>
                  </a:lnTo>
                  <a:lnTo>
                    <a:pt x="1155196" y="60269"/>
                  </a:lnTo>
                  <a:lnTo>
                    <a:pt x="1189491" y="36385"/>
                  </a:lnTo>
                  <a:lnTo>
                    <a:pt x="1223878" y="18164"/>
                  </a:lnTo>
                  <a:lnTo>
                    <a:pt x="1299485" y="0"/>
                  </a:lnTo>
                  <a:lnTo>
                    <a:pt x="1342243" y="399"/>
                  </a:lnTo>
                  <a:lnTo>
                    <a:pt x="1386338" y="6763"/>
                  </a:lnTo>
                  <a:lnTo>
                    <a:pt x="1431490" y="18364"/>
                  </a:lnTo>
                  <a:lnTo>
                    <a:pt x="1477423" y="34473"/>
                  </a:lnTo>
                  <a:lnTo>
                    <a:pt x="1523858" y="54361"/>
                  </a:lnTo>
                  <a:lnTo>
                    <a:pt x="1570518" y="77301"/>
                  </a:lnTo>
                  <a:lnTo>
                    <a:pt x="1617123" y="102564"/>
                  </a:lnTo>
                  <a:lnTo>
                    <a:pt x="1663396" y="129423"/>
                  </a:lnTo>
                  <a:lnTo>
                    <a:pt x="1709060" y="157148"/>
                  </a:lnTo>
                  <a:lnTo>
                    <a:pt x="1753835" y="185011"/>
                  </a:lnTo>
                  <a:lnTo>
                    <a:pt x="1797445" y="212284"/>
                  </a:lnTo>
                  <a:lnTo>
                    <a:pt x="1839610" y="238239"/>
                  </a:lnTo>
                  <a:lnTo>
                    <a:pt x="1880053" y="262148"/>
                  </a:lnTo>
                  <a:lnTo>
                    <a:pt x="1918497" y="283282"/>
                  </a:lnTo>
                  <a:lnTo>
                    <a:pt x="1954662" y="300912"/>
                  </a:lnTo>
                  <a:lnTo>
                    <a:pt x="2019045" y="322752"/>
                  </a:lnTo>
                  <a:lnTo>
                    <a:pt x="2087483" y="331226"/>
                  </a:lnTo>
                  <a:lnTo>
                    <a:pt x="2143643" y="328494"/>
                  </a:lnTo>
                  <a:lnTo>
                    <a:pt x="2189572" y="316423"/>
                  </a:lnTo>
                  <a:lnTo>
                    <a:pt x="2227316" y="296880"/>
                  </a:lnTo>
                  <a:lnTo>
                    <a:pt x="2258923" y="271735"/>
                  </a:lnTo>
                  <a:lnTo>
                    <a:pt x="2286438" y="242856"/>
                  </a:lnTo>
                  <a:lnTo>
                    <a:pt x="2311908" y="212109"/>
                  </a:lnTo>
                </a:path>
              </a:pathLst>
            </a:custGeom>
            <a:ln w="28956">
              <a:solidFill>
                <a:srgbClr val="0000FF"/>
              </a:solidFill>
            </a:ln>
          </p:spPr>
          <p:txBody>
            <a:bodyPr wrap="square" lIns="0" tIns="0" rIns="0" bIns="0" rtlCol="0"/>
            <a:lstStyle/>
            <a:p>
              <a:endParaRPr sz="1227"/>
            </a:p>
          </p:txBody>
        </p:sp>
      </p:grpSp>
      <p:pic>
        <p:nvPicPr>
          <p:cNvPr id="35" name="Picture 34"/>
          <p:cNvPicPr>
            <a:picLocks noChangeAspect="1"/>
          </p:cNvPicPr>
          <p:nvPr/>
        </p:nvPicPr>
        <p:blipFill>
          <a:blip r:embed="rId2"/>
          <a:stretch>
            <a:fillRect/>
          </a:stretch>
        </p:blipFill>
        <p:spPr>
          <a:xfrm>
            <a:off x="4800411" y="1660434"/>
            <a:ext cx="7340977" cy="3524431"/>
          </a:xfrm>
          <a:prstGeom prst="rect">
            <a:avLst/>
          </a:prstGeom>
        </p:spPr>
      </p:pic>
    </p:spTree>
    <p:extLst>
      <p:ext uri="{BB962C8B-B14F-4D97-AF65-F5344CB8AC3E}">
        <p14:creationId xmlns:p14="http://schemas.microsoft.com/office/powerpoint/2010/main" val="11222655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5848" y="300585"/>
            <a:ext cx="7222634" cy="531526"/>
          </a:xfrm>
          <a:prstGeom prst="rect">
            <a:avLst/>
          </a:prstGeom>
        </p:spPr>
        <p:txBody>
          <a:bodyPr vert="horz" wrap="square" lIns="0" tIns="8226" rIns="0" bIns="0" rtlCol="0">
            <a:spAutoFit/>
          </a:bodyPr>
          <a:lstStyle/>
          <a:p>
            <a:pPr marL="8659">
              <a:spcBef>
                <a:spcPts val="65"/>
              </a:spcBef>
            </a:pPr>
            <a:r>
              <a:rPr dirty="0"/>
              <a:t>Edge</a:t>
            </a:r>
            <a:r>
              <a:rPr spc="-48" dirty="0"/>
              <a:t> </a:t>
            </a:r>
            <a:r>
              <a:rPr dirty="0"/>
              <a:t>Time</a:t>
            </a:r>
            <a:r>
              <a:rPr spc="-37" dirty="0"/>
              <a:t> </a:t>
            </a:r>
            <a:r>
              <a:rPr spc="-7" dirty="0"/>
              <a:t>(t</a:t>
            </a:r>
            <a:r>
              <a:rPr sz="2557" spc="-10" baseline="-21111" dirty="0"/>
              <a:t>edge</a:t>
            </a:r>
            <a:r>
              <a:rPr sz="2591" spc="-7" dirty="0"/>
              <a:t>)</a:t>
            </a:r>
            <a:endParaRPr sz="2591" dirty="0"/>
          </a:p>
        </p:txBody>
      </p:sp>
      <p:sp>
        <p:nvSpPr>
          <p:cNvPr id="3" name="object 3"/>
          <p:cNvSpPr txBox="1"/>
          <p:nvPr/>
        </p:nvSpPr>
        <p:spPr>
          <a:xfrm>
            <a:off x="1689868" y="4443827"/>
            <a:ext cx="298306" cy="147686"/>
          </a:xfrm>
          <a:prstGeom prst="rect">
            <a:avLst/>
          </a:prstGeom>
        </p:spPr>
        <p:txBody>
          <a:bodyPr vert="horz" wrap="square" lIns="0" tIns="11257" rIns="0" bIns="0" rtlCol="0">
            <a:spAutoFit/>
          </a:bodyPr>
          <a:lstStyle/>
          <a:p>
            <a:pPr marL="8659">
              <a:spcBef>
                <a:spcPts val="89"/>
              </a:spcBef>
            </a:pPr>
            <a:r>
              <a:rPr sz="886" spc="-14" dirty="0">
                <a:latin typeface="Verdana"/>
                <a:cs typeface="Verdana"/>
              </a:rPr>
              <a:t>edge</a:t>
            </a:r>
            <a:endParaRPr sz="886">
              <a:latin typeface="Verdana"/>
              <a:cs typeface="Verdana"/>
            </a:endParaRPr>
          </a:p>
        </p:txBody>
      </p:sp>
      <p:sp>
        <p:nvSpPr>
          <p:cNvPr id="4" name="object 4"/>
          <p:cNvSpPr txBox="1"/>
          <p:nvPr/>
        </p:nvSpPr>
        <p:spPr>
          <a:xfrm>
            <a:off x="1301248" y="4343555"/>
            <a:ext cx="2377353" cy="218236"/>
          </a:xfrm>
          <a:prstGeom prst="rect">
            <a:avLst/>
          </a:prstGeom>
        </p:spPr>
        <p:txBody>
          <a:bodyPr vert="horz" wrap="square" lIns="0" tIns="8226" rIns="0" bIns="0" rtlCol="0">
            <a:spAutoFit/>
          </a:bodyPr>
          <a:lstStyle/>
          <a:p>
            <a:pPr marL="329037" indent="-320378">
              <a:spcBef>
                <a:spcPts val="65"/>
              </a:spcBef>
              <a:buClr>
                <a:srgbClr val="CC0000"/>
              </a:buClr>
              <a:buFont typeface="Wingdings"/>
              <a:buChar char=""/>
              <a:tabLst>
                <a:tab pos="329037" algn="l"/>
                <a:tab pos="739467" algn="l"/>
              </a:tabLst>
            </a:pPr>
            <a:r>
              <a:rPr sz="1364" spc="-34" dirty="0">
                <a:latin typeface="Verdana"/>
                <a:cs typeface="Verdana"/>
              </a:rPr>
              <a:t>t</a:t>
            </a:r>
            <a:r>
              <a:rPr sz="1364" dirty="0">
                <a:latin typeface="Verdana"/>
                <a:cs typeface="Verdana"/>
              </a:rPr>
              <a:t>	is</a:t>
            </a:r>
            <a:r>
              <a:rPr sz="1364" spc="-17" dirty="0">
                <a:latin typeface="Verdana"/>
                <a:cs typeface="Verdana"/>
              </a:rPr>
              <a:t> </a:t>
            </a:r>
            <a:r>
              <a:rPr sz="1364" dirty="0">
                <a:latin typeface="Verdana"/>
                <a:cs typeface="Verdana"/>
              </a:rPr>
              <a:t>a</a:t>
            </a:r>
            <a:r>
              <a:rPr sz="1364" spc="-14" dirty="0">
                <a:latin typeface="Verdana"/>
                <a:cs typeface="Verdana"/>
              </a:rPr>
              <a:t> </a:t>
            </a:r>
            <a:r>
              <a:rPr sz="1364" dirty="0">
                <a:latin typeface="Verdana"/>
                <a:cs typeface="Verdana"/>
              </a:rPr>
              <a:t>function</a:t>
            </a:r>
            <a:r>
              <a:rPr sz="1364" spc="-20" dirty="0">
                <a:latin typeface="Verdana"/>
                <a:cs typeface="Verdana"/>
              </a:rPr>
              <a:t> </a:t>
            </a:r>
            <a:r>
              <a:rPr sz="1364" dirty="0">
                <a:latin typeface="Verdana"/>
                <a:cs typeface="Verdana"/>
              </a:rPr>
              <a:t>of</a:t>
            </a:r>
            <a:r>
              <a:rPr sz="1364" spc="-17" dirty="0">
                <a:latin typeface="Verdana"/>
                <a:cs typeface="Verdana"/>
              </a:rPr>
              <a:t> the</a:t>
            </a:r>
            <a:endParaRPr sz="1364">
              <a:latin typeface="Verdana"/>
              <a:cs typeface="Verdana"/>
            </a:endParaRPr>
          </a:p>
        </p:txBody>
      </p:sp>
      <p:sp>
        <p:nvSpPr>
          <p:cNvPr id="5" name="object 5"/>
          <p:cNvSpPr txBox="1"/>
          <p:nvPr/>
        </p:nvSpPr>
        <p:spPr>
          <a:xfrm>
            <a:off x="1621871" y="4551338"/>
            <a:ext cx="1874693" cy="218236"/>
          </a:xfrm>
          <a:prstGeom prst="rect">
            <a:avLst/>
          </a:prstGeom>
        </p:spPr>
        <p:txBody>
          <a:bodyPr vert="horz" wrap="square" lIns="0" tIns="8226" rIns="0" bIns="0" rtlCol="0">
            <a:spAutoFit/>
          </a:bodyPr>
          <a:lstStyle/>
          <a:p>
            <a:pPr marL="8659">
              <a:spcBef>
                <a:spcPts val="65"/>
              </a:spcBef>
            </a:pPr>
            <a:r>
              <a:rPr sz="1364" dirty="0">
                <a:latin typeface="Verdana"/>
                <a:cs typeface="Verdana"/>
              </a:rPr>
              <a:t>clock</a:t>
            </a:r>
            <a:r>
              <a:rPr sz="1364" spc="-17" dirty="0">
                <a:latin typeface="Verdana"/>
                <a:cs typeface="Verdana"/>
              </a:rPr>
              <a:t> </a:t>
            </a:r>
            <a:r>
              <a:rPr sz="1364" dirty="0">
                <a:latin typeface="Verdana"/>
                <a:cs typeface="Verdana"/>
              </a:rPr>
              <a:t>period</a:t>
            </a:r>
            <a:r>
              <a:rPr sz="1364" spc="-10" dirty="0">
                <a:latin typeface="Verdana"/>
                <a:cs typeface="Verdana"/>
              </a:rPr>
              <a:t> </a:t>
            </a:r>
            <a:r>
              <a:rPr sz="1364" dirty="0">
                <a:latin typeface="Verdana"/>
                <a:cs typeface="Verdana"/>
              </a:rPr>
              <a:t>of</a:t>
            </a:r>
            <a:r>
              <a:rPr sz="1364" spc="-24" dirty="0">
                <a:latin typeface="Verdana"/>
                <a:cs typeface="Verdana"/>
              </a:rPr>
              <a:t> </a:t>
            </a:r>
            <a:r>
              <a:rPr sz="1364" dirty="0">
                <a:latin typeface="Verdana"/>
                <a:cs typeface="Verdana"/>
              </a:rPr>
              <a:t>a</a:t>
            </a:r>
            <a:r>
              <a:rPr sz="1364" spc="-17" dirty="0">
                <a:latin typeface="Verdana"/>
                <a:cs typeface="Verdana"/>
              </a:rPr>
              <a:t> </a:t>
            </a:r>
            <a:r>
              <a:rPr sz="1364" spc="-14" dirty="0">
                <a:latin typeface="Verdana"/>
                <a:cs typeface="Verdana"/>
              </a:rPr>
              <a:t>load</a:t>
            </a:r>
            <a:endParaRPr sz="1364">
              <a:latin typeface="Verdana"/>
              <a:cs typeface="Verdana"/>
            </a:endParaRPr>
          </a:p>
        </p:txBody>
      </p:sp>
      <p:sp>
        <p:nvSpPr>
          <p:cNvPr id="6" name="object 6"/>
          <p:cNvSpPr txBox="1"/>
          <p:nvPr/>
        </p:nvSpPr>
        <p:spPr>
          <a:xfrm>
            <a:off x="241042" y="4983111"/>
            <a:ext cx="3644611" cy="518516"/>
          </a:xfrm>
          <a:prstGeom prst="rect">
            <a:avLst/>
          </a:prstGeom>
        </p:spPr>
        <p:txBody>
          <a:bodyPr vert="horz" wrap="square" lIns="0" tIns="72303" rIns="0" bIns="0" rtlCol="0">
            <a:spAutoFit/>
          </a:bodyPr>
          <a:lstStyle/>
          <a:p>
            <a:pPr marL="1389313" indent="-320810">
              <a:spcBef>
                <a:spcPts val="569"/>
              </a:spcBef>
              <a:buClr>
                <a:srgbClr val="CC0000"/>
              </a:buClr>
              <a:buFont typeface="Wingdings"/>
              <a:buChar char=""/>
              <a:tabLst>
                <a:tab pos="1389313" algn="l"/>
              </a:tabLst>
            </a:pPr>
            <a:r>
              <a:rPr sz="1364" dirty="0">
                <a:latin typeface="Verdana"/>
                <a:cs typeface="Verdana"/>
              </a:rPr>
              <a:t>1</a:t>
            </a:r>
            <a:r>
              <a:rPr sz="1364" spc="-10" dirty="0">
                <a:latin typeface="Verdana"/>
                <a:cs typeface="Verdana"/>
              </a:rPr>
              <a:t> </a:t>
            </a:r>
            <a:r>
              <a:rPr sz="1364" dirty="0">
                <a:latin typeface="Verdana"/>
                <a:cs typeface="Verdana"/>
              </a:rPr>
              <a:t>GHz</a:t>
            </a:r>
            <a:r>
              <a:rPr sz="1364" spc="-14" dirty="0">
                <a:latin typeface="Verdana"/>
                <a:cs typeface="Verdana"/>
              </a:rPr>
              <a:t> </a:t>
            </a:r>
            <a:r>
              <a:rPr sz="1364" dirty="0">
                <a:latin typeface="Verdana"/>
                <a:cs typeface="Verdana"/>
              </a:rPr>
              <a:t>core</a:t>
            </a:r>
            <a:r>
              <a:rPr sz="1364" spc="-17" dirty="0">
                <a:latin typeface="Verdana"/>
                <a:cs typeface="Verdana"/>
              </a:rPr>
              <a:t> </a:t>
            </a:r>
            <a:r>
              <a:rPr sz="1364" dirty="0">
                <a:latin typeface="Wingdings"/>
                <a:cs typeface="Wingdings"/>
              </a:rPr>
              <a:t></a:t>
            </a:r>
            <a:r>
              <a:rPr sz="1364" spc="130" dirty="0">
                <a:latin typeface="Times New Roman"/>
                <a:cs typeface="Times New Roman"/>
              </a:rPr>
              <a:t> </a:t>
            </a:r>
            <a:r>
              <a:rPr sz="1364" spc="-14" dirty="0">
                <a:latin typeface="Verdana"/>
                <a:cs typeface="Verdana"/>
              </a:rPr>
              <a:t>1-</a:t>
            </a:r>
            <a:r>
              <a:rPr sz="1364" dirty="0">
                <a:latin typeface="Verdana"/>
                <a:cs typeface="Verdana"/>
              </a:rPr>
              <a:t>ns</a:t>
            </a:r>
            <a:r>
              <a:rPr sz="1364" spc="-10" dirty="0">
                <a:latin typeface="Verdana"/>
                <a:cs typeface="Verdana"/>
              </a:rPr>
              <a:t> </a:t>
            </a:r>
            <a:r>
              <a:rPr sz="1364" spc="-7" dirty="0">
                <a:latin typeface="Verdana"/>
                <a:cs typeface="Verdana"/>
              </a:rPr>
              <a:t>t</a:t>
            </a:r>
            <a:r>
              <a:rPr sz="1330" spc="-10" baseline="-21367" dirty="0">
                <a:latin typeface="Verdana"/>
                <a:cs typeface="Verdana"/>
              </a:rPr>
              <a:t>edge</a:t>
            </a:r>
            <a:endParaRPr sz="1330" baseline="-21367" dirty="0">
              <a:latin typeface="Verdana"/>
              <a:cs typeface="Verdana"/>
            </a:endParaRPr>
          </a:p>
          <a:p>
            <a:pPr marL="1389313" indent="-320810">
              <a:spcBef>
                <a:spcPts val="153"/>
              </a:spcBef>
              <a:buClr>
                <a:srgbClr val="CC0000"/>
              </a:buClr>
              <a:buFont typeface="Wingdings"/>
              <a:buChar char=""/>
              <a:tabLst>
                <a:tab pos="1389313" algn="l"/>
              </a:tabLst>
            </a:pPr>
            <a:r>
              <a:rPr sz="1364" dirty="0" smtClean="0">
                <a:latin typeface="Verdana"/>
                <a:cs typeface="Verdana"/>
              </a:rPr>
              <a:t>2</a:t>
            </a:r>
            <a:r>
              <a:rPr sz="1364" spc="-7" dirty="0" smtClean="0">
                <a:latin typeface="Verdana"/>
                <a:cs typeface="Verdana"/>
              </a:rPr>
              <a:t> </a:t>
            </a:r>
            <a:r>
              <a:rPr sz="1364" dirty="0">
                <a:latin typeface="Verdana"/>
                <a:cs typeface="Verdana"/>
              </a:rPr>
              <a:t>GHz</a:t>
            </a:r>
            <a:r>
              <a:rPr sz="1364" spc="-10" dirty="0">
                <a:latin typeface="Verdana"/>
                <a:cs typeface="Verdana"/>
              </a:rPr>
              <a:t> </a:t>
            </a:r>
            <a:r>
              <a:rPr sz="1364" dirty="0">
                <a:latin typeface="Verdana"/>
                <a:cs typeface="Verdana"/>
              </a:rPr>
              <a:t>core</a:t>
            </a:r>
            <a:r>
              <a:rPr sz="1364" spc="-14" dirty="0">
                <a:latin typeface="Verdana"/>
                <a:cs typeface="Verdana"/>
              </a:rPr>
              <a:t> </a:t>
            </a:r>
            <a:r>
              <a:rPr sz="1364" dirty="0">
                <a:latin typeface="Wingdings"/>
                <a:cs typeface="Wingdings"/>
              </a:rPr>
              <a:t></a:t>
            </a:r>
            <a:r>
              <a:rPr sz="1364" spc="133" dirty="0">
                <a:latin typeface="Times New Roman"/>
                <a:cs typeface="Times New Roman"/>
              </a:rPr>
              <a:t> </a:t>
            </a:r>
            <a:r>
              <a:rPr sz="1364" spc="-14" dirty="0">
                <a:latin typeface="Verdana"/>
                <a:cs typeface="Verdana"/>
              </a:rPr>
              <a:t>0.5-</a:t>
            </a:r>
            <a:r>
              <a:rPr sz="1364" dirty="0">
                <a:latin typeface="Verdana"/>
                <a:cs typeface="Verdana"/>
              </a:rPr>
              <a:t>ns</a:t>
            </a:r>
            <a:r>
              <a:rPr sz="1364" spc="-7" dirty="0">
                <a:latin typeface="Verdana"/>
                <a:cs typeface="Verdana"/>
              </a:rPr>
              <a:t> t</a:t>
            </a:r>
            <a:r>
              <a:rPr sz="1330" spc="-10" baseline="-21367" dirty="0">
                <a:latin typeface="Verdana"/>
                <a:cs typeface="Verdana"/>
              </a:rPr>
              <a:t>edge</a:t>
            </a:r>
            <a:endParaRPr sz="1330" baseline="-21367" dirty="0">
              <a:latin typeface="Verdana"/>
              <a:cs typeface="Verdana"/>
            </a:endParaRPr>
          </a:p>
        </p:txBody>
      </p:sp>
      <p:grpSp>
        <p:nvGrpSpPr>
          <p:cNvPr id="7" name="object 7"/>
          <p:cNvGrpSpPr/>
          <p:nvPr/>
        </p:nvGrpSpPr>
        <p:grpSpPr>
          <a:xfrm>
            <a:off x="1115327" y="1378955"/>
            <a:ext cx="3065751" cy="1601932"/>
            <a:chOff x="1566385" y="1879662"/>
            <a:chExt cx="4496435" cy="2349500"/>
          </a:xfrm>
        </p:grpSpPr>
        <p:sp>
          <p:nvSpPr>
            <p:cNvPr id="8" name="object 8"/>
            <p:cNvSpPr/>
            <p:nvPr/>
          </p:nvSpPr>
          <p:spPr>
            <a:xfrm>
              <a:off x="1618869" y="3496436"/>
              <a:ext cx="4434205" cy="1905"/>
            </a:xfrm>
            <a:custGeom>
              <a:avLst/>
              <a:gdLst/>
              <a:ahLst/>
              <a:cxnLst/>
              <a:rect l="l" t="t" r="r" b="b"/>
              <a:pathLst>
                <a:path w="4434205" h="1904">
                  <a:moveTo>
                    <a:pt x="0" y="0"/>
                  </a:moveTo>
                  <a:lnTo>
                    <a:pt x="4434078" y="1574"/>
                  </a:lnTo>
                </a:path>
              </a:pathLst>
            </a:custGeom>
            <a:ln w="19050">
              <a:solidFill>
                <a:srgbClr val="000000"/>
              </a:solidFill>
            </a:ln>
          </p:spPr>
          <p:txBody>
            <a:bodyPr wrap="square" lIns="0" tIns="0" rIns="0" bIns="0" rtlCol="0"/>
            <a:lstStyle/>
            <a:p>
              <a:endParaRPr sz="1227"/>
            </a:p>
          </p:txBody>
        </p:sp>
        <p:sp>
          <p:nvSpPr>
            <p:cNvPr id="9" name="object 9"/>
            <p:cNvSpPr/>
            <p:nvPr/>
          </p:nvSpPr>
          <p:spPr>
            <a:xfrm>
              <a:off x="5976727" y="3453535"/>
              <a:ext cx="76835" cy="88900"/>
            </a:xfrm>
            <a:custGeom>
              <a:avLst/>
              <a:gdLst/>
              <a:ahLst/>
              <a:cxnLst/>
              <a:rect l="l" t="t" r="r" b="b"/>
              <a:pathLst>
                <a:path w="76835" h="88900">
                  <a:moveTo>
                    <a:pt x="38" y="0"/>
                  </a:moveTo>
                  <a:lnTo>
                    <a:pt x="76225" y="44475"/>
                  </a:lnTo>
                  <a:lnTo>
                    <a:pt x="0" y="88900"/>
                  </a:lnTo>
                </a:path>
              </a:pathLst>
            </a:custGeom>
            <a:ln w="19050">
              <a:solidFill>
                <a:srgbClr val="000000"/>
              </a:solidFill>
            </a:ln>
          </p:spPr>
          <p:txBody>
            <a:bodyPr wrap="square" lIns="0" tIns="0" rIns="0" bIns="0" rtlCol="0"/>
            <a:lstStyle/>
            <a:p>
              <a:endParaRPr sz="1227"/>
            </a:p>
          </p:txBody>
        </p:sp>
        <p:sp>
          <p:nvSpPr>
            <p:cNvPr id="10" name="object 10"/>
            <p:cNvSpPr/>
            <p:nvPr/>
          </p:nvSpPr>
          <p:spPr>
            <a:xfrm>
              <a:off x="1618869" y="1889187"/>
              <a:ext cx="1905" cy="1595755"/>
            </a:xfrm>
            <a:custGeom>
              <a:avLst/>
              <a:gdLst/>
              <a:ahLst/>
              <a:cxnLst/>
              <a:rect l="l" t="t" r="r" b="b"/>
              <a:pathLst>
                <a:path w="1905" h="1595754">
                  <a:moveTo>
                    <a:pt x="0" y="1595627"/>
                  </a:moveTo>
                  <a:lnTo>
                    <a:pt x="1574" y="0"/>
                  </a:lnTo>
                </a:path>
              </a:pathLst>
            </a:custGeom>
            <a:ln w="19050">
              <a:solidFill>
                <a:srgbClr val="000000"/>
              </a:solidFill>
            </a:ln>
          </p:spPr>
          <p:txBody>
            <a:bodyPr wrap="square" lIns="0" tIns="0" rIns="0" bIns="0" rtlCol="0"/>
            <a:lstStyle/>
            <a:p>
              <a:endParaRPr sz="1227"/>
            </a:p>
          </p:txBody>
        </p:sp>
        <p:sp>
          <p:nvSpPr>
            <p:cNvPr id="11" name="object 11"/>
            <p:cNvSpPr/>
            <p:nvPr/>
          </p:nvSpPr>
          <p:spPr>
            <a:xfrm>
              <a:off x="1575910" y="1889192"/>
              <a:ext cx="88900" cy="76835"/>
            </a:xfrm>
            <a:custGeom>
              <a:avLst/>
              <a:gdLst/>
              <a:ahLst/>
              <a:cxnLst/>
              <a:rect l="l" t="t" r="r" b="b"/>
              <a:pathLst>
                <a:path w="88900" h="76835">
                  <a:moveTo>
                    <a:pt x="0" y="76149"/>
                  </a:moveTo>
                  <a:lnTo>
                    <a:pt x="44526" y="0"/>
                  </a:lnTo>
                  <a:lnTo>
                    <a:pt x="88900" y="76238"/>
                  </a:lnTo>
                </a:path>
              </a:pathLst>
            </a:custGeom>
            <a:ln w="19050">
              <a:solidFill>
                <a:srgbClr val="000000"/>
              </a:solidFill>
            </a:ln>
          </p:spPr>
          <p:txBody>
            <a:bodyPr wrap="square" lIns="0" tIns="0" rIns="0" bIns="0" rtlCol="0"/>
            <a:lstStyle/>
            <a:p>
              <a:endParaRPr sz="1227"/>
            </a:p>
          </p:txBody>
        </p:sp>
        <p:sp>
          <p:nvSpPr>
            <p:cNvPr id="12" name="object 12"/>
            <p:cNvSpPr/>
            <p:nvPr/>
          </p:nvSpPr>
          <p:spPr>
            <a:xfrm>
              <a:off x="4090797" y="3871341"/>
              <a:ext cx="189230" cy="348615"/>
            </a:xfrm>
            <a:custGeom>
              <a:avLst/>
              <a:gdLst/>
              <a:ahLst/>
              <a:cxnLst/>
              <a:rect l="l" t="t" r="r" b="b"/>
              <a:pathLst>
                <a:path w="189229" h="348614">
                  <a:moveTo>
                    <a:pt x="141732" y="0"/>
                  </a:moveTo>
                  <a:lnTo>
                    <a:pt x="141732" y="253898"/>
                  </a:lnTo>
                  <a:lnTo>
                    <a:pt x="188976" y="253898"/>
                  </a:lnTo>
                  <a:lnTo>
                    <a:pt x="94488" y="348233"/>
                  </a:lnTo>
                  <a:lnTo>
                    <a:pt x="0" y="253898"/>
                  </a:lnTo>
                  <a:lnTo>
                    <a:pt x="47244" y="253898"/>
                  </a:lnTo>
                  <a:lnTo>
                    <a:pt x="47244" y="0"/>
                  </a:lnTo>
                  <a:lnTo>
                    <a:pt x="141732" y="0"/>
                  </a:lnTo>
                  <a:close/>
                </a:path>
              </a:pathLst>
            </a:custGeom>
            <a:ln w="19049">
              <a:solidFill>
                <a:srgbClr val="0000FF"/>
              </a:solidFill>
            </a:ln>
          </p:spPr>
          <p:txBody>
            <a:bodyPr wrap="square" lIns="0" tIns="0" rIns="0" bIns="0" rtlCol="0"/>
            <a:lstStyle/>
            <a:p>
              <a:endParaRPr sz="1227"/>
            </a:p>
          </p:txBody>
        </p:sp>
      </p:grpSp>
      <p:sp>
        <p:nvSpPr>
          <p:cNvPr id="13" name="object 13"/>
          <p:cNvSpPr txBox="1"/>
          <p:nvPr/>
        </p:nvSpPr>
        <p:spPr>
          <a:xfrm>
            <a:off x="793204" y="1818490"/>
            <a:ext cx="367578" cy="218107"/>
          </a:xfrm>
          <a:prstGeom prst="rect">
            <a:avLst/>
          </a:prstGeom>
        </p:spPr>
        <p:txBody>
          <a:bodyPr vert="horz" wrap="square" lIns="0" tIns="8226" rIns="0" bIns="0" rtlCol="0">
            <a:spAutoFit/>
          </a:bodyPr>
          <a:lstStyle/>
          <a:p>
            <a:pPr marL="25977">
              <a:spcBef>
                <a:spcPts val="65"/>
              </a:spcBef>
            </a:pPr>
            <a:r>
              <a:rPr sz="2045" spc="-10" baseline="13888" dirty="0">
                <a:latin typeface="Verdana"/>
                <a:cs typeface="Verdana"/>
              </a:rPr>
              <a:t>I</a:t>
            </a:r>
            <a:r>
              <a:rPr sz="886" spc="-7" dirty="0">
                <a:latin typeface="Verdana"/>
                <a:cs typeface="Verdana"/>
              </a:rPr>
              <a:t>load</a:t>
            </a:r>
            <a:endParaRPr sz="886">
              <a:latin typeface="Verdana"/>
              <a:cs typeface="Verdana"/>
            </a:endParaRPr>
          </a:p>
        </p:txBody>
      </p:sp>
      <p:grpSp>
        <p:nvGrpSpPr>
          <p:cNvPr id="14" name="object 14"/>
          <p:cNvGrpSpPr/>
          <p:nvPr/>
        </p:nvGrpSpPr>
        <p:grpSpPr>
          <a:xfrm>
            <a:off x="1107014" y="1591493"/>
            <a:ext cx="3065751" cy="2173865"/>
            <a:chOff x="1554193" y="2191385"/>
            <a:chExt cx="4496435" cy="3188335"/>
          </a:xfrm>
        </p:grpSpPr>
        <p:sp>
          <p:nvSpPr>
            <p:cNvPr id="15" name="object 15"/>
            <p:cNvSpPr/>
            <p:nvPr/>
          </p:nvSpPr>
          <p:spPr>
            <a:xfrm>
              <a:off x="1632966" y="3335272"/>
              <a:ext cx="2016125" cy="1905"/>
            </a:xfrm>
            <a:custGeom>
              <a:avLst/>
              <a:gdLst/>
              <a:ahLst/>
              <a:cxnLst/>
              <a:rect l="l" t="t" r="r" b="b"/>
              <a:pathLst>
                <a:path w="2016125" h="1904">
                  <a:moveTo>
                    <a:pt x="0" y="1587"/>
                  </a:moveTo>
                  <a:lnTo>
                    <a:pt x="2016125" y="0"/>
                  </a:lnTo>
                </a:path>
              </a:pathLst>
            </a:custGeom>
            <a:ln w="28956">
              <a:solidFill>
                <a:srgbClr val="C00000"/>
              </a:solidFill>
            </a:ln>
          </p:spPr>
          <p:txBody>
            <a:bodyPr wrap="square" lIns="0" tIns="0" rIns="0" bIns="0" rtlCol="0"/>
            <a:lstStyle/>
            <a:p>
              <a:endParaRPr sz="1227"/>
            </a:p>
          </p:txBody>
        </p:sp>
        <p:sp>
          <p:nvSpPr>
            <p:cNvPr id="16" name="object 16"/>
            <p:cNvSpPr/>
            <p:nvPr/>
          </p:nvSpPr>
          <p:spPr>
            <a:xfrm>
              <a:off x="3648451" y="2205990"/>
              <a:ext cx="711835" cy="1123315"/>
            </a:xfrm>
            <a:custGeom>
              <a:avLst/>
              <a:gdLst/>
              <a:ahLst/>
              <a:cxnLst/>
              <a:rect l="l" t="t" r="r" b="b"/>
              <a:pathLst>
                <a:path w="711835" h="1123314">
                  <a:moveTo>
                    <a:pt x="711720" y="0"/>
                  </a:moveTo>
                  <a:lnTo>
                    <a:pt x="0" y="1123238"/>
                  </a:lnTo>
                </a:path>
              </a:pathLst>
            </a:custGeom>
            <a:ln w="28955">
              <a:solidFill>
                <a:srgbClr val="C00000"/>
              </a:solidFill>
            </a:ln>
          </p:spPr>
          <p:txBody>
            <a:bodyPr wrap="square" lIns="0" tIns="0" rIns="0" bIns="0" rtlCol="0"/>
            <a:lstStyle/>
            <a:p>
              <a:endParaRPr sz="1227"/>
            </a:p>
          </p:txBody>
        </p:sp>
        <p:sp>
          <p:nvSpPr>
            <p:cNvPr id="17" name="object 17"/>
            <p:cNvSpPr/>
            <p:nvPr/>
          </p:nvSpPr>
          <p:spPr>
            <a:xfrm>
              <a:off x="4351019" y="2205991"/>
              <a:ext cx="1310005" cy="0"/>
            </a:xfrm>
            <a:custGeom>
              <a:avLst/>
              <a:gdLst/>
              <a:ahLst/>
              <a:cxnLst/>
              <a:rect l="l" t="t" r="r" b="b"/>
              <a:pathLst>
                <a:path w="1310004">
                  <a:moveTo>
                    <a:pt x="0" y="0"/>
                  </a:moveTo>
                  <a:lnTo>
                    <a:pt x="1309738" y="0"/>
                  </a:lnTo>
                </a:path>
              </a:pathLst>
            </a:custGeom>
            <a:ln w="28956">
              <a:solidFill>
                <a:srgbClr val="C00000"/>
              </a:solidFill>
            </a:ln>
          </p:spPr>
          <p:txBody>
            <a:bodyPr wrap="square" lIns="0" tIns="0" rIns="0" bIns="0" rtlCol="0"/>
            <a:lstStyle/>
            <a:p>
              <a:endParaRPr sz="1227"/>
            </a:p>
          </p:txBody>
        </p:sp>
        <p:sp>
          <p:nvSpPr>
            <p:cNvPr id="18" name="object 18"/>
            <p:cNvSpPr/>
            <p:nvPr/>
          </p:nvSpPr>
          <p:spPr>
            <a:xfrm>
              <a:off x="1606677" y="5323713"/>
              <a:ext cx="4434205" cy="1905"/>
            </a:xfrm>
            <a:custGeom>
              <a:avLst/>
              <a:gdLst/>
              <a:ahLst/>
              <a:cxnLst/>
              <a:rect l="l" t="t" r="r" b="b"/>
              <a:pathLst>
                <a:path w="4434205" h="1904">
                  <a:moveTo>
                    <a:pt x="0" y="0"/>
                  </a:moveTo>
                  <a:lnTo>
                    <a:pt x="4434078" y="1574"/>
                  </a:lnTo>
                </a:path>
              </a:pathLst>
            </a:custGeom>
            <a:ln w="19050">
              <a:solidFill>
                <a:srgbClr val="000000"/>
              </a:solidFill>
            </a:ln>
          </p:spPr>
          <p:txBody>
            <a:bodyPr wrap="square" lIns="0" tIns="0" rIns="0" bIns="0" rtlCol="0"/>
            <a:lstStyle/>
            <a:p>
              <a:endParaRPr sz="1227"/>
            </a:p>
          </p:txBody>
        </p:sp>
        <p:sp>
          <p:nvSpPr>
            <p:cNvPr id="19" name="object 19"/>
            <p:cNvSpPr/>
            <p:nvPr/>
          </p:nvSpPr>
          <p:spPr>
            <a:xfrm>
              <a:off x="5964534" y="5280812"/>
              <a:ext cx="76835" cy="88900"/>
            </a:xfrm>
            <a:custGeom>
              <a:avLst/>
              <a:gdLst/>
              <a:ahLst/>
              <a:cxnLst/>
              <a:rect l="l" t="t" r="r" b="b"/>
              <a:pathLst>
                <a:path w="76835" h="88900">
                  <a:moveTo>
                    <a:pt x="38" y="0"/>
                  </a:moveTo>
                  <a:lnTo>
                    <a:pt x="76225" y="44475"/>
                  </a:lnTo>
                  <a:lnTo>
                    <a:pt x="0" y="88899"/>
                  </a:lnTo>
                </a:path>
              </a:pathLst>
            </a:custGeom>
            <a:ln w="19050">
              <a:solidFill>
                <a:srgbClr val="000000"/>
              </a:solidFill>
            </a:ln>
          </p:spPr>
          <p:txBody>
            <a:bodyPr wrap="square" lIns="0" tIns="0" rIns="0" bIns="0" rtlCol="0"/>
            <a:lstStyle/>
            <a:p>
              <a:endParaRPr sz="1227"/>
            </a:p>
          </p:txBody>
        </p:sp>
        <p:sp>
          <p:nvSpPr>
            <p:cNvPr id="20" name="object 20"/>
            <p:cNvSpPr/>
            <p:nvPr/>
          </p:nvSpPr>
          <p:spPr>
            <a:xfrm>
              <a:off x="1606677" y="3717225"/>
              <a:ext cx="1905" cy="1595755"/>
            </a:xfrm>
            <a:custGeom>
              <a:avLst/>
              <a:gdLst/>
              <a:ahLst/>
              <a:cxnLst/>
              <a:rect l="l" t="t" r="r" b="b"/>
              <a:pathLst>
                <a:path w="1905" h="1595754">
                  <a:moveTo>
                    <a:pt x="0" y="1595627"/>
                  </a:moveTo>
                  <a:lnTo>
                    <a:pt x="1574" y="0"/>
                  </a:lnTo>
                </a:path>
              </a:pathLst>
            </a:custGeom>
            <a:ln w="19050">
              <a:solidFill>
                <a:srgbClr val="000000"/>
              </a:solidFill>
            </a:ln>
          </p:spPr>
          <p:txBody>
            <a:bodyPr wrap="square" lIns="0" tIns="0" rIns="0" bIns="0" rtlCol="0"/>
            <a:lstStyle/>
            <a:p>
              <a:endParaRPr sz="1227"/>
            </a:p>
          </p:txBody>
        </p:sp>
        <p:sp>
          <p:nvSpPr>
            <p:cNvPr id="21" name="object 21"/>
            <p:cNvSpPr/>
            <p:nvPr/>
          </p:nvSpPr>
          <p:spPr>
            <a:xfrm>
              <a:off x="1563718" y="3717230"/>
              <a:ext cx="88900" cy="76835"/>
            </a:xfrm>
            <a:custGeom>
              <a:avLst/>
              <a:gdLst/>
              <a:ahLst/>
              <a:cxnLst/>
              <a:rect l="l" t="t" r="r" b="b"/>
              <a:pathLst>
                <a:path w="88900" h="76835">
                  <a:moveTo>
                    <a:pt x="0" y="76149"/>
                  </a:moveTo>
                  <a:lnTo>
                    <a:pt x="44526" y="0"/>
                  </a:lnTo>
                  <a:lnTo>
                    <a:pt x="88900" y="76238"/>
                  </a:lnTo>
                </a:path>
              </a:pathLst>
            </a:custGeom>
            <a:ln w="19050">
              <a:solidFill>
                <a:srgbClr val="000000"/>
              </a:solidFill>
            </a:ln>
          </p:spPr>
          <p:txBody>
            <a:bodyPr wrap="square" lIns="0" tIns="0" rIns="0" bIns="0" rtlCol="0"/>
            <a:lstStyle/>
            <a:p>
              <a:endParaRPr sz="1227"/>
            </a:p>
          </p:txBody>
        </p:sp>
      </p:grpSp>
      <p:sp>
        <p:nvSpPr>
          <p:cNvPr id="22" name="object 22"/>
          <p:cNvSpPr txBox="1"/>
          <p:nvPr/>
        </p:nvSpPr>
        <p:spPr>
          <a:xfrm>
            <a:off x="2963120" y="3346564"/>
            <a:ext cx="1707140" cy="473358"/>
          </a:xfrm>
          <a:prstGeom prst="rect">
            <a:avLst/>
          </a:prstGeom>
        </p:spPr>
        <p:txBody>
          <a:bodyPr vert="horz" wrap="square" lIns="0" tIns="27709" rIns="0" bIns="0" rtlCol="0">
            <a:spAutoFit/>
          </a:bodyPr>
          <a:lstStyle/>
          <a:p>
            <a:pPr marL="34635">
              <a:spcBef>
                <a:spcPts val="218"/>
              </a:spcBef>
            </a:pPr>
            <a:r>
              <a:rPr sz="2045" spc="-10" baseline="13888" dirty="0">
                <a:solidFill>
                  <a:srgbClr val="0000FF"/>
                </a:solidFill>
                <a:latin typeface="Verdana"/>
                <a:cs typeface="Verdana"/>
              </a:rPr>
              <a:t>V</a:t>
            </a:r>
            <a:r>
              <a:rPr sz="886" spc="-7" dirty="0">
                <a:solidFill>
                  <a:srgbClr val="0000FF"/>
                </a:solidFill>
                <a:latin typeface="Verdana"/>
                <a:cs typeface="Verdana"/>
              </a:rPr>
              <a:t>droop</a:t>
            </a:r>
            <a:endParaRPr sz="886">
              <a:latin typeface="Verdana"/>
              <a:cs typeface="Verdana"/>
            </a:endParaRPr>
          </a:p>
          <a:p>
            <a:pPr marL="1263760">
              <a:spcBef>
                <a:spcPts val="150"/>
              </a:spcBef>
            </a:pPr>
            <a:r>
              <a:rPr sz="1364" spc="-14" dirty="0">
                <a:latin typeface="Verdana"/>
                <a:cs typeface="Verdana"/>
              </a:rPr>
              <a:t>Time</a:t>
            </a:r>
            <a:endParaRPr sz="1364">
              <a:latin typeface="Verdana"/>
              <a:cs typeface="Verdana"/>
            </a:endParaRPr>
          </a:p>
        </p:txBody>
      </p:sp>
      <p:sp>
        <p:nvSpPr>
          <p:cNvPr id="23" name="object 23"/>
          <p:cNvSpPr txBox="1"/>
          <p:nvPr/>
        </p:nvSpPr>
        <p:spPr>
          <a:xfrm>
            <a:off x="789777" y="3064643"/>
            <a:ext cx="358919" cy="218107"/>
          </a:xfrm>
          <a:prstGeom prst="rect">
            <a:avLst/>
          </a:prstGeom>
        </p:spPr>
        <p:txBody>
          <a:bodyPr vert="horz" wrap="square" lIns="0" tIns="8226" rIns="0" bIns="0" rtlCol="0">
            <a:spAutoFit/>
          </a:bodyPr>
          <a:lstStyle/>
          <a:p>
            <a:pPr marL="25977">
              <a:spcBef>
                <a:spcPts val="65"/>
              </a:spcBef>
            </a:pPr>
            <a:r>
              <a:rPr sz="2045" spc="-20" baseline="13888" dirty="0">
                <a:latin typeface="Verdana"/>
                <a:cs typeface="Verdana"/>
              </a:rPr>
              <a:t>V</a:t>
            </a:r>
            <a:r>
              <a:rPr sz="886" spc="-14" dirty="0">
                <a:latin typeface="Verdana"/>
                <a:cs typeface="Verdana"/>
              </a:rPr>
              <a:t>out</a:t>
            </a:r>
            <a:endParaRPr sz="886">
              <a:latin typeface="Verdana"/>
              <a:cs typeface="Verdana"/>
            </a:endParaRPr>
          </a:p>
        </p:txBody>
      </p:sp>
      <p:grpSp>
        <p:nvGrpSpPr>
          <p:cNvPr id="24" name="object 24"/>
          <p:cNvGrpSpPr/>
          <p:nvPr/>
        </p:nvGrpSpPr>
        <p:grpSpPr>
          <a:xfrm>
            <a:off x="1132060" y="1344276"/>
            <a:ext cx="2970068" cy="2211532"/>
            <a:chOff x="1590928" y="1828800"/>
            <a:chExt cx="4356100" cy="3243580"/>
          </a:xfrm>
        </p:grpSpPr>
        <p:sp>
          <p:nvSpPr>
            <p:cNvPr id="25" name="object 25"/>
            <p:cNvSpPr/>
            <p:nvPr/>
          </p:nvSpPr>
          <p:spPr>
            <a:xfrm>
              <a:off x="1605533" y="4259578"/>
              <a:ext cx="2016125" cy="1905"/>
            </a:xfrm>
            <a:custGeom>
              <a:avLst/>
              <a:gdLst/>
              <a:ahLst/>
              <a:cxnLst/>
              <a:rect l="l" t="t" r="r" b="b"/>
              <a:pathLst>
                <a:path w="2016125" h="1904">
                  <a:moveTo>
                    <a:pt x="0" y="1587"/>
                  </a:moveTo>
                  <a:lnTo>
                    <a:pt x="2016125" y="0"/>
                  </a:lnTo>
                </a:path>
              </a:pathLst>
            </a:custGeom>
            <a:ln w="28956">
              <a:solidFill>
                <a:srgbClr val="0000FF"/>
              </a:solidFill>
            </a:ln>
          </p:spPr>
          <p:txBody>
            <a:bodyPr wrap="square" lIns="0" tIns="0" rIns="0" bIns="0" rtlCol="0"/>
            <a:lstStyle/>
            <a:p>
              <a:endParaRPr sz="1227"/>
            </a:p>
          </p:txBody>
        </p:sp>
        <p:sp>
          <p:nvSpPr>
            <p:cNvPr id="26" name="object 26"/>
            <p:cNvSpPr/>
            <p:nvPr/>
          </p:nvSpPr>
          <p:spPr>
            <a:xfrm>
              <a:off x="3621024" y="4248148"/>
              <a:ext cx="2311400" cy="15240"/>
            </a:xfrm>
            <a:custGeom>
              <a:avLst/>
              <a:gdLst/>
              <a:ahLst/>
              <a:cxnLst/>
              <a:rect l="l" t="t" r="r" b="b"/>
              <a:pathLst>
                <a:path w="2311400" h="15239">
                  <a:moveTo>
                    <a:pt x="0" y="14643"/>
                  </a:moveTo>
                  <a:lnTo>
                    <a:pt x="2310777" y="0"/>
                  </a:lnTo>
                </a:path>
              </a:pathLst>
            </a:custGeom>
            <a:ln w="28956">
              <a:solidFill>
                <a:srgbClr val="0000FF"/>
              </a:solidFill>
              <a:prstDash val="sysDash"/>
            </a:ln>
          </p:spPr>
          <p:txBody>
            <a:bodyPr wrap="square" lIns="0" tIns="0" rIns="0" bIns="0" rtlCol="0"/>
            <a:lstStyle/>
            <a:p>
              <a:endParaRPr sz="1227"/>
            </a:p>
          </p:txBody>
        </p:sp>
        <p:sp>
          <p:nvSpPr>
            <p:cNvPr id="27" name="object 27"/>
            <p:cNvSpPr/>
            <p:nvPr/>
          </p:nvSpPr>
          <p:spPr>
            <a:xfrm>
              <a:off x="4090796" y="4714113"/>
              <a:ext cx="189230" cy="348615"/>
            </a:xfrm>
            <a:custGeom>
              <a:avLst/>
              <a:gdLst/>
              <a:ahLst/>
              <a:cxnLst/>
              <a:rect l="l" t="t" r="r" b="b"/>
              <a:pathLst>
                <a:path w="189229" h="348614">
                  <a:moveTo>
                    <a:pt x="47244" y="348234"/>
                  </a:moveTo>
                  <a:lnTo>
                    <a:pt x="47244" y="94335"/>
                  </a:lnTo>
                  <a:lnTo>
                    <a:pt x="0" y="94335"/>
                  </a:lnTo>
                  <a:lnTo>
                    <a:pt x="94488" y="0"/>
                  </a:lnTo>
                  <a:lnTo>
                    <a:pt x="188976" y="94335"/>
                  </a:lnTo>
                  <a:lnTo>
                    <a:pt x="141732" y="94335"/>
                  </a:lnTo>
                  <a:lnTo>
                    <a:pt x="141732" y="348234"/>
                  </a:lnTo>
                  <a:lnTo>
                    <a:pt x="47244" y="348234"/>
                  </a:lnTo>
                  <a:close/>
                </a:path>
              </a:pathLst>
            </a:custGeom>
            <a:ln w="19049">
              <a:solidFill>
                <a:srgbClr val="0000FF"/>
              </a:solidFill>
            </a:ln>
          </p:spPr>
          <p:txBody>
            <a:bodyPr wrap="square" lIns="0" tIns="0" rIns="0" bIns="0" rtlCol="0"/>
            <a:lstStyle/>
            <a:p>
              <a:endParaRPr sz="1227"/>
            </a:p>
          </p:txBody>
        </p:sp>
        <p:sp>
          <p:nvSpPr>
            <p:cNvPr id="28" name="object 28"/>
            <p:cNvSpPr/>
            <p:nvPr/>
          </p:nvSpPr>
          <p:spPr>
            <a:xfrm>
              <a:off x="3615689" y="3342138"/>
              <a:ext cx="2016125" cy="1905"/>
            </a:xfrm>
            <a:custGeom>
              <a:avLst/>
              <a:gdLst/>
              <a:ahLst/>
              <a:cxnLst/>
              <a:rect l="l" t="t" r="r" b="b"/>
              <a:pathLst>
                <a:path w="2016125" h="1904">
                  <a:moveTo>
                    <a:pt x="0" y="1739"/>
                  </a:moveTo>
                  <a:lnTo>
                    <a:pt x="2016125" y="0"/>
                  </a:lnTo>
                </a:path>
              </a:pathLst>
            </a:custGeom>
            <a:ln w="28956">
              <a:solidFill>
                <a:srgbClr val="C00000"/>
              </a:solidFill>
              <a:prstDash val="sysDash"/>
            </a:ln>
          </p:spPr>
          <p:txBody>
            <a:bodyPr wrap="square" lIns="0" tIns="0" rIns="0" bIns="0" rtlCol="0"/>
            <a:lstStyle/>
            <a:p>
              <a:endParaRPr sz="1227"/>
            </a:p>
          </p:txBody>
        </p:sp>
        <p:sp>
          <p:nvSpPr>
            <p:cNvPr id="29" name="object 29"/>
            <p:cNvSpPr/>
            <p:nvPr/>
          </p:nvSpPr>
          <p:spPr>
            <a:xfrm>
              <a:off x="4968620" y="1838325"/>
              <a:ext cx="189230" cy="347980"/>
            </a:xfrm>
            <a:custGeom>
              <a:avLst/>
              <a:gdLst/>
              <a:ahLst/>
              <a:cxnLst/>
              <a:rect l="l" t="t" r="r" b="b"/>
              <a:pathLst>
                <a:path w="189229" h="347980">
                  <a:moveTo>
                    <a:pt x="141732" y="0"/>
                  </a:moveTo>
                  <a:lnTo>
                    <a:pt x="141732" y="253136"/>
                  </a:lnTo>
                  <a:lnTo>
                    <a:pt x="188976" y="253136"/>
                  </a:lnTo>
                  <a:lnTo>
                    <a:pt x="94488" y="347472"/>
                  </a:lnTo>
                  <a:lnTo>
                    <a:pt x="0" y="253136"/>
                  </a:lnTo>
                  <a:lnTo>
                    <a:pt x="47244" y="253136"/>
                  </a:lnTo>
                  <a:lnTo>
                    <a:pt x="47244" y="0"/>
                  </a:lnTo>
                  <a:lnTo>
                    <a:pt x="141732" y="0"/>
                  </a:lnTo>
                  <a:close/>
                </a:path>
              </a:pathLst>
            </a:custGeom>
            <a:ln w="19049">
              <a:solidFill>
                <a:srgbClr val="C00000"/>
              </a:solidFill>
            </a:ln>
          </p:spPr>
          <p:txBody>
            <a:bodyPr wrap="square" lIns="0" tIns="0" rIns="0" bIns="0" rtlCol="0"/>
            <a:lstStyle/>
            <a:p>
              <a:endParaRPr sz="1227"/>
            </a:p>
          </p:txBody>
        </p:sp>
        <p:sp>
          <p:nvSpPr>
            <p:cNvPr id="30" name="object 30"/>
            <p:cNvSpPr/>
            <p:nvPr/>
          </p:nvSpPr>
          <p:spPr>
            <a:xfrm>
              <a:off x="4968620" y="3363086"/>
              <a:ext cx="189230" cy="347980"/>
            </a:xfrm>
            <a:custGeom>
              <a:avLst/>
              <a:gdLst/>
              <a:ahLst/>
              <a:cxnLst/>
              <a:rect l="l" t="t" r="r" b="b"/>
              <a:pathLst>
                <a:path w="189229" h="347979">
                  <a:moveTo>
                    <a:pt x="47244" y="347471"/>
                  </a:moveTo>
                  <a:lnTo>
                    <a:pt x="47244" y="94335"/>
                  </a:lnTo>
                  <a:lnTo>
                    <a:pt x="0" y="94335"/>
                  </a:lnTo>
                  <a:lnTo>
                    <a:pt x="94488" y="0"/>
                  </a:lnTo>
                  <a:lnTo>
                    <a:pt x="188976" y="94335"/>
                  </a:lnTo>
                  <a:lnTo>
                    <a:pt x="141732" y="94335"/>
                  </a:lnTo>
                  <a:lnTo>
                    <a:pt x="141732" y="347471"/>
                  </a:lnTo>
                  <a:lnTo>
                    <a:pt x="47244" y="347471"/>
                  </a:lnTo>
                  <a:close/>
                </a:path>
              </a:pathLst>
            </a:custGeom>
            <a:ln w="19049">
              <a:solidFill>
                <a:srgbClr val="C00000"/>
              </a:solidFill>
            </a:ln>
          </p:spPr>
          <p:txBody>
            <a:bodyPr wrap="square" lIns="0" tIns="0" rIns="0" bIns="0" rtlCol="0"/>
            <a:lstStyle/>
            <a:p>
              <a:endParaRPr sz="1227"/>
            </a:p>
          </p:txBody>
        </p:sp>
      </p:grpSp>
      <p:sp>
        <p:nvSpPr>
          <p:cNvPr id="31" name="object 31"/>
          <p:cNvSpPr txBox="1"/>
          <p:nvPr/>
        </p:nvSpPr>
        <p:spPr>
          <a:xfrm>
            <a:off x="2596002" y="1284270"/>
            <a:ext cx="400916" cy="218107"/>
          </a:xfrm>
          <a:prstGeom prst="rect">
            <a:avLst/>
          </a:prstGeom>
        </p:spPr>
        <p:txBody>
          <a:bodyPr vert="horz" wrap="square" lIns="0" tIns="8226" rIns="0" bIns="0" rtlCol="0">
            <a:spAutoFit/>
          </a:bodyPr>
          <a:lstStyle/>
          <a:p>
            <a:pPr marL="25977">
              <a:spcBef>
                <a:spcPts val="65"/>
              </a:spcBef>
            </a:pPr>
            <a:r>
              <a:rPr sz="2045" spc="-10" baseline="13888" dirty="0">
                <a:latin typeface="Verdana"/>
                <a:cs typeface="Verdana"/>
              </a:rPr>
              <a:t>t</a:t>
            </a:r>
            <a:r>
              <a:rPr sz="886" spc="-7" dirty="0">
                <a:latin typeface="Verdana"/>
                <a:cs typeface="Verdana"/>
              </a:rPr>
              <a:t>edge</a:t>
            </a:r>
            <a:endParaRPr sz="886">
              <a:latin typeface="Verdana"/>
              <a:cs typeface="Verdana"/>
            </a:endParaRPr>
          </a:p>
        </p:txBody>
      </p:sp>
      <p:grpSp>
        <p:nvGrpSpPr>
          <p:cNvPr id="32" name="object 32"/>
          <p:cNvGrpSpPr/>
          <p:nvPr/>
        </p:nvGrpSpPr>
        <p:grpSpPr>
          <a:xfrm>
            <a:off x="2505305" y="1481953"/>
            <a:ext cx="1703243" cy="1842655"/>
            <a:chOff x="3605021" y="2030726"/>
            <a:chExt cx="2498090" cy="2702560"/>
          </a:xfrm>
        </p:grpSpPr>
        <p:sp>
          <p:nvSpPr>
            <p:cNvPr id="33" name="object 33"/>
            <p:cNvSpPr/>
            <p:nvPr/>
          </p:nvSpPr>
          <p:spPr>
            <a:xfrm>
              <a:off x="4279391" y="2030726"/>
              <a:ext cx="0" cy="1442720"/>
            </a:xfrm>
            <a:custGeom>
              <a:avLst/>
              <a:gdLst/>
              <a:ahLst/>
              <a:cxnLst/>
              <a:rect l="l" t="t" r="r" b="b"/>
              <a:pathLst>
                <a:path h="1442720">
                  <a:moveTo>
                    <a:pt x="0" y="1442212"/>
                  </a:moveTo>
                  <a:lnTo>
                    <a:pt x="0" y="0"/>
                  </a:lnTo>
                </a:path>
              </a:pathLst>
            </a:custGeom>
            <a:ln w="28956">
              <a:solidFill>
                <a:srgbClr val="000000"/>
              </a:solidFill>
              <a:prstDash val="sysDash"/>
            </a:ln>
          </p:spPr>
          <p:txBody>
            <a:bodyPr wrap="square" lIns="0" tIns="0" rIns="0" bIns="0" rtlCol="0"/>
            <a:lstStyle/>
            <a:p>
              <a:endParaRPr sz="1227"/>
            </a:p>
          </p:txBody>
        </p:sp>
        <p:sp>
          <p:nvSpPr>
            <p:cNvPr id="34" name="object 34"/>
            <p:cNvSpPr/>
            <p:nvPr/>
          </p:nvSpPr>
          <p:spPr>
            <a:xfrm>
              <a:off x="3822191" y="2053586"/>
              <a:ext cx="0" cy="1442720"/>
            </a:xfrm>
            <a:custGeom>
              <a:avLst/>
              <a:gdLst/>
              <a:ahLst/>
              <a:cxnLst/>
              <a:rect l="l" t="t" r="r" b="b"/>
              <a:pathLst>
                <a:path h="1442720">
                  <a:moveTo>
                    <a:pt x="0" y="1442212"/>
                  </a:moveTo>
                  <a:lnTo>
                    <a:pt x="0" y="0"/>
                  </a:lnTo>
                </a:path>
              </a:pathLst>
            </a:custGeom>
            <a:ln w="28956">
              <a:solidFill>
                <a:srgbClr val="000000"/>
              </a:solidFill>
              <a:prstDash val="sysDash"/>
            </a:ln>
          </p:spPr>
          <p:txBody>
            <a:bodyPr wrap="square" lIns="0" tIns="0" rIns="0" bIns="0" rtlCol="0"/>
            <a:lstStyle/>
            <a:p>
              <a:endParaRPr sz="1227"/>
            </a:p>
          </p:txBody>
        </p:sp>
        <p:sp>
          <p:nvSpPr>
            <p:cNvPr id="35" name="object 35"/>
            <p:cNvSpPr/>
            <p:nvPr/>
          </p:nvSpPr>
          <p:spPr>
            <a:xfrm>
              <a:off x="5931407" y="4247391"/>
              <a:ext cx="156845" cy="1270"/>
            </a:xfrm>
            <a:custGeom>
              <a:avLst/>
              <a:gdLst/>
              <a:ahLst/>
              <a:cxnLst/>
              <a:rect l="l" t="t" r="r" b="b"/>
              <a:pathLst>
                <a:path w="156845" h="1270">
                  <a:moveTo>
                    <a:pt x="0" y="965"/>
                  </a:moveTo>
                  <a:lnTo>
                    <a:pt x="156806" y="0"/>
                  </a:lnTo>
                </a:path>
              </a:pathLst>
            </a:custGeom>
            <a:ln w="28956">
              <a:solidFill>
                <a:srgbClr val="0000FF"/>
              </a:solidFill>
            </a:ln>
          </p:spPr>
          <p:txBody>
            <a:bodyPr wrap="square" lIns="0" tIns="0" rIns="0" bIns="0" rtlCol="0"/>
            <a:lstStyle/>
            <a:p>
              <a:endParaRPr sz="1227"/>
            </a:p>
          </p:txBody>
        </p:sp>
        <p:sp>
          <p:nvSpPr>
            <p:cNvPr id="36" name="object 36"/>
            <p:cNvSpPr/>
            <p:nvPr/>
          </p:nvSpPr>
          <p:spPr>
            <a:xfrm>
              <a:off x="3619499" y="4036159"/>
              <a:ext cx="2312035" cy="682625"/>
            </a:xfrm>
            <a:custGeom>
              <a:avLst/>
              <a:gdLst/>
              <a:ahLst/>
              <a:cxnLst/>
              <a:rect l="l" t="t" r="r" b="b"/>
              <a:pathLst>
                <a:path w="2312035" h="682625">
                  <a:moveTo>
                    <a:pt x="0" y="226384"/>
                  </a:moveTo>
                  <a:lnTo>
                    <a:pt x="33806" y="272138"/>
                  </a:lnTo>
                  <a:lnTo>
                    <a:pt x="67655" y="317480"/>
                  </a:lnTo>
                  <a:lnTo>
                    <a:pt x="101591" y="361998"/>
                  </a:lnTo>
                  <a:lnTo>
                    <a:pt x="135656" y="405282"/>
                  </a:lnTo>
                  <a:lnTo>
                    <a:pt x="169893" y="446918"/>
                  </a:lnTo>
                  <a:lnTo>
                    <a:pt x="204346" y="486496"/>
                  </a:lnTo>
                  <a:lnTo>
                    <a:pt x="239058" y="523603"/>
                  </a:lnTo>
                  <a:lnTo>
                    <a:pt x="274072" y="557829"/>
                  </a:lnTo>
                  <a:lnTo>
                    <a:pt x="309431" y="588760"/>
                  </a:lnTo>
                  <a:lnTo>
                    <a:pt x="345179" y="615986"/>
                  </a:lnTo>
                  <a:lnTo>
                    <a:pt x="381358" y="639094"/>
                  </a:lnTo>
                  <a:lnTo>
                    <a:pt x="418012" y="657674"/>
                  </a:lnTo>
                  <a:lnTo>
                    <a:pt x="455185" y="671312"/>
                  </a:lnTo>
                  <a:lnTo>
                    <a:pt x="492918" y="679598"/>
                  </a:lnTo>
                  <a:lnTo>
                    <a:pt x="531256" y="682120"/>
                  </a:lnTo>
                  <a:lnTo>
                    <a:pt x="570242" y="678466"/>
                  </a:lnTo>
                  <a:lnTo>
                    <a:pt x="630881" y="654218"/>
                  </a:lnTo>
                  <a:lnTo>
                    <a:pt x="692883" y="606083"/>
                  </a:lnTo>
                  <a:lnTo>
                    <a:pt x="724358" y="574770"/>
                  </a:lnTo>
                  <a:lnTo>
                    <a:pt x="756129" y="539538"/>
                  </a:lnTo>
                  <a:lnTo>
                    <a:pt x="788183" y="501072"/>
                  </a:lnTo>
                  <a:lnTo>
                    <a:pt x="820504" y="460057"/>
                  </a:lnTo>
                  <a:lnTo>
                    <a:pt x="853078" y="417176"/>
                  </a:lnTo>
                  <a:lnTo>
                    <a:pt x="885890" y="373116"/>
                  </a:lnTo>
                  <a:lnTo>
                    <a:pt x="918925" y="328559"/>
                  </a:lnTo>
                  <a:lnTo>
                    <a:pt x="952169" y="284191"/>
                  </a:lnTo>
                  <a:lnTo>
                    <a:pt x="985607" y="240696"/>
                  </a:lnTo>
                  <a:lnTo>
                    <a:pt x="1019225" y="198758"/>
                  </a:lnTo>
                  <a:lnTo>
                    <a:pt x="1053007" y="159062"/>
                  </a:lnTo>
                  <a:lnTo>
                    <a:pt x="1086940" y="122292"/>
                  </a:lnTo>
                  <a:lnTo>
                    <a:pt x="1121008" y="89133"/>
                  </a:lnTo>
                  <a:lnTo>
                    <a:pt x="1155196" y="60269"/>
                  </a:lnTo>
                  <a:lnTo>
                    <a:pt x="1189491" y="36385"/>
                  </a:lnTo>
                  <a:lnTo>
                    <a:pt x="1223878" y="18164"/>
                  </a:lnTo>
                  <a:lnTo>
                    <a:pt x="1299485" y="0"/>
                  </a:lnTo>
                  <a:lnTo>
                    <a:pt x="1342243" y="399"/>
                  </a:lnTo>
                  <a:lnTo>
                    <a:pt x="1386338" y="6763"/>
                  </a:lnTo>
                  <a:lnTo>
                    <a:pt x="1431490" y="18364"/>
                  </a:lnTo>
                  <a:lnTo>
                    <a:pt x="1477423" y="34473"/>
                  </a:lnTo>
                  <a:lnTo>
                    <a:pt x="1523858" y="54361"/>
                  </a:lnTo>
                  <a:lnTo>
                    <a:pt x="1570518" y="77301"/>
                  </a:lnTo>
                  <a:lnTo>
                    <a:pt x="1617123" y="102564"/>
                  </a:lnTo>
                  <a:lnTo>
                    <a:pt x="1663396" y="129423"/>
                  </a:lnTo>
                  <a:lnTo>
                    <a:pt x="1709060" y="157148"/>
                  </a:lnTo>
                  <a:lnTo>
                    <a:pt x="1753835" y="185011"/>
                  </a:lnTo>
                  <a:lnTo>
                    <a:pt x="1797445" y="212284"/>
                  </a:lnTo>
                  <a:lnTo>
                    <a:pt x="1839610" y="238239"/>
                  </a:lnTo>
                  <a:lnTo>
                    <a:pt x="1880053" y="262148"/>
                  </a:lnTo>
                  <a:lnTo>
                    <a:pt x="1918497" y="283282"/>
                  </a:lnTo>
                  <a:lnTo>
                    <a:pt x="1954662" y="300912"/>
                  </a:lnTo>
                  <a:lnTo>
                    <a:pt x="2019045" y="322752"/>
                  </a:lnTo>
                  <a:lnTo>
                    <a:pt x="2087483" y="331226"/>
                  </a:lnTo>
                  <a:lnTo>
                    <a:pt x="2143643" y="328494"/>
                  </a:lnTo>
                  <a:lnTo>
                    <a:pt x="2189572" y="316423"/>
                  </a:lnTo>
                  <a:lnTo>
                    <a:pt x="2227316" y="296880"/>
                  </a:lnTo>
                  <a:lnTo>
                    <a:pt x="2258923" y="271735"/>
                  </a:lnTo>
                  <a:lnTo>
                    <a:pt x="2286438" y="242856"/>
                  </a:lnTo>
                  <a:lnTo>
                    <a:pt x="2311908" y="212109"/>
                  </a:lnTo>
                </a:path>
              </a:pathLst>
            </a:custGeom>
            <a:ln w="28956">
              <a:solidFill>
                <a:srgbClr val="0000FF"/>
              </a:solidFill>
            </a:ln>
          </p:spPr>
          <p:txBody>
            <a:bodyPr wrap="square" lIns="0" tIns="0" rIns="0" bIns="0" rtlCol="0"/>
            <a:lstStyle/>
            <a:p>
              <a:endParaRPr sz="1227"/>
            </a:p>
          </p:txBody>
        </p:sp>
      </p:grpSp>
      <p:sp>
        <p:nvSpPr>
          <p:cNvPr id="37" name="object 37"/>
          <p:cNvSpPr txBox="1"/>
          <p:nvPr/>
        </p:nvSpPr>
        <p:spPr>
          <a:xfrm>
            <a:off x="3547766" y="1348773"/>
            <a:ext cx="781050" cy="218107"/>
          </a:xfrm>
          <a:prstGeom prst="rect">
            <a:avLst/>
          </a:prstGeom>
        </p:spPr>
        <p:txBody>
          <a:bodyPr vert="horz" wrap="square" lIns="0" tIns="8226" rIns="0" bIns="0" rtlCol="0">
            <a:spAutoFit/>
          </a:bodyPr>
          <a:lstStyle/>
          <a:p>
            <a:pPr marL="25977">
              <a:spcBef>
                <a:spcPts val="65"/>
              </a:spcBef>
            </a:pPr>
            <a:r>
              <a:rPr sz="2045" spc="-10" baseline="13888" dirty="0">
                <a:solidFill>
                  <a:srgbClr val="C00000"/>
                </a:solidFill>
                <a:latin typeface="Verdana"/>
                <a:cs typeface="Verdana"/>
              </a:rPr>
              <a:t>ΔI</a:t>
            </a:r>
            <a:r>
              <a:rPr sz="886" spc="-7" dirty="0">
                <a:solidFill>
                  <a:srgbClr val="C00000"/>
                </a:solidFill>
                <a:latin typeface="Verdana"/>
                <a:cs typeface="Verdana"/>
              </a:rPr>
              <a:t>load,max</a:t>
            </a:r>
            <a:endParaRPr sz="886">
              <a:latin typeface="Verdana"/>
              <a:cs typeface="Verdana"/>
            </a:endParaRPr>
          </a:p>
        </p:txBody>
      </p:sp>
      <p:sp>
        <p:nvSpPr>
          <p:cNvPr id="38" name="Rectangle 37"/>
          <p:cNvSpPr/>
          <p:nvPr/>
        </p:nvSpPr>
        <p:spPr>
          <a:xfrm>
            <a:off x="4179230" y="2348984"/>
            <a:ext cx="580480" cy="276999"/>
          </a:xfrm>
          <a:prstGeom prst="rect">
            <a:avLst/>
          </a:prstGeom>
        </p:spPr>
        <p:txBody>
          <a:bodyPr wrap="none">
            <a:spAutoFit/>
          </a:bodyPr>
          <a:lstStyle/>
          <a:p>
            <a:pPr marL="25977">
              <a:spcBef>
                <a:spcPts val="501"/>
              </a:spcBef>
            </a:pPr>
            <a:r>
              <a:rPr lang="en-US" sz="1200" spc="-14" dirty="0">
                <a:latin typeface="Verdana"/>
                <a:cs typeface="Verdana"/>
              </a:rPr>
              <a:t>Time</a:t>
            </a:r>
            <a:endParaRPr lang="en-US" sz="1200" dirty="0">
              <a:latin typeface="Verdana"/>
              <a:cs typeface="Verdana"/>
            </a:endParaRPr>
          </a:p>
        </p:txBody>
      </p:sp>
      <p:pic>
        <p:nvPicPr>
          <p:cNvPr id="39" name="Picture 38"/>
          <p:cNvPicPr>
            <a:picLocks noChangeAspect="1"/>
          </p:cNvPicPr>
          <p:nvPr/>
        </p:nvPicPr>
        <p:blipFill>
          <a:blip r:embed="rId2"/>
          <a:stretch>
            <a:fillRect/>
          </a:stretch>
        </p:blipFill>
        <p:spPr>
          <a:xfrm>
            <a:off x="5733902" y="1552512"/>
            <a:ext cx="5753396" cy="2444876"/>
          </a:xfrm>
          <a:prstGeom prst="rect">
            <a:avLst/>
          </a:prstGeom>
        </p:spPr>
      </p:pic>
    </p:spTree>
    <p:extLst>
      <p:ext uri="{BB962C8B-B14F-4D97-AF65-F5344CB8AC3E}">
        <p14:creationId xmlns:p14="http://schemas.microsoft.com/office/powerpoint/2010/main" val="280314611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68315" y="254018"/>
            <a:ext cx="7222634" cy="531526"/>
          </a:xfrm>
          <a:prstGeom prst="rect">
            <a:avLst/>
          </a:prstGeom>
        </p:spPr>
        <p:txBody>
          <a:bodyPr vert="horz" wrap="square" lIns="0" tIns="8226" rIns="0" bIns="0" rtlCol="0">
            <a:spAutoFit/>
          </a:bodyPr>
          <a:lstStyle/>
          <a:p>
            <a:pPr marL="8659">
              <a:spcBef>
                <a:spcPts val="65"/>
              </a:spcBef>
            </a:pPr>
            <a:r>
              <a:rPr dirty="0"/>
              <a:t>Response</a:t>
            </a:r>
            <a:r>
              <a:rPr spc="-78" dirty="0"/>
              <a:t> </a:t>
            </a:r>
            <a:r>
              <a:rPr dirty="0"/>
              <a:t>Time</a:t>
            </a:r>
            <a:r>
              <a:rPr spc="-61" dirty="0"/>
              <a:t> </a:t>
            </a:r>
            <a:r>
              <a:rPr spc="-7" dirty="0"/>
              <a:t>(t</a:t>
            </a:r>
            <a:r>
              <a:rPr sz="2557" spc="-10" baseline="-21111" dirty="0"/>
              <a:t>response</a:t>
            </a:r>
            <a:r>
              <a:rPr sz="2591" spc="-7" dirty="0"/>
              <a:t>)</a:t>
            </a:r>
            <a:endParaRPr sz="2591" dirty="0"/>
          </a:p>
        </p:txBody>
      </p:sp>
      <p:sp>
        <p:nvSpPr>
          <p:cNvPr id="3" name="object 3"/>
          <p:cNvSpPr txBox="1"/>
          <p:nvPr/>
        </p:nvSpPr>
        <p:spPr>
          <a:xfrm>
            <a:off x="1373350" y="4245643"/>
            <a:ext cx="2507673" cy="428165"/>
          </a:xfrm>
          <a:prstGeom prst="rect">
            <a:avLst/>
          </a:prstGeom>
        </p:spPr>
        <p:txBody>
          <a:bodyPr vert="horz" wrap="square" lIns="0" tIns="8226" rIns="0" bIns="0" rtlCol="0">
            <a:spAutoFit/>
          </a:bodyPr>
          <a:lstStyle/>
          <a:p>
            <a:pPr marL="329037" marR="3464" indent="-320810">
              <a:spcBef>
                <a:spcPts val="65"/>
              </a:spcBef>
              <a:buClr>
                <a:srgbClr val="CC0000"/>
              </a:buClr>
              <a:buFont typeface="Wingdings"/>
              <a:buChar char=""/>
              <a:tabLst>
                <a:tab pos="329037" algn="l"/>
              </a:tabLst>
            </a:pPr>
            <a:r>
              <a:rPr sz="1364" dirty="0">
                <a:latin typeface="Verdana"/>
                <a:cs typeface="Verdana"/>
              </a:rPr>
              <a:t>It</a:t>
            </a:r>
            <a:r>
              <a:rPr sz="1364" spc="-20" dirty="0">
                <a:latin typeface="Verdana"/>
                <a:cs typeface="Verdana"/>
              </a:rPr>
              <a:t> </a:t>
            </a:r>
            <a:r>
              <a:rPr sz="1364" dirty="0">
                <a:latin typeface="Verdana"/>
                <a:cs typeface="Verdana"/>
              </a:rPr>
              <a:t>is</a:t>
            </a:r>
            <a:r>
              <a:rPr sz="1364" spc="-20" dirty="0">
                <a:latin typeface="Verdana"/>
                <a:cs typeface="Verdana"/>
              </a:rPr>
              <a:t> </a:t>
            </a:r>
            <a:r>
              <a:rPr sz="1364" dirty="0">
                <a:latin typeface="Verdana"/>
                <a:cs typeface="Verdana"/>
              </a:rPr>
              <a:t>roughly</a:t>
            </a:r>
            <a:r>
              <a:rPr sz="1364" spc="-17" dirty="0">
                <a:latin typeface="Verdana"/>
                <a:cs typeface="Verdana"/>
              </a:rPr>
              <a:t> </a:t>
            </a:r>
            <a:r>
              <a:rPr sz="1364" spc="-7" dirty="0">
                <a:latin typeface="Verdana"/>
                <a:cs typeface="Verdana"/>
              </a:rPr>
              <a:t>proportional </a:t>
            </a:r>
            <a:r>
              <a:rPr sz="1364" dirty="0">
                <a:latin typeface="Verdana"/>
                <a:cs typeface="Verdana"/>
              </a:rPr>
              <a:t>to</a:t>
            </a:r>
            <a:r>
              <a:rPr sz="1364" spc="-55" dirty="0">
                <a:latin typeface="Verdana"/>
                <a:cs typeface="Verdana"/>
              </a:rPr>
              <a:t> </a:t>
            </a:r>
            <a:r>
              <a:rPr sz="1364" dirty="0">
                <a:latin typeface="Verdana"/>
                <a:cs typeface="Verdana"/>
              </a:rPr>
              <a:t>feedback</a:t>
            </a:r>
            <a:r>
              <a:rPr sz="1364" spc="-37" dirty="0">
                <a:latin typeface="Verdana"/>
                <a:cs typeface="Verdana"/>
              </a:rPr>
              <a:t> </a:t>
            </a:r>
            <a:r>
              <a:rPr sz="1364" spc="-7" dirty="0">
                <a:latin typeface="Verdana"/>
                <a:cs typeface="Verdana"/>
              </a:rPr>
              <a:t>latency</a:t>
            </a:r>
            <a:endParaRPr sz="1364">
              <a:latin typeface="Verdana"/>
              <a:cs typeface="Verdana"/>
            </a:endParaRPr>
          </a:p>
        </p:txBody>
      </p:sp>
      <p:sp>
        <p:nvSpPr>
          <p:cNvPr id="4" name="object 4"/>
          <p:cNvSpPr txBox="1"/>
          <p:nvPr/>
        </p:nvSpPr>
        <p:spPr>
          <a:xfrm>
            <a:off x="1356032" y="4952210"/>
            <a:ext cx="2431040" cy="428165"/>
          </a:xfrm>
          <a:prstGeom prst="rect">
            <a:avLst/>
          </a:prstGeom>
        </p:spPr>
        <p:txBody>
          <a:bodyPr vert="horz" wrap="square" lIns="0" tIns="8226" rIns="0" bIns="0" rtlCol="0">
            <a:spAutoFit/>
          </a:bodyPr>
          <a:lstStyle/>
          <a:p>
            <a:pPr marL="346354" marR="20781" indent="-320810">
              <a:spcBef>
                <a:spcPts val="65"/>
              </a:spcBef>
              <a:buClr>
                <a:srgbClr val="CC0000"/>
              </a:buClr>
              <a:buFont typeface="Wingdings"/>
              <a:buChar char=""/>
              <a:tabLst>
                <a:tab pos="346354" algn="l"/>
              </a:tabLst>
            </a:pPr>
            <a:r>
              <a:rPr sz="1364" dirty="0">
                <a:latin typeface="Verdana"/>
                <a:cs typeface="Verdana"/>
              </a:rPr>
              <a:t>In</a:t>
            </a:r>
            <a:r>
              <a:rPr sz="1364" spc="-24" dirty="0">
                <a:latin typeface="Verdana"/>
                <a:cs typeface="Verdana"/>
              </a:rPr>
              <a:t> </a:t>
            </a:r>
            <a:r>
              <a:rPr sz="1364" dirty="0">
                <a:latin typeface="Verdana"/>
                <a:cs typeface="Verdana"/>
              </a:rPr>
              <a:t>synchronous</a:t>
            </a:r>
            <a:r>
              <a:rPr sz="1364" spc="-27" dirty="0">
                <a:latin typeface="Verdana"/>
                <a:cs typeface="Verdana"/>
              </a:rPr>
              <a:t> </a:t>
            </a:r>
            <a:r>
              <a:rPr sz="1364" spc="-7" dirty="0">
                <a:latin typeface="Verdana"/>
                <a:cs typeface="Verdana"/>
              </a:rPr>
              <a:t>control, </a:t>
            </a:r>
            <a:r>
              <a:rPr sz="1364" dirty="0">
                <a:latin typeface="Verdana"/>
                <a:cs typeface="Verdana"/>
              </a:rPr>
              <a:t>it</a:t>
            </a:r>
            <a:r>
              <a:rPr sz="1364" spc="-27" dirty="0">
                <a:latin typeface="Verdana"/>
                <a:cs typeface="Verdana"/>
              </a:rPr>
              <a:t> </a:t>
            </a:r>
            <a:r>
              <a:rPr sz="1364" dirty="0">
                <a:latin typeface="Verdana"/>
                <a:cs typeface="Verdana"/>
              </a:rPr>
              <a:t>is</a:t>
            </a:r>
            <a:r>
              <a:rPr sz="1364" spc="-27" dirty="0">
                <a:latin typeface="Verdana"/>
                <a:cs typeface="Verdana"/>
              </a:rPr>
              <a:t> </a:t>
            </a:r>
            <a:r>
              <a:rPr sz="1364" dirty="0">
                <a:latin typeface="Verdana"/>
                <a:cs typeface="Verdana"/>
              </a:rPr>
              <a:t>proportional</a:t>
            </a:r>
            <a:r>
              <a:rPr sz="1364" spc="-20" dirty="0">
                <a:latin typeface="Verdana"/>
                <a:cs typeface="Verdana"/>
              </a:rPr>
              <a:t> </a:t>
            </a:r>
            <a:r>
              <a:rPr sz="1364" dirty="0">
                <a:latin typeface="Verdana"/>
                <a:cs typeface="Verdana"/>
              </a:rPr>
              <a:t>to</a:t>
            </a:r>
            <a:r>
              <a:rPr sz="1364" spc="-24" dirty="0">
                <a:latin typeface="Verdana"/>
                <a:cs typeface="Verdana"/>
              </a:rPr>
              <a:t> </a:t>
            </a:r>
            <a:r>
              <a:rPr sz="1364" spc="-14" dirty="0">
                <a:latin typeface="Verdana"/>
                <a:cs typeface="Verdana"/>
              </a:rPr>
              <a:t>t</a:t>
            </a:r>
            <a:r>
              <a:rPr sz="1330" spc="-20" baseline="-21367" dirty="0">
                <a:latin typeface="Verdana"/>
                <a:cs typeface="Verdana"/>
              </a:rPr>
              <a:t>clk</a:t>
            </a:r>
            <a:endParaRPr sz="1330" baseline="-21367">
              <a:latin typeface="Verdana"/>
              <a:cs typeface="Verdana"/>
            </a:endParaRPr>
          </a:p>
        </p:txBody>
      </p:sp>
      <p:sp>
        <p:nvSpPr>
          <p:cNvPr id="5" name="object 5"/>
          <p:cNvSpPr txBox="1"/>
          <p:nvPr/>
        </p:nvSpPr>
        <p:spPr>
          <a:xfrm>
            <a:off x="1373350" y="5658807"/>
            <a:ext cx="2500313" cy="638094"/>
          </a:xfrm>
          <a:prstGeom prst="rect">
            <a:avLst/>
          </a:prstGeom>
        </p:spPr>
        <p:txBody>
          <a:bodyPr vert="horz" wrap="square" lIns="0" tIns="8226" rIns="0" bIns="0" rtlCol="0">
            <a:spAutoFit/>
          </a:bodyPr>
          <a:lstStyle/>
          <a:p>
            <a:pPr marL="329037" marR="3464" indent="-320810">
              <a:spcBef>
                <a:spcPts val="65"/>
              </a:spcBef>
              <a:buClr>
                <a:srgbClr val="CC0000"/>
              </a:buClr>
              <a:buFont typeface="Wingdings"/>
              <a:buChar char=""/>
              <a:tabLst>
                <a:tab pos="329037" algn="l"/>
              </a:tabLst>
            </a:pPr>
            <a:r>
              <a:rPr sz="1364" dirty="0">
                <a:latin typeface="Verdana"/>
                <a:cs typeface="Verdana"/>
              </a:rPr>
              <a:t>In</a:t>
            </a:r>
            <a:r>
              <a:rPr sz="1364" spc="-24" dirty="0">
                <a:latin typeface="Verdana"/>
                <a:cs typeface="Verdana"/>
              </a:rPr>
              <a:t> </a:t>
            </a:r>
            <a:r>
              <a:rPr sz="1364" dirty="0">
                <a:latin typeface="Verdana"/>
                <a:cs typeface="Verdana"/>
              </a:rPr>
              <a:t>asynchronous</a:t>
            </a:r>
            <a:r>
              <a:rPr sz="1364" spc="-27" dirty="0">
                <a:latin typeface="Verdana"/>
                <a:cs typeface="Verdana"/>
              </a:rPr>
              <a:t> </a:t>
            </a:r>
            <a:r>
              <a:rPr sz="1364" spc="-7" dirty="0">
                <a:latin typeface="Verdana"/>
                <a:cs typeface="Verdana"/>
              </a:rPr>
              <a:t>control, </a:t>
            </a:r>
            <a:r>
              <a:rPr sz="1364" dirty="0">
                <a:latin typeface="Verdana"/>
                <a:cs typeface="Verdana"/>
              </a:rPr>
              <a:t>it</a:t>
            </a:r>
            <a:r>
              <a:rPr sz="1364" spc="-34" dirty="0">
                <a:latin typeface="Verdana"/>
                <a:cs typeface="Verdana"/>
              </a:rPr>
              <a:t> </a:t>
            </a:r>
            <a:r>
              <a:rPr sz="1364" dirty="0">
                <a:latin typeface="Verdana"/>
                <a:cs typeface="Verdana"/>
              </a:rPr>
              <a:t>is</a:t>
            </a:r>
            <a:r>
              <a:rPr sz="1364" spc="-37" dirty="0">
                <a:latin typeface="Verdana"/>
                <a:cs typeface="Verdana"/>
              </a:rPr>
              <a:t> </a:t>
            </a:r>
            <a:r>
              <a:rPr sz="1364" dirty="0">
                <a:latin typeface="Verdana"/>
                <a:cs typeface="Verdana"/>
              </a:rPr>
              <a:t>proportional</a:t>
            </a:r>
            <a:r>
              <a:rPr sz="1364" spc="-24" dirty="0">
                <a:latin typeface="Verdana"/>
                <a:cs typeface="Verdana"/>
              </a:rPr>
              <a:t> </a:t>
            </a:r>
            <a:r>
              <a:rPr sz="1364" spc="-17" dirty="0">
                <a:latin typeface="Verdana"/>
                <a:cs typeface="Verdana"/>
              </a:rPr>
              <a:t>to </a:t>
            </a:r>
            <a:r>
              <a:rPr sz="1364" dirty="0">
                <a:latin typeface="Verdana"/>
                <a:cs typeface="Verdana"/>
              </a:rPr>
              <a:t>circuit</a:t>
            </a:r>
            <a:r>
              <a:rPr sz="1364" spc="-31" dirty="0">
                <a:latin typeface="Verdana"/>
                <a:cs typeface="Verdana"/>
              </a:rPr>
              <a:t> </a:t>
            </a:r>
            <a:r>
              <a:rPr sz="1364" spc="-7" dirty="0">
                <a:latin typeface="Verdana"/>
                <a:cs typeface="Verdana"/>
              </a:rPr>
              <a:t>latency/delay</a:t>
            </a:r>
            <a:endParaRPr sz="1364">
              <a:latin typeface="Verdana"/>
              <a:cs typeface="Verdana"/>
            </a:endParaRPr>
          </a:p>
        </p:txBody>
      </p:sp>
      <p:grpSp>
        <p:nvGrpSpPr>
          <p:cNvPr id="6" name="object 6"/>
          <p:cNvGrpSpPr/>
          <p:nvPr/>
        </p:nvGrpSpPr>
        <p:grpSpPr>
          <a:xfrm>
            <a:off x="1009493" y="1340854"/>
            <a:ext cx="3065751" cy="1140402"/>
            <a:chOff x="1566385" y="1879662"/>
            <a:chExt cx="4496435" cy="1672589"/>
          </a:xfrm>
        </p:grpSpPr>
        <p:sp>
          <p:nvSpPr>
            <p:cNvPr id="7" name="object 7"/>
            <p:cNvSpPr/>
            <p:nvPr/>
          </p:nvSpPr>
          <p:spPr>
            <a:xfrm>
              <a:off x="1618869" y="3496436"/>
              <a:ext cx="4434205" cy="1905"/>
            </a:xfrm>
            <a:custGeom>
              <a:avLst/>
              <a:gdLst/>
              <a:ahLst/>
              <a:cxnLst/>
              <a:rect l="l" t="t" r="r" b="b"/>
              <a:pathLst>
                <a:path w="4434205" h="1904">
                  <a:moveTo>
                    <a:pt x="0" y="0"/>
                  </a:moveTo>
                  <a:lnTo>
                    <a:pt x="4434078" y="1574"/>
                  </a:lnTo>
                </a:path>
              </a:pathLst>
            </a:custGeom>
            <a:ln w="19050">
              <a:solidFill>
                <a:srgbClr val="000000"/>
              </a:solidFill>
            </a:ln>
          </p:spPr>
          <p:txBody>
            <a:bodyPr wrap="square" lIns="0" tIns="0" rIns="0" bIns="0" rtlCol="0"/>
            <a:lstStyle/>
            <a:p>
              <a:endParaRPr sz="1227"/>
            </a:p>
          </p:txBody>
        </p:sp>
        <p:sp>
          <p:nvSpPr>
            <p:cNvPr id="8" name="object 8"/>
            <p:cNvSpPr/>
            <p:nvPr/>
          </p:nvSpPr>
          <p:spPr>
            <a:xfrm>
              <a:off x="5976727" y="3453535"/>
              <a:ext cx="76835" cy="88900"/>
            </a:xfrm>
            <a:custGeom>
              <a:avLst/>
              <a:gdLst/>
              <a:ahLst/>
              <a:cxnLst/>
              <a:rect l="l" t="t" r="r" b="b"/>
              <a:pathLst>
                <a:path w="76835" h="88900">
                  <a:moveTo>
                    <a:pt x="38" y="0"/>
                  </a:moveTo>
                  <a:lnTo>
                    <a:pt x="76225" y="44475"/>
                  </a:lnTo>
                  <a:lnTo>
                    <a:pt x="0" y="88900"/>
                  </a:lnTo>
                </a:path>
              </a:pathLst>
            </a:custGeom>
            <a:ln w="19050">
              <a:solidFill>
                <a:srgbClr val="000000"/>
              </a:solidFill>
            </a:ln>
          </p:spPr>
          <p:txBody>
            <a:bodyPr wrap="square" lIns="0" tIns="0" rIns="0" bIns="0" rtlCol="0"/>
            <a:lstStyle/>
            <a:p>
              <a:endParaRPr sz="1227"/>
            </a:p>
          </p:txBody>
        </p:sp>
        <p:sp>
          <p:nvSpPr>
            <p:cNvPr id="9" name="object 9"/>
            <p:cNvSpPr/>
            <p:nvPr/>
          </p:nvSpPr>
          <p:spPr>
            <a:xfrm>
              <a:off x="1618869" y="1889187"/>
              <a:ext cx="1905" cy="1595755"/>
            </a:xfrm>
            <a:custGeom>
              <a:avLst/>
              <a:gdLst/>
              <a:ahLst/>
              <a:cxnLst/>
              <a:rect l="l" t="t" r="r" b="b"/>
              <a:pathLst>
                <a:path w="1905" h="1595754">
                  <a:moveTo>
                    <a:pt x="0" y="1595627"/>
                  </a:moveTo>
                  <a:lnTo>
                    <a:pt x="1574" y="0"/>
                  </a:lnTo>
                </a:path>
              </a:pathLst>
            </a:custGeom>
            <a:ln w="19050">
              <a:solidFill>
                <a:srgbClr val="000000"/>
              </a:solidFill>
            </a:ln>
          </p:spPr>
          <p:txBody>
            <a:bodyPr wrap="square" lIns="0" tIns="0" rIns="0" bIns="0" rtlCol="0"/>
            <a:lstStyle/>
            <a:p>
              <a:endParaRPr sz="1227"/>
            </a:p>
          </p:txBody>
        </p:sp>
        <p:sp>
          <p:nvSpPr>
            <p:cNvPr id="10" name="object 10"/>
            <p:cNvSpPr/>
            <p:nvPr/>
          </p:nvSpPr>
          <p:spPr>
            <a:xfrm>
              <a:off x="1575910" y="1889192"/>
              <a:ext cx="88900" cy="76835"/>
            </a:xfrm>
            <a:custGeom>
              <a:avLst/>
              <a:gdLst/>
              <a:ahLst/>
              <a:cxnLst/>
              <a:rect l="l" t="t" r="r" b="b"/>
              <a:pathLst>
                <a:path w="88900" h="76835">
                  <a:moveTo>
                    <a:pt x="0" y="76149"/>
                  </a:moveTo>
                  <a:lnTo>
                    <a:pt x="44526" y="0"/>
                  </a:lnTo>
                  <a:lnTo>
                    <a:pt x="88900" y="76238"/>
                  </a:lnTo>
                </a:path>
              </a:pathLst>
            </a:custGeom>
            <a:ln w="19050">
              <a:solidFill>
                <a:srgbClr val="000000"/>
              </a:solidFill>
            </a:ln>
          </p:spPr>
          <p:txBody>
            <a:bodyPr wrap="square" lIns="0" tIns="0" rIns="0" bIns="0" rtlCol="0"/>
            <a:lstStyle/>
            <a:p>
              <a:endParaRPr sz="1227"/>
            </a:p>
          </p:txBody>
        </p:sp>
      </p:grpSp>
      <p:sp>
        <p:nvSpPr>
          <p:cNvPr id="11" name="object 11"/>
          <p:cNvSpPr txBox="1"/>
          <p:nvPr/>
        </p:nvSpPr>
        <p:spPr>
          <a:xfrm>
            <a:off x="4121276" y="2308614"/>
            <a:ext cx="442913" cy="218236"/>
          </a:xfrm>
          <a:prstGeom prst="rect">
            <a:avLst/>
          </a:prstGeom>
        </p:spPr>
        <p:txBody>
          <a:bodyPr vert="horz" wrap="square" lIns="0" tIns="8226" rIns="0" bIns="0" rtlCol="0">
            <a:spAutoFit/>
          </a:bodyPr>
          <a:lstStyle/>
          <a:p>
            <a:pPr marL="8659">
              <a:spcBef>
                <a:spcPts val="65"/>
              </a:spcBef>
            </a:pPr>
            <a:r>
              <a:rPr sz="1364" spc="-14" dirty="0">
                <a:latin typeface="Verdana"/>
                <a:cs typeface="Verdana"/>
              </a:rPr>
              <a:t>Time</a:t>
            </a:r>
            <a:endParaRPr sz="1364">
              <a:latin typeface="Verdana"/>
              <a:cs typeface="Verdana"/>
            </a:endParaRPr>
          </a:p>
        </p:txBody>
      </p:sp>
      <p:sp>
        <p:nvSpPr>
          <p:cNvPr id="12" name="object 12"/>
          <p:cNvSpPr txBox="1"/>
          <p:nvPr/>
        </p:nvSpPr>
        <p:spPr>
          <a:xfrm>
            <a:off x="687384" y="1780389"/>
            <a:ext cx="367578" cy="218107"/>
          </a:xfrm>
          <a:prstGeom prst="rect">
            <a:avLst/>
          </a:prstGeom>
        </p:spPr>
        <p:txBody>
          <a:bodyPr vert="horz" wrap="square" lIns="0" tIns="8226" rIns="0" bIns="0" rtlCol="0">
            <a:spAutoFit/>
          </a:bodyPr>
          <a:lstStyle/>
          <a:p>
            <a:pPr marL="25977">
              <a:spcBef>
                <a:spcPts val="65"/>
              </a:spcBef>
            </a:pPr>
            <a:r>
              <a:rPr sz="2045" spc="-10" baseline="13888" dirty="0">
                <a:latin typeface="Verdana"/>
                <a:cs typeface="Verdana"/>
              </a:rPr>
              <a:t>I</a:t>
            </a:r>
            <a:r>
              <a:rPr sz="886" spc="-7" dirty="0">
                <a:latin typeface="Verdana"/>
                <a:cs typeface="Verdana"/>
              </a:rPr>
              <a:t>load</a:t>
            </a:r>
            <a:endParaRPr sz="886">
              <a:latin typeface="Verdana"/>
              <a:cs typeface="Verdana"/>
            </a:endParaRPr>
          </a:p>
        </p:txBody>
      </p:sp>
      <p:grpSp>
        <p:nvGrpSpPr>
          <p:cNvPr id="13" name="object 13"/>
          <p:cNvGrpSpPr/>
          <p:nvPr/>
        </p:nvGrpSpPr>
        <p:grpSpPr>
          <a:xfrm>
            <a:off x="1001180" y="1553392"/>
            <a:ext cx="3065751" cy="2173865"/>
            <a:chOff x="1554193" y="2191385"/>
            <a:chExt cx="4496435" cy="3188335"/>
          </a:xfrm>
        </p:grpSpPr>
        <p:sp>
          <p:nvSpPr>
            <p:cNvPr id="14" name="object 14"/>
            <p:cNvSpPr/>
            <p:nvPr/>
          </p:nvSpPr>
          <p:spPr>
            <a:xfrm>
              <a:off x="1632966" y="3335272"/>
              <a:ext cx="2016125" cy="1905"/>
            </a:xfrm>
            <a:custGeom>
              <a:avLst/>
              <a:gdLst/>
              <a:ahLst/>
              <a:cxnLst/>
              <a:rect l="l" t="t" r="r" b="b"/>
              <a:pathLst>
                <a:path w="2016125" h="1904">
                  <a:moveTo>
                    <a:pt x="0" y="1587"/>
                  </a:moveTo>
                  <a:lnTo>
                    <a:pt x="2016125" y="0"/>
                  </a:lnTo>
                </a:path>
              </a:pathLst>
            </a:custGeom>
            <a:ln w="28956">
              <a:solidFill>
                <a:srgbClr val="C00000"/>
              </a:solidFill>
            </a:ln>
          </p:spPr>
          <p:txBody>
            <a:bodyPr wrap="square" lIns="0" tIns="0" rIns="0" bIns="0" rtlCol="0"/>
            <a:lstStyle/>
            <a:p>
              <a:endParaRPr sz="1227"/>
            </a:p>
          </p:txBody>
        </p:sp>
        <p:sp>
          <p:nvSpPr>
            <p:cNvPr id="15" name="object 15"/>
            <p:cNvSpPr/>
            <p:nvPr/>
          </p:nvSpPr>
          <p:spPr>
            <a:xfrm>
              <a:off x="3648451" y="2205990"/>
              <a:ext cx="711835" cy="1123315"/>
            </a:xfrm>
            <a:custGeom>
              <a:avLst/>
              <a:gdLst/>
              <a:ahLst/>
              <a:cxnLst/>
              <a:rect l="l" t="t" r="r" b="b"/>
              <a:pathLst>
                <a:path w="711835" h="1123314">
                  <a:moveTo>
                    <a:pt x="711720" y="0"/>
                  </a:moveTo>
                  <a:lnTo>
                    <a:pt x="0" y="1123238"/>
                  </a:lnTo>
                </a:path>
              </a:pathLst>
            </a:custGeom>
            <a:ln w="28955">
              <a:solidFill>
                <a:srgbClr val="C00000"/>
              </a:solidFill>
            </a:ln>
          </p:spPr>
          <p:txBody>
            <a:bodyPr wrap="square" lIns="0" tIns="0" rIns="0" bIns="0" rtlCol="0"/>
            <a:lstStyle/>
            <a:p>
              <a:endParaRPr sz="1227"/>
            </a:p>
          </p:txBody>
        </p:sp>
        <p:sp>
          <p:nvSpPr>
            <p:cNvPr id="16" name="object 16"/>
            <p:cNvSpPr/>
            <p:nvPr/>
          </p:nvSpPr>
          <p:spPr>
            <a:xfrm>
              <a:off x="4351019" y="2205991"/>
              <a:ext cx="1310005" cy="0"/>
            </a:xfrm>
            <a:custGeom>
              <a:avLst/>
              <a:gdLst/>
              <a:ahLst/>
              <a:cxnLst/>
              <a:rect l="l" t="t" r="r" b="b"/>
              <a:pathLst>
                <a:path w="1310004">
                  <a:moveTo>
                    <a:pt x="0" y="0"/>
                  </a:moveTo>
                  <a:lnTo>
                    <a:pt x="1309738" y="0"/>
                  </a:lnTo>
                </a:path>
              </a:pathLst>
            </a:custGeom>
            <a:ln w="28956">
              <a:solidFill>
                <a:srgbClr val="C00000"/>
              </a:solidFill>
            </a:ln>
          </p:spPr>
          <p:txBody>
            <a:bodyPr wrap="square" lIns="0" tIns="0" rIns="0" bIns="0" rtlCol="0"/>
            <a:lstStyle/>
            <a:p>
              <a:endParaRPr sz="1227"/>
            </a:p>
          </p:txBody>
        </p:sp>
        <p:sp>
          <p:nvSpPr>
            <p:cNvPr id="17" name="object 17"/>
            <p:cNvSpPr/>
            <p:nvPr/>
          </p:nvSpPr>
          <p:spPr>
            <a:xfrm>
              <a:off x="1606677" y="5323713"/>
              <a:ext cx="4434205" cy="1905"/>
            </a:xfrm>
            <a:custGeom>
              <a:avLst/>
              <a:gdLst/>
              <a:ahLst/>
              <a:cxnLst/>
              <a:rect l="l" t="t" r="r" b="b"/>
              <a:pathLst>
                <a:path w="4434205" h="1904">
                  <a:moveTo>
                    <a:pt x="0" y="0"/>
                  </a:moveTo>
                  <a:lnTo>
                    <a:pt x="4434078" y="1574"/>
                  </a:lnTo>
                </a:path>
              </a:pathLst>
            </a:custGeom>
            <a:ln w="19050">
              <a:solidFill>
                <a:srgbClr val="000000"/>
              </a:solidFill>
            </a:ln>
          </p:spPr>
          <p:txBody>
            <a:bodyPr wrap="square" lIns="0" tIns="0" rIns="0" bIns="0" rtlCol="0"/>
            <a:lstStyle/>
            <a:p>
              <a:endParaRPr sz="1227"/>
            </a:p>
          </p:txBody>
        </p:sp>
        <p:sp>
          <p:nvSpPr>
            <p:cNvPr id="18" name="object 18"/>
            <p:cNvSpPr/>
            <p:nvPr/>
          </p:nvSpPr>
          <p:spPr>
            <a:xfrm>
              <a:off x="5964534" y="5280812"/>
              <a:ext cx="76835" cy="88900"/>
            </a:xfrm>
            <a:custGeom>
              <a:avLst/>
              <a:gdLst/>
              <a:ahLst/>
              <a:cxnLst/>
              <a:rect l="l" t="t" r="r" b="b"/>
              <a:pathLst>
                <a:path w="76835" h="88900">
                  <a:moveTo>
                    <a:pt x="38" y="0"/>
                  </a:moveTo>
                  <a:lnTo>
                    <a:pt x="76225" y="44475"/>
                  </a:lnTo>
                  <a:lnTo>
                    <a:pt x="0" y="88899"/>
                  </a:lnTo>
                </a:path>
              </a:pathLst>
            </a:custGeom>
            <a:ln w="19050">
              <a:solidFill>
                <a:srgbClr val="000000"/>
              </a:solidFill>
            </a:ln>
          </p:spPr>
          <p:txBody>
            <a:bodyPr wrap="square" lIns="0" tIns="0" rIns="0" bIns="0" rtlCol="0"/>
            <a:lstStyle/>
            <a:p>
              <a:endParaRPr sz="1227"/>
            </a:p>
          </p:txBody>
        </p:sp>
        <p:sp>
          <p:nvSpPr>
            <p:cNvPr id="19" name="object 19"/>
            <p:cNvSpPr/>
            <p:nvPr/>
          </p:nvSpPr>
          <p:spPr>
            <a:xfrm>
              <a:off x="1606677" y="3717225"/>
              <a:ext cx="1905" cy="1595755"/>
            </a:xfrm>
            <a:custGeom>
              <a:avLst/>
              <a:gdLst/>
              <a:ahLst/>
              <a:cxnLst/>
              <a:rect l="l" t="t" r="r" b="b"/>
              <a:pathLst>
                <a:path w="1905" h="1595754">
                  <a:moveTo>
                    <a:pt x="0" y="1595627"/>
                  </a:moveTo>
                  <a:lnTo>
                    <a:pt x="1574" y="0"/>
                  </a:lnTo>
                </a:path>
              </a:pathLst>
            </a:custGeom>
            <a:ln w="19050">
              <a:solidFill>
                <a:srgbClr val="000000"/>
              </a:solidFill>
            </a:ln>
          </p:spPr>
          <p:txBody>
            <a:bodyPr wrap="square" lIns="0" tIns="0" rIns="0" bIns="0" rtlCol="0"/>
            <a:lstStyle/>
            <a:p>
              <a:endParaRPr sz="1227"/>
            </a:p>
          </p:txBody>
        </p:sp>
        <p:sp>
          <p:nvSpPr>
            <p:cNvPr id="20" name="object 20"/>
            <p:cNvSpPr/>
            <p:nvPr/>
          </p:nvSpPr>
          <p:spPr>
            <a:xfrm>
              <a:off x="1563718" y="3717230"/>
              <a:ext cx="88900" cy="76835"/>
            </a:xfrm>
            <a:custGeom>
              <a:avLst/>
              <a:gdLst/>
              <a:ahLst/>
              <a:cxnLst/>
              <a:rect l="l" t="t" r="r" b="b"/>
              <a:pathLst>
                <a:path w="88900" h="76835">
                  <a:moveTo>
                    <a:pt x="0" y="76149"/>
                  </a:moveTo>
                  <a:lnTo>
                    <a:pt x="44526" y="0"/>
                  </a:lnTo>
                  <a:lnTo>
                    <a:pt x="88900" y="76238"/>
                  </a:lnTo>
                </a:path>
              </a:pathLst>
            </a:custGeom>
            <a:ln w="19050">
              <a:solidFill>
                <a:srgbClr val="000000"/>
              </a:solidFill>
            </a:ln>
          </p:spPr>
          <p:txBody>
            <a:bodyPr wrap="square" lIns="0" tIns="0" rIns="0" bIns="0" rtlCol="0"/>
            <a:lstStyle/>
            <a:p>
              <a:endParaRPr sz="1227"/>
            </a:p>
          </p:txBody>
        </p:sp>
      </p:grpSp>
      <p:sp>
        <p:nvSpPr>
          <p:cNvPr id="21" name="object 21"/>
          <p:cNvSpPr txBox="1"/>
          <p:nvPr/>
        </p:nvSpPr>
        <p:spPr>
          <a:xfrm>
            <a:off x="4112818" y="3554767"/>
            <a:ext cx="442913" cy="218236"/>
          </a:xfrm>
          <a:prstGeom prst="rect">
            <a:avLst/>
          </a:prstGeom>
        </p:spPr>
        <p:txBody>
          <a:bodyPr vert="horz" wrap="square" lIns="0" tIns="8226" rIns="0" bIns="0" rtlCol="0">
            <a:spAutoFit/>
          </a:bodyPr>
          <a:lstStyle/>
          <a:p>
            <a:pPr marL="8659">
              <a:spcBef>
                <a:spcPts val="65"/>
              </a:spcBef>
            </a:pPr>
            <a:r>
              <a:rPr sz="1364" spc="-14" dirty="0">
                <a:latin typeface="Verdana"/>
                <a:cs typeface="Verdana"/>
              </a:rPr>
              <a:t>Time</a:t>
            </a:r>
            <a:endParaRPr sz="1364">
              <a:latin typeface="Verdana"/>
              <a:cs typeface="Verdana"/>
            </a:endParaRPr>
          </a:p>
        </p:txBody>
      </p:sp>
      <p:sp>
        <p:nvSpPr>
          <p:cNvPr id="22" name="object 22"/>
          <p:cNvSpPr txBox="1"/>
          <p:nvPr/>
        </p:nvSpPr>
        <p:spPr>
          <a:xfrm>
            <a:off x="683943" y="3026542"/>
            <a:ext cx="358919" cy="218107"/>
          </a:xfrm>
          <a:prstGeom prst="rect">
            <a:avLst/>
          </a:prstGeom>
        </p:spPr>
        <p:txBody>
          <a:bodyPr vert="horz" wrap="square" lIns="0" tIns="8226" rIns="0" bIns="0" rtlCol="0">
            <a:spAutoFit/>
          </a:bodyPr>
          <a:lstStyle/>
          <a:p>
            <a:pPr marL="25977">
              <a:spcBef>
                <a:spcPts val="65"/>
              </a:spcBef>
            </a:pPr>
            <a:r>
              <a:rPr sz="2045" spc="-20" baseline="13888" dirty="0">
                <a:latin typeface="Verdana"/>
                <a:cs typeface="Verdana"/>
              </a:rPr>
              <a:t>V</a:t>
            </a:r>
            <a:r>
              <a:rPr sz="886" spc="-14" dirty="0">
                <a:latin typeface="Verdana"/>
                <a:cs typeface="Verdana"/>
              </a:rPr>
              <a:t>out</a:t>
            </a:r>
            <a:endParaRPr sz="886">
              <a:latin typeface="Verdana"/>
              <a:cs typeface="Verdana"/>
            </a:endParaRPr>
          </a:p>
        </p:txBody>
      </p:sp>
      <p:grpSp>
        <p:nvGrpSpPr>
          <p:cNvPr id="23" name="object 23"/>
          <p:cNvGrpSpPr/>
          <p:nvPr/>
        </p:nvGrpSpPr>
        <p:grpSpPr>
          <a:xfrm>
            <a:off x="1026226" y="1306175"/>
            <a:ext cx="2970068" cy="2376920"/>
            <a:chOff x="1590928" y="1828800"/>
            <a:chExt cx="4356100" cy="3486150"/>
          </a:xfrm>
        </p:grpSpPr>
        <p:sp>
          <p:nvSpPr>
            <p:cNvPr id="24" name="object 24"/>
            <p:cNvSpPr/>
            <p:nvPr/>
          </p:nvSpPr>
          <p:spPr>
            <a:xfrm>
              <a:off x="1605533" y="4259578"/>
              <a:ext cx="2016125" cy="1905"/>
            </a:xfrm>
            <a:custGeom>
              <a:avLst/>
              <a:gdLst/>
              <a:ahLst/>
              <a:cxnLst/>
              <a:rect l="l" t="t" r="r" b="b"/>
              <a:pathLst>
                <a:path w="2016125" h="1904">
                  <a:moveTo>
                    <a:pt x="0" y="1587"/>
                  </a:moveTo>
                  <a:lnTo>
                    <a:pt x="2016125" y="0"/>
                  </a:lnTo>
                </a:path>
              </a:pathLst>
            </a:custGeom>
            <a:ln w="28956">
              <a:solidFill>
                <a:srgbClr val="0000FF"/>
              </a:solidFill>
            </a:ln>
          </p:spPr>
          <p:txBody>
            <a:bodyPr wrap="square" lIns="0" tIns="0" rIns="0" bIns="0" rtlCol="0"/>
            <a:lstStyle/>
            <a:p>
              <a:endParaRPr sz="1227"/>
            </a:p>
          </p:txBody>
        </p:sp>
        <p:sp>
          <p:nvSpPr>
            <p:cNvPr id="25" name="object 25"/>
            <p:cNvSpPr/>
            <p:nvPr/>
          </p:nvSpPr>
          <p:spPr>
            <a:xfrm>
              <a:off x="3621024" y="4248148"/>
              <a:ext cx="2311400" cy="15240"/>
            </a:xfrm>
            <a:custGeom>
              <a:avLst/>
              <a:gdLst/>
              <a:ahLst/>
              <a:cxnLst/>
              <a:rect l="l" t="t" r="r" b="b"/>
              <a:pathLst>
                <a:path w="2311400" h="15239">
                  <a:moveTo>
                    <a:pt x="0" y="14643"/>
                  </a:moveTo>
                  <a:lnTo>
                    <a:pt x="2310777" y="0"/>
                  </a:lnTo>
                </a:path>
              </a:pathLst>
            </a:custGeom>
            <a:ln w="28956">
              <a:solidFill>
                <a:srgbClr val="0000FF"/>
              </a:solidFill>
              <a:prstDash val="sysDash"/>
            </a:ln>
          </p:spPr>
          <p:txBody>
            <a:bodyPr wrap="square" lIns="0" tIns="0" rIns="0" bIns="0" rtlCol="0"/>
            <a:lstStyle/>
            <a:p>
              <a:endParaRPr sz="1227"/>
            </a:p>
          </p:txBody>
        </p:sp>
        <p:sp>
          <p:nvSpPr>
            <p:cNvPr id="26" name="object 26"/>
            <p:cNvSpPr/>
            <p:nvPr/>
          </p:nvSpPr>
          <p:spPr>
            <a:xfrm>
              <a:off x="3615689" y="3342138"/>
              <a:ext cx="2016125" cy="1905"/>
            </a:xfrm>
            <a:custGeom>
              <a:avLst/>
              <a:gdLst/>
              <a:ahLst/>
              <a:cxnLst/>
              <a:rect l="l" t="t" r="r" b="b"/>
              <a:pathLst>
                <a:path w="2016125" h="1904">
                  <a:moveTo>
                    <a:pt x="0" y="1739"/>
                  </a:moveTo>
                  <a:lnTo>
                    <a:pt x="2016125" y="0"/>
                  </a:lnTo>
                </a:path>
              </a:pathLst>
            </a:custGeom>
            <a:ln w="28956">
              <a:solidFill>
                <a:srgbClr val="C00000"/>
              </a:solidFill>
              <a:prstDash val="sysDash"/>
            </a:ln>
          </p:spPr>
          <p:txBody>
            <a:bodyPr wrap="square" lIns="0" tIns="0" rIns="0" bIns="0" rtlCol="0"/>
            <a:lstStyle/>
            <a:p>
              <a:endParaRPr sz="1227"/>
            </a:p>
          </p:txBody>
        </p:sp>
        <p:sp>
          <p:nvSpPr>
            <p:cNvPr id="27" name="object 27"/>
            <p:cNvSpPr/>
            <p:nvPr/>
          </p:nvSpPr>
          <p:spPr>
            <a:xfrm>
              <a:off x="4968620" y="1838325"/>
              <a:ext cx="189230" cy="347980"/>
            </a:xfrm>
            <a:custGeom>
              <a:avLst/>
              <a:gdLst/>
              <a:ahLst/>
              <a:cxnLst/>
              <a:rect l="l" t="t" r="r" b="b"/>
              <a:pathLst>
                <a:path w="189229" h="347980">
                  <a:moveTo>
                    <a:pt x="141732" y="0"/>
                  </a:moveTo>
                  <a:lnTo>
                    <a:pt x="141732" y="253136"/>
                  </a:lnTo>
                  <a:lnTo>
                    <a:pt x="188976" y="253136"/>
                  </a:lnTo>
                  <a:lnTo>
                    <a:pt x="94488" y="347472"/>
                  </a:lnTo>
                  <a:lnTo>
                    <a:pt x="0" y="253136"/>
                  </a:lnTo>
                  <a:lnTo>
                    <a:pt x="47244" y="253136"/>
                  </a:lnTo>
                  <a:lnTo>
                    <a:pt x="47244" y="0"/>
                  </a:lnTo>
                  <a:lnTo>
                    <a:pt x="141732" y="0"/>
                  </a:lnTo>
                  <a:close/>
                </a:path>
              </a:pathLst>
            </a:custGeom>
            <a:ln w="19049">
              <a:solidFill>
                <a:srgbClr val="C00000"/>
              </a:solidFill>
            </a:ln>
          </p:spPr>
          <p:txBody>
            <a:bodyPr wrap="square" lIns="0" tIns="0" rIns="0" bIns="0" rtlCol="0"/>
            <a:lstStyle/>
            <a:p>
              <a:endParaRPr sz="1227"/>
            </a:p>
          </p:txBody>
        </p:sp>
        <p:sp>
          <p:nvSpPr>
            <p:cNvPr id="28" name="object 28"/>
            <p:cNvSpPr/>
            <p:nvPr/>
          </p:nvSpPr>
          <p:spPr>
            <a:xfrm>
              <a:off x="4968620" y="3363086"/>
              <a:ext cx="189230" cy="347980"/>
            </a:xfrm>
            <a:custGeom>
              <a:avLst/>
              <a:gdLst/>
              <a:ahLst/>
              <a:cxnLst/>
              <a:rect l="l" t="t" r="r" b="b"/>
              <a:pathLst>
                <a:path w="189229" h="347979">
                  <a:moveTo>
                    <a:pt x="47244" y="347471"/>
                  </a:moveTo>
                  <a:lnTo>
                    <a:pt x="47244" y="94335"/>
                  </a:lnTo>
                  <a:lnTo>
                    <a:pt x="0" y="94335"/>
                  </a:lnTo>
                  <a:lnTo>
                    <a:pt x="94488" y="0"/>
                  </a:lnTo>
                  <a:lnTo>
                    <a:pt x="188976" y="94335"/>
                  </a:lnTo>
                  <a:lnTo>
                    <a:pt x="141732" y="94335"/>
                  </a:lnTo>
                  <a:lnTo>
                    <a:pt x="141732" y="347471"/>
                  </a:lnTo>
                  <a:lnTo>
                    <a:pt x="47244" y="347471"/>
                  </a:lnTo>
                  <a:close/>
                </a:path>
              </a:pathLst>
            </a:custGeom>
            <a:ln w="19049">
              <a:solidFill>
                <a:srgbClr val="C00000"/>
              </a:solidFill>
            </a:ln>
          </p:spPr>
          <p:txBody>
            <a:bodyPr wrap="square" lIns="0" tIns="0" rIns="0" bIns="0" rtlCol="0"/>
            <a:lstStyle/>
            <a:p>
              <a:endParaRPr sz="1227"/>
            </a:p>
          </p:txBody>
        </p:sp>
        <p:sp>
          <p:nvSpPr>
            <p:cNvPr id="29" name="object 29"/>
            <p:cNvSpPr/>
            <p:nvPr/>
          </p:nvSpPr>
          <p:spPr>
            <a:xfrm>
              <a:off x="4158996" y="3858003"/>
              <a:ext cx="0" cy="1442720"/>
            </a:xfrm>
            <a:custGeom>
              <a:avLst/>
              <a:gdLst/>
              <a:ahLst/>
              <a:cxnLst/>
              <a:rect l="l" t="t" r="r" b="b"/>
              <a:pathLst>
                <a:path h="1442720">
                  <a:moveTo>
                    <a:pt x="0" y="1442211"/>
                  </a:moveTo>
                  <a:lnTo>
                    <a:pt x="0" y="0"/>
                  </a:lnTo>
                </a:path>
              </a:pathLst>
            </a:custGeom>
            <a:ln w="28956">
              <a:solidFill>
                <a:srgbClr val="000000"/>
              </a:solidFill>
              <a:prstDash val="sysDash"/>
            </a:ln>
          </p:spPr>
          <p:txBody>
            <a:bodyPr wrap="square" lIns="0" tIns="0" rIns="0" bIns="0" rtlCol="0"/>
            <a:lstStyle/>
            <a:p>
              <a:endParaRPr sz="1227"/>
            </a:p>
          </p:txBody>
        </p:sp>
        <p:sp>
          <p:nvSpPr>
            <p:cNvPr id="30" name="object 30"/>
            <p:cNvSpPr/>
            <p:nvPr/>
          </p:nvSpPr>
          <p:spPr>
            <a:xfrm>
              <a:off x="3624833" y="3858003"/>
              <a:ext cx="0" cy="1442720"/>
            </a:xfrm>
            <a:custGeom>
              <a:avLst/>
              <a:gdLst/>
              <a:ahLst/>
              <a:cxnLst/>
              <a:rect l="l" t="t" r="r" b="b"/>
              <a:pathLst>
                <a:path h="1442720">
                  <a:moveTo>
                    <a:pt x="0" y="1442211"/>
                  </a:moveTo>
                  <a:lnTo>
                    <a:pt x="0" y="0"/>
                  </a:lnTo>
                </a:path>
              </a:pathLst>
            </a:custGeom>
            <a:ln w="28956">
              <a:solidFill>
                <a:srgbClr val="000000"/>
              </a:solidFill>
              <a:prstDash val="sysDash"/>
            </a:ln>
          </p:spPr>
          <p:txBody>
            <a:bodyPr wrap="square" lIns="0" tIns="0" rIns="0" bIns="0" rtlCol="0"/>
            <a:lstStyle/>
            <a:p>
              <a:endParaRPr sz="1227"/>
            </a:p>
          </p:txBody>
        </p:sp>
      </p:grpSp>
      <p:sp>
        <p:nvSpPr>
          <p:cNvPr id="31" name="object 31"/>
          <p:cNvSpPr txBox="1"/>
          <p:nvPr/>
        </p:nvSpPr>
        <p:spPr>
          <a:xfrm>
            <a:off x="2316430" y="3720385"/>
            <a:ext cx="642505" cy="218107"/>
          </a:xfrm>
          <a:prstGeom prst="rect">
            <a:avLst/>
          </a:prstGeom>
        </p:spPr>
        <p:txBody>
          <a:bodyPr vert="horz" wrap="square" lIns="0" tIns="8226" rIns="0" bIns="0" rtlCol="0">
            <a:spAutoFit/>
          </a:bodyPr>
          <a:lstStyle/>
          <a:p>
            <a:pPr marL="25977">
              <a:spcBef>
                <a:spcPts val="65"/>
              </a:spcBef>
            </a:pPr>
            <a:r>
              <a:rPr sz="2045" spc="-10" baseline="13888" dirty="0">
                <a:latin typeface="Verdana"/>
                <a:cs typeface="Verdana"/>
              </a:rPr>
              <a:t>t</a:t>
            </a:r>
            <a:r>
              <a:rPr sz="886" spc="-7" dirty="0">
                <a:latin typeface="Verdana"/>
                <a:cs typeface="Verdana"/>
              </a:rPr>
              <a:t>response</a:t>
            </a:r>
            <a:endParaRPr sz="886">
              <a:latin typeface="Verdana"/>
              <a:cs typeface="Verdana"/>
            </a:endParaRPr>
          </a:p>
        </p:txBody>
      </p:sp>
      <p:sp>
        <p:nvSpPr>
          <p:cNvPr id="32" name="object 32"/>
          <p:cNvSpPr txBox="1"/>
          <p:nvPr/>
        </p:nvSpPr>
        <p:spPr>
          <a:xfrm>
            <a:off x="3441932" y="1310672"/>
            <a:ext cx="781050" cy="218107"/>
          </a:xfrm>
          <a:prstGeom prst="rect">
            <a:avLst/>
          </a:prstGeom>
        </p:spPr>
        <p:txBody>
          <a:bodyPr vert="horz" wrap="square" lIns="0" tIns="8226" rIns="0" bIns="0" rtlCol="0">
            <a:spAutoFit/>
          </a:bodyPr>
          <a:lstStyle/>
          <a:p>
            <a:pPr marL="25977">
              <a:spcBef>
                <a:spcPts val="65"/>
              </a:spcBef>
            </a:pPr>
            <a:r>
              <a:rPr sz="2045" spc="-10" baseline="13888" dirty="0">
                <a:solidFill>
                  <a:srgbClr val="C00000"/>
                </a:solidFill>
                <a:latin typeface="Verdana"/>
                <a:cs typeface="Verdana"/>
              </a:rPr>
              <a:t>ΔI</a:t>
            </a:r>
            <a:r>
              <a:rPr sz="886" spc="-7" dirty="0">
                <a:solidFill>
                  <a:srgbClr val="C00000"/>
                </a:solidFill>
                <a:latin typeface="Verdana"/>
                <a:cs typeface="Verdana"/>
              </a:rPr>
              <a:t>load,max</a:t>
            </a:r>
            <a:endParaRPr sz="886">
              <a:latin typeface="Verdana"/>
              <a:cs typeface="Verdana"/>
            </a:endParaRPr>
          </a:p>
        </p:txBody>
      </p:sp>
      <p:grpSp>
        <p:nvGrpSpPr>
          <p:cNvPr id="33" name="object 33"/>
          <p:cNvGrpSpPr/>
          <p:nvPr/>
        </p:nvGrpSpPr>
        <p:grpSpPr>
          <a:xfrm>
            <a:off x="2155805" y="2801321"/>
            <a:ext cx="1946997" cy="792740"/>
            <a:chOff x="3247644" y="4021681"/>
            <a:chExt cx="2855595" cy="1162685"/>
          </a:xfrm>
        </p:grpSpPr>
        <p:sp>
          <p:nvSpPr>
            <p:cNvPr id="34" name="object 34"/>
            <p:cNvSpPr/>
            <p:nvPr/>
          </p:nvSpPr>
          <p:spPr>
            <a:xfrm>
              <a:off x="5931408" y="4247391"/>
              <a:ext cx="156845" cy="1270"/>
            </a:xfrm>
            <a:custGeom>
              <a:avLst/>
              <a:gdLst/>
              <a:ahLst/>
              <a:cxnLst/>
              <a:rect l="l" t="t" r="r" b="b"/>
              <a:pathLst>
                <a:path w="156845" h="1270">
                  <a:moveTo>
                    <a:pt x="0" y="965"/>
                  </a:moveTo>
                  <a:lnTo>
                    <a:pt x="156806" y="0"/>
                  </a:lnTo>
                </a:path>
              </a:pathLst>
            </a:custGeom>
            <a:ln w="28956">
              <a:solidFill>
                <a:srgbClr val="0000FF"/>
              </a:solidFill>
            </a:ln>
          </p:spPr>
          <p:txBody>
            <a:bodyPr wrap="square" lIns="0" tIns="0" rIns="0" bIns="0" rtlCol="0"/>
            <a:lstStyle/>
            <a:p>
              <a:endParaRPr sz="1227"/>
            </a:p>
          </p:txBody>
        </p:sp>
        <p:sp>
          <p:nvSpPr>
            <p:cNvPr id="35" name="object 35"/>
            <p:cNvSpPr/>
            <p:nvPr/>
          </p:nvSpPr>
          <p:spPr>
            <a:xfrm>
              <a:off x="3619500" y="4036159"/>
              <a:ext cx="2312035" cy="682625"/>
            </a:xfrm>
            <a:custGeom>
              <a:avLst/>
              <a:gdLst/>
              <a:ahLst/>
              <a:cxnLst/>
              <a:rect l="l" t="t" r="r" b="b"/>
              <a:pathLst>
                <a:path w="2312035" h="682625">
                  <a:moveTo>
                    <a:pt x="0" y="226384"/>
                  </a:moveTo>
                  <a:lnTo>
                    <a:pt x="33806" y="272138"/>
                  </a:lnTo>
                  <a:lnTo>
                    <a:pt x="67655" y="317480"/>
                  </a:lnTo>
                  <a:lnTo>
                    <a:pt x="101591" y="361998"/>
                  </a:lnTo>
                  <a:lnTo>
                    <a:pt x="135656" y="405282"/>
                  </a:lnTo>
                  <a:lnTo>
                    <a:pt x="169893" y="446918"/>
                  </a:lnTo>
                  <a:lnTo>
                    <a:pt x="204346" y="486496"/>
                  </a:lnTo>
                  <a:lnTo>
                    <a:pt x="239058" y="523603"/>
                  </a:lnTo>
                  <a:lnTo>
                    <a:pt x="274072" y="557829"/>
                  </a:lnTo>
                  <a:lnTo>
                    <a:pt x="309431" y="588760"/>
                  </a:lnTo>
                  <a:lnTo>
                    <a:pt x="345179" y="615986"/>
                  </a:lnTo>
                  <a:lnTo>
                    <a:pt x="381358" y="639094"/>
                  </a:lnTo>
                  <a:lnTo>
                    <a:pt x="418012" y="657674"/>
                  </a:lnTo>
                  <a:lnTo>
                    <a:pt x="455185" y="671312"/>
                  </a:lnTo>
                  <a:lnTo>
                    <a:pt x="492918" y="679598"/>
                  </a:lnTo>
                  <a:lnTo>
                    <a:pt x="531256" y="682120"/>
                  </a:lnTo>
                  <a:lnTo>
                    <a:pt x="570242" y="678466"/>
                  </a:lnTo>
                  <a:lnTo>
                    <a:pt x="630881" y="654218"/>
                  </a:lnTo>
                  <a:lnTo>
                    <a:pt x="692883" y="606083"/>
                  </a:lnTo>
                  <a:lnTo>
                    <a:pt x="724358" y="574770"/>
                  </a:lnTo>
                  <a:lnTo>
                    <a:pt x="756129" y="539538"/>
                  </a:lnTo>
                  <a:lnTo>
                    <a:pt x="788183" y="501072"/>
                  </a:lnTo>
                  <a:lnTo>
                    <a:pt x="820504" y="460057"/>
                  </a:lnTo>
                  <a:lnTo>
                    <a:pt x="853078" y="417176"/>
                  </a:lnTo>
                  <a:lnTo>
                    <a:pt x="885890" y="373116"/>
                  </a:lnTo>
                  <a:lnTo>
                    <a:pt x="918925" y="328559"/>
                  </a:lnTo>
                  <a:lnTo>
                    <a:pt x="952169" y="284191"/>
                  </a:lnTo>
                  <a:lnTo>
                    <a:pt x="985607" y="240696"/>
                  </a:lnTo>
                  <a:lnTo>
                    <a:pt x="1019225" y="198758"/>
                  </a:lnTo>
                  <a:lnTo>
                    <a:pt x="1053007" y="159062"/>
                  </a:lnTo>
                  <a:lnTo>
                    <a:pt x="1086940" y="122292"/>
                  </a:lnTo>
                  <a:lnTo>
                    <a:pt x="1121008" y="89133"/>
                  </a:lnTo>
                  <a:lnTo>
                    <a:pt x="1155196" y="60269"/>
                  </a:lnTo>
                  <a:lnTo>
                    <a:pt x="1189491" y="36385"/>
                  </a:lnTo>
                  <a:lnTo>
                    <a:pt x="1223878" y="18164"/>
                  </a:lnTo>
                  <a:lnTo>
                    <a:pt x="1299485" y="0"/>
                  </a:lnTo>
                  <a:lnTo>
                    <a:pt x="1342243" y="399"/>
                  </a:lnTo>
                  <a:lnTo>
                    <a:pt x="1386338" y="6763"/>
                  </a:lnTo>
                  <a:lnTo>
                    <a:pt x="1431490" y="18364"/>
                  </a:lnTo>
                  <a:lnTo>
                    <a:pt x="1477423" y="34473"/>
                  </a:lnTo>
                  <a:lnTo>
                    <a:pt x="1523858" y="54361"/>
                  </a:lnTo>
                  <a:lnTo>
                    <a:pt x="1570518" y="77301"/>
                  </a:lnTo>
                  <a:lnTo>
                    <a:pt x="1617123" y="102564"/>
                  </a:lnTo>
                  <a:lnTo>
                    <a:pt x="1663396" y="129423"/>
                  </a:lnTo>
                  <a:lnTo>
                    <a:pt x="1709060" y="157148"/>
                  </a:lnTo>
                  <a:lnTo>
                    <a:pt x="1753835" y="185011"/>
                  </a:lnTo>
                  <a:lnTo>
                    <a:pt x="1797445" y="212284"/>
                  </a:lnTo>
                  <a:lnTo>
                    <a:pt x="1839610" y="238239"/>
                  </a:lnTo>
                  <a:lnTo>
                    <a:pt x="1880053" y="262148"/>
                  </a:lnTo>
                  <a:lnTo>
                    <a:pt x="1918497" y="283282"/>
                  </a:lnTo>
                  <a:lnTo>
                    <a:pt x="1954662" y="300912"/>
                  </a:lnTo>
                  <a:lnTo>
                    <a:pt x="2019045" y="322752"/>
                  </a:lnTo>
                  <a:lnTo>
                    <a:pt x="2087483" y="331226"/>
                  </a:lnTo>
                  <a:lnTo>
                    <a:pt x="2143643" y="328494"/>
                  </a:lnTo>
                  <a:lnTo>
                    <a:pt x="2189572" y="316423"/>
                  </a:lnTo>
                  <a:lnTo>
                    <a:pt x="2227316" y="296880"/>
                  </a:lnTo>
                  <a:lnTo>
                    <a:pt x="2258923" y="271735"/>
                  </a:lnTo>
                  <a:lnTo>
                    <a:pt x="2286438" y="242856"/>
                  </a:lnTo>
                  <a:lnTo>
                    <a:pt x="2311908" y="212109"/>
                  </a:lnTo>
                </a:path>
              </a:pathLst>
            </a:custGeom>
            <a:ln w="28956">
              <a:solidFill>
                <a:srgbClr val="0000FF"/>
              </a:solidFill>
            </a:ln>
          </p:spPr>
          <p:txBody>
            <a:bodyPr wrap="square" lIns="0" tIns="0" rIns="0" bIns="0" rtlCol="0"/>
            <a:lstStyle/>
            <a:p>
              <a:endParaRPr sz="1227"/>
            </a:p>
          </p:txBody>
        </p:sp>
        <p:sp>
          <p:nvSpPr>
            <p:cNvPr id="36" name="object 36"/>
            <p:cNvSpPr/>
            <p:nvPr/>
          </p:nvSpPr>
          <p:spPr>
            <a:xfrm>
              <a:off x="3257169" y="4985384"/>
              <a:ext cx="348615" cy="189230"/>
            </a:xfrm>
            <a:custGeom>
              <a:avLst/>
              <a:gdLst/>
              <a:ahLst/>
              <a:cxnLst/>
              <a:rect l="l" t="t" r="r" b="b"/>
              <a:pathLst>
                <a:path w="348614" h="189229">
                  <a:moveTo>
                    <a:pt x="0" y="47243"/>
                  </a:moveTo>
                  <a:lnTo>
                    <a:pt x="253898" y="47243"/>
                  </a:lnTo>
                  <a:lnTo>
                    <a:pt x="253898" y="0"/>
                  </a:lnTo>
                  <a:lnTo>
                    <a:pt x="348234" y="94487"/>
                  </a:lnTo>
                  <a:lnTo>
                    <a:pt x="253898" y="188976"/>
                  </a:lnTo>
                  <a:lnTo>
                    <a:pt x="253898" y="141732"/>
                  </a:lnTo>
                  <a:lnTo>
                    <a:pt x="0" y="141732"/>
                  </a:lnTo>
                  <a:lnTo>
                    <a:pt x="0" y="47243"/>
                  </a:lnTo>
                  <a:close/>
                </a:path>
              </a:pathLst>
            </a:custGeom>
            <a:ln w="19049">
              <a:solidFill>
                <a:srgbClr val="000000"/>
              </a:solidFill>
            </a:ln>
          </p:spPr>
          <p:txBody>
            <a:bodyPr wrap="square" lIns="0" tIns="0" rIns="0" bIns="0" rtlCol="0"/>
            <a:lstStyle/>
            <a:p>
              <a:endParaRPr sz="1227"/>
            </a:p>
          </p:txBody>
        </p:sp>
        <p:sp>
          <p:nvSpPr>
            <p:cNvPr id="37" name="object 37"/>
            <p:cNvSpPr/>
            <p:nvPr/>
          </p:nvSpPr>
          <p:spPr>
            <a:xfrm>
              <a:off x="4196715" y="4985384"/>
              <a:ext cx="347980" cy="189230"/>
            </a:xfrm>
            <a:custGeom>
              <a:avLst/>
              <a:gdLst/>
              <a:ahLst/>
              <a:cxnLst/>
              <a:rect l="l" t="t" r="r" b="b"/>
              <a:pathLst>
                <a:path w="347979" h="189229">
                  <a:moveTo>
                    <a:pt x="347472" y="141731"/>
                  </a:moveTo>
                  <a:lnTo>
                    <a:pt x="94335" y="141731"/>
                  </a:lnTo>
                  <a:lnTo>
                    <a:pt x="94335" y="188975"/>
                  </a:lnTo>
                  <a:lnTo>
                    <a:pt x="0" y="94487"/>
                  </a:lnTo>
                  <a:lnTo>
                    <a:pt x="94335" y="0"/>
                  </a:lnTo>
                  <a:lnTo>
                    <a:pt x="94335" y="47243"/>
                  </a:lnTo>
                  <a:lnTo>
                    <a:pt x="347472" y="47243"/>
                  </a:lnTo>
                  <a:lnTo>
                    <a:pt x="347472" y="141731"/>
                  </a:lnTo>
                  <a:close/>
                </a:path>
              </a:pathLst>
            </a:custGeom>
            <a:ln w="19049">
              <a:solidFill>
                <a:srgbClr val="000000"/>
              </a:solidFill>
            </a:ln>
          </p:spPr>
          <p:txBody>
            <a:bodyPr wrap="square" lIns="0" tIns="0" rIns="0" bIns="0" rtlCol="0"/>
            <a:lstStyle/>
            <a:p>
              <a:endParaRPr sz="1227"/>
            </a:p>
          </p:txBody>
        </p:sp>
      </p:grpSp>
      <p:pic>
        <p:nvPicPr>
          <p:cNvPr id="38" name="Picture 37"/>
          <p:cNvPicPr>
            <a:picLocks noChangeAspect="1"/>
          </p:cNvPicPr>
          <p:nvPr/>
        </p:nvPicPr>
        <p:blipFill>
          <a:blip r:embed="rId2"/>
          <a:stretch>
            <a:fillRect/>
          </a:stretch>
        </p:blipFill>
        <p:spPr>
          <a:xfrm>
            <a:off x="4933577" y="1708073"/>
            <a:ext cx="7258423" cy="2971953"/>
          </a:xfrm>
          <a:prstGeom prst="rect">
            <a:avLst/>
          </a:prstGeom>
        </p:spPr>
      </p:pic>
    </p:spTree>
    <p:extLst>
      <p:ext uri="{BB962C8B-B14F-4D97-AF65-F5344CB8AC3E}">
        <p14:creationId xmlns:p14="http://schemas.microsoft.com/office/powerpoint/2010/main" val="15751692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2182" y="254018"/>
            <a:ext cx="7222634" cy="531526"/>
          </a:xfrm>
          <a:prstGeom prst="rect">
            <a:avLst/>
          </a:prstGeom>
        </p:spPr>
        <p:txBody>
          <a:bodyPr vert="horz" wrap="square" lIns="0" tIns="8226" rIns="0" bIns="0" rtlCol="0">
            <a:spAutoFit/>
          </a:bodyPr>
          <a:lstStyle/>
          <a:p>
            <a:pPr marL="8659">
              <a:spcBef>
                <a:spcPts val="65"/>
              </a:spcBef>
            </a:pPr>
            <a:r>
              <a:rPr dirty="0"/>
              <a:t>Settling</a:t>
            </a:r>
            <a:r>
              <a:rPr spc="-65" dirty="0"/>
              <a:t> </a:t>
            </a:r>
            <a:r>
              <a:rPr dirty="0"/>
              <a:t>Time</a:t>
            </a:r>
            <a:r>
              <a:rPr spc="-68" dirty="0"/>
              <a:t> </a:t>
            </a:r>
            <a:r>
              <a:rPr spc="-7" dirty="0"/>
              <a:t>(t</a:t>
            </a:r>
            <a:r>
              <a:rPr sz="2557" spc="-10" baseline="-21111" dirty="0"/>
              <a:t>settle</a:t>
            </a:r>
            <a:r>
              <a:rPr sz="2591" spc="-7" dirty="0"/>
              <a:t>)</a:t>
            </a:r>
            <a:endParaRPr sz="2591" dirty="0"/>
          </a:p>
        </p:txBody>
      </p:sp>
      <p:grpSp>
        <p:nvGrpSpPr>
          <p:cNvPr id="3" name="object 3"/>
          <p:cNvGrpSpPr/>
          <p:nvPr/>
        </p:nvGrpSpPr>
        <p:grpSpPr>
          <a:xfrm>
            <a:off x="658127" y="1326038"/>
            <a:ext cx="3065751" cy="1140402"/>
            <a:chOff x="1566385" y="1879662"/>
            <a:chExt cx="4496435" cy="1672589"/>
          </a:xfrm>
        </p:grpSpPr>
        <p:sp>
          <p:nvSpPr>
            <p:cNvPr id="4" name="object 4"/>
            <p:cNvSpPr/>
            <p:nvPr/>
          </p:nvSpPr>
          <p:spPr>
            <a:xfrm>
              <a:off x="1618869" y="3496436"/>
              <a:ext cx="4434205" cy="1905"/>
            </a:xfrm>
            <a:custGeom>
              <a:avLst/>
              <a:gdLst/>
              <a:ahLst/>
              <a:cxnLst/>
              <a:rect l="l" t="t" r="r" b="b"/>
              <a:pathLst>
                <a:path w="4434205" h="1904">
                  <a:moveTo>
                    <a:pt x="0" y="0"/>
                  </a:moveTo>
                  <a:lnTo>
                    <a:pt x="4434078" y="1574"/>
                  </a:lnTo>
                </a:path>
              </a:pathLst>
            </a:custGeom>
            <a:ln w="19050">
              <a:solidFill>
                <a:srgbClr val="000000"/>
              </a:solidFill>
            </a:ln>
          </p:spPr>
          <p:txBody>
            <a:bodyPr wrap="square" lIns="0" tIns="0" rIns="0" bIns="0" rtlCol="0"/>
            <a:lstStyle/>
            <a:p>
              <a:endParaRPr sz="1227"/>
            </a:p>
          </p:txBody>
        </p:sp>
        <p:sp>
          <p:nvSpPr>
            <p:cNvPr id="5" name="object 5"/>
            <p:cNvSpPr/>
            <p:nvPr/>
          </p:nvSpPr>
          <p:spPr>
            <a:xfrm>
              <a:off x="5976727" y="3453535"/>
              <a:ext cx="76835" cy="88900"/>
            </a:xfrm>
            <a:custGeom>
              <a:avLst/>
              <a:gdLst/>
              <a:ahLst/>
              <a:cxnLst/>
              <a:rect l="l" t="t" r="r" b="b"/>
              <a:pathLst>
                <a:path w="76835" h="88900">
                  <a:moveTo>
                    <a:pt x="38" y="0"/>
                  </a:moveTo>
                  <a:lnTo>
                    <a:pt x="76225" y="44475"/>
                  </a:lnTo>
                  <a:lnTo>
                    <a:pt x="0" y="88900"/>
                  </a:lnTo>
                </a:path>
              </a:pathLst>
            </a:custGeom>
            <a:ln w="19050">
              <a:solidFill>
                <a:srgbClr val="000000"/>
              </a:solidFill>
            </a:ln>
          </p:spPr>
          <p:txBody>
            <a:bodyPr wrap="square" lIns="0" tIns="0" rIns="0" bIns="0" rtlCol="0"/>
            <a:lstStyle/>
            <a:p>
              <a:endParaRPr sz="1227"/>
            </a:p>
          </p:txBody>
        </p:sp>
        <p:sp>
          <p:nvSpPr>
            <p:cNvPr id="6" name="object 6"/>
            <p:cNvSpPr/>
            <p:nvPr/>
          </p:nvSpPr>
          <p:spPr>
            <a:xfrm>
              <a:off x="1618869" y="1889187"/>
              <a:ext cx="1905" cy="1595755"/>
            </a:xfrm>
            <a:custGeom>
              <a:avLst/>
              <a:gdLst/>
              <a:ahLst/>
              <a:cxnLst/>
              <a:rect l="l" t="t" r="r" b="b"/>
              <a:pathLst>
                <a:path w="1905" h="1595754">
                  <a:moveTo>
                    <a:pt x="0" y="1595627"/>
                  </a:moveTo>
                  <a:lnTo>
                    <a:pt x="1574" y="0"/>
                  </a:lnTo>
                </a:path>
              </a:pathLst>
            </a:custGeom>
            <a:ln w="19050">
              <a:solidFill>
                <a:srgbClr val="000000"/>
              </a:solidFill>
            </a:ln>
          </p:spPr>
          <p:txBody>
            <a:bodyPr wrap="square" lIns="0" tIns="0" rIns="0" bIns="0" rtlCol="0"/>
            <a:lstStyle/>
            <a:p>
              <a:endParaRPr sz="1227"/>
            </a:p>
          </p:txBody>
        </p:sp>
        <p:sp>
          <p:nvSpPr>
            <p:cNvPr id="7" name="object 7"/>
            <p:cNvSpPr/>
            <p:nvPr/>
          </p:nvSpPr>
          <p:spPr>
            <a:xfrm>
              <a:off x="1575910" y="1889192"/>
              <a:ext cx="88900" cy="76835"/>
            </a:xfrm>
            <a:custGeom>
              <a:avLst/>
              <a:gdLst/>
              <a:ahLst/>
              <a:cxnLst/>
              <a:rect l="l" t="t" r="r" b="b"/>
              <a:pathLst>
                <a:path w="88900" h="76835">
                  <a:moveTo>
                    <a:pt x="0" y="76149"/>
                  </a:moveTo>
                  <a:lnTo>
                    <a:pt x="44526" y="0"/>
                  </a:lnTo>
                  <a:lnTo>
                    <a:pt x="88900" y="76238"/>
                  </a:lnTo>
                </a:path>
              </a:pathLst>
            </a:custGeom>
            <a:ln w="19050">
              <a:solidFill>
                <a:srgbClr val="000000"/>
              </a:solidFill>
            </a:ln>
          </p:spPr>
          <p:txBody>
            <a:bodyPr wrap="square" lIns="0" tIns="0" rIns="0" bIns="0" rtlCol="0"/>
            <a:lstStyle/>
            <a:p>
              <a:endParaRPr sz="1227"/>
            </a:p>
          </p:txBody>
        </p:sp>
      </p:grpSp>
      <p:sp>
        <p:nvSpPr>
          <p:cNvPr id="8" name="object 8"/>
          <p:cNvSpPr txBox="1"/>
          <p:nvPr/>
        </p:nvSpPr>
        <p:spPr>
          <a:xfrm>
            <a:off x="3769910" y="2293798"/>
            <a:ext cx="442913" cy="218236"/>
          </a:xfrm>
          <a:prstGeom prst="rect">
            <a:avLst/>
          </a:prstGeom>
        </p:spPr>
        <p:txBody>
          <a:bodyPr vert="horz" wrap="square" lIns="0" tIns="8226" rIns="0" bIns="0" rtlCol="0">
            <a:spAutoFit/>
          </a:bodyPr>
          <a:lstStyle/>
          <a:p>
            <a:pPr marL="8659">
              <a:spcBef>
                <a:spcPts val="65"/>
              </a:spcBef>
            </a:pPr>
            <a:r>
              <a:rPr sz="1364" spc="-14" dirty="0">
                <a:latin typeface="Verdana"/>
                <a:cs typeface="Verdana"/>
              </a:rPr>
              <a:t>Time</a:t>
            </a:r>
            <a:endParaRPr sz="1364">
              <a:latin typeface="Verdana"/>
              <a:cs typeface="Verdana"/>
            </a:endParaRPr>
          </a:p>
        </p:txBody>
      </p:sp>
      <p:sp>
        <p:nvSpPr>
          <p:cNvPr id="9" name="object 9"/>
          <p:cNvSpPr txBox="1"/>
          <p:nvPr/>
        </p:nvSpPr>
        <p:spPr>
          <a:xfrm>
            <a:off x="336018" y="1765573"/>
            <a:ext cx="367578" cy="218107"/>
          </a:xfrm>
          <a:prstGeom prst="rect">
            <a:avLst/>
          </a:prstGeom>
        </p:spPr>
        <p:txBody>
          <a:bodyPr vert="horz" wrap="square" lIns="0" tIns="8226" rIns="0" bIns="0" rtlCol="0">
            <a:spAutoFit/>
          </a:bodyPr>
          <a:lstStyle/>
          <a:p>
            <a:pPr marL="25977">
              <a:spcBef>
                <a:spcPts val="65"/>
              </a:spcBef>
            </a:pPr>
            <a:r>
              <a:rPr sz="2045" spc="-10" baseline="13888" dirty="0">
                <a:latin typeface="Verdana"/>
                <a:cs typeface="Verdana"/>
              </a:rPr>
              <a:t>I</a:t>
            </a:r>
            <a:r>
              <a:rPr sz="886" spc="-7" dirty="0">
                <a:latin typeface="Verdana"/>
                <a:cs typeface="Verdana"/>
              </a:rPr>
              <a:t>load</a:t>
            </a:r>
            <a:endParaRPr sz="886">
              <a:latin typeface="Verdana"/>
              <a:cs typeface="Verdana"/>
            </a:endParaRPr>
          </a:p>
        </p:txBody>
      </p:sp>
      <p:grpSp>
        <p:nvGrpSpPr>
          <p:cNvPr id="10" name="object 10"/>
          <p:cNvGrpSpPr/>
          <p:nvPr/>
        </p:nvGrpSpPr>
        <p:grpSpPr>
          <a:xfrm>
            <a:off x="649814" y="1538576"/>
            <a:ext cx="3065751" cy="2173865"/>
            <a:chOff x="1554193" y="2191385"/>
            <a:chExt cx="4496435" cy="3188335"/>
          </a:xfrm>
        </p:grpSpPr>
        <p:sp>
          <p:nvSpPr>
            <p:cNvPr id="11" name="object 11"/>
            <p:cNvSpPr/>
            <p:nvPr/>
          </p:nvSpPr>
          <p:spPr>
            <a:xfrm>
              <a:off x="1632966" y="3335272"/>
              <a:ext cx="2016125" cy="1905"/>
            </a:xfrm>
            <a:custGeom>
              <a:avLst/>
              <a:gdLst/>
              <a:ahLst/>
              <a:cxnLst/>
              <a:rect l="l" t="t" r="r" b="b"/>
              <a:pathLst>
                <a:path w="2016125" h="1904">
                  <a:moveTo>
                    <a:pt x="0" y="1587"/>
                  </a:moveTo>
                  <a:lnTo>
                    <a:pt x="2016125" y="0"/>
                  </a:lnTo>
                </a:path>
              </a:pathLst>
            </a:custGeom>
            <a:ln w="28956">
              <a:solidFill>
                <a:srgbClr val="C00000"/>
              </a:solidFill>
            </a:ln>
          </p:spPr>
          <p:txBody>
            <a:bodyPr wrap="square" lIns="0" tIns="0" rIns="0" bIns="0" rtlCol="0"/>
            <a:lstStyle/>
            <a:p>
              <a:endParaRPr sz="1227"/>
            </a:p>
          </p:txBody>
        </p:sp>
        <p:sp>
          <p:nvSpPr>
            <p:cNvPr id="12" name="object 12"/>
            <p:cNvSpPr/>
            <p:nvPr/>
          </p:nvSpPr>
          <p:spPr>
            <a:xfrm>
              <a:off x="3648451" y="2205990"/>
              <a:ext cx="711835" cy="1123315"/>
            </a:xfrm>
            <a:custGeom>
              <a:avLst/>
              <a:gdLst/>
              <a:ahLst/>
              <a:cxnLst/>
              <a:rect l="l" t="t" r="r" b="b"/>
              <a:pathLst>
                <a:path w="711835" h="1123314">
                  <a:moveTo>
                    <a:pt x="711720" y="0"/>
                  </a:moveTo>
                  <a:lnTo>
                    <a:pt x="0" y="1123238"/>
                  </a:lnTo>
                </a:path>
              </a:pathLst>
            </a:custGeom>
            <a:ln w="28955">
              <a:solidFill>
                <a:srgbClr val="C00000"/>
              </a:solidFill>
            </a:ln>
          </p:spPr>
          <p:txBody>
            <a:bodyPr wrap="square" lIns="0" tIns="0" rIns="0" bIns="0" rtlCol="0"/>
            <a:lstStyle/>
            <a:p>
              <a:endParaRPr sz="1227"/>
            </a:p>
          </p:txBody>
        </p:sp>
        <p:sp>
          <p:nvSpPr>
            <p:cNvPr id="13" name="object 13"/>
            <p:cNvSpPr/>
            <p:nvPr/>
          </p:nvSpPr>
          <p:spPr>
            <a:xfrm>
              <a:off x="4351019" y="2205991"/>
              <a:ext cx="1310005" cy="0"/>
            </a:xfrm>
            <a:custGeom>
              <a:avLst/>
              <a:gdLst/>
              <a:ahLst/>
              <a:cxnLst/>
              <a:rect l="l" t="t" r="r" b="b"/>
              <a:pathLst>
                <a:path w="1310004">
                  <a:moveTo>
                    <a:pt x="0" y="0"/>
                  </a:moveTo>
                  <a:lnTo>
                    <a:pt x="1309738" y="0"/>
                  </a:lnTo>
                </a:path>
              </a:pathLst>
            </a:custGeom>
            <a:ln w="28956">
              <a:solidFill>
                <a:srgbClr val="C00000"/>
              </a:solidFill>
            </a:ln>
          </p:spPr>
          <p:txBody>
            <a:bodyPr wrap="square" lIns="0" tIns="0" rIns="0" bIns="0" rtlCol="0"/>
            <a:lstStyle/>
            <a:p>
              <a:endParaRPr sz="1227"/>
            </a:p>
          </p:txBody>
        </p:sp>
        <p:sp>
          <p:nvSpPr>
            <p:cNvPr id="14" name="object 14"/>
            <p:cNvSpPr/>
            <p:nvPr/>
          </p:nvSpPr>
          <p:spPr>
            <a:xfrm>
              <a:off x="1606677" y="5323713"/>
              <a:ext cx="4434205" cy="1905"/>
            </a:xfrm>
            <a:custGeom>
              <a:avLst/>
              <a:gdLst/>
              <a:ahLst/>
              <a:cxnLst/>
              <a:rect l="l" t="t" r="r" b="b"/>
              <a:pathLst>
                <a:path w="4434205" h="1904">
                  <a:moveTo>
                    <a:pt x="0" y="0"/>
                  </a:moveTo>
                  <a:lnTo>
                    <a:pt x="4434078" y="1574"/>
                  </a:lnTo>
                </a:path>
              </a:pathLst>
            </a:custGeom>
            <a:ln w="19050">
              <a:solidFill>
                <a:srgbClr val="000000"/>
              </a:solidFill>
            </a:ln>
          </p:spPr>
          <p:txBody>
            <a:bodyPr wrap="square" lIns="0" tIns="0" rIns="0" bIns="0" rtlCol="0"/>
            <a:lstStyle/>
            <a:p>
              <a:endParaRPr sz="1227"/>
            </a:p>
          </p:txBody>
        </p:sp>
        <p:sp>
          <p:nvSpPr>
            <p:cNvPr id="15" name="object 15"/>
            <p:cNvSpPr/>
            <p:nvPr/>
          </p:nvSpPr>
          <p:spPr>
            <a:xfrm>
              <a:off x="5964534" y="5280812"/>
              <a:ext cx="76835" cy="88900"/>
            </a:xfrm>
            <a:custGeom>
              <a:avLst/>
              <a:gdLst/>
              <a:ahLst/>
              <a:cxnLst/>
              <a:rect l="l" t="t" r="r" b="b"/>
              <a:pathLst>
                <a:path w="76835" h="88900">
                  <a:moveTo>
                    <a:pt x="38" y="0"/>
                  </a:moveTo>
                  <a:lnTo>
                    <a:pt x="76225" y="44475"/>
                  </a:lnTo>
                  <a:lnTo>
                    <a:pt x="0" y="88899"/>
                  </a:lnTo>
                </a:path>
              </a:pathLst>
            </a:custGeom>
            <a:ln w="19050">
              <a:solidFill>
                <a:srgbClr val="000000"/>
              </a:solidFill>
            </a:ln>
          </p:spPr>
          <p:txBody>
            <a:bodyPr wrap="square" lIns="0" tIns="0" rIns="0" bIns="0" rtlCol="0"/>
            <a:lstStyle/>
            <a:p>
              <a:endParaRPr sz="1227"/>
            </a:p>
          </p:txBody>
        </p:sp>
        <p:sp>
          <p:nvSpPr>
            <p:cNvPr id="16" name="object 16"/>
            <p:cNvSpPr/>
            <p:nvPr/>
          </p:nvSpPr>
          <p:spPr>
            <a:xfrm>
              <a:off x="1606677" y="3717225"/>
              <a:ext cx="1905" cy="1595755"/>
            </a:xfrm>
            <a:custGeom>
              <a:avLst/>
              <a:gdLst/>
              <a:ahLst/>
              <a:cxnLst/>
              <a:rect l="l" t="t" r="r" b="b"/>
              <a:pathLst>
                <a:path w="1905" h="1595754">
                  <a:moveTo>
                    <a:pt x="0" y="1595627"/>
                  </a:moveTo>
                  <a:lnTo>
                    <a:pt x="1574" y="0"/>
                  </a:lnTo>
                </a:path>
              </a:pathLst>
            </a:custGeom>
            <a:ln w="19050">
              <a:solidFill>
                <a:srgbClr val="000000"/>
              </a:solidFill>
            </a:ln>
          </p:spPr>
          <p:txBody>
            <a:bodyPr wrap="square" lIns="0" tIns="0" rIns="0" bIns="0" rtlCol="0"/>
            <a:lstStyle/>
            <a:p>
              <a:endParaRPr sz="1227"/>
            </a:p>
          </p:txBody>
        </p:sp>
        <p:sp>
          <p:nvSpPr>
            <p:cNvPr id="17" name="object 17"/>
            <p:cNvSpPr/>
            <p:nvPr/>
          </p:nvSpPr>
          <p:spPr>
            <a:xfrm>
              <a:off x="1563718" y="3717230"/>
              <a:ext cx="88900" cy="76835"/>
            </a:xfrm>
            <a:custGeom>
              <a:avLst/>
              <a:gdLst/>
              <a:ahLst/>
              <a:cxnLst/>
              <a:rect l="l" t="t" r="r" b="b"/>
              <a:pathLst>
                <a:path w="88900" h="76835">
                  <a:moveTo>
                    <a:pt x="0" y="76149"/>
                  </a:moveTo>
                  <a:lnTo>
                    <a:pt x="44526" y="0"/>
                  </a:lnTo>
                  <a:lnTo>
                    <a:pt x="88900" y="76238"/>
                  </a:lnTo>
                </a:path>
              </a:pathLst>
            </a:custGeom>
            <a:ln w="19050">
              <a:solidFill>
                <a:srgbClr val="000000"/>
              </a:solidFill>
            </a:ln>
          </p:spPr>
          <p:txBody>
            <a:bodyPr wrap="square" lIns="0" tIns="0" rIns="0" bIns="0" rtlCol="0"/>
            <a:lstStyle/>
            <a:p>
              <a:endParaRPr sz="1227"/>
            </a:p>
          </p:txBody>
        </p:sp>
      </p:grpSp>
      <p:sp>
        <p:nvSpPr>
          <p:cNvPr id="18" name="object 18"/>
          <p:cNvSpPr txBox="1"/>
          <p:nvPr/>
        </p:nvSpPr>
        <p:spPr>
          <a:xfrm>
            <a:off x="2083963" y="3370226"/>
            <a:ext cx="2128838" cy="393027"/>
          </a:xfrm>
          <a:prstGeom prst="rect">
            <a:avLst/>
          </a:prstGeom>
        </p:spPr>
        <p:txBody>
          <a:bodyPr vert="horz" wrap="square" lIns="0" tIns="8226" rIns="0" bIns="0" rtlCol="0">
            <a:spAutoFit/>
          </a:bodyPr>
          <a:lstStyle/>
          <a:p>
            <a:pPr marL="571485">
              <a:lnSpc>
                <a:spcPts val="1486"/>
              </a:lnSpc>
              <a:spcBef>
                <a:spcPts val="65"/>
              </a:spcBef>
            </a:pPr>
            <a:r>
              <a:rPr sz="2045" spc="-10" baseline="13888" dirty="0">
                <a:solidFill>
                  <a:srgbClr val="C00000"/>
                </a:solidFill>
                <a:latin typeface="Verdana"/>
                <a:cs typeface="Verdana"/>
              </a:rPr>
              <a:t>t</a:t>
            </a:r>
            <a:r>
              <a:rPr sz="886" spc="-7" dirty="0">
                <a:solidFill>
                  <a:srgbClr val="C00000"/>
                </a:solidFill>
                <a:latin typeface="Verdana"/>
                <a:cs typeface="Verdana"/>
              </a:rPr>
              <a:t>settle</a:t>
            </a:r>
            <a:endParaRPr sz="886">
              <a:latin typeface="Verdana"/>
              <a:cs typeface="Verdana"/>
            </a:endParaRPr>
          </a:p>
          <a:p>
            <a:pPr marL="1685880">
              <a:lnSpc>
                <a:spcPts val="1486"/>
              </a:lnSpc>
            </a:pPr>
            <a:r>
              <a:rPr sz="1364" spc="-14" dirty="0">
                <a:latin typeface="Verdana"/>
                <a:cs typeface="Verdana"/>
              </a:rPr>
              <a:t>Time</a:t>
            </a:r>
            <a:endParaRPr sz="1364">
              <a:latin typeface="Verdana"/>
              <a:cs typeface="Verdana"/>
            </a:endParaRPr>
          </a:p>
        </p:txBody>
      </p:sp>
      <p:sp>
        <p:nvSpPr>
          <p:cNvPr id="19" name="object 19"/>
          <p:cNvSpPr txBox="1"/>
          <p:nvPr/>
        </p:nvSpPr>
        <p:spPr>
          <a:xfrm>
            <a:off x="332577" y="3011726"/>
            <a:ext cx="358919" cy="218107"/>
          </a:xfrm>
          <a:prstGeom prst="rect">
            <a:avLst/>
          </a:prstGeom>
        </p:spPr>
        <p:txBody>
          <a:bodyPr vert="horz" wrap="square" lIns="0" tIns="8226" rIns="0" bIns="0" rtlCol="0">
            <a:spAutoFit/>
          </a:bodyPr>
          <a:lstStyle/>
          <a:p>
            <a:pPr marL="25977">
              <a:spcBef>
                <a:spcPts val="65"/>
              </a:spcBef>
            </a:pPr>
            <a:r>
              <a:rPr sz="2045" spc="-20" baseline="13888" dirty="0">
                <a:latin typeface="Verdana"/>
                <a:cs typeface="Verdana"/>
              </a:rPr>
              <a:t>V</a:t>
            </a:r>
            <a:r>
              <a:rPr sz="886" spc="-14" dirty="0">
                <a:latin typeface="Verdana"/>
                <a:cs typeface="Verdana"/>
              </a:rPr>
              <a:t>out</a:t>
            </a:r>
            <a:endParaRPr sz="886">
              <a:latin typeface="Verdana"/>
              <a:cs typeface="Verdana"/>
            </a:endParaRPr>
          </a:p>
        </p:txBody>
      </p:sp>
      <p:grpSp>
        <p:nvGrpSpPr>
          <p:cNvPr id="20" name="object 20"/>
          <p:cNvGrpSpPr/>
          <p:nvPr/>
        </p:nvGrpSpPr>
        <p:grpSpPr>
          <a:xfrm>
            <a:off x="674946" y="1291359"/>
            <a:ext cx="3176155" cy="2395537"/>
            <a:chOff x="1591055" y="1828800"/>
            <a:chExt cx="4658360" cy="3513454"/>
          </a:xfrm>
        </p:grpSpPr>
        <p:sp>
          <p:nvSpPr>
            <p:cNvPr id="21" name="object 21"/>
            <p:cNvSpPr/>
            <p:nvPr/>
          </p:nvSpPr>
          <p:spPr>
            <a:xfrm>
              <a:off x="1605533" y="4259578"/>
              <a:ext cx="2016125" cy="1905"/>
            </a:xfrm>
            <a:custGeom>
              <a:avLst/>
              <a:gdLst/>
              <a:ahLst/>
              <a:cxnLst/>
              <a:rect l="l" t="t" r="r" b="b"/>
              <a:pathLst>
                <a:path w="2016125" h="1904">
                  <a:moveTo>
                    <a:pt x="0" y="1587"/>
                  </a:moveTo>
                  <a:lnTo>
                    <a:pt x="2016125" y="0"/>
                  </a:lnTo>
                </a:path>
              </a:pathLst>
            </a:custGeom>
            <a:ln w="28956">
              <a:solidFill>
                <a:srgbClr val="0000FF"/>
              </a:solidFill>
            </a:ln>
          </p:spPr>
          <p:txBody>
            <a:bodyPr wrap="square" lIns="0" tIns="0" rIns="0" bIns="0" rtlCol="0"/>
            <a:lstStyle/>
            <a:p>
              <a:endParaRPr sz="1227"/>
            </a:p>
          </p:txBody>
        </p:sp>
        <p:sp>
          <p:nvSpPr>
            <p:cNvPr id="22" name="object 22"/>
            <p:cNvSpPr/>
            <p:nvPr/>
          </p:nvSpPr>
          <p:spPr>
            <a:xfrm>
              <a:off x="3615689" y="3342138"/>
              <a:ext cx="2016125" cy="1905"/>
            </a:xfrm>
            <a:custGeom>
              <a:avLst/>
              <a:gdLst/>
              <a:ahLst/>
              <a:cxnLst/>
              <a:rect l="l" t="t" r="r" b="b"/>
              <a:pathLst>
                <a:path w="2016125" h="1904">
                  <a:moveTo>
                    <a:pt x="0" y="1739"/>
                  </a:moveTo>
                  <a:lnTo>
                    <a:pt x="2016125" y="0"/>
                  </a:lnTo>
                </a:path>
              </a:pathLst>
            </a:custGeom>
            <a:ln w="28956">
              <a:solidFill>
                <a:srgbClr val="C00000"/>
              </a:solidFill>
              <a:prstDash val="sysDash"/>
            </a:ln>
          </p:spPr>
          <p:txBody>
            <a:bodyPr wrap="square" lIns="0" tIns="0" rIns="0" bIns="0" rtlCol="0"/>
            <a:lstStyle/>
            <a:p>
              <a:endParaRPr sz="1227"/>
            </a:p>
          </p:txBody>
        </p:sp>
        <p:sp>
          <p:nvSpPr>
            <p:cNvPr id="23" name="object 23"/>
            <p:cNvSpPr/>
            <p:nvPr/>
          </p:nvSpPr>
          <p:spPr>
            <a:xfrm>
              <a:off x="5931408" y="4247391"/>
              <a:ext cx="156845" cy="1270"/>
            </a:xfrm>
            <a:custGeom>
              <a:avLst/>
              <a:gdLst/>
              <a:ahLst/>
              <a:cxnLst/>
              <a:rect l="l" t="t" r="r" b="b"/>
              <a:pathLst>
                <a:path w="156845" h="1270">
                  <a:moveTo>
                    <a:pt x="0" y="965"/>
                  </a:moveTo>
                  <a:lnTo>
                    <a:pt x="156806" y="0"/>
                  </a:lnTo>
                </a:path>
              </a:pathLst>
            </a:custGeom>
            <a:ln w="28956">
              <a:solidFill>
                <a:srgbClr val="0000FF"/>
              </a:solidFill>
            </a:ln>
          </p:spPr>
          <p:txBody>
            <a:bodyPr wrap="square" lIns="0" tIns="0" rIns="0" bIns="0" rtlCol="0"/>
            <a:lstStyle/>
            <a:p>
              <a:endParaRPr sz="1227"/>
            </a:p>
          </p:txBody>
        </p:sp>
        <p:sp>
          <p:nvSpPr>
            <p:cNvPr id="24" name="object 24"/>
            <p:cNvSpPr/>
            <p:nvPr/>
          </p:nvSpPr>
          <p:spPr>
            <a:xfrm>
              <a:off x="3619500" y="4036159"/>
              <a:ext cx="2312035" cy="682625"/>
            </a:xfrm>
            <a:custGeom>
              <a:avLst/>
              <a:gdLst/>
              <a:ahLst/>
              <a:cxnLst/>
              <a:rect l="l" t="t" r="r" b="b"/>
              <a:pathLst>
                <a:path w="2312035" h="682625">
                  <a:moveTo>
                    <a:pt x="0" y="226384"/>
                  </a:moveTo>
                  <a:lnTo>
                    <a:pt x="33806" y="272138"/>
                  </a:lnTo>
                  <a:lnTo>
                    <a:pt x="67655" y="317480"/>
                  </a:lnTo>
                  <a:lnTo>
                    <a:pt x="101591" y="361998"/>
                  </a:lnTo>
                  <a:lnTo>
                    <a:pt x="135656" y="405282"/>
                  </a:lnTo>
                  <a:lnTo>
                    <a:pt x="169893" y="446918"/>
                  </a:lnTo>
                  <a:lnTo>
                    <a:pt x="204346" y="486496"/>
                  </a:lnTo>
                  <a:lnTo>
                    <a:pt x="239058" y="523603"/>
                  </a:lnTo>
                  <a:lnTo>
                    <a:pt x="274072" y="557829"/>
                  </a:lnTo>
                  <a:lnTo>
                    <a:pt x="309431" y="588760"/>
                  </a:lnTo>
                  <a:lnTo>
                    <a:pt x="345179" y="615986"/>
                  </a:lnTo>
                  <a:lnTo>
                    <a:pt x="381358" y="639094"/>
                  </a:lnTo>
                  <a:lnTo>
                    <a:pt x="418012" y="657674"/>
                  </a:lnTo>
                  <a:lnTo>
                    <a:pt x="455185" y="671312"/>
                  </a:lnTo>
                  <a:lnTo>
                    <a:pt x="492918" y="679598"/>
                  </a:lnTo>
                  <a:lnTo>
                    <a:pt x="531256" y="682120"/>
                  </a:lnTo>
                  <a:lnTo>
                    <a:pt x="570242" y="678466"/>
                  </a:lnTo>
                  <a:lnTo>
                    <a:pt x="630881" y="654218"/>
                  </a:lnTo>
                  <a:lnTo>
                    <a:pt x="692883" y="606083"/>
                  </a:lnTo>
                  <a:lnTo>
                    <a:pt x="724358" y="574770"/>
                  </a:lnTo>
                  <a:lnTo>
                    <a:pt x="756129" y="539538"/>
                  </a:lnTo>
                  <a:lnTo>
                    <a:pt x="788183" y="501072"/>
                  </a:lnTo>
                  <a:lnTo>
                    <a:pt x="820504" y="460057"/>
                  </a:lnTo>
                  <a:lnTo>
                    <a:pt x="853078" y="417176"/>
                  </a:lnTo>
                  <a:lnTo>
                    <a:pt x="885890" y="373116"/>
                  </a:lnTo>
                  <a:lnTo>
                    <a:pt x="918925" y="328559"/>
                  </a:lnTo>
                  <a:lnTo>
                    <a:pt x="952169" y="284191"/>
                  </a:lnTo>
                  <a:lnTo>
                    <a:pt x="985607" y="240696"/>
                  </a:lnTo>
                  <a:lnTo>
                    <a:pt x="1019225" y="198758"/>
                  </a:lnTo>
                  <a:lnTo>
                    <a:pt x="1053007" y="159062"/>
                  </a:lnTo>
                  <a:lnTo>
                    <a:pt x="1086940" y="122292"/>
                  </a:lnTo>
                  <a:lnTo>
                    <a:pt x="1121008" y="89133"/>
                  </a:lnTo>
                  <a:lnTo>
                    <a:pt x="1155196" y="60269"/>
                  </a:lnTo>
                  <a:lnTo>
                    <a:pt x="1189491" y="36385"/>
                  </a:lnTo>
                  <a:lnTo>
                    <a:pt x="1223878" y="18164"/>
                  </a:lnTo>
                  <a:lnTo>
                    <a:pt x="1299485" y="0"/>
                  </a:lnTo>
                  <a:lnTo>
                    <a:pt x="1342243" y="399"/>
                  </a:lnTo>
                  <a:lnTo>
                    <a:pt x="1386338" y="6763"/>
                  </a:lnTo>
                  <a:lnTo>
                    <a:pt x="1431490" y="18364"/>
                  </a:lnTo>
                  <a:lnTo>
                    <a:pt x="1477423" y="34473"/>
                  </a:lnTo>
                  <a:lnTo>
                    <a:pt x="1523858" y="54361"/>
                  </a:lnTo>
                  <a:lnTo>
                    <a:pt x="1570518" y="77301"/>
                  </a:lnTo>
                  <a:lnTo>
                    <a:pt x="1617123" y="102564"/>
                  </a:lnTo>
                  <a:lnTo>
                    <a:pt x="1663396" y="129423"/>
                  </a:lnTo>
                  <a:lnTo>
                    <a:pt x="1709060" y="157148"/>
                  </a:lnTo>
                  <a:lnTo>
                    <a:pt x="1753835" y="185011"/>
                  </a:lnTo>
                  <a:lnTo>
                    <a:pt x="1797445" y="212284"/>
                  </a:lnTo>
                  <a:lnTo>
                    <a:pt x="1839610" y="238239"/>
                  </a:lnTo>
                  <a:lnTo>
                    <a:pt x="1880053" y="262148"/>
                  </a:lnTo>
                  <a:lnTo>
                    <a:pt x="1918497" y="283282"/>
                  </a:lnTo>
                  <a:lnTo>
                    <a:pt x="1954662" y="300912"/>
                  </a:lnTo>
                  <a:lnTo>
                    <a:pt x="2019045" y="322752"/>
                  </a:lnTo>
                  <a:lnTo>
                    <a:pt x="2087483" y="331226"/>
                  </a:lnTo>
                  <a:lnTo>
                    <a:pt x="2143643" y="328494"/>
                  </a:lnTo>
                  <a:lnTo>
                    <a:pt x="2189572" y="316423"/>
                  </a:lnTo>
                  <a:lnTo>
                    <a:pt x="2227316" y="296880"/>
                  </a:lnTo>
                  <a:lnTo>
                    <a:pt x="2258923" y="271735"/>
                  </a:lnTo>
                  <a:lnTo>
                    <a:pt x="2286438" y="242856"/>
                  </a:lnTo>
                  <a:lnTo>
                    <a:pt x="2311908" y="212109"/>
                  </a:lnTo>
                </a:path>
              </a:pathLst>
            </a:custGeom>
            <a:ln w="28956">
              <a:solidFill>
                <a:srgbClr val="0000FF"/>
              </a:solidFill>
            </a:ln>
          </p:spPr>
          <p:txBody>
            <a:bodyPr wrap="square" lIns="0" tIns="0" rIns="0" bIns="0" rtlCol="0"/>
            <a:lstStyle/>
            <a:p>
              <a:endParaRPr sz="1227"/>
            </a:p>
          </p:txBody>
        </p:sp>
        <p:sp>
          <p:nvSpPr>
            <p:cNvPr id="25" name="object 25"/>
            <p:cNvSpPr/>
            <p:nvPr/>
          </p:nvSpPr>
          <p:spPr>
            <a:xfrm>
              <a:off x="3619500" y="4329682"/>
              <a:ext cx="2311400" cy="15240"/>
            </a:xfrm>
            <a:custGeom>
              <a:avLst/>
              <a:gdLst/>
              <a:ahLst/>
              <a:cxnLst/>
              <a:rect l="l" t="t" r="r" b="b"/>
              <a:pathLst>
                <a:path w="2311400" h="15239">
                  <a:moveTo>
                    <a:pt x="0" y="14643"/>
                  </a:moveTo>
                  <a:lnTo>
                    <a:pt x="2310777" y="0"/>
                  </a:lnTo>
                </a:path>
              </a:pathLst>
            </a:custGeom>
            <a:ln w="28956">
              <a:solidFill>
                <a:srgbClr val="0000FF"/>
              </a:solidFill>
              <a:prstDash val="sysDash"/>
            </a:ln>
          </p:spPr>
          <p:txBody>
            <a:bodyPr wrap="square" lIns="0" tIns="0" rIns="0" bIns="0" rtlCol="0"/>
            <a:lstStyle/>
            <a:p>
              <a:endParaRPr sz="1227"/>
            </a:p>
          </p:txBody>
        </p:sp>
        <p:sp>
          <p:nvSpPr>
            <p:cNvPr id="26" name="object 26"/>
            <p:cNvSpPr/>
            <p:nvPr/>
          </p:nvSpPr>
          <p:spPr>
            <a:xfrm>
              <a:off x="3619500" y="4164328"/>
              <a:ext cx="2311400" cy="15240"/>
            </a:xfrm>
            <a:custGeom>
              <a:avLst/>
              <a:gdLst/>
              <a:ahLst/>
              <a:cxnLst/>
              <a:rect l="l" t="t" r="r" b="b"/>
              <a:pathLst>
                <a:path w="2311400" h="15239">
                  <a:moveTo>
                    <a:pt x="0" y="14643"/>
                  </a:moveTo>
                  <a:lnTo>
                    <a:pt x="2310777" y="0"/>
                  </a:lnTo>
                </a:path>
              </a:pathLst>
            </a:custGeom>
            <a:ln w="28956">
              <a:solidFill>
                <a:srgbClr val="0000FF"/>
              </a:solidFill>
              <a:prstDash val="sysDash"/>
            </a:ln>
          </p:spPr>
          <p:txBody>
            <a:bodyPr wrap="square" lIns="0" tIns="0" rIns="0" bIns="0" rtlCol="0"/>
            <a:lstStyle/>
            <a:p>
              <a:endParaRPr sz="1227"/>
            </a:p>
          </p:txBody>
        </p:sp>
        <p:sp>
          <p:nvSpPr>
            <p:cNvPr id="27" name="object 27"/>
            <p:cNvSpPr/>
            <p:nvPr/>
          </p:nvSpPr>
          <p:spPr>
            <a:xfrm>
              <a:off x="3679698" y="3995921"/>
              <a:ext cx="1905" cy="1332230"/>
            </a:xfrm>
            <a:custGeom>
              <a:avLst/>
              <a:gdLst/>
              <a:ahLst/>
              <a:cxnLst/>
              <a:rect l="l" t="t" r="r" b="b"/>
              <a:pathLst>
                <a:path w="1904" h="1332229">
                  <a:moveTo>
                    <a:pt x="0" y="1331722"/>
                  </a:moveTo>
                  <a:lnTo>
                    <a:pt x="1536" y="0"/>
                  </a:lnTo>
                </a:path>
              </a:pathLst>
            </a:custGeom>
            <a:ln w="28956">
              <a:solidFill>
                <a:srgbClr val="C00000"/>
              </a:solidFill>
              <a:prstDash val="sysDash"/>
            </a:ln>
          </p:spPr>
          <p:txBody>
            <a:bodyPr wrap="square" lIns="0" tIns="0" rIns="0" bIns="0" rtlCol="0"/>
            <a:lstStyle/>
            <a:p>
              <a:endParaRPr sz="1227"/>
            </a:p>
          </p:txBody>
        </p:sp>
        <p:sp>
          <p:nvSpPr>
            <p:cNvPr id="28" name="object 28"/>
            <p:cNvSpPr/>
            <p:nvPr/>
          </p:nvSpPr>
          <p:spPr>
            <a:xfrm>
              <a:off x="5878067" y="3988301"/>
              <a:ext cx="1905" cy="1332230"/>
            </a:xfrm>
            <a:custGeom>
              <a:avLst/>
              <a:gdLst/>
              <a:ahLst/>
              <a:cxnLst/>
              <a:rect l="l" t="t" r="r" b="b"/>
              <a:pathLst>
                <a:path w="1904" h="1332229">
                  <a:moveTo>
                    <a:pt x="0" y="1331722"/>
                  </a:moveTo>
                  <a:lnTo>
                    <a:pt x="1536" y="0"/>
                  </a:lnTo>
                </a:path>
              </a:pathLst>
            </a:custGeom>
            <a:ln w="28956">
              <a:solidFill>
                <a:srgbClr val="C00000"/>
              </a:solidFill>
              <a:prstDash val="sysDash"/>
            </a:ln>
          </p:spPr>
          <p:txBody>
            <a:bodyPr wrap="square" lIns="0" tIns="0" rIns="0" bIns="0" rtlCol="0"/>
            <a:lstStyle/>
            <a:p>
              <a:endParaRPr sz="1227"/>
            </a:p>
          </p:txBody>
        </p:sp>
        <p:sp>
          <p:nvSpPr>
            <p:cNvPr id="29" name="object 29"/>
            <p:cNvSpPr/>
            <p:nvPr/>
          </p:nvSpPr>
          <p:spPr>
            <a:xfrm>
              <a:off x="3335654" y="4990719"/>
              <a:ext cx="348615" cy="189230"/>
            </a:xfrm>
            <a:custGeom>
              <a:avLst/>
              <a:gdLst/>
              <a:ahLst/>
              <a:cxnLst/>
              <a:rect l="l" t="t" r="r" b="b"/>
              <a:pathLst>
                <a:path w="348614" h="189229">
                  <a:moveTo>
                    <a:pt x="0" y="47243"/>
                  </a:moveTo>
                  <a:lnTo>
                    <a:pt x="253898" y="47243"/>
                  </a:lnTo>
                  <a:lnTo>
                    <a:pt x="253898" y="0"/>
                  </a:lnTo>
                  <a:lnTo>
                    <a:pt x="348234" y="94487"/>
                  </a:lnTo>
                  <a:lnTo>
                    <a:pt x="253898" y="188975"/>
                  </a:lnTo>
                  <a:lnTo>
                    <a:pt x="253898" y="141731"/>
                  </a:lnTo>
                  <a:lnTo>
                    <a:pt x="0" y="141731"/>
                  </a:lnTo>
                  <a:lnTo>
                    <a:pt x="0" y="47243"/>
                  </a:lnTo>
                  <a:close/>
                </a:path>
              </a:pathLst>
            </a:custGeom>
            <a:ln w="19049">
              <a:solidFill>
                <a:srgbClr val="C00000"/>
              </a:solidFill>
            </a:ln>
          </p:spPr>
          <p:txBody>
            <a:bodyPr wrap="square" lIns="0" tIns="0" rIns="0" bIns="0" rtlCol="0"/>
            <a:lstStyle/>
            <a:p>
              <a:endParaRPr sz="1227"/>
            </a:p>
          </p:txBody>
        </p:sp>
        <p:sp>
          <p:nvSpPr>
            <p:cNvPr id="30" name="object 30"/>
            <p:cNvSpPr/>
            <p:nvPr/>
          </p:nvSpPr>
          <p:spPr>
            <a:xfrm>
              <a:off x="5892165" y="4985385"/>
              <a:ext cx="347980" cy="189230"/>
            </a:xfrm>
            <a:custGeom>
              <a:avLst/>
              <a:gdLst/>
              <a:ahLst/>
              <a:cxnLst/>
              <a:rect l="l" t="t" r="r" b="b"/>
              <a:pathLst>
                <a:path w="347979" h="189229">
                  <a:moveTo>
                    <a:pt x="347472" y="141731"/>
                  </a:moveTo>
                  <a:lnTo>
                    <a:pt x="94335" y="141731"/>
                  </a:lnTo>
                  <a:lnTo>
                    <a:pt x="94335" y="188975"/>
                  </a:lnTo>
                  <a:lnTo>
                    <a:pt x="0" y="94487"/>
                  </a:lnTo>
                  <a:lnTo>
                    <a:pt x="94335" y="0"/>
                  </a:lnTo>
                  <a:lnTo>
                    <a:pt x="94335" y="47243"/>
                  </a:lnTo>
                  <a:lnTo>
                    <a:pt x="347472" y="47243"/>
                  </a:lnTo>
                  <a:lnTo>
                    <a:pt x="347472" y="141731"/>
                  </a:lnTo>
                  <a:close/>
                </a:path>
              </a:pathLst>
            </a:custGeom>
            <a:ln w="19049">
              <a:solidFill>
                <a:srgbClr val="C00000"/>
              </a:solidFill>
            </a:ln>
          </p:spPr>
          <p:txBody>
            <a:bodyPr wrap="square" lIns="0" tIns="0" rIns="0" bIns="0" rtlCol="0"/>
            <a:lstStyle/>
            <a:p>
              <a:endParaRPr sz="1227"/>
            </a:p>
          </p:txBody>
        </p:sp>
        <p:sp>
          <p:nvSpPr>
            <p:cNvPr id="31" name="object 31"/>
            <p:cNvSpPr/>
            <p:nvPr/>
          </p:nvSpPr>
          <p:spPr>
            <a:xfrm>
              <a:off x="4968621" y="1838325"/>
              <a:ext cx="189230" cy="347980"/>
            </a:xfrm>
            <a:custGeom>
              <a:avLst/>
              <a:gdLst/>
              <a:ahLst/>
              <a:cxnLst/>
              <a:rect l="l" t="t" r="r" b="b"/>
              <a:pathLst>
                <a:path w="189229" h="347980">
                  <a:moveTo>
                    <a:pt x="141732" y="0"/>
                  </a:moveTo>
                  <a:lnTo>
                    <a:pt x="141732" y="253136"/>
                  </a:lnTo>
                  <a:lnTo>
                    <a:pt x="188976" y="253136"/>
                  </a:lnTo>
                  <a:lnTo>
                    <a:pt x="94488" y="347472"/>
                  </a:lnTo>
                  <a:lnTo>
                    <a:pt x="0" y="253136"/>
                  </a:lnTo>
                  <a:lnTo>
                    <a:pt x="47244" y="253136"/>
                  </a:lnTo>
                  <a:lnTo>
                    <a:pt x="47244" y="0"/>
                  </a:lnTo>
                  <a:lnTo>
                    <a:pt x="141732" y="0"/>
                  </a:lnTo>
                  <a:close/>
                </a:path>
              </a:pathLst>
            </a:custGeom>
            <a:ln w="19049">
              <a:solidFill>
                <a:srgbClr val="C00000"/>
              </a:solidFill>
            </a:ln>
          </p:spPr>
          <p:txBody>
            <a:bodyPr wrap="square" lIns="0" tIns="0" rIns="0" bIns="0" rtlCol="0"/>
            <a:lstStyle/>
            <a:p>
              <a:endParaRPr sz="1227"/>
            </a:p>
          </p:txBody>
        </p:sp>
        <p:sp>
          <p:nvSpPr>
            <p:cNvPr id="32" name="object 32"/>
            <p:cNvSpPr/>
            <p:nvPr/>
          </p:nvSpPr>
          <p:spPr>
            <a:xfrm>
              <a:off x="4968621" y="3363086"/>
              <a:ext cx="189230" cy="347980"/>
            </a:xfrm>
            <a:custGeom>
              <a:avLst/>
              <a:gdLst/>
              <a:ahLst/>
              <a:cxnLst/>
              <a:rect l="l" t="t" r="r" b="b"/>
              <a:pathLst>
                <a:path w="189229" h="347979">
                  <a:moveTo>
                    <a:pt x="47244" y="347471"/>
                  </a:moveTo>
                  <a:lnTo>
                    <a:pt x="47244" y="94335"/>
                  </a:lnTo>
                  <a:lnTo>
                    <a:pt x="0" y="94335"/>
                  </a:lnTo>
                  <a:lnTo>
                    <a:pt x="94488" y="0"/>
                  </a:lnTo>
                  <a:lnTo>
                    <a:pt x="188976" y="94335"/>
                  </a:lnTo>
                  <a:lnTo>
                    <a:pt x="141732" y="94335"/>
                  </a:lnTo>
                  <a:lnTo>
                    <a:pt x="141732" y="347471"/>
                  </a:lnTo>
                  <a:lnTo>
                    <a:pt x="47244" y="347471"/>
                  </a:lnTo>
                  <a:close/>
                </a:path>
              </a:pathLst>
            </a:custGeom>
            <a:ln w="19049">
              <a:solidFill>
                <a:srgbClr val="C00000"/>
              </a:solidFill>
            </a:ln>
          </p:spPr>
          <p:txBody>
            <a:bodyPr wrap="square" lIns="0" tIns="0" rIns="0" bIns="0" rtlCol="0"/>
            <a:lstStyle/>
            <a:p>
              <a:endParaRPr sz="1227"/>
            </a:p>
          </p:txBody>
        </p:sp>
      </p:grpSp>
      <p:sp>
        <p:nvSpPr>
          <p:cNvPr id="33" name="object 33"/>
          <p:cNvSpPr txBox="1"/>
          <p:nvPr/>
        </p:nvSpPr>
        <p:spPr>
          <a:xfrm>
            <a:off x="3816378" y="2790053"/>
            <a:ext cx="521710" cy="218236"/>
          </a:xfrm>
          <a:prstGeom prst="rect">
            <a:avLst/>
          </a:prstGeom>
        </p:spPr>
        <p:txBody>
          <a:bodyPr vert="horz" wrap="square" lIns="0" tIns="8226" rIns="0" bIns="0" rtlCol="0">
            <a:spAutoFit/>
          </a:bodyPr>
          <a:lstStyle/>
          <a:p>
            <a:pPr marL="8659">
              <a:spcBef>
                <a:spcPts val="65"/>
              </a:spcBef>
            </a:pPr>
            <a:r>
              <a:rPr sz="1364" dirty="0">
                <a:solidFill>
                  <a:srgbClr val="0000FF"/>
                </a:solidFill>
                <a:latin typeface="Verdana"/>
                <a:cs typeface="Verdana"/>
              </a:rPr>
              <a:t>1</a:t>
            </a:r>
            <a:r>
              <a:rPr sz="1364" spc="-10" dirty="0">
                <a:solidFill>
                  <a:srgbClr val="0000FF"/>
                </a:solidFill>
                <a:latin typeface="Verdana"/>
                <a:cs typeface="Verdana"/>
              </a:rPr>
              <a:t> </a:t>
            </a:r>
            <a:r>
              <a:rPr sz="1364" spc="-17" dirty="0">
                <a:solidFill>
                  <a:srgbClr val="0000FF"/>
                </a:solidFill>
                <a:latin typeface="Verdana"/>
                <a:cs typeface="Verdana"/>
              </a:rPr>
              <a:t>LSB</a:t>
            </a:r>
            <a:endParaRPr sz="1364">
              <a:latin typeface="Verdana"/>
              <a:cs typeface="Verdana"/>
            </a:endParaRPr>
          </a:p>
        </p:txBody>
      </p:sp>
      <p:sp>
        <p:nvSpPr>
          <p:cNvPr id="34" name="object 34"/>
          <p:cNvSpPr txBox="1"/>
          <p:nvPr/>
        </p:nvSpPr>
        <p:spPr>
          <a:xfrm>
            <a:off x="490181" y="4347788"/>
            <a:ext cx="2549669" cy="848023"/>
          </a:xfrm>
          <a:prstGeom prst="rect">
            <a:avLst/>
          </a:prstGeom>
        </p:spPr>
        <p:txBody>
          <a:bodyPr vert="horz" wrap="square" lIns="0" tIns="8226" rIns="0" bIns="0" rtlCol="0">
            <a:spAutoFit/>
          </a:bodyPr>
          <a:lstStyle/>
          <a:p>
            <a:pPr marL="346354" marR="29440" indent="-320810">
              <a:spcBef>
                <a:spcPts val="65"/>
              </a:spcBef>
              <a:buClr>
                <a:srgbClr val="CC0000"/>
              </a:buClr>
              <a:buFont typeface="Wingdings"/>
              <a:buChar char=""/>
              <a:tabLst>
                <a:tab pos="346354" algn="l"/>
              </a:tabLst>
            </a:pPr>
            <a:r>
              <a:rPr sz="1364" dirty="0">
                <a:latin typeface="Verdana"/>
                <a:cs typeface="Verdana"/>
              </a:rPr>
              <a:t>Time</a:t>
            </a:r>
            <a:r>
              <a:rPr sz="1364" spc="-7" dirty="0">
                <a:latin typeface="Verdana"/>
                <a:cs typeface="Verdana"/>
              </a:rPr>
              <a:t> </a:t>
            </a:r>
            <a:r>
              <a:rPr sz="1364" dirty="0">
                <a:latin typeface="Verdana"/>
                <a:cs typeface="Verdana"/>
              </a:rPr>
              <a:t>to</a:t>
            </a:r>
            <a:r>
              <a:rPr sz="1364" spc="-17" dirty="0">
                <a:latin typeface="Verdana"/>
                <a:cs typeface="Verdana"/>
              </a:rPr>
              <a:t> </a:t>
            </a:r>
            <a:r>
              <a:rPr sz="1364" dirty="0">
                <a:latin typeface="Verdana"/>
                <a:cs typeface="Verdana"/>
              </a:rPr>
              <a:t>take</a:t>
            </a:r>
            <a:r>
              <a:rPr sz="1364" spc="-14" dirty="0">
                <a:latin typeface="Verdana"/>
                <a:cs typeface="Verdana"/>
              </a:rPr>
              <a:t> </a:t>
            </a:r>
            <a:r>
              <a:rPr sz="1364" dirty="0">
                <a:latin typeface="Verdana"/>
                <a:cs typeface="Verdana"/>
              </a:rPr>
              <a:t>for</a:t>
            </a:r>
            <a:r>
              <a:rPr sz="1364" spc="-24" dirty="0">
                <a:latin typeface="Verdana"/>
                <a:cs typeface="Verdana"/>
              </a:rPr>
              <a:t> </a:t>
            </a:r>
            <a:r>
              <a:rPr sz="1364" dirty="0">
                <a:latin typeface="Verdana"/>
                <a:cs typeface="Verdana"/>
              </a:rPr>
              <a:t>V</a:t>
            </a:r>
            <a:r>
              <a:rPr sz="1330" baseline="-21367" dirty="0">
                <a:latin typeface="Verdana"/>
                <a:cs typeface="Verdana"/>
              </a:rPr>
              <a:t>out</a:t>
            </a:r>
            <a:r>
              <a:rPr sz="1330" spc="245" baseline="-21367" dirty="0">
                <a:latin typeface="Verdana"/>
                <a:cs typeface="Verdana"/>
              </a:rPr>
              <a:t> </a:t>
            </a:r>
            <a:r>
              <a:rPr sz="1364" spc="-17" dirty="0">
                <a:latin typeface="Verdana"/>
                <a:cs typeface="Verdana"/>
              </a:rPr>
              <a:t>to </a:t>
            </a:r>
            <a:r>
              <a:rPr sz="1364" dirty="0">
                <a:latin typeface="Verdana"/>
                <a:cs typeface="Verdana"/>
              </a:rPr>
              <a:t>settle</a:t>
            </a:r>
            <a:r>
              <a:rPr sz="1364" spc="-24" dirty="0">
                <a:latin typeface="Verdana"/>
                <a:cs typeface="Verdana"/>
              </a:rPr>
              <a:t> </a:t>
            </a:r>
            <a:r>
              <a:rPr sz="1364" dirty="0">
                <a:latin typeface="Verdana"/>
                <a:cs typeface="Verdana"/>
              </a:rPr>
              <a:t>within</a:t>
            </a:r>
            <a:r>
              <a:rPr sz="1364" spc="-27" dirty="0">
                <a:latin typeface="Verdana"/>
                <a:cs typeface="Verdana"/>
              </a:rPr>
              <a:t> </a:t>
            </a:r>
            <a:r>
              <a:rPr sz="1364" dirty="0">
                <a:latin typeface="Verdana"/>
                <a:cs typeface="Verdana"/>
              </a:rPr>
              <a:t>less</a:t>
            </a:r>
            <a:r>
              <a:rPr sz="1364" spc="-27" dirty="0">
                <a:latin typeface="Verdana"/>
                <a:cs typeface="Verdana"/>
              </a:rPr>
              <a:t> </a:t>
            </a:r>
            <a:r>
              <a:rPr sz="1364" dirty="0">
                <a:latin typeface="Verdana"/>
                <a:cs typeface="Verdana"/>
              </a:rPr>
              <a:t>than</a:t>
            </a:r>
            <a:r>
              <a:rPr sz="1364" spc="-31" dirty="0">
                <a:latin typeface="Verdana"/>
                <a:cs typeface="Verdana"/>
              </a:rPr>
              <a:t> </a:t>
            </a:r>
            <a:r>
              <a:rPr sz="1364" spc="-34" dirty="0">
                <a:latin typeface="Verdana"/>
                <a:cs typeface="Verdana"/>
              </a:rPr>
              <a:t>a </a:t>
            </a:r>
            <a:r>
              <a:rPr sz="1364" dirty="0">
                <a:latin typeface="Verdana"/>
                <a:cs typeface="Verdana"/>
              </a:rPr>
              <a:t>small</a:t>
            </a:r>
            <a:r>
              <a:rPr sz="1364" spc="-14" dirty="0">
                <a:latin typeface="Verdana"/>
                <a:cs typeface="Verdana"/>
              </a:rPr>
              <a:t> </a:t>
            </a:r>
            <a:r>
              <a:rPr sz="1364" dirty="0">
                <a:latin typeface="Verdana"/>
                <a:cs typeface="Verdana"/>
              </a:rPr>
              <a:t>%</a:t>
            </a:r>
            <a:r>
              <a:rPr sz="1364" spc="-20" dirty="0">
                <a:latin typeface="Verdana"/>
                <a:cs typeface="Verdana"/>
              </a:rPr>
              <a:t> </a:t>
            </a:r>
            <a:r>
              <a:rPr sz="1364" dirty="0">
                <a:latin typeface="Verdana"/>
                <a:cs typeface="Verdana"/>
              </a:rPr>
              <a:t>of</a:t>
            </a:r>
            <a:r>
              <a:rPr sz="1364" spc="-20" dirty="0">
                <a:latin typeface="Verdana"/>
                <a:cs typeface="Verdana"/>
              </a:rPr>
              <a:t> </a:t>
            </a:r>
            <a:r>
              <a:rPr sz="1364" dirty="0">
                <a:latin typeface="Verdana"/>
                <a:cs typeface="Verdana"/>
              </a:rPr>
              <a:t>V</a:t>
            </a:r>
            <a:r>
              <a:rPr sz="1330" baseline="-21367" dirty="0">
                <a:latin typeface="Verdana"/>
                <a:cs typeface="Verdana"/>
              </a:rPr>
              <a:t>ref</a:t>
            </a:r>
            <a:r>
              <a:rPr sz="1330" spc="235" baseline="-21367" dirty="0">
                <a:latin typeface="Verdana"/>
                <a:cs typeface="Verdana"/>
              </a:rPr>
              <a:t> </a:t>
            </a:r>
            <a:r>
              <a:rPr sz="1364" dirty="0">
                <a:latin typeface="Verdana"/>
                <a:cs typeface="Verdana"/>
              </a:rPr>
              <a:t>(e.g.,</a:t>
            </a:r>
            <a:r>
              <a:rPr sz="1364" spc="-10" dirty="0">
                <a:latin typeface="Verdana"/>
                <a:cs typeface="Verdana"/>
              </a:rPr>
              <a:t> </a:t>
            </a:r>
            <a:r>
              <a:rPr sz="1364" spc="-17" dirty="0">
                <a:latin typeface="Verdana"/>
                <a:cs typeface="Verdana"/>
              </a:rPr>
              <a:t>+/- </a:t>
            </a:r>
            <a:r>
              <a:rPr sz="1364" spc="-7" dirty="0">
                <a:latin typeface="Verdana"/>
                <a:cs typeface="Verdana"/>
              </a:rPr>
              <a:t>0.5%)</a:t>
            </a:r>
            <a:endParaRPr sz="1364">
              <a:latin typeface="Verdana"/>
              <a:cs typeface="Verdana"/>
            </a:endParaRPr>
          </a:p>
        </p:txBody>
      </p:sp>
      <p:sp>
        <p:nvSpPr>
          <p:cNvPr id="35" name="object 35"/>
          <p:cNvSpPr txBox="1"/>
          <p:nvPr/>
        </p:nvSpPr>
        <p:spPr>
          <a:xfrm>
            <a:off x="507592" y="5469991"/>
            <a:ext cx="2294226" cy="428165"/>
          </a:xfrm>
          <a:prstGeom prst="rect">
            <a:avLst/>
          </a:prstGeom>
        </p:spPr>
        <p:txBody>
          <a:bodyPr vert="horz" wrap="square" lIns="0" tIns="8226" rIns="0" bIns="0" rtlCol="0">
            <a:spAutoFit/>
          </a:bodyPr>
          <a:lstStyle/>
          <a:p>
            <a:pPr marL="329037" marR="3464" indent="-320810">
              <a:spcBef>
                <a:spcPts val="65"/>
              </a:spcBef>
              <a:buClr>
                <a:srgbClr val="CC0000"/>
              </a:buClr>
              <a:buFont typeface="Wingdings"/>
              <a:buChar char=""/>
              <a:tabLst>
                <a:tab pos="329037" algn="l"/>
              </a:tabLst>
            </a:pPr>
            <a:r>
              <a:rPr sz="1364" dirty="0">
                <a:latin typeface="Verdana"/>
                <a:cs typeface="Verdana"/>
              </a:rPr>
              <a:t>The</a:t>
            </a:r>
            <a:r>
              <a:rPr sz="1364" spc="-24" dirty="0">
                <a:latin typeface="Verdana"/>
                <a:cs typeface="Verdana"/>
              </a:rPr>
              <a:t> </a:t>
            </a:r>
            <a:r>
              <a:rPr sz="1364" dirty="0">
                <a:latin typeface="Verdana"/>
                <a:cs typeface="Verdana"/>
              </a:rPr>
              <a:t>output</a:t>
            </a:r>
            <a:r>
              <a:rPr sz="1364" spc="-20" dirty="0">
                <a:latin typeface="Verdana"/>
                <a:cs typeface="Verdana"/>
              </a:rPr>
              <a:t> </a:t>
            </a:r>
            <a:r>
              <a:rPr sz="1364" dirty="0">
                <a:latin typeface="Verdana"/>
                <a:cs typeface="Verdana"/>
              </a:rPr>
              <a:t>can</a:t>
            </a:r>
            <a:r>
              <a:rPr sz="1364" spc="-27" dirty="0">
                <a:latin typeface="Verdana"/>
                <a:cs typeface="Verdana"/>
              </a:rPr>
              <a:t> </a:t>
            </a:r>
            <a:r>
              <a:rPr sz="1364" dirty="0">
                <a:latin typeface="Verdana"/>
                <a:cs typeface="Verdana"/>
              </a:rPr>
              <a:t>have</a:t>
            </a:r>
            <a:r>
              <a:rPr sz="1364" spc="-24" dirty="0">
                <a:latin typeface="Verdana"/>
                <a:cs typeface="Verdana"/>
              </a:rPr>
              <a:t> </a:t>
            </a:r>
            <a:r>
              <a:rPr sz="1364" spc="-34" dirty="0">
                <a:latin typeface="Verdana"/>
                <a:cs typeface="Verdana"/>
              </a:rPr>
              <a:t>a </a:t>
            </a:r>
            <a:r>
              <a:rPr sz="1364" spc="-7" dirty="0">
                <a:latin typeface="Verdana"/>
                <a:cs typeface="Verdana"/>
              </a:rPr>
              <a:t>ripple</a:t>
            </a:r>
            <a:endParaRPr sz="1364">
              <a:latin typeface="Verdana"/>
              <a:cs typeface="Verdana"/>
            </a:endParaRPr>
          </a:p>
        </p:txBody>
      </p:sp>
      <p:sp>
        <p:nvSpPr>
          <p:cNvPr id="36" name="object 36"/>
          <p:cNvSpPr txBox="1"/>
          <p:nvPr/>
        </p:nvSpPr>
        <p:spPr>
          <a:xfrm>
            <a:off x="3090747" y="1295856"/>
            <a:ext cx="780617" cy="218107"/>
          </a:xfrm>
          <a:prstGeom prst="rect">
            <a:avLst/>
          </a:prstGeom>
        </p:spPr>
        <p:txBody>
          <a:bodyPr vert="horz" wrap="square" lIns="0" tIns="8226" rIns="0" bIns="0" rtlCol="0">
            <a:spAutoFit/>
          </a:bodyPr>
          <a:lstStyle/>
          <a:p>
            <a:pPr marL="25977">
              <a:spcBef>
                <a:spcPts val="65"/>
              </a:spcBef>
            </a:pPr>
            <a:r>
              <a:rPr sz="2045" spc="-10" baseline="13888" dirty="0">
                <a:solidFill>
                  <a:srgbClr val="C00000"/>
                </a:solidFill>
                <a:latin typeface="Verdana"/>
                <a:cs typeface="Verdana"/>
              </a:rPr>
              <a:t>ΔI</a:t>
            </a:r>
            <a:r>
              <a:rPr sz="886" spc="-7" dirty="0">
                <a:solidFill>
                  <a:srgbClr val="C00000"/>
                </a:solidFill>
                <a:latin typeface="Verdana"/>
                <a:cs typeface="Verdana"/>
              </a:rPr>
              <a:t>load,max</a:t>
            </a:r>
            <a:endParaRPr sz="886">
              <a:latin typeface="Verdana"/>
              <a:cs typeface="Verdana"/>
            </a:endParaRPr>
          </a:p>
        </p:txBody>
      </p:sp>
      <p:pic>
        <p:nvPicPr>
          <p:cNvPr id="37" name="Picture 36"/>
          <p:cNvPicPr>
            <a:picLocks noChangeAspect="1"/>
          </p:cNvPicPr>
          <p:nvPr/>
        </p:nvPicPr>
        <p:blipFill>
          <a:blip r:embed="rId2"/>
          <a:stretch>
            <a:fillRect/>
          </a:stretch>
        </p:blipFill>
        <p:spPr>
          <a:xfrm>
            <a:off x="4581331" y="1593775"/>
            <a:ext cx="7550538" cy="2921150"/>
          </a:xfrm>
          <a:prstGeom prst="rect">
            <a:avLst/>
          </a:prstGeom>
        </p:spPr>
      </p:pic>
    </p:spTree>
    <p:extLst>
      <p:ext uri="{BB962C8B-B14F-4D97-AF65-F5344CB8AC3E}">
        <p14:creationId xmlns:p14="http://schemas.microsoft.com/office/powerpoint/2010/main" val="15773634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4815" y="313285"/>
            <a:ext cx="7222634" cy="386411"/>
          </a:xfrm>
          <a:prstGeom prst="rect">
            <a:avLst/>
          </a:prstGeom>
        </p:spPr>
        <p:txBody>
          <a:bodyPr vert="horz" wrap="square" lIns="0" tIns="8659" rIns="0" bIns="0" rtlCol="0">
            <a:spAutoFit/>
          </a:bodyPr>
          <a:lstStyle/>
          <a:p>
            <a:pPr marL="8659">
              <a:spcBef>
                <a:spcPts val="68"/>
              </a:spcBef>
            </a:pPr>
            <a:r>
              <a:rPr sz="2454" dirty="0"/>
              <a:t>Voltage</a:t>
            </a:r>
            <a:r>
              <a:rPr sz="2454" spc="-82" dirty="0"/>
              <a:t> </a:t>
            </a:r>
            <a:r>
              <a:rPr sz="2454" dirty="0"/>
              <a:t>Overshoot</a:t>
            </a:r>
            <a:r>
              <a:rPr sz="2454" spc="-78" dirty="0"/>
              <a:t> </a:t>
            </a:r>
            <a:r>
              <a:rPr sz="2454" spc="-7" dirty="0"/>
              <a:t>(V</a:t>
            </a:r>
            <a:r>
              <a:rPr sz="2454" spc="-10" baseline="-20833" dirty="0"/>
              <a:t>overshoot</a:t>
            </a:r>
            <a:r>
              <a:rPr sz="2454" spc="-7" dirty="0"/>
              <a:t>)</a:t>
            </a:r>
            <a:endParaRPr sz="2454"/>
          </a:p>
        </p:txBody>
      </p:sp>
      <p:grpSp>
        <p:nvGrpSpPr>
          <p:cNvPr id="3" name="object 3"/>
          <p:cNvGrpSpPr/>
          <p:nvPr/>
        </p:nvGrpSpPr>
        <p:grpSpPr>
          <a:xfrm>
            <a:off x="537477" y="1351438"/>
            <a:ext cx="3065751" cy="1290205"/>
            <a:chOff x="1566385" y="1879662"/>
            <a:chExt cx="4496435" cy="1892300"/>
          </a:xfrm>
        </p:grpSpPr>
        <p:sp>
          <p:nvSpPr>
            <p:cNvPr id="4" name="object 4"/>
            <p:cNvSpPr/>
            <p:nvPr/>
          </p:nvSpPr>
          <p:spPr>
            <a:xfrm>
              <a:off x="1618869" y="3496436"/>
              <a:ext cx="4434205" cy="1905"/>
            </a:xfrm>
            <a:custGeom>
              <a:avLst/>
              <a:gdLst/>
              <a:ahLst/>
              <a:cxnLst/>
              <a:rect l="l" t="t" r="r" b="b"/>
              <a:pathLst>
                <a:path w="4434205" h="1904">
                  <a:moveTo>
                    <a:pt x="0" y="0"/>
                  </a:moveTo>
                  <a:lnTo>
                    <a:pt x="4434078" y="1574"/>
                  </a:lnTo>
                </a:path>
              </a:pathLst>
            </a:custGeom>
            <a:ln w="19050">
              <a:solidFill>
                <a:srgbClr val="000000"/>
              </a:solidFill>
            </a:ln>
          </p:spPr>
          <p:txBody>
            <a:bodyPr wrap="square" lIns="0" tIns="0" rIns="0" bIns="0" rtlCol="0"/>
            <a:lstStyle/>
            <a:p>
              <a:endParaRPr sz="1227"/>
            </a:p>
          </p:txBody>
        </p:sp>
        <p:sp>
          <p:nvSpPr>
            <p:cNvPr id="5" name="object 5"/>
            <p:cNvSpPr/>
            <p:nvPr/>
          </p:nvSpPr>
          <p:spPr>
            <a:xfrm>
              <a:off x="5976727" y="3453535"/>
              <a:ext cx="76835" cy="88900"/>
            </a:xfrm>
            <a:custGeom>
              <a:avLst/>
              <a:gdLst/>
              <a:ahLst/>
              <a:cxnLst/>
              <a:rect l="l" t="t" r="r" b="b"/>
              <a:pathLst>
                <a:path w="76835" h="88900">
                  <a:moveTo>
                    <a:pt x="38" y="0"/>
                  </a:moveTo>
                  <a:lnTo>
                    <a:pt x="76225" y="44475"/>
                  </a:lnTo>
                  <a:lnTo>
                    <a:pt x="0" y="88900"/>
                  </a:lnTo>
                </a:path>
              </a:pathLst>
            </a:custGeom>
            <a:ln w="19050">
              <a:solidFill>
                <a:srgbClr val="000000"/>
              </a:solidFill>
            </a:ln>
          </p:spPr>
          <p:txBody>
            <a:bodyPr wrap="square" lIns="0" tIns="0" rIns="0" bIns="0" rtlCol="0"/>
            <a:lstStyle/>
            <a:p>
              <a:endParaRPr sz="1227"/>
            </a:p>
          </p:txBody>
        </p:sp>
        <p:sp>
          <p:nvSpPr>
            <p:cNvPr id="6" name="object 6"/>
            <p:cNvSpPr/>
            <p:nvPr/>
          </p:nvSpPr>
          <p:spPr>
            <a:xfrm>
              <a:off x="1618869" y="1889187"/>
              <a:ext cx="1905" cy="1595755"/>
            </a:xfrm>
            <a:custGeom>
              <a:avLst/>
              <a:gdLst/>
              <a:ahLst/>
              <a:cxnLst/>
              <a:rect l="l" t="t" r="r" b="b"/>
              <a:pathLst>
                <a:path w="1905" h="1595754">
                  <a:moveTo>
                    <a:pt x="0" y="1595627"/>
                  </a:moveTo>
                  <a:lnTo>
                    <a:pt x="1574" y="0"/>
                  </a:lnTo>
                </a:path>
              </a:pathLst>
            </a:custGeom>
            <a:ln w="19050">
              <a:solidFill>
                <a:srgbClr val="000000"/>
              </a:solidFill>
            </a:ln>
          </p:spPr>
          <p:txBody>
            <a:bodyPr wrap="square" lIns="0" tIns="0" rIns="0" bIns="0" rtlCol="0"/>
            <a:lstStyle/>
            <a:p>
              <a:endParaRPr sz="1227"/>
            </a:p>
          </p:txBody>
        </p:sp>
        <p:sp>
          <p:nvSpPr>
            <p:cNvPr id="7" name="object 7"/>
            <p:cNvSpPr/>
            <p:nvPr/>
          </p:nvSpPr>
          <p:spPr>
            <a:xfrm>
              <a:off x="1575910" y="1889192"/>
              <a:ext cx="88900" cy="76835"/>
            </a:xfrm>
            <a:custGeom>
              <a:avLst/>
              <a:gdLst/>
              <a:ahLst/>
              <a:cxnLst/>
              <a:rect l="l" t="t" r="r" b="b"/>
              <a:pathLst>
                <a:path w="88900" h="76835">
                  <a:moveTo>
                    <a:pt x="0" y="76149"/>
                  </a:moveTo>
                  <a:lnTo>
                    <a:pt x="44526" y="0"/>
                  </a:lnTo>
                  <a:lnTo>
                    <a:pt x="88900" y="76238"/>
                  </a:lnTo>
                </a:path>
              </a:pathLst>
            </a:custGeom>
            <a:ln w="19050">
              <a:solidFill>
                <a:srgbClr val="000000"/>
              </a:solidFill>
            </a:ln>
          </p:spPr>
          <p:txBody>
            <a:bodyPr wrap="square" lIns="0" tIns="0" rIns="0" bIns="0" rtlCol="0"/>
            <a:lstStyle/>
            <a:p>
              <a:endParaRPr sz="1227"/>
            </a:p>
          </p:txBody>
        </p:sp>
        <p:sp>
          <p:nvSpPr>
            <p:cNvPr id="8" name="object 8"/>
            <p:cNvSpPr/>
            <p:nvPr/>
          </p:nvSpPr>
          <p:spPr>
            <a:xfrm>
              <a:off x="4067936" y="3414902"/>
              <a:ext cx="189230" cy="347980"/>
            </a:xfrm>
            <a:custGeom>
              <a:avLst/>
              <a:gdLst/>
              <a:ahLst/>
              <a:cxnLst/>
              <a:rect l="l" t="t" r="r" b="b"/>
              <a:pathLst>
                <a:path w="189229" h="347979">
                  <a:moveTo>
                    <a:pt x="141732" y="0"/>
                  </a:moveTo>
                  <a:lnTo>
                    <a:pt x="141732" y="253136"/>
                  </a:lnTo>
                  <a:lnTo>
                    <a:pt x="188976" y="253136"/>
                  </a:lnTo>
                  <a:lnTo>
                    <a:pt x="94488" y="347472"/>
                  </a:lnTo>
                  <a:lnTo>
                    <a:pt x="0" y="253136"/>
                  </a:lnTo>
                  <a:lnTo>
                    <a:pt x="47244" y="253136"/>
                  </a:lnTo>
                  <a:lnTo>
                    <a:pt x="47244" y="0"/>
                  </a:lnTo>
                  <a:lnTo>
                    <a:pt x="141732" y="0"/>
                  </a:lnTo>
                  <a:close/>
                </a:path>
              </a:pathLst>
            </a:custGeom>
            <a:ln w="19049">
              <a:solidFill>
                <a:srgbClr val="0000FF"/>
              </a:solidFill>
            </a:ln>
          </p:spPr>
          <p:txBody>
            <a:bodyPr wrap="square" lIns="0" tIns="0" rIns="0" bIns="0" rtlCol="0"/>
            <a:lstStyle/>
            <a:p>
              <a:endParaRPr sz="1227"/>
            </a:p>
          </p:txBody>
        </p:sp>
      </p:grpSp>
      <p:sp>
        <p:nvSpPr>
          <p:cNvPr id="9" name="object 9"/>
          <p:cNvSpPr txBox="1"/>
          <p:nvPr/>
        </p:nvSpPr>
        <p:spPr>
          <a:xfrm>
            <a:off x="3649260" y="2319198"/>
            <a:ext cx="442913" cy="218236"/>
          </a:xfrm>
          <a:prstGeom prst="rect">
            <a:avLst/>
          </a:prstGeom>
        </p:spPr>
        <p:txBody>
          <a:bodyPr vert="horz" wrap="square" lIns="0" tIns="8226" rIns="0" bIns="0" rtlCol="0">
            <a:spAutoFit/>
          </a:bodyPr>
          <a:lstStyle/>
          <a:p>
            <a:pPr marL="8659">
              <a:spcBef>
                <a:spcPts val="65"/>
              </a:spcBef>
            </a:pPr>
            <a:r>
              <a:rPr sz="1364" spc="-14" dirty="0">
                <a:latin typeface="Verdana"/>
                <a:cs typeface="Verdana"/>
              </a:rPr>
              <a:t>Time</a:t>
            </a:r>
            <a:endParaRPr sz="1364">
              <a:latin typeface="Verdana"/>
              <a:cs typeface="Verdana"/>
            </a:endParaRPr>
          </a:p>
        </p:txBody>
      </p:sp>
      <p:sp>
        <p:nvSpPr>
          <p:cNvPr id="10" name="object 10"/>
          <p:cNvSpPr txBox="1"/>
          <p:nvPr/>
        </p:nvSpPr>
        <p:spPr>
          <a:xfrm>
            <a:off x="215354" y="1790973"/>
            <a:ext cx="367578" cy="218107"/>
          </a:xfrm>
          <a:prstGeom prst="rect">
            <a:avLst/>
          </a:prstGeom>
        </p:spPr>
        <p:txBody>
          <a:bodyPr vert="horz" wrap="square" lIns="0" tIns="8226" rIns="0" bIns="0" rtlCol="0">
            <a:spAutoFit/>
          </a:bodyPr>
          <a:lstStyle/>
          <a:p>
            <a:pPr marL="25977">
              <a:spcBef>
                <a:spcPts val="65"/>
              </a:spcBef>
            </a:pPr>
            <a:r>
              <a:rPr sz="2045" spc="-10" baseline="13888" dirty="0">
                <a:latin typeface="Verdana"/>
                <a:cs typeface="Verdana"/>
              </a:rPr>
              <a:t>I</a:t>
            </a:r>
            <a:r>
              <a:rPr sz="886" spc="-7" dirty="0">
                <a:latin typeface="Verdana"/>
                <a:cs typeface="Verdana"/>
              </a:rPr>
              <a:t>load</a:t>
            </a:r>
            <a:endParaRPr sz="886">
              <a:latin typeface="Verdana"/>
              <a:cs typeface="Verdana"/>
            </a:endParaRPr>
          </a:p>
        </p:txBody>
      </p:sp>
      <p:sp>
        <p:nvSpPr>
          <p:cNvPr id="11" name="object 11"/>
          <p:cNvSpPr txBox="1"/>
          <p:nvPr/>
        </p:nvSpPr>
        <p:spPr>
          <a:xfrm>
            <a:off x="2227356" y="3251159"/>
            <a:ext cx="135948" cy="218236"/>
          </a:xfrm>
          <a:prstGeom prst="rect">
            <a:avLst/>
          </a:prstGeom>
        </p:spPr>
        <p:txBody>
          <a:bodyPr vert="horz" wrap="square" lIns="0" tIns="8226" rIns="0" bIns="0" rtlCol="0">
            <a:spAutoFit/>
          </a:bodyPr>
          <a:lstStyle/>
          <a:p>
            <a:pPr marL="8659">
              <a:spcBef>
                <a:spcPts val="65"/>
              </a:spcBef>
            </a:pPr>
            <a:r>
              <a:rPr sz="1364" spc="-34" dirty="0">
                <a:solidFill>
                  <a:srgbClr val="0000FF"/>
                </a:solidFill>
                <a:latin typeface="Verdana"/>
                <a:cs typeface="Verdana"/>
              </a:rPr>
              <a:t>V</a:t>
            </a:r>
            <a:endParaRPr sz="1364">
              <a:latin typeface="Verdana"/>
              <a:cs typeface="Verdana"/>
            </a:endParaRPr>
          </a:p>
        </p:txBody>
      </p:sp>
      <p:sp>
        <p:nvSpPr>
          <p:cNvPr id="12" name="object 12"/>
          <p:cNvSpPr txBox="1"/>
          <p:nvPr/>
        </p:nvSpPr>
        <p:spPr>
          <a:xfrm>
            <a:off x="2345812" y="3351432"/>
            <a:ext cx="592715" cy="147686"/>
          </a:xfrm>
          <a:prstGeom prst="rect">
            <a:avLst/>
          </a:prstGeom>
        </p:spPr>
        <p:txBody>
          <a:bodyPr vert="horz" wrap="square" lIns="0" tIns="11257" rIns="0" bIns="0" rtlCol="0">
            <a:spAutoFit/>
          </a:bodyPr>
          <a:lstStyle/>
          <a:p>
            <a:pPr marL="8659">
              <a:spcBef>
                <a:spcPts val="89"/>
              </a:spcBef>
            </a:pPr>
            <a:r>
              <a:rPr sz="886" spc="-7" dirty="0">
                <a:solidFill>
                  <a:srgbClr val="0000FF"/>
                </a:solidFill>
                <a:latin typeface="Verdana"/>
                <a:cs typeface="Verdana"/>
              </a:rPr>
              <a:t>overshoot</a:t>
            </a:r>
            <a:endParaRPr sz="886">
              <a:latin typeface="Verdana"/>
              <a:cs typeface="Verdana"/>
            </a:endParaRPr>
          </a:p>
        </p:txBody>
      </p:sp>
      <p:grpSp>
        <p:nvGrpSpPr>
          <p:cNvPr id="13" name="object 13"/>
          <p:cNvGrpSpPr/>
          <p:nvPr/>
        </p:nvGrpSpPr>
        <p:grpSpPr>
          <a:xfrm>
            <a:off x="529164" y="1563976"/>
            <a:ext cx="3065751" cy="2173865"/>
            <a:chOff x="1554193" y="2191385"/>
            <a:chExt cx="4496435" cy="3188335"/>
          </a:xfrm>
        </p:grpSpPr>
        <p:sp>
          <p:nvSpPr>
            <p:cNvPr id="14" name="object 14"/>
            <p:cNvSpPr/>
            <p:nvPr/>
          </p:nvSpPr>
          <p:spPr>
            <a:xfrm>
              <a:off x="1632966" y="2205990"/>
              <a:ext cx="2016125" cy="1905"/>
            </a:xfrm>
            <a:custGeom>
              <a:avLst/>
              <a:gdLst/>
              <a:ahLst/>
              <a:cxnLst/>
              <a:rect l="l" t="t" r="r" b="b"/>
              <a:pathLst>
                <a:path w="2016125" h="1905">
                  <a:moveTo>
                    <a:pt x="0" y="1587"/>
                  </a:moveTo>
                  <a:lnTo>
                    <a:pt x="2016125" y="0"/>
                  </a:lnTo>
                </a:path>
              </a:pathLst>
            </a:custGeom>
            <a:ln w="28956">
              <a:solidFill>
                <a:srgbClr val="C00000"/>
              </a:solidFill>
            </a:ln>
          </p:spPr>
          <p:txBody>
            <a:bodyPr wrap="square" lIns="0" tIns="0" rIns="0" bIns="0" rtlCol="0"/>
            <a:lstStyle/>
            <a:p>
              <a:endParaRPr sz="1227"/>
            </a:p>
          </p:txBody>
        </p:sp>
        <p:sp>
          <p:nvSpPr>
            <p:cNvPr id="15" name="object 15"/>
            <p:cNvSpPr/>
            <p:nvPr/>
          </p:nvSpPr>
          <p:spPr>
            <a:xfrm>
              <a:off x="3648456" y="2205990"/>
              <a:ext cx="711835" cy="1123315"/>
            </a:xfrm>
            <a:custGeom>
              <a:avLst/>
              <a:gdLst/>
              <a:ahLst/>
              <a:cxnLst/>
              <a:rect l="l" t="t" r="r" b="b"/>
              <a:pathLst>
                <a:path w="711835" h="1123314">
                  <a:moveTo>
                    <a:pt x="0" y="0"/>
                  </a:moveTo>
                  <a:lnTo>
                    <a:pt x="711720" y="1123238"/>
                  </a:lnTo>
                </a:path>
              </a:pathLst>
            </a:custGeom>
            <a:ln w="28955">
              <a:solidFill>
                <a:srgbClr val="C00000"/>
              </a:solidFill>
            </a:ln>
          </p:spPr>
          <p:txBody>
            <a:bodyPr wrap="square" lIns="0" tIns="0" rIns="0" bIns="0" rtlCol="0"/>
            <a:lstStyle/>
            <a:p>
              <a:endParaRPr sz="1227"/>
            </a:p>
          </p:txBody>
        </p:sp>
        <p:sp>
          <p:nvSpPr>
            <p:cNvPr id="16" name="object 16"/>
            <p:cNvSpPr/>
            <p:nvPr/>
          </p:nvSpPr>
          <p:spPr>
            <a:xfrm>
              <a:off x="4351019" y="3339085"/>
              <a:ext cx="1310005" cy="0"/>
            </a:xfrm>
            <a:custGeom>
              <a:avLst/>
              <a:gdLst/>
              <a:ahLst/>
              <a:cxnLst/>
              <a:rect l="l" t="t" r="r" b="b"/>
              <a:pathLst>
                <a:path w="1310004">
                  <a:moveTo>
                    <a:pt x="0" y="0"/>
                  </a:moveTo>
                  <a:lnTo>
                    <a:pt x="1309738" y="0"/>
                  </a:lnTo>
                </a:path>
              </a:pathLst>
            </a:custGeom>
            <a:ln w="28956">
              <a:solidFill>
                <a:srgbClr val="C00000"/>
              </a:solidFill>
            </a:ln>
          </p:spPr>
          <p:txBody>
            <a:bodyPr wrap="square" lIns="0" tIns="0" rIns="0" bIns="0" rtlCol="0"/>
            <a:lstStyle/>
            <a:p>
              <a:endParaRPr sz="1227"/>
            </a:p>
          </p:txBody>
        </p:sp>
        <p:sp>
          <p:nvSpPr>
            <p:cNvPr id="17" name="object 17"/>
            <p:cNvSpPr/>
            <p:nvPr/>
          </p:nvSpPr>
          <p:spPr>
            <a:xfrm>
              <a:off x="1606677" y="5323713"/>
              <a:ext cx="4434205" cy="1905"/>
            </a:xfrm>
            <a:custGeom>
              <a:avLst/>
              <a:gdLst/>
              <a:ahLst/>
              <a:cxnLst/>
              <a:rect l="l" t="t" r="r" b="b"/>
              <a:pathLst>
                <a:path w="4434205" h="1904">
                  <a:moveTo>
                    <a:pt x="0" y="0"/>
                  </a:moveTo>
                  <a:lnTo>
                    <a:pt x="4434078" y="1574"/>
                  </a:lnTo>
                </a:path>
              </a:pathLst>
            </a:custGeom>
            <a:ln w="19050">
              <a:solidFill>
                <a:srgbClr val="000000"/>
              </a:solidFill>
            </a:ln>
          </p:spPr>
          <p:txBody>
            <a:bodyPr wrap="square" lIns="0" tIns="0" rIns="0" bIns="0" rtlCol="0"/>
            <a:lstStyle/>
            <a:p>
              <a:endParaRPr sz="1227"/>
            </a:p>
          </p:txBody>
        </p:sp>
        <p:sp>
          <p:nvSpPr>
            <p:cNvPr id="18" name="object 18"/>
            <p:cNvSpPr/>
            <p:nvPr/>
          </p:nvSpPr>
          <p:spPr>
            <a:xfrm>
              <a:off x="5964534" y="5280812"/>
              <a:ext cx="76835" cy="88900"/>
            </a:xfrm>
            <a:custGeom>
              <a:avLst/>
              <a:gdLst/>
              <a:ahLst/>
              <a:cxnLst/>
              <a:rect l="l" t="t" r="r" b="b"/>
              <a:pathLst>
                <a:path w="76835" h="88900">
                  <a:moveTo>
                    <a:pt x="38" y="0"/>
                  </a:moveTo>
                  <a:lnTo>
                    <a:pt x="76225" y="44475"/>
                  </a:lnTo>
                  <a:lnTo>
                    <a:pt x="0" y="88899"/>
                  </a:lnTo>
                </a:path>
              </a:pathLst>
            </a:custGeom>
            <a:ln w="19050">
              <a:solidFill>
                <a:srgbClr val="000000"/>
              </a:solidFill>
            </a:ln>
          </p:spPr>
          <p:txBody>
            <a:bodyPr wrap="square" lIns="0" tIns="0" rIns="0" bIns="0" rtlCol="0"/>
            <a:lstStyle/>
            <a:p>
              <a:endParaRPr sz="1227"/>
            </a:p>
          </p:txBody>
        </p:sp>
        <p:sp>
          <p:nvSpPr>
            <p:cNvPr id="19" name="object 19"/>
            <p:cNvSpPr/>
            <p:nvPr/>
          </p:nvSpPr>
          <p:spPr>
            <a:xfrm>
              <a:off x="1606677" y="3717225"/>
              <a:ext cx="1905" cy="1595755"/>
            </a:xfrm>
            <a:custGeom>
              <a:avLst/>
              <a:gdLst/>
              <a:ahLst/>
              <a:cxnLst/>
              <a:rect l="l" t="t" r="r" b="b"/>
              <a:pathLst>
                <a:path w="1905" h="1595754">
                  <a:moveTo>
                    <a:pt x="0" y="1595627"/>
                  </a:moveTo>
                  <a:lnTo>
                    <a:pt x="1574" y="0"/>
                  </a:lnTo>
                </a:path>
              </a:pathLst>
            </a:custGeom>
            <a:ln w="19050">
              <a:solidFill>
                <a:srgbClr val="000000"/>
              </a:solidFill>
            </a:ln>
          </p:spPr>
          <p:txBody>
            <a:bodyPr wrap="square" lIns="0" tIns="0" rIns="0" bIns="0" rtlCol="0"/>
            <a:lstStyle/>
            <a:p>
              <a:endParaRPr sz="1227"/>
            </a:p>
          </p:txBody>
        </p:sp>
        <p:sp>
          <p:nvSpPr>
            <p:cNvPr id="20" name="object 20"/>
            <p:cNvSpPr/>
            <p:nvPr/>
          </p:nvSpPr>
          <p:spPr>
            <a:xfrm>
              <a:off x="1563718" y="3717230"/>
              <a:ext cx="88900" cy="76835"/>
            </a:xfrm>
            <a:custGeom>
              <a:avLst/>
              <a:gdLst/>
              <a:ahLst/>
              <a:cxnLst/>
              <a:rect l="l" t="t" r="r" b="b"/>
              <a:pathLst>
                <a:path w="88900" h="76835">
                  <a:moveTo>
                    <a:pt x="0" y="76149"/>
                  </a:moveTo>
                  <a:lnTo>
                    <a:pt x="44526" y="0"/>
                  </a:lnTo>
                  <a:lnTo>
                    <a:pt x="88900" y="76238"/>
                  </a:lnTo>
                </a:path>
              </a:pathLst>
            </a:custGeom>
            <a:ln w="19050">
              <a:solidFill>
                <a:srgbClr val="000000"/>
              </a:solidFill>
            </a:ln>
          </p:spPr>
          <p:txBody>
            <a:bodyPr wrap="square" lIns="0" tIns="0" rIns="0" bIns="0" rtlCol="0"/>
            <a:lstStyle/>
            <a:p>
              <a:endParaRPr sz="1227"/>
            </a:p>
          </p:txBody>
        </p:sp>
      </p:grpSp>
      <p:sp>
        <p:nvSpPr>
          <p:cNvPr id="21" name="object 21"/>
          <p:cNvSpPr txBox="1"/>
          <p:nvPr/>
        </p:nvSpPr>
        <p:spPr>
          <a:xfrm>
            <a:off x="3640802" y="3565351"/>
            <a:ext cx="442913" cy="218236"/>
          </a:xfrm>
          <a:prstGeom prst="rect">
            <a:avLst/>
          </a:prstGeom>
        </p:spPr>
        <p:txBody>
          <a:bodyPr vert="horz" wrap="square" lIns="0" tIns="8226" rIns="0" bIns="0" rtlCol="0">
            <a:spAutoFit/>
          </a:bodyPr>
          <a:lstStyle/>
          <a:p>
            <a:pPr marL="8659">
              <a:spcBef>
                <a:spcPts val="65"/>
              </a:spcBef>
            </a:pPr>
            <a:r>
              <a:rPr sz="1364" spc="-14" dirty="0">
                <a:latin typeface="Verdana"/>
                <a:cs typeface="Verdana"/>
              </a:rPr>
              <a:t>Time</a:t>
            </a:r>
            <a:endParaRPr sz="1364">
              <a:latin typeface="Verdana"/>
              <a:cs typeface="Verdana"/>
            </a:endParaRPr>
          </a:p>
        </p:txBody>
      </p:sp>
      <p:sp>
        <p:nvSpPr>
          <p:cNvPr id="22" name="object 22"/>
          <p:cNvSpPr txBox="1"/>
          <p:nvPr/>
        </p:nvSpPr>
        <p:spPr>
          <a:xfrm>
            <a:off x="211927" y="3037126"/>
            <a:ext cx="358919" cy="218107"/>
          </a:xfrm>
          <a:prstGeom prst="rect">
            <a:avLst/>
          </a:prstGeom>
        </p:spPr>
        <p:txBody>
          <a:bodyPr vert="horz" wrap="square" lIns="0" tIns="8226" rIns="0" bIns="0" rtlCol="0">
            <a:spAutoFit/>
          </a:bodyPr>
          <a:lstStyle/>
          <a:p>
            <a:pPr marL="25977">
              <a:spcBef>
                <a:spcPts val="65"/>
              </a:spcBef>
            </a:pPr>
            <a:r>
              <a:rPr sz="2045" spc="-20" baseline="13888" dirty="0">
                <a:latin typeface="Verdana"/>
                <a:cs typeface="Verdana"/>
              </a:rPr>
              <a:t>V</a:t>
            </a:r>
            <a:r>
              <a:rPr sz="886" spc="-14" dirty="0">
                <a:latin typeface="Verdana"/>
                <a:cs typeface="Verdana"/>
              </a:rPr>
              <a:t>out</a:t>
            </a:r>
            <a:endParaRPr sz="886">
              <a:latin typeface="Verdana"/>
              <a:cs typeface="Verdana"/>
            </a:endParaRPr>
          </a:p>
        </p:txBody>
      </p:sp>
      <p:grpSp>
        <p:nvGrpSpPr>
          <p:cNvPr id="23" name="object 23"/>
          <p:cNvGrpSpPr/>
          <p:nvPr/>
        </p:nvGrpSpPr>
        <p:grpSpPr>
          <a:xfrm>
            <a:off x="554297" y="1316759"/>
            <a:ext cx="3069215" cy="1905000"/>
            <a:chOff x="1591055" y="1828800"/>
            <a:chExt cx="4501515" cy="2794000"/>
          </a:xfrm>
        </p:grpSpPr>
        <p:sp>
          <p:nvSpPr>
            <p:cNvPr id="24" name="object 24"/>
            <p:cNvSpPr/>
            <p:nvPr/>
          </p:nvSpPr>
          <p:spPr>
            <a:xfrm>
              <a:off x="1605533" y="4259578"/>
              <a:ext cx="2016125" cy="1905"/>
            </a:xfrm>
            <a:custGeom>
              <a:avLst/>
              <a:gdLst/>
              <a:ahLst/>
              <a:cxnLst/>
              <a:rect l="l" t="t" r="r" b="b"/>
              <a:pathLst>
                <a:path w="2016125" h="1904">
                  <a:moveTo>
                    <a:pt x="0" y="1587"/>
                  </a:moveTo>
                  <a:lnTo>
                    <a:pt x="2016125" y="0"/>
                  </a:lnTo>
                </a:path>
              </a:pathLst>
            </a:custGeom>
            <a:ln w="28956">
              <a:solidFill>
                <a:srgbClr val="0000FF"/>
              </a:solidFill>
            </a:ln>
          </p:spPr>
          <p:txBody>
            <a:bodyPr wrap="square" lIns="0" tIns="0" rIns="0" bIns="0" rtlCol="0"/>
            <a:lstStyle/>
            <a:p>
              <a:endParaRPr sz="1227"/>
            </a:p>
          </p:txBody>
        </p:sp>
        <p:sp>
          <p:nvSpPr>
            <p:cNvPr id="25" name="object 25"/>
            <p:cNvSpPr/>
            <p:nvPr/>
          </p:nvSpPr>
          <p:spPr>
            <a:xfrm>
              <a:off x="3615689" y="4247385"/>
              <a:ext cx="2311400" cy="12700"/>
            </a:xfrm>
            <a:custGeom>
              <a:avLst/>
              <a:gdLst/>
              <a:ahLst/>
              <a:cxnLst/>
              <a:rect l="l" t="t" r="r" b="b"/>
              <a:pathLst>
                <a:path w="2311400" h="12700">
                  <a:moveTo>
                    <a:pt x="0" y="12103"/>
                  </a:moveTo>
                  <a:lnTo>
                    <a:pt x="2310777" y="0"/>
                  </a:lnTo>
                </a:path>
              </a:pathLst>
            </a:custGeom>
            <a:ln w="28956">
              <a:solidFill>
                <a:srgbClr val="0000FF"/>
              </a:solidFill>
              <a:prstDash val="sysDash"/>
            </a:ln>
          </p:spPr>
          <p:txBody>
            <a:bodyPr wrap="square" lIns="0" tIns="0" rIns="0" bIns="0" rtlCol="0"/>
            <a:lstStyle/>
            <a:p>
              <a:endParaRPr sz="1227"/>
            </a:p>
          </p:txBody>
        </p:sp>
        <p:sp>
          <p:nvSpPr>
            <p:cNvPr id="26" name="object 26"/>
            <p:cNvSpPr/>
            <p:nvPr/>
          </p:nvSpPr>
          <p:spPr>
            <a:xfrm>
              <a:off x="4058030" y="4265295"/>
              <a:ext cx="189230" cy="347980"/>
            </a:xfrm>
            <a:custGeom>
              <a:avLst/>
              <a:gdLst/>
              <a:ahLst/>
              <a:cxnLst/>
              <a:rect l="l" t="t" r="r" b="b"/>
              <a:pathLst>
                <a:path w="189229" h="347979">
                  <a:moveTo>
                    <a:pt x="47244" y="347471"/>
                  </a:moveTo>
                  <a:lnTo>
                    <a:pt x="47244" y="94335"/>
                  </a:lnTo>
                  <a:lnTo>
                    <a:pt x="0" y="94335"/>
                  </a:lnTo>
                  <a:lnTo>
                    <a:pt x="94488" y="0"/>
                  </a:lnTo>
                  <a:lnTo>
                    <a:pt x="188976" y="94335"/>
                  </a:lnTo>
                  <a:lnTo>
                    <a:pt x="141732" y="94335"/>
                  </a:lnTo>
                  <a:lnTo>
                    <a:pt x="141732" y="347471"/>
                  </a:lnTo>
                  <a:lnTo>
                    <a:pt x="47244" y="347471"/>
                  </a:lnTo>
                  <a:close/>
                </a:path>
              </a:pathLst>
            </a:custGeom>
            <a:ln w="19049">
              <a:solidFill>
                <a:srgbClr val="0000FF"/>
              </a:solidFill>
            </a:ln>
          </p:spPr>
          <p:txBody>
            <a:bodyPr wrap="square" lIns="0" tIns="0" rIns="0" bIns="0" rtlCol="0"/>
            <a:lstStyle/>
            <a:p>
              <a:endParaRPr sz="1227"/>
            </a:p>
          </p:txBody>
        </p:sp>
        <p:sp>
          <p:nvSpPr>
            <p:cNvPr id="27" name="object 27"/>
            <p:cNvSpPr/>
            <p:nvPr/>
          </p:nvSpPr>
          <p:spPr>
            <a:xfrm>
              <a:off x="3615689" y="2212092"/>
              <a:ext cx="2016125" cy="1905"/>
            </a:xfrm>
            <a:custGeom>
              <a:avLst/>
              <a:gdLst/>
              <a:ahLst/>
              <a:cxnLst/>
              <a:rect l="l" t="t" r="r" b="b"/>
              <a:pathLst>
                <a:path w="2016125" h="1905">
                  <a:moveTo>
                    <a:pt x="0" y="1739"/>
                  </a:moveTo>
                  <a:lnTo>
                    <a:pt x="2016125" y="0"/>
                  </a:lnTo>
                </a:path>
              </a:pathLst>
            </a:custGeom>
            <a:ln w="28956">
              <a:solidFill>
                <a:srgbClr val="C00000"/>
              </a:solidFill>
              <a:prstDash val="sysDash"/>
            </a:ln>
          </p:spPr>
          <p:txBody>
            <a:bodyPr wrap="square" lIns="0" tIns="0" rIns="0" bIns="0" rtlCol="0"/>
            <a:lstStyle/>
            <a:p>
              <a:endParaRPr sz="1227"/>
            </a:p>
          </p:txBody>
        </p:sp>
        <p:sp>
          <p:nvSpPr>
            <p:cNvPr id="28" name="object 28"/>
            <p:cNvSpPr/>
            <p:nvPr/>
          </p:nvSpPr>
          <p:spPr>
            <a:xfrm>
              <a:off x="4968621" y="1838325"/>
              <a:ext cx="189230" cy="347980"/>
            </a:xfrm>
            <a:custGeom>
              <a:avLst/>
              <a:gdLst/>
              <a:ahLst/>
              <a:cxnLst/>
              <a:rect l="l" t="t" r="r" b="b"/>
              <a:pathLst>
                <a:path w="189229" h="347980">
                  <a:moveTo>
                    <a:pt x="141732" y="0"/>
                  </a:moveTo>
                  <a:lnTo>
                    <a:pt x="141732" y="253136"/>
                  </a:lnTo>
                  <a:lnTo>
                    <a:pt x="188976" y="253136"/>
                  </a:lnTo>
                  <a:lnTo>
                    <a:pt x="94488" y="347472"/>
                  </a:lnTo>
                  <a:lnTo>
                    <a:pt x="0" y="253136"/>
                  </a:lnTo>
                  <a:lnTo>
                    <a:pt x="47244" y="253136"/>
                  </a:lnTo>
                  <a:lnTo>
                    <a:pt x="47244" y="0"/>
                  </a:lnTo>
                  <a:lnTo>
                    <a:pt x="141732" y="0"/>
                  </a:lnTo>
                  <a:close/>
                </a:path>
              </a:pathLst>
            </a:custGeom>
            <a:ln w="19049">
              <a:solidFill>
                <a:srgbClr val="C00000"/>
              </a:solidFill>
            </a:ln>
          </p:spPr>
          <p:txBody>
            <a:bodyPr wrap="square" lIns="0" tIns="0" rIns="0" bIns="0" rtlCol="0"/>
            <a:lstStyle/>
            <a:p>
              <a:endParaRPr sz="1227"/>
            </a:p>
          </p:txBody>
        </p:sp>
        <p:sp>
          <p:nvSpPr>
            <p:cNvPr id="29" name="object 29"/>
            <p:cNvSpPr/>
            <p:nvPr/>
          </p:nvSpPr>
          <p:spPr>
            <a:xfrm>
              <a:off x="4968621" y="3363086"/>
              <a:ext cx="189230" cy="347980"/>
            </a:xfrm>
            <a:custGeom>
              <a:avLst/>
              <a:gdLst/>
              <a:ahLst/>
              <a:cxnLst/>
              <a:rect l="l" t="t" r="r" b="b"/>
              <a:pathLst>
                <a:path w="189229" h="347979">
                  <a:moveTo>
                    <a:pt x="47244" y="347471"/>
                  </a:moveTo>
                  <a:lnTo>
                    <a:pt x="47244" y="94335"/>
                  </a:lnTo>
                  <a:lnTo>
                    <a:pt x="0" y="94335"/>
                  </a:lnTo>
                  <a:lnTo>
                    <a:pt x="94488" y="0"/>
                  </a:lnTo>
                  <a:lnTo>
                    <a:pt x="188976" y="94335"/>
                  </a:lnTo>
                  <a:lnTo>
                    <a:pt x="141732" y="94335"/>
                  </a:lnTo>
                  <a:lnTo>
                    <a:pt x="141732" y="347471"/>
                  </a:lnTo>
                  <a:lnTo>
                    <a:pt x="47244" y="347471"/>
                  </a:lnTo>
                  <a:close/>
                </a:path>
              </a:pathLst>
            </a:custGeom>
            <a:ln w="19049">
              <a:solidFill>
                <a:srgbClr val="C00000"/>
              </a:solidFill>
            </a:ln>
          </p:spPr>
          <p:txBody>
            <a:bodyPr wrap="square" lIns="0" tIns="0" rIns="0" bIns="0" rtlCol="0"/>
            <a:lstStyle/>
            <a:p>
              <a:endParaRPr sz="1227"/>
            </a:p>
          </p:txBody>
        </p:sp>
        <p:sp>
          <p:nvSpPr>
            <p:cNvPr id="30" name="object 30"/>
            <p:cNvSpPr/>
            <p:nvPr/>
          </p:nvSpPr>
          <p:spPr>
            <a:xfrm>
              <a:off x="5920740" y="4271013"/>
              <a:ext cx="156845" cy="1270"/>
            </a:xfrm>
            <a:custGeom>
              <a:avLst/>
              <a:gdLst/>
              <a:ahLst/>
              <a:cxnLst/>
              <a:rect l="l" t="t" r="r" b="b"/>
              <a:pathLst>
                <a:path w="156845" h="1270">
                  <a:moveTo>
                    <a:pt x="0" y="965"/>
                  </a:moveTo>
                  <a:lnTo>
                    <a:pt x="156806" y="0"/>
                  </a:lnTo>
                </a:path>
              </a:pathLst>
            </a:custGeom>
            <a:ln w="28956">
              <a:solidFill>
                <a:srgbClr val="0000FF"/>
              </a:solidFill>
            </a:ln>
          </p:spPr>
          <p:txBody>
            <a:bodyPr wrap="square" lIns="0" tIns="0" rIns="0" bIns="0" rtlCol="0"/>
            <a:lstStyle/>
            <a:p>
              <a:endParaRPr sz="1227"/>
            </a:p>
          </p:txBody>
        </p:sp>
        <p:sp>
          <p:nvSpPr>
            <p:cNvPr id="31" name="object 31"/>
            <p:cNvSpPr/>
            <p:nvPr/>
          </p:nvSpPr>
          <p:spPr>
            <a:xfrm>
              <a:off x="3621023" y="3781103"/>
              <a:ext cx="2312035" cy="729615"/>
            </a:xfrm>
            <a:custGeom>
              <a:avLst/>
              <a:gdLst/>
              <a:ahLst/>
              <a:cxnLst/>
              <a:rect l="l" t="t" r="r" b="b"/>
              <a:pathLst>
                <a:path w="2312035" h="729614">
                  <a:moveTo>
                    <a:pt x="0" y="487237"/>
                  </a:moveTo>
                  <a:lnTo>
                    <a:pt x="31817" y="441188"/>
                  </a:lnTo>
                  <a:lnTo>
                    <a:pt x="63670" y="395505"/>
                  </a:lnTo>
                  <a:lnTo>
                    <a:pt x="95594" y="350557"/>
                  </a:lnTo>
                  <a:lnTo>
                    <a:pt x="127627" y="306710"/>
                  </a:lnTo>
                  <a:lnTo>
                    <a:pt x="159803" y="264330"/>
                  </a:lnTo>
                  <a:lnTo>
                    <a:pt x="192159" y="223785"/>
                  </a:lnTo>
                  <a:lnTo>
                    <a:pt x="224731" y="185442"/>
                  </a:lnTo>
                  <a:lnTo>
                    <a:pt x="257554" y="149668"/>
                  </a:lnTo>
                  <a:lnTo>
                    <a:pt x="290666" y="116830"/>
                  </a:lnTo>
                  <a:lnTo>
                    <a:pt x="324101" y="87295"/>
                  </a:lnTo>
                  <a:lnTo>
                    <a:pt x="357896" y="61429"/>
                  </a:lnTo>
                  <a:lnTo>
                    <a:pt x="392088" y="39601"/>
                  </a:lnTo>
                  <a:lnTo>
                    <a:pt x="426711" y="22177"/>
                  </a:lnTo>
                  <a:lnTo>
                    <a:pt x="497397" y="2009"/>
                  </a:lnTo>
                  <a:lnTo>
                    <a:pt x="533531" y="0"/>
                  </a:lnTo>
                  <a:lnTo>
                    <a:pt x="570242" y="3862"/>
                  </a:lnTo>
                  <a:lnTo>
                    <a:pt x="628094" y="28014"/>
                  </a:lnTo>
                  <a:lnTo>
                    <a:pt x="687193" y="75679"/>
                  </a:lnTo>
                  <a:lnTo>
                    <a:pt x="717178" y="106737"/>
                  </a:lnTo>
                  <a:lnTo>
                    <a:pt x="747436" y="141764"/>
                  </a:lnTo>
                  <a:lnTo>
                    <a:pt x="777955" y="180123"/>
                  </a:lnTo>
                  <a:lnTo>
                    <a:pt x="808721" y="221178"/>
                  </a:lnTo>
                  <a:lnTo>
                    <a:pt x="839723" y="264292"/>
                  </a:lnTo>
                  <a:lnTo>
                    <a:pt x="870947" y="308829"/>
                  </a:lnTo>
                  <a:lnTo>
                    <a:pt x="902381" y="354152"/>
                  </a:lnTo>
                  <a:lnTo>
                    <a:pt x="934011" y="399624"/>
                  </a:lnTo>
                  <a:lnTo>
                    <a:pt x="965826" y="444611"/>
                  </a:lnTo>
                  <a:lnTo>
                    <a:pt x="997812" y="488474"/>
                  </a:lnTo>
                  <a:lnTo>
                    <a:pt x="1029957" y="530577"/>
                  </a:lnTo>
                  <a:lnTo>
                    <a:pt x="1062247" y="570284"/>
                  </a:lnTo>
                  <a:lnTo>
                    <a:pt x="1094671" y="606959"/>
                  </a:lnTo>
                  <a:lnTo>
                    <a:pt x="1127215" y="639965"/>
                  </a:lnTo>
                  <a:lnTo>
                    <a:pt x="1159867" y="668665"/>
                  </a:lnTo>
                  <a:lnTo>
                    <a:pt x="1192614" y="692423"/>
                  </a:lnTo>
                  <a:lnTo>
                    <a:pt x="1258341" y="722568"/>
                  </a:lnTo>
                  <a:lnTo>
                    <a:pt x="1299485" y="729294"/>
                  </a:lnTo>
                  <a:lnTo>
                    <a:pt x="1342243" y="728865"/>
                  </a:lnTo>
                  <a:lnTo>
                    <a:pt x="1386338" y="722059"/>
                  </a:lnTo>
                  <a:lnTo>
                    <a:pt x="1431490" y="709655"/>
                  </a:lnTo>
                  <a:lnTo>
                    <a:pt x="1477423" y="692430"/>
                  </a:lnTo>
                  <a:lnTo>
                    <a:pt x="1523858" y="671165"/>
                  </a:lnTo>
                  <a:lnTo>
                    <a:pt x="1570518" y="646637"/>
                  </a:lnTo>
                  <a:lnTo>
                    <a:pt x="1617123" y="619625"/>
                  </a:lnTo>
                  <a:lnTo>
                    <a:pt x="1663396" y="590908"/>
                  </a:lnTo>
                  <a:lnTo>
                    <a:pt x="1709060" y="561265"/>
                  </a:lnTo>
                  <a:lnTo>
                    <a:pt x="1753835" y="531473"/>
                  </a:lnTo>
                  <a:lnTo>
                    <a:pt x="1797445" y="502313"/>
                  </a:lnTo>
                  <a:lnTo>
                    <a:pt x="1839610" y="474562"/>
                  </a:lnTo>
                  <a:lnTo>
                    <a:pt x="1880053" y="448999"/>
                  </a:lnTo>
                  <a:lnTo>
                    <a:pt x="1918497" y="426403"/>
                  </a:lnTo>
                  <a:lnTo>
                    <a:pt x="1954662" y="407552"/>
                  </a:lnTo>
                  <a:lnTo>
                    <a:pt x="2019045" y="384201"/>
                  </a:lnTo>
                  <a:lnTo>
                    <a:pt x="2087483" y="375140"/>
                  </a:lnTo>
                  <a:lnTo>
                    <a:pt x="2143643" y="378061"/>
                  </a:lnTo>
                  <a:lnTo>
                    <a:pt x="2189572" y="390968"/>
                  </a:lnTo>
                  <a:lnTo>
                    <a:pt x="2227316" y="411863"/>
                  </a:lnTo>
                  <a:lnTo>
                    <a:pt x="2258923" y="438748"/>
                  </a:lnTo>
                  <a:lnTo>
                    <a:pt x="2286438" y="469627"/>
                  </a:lnTo>
                  <a:lnTo>
                    <a:pt x="2311908" y="502502"/>
                  </a:lnTo>
                </a:path>
              </a:pathLst>
            </a:custGeom>
            <a:ln w="28955">
              <a:solidFill>
                <a:srgbClr val="0000FF"/>
              </a:solidFill>
            </a:ln>
          </p:spPr>
          <p:txBody>
            <a:bodyPr wrap="square" lIns="0" tIns="0" rIns="0" bIns="0" rtlCol="0"/>
            <a:lstStyle/>
            <a:p>
              <a:endParaRPr sz="1227"/>
            </a:p>
          </p:txBody>
        </p:sp>
      </p:grpSp>
      <p:sp>
        <p:nvSpPr>
          <p:cNvPr id="32" name="object 32"/>
          <p:cNvSpPr txBox="1"/>
          <p:nvPr/>
        </p:nvSpPr>
        <p:spPr>
          <a:xfrm>
            <a:off x="629880" y="4072077"/>
            <a:ext cx="2461347" cy="428165"/>
          </a:xfrm>
          <a:prstGeom prst="rect">
            <a:avLst/>
          </a:prstGeom>
        </p:spPr>
        <p:txBody>
          <a:bodyPr vert="horz" wrap="square" lIns="0" tIns="8226" rIns="0" bIns="0" rtlCol="0">
            <a:spAutoFit/>
          </a:bodyPr>
          <a:lstStyle/>
          <a:p>
            <a:pPr marL="346354" indent="-320378">
              <a:spcBef>
                <a:spcPts val="65"/>
              </a:spcBef>
              <a:buClr>
                <a:srgbClr val="CC0000"/>
              </a:buClr>
              <a:buFont typeface="Wingdings"/>
              <a:buChar char=""/>
              <a:tabLst>
                <a:tab pos="346354" algn="l"/>
              </a:tabLst>
            </a:pPr>
            <a:r>
              <a:rPr sz="1364" dirty="0">
                <a:latin typeface="Verdana"/>
                <a:cs typeface="Verdana"/>
              </a:rPr>
              <a:t>V</a:t>
            </a:r>
            <a:r>
              <a:rPr sz="1330" baseline="-21367" dirty="0">
                <a:latin typeface="Verdana"/>
                <a:cs typeface="Verdana"/>
              </a:rPr>
              <a:t>out</a:t>
            </a:r>
            <a:r>
              <a:rPr sz="1364" dirty="0">
                <a:latin typeface="Verdana"/>
                <a:cs typeface="Verdana"/>
              </a:rPr>
              <a:t>’s</a:t>
            </a:r>
            <a:r>
              <a:rPr sz="1364" spc="-31" dirty="0">
                <a:latin typeface="Verdana"/>
                <a:cs typeface="Verdana"/>
              </a:rPr>
              <a:t> </a:t>
            </a:r>
            <a:r>
              <a:rPr sz="1364" dirty="0">
                <a:latin typeface="Verdana"/>
                <a:cs typeface="Verdana"/>
              </a:rPr>
              <a:t>maximum</a:t>
            </a:r>
            <a:r>
              <a:rPr sz="1364" spc="-17" dirty="0">
                <a:latin typeface="Verdana"/>
                <a:cs typeface="Verdana"/>
              </a:rPr>
              <a:t> </a:t>
            </a:r>
            <a:r>
              <a:rPr sz="1364" i="1" spc="-7" dirty="0">
                <a:latin typeface="Verdana"/>
                <a:cs typeface="Verdana"/>
              </a:rPr>
              <a:t>upward</a:t>
            </a:r>
            <a:endParaRPr sz="1364">
              <a:latin typeface="Verdana"/>
              <a:cs typeface="Verdana"/>
            </a:endParaRPr>
          </a:p>
          <a:p>
            <a:pPr marL="346354"/>
            <a:r>
              <a:rPr sz="1364" dirty="0">
                <a:latin typeface="Verdana"/>
                <a:cs typeface="Verdana"/>
              </a:rPr>
              <a:t>deviation</a:t>
            </a:r>
            <a:r>
              <a:rPr sz="1364" spc="-37" dirty="0">
                <a:latin typeface="Verdana"/>
                <a:cs typeface="Verdana"/>
              </a:rPr>
              <a:t> </a:t>
            </a:r>
            <a:r>
              <a:rPr sz="1364" dirty="0">
                <a:latin typeface="Verdana"/>
                <a:cs typeface="Verdana"/>
              </a:rPr>
              <a:t>from</a:t>
            </a:r>
            <a:r>
              <a:rPr sz="1364" spc="-48" dirty="0">
                <a:latin typeface="Verdana"/>
                <a:cs typeface="Verdana"/>
              </a:rPr>
              <a:t> </a:t>
            </a:r>
            <a:r>
              <a:rPr sz="1364" spc="-14" dirty="0">
                <a:latin typeface="Verdana"/>
                <a:cs typeface="Verdana"/>
              </a:rPr>
              <a:t>V</a:t>
            </a:r>
            <a:r>
              <a:rPr sz="1330" spc="-20" baseline="-21367" dirty="0">
                <a:latin typeface="Verdana"/>
                <a:cs typeface="Verdana"/>
              </a:rPr>
              <a:t>ref</a:t>
            </a:r>
            <a:endParaRPr sz="1330" baseline="-21367">
              <a:latin typeface="Verdana"/>
              <a:cs typeface="Verdana"/>
            </a:endParaRPr>
          </a:p>
        </p:txBody>
      </p:sp>
      <p:sp>
        <p:nvSpPr>
          <p:cNvPr id="33" name="object 33"/>
          <p:cNvSpPr txBox="1"/>
          <p:nvPr/>
        </p:nvSpPr>
        <p:spPr>
          <a:xfrm>
            <a:off x="629880" y="4778659"/>
            <a:ext cx="2193348" cy="638094"/>
          </a:xfrm>
          <a:prstGeom prst="rect">
            <a:avLst/>
          </a:prstGeom>
        </p:spPr>
        <p:txBody>
          <a:bodyPr vert="horz" wrap="square" lIns="0" tIns="8226" rIns="0" bIns="0" rtlCol="0">
            <a:spAutoFit/>
          </a:bodyPr>
          <a:lstStyle/>
          <a:p>
            <a:pPr marL="346354" marR="29440" indent="-320810">
              <a:spcBef>
                <a:spcPts val="65"/>
              </a:spcBef>
              <a:buClr>
                <a:srgbClr val="CC0000"/>
              </a:buClr>
              <a:buFont typeface="Wingdings"/>
              <a:buChar char=""/>
              <a:tabLst>
                <a:tab pos="346354" algn="l"/>
              </a:tabLst>
            </a:pPr>
            <a:r>
              <a:rPr sz="1364" dirty="0">
                <a:latin typeface="Verdana"/>
                <a:cs typeface="Verdana"/>
              </a:rPr>
              <a:t>V</a:t>
            </a:r>
            <a:r>
              <a:rPr sz="1330" baseline="-21367" dirty="0">
                <a:latin typeface="Verdana"/>
                <a:cs typeface="Verdana"/>
              </a:rPr>
              <a:t>overshoot</a:t>
            </a:r>
            <a:r>
              <a:rPr sz="1330" spc="327" baseline="-21367" dirty="0">
                <a:latin typeface="Verdana"/>
                <a:cs typeface="Verdana"/>
              </a:rPr>
              <a:t> </a:t>
            </a:r>
            <a:r>
              <a:rPr sz="1364" dirty="0">
                <a:latin typeface="Verdana"/>
                <a:cs typeface="Verdana"/>
              </a:rPr>
              <a:t>is</a:t>
            </a:r>
            <a:r>
              <a:rPr sz="1364" spc="37" dirty="0">
                <a:latin typeface="Verdana"/>
                <a:cs typeface="Verdana"/>
              </a:rPr>
              <a:t> </a:t>
            </a:r>
            <a:r>
              <a:rPr sz="1364" spc="-7" dirty="0">
                <a:latin typeface="Verdana"/>
                <a:cs typeface="Verdana"/>
              </a:rPr>
              <a:t>typically </a:t>
            </a:r>
            <a:r>
              <a:rPr sz="1364" dirty="0">
                <a:latin typeface="Verdana"/>
                <a:cs typeface="Verdana"/>
              </a:rPr>
              <a:t>targeted</a:t>
            </a:r>
            <a:r>
              <a:rPr sz="1364" spc="-31" dirty="0">
                <a:latin typeface="Verdana"/>
                <a:cs typeface="Verdana"/>
              </a:rPr>
              <a:t> </a:t>
            </a:r>
            <a:r>
              <a:rPr sz="1364" dirty="0">
                <a:latin typeface="Verdana"/>
                <a:cs typeface="Verdana"/>
              </a:rPr>
              <a:t>to</a:t>
            </a:r>
            <a:r>
              <a:rPr sz="1364" spc="-34" dirty="0">
                <a:latin typeface="Verdana"/>
                <a:cs typeface="Verdana"/>
              </a:rPr>
              <a:t> </a:t>
            </a:r>
            <a:r>
              <a:rPr sz="1364" dirty="0">
                <a:latin typeface="Verdana"/>
                <a:cs typeface="Verdana"/>
              </a:rPr>
              <a:t>less</a:t>
            </a:r>
            <a:r>
              <a:rPr sz="1364" spc="-31" dirty="0">
                <a:latin typeface="Verdana"/>
                <a:cs typeface="Verdana"/>
              </a:rPr>
              <a:t> </a:t>
            </a:r>
            <a:r>
              <a:rPr sz="1364" spc="-14" dirty="0">
                <a:latin typeface="Verdana"/>
                <a:cs typeface="Verdana"/>
              </a:rPr>
              <a:t>than </a:t>
            </a:r>
            <a:r>
              <a:rPr sz="1364" dirty="0">
                <a:latin typeface="Verdana"/>
                <a:cs typeface="Verdana"/>
              </a:rPr>
              <a:t>10%</a:t>
            </a:r>
            <a:r>
              <a:rPr sz="1364" spc="-10" dirty="0">
                <a:latin typeface="Verdana"/>
                <a:cs typeface="Verdana"/>
              </a:rPr>
              <a:t> </a:t>
            </a:r>
            <a:r>
              <a:rPr sz="1364" dirty="0">
                <a:latin typeface="Verdana"/>
                <a:cs typeface="Verdana"/>
              </a:rPr>
              <a:t>of</a:t>
            </a:r>
            <a:r>
              <a:rPr sz="1364" spc="-20" dirty="0">
                <a:latin typeface="Verdana"/>
                <a:cs typeface="Verdana"/>
              </a:rPr>
              <a:t> </a:t>
            </a:r>
            <a:r>
              <a:rPr sz="1364" spc="-14" dirty="0">
                <a:latin typeface="Verdana"/>
                <a:cs typeface="Verdana"/>
              </a:rPr>
              <a:t>V</a:t>
            </a:r>
            <a:r>
              <a:rPr sz="1330" spc="-20" baseline="-21367" dirty="0">
                <a:latin typeface="Verdana"/>
                <a:cs typeface="Verdana"/>
              </a:rPr>
              <a:t>out</a:t>
            </a:r>
            <a:endParaRPr sz="1330" baseline="-21367">
              <a:latin typeface="Verdana"/>
              <a:cs typeface="Verdana"/>
            </a:endParaRPr>
          </a:p>
        </p:txBody>
      </p:sp>
      <p:sp>
        <p:nvSpPr>
          <p:cNvPr id="34" name="object 34"/>
          <p:cNvSpPr txBox="1"/>
          <p:nvPr/>
        </p:nvSpPr>
        <p:spPr>
          <a:xfrm>
            <a:off x="629880" y="5650248"/>
            <a:ext cx="2103293" cy="516640"/>
          </a:xfrm>
          <a:prstGeom prst="rect">
            <a:avLst/>
          </a:prstGeom>
        </p:spPr>
        <p:txBody>
          <a:bodyPr vert="horz" wrap="square" lIns="0" tIns="8659" rIns="0" bIns="0" rtlCol="0">
            <a:spAutoFit/>
          </a:bodyPr>
          <a:lstStyle/>
          <a:p>
            <a:pPr marL="346354" marR="29440" indent="-320810">
              <a:lnSpc>
                <a:spcPct val="120500"/>
              </a:lnSpc>
              <a:spcBef>
                <a:spcPts val="68"/>
              </a:spcBef>
              <a:buClr>
                <a:srgbClr val="CC0000"/>
              </a:buClr>
              <a:buFont typeface="Wingdings"/>
              <a:buChar char=""/>
              <a:tabLst>
                <a:tab pos="346354" algn="l"/>
              </a:tabLst>
            </a:pPr>
            <a:r>
              <a:rPr sz="1364" dirty="0">
                <a:latin typeface="Verdana"/>
                <a:cs typeface="Verdana"/>
              </a:rPr>
              <a:t>ΔI</a:t>
            </a:r>
            <a:r>
              <a:rPr sz="1330" baseline="-21367" dirty="0">
                <a:latin typeface="Verdana"/>
                <a:cs typeface="Verdana"/>
              </a:rPr>
              <a:t>load,max</a:t>
            </a:r>
            <a:r>
              <a:rPr sz="1330" spc="296" baseline="-21367" dirty="0">
                <a:latin typeface="Verdana"/>
                <a:cs typeface="Verdana"/>
              </a:rPr>
              <a:t> </a:t>
            </a:r>
            <a:r>
              <a:rPr sz="1364" dirty="0">
                <a:latin typeface="Verdana"/>
                <a:cs typeface="Verdana"/>
              </a:rPr>
              <a:t>is</a:t>
            </a:r>
            <a:r>
              <a:rPr sz="1364" spc="24" dirty="0">
                <a:latin typeface="Verdana"/>
                <a:cs typeface="Verdana"/>
              </a:rPr>
              <a:t> </a:t>
            </a:r>
            <a:r>
              <a:rPr sz="1364" spc="-7" dirty="0">
                <a:latin typeface="Verdana"/>
                <a:cs typeface="Verdana"/>
              </a:rPr>
              <a:t>different </a:t>
            </a:r>
            <a:r>
              <a:rPr sz="2045" baseline="13888" dirty="0">
                <a:latin typeface="Verdana"/>
                <a:cs typeface="Verdana"/>
              </a:rPr>
              <a:t>from</a:t>
            </a:r>
            <a:r>
              <a:rPr sz="2045" spc="-51" baseline="13888" dirty="0">
                <a:latin typeface="Verdana"/>
                <a:cs typeface="Verdana"/>
              </a:rPr>
              <a:t> </a:t>
            </a:r>
            <a:r>
              <a:rPr sz="2045" spc="-10" baseline="13888" dirty="0">
                <a:latin typeface="Verdana"/>
                <a:cs typeface="Verdana"/>
              </a:rPr>
              <a:t>I</a:t>
            </a:r>
            <a:r>
              <a:rPr sz="886" spc="-7" dirty="0">
                <a:latin typeface="Verdana"/>
                <a:cs typeface="Verdana"/>
              </a:rPr>
              <a:t>load,max</a:t>
            </a:r>
            <a:endParaRPr sz="886">
              <a:latin typeface="Verdana"/>
              <a:cs typeface="Verdana"/>
            </a:endParaRPr>
          </a:p>
        </p:txBody>
      </p:sp>
      <p:sp>
        <p:nvSpPr>
          <p:cNvPr id="35" name="object 35"/>
          <p:cNvSpPr txBox="1"/>
          <p:nvPr/>
        </p:nvSpPr>
        <p:spPr>
          <a:xfrm>
            <a:off x="2969916" y="1321256"/>
            <a:ext cx="781050" cy="218107"/>
          </a:xfrm>
          <a:prstGeom prst="rect">
            <a:avLst/>
          </a:prstGeom>
        </p:spPr>
        <p:txBody>
          <a:bodyPr vert="horz" wrap="square" lIns="0" tIns="8226" rIns="0" bIns="0" rtlCol="0">
            <a:spAutoFit/>
          </a:bodyPr>
          <a:lstStyle/>
          <a:p>
            <a:pPr marL="25977">
              <a:spcBef>
                <a:spcPts val="65"/>
              </a:spcBef>
            </a:pPr>
            <a:r>
              <a:rPr sz="2045" spc="-10" baseline="13888" dirty="0">
                <a:solidFill>
                  <a:srgbClr val="C00000"/>
                </a:solidFill>
                <a:latin typeface="Verdana"/>
                <a:cs typeface="Verdana"/>
              </a:rPr>
              <a:t>ΔI</a:t>
            </a:r>
            <a:r>
              <a:rPr sz="886" spc="-7" dirty="0">
                <a:solidFill>
                  <a:srgbClr val="C00000"/>
                </a:solidFill>
                <a:latin typeface="Verdana"/>
                <a:cs typeface="Verdana"/>
              </a:rPr>
              <a:t>load,max</a:t>
            </a:r>
            <a:endParaRPr sz="886">
              <a:latin typeface="Verdana"/>
              <a:cs typeface="Verdana"/>
            </a:endParaRPr>
          </a:p>
        </p:txBody>
      </p:sp>
      <p:pic>
        <p:nvPicPr>
          <p:cNvPr id="36" name="Picture 35"/>
          <p:cNvPicPr>
            <a:picLocks noChangeAspect="1"/>
          </p:cNvPicPr>
          <p:nvPr/>
        </p:nvPicPr>
        <p:blipFill>
          <a:blip r:embed="rId2"/>
          <a:stretch>
            <a:fillRect/>
          </a:stretch>
        </p:blipFill>
        <p:spPr>
          <a:xfrm>
            <a:off x="4492434" y="1993824"/>
            <a:ext cx="7436232" cy="2959252"/>
          </a:xfrm>
          <a:prstGeom prst="rect">
            <a:avLst/>
          </a:prstGeom>
        </p:spPr>
      </p:pic>
    </p:spTree>
    <p:extLst>
      <p:ext uri="{BB962C8B-B14F-4D97-AF65-F5344CB8AC3E}">
        <p14:creationId xmlns:p14="http://schemas.microsoft.com/office/powerpoint/2010/main" val="3733755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1200" y="232852"/>
            <a:ext cx="9026515" cy="531526"/>
          </a:xfrm>
          <a:prstGeom prst="rect">
            <a:avLst/>
          </a:prstGeom>
        </p:spPr>
        <p:txBody>
          <a:bodyPr vert="horz" wrap="square" lIns="0" tIns="8226" rIns="0" bIns="0" rtlCol="0">
            <a:spAutoFit/>
          </a:bodyPr>
          <a:lstStyle/>
          <a:p>
            <a:pPr marL="8659">
              <a:spcBef>
                <a:spcPts val="65"/>
              </a:spcBef>
            </a:pPr>
            <a:r>
              <a:rPr dirty="0"/>
              <a:t>Current</a:t>
            </a:r>
            <a:r>
              <a:rPr spc="-48" dirty="0"/>
              <a:t> </a:t>
            </a:r>
            <a:r>
              <a:rPr dirty="0"/>
              <a:t>and</a:t>
            </a:r>
            <a:r>
              <a:rPr spc="-44" dirty="0"/>
              <a:t> </a:t>
            </a:r>
            <a:r>
              <a:rPr dirty="0"/>
              <a:t>Power</a:t>
            </a:r>
            <a:r>
              <a:rPr spc="-31" dirty="0"/>
              <a:t> </a:t>
            </a:r>
            <a:r>
              <a:rPr dirty="0"/>
              <a:t>Efficiency</a:t>
            </a:r>
            <a:r>
              <a:rPr spc="-55" dirty="0"/>
              <a:t> </a:t>
            </a:r>
            <a:r>
              <a:rPr dirty="0"/>
              <a:t>(CE,</a:t>
            </a:r>
            <a:r>
              <a:rPr spc="-37" dirty="0"/>
              <a:t> </a:t>
            </a:r>
            <a:r>
              <a:rPr spc="-17" dirty="0"/>
              <a:t>PE)</a:t>
            </a:r>
          </a:p>
        </p:txBody>
      </p:sp>
      <p:grpSp>
        <p:nvGrpSpPr>
          <p:cNvPr id="3" name="object 3"/>
          <p:cNvGrpSpPr/>
          <p:nvPr/>
        </p:nvGrpSpPr>
        <p:grpSpPr>
          <a:xfrm>
            <a:off x="3737783" y="2282200"/>
            <a:ext cx="276658" cy="447242"/>
            <a:chOff x="3810761" y="2850514"/>
            <a:chExt cx="405765" cy="655955"/>
          </a:xfrm>
        </p:grpSpPr>
        <p:sp>
          <p:nvSpPr>
            <p:cNvPr id="4" name="object 4"/>
            <p:cNvSpPr/>
            <p:nvPr/>
          </p:nvSpPr>
          <p:spPr>
            <a:xfrm>
              <a:off x="4082795" y="3059429"/>
              <a:ext cx="119380" cy="234950"/>
            </a:xfrm>
            <a:custGeom>
              <a:avLst/>
              <a:gdLst/>
              <a:ahLst/>
              <a:cxnLst/>
              <a:rect l="l" t="t" r="r" b="b"/>
              <a:pathLst>
                <a:path w="119379" h="234950">
                  <a:moveTo>
                    <a:pt x="0" y="234696"/>
                  </a:moveTo>
                  <a:lnTo>
                    <a:pt x="0" y="0"/>
                  </a:lnTo>
                </a:path>
                <a:path w="119379" h="234950">
                  <a:moveTo>
                    <a:pt x="0" y="234696"/>
                  </a:moveTo>
                  <a:lnTo>
                    <a:pt x="118872" y="234696"/>
                  </a:lnTo>
                </a:path>
              </a:pathLst>
            </a:custGeom>
            <a:ln w="28956">
              <a:solidFill>
                <a:srgbClr val="000000"/>
              </a:solidFill>
            </a:ln>
          </p:spPr>
          <p:txBody>
            <a:bodyPr wrap="square" lIns="0" tIns="0" rIns="0" bIns="0" rtlCol="0"/>
            <a:lstStyle/>
            <a:p>
              <a:endParaRPr sz="1227"/>
            </a:p>
          </p:txBody>
        </p:sp>
        <p:sp>
          <p:nvSpPr>
            <p:cNvPr id="5" name="object 5"/>
            <p:cNvSpPr/>
            <p:nvPr/>
          </p:nvSpPr>
          <p:spPr>
            <a:xfrm>
              <a:off x="4082795" y="3059429"/>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endParaRPr sz="1227"/>
            </a:p>
          </p:txBody>
        </p:sp>
        <p:sp>
          <p:nvSpPr>
            <p:cNvPr id="6" name="object 6"/>
            <p:cNvSpPr/>
            <p:nvPr/>
          </p:nvSpPr>
          <p:spPr>
            <a:xfrm>
              <a:off x="4201667" y="2865119"/>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endParaRPr sz="1227"/>
            </a:p>
          </p:txBody>
        </p:sp>
        <p:sp>
          <p:nvSpPr>
            <p:cNvPr id="7" name="object 7"/>
            <p:cNvSpPr/>
            <p:nvPr/>
          </p:nvSpPr>
          <p:spPr>
            <a:xfrm>
              <a:off x="4201667" y="3295649"/>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pic>
          <p:nvPicPr>
            <p:cNvPr id="8" name="object 8"/>
            <p:cNvPicPr/>
            <p:nvPr/>
          </p:nvPicPr>
          <p:blipFill>
            <a:blip r:embed="rId2" cstate="print"/>
            <a:stretch>
              <a:fillRect/>
            </a:stretch>
          </p:blipFill>
          <p:spPr>
            <a:xfrm>
              <a:off x="3810761" y="3063239"/>
              <a:ext cx="208787" cy="233934"/>
            </a:xfrm>
            <a:prstGeom prst="rect">
              <a:avLst/>
            </a:prstGeom>
          </p:spPr>
        </p:pic>
      </p:grpSp>
      <p:sp>
        <p:nvSpPr>
          <p:cNvPr id="9" name="object 9"/>
          <p:cNvSpPr txBox="1"/>
          <p:nvPr/>
        </p:nvSpPr>
        <p:spPr>
          <a:xfrm>
            <a:off x="4373242" y="1676933"/>
            <a:ext cx="253278" cy="197641"/>
          </a:xfrm>
          <a:prstGeom prst="rect">
            <a:avLst/>
          </a:prstGeom>
        </p:spPr>
        <p:txBody>
          <a:bodyPr vert="horz" wrap="square" lIns="0" tIns="8659" rIns="0" bIns="0" rtlCol="0">
            <a:spAutoFit/>
          </a:bodyPr>
          <a:lstStyle/>
          <a:p>
            <a:pPr marL="25977">
              <a:spcBef>
                <a:spcPts val="68"/>
              </a:spcBef>
            </a:pPr>
            <a:r>
              <a:rPr sz="1841" spc="-25" baseline="13888" dirty="0">
                <a:latin typeface="Verdana"/>
                <a:cs typeface="Verdana"/>
              </a:rPr>
              <a:t>V</a:t>
            </a:r>
            <a:r>
              <a:rPr sz="818" spc="-17" dirty="0">
                <a:latin typeface="Verdana"/>
                <a:cs typeface="Verdana"/>
              </a:rPr>
              <a:t>in</a:t>
            </a:r>
            <a:endParaRPr sz="818">
              <a:latin typeface="Verdana"/>
              <a:cs typeface="Verdana"/>
            </a:endParaRPr>
          </a:p>
        </p:txBody>
      </p:sp>
      <p:grpSp>
        <p:nvGrpSpPr>
          <p:cNvPr id="10" name="object 10"/>
          <p:cNvGrpSpPr/>
          <p:nvPr/>
        </p:nvGrpSpPr>
        <p:grpSpPr>
          <a:xfrm>
            <a:off x="2890318" y="2317530"/>
            <a:ext cx="861147" cy="365414"/>
            <a:chOff x="2567813" y="2902332"/>
            <a:chExt cx="1263015" cy="535940"/>
          </a:xfrm>
        </p:grpSpPr>
        <p:sp>
          <p:nvSpPr>
            <p:cNvPr id="11" name="object 11"/>
            <p:cNvSpPr/>
            <p:nvPr/>
          </p:nvSpPr>
          <p:spPr>
            <a:xfrm>
              <a:off x="3351276" y="3179064"/>
              <a:ext cx="464820" cy="0"/>
            </a:xfrm>
            <a:custGeom>
              <a:avLst/>
              <a:gdLst/>
              <a:ahLst/>
              <a:cxnLst/>
              <a:rect l="l" t="t" r="r" b="b"/>
              <a:pathLst>
                <a:path w="464820">
                  <a:moveTo>
                    <a:pt x="0" y="0"/>
                  </a:moveTo>
                  <a:lnTo>
                    <a:pt x="464820" y="0"/>
                  </a:lnTo>
                </a:path>
              </a:pathLst>
            </a:custGeom>
            <a:ln w="28956">
              <a:solidFill>
                <a:srgbClr val="000000"/>
              </a:solidFill>
            </a:ln>
          </p:spPr>
          <p:txBody>
            <a:bodyPr wrap="square" lIns="0" tIns="0" rIns="0" bIns="0" rtlCol="0"/>
            <a:lstStyle/>
            <a:p>
              <a:endParaRPr sz="1227"/>
            </a:p>
          </p:txBody>
        </p:sp>
        <p:sp>
          <p:nvSpPr>
            <p:cNvPr id="12" name="object 12"/>
            <p:cNvSpPr/>
            <p:nvPr/>
          </p:nvSpPr>
          <p:spPr>
            <a:xfrm>
              <a:off x="2582418" y="2916937"/>
              <a:ext cx="755650" cy="506730"/>
            </a:xfrm>
            <a:custGeom>
              <a:avLst/>
              <a:gdLst/>
              <a:ahLst/>
              <a:cxnLst/>
              <a:rect l="l" t="t" r="r" b="b"/>
              <a:pathLst>
                <a:path w="755650" h="506729">
                  <a:moveTo>
                    <a:pt x="0" y="84454"/>
                  </a:moveTo>
                  <a:lnTo>
                    <a:pt x="6636" y="51579"/>
                  </a:lnTo>
                  <a:lnTo>
                    <a:pt x="24734" y="24734"/>
                  </a:lnTo>
                  <a:lnTo>
                    <a:pt x="51579" y="6636"/>
                  </a:lnTo>
                  <a:lnTo>
                    <a:pt x="84455" y="0"/>
                  </a:lnTo>
                  <a:lnTo>
                    <a:pt x="670687" y="0"/>
                  </a:lnTo>
                  <a:lnTo>
                    <a:pt x="703562" y="6636"/>
                  </a:lnTo>
                  <a:lnTo>
                    <a:pt x="730407" y="24734"/>
                  </a:lnTo>
                  <a:lnTo>
                    <a:pt x="748505" y="51579"/>
                  </a:lnTo>
                  <a:lnTo>
                    <a:pt x="755142" y="84454"/>
                  </a:lnTo>
                  <a:lnTo>
                    <a:pt x="755142" y="422274"/>
                  </a:lnTo>
                  <a:lnTo>
                    <a:pt x="748505" y="455150"/>
                  </a:lnTo>
                  <a:lnTo>
                    <a:pt x="730407" y="481995"/>
                  </a:lnTo>
                  <a:lnTo>
                    <a:pt x="703562" y="500093"/>
                  </a:lnTo>
                  <a:lnTo>
                    <a:pt x="670687" y="506729"/>
                  </a:lnTo>
                  <a:lnTo>
                    <a:pt x="84455" y="506729"/>
                  </a:lnTo>
                  <a:lnTo>
                    <a:pt x="51579" y="500093"/>
                  </a:lnTo>
                  <a:lnTo>
                    <a:pt x="24734" y="481995"/>
                  </a:lnTo>
                  <a:lnTo>
                    <a:pt x="6636" y="455150"/>
                  </a:lnTo>
                  <a:lnTo>
                    <a:pt x="0" y="422274"/>
                  </a:lnTo>
                  <a:lnTo>
                    <a:pt x="0" y="84454"/>
                  </a:lnTo>
                  <a:close/>
                </a:path>
              </a:pathLst>
            </a:custGeom>
            <a:ln w="28956">
              <a:solidFill>
                <a:srgbClr val="000000"/>
              </a:solidFill>
            </a:ln>
          </p:spPr>
          <p:txBody>
            <a:bodyPr wrap="square" lIns="0" tIns="0" rIns="0" bIns="0" rtlCol="0"/>
            <a:lstStyle/>
            <a:p>
              <a:endParaRPr sz="1227"/>
            </a:p>
          </p:txBody>
        </p:sp>
      </p:grpSp>
      <p:sp>
        <p:nvSpPr>
          <p:cNvPr id="13" name="object 13"/>
          <p:cNvSpPr txBox="1"/>
          <p:nvPr/>
        </p:nvSpPr>
        <p:spPr>
          <a:xfrm>
            <a:off x="2980935" y="2352799"/>
            <a:ext cx="353724" cy="260479"/>
          </a:xfrm>
          <a:prstGeom prst="rect">
            <a:avLst/>
          </a:prstGeom>
        </p:spPr>
        <p:txBody>
          <a:bodyPr vert="horz" wrap="square" lIns="0" tIns="8659" rIns="0" bIns="0" rtlCol="0">
            <a:spAutoFit/>
          </a:bodyPr>
          <a:lstStyle/>
          <a:p>
            <a:pPr marL="8659">
              <a:spcBef>
                <a:spcPts val="68"/>
              </a:spcBef>
            </a:pPr>
            <a:r>
              <a:rPr sz="1636" spc="-14" dirty="0">
                <a:latin typeface="Verdana"/>
                <a:cs typeface="Verdana"/>
              </a:rPr>
              <a:t>ctrl</a:t>
            </a:r>
            <a:endParaRPr sz="1636">
              <a:latin typeface="Verdana"/>
              <a:cs typeface="Verdana"/>
            </a:endParaRPr>
          </a:p>
        </p:txBody>
      </p:sp>
      <p:sp>
        <p:nvSpPr>
          <p:cNvPr id="14" name="object 14"/>
          <p:cNvSpPr/>
          <p:nvPr/>
        </p:nvSpPr>
        <p:spPr>
          <a:xfrm>
            <a:off x="2076795" y="2396587"/>
            <a:ext cx="299605" cy="2165"/>
          </a:xfrm>
          <a:custGeom>
            <a:avLst/>
            <a:gdLst/>
            <a:ahLst/>
            <a:cxnLst/>
            <a:rect l="l" t="t" r="r" b="b"/>
            <a:pathLst>
              <a:path w="439419" h="3175">
                <a:moveTo>
                  <a:pt x="0" y="0"/>
                </a:moveTo>
                <a:lnTo>
                  <a:pt x="438912" y="3048"/>
                </a:lnTo>
              </a:path>
            </a:pathLst>
          </a:custGeom>
          <a:ln w="28955">
            <a:solidFill>
              <a:srgbClr val="000000"/>
            </a:solidFill>
          </a:ln>
        </p:spPr>
        <p:txBody>
          <a:bodyPr wrap="square" lIns="0" tIns="0" rIns="0" bIns="0" rtlCol="0"/>
          <a:lstStyle/>
          <a:p>
            <a:endParaRPr sz="1227"/>
          </a:p>
        </p:txBody>
      </p:sp>
      <p:sp>
        <p:nvSpPr>
          <p:cNvPr id="15" name="object 15"/>
          <p:cNvSpPr txBox="1"/>
          <p:nvPr/>
        </p:nvSpPr>
        <p:spPr>
          <a:xfrm>
            <a:off x="1997782" y="2144685"/>
            <a:ext cx="124258" cy="197578"/>
          </a:xfrm>
          <a:prstGeom prst="rect">
            <a:avLst/>
          </a:prstGeom>
        </p:spPr>
        <p:txBody>
          <a:bodyPr vert="horz" wrap="square" lIns="0" tIns="8659" rIns="0" bIns="0" rtlCol="0">
            <a:spAutoFit/>
          </a:bodyPr>
          <a:lstStyle/>
          <a:p>
            <a:pPr marL="8659">
              <a:spcBef>
                <a:spcPts val="68"/>
              </a:spcBef>
            </a:pPr>
            <a:r>
              <a:rPr sz="1227" spc="-34" dirty="0">
                <a:latin typeface="Verdana"/>
                <a:cs typeface="Verdana"/>
              </a:rPr>
              <a:t>V</a:t>
            </a:r>
            <a:endParaRPr sz="1227">
              <a:latin typeface="Verdana"/>
              <a:cs typeface="Verdana"/>
            </a:endParaRPr>
          </a:p>
        </p:txBody>
      </p:sp>
      <p:sp>
        <p:nvSpPr>
          <p:cNvPr id="16" name="object 16"/>
          <p:cNvSpPr txBox="1"/>
          <p:nvPr/>
        </p:nvSpPr>
        <p:spPr>
          <a:xfrm>
            <a:off x="2104289" y="2235086"/>
            <a:ext cx="160193" cy="134612"/>
          </a:xfrm>
          <a:prstGeom prst="rect">
            <a:avLst/>
          </a:prstGeom>
        </p:spPr>
        <p:txBody>
          <a:bodyPr vert="horz" wrap="square" lIns="0" tIns="8659" rIns="0" bIns="0" rtlCol="0">
            <a:spAutoFit/>
          </a:bodyPr>
          <a:lstStyle/>
          <a:p>
            <a:pPr marL="8659">
              <a:spcBef>
                <a:spcPts val="68"/>
              </a:spcBef>
            </a:pPr>
            <a:r>
              <a:rPr sz="818" spc="-17" dirty="0">
                <a:latin typeface="Verdana"/>
                <a:cs typeface="Verdana"/>
              </a:rPr>
              <a:t>ref</a:t>
            </a:r>
            <a:endParaRPr sz="818">
              <a:latin typeface="Verdana"/>
              <a:cs typeface="Verdana"/>
            </a:endParaRPr>
          </a:p>
        </p:txBody>
      </p:sp>
      <p:grpSp>
        <p:nvGrpSpPr>
          <p:cNvPr id="17" name="object 17"/>
          <p:cNvGrpSpPr/>
          <p:nvPr/>
        </p:nvGrpSpPr>
        <p:grpSpPr>
          <a:xfrm>
            <a:off x="2160876" y="2490018"/>
            <a:ext cx="1938770" cy="1400608"/>
            <a:chOff x="1497964" y="3155314"/>
            <a:chExt cx="2843530" cy="2054225"/>
          </a:xfrm>
        </p:grpSpPr>
        <p:sp>
          <p:nvSpPr>
            <p:cNvPr id="18" name="object 18"/>
            <p:cNvSpPr/>
            <p:nvPr/>
          </p:nvSpPr>
          <p:spPr>
            <a:xfrm>
              <a:off x="3349751" y="3879341"/>
              <a:ext cx="0" cy="508000"/>
            </a:xfrm>
            <a:custGeom>
              <a:avLst/>
              <a:gdLst/>
              <a:ahLst/>
              <a:cxnLst/>
              <a:rect l="l" t="t" r="r" b="b"/>
              <a:pathLst>
                <a:path h="508000">
                  <a:moveTo>
                    <a:pt x="0" y="507492"/>
                  </a:moveTo>
                  <a:lnTo>
                    <a:pt x="0" y="0"/>
                  </a:lnTo>
                </a:path>
              </a:pathLst>
            </a:custGeom>
            <a:ln w="28956">
              <a:solidFill>
                <a:srgbClr val="000000"/>
              </a:solidFill>
            </a:ln>
          </p:spPr>
          <p:txBody>
            <a:bodyPr wrap="square" lIns="0" tIns="0" rIns="0" bIns="0" rtlCol="0"/>
            <a:lstStyle/>
            <a:p>
              <a:endParaRPr sz="1227"/>
            </a:p>
          </p:txBody>
        </p:sp>
        <p:pic>
          <p:nvPicPr>
            <p:cNvPr id="19" name="object 19"/>
            <p:cNvPicPr/>
            <p:nvPr/>
          </p:nvPicPr>
          <p:blipFill>
            <a:blip r:embed="rId3" cstate="print"/>
            <a:stretch>
              <a:fillRect/>
            </a:stretch>
          </p:blipFill>
          <p:spPr>
            <a:xfrm>
              <a:off x="3306312" y="3835907"/>
              <a:ext cx="86868" cy="86868"/>
            </a:xfrm>
            <a:prstGeom prst="rect">
              <a:avLst/>
            </a:prstGeom>
          </p:spPr>
        </p:pic>
        <p:sp>
          <p:nvSpPr>
            <p:cNvPr id="20" name="object 20"/>
            <p:cNvSpPr/>
            <p:nvPr/>
          </p:nvSpPr>
          <p:spPr>
            <a:xfrm>
              <a:off x="3349751" y="4464557"/>
              <a:ext cx="0" cy="511809"/>
            </a:xfrm>
            <a:custGeom>
              <a:avLst/>
              <a:gdLst/>
              <a:ahLst/>
              <a:cxnLst/>
              <a:rect l="l" t="t" r="r" b="b"/>
              <a:pathLst>
                <a:path h="511810">
                  <a:moveTo>
                    <a:pt x="0" y="511301"/>
                  </a:moveTo>
                  <a:lnTo>
                    <a:pt x="0" y="0"/>
                  </a:lnTo>
                </a:path>
              </a:pathLst>
            </a:custGeom>
            <a:ln w="28956">
              <a:solidFill>
                <a:srgbClr val="000000"/>
              </a:solidFill>
            </a:ln>
          </p:spPr>
          <p:txBody>
            <a:bodyPr wrap="square" lIns="0" tIns="0" rIns="0" bIns="0" rtlCol="0"/>
            <a:lstStyle/>
            <a:p>
              <a:endParaRPr sz="1227"/>
            </a:p>
          </p:txBody>
        </p:sp>
        <p:sp>
          <p:nvSpPr>
            <p:cNvPr id="21" name="object 21"/>
            <p:cNvSpPr/>
            <p:nvPr/>
          </p:nvSpPr>
          <p:spPr>
            <a:xfrm>
              <a:off x="3196589" y="4389119"/>
              <a:ext cx="308610" cy="0"/>
            </a:xfrm>
            <a:custGeom>
              <a:avLst/>
              <a:gdLst/>
              <a:ahLst/>
              <a:cxnLst/>
              <a:rect l="l" t="t" r="r" b="b"/>
              <a:pathLst>
                <a:path w="308610">
                  <a:moveTo>
                    <a:pt x="308610" y="0"/>
                  </a:moveTo>
                  <a:lnTo>
                    <a:pt x="0" y="0"/>
                  </a:lnTo>
                </a:path>
              </a:pathLst>
            </a:custGeom>
            <a:ln w="28956">
              <a:solidFill>
                <a:srgbClr val="000000"/>
              </a:solidFill>
            </a:ln>
          </p:spPr>
          <p:txBody>
            <a:bodyPr wrap="square" lIns="0" tIns="0" rIns="0" bIns="0" rtlCol="0"/>
            <a:lstStyle/>
            <a:p>
              <a:endParaRPr sz="1227"/>
            </a:p>
          </p:txBody>
        </p:sp>
        <p:sp>
          <p:nvSpPr>
            <p:cNvPr id="22" name="object 22"/>
            <p:cNvSpPr/>
            <p:nvPr/>
          </p:nvSpPr>
          <p:spPr>
            <a:xfrm>
              <a:off x="3196589" y="4469891"/>
              <a:ext cx="308610" cy="0"/>
            </a:xfrm>
            <a:custGeom>
              <a:avLst/>
              <a:gdLst/>
              <a:ahLst/>
              <a:cxnLst/>
              <a:rect l="l" t="t" r="r" b="b"/>
              <a:pathLst>
                <a:path w="308610">
                  <a:moveTo>
                    <a:pt x="308610" y="0"/>
                  </a:moveTo>
                  <a:lnTo>
                    <a:pt x="0" y="0"/>
                  </a:lnTo>
                </a:path>
              </a:pathLst>
            </a:custGeom>
            <a:ln w="28956">
              <a:solidFill>
                <a:srgbClr val="000000"/>
              </a:solidFill>
            </a:ln>
          </p:spPr>
          <p:txBody>
            <a:bodyPr wrap="square" lIns="0" tIns="0" rIns="0" bIns="0" rtlCol="0"/>
            <a:lstStyle/>
            <a:p>
              <a:endParaRPr sz="1227"/>
            </a:p>
          </p:txBody>
        </p:sp>
        <p:sp>
          <p:nvSpPr>
            <p:cNvPr id="23" name="object 23"/>
            <p:cNvSpPr/>
            <p:nvPr/>
          </p:nvSpPr>
          <p:spPr>
            <a:xfrm>
              <a:off x="3233166" y="5094732"/>
              <a:ext cx="234315" cy="0"/>
            </a:xfrm>
            <a:custGeom>
              <a:avLst/>
              <a:gdLst/>
              <a:ahLst/>
              <a:cxnLst/>
              <a:rect l="l" t="t" r="r" b="b"/>
              <a:pathLst>
                <a:path w="234314">
                  <a:moveTo>
                    <a:pt x="0" y="0"/>
                  </a:moveTo>
                  <a:lnTo>
                    <a:pt x="233934" y="0"/>
                  </a:lnTo>
                </a:path>
              </a:pathLst>
            </a:custGeom>
            <a:ln w="28956">
              <a:solidFill>
                <a:srgbClr val="000000"/>
              </a:solidFill>
            </a:ln>
          </p:spPr>
          <p:txBody>
            <a:bodyPr wrap="square" lIns="0" tIns="0" rIns="0" bIns="0" rtlCol="0"/>
            <a:lstStyle/>
            <a:p>
              <a:endParaRPr sz="1227"/>
            </a:p>
          </p:txBody>
        </p:sp>
        <p:sp>
          <p:nvSpPr>
            <p:cNvPr id="24" name="object 24"/>
            <p:cNvSpPr/>
            <p:nvPr/>
          </p:nvSpPr>
          <p:spPr>
            <a:xfrm>
              <a:off x="3291839" y="5144261"/>
              <a:ext cx="115570" cy="0"/>
            </a:xfrm>
            <a:custGeom>
              <a:avLst/>
              <a:gdLst/>
              <a:ahLst/>
              <a:cxnLst/>
              <a:rect l="l" t="t" r="r" b="b"/>
              <a:pathLst>
                <a:path w="115570">
                  <a:moveTo>
                    <a:pt x="0" y="0"/>
                  </a:moveTo>
                  <a:lnTo>
                    <a:pt x="115062" y="0"/>
                  </a:lnTo>
                </a:path>
              </a:pathLst>
            </a:custGeom>
            <a:ln w="28956">
              <a:solidFill>
                <a:srgbClr val="000000"/>
              </a:solidFill>
            </a:ln>
          </p:spPr>
          <p:txBody>
            <a:bodyPr wrap="square" lIns="0" tIns="0" rIns="0" bIns="0" rtlCol="0"/>
            <a:lstStyle/>
            <a:p>
              <a:endParaRPr sz="1227"/>
            </a:p>
          </p:txBody>
        </p:sp>
        <p:sp>
          <p:nvSpPr>
            <p:cNvPr id="25" name="object 25"/>
            <p:cNvSpPr/>
            <p:nvPr/>
          </p:nvSpPr>
          <p:spPr>
            <a:xfrm>
              <a:off x="3319272" y="5194554"/>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endParaRPr sz="1227"/>
            </a:p>
          </p:txBody>
        </p:sp>
        <p:sp>
          <p:nvSpPr>
            <p:cNvPr id="26" name="object 26"/>
            <p:cNvSpPr/>
            <p:nvPr/>
          </p:nvSpPr>
          <p:spPr>
            <a:xfrm>
              <a:off x="3349751" y="4898135"/>
              <a:ext cx="0" cy="196850"/>
            </a:xfrm>
            <a:custGeom>
              <a:avLst/>
              <a:gdLst/>
              <a:ahLst/>
              <a:cxnLst/>
              <a:rect l="l" t="t" r="r" b="b"/>
              <a:pathLst>
                <a:path h="196850">
                  <a:moveTo>
                    <a:pt x="0" y="196595"/>
                  </a:moveTo>
                  <a:lnTo>
                    <a:pt x="0" y="0"/>
                  </a:lnTo>
                </a:path>
              </a:pathLst>
            </a:custGeom>
            <a:ln w="28956">
              <a:solidFill>
                <a:srgbClr val="000000"/>
              </a:solidFill>
            </a:ln>
          </p:spPr>
          <p:txBody>
            <a:bodyPr wrap="square" lIns="0" tIns="0" rIns="0" bIns="0" rtlCol="0"/>
            <a:lstStyle/>
            <a:p>
              <a:endParaRPr sz="1227"/>
            </a:p>
          </p:txBody>
        </p:sp>
        <p:sp>
          <p:nvSpPr>
            <p:cNvPr id="27" name="object 27"/>
            <p:cNvSpPr/>
            <p:nvPr/>
          </p:nvSpPr>
          <p:spPr>
            <a:xfrm>
              <a:off x="4201667" y="3464813"/>
              <a:ext cx="5080" cy="741045"/>
            </a:xfrm>
            <a:custGeom>
              <a:avLst/>
              <a:gdLst/>
              <a:ahLst/>
              <a:cxnLst/>
              <a:rect l="l" t="t" r="r" b="b"/>
              <a:pathLst>
                <a:path w="5079" h="741045">
                  <a:moveTo>
                    <a:pt x="0" y="0"/>
                  </a:moveTo>
                  <a:lnTo>
                    <a:pt x="4572" y="740664"/>
                  </a:lnTo>
                </a:path>
              </a:pathLst>
            </a:custGeom>
            <a:ln w="28955">
              <a:solidFill>
                <a:srgbClr val="000000"/>
              </a:solidFill>
            </a:ln>
          </p:spPr>
          <p:txBody>
            <a:bodyPr wrap="square" lIns="0" tIns="0" rIns="0" bIns="0" rtlCol="0"/>
            <a:lstStyle/>
            <a:p>
              <a:endParaRPr sz="1227"/>
            </a:p>
          </p:txBody>
        </p:sp>
        <p:sp>
          <p:nvSpPr>
            <p:cNvPr id="28" name="object 28"/>
            <p:cNvSpPr/>
            <p:nvPr/>
          </p:nvSpPr>
          <p:spPr>
            <a:xfrm>
              <a:off x="1512569" y="3862577"/>
              <a:ext cx="2695575" cy="7620"/>
            </a:xfrm>
            <a:custGeom>
              <a:avLst/>
              <a:gdLst/>
              <a:ahLst/>
              <a:cxnLst/>
              <a:rect l="l" t="t" r="r" b="b"/>
              <a:pathLst>
                <a:path w="2695575" h="7620">
                  <a:moveTo>
                    <a:pt x="0" y="7620"/>
                  </a:moveTo>
                  <a:lnTo>
                    <a:pt x="2695194" y="0"/>
                  </a:lnTo>
                </a:path>
              </a:pathLst>
            </a:custGeom>
            <a:ln w="28956">
              <a:solidFill>
                <a:srgbClr val="000000"/>
              </a:solidFill>
            </a:ln>
          </p:spPr>
          <p:txBody>
            <a:bodyPr wrap="square" lIns="0" tIns="0" rIns="0" bIns="0" rtlCol="0"/>
            <a:lstStyle/>
            <a:p>
              <a:endParaRPr sz="1227"/>
            </a:p>
          </p:txBody>
        </p:sp>
        <p:pic>
          <p:nvPicPr>
            <p:cNvPr id="29" name="object 29"/>
            <p:cNvPicPr/>
            <p:nvPr/>
          </p:nvPicPr>
          <p:blipFill>
            <a:blip r:embed="rId4" cstate="print"/>
            <a:stretch>
              <a:fillRect/>
            </a:stretch>
          </p:blipFill>
          <p:spPr>
            <a:xfrm>
              <a:off x="4164329" y="3819140"/>
              <a:ext cx="86867" cy="86867"/>
            </a:xfrm>
            <a:prstGeom prst="rect">
              <a:avLst/>
            </a:prstGeom>
          </p:spPr>
        </p:pic>
        <p:sp>
          <p:nvSpPr>
            <p:cNvPr id="30" name="object 30"/>
            <p:cNvSpPr/>
            <p:nvPr/>
          </p:nvSpPr>
          <p:spPr>
            <a:xfrm>
              <a:off x="1520951" y="3169919"/>
              <a:ext cx="3810" cy="691515"/>
            </a:xfrm>
            <a:custGeom>
              <a:avLst/>
              <a:gdLst/>
              <a:ahLst/>
              <a:cxnLst/>
              <a:rect l="l" t="t" r="r" b="b"/>
              <a:pathLst>
                <a:path w="3809" h="691514">
                  <a:moveTo>
                    <a:pt x="0" y="0"/>
                  </a:moveTo>
                  <a:lnTo>
                    <a:pt x="3810" y="691134"/>
                  </a:lnTo>
                </a:path>
              </a:pathLst>
            </a:custGeom>
            <a:ln w="28955">
              <a:solidFill>
                <a:srgbClr val="000000"/>
              </a:solidFill>
            </a:ln>
          </p:spPr>
          <p:txBody>
            <a:bodyPr wrap="square" lIns="0" tIns="0" rIns="0" bIns="0" rtlCol="0"/>
            <a:lstStyle/>
            <a:p>
              <a:endParaRPr sz="1227"/>
            </a:p>
          </p:txBody>
        </p:sp>
        <p:sp>
          <p:nvSpPr>
            <p:cNvPr id="31" name="object 31"/>
            <p:cNvSpPr/>
            <p:nvPr/>
          </p:nvSpPr>
          <p:spPr>
            <a:xfrm>
              <a:off x="2354579" y="3169919"/>
              <a:ext cx="227965" cy="0"/>
            </a:xfrm>
            <a:custGeom>
              <a:avLst/>
              <a:gdLst/>
              <a:ahLst/>
              <a:cxnLst/>
              <a:rect l="l" t="t" r="r" b="b"/>
              <a:pathLst>
                <a:path w="227964">
                  <a:moveTo>
                    <a:pt x="0" y="0"/>
                  </a:moveTo>
                  <a:lnTo>
                    <a:pt x="227838" y="0"/>
                  </a:lnTo>
                </a:path>
              </a:pathLst>
            </a:custGeom>
            <a:ln w="28956">
              <a:solidFill>
                <a:srgbClr val="000000"/>
              </a:solidFill>
            </a:ln>
          </p:spPr>
          <p:txBody>
            <a:bodyPr wrap="square" lIns="0" tIns="0" rIns="0" bIns="0" rtlCol="0"/>
            <a:lstStyle/>
            <a:p>
              <a:endParaRPr sz="1227"/>
            </a:p>
          </p:txBody>
        </p:sp>
        <p:sp>
          <p:nvSpPr>
            <p:cNvPr id="32" name="object 32"/>
            <p:cNvSpPr/>
            <p:nvPr/>
          </p:nvSpPr>
          <p:spPr>
            <a:xfrm>
              <a:off x="4208525" y="4687061"/>
              <a:ext cx="0" cy="243204"/>
            </a:xfrm>
            <a:custGeom>
              <a:avLst/>
              <a:gdLst/>
              <a:ahLst/>
              <a:cxnLst/>
              <a:rect l="l" t="t" r="r" b="b"/>
              <a:pathLst>
                <a:path h="243204">
                  <a:moveTo>
                    <a:pt x="0" y="0"/>
                  </a:moveTo>
                  <a:lnTo>
                    <a:pt x="0" y="243078"/>
                  </a:lnTo>
                </a:path>
              </a:pathLst>
            </a:custGeom>
            <a:ln w="28956">
              <a:solidFill>
                <a:srgbClr val="000000"/>
              </a:solidFill>
            </a:ln>
          </p:spPr>
          <p:txBody>
            <a:bodyPr wrap="square" lIns="0" tIns="0" rIns="0" bIns="0" rtlCol="0"/>
            <a:lstStyle/>
            <a:p>
              <a:endParaRPr sz="1227"/>
            </a:p>
          </p:txBody>
        </p:sp>
        <p:sp>
          <p:nvSpPr>
            <p:cNvPr id="33" name="object 33"/>
            <p:cNvSpPr/>
            <p:nvPr/>
          </p:nvSpPr>
          <p:spPr>
            <a:xfrm>
              <a:off x="4091939" y="5094732"/>
              <a:ext cx="234950" cy="0"/>
            </a:xfrm>
            <a:custGeom>
              <a:avLst/>
              <a:gdLst/>
              <a:ahLst/>
              <a:cxnLst/>
              <a:rect l="l" t="t" r="r" b="b"/>
              <a:pathLst>
                <a:path w="234950">
                  <a:moveTo>
                    <a:pt x="0" y="0"/>
                  </a:moveTo>
                  <a:lnTo>
                    <a:pt x="234696" y="0"/>
                  </a:lnTo>
                </a:path>
              </a:pathLst>
            </a:custGeom>
            <a:ln w="28956">
              <a:solidFill>
                <a:srgbClr val="000000"/>
              </a:solidFill>
            </a:ln>
          </p:spPr>
          <p:txBody>
            <a:bodyPr wrap="square" lIns="0" tIns="0" rIns="0" bIns="0" rtlCol="0"/>
            <a:lstStyle/>
            <a:p>
              <a:endParaRPr sz="1227"/>
            </a:p>
          </p:txBody>
        </p:sp>
        <p:sp>
          <p:nvSpPr>
            <p:cNvPr id="34" name="object 34"/>
            <p:cNvSpPr/>
            <p:nvPr/>
          </p:nvSpPr>
          <p:spPr>
            <a:xfrm>
              <a:off x="4150613" y="5144261"/>
              <a:ext cx="116205" cy="0"/>
            </a:xfrm>
            <a:custGeom>
              <a:avLst/>
              <a:gdLst/>
              <a:ahLst/>
              <a:cxnLst/>
              <a:rect l="l" t="t" r="r" b="b"/>
              <a:pathLst>
                <a:path w="116204">
                  <a:moveTo>
                    <a:pt x="0" y="0"/>
                  </a:moveTo>
                  <a:lnTo>
                    <a:pt x="115823" y="0"/>
                  </a:lnTo>
                </a:path>
              </a:pathLst>
            </a:custGeom>
            <a:ln w="28956">
              <a:solidFill>
                <a:srgbClr val="000000"/>
              </a:solidFill>
            </a:ln>
          </p:spPr>
          <p:txBody>
            <a:bodyPr wrap="square" lIns="0" tIns="0" rIns="0" bIns="0" rtlCol="0"/>
            <a:lstStyle/>
            <a:p>
              <a:endParaRPr sz="1227"/>
            </a:p>
          </p:txBody>
        </p:sp>
        <p:sp>
          <p:nvSpPr>
            <p:cNvPr id="35" name="object 35"/>
            <p:cNvSpPr/>
            <p:nvPr/>
          </p:nvSpPr>
          <p:spPr>
            <a:xfrm>
              <a:off x="4178045" y="5194554"/>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endParaRPr sz="1227"/>
            </a:p>
          </p:txBody>
        </p:sp>
        <p:sp>
          <p:nvSpPr>
            <p:cNvPr id="36" name="object 36"/>
            <p:cNvSpPr/>
            <p:nvPr/>
          </p:nvSpPr>
          <p:spPr>
            <a:xfrm>
              <a:off x="4209288" y="4898135"/>
              <a:ext cx="0" cy="196850"/>
            </a:xfrm>
            <a:custGeom>
              <a:avLst/>
              <a:gdLst/>
              <a:ahLst/>
              <a:cxnLst/>
              <a:rect l="l" t="t" r="r" b="b"/>
              <a:pathLst>
                <a:path h="196850">
                  <a:moveTo>
                    <a:pt x="0" y="196595"/>
                  </a:moveTo>
                  <a:lnTo>
                    <a:pt x="0" y="0"/>
                  </a:lnTo>
                </a:path>
              </a:pathLst>
            </a:custGeom>
            <a:ln w="28956">
              <a:solidFill>
                <a:srgbClr val="000000"/>
              </a:solidFill>
            </a:ln>
          </p:spPr>
          <p:txBody>
            <a:bodyPr wrap="square" lIns="0" tIns="0" rIns="0" bIns="0" rtlCol="0"/>
            <a:lstStyle/>
            <a:p>
              <a:endParaRPr sz="1227"/>
            </a:p>
          </p:txBody>
        </p:sp>
      </p:grpSp>
      <p:sp>
        <p:nvSpPr>
          <p:cNvPr id="37" name="object 37"/>
          <p:cNvSpPr txBox="1"/>
          <p:nvPr/>
        </p:nvSpPr>
        <p:spPr>
          <a:xfrm>
            <a:off x="2592831" y="3006377"/>
            <a:ext cx="328613" cy="197641"/>
          </a:xfrm>
          <a:prstGeom prst="rect">
            <a:avLst/>
          </a:prstGeom>
        </p:spPr>
        <p:txBody>
          <a:bodyPr vert="horz" wrap="square" lIns="0" tIns="8659" rIns="0" bIns="0" rtlCol="0">
            <a:spAutoFit/>
          </a:bodyPr>
          <a:lstStyle/>
          <a:p>
            <a:pPr marL="25977">
              <a:spcBef>
                <a:spcPts val="68"/>
              </a:spcBef>
            </a:pPr>
            <a:r>
              <a:rPr sz="1841" spc="-20" baseline="13888" dirty="0">
                <a:latin typeface="Verdana"/>
                <a:cs typeface="Verdana"/>
              </a:rPr>
              <a:t>V</a:t>
            </a:r>
            <a:r>
              <a:rPr sz="818" spc="-14" dirty="0">
                <a:latin typeface="Verdana"/>
                <a:cs typeface="Verdana"/>
              </a:rPr>
              <a:t>out</a:t>
            </a:r>
            <a:endParaRPr sz="818">
              <a:latin typeface="Verdana"/>
              <a:cs typeface="Verdana"/>
            </a:endParaRPr>
          </a:p>
        </p:txBody>
      </p:sp>
      <p:sp>
        <p:nvSpPr>
          <p:cNvPr id="38" name="object 38"/>
          <p:cNvSpPr txBox="1"/>
          <p:nvPr/>
        </p:nvSpPr>
        <p:spPr>
          <a:xfrm>
            <a:off x="2374336" y="2395808"/>
            <a:ext cx="352858" cy="197578"/>
          </a:xfrm>
          <a:prstGeom prst="rect">
            <a:avLst/>
          </a:prstGeom>
        </p:spPr>
        <p:txBody>
          <a:bodyPr vert="horz" wrap="square" lIns="0" tIns="8659" rIns="0" bIns="0" rtlCol="0">
            <a:spAutoFit/>
          </a:bodyPr>
          <a:lstStyle/>
          <a:p>
            <a:pPr marL="8659">
              <a:spcBef>
                <a:spcPts val="68"/>
              </a:spcBef>
            </a:pPr>
            <a:r>
              <a:rPr sz="1227" spc="-17" dirty="0">
                <a:latin typeface="Verdana"/>
                <a:cs typeface="Verdana"/>
              </a:rPr>
              <a:t>ADC</a:t>
            </a:r>
            <a:endParaRPr sz="1227">
              <a:latin typeface="Verdana"/>
              <a:cs typeface="Verdana"/>
            </a:endParaRPr>
          </a:p>
        </p:txBody>
      </p:sp>
      <p:pic>
        <p:nvPicPr>
          <p:cNvPr id="39" name="object 39"/>
          <p:cNvPicPr/>
          <p:nvPr/>
        </p:nvPicPr>
        <p:blipFill>
          <a:blip r:embed="rId2" cstate="print"/>
          <a:stretch>
            <a:fillRect/>
          </a:stretch>
        </p:blipFill>
        <p:spPr>
          <a:xfrm>
            <a:off x="4736869" y="2427239"/>
            <a:ext cx="142355" cy="159500"/>
          </a:xfrm>
          <a:prstGeom prst="rect">
            <a:avLst/>
          </a:prstGeom>
        </p:spPr>
      </p:pic>
      <p:sp>
        <p:nvSpPr>
          <p:cNvPr id="40" name="object 40"/>
          <p:cNvSpPr/>
          <p:nvPr/>
        </p:nvSpPr>
        <p:spPr>
          <a:xfrm>
            <a:off x="4434233" y="2505950"/>
            <a:ext cx="225136" cy="0"/>
          </a:xfrm>
          <a:custGeom>
            <a:avLst/>
            <a:gdLst/>
            <a:ahLst/>
            <a:cxnLst/>
            <a:rect l="l" t="t" r="r" b="b"/>
            <a:pathLst>
              <a:path w="330200">
                <a:moveTo>
                  <a:pt x="0" y="0"/>
                </a:moveTo>
                <a:lnTo>
                  <a:pt x="329946" y="0"/>
                </a:lnTo>
              </a:path>
            </a:pathLst>
          </a:custGeom>
          <a:ln w="63246">
            <a:solidFill>
              <a:srgbClr val="000000"/>
            </a:solidFill>
            <a:prstDash val="dot"/>
          </a:ln>
        </p:spPr>
        <p:txBody>
          <a:bodyPr wrap="square" lIns="0" tIns="0" rIns="0" bIns="0" rtlCol="0"/>
          <a:lstStyle/>
          <a:p>
            <a:endParaRPr sz="1227"/>
          </a:p>
        </p:txBody>
      </p:sp>
      <p:grpSp>
        <p:nvGrpSpPr>
          <p:cNvPr id="41" name="object 41"/>
          <p:cNvGrpSpPr/>
          <p:nvPr/>
        </p:nvGrpSpPr>
        <p:grpSpPr>
          <a:xfrm>
            <a:off x="2169189" y="1852104"/>
            <a:ext cx="2863994" cy="1848716"/>
            <a:chOff x="1510157" y="2219707"/>
            <a:chExt cx="4200525" cy="2711450"/>
          </a:xfrm>
        </p:grpSpPr>
        <p:sp>
          <p:nvSpPr>
            <p:cNvPr id="42" name="object 42"/>
            <p:cNvSpPr/>
            <p:nvPr/>
          </p:nvSpPr>
          <p:spPr>
            <a:xfrm>
              <a:off x="4518660" y="3059430"/>
              <a:ext cx="119380" cy="234950"/>
            </a:xfrm>
            <a:custGeom>
              <a:avLst/>
              <a:gdLst/>
              <a:ahLst/>
              <a:cxnLst/>
              <a:rect l="l" t="t" r="r" b="b"/>
              <a:pathLst>
                <a:path w="119379" h="234950">
                  <a:moveTo>
                    <a:pt x="0" y="234696"/>
                  </a:moveTo>
                  <a:lnTo>
                    <a:pt x="0" y="0"/>
                  </a:lnTo>
                </a:path>
                <a:path w="119379" h="234950">
                  <a:moveTo>
                    <a:pt x="0" y="234696"/>
                  </a:moveTo>
                  <a:lnTo>
                    <a:pt x="118872" y="234696"/>
                  </a:lnTo>
                </a:path>
              </a:pathLst>
            </a:custGeom>
            <a:ln w="28956">
              <a:solidFill>
                <a:srgbClr val="000000"/>
              </a:solidFill>
            </a:ln>
          </p:spPr>
          <p:txBody>
            <a:bodyPr wrap="square" lIns="0" tIns="0" rIns="0" bIns="0" rtlCol="0"/>
            <a:lstStyle/>
            <a:p>
              <a:endParaRPr sz="1227"/>
            </a:p>
          </p:txBody>
        </p:sp>
        <p:sp>
          <p:nvSpPr>
            <p:cNvPr id="43" name="object 43"/>
            <p:cNvSpPr/>
            <p:nvPr/>
          </p:nvSpPr>
          <p:spPr>
            <a:xfrm>
              <a:off x="4518660" y="3059430"/>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endParaRPr sz="1227"/>
            </a:p>
          </p:txBody>
        </p:sp>
        <p:sp>
          <p:nvSpPr>
            <p:cNvPr id="44" name="object 44"/>
            <p:cNvSpPr/>
            <p:nvPr/>
          </p:nvSpPr>
          <p:spPr>
            <a:xfrm>
              <a:off x="4637532" y="2865120"/>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endParaRPr sz="1227"/>
            </a:p>
          </p:txBody>
        </p:sp>
        <p:sp>
          <p:nvSpPr>
            <p:cNvPr id="45" name="object 45"/>
            <p:cNvSpPr/>
            <p:nvPr/>
          </p:nvSpPr>
          <p:spPr>
            <a:xfrm>
              <a:off x="4637532" y="3295650"/>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sp>
          <p:nvSpPr>
            <p:cNvPr id="46" name="object 46"/>
            <p:cNvSpPr/>
            <p:nvPr/>
          </p:nvSpPr>
          <p:spPr>
            <a:xfrm>
              <a:off x="4594098" y="3448050"/>
              <a:ext cx="86995" cy="86995"/>
            </a:xfrm>
            <a:custGeom>
              <a:avLst/>
              <a:gdLst/>
              <a:ahLst/>
              <a:cxnLst/>
              <a:rect l="l" t="t" r="r" b="b"/>
              <a:pathLst>
                <a:path w="86995" h="86995">
                  <a:moveTo>
                    <a:pt x="43434" y="0"/>
                  </a:moveTo>
                  <a:lnTo>
                    <a:pt x="26526" y="3412"/>
                  </a:lnTo>
                  <a:lnTo>
                    <a:pt x="12720" y="12720"/>
                  </a:lnTo>
                  <a:lnTo>
                    <a:pt x="3412" y="26526"/>
                  </a:lnTo>
                  <a:lnTo>
                    <a:pt x="0" y="43434"/>
                  </a:lnTo>
                  <a:lnTo>
                    <a:pt x="3412" y="60341"/>
                  </a:lnTo>
                  <a:lnTo>
                    <a:pt x="12720" y="74147"/>
                  </a:lnTo>
                  <a:lnTo>
                    <a:pt x="26526" y="83455"/>
                  </a:lnTo>
                  <a:lnTo>
                    <a:pt x="43434" y="86868"/>
                  </a:lnTo>
                  <a:lnTo>
                    <a:pt x="60341" y="83455"/>
                  </a:lnTo>
                  <a:lnTo>
                    <a:pt x="74147" y="74147"/>
                  </a:lnTo>
                  <a:lnTo>
                    <a:pt x="83455" y="60341"/>
                  </a:lnTo>
                  <a:lnTo>
                    <a:pt x="86868" y="43434"/>
                  </a:lnTo>
                  <a:lnTo>
                    <a:pt x="83455" y="26526"/>
                  </a:lnTo>
                  <a:lnTo>
                    <a:pt x="74147" y="12720"/>
                  </a:lnTo>
                  <a:lnTo>
                    <a:pt x="60341" y="3412"/>
                  </a:lnTo>
                  <a:lnTo>
                    <a:pt x="43434" y="0"/>
                  </a:lnTo>
                  <a:close/>
                </a:path>
              </a:pathLst>
            </a:custGeom>
            <a:solidFill>
              <a:srgbClr val="000000"/>
            </a:solidFill>
          </p:spPr>
          <p:txBody>
            <a:bodyPr wrap="square" lIns="0" tIns="0" rIns="0" bIns="0" rtlCol="0"/>
            <a:lstStyle/>
            <a:p>
              <a:endParaRPr sz="1227"/>
            </a:p>
          </p:txBody>
        </p:sp>
        <p:pic>
          <p:nvPicPr>
            <p:cNvPr id="47" name="object 47"/>
            <p:cNvPicPr/>
            <p:nvPr/>
          </p:nvPicPr>
          <p:blipFill>
            <a:blip r:embed="rId2" cstate="print"/>
            <a:stretch>
              <a:fillRect/>
            </a:stretch>
          </p:blipFill>
          <p:spPr>
            <a:xfrm>
              <a:off x="4246626" y="3063240"/>
              <a:ext cx="208787" cy="233934"/>
            </a:xfrm>
            <a:prstGeom prst="rect">
              <a:avLst/>
            </a:prstGeom>
          </p:spPr>
        </p:pic>
        <p:sp>
          <p:nvSpPr>
            <p:cNvPr id="48" name="object 48"/>
            <p:cNvSpPr/>
            <p:nvPr/>
          </p:nvSpPr>
          <p:spPr>
            <a:xfrm>
              <a:off x="5548122" y="3059430"/>
              <a:ext cx="119380" cy="234950"/>
            </a:xfrm>
            <a:custGeom>
              <a:avLst/>
              <a:gdLst/>
              <a:ahLst/>
              <a:cxnLst/>
              <a:rect l="l" t="t" r="r" b="b"/>
              <a:pathLst>
                <a:path w="119379" h="234950">
                  <a:moveTo>
                    <a:pt x="0" y="234696"/>
                  </a:moveTo>
                  <a:lnTo>
                    <a:pt x="0" y="0"/>
                  </a:lnTo>
                </a:path>
                <a:path w="119379" h="234950">
                  <a:moveTo>
                    <a:pt x="0" y="234696"/>
                  </a:moveTo>
                  <a:lnTo>
                    <a:pt x="118872" y="234696"/>
                  </a:lnTo>
                </a:path>
              </a:pathLst>
            </a:custGeom>
            <a:ln w="28956">
              <a:solidFill>
                <a:srgbClr val="000000"/>
              </a:solidFill>
            </a:ln>
          </p:spPr>
          <p:txBody>
            <a:bodyPr wrap="square" lIns="0" tIns="0" rIns="0" bIns="0" rtlCol="0"/>
            <a:lstStyle/>
            <a:p>
              <a:endParaRPr sz="1227"/>
            </a:p>
          </p:txBody>
        </p:sp>
        <p:sp>
          <p:nvSpPr>
            <p:cNvPr id="49" name="object 49"/>
            <p:cNvSpPr/>
            <p:nvPr/>
          </p:nvSpPr>
          <p:spPr>
            <a:xfrm>
              <a:off x="5548122" y="3059430"/>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endParaRPr sz="1227"/>
            </a:p>
          </p:txBody>
        </p:sp>
        <p:sp>
          <p:nvSpPr>
            <p:cNvPr id="50" name="object 50"/>
            <p:cNvSpPr/>
            <p:nvPr/>
          </p:nvSpPr>
          <p:spPr>
            <a:xfrm>
              <a:off x="5666994" y="2865120"/>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endParaRPr sz="1227"/>
            </a:p>
          </p:txBody>
        </p:sp>
        <p:sp>
          <p:nvSpPr>
            <p:cNvPr id="51" name="object 51"/>
            <p:cNvSpPr/>
            <p:nvPr/>
          </p:nvSpPr>
          <p:spPr>
            <a:xfrm>
              <a:off x="5666994" y="3295650"/>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sp>
          <p:nvSpPr>
            <p:cNvPr id="52" name="object 52"/>
            <p:cNvSpPr/>
            <p:nvPr/>
          </p:nvSpPr>
          <p:spPr>
            <a:xfrm>
              <a:off x="5623560" y="3448050"/>
              <a:ext cx="86995" cy="86995"/>
            </a:xfrm>
            <a:custGeom>
              <a:avLst/>
              <a:gdLst/>
              <a:ahLst/>
              <a:cxnLst/>
              <a:rect l="l" t="t" r="r" b="b"/>
              <a:pathLst>
                <a:path w="86995" h="86995">
                  <a:moveTo>
                    <a:pt x="43434" y="0"/>
                  </a:moveTo>
                  <a:lnTo>
                    <a:pt x="26526" y="3412"/>
                  </a:lnTo>
                  <a:lnTo>
                    <a:pt x="12720" y="12720"/>
                  </a:lnTo>
                  <a:lnTo>
                    <a:pt x="3412" y="26526"/>
                  </a:lnTo>
                  <a:lnTo>
                    <a:pt x="0" y="43434"/>
                  </a:lnTo>
                  <a:lnTo>
                    <a:pt x="3412" y="60341"/>
                  </a:lnTo>
                  <a:lnTo>
                    <a:pt x="12720" y="74147"/>
                  </a:lnTo>
                  <a:lnTo>
                    <a:pt x="26526" y="83455"/>
                  </a:lnTo>
                  <a:lnTo>
                    <a:pt x="43434" y="86868"/>
                  </a:lnTo>
                  <a:lnTo>
                    <a:pt x="60341" y="83455"/>
                  </a:lnTo>
                  <a:lnTo>
                    <a:pt x="74147" y="74147"/>
                  </a:lnTo>
                  <a:lnTo>
                    <a:pt x="83455" y="60341"/>
                  </a:lnTo>
                  <a:lnTo>
                    <a:pt x="86868" y="43434"/>
                  </a:lnTo>
                  <a:lnTo>
                    <a:pt x="83455" y="26526"/>
                  </a:lnTo>
                  <a:lnTo>
                    <a:pt x="74147" y="12720"/>
                  </a:lnTo>
                  <a:lnTo>
                    <a:pt x="60341" y="3412"/>
                  </a:lnTo>
                  <a:lnTo>
                    <a:pt x="43434" y="0"/>
                  </a:lnTo>
                  <a:close/>
                </a:path>
              </a:pathLst>
            </a:custGeom>
            <a:solidFill>
              <a:srgbClr val="000000"/>
            </a:solidFill>
          </p:spPr>
          <p:txBody>
            <a:bodyPr wrap="square" lIns="0" tIns="0" rIns="0" bIns="0" rtlCol="0"/>
            <a:lstStyle/>
            <a:p>
              <a:endParaRPr sz="1227"/>
            </a:p>
          </p:txBody>
        </p:sp>
        <p:sp>
          <p:nvSpPr>
            <p:cNvPr id="53" name="object 53"/>
            <p:cNvSpPr/>
            <p:nvPr/>
          </p:nvSpPr>
          <p:spPr>
            <a:xfrm>
              <a:off x="4203954" y="3486912"/>
              <a:ext cx="1463040" cy="6985"/>
            </a:xfrm>
            <a:custGeom>
              <a:avLst/>
              <a:gdLst/>
              <a:ahLst/>
              <a:cxnLst/>
              <a:rect l="l" t="t" r="r" b="b"/>
              <a:pathLst>
                <a:path w="1463039" h="6985">
                  <a:moveTo>
                    <a:pt x="0" y="0"/>
                  </a:moveTo>
                  <a:lnTo>
                    <a:pt x="1463040" y="6858"/>
                  </a:lnTo>
                </a:path>
              </a:pathLst>
            </a:custGeom>
            <a:ln w="28956">
              <a:solidFill>
                <a:srgbClr val="000000"/>
              </a:solidFill>
            </a:ln>
          </p:spPr>
          <p:txBody>
            <a:bodyPr wrap="square" lIns="0" tIns="0" rIns="0" bIns="0" rtlCol="0"/>
            <a:lstStyle/>
            <a:p>
              <a:endParaRPr sz="1227"/>
            </a:p>
          </p:txBody>
        </p:sp>
        <p:pic>
          <p:nvPicPr>
            <p:cNvPr id="54" name="object 54"/>
            <p:cNvPicPr/>
            <p:nvPr/>
          </p:nvPicPr>
          <p:blipFill>
            <a:blip r:embed="rId5" cstate="print"/>
            <a:stretch>
              <a:fillRect/>
            </a:stretch>
          </p:blipFill>
          <p:spPr>
            <a:xfrm>
              <a:off x="4160520" y="3443478"/>
              <a:ext cx="86867" cy="86868"/>
            </a:xfrm>
            <a:prstGeom prst="rect">
              <a:avLst/>
            </a:prstGeom>
          </p:spPr>
        </p:pic>
        <p:sp>
          <p:nvSpPr>
            <p:cNvPr id="55" name="object 55"/>
            <p:cNvSpPr/>
            <p:nvPr/>
          </p:nvSpPr>
          <p:spPr>
            <a:xfrm>
              <a:off x="4203954" y="2871216"/>
              <a:ext cx="1463040" cy="7620"/>
            </a:xfrm>
            <a:custGeom>
              <a:avLst/>
              <a:gdLst/>
              <a:ahLst/>
              <a:cxnLst/>
              <a:rect l="l" t="t" r="r" b="b"/>
              <a:pathLst>
                <a:path w="1463039" h="7619">
                  <a:moveTo>
                    <a:pt x="0" y="0"/>
                  </a:moveTo>
                  <a:lnTo>
                    <a:pt x="1463040" y="7620"/>
                  </a:lnTo>
                </a:path>
              </a:pathLst>
            </a:custGeom>
            <a:ln w="28955">
              <a:solidFill>
                <a:srgbClr val="000000"/>
              </a:solidFill>
            </a:ln>
          </p:spPr>
          <p:txBody>
            <a:bodyPr wrap="square" lIns="0" tIns="0" rIns="0" bIns="0" rtlCol="0"/>
            <a:lstStyle/>
            <a:p>
              <a:endParaRPr sz="1227"/>
            </a:p>
          </p:txBody>
        </p:sp>
        <p:pic>
          <p:nvPicPr>
            <p:cNvPr id="56" name="object 56"/>
            <p:cNvPicPr/>
            <p:nvPr/>
          </p:nvPicPr>
          <p:blipFill>
            <a:blip r:embed="rId6" cstate="print"/>
            <a:stretch>
              <a:fillRect/>
            </a:stretch>
          </p:blipFill>
          <p:spPr>
            <a:xfrm>
              <a:off x="5623560" y="2835405"/>
              <a:ext cx="86867" cy="86868"/>
            </a:xfrm>
            <a:prstGeom prst="rect">
              <a:avLst/>
            </a:prstGeom>
          </p:spPr>
        </p:pic>
        <p:pic>
          <p:nvPicPr>
            <p:cNvPr id="57" name="object 57"/>
            <p:cNvPicPr/>
            <p:nvPr/>
          </p:nvPicPr>
          <p:blipFill>
            <a:blip r:embed="rId5" cstate="print"/>
            <a:stretch>
              <a:fillRect/>
            </a:stretch>
          </p:blipFill>
          <p:spPr>
            <a:xfrm>
              <a:off x="4160518" y="2827782"/>
              <a:ext cx="86867" cy="86868"/>
            </a:xfrm>
            <a:prstGeom prst="rect">
              <a:avLst/>
            </a:prstGeom>
          </p:spPr>
        </p:pic>
        <p:sp>
          <p:nvSpPr>
            <p:cNvPr id="58" name="object 58"/>
            <p:cNvSpPr/>
            <p:nvPr/>
          </p:nvSpPr>
          <p:spPr>
            <a:xfrm>
              <a:off x="4915661" y="2263140"/>
              <a:ext cx="0" cy="615315"/>
            </a:xfrm>
            <a:custGeom>
              <a:avLst/>
              <a:gdLst/>
              <a:ahLst/>
              <a:cxnLst/>
              <a:rect l="l" t="t" r="r" b="b"/>
              <a:pathLst>
                <a:path h="615314">
                  <a:moveTo>
                    <a:pt x="0" y="0"/>
                  </a:moveTo>
                  <a:lnTo>
                    <a:pt x="0" y="614934"/>
                  </a:lnTo>
                </a:path>
              </a:pathLst>
            </a:custGeom>
            <a:ln w="28956">
              <a:solidFill>
                <a:srgbClr val="000000"/>
              </a:solidFill>
            </a:ln>
          </p:spPr>
          <p:txBody>
            <a:bodyPr wrap="square" lIns="0" tIns="0" rIns="0" bIns="0" rtlCol="0"/>
            <a:lstStyle/>
            <a:p>
              <a:endParaRPr sz="1227"/>
            </a:p>
          </p:txBody>
        </p:sp>
        <p:pic>
          <p:nvPicPr>
            <p:cNvPr id="59" name="object 59"/>
            <p:cNvPicPr/>
            <p:nvPr/>
          </p:nvPicPr>
          <p:blipFill>
            <a:blip r:embed="rId7" cstate="print"/>
            <a:stretch>
              <a:fillRect/>
            </a:stretch>
          </p:blipFill>
          <p:spPr>
            <a:xfrm>
              <a:off x="4872223" y="2834640"/>
              <a:ext cx="86868" cy="86867"/>
            </a:xfrm>
            <a:prstGeom prst="rect">
              <a:avLst/>
            </a:prstGeom>
          </p:spPr>
        </p:pic>
        <p:pic>
          <p:nvPicPr>
            <p:cNvPr id="60" name="object 60"/>
            <p:cNvPicPr/>
            <p:nvPr/>
          </p:nvPicPr>
          <p:blipFill>
            <a:blip r:embed="rId5" cstate="print"/>
            <a:stretch>
              <a:fillRect/>
            </a:stretch>
          </p:blipFill>
          <p:spPr>
            <a:xfrm>
              <a:off x="4872228" y="2219707"/>
              <a:ext cx="86868" cy="86867"/>
            </a:xfrm>
            <a:prstGeom prst="rect">
              <a:avLst/>
            </a:prstGeom>
          </p:spPr>
        </p:pic>
        <p:sp>
          <p:nvSpPr>
            <p:cNvPr id="61" name="object 61"/>
            <p:cNvSpPr/>
            <p:nvPr/>
          </p:nvSpPr>
          <p:spPr>
            <a:xfrm>
              <a:off x="3571494" y="3073146"/>
              <a:ext cx="137160" cy="194310"/>
            </a:xfrm>
            <a:custGeom>
              <a:avLst/>
              <a:gdLst/>
              <a:ahLst/>
              <a:cxnLst/>
              <a:rect l="l" t="t" r="r" b="b"/>
              <a:pathLst>
                <a:path w="137160" h="194310">
                  <a:moveTo>
                    <a:pt x="0" y="194310"/>
                  </a:moveTo>
                  <a:lnTo>
                    <a:pt x="137160" y="0"/>
                  </a:lnTo>
                </a:path>
              </a:pathLst>
            </a:custGeom>
            <a:ln w="28956">
              <a:solidFill>
                <a:srgbClr val="000000"/>
              </a:solidFill>
            </a:ln>
          </p:spPr>
          <p:txBody>
            <a:bodyPr wrap="square" lIns="0" tIns="0" rIns="0" bIns="0" rtlCol="0"/>
            <a:lstStyle/>
            <a:p>
              <a:endParaRPr sz="1227"/>
            </a:p>
          </p:txBody>
        </p:sp>
        <p:sp>
          <p:nvSpPr>
            <p:cNvPr id="62" name="object 62"/>
            <p:cNvSpPr/>
            <p:nvPr/>
          </p:nvSpPr>
          <p:spPr>
            <a:xfrm>
              <a:off x="1732788" y="2931414"/>
              <a:ext cx="622300" cy="478155"/>
            </a:xfrm>
            <a:custGeom>
              <a:avLst/>
              <a:gdLst/>
              <a:ahLst/>
              <a:cxnLst/>
              <a:rect l="l" t="t" r="r" b="b"/>
              <a:pathLst>
                <a:path w="622300" h="478154">
                  <a:moveTo>
                    <a:pt x="621792" y="0"/>
                  </a:moveTo>
                  <a:lnTo>
                    <a:pt x="621792" y="477773"/>
                  </a:lnTo>
                  <a:lnTo>
                    <a:pt x="124358" y="477773"/>
                  </a:lnTo>
                  <a:lnTo>
                    <a:pt x="0" y="238886"/>
                  </a:lnTo>
                  <a:lnTo>
                    <a:pt x="124358" y="0"/>
                  </a:lnTo>
                  <a:lnTo>
                    <a:pt x="621792" y="0"/>
                  </a:lnTo>
                  <a:close/>
                </a:path>
              </a:pathLst>
            </a:custGeom>
            <a:ln w="28956">
              <a:solidFill>
                <a:srgbClr val="000000"/>
              </a:solidFill>
            </a:ln>
          </p:spPr>
          <p:txBody>
            <a:bodyPr wrap="square" lIns="0" tIns="0" rIns="0" bIns="0" rtlCol="0"/>
            <a:lstStyle/>
            <a:p>
              <a:endParaRPr sz="1227"/>
            </a:p>
          </p:txBody>
        </p:sp>
        <p:sp>
          <p:nvSpPr>
            <p:cNvPr id="63" name="object 63"/>
            <p:cNvSpPr/>
            <p:nvPr/>
          </p:nvSpPr>
          <p:spPr>
            <a:xfrm>
              <a:off x="1524762" y="3178302"/>
              <a:ext cx="215900" cy="1270"/>
            </a:xfrm>
            <a:custGeom>
              <a:avLst/>
              <a:gdLst/>
              <a:ahLst/>
              <a:cxnLst/>
              <a:rect l="l" t="t" r="r" b="b"/>
              <a:pathLst>
                <a:path w="215900" h="1269">
                  <a:moveTo>
                    <a:pt x="0" y="762"/>
                  </a:moveTo>
                  <a:lnTo>
                    <a:pt x="215646" y="0"/>
                  </a:lnTo>
                </a:path>
              </a:pathLst>
            </a:custGeom>
            <a:ln w="28955">
              <a:solidFill>
                <a:srgbClr val="000000"/>
              </a:solidFill>
            </a:ln>
          </p:spPr>
          <p:txBody>
            <a:bodyPr wrap="square" lIns="0" tIns="0" rIns="0" bIns="0" rtlCol="0"/>
            <a:lstStyle/>
            <a:p>
              <a:endParaRPr sz="1227"/>
            </a:p>
          </p:txBody>
        </p:sp>
        <p:sp>
          <p:nvSpPr>
            <p:cNvPr id="64" name="object 64"/>
            <p:cNvSpPr/>
            <p:nvPr/>
          </p:nvSpPr>
          <p:spPr>
            <a:xfrm>
              <a:off x="4213098" y="4673346"/>
              <a:ext cx="0" cy="243204"/>
            </a:xfrm>
            <a:custGeom>
              <a:avLst/>
              <a:gdLst/>
              <a:ahLst/>
              <a:cxnLst/>
              <a:rect l="l" t="t" r="r" b="b"/>
              <a:pathLst>
                <a:path h="243204">
                  <a:moveTo>
                    <a:pt x="0" y="0"/>
                  </a:moveTo>
                  <a:lnTo>
                    <a:pt x="0" y="243077"/>
                  </a:lnTo>
                </a:path>
              </a:pathLst>
            </a:custGeom>
            <a:ln w="28956">
              <a:solidFill>
                <a:srgbClr val="000000"/>
              </a:solidFill>
            </a:ln>
          </p:spPr>
          <p:txBody>
            <a:bodyPr wrap="square" lIns="0" tIns="0" rIns="0" bIns="0" rtlCol="0"/>
            <a:lstStyle/>
            <a:p>
              <a:endParaRPr sz="1227"/>
            </a:p>
          </p:txBody>
        </p:sp>
        <p:sp>
          <p:nvSpPr>
            <p:cNvPr id="65" name="object 65"/>
            <p:cNvSpPr/>
            <p:nvPr/>
          </p:nvSpPr>
          <p:spPr>
            <a:xfrm>
              <a:off x="4102608" y="4563618"/>
              <a:ext cx="108585" cy="46990"/>
            </a:xfrm>
            <a:custGeom>
              <a:avLst/>
              <a:gdLst/>
              <a:ahLst/>
              <a:cxnLst/>
              <a:rect l="l" t="t" r="r" b="b"/>
              <a:pathLst>
                <a:path w="108585" h="46989">
                  <a:moveTo>
                    <a:pt x="108203" y="46481"/>
                  </a:moveTo>
                  <a:lnTo>
                    <a:pt x="0" y="0"/>
                  </a:lnTo>
                </a:path>
              </a:pathLst>
            </a:custGeom>
            <a:ln w="28956">
              <a:solidFill>
                <a:srgbClr val="000000"/>
              </a:solidFill>
            </a:ln>
          </p:spPr>
          <p:txBody>
            <a:bodyPr wrap="square" lIns="0" tIns="0" rIns="0" bIns="0" rtlCol="0"/>
            <a:lstStyle/>
            <a:p>
              <a:endParaRPr sz="1227"/>
            </a:p>
          </p:txBody>
        </p:sp>
        <p:sp>
          <p:nvSpPr>
            <p:cNvPr id="66" name="object 66"/>
            <p:cNvSpPr/>
            <p:nvPr/>
          </p:nvSpPr>
          <p:spPr>
            <a:xfrm>
              <a:off x="4102608" y="4517898"/>
              <a:ext cx="216535" cy="47625"/>
            </a:xfrm>
            <a:custGeom>
              <a:avLst/>
              <a:gdLst/>
              <a:ahLst/>
              <a:cxnLst/>
              <a:rect l="l" t="t" r="r" b="b"/>
              <a:pathLst>
                <a:path w="216535" h="47625">
                  <a:moveTo>
                    <a:pt x="0" y="47243"/>
                  </a:moveTo>
                  <a:lnTo>
                    <a:pt x="216408" y="0"/>
                  </a:lnTo>
                </a:path>
              </a:pathLst>
            </a:custGeom>
            <a:ln w="28956">
              <a:solidFill>
                <a:srgbClr val="000000"/>
              </a:solidFill>
            </a:ln>
          </p:spPr>
          <p:txBody>
            <a:bodyPr wrap="square" lIns="0" tIns="0" rIns="0" bIns="0" rtlCol="0"/>
            <a:lstStyle/>
            <a:p>
              <a:endParaRPr sz="1227"/>
            </a:p>
          </p:txBody>
        </p:sp>
        <p:sp>
          <p:nvSpPr>
            <p:cNvPr id="67" name="object 67"/>
            <p:cNvSpPr/>
            <p:nvPr/>
          </p:nvSpPr>
          <p:spPr>
            <a:xfrm>
              <a:off x="4102608" y="4475226"/>
              <a:ext cx="216535" cy="43180"/>
            </a:xfrm>
            <a:custGeom>
              <a:avLst/>
              <a:gdLst/>
              <a:ahLst/>
              <a:cxnLst/>
              <a:rect l="l" t="t" r="r" b="b"/>
              <a:pathLst>
                <a:path w="216535" h="43179">
                  <a:moveTo>
                    <a:pt x="216408" y="42672"/>
                  </a:moveTo>
                  <a:lnTo>
                    <a:pt x="0" y="0"/>
                  </a:lnTo>
                </a:path>
              </a:pathLst>
            </a:custGeom>
            <a:ln w="28955">
              <a:solidFill>
                <a:srgbClr val="000000"/>
              </a:solidFill>
            </a:ln>
          </p:spPr>
          <p:txBody>
            <a:bodyPr wrap="square" lIns="0" tIns="0" rIns="0" bIns="0" rtlCol="0"/>
            <a:lstStyle/>
            <a:p>
              <a:endParaRPr sz="1227"/>
            </a:p>
          </p:txBody>
        </p:sp>
        <p:sp>
          <p:nvSpPr>
            <p:cNvPr id="68" name="object 68"/>
            <p:cNvSpPr/>
            <p:nvPr/>
          </p:nvSpPr>
          <p:spPr>
            <a:xfrm>
              <a:off x="4104894" y="4425696"/>
              <a:ext cx="215900" cy="51435"/>
            </a:xfrm>
            <a:custGeom>
              <a:avLst/>
              <a:gdLst/>
              <a:ahLst/>
              <a:cxnLst/>
              <a:rect l="l" t="t" r="r" b="b"/>
              <a:pathLst>
                <a:path w="215900" h="51435">
                  <a:moveTo>
                    <a:pt x="0" y="51053"/>
                  </a:moveTo>
                  <a:lnTo>
                    <a:pt x="215646" y="0"/>
                  </a:lnTo>
                </a:path>
              </a:pathLst>
            </a:custGeom>
            <a:ln w="28956">
              <a:solidFill>
                <a:srgbClr val="000000"/>
              </a:solidFill>
            </a:ln>
          </p:spPr>
          <p:txBody>
            <a:bodyPr wrap="square" lIns="0" tIns="0" rIns="0" bIns="0" rtlCol="0"/>
            <a:lstStyle/>
            <a:p>
              <a:endParaRPr sz="1227"/>
            </a:p>
          </p:txBody>
        </p:sp>
        <p:sp>
          <p:nvSpPr>
            <p:cNvPr id="69" name="object 69"/>
            <p:cNvSpPr/>
            <p:nvPr/>
          </p:nvSpPr>
          <p:spPr>
            <a:xfrm>
              <a:off x="4104894" y="4381500"/>
              <a:ext cx="215900" cy="44450"/>
            </a:xfrm>
            <a:custGeom>
              <a:avLst/>
              <a:gdLst/>
              <a:ahLst/>
              <a:cxnLst/>
              <a:rect l="l" t="t" r="r" b="b"/>
              <a:pathLst>
                <a:path w="215900" h="44450">
                  <a:moveTo>
                    <a:pt x="215646" y="44195"/>
                  </a:moveTo>
                  <a:lnTo>
                    <a:pt x="0" y="0"/>
                  </a:lnTo>
                </a:path>
              </a:pathLst>
            </a:custGeom>
            <a:ln w="28955">
              <a:solidFill>
                <a:srgbClr val="000000"/>
              </a:solidFill>
            </a:ln>
          </p:spPr>
          <p:txBody>
            <a:bodyPr wrap="square" lIns="0" tIns="0" rIns="0" bIns="0" rtlCol="0"/>
            <a:lstStyle/>
            <a:p>
              <a:endParaRPr sz="1227"/>
            </a:p>
          </p:txBody>
        </p:sp>
        <p:sp>
          <p:nvSpPr>
            <p:cNvPr id="70" name="object 70"/>
            <p:cNvSpPr/>
            <p:nvPr/>
          </p:nvSpPr>
          <p:spPr>
            <a:xfrm>
              <a:off x="4102608" y="4333494"/>
              <a:ext cx="216535" cy="48260"/>
            </a:xfrm>
            <a:custGeom>
              <a:avLst/>
              <a:gdLst/>
              <a:ahLst/>
              <a:cxnLst/>
              <a:rect l="l" t="t" r="r" b="b"/>
              <a:pathLst>
                <a:path w="216535" h="48260">
                  <a:moveTo>
                    <a:pt x="0" y="48005"/>
                  </a:moveTo>
                  <a:lnTo>
                    <a:pt x="216408" y="0"/>
                  </a:lnTo>
                </a:path>
              </a:pathLst>
            </a:custGeom>
            <a:ln w="28956">
              <a:solidFill>
                <a:srgbClr val="000000"/>
              </a:solidFill>
            </a:ln>
          </p:spPr>
          <p:txBody>
            <a:bodyPr wrap="square" lIns="0" tIns="0" rIns="0" bIns="0" rtlCol="0"/>
            <a:lstStyle/>
            <a:p>
              <a:endParaRPr sz="1227"/>
            </a:p>
          </p:txBody>
        </p:sp>
        <p:sp>
          <p:nvSpPr>
            <p:cNvPr id="71" name="object 71"/>
            <p:cNvSpPr/>
            <p:nvPr/>
          </p:nvSpPr>
          <p:spPr>
            <a:xfrm>
              <a:off x="4210811" y="4287774"/>
              <a:ext cx="108585" cy="45720"/>
            </a:xfrm>
            <a:custGeom>
              <a:avLst/>
              <a:gdLst/>
              <a:ahLst/>
              <a:cxnLst/>
              <a:rect l="l" t="t" r="r" b="b"/>
              <a:pathLst>
                <a:path w="108585" h="45720">
                  <a:moveTo>
                    <a:pt x="108203" y="45719"/>
                  </a:moveTo>
                  <a:lnTo>
                    <a:pt x="0" y="0"/>
                  </a:lnTo>
                </a:path>
              </a:pathLst>
            </a:custGeom>
            <a:ln w="28955">
              <a:solidFill>
                <a:srgbClr val="000000"/>
              </a:solidFill>
            </a:ln>
          </p:spPr>
          <p:txBody>
            <a:bodyPr wrap="square" lIns="0" tIns="0" rIns="0" bIns="0" rtlCol="0"/>
            <a:lstStyle/>
            <a:p>
              <a:endParaRPr sz="1227"/>
            </a:p>
          </p:txBody>
        </p:sp>
        <p:sp>
          <p:nvSpPr>
            <p:cNvPr id="72" name="object 72"/>
            <p:cNvSpPr/>
            <p:nvPr/>
          </p:nvSpPr>
          <p:spPr>
            <a:xfrm>
              <a:off x="4212336" y="4197096"/>
              <a:ext cx="0" cy="92710"/>
            </a:xfrm>
            <a:custGeom>
              <a:avLst/>
              <a:gdLst/>
              <a:ahLst/>
              <a:cxnLst/>
              <a:rect l="l" t="t" r="r" b="b"/>
              <a:pathLst>
                <a:path h="92710">
                  <a:moveTo>
                    <a:pt x="0" y="92201"/>
                  </a:moveTo>
                  <a:lnTo>
                    <a:pt x="0" y="0"/>
                  </a:lnTo>
                </a:path>
              </a:pathLst>
            </a:custGeom>
            <a:ln w="28956">
              <a:solidFill>
                <a:srgbClr val="000000"/>
              </a:solidFill>
            </a:ln>
          </p:spPr>
          <p:txBody>
            <a:bodyPr wrap="square" lIns="0" tIns="0" rIns="0" bIns="0" rtlCol="0"/>
            <a:lstStyle/>
            <a:p>
              <a:endParaRPr sz="1227"/>
            </a:p>
          </p:txBody>
        </p:sp>
        <p:sp>
          <p:nvSpPr>
            <p:cNvPr id="73" name="object 73"/>
            <p:cNvSpPr/>
            <p:nvPr/>
          </p:nvSpPr>
          <p:spPr>
            <a:xfrm>
              <a:off x="4168907" y="4153662"/>
              <a:ext cx="86995" cy="86995"/>
            </a:xfrm>
            <a:custGeom>
              <a:avLst/>
              <a:gdLst/>
              <a:ahLst/>
              <a:cxnLst/>
              <a:rect l="l" t="t" r="r" b="b"/>
              <a:pathLst>
                <a:path w="86995" h="86995">
                  <a:moveTo>
                    <a:pt x="43421" y="0"/>
                  </a:moveTo>
                  <a:lnTo>
                    <a:pt x="26519" y="3412"/>
                  </a:lnTo>
                  <a:lnTo>
                    <a:pt x="12714" y="12720"/>
                  </a:lnTo>
                  <a:lnTo>
                    <a:pt x="3407" y="26526"/>
                  </a:lnTo>
                  <a:lnTo>
                    <a:pt x="0" y="43434"/>
                  </a:lnTo>
                  <a:lnTo>
                    <a:pt x="3412" y="60341"/>
                  </a:lnTo>
                  <a:lnTo>
                    <a:pt x="12720" y="74147"/>
                  </a:lnTo>
                  <a:lnTo>
                    <a:pt x="26526" y="83455"/>
                  </a:lnTo>
                  <a:lnTo>
                    <a:pt x="43434" y="86868"/>
                  </a:lnTo>
                  <a:lnTo>
                    <a:pt x="60341" y="83453"/>
                  </a:lnTo>
                  <a:lnTo>
                    <a:pt x="74147" y="74142"/>
                  </a:lnTo>
                  <a:lnTo>
                    <a:pt x="83455" y="60336"/>
                  </a:lnTo>
                  <a:lnTo>
                    <a:pt x="86868" y="43434"/>
                  </a:lnTo>
                  <a:lnTo>
                    <a:pt x="83447" y="26526"/>
                  </a:lnTo>
                  <a:lnTo>
                    <a:pt x="74136" y="12720"/>
                  </a:lnTo>
                  <a:lnTo>
                    <a:pt x="60328" y="3412"/>
                  </a:lnTo>
                  <a:lnTo>
                    <a:pt x="43421" y="0"/>
                  </a:lnTo>
                  <a:close/>
                </a:path>
              </a:pathLst>
            </a:custGeom>
            <a:solidFill>
              <a:srgbClr val="000000"/>
            </a:solidFill>
          </p:spPr>
          <p:txBody>
            <a:bodyPr wrap="square" lIns="0" tIns="0" rIns="0" bIns="0" rtlCol="0"/>
            <a:lstStyle/>
            <a:p>
              <a:endParaRPr sz="1227"/>
            </a:p>
          </p:txBody>
        </p:sp>
        <p:sp>
          <p:nvSpPr>
            <p:cNvPr id="74" name="object 74"/>
            <p:cNvSpPr/>
            <p:nvPr/>
          </p:nvSpPr>
          <p:spPr>
            <a:xfrm>
              <a:off x="4212336" y="4611624"/>
              <a:ext cx="0" cy="92710"/>
            </a:xfrm>
            <a:custGeom>
              <a:avLst/>
              <a:gdLst/>
              <a:ahLst/>
              <a:cxnLst/>
              <a:rect l="l" t="t" r="r" b="b"/>
              <a:pathLst>
                <a:path h="92710">
                  <a:moveTo>
                    <a:pt x="0" y="92201"/>
                  </a:moveTo>
                  <a:lnTo>
                    <a:pt x="0" y="0"/>
                  </a:lnTo>
                </a:path>
              </a:pathLst>
            </a:custGeom>
            <a:ln w="28956">
              <a:solidFill>
                <a:srgbClr val="000000"/>
              </a:solidFill>
            </a:ln>
          </p:spPr>
          <p:txBody>
            <a:bodyPr wrap="square" lIns="0" tIns="0" rIns="0" bIns="0" rtlCol="0"/>
            <a:lstStyle/>
            <a:p>
              <a:endParaRPr sz="1227"/>
            </a:p>
          </p:txBody>
        </p:sp>
        <p:sp>
          <p:nvSpPr>
            <p:cNvPr id="75" name="object 75"/>
            <p:cNvSpPr/>
            <p:nvPr/>
          </p:nvSpPr>
          <p:spPr>
            <a:xfrm>
              <a:off x="4168902" y="4660392"/>
              <a:ext cx="86995" cy="86995"/>
            </a:xfrm>
            <a:custGeom>
              <a:avLst/>
              <a:gdLst/>
              <a:ahLst/>
              <a:cxnLst/>
              <a:rect l="l" t="t" r="r" b="b"/>
              <a:pathLst>
                <a:path w="86995" h="86995">
                  <a:moveTo>
                    <a:pt x="43434" y="0"/>
                  </a:moveTo>
                  <a:lnTo>
                    <a:pt x="26526" y="3412"/>
                  </a:lnTo>
                  <a:lnTo>
                    <a:pt x="12720" y="12720"/>
                  </a:lnTo>
                  <a:lnTo>
                    <a:pt x="3412" y="26526"/>
                  </a:lnTo>
                  <a:lnTo>
                    <a:pt x="0" y="43433"/>
                  </a:lnTo>
                  <a:lnTo>
                    <a:pt x="3412" y="60341"/>
                  </a:lnTo>
                  <a:lnTo>
                    <a:pt x="12720" y="74147"/>
                  </a:lnTo>
                  <a:lnTo>
                    <a:pt x="26526" y="83455"/>
                  </a:lnTo>
                  <a:lnTo>
                    <a:pt x="43434" y="86867"/>
                  </a:lnTo>
                  <a:lnTo>
                    <a:pt x="60341" y="83455"/>
                  </a:lnTo>
                  <a:lnTo>
                    <a:pt x="74147" y="74147"/>
                  </a:lnTo>
                  <a:lnTo>
                    <a:pt x="83455" y="60341"/>
                  </a:lnTo>
                  <a:lnTo>
                    <a:pt x="86868" y="43433"/>
                  </a:lnTo>
                  <a:lnTo>
                    <a:pt x="83455" y="26526"/>
                  </a:lnTo>
                  <a:lnTo>
                    <a:pt x="74147" y="12720"/>
                  </a:lnTo>
                  <a:lnTo>
                    <a:pt x="60341" y="3412"/>
                  </a:lnTo>
                  <a:lnTo>
                    <a:pt x="43434" y="0"/>
                  </a:lnTo>
                  <a:close/>
                </a:path>
              </a:pathLst>
            </a:custGeom>
            <a:solidFill>
              <a:srgbClr val="000000"/>
            </a:solidFill>
          </p:spPr>
          <p:txBody>
            <a:bodyPr wrap="square" lIns="0" tIns="0" rIns="0" bIns="0" rtlCol="0"/>
            <a:lstStyle/>
            <a:p>
              <a:endParaRPr sz="1227"/>
            </a:p>
          </p:txBody>
        </p:sp>
        <p:sp>
          <p:nvSpPr>
            <p:cNvPr id="76" name="object 76"/>
            <p:cNvSpPr/>
            <p:nvPr/>
          </p:nvSpPr>
          <p:spPr>
            <a:xfrm>
              <a:off x="4039742" y="4319181"/>
              <a:ext cx="413384" cy="275590"/>
            </a:xfrm>
            <a:custGeom>
              <a:avLst/>
              <a:gdLst/>
              <a:ahLst/>
              <a:cxnLst/>
              <a:rect l="l" t="t" r="r" b="b"/>
              <a:pathLst>
                <a:path w="413385" h="275589">
                  <a:moveTo>
                    <a:pt x="0" y="275297"/>
                  </a:moveTo>
                  <a:lnTo>
                    <a:pt x="413308" y="0"/>
                  </a:lnTo>
                </a:path>
              </a:pathLst>
            </a:custGeom>
            <a:ln w="19050">
              <a:solidFill>
                <a:srgbClr val="000000"/>
              </a:solidFill>
            </a:ln>
          </p:spPr>
          <p:txBody>
            <a:bodyPr wrap="square" lIns="0" tIns="0" rIns="0" bIns="0" rtlCol="0"/>
            <a:lstStyle/>
            <a:p>
              <a:endParaRPr sz="1227"/>
            </a:p>
          </p:txBody>
        </p:sp>
        <p:sp>
          <p:nvSpPr>
            <p:cNvPr id="77" name="object 77"/>
            <p:cNvSpPr/>
            <p:nvPr/>
          </p:nvSpPr>
          <p:spPr>
            <a:xfrm>
              <a:off x="4364989" y="4319187"/>
              <a:ext cx="88265" cy="79375"/>
            </a:xfrm>
            <a:custGeom>
              <a:avLst/>
              <a:gdLst/>
              <a:ahLst/>
              <a:cxnLst/>
              <a:rect l="l" t="t" r="r" b="b"/>
              <a:pathLst>
                <a:path w="88264" h="79375">
                  <a:moveTo>
                    <a:pt x="49288" y="79235"/>
                  </a:moveTo>
                  <a:lnTo>
                    <a:pt x="88061" y="0"/>
                  </a:lnTo>
                  <a:lnTo>
                    <a:pt x="0" y="5245"/>
                  </a:lnTo>
                </a:path>
              </a:pathLst>
            </a:custGeom>
            <a:ln w="19050">
              <a:solidFill>
                <a:srgbClr val="000000"/>
              </a:solidFill>
            </a:ln>
          </p:spPr>
          <p:txBody>
            <a:bodyPr wrap="square" lIns="0" tIns="0" rIns="0" bIns="0" rtlCol="0"/>
            <a:lstStyle/>
            <a:p>
              <a:endParaRPr sz="1227"/>
            </a:p>
          </p:txBody>
        </p:sp>
        <p:sp>
          <p:nvSpPr>
            <p:cNvPr id="78" name="object 78"/>
            <p:cNvSpPr/>
            <p:nvPr/>
          </p:nvSpPr>
          <p:spPr>
            <a:xfrm>
              <a:off x="2135124" y="2556510"/>
              <a:ext cx="2780665" cy="17780"/>
            </a:xfrm>
            <a:custGeom>
              <a:avLst/>
              <a:gdLst/>
              <a:ahLst/>
              <a:cxnLst/>
              <a:rect l="l" t="t" r="r" b="b"/>
              <a:pathLst>
                <a:path w="2780665" h="17780">
                  <a:moveTo>
                    <a:pt x="0" y="17525"/>
                  </a:moveTo>
                  <a:lnTo>
                    <a:pt x="2780538" y="0"/>
                  </a:lnTo>
                </a:path>
              </a:pathLst>
            </a:custGeom>
            <a:ln w="28956">
              <a:solidFill>
                <a:srgbClr val="000000"/>
              </a:solidFill>
            </a:ln>
          </p:spPr>
          <p:txBody>
            <a:bodyPr wrap="square" lIns="0" tIns="0" rIns="0" bIns="0" rtlCol="0"/>
            <a:lstStyle/>
            <a:p>
              <a:endParaRPr sz="1227"/>
            </a:p>
          </p:txBody>
        </p:sp>
        <p:pic>
          <p:nvPicPr>
            <p:cNvPr id="79" name="object 79"/>
            <p:cNvPicPr/>
            <p:nvPr/>
          </p:nvPicPr>
          <p:blipFill>
            <a:blip r:embed="rId8" cstate="print"/>
            <a:stretch>
              <a:fillRect/>
            </a:stretch>
          </p:blipFill>
          <p:spPr>
            <a:xfrm>
              <a:off x="4872228" y="2513072"/>
              <a:ext cx="86867" cy="86868"/>
            </a:xfrm>
            <a:prstGeom prst="rect">
              <a:avLst/>
            </a:prstGeom>
          </p:spPr>
        </p:pic>
        <p:pic>
          <p:nvPicPr>
            <p:cNvPr id="80" name="object 80"/>
            <p:cNvPicPr/>
            <p:nvPr/>
          </p:nvPicPr>
          <p:blipFill>
            <a:blip r:embed="rId9" cstate="print"/>
            <a:stretch>
              <a:fillRect/>
            </a:stretch>
          </p:blipFill>
          <p:spPr>
            <a:xfrm>
              <a:off x="2091690" y="2530602"/>
              <a:ext cx="86868" cy="86868"/>
            </a:xfrm>
            <a:prstGeom prst="rect">
              <a:avLst/>
            </a:prstGeom>
          </p:spPr>
        </p:pic>
        <p:sp>
          <p:nvSpPr>
            <p:cNvPr id="81" name="object 81"/>
            <p:cNvSpPr/>
            <p:nvPr/>
          </p:nvSpPr>
          <p:spPr>
            <a:xfrm>
              <a:off x="2990088" y="2574036"/>
              <a:ext cx="0" cy="342900"/>
            </a:xfrm>
            <a:custGeom>
              <a:avLst/>
              <a:gdLst/>
              <a:ahLst/>
              <a:cxnLst/>
              <a:rect l="l" t="t" r="r" b="b"/>
              <a:pathLst>
                <a:path h="342900">
                  <a:moveTo>
                    <a:pt x="0" y="342900"/>
                  </a:moveTo>
                  <a:lnTo>
                    <a:pt x="0" y="0"/>
                  </a:lnTo>
                </a:path>
              </a:pathLst>
            </a:custGeom>
            <a:ln w="28956">
              <a:solidFill>
                <a:srgbClr val="000000"/>
              </a:solidFill>
            </a:ln>
          </p:spPr>
          <p:txBody>
            <a:bodyPr wrap="square" lIns="0" tIns="0" rIns="0" bIns="0" rtlCol="0"/>
            <a:lstStyle/>
            <a:p>
              <a:endParaRPr sz="1227"/>
            </a:p>
          </p:txBody>
        </p:sp>
        <p:pic>
          <p:nvPicPr>
            <p:cNvPr id="82" name="object 82"/>
            <p:cNvPicPr/>
            <p:nvPr/>
          </p:nvPicPr>
          <p:blipFill>
            <a:blip r:embed="rId10" cstate="print"/>
            <a:stretch>
              <a:fillRect/>
            </a:stretch>
          </p:blipFill>
          <p:spPr>
            <a:xfrm>
              <a:off x="2946648" y="2530602"/>
              <a:ext cx="86867" cy="86867"/>
            </a:xfrm>
            <a:prstGeom prst="rect">
              <a:avLst/>
            </a:prstGeom>
          </p:spPr>
        </p:pic>
        <p:sp>
          <p:nvSpPr>
            <p:cNvPr id="83" name="object 83"/>
            <p:cNvSpPr/>
            <p:nvPr/>
          </p:nvSpPr>
          <p:spPr>
            <a:xfrm>
              <a:off x="2135124" y="2574036"/>
              <a:ext cx="0" cy="357505"/>
            </a:xfrm>
            <a:custGeom>
              <a:avLst/>
              <a:gdLst/>
              <a:ahLst/>
              <a:cxnLst/>
              <a:rect l="l" t="t" r="r" b="b"/>
              <a:pathLst>
                <a:path h="357505">
                  <a:moveTo>
                    <a:pt x="0" y="357377"/>
                  </a:moveTo>
                  <a:lnTo>
                    <a:pt x="0" y="0"/>
                  </a:lnTo>
                </a:path>
              </a:pathLst>
            </a:custGeom>
            <a:ln w="28956">
              <a:solidFill>
                <a:srgbClr val="000000"/>
              </a:solidFill>
            </a:ln>
          </p:spPr>
          <p:txBody>
            <a:bodyPr wrap="square" lIns="0" tIns="0" rIns="0" bIns="0" rtlCol="0"/>
            <a:lstStyle/>
            <a:p>
              <a:endParaRPr sz="1227"/>
            </a:p>
          </p:txBody>
        </p:sp>
        <p:sp>
          <p:nvSpPr>
            <p:cNvPr id="84" name="object 84"/>
            <p:cNvSpPr/>
            <p:nvPr/>
          </p:nvSpPr>
          <p:spPr>
            <a:xfrm>
              <a:off x="4228338" y="2561844"/>
              <a:ext cx="482600" cy="0"/>
            </a:xfrm>
            <a:custGeom>
              <a:avLst/>
              <a:gdLst/>
              <a:ahLst/>
              <a:cxnLst/>
              <a:rect l="l" t="t" r="r" b="b"/>
              <a:pathLst>
                <a:path w="482600">
                  <a:moveTo>
                    <a:pt x="0" y="0"/>
                  </a:moveTo>
                  <a:lnTo>
                    <a:pt x="482345" y="0"/>
                  </a:lnTo>
                </a:path>
              </a:pathLst>
            </a:custGeom>
            <a:ln w="28956">
              <a:solidFill>
                <a:srgbClr val="C00000"/>
              </a:solidFill>
            </a:ln>
          </p:spPr>
          <p:txBody>
            <a:bodyPr wrap="square" lIns="0" tIns="0" rIns="0" bIns="0" rtlCol="0"/>
            <a:lstStyle/>
            <a:p>
              <a:endParaRPr sz="1227"/>
            </a:p>
          </p:txBody>
        </p:sp>
        <p:sp>
          <p:nvSpPr>
            <p:cNvPr id="85" name="object 85"/>
            <p:cNvSpPr/>
            <p:nvPr/>
          </p:nvSpPr>
          <p:spPr>
            <a:xfrm>
              <a:off x="4155950" y="2489457"/>
              <a:ext cx="86995" cy="144780"/>
            </a:xfrm>
            <a:custGeom>
              <a:avLst/>
              <a:gdLst/>
              <a:ahLst/>
              <a:cxnLst/>
              <a:rect l="l" t="t" r="r" b="b"/>
              <a:pathLst>
                <a:path w="86995" h="144780">
                  <a:moveTo>
                    <a:pt x="86867" y="0"/>
                  </a:moveTo>
                  <a:lnTo>
                    <a:pt x="0" y="72390"/>
                  </a:lnTo>
                  <a:lnTo>
                    <a:pt x="86867" y="144780"/>
                  </a:lnTo>
                  <a:lnTo>
                    <a:pt x="86867" y="0"/>
                  </a:lnTo>
                  <a:close/>
                </a:path>
              </a:pathLst>
            </a:custGeom>
            <a:solidFill>
              <a:srgbClr val="C00000"/>
            </a:solidFill>
          </p:spPr>
          <p:txBody>
            <a:bodyPr wrap="square" lIns="0" tIns="0" rIns="0" bIns="0" rtlCol="0"/>
            <a:lstStyle/>
            <a:p>
              <a:endParaRPr sz="1227"/>
            </a:p>
          </p:txBody>
        </p:sp>
      </p:grpSp>
      <p:sp>
        <p:nvSpPr>
          <p:cNvPr id="86" name="object 86"/>
          <p:cNvSpPr txBox="1"/>
          <p:nvPr/>
        </p:nvSpPr>
        <p:spPr>
          <a:xfrm>
            <a:off x="6026709" y="2632115"/>
            <a:ext cx="417368" cy="218236"/>
          </a:xfrm>
          <a:prstGeom prst="rect">
            <a:avLst/>
          </a:prstGeom>
        </p:spPr>
        <p:txBody>
          <a:bodyPr vert="horz" wrap="square" lIns="0" tIns="8226" rIns="0" bIns="0" rtlCol="0">
            <a:spAutoFit/>
          </a:bodyPr>
          <a:lstStyle/>
          <a:p>
            <a:pPr marL="8659">
              <a:spcBef>
                <a:spcPts val="65"/>
              </a:spcBef>
            </a:pPr>
            <a:r>
              <a:rPr sz="1364" dirty="0">
                <a:latin typeface="Cambria Math"/>
                <a:cs typeface="Cambria Math"/>
              </a:rPr>
              <a:t>𝑃𝐸</a:t>
            </a:r>
            <a:r>
              <a:rPr sz="1364" spc="116" dirty="0">
                <a:latin typeface="Cambria Math"/>
                <a:cs typeface="Cambria Math"/>
              </a:rPr>
              <a:t> </a:t>
            </a:r>
            <a:r>
              <a:rPr sz="1364" spc="-34" dirty="0">
                <a:latin typeface="Cambria Math"/>
                <a:cs typeface="Cambria Math"/>
              </a:rPr>
              <a:t>=</a:t>
            </a:r>
            <a:endParaRPr sz="1364">
              <a:latin typeface="Cambria Math"/>
              <a:cs typeface="Cambria Math"/>
            </a:endParaRPr>
          </a:p>
        </p:txBody>
      </p:sp>
      <p:sp>
        <p:nvSpPr>
          <p:cNvPr id="87" name="object 87"/>
          <p:cNvSpPr/>
          <p:nvPr/>
        </p:nvSpPr>
        <p:spPr>
          <a:xfrm>
            <a:off x="6483736" y="2758711"/>
            <a:ext cx="1178502" cy="11690"/>
          </a:xfrm>
          <a:custGeom>
            <a:avLst/>
            <a:gdLst/>
            <a:ahLst/>
            <a:cxnLst/>
            <a:rect l="l" t="t" r="r" b="b"/>
            <a:pathLst>
              <a:path w="1728470" h="17145">
                <a:moveTo>
                  <a:pt x="1728216" y="0"/>
                </a:moveTo>
                <a:lnTo>
                  <a:pt x="0" y="0"/>
                </a:lnTo>
                <a:lnTo>
                  <a:pt x="0" y="16764"/>
                </a:lnTo>
                <a:lnTo>
                  <a:pt x="1728216" y="16764"/>
                </a:lnTo>
                <a:lnTo>
                  <a:pt x="1728216" y="0"/>
                </a:lnTo>
                <a:close/>
              </a:path>
            </a:pathLst>
          </a:custGeom>
          <a:solidFill>
            <a:srgbClr val="000000"/>
          </a:solidFill>
        </p:spPr>
        <p:txBody>
          <a:bodyPr wrap="square" lIns="0" tIns="0" rIns="0" bIns="0" rtlCol="0"/>
          <a:lstStyle/>
          <a:p>
            <a:endParaRPr sz="1227"/>
          </a:p>
        </p:txBody>
      </p:sp>
      <p:sp>
        <p:nvSpPr>
          <p:cNvPr id="88" name="object 88"/>
          <p:cNvSpPr txBox="1"/>
          <p:nvPr/>
        </p:nvSpPr>
        <p:spPr>
          <a:xfrm>
            <a:off x="6690515" y="2543792"/>
            <a:ext cx="758969" cy="218107"/>
          </a:xfrm>
          <a:prstGeom prst="rect">
            <a:avLst/>
          </a:prstGeom>
        </p:spPr>
        <p:txBody>
          <a:bodyPr vert="horz" wrap="square" lIns="0" tIns="8226" rIns="0" bIns="0" rtlCol="0">
            <a:spAutoFit/>
          </a:bodyPr>
          <a:lstStyle/>
          <a:p>
            <a:pPr marL="25977">
              <a:spcBef>
                <a:spcPts val="65"/>
              </a:spcBef>
            </a:pPr>
            <a:r>
              <a:rPr sz="2045" baseline="13888" dirty="0">
                <a:latin typeface="Cambria Math"/>
                <a:cs typeface="Cambria Math"/>
              </a:rPr>
              <a:t>𝑉</a:t>
            </a:r>
            <a:r>
              <a:rPr sz="886" dirty="0">
                <a:latin typeface="Cambria Math"/>
                <a:cs typeface="Cambria Math"/>
              </a:rPr>
              <a:t>𝑜𝑢𝑡</a:t>
            </a:r>
            <a:r>
              <a:rPr sz="886" spc="150" dirty="0">
                <a:latin typeface="Cambria Math"/>
                <a:cs typeface="Cambria Math"/>
              </a:rPr>
              <a:t> </a:t>
            </a:r>
            <a:r>
              <a:rPr lang="en-US" sz="886" spc="150" dirty="0" smtClean="0">
                <a:latin typeface="Cambria Math"/>
                <a:cs typeface="Cambria Math"/>
              </a:rPr>
              <a:t>.</a:t>
            </a:r>
            <a:r>
              <a:rPr sz="2045" spc="-20" baseline="13888" dirty="0" smtClean="0">
                <a:latin typeface="Cambria Math"/>
                <a:cs typeface="Cambria Math"/>
              </a:rPr>
              <a:t>𝐼</a:t>
            </a:r>
            <a:r>
              <a:rPr sz="886" spc="-14" dirty="0" smtClean="0">
                <a:latin typeface="Cambria Math"/>
                <a:cs typeface="Cambria Math"/>
              </a:rPr>
              <a:t>𝑙𝑜𝑎𝑑</a:t>
            </a:r>
            <a:endParaRPr sz="886" dirty="0">
              <a:latin typeface="Cambria Math"/>
              <a:cs typeface="Cambria Math"/>
            </a:endParaRPr>
          </a:p>
        </p:txBody>
      </p:sp>
      <p:sp>
        <p:nvSpPr>
          <p:cNvPr id="89" name="object 89"/>
          <p:cNvSpPr txBox="1"/>
          <p:nvPr/>
        </p:nvSpPr>
        <p:spPr>
          <a:xfrm>
            <a:off x="6415426" y="2900374"/>
            <a:ext cx="1231322" cy="218236"/>
          </a:xfrm>
          <a:prstGeom prst="rect">
            <a:avLst/>
          </a:prstGeom>
        </p:spPr>
        <p:txBody>
          <a:bodyPr vert="horz" wrap="square" lIns="0" tIns="8226" rIns="0" bIns="0" rtlCol="0">
            <a:spAutoFit/>
          </a:bodyPr>
          <a:lstStyle/>
          <a:p>
            <a:pPr marL="25977">
              <a:spcBef>
                <a:spcPts val="65"/>
              </a:spcBef>
            </a:pPr>
            <a:r>
              <a:rPr sz="1364" dirty="0">
                <a:latin typeface="Cambria Math"/>
                <a:cs typeface="Cambria Math"/>
              </a:rPr>
              <a:t>𝑉</a:t>
            </a:r>
            <a:r>
              <a:rPr sz="1330" baseline="-21367" dirty="0">
                <a:latin typeface="Cambria Math"/>
                <a:cs typeface="Cambria Math"/>
              </a:rPr>
              <a:t>𝑖𝑛</a:t>
            </a:r>
            <a:r>
              <a:rPr sz="1330" spc="168" baseline="-21367" dirty="0">
                <a:latin typeface="Cambria Math"/>
                <a:cs typeface="Cambria Math"/>
              </a:rPr>
              <a:t> </a:t>
            </a:r>
            <a:r>
              <a:rPr lang="en-US" sz="1364" dirty="0" smtClean="0">
                <a:latin typeface="Cambria Math"/>
                <a:cs typeface="Cambria Math"/>
              </a:rPr>
              <a:t>( </a:t>
            </a:r>
            <a:r>
              <a:rPr sz="1364" dirty="0" smtClean="0">
                <a:latin typeface="Cambria Math"/>
                <a:cs typeface="Cambria Math"/>
              </a:rPr>
              <a:t>𝐼</a:t>
            </a:r>
            <a:r>
              <a:rPr sz="1483" baseline="-15325" dirty="0" smtClean="0">
                <a:latin typeface="Cambria Math"/>
                <a:cs typeface="Cambria Math"/>
              </a:rPr>
              <a:t>𝑞</a:t>
            </a:r>
            <a:r>
              <a:rPr sz="1483" spc="250" baseline="-15325" dirty="0" smtClean="0">
                <a:latin typeface="Cambria Math"/>
                <a:cs typeface="Cambria Math"/>
              </a:rPr>
              <a:t> </a:t>
            </a:r>
            <a:r>
              <a:rPr sz="1364" dirty="0">
                <a:latin typeface="Cambria Math"/>
                <a:cs typeface="Cambria Math"/>
              </a:rPr>
              <a:t>+ </a:t>
            </a:r>
            <a:r>
              <a:rPr sz="1364" spc="27" dirty="0">
                <a:latin typeface="Cambria Math"/>
                <a:cs typeface="Cambria Math"/>
              </a:rPr>
              <a:t>𝐼</a:t>
            </a:r>
            <a:r>
              <a:rPr sz="1483" spc="41" baseline="-15325" dirty="0">
                <a:latin typeface="Cambria Math"/>
                <a:cs typeface="Cambria Math"/>
              </a:rPr>
              <a:t>𝑙𝑜𝑎𝑑</a:t>
            </a:r>
            <a:r>
              <a:rPr sz="1364" spc="27" dirty="0">
                <a:latin typeface="Cambria Math"/>
                <a:cs typeface="Cambria Math"/>
              </a:rPr>
              <a:t>)</a:t>
            </a:r>
            <a:endParaRPr sz="1364" dirty="0">
              <a:latin typeface="Cambria Math"/>
              <a:cs typeface="Cambria Math"/>
            </a:endParaRPr>
          </a:p>
        </p:txBody>
      </p:sp>
      <p:sp>
        <p:nvSpPr>
          <p:cNvPr id="90" name="object 90"/>
          <p:cNvSpPr/>
          <p:nvPr/>
        </p:nvSpPr>
        <p:spPr>
          <a:xfrm>
            <a:off x="7885990" y="2758710"/>
            <a:ext cx="285750" cy="11690"/>
          </a:xfrm>
          <a:custGeom>
            <a:avLst/>
            <a:gdLst/>
            <a:ahLst/>
            <a:cxnLst/>
            <a:rect l="l" t="t" r="r" b="b"/>
            <a:pathLst>
              <a:path w="419100" h="17145">
                <a:moveTo>
                  <a:pt x="419100" y="0"/>
                </a:moveTo>
                <a:lnTo>
                  <a:pt x="0" y="0"/>
                </a:lnTo>
                <a:lnTo>
                  <a:pt x="0" y="16763"/>
                </a:lnTo>
                <a:lnTo>
                  <a:pt x="419100" y="16763"/>
                </a:lnTo>
                <a:lnTo>
                  <a:pt x="419100" y="0"/>
                </a:lnTo>
                <a:close/>
              </a:path>
            </a:pathLst>
          </a:custGeom>
          <a:solidFill>
            <a:srgbClr val="000000"/>
          </a:solidFill>
        </p:spPr>
        <p:txBody>
          <a:bodyPr wrap="square" lIns="0" tIns="0" rIns="0" bIns="0" rtlCol="0"/>
          <a:lstStyle/>
          <a:p>
            <a:endParaRPr sz="1227"/>
          </a:p>
        </p:txBody>
      </p:sp>
      <p:sp>
        <p:nvSpPr>
          <p:cNvPr id="91" name="object 91"/>
          <p:cNvSpPr txBox="1"/>
          <p:nvPr/>
        </p:nvSpPr>
        <p:spPr>
          <a:xfrm>
            <a:off x="7684458" y="2543793"/>
            <a:ext cx="508722" cy="316083"/>
          </a:xfrm>
          <a:prstGeom prst="rect">
            <a:avLst/>
          </a:prstGeom>
        </p:spPr>
        <p:txBody>
          <a:bodyPr vert="horz" wrap="square" lIns="0" tIns="8226" rIns="0" bIns="0" rtlCol="0">
            <a:spAutoFit/>
          </a:bodyPr>
          <a:lstStyle/>
          <a:p>
            <a:pPr marL="201318">
              <a:lnSpc>
                <a:spcPts val="1166"/>
              </a:lnSpc>
              <a:spcBef>
                <a:spcPts val="65"/>
              </a:spcBef>
            </a:pPr>
            <a:r>
              <a:rPr sz="2045" spc="-20" baseline="13888" dirty="0">
                <a:latin typeface="Cambria Math"/>
                <a:cs typeface="Cambria Math"/>
              </a:rPr>
              <a:t>𝑉</a:t>
            </a:r>
            <a:r>
              <a:rPr sz="886" spc="-14" dirty="0">
                <a:latin typeface="Cambria Math"/>
                <a:cs typeface="Cambria Math"/>
              </a:rPr>
              <a:t>𝑜𝑢𝑡</a:t>
            </a:r>
            <a:endParaRPr sz="886">
              <a:latin typeface="Cambria Math"/>
              <a:cs typeface="Cambria Math"/>
            </a:endParaRPr>
          </a:p>
          <a:p>
            <a:pPr marL="25977">
              <a:lnSpc>
                <a:spcPts val="1166"/>
              </a:lnSpc>
            </a:pPr>
            <a:r>
              <a:rPr sz="1364" spc="-34" dirty="0">
                <a:latin typeface="Cambria Math"/>
                <a:cs typeface="Cambria Math"/>
              </a:rPr>
              <a:t>≈</a:t>
            </a:r>
            <a:endParaRPr sz="1364">
              <a:latin typeface="Cambria Math"/>
              <a:cs typeface="Cambria Math"/>
            </a:endParaRPr>
          </a:p>
        </p:txBody>
      </p:sp>
      <p:sp>
        <p:nvSpPr>
          <p:cNvPr id="92" name="object 92"/>
          <p:cNvSpPr txBox="1"/>
          <p:nvPr/>
        </p:nvSpPr>
        <p:spPr>
          <a:xfrm>
            <a:off x="7895860" y="2790576"/>
            <a:ext cx="263669" cy="218107"/>
          </a:xfrm>
          <a:prstGeom prst="rect">
            <a:avLst/>
          </a:prstGeom>
        </p:spPr>
        <p:txBody>
          <a:bodyPr vert="horz" wrap="square" lIns="0" tIns="8226" rIns="0" bIns="0" rtlCol="0">
            <a:spAutoFit/>
          </a:bodyPr>
          <a:lstStyle/>
          <a:p>
            <a:pPr marL="25977">
              <a:spcBef>
                <a:spcPts val="65"/>
              </a:spcBef>
            </a:pPr>
            <a:r>
              <a:rPr sz="2045" spc="-25" baseline="13888" dirty="0">
                <a:latin typeface="Cambria Math"/>
                <a:cs typeface="Cambria Math"/>
              </a:rPr>
              <a:t>𝑉</a:t>
            </a:r>
            <a:r>
              <a:rPr sz="886" spc="-17" dirty="0">
                <a:latin typeface="Cambria Math"/>
                <a:cs typeface="Cambria Math"/>
              </a:rPr>
              <a:t>𝑖𝑛</a:t>
            </a:r>
            <a:endParaRPr sz="886">
              <a:latin typeface="Cambria Math"/>
              <a:cs typeface="Cambria Math"/>
            </a:endParaRPr>
          </a:p>
        </p:txBody>
      </p:sp>
      <p:sp>
        <p:nvSpPr>
          <p:cNvPr id="93" name="object 93"/>
          <p:cNvSpPr/>
          <p:nvPr/>
        </p:nvSpPr>
        <p:spPr>
          <a:xfrm>
            <a:off x="6516922" y="2076625"/>
            <a:ext cx="686666" cy="11690"/>
          </a:xfrm>
          <a:custGeom>
            <a:avLst/>
            <a:gdLst/>
            <a:ahLst/>
            <a:cxnLst/>
            <a:rect l="l" t="t" r="r" b="b"/>
            <a:pathLst>
              <a:path w="1007109" h="17144">
                <a:moveTo>
                  <a:pt x="1006602" y="0"/>
                </a:moveTo>
                <a:lnTo>
                  <a:pt x="0" y="0"/>
                </a:lnTo>
                <a:lnTo>
                  <a:pt x="0" y="16764"/>
                </a:lnTo>
                <a:lnTo>
                  <a:pt x="1006602" y="16764"/>
                </a:lnTo>
                <a:lnTo>
                  <a:pt x="1006602" y="0"/>
                </a:lnTo>
                <a:close/>
              </a:path>
            </a:pathLst>
          </a:custGeom>
          <a:solidFill>
            <a:srgbClr val="000000"/>
          </a:solidFill>
        </p:spPr>
        <p:txBody>
          <a:bodyPr wrap="square" lIns="0" tIns="0" rIns="0" bIns="0" rtlCol="0"/>
          <a:lstStyle/>
          <a:p>
            <a:endParaRPr sz="1227"/>
          </a:p>
        </p:txBody>
      </p:sp>
      <p:sp>
        <p:nvSpPr>
          <p:cNvPr id="94" name="object 94"/>
          <p:cNvSpPr txBox="1"/>
          <p:nvPr/>
        </p:nvSpPr>
        <p:spPr>
          <a:xfrm>
            <a:off x="6683695" y="1861706"/>
            <a:ext cx="347230" cy="218107"/>
          </a:xfrm>
          <a:prstGeom prst="rect">
            <a:avLst/>
          </a:prstGeom>
        </p:spPr>
        <p:txBody>
          <a:bodyPr vert="horz" wrap="square" lIns="0" tIns="8226" rIns="0" bIns="0" rtlCol="0">
            <a:spAutoFit/>
          </a:bodyPr>
          <a:lstStyle/>
          <a:p>
            <a:pPr marL="25977">
              <a:spcBef>
                <a:spcPts val="65"/>
              </a:spcBef>
            </a:pPr>
            <a:r>
              <a:rPr sz="2045" spc="-10" baseline="13888" dirty="0">
                <a:latin typeface="Cambria Math"/>
                <a:cs typeface="Cambria Math"/>
              </a:rPr>
              <a:t>𝐼</a:t>
            </a:r>
            <a:r>
              <a:rPr sz="886" spc="-7" dirty="0">
                <a:latin typeface="Cambria Math"/>
                <a:cs typeface="Cambria Math"/>
              </a:rPr>
              <a:t>𝑙𝑜𝑎𝑑</a:t>
            </a:r>
            <a:endParaRPr sz="886">
              <a:latin typeface="Cambria Math"/>
              <a:cs typeface="Cambria Math"/>
            </a:endParaRPr>
          </a:p>
        </p:txBody>
      </p:sp>
      <p:sp>
        <p:nvSpPr>
          <p:cNvPr id="95" name="object 95"/>
          <p:cNvSpPr txBox="1"/>
          <p:nvPr/>
        </p:nvSpPr>
        <p:spPr>
          <a:xfrm>
            <a:off x="6573726" y="2166160"/>
            <a:ext cx="79663" cy="147686"/>
          </a:xfrm>
          <a:prstGeom prst="rect">
            <a:avLst/>
          </a:prstGeom>
        </p:spPr>
        <p:txBody>
          <a:bodyPr vert="horz" wrap="square" lIns="0" tIns="11257" rIns="0" bIns="0" rtlCol="0">
            <a:spAutoFit/>
          </a:bodyPr>
          <a:lstStyle/>
          <a:p>
            <a:pPr marL="8659">
              <a:spcBef>
                <a:spcPts val="89"/>
              </a:spcBef>
            </a:pPr>
            <a:r>
              <a:rPr sz="886" spc="-34" dirty="0">
                <a:latin typeface="Cambria Math"/>
                <a:cs typeface="Cambria Math"/>
              </a:rPr>
              <a:t>𝑞</a:t>
            </a:r>
            <a:endParaRPr sz="886">
              <a:latin typeface="Cambria Math"/>
              <a:cs typeface="Cambria Math"/>
            </a:endParaRPr>
          </a:p>
        </p:txBody>
      </p:sp>
      <p:sp>
        <p:nvSpPr>
          <p:cNvPr id="96" name="object 96"/>
          <p:cNvSpPr txBox="1"/>
          <p:nvPr/>
        </p:nvSpPr>
        <p:spPr>
          <a:xfrm>
            <a:off x="6064570" y="1950029"/>
            <a:ext cx="866775" cy="341731"/>
          </a:xfrm>
          <a:prstGeom prst="rect">
            <a:avLst/>
          </a:prstGeom>
        </p:spPr>
        <p:txBody>
          <a:bodyPr vert="horz" wrap="square" lIns="0" tIns="8226" rIns="0" bIns="0" rtlCol="0">
            <a:spAutoFit/>
          </a:bodyPr>
          <a:lstStyle/>
          <a:p>
            <a:pPr marL="8659">
              <a:lnSpc>
                <a:spcPts val="1275"/>
              </a:lnSpc>
              <a:spcBef>
                <a:spcPts val="65"/>
              </a:spcBef>
            </a:pPr>
            <a:r>
              <a:rPr sz="1364" dirty="0">
                <a:latin typeface="Cambria Math"/>
                <a:cs typeface="Cambria Math"/>
              </a:rPr>
              <a:t>𝐶𝐸</a:t>
            </a:r>
            <a:r>
              <a:rPr sz="1364" spc="116" dirty="0">
                <a:latin typeface="Cambria Math"/>
                <a:cs typeface="Cambria Math"/>
              </a:rPr>
              <a:t> </a:t>
            </a:r>
            <a:r>
              <a:rPr sz="1364" spc="-34" dirty="0">
                <a:latin typeface="Cambria Math"/>
                <a:cs typeface="Cambria Math"/>
              </a:rPr>
              <a:t>=</a:t>
            </a:r>
            <a:endParaRPr sz="1364">
              <a:latin typeface="Cambria Math"/>
              <a:cs typeface="Cambria Math"/>
            </a:endParaRPr>
          </a:p>
          <a:p>
            <a:pPr marL="451992">
              <a:lnSpc>
                <a:spcPts val="1275"/>
              </a:lnSpc>
              <a:tabLst>
                <a:tab pos="623438" algn="l"/>
              </a:tabLst>
            </a:pPr>
            <a:r>
              <a:rPr sz="1364" spc="-34" dirty="0">
                <a:latin typeface="Cambria Math"/>
                <a:cs typeface="Cambria Math"/>
              </a:rPr>
              <a:t>𝐼</a:t>
            </a:r>
            <a:r>
              <a:rPr sz="1364" dirty="0">
                <a:latin typeface="Cambria Math"/>
                <a:cs typeface="Cambria Math"/>
              </a:rPr>
              <a:t>	+</a:t>
            </a:r>
            <a:r>
              <a:rPr sz="1364" spc="-3" dirty="0">
                <a:latin typeface="Cambria Math"/>
                <a:cs typeface="Cambria Math"/>
              </a:rPr>
              <a:t> </a:t>
            </a:r>
            <a:r>
              <a:rPr sz="1364" spc="-34" dirty="0">
                <a:latin typeface="Cambria Math"/>
                <a:cs typeface="Cambria Math"/>
              </a:rPr>
              <a:t>𝐼</a:t>
            </a:r>
            <a:endParaRPr sz="1364">
              <a:latin typeface="Cambria Math"/>
              <a:cs typeface="Cambria Math"/>
            </a:endParaRPr>
          </a:p>
        </p:txBody>
      </p:sp>
      <p:sp>
        <p:nvSpPr>
          <p:cNvPr id="97" name="object 97"/>
          <p:cNvSpPr txBox="1"/>
          <p:nvPr/>
        </p:nvSpPr>
        <p:spPr>
          <a:xfrm>
            <a:off x="6903637" y="2147975"/>
            <a:ext cx="296141" cy="161402"/>
          </a:xfrm>
          <a:prstGeom prst="rect">
            <a:avLst/>
          </a:prstGeom>
        </p:spPr>
        <p:txBody>
          <a:bodyPr vert="horz" wrap="square" lIns="0" tIns="9092" rIns="0" bIns="0" rtlCol="0">
            <a:spAutoFit/>
          </a:bodyPr>
          <a:lstStyle/>
          <a:p>
            <a:pPr marL="8659">
              <a:spcBef>
                <a:spcPts val="72"/>
              </a:spcBef>
            </a:pPr>
            <a:r>
              <a:rPr sz="989" spc="37" dirty="0">
                <a:latin typeface="Cambria Math"/>
                <a:cs typeface="Cambria Math"/>
              </a:rPr>
              <a:t>𝑙𝑜𝑎𝑑</a:t>
            </a:r>
            <a:endParaRPr sz="989">
              <a:latin typeface="Cambria Math"/>
              <a:cs typeface="Cambria Math"/>
            </a:endParaRPr>
          </a:p>
        </p:txBody>
      </p:sp>
      <p:sp>
        <p:nvSpPr>
          <p:cNvPr id="98" name="object 98"/>
          <p:cNvSpPr txBox="1"/>
          <p:nvPr/>
        </p:nvSpPr>
        <p:spPr>
          <a:xfrm>
            <a:off x="7398037" y="3507494"/>
            <a:ext cx="89189" cy="147686"/>
          </a:xfrm>
          <a:prstGeom prst="rect">
            <a:avLst/>
          </a:prstGeom>
        </p:spPr>
        <p:txBody>
          <a:bodyPr vert="horz" wrap="square" lIns="0" tIns="11257" rIns="0" bIns="0" rtlCol="0">
            <a:spAutoFit/>
          </a:bodyPr>
          <a:lstStyle/>
          <a:p>
            <a:pPr marL="8659">
              <a:spcBef>
                <a:spcPts val="89"/>
              </a:spcBef>
            </a:pPr>
            <a:r>
              <a:rPr sz="886" i="1" spc="-34" dirty="0">
                <a:solidFill>
                  <a:srgbClr val="C00000"/>
                </a:solidFill>
                <a:latin typeface="Verdana"/>
                <a:cs typeface="Verdana"/>
              </a:rPr>
              <a:t>q</a:t>
            </a:r>
            <a:endParaRPr sz="886">
              <a:latin typeface="Verdana"/>
              <a:cs typeface="Verdana"/>
            </a:endParaRPr>
          </a:p>
        </p:txBody>
      </p:sp>
      <p:sp>
        <p:nvSpPr>
          <p:cNvPr id="99" name="object 99"/>
          <p:cNvSpPr txBox="1"/>
          <p:nvPr/>
        </p:nvSpPr>
        <p:spPr>
          <a:xfrm>
            <a:off x="7052540" y="3407220"/>
            <a:ext cx="911802" cy="218236"/>
          </a:xfrm>
          <a:prstGeom prst="rect">
            <a:avLst/>
          </a:prstGeom>
        </p:spPr>
        <p:txBody>
          <a:bodyPr vert="horz" wrap="square" lIns="0" tIns="8226" rIns="0" bIns="0" rtlCol="0">
            <a:spAutoFit/>
          </a:bodyPr>
          <a:lstStyle/>
          <a:p>
            <a:pPr marL="8659">
              <a:spcBef>
                <a:spcPts val="65"/>
              </a:spcBef>
              <a:tabLst>
                <a:tab pos="485762" algn="l"/>
              </a:tabLst>
            </a:pPr>
            <a:r>
              <a:rPr sz="1364" i="1" dirty="0">
                <a:solidFill>
                  <a:srgbClr val="C00000"/>
                </a:solidFill>
                <a:latin typeface="Verdana"/>
                <a:cs typeface="Verdana"/>
              </a:rPr>
              <a:t>If:</a:t>
            </a:r>
            <a:r>
              <a:rPr sz="1364" i="1" spc="-17" dirty="0">
                <a:solidFill>
                  <a:srgbClr val="C00000"/>
                </a:solidFill>
                <a:latin typeface="Verdana"/>
                <a:cs typeface="Verdana"/>
              </a:rPr>
              <a:t> </a:t>
            </a:r>
            <a:r>
              <a:rPr sz="1364" i="1" spc="-34" dirty="0">
                <a:solidFill>
                  <a:srgbClr val="C00000"/>
                </a:solidFill>
                <a:latin typeface="Verdana"/>
                <a:cs typeface="Verdana"/>
              </a:rPr>
              <a:t>I</a:t>
            </a:r>
            <a:r>
              <a:rPr sz="1364" i="1" dirty="0">
                <a:solidFill>
                  <a:srgbClr val="C00000"/>
                </a:solidFill>
                <a:latin typeface="Verdana"/>
                <a:cs typeface="Verdana"/>
              </a:rPr>
              <a:t>	&lt;&lt;</a:t>
            </a:r>
            <a:r>
              <a:rPr sz="1364" i="1" spc="-27" dirty="0">
                <a:solidFill>
                  <a:srgbClr val="C00000"/>
                </a:solidFill>
                <a:latin typeface="Verdana"/>
                <a:cs typeface="Verdana"/>
              </a:rPr>
              <a:t> </a:t>
            </a:r>
            <a:r>
              <a:rPr sz="1364" i="1" spc="-34" dirty="0">
                <a:solidFill>
                  <a:srgbClr val="C00000"/>
                </a:solidFill>
                <a:latin typeface="Verdana"/>
                <a:cs typeface="Verdana"/>
              </a:rPr>
              <a:t>I</a:t>
            </a:r>
            <a:endParaRPr sz="1364">
              <a:latin typeface="Verdana"/>
              <a:cs typeface="Verdana"/>
            </a:endParaRPr>
          </a:p>
        </p:txBody>
      </p:sp>
      <p:sp>
        <p:nvSpPr>
          <p:cNvPr id="100" name="object 100"/>
          <p:cNvSpPr txBox="1"/>
          <p:nvPr/>
        </p:nvSpPr>
        <p:spPr>
          <a:xfrm>
            <a:off x="7946678" y="3507494"/>
            <a:ext cx="260206" cy="147686"/>
          </a:xfrm>
          <a:prstGeom prst="rect">
            <a:avLst/>
          </a:prstGeom>
        </p:spPr>
        <p:txBody>
          <a:bodyPr vert="horz" wrap="square" lIns="0" tIns="11257" rIns="0" bIns="0" rtlCol="0">
            <a:spAutoFit/>
          </a:bodyPr>
          <a:lstStyle/>
          <a:p>
            <a:pPr marL="8659">
              <a:spcBef>
                <a:spcPts val="89"/>
              </a:spcBef>
            </a:pPr>
            <a:r>
              <a:rPr sz="886" i="1" spc="-14" dirty="0">
                <a:solidFill>
                  <a:srgbClr val="C00000"/>
                </a:solidFill>
                <a:latin typeface="Verdana"/>
                <a:cs typeface="Verdana"/>
              </a:rPr>
              <a:t>load</a:t>
            </a:r>
            <a:endParaRPr sz="886">
              <a:latin typeface="Verdana"/>
              <a:cs typeface="Verdana"/>
            </a:endParaRPr>
          </a:p>
        </p:txBody>
      </p:sp>
      <p:grpSp>
        <p:nvGrpSpPr>
          <p:cNvPr id="101" name="object 101"/>
          <p:cNvGrpSpPr/>
          <p:nvPr/>
        </p:nvGrpSpPr>
        <p:grpSpPr>
          <a:xfrm>
            <a:off x="7723998" y="2843196"/>
            <a:ext cx="89189" cy="605703"/>
            <a:chOff x="9657210" y="3673309"/>
            <a:chExt cx="130810" cy="888365"/>
          </a:xfrm>
        </p:grpSpPr>
        <p:sp>
          <p:nvSpPr>
            <p:cNvPr id="102" name="object 102"/>
            <p:cNvSpPr/>
            <p:nvPr/>
          </p:nvSpPr>
          <p:spPr>
            <a:xfrm>
              <a:off x="9722357" y="3687787"/>
              <a:ext cx="0" cy="873760"/>
            </a:xfrm>
            <a:custGeom>
              <a:avLst/>
              <a:gdLst/>
              <a:ahLst/>
              <a:cxnLst/>
              <a:rect l="l" t="t" r="r" b="b"/>
              <a:pathLst>
                <a:path h="873760">
                  <a:moveTo>
                    <a:pt x="0" y="873544"/>
                  </a:moveTo>
                  <a:lnTo>
                    <a:pt x="0" y="0"/>
                  </a:lnTo>
                </a:path>
              </a:pathLst>
            </a:custGeom>
            <a:ln w="28956">
              <a:solidFill>
                <a:srgbClr val="C00000"/>
              </a:solidFill>
              <a:prstDash val="sysDash"/>
            </a:ln>
          </p:spPr>
          <p:txBody>
            <a:bodyPr wrap="square" lIns="0" tIns="0" rIns="0" bIns="0" rtlCol="0"/>
            <a:lstStyle/>
            <a:p>
              <a:endParaRPr sz="1227"/>
            </a:p>
          </p:txBody>
        </p:sp>
        <p:sp>
          <p:nvSpPr>
            <p:cNvPr id="103" name="object 103"/>
            <p:cNvSpPr/>
            <p:nvPr/>
          </p:nvSpPr>
          <p:spPr>
            <a:xfrm>
              <a:off x="9671688" y="3687787"/>
              <a:ext cx="101600" cy="86995"/>
            </a:xfrm>
            <a:custGeom>
              <a:avLst/>
              <a:gdLst/>
              <a:ahLst/>
              <a:cxnLst/>
              <a:rect l="l" t="t" r="r" b="b"/>
              <a:pathLst>
                <a:path w="101600" h="86995">
                  <a:moveTo>
                    <a:pt x="101346" y="86868"/>
                  </a:moveTo>
                  <a:lnTo>
                    <a:pt x="50673" y="0"/>
                  </a:lnTo>
                  <a:lnTo>
                    <a:pt x="0" y="86868"/>
                  </a:lnTo>
                </a:path>
              </a:pathLst>
            </a:custGeom>
            <a:ln w="28956">
              <a:solidFill>
                <a:srgbClr val="C00000"/>
              </a:solidFill>
            </a:ln>
          </p:spPr>
          <p:txBody>
            <a:bodyPr wrap="square" lIns="0" tIns="0" rIns="0" bIns="0" rtlCol="0"/>
            <a:lstStyle/>
            <a:p>
              <a:endParaRPr sz="1227"/>
            </a:p>
          </p:txBody>
        </p:sp>
      </p:grpSp>
      <p:sp>
        <p:nvSpPr>
          <p:cNvPr id="104" name="object 104"/>
          <p:cNvSpPr txBox="1"/>
          <p:nvPr/>
        </p:nvSpPr>
        <p:spPr>
          <a:xfrm>
            <a:off x="3930837" y="1808578"/>
            <a:ext cx="196561" cy="218236"/>
          </a:xfrm>
          <a:prstGeom prst="rect">
            <a:avLst/>
          </a:prstGeom>
        </p:spPr>
        <p:txBody>
          <a:bodyPr vert="horz" wrap="square" lIns="0" tIns="8226" rIns="0" bIns="0" rtlCol="0">
            <a:spAutoFit/>
          </a:bodyPr>
          <a:lstStyle/>
          <a:p>
            <a:pPr marL="25977">
              <a:spcBef>
                <a:spcPts val="65"/>
              </a:spcBef>
            </a:pPr>
            <a:r>
              <a:rPr sz="1364" i="1" spc="-17" dirty="0">
                <a:solidFill>
                  <a:srgbClr val="C00000"/>
                </a:solidFill>
                <a:latin typeface="Verdana"/>
                <a:cs typeface="Verdana"/>
              </a:rPr>
              <a:t>I</a:t>
            </a:r>
            <a:r>
              <a:rPr sz="1330" i="1" spc="-25" baseline="-21367" dirty="0">
                <a:solidFill>
                  <a:srgbClr val="C00000"/>
                </a:solidFill>
                <a:latin typeface="Verdana"/>
                <a:cs typeface="Verdana"/>
              </a:rPr>
              <a:t>q</a:t>
            </a:r>
            <a:endParaRPr sz="1330" baseline="-21367">
              <a:latin typeface="Verdana"/>
              <a:cs typeface="Verdana"/>
            </a:endParaRPr>
          </a:p>
        </p:txBody>
      </p:sp>
      <p:grpSp>
        <p:nvGrpSpPr>
          <p:cNvPr id="105" name="object 105"/>
          <p:cNvGrpSpPr/>
          <p:nvPr/>
        </p:nvGrpSpPr>
        <p:grpSpPr>
          <a:xfrm>
            <a:off x="4441771" y="2145040"/>
            <a:ext cx="98714" cy="178810"/>
            <a:chOff x="4843277" y="2649347"/>
            <a:chExt cx="144780" cy="262255"/>
          </a:xfrm>
        </p:grpSpPr>
        <p:sp>
          <p:nvSpPr>
            <p:cNvPr id="106" name="object 106"/>
            <p:cNvSpPr/>
            <p:nvPr/>
          </p:nvSpPr>
          <p:spPr>
            <a:xfrm>
              <a:off x="4915662" y="2663952"/>
              <a:ext cx="0" cy="175260"/>
            </a:xfrm>
            <a:custGeom>
              <a:avLst/>
              <a:gdLst/>
              <a:ahLst/>
              <a:cxnLst/>
              <a:rect l="l" t="t" r="r" b="b"/>
              <a:pathLst>
                <a:path h="175260">
                  <a:moveTo>
                    <a:pt x="0" y="175260"/>
                  </a:moveTo>
                  <a:lnTo>
                    <a:pt x="0" y="0"/>
                  </a:lnTo>
                </a:path>
              </a:pathLst>
            </a:custGeom>
            <a:ln w="28956">
              <a:solidFill>
                <a:srgbClr val="C00000"/>
              </a:solidFill>
            </a:ln>
          </p:spPr>
          <p:txBody>
            <a:bodyPr wrap="square" lIns="0" tIns="0" rIns="0" bIns="0" rtlCol="0"/>
            <a:lstStyle/>
            <a:p>
              <a:endParaRPr sz="1227"/>
            </a:p>
          </p:txBody>
        </p:sp>
        <p:sp>
          <p:nvSpPr>
            <p:cNvPr id="107" name="object 107"/>
            <p:cNvSpPr/>
            <p:nvPr/>
          </p:nvSpPr>
          <p:spPr>
            <a:xfrm>
              <a:off x="4843277" y="2824730"/>
              <a:ext cx="144780" cy="86995"/>
            </a:xfrm>
            <a:custGeom>
              <a:avLst/>
              <a:gdLst/>
              <a:ahLst/>
              <a:cxnLst/>
              <a:rect l="l" t="t" r="r" b="b"/>
              <a:pathLst>
                <a:path w="144779" h="86994">
                  <a:moveTo>
                    <a:pt x="144780" y="12"/>
                  </a:moveTo>
                  <a:lnTo>
                    <a:pt x="0" y="0"/>
                  </a:lnTo>
                  <a:lnTo>
                    <a:pt x="72390" y="86868"/>
                  </a:lnTo>
                  <a:lnTo>
                    <a:pt x="144780" y="12"/>
                  </a:lnTo>
                  <a:close/>
                </a:path>
              </a:pathLst>
            </a:custGeom>
            <a:solidFill>
              <a:srgbClr val="C00000"/>
            </a:solidFill>
          </p:spPr>
          <p:txBody>
            <a:bodyPr wrap="square" lIns="0" tIns="0" rIns="0" bIns="0" rtlCol="0"/>
            <a:lstStyle/>
            <a:p>
              <a:endParaRPr sz="1227"/>
            </a:p>
          </p:txBody>
        </p:sp>
      </p:grpSp>
      <p:sp>
        <p:nvSpPr>
          <p:cNvPr id="108" name="object 108"/>
          <p:cNvSpPr txBox="1"/>
          <p:nvPr/>
        </p:nvSpPr>
        <p:spPr>
          <a:xfrm>
            <a:off x="4536926" y="2070371"/>
            <a:ext cx="340302" cy="218107"/>
          </a:xfrm>
          <a:prstGeom prst="rect">
            <a:avLst/>
          </a:prstGeom>
        </p:spPr>
        <p:txBody>
          <a:bodyPr vert="horz" wrap="square" lIns="0" tIns="8226" rIns="0" bIns="0" rtlCol="0">
            <a:spAutoFit/>
          </a:bodyPr>
          <a:lstStyle/>
          <a:p>
            <a:pPr marL="25977">
              <a:spcBef>
                <a:spcPts val="65"/>
              </a:spcBef>
            </a:pPr>
            <a:r>
              <a:rPr sz="2045" i="1" spc="-20" baseline="13888" dirty="0">
                <a:solidFill>
                  <a:srgbClr val="C00000"/>
                </a:solidFill>
                <a:latin typeface="Verdana"/>
                <a:cs typeface="Verdana"/>
              </a:rPr>
              <a:t>I</a:t>
            </a:r>
            <a:r>
              <a:rPr sz="886" i="1" spc="-14" dirty="0">
                <a:solidFill>
                  <a:srgbClr val="C00000"/>
                </a:solidFill>
                <a:latin typeface="Verdana"/>
                <a:cs typeface="Verdana"/>
              </a:rPr>
              <a:t>pwr</a:t>
            </a:r>
            <a:endParaRPr sz="886">
              <a:latin typeface="Verdana"/>
              <a:cs typeface="Verdana"/>
            </a:endParaRPr>
          </a:p>
        </p:txBody>
      </p:sp>
      <p:grpSp>
        <p:nvGrpSpPr>
          <p:cNvPr id="109" name="object 109"/>
          <p:cNvGrpSpPr/>
          <p:nvPr/>
        </p:nvGrpSpPr>
        <p:grpSpPr>
          <a:xfrm>
            <a:off x="2541183" y="1587047"/>
            <a:ext cx="1354282" cy="1173307"/>
            <a:chOff x="2055748" y="1830958"/>
            <a:chExt cx="1986280" cy="1720850"/>
          </a:xfrm>
        </p:grpSpPr>
        <p:sp>
          <p:nvSpPr>
            <p:cNvPr id="110" name="object 110"/>
            <p:cNvSpPr/>
            <p:nvPr/>
          </p:nvSpPr>
          <p:spPr>
            <a:xfrm>
              <a:off x="2070353" y="3402330"/>
              <a:ext cx="0" cy="135255"/>
            </a:xfrm>
            <a:custGeom>
              <a:avLst/>
              <a:gdLst/>
              <a:ahLst/>
              <a:cxnLst/>
              <a:rect l="l" t="t" r="r" b="b"/>
              <a:pathLst>
                <a:path h="135254">
                  <a:moveTo>
                    <a:pt x="0" y="0"/>
                  </a:moveTo>
                  <a:lnTo>
                    <a:pt x="0" y="134874"/>
                  </a:lnTo>
                </a:path>
              </a:pathLst>
            </a:custGeom>
            <a:ln w="28956">
              <a:solidFill>
                <a:srgbClr val="000000"/>
              </a:solidFill>
            </a:ln>
          </p:spPr>
          <p:txBody>
            <a:bodyPr wrap="square" lIns="0" tIns="0" rIns="0" bIns="0" rtlCol="0"/>
            <a:lstStyle/>
            <a:p>
              <a:endParaRPr sz="1227"/>
            </a:p>
          </p:txBody>
        </p:sp>
        <p:sp>
          <p:nvSpPr>
            <p:cNvPr id="111" name="object 111"/>
            <p:cNvSpPr/>
            <p:nvPr/>
          </p:nvSpPr>
          <p:spPr>
            <a:xfrm>
              <a:off x="2926079" y="1845563"/>
              <a:ext cx="1101090" cy="483234"/>
            </a:xfrm>
            <a:custGeom>
              <a:avLst/>
              <a:gdLst/>
              <a:ahLst/>
              <a:cxnLst/>
              <a:rect l="l" t="t" r="r" b="b"/>
              <a:pathLst>
                <a:path w="1101089" h="483235">
                  <a:moveTo>
                    <a:pt x="0" y="0"/>
                  </a:moveTo>
                  <a:lnTo>
                    <a:pt x="1100747" y="483019"/>
                  </a:lnTo>
                </a:path>
              </a:pathLst>
            </a:custGeom>
            <a:ln w="28956">
              <a:solidFill>
                <a:srgbClr val="C00000"/>
              </a:solidFill>
              <a:prstDash val="sysDash"/>
            </a:ln>
          </p:spPr>
          <p:txBody>
            <a:bodyPr wrap="square" lIns="0" tIns="0" rIns="0" bIns="0" rtlCol="0"/>
            <a:lstStyle/>
            <a:p>
              <a:endParaRPr sz="1227"/>
            </a:p>
          </p:txBody>
        </p:sp>
        <p:sp>
          <p:nvSpPr>
            <p:cNvPr id="112" name="object 112"/>
            <p:cNvSpPr/>
            <p:nvPr/>
          </p:nvSpPr>
          <p:spPr>
            <a:xfrm>
              <a:off x="3926918" y="2247273"/>
              <a:ext cx="100330" cy="93345"/>
            </a:xfrm>
            <a:custGeom>
              <a:avLst/>
              <a:gdLst/>
              <a:ahLst/>
              <a:cxnLst/>
              <a:rect l="l" t="t" r="r" b="b"/>
              <a:pathLst>
                <a:path w="100329" h="93344">
                  <a:moveTo>
                    <a:pt x="0" y="92811"/>
                  </a:moveTo>
                  <a:lnTo>
                    <a:pt x="99910" y="81305"/>
                  </a:lnTo>
                  <a:lnTo>
                    <a:pt x="40716" y="0"/>
                  </a:lnTo>
                </a:path>
              </a:pathLst>
            </a:custGeom>
            <a:ln w="28956">
              <a:solidFill>
                <a:srgbClr val="C00000"/>
              </a:solidFill>
            </a:ln>
          </p:spPr>
          <p:txBody>
            <a:bodyPr wrap="square" lIns="0" tIns="0" rIns="0" bIns="0" rtlCol="0"/>
            <a:lstStyle/>
            <a:p>
              <a:endParaRPr sz="1227"/>
            </a:p>
          </p:txBody>
        </p:sp>
      </p:grpSp>
      <p:sp>
        <p:nvSpPr>
          <p:cNvPr id="113" name="object 113"/>
          <p:cNvSpPr txBox="1"/>
          <p:nvPr/>
        </p:nvSpPr>
        <p:spPr>
          <a:xfrm>
            <a:off x="2592813" y="2664696"/>
            <a:ext cx="72303" cy="197578"/>
          </a:xfrm>
          <a:prstGeom prst="rect">
            <a:avLst/>
          </a:prstGeom>
        </p:spPr>
        <p:txBody>
          <a:bodyPr vert="horz" wrap="square" lIns="0" tIns="8659" rIns="0" bIns="0" rtlCol="0">
            <a:spAutoFit/>
          </a:bodyPr>
          <a:lstStyle/>
          <a:p>
            <a:pPr marL="8659">
              <a:spcBef>
                <a:spcPts val="68"/>
              </a:spcBef>
            </a:pPr>
            <a:r>
              <a:rPr sz="1227" spc="-34" dirty="0">
                <a:latin typeface="Verdana"/>
                <a:cs typeface="Verdana"/>
              </a:rPr>
              <a:t>f</a:t>
            </a:r>
            <a:endParaRPr sz="1227">
              <a:latin typeface="Verdana"/>
              <a:cs typeface="Verdana"/>
            </a:endParaRPr>
          </a:p>
        </p:txBody>
      </p:sp>
      <p:sp>
        <p:nvSpPr>
          <p:cNvPr id="114" name="object 114"/>
          <p:cNvSpPr txBox="1"/>
          <p:nvPr/>
        </p:nvSpPr>
        <p:spPr>
          <a:xfrm>
            <a:off x="2647365" y="2755097"/>
            <a:ext cx="71870" cy="134612"/>
          </a:xfrm>
          <a:prstGeom prst="rect">
            <a:avLst/>
          </a:prstGeom>
        </p:spPr>
        <p:txBody>
          <a:bodyPr vert="horz" wrap="square" lIns="0" tIns="8659" rIns="0" bIns="0" rtlCol="0">
            <a:spAutoFit/>
          </a:bodyPr>
          <a:lstStyle/>
          <a:p>
            <a:pPr marL="8659">
              <a:spcBef>
                <a:spcPts val="68"/>
              </a:spcBef>
            </a:pPr>
            <a:r>
              <a:rPr sz="818" spc="-34" dirty="0">
                <a:latin typeface="Verdana"/>
                <a:cs typeface="Verdana"/>
              </a:rPr>
              <a:t>s</a:t>
            </a:r>
            <a:endParaRPr sz="818">
              <a:latin typeface="Verdana"/>
              <a:cs typeface="Verdana"/>
            </a:endParaRPr>
          </a:p>
        </p:txBody>
      </p:sp>
      <p:sp>
        <p:nvSpPr>
          <p:cNvPr id="115" name="object 115"/>
          <p:cNvSpPr txBox="1"/>
          <p:nvPr/>
        </p:nvSpPr>
        <p:spPr>
          <a:xfrm>
            <a:off x="2163510" y="1266146"/>
            <a:ext cx="1562100" cy="218236"/>
          </a:xfrm>
          <a:prstGeom prst="rect">
            <a:avLst/>
          </a:prstGeom>
        </p:spPr>
        <p:txBody>
          <a:bodyPr vert="horz" wrap="square" lIns="0" tIns="8226" rIns="0" bIns="0" rtlCol="0">
            <a:spAutoFit/>
          </a:bodyPr>
          <a:lstStyle/>
          <a:p>
            <a:pPr marL="8659">
              <a:spcBef>
                <a:spcPts val="65"/>
              </a:spcBef>
            </a:pPr>
            <a:r>
              <a:rPr sz="1364" dirty="0">
                <a:solidFill>
                  <a:srgbClr val="C00000"/>
                </a:solidFill>
                <a:latin typeface="Verdana"/>
                <a:cs typeface="Verdana"/>
              </a:rPr>
              <a:t>Quiescent</a:t>
            </a:r>
            <a:r>
              <a:rPr sz="1364" spc="-41" dirty="0">
                <a:solidFill>
                  <a:srgbClr val="C00000"/>
                </a:solidFill>
                <a:latin typeface="Verdana"/>
                <a:cs typeface="Verdana"/>
              </a:rPr>
              <a:t> </a:t>
            </a:r>
            <a:r>
              <a:rPr sz="1364" spc="-7" dirty="0">
                <a:solidFill>
                  <a:srgbClr val="C00000"/>
                </a:solidFill>
                <a:latin typeface="Verdana"/>
                <a:cs typeface="Verdana"/>
              </a:rPr>
              <a:t>current</a:t>
            </a:r>
            <a:endParaRPr sz="1364">
              <a:latin typeface="Verdana"/>
              <a:cs typeface="Verdana"/>
            </a:endParaRPr>
          </a:p>
        </p:txBody>
      </p:sp>
      <p:sp>
        <p:nvSpPr>
          <p:cNvPr id="116" name="object 116"/>
          <p:cNvSpPr txBox="1"/>
          <p:nvPr/>
        </p:nvSpPr>
        <p:spPr>
          <a:xfrm>
            <a:off x="3552306" y="3358684"/>
            <a:ext cx="379268" cy="197641"/>
          </a:xfrm>
          <a:prstGeom prst="rect">
            <a:avLst/>
          </a:prstGeom>
        </p:spPr>
        <p:txBody>
          <a:bodyPr vert="horz" wrap="square" lIns="0" tIns="8659" rIns="0" bIns="0" rtlCol="0">
            <a:spAutoFit/>
          </a:bodyPr>
          <a:lstStyle/>
          <a:p>
            <a:pPr marL="25977">
              <a:spcBef>
                <a:spcPts val="68"/>
              </a:spcBef>
            </a:pPr>
            <a:r>
              <a:rPr sz="1841" spc="-10" baseline="13888" dirty="0">
                <a:latin typeface="Verdana"/>
                <a:cs typeface="Verdana"/>
              </a:rPr>
              <a:t>R</a:t>
            </a:r>
            <a:r>
              <a:rPr sz="818" spc="-7" dirty="0">
                <a:latin typeface="Verdana"/>
                <a:cs typeface="Verdana"/>
              </a:rPr>
              <a:t>load</a:t>
            </a:r>
            <a:endParaRPr sz="818">
              <a:latin typeface="Verdana"/>
              <a:cs typeface="Verdana"/>
            </a:endParaRPr>
          </a:p>
        </p:txBody>
      </p:sp>
      <p:sp>
        <p:nvSpPr>
          <p:cNvPr id="117" name="object 117"/>
          <p:cNvSpPr txBox="1"/>
          <p:nvPr/>
        </p:nvSpPr>
        <p:spPr>
          <a:xfrm>
            <a:off x="4256826" y="3765424"/>
            <a:ext cx="2801649" cy="428165"/>
          </a:xfrm>
          <a:prstGeom prst="rect">
            <a:avLst/>
          </a:prstGeom>
        </p:spPr>
        <p:txBody>
          <a:bodyPr vert="horz" wrap="square" lIns="0" tIns="8226" rIns="0" bIns="0" rtlCol="0">
            <a:spAutoFit/>
          </a:bodyPr>
          <a:lstStyle/>
          <a:p>
            <a:pPr marL="25977">
              <a:spcBef>
                <a:spcPts val="65"/>
              </a:spcBef>
            </a:pPr>
            <a:r>
              <a:rPr sz="1364" dirty="0">
                <a:solidFill>
                  <a:srgbClr val="C00000"/>
                </a:solidFill>
                <a:latin typeface="Verdana"/>
                <a:cs typeface="Verdana"/>
              </a:rPr>
              <a:t>Load</a:t>
            </a:r>
            <a:r>
              <a:rPr sz="1364" spc="-37" dirty="0">
                <a:solidFill>
                  <a:srgbClr val="C00000"/>
                </a:solidFill>
                <a:latin typeface="Verdana"/>
                <a:cs typeface="Verdana"/>
              </a:rPr>
              <a:t> </a:t>
            </a:r>
            <a:r>
              <a:rPr sz="1364" spc="-7" dirty="0">
                <a:solidFill>
                  <a:srgbClr val="C00000"/>
                </a:solidFill>
                <a:latin typeface="Verdana"/>
                <a:cs typeface="Verdana"/>
              </a:rPr>
              <a:t>current;</a:t>
            </a:r>
            <a:endParaRPr sz="1364">
              <a:latin typeface="Verdana"/>
              <a:cs typeface="Verdana"/>
            </a:endParaRPr>
          </a:p>
          <a:p>
            <a:pPr marL="25977"/>
            <a:r>
              <a:rPr sz="1364" dirty="0">
                <a:solidFill>
                  <a:srgbClr val="C00000"/>
                </a:solidFill>
                <a:latin typeface="Verdana"/>
                <a:cs typeface="Verdana"/>
              </a:rPr>
              <a:t>Equal</a:t>
            </a:r>
            <a:r>
              <a:rPr sz="1364" spc="-7" dirty="0">
                <a:solidFill>
                  <a:srgbClr val="C00000"/>
                </a:solidFill>
                <a:latin typeface="Verdana"/>
                <a:cs typeface="Verdana"/>
              </a:rPr>
              <a:t> </a:t>
            </a:r>
            <a:r>
              <a:rPr sz="1364" dirty="0">
                <a:solidFill>
                  <a:srgbClr val="C00000"/>
                </a:solidFill>
                <a:latin typeface="Verdana"/>
                <a:cs typeface="Verdana"/>
              </a:rPr>
              <a:t>to</a:t>
            </a:r>
            <a:r>
              <a:rPr sz="1364" spc="-10" dirty="0">
                <a:solidFill>
                  <a:srgbClr val="C00000"/>
                </a:solidFill>
                <a:latin typeface="Verdana"/>
                <a:cs typeface="Verdana"/>
              </a:rPr>
              <a:t> </a:t>
            </a:r>
            <a:r>
              <a:rPr sz="1364" dirty="0">
                <a:solidFill>
                  <a:srgbClr val="C00000"/>
                </a:solidFill>
                <a:latin typeface="Verdana"/>
                <a:cs typeface="Verdana"/>
              </a:rPr>
              <a:t>I</a:t>
            </a:r>
            <a:r>
              <a:rPr sz="1330" baseline="-21367" dirty="0">
                <a:solidFill>
                  <a:srgbClr val="C00000"/>
                </a:solidFill>
                <a:latin typeface="Verdana"/>
                <a:cs typeface="Verdana"/>
              </a:rPr>
              <a:t>pwr</a:t>
            </a:r>
            <a:r>
              <a:rPr sz="1330" spc="230" baseline="-21367" dirty="0">
                <a:solidFill>
                  <a:srgbClr val="C00000"/>
                </a:solidFill>
                <a:latin typeface="Verdana"/>
                <a:cs typeface="Verdana"/>
              </a:rPr>
              <a:t> </a:t>
            </a:r>
            <a:r>
              <a:rPr sz="1364" dirty="0">
                <a:solidFill>
                  <a:srgbClr val="C00000"/>
                </a:solidFill>
                <a:latin typeface="Verdana"/>
                <a:cs typeface="Verdana"/>
              </a:rPr>
              <a:t>in</a:t>
            </a:r>
            <a:r>
              <a:rPr sz="1364" spc="-7" dirty="0">
                <a:solidFill>
                  <a:srgbClr val="C00000"/>
                </a:solidFill>
                <a:latin typeface="Verdana"/>
                <a:cs typeface="Verdana"/>
              </a:rPr>
              <a:t> </a:t>
            </a:r>
            <a:r>
              <a:rPr sz="1364" dirty="0">
                <a:solidFill>
                  <a:srgbClr val="C00000"/>
                </a:solidFill>
                <a:latin typeface="Verdana"/>
                <a:cs typeface="Verdana"/>
              </a:rPr>
              <a:t>the</a:t>
            </a:r>
            <a:r>
              <a:rPr sz="1364" spc="-14" dirty="0">
                <a:solidFill>
                  <a:srgbClr val="C00000"/>
                </a:solidFill>
                <a:latin typeface="Verdana"/>
                <a:cs typeface="Verdana"/>
              </a:rPr>
              <a:t> </a:t>
            </a:r>
            <a:r>
              <a:rPr sz="1364" dirty="0">
                <a:solidFill>
                  <a:srgbClr val="C00000"/>
                </a:solidFill>
                <a:latin typeface="Verdana"/>
                <a:cs typeface="Verdana"/>
              </a:rPr>
              <a:t>steady </a:t>
            </a:r>
            <a:r>
              <a:rPr sz="1364" spc="-7" dirty="0">
                <a:solidFill>
                  <a:srgbClr val="C00000"/>
                </a:solidFill>
                <a:latin typeface="Verdana"/>
                <a:cs typeface="Verdana"/>
              </a:rPr>
              <a:t>state</a:t>
            </a:r>
            <a:endParaRPr sz="1364">
              <a:latin typeface="Verdana"/>
              <a:cs typeface="Verdana"/>
            </a:endParaRPr>
          </a:p>
        </p:txBody>
      </p:sp>
      <p:grpSp>
        <p:nvGrpSpPr>
          <p:cNvPr id="118" name="object 118"/>
          <p:cNvGrpSpPr/>
          <p:nvPr/>
        </p:nvGrpSpPr>
        <p:grpSpPr>
          <a:xfrm>
            <a:off x="4874459" y="1552238"/>
            <a:ext cx="584922" cy="486641"/>
            <a:chOff x="5477887" y="1779904"/>
            <a:chExt cx="857885" cy="713740"/>
          </a:xfrm>
        </p:grpSpPr>
        <p:sp>
          <p:nvSpPr>
            <p:cNvPr id="119" name="object 119"/>
            <p:cNvSpPr/>
            <p:nvPr/>
          </p:nvSpPr>
          <p:spPr>
            <a:xfrm>
              <a:off x="5492496" y="1794509"/>
              <a:ext cx="828675" cy="684530"/>
            </a:xfrm>
            <a:custGeom>
              <a:avLst/>
              <a:gdLst/>
              <a:ahLst/>
              <a:cxnLst/>
              <a:rect l="l" t="t" r="r" b="b"/>
              <a:pathLst>
                <a:path w="828675" h="684530">
                  <a:moveTo>
                    <a:pt x="828293" y="0"/>
                  </a:moveTo>
                  <a:lnTo>
                    <a:pt x="0" y="684301"/>
                  </a:lnTo>
                </a:path>
              </a:pathLst>
            </a:custGeom>
            <a:ln w="28956">
              <a:solidFill>
                <a:srgbClr val="C00000"/>
              </a:solidFill>
              <a:prstDash val="sysDash"/>
            </a:ln>
          </p:spPr>
          <p:txBody>
            <a:bodyPr wrap="square" lIns="0" tIns="0" rIns="0" bIns="0" rtlCol="0"/>
            <a:lstStyle/>
            <a:p>
              <a:endParaRPr sz="1227"/>
            </a:p>
          </p:txBody>
        </p:sp>
        <p:sp>
          <p:nvSpPr>
            <p:cNvPr id="120" name="object 120"/>
            <p:cNvSpPr/>
            <p:nvPr/>
          </p:nvSpPr>
          <p:spPr>
            <a:xfrm>
              <a:off x="5492492" y="2384428"/>
              <a:ext cx="99695" cy="94615"/>
            </a:xfrm>
            <a:custGeom>
              <a:avLst/>
              <a:gdLst/>
              <a:ahLst/>
              <a:cxnLst/>
              <a:rect l="l" t="t" r="r" b="b"/>
              <a:pathLst>
                <a:path w="99695" h="94614">
                  <a:moveTo>
                    <a:pt x="99250" y="78130"/>
                  </a:moveTo>
                  <a:lnTo>
                    <a:pt x="0" y="94386"/>
                  </a:lnTo>
                  <a:lnTo>
                    <a:pt x="34709" y="0"/>
                  </a:lnTo>
                </a:path>
              </a:pathLst>
            </a:custGeom>
            <a:ln w="28956">
              <a:solidFill>
                <a:srgbClr val="C00000"/>
              </a:solidFill>
            </a:ln>
          </p:spPr>
          <p:txBody>
            <a:bodyPr wrap="square" lIns="0" tIns="0" rIns="0" bIns="0" rtlCol="0"/>
            <a:lstStyle/>
            <a:p>
              <a:endParaRPr sz="1227"/>
            </a:p>
          </p:txBody>
        </p:sp>
      </p:grpSp>
      <p:sp>
        <p:nvSpPr>
          <p:cNvPr id="121" name="object 121"/>
          <p:cNvSpPr txBox="1"/>
          <p:nvPr/>
        </p:nvSpPr>
        <p:spPr>
          <a:xfrm>
            <a:off x="7773718" y="2087756"/>
            <a:ext cx="1118754" cy="218236"/>
          </a:xfrm>
          <a:prstGeom prst="rect">
            <a:avLst/>
          </a:prstGeom>
        </p:spPr>
        <p:txBody>
          <a:bodyPr vert="horz" wrap="square" lIns="0" tIns="8226" rIns="0" bIns="0" rtlCol="0">
            <a:spAutoFit/>
          </a:bodyPr>
          <a:lstStyle/>
          <a:p>
            <a:pPr marL="8659">
              <a:spcBef>
                <a:spcPts val="65"/>
              </a:spcBef>
            </a:pPr>
            <a:r>
              <a:rPr sz="1364" spc="-17" dirty="0">
                <a:solidFill>
                  <a:srgbClr val="C00000"/>
                </a:solidFill>
                <a:latin typeface="Verdana"/>
                <a:cs typeface="Verdana"/>
              </a:rPr>
              <a:t>Total</a:t>
            </a:r>
            <a:r>
              <a:rPr sz="1364" spc="-95" dirty="0">
                <a:solidFill>
                  <a:srgbClr val="C00000"/>
                </a:solidFill>
                <a:latin typeface="Verdana"/>
                <a:cs typeface="Verdana"/>
              </a:rPr>
              <a:t> </a:t>
            </a:r>
            <a:r>
              <a:rPr sz="1364" spc="-7" dirty="0">
                <a:solidFill>
                  <a:srgbClr val="C00000"/>
                </a:solidFill>
                <a:latin typeface="Verdana"/>
                <a:cs typeface="Verdana"/>
              </a:rPr>
              <a:t>current</a:t>
            </a:r>
            <a:endParaRPr sz="1364">
              <a:latin typeface="Verdana"/>
              <a:cs typeface="Verdana"/>
            </a:endParaRPr>
          </a:p>
        </p:txBody>
      </p:sp>
      <p:grpSp>
        <p:nvGrpSpPr>
          <p:cNvPr id="122" name="object 122"/>
          <p:cNvGrpSpPr/>
          <p:nvPr/>
        </p:nvGrpSpPr>
        <p:grpSpPr>
          <a:xfrm>
            <a:off x="6356812" y="2068754"/>
            <a:ext cx="1363373" cy="283152"/>
            <a:chOff x="7652004" y="2537460"/>
            <a:chExt cx="1999614" cy="415290"/>
          </a:xfrm>
        </p:grpSpPr>
        <p:sp>
          <p:nvSpPr>
            <p:cNvPr id="123" name="object 123"/>
            <p:cNvSpPr/>
            <p:nvPr/>
          </p:nvSpPr>
          <p:spPr>
            <a:xfrm>
              <a:off x="9093416" y="2753868"/>
              <a:ext cx="558165" cy="0"/>
            </a:xfrm>
            <a:custGeom>
              <a:avLst/>
              <a:gdLst/>
              <a:ahLst/>
              <a:cxnLst/>
              <a:rect l="l" t="t" r="r" b="b"/>
              <a:pathLst>
                <a:path w="558165">
                  <a:moveTo>
                    <a:pt x="558076" y="0"/>
                  </a:moveTo>
                  <a:lnTo>
                    <a:pt x="0" y="0"/>
                  </a:lnTo>
                </a:path>
              </a:pathLst>
            </a:custGeom>
            <a:ln w="28956">
              <a:solidFill>
                <a:srgbClr val="C00000"/>
              </a:solidFill>
              <a:prstDash val="sysDash"/>
            </a:ln>
          </p:spPr>
          <p:txBody>
            <a:bodyPr wrap="square" lIns="0" tIns="0" rIns="0" bIns="0" rtlCol="0"/>
            <a:lstStyle/>
            <a:p>
              <a:endParaRPr sz="1227"/>
            </a:p>
          </p:txBody>
        </p:sp>
        <p:sp>
          <p:nvSpPr>
            <p:cNvPr id="124" name="object 124"/>
            <p:cNvSpPr/>
            <p:nvPr/>
          </p:nvSpPr>
          <p:spPr>
            <a:xfrm>
              <a:off x="9093416" y="2703188"/>
              <a:ext cx="86995" cy="101600"/>
            </a:xfrm>
            <a:custGeom>
              <a:avLst/>
              <a:gdLst/>
              <a:ahLst/>
              <a:cxnLst/>
              <a:rect l="l" t="t" r="r" b="b"/>
              <a:pathLst>
                <a:path w="86995" h="101600">
                  <a:moveTo>
                    <a:pt x="86868" y="0"/>
                  </a:moveTo>
                  <a:lnTo>
                    <a:pt x="0" y="50673"/>
                  </a:lnTo>
                  <a:lnTo>
                    <a:pt x="86868" y="101346"/>
                  </a:lnTo>
                </a:path>
              </a:pathLst>
            </a:custGeom>
            <a:ln w="28956">
              <a:solidFill>
                <a:srgbClr val="C00000"/>
              </a:solidFill>
            </a:ln>
          </p:spPr>
          <p:txBody>
            <a:bodyPr wrap="square" lIns="0" tIns="0" rIns="0" bIns="0" rtlCol="0"/>
            <a:lstStyle/>
            <a:p>
              <a:endParaRPr sz="1227"/>
            </a:p>
          </p:txBody>
        </p:sp>
        <p:sp>
          <p:nvSpPr>
            <p:cNvPr id="125" name="object 125"/>
            <p:cNvSpPr/>
            <p:nvPr/>
          </p:nvSpPr>
          <p:spPr>
            <a:xfrm>
              <a:off x="7671054" y="2556510"/>
              <a:ext cx="1350645" cy="377190"/>
            </a:xfrm>
            <a:custGeom>
              <a:avLst/>
              <a:gdLst/>
              <a:ahLst/>
              <a:cxnLst/>
              <a:rect l="l" t="t" r="r" b="b"/>
              <a:pathLst>
                <a:path w="1350645" h="377189">
                  <a:moveTo>
                    <a:pt x="0" y="188595"/>
                  </a:moveTo>
                  <a:lnTo>
                    <a:pt x="13716" y="150588"/>
                  </a:lnTo>
                  <a:lnTo>
                    <a:pt x="53056" y="115187"/>
                  </a:lnTo>
                  <a:lnTo>
                    <a:pt x="115303" y="83152"/>
                  </a:lnTo>
                  <a:lnTo>
                    <a:pt x="154169" y="68633"/>
                  </a:lnTo>
                  <a:lnTo>
                    <a:pt x="197743" y="55240"/>
                  </a:lnTo>
                  <a:lnTo>
                    <a:pt x="245687" y="43067"/>
                  </a:lnTo>
                  <a:lnTo>
                    <a:pt x="297661" y="32210"/>
                  </a:lnTo>
                  <a:lnTo>
                    <a:pt x="353326" y="22763"/>
                  </a:lnTo>
                  <a:lnTo>
                    <a:pt x="412342" y="14821"/>
                  </a:lnTo>
                  <a:lnTo>
                    <a:pt x="474370" y="8479"/>
                  </a:lnTo>
                  <a:lnTo>
                    <a:pt x="539071" y="3831"/>
                  </a:lnTo>
                  <a:lnTo>
                    <a:pt x="606104" y="973"/>
                  </a:lnTo>
                  <a:lnTo>
                    <a:pt x="675132" y="0"/>
                  </a:lnTo>
                  <a:lnTo>
                    <a:pt x="744159" y="973"/>
                  </a:lnTo>
                  <a:lnTo>
                    <a:pt x="811192" y="3831"/>
                  </a:lnTo>
                  <a:lnTo>
                    <a:pt x="875893" y="8479"/>
                  </a:lnTo>
                  <a:lnTo>
                    <a:pt x="937921" y="14821"/>
                  </a:lnTo>
                  <a:lnTo>
                    <a:pt x="996937" y="22763"/>
                  </a:lnTo>
                  <a:lnTo>
                    <a:pt x="1052602" y="32210"/>
                  </a:lnTo>
                  <a:lnTo>
                    <a:pt x="1104576" y="43067"/>
                  </a:lnTo>
                  <a:lnTo>
                    <a:pt x="1152520" y="55240"/>
                  </a:lnTo>
                  <a:lnTo>
                    <a:pt x="1196094" y="68633"/>
                  </a:lnTo>
                  <a:lnTo>
                    <a:pt x="1234960" y="83152"/>
                  </a:lnTo>
                  <a:lnTo>
                    <a:pt x="1297207" y="115187"/>
                  </a:lnTo>
                  <a:lnTo>
                    <a:pt x="1336547" y="150588"/>
                  </a:lnTo>
                  <a:lnTo>
                    <a:pt x="1350264" y="188595"/>
                  </a:lnTo>
                  <a:lnTo>
                    <a:pt x="1346778" y="207876"/>
                  </a:lnTo>
                  <a:lnTo>
                    <a:pt x="1319910" y="244675"/>
                  </a:lnTo>
                  <a:lnTo>
                    <a:pt x="1268778" y="278488"/>
                  </a:lnTo>
                  <a:lnTo>
                    <a:pt x="1196094" y="308556"/>
                  </a:lnTo>
                  <a:lnTo>
                    <a:pt x="1152520" y="321949"/>
                  </a:lnTo>
                  <a:lnTo>
                    <a:pt x="1104576" y="334122"/>
                  </a:lnTo>
                  <a:lnTo>
                    <a:pt x="1052602" y="344979"/>
                  </a:lnTo>
                  <a:lnTo>
                    <a:pt x="996937" y="354426"/>
                  </a:lnTo>
                  <a:lnTo>
                    <a:pt x="937921" y="362368"/>
                  </a:lnTo>
                  <a:lnTo>
                    <a:pt x="875893" y="368710"/>
                  </a:lnTo>
                  <a:lnTo>
                    <a:pt x="811192" y="373358"/>
                  </a:lnTo>
                  <a:lnTo>
                    <a:pt x="744159" y="376216"/>
                  </a:lnTo>
                  <a:lnTo>
                    <a:pt x="675132" y="377190"/>
                  </a:lnTo>
                  <a:lnTo>
                    <a:pt x="606104" y="376216"/>
                  </a:lnTo>
                  <a:lnTo>
                    <a:pt x="539071" y="373358"/>
                  </a:lnTo>
                  <a:lnTo>
                    <a:pt x="474370" y="368710"/>
                  </a:lnTo>
                  <a:lnTo>
                    <a:pt x="412342" y="362368"/>
                  </a:lnTo>
                  <a:lnTo>
                    <a:pt x="353326" y="354426"/>
                  </a:lnTo>
                  <a:lnTo>
                    <a:pt x="297661" y="344979"/>
                  </a:lnTo>
                  <a:lnTo>
                    <a:pt x="245687" y="334122"/>
                  </a:lnTo>
                  <a:lnTo>
                    <a:pt x="197743" y="321949"/>
                  </a:lnTo>
                  <a:lnTo>
                    <a:pt x="154169" y="308556"/>
                  </a:lnTo>
                  <a:lnTo>
                    <a:pt x="115303" y="294037"/>
                  </a:lnTo>
                  <a:lnTo>
                    <a:pt x="53056" y="262002"/>
                  </a:lnTo>
                  <a:lnTo>
                    <a:pt x="13716" y="226601"/>
                  </a:lnTo>
                  <a:lnTo>
                    <a:pt x="0" y="188595"/>
                  </a:lnTo>
                  <a:close/>
                </a:path>
              </a:pathLst>
            </a:custGeom>
            <a:ln w="38100">
              <a:solidFill>
                <a:srgbClr val="C00000"/>
              </a:solidFill>
              <a:prstDash val="sysDash"/>
            </a:ln>
          </p:spPr>
          <p:txBody>
            <a:bodyPr wrap="square" lIns="0" tIns="0" rIns="0" bIns="0" rtlCol="0"/>
            <a:lstStyle/>
            <a:p>
              <a:endParaRPr sz="1227"/>
            </a:p>
          </p:txBody>
        </p:sp>
      </p:grpSp>
      <p:sp>
        <p:nvSpPr>
          <p:cNvPr id="126" name="object 126"/>
          <p:cNvSpPr txBox="1"/>
          <p:nvPr/>
        </p:nvSpPr>
        <p:spPr>
          <a:xfrm>
            <a:off x="3501116" y="2182380"/>
            <a:ext cx="223405" cy="197578"/>
          </a:xfrm>
          <a:prstGeom prst="rect">
            <a:avLst/>
          </a:prstGeom>
        </p:spPr>
        <p:txBody>
          <a:bodyPr vert="horz" wrap="square" lIns="0" tIns="8659" rIns="0" bIns="0" rtlCol="0">
            <a:spAutoFit/>
          </a:bodyPr>
          <a:lstStyle/>
          <a:p>
            <a:pPr marL="25977">
              <a:spcBef>
                <a:spcPts val="68"/>
              </a:spcBef>
            </a:pPr>
            <a:r>
              <a:rPr sz="1227" spc="-17" dirty="0">
                <a:latin typeface="Verdana"/>
                <a:cs typeface="Verdana"/>
              </a:rPr>
              <a:t>V</a:t>
            </a:r>
            <a:r>
              <a:rPr sz="1227" spc="-25" baseline="-20833" dirty="0">
                <a:latin typeface="Verdana"/>
                <a:cs typeface="Verdana"/>
              </a:rPr>
              <a:t>g</a:t>
            </a:r>
            <a:endParaRPr sz="1227" baseline="-20833">
              <a:latin typeface="Verdana"/>
              <a:cs typeface="Verdana"/>
            </a:endParaRPr>
          </a:p>
        </p:txBody>
      </p:sp>
      <p:sp>
        <p:nvSpPr>
          <p:cNvPr id="127" name="object 127"/>
          <p:cNvSpPr txBox="1"/>
          <p:nvPr/>
        </p:nvSpPr>
        <p:spPr>
          <a:xfrm>
            <a:off x="3011165" y="3341211"/>
            <a:ext cx="330344" cy="197641"/>
          </a:xfrm>
          <a:prstGeom prst="rect">
            <a:avLst/>
          </a:prstGeom>
        </p:spPr>
        <p:txBody>
          <a:bodyPr vert="horz" wrap="square" lIns="0" tIns="8659" rIns="0" bIns="0" rtlCol="0">
            <a:spAutoFit/>
          </a:bodyPr>
          <a:lstStyle/>
          <a:p>
            <a:pPr marL="25977">
              <a:spcBef>
                <a:spcPts val="68"/>
              </a:spcBef>
            </a:pPr>
            <a:r>
              <a:rPr sz="1841" spc="-20" baseline="13888" dirty="0">
                <a:latin typeface="Verdana"/>
                <a:cs typeface="Verdana"/>
              </a:rPr>
              <a:t>C</a:t>
            </a:r>
            <a:r>
              <a:rPr sz="818" spc="-14" dirty="0">
                <a:latin typeface="Verdana"/>
                <a:cs typeface="Verdana"/>
              </a:rPr>
              <a:t>out</a:t>
            </a:r>
            <a:endParaRPr sz="818">
              <a:latin typeface="Verdana"/>
              <a:cs typeface="Verdana"/>
            </a:endParaRPr>
          </a:p>
        </p:txBody>
      </p:sp>
      <p:sp>
        <p:nvSpPr>
          <p:cNvPr id="128" name="object 128"/>
          <p:cNvSpPr txBox="1"/>
          <p:nvPr/>
        </p:nvSpPr>
        <p:spPr>
          <a:xfrm>
            <a:off x="4751796" y="1370055"/>
            <a:ext cx="1605395" cy="218236"/>
          </a:xfrm>
          <a:prstGeom prst="rect">
            <a:avLst/>
          </a:prstGeom>
        </p:spPr>
        <p:txBody>
          <a:bodyPr vert="horz" wrap="square" lIns="0" tIns="8226" rIns="0" bIns="0" rtlCol="0">
            <a:spAutoFit/>
          </a:bodyPr>
          <a:lstStyle/>
          <a:p>
            <a:pPr marL="8659">
              <a:spcBef>
                <a:spcPts val="65"/>
              </a:spcBef>
            </a:pPr>
            <a:r>
              <a:rPr sz="1364" dirty="0">
                <a:solidFill>
                  <a:srgbClr val="C00000"/>
                </a:solidFill>
                <a:latin typeface="Verdana"/>
                <a:cs typeface="Verdana"/>
              </a:rPr>
              <a:t>Power</a:t>
            </a:r>
            <a:r>
              <a:rPr sz="1364" spc="-51" dirty="0">
                <a:solidFill>
                  <a:srgbClr val="C00000"/>
                </a:solidFill>
                <a:latin typeface="Verdana"/>
                <a:cs typeface="Verdana"/>
              </a:rPr>
              <a:t> </a:t>
            </a:r>
            <a:r>
              <a:rPr sz="1364" dirty="0">
                <a:solidFill>
                  <a:srgbClr val="C00000"/>
                </a:solidFill>
                <a:latin typeface="Verdana"/>
                <a:cs typeface="Verdana"/>
              </a:rPr>
              <a:t>FET</a:t>
            </a:r>
            <a:r>
              <a:rPr sz="1364" spc="-41" dirty="0">
                <a:solidFill>
                  <a:srgbClr val="C00000"/>
                </a:solidFill>
                <a:latin typeface="Verdana"/>
                <a:cs typeface="Verdana"/>
              </a:rPr>
              <a:t> </a:t>
            </a:r>
            <a:r>
              <a:rPr sz="1364" spc="-7" dirty="0">
                <a:solidFill>
                  <a:srgbClr val="C00000"/>
                </a:solidFill>
                <a:latin typeface="Verdana"/>
                <a:cs typeface="Verdana"/>
              </a:rPr>
              <a:t>current</a:t>
            </a:r>
            <a:endParaRPr sz="1364">
              <a:latin typeface="Verdana"/>
              <a:cs typeface="Verdana"/>
            </a:endParaRPr>
          </a:p>
        </p:txBody>
      </p:sp>
      <p:grpSp>
        <p:nvGrpSpPr>
          <p:cNvPr id="129" name="object 129"/>
          <p:cNvGrpSpPr/>
          <p:nvPr/>
        </p:nvGrpSpPr>
        <p:grpSpPr>
          <a:xfrm>
            <a:off x="3957554" y="3019434"/>
            <a:ext cx="778452" cy="756805"/>
            <a:chOff x="4133093" y="3931792"/>
            <a:chExt cx="1141730" cy="1109980"/>
          </a:xfrm>
        </p:grpSpPr>
        <p:sp>
          <p:nvSpPr>
            <p:cNvPr id="130" name="object 130"/>
            <p:cNvSpPr/>
            <p:nvPr/>
          </p:nvSpPr>
          <p:spPr>
            <a:xfrm>
              <a:off x="4852835" y="4254461"/>
              <a:ext cx="407670" cy="772795"/>
            </a:xfrm>
            <a:custGeom>
              <a:avLst/>
              <a:gdLst/>
              <a:ahLst/>
              <a:cxnLst/>
              <a:rect l="l" t="t" r="r" b="b"/>
              <a:pathLst>
                <a:path w="407670" h="772795">
                  <a:moveTo>
                    <a:pt x="407250" y="772452"/>
                  </a:moveTo>
                  <a:lnTo>
                    <a:pt x="0" y="0"/>
                  </a:lnTo>
                </a:path>
              </a:pathLst>
            </a:custGeom>
            <a:ln w="28956">
              <a:solidFill>
                <a:srgbClr val="C00000"/>
              </a:solidFill>
              <a:prstDash val="sysDash"/>
            </a:ln>
          </p:spPr>
          <p:txBody>
            <a:bodyPr wrap="square" lIns="0" tIns="0" rIns="0" bIns="0" rtlCol="0"/>
            <a:lstStyle/>
            <a:p>
              <a:endParaRPr sz="1227"/>
            </a:p>
          </p:txBody>
        </p:sp>
        <p:sp>
          <p:nvSpPr>
            <p:cNvPr id="131" name="object 131"/>
            <p:cNvSpPr/>
            <p:nvPr/>
          </p:nvSpPr>
          <p:spPr>
            <a:xfrm>
              <a:off x="4848523" y="4254463"/>
              <a:ext cx="90170" cy="100965"/>
            </a:xfrm>
            <a:custGeom>
              <a:avLst/>
              <a:gdLst/>
              <a:ahLst/>
              <a:cxnLst/>
              <a:rect l="l" t="t" r="r" b="b"/>
              <a:pathLst>
                <a:path w="90170" h="100964">
                  <a:moveTo>
                    <a:pt x="89649" y="53200"/>
                  </a:moveTo>
                  <a:lnTo>
                    <a:pt x="4305" y="0"/>
                  </a:lnTo>
                  <a:lnTo>
                    <a:pt x="0" y="100469"/>
                  </a:lnTo>
                </a:path>
              </a:pathLst>
            </a:custGeom>
            <a:ln w="28956">
              <a:solidFill>
                <a:srgbClr val="C00000"/>
              </a:solidFill>
            </a:ln>
          </p:spPr>
          <p:txBody>
            <a:bodyPr wrap="square" lIns="0" tIns="0" rIns="0" bIns="0" rtlCol="0"/>
            <a:lstStyle/>
            <a:p>
              <a:endParaRPr sz="1227"/>
            </a:p>
          </p:txBody>
        </p:sp>
        <p:sp>
          <p:nvSpPr>
            <p:cNvPr id="132" name="object 132"/>
            <p:cNvSpPr/>
            <p:nvPr/>
          </p:nvSpPr>
          <p:spPr>
            <a:xfrm>
              <a:off x="4205477" y="3946397"/>
              <a:ext cx="0" cy="175260"/>
            </a:xfrm>
            <a:custGeom>
              <a:avLst/>
              <a:gdLst/>
              <a:ahLst/>
              <a:cxnLst/>
              <a:rect l="l" t="t" r="r" b="b"/>
              <a:pathLst>
                <a:path h="175260">
                  <a:moveTo>
                    <a:pt x="0" y="175259"/>
                  </a:moveTo>
                  <a:lnTo>
                    <a:pt x="0" y="0"/>
                  </a:lnTo>
                </a:path>
              </a:pathLst>
            </a:custGeom>
            <a:ln w="28956">
              <a:solidFill>
                <a:srgbClr val="C00000"/>
              </a:solidFill>
            </a:ln>
          </p:spPr>
          <p:txBody>
            <a:bodyPr wrap="square" lIns="0" tIns="0" rIns="0" bIns="0" rtlCol="0"/>
            <a:lstStyle/>
            <a:p>
              <a:endParaRPr sz="1227"/>
            </a:p>
          </p:txBody>
        </p:sp>
        <p:sp>
          <p:nvSpPr>
            <p:cNvPr id="133" name="object 133"/>
            <p:cNvSpPr/>
            <p:nvPr/>
          </p:nvSpPr>
          <p:spPr>
            <a:xfrm>
              <a:off x="4133093" y="4107176"/>
              <a:ext cx="144780" cy="86995"/>
            </a:xfrm>
            <a:custGeom>
              <a:avLst/>
              <a:gdLst/>
              <a:ahLst/>
              <a:cxnLst/>
              <a:rect l="l" t="t" r="r" b="b"/>
              <a:pathLst>
                <a:path w="144779" h="86995">
                  <a:moveTo>
                    <a:pt x="144780" y="12"/>
                  </a:moveTo>
                  <a:lnTo>
                    <a:pt x="0" y="0"/>
                  </a:lnTo>
                  <a:lnTo>
                    <a:pt x="72390" y="86868"/>
                  </a:lnTo>
                  <a:lnTo>
                    <a:pt x="144780" y="12"/>
                  </a:lnTo>
                  <a:close/>
                </a:path>
              </a:pathLst>
            </a:custGeom>
            <a:solidFill>
              <a:srgbClr val="C00000"/>
            </a:solidFill>
          </p:spPr>
          <p:txBody>
            <a:bodyPr wrap="square" lIns="0" tIns="0" rIns="0" bIns="0" rtlCol="0"/>
            <a:lstStyle/>
            <a:p>
              <a:endParaRPr sz="1227"/>
            </a:p>
          </p:txBody>
        </p:sp>
      </p:grpSp>
      <p:sp>
        <p:nvSpPr>
          <p:cNvPr id="134" name="object 134"/>
          <p:cNvSpPr txBox="1"/>
          <p:nvPr/>
        </p:nvSpPr>
        <p:spPr>
          <a:xfrm>
            <a:off x="4130234" y="3010393"/>
            <a:ext cx="367578" cy="218107"/>
          </a:xfrm>
          <a:prstGeom prst="rect">
            <a:avLst/>
          </a:prstGeom>
        </p:spPr>
        <p:txBody>
          <a:bodyPr vert="horz" wrap="square" lIns="0" tIns="8226" rIns="0" bIns="0" rtlCol="0">
            <a:spAutoFit/>
          </a:bodyPr>
          <a:lstStyle/>
          <a:p>
            <a:pPr marL="25977">
              <a:spcBef>
                <a:spcPts val="65"/>
              </a:spcBef>
            </a:pPr>
            <a:r>
              <a:rPr sz="2045" i="1" spc="-10" baseline="13888" dirty="0">
                <a:solidFill>
                  <a:srgbClr val="C00000"/>
                </a:solidFill>
                <a:latin typeface="Verdana"/>
                <a:cs typeface="Verdana"/>
              </a:rPr>
              <a:t>I</a:t>
            </a:r>
            <a:r>
              <a:rPr sz="886" i="1" spc="-7" dirty="0">
                <a:solidFill>
                  <a:srgbClr val="C00000"/>
                </a:solidFill>
                <a:latin typeface="Verdana"/>
                <a:cs typeface="Verdana"/>
              </a:rPr>
              <a:t>load</a:t>
            </a:r>
            <a:endParaRPr sz="886">
              <a:latin typeface="Verdana"/>
              <a:cs typeface="Verdana"/>
            </a:endParaRPr>
          </a:p>
        </p:txBody>
      </p:sp>
      <p:grpSp>
        <p:nvGrpSpPr>
          <p:cNvPr id="135" name="object 135"/>
          <p:cNvGrpSpPr/>
          <p:nvPr/>
        </p:nvGrpSpPr>
        <p:grpSpPr>
          <a:xfrm>
            <a:off x="3459220" y="2928083"/>
            <a:ext cx="395720" cy="98714"/>
            <a:chOff x="3402203" y="3797811"/>
            <a:chExt cx="580390" cy="144780"/>
          </a:xfrm>
        </p:grpSpPr>
        <p:sp>
          <p:nvSpPr>
            <p:cNvPr id="136" name="object 136"/>
            <p:cNvSpPr/>
            <p:nvPr/>
          </p:nvSpPr>
          <p:spPr>
            <a:xfrm>
              <a:off x="3416808" y="3870198"/>
              <a:ext cx="493395" cy="0"/>
            </a:xfrm>
            <a:custGeom>
              <a:avLst/>
              <a:gdLst/>
              <a:ahLst/>
              <a:cxnLst/>
              <a:rect l="l" t="t" r="r" b="b"/>
              <a:pathLst>
                <a:path w="493395">
                  <a:moveTo>
                    <a:pt x="493013" y="0"/>
                  </a:moveTo>
                  <a:lnTo>
                    <a:pt x="0" y="0"/>
                  </a:lnTo>
                </a:path>
              </a:pathLst>
            </a:custGeom>
            <a:ln w="28956">
              <a:solidFill>
                <a:srgbClr val="C00000"/>
              </a:solidFill>
            </a:ln>
          </p:spPr>
          <p:txBody>
            <a:bodyPr wrap="square" lIns="0" tIns="0" rIns="0" bIns="0" rtlCol="0"/>
            <a:lstStyle/>
            <a:p>
              <a:endParaRPr sz="1227"/>
            </a:p>
          </p:txBody>
        </p:sp>
        <p:sp>
          <p:nvSpPr>
            <p:cNvPr id="137" name="object 137"/>
            <p:cNvSpPr/>
            <p:nvPr/>
          </p:nvSpPr>
          <p:spPr>
            <a:xfrm>
              <a:off x="3895341" y="3797811"/>
              <a:ext cx="86995" cy="144780"/>
            </a:xfrm>
            <a:custGeom>
              <a:avLst/>
              <a:gdLst/>
              <a:ahLst/>
              <a:cxnLst/>
              <a:rect l="l" t="t" r="r" b="b"/>
              <a:pathLst>
                <a:path w="86995" h="144779">
                  <a:moveTo>
                    <a:pt x="0" y="0"/>
                  </a:moveTo>
                  <a:lnTo>
                    <a:pt x="0" y="144780"/>
                  </a:lnTo>
                  <a:lnTo>
                    <a:pt x="86868" y="72390"/>
                  </a:lnTo>
                  <a:lnTo>
                    <a:pt x="0" y="0"/>
                  </a:lnTo>
                  <a:close/>
                </a:path>
              </a:pathLst>
            </a:custGeom>
            <a:solidFill>
              <a:srgbClr val="C00000"/>
            </a:solidFill>
          </p:spPr>
          <p:txBody>
            <a:bodyPr wrap="square" lIns="0" tIns="0" rIns="0" bIns="0" rtlCol="0"/>
            <a:lstStyle/>
            <a:p>
              <a:endParaRPr sz="1227"/>
            </a:p>
          </p:txBody>
        </p:sp>
      </p:grpSp>
      <p:sp>
        <p:nvSpPr>
          <p:cNvPr id="138" name="object 138"/>
          <p:cNvSpPr txBox="1"/>
          <p:nvPr/>
        </p:nvSpPr>
        <p:spPr>
          <a:xfrm>
            <a:off x="3531178" y="3002968"/>
            <a:ext cx="326015" cy="218107"/>
          </a:xfrm>
          <a:prstGeom prst="rect">
            <a:avLst/>
          </a:prstGeom>
        </p:spPr>
        <p:txBody>
          <a:bodyPr vert="horz" wrap="square" lIns="0" tIns="8226" rIns="0" bIns="0" rtlCol="0">
            <a:spAutoFit/>
          </a:bodyPr>
          <a:lstStyle/>
          <a:p>
            <a:pPr marL="25977">
              <a:spcBef>
                <a:spcPts val="65"/>
              </a:spcBef>
            </a:pPr>
            <a:r>
              <a:rPr sz="2045" i="1" spc="-20" baseline="13888" dirty="0">
                <a:solidFill>
                  <a:srgbClr val="C00000"/>
                </a:solidFill>
                <a:latin typeface="Verdana"/>
                <a:cs typeface="Verdana"/>
              </a:rPr>
              <a:t>I</a:t>
            </a:r>
            <a:r>
              <a:rPr sz="886" i="1" spc="-14" dirty="0">
                <a:solidFill>
                  <a:srgbClr val="C00000"/>
                </a:solidFill>
                <a:latin typeface="Verdana"/>
                <a:cs typeface="Verdana"/>
              </a:rPr>
              <a:t>cap</a:t>
            </a:r>
            <a:endParaRPr sz="886">
              <a:latin typeface="Verdana"/>
              <a:cs typeface="Verdana"/>
            </a:endParaRPr>
          </a:p>
        </p:txBody>
      </p:sp>
      <p:grpSp>
        <p:nvGrpSpPr>
          <p:cNvPr id="139" name="object 139"/>
          <p:cNvGrpSpPr/>
          <p:nvPr/>
        </p:nvGrpSpPr>
        <p:grpSpPr>
          <a:xfrm>
            <a:off x="2584392" y="3188358"/>
            <a:ext cx="1007052" cy="421265"/>
            <a:chOff x="2119122" y="4179546"/>
            <a:chExt cx="1477010" cy="617855"/>
          </a:xfrm>
        </p:grpSpPr>
        <p:sp>
          <p:nvSpPr>
            <p:cNvPr id="140" name="object 140"/>
            <p:cNvSpPr/>
            <p:nvPr/>
          </p:nvSpPr>
          <p:spPr>
            <a:xfrm>
              <a:off x="2133600" y="4209173"/>
              <a:ext cx="1448435" cy="573405"/>
            </a:xfrm>
            <a:custGeom>
              <a:avLst/>
              <a:gdLst/>
              <a:ahLst/>
              <a:cxnLst/>
              <a:rect l="l" t="t" r="r" b="b"/>
              <a:pathLst>
                <a:path w="1448435" h="573404">
                  <a:moveTo>
                    <a:pt x="0" y="573138"/>
                  </a:moveTo>
                  <a:lnTo>
                    <a:pt x="1447812" y="0"/>
                  </a:lnTo>
                </a:path>
              </a:pathLst>
            </a:custGeom>
            <a:ln w="28955">
              <a:solidFill>
                <a:srgbClr val="C00000"/>
              </a:solidFill>
              <a:prstDash val="sysDash"/>
            </a:ln>
          </p:spPr>
          <p:txBody>
            <a:bodyPr wrap="square" lIns="0" tIns="0" rIns="0" bIns="0" rtlCol="0"/>
            <a:lstStyle/>
            <a:p>
              <a:endParaRPr sz="1227"/>
            </a:p>
          </p:txBody>
        </p:sp>
        <p:sp>
          <p:nvSpPr>
            <p:cNvPr id="141" name="object 141"/>
            <p:cNvSpPr/>
            <p:nvPr/>
          </p:nvSpPr>
          <p:spPr>
            <a:xfrm>
              <a:off x="3481995" y="4194024"/>
              <a:ext cx="99695" cy="94615"/>
            </a:xfrm>
            <a:custGeom>
              <a:avLst/>
              <a:gdLst/>
              <a:ahLst/>
              <a:cxnLst/>
              <a:rect l="l" t="t" r="r" b="b"/>
              <a:pathLst>
                <a:path w="99695" h="94614">
                  <a:moveTo>
                    <a:pt x="0" y="0"/>
                  </a:moveTo>
                  <a:lnTo>
                    <a:pt x="99415" y="15151"/>
                  </a:lnTo>
                  <a:lnTo>
                    <a:pt x="37299" y="94233"/>
                  </a:lnTo>
                </a:path>
              </a:pathLst>
            </a:custGeom>
            <a:ln w="28956">
              <a:solidFill>
                <a:srgbClr val="C00000"/>
              </a:solidFill>
            </a:ln>
          </p:spPr>
          <p:txBody>
            <a:bodyPr wrap="square" lIns="0" tIns="0" rIns="0" bIns="0" rtlCol="0"/>
            <a:lstStyle/>
            <a:p>
              <a:endParaRPr sz="1227"/>
            </a:p>
          </p:txBody>
        </p:sp>
      </p:grpSp>
      <p:sp>
        <p:nvSpPr>
          <p:cNvPr id="142" name="object 142"/>
          <p:cNvSpPr txBox="1"/>
          <p:nvPr/>
        </p:nvSpPr>
        <p:spPr>
          <a:xfrm>
            <a:off x="1270124" y="3572066"/>
            <a:ext cx="1958253" cy="428165"/>
          </a:xfrm>
          <a:prstGeom prst="rect">
            <a:avLst/>
          </a:prstGeom>
        </p:spPr>
        <p:txBody>
          <a:bodyPr vert="horz" wrap="square" lIns="0" tIns="8226" rIns="0" bIns="0" rtlCol="0">
            <a:spAutoFit/>
          </a:bodyPr>
          <a:lstStyle/>
          <a:p>
            <a:pPr marL="8659">
              <a:spcBef>
                <a:spcPts val="65"/>
              </a:spcBef>
            </a:pPr>
            <a:r>
              <a:rPr sz="1364" dirty="0">
                <a:solidFill>
                  <a:srgbClr val="C00000"/>
                </a:solidFill>
                <a:latin typeface="Verdana"/>
                <a:cs typeface="Verdana"/>
              </a:rPr>
              <a:t>Capacitor</a:t>
            </a:r>
            <a:r>
              <a:rPr sz="1364" spc="-68" dirty="0">
                <a:solidFill>
                  <a:srgbClr val="C00000"/>
                </a:solidFill>
                <a:latin typeface="Verdana"/>
                <a:cs typeface="Verdana"/>
              </a:rPr>
              <a:t> </a:t>
            </a:r>
            <a:r>
              <a:rPr sz="1364" spc="-7" dirty="0">
                <a:solidFill>
                  <a:srgbClr val="C00000"/>
                </a:solidFill>
                <a:latin typeface="Verdana"/>
                <a:cs typeface="Verdana"/>
              </a:rPr>
              <a:t>current</a:t>
            </a:r>
            <a:endParaRPr sz="1364">
              <a:latin typeface="Verdana"/>
              <a:cs typeface="Verdana"/>
            </a:endParaRPr>
          </a:p>
          <a:p>
            <a:pPr marL="8659"/>
            <a:r>
              <a:rPr sz="1364" dirty="0">
                <a:solidFill>
                  <a:srgbClr val="C00000"/>
                </a:solidFill>
                <a:latin typeface="Verdana"/>
                <a:cs typeface="Verdana"/>
              </a:rPr>
              <a:t>~0</a:t>
            </a:r>
            <a:r>
              <a:rPr sz="1364" spc="-17" dirty="0">
                <a:solidFill>
                  <a:srgbClr val="C00000"/>
                </a:solidFill>
                <a:latin typeface="Verdana"/>
                <a:cs typeface="Verdana"/>
              </a:rPr>
              <a:t> </a:t>
            </a:r>
            <a:r>
              <a:rPr sz="1364" dirty="0">
                <a:solidFill>
                  <a:srgbClr val="C00000"/>
                </a:solidFill>
                <a:latin typeface="Verdana"/>
                <a:cs typeface="Verdana"/>
              </a:rPr>
              <a:t>in</a:t>
            </a:r>
            <a:r>
              <a:rPr sz="1364" spc="-14" dirty="0">
                <a:solidFill>
                  <a:srgbClr val="C00000"/>
                </a:solidFill>
                <a:latin typeface="Verdana"/>
                <a:cs typeface="Verdana"/>
              </a:rPr>
              <a:t> </a:t>
            </a:r>
            <a:r>
              <a:rPr sz="1364" dirty="0">
                <a:solidFill>
                  <a:srgbClr val="C00000"/>
                </a:solidFill>
                <a:latin typeface="Verdana"/>
                <a:cs typeface="Verdana"/>
              </a:rPr>
              <a:t>the</a:t>
            </a:r>
            <a:r>
              <a:rPr sz="1364" spc="-20" dirty="0">
                <a:solidFill>
                  <a:srgbClr val="C00000"/>
                </a:solidFill>
                <a:latin typeface="Verdana"/>
                <a:cs typeface="Verdana"/>
              </a:rPr>
              <a:t> </a:t>
            </a:r>
            <a:r>
              <a:rPr sz="1364" dirty="0">
                <a:solidFill>
                  <a:srgbClr val="C00000"/>
                </a:solidFill>
                <a:latin typeface="Verdana"/>
                <a:cs typeface="Verdana"/>
              </a:rPr>
              <a:t>steady</a:t>
            </a:r>
            <a:r>
              <a:rPr sz="1364" spc="-7" dirty="0">
                <a:solidFill>
                  <a:srgbClr val="C00000"/>
                </a:solidFill>
                <a:latin typeface="Verdana"/>
                <a:cs typeface="Verdana"/>
              </a:rPr>
              <a:t> </a:t>
            </a:r>
            <a:r>
              <a:rPr sz="1364" spc="-14" dirty="0">
                <a:solidFill>
                  <a:srgbClr val="C00000"/>
                </a:solidFill>
                <a:latin typeface="Verdana"/>
                <a:cs typeface="Verdana"/>
              </a:rPr>
              <a:t>state</a:t>
            </a:r>
            <a:endParaRPr sz="1364">
              <a:latin typeface="Verdana"/>
              <a:cs typeface="Verdana"/>
            </a:endParaRPr>
          </a:p>
        </p:txBody>
      </p:sp>
    </p:spTree>
    <p:extLst>
      <p:ext uri="{BB962C8B-B14F-4D97-AF65-F5344CB8AC3E}">
        <p14:creationId xmlns:p14="http://schemas.microsoft.com/office/powerpoint/2010/main" val="36099810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2492184" y="177631"/>
            <a:ext cx="7436232" cy="6553537"/>
          </a:xfrm>
          <a:prstGeom prst="rect">
            <a:avLst/>
          </a:prstGeom>
        </p:spPr>
      </p:pic>
    </p:spTree>
    <p:extLst>
      <p:ext uri="{BB962C8B-B14F-4D97-AF65-F5344CB8AC3E}">
        <p14:creationId xmlns:p14="http://schemas.microsoft.com/office/powerpoint/2010/main" val="31814363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98148" y="237085"/>
            <a:ext cx="7222634" cy="386411"/>
          </a:xfrm>
          <a:prstGeom prst="rect">
            <a:avLst/>
          </a:prstGeom>
        </p:spPr>
        <p:txBody>
          <a:bodyPr vert="horz" wrap="square" lIns="0" tIns="8659" rIns="0" bIns="0" rtlCol="0">
            <a:spAutoFit/>
          </a:bodyPr>
          <a:lstStyle/>
          <a:p>
            <a:pPr marL="8659">
              <a:spcBef>
                <a:spcPts val="68"/>
              </a:spcBef>
            </a:pPr>
            <a:r>
              <a:rPr sz="2454" dirty="0"/>
              <a:t>Current</a:t>
            </a:r>
            <a:r>
              <a:rPr sz="2454" spc="-55" dirty="0"/>
              <a:t> </a:t>
            </a:r>
            <a:r>
              <a:rPr sz="2454" dirty="0"/>
              <a:t>Efficiency</a:t>
            </a:r>
            <a:r>
              <a:rPr sz="2454" spc="-61" dirty="0"/>
              <a:t> </a:t>
            </a:r>
            <a:r>
              <a:rPr sz="2454" dirty="0"/>
              <a:t>vs.</a:t>
            </a:r>
            <a:r>
              <a:rPr sz="2454" spc="-48" dirty="0"/>
              <a:t> </a:t>
            </a:r>
            <a:r>
              <a:rPr sz="2454" i="1" dirty="0"/>
              <a:t>Peak</a:t>
            </a:r>
            <a:r>
              <a:rPr sz="2454" i="1" spc="-37" dirty="0"/>
              <a:t> </a:t>
            </a:r>
            <a:r>
              <a:rPr sz="2454" dirty="0"/>
              <a:t>Current</a:t>
            </a:r>
            <a:r>
              <a:rPr sz="2454" spc="-55" dirty="0"/>
              <a:t> </a:t>
            </a:r>
            <a:r>
              <a:rPr sz="2454" spc="-7" dirty="0"/>
              <a:t>Efficiency</a:t>
            </a:r>
            <a:endParaRPr sz="2454"/>
          </a:p>
        </p:txBody>
      </p:sp>
      <p:sp>
        <p:nvSpPr>
          <p:cNvPr id="3" name="object 3"/>
          <p:cNvSpPr txBox="1"/>
          <p:nvPr/>
        </p:nvSpPr>
        <p:spPr>
          <a:xfrm>
            <a:off x="2491222" y="3526735"/>
            <a:ext cx="1742642" cy="509044"/>
          </a:xfrm>
          <a:prstGeom prst="rect">
            <a:avLst/>
          </a:prstGeom>
        </p:spPr>
        <p:txBody>
          <a:bodyPr vert="horz" wrap="square" lIns="0" tIns="50223" rIns="0" bIns="0" rtlCol="0">
            <a:spAutoFit/>
          </a:bodyPr>
          <a:lstStyle/>
          <a:p>
            <a:pPr marL="346354" indent="-320378">
              <a:spcBef>
                <a:spcPts val="395"/>
              </a:spcBef>
              <a:buClr>
                <a:srgbClr val="CC0000"/>
              </a:buClr>
              <a:buFont typeface="Wingdings"/>
              <a:buChar char=""/>
              <a:tabLst>
                <a:tab pos="346354" algn="l"/>
              </a:tabLst>
            </a:pPr>
            <a:r>
              <a:rPr sz="1364" dirty="0">
                <a:latin typeface="Verdana"/>
                <a:cs typeface="Verdana"/>
              </a:rPr>
              <a:t>99.9%</a:t>
            </a:r>
            <a:r>
              <a:rPr sz="1364" spc="-37" dirty="0">
                <a:latin typeface="Verdana"/>
                <a:cs typeface="Verdana"/>
              </a:rPr>
              <a:t> </a:t>
            </a:r>
            <a:r>
              <a:rPr sz="1364" spc="-7" dirty="0">
                <a:latin typeface="Verdana"/>
                <a:cs typeface="Verdana"/>
              </a:rPr>
              <a:t>CE</a:t>
            </a:r>
            <a:r>
              <a:rPr sz="1330" spc="-10" baseline="-21367" dirty="0">
                <a:latin typeface="Verdana"/>
                <a:cs typeface="Verdana"/>
              </a:rPr>
              <a:t>peak</a:t>
            </a:r>
            <a:endParaRPr sz="1330" baseline="-21367">
              <a:latin typeface="Verdana"/>
              <a:cs typeface="Verdana"/>
            </a:endParaRPr>
          </a:p>
          <a:p>
            <a:pPr marL="346354" indent="-320378">
              <a:spcBef>
                <a:spcPts val="327"/>
              </a:spcBef>
              <a:buClr>
                <a:srgbClr val="CC0000"/>
              </a:buClr>
              <a:buFont typeface="Wingdings"/>
              <a:buChar char=""/>
              <a:tabLst>
                <a:tab pos="346354" algn="l"/>
              </a:tabLst>
            </a:pPr>
            <a:r>
              <a:rPr sz="1364" dirty="0">
                <a:latin typeface="Verdana"/>
                <a:cs typeface="Verdana"/>
              </a:rPr>
              <a:t>99.999%</a:t>
            </a:r>
            <a:r>
              <a:rPr sz="1364" spc="-51" dirty="0">
                <a:latin typeface="Verdana"/>
                <a:cs typeface="Verdana"/>
              </a:rPr>
              <a:t> </a:t>
            </a:r>
            <a:r>
              <a:rPr sz="1364" spc="-7" dirty="0">
                <a:latin typeface="Verdana"/>
                <a:cs typeface="Verdana"/>
              </a:rPr>
              <a:t>CE</a:t>
            </a:r>
            <a:r>
              <a:rPr sz="1330" spc="-10" baseline="-21367" dirty="0">
                <a:latin typeface="Verdana"/>
                <a:cs typeface="Verdana"/>
              </a:rPr>
              <a:t>peak</a:t>
            </a:r>
            <a:endParaRPr sz="1330" baseline="-21367">
              <a:latin typeface="Verdana"/>
              <a:cs typeface="Verdana"/>
            </a:endParaRPr>
          </a:p>
        </p:txBody>
      </p:sp>
      <p:sp>
        <p:nvSpPr>
          <p:cNvPr id="4" name="object 4"/>
          <p:cNvSpPr txBox="1"/>
          <p:nvPr/>
        </p:nvSpPr>
        <p:spPr>
          <a:xfrm>
            <a:off x="4361585" y="3526735"/>
            <a:ext cx="4817918" cy="509044"/>
          </a:xfrm>
          <a:prstGeom prst="rect">
            <a:avLst/>
          </a:prstGeom>
        </p:spPr>
        <p:txBody>
          <a:bodyPr vert="horz" wrap="square" lIns="0" tIns="50223" rIns="0" bIns="0" rtlCol="0">
            <a:spAutoFit/>
          </a:bodyPr>
          <a:lstStyle/>
          <a:p>
            <a:pPr marL="25977">
              <a:spcBef>
                <a:spcPts val="395"/>
              </a:spcBef>
              <a:tabLst>
                <a:tab pos="316914" algn="l"/>
              </a:tabLst>
            </a:pPr>
            <a:r>
              <a:rPr sz="1364" spc="-34" dirty="0">
                <a:latin typeface="Wingdings"/>
                <a:cs typeface="Wingdings"/>
              </a:rPr>
              <a:t></a:t>
            </a:r>
            <a:r>
              <a:rPr sz="1364" dirty="0">
                <a:latin typeface="Times New Roman"/>
                <a:cs typeface="Times New Roman"/>
              </a:rPr>
              <a:t>	</a:t>
            </a:r>
            <a:r>
              <a:rPr sz="1364" dirty="0">
                <a:latin typeface="Verdana"/>
                <a:cs typeface="Verdana"/>
              </a:rPr>
              <a:t>1% or</a:t>
            </a:r>
            <a:r>
              <a:rPr sz="1364" spc="-7" dirty="0">
                <a:latin typeface="Verdana"/>
                <a:cs typeface="Verdana"/>
              </a:rPr>
              <a:t> </a:t>
            </a:r>
            <a:r>
              <a:rPr sz="1364" dirty="0">
                <a:latin typeface="Verdana"/>
                <a:cs typeface="Verdana"/>
              </a:rPr>
              <a:t>less loss for</a:t>
            </a:r>
            <a:r>
              <a:rPr sz="1364" spc="-7" dirty="0">
                <a:latin typeface="Verdana"/>
                <a:cs typeface="Verdana"/>
              </a:rPr>
              <a:t> </a:t>
            </a:r>
            <a:r>
              <a:rPr sz="1364" dirty="0">
                <a:latin typeface="Verdana"/>
                <a:cs typeface="Verdana"/>
              </a:rPr>
              <a:t>I</a:t>
            </a:r>
            <a:r>
              <a:rPr sz="1330" baseline="-21367" dirty="0">
                <a:latin typeface="Verdana"/>
                <a:cs typeface="Verdana"/>
              </a:rPr>
              <a:t>load</a:t>
            </a:r>
            <a:r>
              <a:rPr sz="1330" spc="250" baseline="-21367" dirty="0">
                <a:latin typeface="Verdana"/>
                <a:cs typeface="Verdana"/>
              </a:rPr>
              <a:t> </a:t>
            </a:r>
            <a:r>
              <a:rPr sz="1364" dirty="0">
                <a:latin typeface="Verdana"/>
                <a:cs typeface="Verdana"/>
              </a:rPr>
              <a:t>=</a:t>
            </a:r>
            <a:r>
              <a:rPr sz="1364" spc="-3" dirty="0">
                <a:latin typeface="Verdana"/>
                <a:cs typeface="Verdana"/>
              </a:rPr>
              <a:t> </a:t>
            </a:r>
            <a:r>
              <a:rPr sz="1364" b="1" dirty="0">
                <a:latin typeface="Verdana"/>
                <a:cs typeface="Verdana"/>
              </a:rPr>
              <a:t>0.1∙I</a:t>
            </a:r>
            <a:r>
              <a:rPr sz="1330" b="1" baseline="-21367" dirty="0">
                <a:latin typeface="Verdana"/>
                <a:cs typeface="Verdana"/>
              </a:rPr>
              <a:t>load,max</a:t>
            </a:r>
            <a:r>
              <a:rPr sz="1330" b="1" spc="286" baseline="-21367" dirty="0">
                <a:latin typeface="Verdana"/>
                <a:cs typeface="Verdana"/>
              </a:rPr>
              <a:t> </a:t>
            </a:r>
            <a:r>
              <a:rPr sz="1364" dirty="0">
                <a:latin typeface="Verdana"/>
                <a:cs typeface="Verdana"/>
              </a:rPr>
              <a:t>to </a:t>
            </a:r>
            <a:r>
              <a:rPr sz="1364" spc="-7" dirty="0">
                <a:latin typeface="Verdana"/>
                <a:cs typeface="Verdana"/>
              </a:rPr>
              <a:t>I</a:t>
            </a:r>
            <a:r>
              <a:rPr sz="1330" spc="-10" baseline="-21367" dirty="0">
                <a:latin typeface="Verdana"/>
                <a:cs typeface="Verdana"/>
              </a:rPr>
              <a:t>load,max</a:t>
            </a:r>
            <a:endParaRPr sz="1330" baseline="-21367">
              <a:latin typeface="Verdana"/>
              <a:cs typeface="Verdana"/>
            </a:endParaRPr>
          </a:p>
          <a:p>
            <a:pPr marL="25977">
              <a:spcBef>
                <a:spcPts val="327"/>
              </a:spcBef>
              <a:tabLst>
                <a:tab pos="316914" algn="l"/>
              </a:tabLst>
            </a:pPr>
            <a:r>
              <a:rPr sz="1364" spc="-34" dirty="0">
                <a:latin typeface="Wingdings"/>
                <a:cs typeface="Wingdings"/>
              </a:rPr>
              <a:t></a:t>
            </a:r>
            <a:r>
              <a:rPr sz="1364" dirty="0">
                <a:latin typeface="Times New Roman"/>
                <a:cs typeface="Times New Roman"/>
              </a:rPr>
              <a:t>	</a:t>
            </a:r>
            <a:r>
              <a:rPr sz="1364" dirty="0">
                <a:latin typeface="Verdana"/>
                <a:cs typeface="Verdana"/>
              </a:rPr>
              <a:t>1%</a:t>
            </a:r>
            <a:r>
              <a:rPr sz="1364" spc="-3" dirty="0">
                <a:latin typeface="Verdana"/>
                <a:cs typeface="Verdana"/>
              </a:rPr>
              <a:t> </a:t>
            </a:r>
            <a:r>
              <a:rPr sz="1364" dirty="0">
                <a:latin typeface="Verdana"/>
                <a:cs typeface="Verdana"/>
              </a:rPr>
              <a:t>or</a:t>
            </a:r>
            <a:r>
              <a:rPr sz="1364" spc="-7" dirty="0">
                <a:latin typeface="Verdana"/>
                <a:cs typeface="Verdana"/>
              </a:rPr>
              <a:t> </a:t>
            </a:r>
            <a:r>
              <a:rPr sz="1364" dirty="0">
                <a:latin typeface="Verdana"/>
                <a:cs typeface="Verdana"/>
              </a:rPr>
              <a:t>less</a:t>
            </a:r>
            <a:r>
              <a:rPr sz="1364" spc="-7" dirty="0">
                <a:latin typeface="Verdana"/>
                <a:cs typeface="Verdana"/>
              </a:rPr>
              <a:t> </a:t>
            </a:r>
            <a:r>
              <a:rPr sz="1364" dirty="0">
                <a:latin typeface="Verdana"/>
                <a:cs typeface="Verdana"/>
              </a:rPr>
              <a:t>loss for</a:t>
            </a:r>
            <a:r>
              <a:rPr sz="1364" spc="-7" dirty="0">
                <a:latin typeface="Verdana"/>
                <a:cs typeface="Verdana"/>
              </a:rPr>
              <a:t> </a:t>
            </a:r>
            <a:r>
              <a:rPr sz="1364" dirty="0">
                <a:latin typeface="Verdana"/>
                <a:cs typeface="Verdana"/>
              </a:rPr>
              <a:t>I</a:t>
            </a:r>
            <a:r>
              <a:rPr sz="1330" baseline="-21367" dirty="0">
                <a:latin typeface="Verdana"/>
                <a:cs typeface="Verdana"/>
              </a:rPr>
              <a:t>load</a:t>
            </a:r>
            <a:r>
              <a:rPr sz="1330" spc="240" baseline="-21367" dirty="0">
                <a:latin typeface="Verdana"/>
                <a:cs typeface="Verdana"/>
              </a:rPr>
              <a:t> </a:t>
            </a:r>
            <a:r>
              <a:rPr sz="1364" dirty="0">
                <a:latin typeface="Verdana"/>
                <a:cs typeface="Verdana"/>
              </a:rPr>
              <a:t>=</a:t>
            </a:r>
            <a:r>
              <a:rPr sz="1364" spc="-3" dirty="0">
                <a:latin typeface="Verdana"/>
                <a:cs typeface="Verdana"/>
              </a:rPr>
              <a:t> </a:t>
            </a:r>
            <a:r>
              <a:rPr sz="1364" b="1" dirty="0">
                <a:latin typeface="Verdana"/>
                <a:cs typeface="Verdana"/>
              </a:rPr>
              <a:t>0.001∙I</a:t>
            </a:r>
            <a:r>
              <a:rPr sz="1330" b="1" baseline="-21367" dirty="0">
                <a:latin typeface="Verdana"/>
                <a:cs typeface="Verdana"/>
              </a:rPr>
              <a:t>load,max</a:t>
            </a:r>
            <a:r>
              <a:rPr sz="1330" b="1" spc="276" baseline="-21367" dirty="0">
                <a:latin typeface="Verdana"/>
                <a:cs typeface="Verdana"/>
              </a:rPr>
              <a:t> </a:t>
            </a:r>
            <a:r>
              <a:rPr sz="1364" dirty="0">
                <a:latin typeface="Verdana"/>
                <a:cs typeface="Verdana"/>
              </a:rPr>
              <a:t>to</a:t>
            </a:r>
            <a:r>
              <a:rPr sz="1364" spc="-3" dirty="0">
                <a:latin typeface="Verdana"/>
                <a:cs typeface="Verdana"/>
              </a:rPr>
              <a:t> </a:t>
            </a:r>
            <a:r>
              <a:rPr sz="1364" spc="-7" dirty="0">
                <a:latin typeface="Verdana"/>
                <a:cs typeface="Verdana"/>
              </a:rPr>
              <a:t>I</a:t>
            </a:r>
            <a:r>
              <a:rPr sz="1330" spc="-10" baseline="-21367" dirty="0">
                <a:latin typeface="Verdana"/>
                <a:cs typeface="Verdana"/>
              </a:rPr>
              <a:t>load,max</a:t>
            </a:r>
            <a:endParaRPr sz="1330" baseline="-21367">
              <a:latin typeface="Verdana"/>
              <a:cs typeface="Verdana"/>
            </a:endParaRPr>
          </a:p>
        </p:txBody>
      </p:sp>
      <p:grpSp>
        <p:nvGrpSpPr>
          <p:cNvPr id="5" name="object 5"/>
          <p:cNvGrpSpPr/>
          <p:nvPr/>
        </p:nvGrpSpPr>
        <p:grpSpPr>
          <a:xfrm>
            <a:off x="5692145" y="1081041"/>
            <a:ext cx="3065751" cy="1673802"/>
            <a:chOff x="5503678" y="1585527"/>
            <a:chExt cx="4496435" cy="2454910"/>
          </a:xfrm>
        </p:grpSpPr>
        <p:sp>
          <p:nvSpPr>
            <p:cNvPr id="6" name="object 6"/>
            <p:cNvSpPr/>
            <p:nvPr/>
          </p:nvSpPr>
          <p:spPr>
            <a:xfrm>
              <a:off x="5556123" y="3984878"/>
              <a:ext cx="4434205" cy="1905"/>
            </a:xfrm>
            <a:custGeom>
              <a:avLst/>
              <a:gdLst/>
              <a:ahLst/>
              <a:cxnLst/>
              <a:rect l="l" t="t" r="r" b="b"/>
              <a:pathLst>
                <a:path w="4434205" h="1904">
                  <a:moveTo>
                    <a:pt x="0" y="0"/>
                  </a:moveTo>
                  <a:lnTo>
                    <a:pt x="4434078" y="1574"/>
                  </a:lnTo>
                </a:path>
              </a:pathLst>
            </a:custGeom>
            <a:ln w="19050">
              <a:solidFill>
                <a:srgbClr val="000000"/>
              </a:solidFill>
            </a:ln>
          </p:spPr>
          <p:txBody>
            <a:bodyPr wrap="square" lIns="0" tIns="0" rIns="0" bIns="0" rtlCol="0"/>
            <a:lstStyle/>
            <a:p>
              <a:endParaRPr sz="1227"/>
            </a:p>
          </p:txBody>
        </p:sp>
        <p:sp>
          <p:nvSpPr>
            <p:cNvPr id="7" name="object 7"/>
            <p:cNvSpPr/>
            <p:nvPr/>
          </p:nvSpPr>
          <p:spPr>
            <a:xfrm>
              <a:off x="9913980" y="3941977"/>
              <a:ext cx="76835" cy="88900"/>
            </a:xfrm>
            <a:custGeom>
              <a:avLst/>
              <a:gdLst/>
              <a:ahLst/>
              <a:cxnLst/>
              <a:rect l="l" t="t" r="r" b="b"/>
              <a:pathLst>
                <a:path w="76834" h="88900">
                  <a:moveTo>
                    <a:pt x="38" y="0"/>
                  </a:moveTo>
                  <a:lnTo>
                    <a:pt x="76225" y="44475"/>
                  </a:lnTo>
                  <a:lnTo>
                    <a:pt x="0" y="88900"/>
                  </a:lnTo>
                </a:path>
              </a:pathLst>
            </a:custGeom>
            <a:ln w="19050">
              <a:solidFill>
                <a:srgbClr val="000000"/>
              </a:solidFill>
            </a:ln>
          </p:spPr>
          <p:txBody>
            <a:bodyPr wrap="square" lIns="0" tIns="0" rIns="0" bIns="0" rtlCol="0"/>
            <a:lstStyle/>
            <a:p>
              <a:endParaRPr sz="1227"/>
            </a:p>
          </p:txBody>
        </p:sp>
        <p:sp>
          <p:nvSpPr>
            <p:cNvPr id="8" name="object 8"/>
            <p:cNvSpPr/>
            <p:nvPr/>
          </p:nvSpPr>
          <p:spPr>
            <a:xfrm>
              <a:off x="5556123" y="1595052"/>
              <a:ext cx="1905" cy="2392045"/>
            </a:xfrm>
            <a:custGeom>
              <a:avLst/>
              <a:gdLst/>
              <a:ahLst/>
              <a:cxnLst/>
              <a:rect l="l" t="t" r="r" b="b"/>
              <a:pathLst>
                <a:path w="1904" h="2392045">
                  <a:moveTo>
                    <a:pt x="0" y="2391511"/>
                  </a:moveTo>
                  <a:lnTo>
                    <a:pt x="1574" y="0"/>
                  </a:lnTo>
                </a:path>
              </a:pathLst>
            </a:custGeom>
            <a:ln w="19050">
              <a:solidFill>
                <a:srgbClr val="000000"/>
              </a:solidFill>
            </a:ln>
          </p:spPr>
          <p:txBody>
            <a:bodyPr wrap="square" lIns="0" tIns="0" rIns="0" bIns="0" rtlCol="0"/>
            <a:lstStyle/>
            <a:p>
              <a:endParaRPr sz="1227"/>
            </a:p>
          </p:txBody>
        </p:sp>
        <p:sp>
          <p:nvSpPr>
            <p:cNvPr id="9" name="object 9"/>
            <p:cNvSpPr/>
            <p:nvPr/>
          </p:nvSpPr>
          <p:spPr>
            <a:xfrm>
              <a:off x="5513203" y="1595057"/>
              <a:ext cx="88900" cy="76835"/>
            </a:xfrm>
            <a:custGeom>
              <a:avLst/>
              <a:gdLst/>
              <a:ahLst/>
              <a:cxnLst/>
              <a:rect l="l" t="t" r="r" b="b"/>
              <a:pathLst>
                <a:path w="88900" h="76835">
                  <a:moveTo>
                    <a:pt x="88900" y="76225"/>
                  </a:moveTo>
                  <a:lnTo>
                    <a:pt x="44500" y="0"/>
                  </a:lnTo>
                  <a:lnTo>
                    <a:pt x="0" y="76174"/>
                  </a:lnTo>
                </a:path>
              </a:pathLst>
            </a:custGeom>
            <a:ln w="19050">
              <a:solidFill>
                <a:srgbClr val="000000"/>
              </a:solidFill>
            </a:ln>
          </p:spPr>
          <p:txBody>
            <a:bodyPr wrap="square" lIns="0" tIns="0" rIns="0" bIns="0" rtlCol="0"/>
            <a:lstStyle/>
            <a:p>
              <a:endParaRPr sz="1227"/>
            </a:p>
          </p:txBody>
        </p:sp>
        <p:sp>
          <p:nvSpPr>
            <p:cNvPr id="10" name="object 10"/>
            <p:cNvSpPr/>
            <p:nvPr/>
          </p:nvSpPr>
          <p:spPr>
            <a:xfrm>
              <a:off x="8670036" y="2186938"/>
              <a:ext cx="846455" cy="1905"/>
            </a:xfrm>
            <a:custGeom>
              <a:avLst/>
              <a:gdLst/>
              <a:ahLst/>
              <a:cxnLst/>
              <a:rect l="l" t="t" r="r" b="b"/>
              <a:pathLst>
                <a:path w="846454" h="1905">
                  <a:moveTo>
                    <a:pt x="0" y="1587"/>
                  </a:moveTo>
                  <a:lnTo>
                    <a:pt x="845997" y="0"/>
                  </a:lnTo>
                </a:path>
              </a:pathLst>
            </a:custGeom>
            <a:ln w="28956">
              <a:solidFill>
                <a:srgbClr val="C00000"/>
              </a:solidFill>
            </a:ln>
          </p:spPr>
          <p:txBody>
            <a:bodyPr wrap="square" lIns="0" tIns="0" rIns="0" bIns="0" rtlCol="0"/>
            <a:lstStyle/>
            <a:p>
              <a:endParaRPr sz="1227"/>
            </a:p>
          </p:txBody>
        </p:sp>
        <p:sp>
          <p:nvSpPr>
            <p:cNvPr id="11" name="object 11"/>
            <p:cNvSpPr/>
            <p:nvPr/>
          </p:nvSpPr>
          <p:spPr>
            <a:xfrm>
              <a:off x="7680198" y="2186938"/>
              <a:ext cx="990600" cy="1374775"/>
            </a:xfrm>
            <a:custGeom>
              <a:avLst/>
              <a:gdLst/>
              <a:ahLst/>
              <a:cxnLst/>
              <a:rect l="l" t="t" r="r" b="b"/>
              <a:pathLst>
                <a:path w="990600" h="1374775">
                  <a:moveTo>
                    <a:pt x="0" y="1374406"/>
                  </a:moveTo>
                  <a:lnTo>
                    <a:pt x="990104" y="0"/>
                  </a:lnTo>
                </a:path>
              </a:pathLst>
            </a:custGeom>
            <a:ln w="28956">
              <a:solidFill>
                <a:srgbClr val="C00000"/>
              </a:solidFill>
            </a:ln>
          </p:spPr>
          <p:txBody>
            <a:bodyPr wrap="square" lIns="0" tIns="0" rIns="0" bIns="0" rtlCol="0"/>
            <a:lstStyle/>
            <a:p>
              <a:endParaRPr sz="1227"/>
            </a:p>
          </p:txBody>
        </p:sp>
        <p:sp>
          <p:nvSpPr>
            <p:cNvPr id="12" name="object 12"/>
            <p:cNvSpPr/>
            <p:nvPr/>
          </p:nvSpPr>
          <p:spPr>
            <a:xfrm>
              <a:off x="7866126" y="2166364"/>
              <a:ext cx="1650364" cy="1905"/>
            </a:xfrm>
            <a:custGeom>
              <a:avLst/>
              <a:gdLst/>
              <a:ahLst/>
              <a:cxnLst/>
              <a:rect l="l" t="t" r="r" b="b"/>
              <a:pathLst>
                <a:path w="1650365" h="1905">
                  <a:moveTo>
                    <a:pt x="0" y="1587"/>
                  </a:moveTo>
                  <a:lnTo>
                    <a:pt x="1650009" y="0"/>
                  </a:lnTo>
                </a:path>
              </a:pathLst>
            </a:custGeom>
            <a:ln w="28956">
              <a:solidFill>
                <a:srgbClr val="0000FF"/>
              </a:solidFill>
            </a:ln>
          </p:spPr>
          <p:txBody>
            <a:bodyPr wrap="square" lIns="0" tIns="0" rIns="0" bIns="0" rtlCol="0"/>
            <a:lstStyle/>
            <a:p>
              <a:endParaRPr sz="1227"/>
            </a:p>
          </p:txBody>
        </p:sp>
        <p:sp>
          <p:nvSpPr>
            <p:cNvPr id="13" name="object 13"/>
            <p:cNvSpPr/>
            <p:nvPr/>
          </p:nvSpPr>
          <p:spPr>
            <a:xfrm>
              <a:off x="6876288" y="2147313"/>
              <a:ext cx="1020444" cy="1414780"/>
            </a:xfrm>
            <a:custGeom>
              <a:avLst/>
              <a:gdLst/>
              <a:ahLst/>
              <a:cxnLst/>
              <a:rect l="l" t="t" r="r" b="b"/>
              <a:pathLst>
                <a:path w="1020445" h="1414779">
                  <a:moveTo>
                    <a:pt x="0" y="1414322"/>
                  </a:moveTo>
                  <a:lnTo>
                    <a:pt x="1019937" y="0"/>
                  </a:lnTo>
                </a:path>
              </a:pathLst>
            </a:custGeom>
            <a:ln w="28956">
              <a:solidFill>
                <a:srgbClr val="0000FF"/>
              </a:solidFill>
            </a:ln>
          </p:spPr>
          <p:txBody>
            <a:bodyPr wrap="square" lIns="0" tIns="0" rIns="0" bIns="0" rtlCol="0"/>
            <a:lstStyle/>
            <a:p>
              <a:endParaRPr sz="1227"/>
            </a:p>
          </p:txBody>
        </p:sp>
        <p:sp>
          <p:nvSpPr>
            <p:cNvPr id="14" name="object 14"/>
            <p:cNvSpPr/>
            <p:nvPr/>
          </p:nvSpPr>
          <p:spPr>
            <a:xfrm>
              <a:off x="7020306" y="2140456"/>
              <a:ext cx="2496185" cy="1905"/>
            </a:xfrm>
            <a:custGeom>
              <a:avLst/>
              <a:gdLst/>
              <a:ahLst/>
              <a:cxnLst/>
              <a:rect l="l" t="t" r="r" b="b"/>
              <a:pathLst>
                <a:path w="2496184" h="1905">
                  <a:moveTo>
                    <a:pt x="0" y="1587"/>
                  </a:moveTo>
                  <a:lnTo>
                    <a:pt x="2496007" y="0"/>
                  </a:lnTo>
                </a:path>
              </a:pathLst>
            </a:custGeom>
            <a:ln w="28956">
              <a:solidFill>
                <a:srgbClr val="00FF00"/>
              </a:solidFill>
            </a:ln>
          </p:spPr>
          <p:txBody>
            <a:bodyPr wrap="square" lIns="0" tIns="0" rIns="0" bIns="0" rtlCol="0"/>
            <a:lstStyle/>
            <a:p>
              <a:endParaRPr sz="1227"/>
            </a:p>
          </p:txBody>
        </p:sp>
        <p:sp>
          <p:nvSpPr>
            <p:cNvPr id="15" name="object 15"/>
            <p:cNvSpPr/>
            <p:nvPr/>
          </p:nvSpPr>
          <p:spPr>
            <a:xfrm>
              <a:off x="6030468" y="2135122"/>
              <a:ext cx="1010919" cy="1419860"/>
            </a:xfrm>
            <a:custGeom>
              <a:avLst/>
              <a:gdLst/>
              <a:ahLst/>
              <a:cxnLst/>
              <a:rect l="l" t="t" r="r" b="b"/>
              <a:pathLst>
                <a:path w="1010920" h="1419860">
                  <a:moveTo>
                    <a:pt x="0" y="1419313"/>
                  </a:moveTo>
                  <a:lnTo>
                    <a:pt x="1010831" y="0"/>
                  </a:lnTo>
                </a:path>
              </a:pathLst>
            </a:custGeom>
            <a:ln w="28955">
              <a:solidFill>
                <a:srgbClr val="00FF00"/>
              </a:solidFill>
            </a:ln>
          </p:spPr>
          <p:txBody>
            <a:bodyPr wrap="square" lIns="0" tIns="0" rIns="0" bIns="0" rtlCol="0"/>
            <a:lstStyle/>
            <a:p>
              <a:endParaRPr sz="1227"/>
            </a:p>
          </p:txBody>
        </p:sp>
        <p:sp>
          <p:nvSpPr>
            <p:cNvPr id="16" name="object 16"/>
            <p:cNvSpPr/>
            <p:nvPr/>
          </p:nvSpPr>
          <p:spPr>
            <a:xfrm>
              <a:off x="9452991" y="1941953"/>
              <a:ext cx="0" cy="2033270"/>
            </a:xfrm>
            <a:custGeom>
              <a:avLst/>
              <a:gdLst/>
              <a:ahLst/>
              <a:cxnLst/>
              <a:rect l="l" t="t" r="r" b="b"/>
              <a:pathLst>
                <a:path h="2033270">
                  <a:moveTo>
                    <a:pt x="0" y="2032825"/>
                  </a:moveTo>
                  <a:lnTo>
                    <a:pt x="0" y="0"/>
                  </a:lnTo>
                </a:path>
              </a:pathLst>
            </a:custGeom>
            <a:ln w="19050">
              <a:solidFill>
                <a:srgbClr val="000000"/>
              </a:solidFill>
              <a:prstDash val="sysDash"/>
            </a:ln>
          </p:spPr>
          <p:txBody>
            <a:bodyPr wrap="square" lIns="0" tIns="0" rIns="0" bIns="0" rtlCol="0"/>
            <a:lstStyle/>
            <a:p>
              <a:endParaRPr sz="1227"/>
            </a:p>
          </p:txBody>
        </p:sp>
        <p:sp>
          <p:nvSpPr>
            <p:cNvPr id="17" name="object 17"/>
            <p:cNvSpPr/>
            <p:nvPr/>
          </p:nvSpPr>
          <p:spPr>
            <a:xfrm>
              <a:off x="8670417" y="1953383"/>
              <a:ext cx="0" cy="2033270"/>
            </a:xfrm>
            <a:custGeom>
              <a:avLst/>
              <a:gdLst/>
              <a:ahLst/>
              <a:cxnLst/>
              <a:rect l="l" t="t" r="r" b="b"/>
              <a:pathLst>
                <a:path h="2033270">
                  <a:moveTo>
                    <a:pt x="0" y="2032825"/>
                  </a:moveTo>
                  <a:lnTo>
                    <a:pt x="0" y="0"/>
                  </a:lnTo>
                </a:path>
              </a:pathLst>
            </a:custGeom>
            <a:ln w="19050">
              <a:solidFill>
                <a:srgbClr val="000000"/>
              </a:solidFill>
              <a:prstDash val="sysDash"/>
            </a:ln>
          </p:spPr>
          <p:txBody>
            <a:bodyPr wrap="square" lIns="0" tIns="0" rIns="0" bIns="0" rtlCol="0"/>
            <a:lstStyle/>
            <a:p>
              <a:endParaRPr sz="1227"/>
            </a:p>
          </p:txBody>
        </p:sp>
        <p:sp>
          <p:nvSpPr>
            <p:cNvPr id="18" name="object 18"/>
            <p:cNvSpPr/>
            <p:nvPr/>
          </p:nvSpPr>
          <p:spPr>
            <a:xfrm>
              <a:off x="7866507" y="1941953"/>
              <a:ext cx="0" cy="2033270"/>
            </a:xfrm>
            <a:custGeom>
              <a:avLst/>
              <a:gdLst/>
              <a:ahLst/>
              <a:cxnLst/>
              <a:rect l="l" t="t" r="r" b="b"/>
              <a:pathLst>
                <a:path h="2033270">
                  <a:moveTo>
                    <a:pt x="0" y="2032825"/>
                  </a:moveTo>
                  <a:lnTo>
                    <a:pt x="0" y="0"/>
                  </a:lnTo>
                </a:path>
              </a:pathLst>
            </a:custGeom>
            <a:ln w="19050">
              <a:solidFill>
                <a:srgbClr val="000000"/>
              </a:solidFill>
              <a:prstDash val="sysDash"/>
            </a:ln>
          </p:spPr>
          <p:txBody>
            <a:bodyPr wrap="square" lIns="0" tIns="0" rIns="0" bIns="0" rtlCol="0"/>
            <a:lstStyle/>
            <a:p>
              <a:endParaRPr sz="1227"/>
            </a:p>
          </p:txBody>
        </p:sp>
        <p:sp>
          <p:nvSpPr>
            <p:cNvPr id="19" name="object 19"/>
            <p:cNvSpPr/>
            <p:nvPr/>
          </p:nvSpPr>
          <p:spPr>
            <a:xfrm>
              <a:off x="7026021" y="1953383"/>
              <a:ext cx="0" cy="2033270"/>
            </a:xfrm>
            <a:custGeom>
              <a:avLst/>
              <a:gdLst/>
              <a:ahLst/>
              <a:cxnLst/>
              <a:rect l="l" t="t" r="r" b="b"/>
              <a:pathLst>
                <a:path h="2033270">
                  <a:moveTo>
                    <a:pt x="0" y="2032825"/>
                  </a:moveTo>
                  <a:lnTo>
                    <a:pt x="0" y="0"/>
                  </a:lnTo>
                </a:path>
              </a:pathLst>
            </a:custGeom>
            <a:ln w="19050">
              <a:solidFill>
                <a:srgbClr val="000000"/>
              </a:solidFill>
              <a:prstDash val="sysDash"/>
            </a:ln>
          </p:spPr>
          <p:txBody>
            <a:bodyPr wrap="square" lIns="0" tIns="0" rIns="0" bIns="0" rtlCol="0"/>
            <a:lstStyle/>
            <a:p>
              <a:endParaRPr sz="1227"/>
            </a:p>
          </p:txBody>
        </p:sp>
        <p:sp>
          <p:nvSpPr>
            <p:cNvPr id="20" name="object 20"/>
            <p:cNvSpPr/>
            <p:nvPr/>
          </p:nvSpPr>
          <p:spPr>
            <a:xfrm>
              <a:off x="6186297" y="1953383"/>
              <a:ext cx="0" cy="2033270"/>
            </a:xfrm>
            <a:custGeom>
              <a:avLst/>
              <a:gdLst/>
              <a:ahLst/>
              <a:cxnLst/>
              <a:rect l="l" t="t" r="r" b="b"/>
              <a:pathLst>
                <a:path h="2033270">
                  <a:moveTo>
                    <a:pt x="0" y="2032825"/>
                  </a:moveTo>
                  <a:lnTo>
                    <a:pt x="0" y="0"/>
                  </a:lnTo>
                </a:path>
              </a:pathLst>
            </a:custGeom>
            <a:ln w="19050">
              <a:solidFill>
                <a:srgbClr val="000000"/>
              </a:solidFill>
              <a:prstDash val="sysDash"/>
            </a:ln>
          </p:spPr>
          <p:txBody>
            <a:bodyPr wrap="square" lIns="0" tIns="0" rIns="0" bIns="0" rtlCol="0"/>
            <a:lstStyle/>
            <a:p>
              <a:endParaRPr sz="1227"/>
            </a:p>
          </p:txBody>
        </p:sp>
      </p:grpSp>
      <p:sp>
        <p:nvSpPr>
          <p:cNvPr id="21" name="object 21"/>
          <p:cNvSpPr txBox="1"/>
          <p:nvPr/>
        </p:nvSpPr>
        <p:spPr>
          <a:xfrm>
            <a:off x="9185397" y="2682885"/>
            <a:ext cx="260206" cy="147686"/>
          </a:xfrm>
          <a:prstGeom prst="rect">
            <a:avLst/>
          </a:prstGeom>
        </p:spPr>
        <p:txBody>
          <a:bodyPr vert="horz" wrap="square" lIns="0" tIns="11257" rIns="0" bIns="0" rtlCol="0">
            <a:spAutoFit/>
          </a:bodyPr>
          <a:lstStyle/>
          <a:p>
            <a:pPr marL="8659">
              <a:spcBef>
                <a:spcPts val="89"/>
              </a:spcBef>
            </a:pPr>
            <a:r>
              <a:rPr sz="886" spc="-14" dirty="0">
                <a:latin typeface="Verdana"/>
                <a:cs typeface="Verdana"/>
              </a:rPr>
              <a:t>load</a:t>
            </a:r>
            <a:endParaRPr sz="886">
              <a:latin typeface="Verdana"/>
              <a:cs typeface="Verdana"/>
            </a:endParaRPr>
          </a:p>
        </p:txBody>
      </p:sp>
      <p:sp>
        <p:nvSpPr>
          <p:cNvPr id="22" name="object 22"/>
          <p:cNvSpPr txBox="1"/>
          <p:nvPr/>
        </p:nvSpPr>
        <p:spPr>
          <a:xfrm>
            <a:off x="8774436" y="2582612"/>
            <a:ext cx="749877" cy="218236"/>
          </a:xfrm>
          <a:prstGeom prst="rect">
            <a:avLst/>
          </a:prstGeom>
        </p:spPr>
        <p:txBody>
          <a:bodyPr vert="horz" wrap="square" lIns="0" tIns="8226" rIns="0" bIns="0" rtlCol="0">
            <a:spAutoFit/>
          </a:bodyPr>
          <a:lstStyle/>
          <a:p>
            <a:pPr marL="8659">
              <a:spcBef>
                <a:spcPts val="65"/>
              </a:spcBef>
              <a:tabLst>
                <a:tab pos="661970" algn="l"/>
              </a:tabLst>
            </a:pPr>
            <a:r>
              <a:rPr sz="1364" spc="-7" dirty="0">
                <a:latin typeface="Verdana"/>
                <a:cs typeface="Verdana"/>
              </a:rPr>
              <a:t>log(I</a:t>
            </a:r>
            <a:r>
              <a:rPr sz="1364" dirty="0">
                <a:latin typeface="Verdana"/>
                <a:cs typeface="Verdana"/>
              </a:rPr>
              <a:t>	</a:t>
            </a:r>
            <a:r>
              <a:rPr sz="1364" spc="-34" dirty="0">
                <a:latin typeface="Verdana"/>
                <a:cs typeface="Verdana"/>
              </a:rPr>
              <a:t>)</a:t>
            </a:r>
            <a:endParaRPr sz="1364">
              <a:latin typeface="Verdana"/>
              <a:cs typeface="Verdana"/>
            </a:endParaRPr>
          </a:p>
        </p:txBody>
      </p:sp>
      <p:sp>
        <p:nvSpPr>
          <p:cNvPr id="23" name="object 23"/>
          <p:cNvSpPr txBox="1"/>
          <p:nvPr/>
        </p:nvSpPr>
        <p:spPr>
          <a:xfrm>
            <a:off x="5405054" y="947508"/>
            <a:ext cx="248516" cy="218236"/>
          </a:xfrm>
          <a:prstGeom prst="rect">
            <a:avLst/>
          </a:prstGeom>
        </p:spPr>
        <p:txBody>
          <a:bodyPr vert="horz" wrap="square" lIns="0" tIns="8226" rIns="0" bIns="0" rtlCol="0">
            <a:spAutoFit/>
          </a:bodyPr>
          <a:lstStyle/>
          <a:p>
            <a:pPr marL="8659">
              <a:spcBef>
                <a:spcPts val="65"/>
              </a:spcBef>
            </a:pPr>
            <a:r>
              <a:rPr sz="1364" spc="-17" dirty="0">
                <a:latin typeface="Verdana"/>
                <a:cs typeface="Verdana"/>
              </a:rPr>
              <a:t>CE</a:t>
            </a:r>
            <a:endParaRPr sz="1364">
              <a:latin typeface="Verdana"/>
              <a:cs typeface="Verdana"/>
            </a:endParaRPr>
          </a:p>
        </p:txBody>
      </p:sp>
      <p:graphicFrame>
        <p:nvGraphicFramePr>
          <p:cNvPr id="24" name="object 24"/>
          <p:cNvGraphicFramePr>
            <a:graphicFrameLocks noGrp="1"/>
          </p:cNvGraphicFramePr>
          <p:nvPr/>
        </p:nvGraphicFramePr>
        <p:xfrm>
          <a:off x="5898802" y="2789292"/>
          <a:ext cx="2059564" cy="850900"/>
        </p:xfrm>
        <a:graphic>
          <a:graphicData uri="http://schemas.openxmlformats.org/drawingml/2006/table">
            <a:tbl>
              <a:tblPr firstRow="1" bandRow="1">
                <a:tableStyleId>{2D5ABB26-0587-4C30-8999-92F81FD0307C}</a:tableStyleId>
              </a:tblPr>
              <a:tblGrid>
                <a:gridCol w="517381">
                  <a:extLst>
                    <a:ext uri="{9D8B030D-6E8A-4147-A177-3AD203B41FA5}">
                      <a16:colId xmlns:a16="http://schemas.microsoft.com/office/drawing/2014/main" val="20000"/>
                    </a:ext>
                  </a:extLst>
                </a:gridCol>
                <a:gridCol w="126422">
                  <a:extLst>
                    <a:ext uri="{9D8B030D-6E8A-4147-A177-3AD203B41FA5}">
                      <a16:colId xmlns:a16="http://schemas.microsoft.com/office/drawing/2014/main" val="20001"/>
                    </a:ext>
                  </a:extLst>
                </a:gridCol>
                <a:gridCol w="385330">
                  <a:extLst>
                    <a:ext uri="{9D8B030D-6E8A-4147-A177-3AD203B41FA5}">
                      <a16:colId xmlns:a16="http://schemas.microsoft.com/office/drawing/2014/main" val="20002"/>
                    </a:ext>
                  </a:extLst>
                </a:gridCol>
                <a:gridCol w="275359">
                  <a:extLst>
                    <a:ext uri="{9D8B030D-6E8A-4147-A177-3AD203B41FA5}">
                      <a16:colId xmlns:a16="http://schemas.microsoft.com/office/drawing/2014/main" val="20003"/>
                    </a:ext>
                  </a:extLst>
                </a:gridCol>
                <a:gridCol w="288347">
                  <a:extLst>
                    <a:ext uri="{9D8B030D-6E8A-4147-A177-3AD203B41FA5}">
                      <a16:colId xmlns:a16="http://schemas.microsoft.com/office/drawing/2014/main" val="20004"/>
                    </a:ext>
                  </a:extLst>
                </a:gridCol>
                <a:gridCol w="274926">
                  <a:extLst>
                    <a:ext uri="{9D8B030D-6E8A-4147-A177-3AD203B41FA5}">
                      <a16:colId xmlns:a16="http://schemas.microsoft.com/office/drawing/2014/main" val="20005"/>
                    </a:ext>
                  </a:extLst>
                </a:gridCol>
                <a:gridCol w="191799">
                  <a:extLst>
                    <a:ext uri="{9D8B030D-6E8A-4147-A177-3AD203B41FA5}">
                      <a16:colId xmlns:a16="http://schemas.microsoft.com/office/drawing/2014/main" val="20006"/>
                    </a:ext>
                  </a:extLst>
                </a:gridCol>
              </a:tblGrid>
              <a:tr h="226868">
                <a:tc>
                  <a:txBody>
                    <a:bodyPr/>
                    <a:lstStyle/>
                    <a:p>
                      <a:pPr algn="ctr">
                        <a:lnSpc>
                          <a:spcPts val="1955"/>
                        </a:lnSpc>
                      </a:pPr>
                      <a:r>
                        <a:rPr sz="1400" spc="-50" dirty="0">
                          <a:latin typeface="Cambria Math"/>
                          <a:cs typeface="Cambria Math"/>
                        </a:rPr>
                        <a:t>1</a:t>
                      </a:r>
                      <a:endParaRPr sz="1400">
                        <a:latin typeface="Cambria Math"/>
                        <a:cs typeface="Cambria Math"/>
                      </a:endParaRPr>
                    </a:p>
                  </a:txBody>
                  <a:tcPr marL="0" marR="0" marT="0" marB="0">
                    <a:lnB w="19050">
                      <a:solidFill>
                        <a:srgbClr val="000000"/>
                      </a:solidFill>
                      <a:prstDash val="sysDash"/>
                    </a:lnB>
                  </a:tcPr>
                </a:tc>
                <a:tc>
                  <a:txBody>
                    <a:bodyPr/>
                    <a:lstStyle/>
                    <a:p>
                      <a:pPr>
                        <a:lnSpc>
                          <a:spcPct val="100000"/>
                        </a:lnSpc>
                      </a:pPr>
                      <a:endParaRPr sz="1200">
                        <a:latin typeface="Times New Roman"/>
                        <a:cs typeface="Times New Roman"/>
                      </a:endParaRPr>
                    </a:p>
                  </a:txBody>
                  <a:tcPr marL="0" marR="0" marT="0" marB="0"/>
                </a:tc>
                <a:tc>
                  <a:txBody>
                    <a:bodyPr/>
                    <a:lstStyle/>
                    <a:p>
                      <a:pPr algn="ctr">
                        <a:lnSpc>
                          <a:spcPts val="2080"/>
                        </a:lnSpc>
                      </a:pPr>
                      <a:r>
                        <a:rPr sz="1400" spc="-50" dirty="0">
                          <a:latin typeface="Cambria Math"/>
                          <a:cs typeface="Cambria Math"/>
                        </a:rPr>
                        <a:t>1</a:t>
                      </a:r>
                      <a:endParaRPr sz="1400">
                        <a:latin typeface="Cambria Math"/>
                        <a:cs typeface="Cambria Math"/>
                      </a:endParaRPr>
                    </a:p>
                  </a:txBody>
                  <a:tcPr marL="0" marR="0" marT="0" marB="0">
                    <a:lnB w="19050">
                      <a:solidFill>
                        <a:srgbClr val="000000"/>
                      </a:solidFill>
                      <a:prstDash val="sysDash"/>
                    </a:lnB>
                  </a:tcPr>
                </a:tc>
                <a:tc>
                  <a:txBody>
                    <a:bodyPr/>
                    <a:lstStyle/>
                    <a:p>
                      <a:pPr>
                        <a:lnSpc>
                          <a:spcPct val="100000"/>
                        </a:lnSpc>
                      </a:pPr>
                      <a:endParaRPr sz="1200">
                        <a:latin typeface="Times New Roman"/>
                        <a:cs typeface="Times New Roman"/>
                      </a:endParaRPr>
                    </a:p>
                  </a:txBody>
                  <a:tcPr marL="0" marR="0" marT="0" marB="0"/>
                </a:tc>
                <a:tc>
                  <a:txBody>
                    <a:bodyPr/>
                    <a:lstStyle/>
                    <a:p>
                      <a:pPr algn="ctr">
                        <a:lnSpc>
                          <a:spcPts val="2080"/>
                        </a:lnSpc>
                      </a:pPr>
                      <a:r>
                        <a:rPr sz="1400" spc="-50" dirty="0">
                          <a:latin typeface="Cambria Math"/>
                          <a:cs typeface="Cambria Math"/>
                        </a:rPr>
                        <a:t>1</a:t>
                      </a:r>
                      <a:endParaRPr sz="1400">
                        <a:latin typeface="Cambria Math"/>
                        <a:cs typeface="Cambria Math"/>
                      </a:endParaRPr>
                    </a:p>
                  </a:txBody>
                  <a:tcPr marL="0" marR="0" marT="0" marB="0">
                    <a:lnB w="19050">
                      <a:solidFill>
                        <a:srgbClr val="000000"/>
                      </a:solidFill>
                      <a:prstDash val="sysDash"/>
                    </a:lnB>
                  </a:tcPr>
                </a:tc>
                <a:tc>
                  <a:txBody>
                    <a:bodyPr/>
                    <a:lstStyle/>
                    <a:p>
                      <a:pPr>
                        <a:lnSpc>
                          <a:spcPct val="100000"/>
                        </a:lnSpc>
                      </a:pPr>
                      <a:endParaRPr sz="1200">
                        <a:latin typeface="Times New Roman"/>
                        <a:cs typeface="Times New Roman"/>
                      </a:endParaRPr>
                    </a:p>
                  </a:txBody>
                  <a:tcPr marL="0" marR="0" marT="0" marB="0"/>
                </a:tc>
                <a:tc>
                  <a:txBody>
                    <a:bodyPr/>
                    <a:lstStyle/>
                    <a:p>
                      <a:pPr algn="ctr">
                        <a:lnSpc>
                          <a:spcPts val="2080"/>
                        </a:lnSpc>
                      </a:pPr>
                      <a:r>
                        <a:rPr sz="1400" spc="-50" dirty="0">
                          <a:latin typeface="Cambria Math"/>
                          <a:cs typeface="Cambria Math"/>
                        </a:rPr>
                        <a:t>1</a:t>
                      </a:r>
                      <a:endParaRPr sz="1400">
                        <a:latin typeface="Cambria Math"/>
                        <a:cs typeface="Cambria Math"/>
                      </a:endParaRPr>
                    </a:p>
                  </a:txBody>
                  <a:tcPr marL="0" marR="0" marT="0" marB="0">
                    <a:lnB w="19050">
                      <a:solidFill>
                        <a:srgbClr val="000000"/>
                      </a:solidFill>
                      <a:prstDash val="sysDash"/>
                    </a:lnB>
                  </a:tcPr>
                </a:tc>
                <a:extLst>
                  <a:ext uri="{0D108BD9-81ED-4DB2-BD59-A6C34878D82A}">
                    <a16:rowId xmlns:a16="http://schemas.microsoft.com/office/drawing/2014/main" val="10000"/>
                  </a:ext>
                </a:extLst>
              </a:tr>
              <a:tr h="203489">
                <a:tc>
                  <a:txBody>
                    <a:bodyPr/>
                    <a:lstStyle/>
                    <a:p>
                      <a:pPr algn="ctr">
                        <a:lnSpc>
                          <a:spcPts val="2305"/>
                        </a:lnSpc>
                      </a:pPr>
                      <a:r>
                        <a:rPr sz="1400" spc="-10" dirty="0">
                          <a:latin typeface="Cambria Math"/>
                          <a:cs typeface="Cambria Math"/>
                        </a:rPr>
                        <a:t>10,000</a:t>
                      </a:r>
                      <a:endParaRPr sz="1400">
                        <a:latin typeface="Cambria Math"/>
                        <a:cs typeface="Cambria Math"/>
                      </a:endParaRPr>
                    </a:p>
                  </a:txBody>
                  <a:tcPr marL="0" marR="0" marT="0" marB="0">
                    <a:lnT w="19050">
                      <a:solidFill>
                        <a:srgbClr val="000000"/>
                      </a:solidFill>
                      <a:prstDash val="sysDash"/>
                    </a:lnT>
                  </a:tcPr>
                </a:tc>
                <a:tc>
                  <a:txBody>
                    <a:bodyPr/>
                    <a:lstStyle/>
                    <a:p>
                      <a:pPr>
                        <a:lnSpc>
                          <a:spcPct val="100000"/>
                        </a:lnSpc>
                      </a:pPr>
                      <a:endParaRPr sz="1200">
                        <a:latin typeface="Times New Roman"/>
                        <a:cs typeface="Times New Roman"/>
                      </a:endParaRPr>
                    </a:p>
                  </a:txBody>
                  <a:tcPr marL="0" marR="0" marT="0" marB="0"/>
                </a:tc>
                <a:tc>
                  <a:txBody>
                    <a:bodyPr/>
                    <a:lstStyle/>
                    <a:p>
                      <a:pPr algn="ctr">
                        <a:lnSpc>
                          <a:spcPts val="2250"/>
                        </a:lnSpc>
                      </a:pPr>
                      <a:r>
                        <a:rPr sz="1400" spc="-20" dirty="0">
                          <a:latin typeface="Cambria Math"/>
                          <a:cs typeface="Cambria Math"/>
                        </a:rPr>
                        <a:t>1000</a:t>
                      </a:r>
                      <a:endParaRPr sz="1400">
                        <a:latin typeface="Cambria Math"/>
                        <a:cs typeface="Cambria Math"/>
                      </a:endParaRPr>
                    </a:p>
                  </a:txBody>
                  <a:tcPr marL="0" marR="0" marT="0" marB="0">
                    <a:lnT w="19050">
                      <a:solidFill>
                        <a:srgbClr val="000000"/>
                      </a:solidFill>
                      <a:prstDash val="sysDash"/>
                    </a:lnT>
                  </a:tcPr>
                </a:tc>
                <a:tc>
                  <a:txBody>
                    <a:bodyPr/>
                    <a:lstStyle/>
                    <a:p>
                      <a:pPr>
                        <a:lnSpc>
                          <a:spcPct val="100000"/>
                        </a:lnSpc>
                      </a:pPr>
                      <a:endParaRPr sz="1200">
                        <a:latin typeface="Times New Roman"/>
                        <a:cs typeface="Times New Roman"/>
                      </a:endParaRPr>
                    </a:p>
                  </a:txBody>
                  <a:tcPr marL="0" marR="0" marT="0" marB="0"/>
                </a:tc>
                <a:tc>
                  <a:txBody>
                    <a:bodyPr/>
                    <a:lstStyle/>
                    <a:p>
                      <a:pPr algn="ctr">
                        <a:lnSpc>
                          <a:spcPts val="2250"/>
                        </a:lnSpc>
                      </a:pPr>
                      <a:r>
                        <a:rPr sz="1400" spc="-30" dirty="0">
                          <a:latin typeface="Cambria Math"/>
                          <a:cs typeface="Cambria Math"/>
                        </a:rPr>
                        <a:t>100</a:t>
                      </a:r>
                      <a:endParaRPr sz="1400">
                        <a:latin typeface="Cambria Math"/>
                        <a:cs typeface="Cambria Math"/>
                      </a:endParaRPr>
                    </a:p>
                  </a:txBody>
                  <a:tcPr marL="0" marR="0" marT="0" marB="0">
                    <a:lnT w="19050">
                      <a:solidFill>
                        <a:srgbClr val="000000"/>
                      </a:solidFill>
                      <a:prstDash val="sysDash"/>
                    </a:lnT>
                  </a:tcPr>
                </a:tc>
                <a:tc>
                  <a:txBody>
                    <a:bodyPr/>
                    <a:lstStyle/>
                    <a:p>
                      <a:pPr>
                        <a:lnSpc>
                          <a:spcPct val="100000"/>
                        </a:lnSpc>
                      </a:pPr>
                      <a:endParaRPr sz="1200">
                        <a:latin typeface="Times New Roman"/>
                        <a:cs typeface="Times New Roman"/>
                      </a:endParaRPr>
                    </a:p>
                  </a:txBody>
                  <a:tcPr marL="0" marR="0" marT="0" marB="0"/>
                </a:tc>
                <a:tc>
                  <a:txBody>
                    <a:bodyPr/>
                    <a:lstStyle/>
                    <a:p>
                      <a:pPr algn="ctr">
                        <a:lnSpc>
                          <a:spcPts val="2250"/>
                        </a:lnSpc>
                      </a:pPr>
                      <a:r>
                        <a:rPr sz="1400" spc="-30" dirty="0">
                          <a:latin typeface="Cambria Math"/>
                          <a:cs typeface="Cambria Math"/>
                        </a:rPr>
                        <a:t>10</a:t>
                      </a:r>
                      <a:endParaRPr sz="1400">
                        <a:latin typeface="Cambria Math"/>
                        <a:cs typeface="Cambria Math"/>
                      </a:endParaRPr>
                    </a:p>
                  </a:txBody>
                  <a:tcPr marL="0" marR="0" marT="0" marB="0">
                    <a:lnT w="19050">
                      <a:solidFill>
                        <a:srgbClr val="000000"/>
                      </a:solidFill>
                      <a:prstDash val="sysDash"/>
                    </a:lnT>
                  </a:tcPr>
                </a:tc>
                <a:extLst>
                  <a:ext uri="{0D108BD9-81ED-4DB2-BD59-A6C34878D82A}">
                    <a16:rowId xmlns:a16="http://schemas.microsoft.com/office/drawing/2014/main" val="10001"/>
                  </a:ext>
                </a:extLst>
              </a:tr>
            </a:tbl>
          </a:graphicData>
        </a:graphic>
      </p:graphicFrame>
      <p:sp>
        <p:nvSpPr>
          <p:cNvPr id="25" name="object 25"/>
          <p:cNvSpPr txBox="1"/>
          <p:nvPr/>
        </p:nvSpPr>
        <p:spPr>
          <a:xfrm>
            <a:off x="8327382" y="2873001"/>
            <a:ext cx="113434" cy="218236"/>
          </a:xfrm>
          <a:prstGeom prst="rect">
            <a:avLst/>
          </a:prstGeom>
        </p:spPr>
        <p:txBody>
          <a:bodyPr vert="horz" wrap="square" lIns="0" tIns="8226" rIns="0" bIns="0" rtlCol="0">
            <a:spAutoFit/>
          </a:bodyPr>
          <a:lstStyle/>
          <a:p>
            <a:pPr marL="8659">
              <a:spcBef>
                <a:spcPts val="65"/>
              </a:spcBef>
            </a:pPr>
            <a:r>
              <a:rPr sz="1364" spc="-34" dirty="0">
                <a:latin typeface="Cambria Math"/>
                <a:cs typeface="Cambria Math"/>
              </a:rPr>
              <a:t>1</a:t>
            </a:r>
            <a:endParaRPr sz="1364">
              <a:latin typeface="Cambria Math"/>
              <a:cs typeface="Cambria Math"/>
            </a:endParaRPr>
          </a:p>
        </p:txBody>
      </p:sp>
      <p:sp>
        <p:nvSpPr>
          <p:cNvPr id="26" name="object 26"/>
          <p:cNvSpPr txBox="1"/>
          <p:nvPr/>
        </p:nvSpPr>
        <p:spPr>
          <a:xfrm>
            <a:off x="7473162" y="1998798"/>
            <a:ext cx="1281112" cy="218236"/>
          </a:xfrm>
          <a:prstGeom prst="rect">
            <a:avLst/>
          </a:prstGeom>
        </p:spPr>
        <p:txBody>
          <a:bodyPr vert="horz" wrap="square" lIns="0" tIns="8226" rIns="0" bIns="0" rtlCol="0">
            <a:spAutoFit/>
          </a:bodyPr>
          <a:lstStyle/>
          <a:p>
            <a:pPr marL="25977">
              <a:spcBef>
                <a:spcPts val="65"/>
              </a:spcBef>
            </a:pPr>
            <a:r>
              <a:rPr sz="1364" i="1" spc="-7" dirty="0">
                <a:solidFill>
                  <a:srgbClr val="C00000"/>
                </a:solidFill>
                <a:latin typeface="Verdana"/>
                <a:cs typeface="Verdana"/>
              </a:rPr>
              <a:t>CE</a:t>
            </a:r>
            <a:r>
              <a:rPr sz="1330" i="1" spc="-10" baseline="-21367" dirty="0">
                <a:solidFill>
                  <a:srgbClr val="C00000"/>
                </a:solidFill>
                <a:latin typeface="Verdana"/>
                <a:cs typeface="Verdana"/>
              </a:rPr>
              <a:t>peak</a:t>
            </a:r>
            <a:r>
              <a:rPr sz="1364" i="1" spc="-7" dirty="0">
                <a:solidFill>
                  <a:srgbClr val="C00000"/>
                </a:solidFill>
                <a:latin typeface="Verdana"/>
                <a:cs typeface="Verdana"/>
              </a:rPr>
              <a:t>=99.9%</a:t>
            </a:r>
            <a:endParaRPr sz="1364">
              <a:latin typeface="Verdana"/>
              <a:cs typeface="Verdana"/>
            </a:endParaRPr>
          </a:p>
        </p:txBody>
      </p:sp>
      <p:sp>
        <p:nvSpPr>
          <p:cNvPr id="27" name="object 27"/>
          <p:cNvSpPr txBox="1"/>
          <p:nvPr/>
        </p:nvSpPr>
        <p:spPr>
          <a:xfrm>
            <a:off x="7164175" y="1656415"/>
            <a:ext cx="707448" cy="218236"/>
          </a:xfrm>
          <a:prstGeom prst="rect">
            <a:avLst/>
          </a:prstGeom>
        </p:spPr>
        <p:txBody>
          <a:bodyPr vert="horz" wrap="square" lIns="0" tIns="8226" rIns="0" bIns="0" rtlCol="0">
            <a:spAutoFit/>
          </a:bodyPr>
          <a:lstStyle/>
          <a:p>
            <a:pPr marL="8659">
              <a:spcBef>
                <a:spcPts val="65"/>
              </a:spcBef>
            </a:pPr>
            <a:r>
              <a:rPr sz="1364" i="1" spc="-7" dirty="0">
                <a:solidFill>
                  <a:srgbClr val="0000FF"/>
                </a:solidFill>
                <a:latin typeface="Verdana"/>
                <a:cs typeface="Verdana"/>
              </a:rPr>
              <a:t>99.99%</a:t>
            </a:r>
            <a:endParaRPr sz="1364">
              <a:latin typeface="Verdana"/>
              <a:cs typeface="Verdana"/>
            </a:endParaRPr>
          </a:p>
        </p:txBody>
      </p:sp>
      <p:sp>
        <p:nvSpPr>
          <p:cNvPr id="28" name="object 28"/>
          <p:cNvSpPr txBox="1"/>
          <p:nvPr/>
        </p:nvSpPr>
        <p:spPr>
          <a:xfrm>
            <a:off x="6617468" y="1494824"/>
            <a:ext cx="817418" cy="218236"/>
          </a:xfrm>
          <a:prstGeom prst="rect">
            <a:avLst/>
          </a:prstGeom>
        </p:spPr>
        <p:txBody>
          <a:bodyPr vert="horz" wrap="square" lIns="0" tIns="8226" rIns="0" bIns="0" rtlCol="0">
            <a:spAutoFit/>
          </a:bodyPr>
          <a:lstStyle/>
          <a:p>
            <a:pPr marL="8659">
              <a:spcBef>
                <a:spcPts val="65"/>
              </a:spcBef>
            </a:pPr>
            <a:r>
              <a:rPr sz="1364" i="1" spc="-7" dirty="0">
                <a:solidFill>
                  <a:srgbClr val="00FF00"/>
                </a:solidFill>
                <a:latin typeface="Verdana"/>
                <a:cs typeface="Verdana"/>
              </a:rPr>
              <a:t>99.999%</a:t>
            </a:r>
            <a:endParaRPr sz="1364">
              <a:latin typeface="Verdana"/>
              <a:cs typeface="Verdana"/>
            </a:endParaRPr>
          </a:p>
        </p:txBody>
      </p:sp>
      <p:sp>
        <p:nvSpPr>
          <p:cNvPr id="29" name="object 29"/>
          <p:cNvSpPr txBox="1"/>
          <p:nvPr/>
        </p:nvSpPr>
        <p:spPr>
          <a:xfrm>
            <a:off x="3151943" y="1435139"/>
            <a:ext cx="492702" cy="260479"/>
          </a:xfrm>
          <a:prstGeom prst="rect">
            <a:avLst/>
          </a:prstGeom>
        </p:spPr>
        <p:txBody>
          <a:bodyPr vert="horz" wrap="square" lIns="0" tIns="8659" rIns="0" bIns="0" rtlCol="0">
            <a:spAutoFit/>
          </a:bodyPr>
          <a:lstStyle/>
          <a:p>
            <a:pPr marL="8659">
              <a:spcBef>
                <a:spcPts val="68"/>
              </a:spcBef>
            </a:pPr>
            <a:r>
              <a:rPr sz="1636" dirty="0">
                <a:latin typeface="Cambria Math"/>
                <a:cs typeface="Cambria Math"/>
              </a:rPr>
              <a:t>𝐶𝐸</a:t>
            </a:r>
            <a:r>
              <a:rPr sz="1636" spc="136" dirty="0">
                <a:latin typeface="Cambria Math"/>
                <a:cs typeface="Cambria Math"/>
              </a:rPr>
              <a:t> </a:t>
            </a:r>
            <a:r>
              <a:rPr sz="1636" spc="-34" dirty="0">
                <a:latin typeface="Cambria Math"/>
                <a:cs typeface="Cambria Math"/>
              </a:rPr>
              <a:t>=</a:t>
            </a:r>
            <a:endParaRPr sz="1636">
              <a:latin typeface="Cambria Math"/>
              <a:cs typeface="Cambria Math"/>
            </a:endParaRPr>
          </a:p>
        </p:txBody>
      </p:sp>
      <p:sp>
        <p:nvSpPr>
          <p:cNvPr id="30" name="object 30"/>
          <p:cNvSpPr/>
          <p:nvPr/>
        </p:nvSpPr>
        <p:spPr>
          <a:xfrm>
            <a:off x="3693136" y="1585634"/>
            <a:ext cx="823047" cy="13855"/>
          </a:xfrm>
          <a:custGeom>
            <a:avLst/>
            <a:gdLst/>
            <a:ahLst/>
            <a:cxnLst/>
            <a:rect l="l" t="t" r="r" b="b"/>
            <a:pathLst>
              <a:path w="1207135" h="20319">
                <a:moveTo>
                  <a:pt x="1207008" y="0"/>
                </a:moveTo>
                <a:lnTo>
                  <a:pt x="0" y="0"/>
                </a:lnTo>
                <a:lnTo>
                  <a:pt x="0" y="19812"/>
                </a:lnTo>
                <a:lnTo>
                  <a:pt x="1207008" y="19812"/>
                </a:lnTo>
                <a:lnTo>
                  <a:pt x="1207008" y="0"/>
                </a:lnTo>
                <a:close/>
              </a:path>
            </a:pathLst>
          </a:custGeom>
          <a:solidFill>
            <a:srgbClr val="000000"/>
          </a:solidFill>
        </p:spPr>
        <p:txBody>
          <a:bodyPr wrap="square" lIns="0" tIns="0" rIns="0" bIns="0" rtlCol="0"/>
          <a:lstStyle/>
          <a:p>
            <a:endParaRPr sz="1227"/>
          </a:p>
        </p:txBody>
      </p:sp>
      <p:sp>
        <p:nvSpPr>
          <p:cNvPr id="31" name="object 31"/>
          <p:cNvSpPr txBox="1"/>
          <p:nvPr/>
        </p:nvSpPr>
        <p:spPr>
          <a:xfrm>
            <a:off x="3898876" y="1329152"/>
            <a:ext cx="406111" cy="260479"/>
          </a:xfrm>
          <a:prstGeom prst="rect">
            <a:avLst/>
          </a:prstGeom>
        </p:spPr>
        <p:txBody>
          <a:bodyPr vert="horz" wrap="square" lIns="0" tIns="8659" rIns="0" bIns="0" rtlCol="0">
            <a:spAutoFit/>
          </a:bodyPr>
          <a:lstStyle/>
          <a:p>
            <a:pPr marL="25977">
              <a:spcBef>
                <a:spcPts val="68"/>
              </a:spcBef>
            </a:pPr>
            <a:r>
              <a:rPr sz="2454" spc="-10" baseline="13888" dirty="0">
                <a:latin typeface="Cambria Math"/>
                <a:cs typeface="Cambria Math"/>
              </a:rPr>
              <a:t>𝐼</a:t>
            </a:r>
            <a:r>
              <a:rPr sz="1091" spc="-7" dirty="0">
                <a:latin typeface="Cambria Math"/>
                <a:cs typeface="Cambria Math"/>
              </a:rPr>
              <a:t>𝑙𝑜𝑎𝑑</a:t>
            </a:r>
            <a:endParaRPr sz="1091">
              <a:latin typeface="Cambria Math"/>
              <a:cs typeface="Cambria Math"/>
            </a:endParaRPr>
          </a:p>
        </p:txBody>
      </p:sp>
      <p:sp>
        <p:nvSpPr>
          <p:cNvPr id="32" name="object 32"/>
          <p:cNvSpPr txBox="1"/>
          <p:nvPr/>
        </p:nvSpPr>
        <p:spPr>
          <a:xfrm>
            <a:off x="3667159" y="1616980"/>
            <a:ext cx="861147" cy="260479"/>
          </a:xfrm>
          <a:prstGeom prst="rect">
            <a:avLst/>
          </a:prstGeom>
        </p:spPr>
        <p:txBody>
          <a:bodyPr vert="horz" wrap="square" lIns="0" tIns="8659" rIns="0" bIns="0" rtlCol="0">
            <a:spAutoFit/>
          </a:bodyPr>
          <a:lstStyle/>
          <a:p>
            <a:pPr marL="25977">
              <a:spcBef>
                <a:spcPts val="68"/>
              </a:spcBef>
            </a:pPr>
            <a:r>
              <a:rPr sz="2454" baseline="11574" dirty="0">
                <a:latin typeface="Cambria Math"/>
                <a:cs typeface="Cambria Math"/>
              </a:rPr>
              <a:t>𝐼</a:t>
            </a:r>
            <a:r>
              <a:rPr sz="1636" baseline="-3472" dirty="0">
                <a:latin typeface="Cambria Math"/>
                <a:cs typeface="Cambria Math"/>
              </a:rPr>
              <a:t>𝑞</a:t>
            </a:r>
            <a:r>
              <a:rPr sz="1636" spc="250" baseline="-3472" dirty="0">
                <a:latin typeface="Cambria Math"/>
                <a:cs typeface="Cambria Math"/>
              </a:rPr>
              <a:t> </a:t>
            </a:r>
            <a:r>
              <a:rPr sz="2454" baseline="11574" dirty="0">
                <a:latin typeface="Cambria Math"/>
                <a:cs typeface="Cambria Math"/>
              </a:rPr>
              <a:t>+</a:t>
            </a:r>
            <a:r>
              <a:rPr sz="2454" spc="-10" baseline="11574" dirty="0">
                <a:latin typeface="Cambria Math"/>
                <a:cs typeface="Cambria Math"/>
              </a:rPr>
              <a:t> 𝐼</a:t>
            </a:r>
            <a:r>
              <a:rPr sz="1193" spc="-7" dirty="0">
                <a:latin typeface="Cambria Math"/>
                <a:cs typeface="Cambria Math"/>
              </a:rPr>
              <a:t>𝑙𝑜𝑎𝑑</a:t>
            </a:r>
            <a:endParaRPr sz="1193">
              <a:latin typeface="Cambria Math"/>
              <a:cs typeface="Cambria Math"/>
            </a:endParaRPr>
          </a:p>
        </p:txBody>
      </p:sp>
      <p:sp>
        <p:nvSpPr>
          <p:cNvPr id="33" name="object 33"/>
          <p:cNvSpPr txBox="1"/>
          <p:nvPr/>
        </p:nvSpPr>
        <p:spPr>
          <a:xfrm>
            <a:off x="2777312" y="2310022"/>
            <a:ext cx="885825" cy="260479"/>
          </a:xfrm>
          <a:prstGeom prst="rect">
            <a:avLst/>
          </a:prstGeom>
        </p:spPr>
        <p:txBody>
          <a:bodyPr vert="horz" wrap="square" lIns="0" tIns="8659" rIns="0" bIns="0" rtlCol="0">
            <a:spAutoFit/>
          </a:bodyPr>
          <a:lstStyle/>
          <a:p>
            <a:pPr marL="25977">
              <a:spcBef>
                <a:spcPts val="68"/>
              </a:spcBef>
            </a:pPr>
            <a:r>
              <a:rPr sz="2454" baseline="11574" dirty="0">
                <a:latin typeface="Cambria Math"/>
                <a:cs typeface="Cambria Math"/>
              </a:rPr>
              <a:t>𝐶𝐸</a:t>
            </a:r>
            <a:r>
              <a:rPr sz="1193" dirty="0">
                <a:latin typeface="Cambria Math"/>
                <a:cs typeface="Cambria Math"/>
              </a:rPr>
              <a:t>𝑝𝑒𝑎𝑘</a:t>
            </a:r>
            <a:r>
              <a:rPr sz="1193" spc="102" dirty="0">
                <a:latin typeface="Cambria Math"/>
                <a:cs typeface="Cambria Math"/>
              </a:rPr>
              <a:t>  </a:t>
            </a:r>
            <a:r>
              <a:rPr sz="2454" spc="-51" baseline="11574" dirty="0">
                <a:latin typeface="Cambria Math"/>
                <a:cs typeface="Cambria Math"/>
              </a:rPr>
              <a:t>=</a:t>
            </a:r>
            <a:endParaRPr sz="2454" baseline="11574">
              <a:latin typeface="Cambria Math"/>
              <a:cs typeface="Cambria Math"/>
            </a:endParaRPr>
          </a:p>
        </p:txBody>
      </p:sp>
      <p:sp>
        <p:nvSpPr>
          <p:cNvPr id="34" name="object 34"/>
          <p:cNvSpPr/>
          <p:nvPr/>
        </p:nvSpPr>
        <p:spPr>
          <a:xfrm>
            <a:off x="3694310" y="2417915"/>
            <a:ext cx="1185430" cy="13855"/>
          </a:xfrm>
          <a:custGeom>
            <a:avLst/>
            <a:gdLst/>
            <a:ahLst/>
            <a:cxnLst/>
            <a:rect l="l" t="t" r="r" b="b"/>
            <a:pathLst>
              <a:path w="1738629" h="20320">
                <a:moveTo>
                  <a:pt x="1738122" y="0"/>
                </a:moveTo>
                <a:lnTo>
                  <a:pt x="0" y="0"/>
                </a:lnTo>
                <a:lnTo>
                  <a:pt x="0" y="19812"/>
                </a:lnTo>
                <a:lnTo>
                  <a:pt x="1738122" y="19812"/>
                </a:lnTo>
                <a:lnTo>
                  <a:pt x="1738122" y="0"/>
                </a:lnTo>
                <a:close/>
              </a:path>
            </a:pathLst>
          </a:custGeom>
          <a:solidFill>
            <a:srgbClr val="000000"/>
          </a:solidFill>
        </p:spPr>
        <p:txBody>
          <a:bodyPr wrap="square" lIns="0" tIns="0" rIns="0" bIns="0" rtlCol="0"/>
          <a:lstStyle/>
          <a:p>
            <a:endParaRPr sz="1227"/>
          </a:p>
        </p:txBody>
      </p:sp>
      <p:sp>
        <p:nvSpPr>
          <p:cNvPr id="35" name="object 35"/>
          <p:cNvSpPr txBox="1"/>
          <p:nvPr/>
        </p:nvSpPr>
        <p:spPr>
          <a:xfrm>
            <a:off x="3930876" y="2109997"/>
            <a:ext cx="96116" cy="260479"/>
          </a:xfrm>
          <a:prstGeom prst="rect">
            <a:avLst/>
          </a:prstGeom>
        </p:spPr>
        <p:txBody>
          <a:bodyPr vert="horz" wrap="square" lIns="0" tIns="8659" rIns="0" bIns="0" rtlCol="0">
            <a:spAutoFit/>
          </a:bodyPr>
          <a:lstStyle/>
          <a:p>
            <a:pPr marL="8659">
              <a:spcBef>
                <a:spcPts val="68"/>
              </a:spcBef>
            </a:pPr>
            <a:r>
              <a:rPr sz="1636" spc="-34" dirty="0">
                <a:latin typeface="Cambria Math"/>
                <a:cs typeface="Cambria Math"/>
              </a:rPr>
              <a:t>𝐼</a:t>
            </a:r>
            <a:endParaRPr sz="1636">
              <a:latin typeface="Cambria Math"/>
              <a:cs typeface="Cambria Math"/>
            </a:endParaRPr>
          </a:p>
        </p:txBody>
      </p:sp>
      <p:sp>
        <p:nvSpPr>
          <p:cNvPr id="36" name="object 36"/>
          <p:cNvSpPr txBox="1"/>
          <p:nvPr/>
        </p:nvSpPr>
        <p:spPr>
          <a:xfrm>
            <a:off x="3992529" y="2230532"/>
            <a:ext cx="662420" cy="176610"/>
          </a:xfrm>
          <a:prstGeom prst="rect">
            <a:avLst/>
          </a:prstGeom>
        </p:spPr>
        <p:txBody>
          <a:bodyPr vert="horz" wrap="square" lIns="0" tIns="8659" rIns="0" bIns="0" rtlCol="0">
            <a:spAutoFit/>
          </a:bodyPr>
          <a:lstStyle/>
          <a:p>
            <a:pPr marL="25977">
              <a:spcBef>
                <a:spcPts val="68"/>
              </a:spcBef>
            </a:pPr>
            <a:r>
              <a:rPr sz="1091" dirty="0">
                <a:latin typeface="Cambria Math"/>
                <a:cs typeface="Cambria Math"/>
              </a:rPr>
              <a:t>𝑙𝑜𝑎𝑑</a:t>
            </a:r>
            <a:r>
              <a:rPr sz="1636" baseline="-20833" dirty="0">
                <a:latin typeface="Cambria Math"/>
                <a:cs typeface="Cambria Math"/>
              </a:rPr>
              <a:t>,</a:t>
            </a:r>
            <a:r>
              <a:rPr sz="1636" spc="97" baseline="-20833" dirty="0">
                <a:latin typeface="Cambria Math"/>
                <a:cs typeface="Cambria Math"/>
              </a:rPr>
              <a:t> </a:t>
            </a:r>
            <a:r>
              <a:rPr sz="1091" spc="-17" dirty="0">
                <a:latin typeface="Cambria Math"/>
                <a:cs typeface="Cambria Math"/>
              </a:rPr>
              <a:t>𝑚𝑎𝑥</a:t>
            </a:r>
            <a:endParaRPr sz="1091">
              <a:latin typeface="Cambria Math"/>
              <a:cs typeface="Cambria Math"/>
            </a:endParaRPr>
          </a:p>
        </p:txBody>
      </p:sp>
      <p:sp>
        <p:nvSpPr>
          <p:cNvPr id="37" name="object 37"/>
          <p:cNvSpPr txBox="1"/>
          <p:nvPr/>
        </p:nvSpPr>
        <p:spPr>
          <a:xfrm>
            <a:off x="3668333" y="2449261"/>
            <a:ext cx="1223963" cy="260479"/>
          </a:xfrm>
          <a:prstGeom prst="rect">
            <a:avLst/>
          </a:prstGeom>
        </p:spPr>
        <p:txBody>
          <a:bodyPr vert="horz" wrap="square" lIns="0" tIns="8659" rIns="0" bIns="0" rtlCol="0">
            <a:spAutoFit/>
          </a:bodyPr>
          <a:lstStyle/>
          <a:p>
            <a:pPr marL="25977">
              <a:spcBef>
                <a:spcPts val="68"/>
              </a:spcBef>
            </a:pPr>
            <a:r>
              <a:rPr sz="2454" baseline="11574" dirty="0">
                <a:latin typeface="Cambria Math"/>
                <a:cs typeface="Cambria Math"/>
              </a:rPr>
              <a:t>𝐼</a:t>
            </a:r>
            <a:r>
              <a:rPr sz="1636" baseline="-3472" dirty="0">
                <a:latin typeface="Cambria Math"/>
                <a:cs typeface="Cambria Math"/>
              </a:rPr>
              <a:t>𝑞</a:t>
            </a:r>
            <a:r>
              <a:rPr sz="1636" spc="250" baseline="-3472" dirty="0">
                <a:latin typeface="Cambria Math"/>
                <a:cs typeface="Cambria Math"/>
              </a:rPr>
              <a:t> </a:t>
            </a:r>
            <a:r>
              <a:rPr sz="2454" baseline="11574" dirty="0">
                <a:latin typeface="Cambria Math"/>
                <a:cs typeface="Cambria Math"/>
              </a:rPr>
              <a:t>+</a:t>
            </a:r>
            <a:r>
              <a:rPr sz="2454" spc="-10" baseline="11574" dirty="0">
                <a:latin typeface="Cambria Math"/>
                <a:cs typeface="Cambria Math"/>
              </a:rPr>
              <a:t> </a:t>
            </a:r>
            <a:r>
              <a:rPr sz="2454" spc="61" baseline="11574" dirty="0">
                <a:latin typeface="Cambria Math"/>
                <a:cs typeface="Cambria Math"/>
              </a:rPr>
              <a:t>𝐼</a:t>
            </a:r>
            <a:r>
              <a:rPr sz="1193" spc="41" dirty="0">
                <a:latin typeface="Cambria Math"/>
                <a:cs typeface="Cambria Math"/>
              </a:rPr>
              <a:t>𝑙𝑜𝑎𝑑,𝑚𝑎𝑥</a:t>
            </a:r>
            <a:endParaRPr sz="1193">
              <a:latin typeface="Cambria Math"/>
              <a:cs typeface="Cambria Math"/>
            </a:endParaRPr>
          </a:p>
        </p:txBody>
      </p:sp>
    </p:spTree>
    <p:extLst>
      <p:ext uri="{BB962C8B-B14F-4D97-AF65-F5344CB8AC3E}">
        <p14:creationId xmlns:p14="http://schemas.microsoft.com/office/powerpoint/2010/main" val="24189106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r>
              <a:rPr lang="en-US" dirty="0" smtClean="0"/>
              <a: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2085771" y="1339726"/>
            <a:ext cx="7931558" cy="4826248"/>
          </a:xfrm>
          <a:prstGeom prst="rect">
            <a:avLst/>
          </a:prstGeom>
        </p:spPr>
      </p:pic>
    </p:spTree>
    <p:extLst>
      <p:ext uri="{BB962C8B-B14F-4D97-AF65-F5344CB8AC3E}">
        <p14:creationId xmlns:p14="http://schemas.microsoft.com/office/powerpoint/2010/main" val="10524939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98148" y="237085"/>
            <a:ext cx="7222634" cy="531526"/>
          </a:xfrm>
          <a:prstGeom prst="rect">
            <a:avLst/>
          </a:prstGeom>
        </p:spPr>
        <p:txBody>
          <a:bodyPr vert="horz" wrap="square" lIns="0" tIns="8226" rIns="0" bIns="0" rtlCol="0">
            <a:spAutoFit/>
          </a:bodyPr>
          <a:lstStyle/>
          <a:p>
            <a:pPr marL="8659">
              <a:spcBef>
                <a:spcPts val="65"/>
              </a:spcBef>
            </a:pPr>
            <a:r>
              <a:rPr dirty="0"/>
              <a:t>Dropout</a:t>
            </a:r>
            <a:r>
              <a:rPr spc="-102" dirty="0"/>
              <a:t> </a:t>
            </a:r>
            <a:r>
              <a:rPr dirty="0"/>
              <a:t>Voltage</a:t>
            </a:r>
            <a:r>
              <a:rPr spc="-109" dirty="0"/>
              <a:t> </a:t>
            </a:r>
            <a:r>
              <a:rPr spc="-7" dirty="0"/>
              <a:t>(V</a:t>
            </a:r>
            <a:r>
              <a:rPr sz="2557" spc="-10" baseline="-21111" dirty="0"/>
              <a:t>dropout</a:t>
            </a:r>
            <a:r>
              <a:rPr sz="2591" spc="-7" dirty="0"/>
              <a:t>)</a:t>
            </a:r>
            <a:endParaRPr sz="2591"/>
          </a:p>
        </p:txBody>
      </p:sp>
      <p:grpSp>
        <p:nvGrpSpPr>
          <p:cNvPr id="3" name="object 3"/>
          <p:cNvGrpSpPr/>
          <p:nvPr/>
        </p:nvGrpSpPr>
        <p:grpSpPr>
          <a:xfrm>
            <a:off x="4537883" y="1943533"/>
            <a:ext cx="276658" cy="447242"/>
            <a:chOff x="3810761" y="2850514"/>
            <a:chExt cx="405765" cy="655955"/>
          </a:xfrm>
        </p:grpSpPr>
        <p:sp>
          <p:nvSpPr>
            <p:cNvPr id="4" name="object 4"/>
            <p:cNvSpPr/>
            <p:nvPr/>
          </p:nvSpPr>
          <p:spPr>
            <a:xfrm>
              <a:off x="4082795" y="3059429"/>
              <a:ext cx="119380" cy="234950"/>
            </a:xfrm>
            <a:custGeom>
              <a:avLst/>
              <a:gdLst/>
              <a:ahLst/>
              <a:cxnLst/>
              <a:rect l="l" t="t" r="r" b="b"/>
              <a:pathLst>
                <a:path w="119379" h="234950">
                  <a:moveTo>
                    <a:pt x="0" y="234696"/>
                  </a:moveTo>
                  <a:lnTo>
                    <a:pt x="0" y="0"/>
                  </a:lnTo>
                </a:path>
                <a:path w="119379" h="234950">
                  <a:moveTo>
                    <a:pt x="0" y="234696"/>
                  </a:moveTo>
                  <a:lnTo>
                    <a:pt x="118872" y="234696"/>
                  </a:lnTo>
                </a:path>
              </a:pathLst>
            </a:custGeom>
            <a:ln w="28956">
              <a:solidFill>
                <a:srgbClr val="000000"/>
              </a:solidFill>
            </a:ln>
          </p:spPr>
          <p:txBody>
            <a:bodyPr wrap="square" lIns="0" tIns="0" rIns="0" bIns="0" rtlCol="0"/>
            <a:lstStyle/>
            <a:p>
              <a:endParaRPr sz="1227"/>
            </a:p>
          </p:txBody>
        </p:sp>
        <p:sp>
          <p:nvSpPr>
            <p:cNvPr id="5" name="object 5"/>
            <p:cNvSpPr/>
            <p:nvPr/>
          </p:nvSpPr>
          <p:spPr>
            <a:xfrm>
              <a:off x="4082795" y="3059429"/>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endParaRPr sz="1227"/>
            </a:p>
          </p:txBody>
        </p:sp>
        <p:sp>
          <p:nvSpPr>
            <p:cNvPr id="6" name="object 6"/>
            <p:cNvSpPr/>
            <p:nvPr/>
          </p:nvSpPr>
          <p:spPr>
            <a:xfrm>
              <a:off x="4201667" y="2865119"/>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endParaRPr sz="1227"/>
            </a:p>
          </p:txBody>
        </p:sp>
        <p:sp>
          <p:nvSpPr>
            <p:cNvPr id="7" name="object 7"/>
            <p:cNvSpPr/>
            <p:nvPr/>
          </p:nvSpPr>
          <p:spPr>
            <a:xfrm>
              <a:off x="4201667" y="3295649"/>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pic>
          <p:nvPicPr>
            <p:cNvPr id="8" name="object 8"/>
            <p:cNvPicPr/>
            <p:nvPr/>
          </p:nvPicPr>
          <p:blipFill>
            <a:blip r:embed="rId2" cstate="print"/>
            <a:stretch>
              <a:fillRect/>
            </a:stretch>
          </p:blipFill>
          <p:spPr>
            <a:xfrm>
              <a:off x="3810761" y="3063239"/>
              <a:ext cx="208787" cy="233934"/>
            </a:xfrm>
            <a:prstGeom prst="rect">
              <a:avLst/>
            </a:prstGeom>
          </p:spPr>
        </p:pic>
      </p:grpSp>
      <p:sp>
        <p:nvSpPr>
          <p:cNvPr id="9" name="object 9"/>
          <p:cNvSpPr txBox="1"/>
          <p:nvPr/>
        </p:nvSpPr>
        <p:spPr>
          <a:xfrm>
            <a:off x="5173342" y="1338266"/>
            <a:ext cx="253278" cy="197641"/>
          </a:xfrm>
          <a:prstGeom prst="rect">
            <a:avLst/>
          </a:prstGeom>
        </p:spPr>
        <p:txBody>
          <a:bodyPr vert="horz" wrap="square" lIns="0" tIns="8659" rIns="0" bIns="0" rtlCol="0">
            <a:spAutoFit/>
          </a:bodyPr>
          <a:lstStyle/>
          <a:p>
            <a:pPr marL="25977">
              <a:spcBef>
                <a:spcPts val="68"/>
              </a:spcBef>
            </a:pPr>
            <a:r>
              <a:rPr sz="1841" spc="-25" baseline="13888" dirty="0">
                <a:latin typeface="Verdana"/>
                <a:cs typeface="Verdana"/>
              </a:rPr>
              <a:t>V</a:t>
            </a:r>
            <a:r>
              <a:rPr sz="818" spc="-17" dirty="0">
                <a:latin typeface="Verdana"/>
                <a:cs typeface="Verdana"/>
              </a:rPr>
              <a:t>in</a:t>
            </a:r>
            <a:endParaRPr sz="818">
              <a:latin typeface="Verdana"/>
              <a:cs typeface="Verdana"/>
            </a:endParaRPr>
          </a:p>
        </p:txBody>
      </p:sp>
      <p:grpSp>
        <p:nvGrpSpPr>
          <p:cNvPr id="10" name="object 10"/>
          <p:cNvGrpSpPr/>
          <p:nvPr/>
        </p:nvGrpSpPr>
        <p:grpSpPr>
          <a:xfrm>
            <a:off x="3690418" y="1978863"/>
            <a:ext cx="861147" cy="365414"/>
            <a:chOff x="2567813" y="2902332"/>
            <a:chExt cx="1263015" cy="535940"/>
          </a:xfrm>
        </p:grpSpPr>
        <p:sp>
          <p:nvSpPr>
            <p:cNvPr id="11" name="object 11"/>
            <p:cNvSpPr/>
            <p:nvPr/>
          </p:nvSpPr>
          <p:spPr>
            <a:xfrm>
              <a:off x="3351276" y="3179064"/>
              <a:ext cx="464820" cy="0"/>
            </a:xfrm>
            <a:custGeom>
              <a:avLst/>
              <a:gdLst/>
              <a:ahLst/>
              <a:cxnLst/>
              <a:rect l="l" t="t" r="r" b="b"/>
              <a:pathLst>
                <a:path w="464820">
                  <a:moveTo>
                    <a:pt x="0" y="0"/>
                  </a:moveTo>
                  <a:lnTo>
                    <a:pt x="464820" y="0"/>
                  </a:lnTo>
                </a:path>
              </a:pathLst>
            </a:custGeom>
            <a:ln w="28956">
              <a:solidFill>
                <a:srgbClr val="000000"/>
              </a:solidFill>
            </a:ln>
          </p:spPr>
          <p:txBody>
            <a:bodyPr wrap="square" lIns="0" tIns="0" rIns="0" bIns="0" rtlCol="0"/>
            <a:lstStyle/>
            <a:p>
              <a:endParaRPr sz="1227"/>
            </a:p>
          </p:txBody>
        </p:sp>
        <p:sp>
          <p:nvSpPr>
            <p:cNvPr id="12" name="object 12"/>
            <p:cNvSpPr/>
            <p:nvPr/>
          </p:nvSpPr>
          <p:spPr>
            <a:xfrm>
              <a:off x="2582418" y="2916937"/>
              <a:ext cx="755650" cy="506730"/>
            </a:xfrm>
            <a:custGeom>
              <a:avLst/>
              <a:gdLst/>
              <a:ahLst/>
              <a:cxnLst/>
              <a:rect l="l" t="t" r="r" b="b"/>
              <a:pathLst>
                <a:path w="755650" h="506729">
                  <a:moveTo>
                    <a:pt x="0" y="84454"/>
                  </a:moveTo>
                  <a:lnTo>
                    <a:pt x="6636" y="51579"/>
                  </a:lnTo>
                  <a:lnTo>
                    <a:pt x="24734" y="24734"/>
                  </a:lnTo>
                  <a:lnTo>
                    <a:pt x="51579" y="6636"/>
                  </a:lnTo>
                  <a:lnTo>
                    <a:pt x="84455" y="0"/>
                  </a:lnTo>
                  <a:lnTo>
                    <a:pt x="670687" y="0"/>
                  </a:lnTo>
                  <a:lnTo>
                    <a:pt x="703562" y="6636"/>
                  </a:lnTo>
                  <a:lnTo>
                    <a:pt x="730407" y="24734"/>
                  </a:lnTo>
                  <a:lnTo>
                    <a:pt x="748505" y="51579"/>
                  </a:lnTo>
                  <a:lnTo>
                    <a:pt x="755142" y="84454"/>
                  </a:lnTo>
                  <a:lnTo>
                    <a:pt x="755142" y="422274"/>
                  </a:lnTo>
                  <a:lnTo>
                    <a:pt x="748505" y="455150"/>
                  </a:lnTo>
                  <a:lnTo>
                    <a:pt x="730407" y="481995"/>
                  </a:lnTo>
                  <a:lnTo>
                    <a:pt x="703562" y="500093"/>
                  </a:lnTo>
                  <a:lnTo>
                    <a:pt x="670687" y="506729"/>
                  </a:lnTo>
                  <a:lnTo>
                    <a:pt x="84455" y="506729"/>
                  </a:lnTo>
                  <a:lnTo>
                    <a:pt x="51579" y="500093"/>
                  </a:lnTo>
                  <a:lnTo>
                    <a:pt x="24734" y="481995"/>
                  </a:lnTo>
                  <a:lnTo>
                    <a:pt x="6636" y="455150"/>
                  </a:lnTo>
                  <a:lnTo>
                    <a:pt x="0" y="422274"/>
                  </a:lnTo>
                  <a:lnTo>
                    <a:pt x="0" y="84454"/>
                  </a:lnTo>
                  <a:close/>
                </a:path>
              </a:pathLst>
            </a:custGeom>
            <a:ln w="28956">
              <a:solidFill>
                <a:srgbClr val="000000"/>
              </a:solidFill>
            </a:ln>
          </p:spPr>
          <p:txBody>
            <a:bodyPr wrap="square" lIns="0" tIns="0" rIns="0" bIns="0" rtlCol="0"/>
            <a:lstStyle/>
            <a:p>
              <a:endParaRPr sz="1227"/>
            </a:p>
          </p:txBody>
        </p:sp>
      </p:grpSp>
      <p:sp>
        <p:nvSpPr>
          <p:cNvPr id="13" name="object 13"/>
          <p:cNvSpPr txBox="1"/>
          <p:nvPr/>
        </p:nvSpPr>
        <p:spPr>
          <a:xfrm>
            <a:off x="3781035" y="2014132"/>
            <a:ext cx="353724" cy="260479"/>
          </a:xfrm>
          <a:prstGeom prst="rect">
            <a:avLst/>
          </a:prstGeom>
        </p:spPr>
        <p:txBody>
          <a:bodyPr vert="horz" wrap="square" lIns="0" tIns="8659" rIns="0" bIns="0" rtlCol="0">
            <a:spAutoFit/>
          </a:bodyPr>
          <a:lstStyle/>
          <a:p>
            <a:pPr marL="8659">
              <a:spcBef>
                <a:spcPts val="68"/>
              </a:spcBef>
            </a:pPr>
            <a:r>
              <a:rPr sz="1636" spc="-14" dirty="0">
                <a:latin typeface="Verdana"/>
                <a:cs typeface="Verdana"/>
              </a:rPr>
              <a:t>ctrl</a:t>
            </a:r>
            <a:endParaRPr sz="1636">
              <a:latin typeface="Verdana"/>
              <a:cs typeface="Verdana"/>
            </a:endParaRPr>
          </a:p>
        </p:txBody>
      </p:sp>
      <p:sp>
        <p:nvSpPr>
          <p:cNvPr id="14" name="object 14"/>
          <p:cNvSpPr/>
          <p:nvPr/>
        </p:nvSpPr>
        <p:spPr>
          <a:xfrm>
            <a:off x="2876895" y="2057920"/>
            <a:ext cx="299605" cy="2165"/>
          </a:xfrm>
          <a:custGeom>
            <a:avLst/>
            <a:gdLst/>
            <a:ahLst/>
            <a:cxnLst/>
            <a:rect l="l" t="t" r="r" b="b"/>
            <a:pathLst>
              <a:path w="439419" h="3175">
                <a:moveTo>
                  <a:pt x="0" y="0"/>
                </a:moveTo>
                <a:lnTo>
                  <a:pt x="438912" y="3048"/>
                </a:lnTo>
              </a:path>
            </a:pathLst>
          </a:custGeom>
          <a:ln w="28955">
            <a:solidFill>
              <a:srgbClr val="000000"/>
            </a:solidFill>
          </a:ln>
        </p:spPr>
        <p:txBody>
          <a:bodyPr wrap="square" lIns="0" tIns="0" rIns="0" bIns="0" rtlCol="0"/>
          <a:lstStyle/>
          <a:p>
            <a:endParaRPr sz="1227"/>
          </a:p>
        </p:txBody>
      </p:sp>
      <p:sp>
        <p:nvSpPr>
          <p:cNvPr id="15" name="object 15"/>
          <p:cNvSpPr txBox="1"/>
          <p:nvPr/>
        </p:nvSpPr>
        <p:spPr>
          <a:xfrm>
            <a:off x="2797882" y="1806018"/>
            <a:ext cx="124258" cy="197578"/>
          </a:xfrm>
          <a:prstGeom prst="rect">
            <a:avLst/>
          </a:prstGeom>
        </p:spPr>
        <p:txBody>
          <a:bodyPr vert="horz" wrap="square" lIns="0" tIns="8659" rIns="0" bIns="0" rtlCol="0">
            <a:spAutoFit/>
          </a:bodyPr>
          <a:lstStyle/>
          <a:p>
            <a:pPr marL="8659">
              <a:spcBef>
                <a:spcPts val="68"/>
              </a:spcBef>
            </a:pPr>
            <a:r>
              <a:rPr sz="1227" spc="-34" dirty="0">
                <a:latin typeface="Verdana"/>
                <a:cs typeface="Verdana"/>
              </a:rPr>
              <a:t>V</a:t>
            </a:r>
            <a:endParaRPr sz="1227">
              <a:latin typeface="Verdana"/>
              <a:cs typeface="Verdana"/>
            </a:endParaRPr>
          </a:p>
        </p:txBody>
      </p:sp>
      <p:sp>
        <p:nvSpPr>
          <p:cNvPr id="16" name="object 16"/>
          <p:cNvSpPr txBox="1"/>
          <p:nvPr/>
        </p:nvSpPr>
        <p:spPr>
          <a:xfrm>
            <a:off x="2904389" y="1896419"/>
            <a:ext cx="160193" cy="134612"/>
          </a:xfrm>
          <a:prstGeom prst="rect">
            <a:avLst/>
          </a:prstGeom>
        </p:spPr>
        <p:txBody>
          <a:bodyPr vert="horz" wrap="square" lIns="0" tIns="8659" rIns="0" bIns="0" rtlCol="0">
            <a:spAutoFit/>
          </a:bodyPr>
          <a:lstStyle/>
          <a:p>
            <a:pPr marL="8659">
              <a:spcBef>
                <a:spcPts val="68"/>
              </a:spcBef>
            </a:pPr>
            <a:r>
              <a:rPr sz="818" spc="-17" dirty="0">
                <a:latin typeface="Verdana"/>
                <a:cs typeface="Verdana"/>
              </a:rPr>
              <a:t>ref</a:t>
            </a:r>
            <a:endParaRPr sz="818">
              <a:latin typeface="Verdana"/>
              <a:cs typeface="Verdana"/>
            </a:endParaRPr>
          </a:p>
        </p:txBody>
      </p:sp>
      <p:grpSp>
        <p:nvGrpSpPr>
          <p:cNvPr id="17" name="object 17"/>
          <p:cNvGrpSpPr/>
          <p:nvPr/>
        </p:nvGrpSpPr>
        <p:grpSpPr>
          <a:xfrm>
            <a:off x="4119129" y="3037783"/>
            <a:ext cx="210416" cy="513917"/>
            <a:chOff x="3196589" y="4455414"/>
            <a:chExt cx="308610" cy="753745"/>
          </a:xfrm>
        </p:grpSpPr>
        <p:sp>
          <p:nvSpPr>
            <p:cNvPr id="18" name="object 18"/>
            <p:cNvSpPr/>
            <p:nvPr/>
          </p:nvSpPr>
          <p:spPr>
            <a:xfrm>
              <a:off x="3349751" y="4464558"/>
              <a:ext cx="0" cy="511809"/>
            </a:xfrm>
            <a:custGeom>
              <a:avLst/>
              <a:gdLst/>
              <a:ahLst/>
              <a:cxnLst/>
              <a:rect l="l" t="t" r="r" b="b"/>
              <a:pathLst>
                <a:path h="511810">
                  <a:moveTo>
                    <a:pt x="0" y="511301"/>
                  </a:moveTo>
                  <a:lnTo>
                    <a:pt x="0" y="0"/>
                  </a:lnTo>
                </a:path>
              </a:pathLst>
            </a:custGeom>
            <a:ln w="28956">
              <a:solidFill>
                <a:srgbClr val="000000"/>
              </a:solidFill>
            </a:ln>
          </p:spPr>
          <p:txBody>
            <a:bodyPr wrap="square" lIns="0" tIns="0" rIns="0" bIns="0" rtlCol="0"/>
            <a:lstStyle/>
            <a:p>
              <a:endParaRPr sz="1227"/>
            </a:p>
          </p:txBody>
        </p:sp>
        <p:sp>
          <p:nvSpPr>
            <p:cNvPr id="19" name="object 19"/>
            <p:cNvSpPr/>
            <p:nvPr/>
          </p:nvSpPr>
          <p:spPr>
            <a:xfrm>
              <a:off x="3196589" y="4469892"/>
              <a:ext cx="308610" cy="0"/>
            </a:xfrm>
            <a:custGeom>
              <a:avLst/>
              <a:gdLst/>
              <a:ahLst/>
              <a:cxnLst/>
              <a:rect l="l" t="t" r="r" b="b"/>
              <a:pathLst>
                <a:path w="308610">
                  <a:moveTo>
                    <a:pt x="308610" y="0"/>
                  </a:moveTo>
                  <a:lnTo>
                    <a:pt x="0" y="0"/>
                  </a:lnTo>
                </a:path>
              </a:pathLst>
            </a:custGeom>
            <a:ln w="28956">
              <a:solidFill>
                <a:srgbClr val="000000"/>
              </a:solidFill>
            </a:ln>
          </p:spPr>
          <p:txBody>
            <a:bodyPr wrap="square" lIns="0" tIns="0" rIns="0" bIns="0" rtlCol="0"/>
            <a:lstStyle/>
            <a:p>
              <a:endParaRPr sz="1227"/>
            </a:p>
          </p:txBody>
        </p:sp>
        <p:sp>
          <p:nvSpPr>
            <p:cNvPr id="20" name="object 20"/>
            <p:cNvSpPr/>
            <p:nvPr/>
          </p:nvSpPr>
          <p:spPr>
            <a:xfrm>
              <a:off x="3233165" y="5094732"/>
              <a:ext cx="234315" cy="0"/>
            </a:xfrm>
            <a:custGeom>
              <a:avLst/>
              <a:gdLst/>
              <a:ahLst/>
              <a:cxnLst/>
              <a:rect l="l" t="t" r="r" b="b"/>
              <a:pathLst>
                <a:path w="234314">
                  <a:moveTo>
                    <a:pt x="0" y="0"/>
                  </a:moveTo>
                  <a:lnTo>
                    <a:pt x="233934" y="0"/>
                  </a:lnTo>
                </a:path>
              </a:pathLst>
            </a:custGeom>
            <a:ln w="28956">
              <a:solidFill>
                <a:srgbClr val="000000"/>
              </a:solidFill>
            </a:ln>
          </p:spPr>
          <p:txBody>
            <a:bodyPr wrap="square" lIns="0" tIns="0" rIns="0" bIns="0" rtlCol="0"/>
            <a:lstStyle/>
            <a:p>
              <a:endParaRPr sz="1227"/>
            </a:p>
          </p:txBody>
        </p:sp>
        <p:sp>
          <p:nvSpPr>
            <p:cNvPr id="21" name="object 21"/>
            <p:cNvSpPr/>
            <p:nvPr/>
          </p:nvSpPr>
          <p:spPr>
            <a:xfrm>
              <a:off x="3291839" y="5144262"/>
              <a:ext cx="115570" cy="0"/>
            </a:xfrm>
            <a:custGeom>
              <a:avLst/>
              <a:gdLst/>
              <a:ahLst/>
              <a:cxnLst/>
              <a:rect l="l" t="t" r="r" b="b"/>
              <a:pathLst>
                <a:path w="115570">
                  <a:moveTo>
                    <a:pt x="0" y="0"/>
                  </a:moveTo>
                  <a:lnTo>
                    <a:pt x="115062" y="0"/>
                  </a:lnTo>
                </a:path>
              </a:pathLst>
            </a:custGeom>
            <a:ln w="28956">
              <a:solidFill>
                <a:srgbClr val="000000"/>
              </a:solidFill>
            </a:ln>
          </p:spPr>
          <p:txBody>
            <a:bodyPr wrap="square" lIns="0" tIns="0" rIns="0" bIns="0" rtlCol="0"/>
            <a:lstStyle/>
            <a:p>
              <a:endParaRPr sz="1227"/>
            </a:p>
          </p:txBody>
        </p:sp>
        <p:sp>
          <p:nvSpPr>
            <p:cNvPr id="22" name="object 22"/>
            <p:cNvSpPr/>
            <p:nvPr/>
          </p:nvSpPr>
          <p:spPr>
            <a:xfrm>
              <a:off x="3319271" y="5194554"/>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endParaRPr sz="1227"/>
            </a:p>
          </p:txBody>
        </p:sp>
        <p:sp>
          <p:nvSpPr>
            <p:cNvPr id="23" name="object 23"/>
            <p:cNvSpPr/>
            <p:nvPr/>
          </p:nvSpPr>
          <p:spPr>
            <a:xfrm>
              <a:off x="3349751" y="4898136"/>
              <a:ext cx="0" cy="196850"/>
            </a:xfrm>
            <a:custGeom>
              <a:avLst/>
              <a:gdLst/>
              <a:ahLst/>
              <a:cxnLst/>
              <a:rect l="l" t="t" r="r" b="b"/>
              <a:pathLst>
                <a:path h="196850">
                  <a:moveTo>
                    <a:pt x="0" y="196595"/>
                  </a:moveTo>
                  <a:lnTo>
                    <a:pt x="0" y="0"/>
                  </a:lnTo>
                </a:path>
              </a:pathLst>
            </a:custGeom>
            <a:ln w="28956">
              <a:solidFill>
                <a:srgbClr val="000000"/>
              </a:solidFill>
            </a:ln>
          </p:spPr>
          <p:txBody>
            <a:bodyPr wrap="square" lIns="0" tIns="0" rIns="0" bIns="0" rtlCol="0"/>
            <a:lstStyle/>
            <a:p>
              <a:endParaRPr sz="1227"/>
            </a:p>
          </p:txBody>
        </p:sp>
      </p:grpSp>
      <p:grpSp>
        <p:nvGrpSpPr>
          <p:cNvPr id="24" name="object 24"/>
          <p:cNvGrpSpPr/>
          <p:nvPr/>
        </p:nvGrpSpPr>
        <p:grpSpPr>
          <a:xfrm>
            <a:off x="2960976" y="2151351"/>
            <a:ext cx="1938770" cy="1400608"/>
            <a:chOff x="1497964" y="3155314"/>
            <a:chExt cx="2843530" cy="2054225"/>
          </a:xfrm>
        </p:grpSpPr>
        <p:sp>
          <p:nvSpPr>
            <p:cNvPr id="25" name="object 25"/>
            <p:cNvSpPr/>
            <p:nvPr/>
          </p:nvSpPr>
          <p:spPr>
            <a:xfrm>
              <a:off x="3349751" y="3879341"/>
              <a:ext cx="0" cy="508000"/>
            </a:xfrm>
            <a:custGeom>
              <a:avLst/>
              <a:gdLst/>
              <a:ahLst/>
              <a:cxnLst/>
              <a:rect l="l" t="t" r="r" b="b"/>
              <a:pathLst>
                <a:path h="508000">
                  <a:moveTo>
                    <a:pt x="0" y="507492"/>
                  </a:moveTo>
                  <a:lnTo>
                    <a:pt x="0" y="0"/>
                  </a:lnTo>
                </a:path>
              </a:pathLst>
            </a:custGeom>
            <a:ln w="28956">
              <a:solidFill>
                <a:srgbClr val="000000"/>
              </a:solidFill>
            </a:ln>
          </p:spPr>
          <p:txBody>
            <a:bodyPr wrap="square" lIns="0" tIns="0" rIns="0" bIns="0" rtlCol="0"/>
            <a:lstStyle/>
            <a:p>
              <a:endParaRPr sz="1227"/>
            </a:p>
          </p:txBody>
        </p:sp>
        <p:pic>
          <p:nvPicPr>
            <p:cNvPr id="26" name="object 26"/>
            <p:cNvPicPr/>
            <p:nvPr/>
          </p:nvPicPr>
          <p:blipFill>
            <a:blip r:embed="rId3" cstate="print"/>
            <a:stretch>
              <a:fillRect/>
            </a:stretch>
          </p:blipFill>
          <p:spPr>
            <a:xfrm>
              <a:off x="3306312" y="3835907"/>
              <a:ext cx="86868" cy="86868"/>
            </a:xfrm>
            <a:prstGeom prst="rect">
              <a:avLst/>
            </a:prstGeom>
          </p:spPr>
        </p:pic>
        <p:sp>
          <p:nvSpPr>
            <p:cNvPr id="27" name="object 27"/>
            <p:cNvSpPr/>
            <p:nvPr/>
          </p:nvSpPr>
          <p:spPr>
            <a:xfrm>
              <a:off x="3196589" y="4389119"/>
              <a:ext cx="308610" cy="0"/>
            </a:xfrm>
            <a:custGeom>
              <a:avLst/>
              <a:gdLst/>
              <a:ahLst/>
              <a:cxnLst/>
              <a:rect l="l" t="t" r="r" b="b"/>
              <a:pathLst>
                <a:path w="308610">
                  <a:moveTo>
                    <a:pt x="308610" y="0"/>
                  </a:moveTo>
                  <a:lnTo>
                    <a:pt x="0" y="0"/>
                  </a:lnTo>
                </a:path>
              </a:pathLst>
            </a:custGeom>
            <a:ln w="28956">
              <a:solidFill>
                <a:srgbClr val="000000"/>
              </a:solidFill>
            </a:ln>
          </p:spPr>
          <p:txBody>
            <a:bodyPr wrap="square" lIns="0" tIns="0" rIns="0" bIns="0" rtlCol="0"/>
            <a:lstStyle/>
            <a:p>
              <a:endParaRPr sz="1227"/>
            </a:p>
          </p:txBody>
        </p:sp>
        <p:sp>
          <p:nvSpPr>
            <p:cNvPr id="28" name="object 28"/>
            <p:cNvSpPr/>
            <p:nvPr/>
          </p:nvSpPr>
          <p:spPr>
            <a:xfrm>
              <a:off x="4201667" y="3464813"/>
              <a:ext cx="5080" cy="741045"/>
            </a:xfrm>
            <a:custGeom>
              <a:avLst/>
              <a:gdLst/>
              <a:ahLst/>
              <a:cxnLst/>
              <a:rect l="l" t="t" r="r" b="b"/>
              <a:pathLst>
                <a:path w="5079" h="741045">
                  <a:moveTo>
                    <a:pt x="0" y="0"/>
                  </a:moveTo>
                  <a:lnTo>
                    <a:pt x="4572" y="740664"/>
                  </a:lnTo>
                </a:path>
              </a:pathLst>
            </a:custGeom>
            <a:ln w="28955">
              <a:solidFill>
                <a:srgbClr val="000000"/>
              </a:solidFill>
            </a:ln>
          </p:spPr>
          <p:txBody>
            <a:bodyPr wrap="square" lIns="0" tIns="0" rIns="0" bIns="0" rtlCol="0"/>
            <a:lstStyle/>
            <a:p>
              <a:endParaRPr sz="1227"/>
            </a:p>
          </p:txBody>
        </p:sp>
        <p:sp>
          <p:nvSpPr>
            <p:cNvPr id="29" name="object 29"/>
            <p:cNvSpPr/>
            <p:nvPr/>
          </p:nvSpPr>
          <p:spPr>
            <a:xfrm>
              <a:off x="1512569" y="3862577"/>
              <a:ext cx="2695575" cy="7620"/>
            </a:xfrm>
            <a:custGeom>
              <a:avLst/>
              <a:gdLst/>
              <a:ahLst/>
              <a:cxnLst/>
              <a:rect l="l" t="t" r="r" b="b"/>
              <a:pathLst>
                <a:path w="2695575" h="7620">
                  <a:moveTo>
                    <a:pt x="0" y="7620"/>
                  </a:moveTo>
                  <a:lnTo>
                    <a:pt x="2695194" y="0"/>
                  </a:lnTo>
                </a:path>
              </a:pathLst>
            </a:custGeom>
            <a:ln w="28956">
              <a:solidFill>
                <a:srgbClr val="000000"/>
              </a:solidFill>
            </a:ln>
          </p:spPr>
          <p:txBody>
            <a:bodyPr wrap="square" lIns="0" tIns="0" rIns="0" bIns="0" rtlCol="0"/>
            <a:lstStyle/>
            <a:p>
              <a:endParaRPr sz="1227"/>
            </a:p>
          </p:txBody>
        </p:sp>
        <p:pic>
          <p:nvPicPr>
            <p:cNvPr id="30" name="object 30"/>
            <p:cNvPicPr/>
            <p:nvPr/>
          </p:nvPicPr>
          <p:blipFill>
            <a:blip r:embed="rId4" cstate="print"/>
            <a:stretch>
              <a:fillRect/>
            </a:stretch>
          </p:blipFill>
          <p:spPr>
            <a:xfrm>
              <a:off x="4164329" y="3819140"/>
              <a:ext cx="86867" cy="86867"/>
            </a:xfrm>
            <a:prstGeom prst="rect">
              <a:avLst/>
            </a:prstGeom>
          </p:spPr>
        </p:pic>
        <p:sp>
          <p:nvSpPr>
            <p:cNvPr id="31" name="object 31"/>
            <p:cNvSpPr/>
            <p:nvPr/>
          </p:nvSpPr>
          <p:spPr>
            <a:xfrm>
              <a:off x="1520951" y="3169919"/>
              <a:ext cx="3810" cy="691515"/>
            </a:xfrm>
            <a:custGeom>
              <a:avLst/>
              <a:gdLst/>
              <a:ahLst/>
              <a:cxnLst/>
              <a:rect l="l" t="t" r="r" b="b"/>
              <a:pathLst>
                <a:path w="3809" h="691514">
                  <a:moveTo>
                    <a:pt x="0" y="0"/>
                  </a:moveTo>
                  <a:lnTo>
                    <a:pt x="3810" y="691134"/>
                  </a:lnTo>
                </a:path>
              </a:pathLst>
            </a:custGeom>
            <a:ln w="28955">
              <a:solidFill>
                <a:srgbClr val="000000"/>
              </a:solidFill>
            </a:ln>
          </p:spPr>
          <p:txBody>
            <a:bodyPr wrap="square" lIns="0" tIns="0" rIns="0" bIns="0" rtlCol="0"/>
            <a:lstStyle/>
            <a:p>
              <a:endParaRPr sz="1227"/>
            </a:p>
          </p:txBody>
        </p:sp>
        <p:sp>
          <p:nvSpPr>
            <p:cNvPr id="32" name="object 32"/>
            <p:cNvSpPr/>
            <p:nvPr/>
          </p:nvSpPr>
          <p:spPr>
            <a:xfrm>
              <a:off x="2354579" y="3169919"/>
              <a:ext cx="227965" cy="0"/>
            </a:xfrm>
            <a:custGeom>
              <a:avLst/>
              <a:gdLst/>
              <a:ahLst/>
              <a:cxnLst/>
              <a:rect l="l" t="t" r="r" b="b"/>
              <a:pathLst>
                <a:path w="227964">
                  <a:moveTo>
                    <a:pt x="0" y="0"/>
                  </a:moveTo>
                  <a:lnTo>
                    <a:pt x="227838" y="0"/>
                  </a:lnTo>
                </a:path>
              </a:pathLst>
            </a:custGeom>
            <a:ln w="28956">
              <a:solidFill>
                <a:srgbClr val="000000"/>
              </a:solidFill>
            </a:ln>
          </p:spPr>
          <p:txBody>
            <a:bodyPr wrap="square" lIns="0" tIns="0" rIns="0" bIns="0" rtlCol="0"/>
            <a:lstStyle/>
            <a:p>
              <a:endParaRPr sz="1227"/>
            </a:p>
          </p:txBody>
        </p:sp>
        <p:sp>
          <p:nvSpPr>
            <p:cNvPr id="33" name="object 33"/>
            <p:cNvSpPr/>
            <p:nvPr/>
          </p:nvSpPr>
          <p:spPr>
            <a:xfrm>
              <a:off x="4208525" y="4687061"/>
              <a:ext cx="0" cy="243204"/>
            </a:xfrm>
            <a:custGeom>
              <a:avLst/>
              <a:gdLst/>
              <a:ahLst/>
              <a:cxnLst/>
              <a:rect l="l" t="t" r="r" b="b"/>
              <a:pathLst>
                <a:path h="243204">
                  <a:moveTo>
                    <a:pt x="0" y="0"/>
                  </a:moveTo>
                  <a:lnTo>
                    <a:pt x="0" y="243078"/>
                  </a:lnTo>
                </a:path>
              </a:pathLst>
            </a:custGeom>
            <a:ln w="28956">
              <a:solidFill>
                <a:srgbClr val="000000"/>
              </a:solidFill>
            </a:ln>
          </p:spPr>
          <p:txBody>
            <a:bodyPr wrap="square" lIns="0" tIns="0" rIns="0" bIns="0" rtlCol="0"/>
            <a:lstStyle/>
            <a:p>
              <a:endParaRPr sz="1227"/>
            </a:p>
          </p:txBody>
        </p:sp>
        <p:sp>
          <p:nvSpPr>
            <p:cNvPr id="34" name="object 34"/>
            <p:cNvSpPr/>
            <p:nvPr/>
          </p:nvSpPr>
          <p:spPr>
            <a:xfrm>
              <a:off x="4091939" y="5094732"/>
              <a:ext cx="234950" cy="0"/>
            </a:xfrm>
            <a:custGeom>
              <a:avLst/>
              <a:gdLst/>
              <a:ahLst/>
              <a:cxnLst/>
              <a:rect l="l" t="t" r="r" b="b"/>
              <a:pathLst>
                <a:path w="234950">
                  <a:moveTo>
                    <a:pt x="0" y="0"/>
                  </a:moveTo>
                  <a:lnTo>
                    <a:pt x="234696" y="0"/>
                  </a:lnTo>
                </a:path>
              </a:pathLst>
            </a:custGeom>
            <a:ln w="28956">
              <a:solidFill>
                <a:srgbClr val="000000"/>
              </a:solidFill>
            </a:ln>
          </p:spPr>
          <p:txBody>
            <a:bodyPr wrap="square" lIns="0" tIns="0" rIns="0" bIns="0" rtlCol="0"/>
            <a:lstStyle/>
            <a:p>
              <a:endParaRPr sz="1227"/>
            </a:p>
          </p:txBody>
        </p:sp>
        <p:sp>
          <p:nvSpPr>
            <p:cNvPr id="35" name="object 35"/>
            <p:cNvSpPr/>
            <p:nvPr/>
          </p:nvSpPr>
          <p:spPr>
            <a:xfrm>
              <a:off x="4150613" y="5144261"/>
              <a:ext cx="116205" cy="0"/>
            </a:xfrm>
            <a:custGeom>
              <a:avLst/>
              <a:gdLst/>
              <a:ahLst/>
              <a:cxnLst/>
              <a:rect l="l" t="t" r="r" b="b"/>
              <a:pathLst>
                <a:path w="116204">
                  <a:moveTo>
                    <a:pt x="0" y="0"/>
                  </a:moveTo>
                  <a:lnTo>
                    <a:pt x="115823" y="0"/>
                  </a:lnTo>
                </a:path>
              </a:pathLst>
            </a:custGeom>
            <a:ln w="28956">
              <a:solidFill>
                <a:srgbClr val="000000"/>
              </a:solidFill>
            </a:ln>
          </p:spPr>
          <p:txBody>
            <a:bodyPr wrap="square" lIns="0" tIns="0" rIns="0" bIns="0" rtlCol="0"/>
            <a:lstStyle/>
            <a:p>
              <a:endParaRPr sz="1227"/>
            </a:p>
          </p:txBody>
        </p:sp>
        <p:sp>
          <p:nvSpPr>
            <p:cNvPr id="36" name="object 36"/>
            <p:cNvSpPr/>
            <p:nvPr/>
          </p:nvSpPr>
          <p:spPr>
            <a:xfrm>
              <a:off x="4178045" y="5194554"/>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endParaRPr sz="1227"/>
            </a:p>
          </p:txBody>
        </p:sp>
        <p:sp>
          <p:nvSpPr>
            <p:cNvPr id="37" name="object 37"/>
            <p:cNvSpPr/>
            <p:nvPr/>
          </p:nvSpPr>
          <p:spPr>
            <a:xfrm>
              <a:off x="4209288" y="4898135"/>
              <a:ext cx="0" cy="196850"/>
            </a:xfrm>
            <a:custGeom>
              <a:avLst/>
              <a:gdLst/>
              <a:ahLst/>
              <a:cxnLst/>
              <a:rect l="l" t="t" r="r" b="b"/>
              <a:pathLst>
                <a:path h="196850">
                  <a:moveTo>
                    <a:pt x="0" y="196595"/>
                  </a:moveTo>
                  <a:lnTo>
                    <a:pt x="0" y="0"/>
                  </a:lnTo>
                </a:path>
              </a:pathLst>
            </a:custGeom>
            <a:ln w="28956">
              <a:solidFill>
                <a:srgbClr val="000000"/>
              </a:solidFill>
            </a:ln>
          </p:spPr>
          <p:txBody>
            <a:bodyPr wrap="square" lIns="0" tIns="0" rIns="0" bIns="0" rtlCol="0"/>
            <a:lstStyle/>
            <a:p>
              <a:endParaRPr sz="1227"/>
            </a:p>
          </p:txBody>
        </p:sp>
      </p:grpSp>
      <p:sp>
        <p:nvSpPr>
          <p:cNvPr id="38" name="object 38"/>
          <p:cNvSpPr txBox="1"/>
          <p:nvPr/>
        </p:nvSpPr>
        <p:spPr>
          <a:xfrm>
            <a:off x="4821807" y="2547989"/>
            <a:ext cx="328613" cy="197641"/>
          </a:xfrm>
          <a:prstGeom prst="rect">
            <a:avLst/>
          </a:prstGeom>
        </p:spPr>
        <p:txBody>
          <a:bodyPr vert="horz" wrap="square" lIns="0" tIns="8659" rIns="0" bIns="0" rtlCol="0">
            <a:spAutoFit/>
          </a:bodyPr>
          <a:lstStyle/>
          <a:p>
            <a:pPr marL="25977">
              <a:spcBef>
                <a:spcPts val="68"/>
              </a:spcBef>
            </a:pPr>
            <a:r>
              <a:rPr sz="1841" spc="-20" baseline="13888" dirty="0">
                <a:latin typeface="Verdana"/>
                <a:cs typeface="Verdana"/>
              </a:rPr>
              <a:t>V</a:t>
            </a:r>
            <a:r>
              <a:rPr sz="818" spc="-14" dirty="0">
                <a:latin typeface="Verdana"/>
                <a:cs typeface="Verdana"/>
              </a:rPr>
              <a:t>out</a:t>
            </a:r>
            <a:endParaRPr sz="818">
              <a:latin typeface="Verdana"/>
              <a:cs typeface="Verdana"/>
            </a:endParaRPr>
          </a:p>
        </p:txBody>
      </p:sp>
      <p:sp>
        <p:nvSpPr>
          <p:cNvPr id="39" name="object 39"/>
          <p:cNvSpPr txBox="1"/>
          <p:nvPr/>
        </p:nvSpPr>
        <p:spPr>
          <a:xfrm>
            <a:off x="3174436" y="2057141"/>
            <a:ext cx="352858" cy="197578"/>
          </a:xfrm>
          <a:prstGeom prst="rect">
            <a:avLst/>
          </a:prstGeom>
        </p:spPr>
        <p:txBody>
          <a:bodyPr vert="horz" wrap="square" lIns="0" tIns="8659" rIns="0" bIns="0" rtlCol="0">
            <a:spAutoFit/>
          </a:bodyPr>
          <a:lstStyle/>
          <a:p>
            <a:pPr marL="8659">
              <a:spcBef>
                <a:spcPts val="68"/>
              </a:spcBef>
            </a:pPr>
            <a:r>
              <a:rPr sz="1227" spc="-17" dirty="0">
                <a:latin typeface="Verdana"/>
                <a:cs typeface="Verdana"/>
              </a:rPr>
              <a:t>ADC</a:t>
            </a:r>
            <a:endParaRPr sz="1227">
              <a:latin typeface="Verdana"/>
              <a:cs typeface="Verdana"/>
            </a:endParaRPr>
          </a:p>
        </p:txBody>
      </p:sp>
      <p:pic>
        <p:nvPicPr>
          <p:cNvPr id="40" name="object 40"/>
          <p:cNvPicPr/>
          <p:nvPr/>
        </p:nvPicPr>
        <p:blipFill>
          <a:blip r:embed="rId2" cstate="print"/>
          <a:stretch>
            <a:fillRect/>
          </a:stretch>
        </p:blipFill>
        <p:spPr>
          <a:xfrm>
            <a:off x="5536969" y="2088572"/>
            <a:ext cx="142355" cy="159500"/>
          </a:xfrm>
          <a:prstGeom prst="rect">
            <a:avLst/>
          </a:prstGeom>
        </p:spPr>
      </p:pic>
      <p:sp>
        <p:nvSpPr>
          <p:cNvPr id="41" name="object 41"/>
          <p:cNvSpPr/>
          <p:nvPr/>
        </p:nvSpPr>
        <p:spPr>
          <a:xfrm>
            <a:off x="5234333" y="2167283"/>
            <a:ext cx="225136" cy="0"/>
          </a:xfrm>
          <a:custGeom>
            <a:avLst/>
            <a:gdLst/>
            <a:ahLst/>
            <a:cxnLst/>
            <a:rect l="l" t="t" r="r" b="b"/>
            <a:pathLst>
              <a:path w="330200">
                <a:moveTo>
                  <a:pt x="0" y="0"/>
                </a:moveTo>
                <a:lnTo>
                  <a:pt x="329946" y="0"/>
                </a:lnTo>
              </a:path>
            </a:pathLst>
          </a:custGeom>
          <a:ln w="63246">
            <a:solidFill>
              <a:srgbClr val="000000"/>
            </a:solidFill>
            <a:prstDash val="dot"/>
          </a:ln>
        </p:spPr>
        <p:txBody>
          <a:bodyPr wrap="square" lIns="0" tIns="0" rIns="0" bIns="0" rtlCol="0"/>
          <a:lstStyle/>
          <a:p>
            <a:endParaRPr sz="1227"/>
          </a:p>
        </p:txBody>
      </p:sp>
      <p:grpSp>
        <p:nvGrpSpPr>
          <p:cNvPr id="42" name="object 42"/>
          <p:cNvGrpSpPr/>
          <p:nvPr/>
        </p:nvGrpSpPr>
        <p:grpSpPr>
          <a:xfrm>
            <a:off x="2969289" y="1513437"/>
            <a:ext cx="2863994" cy="1848716"/>
            <a:chOff x="1510157" y="2219707"/>
            <a:chExt cx="4200525" cy="2711450"/>
          </a:xfrm>
        </p:grpSpPr>
        <p:sp>
          <p:nvSpPr>
            <p:cNvPr id="43" name="object 43"/>
            <p:cNvSpPr/>
            <p:nvPr/>
          </p:nvSpPr>
          <p:spPr>
            <a:xfrm>
              <a:off x="4518660" y="3059430"/>
              <a:ext cx="119380" cy="234950"/>
            </a:xfrm>
            <a:custGeom>
              <a:avLst/>
              <a:gdLst/>
              <a:ahLst/>
              <a:cxnLst/>
              <a:rect l="l" t="t" r="r" b="b"/>
              <a:pathLst>
                <a:path w="119379" h="234950">
                  <a:moveTo>
                    <a:pt x="0" y="234696"/>
                  </a:moveTo>
                  <a:lnTo>
                    <a:pt x="0" y="0"/>
                  </a:lnTo>
                </a:path>
                <a:path w="119379" h="234950">
                  <a:moveTo>
                    <a:pt x="0" y="234696"/>
                  </a:moveTo>
                  <a:lnTo>
                    <a:pt x="118872" y="234696"/>
                  </a:lnTo>
                </a:path>
              </a:pathLst>
            </a:custGeom>
            <a:ln w="28956">
              <a:solidFill>
                <a:srgbClr val="000000"/>
              </a:solidFill>
            </a:ln>
          </p:spPr>
          <p:txBody>
            <a:bodyPr wrap="square" lIns="0" tIns="0" rIns="0" bIns="0" rtlCol="0"/>
            <a:lstStyle/>
            <a:p>
              <a:endParaRPr sz="1227"/>
            </a:p>
          </p:txBody>
        </p:sp>
        <p:sp>
          <p:nvSpPr>
            <p:cNvPr id="44" name="object 44"/>
            <p:cNvSpPr/>
            <p:nvPr/>
          </p:nvSpPr>
          <p:spPr>
            <a:xfrm>
              <a:off x="4518660" y="3059430"/>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endParaRPr sz="1227"/>
            </a:p>
          </p:txBody>
        </p:sp>
        <p:sp>
          <p:nvSpPr>
            <p:cNvPr id="45" name="object 45"/>
            <p:cNvSpPr/>
            <p:nvPr/>
          </p:nvSpPr>
          <p:spPr>
            <a:xfrm>
              <a:off x="4637532" y="2865120"/>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endParaRPr sz="1227"/>
            </a:p>
          </p:txBody>
        </p:sp>
        <p:sp>
          <p:nvSpPr>
            <p:cNvPr id="46" name="object 46"/>
            <p:cNvSpPr/>
            <p:nvPr/>
          </p:nvSpPr>
          <p:spPr>
            <a:xfrm>
              <a:off x="4637532" y="3295650"/>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sp>
          <p:nvSpPr>
            <p:cNvPr id="47" name="object 47"/>
            <p:cNvSpPr/>
            <p:nvPr/>
          </p:nvSpPr>
          <p:spPr>
            <a:xfrm>
              <a:off x="4594098" y="3448050"/>
              <a:ext cx="86995" cy="86995"/>
            </a:xfrm>
            <a:custGeom>
              <a:avLst/>
              <a:gdLst/>
              <a:ahLst/>
              <a:cxnLst/>
              <a:rect l="l" t="t" r="r" b="b"/>
              <a:pathLst>
                <a:path w="86995" h="86995">
                  <a:moveTo>
                    <a:pt x="43434" y="0"/>
                  </a:moveTo>
                  <a:lnTo>
                    <a:pt x="26526" y="3412"/>
                  </a:lnTo>
                  <a:lnTo>
                    <a:pt x="12720" y="12720"/>
                  </a:lnTo>
                  <a:lnTo>
                    <a:pt x="3412" y="26526"/>
                  </a:lnTo>
                  <a:lnTo>
                    <a:pt x="0" y="43434"/>
                  </a:lnTo>
                  <a:lnTo>
                    <a:pt x="3412" y="60341"/>
                  </a:lnTo>
                  <a:lnTo>
                    <a:pt x="12720" y="74147"/>
                  </a:lnTo>
                  <a:lnTo>
                    <a:pt x="26526" y="83455"/>
                  </a:lnTo>
                  <a:lnTo>
                    <a:pt x="43434" y="86868"/>
                  </a:lnTo>
                  <a:lnTo>
                    <a:pt x="60341" y="83455"/>
                  </a:lnTo>
                  <a:lnTo>
                    <a:pt x="74147" y="74147"/>
                  </a:lnTo>
                  <a:lnTo>
                    <a:pt x="83455" y="60341"/>
                  </a:lnTo>
                  <a:lnTo>
                    <a:pt x="86868" y="43434"/>
                  </a:lnTo>
                  <a:lnTo>
                    <a:pt x="83455" y="26526"/>
                  </a:lnTo>
                  <a:lnTo>
                    <a:pt x="74147" y="12720"/>
                  </a:lnTo>
                  <a:lnTo>
                    <a:pt x="60341" y="3412"/>
                  </a:lnTo>
                  <a:lnTo>
                    <a:pt x="43434" y="0"/>
                  </a:lnTo>
                  <a:close/>
                </a:path>
              </a:pathLst>
            </a:custGeom>
            <a:solidFill>
              <a:srgbClr val="000000"/>
            </a:solidFill>
          </p:spPr>
          <p:txBody>
            <a:bodyPr wrap="square" lIns="0" tIns="0" rIns="0" bIns="0" rtlCol="0"/>
            <a:lstStyle/>
            <a:p>
              <a:endParaRPr sz="1227"/>
            </a:p>
          </p:txBody>
        </p:sp>
        <p:pic>
          <p:nvPicPr>
            <p:cNvPr id="48" name="object 48"/>
            <p:cNvPicPr/>
            <p:nvPr/>
          </p:nvPicPr>
          <p:blipFill>
            <a:blip r:embed="rId2" cstate="print"/>
            <a:stretch>
              <a:fillRect/>
            </a:stretch>
          </p:blipFill>
          <p:spPr>
            <a:xfrm>
              <a:off x="4246626" y="3063240"/>
              <a:ext cx="208787" cy="233934"/>
            </a:xfrm>
            <a:prstGeom prst="rect">
              <a:avLst/>
            </a:prstGeom>
          </p:spPr>
        </p:pic>
        <p:sp>
          <p:nvSpPr>
            <p:cNvPr id="49" name="object 49"/>
            <p:cNvSpPr/>
            <p:nvPr/>
          </p:nvSpPr>
          <p:spPr>
            <a:xfrm>
              <a:off x="5548122" y="3059430"/>
              <a:ext cx="119380" cy="234950"/>
            </a:xfrm>
            <a:custGeom>
              <a:avLst/>
              <a:gdLst/>
              <a:ahLst/>
              <a:cxnLst/>
              <a:rect l="l" t="t" r="r" b="b"/>
              <a:pathLst>
                <a:path w="119379" h="234950">
                  <a:moveTo>
                    <a:pt x="0" y="234696"/>
                  </a:moveTo>
                  <a:lnTo>
                    <a:pt x="0" y="0"/>
                  </a:lnTo>
                </a:path>
                <a:path w="119379" h="234950">
                  <a:moveTo>
                    <a:pt x="0" y="234696"/>
                  </a:moveTo>
                  <a:lnTo>
                    <a:pt x="118872" y="234696"/>
                  </a:lnTo>
                </a:path>
              </a:pathLst>
            </a:custGeom>
            <a:ln w="28956">
              <a:solidFill>
                <a:srgbClr val="000000"/>
              </a:solidFill>
            </a:ln>
          </p:spPr>
          <p:txBody>
            <a:bodyPr wrap="square" lIns="0" tIns="0" rIns="0" bIns="0" rtlCol="0"/>
            <a:lstStyle/>
            <a:p>
              <a:endParaRPr sz="1227"/>
            </a:p>
          </p:txBody>
        </p:sp>
        <p:sp>
          <p:nvSpPr>
            <p:cNvPr id="50" name="object 50"/>
            <p:cNvSpPr/>
            <p:nvPr/>
          </p:nvSpPr>
          <p:spPr>
            <a:xfrm>
              <a:off x="5548122" y="3059430"/>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endParaRPr sz="1227"/>
            </a:p>
          </p:txBody>
        </p:sp>
        <p:sp>
          <p:nvSpPr>
            <p:cNvPr id="51" name="object 51"/>
            <p:cNvSpPr/>
            <p:nvPr/>
          </p:nvSpPr>
          <p:spPr>
            <a:xfrm>
              <a:off x="5666994" y="2865120"/>
              <a:ext cx="0" cy="196850"/>
            </a:xfrm>
            <a:custGeom>
              <a:avLst/>
              <a:gdLst/>
              <a:ahLst/>
              <a:cxnLst/>
              <a:rect l="l" t="t" r="r" b="b"/>
              <a:pathLst>
                <a:path h="196850">
                  <a:moveTo>
                    <a:pt x="0" y="196596"/>
                  </a:moveTo>
                  <a:lnTo>
                    <a:pt x="0" y="0"/>
                  </a:lnTo>
                </a:path>
              </a:pathLst>
            </a:custGeom>
            <a:ln w="28956">
              <a:solidFill>
                <a:srgbClr val="000000"/>
              </a:solidFill>
            </a:ln>
          </p:spPr>
          <p:txBody>
            <a:bodyPr wrap="square" lIns="0" tIns="0" rIns="0" bIns="0" rtlCol="0"/>
            <a:lstStyle/>
            <a:p>
              <a:endParaRPr sz="1227"/>
            </a:p>
          </p:txBody>
        </p:sp>
        <p:sp>
          <p:nvSpPr>
            <p:cNvPr id="52" name="object 52"/>
            <p:cNvSpPr/>
            <p:nvPr/>
          </p:nvSpPr>
          <p:spPr>
            <a:xfrm>
              <a:off x="5666994" y="3295650"/>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sp>
          <p:nvSpPr>
            <p:cNvPr id="53" name="object 53"/>
            <p:cNvSpPr/>
            <p:nvPr/>
          </p:nvSpPr>
          <p:spPr>
            <a:xfrm>
              <a:off x="5623560" y="3448050"/>
              <a:ext cx="86995" cy="86995"/>
            </a:xfrm>
            <a:custGeom>
              <a:avLst/>
              <a:gdLst/>
              <a:ahLst/>
              <a:cxnLst/>
              <a:rect l="l" t="t" r="r" b="b"/>
              <a:pathLst>
                <a:path w="86995" h="86995">
                  <a:moveTo>
                    <a:pt x="43434" y="0"/>
                  </a:moveTo>
                  <a:lnTo>
                    <a:pt x="26526" y="3412"/>
                  </a:lnTo>
                  <a:lnTo>
                    <a:pt x="12720" y="12720"/>
                  </a:lnTo>
                  <a:lnTo>
                    <a:pt x="3412" y="26526"/>
                  </a:lnTo>
                  <a:lnTo>
                    <a:pt x="0" y="43434"/>
                  </a:lnTo>
                  <a:lnTo>
                    <a:pt x="3412" y="60341"/>
                  </a:lnTo>
                  <a:lnTo>
                    <a:pt x="12720" y="74147"/>
                  </a:lnTo>
                  <a:lnTo>
                    <a:pt x="26526" y="83455"/>
                  </a:lnTo>
                  <a:lnTo>
                    <a:pt x="43434" y="86868"/>
                  </a:lnTo>
                  <a:lnTo>
                    <a:pt x="60341" y="83455"/>
                  </a:lnTo>
                  <a:lnTo>
                    <a:pt x="74147" y="74147"/>
                  </a:lnTo>
                  <a:lnTo>
                    <a:pt x="83455" y="60341"/>
                  </a:lnTo>
                  <a:lnTo>
                    <a:pt x="86868" y="43434"/>
                  </a:lnTo>
                  <a:lnTo>
                    <a:pt x="83455" y="26526"/>
                  </a:lnTo>
                  <a:lnTo>
                    <a:pt x="74147" y="12720"/>
                  </a:lnTo>
                  <a:lnTo>
                    <a:pt x="60341" y="3412"/>
                  </a:lnTo>
                  <a:lnTo>
                    <a:pt x="43434" y="0"/>
                  </a:lnTo>
                  <a:close/>
                </a:path>
              </a:pathLst>
            </a:custGeom>
            <a:solidFill>
              <a:srgbClr val="000000"/>
            </a:solidFill>
          </p:spPr>
          <p:txBody>
            <a:bodyPr wrap="square" lIns="0" tIns="0" rIns="0" bIns="0" rtlCol="0"/>
            <a:lstStyle/>
            <a:p>
              <a:endParaRPr sz="1227"/>
            </a:p>
          </p:txBody>
        </p:sp>
        <p:sp>
          <p:nvSpPr>
            <p:cNvPr id="54" name="object 54"/>
            <p:cNvSpPr/>
            <p:nvPr/>
          </p:nvSpPr>
          <p:spPr>
            <a:xfrm>
              <a:off x="4203954" y="3486912"/>
              <a:ext cx="1463040" cy="6985"/>
            </a:xfrm>
            <a:custGeom>
              <a:avLst/>
              <a:gdLst/>
              <a:ahLst/>
              <a:cxnLst/>
              <a:rect l="l" t="t" r="r" b="b"/>
              <a:pathLst>
                <a:path w="1463039" h="6985">
                  <a:moveTo>
                    <a:pt x="0" y="0"/>
                  </a:moveTo>
                  <a:lnTo>
                    <a:pt x="1463040" y="6858"/>
                  </a:lnTo>
                </a:path>
              </a:pathLst>
            </a:custGeom>
            <a:ln w="28956">
              <a:solidFill>
                <a:srgbClr val="000000"/>
              </a:solidFill>
            </a:ln>
          </p:spPr>
          <p:txBody>
            <a:bodyPr wrap="square" lIns="0" tIns="0" rIns="0" bIns="0" rtlCol="0"/>
            <a:lstStyle/>
            <a:p>
              <a:endParaRPr sz="1227"/>
            </a:p>
          </p:txBody>
        </p:sp>
        <p:pic>
          <p:nvPicPr>
            <p:cNvPr id="55" name="object 55"/>
            <p:cNvPicPr/>
            <p:nvPr/>
          </p:nvPicPr>
          <p:blipFill>
            <a:blip r:embed="rId5" cstate="print"/>
            <a:stretch>
              <a:fillRect/>
            </a:stretch>
          </p:blipFill>
          <p:spPr>
            <a:xfrm>
              <a:off x="4160520" y="3443478"/>
              <a:ext cx="86867" cy="86868"/>
            </a:xfrm>
            <a:prstGeom prst="rect">
              <a:avLst/>
            </a:prstGeom>
          </p:spPr>
        </p:pic>
        <p:sp>
          <p:nvSpPr>
            <p:cNvPr id="56" name="object 56"/>
            <p:cNvSpPr/>
            <p:nvPr/>
          </p:nvSpPr>
          <p:spPr>
            <a:xfrm>
              <a:off x="4203954" y="2871216"/>
              <a:ext cx="1463040" cy="7620"/>
            </a:xfrm>
            <a:custGeom>
              <a:avLst/>
              <a:gdLst/>
              <a:ahLst/>
              <a:cxnLst/>
              <a:rect l="l" t="t" r="r" b="b"/>
              <a:pathLst>
                <a:path w="1463039" h="7619">
                  <a:moveTo>
                    <a:pt x="0" y="0"/>
                  </a:moveTo>
                  <a:lnTo>
                    <a:pt x="1463040" y="7620"/>
                  </a:lnTo>
                </a:path>
              </a:pathLst>
            </a:custGeom>
            <a:ln w="28955">
              <a:solidFill>
                <a:srgbClr val="000000"/>
              </a:solidFill>
            </a:ln>
          </p:spPr>
          <p:txBody>
            <a:bodyPr wrap="square" lIns="0" tIns="0" rIns="0" bIns="0" rtlCol="0"/>
            <a:lstStyle/>
            <a:p>
              <a:endParaRPr sz="1227"/>
            </a:p>
          </p:txBody>
        </p:sp>
        <p:pic>
          <p:nvPicPr>
            <p:cNvPr id="57" name="object 57"/>
            <p:cNvPicPr/>
            <p:nvPr/>
          </p:nvPicPr>
          <p:blipFill>
            <a:blip r:embed="rId6" cstate="print"/>
            <a:stretch>
              <a:fillRect/>
            </a:stretch>
          </p:blipFill>
          <p:spPr>
            <a:xfrm>
              <a:off x="5623560" y="2835405"/>
              <a:ext cx="86867" cy="86868"/>
            </a:xfrm>
            <a:prstGeom prst="rect">
              <a:avLst/>
            </a:prstGeom>
          </p:spPr>
        </p:pic>
        <p:pic>
          <p:nvPicPr>
            <p:cNvPr id="58" name="object 58"/>
            <p:cNvPicPr/>
            <p:nvPr/>
          </p:nvPicPr>
          <p:blipFill>
            <a:blip r:embed="rId5" cstate="print"/>
            <a:stretch>
              <a:fillRect/>
            </a:stretch>
          </p:blipFill>
          <p:spPr>
            <a:xfrm>
              <a:off x="4160518" y="2827782"/>
              <a:ext cx="86867" cy="86868"/>
            </a:xfrm>
            <a:prstGeom prst="rect">
              <a:avLst/>
            </a:prstGeom>
          </p:spPr>
        </p:pic>
        <p:sp>
          <p:nvSpPr>
            <p:cNvPr id="59" name="object 59"/>
            <p:cNvSpPr/>
            <p:nvPr/>
          </p:nvSpPr>
          <p:spPr>
            <a:xfrm>
              <a:off x="4915661" y="2263140"/>
              <a:ext cx="0" cy="615315"/>
            </a:xfrm>
            <a:custGeom>
              <a:avLst/>
              <a:gdLst/>
              <a:ahLst/>
              <a:cxnLst/>
              <a:rect l="l" t="t" r="r" b="b"/>
              <a:pathLst>
                <a:path h="615314">
                  <a:moveTo>
                    <a:pt x="0" y="0"/>
                  </a:moveTo>
                  <a:lnTo>
                    <a:pt x="0" y="614934"/>
                  </a:lnTo>
                </a:path>
              </a:pathLst>
            </a:custGeom>
            <a:ln w="28956">
              <a:solidFill>
                <a:srgbClr val="000000"/>
              </a:solidFill>
            </a:ln>
          </p:spPr>
          <p:txBody>
            <a:bodyPr wrap="square" lIns="0" tIns="0" rIns="0" bIns="0" rtlCol="0"/>
            <a:lstStyle/>
            <a:p>
              <a:endParaRPr sz="1227"/>
            </a:p>
          </p:txBody>
        </p:sp>
        <p:pic>
          <p:nvPicPr>
            <p:cNvPr id="60" name="object 60"/>
            <p:cNvPicPr/>
            <p:nvPr/>
          </p:nvPicPr>
          <p:blipFill>
            <a:blip r:embed="rId7" cstate="print"/>
            <a:stretch>
              <a:fillRect/>
            </a:stretch>
          </p:blipFill>
          <p:spPr>
            <a:xfrm>
              <a:off x="4872223" y="2834640"/>
              <a:ext cx="86868" cy="86867"/>
            </a:xfrm>
            <a:prstGeom prst="rect">
              <a:avLst/>
            </a:prstGeom>
          </p:spPr>
        </p:pic>
        <p:pic>
          <p:nvPicPr>
            <p:cNvPr id="61" name="object 61"/>
            <p:cNvPicPr/>
            <p:nvPr/>
          </p:nvPicPr>
          <p:blipFill>
            <a:blip r:embed="rId5" cstate="print"/>
            <a:stretch>
              <a:fillRect/>
            </a:stretch>
          </p:blipFill>
          <p:spPr>
            <a:xfrm>
              <a:off x="4872228" y="2219707"/>
              <a:ext cx="86868" cy="86867"/>
            </a:xfrm>
            <a:prstGeom prst="rect">
              <a:avLst/>
            </a:prstGeom>
          </p:spPr>
        </p:pic>
        <p:sp>
          <p:nvSpPr>
            <p:cNvPr id="62" name="object 62"/>
            <p:cNvSpPr/>
            <p:nvPr/>
          </p:nvSpPr>
          <p:spPr>
            <a:xfrm>
              <a:off x="3571494" y="3073146"/>
              <a:ext cx="137160" cy="194310"/>
            </a:xfrm>
            <a:custGeom>
              <a:avLst/>
              <a:gdLst/>
              <a:ahLst/>
              <a:cxnLst/>
              <a:rect l="l" t="t" r="r" b="b"/>
              <a:pathLst>
                <a:path w="137160" h="194310">
                  <a:moveTo>
                    <a:pt x="0" y="194310"/>
                  </a:moveTo>
                  <a:lnTo>
                    <a:pt x="137160" y="0"/>
                  </a:lnTo>
                </a:path>
              </a:pathLst>
            </a:custGeom>
            <a:ln w="28956">
              <a:solidFill>
                <a:srgbClr val="000000"/>
              </a:solidFill>
            </a:ln>
          </p:spPr>
          <p:txBody>
            <a:bodyPr wrap="square" lIns="0" tIns="0" rIns="0" bIns="0" rtlCol="0"/>
            <a:lstStyle/>
            <a:p>
              <a:endParaRPr sz="1227"/>
            </a:p>
          </p:txBody>
        </p:sp>
        <p:sp>
          <p:nvSpPr>
            <p:cNvPr id="63" name="object 63"/>
            <p:cNvSpPr/>
            <p:nvPr/>
          </p:nvSpPr>
          <p:spPr>
            <a:xfrm>
              <a:off x="1732788" y="2931414"/>
              <a:ext cx="622300" cy="478155"/>
            </a:xfrm>
            <a:custGeom>
              <a:avLst/>
              <a:gdLst/>
              <a:ahLst/>
              <a:cxnLst/>
              <a:rect l="l" t="t" r="r" b="b"/>
              <a:pathLst>
                <a:path w="622300" h="478154">
                  <a:moveTo>
                    <a:pt x="621792" y="0"/>
                  </a:moveTo>
                  <a:lnTo>
                    <a:pt x="621792" y="477773"/>
                  </a:lnTo>
                  <a:lnTo>
                    <a:pt x="124358" y="477773"/>
                  </a:lnTo>
                  <a:lnTo>
                    <a:pt x="0" y="238886"/>
                  </a:lnTo>
                  <a:lnTo>
                    <a:pt x="124358" y="0"/>
                  </a:lnTo>
                  <a:lnTo>
                    <a:pt x="621792" y="0"/>
                  </a:lnTo>
                  <a:close/>
                </a:path>
              </a:pathLst>
            </a:custGeom>
            <a:ln w="28956">
              <a:solidFill>
                <a:srgbClr val="000000"/>
              </a:solidFill>
            </a:ln>
          </p:spPr>
          <p:txBody>
            <a:bodyPr wrap="square" lIns="0" tIns="0" rIns="0" bIns="0" rtlCol="0"/>
            <a:lstStyle/>
            <a:p>
              <a:endParaRPr sz="1227"/>
            </a:p>
          </p:txBody>
        </p:sp>
        <p:sp>
          <p:nvSpPr>
            <p:cNvPr id="64" name="object 64"/>
            <p:cNvSpPr/>
            <p:nvPr/>
          </p:nvSpPr>
          <p:spPr>
            <a:xfrm>
              <a:off x="1524762" y="3178302"/>
              <a:ext cx="215900" cy="1270"/>
            </a:xfrm>
            <a:custGeom>
              <a:avLst/>
              <a:gdLst/>
              <a:ahLst/>
              <a:cxnLst/>
              <a:rect l="l" t="t" r="r" b="b"/>
              <a:pathLst>
                <a:path w="215900" h="1269">
                  <a:moveTo>
                    <a:pt x="0" y="762"/>
                  </a:moveTo>
                  <a:lnTo>
                    <a:pt x="215646" y="0"/>
                  </a:lnTo>
                </a:path>
              </a:pathLst>
            </a:custGeom>
            <a:ln w="28955">
              <a:solidFill>
                <a:srgbClr val="000000"/>
              </a:solidFill>
            </a:ln>
          </p:spPr>
          <p:txBody>
            <a:bodyPr wrap="square" lIns="0" tIns="0" rIns="0" bIns="0" rtlCol="0"/>
            <a:lstStyle/>
            <a:p>
              <a:endParaRPr sz="1227"/>
            </a:p>
          </p:txBody>
        </p:sp>
        <p:sp>
          <p:nvSpPr>
            <p:cNvPr id="65" name="object 65"/>
            <p:cNvSpPr/>
            <p:nvPr/>
          </p:nvSpPr>
          <p:spPr>
            <a:xfrm>
              <a:off x="4213098" y="4673346"/>
              <a:ext cx="0" cy="243204"/>
            </a:xfrm>
            <a:custGeom>
              <a:avLst/>
              <a:gdLst/>
              <a:ahLst/>
              <a:cxnLst/>
              <a:rect l="l" t="t" r="r" b="b"/>
              <a:pathLst>
                <a:path h="243204">
                  <a:moveTo>
                    <a:pt x="0" y="0"/>
                  </a:moveTo>
                  <a:lnTo>
                    <a:pt x="0" y="243077"/>
                  </a:lnTo>
                </a:path>
              </a:pathLst>
            </a:custGeom>
            <a:ln w="28956">
              <a:solidFill>
                <a:srgbClr val="000000"/>
              </a:solidFill>
            </a:ln>
          </p:spPr>
          <p:txBody>
            <a:bodyPr wrap="square" lIns="0" tIns="0" rIns="0" bIns="0" rtlCol="0"/>
            <a:lstStyle/>
            <a:p>
              <a:endParaRPr sz="1227"/>
            </a:p>
          </p:txBody>
        </p:sp>
        <p:sp>
          <p:nvSpPr>
            <p:cNvPr id="66" name="object 66"/>
            <p:cNvSpPr/>
            <p:nvPr/>
          </p:nvSpPr>
          <p:spPr>
            <a:xfrm>
              <a:off x="4102608" y="4563618"/>
              <a:ext cx="108585" cy="46990"/>
            </a:xfrm>
            <a:custGeom>
              <a:avLst/>
              <a:gdLst/>
              <a:ahLst/>
              <a:cxnLst/>
              <a:rect l="l" t="t" r="r" b="b"/>
              <a:pathLst>
                <a:path w="108585" h="46989">
                  <a:moveTo>
                    <a:pt x="108203" y="46481"/>
                  </a:moveTo>
                  <a:lnTo>
                    <a:pt x="0" y="0"/>
                  </a:lnTo>
                </a:path>
              </a:pathLst>
            </a:custGeom>
            <a:ln w="28956">
              <a:solidFill>
                <a:srgbClr val="000000"/>
              </a:solidFill>
            </a:ln>
          </p:spPr>
          <p:txBody>
            <a:bodyPr wrap="square" lIns="0" tIns="0" rIns="0" bIns="0" rtlCol="0"/>
            <a:lstStyle/>
            <a:p>
              <a:endParaRPr sz="1227"/>
            </a:p>
          </p:txBody>
        </p:sp>
        <p:sp>
          <p:nvSpPr>
            <p:cNvPr id="67" name="object 67"/>
            <p:cNvSpPr/>
            <p:nvPr/>
          </p:nvSpPr>
          <p:spPr>
            <a:xfrm>
              <a:off x="4102608" y="4517898"/>
              <a:ext cx="216535" cy="47625"/>
            </a:xfrm>
            <a:custGeom>
              <a:avLst/>
              <a:gdLst/>
              <a:ahLst/>
              <a:cxnLst/>
              <a:rect l="l" t="t" r="r" b="b"/>
              <a:pathLst>
                <a:path w="216535" h="47625">
                  <a:moveTo>
                    <a:pt x="0" y="47243"/>
                  </a:moveTo>
                  <a:lnTo>
                    <a:pt x="216408" y="0"/>
                  </a:lnTo>
                </a:path>
              </a:pathLst>
            </a:custGeom>
            <a:ln w="28956">
              <a:solidFill>
                <a:srgbClr val="000000"/>
              </a:solidFill>
            </a:ln>
          </p:spPr>
          <p:txBody>
            <a:bodyPr wrap="square" lIns="0" tIns="0" rIns="0" bIns="0" rtlCol="0"/>
            <a:lstStyle/>
            <a:p>
              <a:endParaRPr sz="1227"/>
            </a:p>
          </p:txBody>
        </p:sp>
        <p:sp>
          <p:nvSpPr>
            <p:cNvPr id="68" name="object 68"/>
            <p:cNvSpPr/>
            <p:nvPr/>
          </p:nvSpPr>
          <p:spPr>
            <a:xfrm>
              <a:off x="4102608" y="4475226"/>
              <a:ext cx="216535" cy="43180"/>
            </a:xfrm>
            <a:custGeom>
              <a:avLst/>
              <a:gdLst/>
              <a:ahLst/>
              <a:cxnLst/>
              <a:rect l="l" t="t" r="r" b="b"/>
              <a:pathLst>
                <a:path w="216535" h="43179">
                  <a:moveTo>
                    <a:pt x="216408" y="42672"/>
                  </a:moveTo>
                  <a:lnTo>
                    <a:pt x="0" y="0"/>
                  </a:lnTo>
                </a:path>
              </a:pathLst>
            </a:custGeom>
            <a:ln w="28955">
              <a:solidFill>
                <a:srgbClr val="000000"/>
              </a:solidFill>
            </a:ln>
          </p:spPr>
          <p:txBody>
            <a:bodyPr wrap="square" lIns="0" tIns="0" rIns="0" bIns="0" rtlCol="0"/>
            <a:lstStyle/>
            <a:p>
              <a:endParaRPr sz="1227"/>
            </a:p>
          </p:txBody>
        </p:sp>
        <p:sp>
          <p:nvSpPr>
            <p:cNvPr id="69" name="object 69"/>
            <p:cNvSpPr/>
            <p:nvPr/>
          </p:nvSpPr>
          <p:spPr>
            <a:xfrm>
              <a:off x="4104894" y="4425696"/>
              <a:ext cx="215900" cy="51435"/>
            </a:xfrm>
            <a:custGeom>
              <a:avLst/>
              <a:gdLst/>
              <a:ahLst/>
              <a:cxnLst/>
              <a:rect l="l" t="t" r="r" b="b"/>
              <a:pathLst>
                <a:path w="215900" h="51435">
                  <a:moveTo>
                    <a:pt x="0" y="51053"/>
                  </a:moveTo>
                  <a:lnTo>
                    <a:pt x="215646" y="0"/>
                  </a:lnTo>
                </a:path>
              </a:pathLst>
            </a:custGeom>
            <a:ln w="28956">
              <a:solidFill>
                <a:srgbClr val="000000"/>
              </a:solidFill>
            </a:ln>
          </p:spPr>
          <p:txBody>
            <a:bodyPr wrap="square" lIns="0" tIns="0" rIns="0" bIns="0" rtlCol="0"/>
            <a:lstStyle/>
            <a:p>
              <a:endParaRPr sz="1227"/>
            </a:p>
          </p:txBody>
        </p:sp>
        <p:sp>
          <p:nvSpPr>
            <p:cNvPr id="70" name="object 70"/>
            <p:cNvSpPr/>
            <p:nvPr/>
          </p:nvSpPr>
          <p:spPr>
            <a:xfrm>
              <a:off x="4104894" y="4381500"/>
              <a:ext cx="215900" cy="44450"/>
            </a:xfrm>
            <a:custGeom>
              <a:avLst/>
              <a:gdLst/>
              <a:ahLst/>
              <a:cxnLst/>
              <a:rect l="l" t="t" r="r" b="b"/>
              <a:pathLst>
                <a:path w="215900" h="44450">
                  <a:moveTo>
                    <a:pt x="215646" y="44195"/>
                  </a:moveTo>
                  <a:lnTo>
                    <a:pt x="0" y="0"/>
                  </a:lnTo>
                </a:path>
              </a:pathLst>
            </a:custGeom>
            <a:ln w="28955">
              <a:solidFill>
                <a:srgbClr val="000000"/>
              </a:solidFill>
            </a:ln>
          </p:spPr>
          <p:txBody>
            <a:bodyPr wrap="square" lIns="0" tIns="0" rIns="0" bIns="0" rtlCol="0"/>
            <a:lstStyle/>
            <a:p>
              <a:endParaRPr sz="1227"/>
            </a:p>
          </p:txBody>
        </p:sp>
        <p:sp>
          <p:nvSpPr>
            <p:cNvPr id="71" name="object 71"/>
            <p:cNvSpPr/>
            <p:nvPr/>
          </p:nvSpPr>
          <p:spPr>
            <a:xfrm>
              <a:off x="4102608" y="4333494"/>
              <a:ext cx="216535" cy="48260"/>
            </a:xfrm>
            <a:custGeom>
              <a:avLst/>
              <a:gdLst/>
              <a:ahLst/>
              <a:cxnLst/>
              <a:rect l="l" t="t" r="r" b="b"/>
              <a:pathLst>
                <a:path w="216535" h="48260">
                  <a:moveTo>
                    <a:pt x="0" y="48005"/>
                  </a:moveTo>
                  <a:lnTo>
                    <a:pt x="216408" y="0"/>
                  </a:lnTo>
                </a:path>
              </a:pathLst>
            </a:custGeom>
            <a:ln w="28956">
              <a:solidFill>
                <a:srgbClr val="000000"/>
              </a:solidFill>
            </a:ln>
          </p:spPr>
          <p:txBody>
            <a:bodyPr wrap="square" lIns="0" tIns="0" rIns="0" bIns="0" rtlCol="0"/>
            <a:lstStyle/>
            <a:p>
              <a:endParaRPr sz="1227"/>
            </a:p>
          </p:txBody>
        </p:sp>
        <p:sp>
          <p:nvSpPr>
            <p:cNvPr id="72" name="object 72"/>
            <p:cNvSpPr/>
            <p:nvPr/>
          </p:nvSpPr>
          <p:spPr>
            <a:xfrm>
              <a:off x="4210811" y="4287774"/>
              <a:ext cx="108585" cy="45720"/>
            </a:xfrm>
            <a:custGeom>
              <a:avLst/>
              <a:gdLst/>
              <a:ahLst/>
              <a:cxnLst/>
              <a:rect l="l" t="t" r="r" b="b"/>
              <a:pathLst>
                <a:path w="108585" h="45720">
                  <a:moveTo>
                    <a:pt x="108203" y="45719"/>
                  </a:moveTo>
                  <a:lnTo>
                    <a:pt x="0" y="0"/>
                  </a:lnTo>
                </a:path>
              </a:pathLst>
            </a:custGeom>
            <a:ln w="28955">
              <a:solidFill>
                <a:srgbClr val="000000"/>
              </a:solidFill>
            </a:ln>
          </p:spPr>
          <p:txBody>
            <a:bodyPr wrap="square" lIns="0" tIns="0" rIns="0" bIns="0" rtlCol="0"/>
            <a:lstStyle/>
            <a:p>
              <a:endParaRPr sz="1227"/>
            </a:p>
          </p:txBody>
        </p:sp>
        <p:sp>
          <p:nvSpPr>
            <p:cNvPr id="73" name="object 73"/>
            <p:cNvSpPr/>
            <p:nvPr/>
          </p:nvSpPr>
          <p:spPr>
            <a:xfrm>
              <a:off x="4212336" y="4197096"/>
              <a:ext cx="0" cy="92710"/>
            </a:xfrm>
            <a:custGeom>
              <a:avLst/>
              <a:gdLst/>
              <a:ahLst/>
              <a:cxnLst/>
              <a:rect l="l" t="t" r="r" b="b"/>
              <a:pathLst>
                <a:path h="92710">
                  <a:moveTo>
                    <a:pt x="0" y="92201"/>
                  </a:moveTo>
                  <a:lnTo>
                    <a:pt x="0" y="0"/>
                  </a:lnTo>
                </a:path>
              </a:pathLst>
            </a:custGeom>
            <a:ln w="28956">
              <a:solidFill>
                <a:srgbClr val="000000"/>
              </a:solidFill>
            </a:ln>
          </p:spPr>
          <p:txBody>
            <a:bodyPr wrap="square" lIns="0" tIns="0" rIns="0" bIns="0" rtlCol="0"/>
            <a:lstStyle/>
            <a:p>
              <a:endParaRPr sz="1227"/>
            </a:p>
          </p:txBody>
        </p:sp>
        <p:sp>
          <p:nvSpPr>
            <p:cNvPr id="74" name="object 74"/>
            <p:cNvSpPr/>
            <p:nvPr/>
          </p:nvSpPr>
          <p:spPr>
            <a:xfrm>
              <a:off x="4168907" y="4153662"/>
              <a:ext cx="86995" cy="86995"/>
            </a:xfrm>
            <a:custGeom>
              <a:avLst/>
              <a:gdLst/>
              <a:ahLst/>
              <a:cxnLst/>
              <a:rect l="l" t="t" r="r" b="b"/>
              <a:pathLst>
                <a:path w="86995" h="86995">
                  <a:moveTo>
                    <a:pt x="43421" y="0"/>
                  </a:moveTo>
                  <a:lnTo>
                    <a:pt x="26519" y="3412"/>
                  </a:lnTo>
                  <a:lnTo>
                    <a:pt x="12714" y="12720"/>
                  </a:lnTo>
                  <a:lnTo>
                    <a:pt x="3407" y="26526"/>
                  </a:lnTo>
                  <a:lnTo>
                    <a:pt x="0" y="43434"/>
                  </a:lnTo>
                  <a:lnTo>
                    <a:pt x="3412" y="60341"/>
                  </a:lnTo>
                  <a:lnTo>
                    <a:pt x="12720" y="74147"/>
                  </a:lnTo>
                  <a:lnTo>
                    <a:pt x="26526" y="83455"/>
                  </a:lnTo>
                  <a:lnTo>
                    <a:pt x="43434" y="86868"/>
                  </a:lnTo>
                  <a:lnTo>
                    <a:pt x="60341" y="83453"/>
                  </a:lnTo>
                  <a:lnTo>
                    <a:pt x="74147" y="74142"/>
                  </a:lnTo>
                  <a:lnTo>
                    <a:pt x="83455" y="60336"/>
                  </a:lnTo>
                  <a:lnTo>
                    <a:pt x="86868" y="43434"/>
                  </a:lnTo>
                  <a:lnTo>
                    <a:pt x="83447" y="26526"/>
                  </a:lnTo>
                  <a:lnTo>
                    <a:pt x="74136" y="12720"/>
                  </a:lnTo>
                  <a:lnTo>
                    <a:pt x="60328" y="3412"/>
                  </a:lnTo>
                  <a:lnTo>
                    <a:pt x="43421" y="0"/>
                  </a:lnTo>
                  <a:close/>
                </a:path>
              </a:pathLst>
            </a:custGeom>
            <a:solidFill>
              <a:srgbClr val="000000"/>
            </a:solidFill>
          </p:spPr>
          <p:txBody>
            <a:bodyPr wrap="square" lIns="0" tIns="0" rIns="0" bIns="0" rtlCol="0"/>
            <a:lstStyle/>
            <a:p>
              <a:endParaRPr sz="1227"/>
            </a:p>
          </p:txBody>
        </p:sp>
        <p:sp>
          <p:nvSpPr>
            <p:cNvPr id="75" name="object 75"/>
            <p:cNvSpPr/>
            <p:nvPr/>
          </p:nvSpPr>
          <p:spPr>
            <a:xfrm>
              <a:off x="4212336" y="4611624"/>
              <a:ext cx="0" cy="92710"/>
            </a:xfrm>
            <a:custGeom>
              <a:avLst/>
              <a:gdLst/>
              <a:ahLst/>
              <a:cxnLst/>
              <a:rect l="l" t="t" r="r" b="b"/>
              <a:pathLst>
                <a:path h="92710">
                  <a:moveTo>
                    <a:pt x="0" y="92201"/>
                  </a:moveTo>
                  <a:lnTo>
                    <a:pt x="0" y="0"/>
                  </a:lnTo>
                </a:path>
              </a:pathLst>
            </a:custGeom>
            <a:ln w="28956">
              <a:solidFill>
                <a:srgbClr val="000000"/>
              </a:solidFill>
            </a:ln>
          </p:spPr>
          <p:txBody>
            <a:bodyPr wrap="square" lIns="0" tIns="0" rIns="0" bIns="0" rtlCol="0"/>
            <a:lstStyle/>
            <a:p>
              <a:endParaRPr sz="1227"/>
            </a:p>
          </p:txBody>
        </p:sp>
        <p:sp>
          <p:nvSpPr>
            <p:cNvPr id="76" name="object 76"/>
            <p:cNvSpPr/>
            <p:nvPr/>
          </p:nvSpPr>
          <p:spPr>
            <a:xfrm>
              <a:off x="4168902" y="4660392"/>
              <a:ext cx="86995" cy="86995"/>
            </a:xfrm>
            <a:custGeom>
              <a:avLst/>
              <a:gdLst/>
              <a:ahLst/>
              <a:cxnLst/>
              <a:rect l="l" t="t" r="r" b="b"/>
              <a:pathLst>
                <a:path w="86995" h="86995">
                  <a:moveTo>
                    <a:pt x="43434" y="0"/>
                  </a:moveTo>
                  <a:lnTo>
                    <a:pt x="26526" y="3412"/>
                  </a:lnTo>
                  <a:lnTo>
                    <a:pt x="12720" y="12720"/>
                  </a:lnTo>
                  <a:lnTo>
                    <a:pt x="3412" y="26526"/>
                  </a:lnTo>
                  <a:lnTo>
                    <a:pt x="0" y="43433"/>
                  </a:lnTo>
                  <a:lnTo>
                    <a:pt x="3412" y="60341"/>
                  </a:lnTo>
                  <a:lnTo>
                    <a:pt x="12720" y="74147"/>
                  </a:lnTo>
                  <a:lnTo>
                    <a:pt x="26526" y="83455"/>
                  </a:lnTo>
                  <a:lnTo>
                    <a:pt x="43434" y="86867"/>
                  </a:lnTo>
                  <a:lnTo>
                    <a:pt x="60341" y="83455"/>
                  </a:lnTo>
                  <a:lnTo>
                    <a:pt x="74147" y="74147"/>
                  </a:lnTo>
                  <a:lnTo>
                    <a:pt x="83455" y="60341"/>
                  </a:lnTo>
                  <a:lnTo>
                    <a:pt x="86868" y="43433"/>
                  </a:lnTo>
                  <a:lnTo>
                    <a:pt x="83455" y="26526"/>
                  </a:lnTo>
                  <a:lnTo>
                    <a:pt x="74147" y="12720"/>
                  </a:lnTo>
                  <a:lnTo>
                    <a:pt x="60341" y="3412"/>
                  </a:lnTo>
                  <a:lnTo>
                    <a:pt x="43434" y="0"/>
                  </a:lnTo>
                  <a:close/>
                </a:path>
              </a:pathLst>
            </a:custGeom>
            <a:solidFill>
              <a:srgbClr val="000000"/>
            </a:solidFill>
          </p:spPr>
          <p:txBody>
            <a:bodyPr wrap="square" lIns="0" tIns="0" rIns="0" bIns="0" rtlCol="0"/>
            <a:lstStyle/>
            <a:p>
              <a:endParaRPr sz="1227"/>
            </a:p>
          </p:txBody>
        </p:sp>
        <p:sp>
          <p:nvSpPr>
            <p:cNvPr id="77" name="object 77"/>
            <p:cNvSpPr/>
            <p:nvPr/>
          </p:nvSpPr>
          <p:spPr>
            <a:xfrm>
              <a:off x="4039742" y="4319181"/>
              <a:ext cx="413384" cy="275590"/>
            </a:xfrm>
            <a:custGeom>
              <a:avLst/>
              <a:gdLst/>
              <a:ahLst/>
              <a:cxnLst/>
              <a:rect l="l" t="t" r="r" b="b"/>
              <a:pathLst>
                <a:path w="413385" h="275589">
                  <a:moveTo>
                    <a:pt x="0" y="275297"/>
                  </a:moveTo>
                  <a:lnTo>
                    <a:pt x="413308" y="0"/>
                  </a:lnTo>
                </a:path>
              </a:pathLst>
            </a:custGeom>
            <a:ln w="19050">
              <a:solidFill>
                <a:srgbClr val="000000"/>
              </a:solidFill>
            </a:ln>
          </p:spPr>
          <p:txBody>
            <a:bodyPr wrap="square" lIns="0" tIns="0" rIns="0" bIns="0" rtlCol="0"/>
            <a:lstStyle/>
            <a:p>
              <a:endParaRPr sz="1227"/>
            </a:p>
          </p:txBody>
        </p:sp>
        <p:sp>
          <p:nvSpPr>
            <p:cNvPr id="78" name="object 78"/>
            <p:cNvSpPr/>
            <p:nvPr/>
          </p:nvSpPr>
          <p:spPr>
            <a:xfrm>
              <a:off x="4364989" y="4319187"/>
              <a:ext cx="88265" cy="79375"/>
            </a:xfrm>
            <a:custGeom>
              <a:avLst/>
              <a:gdLst/>
              <a:ahLst/>
              <a:cxnLst/>
              <a:rect l="l" t="t" r="r" b="b"/>
              <a:pathLst>
                <a:path w="88264" h="79375">
                  <a:moveTo>
                    <a:pt x="49288" y="79235"/>
                  </a:moveTo>
                  <a:lnTo>
                    <a:pt x="88061" y="0"/>
                  </a:lnTo>
                  <a:lnTo>
                    <a:pt x="0" y="5245"/>
                  </a:lnTo>
                </a:path>
              </a:pathLst>
            </a:custGeom>
            <a:ln w="19050">
              <a:solidFill>
                <a:srgbClr val="000000"/>
              </a:solidFill>
            </a:ln>
          </p:spPr>
          <p:txBody>
            <a:bodyPr wrap="square" lIns="0" tIns="0" rIns="0" bIns="0" rtlCol="0"/>
            <a:lstStyle/>
            <a:p>
              <a:endParaRPr sz="1227"/>
            </a:p>
          </p:txBody>
        </p:sp>
        <p:sp>
          <p:nvSpPr>
            <p:cNvPr id="79" name="object 79"/>
            <p:cNvSpPr/>
            <p:nvPr/>
          </p:nvSpPr>
          <p:spPr>
            <a:xfrm>
              <a:off x="2135124" y="2556510"/>
              <a:ext cx="2780665" cy="17780"/>
            </a:xfrm>
            <a:custGeom>
              <a:avLst/>
              <a:gdLst/>
              <a:ahLst/>
              <a:cxnLst/>
              <a:rect l="l" t="t" r="r" b="b"/>
              <a:pathLst>
                <a:path w="2780665" h="17780">
                  <a:moveTo>
                    <a:pt x="0" y="17525"/>
                  </a:moveTo>
                  <a:lnTo>
                    <a:pt x="2780538" y="0"/>
                  </a:lnTo>
                </a:path>
              </a:pathLst>
            </a:custGeom>
            <a:ln w="28956">
              <a:solidFill>
                <a:srgbClr val="000000"/>
              </a:solidFill>
            </a:ln>
          </p:spPr>
          <p:txBody>
            <a:bodyPr wrap="square" lIns="0" tIns="0" rIns="0" bIns="0" rtlCol="0"/>
            <a:lstStyle/>
            <a:p>
              <a:endParaRPr sz="1227"/>
            </a:p>
          </p:txBody>
        </p:sp>
        <p:pic>
          <p:nvPicPr>
            <p:cNvPr id="80" name="object 80"/>
            <p:cNvPicPr/>
            <p:nvPr/>
          </p:nvPicPr>
          <p:blipFill>
            <a:blip r:embed="rId8" cstate="print"/>
            <a:stretch>
              <a:fillRect/>
            </a:stretch>
          </p:blipFill>
          <p:spPr>
            <a:xfrm>
              <a:off x="4872228" y="2513072"/>
              <a:ext cx="86867" cy="86868"/>
            </a:xfrm>
            <a:prstGeom prst="rect">
              <a:avLst/>
            </a:prstGeom>
          </p:spPr>
        </p:pic>
        <p:pic>
          <p:nvPicPr>
            <p:cNvPr id="81" name="object 81"/>
            <p:cNvPicPr/>
            <p:nvPr/>
          </p:nvPicPr>
          <p:blipFill>
            <a:blip r:embed="rId9" cstate="print"/>
            <a:stretch>
              <a:fillRect/>
            </a:stretch>
          </p:blipFill>
          <p:spPr>
            <a:xfrm>
              <a:off x="2091690" y="2530602"/>
              <a:ext cx="86868" cy="86868"/>
            </a:xfrm>
            <a:prstGeom prst="rect">
              <a:avLst/>
            </a:prstGeom>
          </p:spPr>
        </p:pic>
        <p:sp>
          <p:nvSpPr>
            <p:cNvPr id="82" name="object 82"/>
            <p:cNvSpPr/>
            <p:nvPr/>
          </p:nvSpPr>
          <p:spPr>
            <a:xfrm>
              <a:off x="2990088" y="2574036"/>
              <a:ext cx="0" cy="342900"/>
            </a:xfrm>
            <a:custGeom>
              <a:avLst/>
              <a:gdLst/>
              <a:ahLst/>
              <a:cxnLst/>
              <a:rect l="l" t="t" r="r" b="b"/>
              <a:pathLst>
                <a:path h="342900">
                  <a:moveTo>
                    <a:pt x="0" y="342900"/>
                  </a:moveTo>
                  <a:lnTo>
                    <a:pt x="0" y="0"/>
                  </a:lnTo>
                </a:path>
              </a:pathLst>
            </a:custGeom>
            <a:ln w="28956">
              <a:solidFill>
                <a:srgbClr val="000000"/>
              </a:solidFill>
            </a:ln>
          </p:spPr>
          <p:txBody>
            <a:bodyPr wrap="square" lIns="0" tIns="0" rIns="0" bIns="0" rtlCol="0"/>
            <a:lstStyle/>
            <a:p>
              <a:endParaRPr sz="1227"/>
            </a:p>
          </p:txBody>
        </p:sp>
        <p:pic>
          <p:nvPicPr>
            <p:cNvPr id="83" name="object 83"/>
            <p:cNvPicPr/>
            <p:nvPr/>
          </p:nvPicPr>
          <p:blipFill>
            <a:blip r:embed="rId10" cstate="print"/>
            <a:stretch>
              <a:fillRect/>
            </a:stretch>
          </p:blipFill>
          <p:spPr>
            <a:xfrm>
              <a:off x="2946648" y="2530602"/>
              <a:ext cx="86867" cy="86867"/>
            </a:xfrm>
            <a:prstGeom prst="rect">
              <a:avLst/>
            </a:prstGeom>
          </p:spPr>
        </p:pic>
        <p:sp>
          <p:nvSpPr>
            <p:cNvPr id="84" name="object 84"/>
            <p:cNvSpPr/>
            <p:nvPr/>
          </p:nvSpPr>
          <p:spPr>
            <a:xfrm>
              <a:off x="2135124" y="2574036"/>
              <a:ext cx="0" cy="357505"/>
            </a:xfrm>
            <a:custGeom>
              <a:avLst/>
              <a:gdLst/>
              <a:ahLst/>
              <a:cxnLst/>
              <a:rect l="l" t="t" r="r" b="b"/>
              <a:pathLst>
                <a:path h="357505">
                  <a:moveTo>
                    <a:pt x="0" y="357377"/>
                  </a:moveTo>
                  <a:lnTo>
                    <a:pt x="0" y="0"/>
                  </a:lnTo>
                </a:path>
              </a:pathLst>
            </a:custGeom>
            <a:ln w="28956">
              <a:solidFill>
                <a:srgbClr val="000000"/>
              </a:solidFill>
            </a:ln>
          </p:spPr>
          <p:txBody>
            <a:bodyPr wrap="square" lIns="0" tIns="0" rIns="0" bIns="0" rtlCol="0"/>
            <a:lstStyle/>
            <a:p>
              <a:endParaRPr sz="1227"/>
            </a:p>
          </p:txBody>
        </p:sp>
        <p:sp>
          <p:nvSpPr>
            <p:cNvPr id="85" name="object 85"/>
            <p:cNvSpPr/>
            <p:nvPr/>
          </p:nvSpPr>
          <p:spPr>
            <a:xfrm>
              <a:off x="4238244" y="2561844"/>
              <a:ext cx="482600" cy="0"/>
            </a:xfrm>
            <a:custGeom>
              <a:avLst/>
              <a:gdLst/>
              <a:ahLst/>
              <a:cxnLst/>
              <a:rect l="l" t="t" r="r" b="b"/>
              <a:pathLst>
                <a:path w="482600">
                  <a:moveTo>
                    <a:pt x="0" y="0"/>
                  </a:moveTo>
                  <a:lnTo>
                    <a:pt x="482345" y="0"/>
                  </a:lnTo>
                </a:path>
              </a:pathLst>
            </a:custGeom>
            <a:ln w="28956">
              <a:solidFill>
                <a:srgbClr val="C00000"/>
              </a:solidFill>
            </a:ln>
          </p:spPr>
          <p:txBody>
            <a:bodyPr wrap="square" lIns="0" tIns="0" rIns="0" bIns="0" rtlCol="0"/>
            <a:lstStyle/>
            <a:p>
              <a:endParaRPr sz="1227"/>
            </a:p>
          </p:txBody>
        </p:sp>
        <p:sp>
          <p:nvSpPr>
            <p:cNvPr id="86" name="object 86"/>
            <p:cNvSpPr/>
            <p:nvPr/>
          </p:nvSpPr>
          <p:spPr>
            <a:xfrm>
              <a:off x="4165856" y="2489457"/>
              <a:ext cx="86995" cy="144780"/>
            </a:xfrm>
            <a:custGeom>
              <a:avLst/>
              <a:gdLst/>
              <a:ahLst/>
              <a:cxnLst/>
              <a:rect l="l" t="t" r="r" b="b"/>
              <a:pathLst>
                <a:path w="86995" h="144780">
                  <a:moveTo>
                    <a:pt x="86867" y="0"/>
                  </a:moveTo>
                  <a:lnTo>
                    <a:pt x="0" y="72390"/>
                  </a:lnTo>
                  <a:lnTo>
                    <a:pt x="86867" y="144780"/>
                  </a:lnTo>
                  <a:lnTo>
                    <a:pt x="86867" y="0"/>
                  </a:lnTo>
                  <a:close/>
                </a:path>
              </a:pathLst>
            </a:custGeom>
            <a:solidFill>
              <a:srgbClr val="C00000"/>
            </a:solidFill>
          </p:spPr>
          <p:txBody>
            <a:bodyPr wrap="square" lIns="0" tIns="0" rIns="0" bIns="0" rtlCol="0"/>
            <a:lstStyle/>
            <a:p>
              <a:endParaRPr sz="1227"/>
            </a:p>
          </p:txBody>
        </p:sp>
      </p:grpSp>
      <p:sp>
        <p:nvSpPr>
          <p:cNvPr id="87" name="object 87"/>
          <p:cNvSpPr txBox="1"/>
          <p:nvPr/>
        </p:nvSpPr>
        <p:spPr>
          <a:xfrm>
            <a:off x="7119645" y="2293448"/>
            <a:ext cx="416935" cy="218236"/>
          </a:xfrm>
          <a:prstGeom prst="rect">
            <a:avLst/>
          </a:prstGeom>
        </p:spPr>
        <p:txBody>
          <a:bodyPr vert="horz" wrap="square" lIns="0" tIns="8226" rIns="0" bIns="0" rtlCol="0">
            <a:spAutoFit/>
          </a:bodyPr>
          <a:lstStyle/>
          <a:p>
            <a:pPr marL="8659">
              <a:spcBef>
                <a:spcPts val="65"/>
              </a:spcBef>
            </a:pPr>
            <a:r>
              <a:rPr sz="1364" dirty="0">
                <a:latin typeface="Cambria Math"/>
                <a:cs typeface="Cambria Math"/>
              </a:rPr>
              <a:t>𝑃𝐸</a:t>
            </a:r>
            <a:r>
              <a:rPr sz="1364" spc="112" dirty="0">
                <a:latin typeface="Cambria Math"/>
                <a:cs typeface="Cambria Math"/>
              </a:rPr>
              <a:t> </a:t>
            </a:r>
            <a:r>
              <a:rPr sz="1364" spc="-34" dirty="0">
                <a:latin typeface="Cambria Math"/>
                <a:cs typeface="Cambria Math"/>
              </a:rPr>
              <a:t>=</a:t>
            </a:r>
            <a:endParaRPr sz="1364">
              <a:latin typeface="Cambria Math"/>
              <a:cs typeface="Cambria Math"/>
            </a:endParaRPr>
          </a:p>
        </p:txBody>
      </p:sp>
      <p:sp>
        <p:nvSpPr>
          <p:cNvPr id="88" name="object 88"/>
          <p:cNvSpPr/>
          <p:nvPr/>
        </p:nvSpPr>
        <p:spPr>
          <a:xfrm>
            <a:off x="7576152" y="2420044"/>
            <a:ext cx="1178502" cy="11690"/>
          </a:xfrm>
          <a:custGeom>
            <a:avLst/>
            <a:gdLst/>
            <a:ahLst/>
            <a:cxnLst/>
            <a:rect l="l" t="t" r="r" b="b"/>
            <a:pathLst>
              <a:path w="1728470" h="17145">
                <a:moveTo>
                  <a:pt x="1728216" y="0"/>
                </a:moveTo>
                <a:lnTo>
                  <a:pt x="0" y="0"/>
                </a:lnTo>
                <a:lnTo>
                  <a:pt x="0" y="16764"/>
                </a:lnTo>
                <a:lnTo>
                  <a:pt x="1728216" y="16764"/>
                </a:lnTo>
                <a:lnTo>
                  <a:pt x="1728216" y="0"/>
                </a:lnTo>
                <a:close/>
              </a:path>
            </a:pathLst>
          </a:custGeom>
          <a:solidFill>
            <a:srgbClr val="000000"/>
          </a:solidFill>
        </p:spPr>
        <p:txBody>
          <a:bodyPr wrap="square" lIns="0" tIns="0" rIns="0" bIns="0" rtlCol="0"/>
          <a:lstStyle/>
          <a:p>
            <a:endParaRPr sz="1227"/>
          </a:p>
        </p:txBody>
      </p:sp>
      <p:sp>
        <p:nvSpPr>
          <p:cNvPr id="89" name="object 89"/>
          <p:cNvSpPr txBox="1"/>
          <p:nvPr/>
        </p:nvSpPr>
        <p:spPr>
          <a:xfrm>
            <a:off x="7782932" y="2205125"/>
            <a:ext cx="758969" cy="218107"/>
          </a:xfrm>
          <a:prstGeom prst="rect">
            <a:avLst/>
          </a:prstGeom>
        </p:spPr>
        <p:txBody>
          <a:bodyPr vert="horz" wrap="square" lIns="0" tIns="8226" rIns="0" bIns="0" rtlCol="0">
            <a:spAutoFit/>
          </a:bodyPr>
          <a:lstStyle/>
          <a:p>
            <a:pPr marL="25977">
              <a:spcBef>
                <a:spcPts val="65"/>
              </a:spcBef>
            </a:pPr>
            <a:r>
              <a:rPr sz="2045" baseline="13888" dirty="0">
                <a:latin typeface="Cambria Math"/>
                <a:cs typeface="Cambria Math"/>
              </a:rPr>
              <a:t>𝑉</a:t>
            </a:r>
            <a:r>
              <a:rPr sz="886" dirty="0">
                <a:latin typeface="Cambria Math"/>
                <a:cs typeface="Cambria Math"/>
              </a:rPr>
              <a:t>𝑜𝑢𝑡</a:t>
            </a:r>
            <a:r>
              <a:rPr sz="886" spc="150" dirty="0">
                <a:latin typeface="Cambria Math"/>
                <a:cs typeface="Cambria Math"/>
              </a:rPr>
              <a:t> </a:t>
            </a:r>
            <a:r>
              <a:rPr sz="2045" spc="10" baseline="13888" dirty="0" smtClean="0">
                <a:latin typeface="Cambria Math"/>
                <a:cs typeface="Cambria Math"/>
              </a:rPr>
              <a:t> </a:t>
            </a:r>
            <a:r>
              <a:rPr sz="2045" spc="-20" baseline="13888" dirty="0" smtClean="0">
                <a:latin typeface="Cambria Math"/>
                <a:cs typeface="Cambria Math"/>
              </a:rPr>
              <a:t>𝐼</a:t>
            </a:r>
            <a:r>
              <a:rPr sz="886" spc="-14" dirty="0" smtClean="0">
                <a:latin typeface="Cambria Math"/>
                <a:cs typeface="Cambria Math"/>
              </a:rPr>
              <a:t>𝑙𝑜𝑎𝑑</a:t>
            </a:r>
            <a:endParaRPr sz="886" dirty="0">
              <a:latin typeface="Cambria Math"/>
              <a:cs typeface="Cambria Math"/>
            </a:endParaRPr>
          </a:p>
        </p:txBody>
      </p:sp>
      <p:sp>
        <p:nvSpPr>
          <p:cNvPr id="90" name="object 90"/>
          <p:cNvSpPr txBox="1"/>
          <p:nvPr/>
        </p:nvSpPr>
        <p:spPr>
          <a:xfrm>
            <a:off x="7550175" y="2409307"/>
            <a:ext cx="1231322" cy="218236"/>
          </a:xfrm>
          <a:prstGeom prst="rect">
            <a:avLst/>
          </a:prstGeom>
        </p:spPr>
        <p:txBody>
          <a:bodyPr vert="horz" wrap="square" lIns="0" tIns="8226" rIns="0" bIns="0" rtlCol="0">
            <a:spAutoFit/>
          </a:bodyPr>
          <a:lstStyle/>
          <a:p>
            <a:pPr marL="25977">
              <a:spcBef>
                <a:spcPts val="65"/>
              </a:spcBef>
            </a:pPr>
            <a:r>
              <a:rPr sz="1364" dirty="0">
                <a:latin typeface="Cambria Math"/>
                <a:cs typeface="Cambria Math"/>
              </a:rPr>
              <a:t>𝑉</a:t>
            </a:r>
            <a:r>
              <a:rPr sz="1330" baseline="-21367" dirty="0">
                <a:latin typeface="Cambria Math"/>
                <a:cs typeface="Cambria Math"/>
              </a:rPr>
              <a:t>𝑖𝑛</a:t>
            </a:r>
            <a:r>
              <a:rPr sz="1330" spc="164" baseline="-21367" dirty="0">
                <a:latin typeface="Cambria Math"/>
                <a:cs typeface="Cambria Math"/>
              </a:rPr>
              <a:t> </a:t>
            </a:r>
            <a:r>
              <a:rPr sz="1364" dirty="0" smtClean="0">
                <a:latin typeface="Cambria Math"/>
                <a:cs typeface="Cambria Math"/>
              </a:rPr>
              <a:t> </a:t>
            </a:r>
            <a:r>
              <a:rPr sz="1364" dirty="0">
                <a:latin typeface="Cambria Math"/>
                <a:cs typeface="Cambria Math"/>
              </a:rPr>
              <a:t>(𝐼</a:t>
            </a:r>
            <a:r>
              <a:rPr sz="1483" baseline="-15325" dirty="0">
                <a:latin typeface="Cambria Math"/>
                <a:cs typeface="Cambria Math"/>
              </a:rPr>
              <a:t>𝑞</a:t>
            </a:r>
            <a:r>
              <a:rPr sz="1483" spc="256" baseline="-15325" dirty="0">
                <a:latin typeface="Cambria Math"/>
                <a:cs typeface="Cambria Math"/>
              </a:rPr>
              <a:t> </a:t>
            </a:r>
            <a:r>
              <a:rPr sz="1364" dirty="0">
                <a:latin typeface="Cambria Math"/>
                <a:cs typeface="Cambria Math"/>
              </a:rPr>
              <a:t>+</a:t>
            </a:r>
            <a:r>
              <a:rPr sz="1364" spc="3" dirty="0">
                <a:latin typeface="Cambria Math"/>
                <a:cs typeface="Cambria Math"/>
              </a:rPr>
              <a:t> </a:t>
            </a:r>
            <a:r>
              <a:rPr sz="1364" spc="27" dirty="0">
                <a:latin typeface="Cambria Math"/>
                <a:cs typeface="Cambria Math"/>
              </a:rPr>
              <a:t>𝐼</a:t>
            </a:r>
            <a:r>
              <a:rPr sz="1483" spc="41" baseline="-15325" dirty="0">
                <a:latin typeface="Cambria Math"/>
                <a:cs typeface="Cambria Math"/>
              </a:rPr>
              <a:t>𝑙𝑜𝑎𝑑</a:t>
            </a:r>
            <a:r>
              <a:rPr sz="1364" spc="27" dirty="0">
                <a:latin typeface="Cambria Math"/>
                <a:cs typeface="Cambria Math"/>
              </a:rPr>
              <a:t>)</a:t>
            </a:r>
            <a:endParaRPr sz="1364" dirty="0">
              <a:latin typeface="Cambria Math"/>
              <a:cs typeface="Cambria Math"/>
            </a:endParaRPr>
          </a:p>
        </p:txBody>
      </p:sp>
      <p:sp>
        <p:nvSpPr>
          <p:cNvPr id="91" name="object 91"/>
          <p:cNvSpPr/>
          <p:nvPr/>
        </p:nvSpPr>
        <p:spPr>
          <a:xfrm>
            <a:off x="8978922" y="2420043"/>
            <a:ext cx="285750" cy="11690"/>
          </a:xfrm>
          <a:custGeom>
            <a:avLst/>
            <a:gdLst/>
            <a:ahLst/>
            <a:cxnLst/>
            <a:rect l="l" t="t" r="r" b="b"/>
            <a:pathLst>
              <a:path w="419100" h="17145">
                <a:moveTo>
                  <a:pt x="419100" y="0"/>
                </a:moveTo>
                <a:lnTo>
                  <a:pt x="0" y="0"/>
                </a:lnTo>
                <a:lnTo>
                  <a:pt x="0" y="16763"/>
                </a:lnTo>
                <a:lnTo>
                  <a:pt x="419100" y="16763"/>
                </a:lnTo>
                <a:lnTo>
                  <a:pt x="419100" y="0"/>
                </a:lnTo>
                <a:close/>
              </a:path>
            </a:pathLst>
          </a:custGeom>
          <a:solidFill>
            <a:srgbClr val="000000"/>
          </a:solidFill>
        </p:spPr>
        <p:txBody>
          <a:bodyPr wrap="square" lIns="0" tIns="0" rIns="0" bIns="0" rtlCol="0"/>
          <a:lstStyle/>
          <a:p>
            <a:endParaRPr sz="1227"/>
          </a:p>
        </p:txBody>
      </p:sp>
      <p:sp>
        <p:nvSpPr>
          <p:cNvPr id="92" name="object 92"/>
          <p:cNvSpPr txBox="1"/>
          <p:nvPr/>
        </p:nvSpPr>
        <p:spPr>
          <a:xfrm>
            <a:off x="8776874" y="2205126"/>
            <a:ext cx="508722" cy="316083"/>
          </a:xfrm>
          <a:prstGeom prst="rect">
            <a:avLst/>
          </a:prstGeom>
        </p:spPr>
        <p:txBody>
          <a:bodyPr vert="horz" wrap="square" lIns="0" tIns="8226" rIns="0" bIns="0" rtlCol="0">
            <a:spAutoFit/>
          </a:bodyPr>
          <a:lstStyle/>
          <a:p>
            <a:pPr marL="201751">
              <a:lnSpc>
                <a:spcPts val="1166"/>
              </a:lnSpc>
              <a:spcBef>
                <a:spcPts val="65"/>
              </a:spcBef>
            </a:pPr>
            <a:r>
              <a:rPr sz="2045" spc="-20" baseline="13888" dirty="0">
                <a:latin typeface="Cambria Math"/>
                <a:cs typeface="Cambria Math"/>
              </a:rPr>
              <a:t>𝑉</a:t>
            </a:r>
            <a:r>
              <a:rPr sz="886" spc="-14" dirty="0">
                <a:latin typeface="Cambria Math"/>
                <a:cs typeface="Cambria Math"/>
              </a:rPr>
              <a:t>𝑜𝑢𝑡</a:t>
            </a:r>
            <a:endParaRPr sz="886">
              <a:latin typeface="Cambria Math"/>
              <a:cs typeface="Cambria Math"/>
            </a:endParaRPr>
          </a:p>
          <a:p>
            <a:pPr marL="25977">
              <a:lnSpc>
                <a:spcPts val="1166"/>
              </a:lnSpc>
            </a:pPr>
            <a:r>
              <a:rPr sz="1364" spc="-34" dirty="0">
                <a:latin typeface="Cambria Math"/>
                <a:cs typeface="Cambria Math"/>
              </a:rPr>
              <a:t>≈</a:t>
            </a:r>
            <a:endParaRPr sz="1364">
              <a:latin typeface="Cambria Math"/>
              <a:cs typeface="Cambria Math"/>
            </a:endParaRPr>
          </a:p>
        </p:txBody>
      </p:sp>
      <p:sp>
        <p:nvSpPr>
          <p:cNvPr id="93" name="object 93"/>
          <p:cNvSpPr txBox="1"/>
          <p:nvPr/>
        </p:nvSpPr>
        <p:spPr>
          <a:xfrm>
            <a:off x="8988796" y="2451909"/>
            <a:ext cx="262370" cy="218107"/>
          </a:xfrm>
          <a:prstGeom prst="rect">
            <a:avLst/>
          </a:prstGeom>
        </p:spPr>
        <p:txBody>
          <a:bodyPr vert="horz" wrap="square" lIns="0" tIns="8226" rIns="0" bIns="0" rtlCol="0">
            <a:spAutoFit/>
          </a:bodyPr>
          <a:lstStyle/>
          <a:p>
            <a:pPr marL="25977">
              <a:spcBef>
                <a:spcPts val="65"/>
              </a:spcBef>
            </a:pPr>
            <a:r>
              <a:rPr sz="2045" spc="-25" baseline="13888" dirty="0">
                <a:latin typeface="Cambria Math"/>
                <a:cs typeface="Cambria Math"/>
              </a:rPr>
              <a:t>𝑉</a:t>
            </a:r>
            <a:r>
              <a:rPr sz="886" spc="-17" dirty="0">
                <a:latin typeface="Cambria Math"/>
                <a:cs typeface="Cambria Math"/>
              </a:rPr>
              <a:t>𝑖𝑛</a:t>
            </a:r>
            <a:endParaRPr sz="886">
              <a:latin typeface="Cambria Math"/>
              <a:cs typeface="Cambria Math"/>
            </a:endParaRPr>
          </a:p>
        </p:txBody>
      </p:sp>
      <p:sp>
        <p:nvSpPr>
          <p:cNvPr id="94" name="object 94"/>
          <p:cNvSpPr/>
          <p:nvPr/>
        </p:nvSpPr>
        <p:spPr>
          <a:xfrm>
            <a:off x="7215587" y="3080387"/>
            <a:ext cx="1032164" cy="11690"/>
          </a:xfrm>
          <a:custGeom>
            <a:avLst/>
            <a:gdLst/>
            <a:ahLst/>
            <a:cxnLst/>
            <a:rect l="l" t="t" r="r" b="b"/>
            <a:pathLst>
              <a:path w="1513840" h="17145">
                <a:moveTo>
                  <a:pt x="1513332" y="0"/>
                </a:moveTo>
                <a:lnTo>
                  <a:pt x="0" y="0"/>
                </a:lnTo>
                <a:lnTo>
                  <a:pt x="0" y="16764"/>
                </a:lnTo>
                <a:lnTo>
                  <a:pt x="1513332" y="16764"/>
                </a:lnTo>
                <a:lnTo>
                  <a:pt x="1513332" y="0"/>
                </a:lnTo>
                <a:close/>
              </a:path>
            </a:pathLst>
          </a:custGeom>
          <a:solidFill>
            <a:srgbClr val="000000"/>
          </a:solidFill>
        </p:spPr>
        <p:txBody>
          <a:bodyPr wrap="square" lIns="0" tIns="0" rIns="0" bIns="0" rtlCol="0"/>
          <a:lstStyle/>
          <a:p>
            <a:endParaRPr sz="1227"/>
          </a:p>
        </p:txBody>
      </p:sp>
      <p:sp>
        <p:nvSpPr>
          <p:cNvPr id="95" name="object 95"/>
          <p:cNvSpPr/>
          <p:nvPr/>
        </p:nvSpPr>
        <p:spPr>
          <a:xfrm>
            <a:off x="8776820" y="3080385"/>
            <a:ext cx="578427" cy="11690"/>
          </a:xfrm>
          <a:custGeom>
            <a:avLst/>
            <a:gdLst/>
            <a:ahLst/>
            <a:cxnLst/>
            <a:rect l="l" t="t" r="r" b="b"/>
            <a:pathLst>
              <a:path w="848359" h="17145">
                <a:moveTo>
                  <a:pt x="848105" y="0"/>
                </a:moveTo>
                <a:lnTo>
                  <a:pt x="0" y="0"/>
                </a:lnTo>
                <a:lnTo>
                  <a:pt x="0" y="16763"/>
                </a:lnTo>
                <a:lnTo>
                  <a:pt x="848105" y="16763"/>
                </a:lnTo>
                <a:lnTo>
                  <a:pt x="848105" y="0"/>
                </a:lnTo>
                <a:close/>
              </a:path>
            </a:pathLst>
          </a:custGeom>
          <a:solidFill>
            <a:srgbClr val="C00000"/>
          </a:solidFill>
        </p:spPr>
        <p:txBody>
          <a:bodyPr wrap="square" lIns="0" tIns="0" rIns="0" bIns="0" rtlCol="0"/>
          <a:lstStyle/>
          <a:p>
            <a:endParaRPr sz="1227"/>
          </a:p>
        </p:txBody>
      </p:sp>
      <p:sp>
        <p:nvSpPr>
          <p:cNvPr id="96" name="object 96"/>
          <p:cNvSpPr txBox="1"/>
          <p:nvPr/>
        </p:nvSpPr>
        <p:spPr>
          <a:xfrm>
            <a:off x="7011925" y="2865468"/>
            <a:ext cx="2368261" cy="316083"/>
          </a:xfrm>
          <a:prstGeom prst="rect">
            <a:avLst/>
          </a:prstGeom>
        </p:spPr>
        <p:txBody>
          <a:bodyPr vert="horz" wrap="square" lIns="0" tIns="8226" rIns="0" bIns="0" rtlCol="0">
            <a:spAutoFit/>
          </a:bodyPr>
          <a:lstStyle/>
          <a:p>
            <a:pPr marL="203483">
              <a:lnSpc>
                <a:spcPts val="1166"/>
              </a:lnSpc>
              <a:spcBef>
                <a:spcPts val="65"/>
              </a:spcBef>
              <a:tabLst>
                <a:tab pos="1764676" algn="l"/>
              </a:tabLst>
            </a:pPr>
            <a:r>
              <a:rPr sz="2045" baseline="15277" dirty="0">
                <a:latin typeface="Cambria Math"/>
                <a:cs typeface="Cambria Math"/>
              </a:rPr>
              <a:t>𝑉</a:t>
            </a:r>
            <a:r>
              <a:rPr sz="1330" baseline="2136" dirty="0">
                <a:latin typeface="Cambria Math"/>
                <a:cs typeface="Cambria Math"/>
              </a:rPr>
              <a:t>𝑖𝑛</a:t>
            </a:r>
            <a:r>
              <a:rPr sz="1330" spc="189" baseline="2136" dirty="0">
                <a:latin typeface="Cambria Math"/>
                <a:cs typeface="Cambria Math"/>
              </a:rPr>
              <a:t> </a:t>
            </a:r>
            <a:r>
              <a:rPr sz="2045" baseline="15277" dirty="0">
                <a:latin typeface="Cambria Math"/>
                <a:cs typeface="Cambria Math"/>
              </a:rPr>
              <a:t>−</a:t>
            </a:r>
            <a:r>
              <a:rPr sz="2045" spc="5" baseline="15277" dirty="0">
                <a:latin typeface="Cambria Math"/>
                <a:cs typeface="Cambria Math"/>
              </a:rPr>
              <a:t> </a:t>
            </a:r>
            <a:r>
              <a:rPr sz="2045" spc="-10" baseline="15277" dirty="0">
                <a:latin typeface="Cambria Math"/>
                <a:cs typeface="Cambria Math"/>
              </a:rPr>
              <a:t>𝑉</a:t>
            </a:r>
            <a:r>
              <a:rPr sz="1483" spc="-10" baseline="5747" dirty="0">
                <a:latin typeface="Cambria Math"/>
                <a:cs typeface="Cambria Math"/>
              </a:rPr>
              <a:t>𝑑𝑟𝑜𝑝𝑜𝑢𝑡</a:t>
            </a:r>
            <a:r>
              <a:rPr sz="1483" baseline="5747" dirty="0">
                <a:latin typeface="Cambria Math"/>
                <a:cs typeface="Cambria Math"/>
              </a:rPr>
              <a:t>	</a:t>
            </a:r>
            <a:r>
              <a:rPr sz="2045" spc="71" baseline="13888" dirty="0">
                <a:solidFill>
                  <a:srgbClr val="C00000"/>
                </a:solidFill>
                <a:latin typeface="Cambria Math"/>
                <a:cs typeface="Cambria Math"/>
              </a:rPr>
              <a:t>𝑉</a:t>
            </a:r>
            <a:r>
              <a:rPr sz="886" spc="48" dirty="0">
                <a:solidFill>
                  <a:srgbClr val="C00000"/>
                </a:solidFill>
                <a:latin typeface="Cambria Math"/>
                <a:cs typeface="Cambria Math"/>
              </a:rPr>
              <a:t>𝑑𝑟𝑜𝑝𝑜𝑢𝑡</a:t>
            </a:r>
            <a:endParaRPr sz="886">
              <a:latin typeface="Cambria Math"/>
              <a:cs typeface="Cambria Math"/>
            </a:endParaRPr>
          </a:p>
          <a:p>
            <a:pPr marL="25977">
              <a:lnSpc>
                <a:spcPts val="1166"/>
              </a:lnSpc>
              <a:tabLst>
                <a:tab pos="1283676" algn="l"/>
              </a:tabLst>
            </a:pPr>
            <a:r>
              <a:rPr sz="1364" spc="-34" dirty="0">
                <a:latin typeface="Cambria Math"/>
                <a:cs typeface="Cambria Math"/>
              </a:rPr>
              <a:t>=</a:t>
            </a:r>
            <a:r>
              <a:rPr sz="1364" dirty="0">
                <a:latin typeface="Cambria Math"/>
                <a:cs typeface="Cambria Math"/>
              </a:rPr>
              <a:t>	=</a:t>
            </a:r>
            <a:r>
              <a:rPr sz="1364" spc="72" dirty="0">
                <a:latin typeface="Cambria Math"/>
                <a:cs typeface="Cambria Math"/>
              </a:rPr>
              <a:t> </a:t>
            </a:r>
            <a:r>
              <a:rPr sz="1364" dirty="0">
                <a:latin typeface="Cambria Math"/>
                <a:cs typeface="Cambria Math"/>
              </a:rPr>
              <a:t>1</a:t>
            </a:r>
            <a:r>
              <a:rPr sz="1364" spc="-7" dirty="0">
                <a:latin typeface="Cambria Math"/>
                <a:cs typeface="Cambria Math"/>
              </a:rPr>
              <a:t> </a:t>
            </a:r>
            <a:r>
              <a:rPr sz="1364" spc="-34" dirty="0">
                <a:latin typeface="Cambria Math"/>
                <a:cs typeface="Cambria Math"/>
              </a:rPr>
              <a:t>−</a:t>
            </a:r>
            <a:endParaRPr sz="1364">
              <a:latin typeface="Cambria Math"/>
              <a:cs typeface="Cambria Math"/>
            </a:endParaRPr>
          </a:p>
        </p:txBody>
      </p:sp>
      <p:sp>
        <p:nvSpPr>
          <p:cNvPr id="97" name="object 97"/>
          <p:cNvSpPr txBox="1"/>
          <p:nvPr/>
        </p:nvSpPr>
        <p:spPr>
          <a:xfrm>
            <a:off x="7615810" y="3069649"/>
            <a:ext cx="1455593" cy="218236"/>
          </a:xfrm>
          <a:prstGeom prst="rect">
            <a:avLst/>
          </a:prstGeom>
        </p:spPr>
        <p:txBody>
          <a:bodyPr vert="horz" wrap="square" lIns="0" tIns="8226" rIns="0" bIns="0" rtlCol="0">
            <a:spAutoFit/>
          </a:bodyPr>
          <a:lstStyle/>
          <a:p>
            <a:pPr marL="8659">
              <a:spcBef>
                <a:spcPts val="65"/>
              </a:spcBef>
              <a:tabLst>
                <a:tab pos="1334330" algn="l"/>
              </a:tabLst>
            </a:pPr>
            <a:r>
              <a:rPr sz="1364" spc="-34" dirty="0">
                <a:latin typeface="Cambria Math"/>
                <a:cs typeface="Cambria Math"/>
              </a:rPr>
              <a:t>𝑉</a:t>
            </a:r>
            <a:r>
              <a:rPr sz="1364" dirty="0">
                <a:latin typeface="Cambria Math"/>
                <a:cs typeface="Cambria Math"/>
              </a:rPr>
              <a:t>	</a:t>
            </a:r>
            <a:r>
              <a:rPr sz="1364" spc="-34" dirty="0">
                <a:solidFill>
                  <a:srgbClr val="C00000"/>
                </a:solidFill>
                <a:latin typeface="Cambria Math"/>
                <a:cs typeface="Cambria Math"/>
              </a:rPr>
              <a:t>𝑉</a:t>
            </a:r>
            <a:endParaRPr sz="1364">
              <a:latin typeface="Cambria Math"/>
              <a:cs typeface="Cambria Math"/>
            </a:endParaRPr>
          </a:p>
        </p:txBody>
      </p:sp>
      <p:sp>
        <p:nvSpPr>
          <p:cNvPr id="98" name="object 98"/>
          <p:cNvSpPr txBox="1"/>
          <p:nvPr/>
        </p:nvSpPr>
        <p:spPr>
          <a:xfrm>
            <a:off x="7723876" y="3169922"/>
            <a:ext cx="1465551" cy="147686"/>
          </a:xfrm>
          <a:prstGeom prst="rect">
            <a:avLst/>
          </a:prstGeom>
        </p:spPr>
        <p:txBody>
          <a:bodyPr vert="horz" wrap="square" lIns="0" tIns="11257" rIns="0" bIns="0" rtlCol="0">
            <a:spAutoFit/>
          </a:bodyPr>
          <a:lstStyle/>
          <a:p>
            <a:pPr marL="8659">
              <a:spcBef>
                <a:spcPts val="89"/>
              </a:spcBef>
              <a:tabLst>
                <a:tab pos="1338227" algn="l"/>
              </a:tabLst>
            </a:pPr>
            <a:r>
              <a:rPr sz="886" spc="-17" dirty="0">
                <a:latin typeface="Cambria Math"/>
                <a:cs typeface="Cambria Math"/>
              </a:rPr>
              <a:t>𝑖𝑛</a:t>
            </a:r>
            <a:r>
              <a:rPr sz="886" dirty="0">
                <a:latin typeface="Cambria Math"/>
                <a:cs typeface="Cambria Math"/>
              </a:rPr>
              <a:t>	</a:t>
            </a:r>
            <a:r>
              <a:rPr sz="886" spc="44" dirty="0">
                <a:solidFill>
                  <a:srgbClr val="C00000"/>
                </a:solidFill>
                <a:latin typeface="Cambria Math"/>
                <a:cs typeface="Cambria Math"/>
              </a:rPr>
              <a:t>𝑖𝑛</a:t>
            </a:r>
            <a:endParaRPr sz="886">
              <a:latin typeface="Cambria Math"/>
              <a:cs typeface="Cambria Math"/>
            </a:endParaRPr>
          </a:p>
        </p:txBody>
      </p:sp>
      <p:sp>
        <p:nvSpPr>
          <p:cNvPr id="99" name="object 99"/>
          <p:cNvSpPr txBox="1"/>
          <p:nvPr/>
        </p:nvSpPr>
        <p:spPr>
          <a:xfrm>
            <a:off x="7816969" y="3516827"/>
            <a:ext cx="1865168" cy="428165"/>
          </a:xfrm>
          <a:prstGeom prst="rect">
            <a:avLst/>
          </a:prstGeom>
        </p:spPr>
        <p:txBody>
          <a:bodyPr vert="horz" wrap="square" lIns="0" tIns="8226" rIns="0" bIns="0" rtlCol="0">
            <a:spAutoFit/>
          </a:bodyPr>
          <a:lstStyle/>
          <a:p>
            <a:pPr marL="8659" marR="3464" indent="221667">
              <a:spcBef>
                <a:spcPts val="65"/>
              </a:spcBef>
            </a:pPr>
            <a:r>
              <a:rPr sz="1364" i="1" dirty="0">
                <a:solidFill>
                  <a:srgbClr val="C00000"/>
                </a:solidFill>
                <a:latin typeface="Verdana"/>
                <a:cs typeface="Verdana"/>
              </a:rPr>
              <a:t>The</a:t>
            </a:r>
            <a:r>
              <a:rPr sz="1364" i="1" spc="-20" dirty="0">
                <a:solidFill>
                  <a:srgbClr val="C00000"/>
                </a:solidFill>
                <a:latin typeface="Verdana"/>
                <a:cs typeface="Verdana"/>
              </a:rPr>
              <a:t> </a:t>
            </a:r>
            <a:r>
              <a:rPr sz="1364" i="1" dirty="0">
                <a:solidFill>
                  <a:srgbClr val="C00000"/>
                </a:solidFill>
                <a:latin typeface="Verdana"/>
                <a:cs typeface="Verdana"/>
              </a:rPr>
              <a:t>larger</a:t>
            </a:r>
            <a:r>
              <a:rPr sz="1364" i="1" spc="-24" dirty="0">
                <a:solidFill>
                  <a:srgbClr val="C00000"/>
                </a:solidFill>
                <a:latin typeface="Verdana"/>
                <a:cs typeface="Verdana"/>
              </a:rPr>
              <a:t> </a:t>
            </a:r>
            <a:r>
              <a:rPr sz="1364" i="1" spc="-7" dirty="0">
                <a:solidFill>
                  <a:srgbClr val="C00000"/>
                </a:solidFill>
                <a:latin typeface="Verdana"/>
                <a:cs typeface="Verdana"/>
              </a:rPr>
              <a:t>dropout </a:t>
            </a:r>
            <a:r>
              <a:rPr sz="1364" i="1" dirty="0">
                <a:solidFill>
                  <a:srgbClr val="C00000"/>
                </a:solidFill>
                <a:latin typeface="Verdana"/>
                <a:cs typeface="Verdana"/>
              </a:rPr>
              <a:t>voltage,</a:t>
            </a:r>
            <a:r>
              <a:rPr sz="1364" i="1" spc="-27" dirty="0">
                <a:solidFill>
                  <a:srgbClr val="C00000"/>
                </a:solidFill>
                <a:latin typeface="Verdana"/>
                <a:cs typeface="Verdana"/>
              </a:rPr>
              <a:t> </a:t>
            </a:r>
            <a:r>
              <a:rPr sz="1364" i="1" dirty="0">
                <a:solidFill>
                  <a:srgbClr val="C00000"/>
                </a:solidFill>
                <a:latin typeface="Verdana"/>
                <a:cs typeface="Verdana"/>
              </a:rPr>
              <a:t>the</a:t>
            </a:r>
            <a:r>
              <a:rPr sz="1364" i="1" spc="-31" dirty="0">
                <a:solidFill>
                  <a:srgbClr val="C00000"/>
                </a:solidFill>
                <a:latin typeface="Verdana"/>
                <a:cs typeface="Verdana"/>
              </a:rPr>
              <a:t> </a:t>
            </a:r>
            <a:r>
              <a:rPr sz="1364" i="1" dirty="0">
                <a:solidFill>
                  <a:srgbClr val="C00000"/>
                </a:solidFill>
                <a:latin typeface="Verdana"/>
                <a:cs typeface="Verdana"/>
              </a:rPr>
              <a:t>lower</a:t>
            </a:r>
            <a:r>
              <a:rPr sz="1364" i="1" spc="-31" dirty="0">
                <a:solidFill>
                  <a:srgbClr val="C00000"/>
                </a:solidFill>
                <a:latin typeface="Verdana"/>
                <a:cs typeface="Verdana"/>
              </a:rPr>
              <a:t> </a:t>
            </a:r>
            <a:r>
              <a:rPr sz="1364" i="1" spc="-17" dirty="0">
                <a:solidFill>
                  <a:srgbClr val="C00000"/>
                </a:solidFill>
                <a:latin typeface="Verdana"/>
                <a:cs typeface="Verdana"/>
              </a:rPr>
              <a:t>PE</a:t>
            </a:r>
            <a:endParaRPr sz="1364">
              <a:latin typeface="Verdana"/>
              <a:cs typeface="Verdana"/>
            </a:endParaRPr>
          </a:p>
        </p:txBody>
      </p:sp>
      <p:sp>
        <p:nvSpPr>
          <p:cNvPr id="100" name="object 100"/>
          <p:cNvSpPr txBox="1"/>
          <p:nvPr/>
        </p:nvSpPr>
        <p:spPr>
          <a:xfrm>
            <a:off x="4748783" y="1469911"/>
            <a:ext cx="196561" cy="218236"/>
          </a:xfrm>
          <a:prstGeom prst="rect">
            <a:avLst/>
          </a:prstGeom>
        </p:spPr>
        <p:txBody>
          <a:bodyPr vert="horz" wrap="square" lIns="0" tIns="8226" rIns="0" bIns="0" rtlCol="0">
            <a:spAutoFit/>
          </a:bodyPr>
          <a:lstStyle/>
          <a:p>
            <a:pPr marL="25977">
              <a:spcBef>
                <a:spcPts val="65"/>
              </a:spcBef>
            </a:pPr>
            <a:r>
              <a:rPr sz="1364" i="1" spc="-17" dirty="0">
                <a:solidFill>
                  <a:srgbClr val="C00000"/>
                </a:solidFill>
                <a:latin typeface="Verdana"/>
                <a:cs typeface="Verdana"/>
              </a:rPr>
              <a:t>I</a:t>
            </a:r>
            <a:r>
              <a:rPr sz="1330" i="1" spc="-25" baseline="-21367" dirty="0">
                <a:solidFill>
                  <a:srgbClr val="C00000"/>
                </a:solidFill>
                <a:latin typeface="Verdana"/>
                <a:cs typeface="Verdana"/>
              </a:rPr>
              <a:t>q</a:t>
            </a:r>
            <a:endParaRPr sz="1330" baseline="-21367">
              <a:latin typeface="Verdana"/>
              <a:cs typeface="Verdana"/>
            </a:endParaRPr>
          </a:p>
        </p:txBody>
      </p:sp>
      <p:grpSp>
        <p:nvGrpSpPr>
          <p:cNvPr id="101" name="object 101"/>
          <p:cNvGrpSpPr/>
          <p:nvPr/>
        </p:nvGrpSpPr>
        <p:grpSpPr>
          <a:xfrm>
            <a:off x="5241871" y="1806373"/>
            <a:ext cx="98714" cy="178810"/>
            <a:chOff x="4843277" y="2649347"/>
            <a:chExt cx="144780" cy="262255"/>
          </a:xfrm>
        </p:grpSpPr>
        <p:sp>
          <p:nvSpPr>
            <p:cNvPr id="102" name="object 102"/>
            <p:cNvSpPr/>
            <p:nvPr/>
          </p:nvSpPr>
          <p:spPr>
            <a:xfrm>
              <a:off x="4915662" y="2663952"/>
              <a:ext cx="0" cy="175260"/>
            </a:xfrm>
            <a:custGeom>
              <a:avLst/>
              <a:gdLst/>
              <a:ahLst/>
              <a:cxnLst/>
              <a:rect l="l" t="t" r="r" b="b"/>
              <a:pathLst>
                <a:path h="175260">
                  <a:moveTo>
                    <a:pt x="0" y="175260"/>
                  </a:moveTo>
                  <a:lnTo>
                    <a:pt x="0" y="0"/>
                  </a:lnTo>
                </a:path>
              </a:pathLst>
            </a:custGeom>
            <a:ln w="28956">
              <a:solidFill>
                <a:srgbClr val="C00000"/>
              </a:solidFill>
            </a:ln>
          </p:spPr>
          <p:txBody>
            <a:bodyPr wrap="square" lIns="0" tIns="0" rIns="0" bIns="0" rtlCol="0"/>
            <a:lstStyle/>
            <a:p>
              <a:endParaRPr sz="1227"/>
            </a:p>
          </p:txBody>
        </p:sp>
        <p:sp>
          <p:nvSpPr>
            <p:cNvPr id="103" name="object 103"/>
            <p:cNvSpPr/>
            <p:nvPr/>
          </p:nvSpPr>
          <p:spPr>
            <a:xfrm>
              <a:off x="4843277" y="2824730"/>
              <a:ext cx="144780" cy="86995"/>
            </a:xfrm>
            <a:custGeom>
              <a:avLst/>
              <a:gdLst/>
              <a:ahLst/>
              <a:cxnLst/>
              <a:rect l="l" t="t" r="r" b="b"/>
              <a:pathLst>
                <a:path w="144779" h="86994">
                  <a:moveTo>
                    <a:pt x="144780" y="12"/>
                  </a:moveTo>
                  <a:lnTo>
                    <a:pt x="0" y="0"/>
                  </a:lnTo>
                  <a:lnTo>
                    <a:pt x="72390" y="86868"/>
                  </a:lnTo>
                  <a:lnTo>
                    <a:pt x="144780" y="12"/>
                  </a:lnTo>
                  <a:close/>
                </a:path>
              </a:pathLst>
            </a:custGeom>
            <a:solidFill>
              <a:srgbClr val="C00000"/>
            </a:solidFill>
          </p:spPr>
          <p:txBody>
            <a:bodyPr wrap="square" lIns="0" tIns="0" rIns="0" bIns="0" rtlCol="0"/>
            <a:lstStyle/>
            <a:p>
              <a:endParaRPr sz="1227"/>
            </a:p>
          </p:txBody>
        </p:sp>
      </p:grpSp>
      <p:sp>
        <p:nvSpPr>
          <p:cNvPr id="104" name="object 104"/>
          <p:cNvSpPr txBox="1"/>
          <p:nvPr/>
        </p:nvSpPr>
        <p:spPr>
          <a:xfrm>
            <a:off x="5337026" y="1731704"/>
            <a:ext cx="367578" cy="218107"/>
          </a:xfrm>
          <a:prstGeom prst="rect">
            <a:avLst/>
          </a:prstGeom>
        </p:spPr>
        <p:txBody>
          <a:bodyPr vert="horz" wrap="square" lIns="0" tIns="8226" rIns="0" bIns="0" rtlCol="0">
            <a:spAutoFit/>
          </a:bodyPr>
          <a:lstStyle/>
          <a:p>
            <a:pPr marL="25977">
              <a:spcBef>
                <a:spcPts val="65"/>
              </a:spcBef>
            </a:pPr>
            <a:r>
              <a:rPr sz="2045" i="1" spc="-10" baseline="13888" dirty="0">
                <a:solidFill>
                  <a:srgbClr val="C00000"/>
                </a:solidFill>
                <a:latin typeface="Verdana"/>
                <a:cs typeface="Verdana"/>
              </a:rPr>
              <a:t>I</a:t>
            </a:r>
            <a:r>
              <a:rPr sz="886" i="1" spc="-7" dirty="0">
                <a:solidFill>
                  <a:srgbClr val="C00000"/>
                </a:solidFill>
                <a:latin typeface="Verdana"/>
                <a:cs typeface="Verdana"/>
              </a:rPr>
              <a:t>load</a:t>
            </a:r>
            <a:endParaRPr sz="886">
              <a:latin typeface="Verdana"/>
              <a:cs typeface="Verdana"/>
            </a:endParaRPr>
          </a:p>
        </p:txBody>
      </p:sp>
      <p:sp>
        <p:nvSpPr>
          <p:cNvPr id="105" name="object 105"/>
          <p:cNvSpPr/>
          <p:nvPr/>
        </p:nvSpPr>
        <p:spPr>
          <a:xfrm>
            <a:off x="8744643" y="3381202"/>
            <a:ext cx="692727" cy="147205"/>
          </a:xfrm>
          <a:custGeom>
            <a:avLst/>
            <a:gdLst/>
            <a:ahLst/>
            <a:cxnLst/>
            <a:rect l="l" t="t" r="r" b="b"/>
            <a:pathLst>
              <a:path w="1016000" h="215900">
                <a:moveTo>
                  <a:pt x="1015746" y="0"/>
                </a:moveTo>
                <a:lnTo>
                  <a:pt x="983379" y="63679"/>
                </a:lnTo>
                <a:lnTo>
                  <a:pt x="947067" y="87019"/>
                </a:lnTo>
                <a:lnTo>
                  <a:pt x="901020" y="102326"/>
                </a:lnTo>
                <a:lnTo>
                  <a:pt x="848004" y="107822"/>
                </a:lnTo>
                <a:lnTo>
                  <a:pt x="675614" y="107822"/>
                </a:lnTo>
                <a:lnTo>
                  <a:pt x="622598" y="113319"/>
                </a:lnTo>
                <a:lnTo>
                  <a:pt x="576551" y="128626"/>
                </a:lnTo>
                <a:lnTo>
                  <a:pt x="540239" y="151966"/>
                </a:lnTo>
                <a:lnTo>
                  <a:pt x="516425" y="181565"/>
                </a:lnTo>
                <a:lnTo>
                  <a:pt x="507873" y="215645"/>
                </a:lnTo>
                <a:lnTo>
                  <a:pt x="499320" y="181565"/>
                </a:lnTo>
                <a:lnTo>
                  <a:pt x="475506" y="151966"/>
                </a:lnTo>
                <a:lnTo>
                  <a:pt x="439194" y="128626"/>
                </a:lnTo>
                <a:lnTo>
                  <a:pt x="393147" y="113319"/>
                </a:lnTo>
                <a:lnTo>
                  <a:pt x="340131" y="107822"/>
                </a:lnTo>
                <a:lnTo>
                  <a:pt x="167741" y="107822"/>
                </a:lnTo>
                <a:lnTo>
                  <a:pt x="114725" y="102326"/>
                </a:lnTo>
                <a:lnTo>
                  <a:pt x="68678" y="87019"/>
                </a:lnTo>
                <a:lnTo>
                  <a:pt x="32366" y="63679"/>
                </a:lnTo>
                <a:lnTo>
                  <a:pt x="8552" y="34080"/>
                </a:lnTo>
                <a:lnTo>
                  <a:pt x="0" y="0"/>
                </a:lnTo>
              </a:path>
            </a:pathLst>
          </a:custGeom>
          <a:ln w="28956">
            <a:solidFill>
              <a:srgbClr val="C00000"/>
            </a:solidFill>
          </a:ln>
        </p:spPr>
        <p:txBody>
          <a:bodyPr wrap="square" lIns="0" tIns="0" rIns="0" bIns="0" rtlCol="0"/>
          <a:lstStyle/>
          <a:p>
            <a:endParaRPr sz="1227"/>
          </a:p>
        </p:txBody>
      </p:sp>
      <p:grpSp>
        <p:nvGrpSpPr>
          <p:cNvPr id="106" name="object 106"/>
          <p:cNvGrpSpPr/>
          <p:nvPr/>
        </p:nvGrpSpPr>
        <p:grpSpPr>
          <a:xfrm>
            <a:off x="5858428" y="1995575"/>
            <a:ext cx="60614" cy="325582"/>
            <a:chOff x="5747561" y="2926844"/>
            <a:chExt cx="88900" cy="477520"/>
          </a:xfrm>
        </p:grpSpPr>
        <p:sp>
          <p:nvSpPr>
            <p:cNvPr id="107" name="object 107"/>
            <p:cNvSpPr/>
            <p:nvPr/>
          </p:nvSpPr>
          <p:spPr>
            <a:xfrm>
              <a:off x="5790902" y="2999230"/>
              <a:ext cx="2540" cy="332740"/>
            </a:xfrm>
            <a:custGeom>
              <a:avLst/>
              <a:gdLst/>
              <a:ahLst/>
              <a:cxnLst/>
              <a:rect l="l" t="t" r="r" b="b"/>
              <a:pathLst>
                <a:path w="2539" h="332739">
                  <a:moveTo>
                    <a:pt x="2120" y="0"/>
                  </a:moveTo>
                  <a:lnTo>
                    <a:pt x="0" y="332232"/>
                  </a:lnTo>
                </a:path>
              </a:pathLst>
            </a:custGeom>
            <a:ln w="28956">
              <a:solidFill>
                <a:srgbClr val="C00000"/>
              </a:solidFill>
            </a:ln>
          </p:spPr>
          <p:txBody>
            <a:bodyPr wrap="square" lIns="0" tIns="0" rIns="0" bIns="0" rtlCol="0"/>
            <a:lstStyle/>
            <a:p>
              <a:endParaRPr sz="1227"/>
            </a:p>
          </p:txBody>
        </p:sp>
        <p:sp>
          <p:nvSpPr>
            <p:cNvPr id="108" name="object 108"/>
            <p:cNvSpPr/>
            <p:nvPr/>
          </p:nvSpPr>
          <p:spPr>
            <a:xfrm>
              <a:off x="5747550" y="2926854"/>
              <a:ext cx="88900" cy="477520"/>
            </a:xfrm>
            <a:custGeom>
              <a:avLst/>
              <a:gdLst/>
              <a:ahLst/>
              <a:cxnLst/>
              <a:rect l="l" t="t" r="r" b="b"/>
              <a:pathLst>
                <a:path w="88900" h="477520">
                  <a:moveTo>
                    <a:pt x="86868" y="390423"/>
                  </a:moveTo>
                  <a:lnTo>
                    <a:pt x="0" y="389864"/>
                  </a:lnTo>
                  <a:lnTo>
                    <a:pt x="42875" y="477012"/>
                  </a:lnTo>
                  <a:lnTo>
                    <a:pt x="86868" y="390423"/>
                  </a:lnTo>
                  <a:close/>
                </a:path>
                <a:path w="88900" h="477520">
                  <a:moveTo>
                    <a:pt x="88811" y="87134"/>
                  </a:moveTo>
                  <a:lnTo>
                    <a:pt x="45923" y="0"/>
                  </a:lnTo>
                  <a:lnTo>
                    <a:pt x="1943" y="86588"/>
                  </a:lnTo>
                  <a:lnTo>
                    <a:pt x="88811" y="87134"/>
                  </a:lnTo>
                  <a:close/>
                </a:path>
              </a:pathLst>
            </a:custGeom>
            <a:solidFill>
              <a:srgbClr val="C00000"/>
            </a:solidFill>
          </p:spPr>
          <p:txBody>
            <a:bodyPr wrap="square" lIns="0" tIns="0" rIns="0" bIns="0" rtlCol="0"/>
            <a:lstStyle/>
            <a:p>
              <a:endParaRPr sz="1227"/>
            </a:p>
          </p:txBody>
        </p:sp>
      </p:grpSp>
      <p:sp>
        <p:nvSpPr>
          <p:cNvPr id="109" name="object 109"/>
          <p:cNvSpPr txBox="1"/>
          <p:nvPr/>
        </p:nvSpPr>
        <p:spPr>
          <a:xfrm>
            <a:off x="5948321" y="2072002"/>
            <a:ext cx="621723" cy="218107"/>
          </a:xfrm>
          <a:prstGeom prst="rect">
            <a:avLst/>
          </a:prstGeom>
        </p:spPr>
        <p:txBody>
          <a:bodyPr vert="horz" wrap="square" lIns="0" tIns="8226" rIns="0" bIns="0" rtlCol="0">
            <a:spAutoFit/>
          </a:bodyPr>
          <a:lstStyle/>
          <a:p>
            <a:pPr marL="25977">
              <a:spcBef>
                <a:spcPts val="65"/>
              </a:spcBef>
            </a:pPr>
            <a:r>
              <a:rPr sz="2045" spc="-10" baseline="13888" dirty="0">
                <a:solidFill>
                  <a:srgbClr val="C00000"/>
                </a:solidFill>
                <a:latin typeface="Verdana"/>
                <a:cs typeface="Verdana"/>
              </a:rPr>
              <a:t>V</a:t>
            </a:r>
            <a:r>
              <a:rPr sz="886" spc="-7" dirty="0">
                <a:solidFill>
                  <a:srgbClr val="C00000"/>
                </a:solidFill>
                <a:latin typeface="Verdana"/>
                <a:cs typeface="Verdana"/>
              </a:rPr>
              <a:t>dropout</a:t>
            </a:r>
            <a:endParaRPr sz="886">
              <a:latin typeface="Verdana"/>
              <a:cs typeface="Verdana"/>
            </a:endParaRPr>
          </a:p>
        </p:txBody>
      </p:sp>
      <p:sp>
        <p:nvSpPr>
          <p:cNvPr id="110" name="object 110"/>
          <p:cNvSpPr/>
          <p:nvPr/>
        </p:nvSpPr>
        <p:spPr>
          <a:xfrm>
            <a:off x="7588152" y="1737958"/>
            <a:ext cx="686666" cy="11690"/>
          </a:xfrm>
          <a:custGeom>
            <a:avLst/>
            <a:gdLst/>
            <a:ahLst/>
            <a:cxnLst/>
            <a:rect l="l" t="t" r="r" b="b"/>
            <a:pathLst>
              <a:path w="1007109" h="17144">
                <a:moveTo>
                  <a:pt x="1006602" y="0"/>
                </a:moveTo>
                <a:lnTo>
                  <a:pt x="0" y="0"/>
                </a:lnTo>
                <a:lnTo>
                  <a:pt x="0" y="16764"/>
                </a:lnTo>
                <a:lnTo>
                  <a:pt x="1006602" y="16764"/>
                </a:lnTo>
                <a:lnTo>
                  <a:pt x="1006602" y="0"/>
                </a:lnTo>
                <a:close/>
              </a:path>
            </a:pathLst>
          </a:custGeom>
          <a:solidFill>
            <a:srgbClr val="000000"/>
          </a:solidFill>
        </p:spPr>
        <p:txBody>
          <a:bodyPr wrap="square" lIns="0" tIns="0" rIns="0" bIns="0" rtlCol="0"/>
          <a:lstStyle/>
          <a:p>
            <a:endParaRPr sz="1227"/>
          </a:p>
        </p:txBody>
      </p:sp>
      <p:sp>
        <p:nvSpPr>
          <p:cNvPr id="111" name="object 111"/>
          <p:cNvSpPr txBox="1"/>
          <p:nvPr/>
        </p:nvSpPr>
        <p:spPr>
          <a:xfrm>
            <a:off x="7754926" y="1523039"/>
            <a:ext cx="347230" cy="218107"/>
          </a:xfrm>
          <a:prstGeom prst="rect">
            <a:avLst/>
          </a:prstGeom>
        </p:spPr>
        <p:txBody>
          <a:bodyPr vert="horz" wrap="square" lIns="0" tIns="8226" rIns="0" bIns="0" rtlCol="0">
            <a:spAutoFit/>
          </a:bodyPr>
          <a:lstStyle/>
          <a:p>
            <a:pPr marL="25977">
              <a:spcBef>
                <a:spcPts val="65"/>
              </a:spcBef>
            </a:pPr>
            <a:r>
              <a:rPr sz="2045" spc="-10" baseline="13888" dirty="0">
                <a:latin typeface="Cambria Math"/>
                <a:cs typeface="Cambria Math"/>
              </a:rPr>
              <a:t>𝐼</a:t>
            </a:r>
            <a:r>
              <a:rPr sz="886" spc="-7" dirty="0">
                <a:latin typeface="Cambria Math"/>
                <a:cs typeface="Cambria Math"/>
              </a:rPr>
              <a:t>𝑙𝑜𝑎𝑑</a:t>
            </a:r>
            <a:endParaRPr sz="886">
              <a:latin typeface="Cambria Math"/>
              <a:cs typeface="Cambria Math"/>
            </a:endParaRPr>
          </a:p>
        </p:txBody>
      </p:sp>
      <p:sp>
        <p:nvSpPr>
          <p:cNvPr id="112" name="object 112"/>
          <p:cNvSpPr txBox="1"/>
          <p:nvPr/>
        </p:nvSpPr>
        <p:spPr>
          <a:xfrm>
            <a:off x="7644956" y="1827493"/>
            <a:ext cx="79663" cy="147686"/>
          </a:xfrm>
          <a:prstGeom prst="rect">
            <a:avLst/>
          </a:prstGeom>
        </p:spPr>
        <p:txBody>
          <a:bodyPr vert="horz" wrap="square" lIns="0" tIns="11257" rIns="0" bIns="0" rtlCol="0">
            <a:spAutoFit/>
          </a:bodyPr>
          <a:lstStyle/>
          <a:p>
            <a:pPr marL="8659">
              <a:spcBef>
                <a:spcPts val="89"/>
              </a:spcBef>
            </a:pPr>
            <a:r>
              <a:rPr sz="886" spc="-34" dirty="0">
                <a:latin typeface="Cambria Math"/>
                <a:cs typeface="Cambria Math"/>
              </a:rPr>
              <a:t>𝑞</a:t>
            </a:r>
            <a:endParaRPr sz="886">
              <a:latin typeface="Cambria Math"/>
              <a:cs typeface="Cambria Math"/>
            </a:endParaRPr>
          </a:p>
        </p:txBody>
      </p:sp>
      <p:sp>
        <p:nvSpPr>
          <p:cNvPr id="113" name="object 113"/>
          <p:cNvSpPr txBox="1"/>
          <p:nvPr/>
        </p:nvSpPr>
        <p:spPr>
          <a:xfrm>
            <a:off x="7135801" y="1611362"/>
            <a:ext cx="866775" cy="341731"/>
          </a:xfrm>
          <a:prstGeom prst="rect">
            <a:avLst/>
          </a:prstGeom>
        </p:spPr>
        <p:txBody>
          <a:bodyPr vert="horz" wrap="square" lIns="0" tIns="8226" rIns="0" bIns="0" rtlCol="0">
            <a:spAutoFit/>
          </a:bodyPr>
          <a:lstStyle/>
          <a:p>
            <a:pPr marL="8659">
              <a:lnSpc>
                <a:spcPts val="1275"/>
              </a:lnSpc>
              <a:spcBef>
                <a:spcPts val="65"/>
              </a:spcBef>
            </a:pPr>
            <a:r>
              <a:rPr sz="1364" dirty="0">
                <a:latin typeface="Cambria Math"/>
                <a:cs typeface="Cambria Math"/>
              </a:rPr>
              <a:t>𝐶𝐸</a:t>
            </a:r>
            <a:r>
              <a:rPr sz="1364" spc="116" dirty="0">
                <a:latin typeface="Cambria Math"/>
                <a:cs typeface="Cambria Math"/>
              </a:rPr>
              <a:t> </a:t>
            </a:r>
            <a:r>
              <a:rPr sz="1364" spc="-34" dirty="0">
                <a:latin typeface="Cambria Math"/>
                <a:cs typeface="Cambria Math"/>
              </a:rPr>
              <a:t>=</a:t>
            </a:r>
            <a:endParaRPr sz="1364">
              <a:latin typeface="Cambria Math"/>
              <a:cs typeface="Cambria Math"/>
            </a:endParaRPr>
          </a:p>
          <a:p>
            <a:pPr marL="451992">
              <a:lnSpc>
                <a:spcPts val="1275"/>
              </a:lnSpc>
              <a:tabLst>
                <a:tab pos="623438" algn="l"/>
              </a:tabLst>
            </a:pPr>
            <a:r>
              <a:rPr sz="1364" spc="-34" dirty="0">
                <a:latin typeface="Cambria Math"/>
                <a:cs typeface="Cambria Math"/>
              </a:rPr>
              <a:t>𝐼</a:t>
            </a:r>
            <a:r>
              <a:rPr sz="1364" dirty="0">
                <a:latin typeface="Cambria Math"/>
                <a:cs typeface="Cambria Math"/>
              </a:rPr>
              <a:t>	+</a:t>
            </a:r>
            <a:r>
              <a:rPr sz="1364" spc="-3" dirty="0">
                <a:latin typeface="Cambria Math"/>
                <a:cs typeface="Cambria Math"/>
              </a:rPr>
              <a:t> </a:t>
            </a:r>
            <a:r>
              <a:rPr sz="1364" spc="-34" dirty="0">
                <a:latin typeface="Cambria Math"/>
                <a:cs typeface="Cambria Math"/>
              </a:rPr>
              <a:t>𝐼</a:t>
            </a:r>
            <a:endParaRPr sz="1364">
              <a:latin typeface="Cambria Math"/>
              <a:cs typeface="Cambria Math"/>
            </a:endParaRPr>
          </a:p>
        </p:txBody>
      </p:sp>
      <p:sp>
        <p:nvSpPr>
          <p:cNvPr id="114" name="object 114"/>
          <p:cNvSpPr txBox="1"/>
          <p:nvPr/>
        </p:nvSpPr>
        <p:spPr>
          <a:xfrm>
            <a:off x="7974867" y="1809308"/>
            <a:ext cx="296141" cy="161402"/>
          </a:xfrm>
          <a:prstGeom prst="rect">
            <a:avLst/>
          </a:prstGeom>
        </p:spPr>
        <p:txBody>
          <a:bodyPr vert="horz" wrap="square" lIns="0" tIns="9092" rIns="0" bIns="0" rtlCol="0">
            <a:spAutoFit/>
          </a:bodyPr>
          <a:lstStyle/>
          <a:p>
            <a:pPr marL="8659">
              <a:spcBef>
                <a:spcPts val="72"/>
              </a:spcBef>
            </a:pPr>
            <a:r>
              <a:rPr sz="989" spc="37" dirty="0">
                <a:latin typeface="Cambria Math"/>
                <a:cs typeface="Cambria Math"/>
              </a:rPr>
              <a:t>𝑙𝑜𝑎𝑑</a:t>
            </a:r>
            <a:endParaRPr sz="989">
              <a:latin typeface="Cambria Math"/>
              <a:cs typeface="Cambria Math"/>
            </a:endParaRPr>
          </a:p>
        </p:txBody>
      </p:sp>
      <p:sp>
        <p:nvSpPr>
          <p:cNvPr id="115" name="object 115"/>
          <p:cNvSpPr txBox="1"/>
          <p:nvPr/>
        </p:nvSpPr>
        <p:spPr>
          <a:xfrm>
            <a:off x="4316328" y="1838201"/>
            <a:ext cx="223405" cy="197578"/>
          </a:xfrm>
          <a:prstGeom prst="rect">
            <a:avLst/>
          </a:prstGeom>
        </p:spPr>
        <p:txBody>
          <a:bodyPr vert="horz" wrap="square" lIns="0" tIns="8659" rIns="0" bIns="0" rtlCol="0">
            <a:spAutoFit/>
          </a:bodyPr>
          <a:lstStyle/>
          <a:p>
            <a:pPr marL="25977">
              <a:spcBef>
                <a:spcPts val="68"/>
              </a:spcBef>
            </a:pPr>
            <a:r>
              <a:rPr sz="1227" spc="-17" dirty="0">
                <a:latin typeface="Verdana"/>
                <a:cs typeface="Verdana"/>
              </a:rPr>
              <a:t>V</a:t>
            </a:r>
            <a:r>
              <a:rPr sz="1227" spc="-25" baseline="-20833" dirty="0">
                <a:latin typeface="Verdana"/>
                <a:cs typeface="Verdana"/>
              </a:rPr>
              <a:t>g</a:t>
            </a:r>
            <a:endParaRPr sz="1227" baseline="-20833">
              <a:latin typeface="Verdana"/>
              <a:cs typeface="Verdana"/>
            </a:endParaRPr>
          </a:p>
        </p:txBody>
      </p:sp>
      <p:sp>
        <p:nvSpPr>
          <p:cNvPr id="116" name="object 116"/>
          <p:cNvSpPr txBox="1"/>
          <p:nvPr/>
        </p:nvSpPr>
        <p:spPr>
          <a:xfrm>
            <a:off x="4945847" y="2973554"/>
            <a:ext cx="125990" cy="197578"/>
          </a:xfrm>
          <a:prstGeom prst="rect">
            <a:avLst/>
          </a:prstGeom>
        </p:spPr>
        <p:txBody>
          <a:bodyPr vert="horz" wrap="square" lIns="0" tIns="8659" rIns="0" bIns="0" rtlCol="0">
            <a:spAutoFit/>
          </a:bodyPr>
          <a:lstStyle/>
          <a:p>
            <a:pPr marL="8659">
              <a:spcBef>
                <a:spcPts val="68"/>
              </a:spcBef>
            </a:pPr>
            <a:r>
              <a:rPr sz="1227" spc="-34" dirty="0">
                <a:latin typeface="Verdana"/>
                <a:cs typeface="Verdana"/>
              </a:rPr>
              <a:t>R</a:t>
            </a:r>
            <a:endParaRPr sz="1227">
              <a:latin typeface="Verdana"/>
              <a:cs typeface="Verdana"/>
            </a:endParaRPr>
          </a:p>
        </p:txBody>
      </p:sp>
      <p:sp>
        <p:nvSpPr>
          <p:cNvPr id="117" name="object 117"/>
          <p:cNvSpPr txBox="1"/>
          <p:nvPr/>
        </p:nvSpPr>
        <p:spPr>
          <a:xfrm>
            <a:off x="5054433" y="3063956"/>
            <a:ext cx="235960" cy="134612"/>
          </a:xfrm>
          <a:prstGeom prst="rect">
            <a:avLst/>
          </a:prstGeom>
        </p:spPr>
        <p:txBody>
          <a:bodyPr vert="horz" wrap="square" lIns="0" tIns="8659" rIns="0" bIns="0" rtlCol="0">
            <a:spAutoFit/>
          </a:bodyPr>
          <a:lstStyle/>
          <a:p>
            <a:pPr marL="8659">
              <a:spcBef>
                <a:spcPts val="68"/>
              </a:spcBef>
            </a:pPr>
            <a:r>
              <a:rPr sz="818" spc="-14" dirty="0">
                <a:latin typeface="Verdana"/>
                <a:cs typeface="Verdana"/>
              </a:rPr>
              <a:t>load</a:t>
            </a:r>
            <a:endParaRPr sz="818">
              <a:latin typeface="Verdana"/>
              <a:cs typeface="Verdana"/>
            </a:endParaRPr>
          </a:p>
        </p:txBody>
      </p:sp>
      <p:sp>
        <p:nvSpPr>
          <p:cNvPr id="118" name="object 118"/>
          <p:cNvSpPr txBox="1"/>
          <p:nvPr/>
        </p:nvSpPr>
        <p:spPr>
          <a:xfrm>
            <a:off x="3828583" y="2964098"/>
            <a:ext cx="126423" cy="197578"/>
          </a:xfrm>
          <a:prstGeom prst="rect">
            <a:avLst/>
          </a:prstGeom>
        </p:spPr>
        <p:txBody>
          <a:bodyPr vert="horz" wrap="square" lIns="0" tIns="8659" rIns="0" bIns="0" rtlCol="0">
            <a:spAutoFit/>
          </a:bodyPr>
          <a:lstStyle/>
          <a:p>
            <a:pPr marL="8659">
              <a:spcBef>
                <a:spcPts val="68"/>
              </a:spcBef>
            </a:pPr>
            <a:r>
              <a:rPr sz="1227" spc="-34" dirty="0">
                <a:latin typeface="Verdana"/>
                <a:cs typeface="Verdana"/>
              </a:rPr>
              <a:t>C</a:t>
            </a:r>
            <a:endParaRPr sz="1227">
              <a:latin typeface="Verdana"/>
              <a:cs typeface="Verdana"/>
            </a:endParaRPr>
          </a:p>
        </p:txBody>
      </p:sp>
      <p:sp>
        <p:nvSpPr>
          <p:cNvPr id="119" name="object 119"/>
          <p:cNvSpPr txBox="1"/>
          <p:nvPr/>
        </p:nvSpPr>
        <p:spPr>
          <a:xfrm>
            <a:off x="3937168" y="3054499"/>
            <a:ext cx="187469" cy="134612"/>
          </a:xfrm>
          <a:prstGeom prst="rect">
            <a:avLst/>
          </a:prstGeom>
        </p:spPr>
        <p:txBody>
          <a:bodyPr vert="horz" wrap="square" lIns="0" tIns="8659" rIns="0" bIns="0" rtlCol="0">
            <a:spAutoFit/>
          </a:bodyPr>
          <a:lstStyle/>
          <a:p>
            <a:pPr marL="8659">
              <a:spcBef>
                <a:spcPts val="68"/>
              </a:spcBef>
            </a:pPr>
            <a:r>
              <a:rPr sz="818" spc="-17" dirty="0">
                <a:latin typeface="Verdana"/>
                <a:cs typeface="Verdana"/>
              </a:rPr>
              <a:t>out</a:t>
            </a:r>
            <a:endParaRPr sz="818">
              <a:latin typeface="Verdana"/>
              <a:cs typeface="Verdana"/>
            </a:endParaRPr>
          </a:p>
        </p:txBody>
      </p:sp>
    </p:spTree>
    <p:extLst>
      <p:ext uri="{BB962C8B-B14F-4D97-AF65-F5344CB8AC3E}">
        <p14:creationId xmlns:p14="http://schemas.microsoft.com/office/powerpoint/2010/main" val="35211365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3280" y="237085"/>
            <a:ext cx="8877502" cy="531526"/>
          </a:xfrm>
          <a:prstGeom prst="rect">
            <a:avLst/>
          </a:prstGeom>
        </p:spPr>
        <p:txBody>
          <a:bodyPr vert="horz" wrap="square" lIns="0" tIns="8226" rIns="0" bIns="0" rtlCol="0">
            <a:spAutoFit/>
          </a:bodyPr>
          <a:lstStyle/>
          <a:p>
            <a:pPr marL="8659">
              <a:spcBef>
                <a:spcPts val="65"/>
              </a:spcBef>
            </a:pPr>
            <a:r>
              <a:rPr dirty="0"/>
              <a:t>Power</a:t>
            </a:r>
            <a:r>
              <a:rPr spc="-72" dirty="0"/>
              <a:t> </a:t>
            </a:r>
            <a:r>
              <a:rPr dirty="0"/>
              <a:t>Supply</a:t>
            </a:r>
            <a:r>
              <a:rPr spc="-85" dirty="0"/>
              <a:t> </a:t>
            </a:r>
            <a:r>
              <a:rPr dirty="0"/>
              <a:t>Rejection</a:t>
            </a:r>
            <a:r>
              <a:rPr spc="-75" dirty="0"/>
              <a:t> </a:t>
            </a:r>
            <a:r>
              <a:rPr dirty="0"/>
              <a:t>Ratio</a:t>
            </a:r>
            <a:r>
              <a:rPr spc="-72" dirty="0"/>
              <a:t> </a:t>
            </a:r>
            <a:r>
              <a:rPr spc="-7" dirty="0"/>
              <a:t>(PSRR)</a:t>
            </a:r>
          </a:p>
        </p:txBody>
      </p:sp>
      <p:grpSp>
        <p:nvGrpSpPr>
          <p:cNvPr id="3" name="object 3"/>
          <p:cNvGrpSpPr/>
          <p:nvPr/>
        </p:nvGrpSpPr>
        <p:grpSpPr>
          <a:xfrm>
            <a:off x="3085043" y="2654705"/>
            <a:ext cx="3060123" cy="1559502"/>
            <a:chOff x="3877876" y="3290063"/>
            <a:chExt cx="4488180" cy="2287270"/>
          </a:xfrm>
        </p:grpSpPr>
        <p:sp>
          <p:nvSpPr>
            <p:cNvPr id="4" name="object 4"/>
            <p:cNvSpPr/>
            <p:nvPr/>
          </p:nvSpPr>
          <p:spPr>
            <a:xfrm>
              <a:off x="3922395" y="3658742"/>
              <a:ext cx="4434205" cy="1905"/>
            </a:xfrm>
            <a:custGeom>
              <a:avLst/>
              <a:gdLst/>
              <a:ahLst/>
              <a:cxnLst/>
              <a:rect l="l" t="t" r="r" b="b"/>
              <a:pathLst>
                <a:path w="4434205" h="1904">
                  <a:moveTo>
                    <a:pt x="0" y="0"/>
                  </a:moveTo>
                  <a:lnTo>
                    <a:pt x="4434078" y="1574"/>
                  </a:lnTo>
                </a:path>
              </a:pathLst>
            </a:custGeom>
            <a:ln w="19050">
              <a:solidFill>
                <a:srgbClr val="000000"/>
              </a:solidFill>
            </a:ln>
          </p:spPr>
          <p:txBody>
            <a:bodyPr wrap="square" lIns="0" tIns="0" rIns="0" bIns="0" rtlCol="0"/>
            <a:lstStyle/>
            <a:p>
              <a:endParaRPr sz="1227"/>
            </a:p>
          </p:txBody>
        </p:sp>
        <p:sp>
          <p:nvSpPr>
            <p:cNvPr id="5" name="object 5"/>
            <p:cNvSpPr/>
            <p:nvPr/>
          </p:nvSpPr>
          <p:spPr>
            <a:xfrm>
              <a:off x="8280253" y="3615840"/>
              <a:ext cx="76835" cy="88900"/>
            </a:xfrm>
            <a:custGeom>
              <a:avLst/>
              <a:gdLst/>
              <a:ahLst/>
              <a:cxnLst/>
              <a:rect l="l" t="t" r="r" b="b"/>
              <a:pathLst>
                <a:path w="76834" h="88900">
                  <a:moveTo>
                    <a:pt x="38" y="0"/>
                  </a:moveTo>
                  <a:lnTo>
                    <a:pt x="76225" y="44475"/>
                  </a:lnTo>
                  <a:lnTo>
                    <a:pt x="0" y="88900"/>
                  </a:lnTo>
                </a:path>
              </a:pathLst>
            </a:custGeom>
            <a:ln w="19050">
              <a:solidFill>
                <a:srgbClr val="000000"/>
              </a:solidFill>
            </a:ln>
          </p:spPr>
          <p:txBody>
            <a:bodyPr wrap="square" lIns="0" tIns="0" rIns="0" bIns="0" rtlCol="0"/>
            <a:lstStyle/>
            <a:p>
              <a:endParaRPr sz="1227"/>
            </a:p>
          </p:txBody>
        </p:sp>
        <p:sp>
          <p:nvSpPr>
            <p:cNvPr id="6" name="object 6"/>
            <p:cNvSpPr/>
            <p:nvPr/>
          </p:nvSpPr>
          <p:spPr>
            <a:xfrm>
              <a:off x="3934841" y="3303080"/>
              <a:ext cx="0" cy="1967230"/>
            </a:xfrm>
            <a:custGeom>
              <a:avLst/>
              <a:gdLst/>
              <a:ahLst/>
              <a:cxnLst/>
              <a:rect l="l" t="t" r="r" b="b"/>
              <a:pathLst>
                <a:path h="1967229">
                  <a:moveTo>
                    <a:pt x="0" y="0"/>
                  </a:moveTo>
                  <a:lnTo>
                    <a:pt x="0" y="1281873"/>
                  </a:lnTo>
                </a:path>
                <a:path h="1967229">
                  <a:moveTo>
                    <a:pt x="0" y="1333778"/>
                  </a:moveTo>
                  <a:lnTo>
                    <a:pt x="0" y="1966899"/>
                  </a:lnTo>
                </a:path>
              </a:pathLst>
            </a:custGeom>
            <a:ln w="25539">
              <a:solidFill>
                <a:srgbClr val="000000"/>
              </a:solidFill>
            </a:ln>
          </p:spPr>
          <p:txBody>
            <a:bodyPr wrap="square" lIns="0" tIns="0" rIns="0" bIns="0" rtlCol="0"/>
            <a:lstStyle/>
            <a:p>
              <a:endParaRPr sz="1227"/>
            </a:p>
          </p:txBody>
        </p:sp>
        <p:sp>
          <p:nvSpPr>
            <p:cNvPr id="7" name="object 7"/>
            <p:cNvSpPr/>
            <p:nvPr/>
          </p:nvSpPr>
          <p:spPr>
            <a:xfrm>
              <a:off x="3887401" y="3312609"/>
              <a:ext cx="88900" cy="76835"/>
            </a:xfrm>
            <a:custGeom>
              <a:avLst/>
              <a:gdLst/>
              <a:ahLst/>
              <a:cxnLst/>
              <a:rect l="l" t="t" r="r" b="b"/>
              <a:pathLst>
                <a:path w="88900" h="76835">
                  <a:moveTo>
                    <a:pt x="0" y="76339"/>
                  </a:moveTo>
                  <a:lnTo>
                    <a:pt x="44196" y="0"/>
                  </a:lnTo>
                  <a:lnTo>
                    <a:pt x="88900" y="76047"/>
                  </a:lnTo>
                </a:path>
              </a:pathLst>
            </a:custGeom>
            <a:ln w="19050">
              <a:solidFill>
                <a:srgbClr val="000000"/>
              </a:solidFill>
            </a:ln>
          </p:spPr>
          <p:txBody>
            <a:bodyPr wrap="square" lIns="0" tIns="0" rIns="0" bIns="0" rtlCol="0"/>
            <a:lstStyle/>
            <a:p>
              <a:endParaRPr sz="1227"/>
            </a:p>
          </p:txBody>
        </p:sp>
        <p:sp>
          <p:nvSpPr>
            <p:cNvPr id="8" name="object 8"/>
            <p:cNvSpPr/>
            <p:nvPr/>
          </p:nvSpPr>
          <p:spPr>
            <a:xfrm>
              <a:off x="3893378" y="5184105"/>
              <a:ext cx="88900" cy="76835"/>
            </a:xfrm>
            <a:custGeom>
              <a:avLst/>
              <a:gdLst/>
              <a:ahLst/>
              <a:cxnLst/>
              <a:rect l="l" t="t" r="r" b="b"/>
              <a:pathLst>
                <a:path w="88900" h="76835">
                  <a:moveTo>
                    <a:pt x="88900" y="0"/>
                  </a:moveTo>
                  <a:lnTo>
                    <a:pt x="44704" y="76352"/>
                  </a:lnTo>
                  <a:lnTo>
                    <a:pt x="0" y="304"/>
                  </a:lnTo>
                </a:path>
              </a:pathLst>
            </a:custGeom>
            <a:ln w="19050">
              <a:solidFill>
                <a:srgbClr val="000000"/>
              </a:solidFill>
            </a:ln>
          </p:spPr>
          <p:txBody>
            <a:bodyPr wrap="square" lIns="0" tIns="0" rIns="0" bIns="0" rtlCol="0"/>
            <a:lstStyle/>
            <a:p>
              <a:endParaRPr sz="1227"/>
            </a:p>
          </p:txBody>
        </p:sp>
        <p:sp>
          <p:nvSpPr>
            <p:cNvPr id="9" name="object 9"/>
            <p:cNvSpPr/>
            <p:nvPr/>
          </p:nvSpPr>
          <p:spPr>
            <a:xfrm>
              <a:off x="3931158" y="4599431"/>
              <a:ext cx="2845435" cy="23495"/>
            </a:xfrm>
            <a:custGeom>
              <a:avLst/>
              <a:gdLst/>
              <a:ahLst/>
              <a:cxnLst/>
              <a:rect l="l" t="t" r="r" b="b"/>
              <a:pathLst>
                <a:path w="2845434" h="23495">
                  <a:moveTo>
                    <a:pt x="0" y="0"/>
                  </a:moveTo>
                  <a:lnTo>
                    <a:pt x="2845257" y="22948"/>
                  </a:lnTo>
                </a:path>
              </a:pathLst>
            </a:custGeom>
            <a:ln w="28956">
              <a:solidFill>
                <a:srgbClr val="0000FF"/>
              </a:solidFill>
            </a:ln>
          </p:spPr>
          <p:txBody>
            <a:bodyPr wrap="square" lIns="0" tIns="0" rIns="0" bIns="0" rtlCol="0"/>
            <a:lstStyle/>
            <a:p>
              <a:endParaRPr sz="1227"/>
            </a:p>
          </p:txBody>
        </p:sp>
        <p:sp>
          <p:nvSpPr>
            <p:cNvPr id="10" name="object 10"/>
            <p:cNvSpPr/>
            <p:nvPr/>
          </p:nvSpPr>
          <p:spPr>
            <a:xfrm>
              <a:off x="6757416" y="4594859"/>
              <a:ext cx="998219" cy="968375"/>
            </a:xfrm>
            <a:custGeom>
              <a:avLst/>
              <a:gdLst/>
              <a:ahLst/>
              <a:cxnLst/>
              <a:rect l="l" t="t" r="r" b="b"/>
              <a:pathLst>
                <a:path w="998220" h="968375">
                  <a:moveTo>
                    <a:pt x="0" y="0"/>
                  </a:moveTo>
                  <a:lnTo>
                    <a:pt x="997623" y="967816"/>
                  </a:lnTo>
                </a:path>
              </a:pathLst>
            </a:custGeom>
            <a:ln w="28956">
              <a:solidFill>
                <a:srgbClr val="C00000"/>
              </a:solidFill>
            </a:ln>
          </p:spPr>
          <p:txBody>
            <a:bodyPr wrap="square" lIns="0" tIns="0" rIns="0" bIns="0" rtlCol="0"/>
            <a:lstStyle/>
            <a:p>
              <a:endParaRPr sz="1227"/>
            </a:p>
          </p:txBody>
        </p:sp>
        <p:sp>
          <p:nvSpPr>
            <p:cNvPr id="11" name="object 11"/>
            <p:cNvSpPr/>
            <p:nvPr/>
          </p:nvSpPr>
          <p:spPr>
            <a:xfrm>
              <a:off x="5685279" y="3552446"/>
              <a:ext cx="1069340" cy="1035685"/>
            </a:xfrm>
            <a:custGeom>
              <a:avLst/>
              <a:gdLst/>
              <a:ahLst/>
              <a:cxnLst/>
              <a:rect l="l" t="t" r="r" b="b"/>
              <a:pathLst>
                <a:path w="1069340" h="1035685">
                  <a:moveTo>
                    <a:pt x="1069047" y="1035126"/>
                  </a:moveTo>
                  <a:lnTo>
                    <a:pt x="0" y="0"/>
                  </a:lnTo>
                </a:path>
              </a:pathLst>
            </a:custGeom>
            <a:ln w="28956">
              <a:solidFill>
                <a:srgbClr val="C00000"/>
              </a:solidFill>
              <a:prstDash val="sysDash"/>
            </a:ln>
          </p:spPr>
          <p:txBody>
            <a:bodyPr wrap="square" lIns="0" tIns="0" rIns="0" bIns="0" rtlCol="0"/>
            <a:lstStyle/>
            <a:p>
              <a:endParaRPr sz="1227"/>
            </a:p>
          </p:txBody>
        </p:sp>
        <p:sp>
          <p:nvSpPr>
            <p:cNvPr id="12" name="object 12"/>
            <p:cNvSpPr/>
            <p:nvPr/>
          </p:nvSpPr>
          <p:spPr>
            <a:xfrm>
              <a:off x="7388871" y="4888253"/>
              <a:ext cx="270510" cy="298450"/>
            </a:xfrm>
            <a:custGeom>
              <a:avLst/>
              <a:gdLst/>
              <a:ahLst/>
              <a:cxnLst/>
              <a:rect l="l" t="t" r="r" b="b"/>
              <a:pathLst>
                <a:path w="270509" h="298450">
                  <a:moveTo>
                    <a:pt x="270471" y="60070"/>
                  </a:moveTo>
                  <a:lnTo>
                    <a:pt x="109334" y="255574"/>
                  </a:lnTo>
                  <a:lnTo>
                    <a:pt x="145770" y="285622"/>
                  </a:lnTo>
                  <a:lnTo>
                    <a:pt x="12903" y="298310"/>
                  </a:lnTo>
                  <a:lnTo>
                    <a:pt x="0" y="165468"/>
                  </a:lnTo>
                  <a:lnTo>
                    <a:pt x="36436" y="195503"/>
                  </a:lnTo>
                  <a:lnTo>
                    <a:pt x="197586" y="0"/>
                  </a:lnTo>
                  <a:lnTo>
                    <a:pt x="270471" y="60070"/>
                  </a:lnTo>
                  <a:close/>
                </a:path>
              </a:pathLst>
            </a:custGeom>
            <a:ln w="19050">
              <a:solidFill>
                <a:srgbClr val="C00000"/>
              </a:solidFill>
            </a:ln>
          </p:spPr>
          <p:txBody>
            <a:bodyPr wrap="square" lIns="0" tIns="0" rIns="0" bIns="0" rtlCol="0"/>
            <a:lstStyle/>
            <a:p>
              <a:endParaRPr sz="1227"/>
            </a:p>
          </p:txBody>
        </p:sp>
        <p:sp>
          <p:nvSpPr>
            <p:cNvPr id="13" name="object 13"/>
            <p:cNvSpPr/>
            <p:nvPr/>
          </p:nvSpPr>
          <p:spPr>
            <a:xfrm>
              <a:off x="5070729" y="4218812"/>
              <a:ext cx="189230" cy="347980"/>
            </a:xfrm>
            <a:custGeom>
              <a:avLst/>
              <a:gdLst/>
              <a:ahLst/>
              <a:cxnLst/>
              <a:rect l="l" t="t" r="r" b="b"/>
              <a:pathLst>
                <a:path w="189229" h="347979">
                  <a:moveTo>
                    <a:pt x="141732" y="0"/>
                  </a:moveTo>
                  <a:lnTo>
                    <a:pt x="141732" y="253136"/>
                  </a:lnTo>
                  <a:lnTo>
                    <a:pt x="188976" y="253136"/>
                  </a:lnTo>
                  <a:lnTo>
                    <a:pt x="94488" y="347472"/>
                  </a:lnTo>
                  <a:lnTo>
                    <a:pt x="0" y="253136"/>
                  </a:lnTo>
                  <a:lnTo>
                    <a:pt x="47244" y="253136"/>
                  </a:lnTo>
                  <a:lnTo>
                    <a:pt x="47244" y="0"/>
                  </a:lnTo>
                  <a:lnTo>
                    <a:pt x="141732" y="0"/>
                  </a:lnTo>
                  <a:close/>
                </a:path>
              </a:pathLst>
            </a:custGeom>
            <a:ln w="19049">
              <a:solidFill>
                <a:srgbClr val="0000FF"/>
              </a:solidFill>
            </a:ln>
          </p:spPr>
          <p:txBody>
            <a:bodyPr wrap="square" lIns="0" tIns="0" rIns="0" bIns="0" rtlCol="0"/>
            <a:lstStyle/>
            <a:p>
              <a:endParaRPr sz="1227"/>
            </a:p>
          </p:txBody>
        </p:sp>
      </p:grpSp>
      <p:sp>
        <p:nvSpPr>
          <p:cNvPr id="14" name="object 14"/>
          <p:cNvSpPr txBox="1"/>
          <p:nvPr/>
        </p:nvSpPr>
        <p:spPr>
          <a:xfrm>
            <a:off x="6299623" y="2780461"/>
            <a:ext cx="238125" cy="218236"/>
          </a:xfrm>
          <a:prstGeom prst="rect">
            <a:avLst/>
          </a:prstGeom>
        </p:spPr>
        <p:txBody>
          <a:bodyPr vert="horz" wrap="square" lIns="0" tIns="8226" rIns="0" bIns="0" rtlCol="0">
            <a:spAutoFit/>
          </a:bodyPr>
          <a:lstStyle/>
          <a:p>
            <a:pPr marL="8659">
              <a:spcBef>
                <a:spcPts val="65"/>
              </a:spcBef>
            </a:pPr>
            <a:r>
              <a:rPr sz="1364" spc="-17" dirty="0">
                <a:latin typeface="Verdana"/>
                <a:cs typeface="Verdana"/>
              </a:rPr>
              <a:t>Hz</a:t>
            </a:r>
            <a:endParaRPr sz="1364">
              <a:latin typeface="Verdana"/>
              <a:cs typeface="Verdana"/>
            </a:endParaRPr>
          </a:p>
        </p:txBody>
      </p:sp>
      <p:sp>
        <p:nvSpPr>
          <p:cNvPr id="15" name="object 15"/>
          <p:cNvSpPr txBox="1"/>
          <p:nvPr/>
        </p:nvSpPr>
        <p:spPr>
          <a:xfrm>
            <a:off x="2602948" y="3042050"/>
            <a:ext cx="481013" cy="218236"/>
          </a:xfrm>
          <a:prstGeom prst="rect">
            <a:avLst/>
          </a:prstGeom>
        </p:spPr>
        <p:txBody>
          <a:bodyPr vert="horz" wrap="square" lIns="0" tIns="8226" rIns="0" bIns="0" rtlCol="0">
            <a:spAutoFit/>
          </a:bodyPr>
          <a:lstStyle/>
          <a:p>
            <a:pPr marL="8659">
              <a:spcBef>
                <a:spcPts val="65"/>
              </a:spcBef>
            </a:pPr>
            <a:r>
              <a:rPr sz="1364" spc="-14" dirty="0">
                <a:latin typeface="Verdana"/>
                <a:cs typeface="Verdana"/>
              </a:rPr>
              <a:t>PSRR</a:t>
            </a:r>
            <a:endParaRPr sz="1364">
              <a:latin typeface="Verdana"/>
              <a:cs typeface="Verdana"/>
            </a:endParaRPr>
          </a:p>
        </p:txBody>
      </p:sp>
      <p:sp>
        <p:nvSpPr>
          <p:cNvPr id="16" name="object 16"/>
          <p:cNvSpPr txBox="1"/>
          <p:nvPr/>
        </p:nvSpPr>
        <p:spPr>
          <a:xfrm>
            <a:off x="3253944" y="3028628"/>
            <a:ext cx="1423987" cy="218236"/>
          </a:xfrm>
          <a:prstGeom prst="rect">
            <a:avLst/>
          </a:prstGeom>
        </p:spPr>
        <p:txBody>
          <a:bodyPr vert="horz" wrap="square" lIns="0" tIns="8226" rIns="0" bIns="0" rtlCol="0">
            <a:spAutoFit/>
          </a:bodyPr>
          <a:lstStyle/>
          <a:p>
            <a:pPr marL="8659">
              <a:spcBef>
                <a:spcPts val="65"/>
              </a:spcBef>
            </a:pPr>
            <a:r>
              <a:rPr sz="1364" dirty="0">
                <a:solidFill>
                  <a:srgbClr val="0000FF"/>
                </a:solidFill>
                <a:latin typeface="Verdana"/>
                <a:cs typeface="Verdana"/>
              </a:rPr>
              <a:t>Active</a:t>
            </a:r>
            <a:r>
              <a:rPr sz="1364" spc="-37" dirty="0">
                <a:solidFill>
                  <a:srgbClr val="0000FF"/>
                </a:solidFill>
                <a:latin typeface="Verdana"/>
                <a:cs typeface="Verdana"/>
              </a:rPr>
              <a:t> </a:t>
            </a:r>
            <a:r>
              <a:rPr sz="1364" spc="-7" dirty="0">
                <a:solidFill>
                  <a:srgbClr val="0000FF"/>
                </a:solidFill>
                <a:latin typeface="Verdana"/>
                <a:cs typeface="Verdana"/>
              </a:rPr>
              <a:t>Feedback</a:t>
            </a:r>
            <a:endParaRPr sz="1364">
              <a:latin typeface="Verdana"/>
              <a:cs typeface="Verdana"/>
            </a:endParaRPr>
          </a:p>
        </p:txBody>
      </p:sp>
      <p:sp>
        <p:nvSpPr>
          <p:cNvPr id="17" name="object 17"/>
          <p:cNvSpPr/>
          <p:nvPr/>
        </p:nvSpPr>
        <p:spPr>
          <a:xfrm>
            <a:off x="5046287" y="3563042"/>
            <a:ext cx="652030" cy="10824"/>
          </a:xfrm>
          <a:custGeom>
            <a:avLst/>
            <a:gdLst/>
            <a:ahLst/>
            <a:cxnLst/>
            <a:rect l="l" t="t" r="r" b="b"/>
            <a:pathLst>
              <a:path w="956309" h="15875">
                <a:moveTo>
                  <a:pt x="0" y="0"/>
                </a:moveTo>
                <a:lnTo>
                  <a:pt x="956183" y="15709"/>
                </a:lnTo>
              </a:path>
            </a:pathLst>
          </a:custGeom>
          <a:ln w="28956">
            <a:solidFill>
              <a:srgbClr val="0000FF"/>
            </a:solidFill>
            <a:prstDash val="sysDash"/>
          </a:ln>
        </p:spPr>
        <p:txBody>
          <a:bodyPr wrap="square" lIns="0" tIns="0" rIns="0" bIns="0" rtlCol="0"/>
          <a:lstStyle/>
          <a:p>
            <a:endParaRPr sz="1227"/>
          </a:p>
        </p:txBody>
      </p:sp>
      <p:sp>
        <p:nvSpPr>
          <p:cNvPr id="18" name="object 18"/>
          <p:cNvSpPr txBox="1"/>
          <p:nvPr/>
        </p:nvSpPr>
        <p:spPr>
          <a:xfrm>
            <a:off x="5674841" y="3519157"/>
            <a:ext cx="807027" cy="428165"/>
          </a:xfrm>
          <a:prstGeom prst="rect">
            <a:avLst/>
          </a:prstGeom>
        </p:spPr>
        <p:txBody>
          <a:bodyPr vert="horz" wrap="square" lIns="0" tIns="8226" rIns="0" bIns="0" rtlCol="0">
            <a:spAutoFit/>
          </a:bodyPr>
          <a:lstStyle/>
          <a:p>
            <a:pPr marL="8659" marR="3464" indent="221234">
              <a:spcBef>
                <a:spcPts val="65"/>
              </a:spcBef>
            </a:pPr>
            <a:r>
              <a:rPr sz="1364" spc="-7" dirty="0">
                <a:solidFill>
                  <a:srgbClr val="C00000"/>
                </a:solidFill>
                <a:latin typeface="Verdana"/>
                <a:cs typeface="Verdana"/>
              </a:rPr>
              <a:t>output capacitor</a:t>
            </a:r>
            <a:endParaRPr sz="1364">
              <a:latin typeface="Verdana"/>
              <a:cs typeface="Verdana"/>
            </a:endParaRPr>
          </a:p>
        </p:txBody>
      </p:sp>
      <p:sp>
        <p:nvSpPr>
          <p:cNvPr id="19" name="object 19"/>
          <p:cNvSpPr/>
          <p:nvPr/>
        </p:nvSpPr>
        <p:spPr>
          <a:xfrm>
            <a:off x="4814682" y="1881092"/>
            <a:ext cx="466292" cy="13855"/>
          </a:xfrm>
          <a:custGeom>
            <a:avLst/>
            <a:gdLst/>
            <a:ahLst/>
            <a:cxnLst/>
            <a:rect l="l" t="t" r="r" b="b"/>
            <a:pathLst>
              <a:path w="683895" h="20319">
                <a:moveTo>
                  <a:pt x="683513" y="0"/>
                </a:moveTo>
                <a:lnTo>
                  <a:pt x="0" y="0"/>
                </a:lnTo>
                <a:lnTo>
                  <a:pt x="0" y="19812"/>
                </a:lnTo>
                <a:lnTo>
                  <a:pt x="683513" y="19812"/>
                </a:lnTo>
                <a:lnTo>
                  <a:pt x="683513" y="0"/>
                </a:lnTo>
                <a:close/>
              </a:path>
            </a:pathLst>
          </a:custGeom>
          <a:solidFill>
            <a:srgbClr val="000000"/>
          </a:solidFill>
        </p:spPr>
        <p:txBody>
          <a:bodyPr wrap="square" lIns="0" tIns="0" rIns="0" bIns="0" rtlCol="0"/>
          <a:lstStyle/>
          <a:p>
            <a:endParaRPr sz="1227"/>
          </a:p>
        </p:txBody>
      </p:sp>
      <p:sp>
        <p:nvSpPr>
          <p:cNvPr id="20" name="object 20"/>
          <p:cNvSpPr txBox="1"/>
          <p:nvPr/>
        </p:nvSpPr>
        <p:spPr>
          <a:xfrm>
            <a:off x="3336059" y="1624610"/>
            <a:ext cx="1965614" cy="367816"/>
          </a:xfrm>
          <a:prstGeom prst="rect">
            <a:avLst/>
          </a:prstGeom>
        </p:spPr>
        <p:txBody>
          <a:bodyPr vert="horz" wrap="square" lIns="0" tIns="8659" rIns="0" bIns="0" rtlCol="0">
            <a:spAutoFit/>
          </a:bodyPr>
          <a:lstStyle/>
          <a:p>
            <a:pPr marL="1478500">
              <a:lnSpc>
                <a:spcPts val="1398"/>
              </a:lnSpc>
              <a:spcBef>
                <a:spcPts val="68"/>
              </a:spcBef>
            </a:pPr>
            <a:r>
              <a:rPr sz="2454" spc="-10" baseline="13888" dirty="0">
                <a:latin typeface="Cambria Math"/>
                <a:cs typeface="Cambria Math"/>
              </a:rPr>
              <a:t>∆𝑉</a:t>
            </a:r>
            <a:r>
              <a:rPr sz="1091" spc="-7" dirty="0">
                <a:latin typeface="Cambria Math"/>
                <a:cs typeface="Cambria Math"/>
              </a:rPr>
              <a:t>𝑜𝑢𝑡</a:t>
            </a:r>
            <a:endParaRPr sz="1091" dirty="0">
              <a:latin typeface="Cambria Math"/>
              <a:cs typeface="Cambria Math"/>
            </a:endParaRPr>
          </a:p>
          <a:p>
            <a:pPr marL="25977">
              <a:lnSpc>
                <a:spcPts val="1398"/>
              </a:lnSpc>
            </a:pPr>
            <a:r>
              <a:rPr sz="1636" dirty="0">
                <a:latin typeface="Cambria Math"/>
                <a:cs typeface="Cambria Math"/>
              </a:rPr>
              <a:t>𝑃𝑆𝑅𝑅</a:t>
            </a:r>
            <a:r>
              <a:rPr sz="1636" spc="130" dirty="0">
                <a:latin typeface="Cambria Math"/>
                <a:cs typeface="Cambria Math"/>
              </a:rPr>
              <a:t> </a:t>
            </a:r>
            <a:r>
              <a:rPr sz="1636" dirty="0">
                <a:latin typeface="Cambria Math"/>
                <a:cs typeface="Cambria Math"/>
              </a:rPr>
              <a:t>=</a:t>
            </a:r>
            <a:r>
              <a:rPr sz="1636" spc="82" dirty="0">
                <a:latin typeface="Cambria Math"/>
                <a:cs typeface="Cambria Math"/>
              </a:rPr>
              <a:t> </a:t>
            </a:r>
            <a:r>
              <a:rPr sz="1636" spc="-7" dirty="0">
                <a:latin typeface="Cambria Math"/>
                <a:cs typeface="Cambria Math"/>
              </a:rPr>
              <a:t>20</a:t>
            </a:r>
            <a:r>
              <a:rPr sz="1636" spc="-95" dirty="0">
                <a:latin typeface="Cambria Math"/>
                <a:cs typeface="Cambria Math"/>
              </a:rPr>
              <a:t> </a:t>
            </a:r>
            <a:r>
              <a:rPr lang="en-US" sz="1636" spc="-95" dirty="0">
                <a:latin typeface="Cambria Math"/>
                <a:cs typeface="Cambria Math"/>
              </a:rPr>
              <a:t>l</a:t>
            </a:r>
            <a:r>
              <a:rPr sz="1636" spc="-17" dirty="0" smtClean="0">
                <a:latin typeface="Cambria Math"/>
                <a:cs typeface="Cambria Math"/>
              </a:rPr>
              <a:t>og</a:t>
            </a:r>
            <a:endParaRPr sz="1636" dirty="0">
              <a:latin typeface="Cambria Math"/>
              <a:cs typeface="Cambria Math"/>
            </a:endParaRPr>
          </a:p>
        </p:txBody>
      </p:sp>
      <p:sp>
        <p:nvSpPr>
          <p:cNvPr id="21" name="object 21"/>
          <p:cNvSpPr txBox="1"/>
          <p:nvPr/>
        </p:nvSpPr>
        <p:spPr>
          <a:xfrm>
            <a:off x="4831310" y="1869834"/>
            <a:ext cx="429491" cy="260479"/>
          </a:xfrm>
          <a:prstGeom prst="rect">
            <a:avLst/>
          </a:prstGeom>
        </p:spPr>
        <p:txBody>
          <a:bodyPr vert="horz" wrap="square" lIns="0" tIns="8659" rIns="0" bIns="0" rtlCol="0">
            <a:spAutoFit/>
          </a:bodyPr>
          <a:lstStyle/>
          <a:p>
            <a:pPr marL="25977">
              <a:spcBef>
                <a:spcPts val="68"/>
              </a:spcBef>
            </a:pPr>
            <a:r>
              <a:rPr sz="1636" spc="-14" dirty="0">
                <a:latin typeface="Cambria Math"/>
                <a:cs typeface="Cambria Math"/>
              </a:rPr>
              <a:t>∆𝑉</a:t>
            </a:r>
            <a:r>
              <a:rPr sz="1636" spc="-20" baseline="-20833" dirty="0">
                <a:latin typeface="Cambria Math"/>
                <a:cs typeface="Cambria Math"/>
              </a:rPr>
              <a:t>𝑖𝑛</a:t>
            </a:r>
            <a:endParaRPr sz="1636" baseline="-20833">
              <a:latin typeface="Cambria Math"/>
              <a:cs typeface="Cambria Math"/>
            </a:endParaRPr>
          </a:p>
        </p:txBody>
      </p:sp>
      <p:sp>
        <p:nvSpPr>
          <p:cNvPr id="22" name="object 22"/>
          <p:cNvSpPr txBox="1"/>
          <p:nvPr/>
        </p:nvSpPr>
        <p:spPr>
          <a:xfrm>
            <a:off x="5488709" y="1730596"/>
            <a:ext cx="424728" cy="260479"/>
          </a:xfrm>
          <a:prstGeom prst="rect">
            <a:avLst/>
          </a:prstGeom>
        </p:spPr>
        <p:txBody>
          <a:bodyPr vert="horz" wrap="square" lIns="0" tIns="8659" rIns="0" bIns="0" rtlCol="0">
            <a:spAutoFit/>
          </a:bodyPr>
          <a:lstStyle/>
          <a:p>
            <a:pPr marL="8659">
              <a:spcBef>
                <a:spcPts val="68"/>
              </a:spcBef>
            </a:pPr>
            <a:r>
              <a:rPr sz="1636" spc="-14" dirty="0">
                <a:latin typeface="Cambria Math"/>
                <a:cs typeface="Cambria Math"/>
              </a:rPr>
              <a:t>[𝑑𝐵]</a:t>
            </a:r>
            <a:endParaRPr sz="1636">
              <a:latin typeface="Cambria Math"/>
              <a:cs typeface="Cambria Math"/>
            </a:endParaRPr>
          </a:p>
        </p:txBody>
      </p:sp>
    </p:spTree>
    <p:extLst>
      <p:ext uri="{BB962C8B-B14F-4D97-AF65-F5344CB8AC3E}">
        <p14:creationId xmlns:p14="http://schemas.microsoft.com/office/powerpoint/2010/main" val="7337640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98148" y="237085"/>
            <a:ext cx="7222634" cy="531526"/>
          </a:xfrm>
          <a:prstGeom prst="rect">
            <a:avLst/>
          </a:prstGeom>
        </p:spPr>
        <p:txBody>
          <a:bodyPr vert="horz" wrap="square" lIns="0" tIns="8226" rIns="0" bIns="0" rtlCol="0">
            <a:spAutoFit/>
          </a:bodyPr>
          <a:lstStyle/>
          <a:p>
            <a:pPr marL="8659">
              <a:spcBef>
                <a:spcPts val="65"/>
              </a:spcBef>
            </a:pPr>
            <a:r>
              <a:rPr dirty="0"/>
              <a:t>ps</a:t>
            </a:r>
            <a:r>
              <a:rPr spc="-27" dirty="0"/>
              <a:t> </a:t>
            </a:r>
            <a:r>
              <a:rPr dirty="0"/>
              <a:t>Figure</a:t>
            </a:r>
            <a:r>
              <a:rPr spc="-37" dirty="0"/>
              <a:t> </a:t>
            </a:r>
            <a:r>
              <a:rPr dirty="0"/>
              <a:t>of</a:t>
            </a:r>
            <a:r>
              <a:rPr spc="-14" dirty="0"/>
              <a:t> </a:t>
            </a:r>
            <a:r>
              <a:rPr dirty="0"/>
              <a:t>Merit</a:t>
            </a:r>
            <a:r>
              <a:rPr spc="-20" dirty="0"/>
              <a:t> </a:t>
            </a:r>
            <a:r>
              <a:rPr spc="-14" dirty="0"/>
              <a:t>(ps-FoM)</a:t>
            </a:r>
          </a:p>
        </p:txBody>
      </p:sp>
      <p:sp>
        <p:nvSpPr>
          <p:cNvPr id="3" name="object 3"/>
          <p:cNvSpPr txBox="1"/>
          <p:nvPr/>
        </p:nvSpPr>
        <p:spPr>
          <a:xfrm>
            <a:off x="2478232" y="2414173"/>
            <a:ext cx="6942859" cy="1547755"/>
          </a:xfrm>
          <a:prstGeom prst="rect">
            <a:avLst/>
          </a:prstGeom>
        </p:spPr>
        <p:txBody>
          <a:bodyPr vert="horz" wrap="square" lIns="0" tIns="8659" rIns="0" bIns="0" rtlCol="0">
            <a:spAutoFit/>
          </a:bodyPr>
          <a:lstStyle/>
          <a:p>
            <a:pPr marL="4387444" marR="1593230" indent="-222966">
              <a:spcBef>
                <a:spcPts val="68"/>
              </a:spcBef>
            </a:pPr>
            <a:r>
              <a:rPr sz="1227" dirty="0">
                <a:solidFill>
                  <a:srgbClr val="0000FF"/>
                </a:solidFill>
                <a:latin typeface="Verdana"/>
                <a:cs typeface="Verdana"/>
              </a:rPr>
              <a:t>Pseudo</a:t>
            </a:r>
            <a:r>
              <a:rPr sz="1227" spc="-27" dirty="0">
                <a:solidFill>
                  <a:srgbClr val="0000FF"/>
                </a:solidFill>
                <a:latin typeface="Verdana"/>
                <a:cs typeface="Verdana"/>
              </a:rPr>
              <a:t> </a:t>
            </a:r>
            <a:r>
              <a:rPr sz="1227" spc="-7" dirty="0">
                <a:solidFill>
                  <a:srgbClr val="0000FF"/>
                </a:solidFill>
                <a:latin typeface="Verdana"/>
                <a:cs typeface="Verdana"/>
              </a:rPr>
              <a:t>current efficiency</a:t>
            </a:r>
            <a:endParaRPr sz="1227" dirty="0">
              <a:latin typeface="Verdana"/>
              <a:cs typeface="Verdana"/>
            </a:endParaRPr>
          </a:p>
          <a:p>
            <a:pPr>
              <a:lnSpc>
                <a:spcPct val="100000"/>
              </a:lnSpc>
            </a:pPr>
            <a:endParaRPr sz="1227" dirty="0">
              <a:latin typeface="Verdana"/>
              <a:cs typeface="Verdana"/>
            </a:endParaRPr>
          </a:p>
          <a:p>
            <a:pPr>
              <a:spcBef>
                <a:spcPts val="886"/>
              </a:spcBef>
            </a:pPr>
            <a:endParaRPr sz="1227" dirty="0">
              <a:latin typeface="Verdana"/>
              <a:cs typeface="Verdana"/>
            </a:endParaRPr>
          </a:p>
          <a:p>
            <a:pPr marL="329037" indent="-320378">
              <a:buClr>
                <a:srgbClr val="CC0000"/>
              </a:buClr>
              <a:buFont typeface="Wingdings"/>
              <a:buChar char=""/>
              <a:tabLst>
                <a:tab pos="329037" algn="l"/>
              </a:tabLst>
            </a:pPr>
            <a:r>
              <a:rPr sz="1364" dirty="0">
                <a:latin typeface="Verdana"/>
                <a:cs typeface="Verdana"/>
              </a:rPr>
              <a:t>Dynamic</a:t>
            </a:r>
            <a:r>
              <a:rPr sz="1364" spc="-51" dirty="0">
                <a:latin typeface="Verdana"/>
                <a:cs typeface="Verdana"/>
              </a:rPr>
              <a:t> </a:t>
            </a:r>
            <a:r>
              <a:rPr sz="1364" dirty="0">
                <a:latin typeface="Verdana"/>
                <a:cs typeface="Verdana"/>
              </a:rPr>
              <a:t>load</a:t>
            </a:r>
            <a:r>
              <a:rPr sz="1364" spc="-44" dirty="0">
                <a:latin typeface="Verdana"/>
                <a:cs typeface="Verdana"/>
              </a:rPr>
              <a:t> </a:t>
            </a:r>
            <a:r>
              <a:rPr sz="1364" dirty="0">
                <a:latin typeface="Verdana"/>
                <a:cs typeface="Verdana"/>
              </a:rPr>
              <a:t>regulation</a:t>
            </a:r>
            <a:r>
              <a:rPr sz="1364" spc="-44" dirty="0">
                <a:latin typeface="Verdana"/>
                <a:cs typeface="Verdana"/>
              </a:rPr>
              <a:t> </a:t>
            </a:r>
            <a:r>
              <a:rPr sz="1364" spc="-7" dirty="0">
                <a:latin typeface="Verdana"/>
                <a:cs typeface="Verdana"/>
              </a:rPr>
              <a:t>performance</a:t>
            </a:r>
            <a:endParaRPr sz="1364" dirty="0">
              <a:latin typeface="Verdana"/>
              <a:cs typeface="Verdana"/>
            </a:endParaRPr>
          </a:p>
          <a:p>
            <a:pPr marL="329037" marR="3464" indent="-320810">
              <a:spcBef>
                <a:spcPts val="327"/>
              </a:spcBef>
              <a:buClr>
                <a:srgbClr val="CC0000"/>
              </a:buClr>
              <a:buFont typeface="Wingdings"/>
              <a:buChar char=""/>
              <a:tabLst>
                <a:tab pos="329037" algn="l"/>
              </a:tabLst>
            </a:pPr>
            <a:r>
              <a:rPr sz="1364" i="1" dirty="0">
                <a:latin typeface="Verdana"/>
                <a:cs typeface="Verdana"/>
              </a:rPr>
              <a:t>This</a:t>
            </a:r>
            <a:r>
              <a:rPr sz="1364" i="1" spc="-24" dirty="0">
                <a:latin typeface="Verdana"/>
                <a:cs typeface="Verdana"/>
              </a:rPr>
              <a:t> </a:t>
            </a:r>
            <a:r>
              <a:rPr sz="1364" i="1" dirty="0">
                <a:latin typeface="Verdana"/>
                <a:cs typeface="Verdana"/>
              </a:rPr>
              <a:t>FoM</a:t>
            </a:r>
            <a:r>
              <a:rPr sz="1364" i="1" spc="-20" dirty="0">
                <a:latin typeface="Verdana"/>
                <a:cs typeface="Verdana"/>
              </a:rPr>
              <a:t> </a:t>
            </a:r>
            <a:r>
              <a:rPr sz="1364" i="1" dirty="0">
                <a:latin typeface="Verdana"/>
                <a:cs typeface="Verdana"/>
              </a:rPr>
              <a:t>aims</a:t>
            </a:r>
            <a:r>
              <a:rPr sz="1364" i="1" spc="-24" dirty="0">
                <a:latin typeface="Verdana"/>
                <a:cs typeface="Verdana"/>
              </a:rPr>
              <a:t> </a:t>
            </a:r>
            <a:r>
              <a:rPr sz="1364" i="1" dirty="0">
                <a:latin typeface="Verdana"/>
                <a:cs typeface="Verdana"/>
              </a:rPr>
              <a:t>to</a:t>
            </a:r>
            <a:r>
              <a:rPr sz="1364" i="1" spc="-27" dirty="0">
                <a:latin typeface="Verdana"/>
                <a:cs typeface="Verdana"/>
              </a:rPr>
              <a:t> </a:t>
            </a:r>
            <a:r>
              <a:rPr sz="1364" i="1" dirty="0">
                <a:latin typeface="Verdana"/>
                <a:cs typeface="Verdana"/>
              </a:rPr>
              <a:t>capture</a:t>
            </a:r>
            <a:r>
              <a:rPr sz="1364" i="1" spc="-27" dirty="0">
                <a:latin typeface="Verdana"/>
                <a:cs typeface="Verdana"/>
              </a:rPr>
              <a:t> </a:t>
            </a:r>
            <a:r>
              <a:rPr sz="1364" i="1" dirty="0">
                <a:latin typeface="Verdana"/>
                <a:cs typeface="Verdana"/>
              </a:rPr>
              <a:t>the</a:t>
            </a:r>
            <a:r>
              <a:rPr sz="1364" i="1" spc="-31" dirty="0">
                <a:latin typeface="Verdana"/>
                <a:cs typeface="Verdana"/>
              </a:rPr>
              <a:t> </a:t>
            </a:r>
            <a:r>
              <a:rPr sz="1364" i="1" dirty="0">
                <a:latin typeface="Verdana"/>
                <a:cs typeface="Verdana"/>
              </a:rPr>
              <a:t>product</a:t>
            </a:r>
            <a:r>
              <a:rPr sz="1364" i="1" spc="-20" dirty="0">
                <a:latin typeface="Verdana"/>
                <a:cs typeface="Verdana"/>
              </a:rPr>
              <a:t> </a:t>
            </a:r>
            <a:r>
              <a:rPr sz="1364" i="1" dirty="0">
                <a:latin typeface="Verdana"/>
                <a:cs typeface="Verdana"/>
              </a:rPr>
              <a:t>of</a:t>
            </a:r>
            <a:r>
              <a:rPr sz="1364" i="1" spc="-31" dirty="0">
                <a:latin typeface="Verdana"/>
                <a:cs typeface="Verdana"/>
              </a:rPr>
              <a:t> </a:t>
            </a:r>
            <a:r>
              <a:rPr sz="1364" i="1" dirty="0">
                <a:latin typeface="Verdana"/>
                <a:cs typeface="Verdana"/>
              </a:rPr>
              <a:t>the</a:t>
            </a:r>
            <a:r>
              <a:rPr sz="1364" i="1" spc="-27" dirty="0">
                <a:latin typeface="Verdana"/>
                <a:cs typeface="Verdana"/>
              </a:rPr>
              <a:t> </a:t>
            </a:r>
            <a:r>
              <a:rPr sz="1364" i="1" dirty="0">
                <a:latin typeface="Verdana"/>
                <a:cs typeface="Verdana"/>
              </a:rPr>
              <a:t>LDO</a:t>
            </a:r>
            <a:r>
              <a:rPr sz="1364" i="1" spc="-24" dirty="0">
                <a:latin typeface="Verdana"/>
                <a:cs typeface="Verdana"/>
              </a:rPr>
              <a:t> </a:t>
            </a:r>
            <a:r>
              <a:rPr sz="1364" i="1" dirty="0">
                <a:latin typeface="Verdana"/>
                <a:cs typeface="Verdana"/>
              </a:rPr>
              <a:t>response</a:t>
            </a:r>
            <a:r>
              <a:rPr sz="1364" i="1" spc="-24" dirty="0">
                <a:latin typeface="Verdana"/>
                <a:cs typeface="Verdana"/>
              </a:rPr>
              <a:t> </a:t>
            </a:r>
            <a:r>
              <a:rPr sz="1364" i="1" dirty="0">
                <a:latin typeface="Verdana"/>
                <a:cs typeface="Verdana"/>
              </a:rPr>
              <a:t>time</a:t>
            </a:r>
            <a:r>
              <a:rPr sz="1364" i="1" spc="-20" dirty="0">
                <a:latin typeface="Verdana"/>
                <a:cs typeface="Verdana"/>
              </a:rPr>
              <a:t> </a:t>
            </a:r>
            <a:r>
              <a:rPr sz="1364" i="1" dirty="0">
                <a:latin typeface="Verdana"/>
                <a:cs typeface="Verdana"/>
              </a:rPr>
              <a:t>and</a:t>
            </a:r>
            <a:r>
              <a:rPr sz="1364" i="1" spc="-27" dirty="0">
                <a:latin typeface="Verdana"/>
                <a:cs typeface="Verdana"/>
              </a:rPr>
              <a:t> </a:t>
            </a:r>
            <a:r>
              <a:rPr sz="1364" i="1" spc="-7" dirty="0">
                <a:latin typeface="Verdana"/>
                <a:cs typeface="Verdana"/>
              </a:rPr>
              <a:t>current efficiency</a:t>
            </a:r>
            <a:endParaRPr sz="1364" dirty="0">
              <a:latin typeface="Verdana"/>
              <a:cs typeface="Verdana"/>
            </a:endParaRPr>
          </a:p>
        </p:txBody>
      </p:sp>
      <p:sp>
        <p:nvSpPr>
          <p:cNvPr id="4" name="object 4"/>
          <p:cNvSpPr txBox="1"/>
          <p:nvPr/>
        </p:nvSpPr>
        <p:spPr>
          <a:xfrm>
            <a:off x="2478059" y="3986380"/>
            <a:ext cx="1782907" cy="218236"/>
          </a:xfrm>
          <a:prstGeom prst="rect">
            <a:avLst/>
          </a:prstGeom>
        </p:spPr>
        <p:txBody>
          <a:bodyPr vert="horz" wrap="square" lIns="0" tIns="8226" rIns="0" bIns="0" rtlCol="0">
            <a:spAutoFit/>
          </a:bodyPr>
          <a:lstStyle/>
          <a:p>
            <a:pPr marL="329037" indent="-320378">
              <a:spcBef>
                <a:spcPts val="65"/>
              </a:spcBef>
              <a:buClr>
                <a:srgbClr val="CC0000"/>
              </a:buClr>
              <a:buFont typeface="Wingdings"/>
              <a:buChar char=""/>
              <a:tabLst>
                <a:tab pos="329037" algn="l"/>
              </a:tabLst>
            </a:pPr>
            <a:r>
              <a:rPr sz="1364" dirty="0">
                <a:latin typeface="Verdana"/>
                <a:cs typeface="Verdana"/>
              </a:rPr>
              <a:t>Smaller</a:t>
            </a:r>
            <a:r>
              <a:rPr sz="1364" spc="-20" dirty="0">
                <a:latin typeface="Verdana"/>
                <a:cs typeface="Verdana"/>
              </a:rPr>
              <a:t> </a:t>
            </a:r>
            <a:r>
              <a:rPr sz="1364" dirty="0">
                <a:latin typeface="Verdana"/>
                <a:cs typeface="Verdana"/>
              </a:rPr>
              <a:t>is</a:t>
            </a:r>
            <a:r>
              <a:rPr sz="1364" spc="-20" dirty="0">
                <a:latin typeface="Verdana"/>
                <a:cs typeface="Verdana"/>
              </a:rPr>
              <a:t> </a:t>
            </a:r>
            <a:r>
              <a:rPr sz="1364" spc="-7" dirty="0">
                <a:latin typeface="Verdana"/>
                <a:cs typeface="Verdana"/>
              </a:rPr>
              <a:t>better</a:t>
            </a:r>
            <a:endParaRPr sz="1364">
              <a:latin typeface="Verdana"/>
              <a:cs typeface="Verdana"/>
            </a:endParaRPr>
          </a:p>
        </p:txBody>
      </p:sp>
      <p:sp>
        <p:nvSpPr>
          <p:cNvPr id="5" name="object 5"/>
          <p:cNvSpPr txBox="1"/>
          <p:nvPr/>
        </p:nvSpPr>
        <p:spPr>
          <a:xfrm>
            <a:off x="3754438" y="1858634"/>
            <a:ext cx="878898" cy="218236"/>
          </a:xfrm>
          <a:prstGeom prst="rect">
            <a:avLst/>
          </a:prstGeom>
        </p:spPr>
        <p:txBody>
          <a:bodyPr vert="horz" wrap="square" lIns="0" tIns="8226" rIns="0" bIns="0" rtlCol="0">
            <a:spAutoFit/>
          </a:bodyPr>
          <a:lstStyle/>
          <a:p>
            <a:pPr marL="8659">
              <a:spcBef>
                <a:spcPts val="65"/>
              </a:spcBef>
            </a:pPr>
            <a:r>
              <a:rPr sz="1364" dirty="0">
                <a:latin typeface="Cambria Math"/>
                <a:cs typeface="Cambria Math"/>
              </a:rPr>
              <a:t>𝑝𝑠</a:t>
            </a:r>
            <a:r>
              <a:rPr sz="1364" spc="10" dirty="0">
                <a:latin typeface="Cambria Math"/>
                <a:cs typeface="Cambria Math"/>
              </a:rPr>
              <a:t> </a:t>
            </a:r>
            <a:r>
              <a:rPr sz="1364" dirty="0">
                <a:latin typeface="Cambria Math"/>
                <a:cs typeface="Cambria Math"/>
              </a:rPr>
              <a:t>𝐹𝑜𝑀</a:t>
            </a:r>
            <a:r>
              <a:rPr sz="1364" spc="99" dirty="0">
                <a:latin typeface="Cambria Math"/>
                <a:cs typeface="Cambria Math"/>
              </a:rPr>
              <a:t> </a:t>
            </a:r>
            <a:r>
              <a:rPr sz="1364" dirty="0">
                <a:latin typeface="Cambria Math"/>
                <a:cs typeface="Cambria Math"/>
              </a:rPr>
              <a:t>=</a:t>
            </a:r>
            <a:r>
              <a:rPr sz="1364" spc="72" dirty="0">
                <a:latin typeface="Cambria Math"/>
                <a:cs typeface="Cambria Math"/>
              </a:rPr>
              <a:t> </a:t>
            </a:r>
            <a:r>
              <a:rPr sz="1364" spc="-34" dirty="0">
                <a:latin typeface="Cambria Math"/>
                <a:cs typeface="Cambria Math"/>
              </a:rPr>
              <a:t>𝑡</a:t>
            </a:r>
            <a:endParaRPr sz="1364">
              <a:latin typeface="Cambria Math"/>
              <a:cs typeface="Cambria Math"/>
            </a:endParaRPr>
          </a:p>
        </p:txBody>
      </p:sp>
      <p:sp>
        <p:nvSpPr>
          <p:cNvPr id="6" name="object 6"/>
          <p:cNvSpPr txBox="1"/>
          <p:nvPr/>
        </p:nvSpPr>
        <p:spPr>
          <a:xfrm>
            <a:off x="4613247" y="1940722"/>
            <a:ext cx="581024" cy="161402"/>
          </a:xfrm>
          <a:prstGeom prst="rect">
            <a:avLst/>
          </a:prstGeom>
        </p:spPr>
        <p:txBody>
          <a:bodyPr vert="horz" wrap="square" lIns="0" tIns="9092" rIns="0" bIns="0" rtlCol="0">
            <a:spAutoFit/>
          </a:bodyPr>
          <a:lstStyle/>
          <a:p>
            <a:pPr marL="8659">
              <a:spcBef>
                <a:spcPts val="72"/>
              </a:spcBef>
            </a:pPr>
            <a:r>
              <a:rPr sz="989" spc="37" dirty="0">
                <a:latin typeface="Cambria Math"/>
                <a:cs typeface="Cambria Math"/>
              </a:rPr>
              <a:t>𝑟𝑒𝑠𝑝𝑜𝑛𝑠𝑒</a:t>
            </a:r>
            <a:endParaRPr sz="989">
              <a:latin typeface="Cambria Math"/>
              <a:cs typeface="Cambria Math"/>
            </a:endParaRPr>
          </a:p>
        </p:txBody>
      </p:sp>
      <p:sp>
        <p:nvSpPr>
          <p:cNvPr id="9" name="object 9"/>
          <p:cNvSpPr/>
          <p:nvPr/>
        </p:nvSpPr>
        <p:spPr>
          <a:xfrm>
            <a:off x="5492776" y="1802500"/>
            <a:ext cx="964623" cy="441181"/>
          </a:xfrm>
          <a:custGeom>
            <a:avLst/>
            <a:gdLst/>
            <a:ahLst/>
            <a:cxnLst/>
            <a:rect l="l" t="t" r="r" b="b"/>
            <a:pathLst>
              <a:path w="1414779" h="647064">
                <a:moveTo>
                  <a:pt x="116573" y="9296"/>
                </a:moveTo>
                <a:lnTo>
                  <a:pt x="65074" y="54330"/>
                </a:lnTo>
                <a:lnTo>
                  <a:pt x="46177" y="89535"/>
                </a:lnTo>
                <a:lnTo>
                  <a:pt x="29908" y="130098"/>
                </a:lnTo>
                <a:lnTo>
                  <a:pt x="16814" y="174599"/>
                </a:lnTo>
                <a:lnTo>
                  <a:pt x="7467" y="221602"/>
                </a:lnTo>
                <a:lnTo>
                  <a:pt x="1866" y="271106"/>
                </a:lnTo>
                <a:lnTo>
                  <a:pt x="0" y="323253"/>
                </a:lnTo>
                <a:lnTo>
                  <a:pt x="1790" y="372465"/>
                </a:lnTo>
                <a:lnTo>
                  <a:pt x="7467" y="423786"/>
                </a:lnTo>
                <a:lnTo>
                  <a:pt x="16814" y="470890"/>
                </a:lnTo>
                <a:lnTo>
                  <a:pt x="29908" y="515848"/>
                </a:lnTo>
                <a:lnTo>
                  <a:pt x="46177" y="556971"/>
                </a:lnTo>
                <a:lnTo>
                  <a:pt x="65074" y="592543"/>
                </a:lnTo>
                <a:lnTo>
                  <a:pt x="110744" y="647001"/>
                </a:lnTo>
                <a:lnTo>
                  <a:pt x="116573" y="637832"/>
                </a:lnTo>
                <a:lnTo>
                  <a:pt x="95846" y="612978"/>
                </a:lnTo>
                <a:lnTo>
                  <a:pt x="77635" y="583107"/>
                </a:lnTo>
                <a:lnTo>
                  <a:pt x="61950" y="548233"/>
                </a:lnTo>
                <a:lnTo>
                  <a:pt x="48793" y="508355"/>
                </a:lnTo>
                <a:lnTo>
                  <a:pt x="38392" y="465010"/>
                </a:lnTo>
                <a:lnTo>
                  <a:pt x="30962" y="419709"/>
                </a:lnTo>
                <a:lnTo>
                  <a:pt x="26492" y="372465"/>
                </a:lnTo>
                <a:lnTo>
                  <a:pt x="25006" y="323253"/>
                </a:lnTo>
                <a:lnTo>
                  <a:pt x="26504" y="273113"/>
                </a:lnTo>
                <a:lnTo>
                  <a:pt x="30975" y="225412"/>
                </a:lnTo>
                <a:lnTo>
                  <a:pt x="38430" y="180124"/>
                </a:lnTo>
                <a:lnTo>
                  <a:pt x="48856" y="137274"/>
                </a:lnTo>
                <a:lnTo>
                  <a:pt x="62039" y="98056"/>
                </a:lnTo>
                <a:lnTo>
                  <a:pt x="95897" y="34074"/>
                </a:lnTo>
                <a:lnTo>
                  <a:pt x="116573" y="9296"/>
                </a:lnTo>
                <a:close/>
              </a:path>
              <a:path w="1414779" h="647064">
                <a:moveTo>
                  <a:pt x="1289812" y="314566"/>
                </a:moveTo>
                <a:lnTo>
                  <a:pt x="124714" y="314566"/>
                </a:lnTo>
                <a:lnTo>
                  <a:pt x="124714" y="331330"/>
                </a:lnTo>
                <a:lnTo>
                  <a:pt x="1289812" y="331330"/>
                </a:lnTo>
                <a:lnTo>
                  <a:pt x="1289812" y="314566"/>
                </a:lnTo>
                <a:close/>
              </a:path>
              <a:path w="1414779" h="647064">
                <a:moveTo>
                  <a:pt x="1414576" y="323253"/>
                </a:moveTo>
                <a:lnTo>
                  <a:pt x="1412786" y="273113"/>
                </a:lnTo>
                <a:lnTo>
                  <a:pt x="1407096" y="221602"/>
                </a:lnTo>
                <a:lnTo>
                  <a:pt x="1397749" y="174599"/>
                </a:lnTo>
                <a:lnTo>
                  <a:pt x="1384655" y="130098"/>
                </a:lnTo>
                <a:lnTo>
                  <a:pt x="1368386" y="89535"/>
                </a:lnTo>
                <a:lnTo>
                  <a:pt x="1349489" y="54330"/>
                </a:lnTo>
                <a:lnTo>
                  <a:pt x="1303807" y="0"/>
                </a:lnTo>
                <a:lnTo>
                  <a:pt x="1297990" y="9296"/>
                </a:lnTo>
                <a:lnTo>
                  <a:pt x="1318615" y="34074"/>
                </a:lnTo>
                <a:lnTo>
                  <a:pt x="1336763" y="63665"/>
                </a:lnTo>
                <a:lnTo>
                  <a:pt x="1365631" y="137274"/>
                </a:lnTo>
                <a:lnTo>
                  <a:pt x="1376095" y="180124"/>
                </a:lnTo>
                <a:lnTo>
                  <a:pt x="1383563" y="225412"/>
                </a:lnTo>
                <a:lnTo>
                  <a:pt x="1388059" y="273113"/>
                </a:lnTo>
                <a:lnTo>
                  <a:pt x="1389545" y="323253"/>
                </a:lnTo>
                <a:lnTo>
                  <a:pt x="1388059" y="372465"/>
                </a:lnTo>
                <a:lnTo>
                  <a:pt x="1383601" y="419709"/>
                </a:lnTo>
                <a:lnTo>
                  <a:pt x="1376172" y="465010"/>
                </a:lnTo>
                <a:lnTo>
                  <a:pt x="1365758" y="508355"/>
                </a:lnTo>
                <a:lnTo>
                  <a:pt x="1352600" y="548233"/>
                </a:lnTo>
                <a:lnTo>
                  <a:pt x="1336916" y="583107"/>
                </a:lnTo>
                <a:lnTo>
                  <a:pt x="1297990" y="637832"/>
                </a:lnTo>
                <a:lnTo>
                  <a:pt x="1303807" y="647001"/>
                </a:lnTo>
                <a:lnTo>
                  <a:pt x="1349489" y="592543"/>
                </a:lnTo>
                <a:lnTo>
                  <a:pt x="1368386" y="556971"/>
                </a:lnTo>
                <a:lnTo>
                  <a:pt x="1384655" y="515848"/>
                </a:lnTo>
                <a:lnTo>
                  <a:pt x="1397749" y="470890"/>
                </a:lnTo>
                <a:lnTo>
                  <a:pt x="1407096" y="423786"/>
                </a:lnTo>
                <a:lnTo>
                  <a:pt x="1412709" y="374535"/>
                </a:lnTo>
                <a:lnTo>
                  <a:pt x="1414576" y="323253"/>
                </a:lnTo>
                <a:close/>
              </a:path>
            </a:pathLst>
          </a:custGeom>
          <a:solidFill>
            <a:srgbClr val="C00000"/>
          </a:solidFill>
        </p:spPr>
        <p:txBody>
          <a:bodyPr wrap="square" lIns="0" tIns="0" rIns="0" bIns="0" rtlCol="0"/>
          <a:lstStyle/>
          <a:p>
            <a:endParaRPr sz="1227"/>
          </a:p>
        </p:txBody>
      </p:sp>
      <p:sp>
        <p:nvSpPr>
          <p:cNvPr id="10" name="object 10"/>
          <p:cNvSpPr txBox="1"/>
          <p:nvPr/>
        </p:nvSpPr>
        <p:spPr>
          <a:xfrm>
            <a:off x="5551834" y="1802061"/>
            <a:ext cx="842097" cy="218107"/>
          </a:xfrm>
          <a:prstGeom prst="rect">
            <a:avLst/>
          </a:prstGeom>
        </p:spPr>
        <p:txBody>
          <a:bodyPr vert="horz" wrap="square" lIns="0" tIns="8226" rIns="0" bIns="0" rtlCol="0">
            <a:spAutoFit/>
          </a:bodyPr>
          <a:lstStyle/>
          <a:p>
            <a:pPr marL="25977">
              <a:spcBef>
                <a:spcPts val="65"/>
              </a:spcBef>
            </a:pPr>
            <a:r>
              <a:rPr sz="2045" baseline="13888" dirty="0">
                <a:solidFill>
                  <a:srgbClr val="C00000"/>
                </a:solidFill>
                <a:latin typeface="Cambria Math"/>
                <a:cs typeface="Cambria Math"/>
              </a:rPr>
              <a:t>𝐶</a:t>
            </a:r>
            <a:r>
              <a:rPr sz="886" dirty="0">
                <a:solidFill>
                  <a:srgbClr val="C00000"/>
                </a:solidFill>
                <a:latin typeface="Cambria Math"/>
                <a:cs typeface="Cambria Math"/>
              </a:rPr>
              <a:t>𝑜𝑢𝑡</a:t>
            </a:r>
            <a:r>
              <a:rPr sz="886" spc="150" dirty="0">
                <a:solidFill>
                  <a:srgbClr val="C00000"/>
                </a:solidFill>
                <a:latin typeface="Cambria Math"/>
                <a:cs typeface="Cambria Math"/>
              </a:rPr>
              <a:t> </a:t>
            </a:r>
            <a:r>
              <a:rPr lang="en-US" sz="886" spc="150" dirty="0" smtClean="0">
                <a:solidFill>
                  <a:srgbClr val="C00000"/>
                </a:solidFill>
                <a:latin typeface="Cambria Math"/>
                <a:cs typeface="Cambria Math"/>
              </a:rPr>
              <a:t>.</a:t>
            </a:r>
            <a:r>
              <a:rPr sz="2045" spc="5" baseline="13888" dirty="0" smtClean="0">
                <a:solidFill>
                  <a:srgbClr val="C00000"/>
                </a:solidFill>
                <a:latin typeface="Cambria Math"/>
                <a:cs typeface="Cambria Math"/>
              </a:rPr>
              <a:t> </a:t>
            </a:r>
            <a:r>
              <a:rPr sz="2045" spc="-20" baseline="13888" dirty="0" smtClean="0">
                <a:solidFill>
                  <a:srgbClr val="C00000"/>
                </a:solidFill>
                <a:latin typeface="Cambria Math"/>
                <a:cs typeface="Cambria Math"/>
              </a:rPr>
              <a:t>∆𝑉</a:t>
            </a:r>
            <a:r>
              <a:rPr sz="886" spc="-14" dirty="0" smtClean="0">
                <a:solidFill>
                  <a:srgbClr val="C00000"/>
                </a:solidFill>
                <a:latin typeface="Cambria Math"/>
                <a:cs typeface="Cambria Math"/>
              </a:rPr>
              <a:t>𝑜𝑢𝑡</a:t>
            </a:r>
            <a:endParaRPr sz="886" dirty="0">
              <a:latin typeface="Cambria Math"/>
              <a:cs typeface="Cambria Math"/>
            </a:endParaRPr>
          </a:p>
        </p:txBody>
      </p:sp>
      <p:sp>
        <p:nvSpPr>
          <p:cNvPr id="11" name="object 11"/>
          <p:cNvSpPr txBox="1"/>
          <p:nvPr/>
        </p:nvSpPr>
        <p:spPr>
          <a:xfrm>
            <a:off x="5624744" y="2006242"/>
            <a:ext cx="186170" cy="218236"/>
          </a:xfrm>
          <a:prstGeom prst="rect">
            <a:avLst/>
          </a:prstGeom>
        </p:spPr>
        <p:txBody>
          <a:bodyPr vert="horz" wrap="square" lIns="0" tIns="8226" rIns="0" bIns="0" rtlCol="0">
            <a:spAutoFit/>
          </a:bodyPr>
          <a:lstStyle/>
          <a:p>
            <a:pPr marL="8659">
              <a:spcBef>
                <a:spcPts val="65"/>
              </a:spcBef>
            </a:pPr>
            <a:r>
              <a:rPr sz="1364" spc="-17" dirty="0">
                <a:solidFill>
                  <a:srgbClr val="C00000"/>
                </a:solidFill>
                <a:latin typeface="Cambria Math"/>
                <a:cs typeface="Cambria Math"/>
              </a:rPr>
              <a:t>∆𝐼</a:t>
            </a:r>
            <a:endParaRPr sz="1364">
              <a:latin typeface="Cambria Math"/>
              <a:cs typeface="Cambria Math"/>
            </a:endParaRPr>
          </a:p>
        </p:txBody>
      </p:sp>
      <p:sp>
        <p:nvSpPr>
          <p:cNvPr id="12" name="object 12"/>
          <p:cNvSpPr txBox="1"/>
          <p:nvPr/>
        </p:nvSpPr>
        <p:spPr>
          <a:xfrm>
            <a:off x="5775759" y="2106515"/>
            <a:ext cx="562408" cy="147815"/>
          </a:xfrm>
          <a:prstGeom prst="rect">
            <a:avLst/>
          </a:prstGeom>
        </p:spPr>
        <p:txBody>
          <a:bodyPr vert="horz" wrap="square" lIns="0" tIns="11257" rIns="0" bIns="0" rtlCol="0">
            <a:spAutoFit/>
          </a:bodyPr>
          <a:lstStyle/>
          <a:p>
            <a:pPr marL="25977">
              <a:spcBef>
                <a:spcPts val="89"/>
              </a:spcBef>
            </a:pPr>
            <a:r>
              <a:rPr sz="886" dirty="0">
                <a:solidFill>
                  <a:srgbClr val="C00000"/>
                </a:solidFill>
                <a:latin typeface="Cambria Math"/>
                <a:cs typeface="Cambria Math"/>
              </a:rPr>
              <a:t>𝑙𝑜𝑎𝑑</a:t>
            </a:r>
            <a:r>
              <a:rPr sz="1330" baseline="-21367" dirty="0">
                <a:solidFill>
                  <a:srgbClr val="C00000"/>
                </a:solidFill>
                <a:latin typeface="Cambria Math"/>
                <a:cs typeface="Cambria Math"/>
              </a:rPr>
              <a:t>,</a:t>
            </a:r>
            <a:r>
              <a:rPr sz="1330" spc="179" baseline="-21367" dirty="0">
                <a:solidFill>
                  <a:srgbClr val="C00000"/>
                </a:solidFill>
                <a:latin typeface="Cambria Math"/>
                <a:cs typeface="Cambria Math"/>
              </a:rPr>
              <a:t> </a:t>
            </a:r>
            <a:r>
              <a:rPr sz="886" spc="-17" dirty="0">
                <a:solidFill>
                  <a:srgbClr val="C00000"/>
                </a:solidFill>
                <a:latin typeface="Cambria Math"/>
                <a:cs typeface="Cambria Math"/>
              </a:rPr>
              <a:t>𝑚𝑎𝑥</a:t>
            </a:r>
            <a:endParaRPr sz="886">
              <a:latin typeface="Cambria Math"/>
              <a:cs typeface="Cambria Math"/>
            </a:endParaRPr>
          </a:p>
        </p:txBody>
      </p:sp>
      <p:sp>
        <p:nvSpPr>
          <p:cNvPr id="13" name="object 13"/>
          <p:cNvSpPr txBox="1"/>
          <p:nvPr/>
        </p:nvSpPr>
        <p:spPr>
          <a:xfrm>
            <a:off x="6501737" y="1890384"/>
            <a:ext cx="66242" cy="218236"/>
          </a:xfrm>
          <a:prstGeom prst="rect">
            <a:avLst/>
          </a:prstGeom>
        </p:spPr>
        <p:txBody>
          <a:bodyPr vert="horz" wrap="square" lIns="0" tIns="8226" rIns="0" bIns="0" rtlCol="0">
            <a:spAutoFit/>
          </a:bodyPr>
          <a:lstStyle/>
          <a:p>
            <a:pPr marL="8659">
              <a:spcBef>
                <a:spcPts val="65"/>
              </a:spcBef>
            </a:pPr>
            <a:r>
              <a:rPr sz="1364" spc="7" dirty="0">
                <a:latin typeface="Cambria Math"/>
                <a:cs typeface="Cambria Math"/>
              </a:rPr>
              <a:t>∙</a:t>
            </a:r>
            <a:endParaRPr sz="1364">
              <a:latin typeface="Cambria Math"/>
              <a:cs typeface="Cambria Math"/>
            </a:endParaRPr>
          </a:p>
        </p:txBody>
      </p:sp>
      <p:sp>
        <p:nvSpPr>
          <p:cNvPr id="14" name="object 14"/>
          <p:cNvSpPr/>
          <p:nvPr/>
        </p:nvSpPr>
        <p:spPr>
          <a:xfrm>
            <a:off x="6611522" y="1851743"/>
            <a:ext cx="826510" cy="342034"/>
          </a:xfrm>
          <a:custGeom>
            <a:avLst/>
            <a:gdLst/>
            <a:ahLst/>
            <a:cxnLst/>
            <a:rect l="l" t="t" r="r" b="b"/>
            <a:pathLst>
              <a:path w="1212215" h="501650">
                <a:moveTo>
                  <a:pt x="96266" y="8305"/>
                </a:moveTo>
                <a:lnTo>
                  <a:pt x="55562" y="36906"/>
                </a:lnTo>
                <a:lnTo>
                  <a:pt x="26631" y="91617"/>
                </a:lnTo>
                <a:lnTo>
                  <a:pt x="6654" y="163156"/>
                </a:lnTo>
                <a:lnTo>
                  <a:pt x="1663" y="204851"/>
                </a:lnTo>
                <a:lnTo>
                  <a:pt x="0" y="250520"/>
                </a:lnTo>
                <a:lnTo>
                  <a:pt x="1587" y="294259"/>
                </a:lnTo>
                <a:lnTo>
                  <a:pt x="6654" y="338074"/>
                </a:lnTo>
                <a:lnTo>
                  <a:pt x="14973" y="375869"/>
                </a:lnTo>
                <a:lnTo>
                  <a:pt x="40513" y="439254"/>
                </a:lnTo>
                <a:lnTo>
                  <a:pt x="71742" y="485063"/>
                </a:lnTo>
                <a:lnTo>
                  <a:pt x="89077" y="501294"/>
                </a:lnTo>
                <a:lnTo>
                  <a:pt x="96266" y="493001"/>
                </a:lnTo>
                <a:lnTo>
                  <a:pt x="81267" y="476478"/>
                </a:lnTo>
                <a:lnTo>
                  <a:pt x="67640" y="455942"/>
                </a:lnTo>
                <a:lnTo>
                  <a:pt x="44475" y="402793"/>
                </a:lnTo>
                <a:lnTo>
                  <a:pt x="29133" y="334149"/>
                </a:lnTo>
                <a:lnTo>
                  <a:pt x="25298" y="294259"/>
                </a:lnTo>
                <a:lnTo>
                  <a:pt x="24028" y="250647"/>
                </a:lnTo>
                <a:lnTo>
                  <a:pt x="25298" y="207035"/>
                </a:lnTo>
                <a:lnTo>
                  <a:pt x="29133" y="167132"/>
                </a:lnTo>
                <a:lnTo>
                  <a:pt x="44475" y="98501"/>
                </a:lnTo>
                <a:lnTo>
                  <a:pt x="67640" y="45339"/>
                </a:lnTo>
                <a:lnTo>
                  <a:pt x="81267" y="24815"/>
                </a:lnTo>
                <a:lnTo>
                  <a:pt x="96266" y="8305"/>
                </a:lnTo>
                <a:close/>
              </a:path>
              <a:path w="1212215" h="501650">
                <a:moveTo>
                  <a:pt x="1107452" y="242341"/>
                </a:moveTo>
                <a:lnTo>
                  <a:pt x="104660" y="242341"/>
                </a:lnTo>
                <a:lnTo>
                  <a:pt x="104660" y="259105"/>
                </a:lnTo>
                <a:lnTo>
                  <a:pt x="1107452" y="259105"/>
                </a:lnTo>
                <a:lnTo>
                  <a:pt x="1107452" y="242341"/>
                </a:lnTo>
                <a:close/>
              </a:path>
              <a:path w="1212215" h="501650">
                <a:moveTo>
                  <a:pt x="1211757" y="250647"/>
                </a:moveTo>
                <a:lnTo>
                  <a:pt x="1210183" y="207035"/>
                </a:lnTo>
                <a:lnTo>
                  <a:pt x="1210106" y="204851"/>
                </a:lnTo>
                <a:lnTo>
                  <a:pt x="1205115" y="163156"/>
                </a:lnTo>
                <a:lnTo>
                  <a:pt x="1196784" y="125399"/>
                </a:lnTo>
                <a:lnTo>
                  <a:pt x="1171244" y="62026"/>
                </a:lnTo>
                <a:lnTo>
                  <a:pt x="1140028" y="16217"/>
                </a:lnTo>
                <a:lnTo>
                  <a:pt x="1122692" y="0"/>
                </a:lnTo>
                <a:lnTo>
                  <a:pt x="1115504" y="8305"/>
                </a:lnTo>
                <a:lnTo>
                  <a:pt x="1130503" y="24815"/>
                </a:lnTo>
                <a:lnTo>
                  <a:pt x="1144130" y="45339"/>
                </a:lnTo>
                <a:lnTo>
                  <a:pt x="1167295" y="98501"/>
                </a:lnTo>
                <a:lnTo>
                  <a:pt x="1182624" y="167132"/>
                </a:lnTo>
                <a:lnTo>
                  <a:pt x="1186459" y="207035"/>
                </a:lnTo>
                <a:lnTo>
                  <a:pt x="1187742" y="250520"/>
                </a:lnTo>
                <a:lnTo>
                  <a:pt x="1186459" y="294259"/>
                </a:lnTo>
                <a:lnTo>
                  <a:pt x="1182624" y="334149"/>
                </a:lnTo>
                <a:lnTo>
                  <a:pt x="1167295" y="402793"/>
                </a:lnTo>
                <a:lnTo>
                  <a:pt x="1144130" y="455942"/>
                </a:lnTo>
                <a:lnTo>
                  <a:pt x="1115504" y="493001"/>
                </a:lnTo>
                <a:lnTo>
                  <a:pt x="1122692" y="501294"/>
                </a:lnTo>
                <a:lnTo>
                  <a:pt x="1156208" y="464388"/>
                </a:lnTo>
                <a:lnTo>
                  <a:pt x="1185138" y="409676"/>
                </a:lnTo>
                <a:lnTo>
                  <a:pt x="1205115" y="338074"/>
                </a:lnTo>
                <a:lnTo>
                  <a:pt x="1210106" y="296291"/>
                </a:lnTo>
                <a:lnTo>
                  <a:pt x="1211757" y="250647"/>
                </a:lnTo>
                <a:close/>
              </a:path>
            </a:pathLst>
          </a:custGeom>
          <a:solidFill>
            <a:srgbClr val="0000FF"/>
          </a:solidFill>
        </p:spPr>
        <p:txBody>
          <a:bodyPr wrap="square" lIns="0" tIns="0" rIns="0" bIns="0" rtlCol="0"/>
          <a:lstStyle/>
          <a:p>
            <a:endParaRPr sz="1227"/>
          </a:p>
        </p:txBody>
      </p:sp>
      <p:sp>
        <p:nvSpPr>
          <p:cNvPr id="15" name="object 15"/>
          <p:cNvSpPr txBox="1"/>
          <p:nvPr/>
        </p:nvSpPr>
        <p:spPr>
          <a:xfrm>
            <a:off x="6932266" y="1759458"/>
            <a:ext cx="179676" cy="218236"/>
          </a:xfrm>
          <a:prstGeom prst="rect">
            <a:avLst/>
          </a:prstGeom>
        </p:spPr>
        <p:txBody>
          <a:bodyPr vert="horz" wrap="square" lIns="0" tIns="8226" rIns="0" bIns="0" rtlCol="0">
            <a:spAutoFit/>
          </a:bodyPr>
          <a:lstStyle/>
          <a:p>
            <a:pPr marL="25977">
              <a:spcBef>
                <a:spcPts val="65"/>
              </a:spcBef>
            </a:pPr>
            <a:r>
              <a:rPr sz="1364" spc="-17" dirty="0">
                <a:solidFill>
                  <a:srgbClr val="0000FF"/>
                </a:solidFill>
                <a:latin typeface="Cambria Math"/>
                <a:cs typeface="Cambria Math"/>
              </a:rPr>
              <a:t>𝐼</a:t>
            </a:r>
            <a:r>
              <a:rPr sz="1330" spc="-25" baseline="-21367" dirty="0">
                <a:solidFill>
                  <a:srgbClr val="0000FF"/>
                </a:solidFill>
                <a:latin typeface="Cambria Math"/>
                <a:cs typeface="Cambria Math"/>
              </a:rPr>
              <a:t>𝑞</a:t>
            </a:r>
            <a:endParaRPr sz="1330" baseline="-21367">
              <a:latin typeface="Cambria Math"/>
              <a:cs typeface="Cambria Math"/>
            </a:endParaRPr>
          </a:p>
        </p:txBody>
      </p:sp>
      <p:sp>
        <p:nvSpPr>
          <p:cNvPr id="16" name="object 16"/>
          <p:cNvSpPr txBox="1"/>
          <p:nvPr/>
        </p:nvSpPr>
        <p:spPr>
          <a:xfrm>
            <a:off x="6674225" y="2006242"/>
            <a:ext cx="186170" cy="218236"/>
          </a:xfrm>
          <a:prstGeom prst="rect">
            <a:avLst/>
          </a:prstGeom>
        </p:spPr>
        <p:txBody>
          <a:bodyPr vert="horz" wrap="square" lIns="0" tIns="8226" rIns="0" bIns="0" rtlCol="0">
            <a:spAutoFit/>
          </a:bodyPr>
          <a:lstStyle/>
          <a:p>
            <a:pPr marL="8659">
              <a:spcBef>
                <a:spcPts val="65"/>
              </a:spcBef>
            </a:pPr>
            <a:r>
              <a:rPr sz="1364" spc="-17" dirty="0">
                <a:solidFill>
                  <a:srgbClr val="0000FF"/>
                </a:solidFill>
                <a:latin typeface="Cambria Math"/>
                <a:cs typeface="Cambria Math"/>
              </a:rPr>
              <a:t>∆𝐼</a:t>
            </a:r>
            <a:endParaRPr sz="1364">
              <a:latin typeface="Cambria Math"/>
              <a:cs typeface="Cambria Math"/>
            </a:endParaRPr>
          </a:p>
        </p:txBody>
      </p:sp>
      <p:sp>
        <p:nvSpPr>
          <p:cNvPr id="17" name="object 17"/>
          <p:cNvSpPr txBox="1"/>
          <p:nvPr/>
        </p:nvSpPr>
        <p:spPr>
          <a:xfrm>
            <a:off x="6825239" y="2106515"/>
            <a:ext cx="562408" cy="147815"/>
          </a:xfrm>
          <a:prstGeom prst="rect">
            <a:avLst/>
          </a:prstGeom>
        </p:spPr>
        <p:txBody>
          <a:bodyPr vert="horz" wrap="square" lIns="0" tIns="11257" rIns="0" bIns="0" rtlCol="0">
            <a:spAutoFit/>
          </a:bodyPr>
          <a:lstStyle/>
          <a:p>
            <a:pPr marL="25977">
              <a:spcBef>
                <a:spcPts val="89"/>
              </a:spcBef>
            </a:pPr>
            <a:r>
              <a:rPr sz="886" dirty="0">
                <a:solidFill>
                  <a:srgbClr val="0000FF"/>
                </a:solidFill>
                <a:latin typeface="Cambria Math"/>
                <a:cs typeface="Cambria Math"/>
              </a:rPr>
              <a:t>𝑙𝑜𝑎𝑑</a:t>
            </a:r>
            <a:r>
              <a:rPr sz="1330" baseline="-21367" dirty="0">
                <a:solidFill>
                  <a:srgbClr val="0000FF"/>
                </a:solidFill>
                <a:latin typeface="Cambria Math"/>
                <a:cs typeface="Cambria Math"/>
              </a:rPr>
              <a:t>,</a:t>
            </a:r>
            <a:r>
              <a:rPr sz="1330" spc="184" baseline="-21367" dirty="0">
                <a:solidFill>
                  <a:srgbClr val="0000FF"/>
                </a:solidFill>
                <a:latin typeface="Cambria Math"/>
                <a:cs typeface="Cambria Math"/>
              </a:rPr>
              <a:t> </a:t>
            </a:r>
            <a:r>
              <a:rPr sz="886" spc="-17" dirty="0">
                <a:solidFill>
                  <a:srgbClr val="0000FF"/>
                </a:solidFill>
                <a:latin typeface="Cambria Math"/>
                <a:cs typeface="Cambria Math"/>
              </a:rPr>
              <a:t>𝑚𝑎𝑥</a:t>
            </a:r>
            <a:endParaRPr sz="886">
              <a:latin typeface="Cambria Math"/>
              <a:cs typeface="Cambria Math"/>
            </a:endParaRPr>
          </a:p>
        </p:txBody>
      </p:sp>
      <p:sp>
        <p:nvSpPr>
          <p:cNvPr id="18" name="object 18"/>
          <p:cNvSpPr/>
          <p:nvPr/>
        </p:nvSpPr>
        <p:spPr>
          <a:xfrm>
            <a:off x="6681990" y="2286057"/>
            <a:ext cx="692727" cy="147205"/>
          </a:xfrm>
          <a:custGeom>
            <a:avLst/>
            <a:gdLst/>
            <a:ahLst/>
            <a:cxnLst/>
            <a:rect l="l" t="t" r="r" b="b"/>
            <a:pathLst>
              <a:path w="1016000" h="215900">
                <a:moveTo>
                  <a:pt x="1015746" y="0"/>
                </a:moveTo>
                <a:lnTo>
                  <a:pt x="983379" y="63679"/>
                </a:lnTo>
                <a:lnTo>
                  <a:pt x="947067" y="87019"/>
                </a:lnTo>
                <a:lnTo>
                  <a:pt x="901020" y="102326"/>
                </a:lnTo>
                <a:lnTo>
                  <a:pt x="848004" y="107823"/>
                </a:lnTo>
                <a:lnTo>
                  <a:pt x="675614" y="107823"/>
                </a:lnTo>
                <a:lnTo>
                  <a:pt x="622598" y="113319"/>
                </a:lnTo>
                <a:lnTo>
                  <a:pt x="576551" y="128626"/>
                </a:lnTo>
                <a:lnTo>
                  <a:pt x="540239" y="151966"/>
                </a:lnTo>
                <a:lnTo>
                  <a:pt x="516425" y="181565"/>
                </a:lnTo>
                <a:lnTo>
                  <a:pt x="507873" y="215646"/>
                </a:lnTo>
                <a:lnTo>
                  <a:pt x="499320" y="181565"/>
                </a:lnTo>
                <a:lnTo>
                  <a:pt x="475506" y="151966"/>
                </a:lnTo>
                <a:lnTo>
                  <a:pt x="439194" y="128626"/>
                </a:lnTo>
                <a:lnTo>
                  <a:pt x="393147" y="113319"/>
                </a:lnTo>
                <a:lnTo>
                  <a:pt x="340131" y="107823"/>
                </a:lnTo>
                <a:lnTo>
                  <a:pt x="167741" y="107823"/>
                </a:lnTo>
                <a:lnTo>
                  <a:pt x="114725" y="102326"/>
                </a:lnTo>
                <a:lnTo>
                  <a:pt x="68678" y="87019"/>
                </a:lnTo>
                <a:lnTo>
                  <a:pt x="32366" y="63679"/>
                </a:lnTo>
                <a:lnTo>
                  <a:pt x="8552" y="34080"/>
                </a:lnTo>
                <a:lnTo>
                  <a:pt x="0" y="0"/>
                </a:lnTo>
              </a:path>
            </a:pathLst>
          </a:custGeom>
          <a:ln w="28956">
            <a:solidFill>
              <a:srgbClr val="0000FF"/>
            </a:solidFill>
          </a:ln>
        </p:spPr>
        <p:txBody>
          <a:bodyPr wrap="square" lIns="0" tIns="0" rIns="0" bIns="0" rtlCol="0"/>
          <a:lstStyle/>
          <a:p>
            <a:endParaRPr sz="1227"/>
          </a:p>
        </p:txBody>
      </p:sp>
      <p:sp>
        <p:nvSpPr>
          <p:cNvPr id="19" name="object 19"/>
          <p:cNvSpPr txBox="1"/>
          <p:nvPr/>
        </p:nvSpPr>
        <p:spPr>
          <a:xfrm>
            <a:off x="8328336" y="3929930"/>
            <a:ext cx="1637434" cy="218236"/>
          </a:xfrm>
          <a:prstGeom prst="rect">
            <a:avLst/>
          </a:prstGeom>
        </p:spPr>
        <p:txBody>
          <a:bodyPr vert="horz" wrap="square" lIns="0" tIns="8226" rIns="0" bIns="0" rtlCol="0">
            <a:spAutoFit/>
          </a:bodyPr>
          <a:lstStyle/>
          <a:p>
            <a:pPr marL="8659">
              <a:spcBef>
                <a:spcPts val="65"/>
              </a:spcBef>
            </a:pPr>
            <a:r>
              <a:rPr sz="1364" spc="-20" dirty="0">
                <a:latin typeface="Verdana"/>
                <a:cs typeface="Verdana"/>
              </a:rPr>
              <a:t>[Hazucha-</a:t>
            </a:r>
            <a:r>
              <a:rPr sz="1364" spc="-7" dirty="0">
                <a:latin typeface="Verdana"/>
                <a:cs typeface="Verdana"/>
              </a:rPr>
              <a:t>JSSC05]</a:t>
            </a:r>
            <a:endParaRPr sz="1364">
              <a:latin typeface="Verdana"/>
              <a:cs typeface="Verdana"/>
            </a:endParaRPr>
          </a:p>
        </p:txBody>
      </p:sp>
      <p:sp>
        <p:nvSpPr>
          <p:cNvPr id="20" name="object 20"/>
          <p:cNvSpPr txBox="1"/>
          <p:nvPr/>
        </p:nvSpPr>
        <p:spPr>
          <a:xfrm>
            <a:off x="5400491" y="1187827"/>
            <a:ext cx="1126115" cy="386411"/>
          </a:xfrm>
          <a:prstGeom prst="rect">
            <a:avLst/>
          </a:prstGeom>
        </p:spPr>
        <p:txBody>
          <a:bodyPr vert="horz" wrap="square" lIns="0" tIns="8659" rIns="0" bIns="0" rtlCol="0">
            <a:spAutoFit/>
          </a:bodyPr>
          <a:lstStyle/>
          <a:p>
            <a:pPr marL="8659" marR="3464" indent="275352">
              <a:spcBef>
                <a:spcPts val="68"/>
              </a:spcBef>
            </a:pPr>
            <a:r>
              <a:rPr sz="1227" spc="-7" dirty="0">
                <a:solidFill>
                  <a:srgbClr val="C00000"/>
                </a:solidFill>
                <a:latin typeface="Verdana"/>
                <a:cs typeface="Verdana"/>
              </a:rPr>
              <a:t>Pseudo </a:t>
            </a:r>
            <a:r>
              <a:rPr sz="1227" dirty="0">
                <a:solidFill>
                  <a:srgbClr val="C00000"/>
                </a:solidFill>
                <a:latin typeface="Verdana"/>
                <a:cs typeface="Verdana"/>
              </a:rPr>
              <a:t>response</a:t>
            </a:r>
            <a:r>
              <a:rPr sz="1227" spc="-51" dirty="0">
                <a:solidFill>
                  <a:srgbClr val="C00000"/>
                </a:solidFill>
                <a:latin typeface="Verdana"/>
                <a:cs typeface="Verdana"/>
              </a:rPr>
              <a:t> </a:t>
            </a:r>
            <a:r>
              <a:rPr sz="1227" spc="-14" dirty="0">
                <a:solidFill>
                  <a:srgbClr val="C00000"/>
                </a:solidFill>
                <a:latin typeface="Verdana"/>
                <a:cs typeface="Verdana"/>
              </a:rPr>
              <a:t>time</a:t>
            </a:r>
            <a:endParaRPr sz="1227">
              <a:latin typeface="Verdana"/>
              <a:cs typeface="Verdana"/>
            </a:endParaRPr>
          </a:p>
        </p:txBody>
      </p:sp>
      <p:sp>
        <p:nvSpPr>
          <p:cNvPr id="21" name="object 21"/>
          <p:cNvSpPr/>
          <p:nvPr/>
        </p:nvSpPr>
        <p:spPr>
          <a:xfrm>
            <a:off x="5535872" y="1591945"/>
            <a:ext cx="859415" cy="150235"/>
          </a:xfrm>
          <a:custGeom>
            <a:avLst/>
            <a:gdLst/>
            <a:ahLst/>
            <a:cxnLst/>
            <a:rect l="l" t="t" r="r" b="b"/>
            <a:pathLst>
              <a:path w="1260475" h="220344">
                <a:moveTo>
                  <a:pt x="1260348" y="220217"/>
                </a:moveTo>
                <a:lnTo>
                  <a:pt x="1227296" y="155190"/>
                </a:lnTo>
                <a:lnTo>
                  <a:pt x="1190215" y="131354"/>
                </a:lnTo>
                <a:lnTo>
                  <a:pt x="1143192" y="115722"/>
                </a:lnTo>
                <a:lnTo>
                  <a:pt x="1089050" y="110108"/>
                </a:lnTo>
                <a:lnTo>
                  <a:pt x="801471" y="110108"/>
                </a:lnTo>
                <a:lnTo>
                  <a:pt x="747329" y="104495"/>
                </a:lnTo>
                <a:lnTo>
                  <a:pt x="700306" y="88863"/>
                </a:lnTo>
                <a:lnTo>
                  <a:pt x="663225" y="65027"/>
                </a:lnTo>
                <a:lnTo>
                  <a:pt x="638907" y="34801"/>
                </a:lnTo>
                <a:lnTo>
                  <a:pt x="630174" y="0"/>
                </a:lnTo>
                <a:lnTo>
                  <a:pt x="621440" y="34801"/>
                </a:lnTo>
                <a:lnTo>
                  <a:pt x="597122" y="65027"/>
                </a:lnTo>
                <a:lnTo>
                  <a:pt x="560041" y="88863"/>
                </a:lnTo>
                <a:lnTo>
                  <a:pt x="513018" y="104495"/>
                </a:lnTo>
                <a:lnTo>
                  <a:pt x="458876" y="110108"/>
                </a:lnTo>
                <a:lnTo>
                  <a:pt x="171297" y="110108"/>
                </a:lnTo>
                <a:lnTo>
                  <a:pt x="117155" y="115722"/>
                </a:lnTo>
                <a:lnTo>
                  <a:pt x="70132" y="131354"/>
                </a:lnTo>
                <a:lnTo>
                  <a:pt x="33051" y="155190"/>
                </a:lnTo>
                <a:lnTo>
                  <a:pt x="8733" y="185416"/>
                </a:lnTo>
                <a:lnTo>
                  <a:pt x="0" y="220217"/>
                </a:lnTo>
              </a:path>
            </a:pathLst>
          </a:custGeom>
          <a:ln w="28956">
            <a:solidFill>
              <a:srgbClr val="C00000"/>
            </a:solidFill>
          </a:ln>
        </p:spPr>
        <p:txBody>
          <a:bodyPr wrap="square" lIns="0" tIns="0" rIns="0" bIns="0" rtlCol="0"/>
          <a:lstStyle/>
          <a:p>
            <a:endParaRPr sz="1227"/>
          </a:p>
        </p:txBody>
      </p:sp>
      <p:pic>
        <p:nvPicPr>
          <p:cNvPr id="27" name="Picture 26"/>
          <p:cNvPicPr>
            <a:picLocks noChangeAspect="1"/>
          </p:cNvPicPr>
          <p:nvPr/>
        </p:nvPicPr>
        <p:blipFill>
          <a:blip r:embed="rId2"/>
          <a:stretch>
            <a:fillRect/>
          </a:stretch>
        </p:blipFill>
        <p:spPr>
          <a:xfrm>
            <a:off x="5162537" y="1917691"/>
            <a:ext cx="317513" cy="229779"/>
          </a:xfrm>
          <a:prstGeom prst="rect">
            <a:avLst/>
          </a:prstGeom>
        </p:spPr>
      </p:pic>
    </p:spTree>
    <p:extLst>
      <p:ext uri="{BB962C8B-B14F-4D97-AF65-F5344CB8AC3E}">
        <p14:creationId xmlns:p14="http://schemas.microsoft.com/office/powerpoint/2010/main" val="41859602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98148" y="237085"/>
            <a:ext cx="7222634" cy="531526"/>
          </a:xfrm>
          <a:prstGeom prst="rect">
            <a:avLst/>
          </a:prstGeom>
        </p:spPr>
        <p:txBody>
          <a:bodyPr vert="horz" wrap="square" lIns="0" tIns="8226" rIns="0" bIns="0" rtlCol="0">
            <a:spAutoFit/>
          </a:bodyPr>
          <a:lstStyle/>
          <a:p>
            <a:pPr marL="8659">
              <a:spcBef>
                <a:spcPts val="65"/>
              </a:spcBef>
            </a:pPr>
            <a:r>
              <a:rPr dirty="0"/>
              <a:t>Caveats</a:t>
            </a:r>
            <a:r>
              <a:rPr spc="-44" dirty="0"/>
              <a:t> </a:t>
            </a:r>
            <a:r>
              <a:rPr dirty="0"/>
              <a:t>for</a:t>
            </a:r>
            <a:r>
              <a:rPr spc="-44" dirty="0"/>
              <a:t> </a:t>
            </a:r>
            <a:r>
              <a:rPr dirty="0"/>
              <a:t>the</a:t>
            </a:r>
            <a:r>
              <a:rPr spc="-48" dirty="0"/>
              <a:t> </a:t>
            </a:r>
            <a:r>
              <a:rPr spc="-7" dirty="0"/>
              <a:t>ps-</a:t>
            </a:r>
            <a:r>
              <a:rPr spc="-17" dirty="0"/>
              <a:t>FoM</a:t>
            </a:r>
          </a:p>
        </p:txBody>
      </p:sp>
      <p:sp>
        <p:nvSpPr>
          <p:cNvPr id="3" name="object 3"/>
          <p:cNvSpPr txBox="1"/>
          <p:nvPr/>
        </p:nvSpPr>
        <p:spPr>
          <a:xfrm>
            <a:off x="5298747" y="1411420"/>
            <a:ext cx="171883" cy="218236"/>
          </a:xfrm>
          <a:prstGeom prst="rect">
            <a:avLst/>
          </a:prstGeom>
        </p:spPr>
        <p:txBody>
          <a:bodyPr vert="horz" wrap="square" lIns="0" tIns="8226" rIns="0" bIns="0" rtlCol="0">
            <a:spAutoFit/>
          </a:bodyPr>
          <a:lstStyle/>
          <a:p>
            <a:pPr marL="8659">
              <a:spcBef>
                <a:spcPts val="65"/>
              </a:spcBef>
            </a:pPr>
            <a:r>
              <a:rPr sz="1364" spc="-34" dirty="0">
                <a:solidFill>
                  <a:srgbClr val="CC0000"/>
                </a:solidFill>
                <a:latin typeface="Wingdings"/>
                <a:cs typeface="Wingdings"/>
              </a:rPr>
              <a:t></a:t>
            </a:r>
            <a:endParaRPr sz="1364">
              <a:latin typeface="Wingdings"/>
              <a:cs typeface="Wingdings"/>
            </a:endParaRPr>
          </a:p>
        </p:txBody>
      </p:sp>
      <p:sp>
        <p:nvSpPr>
          <p:cNvPr id="4" name="object 4"/>
          <p:cNvSpPr txBox="1"/>
          <p:nvPr/>
        </p:nvSpPr>
        <p:spPr>
          <a:xfrm>
            <a:off x="5602014" y="1454023"/>
            <a:ext cx="2606819" cy="387385"/>
          </a:xfrm>
          <a:prstGeom prst="rect">
            <a:avLst/>
          </a:prstGeom>
        </p:spPr>
        <p:txBody>
          <a:bodyPr vert="horz" wrap="square" lIns="0" tIns="51089" rIns="0" bIns="0" rtlCol="0">
            <a:spAutoFit/>
          </a:bodyPr>
          <a:lstStyle/>
          <a:p>
            <a:pPr marL="25977" marR="20781" indent="-433">
              <a:lnSpc>
                <a:spcPct val="79500"/>
              </a:lnSpc>
              <a:spcBef>
                <a:spcPts val="402"/>
              </a:spcBef>
            </a:pPr>
            <a:r>
              <a:rPr sz="2045" baseline="13888" dirty="0">
                <a:latin typeface="Verdana"/>
                <a:cs typeface="Verdana"/>
              </a:rPr>
              <a:t>V</a:t>
            </a:r>
            <a:r>
              <a:rPr sz="886" dirty="0">
                <a:latin typeface="Verdana"/>
                <a:cs typeface="Verdana"/>
              </a:rPr>
              <a:t>in</a:t>
            </a:r>
            <a:r>
              <a:rPr sz="2045" baseline="13888" dirty="0">
                <a:latin typeface="Verdana"/>
                <a:cs typeface="Verdana"/>
              </a:rPr>
              <a:t>,</a:t>
            </a:r>
            <a:r>
              <a:rPr sz="2045" spc="10" baseline="13888" dirty="0">
                <a:latin typeface="Verdana"/>
                <a:cs typeface="Verdana"/>
              </a:rPr>
              <a:t> </a:t>
            </a:r>
            <a:r>
              <a:rPr sz="2045" baseline="13888" dirty="0">
                <a:latin typeface="Verdana"/>
                <a:cs typeface="Verdana"/>
              </a:rPr>
              <a:t>t</a:t>
            </a:r>
            <a:r>
              <a:rPr sz="886" dirty="0">
                <a:latin typeface="Verdana"/>
                <a:cs typeface="Verdana"/>
              </a:rPr>
              <a:t>edge,</a:t>
            </a:r>
            <a:r>
              <a:rPr sz="886" spc="184" dirty="0">
                <a:latin typeface="Verdana"/>
                <a:cs typeface="Verdana"/>
              </a:rPr>
              <a:t> </a:t>
            </a:r>
            <a:r>
              <a:rPr sz="2045" baseline="13888" dirty="0">
                <a:latin typeface="Verdana"/>
                <a:cs typeface="Verdana"/>
              </a:rPr>
              <a:t>and</a:t>
            </a:r>
            <a:r>
              <a:rPr sz="2045" spc="15" baseline="13888" dirty="0">
                <a:latin typeface="Verdana"/>
                <a:cs typeface="Verdana"/>
              </a:rPr>
              <a:t> </a:t>
            </a:r>
            <a:r>
              <a:rPr sz="2045" baseline="13888" dirty="0">
                <a:latin typeface="Verdana"/>
                <a:cs typeface="Verdana"/>
              </a:rPr>
              <a:t>ΔI</a:t>
            </a:r>
            <a:r>
              <a:rPr sz="886" dirty="0">
                <a:latin typeface="Verdana"/>
                <a:cs typeface="Verdana"/>
              </a:rPr>
              <a:t>load,max</a:t>
            </a:r>
            <a:r>
              <a:rPr sz="886" spc="184" dirty="0">
                <a:latin typeface="Verdana"/>
                <a:cs typeface="Verdana"/>
              </a:rPr>
              <a:t> </a:t>
            </a:r>
            <a:r>
              <a:rPr sz="2045" baseline="13888" dirty="0">
                <a:latin typeface="Verdana"/>
                <a:cs typeface="Verdana"/>
              </a:rPr>
              <a:t>have</a:t>
            </a:r>
            <a:r>
              <a:rPr sz="2045" spc="15" baseline="13888" dirty="0">
                <a:latin typeface="Verdana"/>
                <a:cs typeface="Verdana"/>
              </a:rPr>
              <a:t> </a:t>
            </a:r>
            <a:r>
              <a:rPr sz="2045" spc="-51" baseline="13888" dirty="0">
                <a:latin typeface="Verdana"/>
                <a:cs typeface="Verdana"/>
              </a:rPr>
              <a:t>a </a:t>
            </a:r>
            <a:r>
              <a:rPr sz="1364" dirty="0">
                <a:latin typeface="Verdana"/>
                <a:cs typeface="Verdana"/>
              </a:rPr>
              <a:t>strong</a:t>
            </a:r>
            <a:r>
              <a:rPr sz="1364" spc="-31" dirty="0">
                <a:latin typeface="Verdana"/>
                <a:cs typeface="Verdana"/>
              </a:rPr>
              <a:t> </a:t>
            </a:r>
            <a:r>
              <a:rPr sz="1364" dirty="0">
                <a:latin typeface="Verdana"/>
                <a:cs typeface="Verdana"/>
              </a:rPr>
              <a:t>impact</a:t>
            </a:r>
            <a:r>
              <a:rPr sz="1364" spc="-17" dirty="0">
                <a:latin typeface="Verdana"/>
                <a:cs typeface="Verdana"/>
              </a:rPr>
              <a:t> </a:t>
            </a:r>
            <a:r>
              <a:rPr sz="1364" dirty="0">
                <a:latin typeface="Verdana"/>
                <a:cs typeface="Verdana"/>
              </a:rPr>
              <a:t>on</a:t>
            </a:r>
            <a:r>
              <a:rPr sz="1364" spc="-31" dirty="0">
                <a:latin typeface="Verdana"/>
                <a:cs typeface="Verdana"/>
              </a:rPr>
              <a:t> </a:t>
            </a:r>
            <a:r>
              <a:rPr sz="1364" spc="-14" dirty="0">
                <a:latin typeface="Verdana"/>
                <a:cs typeface="Verdana"/>
              </a:rPr>
              <a:t>FoM.</a:t>
            </a:r>
            <a:endParaRPr sz="1364">
              <a:latin typeface="Verdana"/>
              <a:cs typeface="Verdana"/>
            </a:endParaRPr>
          </a:p>
        </p:txBody>
      </p:sp>
      <p:sp>
        <p:nvSpPr>
          <p:cNvPr id="5" name="object 5"/>
          <p:cNvSpPr txBox="1"/>
          <p:nvPr/>
        </p:nvSpPr>
        <p:spPr>
          <a:xfrm>
            <a:off x="5278297" y="2064013"/>
            <a:ext cx="2873519" cy="218236"/>
          </a:xfrm>
          <a:prstGeom prst="rect">
            <a:avLst/>
          </a:prstGeom>
        </p:spPr>
        <p:txBody>
          <a:bodyPr vert="horz" wrap="square" lIns="0" tIns="8226" rIns="0" bIns="0" rtlCol="0">
            <a:spAutoFit/>
          </a:bodyPr>
          <a:lstStyle/>
          <a:p>
            <a:pPr marL="346354" indent="-320378">
              <a:spcBef>
                <a:spcPts val="65"/>
              </a:spcBef>
              <a:buClr>
                <a:srgbClr val="CC0000"/>
              </a:buClr>
              <a:buFont typeface="Wingdings"/>
              <a:buChar char=""/>
              <a:tabLst>
                <a:tab pos="346354" algn="l"/>
              </a:tabLst>
            </a:pPr>
            <a:r>
              <a:rPr sz="1364" dirty="0">
                <a:latin typeface="Verdana"/>
                <a:cs typeface="Verdana"/>
              </a:rPr>
              <a:t>ps</a:t>
            </a:r>
            <a:r>
              <a:rPr sz="1364" spc="-31" dirty="0">
                <a:latin typeface="Verdana"/>
                <a:cs typeface="Verdana"/>
              </a:rPr>
              <a:t> </a:t>
            </a:r>
            <a:r>
              <a:rPr sz="1364" dirty="0">
                <a:latin typeface="Verdana"/>
                <a:cs typeface="Verdana"/>
              </a:rPr>
              <a:t>FoM</a:t>
            </a:r>
            <a:r>
              <a:rPr sz="1364" spc="-27" dirty="0">
                <a:latin typeface="Verdana"/>
                <a:cs typeface="Verdana"/>
              </a:rPr>
              <a:t> </a:t>
            </a:r>
            <a:r>
              <a:rPr sz="1364" dirty="0">
                <a:latin typeface="Verdana"/>
                <a:cs typeface="Verdana"/>
              </a:rPr>
              <a:t>favors</a:t>
            </a:r>
            <a:r>
              <a:rPr sz="1364" spc="-31" dirty="0">
                <a:latin typeface="Verdana"/>
                <a:cs typeface="Verdana"/>
              </a:rPr>
              <a:t> </a:t>
            </a:r>
            <a:r>
              <a:rPr sz="1364" dirty="0">
                <a:latin typeface="Verdana"/>
                <a:cs typeface="Verdana"/>
              </a:rPr>
              <a:t>large</a:t>
            </a:r>
            <a:r>
              <a:rPr sz="1364" spc="-34" dirty="0">
                <a:latin typeface="Verdana"/>
                <a:cs typeface="Verdana"/>
              </a:rPr>
              <a:t> </a:t>
            </a:r>
            <a:r>
              <a:rPr sz="1364" spc="-7" dirty="0">
                <a:latin typeface="Verdana"/>
                <a:cs typeface="Verdana"/>
              </a:rPr>
              <a:t>ΔI</a:t>
            </a:r>
            <a:r>
              <a:rPr sz="1330" spc="-10" baseline="-21367" dirty="0">
                <a:latin typeface="Verdana"/>
                <a:cs typeface="Verdana"/>
              </a:rPr>
              <a:t>load,max</a:t>
            </a:r>
            <a:endParaRPr sz="1330" baseline="-21367">
              <a:latin typeface="Verdana"/>
              <a:cs typeface="Verdana"/>
            </a:endParaRPr>
          </a:p>
        </p:txBody>
      </p:sp>
      <p:sp>
        <p:nvSpPr>
          <p:cNvPr id="6" name="object 6"/>
          <p:cNvSpPr txBox="1"/>
          <p:nvPr/>
        </p:nvSpPr>
        <p:spPr>
          <a:xfrm>
            <a:off x="5584669" y="2327898"/>
            <a:ext cx="2413289" cy="251963"/>
          </a:xfrm>
          <a:prstGeom prst="rect">
            <a:avLst/>
          </a:prstGeom>
        </p:spPr>
        <p:txBody>
          <a:bodyPr vert="horz" wrap="square" lIns="0" tIns="8226" rIns="0" bIns="0" rtlCol="0">
            <a:spAutoFit/>
          </a:bodyPr>
          <a:lstStyle/>
          <a:p>
            <a:pPr marL="43294">
              <a:lnSpc>
                <a:spcPts val="1166"/>
              </a:lnSpc>
              <a:spcBef>
                <a:spcPts val="65"/>
              </a:spcBef>
              <a:tabLst>
                <a:tab pos="2299360" algn="l"/>
              </a:tabLst>
            </a:pPr>
            <a:r>
              <a:rPr sz="1364" dirty="0">
                <a:latin typeface="Verdana"/>
                <a:cs typeface="Verdana"/>
              </a:rPr>
              <a:t>(</a:t>
            </a:r>
            <a:r>
              <a:rPr sz="1364" dirty="0">
                <a:latin typeface="Cambria Math"/>
                <a:cs typeface="Cambria Math"/>
              </a:rPr>
              <a:t>∵</a:t>
            </a:r>
            <a:r>
              <a:rPr sz="1364" spc="68" dirty="0">
                <a:latin typeface="Cambria Math"/>
                <a:cs typeface="Cambria Math"/>
              </a:rPr>
              <a:t> </a:t>
            </a:r>
            <a:r>
              <a:rPr sz="1364" dirty="0">
                <a:latin typeface="Cambria Math"/>
                <a:cs typeface="Cambria Math"/>
              </a:rPr>
              <a:t>𝑝𝑠</a:t>
            </a:r>
            <a:r>
              <a:rPr sz="1364" spc="14" dirty="0">
                <a:latin typeface="Cambria Math"/>
                <a:cs typeface="Cambria Math"/>
              </a:rPr>
              <a:t> </a:t>
            </a:r>
            <a:r>
              <a:rPr sz="1364" dirty="0">
                <a:latin typeface="Cambria Math"/>
                <a:cs typeface="Cambria Math"/>
              </a:rPr>
              <a:t>𝐹𝑜𝑀</a:t>
            </a:r>
            <a:r>
              <a:rPr sz="1364" spc="102" dirty="0">
                <a:latin typeface="Cambria Math"/>
                <a:cs typeface="Cambria Math"/>
              </a:rPr>
              <a:t> </a:t>
            </a:r>
            <a:r>
              <a:rPr sz="1364" dirty="0">
                <a:latin typeface="Cambria Math"/>
                <a:cs typeface="Cambria Math"/>
              </a:rPr>
              <a:t>∝</a:t>
            </a:r>
            <a:r>
              <a:rPr sz="1364" spc="65" dirty="0">
                <a:latin typeface="Cambria Math"/>
                <a:cs typeface="Cambria Math"/>
              </a:rPr>
              <a:t> </a:t>
            </a:r>
            <a:r>
              <a:rPr sz="1364" spc="-7" dirty="0">
                <a:latin typeface="Cambria Math"/>
                <a:cs typeface="Cambria Math"/>
              </a:rPr>
              <a:t>Δ𝑉</a:t>
            </a:r>
            <a:r>
              <a:rPr sz="1483" spc="-10" baseline="-15325" dirty="0">
                <a:latin typeface="Cambria Math"/>
                <a:cs typeface="Cambria Math"/>
              </a:rPr>
              <a:t>𝑜𝑢𝑡</a:t>
            </a:r>
            <a:r>
              <a:rPr sz="1364" spc="-7" dirty="0">
                <a:latin typeface="Cambria Math"/>
                <a:cs typeface="Cambria Math"/>
              </a:rPr>
              <a:t>/Δ𝐼</a:t>
            </a:r>
            <a:r>
              <a:rPr sz="1483" spc="-10" baseline="30651" dirty="0">
                <a:latin typeface="Cambria Math"/>
                <a:cs typeface="Cambria Math"/>
              </a:rPr>
              <a:t>2</a:t>
            </a:r>
            <a:r>
              <a:rPr sz="1483" baseline="30651" dirty="0">
                <a:latin typeface="Cambria Math"/>
                <a:cs typeface="Cambria Math"/>
              </a:rPr>
              <a:t>	</a:t>
            </a:r>
            <a:r>
              <a:rPr sz="1364" spc="-34" dirty="0">
                <a:latin typeface="Verdana"/>
                <a:cs typeface="Verdana"/>
              </a:rPr>
              <a:t>)</a:t>
            </a:r>
            <a:endParaRPr sz="1364">
              <a:latin typeface="Verdana"/>
              <a:cs typeface="Verdana"/>
            </a:endParaRPr>
          </a:p>
          <a:p>
            <a:pPr marR="118193" algn="r">
              <a:lnSpc>
                <a:spcPts val="716"/>
              </a:lnSpc>
            </a:pPr>
            <a:r>
              <a:rPr sz="989" spc="51" dirty="0">
                <a:latin typeface="Cambria Math"/>
                <a:cs typeface="Cambria Math"/>
              </a:rPr>
              <a:t>𝑙𝑜𝑎𝑑,𝑚𝑎𝑥</a:t>
            </a:r>
            <a:endParaRPr sz="989">
              <a:latin typeface="Cambria Math"/>
              <a:cs typeface="Cambria Math"/>
            </a:endParaRPr>
          </a:p>
        </p:txBody>
      </p:sp>
      <p:sp>
        <p:nvSpPr>
          <p:cNvPr id="7" name="object 7"/>
          <p:cNvSpPr txBox="1"/>
          <p:nvPr/>
        </p:nvSpPr>
        <p:spPr>
          <a:xfrm>
            <a:off x="5281410" y="2599176"/>
            <a:ext cx="3386570" cy="638094"/>
          </a:xfrm>
          <a:prstGeom prst="rect">
            <a:avLst/>
          </a:prstGeom>
        </p:spPr>
        <p:txBody>
          <a:bodyPr vert="horz" wrap="square" lIns="0" tIns="8226" rIns="0" bIns="0" rtlCol="0">
            <a:spAutoFit/>
          </a:bodyPr>
          <a:lstStyle/>
          <a:p>
            <a:pPr marL="346354" marR="29440" indent="-320810">
              <a:spcBef>
                <a:spcPts val="65"/>
              </a:spcBef>
              <a:buClr>
                <a:srgbClr val="CC0000"/>
              </a:buClr>
              <a:buFont typeface="Wingdings"/>
              <a:buChar char=""/>
              <a:tabLst>
                <a:tab pos="346354" algn="l"/>
              </a:tabLst>
            </a:pPr>
            <a:r>
              <a:rPr sz="1364" dirty="0">
                <a:latin typeface="Verdana"/>
                <a:cs typeface="Verdana"/>
              </a:rPr>
              <a:t>Using</a:t>
            </a:r>
            <a:r>
              <a:rPr sz="1364" spc="-31" dirty="0">
                <a:latin typeface="Verdana"/>
                <a:cs typeface="Verdana"/>
              </a:rPr>
              <a:t> </a:t>
            </a:r>
            <a:r>
              <a:rPr sz="1364" dirty="0">
                <a:latin typeface="Verdana"/>
                <a:cs typeface="Verdana"/>
              </a:rPr>
              <a:t>a</a:t>
            </a:r>
            <a:r>
              <a:rPr sz="1364" spc="-34" dirty="0">
                <a:latin typeface="Verdana"/>
                <a:cs typeface="Verdana"/>
              </a:rPr>
              <a:t> </a:t>
            </a:r>
            <a:r>
              <a:rPr sz="1364" dirty="0">
                <a:latin typeface="Verdana"/>
                <a:cs typeface="Verdana"/>
              </a:rPr>
              <a:t>large</a:t>
            </a:r>
            <a:r>
              <a:rPr sz="1364" spc="-24" dirty="0">
                <a:latin typeface="Verdana"/>
                <a:cs typeface="Verdana"/>
              </a:rPr>
              <a:t> </a:t>
            </a:r>
            <a:r>
              <a:rPr sz="1364" dirty="0">
                <a:latin typeface="Verdana"/>
                <a:cs typeface="Verdana"/>
              </a:rPr>
              <a:t>output</a:t>
            </a:r>
            <a:r>
              <a:rPr sz="1364" spc="-31" dirty="0">
                <a:latin typeface="Verdana"/>
                <a:cs typeface="Verdana"/>
              </a:rPr>
              <a:t> </a:t>
            </a:r>
            <a:r>
              <a:rPr sz="1364" dirty="0">
                <a:latin typeface="Verdana"/>
                <a:cs typeface="Verdana"/>
              </a:rPr>
              <a:t>capacitor</a:t>
            </a:r>
            <a:r>
              <a:rPr sz="1364" spc="-24" dirty="0">
                <a:latin typeface="Verdana"/>
                <a:cs typeface="Verdana"/>
              </a:rPr>
              <a:t> </a:t>
            </a:r>
            <a:r>
              <a:rPr sz="1364" spc="-17" dirty="0">
                <a:latin typeface="Verdana"/>
                <a:cs typeface="Verdana"/>
              </a:rPr>
              <a:t>and </a:t>
            </a:r>
            <a:r>
              <a:rPr sz="1364" dirty="0">
                <a:latin typeface="Verdana"/>
                <a:cs typeface="Verdana"/>
              </a:rPr>
              <a:t>proportionally</a:t>
            </a:r>
            <a:r>
              <a:rPr sz="1364" spc="-51" dirty="0">
                <a:latin typeface="Verdana"/>
                <a:cs typeface="Verdana"/>
              </a:rPr>
              <a:t> </a:t>
            </a:r>
            <a:r>
              <a:rPr sz="1364" dirty="0">
                <a:latin typeface="Verdana"/>
                <a:cs typeface="Verdana"/>
              </a:rPr>
              <a:t>increasing</a:t>
            </a:r>
            <a:r>
              <a:rPr sz="1364" spc="-72" dirty="0">
                <a:latin typeface="Verdana"/>
                <a:cs typeface="Verdana"/>
              </a:rPr>
              <a:t> </a:t>
            </a:r>
            <a:r>
              <a:rPr sz="1364" spc="-7" dirty="0">
                <a:latin typeface="Verdana"/>
                <a:cs typeface="Verdana"/>
              </a:rPr>
              <a:t>ΔI</a:t>
            </a:r>
            <a:r>
              <a:rPr sz="1330" spc="-10" baseline="-21367" dirty="0">
                <a:latin typeface="Verdana"/>
                <a:cs typeface="Verdana"/>
              </a:rPr>
              <a:t>load,max </a:t>
            </a:r>
            <a:r>
              <a:rPr sz="1364" dirty="0">
                <a:latin typeface="Verdana"/>
                <a:cs typeface="Verdana"/>
              </a:rPr>
              <a:t>improves</a:t>
            </a:r>
            <a:r>
              <a:rPr sz="1364" spc="-20" dirty="0">
                <a:latin typeface="Verdana"/>
                <a:cs typeface="Verdana"/>
              </a:rPr>
              <a:t> </a:t>
            </a:r>
            <a:r>
              <a:rPr sz="1364" dirty="0">
                <a:latin typeface="Verdana"/>
                <a:cs typeface="Verdana"/>
              </a:rPr>
              <a:t>ps</a:t>
            </a:r>
            <a:r>
              <a:rPr sz="1364" spc="-20" dirty="0">
                <a:latin typeface="Verdana"/>
                <a:cs typeface="Verdana"/>
              </a:rPr>
              <a:t> </a:t>
            </a:r>
            <a:r>
              <a:rPr sz="1364" dirty="0">
                <a:latin typeface="Verdana"/>
                <a:cs typeface="Verdana"/>
              </a:rPr>
              <a:t>FoM</a:t>
            </a:r>
            <a:r>
              <a:rPr sz="1364" spc="-20" dirty="0">
                <a:latin typeface="Verdana"/>
                <a:cs typeface="Verdana"/>
              </a:rPr>
              <a:t> </a:t>
            </a:r>
            <a:r>
              <a:rPr sz="1364" dirty="0">
                <a:latin typeface="Verdana"/>
                <a:cs typeface="Verdana"/>
              </a:rPr>
              <a:t>in</a:t>
            </a:r>
            <a:r>
              <a:rPr sz="1364" spc="-24" dirty="0">
                <a:latin typeface="Verdana"/>
                <a:cs typeface="Verdana"/>
              </a:rPr>
              <a:t> </a:t>
            </a:r>
            <a:r>
              <a:rPr sz="1364" dirty="0">
                <a:latin typeface="Verdana"/>
                <a:cs typeface="Verdana"/>
              </a:rPr>
              <a:t>a</a:t>
            </a:r>
            <a:r>
              <a:rPr sz="1364" spc="-31" dirty="0">
                <a:latin typeface="Verdana"/>
                <a:cs typeface="Verdana"/>
              </a:rPr>
              <a:t> </a:t>
            </a:r>
            <a:r>
              <a:rPr sz="1364" dirty="0">
                <a:latin typeface="Verdana"/>
                <a:cs typeface="Verdana"/>
              </a:rPr>
              <a:t>same</a:t>
            </a:r>
            <a:r>
              <a:rPr sz="1364" spc="-24" dirty="0">
                <a:latin typeface="Verdana"/>
                <a:cs typeface="Verdana"/>
              </a:rPr>
              <a:t> </a:t>
            </a:r>
            <a:r>
              <a:rPr sz="1364" spc="-7" dirty="0">
                <a:latin typeface="Verdana"/>
                <a:cs typeface="Verdana"/>
              </a:rPr>
              <a:t>design</a:t>
            </a:r>
            <a:endParaRPr sz="1364">
              <a:latin typeface="Verdana"/>
              <a:cs typeface="Verdana"/>
            </a:endParaRPr>
          </a:p>
        </p:txBody>
      </p:sp>
      <p:sp>
        <p:nvSpPr>
          <p:cNvPr id="8" name="object 8"/>
          <p:cNvSpPr txBox="1"/>
          <p:nvPr/>
        </p:nvSpPr>
        <p:spPr>
          <a:xfrm>
            <a:off x="5298548" y="3471998"/>
            <a:ext cx="171883" cy="218236"/>
          </a:xfrm>
          <a:prstGeom prst="rect">
            <a:avLst/>
          </a:prstGeom>
        </p:spPr>
        <p:txBody>
          <a:bodyPr vert="horz" wrap="square" lIns="0" tIns="8226" rIns="0" bIns="0" rtlCol="0">
            <a:spAutoFit/>
          </a:bodyPr>
          <a:lstStyle/>
          <a:p>
            <a:pPr marL="8659">
              <a:spcBef>
                <a:spcPts val="65"/>
              </a:spcBef>
            </a:pPr>
            <a:r>
              <a:rPr sz="1364" spc="-34" dirty="0">
                <a:solidFill>
                  <a:srgbClr val="CC0000"/>
                </a:solidFill>
                <a:latin typeface="Wingdings"/>
                <a:cs typeface="Wingdings"/>
              </a:rPr>
              <a:t></a:t>
            </a:r>
            <a:endParaRPr sz="1364">
              <a:latin typeface="Wingdings"/>
              <a:cs typeface="Wingdings"/>
            </a:endParaRPr>
          </a:p>
        </p:txBody>
      </p:sp>
      <p:sp>
        <p:nvSpPr>
          <p:cNvPr id="9" name="object 9"/>
          <p:cNvSpPr txBox="1"/>
          <p:nvPr/>
        </p:nvSpPr>
        <p:spPr>
          <a:xfrm>
            <a:off x="5601814" y="3514539"/>
            <a:ext cx="2321935" cy="218107"/>
          </a:xfrm>
          <a:prstGeom prst="rect">
            <a:avLst/>
          </a:prstGeom>
        </p:spPr>
        <p:txBody>
          <a:bodyPr vert="horz" wrap="square" lIns="0" tIns="8226" rIns="0" bIns="0" rtlCol="0">
            <a:spAutoFit/>
          </a:bodyPr>
          <a:lstStyle/>
          <a:p>
            <a:pPr marL="25977">
              <a:spcBef>
                <a:spcPts val="65"/>
              </a:spcBef>
            </a:pPr>
            <a:r>
              <a:rPr sz="2045" baseline="13888" dirty="0">
                <a:latin typeface="Verdana"/>
                <a:cs typeface="Verdana"/>
              </a:rPr>
              <a:t>Note</a:t>
            </a:r>
            <a:r>
              <a:rPr sz="2045" spc="5" baseline="13888" dirty="0">
                <a:latin typeface="Verdana"/>
                <a:cs typeface="Verdana"/>
              </a:rPr>
              <a:t> </a:t>
            </a:r>
            <a:r>
              <a:rPr sz="2045" baseline="13888" dirty="0">
                <a:latin typeface="Verdana"/>
                <a:cs typeface="Verdana"/>
              </a:rPr>
              <a:t>ΔI</a:t>
            </a:r>
            <a:r>
              <a:rPr sz="886" dirty="0">
                <a:latin typeface="Verdana"/>
                <a:cs typeface="Verdana"/>
              </a:rPr>
              <a:t>load,max</a:t>
            </a:r>
            <a:r>
              <a:rPr sz="2045" baseline="13888" dirty="0">
                <a:latin typeface="Verdana"/>
                <a:cs typeface="Verdana"/>
              </a:rPr>
              <a:t>,</a:t>
            </a:r>
            <a:r>
              <a:rPr sz="2045" spc="20" baseline="13888" dirty="0">
                <a:latin typeface="Verdana"/>
                <a:cs typeface="Verdana"/>
              </a:rPr>
              <a:t> </a:t>
            </a:r>
            <a:r>
              <a:rPr sz="2045" baseline="13888" dirty="0">
                <a:latin typeface="Verdana"/>
                <a:cs typeface="Verdana"/>
              </a:rPr>
              <a:t>not</a:t>
            </a:r>
            <a:r>
              <a:rPr sz="2045" spc="-15" baseline="13888" dirty="0">
                <a:latin typeface="Verdana"/>
                <a:cs typeface="Verdana"/>
              </a:rPr>
              <a:t> </a:t>
            </a:r>
            <a:r>
              <a:rPr sz="2045" spc="-10" baseline="13888" dirty="0">
                <a:latin typeface="Verdana"/>
                <a:cs typeface="Verdana"/>
              </a:rPr>
              <a:t>I</a:t>
            </a:r>
            <a:r>
              <a:rPr sz="886" spc="-7" dirty="0">
                <a:latin typeface="Verdana"/>
                <a:cs typeface="Verdana"/>
              </a:rPr>
              <a:t>load,max</a:t>
            </a:r>
            <a:endParaRPr sz="886">
              <a:latin typeface="Verdana"/>
              <a:cs typeface="Verdana"/>
            </a:endParaRPr>
          </a:p>
        </p:txBody>
      </p:sp>
      <p:sp>
        <p:nvSpPr>
          <p:cNvPr id="10" name="object 10"/>
          <p:cNvSpPr txBox="1"/>
          <p:nvPr/>
        </p:nvSpPr>
        <p:spPr>
          <a:xfrm>
            <a:off x="5281428" y="3970701"/>
            <a:ext cx="3221615" cy="428165"/>
          </a:xfrm>
          <a:prstGeom prst="rect">
            <a:avLst/>
          </a:prstGeom>
        </p:spPr>
        <p:txBody>
          <a:bodyPr vert="horz" wrap="square" lIns="0" tIns="8226" rIns="0" bIns="0" rtlCol="0">
            <a:spAutoFit/>
          </a:bodyPr>
          <a:lstStyle/>
          <a:p>
            <a:pPr marL="346354" marR="29440" indent="-320810">
              <a:spcBef>
                <a:spcPts val="65"/>
              </a:spcBef>
              <a:buClr>
                <a:srgbClr val="CC0000"/>
              </a:buClr>
              <a:buFont typeface="Wingdings"/>
              <a:buChar char=""/>
              <a:tabLst>
                <a:tab pos="346354" algn="l"/>
              </a:tabLst>
            </a:pPr>
            <a:r>
              <a:rPr sz="1364" dirty="0">
                <a:latin typeface="Verdana"/>
                <a:cs typeface="Verdana"/>
              </a:rPr>
              <a:t>Ideal</a:t>
            </a:r>
            <a:r>
              <a:rPr sz="1364" spc="-31" dirty="0">
                <a:latin typeface="Verdana"/>
                <a:cs typeface="Verdana"/>
              </a:rPr>
              <a:t> </a:t>
            </a:r>
            <a:r>
              <a:rPr sz="1364" dirty="0">
                <a:latin typeface="Verdana"/>
                <a:cs typeface="Verdana"/>
              </a:rPr>
              <a:t>to</a:t>
            </a:r>
            <a:r>
              <a:rPr sz="1364" spc="-34" dirty="0">
                <a:latin typeface="Verdana"/>
                <a:cs typeface="Verdana"/>
              </a:rPr>
              <a:t> </a:t>
            </a:r>
            <a:r>
              <a:rPr sz="1364" dirty="0">
                <a:latin typeface="Verdana"/>
                <a:cs typeface="Verdana"/>
              </a:rPr>
              <a:t>compare</a:t>
            </a:r>
            <a:r>
              <a:rPr sz="1364" spc="-27" dirty="0">
                <a:latin typeface="Verdana"/>
                <a:cs typeface="Verdana"/>
              </a:rPr>
              <a:t> </a:t>
            </a:r>
            <a:r>
              <a:rPr sz="1364" dirty="0">
                <a:latin typeface="Verdana"/>
                <a:cs typeface="Verdana"/>
              </a:rPr>
              <a:t>designs</a:t>
            </a:r>
            <a:r>
              <a:rPr sz="1364" spc="-27" dirty="0">
                <a:latin typeface="Verdana"/>
                <a:cs typeface="Verdana"/>
              </a:rPr>
              <a:t> </a:t>
            </a:r>
            <a:r>
              <a:rPr sz="1364" spc="-7" dirty="0">
                <a:latin typeface="Verdana"/>
                <a:cs typeface="Verdana"/>
              </a:rPr>
              <a:t>having </a:t>
            </a:r>
            <a:r>
              <a:rPr sz="1364" dirty="0">
                <a:latin typeface="Verdana"/>
                <a:cs typeface="Verdana"/>
              </a:rPr>
              <a:t>similar</a:t>
            </a:r>
            <a:r>
              <a:rPr sz="1364" spc="-7" dirty="0">
                <a:latin typeface="Verdana"/>
                <a:cs typeface="Verdana"/>
              </a:rPr>
              <a:t> </a:t>
            </a:r>
            <a:r>
              <a:rPr sz="1364" dirty="0">
                <a:latin typeface="Verdana"/>
                <a:cs typeface="Verdana"/>
              </a:rPr>
              <a:t>V</a:t>
            </a:r>
            <a:r>
              <a:rPr sz="1330" baseline="-21367" dirty="0">
                <a:latin typeface="Verdana"/>
                <a:cs typeface="Verdana"/>
              </a:rPr>
              <a:t>in</a:t>
            </a:r>
            <a:r>
              <a:rPr sz="1364" dirty="0">
                <a:latin typeface="Verdana"/>
                <a:cs typeface="Verdana"/>
              </a:rPr>
              <a:t>,</a:t>
            </a:r>
            <a:r>
              <a:rPr sz="1364" spc="-10" dirty="0">
                <a:latin typeface="Verdana"/>
                <a:cs typeface="Verdana"/>
              </a:rPr>
              <a:t> </a:t>
            </a:r>
            <a:r>
              <a:rPr sz="1364" dirty="0">
                <a:latin typeface="Verdana"/>
                <a:cs typeface="Verdana"/>
              </a:rPr>
              <a:t>t</a:t>
            </a:r>
            <a:r>
              <a:rPr sz="1330" baseline="-21367" dirty="0">
                <a:latin typeface="Verdana"/>
                <a:cs typeface="Verdana"/>
              </a:rPr>
              <a:t>edge</a:t>
            </a:r>
            <a:r>
              <a:rPr sz="1364" dirty="0">
                <a:latin typeface="Verdana"/>
                <a:cs typeface="Verdana"/>
              </a:rPr>
              <a:t>,</a:t>
            </a:r>
            <a:r>
              <a:rPr sz="1364" spc="-7" dirty="0">
                <a:latin typeface="Verdana"/>
                <a:cs typeface="Verdana"/>
              </a:rPr>
              <a:t> </a:t>
            </a:r>
            <a:r>
              <a:rPr sz="1364" dirty="0">
                <a:latin typeface="Verdana"/>
                <a:cs typeface="Verdana"/>
              </a:rPr>
              <a:t>and</a:t>
            </a:r>
            <a:r>
              <a:rPr sz="1364" spc="-7" dirty="0">
                <a:latin typeface="Verdana"/>
                <a:cs typeface="Verdana"/>
              </a:rPr>
              <a:t> ΔI</a:t>
            </a:r>
            <a:r>
              <a:rPr sz="1330" spc="-10" baseline="-21367" dirty="0">
                <a:latin typeface="Verdana"/>
                <a:cs typeface="Verdana"/>
              </a:rPr>
              <a:t>load,max</a:t>
            </a:r>
            <a:endParaRPr sz="1330" baseline="-21367">
              <a:latin typeface="Verdana"/>
              <a:cs typeface="Verdana"/>
            </a:endParaRPr>
          </a:p>
        </p:txBody>
      </p:sp>
      <p:grpSp>
        <p:nvGrpSpPr>
          <p:cNvPr id="11" name="object 11"/>
          <p:cNvGrpSpPr/>
          <p:nvPr/>
        </p:nvGrpSpPr>
        <p:grpSpPr>
          <a:xfrm>
            <a:off x="2013365" y="1835137"/>
            <a:ext cx="2639291" cy="1987694"/>
            <a:chOff x="1626208" y="2281747"/>
            <a:chExt cx="3870960" cy="2915285"/>
          </a:xfrm>
        </p:grpSpPr>
        <p:sp>
          <p:nvSpPr>
            <p:cNvPr id="12" name="object 12"/>
            <p:cNvSpPr/>
            <p:nvPr/>
          </p:nvSpPr>
          <p:spPr>
            <a:xfrm>
              <a:off x="1778072" y="2423163"/>
              <a:ext cx="430530" cy="375285"/>
            </a:xfrm>
            <a:custGeom>
              <a:avLst/>
              <a:gdLst/>
              <a:ahLst/>
              <a:cxnLst/>
              <a:rect l="l" t="t" r="r" b="b"/>
              <a:pathLst>
                <a:path w="430530" h="375285">
                  <a:moveTo>
                    <a:pt x="430281" y="374851"/>
                  </a:moveTo>
                  <a:lnTo>
                    <a:pt x="0" y="0"/>
                  </a:lnTo>
                </a:path>
              </a:pathLst>
            </a:custGeom>
            <a:ln w="38433">
              <a:solidFill>
                <a:srgbClr val="000000"/>
              </a:solidFill>
            </a:ln>
          </p:spPr>
          <p:txBody>
            <a:bodyPr wrap="square" lIns="0" tIns="0" rIns="0" bIns="0" rtlCol="0"/>
            <a:lstStyle/>
            <a:p>
              <a:endParaRPr sz="1227"/>
            </a:p>
          </p:txBody>
        </p:sp>
        <p:sp>
          <p:nvSpPr>
            <p:cNvPr id="13" name="object 13"/>
            <p:cNvSpPr/>
            <p:nvPr/>
          </p:nvSpPr>
          <p:spPr>
            <a:xfrm>
              <a:off x="2365469" y="2951891"/>
              <a:ext cx="358140" cy="393700"/>
            </a:xfrm>
            <a:custGeom>
              <a:avLst/>
              <a:gdLst/>
              <a:ahLst/>
              <a:cxnLst/>
              <a:rect l="l" t="t" r="r" b="b"/>
              <a:pathLst>
                <a:path w="358139" h="393700">
                  <a:moveTo>
                    <a:pt x="357972" y="393638"/>
                  </a:moveTo>
                  <a:lnTo>
                    <a:pt x="0" y="0"/>
                  </a:lnTo>
                </a:path>
              </a:pathLst>
            </a:custGeom>
            <a:ln w="38423">
              <a:solidFill>
                <a:srgbClr val="000000"/>
              </a:solidFill>
            </a:ln>
          </p:spPr>
          <p:txBody>
            <a:bodyPr wrap="square" lIns="0" tIns="0" rIns="0" bIns="0" rtlCol="0"/>
            <a:lstStyle/>
            <a:p>
              <a:endParaRPr sz="1227"/>
            </a:p>
          </p:txBody>
        </p:sp>
        <p:sp>
          <p:nvSpPr>
            <p:cNvPr id="14" name="object 14"/>
            <p:cNvSpPr/>
            <p:nvPr/>
          </p:nvSpPr>
          <p:spPr>
            <a:xfrm>
              <a:off x="2882342" y="3496722"/>
              <a:ext cx="738505" cy="602615"/>
            </a:xfrm>
            <a:custGeom>
              <a:avLst/>
              <a:gdLst/>
              <a:ahLst/>
              <a:cxnLst/>
              <a:rect l="l" t="t" r="r" b="b"/>
              <a:pathLst>
                <a:path w="738504" h="602614">
                  <a:moveTo>
                    <a:pt x="738262" y="602088"/>
                  </a:moveTo>
                  <a:lnTo>
                    <a:pt x="0" y="0"/>
                  </a:lnTo>
                </a:path>
              </a:pathLst>
            </a:custGeom>
            <a:ln w="38436">
              <a:solidFill>
                <a:srgbClr val="000000"/>
              </a:solidFill>
            </a:ln>
          </p:spPr>
          <p:txBody>
            <a:bodyPr wrap="square" lIns="0" tIns="0" rIns="0" bIns="0" rtlCol="0"/>
            <a:lstStyle/>
            <a:p>
              <a:endParaRPr sz="1227"/>
            </a:p>
          </p:txBody>
        </p:sp>
        <p:sp>
          <p:nvSpPr>
            <p:cNvPr id="15" name="object 15"/>
            <p:cNvSpPr/>
            <p:nvPr/>
          </p:nvSpPr>
          <p:spPr>
            <a:xfrm>
              <a:off x="3752724" y="4267895"/>
              <a:ext cx="333375" cy="705485"/>
            </a:xfrm>
            <a:custGeom>
              <a:avLst/>
              <a:gdLst/>
              <a:ahLst/>
              <a:cxnLst/>
              <a:rect l="l" t="t" r="r" b="b"/>
              <a:pathLst>
                <a:path w="333375" h="705485">
                  <a:moveTo>
                    <a:pt x="332976" y="704971"/>
                  </a:moveTo>
                  <a:lnTo>
                    <a:pt x="0" y="0"/>
                  </a:lnTo>
                </a:path>
              </a:pathLst>
            </a:custGeom>
            <a:ln w="38401">
              <a:solidFill>
                <a:srgbClr val="000000"/>
              </a:solidFill>
            </a:ln>
          </p:spPr>
          <p:txBody>
            <a:bodyPr wrap="square" lIns="0" tIns="0" rIns="0" bIns="0" rtlCol="0"/>
            <a:lstStyle/>
            <a:p>
              <a:endParaRPr sz="1227"/>
            </a:p>
          </p:txBody>
        </p:sp>
        <p:sp>
          <p:nvSpPr>
            <p:cNvPr id="16" name="object 16"/>
            <p:cNvSpPr/>
            <p:nvPr/>
          </p:nvSpPr>
          <p:spPr>
            <a:xfrm>
              <a:off x="1646845" y="2302384"/>
              <a:ext cx="95885" cy="95885"/>
            </a:xfrm>
            <a:custGeom>
              <a:avLst/>
              <a:gdLst/>
              <a:ahLst/>
              <a:cxnLst/>
              <a:rect l="l" t="t" r="r" b="b"/>
              <a:pathLst>
                <a:path w="95885" h="95885">
                  <a:moveTo>
                    <a:pt x="0" y="0"/>
                  </a:moveTo>
                  <a:lnTo>
                    <a:pt x="95518" y="0"/>
                  </a:lnTo>
                  <a:lnTo>
                    <a:pt x="95518" y="95725"/>
                  </a:lnTo>
                  <a:lnTo>
                    <a:pt x="0" y="95725"/>
                  </a:lnTo>
                  <a:lnTo>
                    <a:pt x="0" y="0"/>
                  </a:lnTo>
                  <a:close/>
                </a:path>
              </a:pathLst>
            </a:custGeom>
            <a:ln w="41108">
              <a:solidFill>
                <a:srgbClr val="000000"/>
              </a:solidFill>
            </a:ln>
          </p:spPr>
          <p:txBody>
            <a:bodyPr wrap="square" lIns="0" tIns="0" rIns="0" bIns="0" rtlCol="0"/>
            <a:lstStyle/>
            <a:p>
              <a:endParaRPr sz="1227"/>
            </a:p>
          </p:txBody>
        </p:sp>
        <p:sp>
          <p:nvSpPr>
            <p:cNvPr id="17" name="object 17"/>
            <p:cNvSpPr/>
            <p:nvPr/>
          </p:nvSpPr>
          <p:spPr>
            <a:xfrm>
              <a:off x="2243169" y="2822166"/>
              <a:ext cx="95885" cy="95885"/>
            </a:xfrm>
            <a:custGeom>
              <a:avLst/>
              <a:gdLst/>
              <a:ahLst/>
              <a:cxnLst/>
              <a:rect l="l" t="t" r="r" b="b"/>
              <a:pathLst>
                <a:path w="95885" h="95885">
                  <a:moveTo>
                    <a:pt x="0" y="0"/>
                  </a:moveTo>
                  <a:lnTo>
                    <a:pt x="95518" y="0"/>
                  </a:lnTo>
                  <a:lnTo>
                    <a:pt x="95518" y="95725"/>
                  </a:lnTo>
                  <a:lnTo>
                    <a:pt x="0" y="95725"/>
                  </a:lnTo>
                  <a:lnTo>
                    <a:pt x="0" y="0"/>
                  </a:lnTo>
                  <a:close/>
                </a:path>
              </a:pathLst>
            </a:custGeom>
            <a:ln w="41108">
              <a:solidFill>
                <a:srgbClr val="000000"/>
              </a:solidFill>
            </a:ln>
          </p:spPr>
          <p:txBody>
            <a:bodyPr wrap="square" lIns="0" tIns="0" rIns="0" bIns="0" rtlCol="0"/>
            <a:lstStyle/>
            <a:p>
              <a:endParaRPr sz="1227"/>
            </a:p>
          </p:txBody>
        </p:sp>
        <p:sp>
          <p:nvSpPr>
            <p:cNvPr id="18" name="object 18"/>
            <p:cNvSpPr/>
            <p:nvPr/>
          </p:nvSpPr>
          <p:spPr>
            <a:xfrm>
              <a:off x="2749329" y="3378627"/>
              <a:ext cx="95885" cy="95885"/>
            </a:xfrm>
            <a:custGeom>
              <a:avLst/>
              <a:gdLst/>
              <a:ahLst/>
              <a:cxnLst/>
              <a:rect l="l" t="t" r="r" b="b"/>
              <a:pathLst>
                <a:path w="95885" h="95885">
                  <a:moveTo>
                    <a:pt x="0" y="0"/>
                  </a:moveTo>
                  <a:lnTo>
                    <a:pt x="95518" y="0"/>
                  </a:lnTo>
                  <a:lnTo>
                    <a:pt x="95518" y="95725"/>
                  </a:lnTo>
                  <a:lnTo>
                    <a:pt x="0" y="95725"/>
                  </a:lnTo>
                  <a:lnTo>
                    <a:pt x="0" y="0"/>
                  </a:lnTo>
                  <a:close/>
                </a:path>
              </a:pathLst>
            </a:custGeom>
            <a:ln w="41108">
              <a:solidFill>
                <a:srgbClr val="000000"/>
              </a:solidFill>
            </a:ln>
          </p:spPr>
          <p:txBody>
            <a:bodyPr wrap="square" lIns="0" tIns="0" rIns="0" bIns="0" rtlCol="0"/>
            <a:lstStyle/>
            <a:p>
              <a:endParaRPr sz="1227"/>
            </a:p>
          </p:txBody>
        </p:sp>
        <p:sp>
          <p:nvSpPr>
            <p:cNvPr id="19" name="object 19"/>
            <p:cNvSpPr/>
            <p:nvPr/>
          </p:nvSpPr>
          <p:spPr>
            <a:xfrm>
              <a:off x="3657205" y="4120278"/>
              <a:ext cx="95885" cy="95885"/>
            </a:xfrm>
            <a:custGeom>
              <a:avLst/>
              <a:gdLst/>
              <a:ahLst/>
              <a:cxnLst/>
              <a:rect l="l" t="t" r="r" b="b"/>
              <a:pathLst>
                <a:path w="95885" h="95885">
                  <a:moveTo>
                    <a:pt x="0" y="0"/>
                  </a:moveTo>
                  <a:lnTo>
                    <a:pt x="95518" y="0"/>
                  </a:lnTo>
                  <a:lnTo>
                    <a:pt x="95518" y="95725"/>
                  </a:lnTo>
                  <a:lnTo>
                    <a:pt x="0" y="95725"/>
                  </a:lnTo>
                  <a:lnTo>
                    <a:pt x="0" y="0"/>
                  </a:lnTo>
                  <a:close/>
                </a:path>
              </a:pathLst>
            </a:custGeom>
            <a:ln w="41108">
              <a:solidFill>
                <a:srgbClr val="000000"/>
              </a:solidFill>
            </a:ln>
          </p:spPr>
          <p:txBody>
            <a:bodyPr wrap="square" lIns="0" tIns="0" rIns="0" bIns="0" rtlCol="0"/>
            <a:lstStyle/>
            <a:p>
              <a:endParaRPr sz="1227"/>
            </a:p>
          </p:txBody>
        </p:sp>
        <p:sp>
          <p:nvSpPr>
            <p:cNvPr id="20" name="object 20"/>
            <p:cNvSpPr/>
            <p:nvPr/>
          </p:nvSpPr>
          <p:spPr>
            <a:xfrm>
              <a:off x="4084808" y="5023857"/>
              <a:ext cx="95885" cy="95885"/>
            </a:xfrm>
            <a:custGeom>
              <a:avLst/>
              <a:gdLst/>
              <a:ahLst/>
              <a:cxnLst/>
              <a:rect l="l" t="t" r="r" b="b"/>
              <a:pathLst>
                <a:path w="95885" h="95885">
                  <a:moveTo>
                    <a:pt x="0" y="0"/>
                  </a:moveTo>
                  <a:lnTo>
                    <a:pt x="95518" y="0"/>
                  </a:lnTo>
                  <a:lnTo>
                    <a:pt x="95518" y="95725"/>
                  </a:lnTo>
                  <a:lnTo>
                    <a:pt x="0" y="95725"/>
                  </a:lnTo>
                  <a:lnTo>
                    <a:pt x="0" y="0"/>
                  </a:lnTo>
                  <a:close/>
                </a:path>
              </a:pathLst>
            </a:custGeom>
            <a:ln w="41108">
              <a:solidFill>
                <a:srgbClr val="000000"/>
              </a:solidFill>
            </a:ln>
          </p:spPr>
          <p:txBody>
            <a:bodyPr wrap="square" lIns="0" tIns="0" rIns="0" bIns="0" rtlCol="0"/>
            <a:lstStyle/>
            <a:p>
              <a:endParaRPr sz="1227"/>
            </a:p>
          </p:txBody>
        </p:sp>
        <p:sp>
          <p:nvSpPr>
            <p:cNvPr id="21" name="object 21"/>
            <p:cNvSpPr/>
            <p:nvPr/>
          </p:nvSpPr>
          <p:spPr>
            <a:xfrm>
              <a:off x="1981608" y="3460043"/>
              <a:ext cx="413384" cy="132080"/>
            </a:xfrm>
            <a:custGeom>
              <a:avLst/>
              <a:gdLst/>
              <a:ahLst/>
              <a:cxnLst/>
              <a:rect l="l" t="t" r="r" b="b"/>
              <a:pathLst>
                <a:path w="413385" h="132079">
                  <a:moveTo>
                    <a:pt x="413319" y="131511"/>
                  </a:moveTo>
                  <a:lnTo>
                    <a:pt x="0" y="0"/>
                  </a:lnTo>
                </a:path>
              </a:pathLst>
            </a:custGeom>
            <a:ln w="38461">
              <a:solidFill>
                <a:srgbClr val="000000"/>
              </a:solidFill>
            </a:ln>
          </p:spPr>
          <p:txBody>
            <a:bodyPr wrap="square" lIns="0" tIns="0" rIns="0" bIns="0" rtlCol="0"/>
            <a:lstStyle/>
            <a:p>
              <a:endParaRPr sz="1227"/>
            </a:p>
          </p:txBody>
        </p:sp>
        <p:sp>
          <p:nvSpPr>
            <p:cNvPr id="22" name="object 22"/>
            <p:cNvSpPr/>
            <p:nvPr/>
          </p:nvSpPr>
          <p:spPr>
            <a:xfrm>
              <a:off x="2599356" y="3669387"/>
              <a:ext cx="410209" cy="182880"/>
            </a:xfrm>
            <a:custGeom>
              <a:avLst/>
              <a:gdLst/>
              <a:ahLst/>
              <a:cxnLst/>
              <a:rect l="l" t="t" r="r" b="b"/>
              <a:pathLst>
                <a:path w="410210" h="182879">
                  <a:moveTo>
                    <a:pt x="409749" y="182505"/>
                  </a:moveTo>
                  <a:lnTo>
                    <a:pt x="0" y="0"/>
                  </a:lnTo>
                </a:path>
              </a:pathLst>
            </a:custGeom>
            <a:ln w="38455">
              <a:solidFill>
                <a:srgbClr val="000000"/>
              </a:solidFill>
            </a:ln>
          </p:spPr>
          <p:txBody>
            <a:bodyPr wrap="square" lIns="0" tIns="0" rIns="0" bIns="0" rtlCol="0"/>
            <a:lstStyle/>
            <a:p>
              <a:endParaRPr sz="1227"/>
            </a:p>
          </p:txBody>
        </p:sp>
        <p:sp>
          <p:nvSpPr>
            <p:cNvPr id="23" name="object 23"/>
            <p:cNvSpPr/>
            <p:nvPr/>
          </p:nvSpPr>
          <p:spPr>
            <a:xfrm>
              <a:off x="3198357" y="3961037"/>
              <a:ext cx="197485" cy="143510"/>
            </a:xfrm>
            <a:custGeom>
              <a:avLst/>
              <a:gdLst/>
              <a:ahLst/>
              <a:cxnLst/>
              <a:rect l="l" t="t" r="r" b="b"/>
              <a:pathLst>
                <a:path w="197485" h="143510">
                  <a:moveTo>
                    <a:pt x="197286" y="143141"/>
                  </a:moveTo>
                  <a:lnTo>
                    <a:pt x="0" y="0"/>
                  </a:lnTo>
                </a:path>
              </a:pathLst>
            </a:custGeom>
            <a:ln w="38440">
              <a:solidFill>
                <a:srgbClr val="000000"/>
              </a:solidFill>
            </a:ln>
          </p:spPr>
          <p:txBody>
            <a:bodyPr wrap="square" lIns="0" tIns="0" rIns="0" bIns="0" rtlCol="0"/>
            <a:lstStyle/>
            <a:p>
              <a:endParaRPr sz="1227"/>
            </a:p>
          </p:txBody>
        </p:sp>
        <p:sp>
          <p:nvSpPr>
            <p:cNvPr id="24" name="object 24"/>
            <p:cNvSpPr/>
            <p:nvPr/>
          </p:nvSpPr>
          <p:spPr>
            <a:xfrm>
              <a:off x="3583111" y="4217796"/>
              <a:ext cx="503555" cy="248920"/>
            </a:xfrm>
            <a:custGeom>
              <a:avLst/>
              <a:gdLst/>
              <a:ahLst/>
              <a:cxnLst/>
              <a:rect l="l" t="t" r="r" b="b"/>
              <a:pathLst>
                <a:path w="503554" h="248920">
                  <a:moveTo>
                    <a:pt x="503482" y="248708"/>
                  </a:moveTo>
                  <a:lnTo>
                    <a:pt x="0" y="0"/>
                  </a:lnTo>
                </a:path>
              </a:pathLst>
            </a:custGeom>
            <a:ln w="38452">
              <a:solidFill>
                <a:srgbClr val="000000"/>
              </a:solidFill>
            </a:ln>
          </p:spPr>
          <p:txBody>
            <a:bodyPr wrap="square" lIns="0" tIns="0" rIns="0" bIns="0" rtlCol="0"/>
            <a:lstStyle/>
            <a:p>
              <a:endParaRPr sz="1227"/>
            </a:p>
          </p:txBody>
        </p:sp>
        <p:sp>
          <p:nvSpPr>
            <p:cNvPr id="25" name="object 25"/>
            <p:cNvSpPr/>
            <p:nvPr/>
          </p:nvSpPr>
          <p:spPr>
            <a:xfrm>
              <a:off x="4284773" y="4562229"/>
              <a:ext cx="436245" cy="203200"/>
            </a:xfrm>
            <a:custGeom>
              <a:avLst/>
              <a:gdLst/>
              <a:ahLst/>
              <a:cxnLst/>
              <a:rect l="l" t="t" r="r" b="b"/>
              <a:pathLst>
                <a:path w="436245" h="203200">
                  <a:moveTo>
                    <a:pt x="435637" y="203081"/>
                  </a:moveTo>
                  <a:lnTo>
                    <a:pt x="0" y="0"/>
                  </a:lnTo>
                </a:path>
              </a:pathLst>
            </a:custGeom>
            <a:ln w="38454">
              <a:solidFill>
                <a:srgbClr val="000000"/>
              </a:solidFill>
            </a:ln>
          </p:spPr>
          <p:txBody>
            <a:bodyPr wrap="square" lIns="0" tIns="0" rIns="0" bIns="0" rtlCol="0"/>
            <a:lstStyle/>
            <a:p>
              <a:endParaRPr sz="1227"/>
            </a:p>
          </p:txBody>
        </p:sp>
        <p:sp>
          <p:nvSpPr>
            <p:cNvPr id="26" name="object 26"/>
            <p:cNvSpPr/>
            <p:nvPr/>
          </p:nvSpPr>
          <p:spPr>
            <a:xfrm>
              <a:off x="4916804" y="4864615"/>
              <a:ext cx="391160" cy="216535"/>
            </a:xfrm>
            <a:custGeom>
              <a:avLst/>
              <a:gdLst/>
              <a:ahLst/>
              <a:cxnLst/>
              <a:rect l="l" t="t" r="r" b="b"/>
              <a:pathLst>
                <a:path w="391160" h="216535">
                  <a:moveTo>
                    <a:pt x="391002" y="216501"/>
                  </a:moveTo>
                  <a:lnTo>
                    <a:pt x="0" y="0"/>
                  </a:lnTo>
                </a:path>
              </a:pathLst>
            </a:custGeom>
            <a:ln w="38449">
              <a:solidFill>
                <a:srgbClr val="000000"/>
              </a:solidFill>
            </a:ln>
          </p:spPr>
          <p:txBody>
            <a:bodyPr wrap="square" lIns="0" tIns="0" rIns="0" bIns="0" rtlCol="0"/>
            <a:lstStyle/>
            <a:p>
              <a:endParaRPr sz="1227"/>
            </a:p>
          </p:txBody>
        </p:sp>
        <p:sp>
          <p:nvSpPr>
            <p:cNvPr id="27" name="object 27"/>
            <p:cNvSpPr/>
            <p:nvPr/>
          </p:nvSpPr>
          <p:spPr>
            <a:xfrm>
              <a:off x="1803961" y="3342842"/>
              <a:ext cx="146050" cy="126364"/>
            </a:xfrm>
            <a:custGeom>
              <a:avLst/>
              <a:gdLst/>
              <a:ahLst/>
              <a:cxnLst/>
              <a:rect l="l" t="t" r="r" b="b"/>
              <a:pathLst>
                <a:path w="146050" h="126364">
                  <a:moveTo>
                    <a:pt x="73201" y="0"/>
                  </a:moveTo>
                  <a:lnTo>
                    <a:pt x="145510" y="126143"/>
                  </a:lnTo>
                  <a:lnTo>
                    <a:pt x="0" y="126143"/>
                  </a:lnTo>
                  <a:lnTo>
                    <a:pt x="73201" y="0"/>
                  </a:lnTo>
                  <a:close/>
                </a:path>
              </a:pathLst>
            </a:custGeom>
            <a:ln w="41114">
              <a:solidFill>
                <a:srgbClr val="000000"/>
              </a:solidFill>
            </a:ln>
          </p:spPr>
          <p:txBody>
            <a:bodyPr wrap="square" lIns="0" tIns="0" rIns="0" bIns="0" rtlCol="0"/>
            <a:lstStyle/>
            <a:p>
              <a:endParaRPr sz="1227"/>
            </a:p>
          </p:txBody>
        </p:sp>
        <p:sp>
          <p:nvSpPr>
            <p:cNvPr id="28" name="object 28"/>
            <p:cNvSpPr/>
            <p:nvPr/>
          </p:nvSpPr>
          <p:spPr>
            <a:xfrm>
              <a:off x="2426172" y="3540555"/>
              <a:ext cx="146050" cy="126364"/>
            </a:xfrm>
            <a:custGeom>
              <a:avLst/>
              <a:gdLst/>
              <a:ahLst/>
              <a:cxnLst/>
              <a:rect l="l" t="t" r="r" b="b"/>
              <a:pathLst>
                <a:path w="146050" h="126364">
                  <a:moveTo>
                    <a:pt x="73201" y="0"/>
                  </a:moveTo>
                  <a:lnTo>
                    <a:pt x="145510" y="126143"/>
                  </a:lnTo>
                  <a:lnTo>
                    <a:pt x="0" y="126143"/>
                  </a:lnTo>
                  <a:lnTo>
                    <a:pt x="73201" y="0"/>
                  </a:lnTo>
                  <a:close/>
                </a:path>
              </a:pathLst>
            </a:custGeom>
            <a:ln w="41114">
              <a:solidFill>
                <a:srgbClr val="000000"/>
              </a:solidFill>
            </a:ln>
          </p:spPr>
          <p:txBody>
            <a:bodyPr wrap="square" lIns="0" tIns="0" rIns="0" bIns="0" rtlCol="0"/>
            <a:lstStyle/>
            <a:p>
              <a:endParaRPr sz="1227"/>
            </a:p>
          </p:txBody>
        </p:sp>
        <p:pic>
          <p:nvPicPr>
            <p:cNvPr id="29" name="object 29"/>
            <p:cNvPicPr/>
            <p:nvPr/>
          </p:nvPicPr>
          <p:blipFill>
            <a:blip r:embed="rId2" cstate="print"/>
            <a:stretch>
              <a:fillRect/>
            </a:stretch>
          </p:blipFill>
          <p:spPr>
            <a:xfrm>
              <a:off x="3015328" y="3791965"/>
              <a:ext cx="186625" cy="167258"/>
            </a:xfrm>
            <a:prstGeom prst="rect">
              <a:avLst/>
            </a:prstGeom>
          </p:spPr>
        </p:pic>
        <p:pic>
          <p:nvPicPr>
            <p:cNvPr id="30" name="object 30"/>
            <p:cNvPicPr/>
            <p:nvPr/>
          </p:nvPicPr>
          <p:blipFill>
            <a:blip r:embed="rId2" cstate="print"/>
            <a:stretch>
              <a:fillRect/>
            </a:stretch>
          </p:blipFill>
          <p:spPr>
            <a:xfrm>
              <a:off x="3391155" y="4063933"/>
              <a:ext cx="186625" cy="167258"/>
            </a:xfrm>
            <a:prstGeom prst="rect">
              <a:avLst/>
            </a:prstGeom>
          </p:spPr>
        </p:pic>
        <p:sp>
          <p:nvSpPr>
            <p:cNvPr id="31" name="object 31"/>
            <p:cNvSpPr/>
            <p:nvPr/>
          </p:nvSpPr>
          <p:spPr>
            <a:xfrm>
              <a:off x="4111589" y="4431608"/>
              <a:ext cx="146050" cy="126364"/>
            </a:xfrm>
            <a:custGeom>
              <a:avLst/>
              <a:gdLst/>
              <a:ahLst/>
              <a:cxnLst/>
              <a:rect l="l" t="t" r="r" b="b"/>
              <a:pathLst>
                <a:path w="146050" h="126364">
                  <a:moveTo>
                    <a:pt x="73201" y="0"/>
                  </a:moveTo>
                  <a:lnTo>
                    <a:pt x="145510" y="126143"/>
                  </a:lnTo>
                  <a:lnTo>
                    <a:pt x="0" y="126143"/>
                  </a:lnTo>
                  <a:lnTo>
                    <a:pt x="73201" y="0"/>
                  </a:lnTo>
                  <a:close/>
                </a:path>
              </a:pathLst>
            </a:custGeom>
            <a:ln w="41114">
              <a:solidFill>
                <a:srgbClr val="000000"/>
              </a:solidFill>
            </a:ln>
          </p:spPr>
          <p:txBody>
            <a:bodyPr wrap="square" lIns="0" tIns="0" rIns="0" bIns="0" rtlCol="0"/>
            <a:lstStyle/>
            <a:p>
              <a:endParaRPr sz="1227"/>
            </a:p>
          </p:txBody>
        </p:sp>
        <p:sp>
          <p:nvSpPr>
            <p:cNvPr id="32" name="object 32"/>
            <p:cNvSpPr/>
            <p:nvPr/>
          </p:nvSpPr>
          <p:spPr>
            <a:xfrm>
              <a:off x="4747191" y="4727731"/>
              <a:ext cx="146050" cy="126364"/>
            </a:xfrm>
            <a:custGeom>
              <a:avLst/>
              <a:gdLst/>
              <a:ahLst/>
              <a:cxnLst/>
              <a:rect l="l" t="t" r="r" b="b"/>
              <a:pathLst>
                <a:path w="146050" h="126364">
                  <a:moveTo>
                    <a:pt x="73201" y="0"/>
                  </a:moveTo>
                  <a:lnTo>
                    <a:pt x="145510" y="126143"/>
                  </a:lnTo>
                  <a:lnTo>
                    <a:pt x="0" y="126143"/>
                  </a:lnTo>
                  <a:lnTo>
                    <a:pt x="73201" y="0"/>
                  </a:lnTo>
                  <a:close/>
                </a:path>
              </a:pathLst>
            </a:custGeom>
            <a:ln w="41114">
              <a:solidFill>
                <a:srgbClr val="000000"/>
              </a:solidFill>
            </a:ln>
          </p:spPr>
          <p:txBody>
            <a:bodyPr wrap="square" lIns="0" tIns="0" rIns="0" bIns="0" rtlCol="0"/>
            <a:lstStyle/>
            <a:p>
              <a:endParaRPr sz="1227"/>
            </a:p>
          </p:txBody>
        </p:sp>
        <p:sp>
          <p:nvSpPr>
            <p:cNvPr id="33" name="object 33"/>
            <p:cNvSpPr/>
            <p:nvPr/>
          </p:nvSpPr>
          <p:spPr>
            <a:xfrm>
              <a:off x="5331017" y="5049798"/>
              <a:ext cx="146050" cy="126364"/>
            </a:xfrm>
            <a:custGeom>
              <a:avLst/>
              <a:gdLst/>
              <a:ahLst/>
              <a:cxnLst/>
              <a:rect l="l" t="t" r="r" b="b"/>
              <a:pathLst>
                <a:path w="146050" h="126364">
                  <a:moveTo>
                    <a:pt x="73201" y="0"/>
                  </a:moveTo>
                  <a:lnTo>
                    <a:pt x="145510" y="126143"/>
                  </a:lnTo>
                  <a:lnTo>
                    <a:pt x="0" y="126143"/>
                  </a:lnTo>
                  <a:lnTo>
                    <a:pt x="73201" y="0"/>
                  </a:lnTo>
                  <a:close/>
                </a:path>
              </a:pathLst>
            </a:custGeom>
            <a:ln w="41114">
              <a:solidFill>
                <a:srgbClr val="000000"/>
              </a:solidFill>
            </a:ln>
          </p:spPr>
          <p:txBody>
            <a:bodyPr wrap="square" lIns="0" tIns="0" rIns="0" bIns="0" rtlCol="0"/>
            <a:lstStyle/>
            <a:p>
              <a:endParaRPr sz="1227"/>
            </a:p>
          </p:txBody>
        </p:sp>
        <p:sp>
          <p:nvSpPr>
            <p:cNvPr id="34" name="object 34"/>
            <p:cNvSpPr/>
            <p:nvPr/>
          </p:nvSpPr>
          <p:spPr>
            <a:xfrm>
              <a:off x="2128011" y="4298315"/>
              <a:ext cx="58419" cy="16510"/>
            </a:xfrm>
            <a:custGeom>
              <a:avLst/>
              <a:gdLst/>
              <a:ahLst/>
              <a:cxnLst/>
              <a:rect l="l" t="t" r="r" b="b"/>
              <a:pathLst>
                <a:path w="58419" h="16510">
                  <a:moveTo>
                    <a:pt x="58025" y="16103"/>
                  </a:moveTo>
                  <a:lnTo>
                    <a:pt x="0" y="0"/>
                  </a:lnTo>
                </a:path>
              </a:pathLst>
            </a:custGeom>
            <a:ln w="38463">
              <a:solidFill>
                <a:srgbClr val="0000FF"/>
              </a:solidFill>
            </a:ln>
          </p:spPr>
          <p:txBody>
            <a:bodyPr wrap="square" lIns="0" tIns="0" rIns="0" bIns="0" rtlCol="0"/>
            <a:lstStyle/>
            <a:p>
              <a:endParaRPr sz="1227"/>
            </a:p>
          </p:txBody>
        </p:sp>
        <p:sp>
          <p:nvSpPr>
            <p:cNvPr id="35" name="object 35"/>
            <p:cNvSpPr/>
            <p:nvPr/>
          </p:nvSpPr>
          <p:spPr>
            <a:xfrm>
              <a:off x="1970895" y="4253583"/>
              <a:ext cx="57150" cy="16510"/>
            </a:xfrm>
            <a:custGeom>
              <a:avLst/>
              <a:gdLst/>
              <a:ahLst/>
              <a:cxnLst/>
              <a:rect l="l" t="t" r="r" b="b"/>
              <a:pathLst>
                <a:path w="57150" h="16510">
                  <a:moveTo>
                    <a:pt x="57132" y="16103"/>
                  </a:moveTo>
                  <a:lnTo>
                    <a:pt x="0" y="0"/>
                  </a:lnTo>
                </a:path>
              </a:pathLst>
            </a:custGeom>
            <a:ln w="38463">
              <a:solidFill>
                <a:srgbClr val="0000FF"/>
              </a:solidFill>
            </a:ln>
          </p:spPr>
          <p:txBody>
            <a:bodyPr wrap="square" lIns="0" tIns="0" rIns="0" bIns="0" rtlCol="0"/>
            <a:lstStyle/>
            <a:p>
              <a:endParaRPr sz="1227"/>
            </a:p>
          </p:txBody>
        </p:sp>
        <p:sp>
          <p:nvSpPr>
            <p:cNvPr id="36" name="object 36"/>
            <p:cNvSpPr/>
            <p:nvPr/>
          </p:nvSpPr>
          <p:spPr>
            <a:xfrm>
              <a:off x="1813780" y="4208850"/>
              <a:ext cx="57150" cy="16510"/>
            </a:xfrm>
            <a:custGeom>
              <a:avLst/>
              <a:gdLst/>
              <a:ahLst/>
              <a:cxnLst/>
              <a:rect l="l" t="t" r="r" b="b"/>
              <a:pathLst>
                <a:path w="57150" h="16510">
                  <a:moveTo>
                    <a:pt x="57132" y="16103"/>
                  </a:moveTo>
                  <a:lnTo>
                    <a:pt x="0" y="0"/>
                  </a:lnTo>
                </a:path>
              </a:pathLst>
            </a:custGeom>
            <a:ln w="38463">
              <a:solidFill>
                <a:srgbClr val="0000FF"/>
              </a:solidFill>
            </a:ln>
          </p:spPr>
          <p:txBody>
            <a:bodyPr wrap="square" lIns="0" tIns="0" rIns="0" bIns="0" rtlCol="0"/>
            <a:lstStyle/>
            <a:p>
              <a:endParaRPr sz="1227"/>
            </a:p>
          </p:txBody>
        </p:sp>
        <p:sp>
          <p:nvSpPr>
            <p:cNvPr id="37" name="object 37"/>
            <p:cNvSpPr/>
            <p:nvPr/>
          </p:nvSpPr>
          <p:spPr>
            <a:xfrm>
              <a:off x="2636849" y="4469188"/>
              <a:ext cx="57150" cy="20955"/>
            </a:xfrm>
            <a:custGeom>
              <a:avLst/>
              <a:gdLst/>
              <a:ahLst/>
              <a:cxnLst/>
              <a:rect l="l" t="t" r="r" b="b"/>
              <a:pathLst>
                <a:path w="57150" h="20954">
                  <a:moveTo>
                    <a:pt x="57132" y="20576"/>
                  </a:moveTo>
                  <a:lnTo>
                    <a:pt x="0" y="0"/>
                  </a:lnTo>
                </a:path>
              </a:pathLst>
            </a:custGeom>
            <a:ln w="38459">
              <a:solidFill>
                <a:srgbClr val="0000FF"/>
              </a:solidFill>
            </a:ln>
          </p:spPr>
          <p:txBody>
            <a:bodyPr wrap="square" lIns="0" tIns="0" rIns="0" bIns="0" rtlCol="0"/>
            <a:lstStyle/>
            <a:p>
              <a:endParaRPr sz="1227"/>
            </a:p>
          </p:txBody>
        </p:sp>
        <p:sp>
          <p:nvSpPr>
            <p:cNvPr id="38" name="object 38"/>
            <p:cNvSpPr/>
            <p:nvPr/>
          </p:nvSpPr>
          <p:spPr>
            <a:xfrm>
              <a:off x="2483305" y="4413720"/>
              <a:ext cx="56515" cy="20955"/>
            </a:xfrm>
            <a:custGeom>
              <a:avLst/>
              <a:gdLst/>
              <a:ahLst/>
              <a:cxnLst/>
              <a:rect l="l" t="t" r="r" b="b"/>
              <a:pathLst>
                <a:path w="56514" h="20954">
                  <a:moveTo>
                    <a:pt x="56240" y="20576"/>
                  </a:moveTo>
                  <a:lnTo>
                    <a:pt x="0" y="0"/>
                  </a:lnTo>
                </a:path>
              </a:pathLst>
            </a:custGeom>
            <a:ln w="38459">
              <a:solidFill>
                <a:srgbClr val="0000FF"/>
              </a:solidFill>
            </a:ln>
          </p:spPr>
          <p:txBody>
            <a:bodyPr wrap="square" lIns="0" tIns="0" rIns="0" bIns="0" rtlCol="0"/>
            <a:lstStyle/>
            <a:p>
              <a:endParaRPr sz="1227"/>
            </a:p>
          </p:txBody>
        </p:sp>
        <p:sp>
          <p:nvSpPr>
            <p:cNvPr id="39" name="object 39"/>
            <p:cNvSpPr/>
            <p:nvPr/>
          </p:nvSpPr>
          <p:spPr>
            <a:xfrm>
              <a:off x="3541154" y="4725052"/>
              <a:ext cx="58419" cy="15240"/>
            </a:xfrm>
            <a:custGeom>
              <a:avLst/>
              <a:gdLst/>
              <a:ahLst/>
              <a:cxnLst/>
              <a:rect l="l" t="t" r="r" b="b"/>
              <a:pathLst>
                <a:path w="58420" h="15239">
                  <a:moveTo>
                    <a:pt x="58025" y="15208"/>
                  </a:moveTo>
                  <a:lnTo>
                    <a:pt x="0" y="0"/>
                  </a:lnTo>
                </a:path>
              </a:pathLst>
            </a:custGeom>
            <a:ln w="38463">
              <a:solidFill>
                <a:srgbClr val="0000FF"/>
              </a:solidFill>
            </a:ln>
          </p:spPr>
          <p:txBody>
            <a:bodyPr wrap="square" lIns="0" tIns="0" rIns="0" bIns="0" rtlCol="0"/>
            <a:lstStyle/>
            <a:p>
              <a:endParaRPr sz="1227"/>
            </a:p>
          </p:txBody>
        </p:sp>
        <p:sp>
          <p:nvSpPr>
            <p:cNvPr id="40" name="object 40"/>
            <p:cNvSpPr/>
            <p:nvPr/>
          </p:nvSpPr>
          <p:spPr>
            <a:xfrm>
              <a:off x="3383146" y="4683003"/>
              <a:ext cx="58419" cy="15240"/>
            </a:xfrm>
            <a:custGeom>
              <a:avLst/>
              <a:gdLst/>
              <a:ahLst/>
              <a:cxnLst/>
              <a:rect l="l" t="t" r="r" b="b"/>
              <a:pathLst>
                <a:path w="58420" h="15239">
                  <a:moveTo>
                    <a:pt x="58025" y="15208"/>
                  </a:moveTo>
                  <a:lnTo>
                    <a:pt x="0" y="0"/>
                  </a:lnTo>
                </a:path>
              </a:pathLst>
            </a:custGeom>
            <a:ln w="38463">
              <a:solidFill>
                <a:srgbClr val="0000FF"/>
              </a:solidFill>
            </a:ln>
          </p:spPr>
          <p:txBody>
            <a:bodyPr wrap="square" lIns="0" tIns="0" rIns="0" bIns="0" rtlCol="0"/>
            <a:lstStyle/>
            <a:p>
              <a:endParaRPr sz="1227"/>
            </a:p>
          </p:txBody>
        </p:sp>
        <p:sp>
          <p:nvSpPr>
            <p:cNvPr id="41" name="object 41"/>
            <p:cNvSpPr/>
            <p:nvPr/>
          </p:nvSpPr>
          <p:spPr>
            <a:xfrm>
              <a:off x="3225138" y="4640955"/>
              <a:ext cx="58419" cy="15240"/>
            </a:xfrm>
            <a:custGeom>
              <a:avLst/>
              <a:gdLst/>
              <a:ahLst/>
              <a:cxnLst/>
              <a:rect l="l" t="t" r="r" b="b"/>
              <a:pathLst>
                <a:path w="58420" h="15239">
                  <a:moveTo>
                    <a:pt x="58025" y="15208"/>
                  </a:moveTo>
                  <a:lnTo>
                    <a:pt x="0" y="0"/>
                  </a:lnTo>
                </a:path>
              </a:pathLst>
            </a:custGeom>
            <a:ln w="38463">
              <a:solidFill>
                <a:srgbClr val="0000FF"/>
              </a:solidFill>
            </a:ln>
          </p:spPr>
          <p:txBody>
            <a:bodyPr wrap="square" lIns="0" tIns="0" rIns="0" bIns="0" rtlCol="0"/>
            <a:lstStyle/>
            <a:p>
              <a:endParaRPr sz="1227"/>
            </a:p>
          </p:txBody>
        </p:sp>
        <p:sp>
          <p:nvSpPr>
            <p:cNvPr id="42" name="object 42"/>
            <p:cNvSpPr/>
            <p:nvPr/>
          </p:nvSpPr>
          <p:spPr>
            <a:xfrm>
              <a:off x="3067130" y="4598906"/>
              <a:ext cx="58419" cy="15240"/>
            </a:xfrm>
            <a:custGeom>
              <a:avLst/>
              <a:gdLst/>
              <a:ahLst/>
              <a:cxnLst/>
              <a:rect l="l" t="t" r="r" b="b"/>
              <a:pathLst>
                <a:path w="58419" h="15239">
                  <a:moveTo>
                    <a:pt x="58025" y="15208"/>
                  </a:moveTo>
                  <a:lnTo>
                    <a:pt x="0" y="0"/>
                  </a:lnTo>
                </a:path>
              </a:pathLst>
            </a:custGeom>
            <a:ln w="38463">
              <a:solidFill>
                <a:srgbClr val="0000FF"/>
              </a:solidFill>
            </a:ln>
          </p:spPr>
          <p:txBody>
            <a:bodyPr wrap="square" lIns="0" tIns="0" rIns="0" bIns="0" rtlCol="0"/>
            <a:lstStyle/>
            <a:p>
              <a:endParaRPr sz="1227"/>
            </a:p>
          </p:txBody>
        </p:sp>
        <p:sp>
          <p:nvSpPr>
            <p:cNvPr id="43" name="object 43"/>
            <p:cNvSpPr/>
            <p:nvPr/>
          </p:nvSpPr>
          <p:spPr>
            <a:xfrm>
              <a:off x="2909123" y="4556857"/>
              <a:ext cx="58419" cy="15240"/>
            </a:xfrm>
            <a:custGeom>
              <a:avLst/>
              <a:gdLst/>
              <a:ahLst/>
              <a:cxnLst/>
              <a:rect l="l" t="t" r="r" b="b"/>
              <a:pathLst>
                <a:path w="58419" h="15239">
                  <a:moveTo>
                    <a:pt x="58025" y="15208"/>
                  </a:moveTo>
                  <a:lnTo>
                    <a:pt x="0" y="0"/>
                  </a:lnTo>
                </a:path>
              </a:pathLst>
            </a:custGeom>
            <a:ln w="38463">
              <a:solidFill>
                <a:srgbClr val="0000FF"/>
              </a:solidFill>
            </a:ln>
          </p:spPr>
          <p:txBody>
            <a:bodyPr wrap="square" lIns="0" tIns="0" rIns="0" bIns="0" rtlCol="0"/>
            <a:lstStyle/>
            <a:p>
              <a:endParaRPr sz="1227"/>
            </a:p>
          </p:txBody>
        </p:sp>
        <p:sp>
          <p:nvSpPr>
            <p:cNvPr id="44" name="object 44"/>
            <p:cNvSpPr/>
            <p:nvPr/>
          </p:nvSpPr>
          <p:spPr>
            <a:xfrm>
              <a:off x="3992860" y="4967494"/>
              <a:ext cx="50165" cy="34290"/>
            </a:xfrm>
            <a:custGeom>
              <a:avLst/>
              <a:gdLst/>
              <a:ahLst/>
              <a:cxnLst/>
              <a:rect l="l" t="t" r="r" b="b"/>
              <a:pathLst>
                <a:path w="50164" h="34289">
                  <a:moveTo>
                    <a:pt x="49991" y="33996"/>
                  </a:moveTo>
                  <a:lnTo>
                    <a:pt x="0" y="0"/>
                  </a:lnTo>
                </a:path>
              </a:pathLst>
            </a:custGeom>
            <a:ln w="38442">
              <a:solidFill>
                <a:srgbClr val="0000FF"/>
              </a:solidFill>
            </a:ln>
          </p:spPr>
          <p:txBody>
            <a:bodyPr wrap="square" lIns="0" tIns="0" rIns="0" bIns="0" rtlCol="0"/>
            <a:lstStyle/>
            <a:p>
              <a:endParaRPr sz="1227"/>
            </a:p>
          </p:txBody>
        </p:sp>
        <p:sp>
          <p:nvSpPr>
            <p:cNvPr id="45" name="object 45"/>
            <p:cNvSpPr/>
            <p:nvPr/>
          </p:nvSpPr>
          <p:spPr>
            <a:xfrm>
              <a:off x="3858062" y="4874451"/>
              <a:ext cx="49530" cy="34290"/>
            </a:xfrm>
            <a:custGeom>
              <a:avLst/>
              <a:gdLst/>
              <a:ahLst/>
              <a:cxnLst/>
              <a:rect l="l" t="t" r="r" b="b"/>
              <a:pathLst>
                <a:path w="49529" h="34289">
                  <a:moveTo>
                    <a:pt x="49098" y="33996"/>
                  </a:moveTo>
                  <a:lnTo>
                    <a:pt x="0" y="0"/>
                  </a:lnTo>
                </a:path>
              </a:pathLst>
            </a:custGeom>
            <a:ln w="38442">
              <a:solidFill>
                <a:srgbClr val="0000FF"/>
              </a:solidFill>
            </a:ln>
          </p:spPr>
          <p:txBody>
            <a:bodyPr wrap="square" lIns="0" tIns="0" rIns="0" bIns="0" rtlCol="0"/>
            <a:lstStyle/>
            <a:p>
              <a:endParaRPr sz="1227"/>
            </a:p>
          </p:txBody>
        </p:sp>
        <p:sp>
          <p:nvSpPr>
            <p:cNvPr id="46" name="object 46"/>
            <p:cNvSpPr/>
            <p:nvPr/>
          </p:nvSpPr>
          <p:spPr>
            <a:xfrm>
              <a:off x="1646845" y="4126536"/>
              <a:ext cx="95885" cy="95885"/>
            </a:xfrm>
            <a:custGeom>
              <a:avLst/>
              <a:gdLst/>
              <a:ahLst/>
              <a:cxnLst/>
              <a:rect l="l" t="t" r="r" b="b"/>
              <a:pathLst>
                <a:path w="95885" h="95885">
                  <a:moveTo>
                    <a:pt x="0" y="0"/>
                  </a:moveTo>
                  <a:lnTo>
                    <a:pt x="95518" y="0"/>
                  </a:lnTo>
                  <a:lnTo>
                    <a:pt x="95518" y="95725"/>
                  </a:lnTo>
                  <a:lnTo>
                    <a:pt x="0" y="95725"/>
                  </a:lnTo>
                  <a:lnTo>
                    <a:pt x="0" y="0"/>
                  </a:lnTo>
                  <a:close/>
                </a:path>
              </a:pathLst>
            </a:custGeom>
            <a:ln w="41108">
              <a:solidFill>
                <a:srgbClr val="0000FF"/>
              </a:solidFill>
            </a:ln>
          </p:spPr>
          <p:txBody>
            <a:bodyPr wrap="square" lIns="0" tIns="0" rIns="0" bIns="0" rtlCol="0"/>
            <a:lstStyle/>
            <a:p>
              <a:endParaRPr sz="1227"/>
            </a:p>
          </p:txBody>
        </p:sp>
        <p:sp>
          <p:nvSpPr>
            <p:cNvPr id="47" name="object 47"/>
            <p:cNvSpPr/>
            <p:nvPr/>
          </p:nvSpPr>
          <p:spPr>
            <a:xfrm>
              <a:off x="2243169" y="4296516"/>
              <a:ext cx="95885" cy="95885"/>
            </a:xfrm>
            <a:custGeom>
              <a:avLst/>
              <a:gdLst/>
              <a:ahLst/>
              <a:cxnLst/>
              <a:rect l="l" t="t" r="r" b="b"/>
              <a:pathLst>
                <a:path w="95885" h="95885">
                  <a:moveTo>
                    <a:pt x="0" y="0"/>
                  </a:moveTo>
                  <a:lnTo>
                    <a:pt x="95518" y="0"/>
                  </a:lnTo>
                  <a:lnTo>
                    <a:pt x="95518" y="95725"/>
                  </a:lnTo>
                  <a:lnTo>
                    <a:pt x="0" y="95725"/>
                  </a:lnTo>
                  <a:lnTo>
                    <a:pt x="0" y="0"/>
                  </a:lnTo>
                  <a:close/>
                </a:path>
              </a:pathLst>
            </a:custGeom>
            <a:ln w="41108">
              <a:solidFill>
                <a:srgbClr val="0000FF"/>
              </a:solidFill>
            </a:ln>
          </p:spPr>
          <p:txBody>
            <a:bodyPr wrap="square" lIns="0" tIns="0" rIns="0" bIns="0" rtlCol="0"/>
            <a:lstStyle/>
            <a:p>
              <a:endParaRPr sz="1227"/>
            </a:p>
          </p:txBody>
        </p:sp>
        <p:sp>
          <p:nvSpPr>
            <p:cNvPr id="48" name="object 48"/>
            <p:cNvSpPr/>
            <p:nvPr/>
          </p:nvSpPr>
          <p:spPr>
            <a:xfrm>
              <a:off x="2749329" y="4478126"/>
              <a:ext cx="95885" cy="95885"/>
            </a:xfrm>
            <a:custGeom>
              <a:avLst/>
              <a:gdLst/>
              <a:ahLst/>
              <a:cxnLst/>
              <a:rect l="l" t="t" r="r" b="b"/>
              <a:pathLst>
                <a:path w="95885" h="95885">
                  <a:moveTo>
                    <a:pt x="0" y="0"/>
                  </a:moveTo>
                  <a:lnTo>
                    <a:pt x="95518" y="0"/>
                  </a:lnTo>
                  <a:lnTo>
                    <a:pt x="95518" y="95725"/>
                  </a:lnTo>
                  <a:lnTo>
                    <a:pt x="0" y="95725"/>
                  </a:lnTo>
                  <a:lnTo>
                    <a:pt x="0" y="0"/>
                  </a:lnTo>
                  <a:close/>
                </a:path>
              </a:pathLst>
            </a:custGeom>
            <a:ln w="41108">
              <a:solidFill>
                <a:srgbClr val="0000FF"/>
              </a:solidFill>
            </a:ln>
          </p:spPr>
          <p:txBody>
            <a:bodyPr wrap="square" lIns="0" tIns="0" rIns="0" bIns="0" rtlCol="0"/>
            <a:lstStyle/>
            <a:p>
              <a:endParaRPr sz="1227"/>
            </a:p>
          </p:txBody>
        </p:sp>
        <p:sp>
          <p:nvSpPr>
            <p:cNvPr id="49" name="object 49"/>
            <p:cNvSpPr/>
            <p:nvPr/>
          </p:nvSpPr>
          <p:spPr>
            <a:xfrm>
              <a:off x="3657205" y="4720571"/>
              <a:ext cx="95885" cy="95885"/>
            </a:xfrm>
            <a:custGeom>
              <a:avLst/>
              <a:gdLst/>
              <a:ahLst/>
              <a:cxnLst/>
              <a:rect l="l" t="t" r="r" b="b"/>
              <a:pathLst>
                <a:path w="95885" h="95885">
                  <a:moveTo>
                    <a:pt x="95518" y="95725"/>
                  </a:moveTo>
                  <a:lnTo>
                    <a:pt x="0" y="95725"/>
                  </a:lnTo>
                  <a:lnTo>
                    <a:pt x="0" y="0"/>
                  </a:lnTo>
                  <a:lnTo>
                    <a:pt x="95518" y="0"/>
                  </a:lnTo>
                  <a:lnTo>
                    <a:pt x="95518" y="95725"/>
                  </a:lnTo>
                  <a:close/>
                </a:path>
              </a:pathLst>
            </a:custGeom>
            <a:solidFill>
              <a:srgbClr val="FFFFFF"/>
            </a:solidFill>
          </p:spPr>
          <p:txBody>
            <a:bodyPr wrap="square" lIns="0" tIns="0" rIns="0" bIns="0" rtlCol="0"/>
            <a:lstStyle/>
            <a:p>
              <a:endParaRPr sz="1227"/>
            </a:p>
          </p:txBody>
        </p:sp>
        <p:sp>
          <p:nvSpPr>
            <p:cNvPr id="50" name="object 50"/>
            <p:cNvSpPr/>
            <p:nvPr/>
          </p:nvSpPr>
          <p:spPr>
            <a:xfrm>
              <a:off x="3657205" y="4720571"/>
              <a:ext cx="95885" cy="95885"/>
            </a:xfrm>
            <a:custGeom>
              <a:avLst/>
              <a:gdLst/>
              <a:ahLst/>
              <a:cxnLst/>
              <a:rect l="l" t="t" r="r" b="b"/>
              <a:pathLst>
                <a:path w="95885" h="95885">
                  <a:moveTo>
                    <a:pt x="0" y="0"/>
                  </a:moveTo>
                  <a:lnTo>
                    <a:pt x="95518" y="0"/>
                  </a:lnTo>
                  <a:lnTo>
                    <a:pt x="95518" y="95725"/>
                  </a:lnTo>
                  <a:lnTo>
                    <a:pt x="0" y="95725"/>
                  </a:lnTo>
                  <a:lnTo>
                    <a:pt x="0" y="0"/>
                  </a:lnTo>
                  <a:close/>
                </a:path>
              </a:pathLst>
            </a:custGeom>
            <a:ln w="41108">
              <a:solidFill>
                <a:srgbClr val="0000FF"/>
              </a:solidFill>
            </a:ln>
          </p:spPr>
          <p:txBody>
            <a:bodyPr wrap="square" lIns="0" tIns="0" rIns="0" bIns="0" rtlCol="0"/>
            <a:lstStyle/>
            <a:p>
              <a:endParaRPr sz="1227"/>
            </a:p>
          </p:txBody>
        </p:sp>
        <p:sp>
          <p:nvSpPr>
            <p:cNvPr id="51" name="object 51"/>
            <p:cNvSpPr/>
            <p:nvPr/>
          </p:nvSpPr>
          <p:spPr>
            <a:xfrm>
              <a:off x="4084808" y="5015799"/>
              <a:ext cx="95885" cy="95885"/>
            </a:xfrm>
            <a:custGeom>
              <a:avLst/>
              <a:gdLst/>
              <a:ahLst/>
              <a:cxnLst/>
              <a:rect l="l" t="t" r="r" b="b"/>
              <a:pathLst>
                <a:path w="95885" h="95885">
                  <a:moveTo>
                    <a:pt x="95518" y="95725"/>
                  </a:moveTo>
                  <a:lnTo>
                    <a:pt x="0" y="95725"/>
                  </a:lnTo>
                  <a:lnTo>
                    <a:pt x="0" y="0"/>
                  </a:lnTo>
                  <a:lnTo>
                    <a:pt x="95518" y="0"/>
                  </a:lnTo>
                  <a:lnTo>
                    <a:pt x="95518" y="95725"/>
                  </a:lnTo>
                  <a:close/>
                </a:path>
              </a:pathLst>
            </a:custGeom>
            <a:solidFill>
              <a:srgbClr val="FFFFFF"/>
            </a:solidFill>
          </p:spPr>
          <p:txBody>
            <a:bodyPr wrap="square" lIns="0" tIns="0" rIns="0" bIns="0" rtlCol="0"/>
            <a:lstStyle/>
            <a:p>
              <a:endParaRPr sz="1227"/>
            </a:p>
          </p:txBody>
        </p:sp>
        <p:sp>
          <p:nvSpPr>
            <p:cNvPr id="52" name="object 52"/>
            <p:cNvSpPr/>
            <p:nvPr/>
          </p:nvSpPr>
          <p:spPr>
            <a:xfrm>
              <a:off x="4084808" y="5015799"/>
              <a:ext cx="95885" cy="95885"/>
            </a:xfrm>
            <a:custGeom>
              <a:avLst/>
              <a:gdLst/>
              <a:ahLst/>
              <a:cxnLst/>
              <a:rect l="l" t="t" r="r" b="b"/>
              <a:pathLst>
                <a:path w="95885" h="95885">
                  <a:moveTo>
                    <a:pt x="0" y="0"/>
                  </a:moveTo>
                  <a:lnTo>
                    <a:pt x="95518" y="0"/>
                  </a:lnTo>
                  <a:lnTo>
                    <a:pt x="95518" y="95725"/>
                  </a:lnTo>
                  <a:lnTo>
                    <a:pt x="0" y="95725"/>
                  </a:lnTo>
                  <a:lnTo>
                    <a:pt x="0" y="0"/>
                  </a:lnTo>
                  <a:close/>
                </a:path>
              </a:pathLst>
            </a:custGeom>
            <a:ln w="41108">
              <a:solidFill>
                <a:srgbClr val="0000FF"/>
              </a:solidFill>
            </a:ln>
          </p:spPr>
          <p:txBody>
            <a:bodyPr wrap="square" lIns="0" tIns="0" rIns="0" bIns="0" rtlCol="0"/>
            <a:lstStyle/>
            <a:p>
              <a:endParaRPr sz="1227"/>
            </a:p>
          </p:txBody>
        </p:sp>
        <p:sp>
          <p:nvSpPr>
            <p:cNvPr id="53" name="object 53"/>
            <p:cNvSpPr/>
            <p:nvPr/>
          </p:nvSpPr>
          <p:spPr>
            <a:xfrm>
              <a:off x="2341366" y="2631613"/>
              <a:ext cx="56515" cy="22860"/>
            </a:xfrm>
            <a:custGeom>
              <a:avLst/>
              <a:gdLst/>
              <a:ahLst/>
              <a:cxnLst/>
              <a:rect l="l" t="t" r="r" b="b"/>
              <a:pathLst>
                <a:path w="56514" h="22860">
                  <a:moveTo>
                    <a:pt x="56240" y="22365"/>
                  </a:moveTo>
                  <a:lnTo>
                    <a:pt x="0" y="0"/>
                  </a:lnTo>
                </a:path>
              </a:pathLst>
            </a:custGeom>
            <a:ln w="38457">
              <a:solidFill>
                <a:srgbClr val="0000FF"/>
              </a:solidFill>
            </a:ln>
          </p:spPr>
          <p:txBody>
            <a:bodyPr wrap="square" lIns="0" tIns="0" rIns="0" bIns="0" rtlCol="0"/>
            <a:lstStyle/>
            <a:p>
              <a:endParaRPr sz="1227"/>
            </a:p>
          </p:txBody>
        </p:sp>
        <p:sp>
          <p:nvSpPr>
            <p:cNvPr id="54" name="object 54"/>
            <p:cNvSpPr/>
            <p:nvPr/>
          </p:nvSpPr>
          <p:spPr>
            <a:xfrm>
              <a:off x="2189607" y="2571671"/>
              <a:ext cx="55880" cy="22860"/>
            </a:xfrm>
            <a:custGeom>
              <a:avLst/>
              <a:gdLst/>
              <a:ahLst/>
              <a:cxnLst/>
              <a:rect l="l" t="t" r="r" b="b"/>
              <a:pathLst>
                <a:path w="55880" h="22860">
                  <a:moveTo>
                    <a:pt x="55347" y="22365"/>
                  </a:moveTo>
                  <a:lnTo>
                    <a:pt x="0" y="0"/>
                  </a:lnTo>
                </a:path>
              </a:pathLst>
            </a:custGeom>
            <a:ln w="38457">
              <a:solidFill>
                <a:srgbClr val="0000FF"/>
              </a:solidFill>
            </a:ln>
          </p:spPr>
          <p:txBody>
            <a:bodyPr wrap="square" lIns="0" tIns="0" rIns="0" bIns="0" rtlCol="0"/>
            <a:lstStyle/>
            <a:p>
              <a:endParaRPr sz="1227"/>
            </a:p>
          </p:txBody>
        </p:sp>
        <p:sp>
          <p:nvSpPr>
            <p:cNvPr id="55" name="object 55"/>
            <p:cNvSpPr/>
            <p:nvPr/>
          </p:nvSpPr>
          <p:spPr>
            <a:xfrm>
              <a:off x="2037848" y="2511730"/>
              <a:ext cx="55880" cy="21590"/>
            </a:xfrm>
            <a:custGeom>
              <a:avLst/>
              <a:gdLst/>
              <a:ahLst/>
              <a:cxnLst/>
              <a:rect l="l" t="t" r="r" b="b"/>
              <a:pathLst>
                <a:path w="55880" h="21589">
                  <a:moveTo>
                    <a:pt x="55347" y="21471"/>
                  </a:moveTo>
                  <a:lnTo>
                    <a:pt x="0" y="0"/>
                  </a:lnTo>
                </a:path>
              </a:pathLst>
            </a:custGeom>
            <a:ln w="38458">
              <a:solidFill>
                <a:srgbClr val="0000FF"/>
              </a:solidFill>
            </a:ln>
          </p:spPr>
          <p:txBody>
            <a:bodyPr wrap="square" lIns="0" tIns="0" rIns="0" bIns="0" rtlCol="0"/>
            <a:lstStyle/>
            <a:p>
              <a:endParaRPr sz="1227"/>
            </a:p>
          </p:txBody>
        </p:sp>
        <p:sp>
          <p:nvSpPr>
            <p:cNvPr id="56" name="object 56"/>
            <p:cNvSpPr/>
            <p:nvPr/>
          </p:nvSpPr>
          <p:spPr>
            <a:xfrm>
              <a:off x="2960006" y="2949205"/>
              <a:ext cx="52705" cy="29845"/>
            </a:xfrm>
            <a:custGeom>
              <a:avLst/>
              <a:gdLst/>
              <a:ahLst/>
              <a:cxnLst/>
              <a:rect l="l" t="t" r="r" b="b"/>
              <a:pathLst>
                <a:path w="52705" h="29844">
                  <a:moveTo>
                    <a:pt x="52669" y="29522"/>
                  </a:moveTo>
                  <a:lnTo>
                    <a:pt x="0" y="0"/>
                  </a:lnTo>
                </a:path>
              </a:pathLst>
            </a:custGeom>
            <a:ln w="38449">
              <a:solidFill>
                <a:srgbClr val="0000FF"/>
              </a:solidFill>
            </a:ln>
          </p:spPr>
          <p:txBody>
            <a:bodyPr wrap="square" lIns="0" tIns="0" rIns="0" bIns="0" rtlCol="0"/>
            <a:lstStyle/>
            <a:p>
              <a:endParaRPr sz="1227"/>
            </a:p>
          </p:txBody>
        </p:sp>
        <p:sp>
          <p:nvSpPr>
            <p:cNvPr id="57" name="object 57"/>
            <p:cNvSpPr/>
            <p:nvPr/>
          </p:nvSpPr>
          <p:spPr>
            <a:xfrm>
              <a:off x="2817175" y="2870477"/>
              <a:ext cx="52069" cy="29209"/>
            </a:xfrm>
            <a:custGeom>
              <a:avLst/>
              <a:gdLst/>
              <a:ahLst/>
              <a:cxnLst/>
              <a:rect l="l" t="t" r="r" b="b"/>
              <a:pathLst>
                <a:path w="52069" h="29210">
                  <a:moveTo>
                    <a:pt x="51776" y="28628"/>
                  </a:moveTo>
                  <a:lnTo>
                    <a:pt x="0" y="0"/>
                  </a:lnTo>
                </a:path>
              </a:pathLst>
            </a:custGeom>
            <a:ln w="38449">
              <a:solidFill>
                <a:srgbClr val="0000FF"/>
              </a:solidFill>
            </a:ln>
          </p:spPr>
          <p:txBody>
            <a:bodyPr wrap="square" lIns="0" tIns="0" rIns="0" bIns="0" rtlCol="0"/>
            <a:lstStyle/>
            <a:p>
              <a:endParaRPr sz="1227"/>
            </a:p>
          </p:txBody>
        </p:sp>
        <p:sp>
          <p:nvSpPr>
            <p:cNvPr id="58" name="object 58"/>
            <p:cNvSpPr/>
            <p:nvPr/>
          </p:nvSpPr>
          <p:spPr>
            <a:xfrm>
              <a:off x="2674343" y="2790854"/>
              <a:ext cx="52069" cy="29209"/>
            </a:xfrm>
            <a:custGeom>
              <a:avLst/>
              <a:gdLst/>
              <a:ahLst/>
              <a:cxnLst/>
              <a:rect l="l" t="t" r="r" b="b"/>
              <a:pathLst>
                <a:path w="52069" h="29210">
                  <a:moveTo>
                    <a:pt x="51776" y="28628"/>
                  </a:moveTo>
                  <a:lnTo>
                    <a:pt x="0" y="0"/>
                  </a:lnTo>
                </a:path>
              </a:pathLst>
            </a:custGeom>
            <a:ln w="38449">
              <a:solidFill>
                <a:srgbClr val="0000FF"/>
              </a:solidFill>
            </a:ln>
          </p:spPr>
          <p:txBody>
            <a:bodyPr wrap="square" lIns="0" tIns="0" rIns="0" bIns="0" rtlCol="0"/>
            <a:lstStyle/>
            <a:p>
              <a:endParaRPr sz="1227"/>
            </a:p>
          </p:txBody>
        </p:sp>
        <p:sp>
          <p:nvSpPr>
            <p:cNvPr id="59" name="object 59"/>
            <p:cNvSpPr/>
            <p:nvPr/>
          </p:nvSpPr>
          <p:spPr>
            <a:xfrm>
              <a:off x="3358151" y="3255168"/>
              <a:ext cx="45085" cy="40640"/>
            </a:xfrm>
            <a:custGeom>
              <a:avLst/>
              <a:gdLst/>
              <a:ahLst/>
              <a:cxnLst/>
              <a:rect l="l" t="t" r="r" b="b"/>
              <a:pathLst>
                <a:path w="45085" h="40639">
                  <a:moveTo>
                    <a:pt x="44634" y="40258"/>
                  </a:moveTo>
                  <a:lnTo>
                    <a:pt x="0" y="0"/>
                  </a:lnTo>
                </a:path>
              </a:pathLst>
            </a:custGeom>
            <a:ln w="38431">
              <a:solidFill>
                <a:srgbClr val="0000FF"/>
              </a:solidFill>
            </a:ln>
          </p:spPr>
          <p:txBody>
            <a:bodyPr wrap="square" lIns="0" tIns="0" rIns="0" bIns="0" rtlCol="0"/>
            <a:lstStyle/>
            <a:p>
              <a:endParaRPr sz="1227"/>
            </a:p>
          </p:txBody>
        </p:sp>
        <p:sp>
          <p:nvSpPr>
            <p:cNvPr id="60" name="object 60"/>
            <p:cNvSpPr/>
            <p:nvPr/>
          </p:nvSpPr>
          <p:spPr>
            <a:xfrm>
              <a:off x="3235851" y="3145127"/>
              <a:ext cx="45085" cy="40640"/>
            </a:xfrm>
            <a:custGeom>
              <a:avLst/>
              <a:gdLst/>
              <a:ahLst/>
              <a:cxnLst/>
              <a:rect l="l" t="t" r="r" b="b"/>
              <a:pathLst>
                <a:path w="45085" h="40639">
                  <a:moveTo>
                    <a:pt x="44634" y="40258"/>
                  </a:moveTo>
                  <a:lnTo>
                    <a:pt x="0" y="0"/>
                  </a:lnTo>
                </a:path>
              </a:pathLst>
            </a:custGeom>
            <a:ln w="38431">
              <a:solidFill>
                <a:srgbClr val="0000FF"/>
              </a:solidFill>
            </a:ln>
          </p:spPr>
          <p:txBody>
            <a:bodyPr wrap="square" lIns="0" tIns="0" rIns="0" bIns="0" rtlCol="0"/>
            <a:lstStyle/>
            <a:p>
              <a:endParaRPr sz="1227"/>
            </a:p>
          </p:txBody>
        </p:sp>
        <p:sp>
          <p:nvSpPr>
            <p:cNvPr id="61" name="object 61"/>
            <p:cNvSpPr/>
            <p:nvPr/>
          </p:nvSpPr>
          <p:spPr>
            <a:xfrm>
              <a:off x="4039280" y="3708746"/>
              <a:ext cx="52069" cy="32384"/>
            </a:xfrm>
            <a:custGeom>
              <a:avLst/>
              <a:gdLst/>
              <a:ahLst/>
              <a:cxnLst/>
              <a:rect l="l" t="t" r="r" b="b"/>
              <a:pathLst>
                <a:path w="52070" h="32385">
                  <a:moveTo>
                    <a:pt x="51776" y="32206"/>
                  </a:moveTo>
                  <a:lnTo>
                    <a:pt x="0" y="0"/>
                  </a:lnTo>
                </a:path>
              </a:pathLst>
            </a:custGeom>
            <a:ln w="38446">
              <a:solidFill>
                <a:srgbClr val="0000FF"/>
              </a:solidFill>
            </a:ln>
          </p:spPr>
          <p:txBody>
            <a:bodyPr wrap="square" lIns="0" tIns="0" rIns="0" bIns="0" rtlCol="0"/>
            <a:lstStyle/>
            <a:p>
              <a:endParaRPr sz="1227"/>
            </a:p>
          </p:txBody>
        </p:sp>
        <p:sp>
          <p:nvSpPr>
            <p:cNvPr id="62" name="object 62"/>
            <p:cNvSpPr/>
            <p:nvPr/>
          </p:nvSpPr>
          <p:spPr>
            <a:xfrm>
              <a:off x="3900019" y="3623754"/>
              <a:ext cx="51435" cy="31750"/>
            </a:xfrm>
            <a:custGeom>
              <a:avLst/>
              <a:gdLst/>
              <a:ahLst/>
              <a:cxnLst/>
              <a:rect l="l" t="t" r="r" b="b"/>
              <a:pathLst>
                <a:path w="51435" h="31750">
                  <a:moveTo>
                    <a:pt x="50883" y="31312"/>
                  </a:moveTo>
                  <a:lnTo>
                    <a:pt x="0" y="0"/>
                  </a:lnTo>
                </a:path>
              </a:pathLst>
            </a:custGeom>
            <a:ln w="38446">
              <a:solidFill>
                <a:srgbClr val="0000FF"/>
              </a:solidFill>
            </a:ln>
          </p:spPr>
          <p:txBody>
            <a:bodyPr wrap="square" lIns="0" tIns="0" rIns="0" bIns="0" rtlCol="0"/>
            <a:lstStyle/>
            <a:p>
              <a:endParaRPr sz="1227"/>
            </a:p>
          </p:txBody>
        </p:sp>
        <p:sp>
          <p:nvSpPr>
            <p:cNvPr id="63" name="object 63"/>
            <p:cNvSpPr/>
            <p:nvPr/>
          </p:nvSpPr>
          <p:spPr>
            <a:xfrm>
              <a:off x="3760758" y="3537869"/>
              <a:ext cx="51435" cy="31750"/>
            </a:xfrm>
            <a:custGeom>
              <a:avLst/>
              <a:gdLst/>
              <a:ahLst/>
              <a:cxnLst/>
              <a:rect l="l" t="t" r="r" b="b"/>
              <a:pathLst>
                <a:path w="51435" h="31750">
                  <a:moveTo>
                    <a:pt x="50883" y="31312"/>
                  </a:moveTo>
                  <a:lnTo>
                    <a:pt x="0" y="0"/>
                  </a:lnTo>
                </a:path>
              </a:pathLst>
            </a:custGeom>
            <a:ln w="38446">
              <a:solidFill>
                <a:srgbClr val="0000FF"/>
              </a:solidFill>
            </a:ln>
          </p:spPr>
          <p:txBody>
            <a:bodyPr wrap="square" lIns="0" tIns="0" rIns="0" bIns="0" rtlCol="0"/>
            <a:lstStyle/>
            <a:p>
              <a:endParaRPr sz="1227"/>
            </a:p>
          </p:txBody>
        </p:sp>
        <p:sp>
          <p:nvSpPr>
            <p:cNvPr id="64" name="object 64"/>
            <p:cNvSpPr/>
            <p:nvPr/>
          </p:nvSpPr>
          <p:spPr>
            <a:xfrm>
              <a:off x="3621497" y="3451983"/>
              <a:ext cx="51435" cy="31750"/>
            </a:xfrm>
            <a:custGeom>
              <a:avLst/>
              <a:gdLst/>
              <a:ahLst/>
              <a:cxnLst/>
              <a:rect l="l" t="t" r="r" b="b"/>
              <a:pathLst>
                <a:path w="51435" h="31750">
                  <a:moveTo>
                    <a:pt x="50883" y="31312"/>
                  </a:moveTo>
                  <a:lnTo>
                    <a:pt x="0" y="0"/>
                  </a:lnTo>
                </a:path>
              </a:pathLst>
            </a:custGeom>
            <a:ln w="38446">
              <a:solidFill>
                <a:srgbClr val="0000FF"/>
              </a:solidFill>
            </a:ln>
          </p:spPr>
          <p:txBody>
            <a:bodyPr wrap="square" lIns="0" tIns="0" rIns="0" bIns="0" rtlCol="0"/>
            <a:lstStyle/>
            <a:p>
              <a:endParaRPr sz="1227"/>
            </a:p>
          </p:txBody>
        </p:sp>
        <p:sp>
          <p:nvSpPr>
            <p:cNvPr id="65" name="object 65"/>
            <p:cNvSpPr/>
            <p:nvPr/>
          </p:nvSpPr>
          <p:spPr>
            <a:xfrm>
              <a:off x="4673097" y="4080910"/>
              <a:ext cx="52069" cy="30480"/>
            </a:xfrm>
            <a:custGeom>
              <a:avLst/>
              <a:gdLst/>
              <a:ahLst/>
              <a:cxnLst/>
              <a:rect l="l" t="t" r="r" b="b"/>
              <a:pathLst>
                <a:path w="52070" h="30479">
                  <a:moveTo>
                    <a:pt x="51776" y="30417"/>
                  </a:moveTo>
                  <a:lnTo>
                    <a:pt x="0" y="0"/>
                  </a:lnTo>
                </a:path>
              </a:pathLst>
            </a:custGeom>
            <a:ln w="38447">
              <a:solidFill>
                <a:srgbClr val="0000FF"/>
              </a:solidFill>
            </a:ln>
          </p:spPr>
          <p:txBody>
            <a:bodyPr wrap="square" lIns="0" tIns="0" rIns="0" bIns="0" rtlCol="0"/>
            <a:lstStyle/>
            <a:p>
              <a:endParaRPr sz="1227"/>
            </a:p>
          </p:txBody>
        </p:sp>
        <p:sp>
          <p:nvSpPr>
            <p:cNvPr id="66" name="object 66"/>
            <p:cNvSpPr/>
            <p:nvPr/>
          </p:nvSpPr>
          <p:spPr>
            <a:xfrm>
              <a:off x="4531158" y="3998603"/>
              <a:ext cx="52069" cy="30480"/>
            </a:xfrm>
            <a:custGeom>
              <a:avLst/>
              <a:gdLst/>
              <a:ahLst/>
              <a:cxnLst/>
              <a:rect l="l" t="t" r="r" b="b"/>
              <a:pathLst>
                <a:path w="52070" h="30479">
                  <a:moveTo>
                    <a:pt x="51776" y="30417"/>
                  </a:moveTo>
                  <a:lnTo>
                    <a:pt x="0" y="0"/>
                  </a:lnTo>
                </a:path>
              </a:pathLst>
            </a:custGeom>
            <a:ln w="38447">
              <a:solidFill>
                <a:srgbClr val="0000FF"/>
              </a:solidFill>
            </a:ln>
          </p:spPr>
          <p:txBody>
            <a:bodyPr wrap="square" lIns="0" tIns="0" rIns="0" bIns="0" rtlCol="0"/>
            <a:lstStyle/>
            <a:p>
              <a:endParaRPr sz="1227"/>
            </a:p>
          </p:txBody>
        </p:sp>
        <p:sp>
          <p:nvSpPr>
            <p:cNvPr id="67" name="object 67"/>
            <p:cNvSpPr/>
            <p:nvPr/>
          </p:nvSpPr>
          <p:spPr>
            <a:xfrm>
              <a:off x="4390111" y="3916296"/>
              <a:ext cx="52069" cy="30480"/>
            </a:xfrm>
            <a:custGeom>
              <a:avLst/>
              <a:gdLst/>
              <a:ahLst/>
              <a:cxnLst/>
              <a:rect l="l" t="t" r="r" b="b"/>
              <a:pathLst>
                <a:path w="52070" h="30479">
                  <a:moveTo>
                    <a:pt x="51776" y="30417"/>
                  </a:moveTo>
                  <a:lnTo>
                    <a:pt x="0" y="0"/>
                  </a:lnTo>
                </a:path>
              </a:pathLst>
            </a:custGeom>
            <a:ln w="38447">
              <a:solidFill>
                <a:srgbClr val="0000FF"/>
              </a:solidFill>
            </a:ln>
          </p:spPr>
          <p:txBody>
            <a:bodyPr wrap="square" lIns="0" tIns="0" rIns="0" bIns="0" rtlCol="0"/>
            <a:lstStyle/>
            <a:p>
              <a:endParaRPr sz="1227"/>
            </a:p>
          </p:txBody>
        </p:sp>
        <p:sp>
          <p:nvSpPr>
            <p:cNvPr id="68" name="object 68"/>
            <p:cNvSpPr/>
            <p:nvPr/>
          </p:nvSpPr>
          <p:spPr>
            <a:xfrm>
              <a:off x="4281202" y="3853671"/>
              <a:ext cx="19050" cy="10795"/>
            </a:xfrm>
            <a:custGeom>
              <a:avLst/>
              <a:gdLst/>
              <a:ahLst/>
              <a:cxnLst/>
              <a:rect l="l" t="t" r="r" b="b"/>
              <a:pathLst>
                <a:path w="19050" h="10795">
                  <a:moveTo>
                    <a:pt x="18746" y="10735"/>
                  </a:moveTo>
                  <a:lnTo>
                    <a:pt x="0" y="0"/>
                  </a:lnTo>
                </a:path>
              </a:pathLst>
            </a:custGeom>
            <a:ln w="38448">
              <a:solidFill>
                <a:srgbClr val="0000FF"/>
              </a:solidFill>
            </a:ln>
          </p:spPr>
          <p:txBody>
            <a:bodyPr wrap="square" lIns="0" tIns="0" rIns="0" bIns="0" rtlCol="0"/>
            <a:lstStyle/>
            <a:p>
              <a:endParaRPr sz="1227"/>
            </a:p>
          </p:txBody>
        </p:sp>
        <p:sp>
          <p:nvSpPr>
            <p:cNvPr id="69" name="object 69"/>
            <p:cNvSpPr/>
            <p:nvPr/>
          </p:nvSpPr>
          <p:spPr>
            <a:xfrm>
              <a:off x="5263172" y="4469178"/>
              <a:ext cx="50165" cy="34290"/>
            </a:xfrm>
            <a:custGeom>
              <a:avLst/>
              <a:gdLst/>
              <a:ahLst/>
              <a:cxnLst/>
              <a:rect l="l" t="t" r="r" b="b"/>
              <a:pathLst>
                <a:path w="50164" h="34289">
                  <a:moveTo>
                    <a:pt x="49991" y="33996"/>
                  </a:moveTo>
                  <a:lnTo>
                    <a:pt x="0" y="0"/>
                  </a:lnTo>
                </a:path>
              </a:pathLst>
            </a:custGeom>
            <a:ln w="38442">
              <a:solidFill>
                <a:srgbClr val="0000FF"/>
              </a:solidFill>
            </a:ln>
          </p:spPr>
          <p:txBody>
            <a:bodyPr wrap="square" lIns="0" tIns="0" rIns="0" bIns="0" rtlCol="0"/>
            <a:lstStyle/>
            <a:p>
              <a:endParaRPr sz="1227"/>
            </a:p>
          </p:txBody>
        </p:sp>
        <p:sp>
          <p:nvSpPr>
            <p:cNvPr id="70" name="object 70"/>
            <p:cNvSpPr/>
            <p:nvPr/>
          </p:nvSpPr>
          <p:spPr>
            <a:xfrm>
              <a:off x="5128374" y="4376135"/>
              <a:ext cx="49530" cy="34290"/>
            </a:xfrm>
            <a:custGeom>
              <a:avLst/>
              <a:gdLst/>
              <a:ahLst/>
              <a:cxnLst/>
              <a:rect l="l" t="t" r="r" b="b"/>
              <a:pathLst>
                <a:path w="49529" h="34289">
                  <a:moveTo>
                    <a:pt x="49098" y="33996"/>
                  </a:moveTo>
                  <a:lnTo>
                    <a:pt x="0" y="0"/>
                  </a:lnTo>
                </a:path>
              </a:pathLst>
            </a:custGeom>
            <a:ln w="38442">
              <a:solidFill>
                <a:srgbClr val="0000FF"/>
              </a:solidFill>
            </a:ln>
          </p:spPr>
          <p:txBody>
            <a:bodyPr wrap="square" lIns="0" tIns="0" rIns="0" bIns="0" rtlCol="0"/>
            <a:lstStyle/>
            <a:p>
              <a:endParaRPr sz="1227"/>
            </a:p>
          </p:txBody>
        </p:sp>
        <p:sp>
          <p:nvSpPr>
            <p:cNvPr id="71" name="object 71"/>
            <p:cNvSpPr/>
            <p:nvPr/>
          </p:nvSpPr>
          <p:spPr>
            <a:xfrm>
              <a:off x="4993576" y="4283987"/>
              <a:ext cx="49530" cy="34290"/>
            </a:xfrm>
            <a:custGeom>
              <a:avLst/>
              <a:gdLst/>
              <a:ahLst/>
              <a:cxnLst/>
              <a:rect l="l" t="t" r="r" b="b"/>
              <a:pathLst>
                <a:path w="49529" h="34289">
                  <a:moveTo>
                    <a:pt x="49098" y="33996"/>
                  </a:moveTo>
                  <a:lnTo>
                    <a:pt x="0" y="0"/>
                  </a:lnTo>
                </a:path>
              </a:pathLst>
            </a:custGeom>
            <a:ln w="38442">
              <a:solidFill>
                <a:srgbClr val="0000FF"/>
              </a:solidFill>
            </a:ln>
          </p:spPr>
          <p:txBody>
            <a:bodyPr wrap="square" lIns="0" tIns="0" rIns="0" bIns="0" rtlCol="0"/>
            <a:lstStyle/>
            <a:p>
              <a:endParaRPr sz="1227"/>
            </a:p>
          </p:txBody>
        </p:sp>
        <p:pic>
          <p:nvPicPr>
            <p:cNvPr id="72" name="object 72"/>
            <p:cNvPicPr/>
            <p:nvPr/>
          </p:nvPicPr>
          <p:blipFill>
            <a:blip r:embed="rId3" cstate="print"/>
            <a:stretch>
              <a:fillRect/>
            </a:stretch>
          </p:blipFill>
          <p:spPr>
            <a:xfrm>
              <a:off x="1783403" y="2343545"/>
              <a:ext cx="186625" cy="167258"/>
            </a:xfrm>
            <a:prstGeom prst="rect">
              <a:avLst/>
            </a:prstGeom>
          </p:spPr>
        </p:pic>
        <p:sp>
          <p:nvSpPr>
            <p:cNvPr id="73" name="object 73"/>
            <p:cNvSpPr/>
            <p:nvPr/>
          </p:nvSpPr>
          <p:spPr>
            <a:xfrm>
              <a:off x="2426172" y="2610126"/>
              <a:ext cx="146050" cy="126364"/>
            </a:xfrm>
            <a:custGeom>
              <a:avLst/>
              <a:gdLst/>
              <a:ahLst/>
              <a:cxnLst/>
              <a:rect l="l" t="t" r="r" b="b"/>
              <a:pathLst>
                <a:path w="146050" h="126364">
                  <a:moveTo>
                    <a:pt x="73201" y="0"/>
                  </a:moveTo>
                  <a:lnTo>
                    <a:pt x="145510" y="126143"/>
                  </a:lnTo>
                  <a:lnTo>
                    <a:pt x="0" y="126143"/>
                  </a:lnTo>
                  <a:lnTo>
                    <a:pt x="73201" y="0"/>
                  </a:lnTo>
                  <a:close/>
                </a:path>
              </a:pathLst>
            </a:custGeom>
            <a:ln w="41114">
              <a:solidFill>
                <a:srgbClr val="0000FF"/>
              </a:solidFill>
            </a:ln>
          </p:spPr>
          <p:txBody>
            <a:bodyPr wrap="square" lIns="0" tIns="0" rIns="0" bIns="0" rtlCol="0"/>
            <a:lstStyle/>
            <a:p>
              <a:endParaRPr sz="1227"/>
            </a:p>
          </p:txBody>
        </p:sp>
        <p:sp>
          <p:nvSpPr>
            <p:cNvPr id="74" name="object 74"/>
            <p:cNvSpPr/>
            <p:nvPr/>
          </p:nvSpPr>
          <p:spPr>
            <a:xfrm>
              <a:off x="3035886" y="2947402"/>
              <a:ext cx="146050" cy="126364"/>
            </a:xfrm>
            <a:custGeom>
              <a:avLst/>
              <a:gdLst/>
              <a:ahLst/>
              <a:cxnLst/>
              <a:rect l="l" t="t" r="r" b="b"/>
              <a:pathLst>
                <a:path w="146050" h="126364">
                  <a:moveTo>
                    <a:pt x="73201" y="0"/>
                  </a:moveTo>
                  <a:lnTo>
                    <a:pt x="145510" y="126143"/>
                  </a:lnTo>
                  <a:lnTo>
                    <a:pt x="0" y="126143"/>
                  </a:lnTo>
                  <a:lnTo>
                    <a:pt x="73201" y="0"/>
                  </a:lnTo>
                  <a:close/>
                </a:path>
              </a:pathLst>
            </a:custGeom>
            <a:ln w="41114">
              <a:solidFill>
                <a:srgbClr val="0000FF"/>
              </a:solidFill>
            </a:ln>
          </p:spPr>
          <p:txBody>
            <a:bodyPr wrap="square" lIns="0" tIns="0" rIns="0" bIns="0" rtlCol="0"/>
            <a:lstStyle/>
            <a:p>
              <a:endParaRPr sz="1227"/>
            </a:p>
          </p:txBody>
        </p:sp>
        <p:sp>
          <p:nvSpPr>
            <p:cNvPr id="75" name="object 75"/>
            <p:cNvSpPr/>
            <p:nvPr/>
          </p:nvSpPr>
          <p:spPr>
            <a:xfrm>
              <a:off x="3411712" y="3284678"/>
              <a:ext cx="146050" cy="126364"/>
            </a:xfrm>
            <a:custGeom>
              <a:avLst/>
              <a:gdLst/>
              <a:ahLst/>
              <a:cxnLst/>
              <a:rect l="l" t="t" r="r" b="b"/>
              <a:pathLst>
                <a:path w="146050" h="126364">
                  <a:moveTo>
                    <a:pt x="73201" y="0"/>
                  </a:moveTo>
                  <a:lnTo>
                    <a:pt x="145510" y="126143"/>
                  </a:lnTo>
                  <a:lnTo>
                    <a:pt x="0" y="126143"/>
                  </a:lnTo>
                  <a:lnTo>
                    <a:pt x="73201" y="0"/>
                  </a:lnTo>
                  <a:close/>
                </a:path>
              </a:pathLst>
            </a:custGeom>
            <a:ln w="41114">
              <a:solidFill>
                <a:srgbClr val="0000FF"/>
              </a:solidFill>
            </a:ln>
          </p:spPr>
          <p:txBody>
            <a:bodyPr wrap="square" lIns="0" tIns="0" rIns="0" bIns="0" rtlCol="0"/>
            <a:lstStyle/>
            <a:p>
              <a:endParaRPr sz="1227"/>
            </a:p>
          </p:txBody>
        </p:sp>
        <p:sp>
          <p:nvSpPr>
            <p:cNvPr id="76" name="object 76"/>
            <p:cNvSpPr/>
            <p:nvPr/>
          </p:nvSpPr>
          <p:spPr>
            <a:xfrm>
              <a:off x="4111589" y="3714102"/>
              <a:ext cx="146050" cy="126364"/>
            </a:xfrm>
            <a:custGeom>
              <a:avLst/>
              <a:gdLst/>
              <a:ahLst/>
              <a:cxnLst/>
              <a:rect l="l" t="t" r="r" b="b"/>
              <a:pathLst>
                <a:path w="146050" h="126364">
                  <a:moveTo>
                    <a:pt x="73201" y="0"/>
                  </a:moveTo>
                  <a:lnTo>
                    <a:pt x="145510" y="126143"/>
                  </a:lnTo>
                  <a:lnTo>
                    <a:pt x="0" y="126143"/>
                  </a:lnTo>
                  <a:lnTo>
                    <a:pt x="73201" y="0"/>
                  </a:lnTo>
                  <a:close/>
                </a:path>
              </a:pathLst>
            </a:custGeom>
            <a:ln w="41114">
              <a:solidFill>
                <a:srgbClr val="0000FF"/>
              </a:solidFill>
            </a:ln>
          </p:spPr>
          <p:txBody>
            <a:bodyPr wrap="square" lIns="0" tIns="0" rIns="0" bIns="0" rtlCol="0"/>
            <a:lstStyle/>
            <a:p>
              <a:endParaRPr sz="1227"/>
            </a:p>
          </p:txBody>
        </p:sp>
        <p:sp>
          <p:nvSpPr>
            <p:cNvPr id="77" name="object 77"/>
            <p:cNvSpPr/>
            <p:nvPr/>
          </p:nvSpPr>
          <p:spPr>
            <a:xfrm>
              <a:off x="4747191" y="4081795"/>
              <a:ext cx="146050" cy="126364"/>
            </a:xfrm>
            <a:custGeom>
              <a:avLst/>
              <a:gdLst/>
              <a:ahLst/>
              <a:cxnLst/>
              <a:rect l="l" t="t" r="r" b="b"/>
              <a:pathLst>
                <a:path w="146050" h="126364">
                  <a:moveTo>
                    <a:pt x="73201" y="0"/>
                  </a:moveTo>
                  <a:lnTo>
                    <a:pt x="145510" y="126143"/>
                  </a:lnTo>
                  <a:lnTo>
                    <a:pt x="0" y="126143"/>
                  </a:lnTo>
                  <a:lnTo>
                    <a:pt x="73201" y="0"/>
                  </a:lnTo>
                  <a:close/>
                </a:path>
              </a:pathLst>
            </a:custGeom>
            <a:ln w="41114">
              <a:solidFill>
                <a:srgbClr val="0000FF"/>
              </a:solidFill>
            </a:ln>
          </p:spPr>
          <p:txBody>
            <a:bodyPr wrap="square" lIns="0" tIns="0" rIns="0" bIns="0" rtlCol="0"/>
            <a:lstStyle/>
            <a:p>
              <a:endParaRPr sz="1227"/>
            </a:p>
          </p:txBody>
        </p:sp>
        <p:sp>
          <p:nvSpPr>
            <p:cNvPr id="78" name="object 78"/>
            <p:cNvSpPr/>
            <p:nvPr/>
          </p:nvSpPr>
          <p:spPr>
            <a:xfrm>
              <a:off x="5331017" y="4480801"/>
              <a:ext cx="146050" cy="126364"/>
            </a:xfrm>
            <a:custGeom>
              <a:avLst/>
              <a:gdLst/>
              <a:ahLst/>
              <a:cxnLst/>
              <a:rect l="l" t="t" r="r" b="b"/>
              <a:pathLst>
                <a:path w="146050" h="126364">
                  <a:moveTo>
                    <a:pt x="73201" y="0"/>
                  </a:moveTo>
                  <a:lnTo>
                    <a:pt x="145510" y="126143"/>
                  </a:lnTo>
                  <a:lnTo>
                    <a:pt x="0" y="126143"/>
                  </a:lnTo>
                  <a:lnTo>
                    <a:pt x="73201" y="0"/>
                  </a:lnTo>
                  <a:close/>
                </a:path>
              </a:pathLst>
            </a:custGeom>
            <a:ln w="41114">
              <a:solidFill>
                <a:srgbClr val="0000FF"/>
              </a:solidFill>
            </a:ln>
          </p:spPr>
          <p:txBody>
            <a:bodyPr wrap="square" lIns="0" tIns="0" rIns="0" bIns="0" rtlCol="0"/>
            <a:lstStyle/>
            <a:p>
              <a:endParaRPr sz="1227"/>
            </a:p>
          </p:txBody>
        </p:sp>
      </p:grpSp>
      <p:sp>
        <p:nvSpPr>
          <p:cNvPr id="79" name="object 79"/>
          <p:cNvSpPr txBox="1"/>
          <p:nvPr/>
        </p:nvSpPr>
        <p:spPr>
          <a:xfrm>
            <a:off x="1931129" y="3905325"/>
            <a:ext cx="2767445" cy="180993"/>
          </a:xfrm>
          <a:prstGeom prst="rect">
            <a:avLst/>
          </a:prstGeom>
        </p:spPr>
        <p:txBody>
          <a:bodyPr vert="horz" wrap="square" lIns="0" tIns="7793" rIns="0" bIns="0" rtlCol="0">
            <a:spAutoFit/>
          </a:bodyPr>
          <a:lstStyle/>
          <a:p>
            <a:pPr marL="8659">
              <a:spcBef>
                <a:spcPts val="61"/>
              </a:spcBef>
              <a:tabLst>
                <a:tab pos="185733" algn="l"/>
                <a:tab pos="361940" algn="l"/>
                <a:tab pos="539014" algn="l"/>
                <a:tab pos="715655" algn="l"/>
              </a:tabLst>
            </a:pPr>
            <a:r>
              <a:rPr sz="1125" b="1" spc="-34" dirty="0">
                <a:latin typeface="Arial"/>
                <a:cs typeface="Arial"/>
              </a:rPr>
              <a:t>0</a:t>
            </a:r>
            <a:r>
              <a:rPr sz="1125" b="1" dirty="0">
                <a:latin typeface="Arial"/>
                <a:cs typeface="Arial"/>
              </a:rPr>
              <a:t>	</a:t>
            </a:r>
            <a:r>
              <a:rPr sz="1125" b="1" spc="-34" dirty="0">
                <a:latin typeface="Arial"/>
                <a:cs typeface="Arial"/>
              </a:rPr>
              <a:t>2</a:t>
            </a:r>
            <a:r>
              <a:rPr sz="1125" b="1" dirty="0">
                <a:latin typeface="Arial"/>
                <a:cs typeface="Arial"/>
              </a:rPr>
              <a:t>	</a:t>
            </a:r>
            <a:r>
              <a:rPr sz="1125" b="1" spc="-34" dirty="0">
                <a:latin typeface="Arial"/>
                <a:cs typeface="Arial"/>
              </a:rPr>
              <a:t>4</a:t>
            </a:r>
            <a:r>
              <a:rPr sz="1125" b="1" dirty="0">
                <a:latin typeface="Arial"/>
                <a:cs typeface="Arial"/>
              </a:rPr>
              <a:t>	</a:t>
            </a:r>
            <a:r>
              <a:rPr sz="1125" b="1" spc="-34" dirty="0">
                <a:latin typeface="Arial"/>
                <a:cs typeface="Arial"/>
              </a:rPr>
              <a:t>6</a:t>
            </a:r>
            <a:r>
              <a:rPr sz="1125" b="1" dirty="0">
                <a:latin typeface="Arial"/>
                <a:cs typeface="Arial"/>
              </a:rPr>
              <a:t>	8</a:t>
            </a:r>
            <a:r>
              <a:rPr sz="1125" b="1" spc="225" dirty="0">
                <a:latin typeface="Arial"/>
                <a:cs typeface="Arial"/>
              </a:rPr>
              <a:t> </a:t>
            </a:r>
            <a:r>
              <a:rPr sz="1125" b="1" spc="-109" dirty="0">
                <a:latin typeface="Arial"/>
                <a:cs typeface="Arial"/>
              </a:rPr>
              <a:t>10</a:t>
            </a:r>
            <a:r>
              <a:rPr sz="1125" b="1" spc="31" dirty="0">
                <a:latin typeface="Arial"/>
                <a:cs typeface="Arial"/>
              </a:rPr>
              <a:t> </a:t>
            </a:r>
            <a:r>
              <a:rPr sz="1125" b="1" spc="-102" dirty="0">
                <a:latin typeface="Arial"/>
                <a:cs typeface="Arial"/>
              </a:rPr>
              <a:t>12</a:t>
            </a:r>
            <a:r>
              <a:rPr sz="1125" b="1" spc="31" dirty="0">
                <a:latin typeface="Arial"/>
                <a:cs typeface="Arial"/>
              </a:rPr>
              <a:t> </a:t>
            </a:r>
            <a:r>
              <a:rPr sz="1125" b="1" spc="-109" dirty="0">
                <a:latin typeface="Arial"/>
                <a:cs typeface="Arial"/>
              </a:rPr>
              <a:t>14</a:t>
            </a:r>
            <a:r>
              <a:rPr sz="1125" b="1" spc="31" dirty="0">
                <a:latin typeface="Arial"/>
                <a:cs typeface="Arial"/>
              </a:rPr>
              <a:t> </a:t>
            </a:r>
            <a:r>
              <a:rPr sz="1125" b="1" spc="-102" dirty="0">
                <a:latin typeface="Arial"/>
                <a:cs typeface="Arial"/>
              </a:rPr>
              <a:t>16</a:t>
            </a:r>
            <a:r>
              <a:rPr sz="1125" b="1" spc="27" dirty="0">
                <a:latin typeface="Arial"/>
                <a:cs typeface="Arial"/>
              </a:rPr>
              <a:t> </a:t>
            </a:r>
            <a:r>
              <a:rPr sz="1125" b="1" spc="-109" dirty="0">
                <a:latin typeface="Arial"/>
                <a:cs typeface="Arial"/>
              </a:rPr>
              <a:t>18</a:t>
            </a:r>
            <a:r>
              <a:rPr sz="1125" b="1" spc="31" dirty="0">
                <a:latin typeface="Arial"/>
                <a:cs typeface="Arial"/>
              </a:rPr>
              <a:t> </a:t>
            </a:r>
            <a:r>
              <a:rPr sz="1125" b="1" spc="-102" dirty="0">
                <a:latin typeface="Arial"/>
                <a:cs typeface="Arial"/>
              </a:rPr>
              <a:t>20</a:t>
            </a:r>
            <a:r>
              <a:rPr sz="1125" b="1" spc="31" dirty="0">
                <a:latin typeface="Arial"/>
                <a:cs typeface="Arial"/>
              </a:rPr>
              <a:t> </a:t>
            </a:r>
            <a:r>
              <a:rPr sz="1125" b="1" spc="-109" dirty="0">
                <a:latin typeface="Arial"/>
                <a:cs typeface="Arial"/>
              </a:rPr>
              <a:t>22</a:t>
            </a:r>
            <a:r>
              <a:rPr sz="1125" b="1" spc="31" dirty="0">
                <a:latin typeface="Arial"/>
                <a:cs typeface="Arial"/>
              </a:rPr>
              <a:t> </a:t>
            </a:r>
            <a:r>
              <a:rPr sz="1125" b="1" spc="-102" dirty="0">
                <a:latin typeface="Arial"/>
                <a:cs typeface="Arial"/>
              </a:rPr>
              <a:t>24</a:t>
            </a:r>
            <a:r>
              <a:rPr sz="1125" b="1" spc="31" dirty="0">
                <a:latin typeface="Arial"/>
                <a:cs typeface="Arial"/>
              </a:rPr>
              <a:t> </a:t>
            </a:r>
            <a:r>
              <a:rPr sz="1125" b="1" spc="-109" dirty="0">
                <a:latin typeface="Arial"/>
                <a:cs typeface="Arial"/>
              </a:rPr>
              <a:t>26</a:t>
            </a:r>
            <a:r>
              <a:rPr sz="1125" b="1" spc="31" dirty="0">
                <a:latin typeface="Arial"/>
                <a:cs typeface="Arial"/>
              </a:rPr>
              <a:t> </a:t>
            </a:r>
            <a:r>
              <a:rPr sz="1125" b="1" spc="-102" dirty="0">
                <a:latin typeface="Arial"/>
                <a:cs typeface="Arial"/>
              </a:rPr>
              <a:t>28</a:t>
            </a:r>
            <a:r>
              <a:rPr sz="1125" b="1" spc="27" dirty="0">
                <a:latin typeface="Arial"/>
                <a:cs typeface="Arial"/>
              </a:rPr>
              <a:t> </a:t>
            </a:r>
            <a:r>
              <a:rPr sz="1125" b="1" spc="-41" dirty="0">
                <a:latin typeface="Arial"/>
                <a:cs typeface="Arial"/>
              </a:rPr>
              <a:t>30</a:t>
            </a:r>
            <a:endParaRPr sz="1125">
              <a:latin typeface="Arial"/>
              <a:cs typeface="Arial"/>
            </a:endParaRPr>
          </a:p>
        </p:txBody>
      </p:sp>
      <p:sp>
        <p:nvSpPr>
          <p:cNvPr id="80" name="object 80"/>
          <p:cNvSpPr txBox="1"/>
          <p:nvPr/>
        </p:nvSpPr>
        <p:spPr>
          <a:xfrm>
            <a:off x="1698973" y="1486924"/>
            <a:ext cx="211282" cy="2338053"/>
          </a:xfrm>
          <a:prstGeom prst="rect">
            <a:avLst/>
          </a:prstGeom>
        </p:spPr>
        <p:txBody>
          <a:bodyPr vert="horz" wrap="square" lIns="0" tIns="48491" rIns="0" bIns="0" rtlCol="0">
            <a:spAutoFit/>
          </a:bodyPr>
          <a:lstStyle/>
          <a:p>
            <a:pPr marL="8659">
              <a:spcBef>
                <a:spcPts val="382"/>
              </a:spcBef>
            </a:pPr>
            <a:r>
              <a:rPr sz="1125" b="1" spc="-106" dirty="0">
                <a:latin typeface="Arial"/>
                <a:cs typeface="Arial"/>
              </a:rPr>
              <a:t>300</a:t>
            </a:r>
            <a:endParaRPr sz="1125">
              <a:latin typeface="Arial"/>
              <a:cs typeface="Arial"/>
            </a:endParaRPr>
          </a:p>
          <a:p>
            <a:pPr marL="8659">
              <a:spcBef>
                <a:spcPts val="310"/>
              </a:spcBef>
            </a:pPr>
            <a:r>
              <a:rPr sz="1125" b="1" spc="-106" dirty="0">
                <a:latin typeface="Arial"/>
                <a:cs typeface="Arial"/>
              </a:rPr>
              <a:t>275</a:t>
            </a:r>
            <a:endParaRPr sz="1125">
              <a:latin typeface="Arial"/>
              <a:cs typeface="Arial"/>
            </a:endParaRPr>
          </a:p>
          <a:p>
            <a:pPr marL="8659">
              <a:spcBef>
                <a:spcPts val="307"/>
              </a:spcBef>
            </a:pPr>
            <a:r>
              <a:rPr sz="1125" b="1" spc="-106" dirty="0">
                <a:latin typeface="Arial"/>
                <a:cs typeface="Arial"/>
              </a:rPr>
              <a:t>250</a:t>
            </a:r>
            <a:endParaRPr sz="1125">
              <a:latin typeface="Arial"/>
              <a:cs typeface="Arial"/>
            </a:endParaRPr>
          </a:p>
          <a:p>
            <a:pPr marL="8659">
              <a:spcBef>
                <a:spcPts val="313"/>
              </a:spcBef>
            </a:pPr>
            <a:r>
              <a:rPr sz="1125" b="1" spc="-106" dirty="0">
                <a:latin typeface="Arial"/>
                <a:cs typeface="Arial"/>
              </a:rPr>
              <a:t>225</a:t>
            </a:r>
            <a:endParaRPr sz="1125">
              <a:latin typeface="Arial"/>
              <a:cs typeface="Arial"/>
            </a:endParaRPr>
          </a:p>
          <a:p>
            <a:pPr marL="8659">
              <a:spcBef>
                <a:spcPts val="310"/>
              </a:spcBef>
            </a:pPr>
            <a:r>
              <a:rPr sz="1125" b="1" spc="-106" dirty="0">
                <a:latin typeface="Arial"/>
                <a:cs typeface="Arial"/>
              </a:rPr>
              <a:t>200</a:t>
            </a:r>
            <a:endParaRPr sz="1125">
              <a:latin typeface="Arial"/>
              <a:cs typeface="Arial"/>
            </a:endParaRPr>
          </a:p>
          <a:p>
            <a:pPr marL="8659">
              <a:spcBef>
                <a:spcPts val="307"/>
              </a:spcBef>
            </a:pPr>
            <a:r>
              <a:rPr sz="1125" b="1" spc="-106" dirty="0">
                <a:latin typeface="Arial"/>
                <a:cs typeface="Arial"/>
              </a:rPr>
              <a:t>175</a:t>
            </a:r>
            <a:endParaRPr sz="1125">
              <a:latin typeface="Arial"/>
              <a:cs typeface="Arial"/>
            </a:endParaRPr>
          </a:p>
          <a:p>
            <a:pPr marL="8659">
              <a:spcBef>
                <a:spcPts val="313"/>
              </a:spcBef>
            </a:pPr>
            <a:r>
              <a:rPr sz="1125" b="1" spc="-106" dirty="0">
                <a:latin typeface="Arial"/>
                <a:cs typeface="Arial"/>
              </a:rPr>
              <a:t>150</a:t>
            </a:r>
            <a:endParaRPr sz="1125">
              <a:latin typeface="Arial"/>
              <a:cs typeface="Arial"/>
            </a:endParaRPr>
          </a:p>
          <a:p>
            <a:pPr marL="8659">
              <a:spcBef>
                <a:spcPts val="310"/>
              </a:spcBef>
            </a:pPr>
            <a:r>
              <a:rPr sz="1125" b="1" spc="-106" dirty="0">
                <a:latin typeface="Arial"/>
                <a:cs typeface="Arial"/>
              </a:rPr>
              <a:t>125</a:t>
            </a:r>
            <a:endParaRPr sz="1125">
              <a:latin typeface="Arial"/>
              <a:cs typeface="Arial"/>
            </a:endParaRPr>
          </a:p>
          <a:p>
            <a:pPr marL="8659">
              <a:spcBef>
                <a:spcPts val="307"/>
              </a:spcBef>
            </a:pPr>
            <a:r>
              <a:rPr sz="1125" b="1" spc="-106" dirty="0">
                <a:latin typeface="Arial"/>
                <a:cs typeface="Arial"/>
              </a:rPr>
              <a:t>100</a:t>
            </a:r>
            <a:endParaRPr sz="1125">
              <a:latin typeface="Arial"/>
              <a:cs typeface="Arial"/>
            </a:endParaRPr>
          </a:p>
          <a:p>
            <a:pPr marL="73167">
              <a:spcBef>
                <a:spcPts val="313"/>
              </a:spcBef>
            </a:pPr>
            <a:r>
              <a:rPr sz="1125" b="1" spc="-95" dirty="0">
                <a:latin typeface="Arial"/>
                <a:cs typeface="Arial"/>
              </a:rPr>
              <a:t>75</a:t>
            </a:r>
            <a:endParaRPr sz="1125">
              <a:latin typeface="Arial"/>
              <a:cs typeface="Arial"/>
            </a:endParaRPr>
          </a:p>
          <a:p>
            <a:pPr marL="73167">
              <a:spcBef>
                <a:spcPts val="310"/>
              </a:spcBef>
            </a:pPr>
            <a:r>
              <a:rPr sz="1125" b="1" spc="-95" dirty="0">
                <a:latin typeface="Arial"/>
                <a:cs typeface="Arial"/>
              </a:rPr>
              <a:t>50</a:t>
            </a:r>
            <a:endParaRPr sz="1125">
              <a:latin typeface="Arial"/>
              <a:cs typeface="Arial"/>
            </a:endParaRPr>
          </a:p>
        </p:txBody>
      </p:sp>
      <p:grpSp>
        <p:nvGrpSpPr>
          <p:cNvPr id="81" name="object 81"/>
          <p:cNvGrpSpPr/>
          <p:nvPr/>
        </p:nvGrpSpPr>
        <p:grpSpPr>
          <a:xfrm>
            <a:off x="1916845" y="1624328"/>
            <a:ext cx="2809442" cy="2303751"/>
            <a:chOff x="1484646" y="1972560"/>
            <a:chExt cx="4120515" cy="3378835"/>
          </a:xfrm>
        </p:grpSpPr>
        <p:sp>
          <p:nvSpPr>
            <p:cNvPr id="82" name="object 82"/>
            <p:cNvSpPr/>
            <p:nvPr/>
          </p:nvSpPr>
          <p:spPr>
            <a:xfrm>
              <a:off x="1565610" y="5269887"/>
              <a:ext cx="0" cy="62230"/>
            </a:xfrm>
            <a:custGeom>
              <a:avLst/>
              <a:gdLst/>
              <a:ahLst/>
              <a:cxnLst/>
              <a:rect l="l" t="t" r="r" b="b"/>
              <a:pathLst>
                <a:path h="62229">
                  <a:moveTo>
                    <a:pt x="0" y="61729"/>
                  </a:moveTo>
                  <a:lnTo>
                    <a:pt x="0" y="0"/>
                  </a:lnTo>
                </a:path>
              </a:pathLst>
            </a:custGeom>
            <a:ln w="38386">
              <a:solidFill>
                <a:srgbClr val="000000"/>
              </a:solidFill>
            </a:ln>
          </p:spPr>
          <p:txBody>
            <a:bodyPr wrap="square" lIns="0" tIns="0" rIns="0" bIns="0" rtlCol="0"/>
            <a:lstStyle/>
            <a:p>
              <a:endParaRPr sz="1227"/>
            </a:p>
          </p:txBody>
        </p:sp>
        <p:sp>
          <p:nvSpPr>
            <p:cNvPr id="83" name="object 83"/>
            <p:cNvSpPr/>
            <p:nvPr/>
          </p:nvSpPr>
          <p:spPr>
            <a:xfrm>
              <a:off x="1825386" y="5269887"/>
              <a:ext cx="0" cy="62230"/>
            </a:xfrm>
            <a:custGeom>
              <a:avLst/>
              <a:gdLst/>
              <a:ahLst/>
              <a:cxnLst/>
              <a:rect l="l" t="t" r="r" b="b"/>
              <a:pathLst>
                <a:path h="62229">
                  <a:moveTo>
                    <a:pt x="0" y="61729"/>
                  </a:moveTo>
                  <a:lnTo>
                    <a:pt x="0" y="0"/>
                  </a:lnTo>
                </a:path>
              </a:pathLst>
            </a:custGeom>
            <a:ln w="38386">
              <a:solidFill>
                <a:srgbClr val="000000"/>
              </a:solidFill>
            </a:ln>
          </p:spPr>
          <p:txBody>
            <a:bodyPr wrap="square" lIns="0" tIns="0" rIns="0" bIns="0" rtlCol="0"/>
            <a:lstStyle/>
            <a:p>
              <a:endParaRPr sz="1227"/>
            </a:p>
          </p:txBody>
        </p:sp>
        <p:sp>
          <p:nvSpPr>
            <p:cNvPr id="84" name="object 84"/>
            <p:cNvSpPr/>
            <p:nvPr/>
          </p:nvSpPr>
          <p:spPr>
            <a:xfrm>
              <a:off x="2084268" y="5269886"/>
              <a:ext cx="0" cy="62230"/>
            </a:xfrm>
            <a:custGeom>
              <a:avLst/>
              <a:gdLst/>
              <a:ahLst/>
              <a:cxnLst/>
              <a:rect l="l" t="t" r="r" b="b"/>
              <a:pathLst>
                <a:path h="62229">
                  <a:moveTo>
                    <a:pt x="0" y="61729"/>
                  </a:moveTo>
                  <a:lnTo>
                    <a:pt x="0" y="0"/>
                  </a:lnTo>
                </a:path>
              </a:pathLst>
            </a:custGeom>
            <a:ln w="38386">
              <a:solidFill>
                <a:srgbClr val="000000"/>
              </a:solidFill>
            </a:ln>
          </p:spPr>
          <p:txBody>
            <a:bodyPr wrap="square" lIns="0" tIns="0" rIns="0" bIns="0" rtlCol="0"/>
            <a:lstStyle/>
            <a:p>
              <a:endParaRPr sz="1227"/>
            </a:p>
          </p:txBody>
        </p:sp>
        <p:sp>
          <p:nvSpPr>
            <p:cNvPr id="85" name="object 85"/>
            <p:cNvSpPr/>
            <p:nvPr/>
          </p:nvSpPr>
          <p:spPr>
            <a:xfrm>
              <a:off x="2344044" y="5269885"/>
              <a:ext cx="0" cy="62230"/>
            </a:xfrm>
            <a:custGeom>
              <a:avLst/>
              <a:gdLst/>
              <a:ahLst/>
              <a:cxnLst/>
              <a:rect l="l" t="t" r="r" b="b"/>
              <a:pathLst>
                <a:path h="62229">
                  <a:moveTo>
                    <a:pt x="0" y="61729"/>
                  </a:moveTo>
                  <a:lnTo>
                    <a:pt x="0" y="0"/>
                  </a:lnTo>
                </a:path>
              </a:pathLst>
            </a:custGeom>
            <a:ln w="38386">
              <a:solidFill>
                <a:srgbClr val="000000"/>
              </a:solidFill>
            </a:ln>
          </p:spPr>
          <p:txBody>
            <a:bodyPr wrap="square" lIns="0" tIns="0" rIns="0" bIns="0" rtlCol="0"/>
            <a:lstStyle/>
            <a:p>
              <a:endParaRPr sz="1227"/>
            </a:p>
          </p:txBody>
        </p:sp>
        <p:sp>
          <p:nvSpPr>
            <p:cNvPr id="86" name="object 86"/>
            <p:cNvSpPr/>
            <p:nvPr/>
          </p:nvSpPr>
          <p:spPr>
            <a:xfrm>
              <a:off x="2602927" y="5269884"/>
              <a:ext cx="0" cy="62230"/>
            </a:xfrm>
            <a:custGeom>
              <a:avLst/>
              <a:gdLst/>
              <a:ahLst/>
              <a:cxnLst/>
              <a:rect l="l" t="t" r="r" b="b"/>
              <a:pathLst>
                <a:path h="62229">
                  <a:moveTo>
                    <a:pt x="0" y="61729"/>
                  </a:moveTo>
                  <a:lnTo>
                    <a:pt x="0" y="0"/>
                  </a:lnTo>
                </a:path>
              </a:pathLst>
            </a:custGeom>
            <a:ln w="38386">
              <a:solidFill>
                <a:srgbClr val="000000"/>
              </a:solidFill>
            </a:ln>
          </p:spPr>
          <p:txBody>
            <a:bodyPr wrap="square" lIns="0" tIns="0" rIns="0" bIns="0" rtlCol="0"/>
            <a:lstStyle/>
            <a:p>
              <a:endParaRPr sz="1227"/>
            </a:p>
          </p:txBody>
        </p:sp>
        <p:sp>
          <p:nvSpPr>
            <p:cNvPr id="87" name="object 87"/>
            <p:cNvSpPr/>
            <p:nvPr/>
          </p:nvSpPr>
          <p:spPr>
            <a:xfrm>
              <a:off x="2862702" y="5269883"/>
              <a:ext cx="0" cy="62230"/>
            </a:xfrm>
            <a:custGeom>
              <a:avLst/>
              <a:gdLst/>
              <a:ahLst/>
              <a:cxnLst/>
              <a:rect l="l" t="t" r="r" b="b"/>
              <a:pathLst>
                <a:path h="62229">
                  <a:moveTo>
                    <a:pt x="0" y="61729"/>
                  </a:moveTo>
                  <a:lnTo>
                    <a:pt x="0" y="0"/>
                  </a:lnTo>
                </a:path>
              </a:pathLst>
            </a:custGeom>
            <a:ln w="38386">
              <a:solidFill>
                <a:srgbClr val="000000"/>
              </a:solidFill>
            </a:ln>
          </p:spPr>
          <p:txBody>
            <a:bodyPr wrap="square" lIns="0" tIns="0" rIns="0" bIns="0" rtlCol="0"/>
            <a:lstStyle/>
            <a:p>
              <a:endParaRPr sz="1227"/>
            </a:p>
          </p:txBody>
        </p:sp>
        <p:sp>
          <p:nvSpPr>
            <p:cNvPr id="88" name="object 88"/>
            <p:cNvSpPr/>
            <p:nvPr/>
          </p:nvSpPr>
          <p:spPr>
            <a:xfrm>
              <a:off x="3121585" y="5269883"/>
              <a:ext cx="0" cy="62230"/>
            </a:xfrm>
            <a:custGeom>
              <a:avLst/>
              <a:gdLst/>
              <a:ahLst/>
              <a:cxnLst/>
              <a:rect l="l" t="t" r="r" b="b"/>
              <a:pathLst>
                <a:path h="62229">
                  <a:moveTo>
                    <a:pt x="0" y="61729"/>
                  </a:moveTo>
                  <a:lnTo>
                    <a:pt x="0" y="0"/>
                  </a:lnTo>
                </a:path>
              </a:pathLst>
            </a:custGeom>
            <a:ln w="38386">
              <a:solidFill>
                <a:srgbClr val="000000"/>
              </a:solidFill>
            </a:ln>
          </p:spPr>
          <p:txBody>
            <a:bodyPr wrap="square" lIns="0" tIns="0" rIns="0" bIns="0" rtlCol="0"/>
            <a:lstStyle/>
            <a:p>
              <a:endParaRPr sz="1227"/>
            </a:p>
          </p:txBody>
        </p:sp>
        <p:sp>
          <p:nvSpPr>
            <p:cNvPr id="89" name="object 89"/>
            <p:cNvSpPr/>
            <p:nvPr/>
          </p:nvSpPr>
          <p:spPr>
            <a:xfrm>
              <a:off x="3381361" y="5269882"/>
              <a:ext cx="0" cy="62230"/>
            </a:xfrm>
            <a:custGeom>
              <a:avLst/>
              <a:gdLst/>
              <a:ahLst/>
              <a:cxnLst/>
              <a:rect l="l" t="t" r="r" b="b"/>
              <a:pathLst>
                <a:path h="62229">
                  <a:moveTo>
                    <a:pt x="0" y="61729"/>
                  </a:moveTo>
                  <a:lnTo>
                    <a:pt x="0" y="0"/>
                  </a:lnTo>
                </a:path>
              </a:pathLst>
            </a:custGeom>
            <a:ln w="38386">
              <a:solidFill>
                <a:srgbClr val="000000"/>
              </a:solidFill>
            </a:ln>
          </p:spPr>
          <p:txBody>
            <a:bodyPr wrap="square" lIns="0" tIns="0" rIns="0" bIns="0" rtlCol="0"/>
            <a:lstStyle/>
            <a:p>
              <a:endParaRPr sz="1227"/>
            </a:p>
          </p:txBody>
        </p:sp>
        <p:sp>
          <p:nvSpPr>
            <p:cNvPr id="90" name="object 90"/>
            <p:cNvSpPr/>
            <p:nvPr/>
          </p:nvSpPr>
          <p:spPr>
            <a:xfrm>
              <a:off x="3640244" y="5269881"/>
              <a:ext cx="0" cy="62230"/>
            </a:xfrm>
            <a:custGeom>
              <a:avLst/>
              <a:gdLst/>
              <a:ahLst/>
              <a:cxnLst/>
              <a:rect l="l" t="t" r="r" b="b"/>
              <a:pathLst>
                <a:path h="62229">
                  <a:moveTo>
                    <a:pt x="0" y="61729"/>
                  </a:moveTo>
                  <a:lnTo>
                    <a:pt x="0" y="0"/>
                  </a:lnTo>
                </a:path>
              </a:pathLst>
            </a:custGeom>
            <a:ln w="38386">
              <a:solidFill>
                <a:srgbClr val="000000"/>
              </a:solidFill>
            </a:ln>
          </p:spPr>
          <p:txBody>
            <a:bodyPr wrap="square" lIns="0" tIns="0" rIns="0" bIns="0" rtlCol="0"/>
            <a:lstStyle/>
            <a:p>
              <a:endParaRPr sz="1227"/>
            </a:p>
          </p:txBody>
        </p:sp>
        <p:sp>
          <p:nvSpPr>
            <p:cNvPr id="91" name="object 91"/>
            <p:cNvSpPr/>
            <p:nvPr/>
          </p:nvSpPr>
          <p:spPr>
            <a:xfrm>
              <a:off x="3900019" y="5269880"/>
              <a:ext cx="0" cy="62230"/>
            </a:xfrm>
            <a:custGeom>
              <a:avLst/>
              <a:gdLst/>
              <a:ahLst/>
              <a:cxnLst/>
              <a:rect l="l" t="t" r="r" b="b"/>
              <a:pathLst>
                <a:path h="62229">
                  <a:moveTo>
                    <a:pt x="0" y="61729"/>
                  </a:moveTo>
                  <a:lnTo>
                    <a:pt x="0" y="0"/>
                  </a:lnTo>
                </a:path>
              </a:pathLst>
            </a:custGeom>
            <a:ln w="38386">
              <a:solidFill>
                <a:srgbClr val="000000"/>
              </a:solidFill>
            </a:ln>
          </p:spPr>
          <p:txBody>
            <a:bodyPr wrap="square" lIns="0" tIns="0" rIns="0" bIns="0" rtlCol="0"/>
            <a:lstStyle/>
            <a:p>
              <a:endParaRPr sz="1227"/>
            </a:p>
          </p:txBody>
        </p:sp>
        <p:sp>
          <p:nvSpPr>
            <p:cNvPr id="92" name="object 92"/>
            <p:cNvSpPr/>
            <p:nvPr/>
          </p:nvSpPr>
          <p:spPr>
            <a:xfrm>
              <a:off x="4158902" y="5269880"/>
              <a:ext cx="0" cy="62230"/>
            </a:xfrm>
            <a:custGeom>
              <a:avLst/>
              <a:gdLst/>
              <a:ahLst/>
              <a:cxnLst/>
              <a:rect l="l" t="t" r="r" b="b"/>
              <a:pathLst>
                <a:path h="62229">
                  <a:moveTo>
                    <a:pt x="0" y="61729"/>
                  </a:moveTo>
                  <a:lnTo>
                    <a:pt x="0" y="0"/>
                  </a:lnTo>
                </a:path>
              </a:pathLst>
            </a:custGeom>
            <a:ln w="38386">
              <a:solidFill>
                <a:srgbClr val="000000"/>
              </a:solidFill>
            </a:ln>
          </p:spPr>
          <p:txBody>
            <a:bodyPr wrap="square" lIns="0" tIns="0" rIns="0" bIns="0" rtlCol="0"/>
            <a:lstStyle/>
            <a:p>
              <a:endParaRPr sz="1227"/>
            </a:p>
          </p:txBody>
        </p:sp>
        <p:sp>
          <p:nvSpPr>
            <p:cNvPr id="93" name="object 93"/>
            <p:cNvSpPr/>
            <p:nvPr/>
          </p:nvSpPr>
          <p:spPr>
            <a:xfrm>
              <a:off x="4418678" y="5269879"/>
              <a:ext cx="0" cy="62230"/>
            </a:xfrm>
            <a:custGeom>
              <a:avLst/>
              <a:gdLst/>
              <a:ahLst/>
              <a:cxnLst/>
              <a:rect l="l" t="t" r="r" b="b"/>
              <a:pathLst>
                <a:path h="62229">
                  <a:moveTo>
                    <a:pt x="0" y="61729"/>
                  </a:moveTo>
                  <a:lnTo>
                    <a:pt x="0" y="0"/>
                  </a:lnTo>
                </a:path>
              </a:pathLst>
            </a:custGeom>
            <a:ln w="38386">
              <a:solidFill>
                <a:srgbClr val="000000"/>
              </a:solidFill>
            </a:ln>
          </p:spPr>
          <p:txBody>
            <a:bodyPr wrap="square" lIns="0" tIns="0" rIns="0" bIns="0" rtlCol="0"/>
            <a:lstStyle/>
            <a:p>
              <a:endParaRPr sz="1227"/>
            </a:p>
          </p:txBody>
        </p:sp>
        <p:sp>
          <p:nvSpPr>
            <p:cNvPr id="94" name="object 94"/>
            <p:cNvSpPr/>
            <p:nvPr/>
          </p:nvSpPr>
          <p:spPr>
            <a:xfrm>
              <a:off x="4677561" y="5269878"/>
              <a:ext cx="0" cy="62230"/>
            </a:xfrm>
            <a:custGeom>
              <a:avLst/>
              <a:gdLst/>
              <a:ahLst/>
              <a:cxnLst/>
              <a:rect l="l" t="t" r="r" b="b"/>
              <a:pathLst>
                <a:path h="62229">
                  <a:moveTo>
                    <a:pt x="0" y="61729"/>
                  </a:moveTo>
                  <a:lnTo>
                    <a:pt x="0" y="0"/>
                  </a:lnTo>
                </a:path>
              </a:pathLst>
            </a:custGeom>
            <a:ln w="38386">
              <a:solidFill>
                <a:srgbClr val="000000"/>
              </a:solidFill>
            </a:ln>
          </p:spPr>
          <p:txBody>
            <a:bodyPr wrap="square" lIns="0" tIns="0" rIns="0" bIns="0" rtlCol="0"/>
            <a:lstStyle/>
            <a:p>
              <a:endParaRPr sz="1227"/>
            </a:p>
          </p:txBody>
        </p:sp>
        <p:sp>
          <p:nvSpPr>
            <p:cNvPr id="95" name="object 95"/>
            <p:cNvSpPr/>
            <p:nvPr/>
          </p:nvSpPr>
          <p:spPr>
            <a:xfrm>
              <a:off x="4937336" y="5269877"/>
              <a:ext cx="0" cy="62230"/>
            </a:xfrm>
            <a:custGeom>
              <a:avLst/>
              <a:gdLst/>
              <a:ahLst/>
              <a:cxnLst/>
              <a:rect l="l" t="t" r="r" b="b"/>
              <a:pathLst>
                <a:path h="62229">
                  <a:moveTo>
                    <a:pt x="0" y="61729"/>
                  </a:moveTo>
                  <a:lnTo>
                    <a:pt x="0" y="0"/>
                  </a:lnTo>
                </a:path>
              </a:pathLst>
            </a:custGeom>
            <a:ln w="38386">
              <a:solidFill>
                <a:srgbClr val="000000"/>
              </a:solidFill>
            </a:ln>
          </p:spPr>
          <p:txBody>
            <a:bodyPr wrap="square" lIns="0" tIns="0" rIns="0" bIns="0" rtlCol="0"/>
            <a:lstStyle/>
            <a:p>
              <a:endParaRPr sz="1227"/>
            </a:p>
          </p:txBody>
        </p:sp>
        <p:sp>
          <p:nvSpPr>
            <p:cNvPr id="96" name="object 96"/>
            <p:cNvSpPr/>
            <p:nvPr/>
          </p:nvSpPr>
          <p:spPr>
            <a:xfrm>
              <a:off x="5196219" y="5269876"/>
              <a:ext cx="0" cy="62230"/>
            </a:xfrm>
            <a:custGeom>
              <a:avLst/>
              <a:gdLst/>
              <a:ahLst/>
              <a:cxnLst/>
              <a:rect l="l" t="t" r="r" b="b"/>
              <a:pathLst>
                <a:path h="62229">
                  <a:moveTo>
                    <a:pt x="0" y="61729"/>
                  </a:moveTo>
                  <a:lnTo>
                    <a:pt x="0" y="0"/>
                  </a:lnTo>
                </a:path>
              </a:pathLst>
            </a:custGeom>
            <a:ln w="38386">
              <a:solidFill>
                <a:srgbClr val="000000"/>
              </a:solidFill>
            </a:ln>
          </p:spPr>
          <p:txBody>
            <a:bodyPr wrap="square" lIns="0" tIns="0" rIns="0" bIns="0" rtlCol="0"/>
            <a:lstStyle/>
            <a:p>
              <a:endParaRPr sz="1227"/>
            </a:p>
          </p:txBody>
        </p:sp>
        <p:sp>
          <p:nvSpPr>
            <p:cNvPr id="97" name="object 97"/>
            <p:cNvSpPr/>
            <p:nvPr/>
          </p:nvSpPr>
          <p:spPr>
            <a:xfrm>
              <a:off x="5455995" y="5269876"/>
              <a:ext cx="0" cy="62230"/>
            </a:xfrm>
            <a:custGeom>
              <a:avLst/>
              <a:gdLst/>
              <a:ahLst/>
              <a:cxnLst/>
              <a:rect l="l" t="t" r="r" b="b"/>
              <a:pathLst>
                <a:path h="62229">
                  <a:moveTo>
                    <a:pt x="0" y="61729"/>
                  </a:moveTo>
                  <a:lnTo>
                    <a:pt x="0" y="0"/>
                  </a:lnTo>
                </a:path>
              </a:pathLst>
            </a:custGeom>
            <a:ln w="38386">
              <a:solidFill>
                <a:srgbClr val="000000"/>
              </a:solidFill>
            </a:ln>
          </p:spPr>
          <p:txBody>
            <a:bodyPr wrap="square" lIns="0" tIns="0" rIns="0" bIns="0" rtlCol="0"/>
            <a:lstStyle/>
            <a:p>
              <a:endParaRPr sz="1227"/>
            </a:p>
          </p:txBody>
        </p:sp>
        <p:sp>
          <p:nvSpPr>
            <p:cNvPr id="98" name="object 98"/>
            <p:cNvSpPr/>
            <p:nvPr/>
          </p:nvSpPr>
          <p:spPr>
            <a:xfrm>
              <a:off x="1565610" y="5269875"/>
              <a:ext cx="4020185" cy="0"/>
            </a:xfrm>
            <a:custGeom>
              <a:avLst/>
              <a:gdLst/>
              <a:ahLst/>
              <a:cxnLst/>
              <a:rect l="l" t="t" r="r" b="b"/>
              <a:pathLst>
                <a:path w="4020185">
                  <a:moveTo>
                    <a:pt x="0" y="0"/>
                  </a:moveTo>
                  <a:lnTo>
                    <a:pt x="4019826" y="0"/>
                  </a:lnTo>
                </a:path>
              </a:pathLst>
            </a:custGeom>
            <a:ln w="38469">
              <a:solidFill>
                <a:srgbClr val="000000"/>
              </a:solidFill>
            </a:ln>
          </p:spPr>
          <p:txBody>
            <a:bodyPr wrap="square" lIns="0" tIns="0" rIns="0" bIns="0" rtlCol="0"/>
            <a:lstStyle/>
            <a:p>
              <a:endParaRPr sz="1227"/>
            </a:p>
          </p:txBody>
        </p:sp>
        <p:sp>
          <p:nvSpPr>
            <p:cNvPr id="99" name="object 99"/>
            <p:cNvSpPr/>
            <p:nvPr/>
          </p:nvSpPr>
          <p:spPr>
            <a:xfrm>
              <a:off x="1504014" y="5084685"/>
              <a:ext cx="61594" cy="0"/>
            </a:xfrm>
            <a:custGeom>
              <a:avLst/>
              <a:gdLst/>
              <a:ahLst/>
              <a:cxnLst/>
              <a:rect l="l" t="t" r="r" b="b"/>
              <a:pathLst>
                <a:path w="61594">
                  <a:moveTo>
                    <a:pt x="0" y="0"/>
                  </a:moveTo>
                  <a:lnTo>
                    <a:pt x="61596" y="0"/>
                  </a:lnTo>
                </a:path>
              </a:pathLst>
            </a:custGeom>
            <a:ln w="38469">
              <a:solidFill>
                <a:srgbClr val="000000"/>
              </a:solidFill>
            </a:ln>
          </p:spPr>
          <p:txBody>
            <a:bodyPr wrap="square" lIns="0" tIns="0" rIns="0" bIns="0" rtlCol="0"/>
            <a:lstStyle/>
            <a:p>
              <a:endParaRPr sz="1227"/>
            </a:p>
          </p:txBody>
        </p:sp>
        <p:sp>
          <p:nvSpPr>
            <p:cNvPr id="100" name="object 100"/>
            <p:cNvSpPr/>
            <p:nvPr/>
          </p:nvSpPr>
          <p:spPr>
            <a:xfrm>
              <a:off x="1504014" y="4775141"/>
              <a:ext cx="61594" cy="0"/>
            </a:xfrm>
            <a:custGeom>
              <a:avLst/>
              <a:gdLst/>
              <a:ahLst/>
              <a:cxnLst/>
              <a:rect l="l" t="t" r="r" b="b"/>
              <a:pathLst>
                <a:path w="61594">
                  <a:moveTo>
                    <a:pt x="0" y="0"/>
                  </a:moveTo>
                  <a:lnTo>
                    <a:pt x="61596" y="0"/>
                  </a:lnTo>
                </a:path>
              </a:pathLst>
            </a:custGeom>
            <a:ln w="38469">
              <a:solidFill>
                <a:srgbClr val="000000"/>
              </a:solidFill>
            </a:ln>
          </p:spPr>
          <p:txBody>
            <a:bodyPr wrap="square" lIns="0" tIns="0" rIns="0" bIns="0" rtlCol="0"/>
            <a:lstStyle/>
            <a:p>
              <a:endParaRPr sz="1227"/>
            </a:p>
          </p:txBody>
        </p:sp>
        <p:sp>
          <p:nvSpPr>
            <p:cNvPr id="101" name="object 101"/>
            <p:cNvSpPr/>
            <p:nvPr/>
          </p:nvSpPr>
          <p:spPr>
            <a:xfrm>
              <a:off x="1504014" y="4465597"/>
              <a:ext cx="61594" cy="0"/>
            </a:xfrm>
            <a:custGeom>
              <a:avLst/>
              <a:gdLst/>
              <a:ahLst/>
              <a:cxnLst/>
              <a:rect l="l" t="t" r="r" b="b"/>
              <a:pathLst>
                <a:path w="61594">
                  <a:moveTo>
                    <a:pt x="0" y="0"/>
                  </a:moveTo>
                  <a:lnTo>
                    <a:pt x="61596" y="0"/>
                  </a:lnTo>
                </a:path>
              </a:pathLst>
            </a:custGeom>
            <a:ln w="38469">
              <a:solidFill>
                <a:srgbClr val="000000"/>
              </a:solidFill>
            </a:ln>
          </p:spPr>
          <p:txBody>
            <a:bodyPr wrap="square" lIns="0" tIns="0" rIns="0" bIns="0" rtlCol="0"/>
            <a:lstStyle/>
            <a:p>
              <a:endParaRPr sz="1227"/>
            </a:p>
          </p:txBody>
        </p:sp>
        <p:sp>
          <p:nvSpPr>
            <p:cNvPr id="102" name="object 102"/>
            <p:cNvSpPr/>
            <p:nvPr/>
          </p:nvSpPr>
          <p:spPr>
            <a:xfrm>
              <a:off x="1504014" y="4156948"/>
              <a:ext cx="61594" cy="0"/>
            </a:xfrm>
            <a:custGeom>
              <a:avLst/>
              <a:gdLst/>
              <a:ahLst/>
              <a:cxnLst/>
              <a:rect l="l" t="t" r="r" b="b"/>
              <a:pathLst>
                <a:path w="61594">
                  <a:moveTo>
                    <a:pt x="0" y="0"/>
                  </a:moveTo>
                  <a:lnTo>
                    <a:pt x="61596" y="0"/>
                  </a:lnTo>
                </a:path>
              </a:pathLst>
            </a:custGeom>
            <a:ln w="38469">
              <a:solidFill>
                <a:srgbClr val="000000"/>
              </a:solidFill>
            </a:ln>
          </p:spPr>
          <p:txBody>
            <a:bodyPr wrap="square" lIns="0" tIns="0" rIns="0" bIns="0" rtlCol="0"/>
            <a:lstStyle/>
            <a:p>
              <a:endParaRPr sz="1227"/>
            </a:p>
          </p:txBody>
        </p:sp>
        <p:sp>
          <p:nvSpPr>
            <p:cNvPr id="103" name="object 103"/>
            <p:cNvSpPr/>
            <p:nvPr/>
          </p:nvSpPr>
          <p:spPr>
            <a:xfrm>
              <a:off x="1504014" y="3847404"/>
              <a:ext cx="61594" cy="0"/>
            </a:xfrm>
            <a:custGeom>
              <a:avLst/>
              <a:gdLst/>
              <a:ahLst/>
              <a:cxnLst/>
              <a:rect l="l" t="t" r="r" b="b"/>
              <a:pathLst>
                <a:path w="61594">
                  <a:moveTo>
                    <a:pt x="0" y="0"/>
                  </a:moveTo>
                  <a:lnTo>
                    <a:pt x="61596" y="0"/>
                  </a:lnTo>
                </a:path>
              </a:pathLst>
            </a:custGeom>
            <a:ln w="38469">
              <a:solidFill>
                <a:srgbClr val="000000"/>
              </a:solidFill>
            </a:ln>
          </p:spPr>
          <p:txBody>
            <a:bodyPr wrap="square" lIns="0" tIns="0" rIns="0" bIns="0" rtlCol="0"/>
            <a:lstStyle/>
            <a:p>
              <a:endParaRPr sz="1227"/>
            </a:p>
          </p:txBody>
        </p:sp>
        <p:sp>
          <p:nvSpPr>
            <p:cNvPr id="104" name="object 104"/>
            <p:cNvSpPr/>
            <p:nvPr/>
          </p:nvSpPr>
          <p:spPr>
            <a:xfrm>
              <a:off x="1504014" y="3537860"/>
              <a:ext cx="61594" cy="0"/>
            </a:xfrm>
            <a:custGeom>
              <a:avLst/>
              <a:gdLst/>
              <a:ahLst/>
              <a:cxnLst/>
              <a:rect l="l" t="t" r="r" b="b"/>
              <a:pathLst>
                <a:path w="61594">
                  <a:moveTo>
                    <a:pt x="0" y="0"/>
                  </a:moveTo>
                  <a:lnTo>
                    <a:pt x="61596" y="0"/>
                  </a:lnTo>
                </a:path>
              </a:pathLst>
            </a:custGeom>
            <a:ln w="38469">
              <a:solidFill>
                <a:srgbClr val="000000"/>
              </a:solidFill>
            </a:ln>
          </p:spPr>
          <p:txBody>
            <a:bodyPr wrap="square" lIns="0" tIns="0" rIns="0" bIns="0" rtlCol="0"/>
            <a:lstStyle/>
            <a:p>
              <a:endParaRPr sz="1227"/>
            </a:p>
          </p:txBody>
        </p:sp>
        <p:sp>
          <p:nvSpPr>
            <p:cNvPr id="105" name="object 105"/>
            <p:cNvSpPr/>
            <p:nvPr/>
          </p:nvSpPr>
          <p:spPr>
            <a:xfrm>
              <a:off x="1504014" y="3229210"/>
              <a:ext cx="61594" cy="0"/>
            </a:xfrm>
            <a:custGeom>
              <a:avLst/>
              <a:gdLst/>
              <a:ahLst/>
              <a:cxnLst/>
              <a:rect l="l" t="t" r="r" b="b"/>
              <a:pathLst>
                <a:path w="61594">
                  <a:moveTo>
                    <a:pt x="0" y="0"/>
                  </a:moveTo>
                  <a:lnTo>
                    <a:pt x="61596" y="0"/>
                  </a:lnTo>
                </a:path>
              </a:pathLst>
            </a:custGeom>
            <a:ln w="38469">
              <a:solidFill>
                <a:srgbClr val="000000"/>
              </a:solidFill>
            </a:ln>
          </p:spPr>
          <p:txBody>
            <a:bodyPr wrap="square" lIns="0" tIns="0" rIns="0" bIns="0" rtlCol="0"/>
            <a:lstStyle/>
            <a:p>
              <a:endParaRPr sz="1227"/>
            </a:p>
          </p:txBody>
        </p:sp>
        <p:sp>
          <p:nvSpPr>
            <p:cNvPr id="106" name="object 106"/>
            <p:cNvSpPr/>
            <p:nvPr/>
          </p:nvSpPr>
          <p:spPr>
            <a:xfrm>
              <a:off x="1504014" y="2919666"/>
              <a:ext cx="61594" cy="0"/>
            </a:xfrm>
            <a:custGeom>
              <a:avLst/>
              <a:gdLst/>
              <a:ahLst/>
              <a:cxnLst/>
              <a:rect l="l" t="t" r="r" b="b"/>
              <a:pathLst>
                <a:path w="61594">
                  <a:moveTo>
                    <a:pt x="0" y="0"/>
                  </a:moveTo>
                  <a:lnTo>
                    <a:pt x="61596" y="0"/>
                  </a:lnTo>
                </a:path>
              </a:pathLst>
            </a:custGeom>
            <a:ln w="38469">
              <a:solidFill>
                <a:srgbClr val="000000"/>
              </a:solidFill>
            </a:ln>
          </p:spPr>
          <p:txBody>
            <a:bodyPr wrap="square" lIns="0" tIns="0" rIns="0" bIns="0" rtlCol="0"/>
            <a:lstStyle/>
            <a:p>
              <a:endParaRPr sz="1227"/>
            </a:p>
          </p:txBody>
        </p:sp>
        <p:sp>
          <p:nvSpPr>
            <p:cNvPr id="107" name="object 107"/>
            <p:cNvSpPr/>
            <p:nvPr/>
          </p:nvSpPr>
          <p:spPr>
            <a:xfrm>
              <a:off x="1504014" y="2610122"/>
              <a:ext cx="61594" cy="0"/>
            </a:xfrm>
            <a:custGeom>
              <a:avLst/>
              <a:gdLst/>
              <a:ahLst/>
              <a:cxnLst/>
              <a:rect l="l" t="t" r="r" b="b"/>
              <a:pathLst>
                <a:path w="61594">
                  <a:moveTo>
                    <a:pt x="0" y="0"/>
                  </a:moveTo>
                  <a:lnTo>
                    <a:pt x="61596" y="0"/>
                  </a:lnTo>
                </a:path>
              </a:pathLst>
            </a:custGeom>
            <a:ln w="38469">
              <a:solidFill>
                <a:srgbClr val="000000"/>
              </a:solidFill>
            </a:ln>
          </p:spPr>
          <p:txBody>
            <a:bodyPr wrap="square" lIns="0" tIns="0" rIns="0" bIns="0" rtlCol="0"/>
            <a:lstStyle/>
            <a:p>
              <a:endParaRPr sz="1227"/>
            </a:p>
          </p:txBody>
        </p:sp>
        <p:sp>
          <p:nvSpPr>
            <p:cNvPr id="108" name="object 108"/>
            <p:cNvSpPr/>
            <p:nvPr/>
          </p:nvSpPr>
          <p:spPr>
            <a:xfrm>
              <a:off x="1504014" y="2301473"/>
              <a:ext cx="61594" cy="0"/>
            </a:xfrm>
            <a:custGeom>
              <a:avLst/>
              <a:gdLst/>
              <a:ahLst/>
              <a:cxnLst/>
              <a:rect l="l" t="t" r="r" b="b"/>
              <a:pathLst>
                <a:path w="61594">
                  <a:moveTo>
                    <a:pt x="0" y="0"/>
                  </a:moveTo>
                  <a:lnTo>
                    <a:pt x="61596" y="0"/>
                  </a:lnTo>
                </a:path>
              </a:pathLst>
            </a:custGeom>
            <a:ln w="38469">
              <a:solidFill>
                <a:srgbClr val="000000"/>
              </a:solidFill>
            </a:ln>
          </p:spPr>
          <p:txBody>
            <a:bodyPr wrap="square" lIns="0" tIns="0" rIns="0" bIns="0" rtlCol="0"/>
            <a:lstStyle/>
            <a:p>
              <a:endParaRPr sz="1227"/>
            </a:p>
          </p:txBody>
        </p:sp>
        <p:sp>
          <p:nvSpPr>
            <p:cNvPr id="109" name="object 109"/>
            <p:cNvSpPr/>
            <p:nvPr/>
          </p:nvSpPr>
          <p:spPr>
            <a:xfrm>
              <a:off x="1504014" y="1991929"/>
              <a:ext cx="61594" cy="0"/>
            </a:xfrm>
            <a:custGeom>
              <a:avLst/>
              <a:gdLst/>
              <a:ahLst/>
              <a:cxnLst/>
              <a:rect l="l" t="t" r="r" b="b"/>
              <a:pathLst>
                <a:path w="61594">
                  <a:moveTo>
                    <a:pt x="0" y="0"/>
                  </a:moveTo>
                  <a:lnTo>
                    <a:pt x="61596" y="0"/>
                  </a:lnTo>
                </a:path>
              </a:pathLst>
            </a:custGeom>
            <a:ln w="38469">
              <a:solidFill>
                <a:srgbClr val="000000"/>
              </a:solidFill>
            </a:ln>
          </p:spPr>
          <p:txBody>
            <a:bodyPr wrap="square" lIns="0" tIns="0" rIns="0" bIns="0" rtlCol="0"/>
            <a:lstStyle/>
            <a:p>
              <a:endParaRPr sz="1227"/>
            </a:p>
          </p:txBody>
        </p:sp>
        <p:sp>
          <p:nvSpPr>
            <p:cNvPr id="110" name="object 110"/>
            <p:cNvSpPr/>
            <p:nvPr/>
          </p:nvSpPr>
          <p:spPr>
            <a:xfrm>
              <a:off x="1565610" y="1991928"/>
              <a:ext cx="0" cy="3278504"/>
            </a:xfrm>
            <a:custGeom>
              <a:avLst/>
              <a:gdLst/>
              <a:ahLst/>
              <a:cxnLst/>
              <a:rect l="l" t="t" r="r" b="b"/>
              <a:pathLst>
                <a:path h="3278504">
                  <a:moveTo>
                    <a:pt x="0" y="3277937"/>
                  </a:moveTo>
                  <a:lnTo>
                    <a:pt x="0" y="0"/>
                  </a:lnTo>
                </a:path>
              </a:pathLst>
            </a:custGeom>
            <a:ln w="38386">
              <a:solidFill>
                <a:srgbClr val="000000"/>
              </a:solidFill>
            </a:ln>
          </p:spPr>
          <p:txBody>
            <a:bodyPr wrap="square" lIns="0" tIns="0" rIns="0" bIns="0" rtlCol="0"/>
            <a:lstStyle/>
            <a:p>
              <a:endParaRPr sz="1227"/>
            </a:p>
          </p:txBody>
        </p:sp>
      </p:grpSp>
      <p:sp>
        <p:nvSpPr>
          <p:cNvPr id="111" name="object 111"/>
          <p:cNvSpPr txBox="1"/>
          <p:nvPr/>
        </p:nvSpPr>
        <p:spPr>
          <a:xfrm>
            <a:off x="2112509" y="2360846"/>
            <a:ext cx="87890" cy="113709"/>
          </a:xfrm>
          <a:prstGeom prst="rect">
            <a:avLst/>
          </a:prstGeom>
        </p:spPr>
        <p:txBody>
          <a:bodyPr vert="horz" wrap="square" lIns="0" tIns="8659" rIns="0" bIns="0" rtlCol="0">
            <a:spAutoFit/>
          </a:bodyPr>
          <a:lstStyle/>
          <a:p>
            <a:pPr marL="8659">
              <a:spcBef>
                <a:spcPts val="68"/>
              </a:spcBef>
            </a:pPr>
            <a:r>
              <a:rPr sz="682" b="1" spc="-51" dirty="0">
                <a:latin typeface="Arial"/>
                <a:cs typeface="Arial"/>
              </a:rPr>
              <a:t>IN</a:t>
            </a:r>
            <a:endParaRPr sz="682">
              <a:latin typeface="Arial"/>
              <a:cs typeface="Arial"/>
            </a:endParaRPr>
          </a:p>
        </p:txBody>
      </p:sp>
      <p:sp>
        <p:nvSpPr>
          <p:cNvPr id="112" name="object 112"/>
          <p:cNvSpPr txBox="1"/>
          <p:nvPr/>
        </p:nvSpPr>
        <p:spPr>
          <a:xfrm>
            <a:off x="2033384" y="2252270"/>
            <a:ext cx="414338" cy="183617"/>
          </a:xfrm>
          <a:prstGeom prst="rect">
            <a:avLst/>
          </a:prstGeom>
        </p:spPr>
        <p:txBody>
          <a:bodyPr vert="horz" wrap="square" lIns="0" tIns="10391" rIns="0" bIns="0" rtlCol="0">
            <a:spAutoFit/>
          </a:bodyPr>
          <a:lstStyle/>
          <a:p>
            <a:pPr marL="8659">
              <a:spcBef>
                <a:spcPts val="82"/>
              </a:spcBef>
            </a:pPr>
            <a:r>
              <a:rPr sz="1125" b="1" dirty="0">
                <a:latin typeface="Arial"/>
                <a:cs typeface="Arial"/>
              </a:rPr>
              <a:t>V</a:t>
            </a:r>
            <a:r>
              <a:rPr sz="1125" b="1" spc="112" dirty="0">
                <a:latin typeface="Arial"/>
                <a:cs typeface="Arial"/>
              </a:rPr>
              <a:t> </a:t>
            </a:r>
            <a:r>
              <a:rPr sz="1125" b="1" spc="-123" dirty="0">
                <a:latin typeface="Arial"/>
                <a:cs typeface="Arial"/>
              </a:rPr>
              <a:t>=</a:t>
            </a:r>
            <a:r>
              <a:rPr sz="1125" b="1" spc="-55" dirty="0">
                <a:latin typeface="Arial"/>
                <a:cs typeface="Arial"/>
              </a:rPr>
              <a:t> </a:t>
            </a:r>
            <a:r>
              <a:rPr sz="1125" b="1" spc="-99" dirty="0">
                <a:latin typeface="Arial"/>
                <a:cs typeface="Arial"/>
              </a:rPr>
              <a:t>1V</a:t>
            </a:r>
            <a:endParaRPr sz="1125">
              <a:latin typeface="Arial"/>
              <a:cs typeface="Arial"/>
            </a:endParaRPr>
          </a:p>
        </p:txBody>
      </p:sp>
      <p:sp>
        <p:nvSpPr>
          <p:cNvPr id="113" name="object 113"/>
          <p:cNvSpPr txBox="1"/>
          <p:nvPr/>
        </p:nvSpPr>
        <p:spPr>
          <a:xfrm>
            <a:off x="2019091" y="2754343"/>
            <a:ext cx="547688" cy="183617"/>
          </a:xfrm>
          <a:prstGeom prst="rect">
            <a:avLst/>
          </a:prstGeom>
        </p:spPr>
        <p:txBody>
          <a:bodyPr vert="horz" wrap="square" lIns="0" tIns="10391" rIns="0" bIns="0" rtlCol="0">
            <a:spAutoFit/>
          </a:bodyPr>
          <a:lstStyle/>
          <a:p>
            <a:pPr marL="25977">
              <a:spcBef>
                <a:spcPts val="82"/>
              </a:spcBef>
            </a:pPr>
            <a:r>
              <a:rPr sz="1125" b="1" spc="-102" dirty="0">
                <a:latin typeface="Arial"/>
                <a:cs typeface="Arial"/>
              </a:rPr>
              <a:t>V</a:t>
            </a:r>
            <a:r>
              <a:rPr sz="1023" b="1" spc="-153" baseline="-33333" dirty="0">
                <a:latin typeface="Arial"/>
                <a:cs typeface="Arial"/>
              </a:rPr>
              <a:t>IN</a:t>
            </a:r>
            <a:r>
              <a:rPr sz="1125" b="1" spc="-102" dirty="0">
                <a:latin typeface="Arial"/>
                <a:cs typeface="Arial"/>
              </a:rPr>
              <a:t>=</a:t>
            </a:r>
            <a:r>
              <a:rPr sz="1125" b="1" spc="-37" dirty="0">
                <a:latin typeface="Arial"/>
                <a:cs typeface="Arial"/>
              </a:rPr>
              <a:t> </a:t>
            </a:r>
            <a:r>
              <a:rPr sz="1125" b="1" spc="-55" dirty="0">
                <a:latin typeface="Arial"/>
                <a:cs typeface="Arial"/>
              </a:rPr>
              <a:t>0.5V</a:t>
            </a:r>
            <a:endParaRPr sz="1125">
              <a:latin typeface="Arial"/>
              <a:cs typeface="Arial"/>
            </a:endParaRPr>
          </a:p>
        </p:txBody>
      </p:sp>
      <p:sp>
        <p:nvSpPr>
          <p:cNvPr id="114" name="object 114"/>
          <p:cNvSpPr txBox="1"/>
          <p:nvPr/>
        </p:nvSpPr>
        <p:spPr>
          <a:xfrm>
            <a:off x="2611002" y="3595441"/>
            <a:ext cx="87890" cy="113709"/>
          </a:xfrm>
          <a:prstGeom prst="rect">
            <a:avLst/>
          </a:prstGeom>
        </p:spPr>
        <p:txBody>
          <a:bodyPr vert="horz" wrap="square" lIns="0" tIns="8659" rIns="0" bIns="0" rtlCol="0">
            <a:spAutoFit/>
          </a:bodyPr>
          <a:lstStyle/>
          <a:p>
            <a:pPr marL="8659">
              <a:spcBef>
                <a:spcPts val="68"/>
              </a:spcBef>
            </a:pPr>
            <a:r>
              <a:rPr sz="682" b="1" spc="-51" dirty="0">
                <a:solidFill>
                  <a:srgbClr val="0000FF"/>
                </a:solidFill>
                <a:latin typeface="Arial"/>
                <a:cs typeface="Arial"/>
              </a:rPr>
              <a:t>IN</a:t>
            </a:r>
            <a:endParaRPr sz="682">
              <a:latin typeface="Arial"/>
              <a:cs typeface="Arial"/>
            </a:endParaRPr>
          </a:p>
        </p:txBody>
      </p:sp>
      <p:sp>
        <p:nvSpPr>
          <p:cNvPr id="115" name="object 115"/>
          <p:cNvSpPr txBox="1"/>
          <p:nvPr/>
        </p:nvSpPr>
        <p:spPr>
          <a:xfrm>
            <a:off x="2531929" y="3486935"/>
            <a:ext cx="414338" cy="183617"/>
          </a:xfrm>
          <a:prstGeom prst="rect">
            <a:avLst/>
          </a:prstGeom>
        </p:spPr>
        <p:txBody>
          <a:bodyPr vert="horz" wrap="square" lIns="0" tIns="10391" rIns="0" bIns="0" rtlCol="0">
            <a:spAutoFit/>
          </a:bodyPr>
          <a:lstStyle/>
          <a:p>
            <a:pPr marL="8659">
              <a:spcBef>
                <a:spcPts val="82"/>
              </a:spcBef>
            </a:pPr>
            <a:r>
              <a:rPr sz="1125" b="1" dirty="0">
                <a:solidFill>
                  <a:srgbClr val="0000FF"/>
                </a:solidFill>
                <a:latin typeface="Arial"/>
                <a:cs typeface="Arial"/>
              </a:rPr>
              <a:t>V</a:t>
            </a:r>
            <a:r>
              <a:rPr sz="1125" b="1" spc="112" dirty="0">
                <a:solidFill>
                  <a:srgbClr val="0000FF"/>
                </a:solidFill>
                <a:latin typeface="Arial"/>
                <a:cs typeface="Arial"/>
              </a:rPr>
              <a:t> </a:t>
            </a:r>
            <a:r>
              <a:rPr sz="1125" b="1" spc="-123" dirty="0">
                <a:solidFill>
                  <a:srgbClr val="0000FF"/>
                </a:solidFill>
                <a:latin typeface="Arial"/>
                <a:cs typeface="Arial"/>
              </a:rPr>
              <a:t>=</a:t>
            </a:r>
            <a:r>
              <a:rPr sz="1125" b="1" spc="-55" dirty="0">
                <a:solidFill>
                  <a:srgbClr val="0000FF"/>
                </a:solidFill>
                <a:latin typeface="Arial"/>
                <a:cs typeface="Arial"/>
              </a:rPr>
              <a:t> </a:t>
            </a:r>
            <a:r>
              <a:rPr sz="1125" b="1" spc="-99" dirty="0">
                <a:solidFill>
                  <a:srgbClr val="0000FF"/>
                </a:solidFill>
                <a:latin typeface="Arial"/>
                <a:cs typeface="Arial"/>
              </a:rPr>
              <a:t>1V</a:t>
            </a:r>
            <a:endParaRPr sz="1125">
              <a:latin typeface="Arial"/>
              <a:cs typeface="Arial"/>
            </a:endParaRPr>
          </a:p>
        </p:txBody>
      </p:sp>
      <p:sp>
        <p:nvSpPr>
          <p:cNvPr id="116" name="object 116"/>
          <p:cNvSpPr txBox="1"/>
          <p:nvPr/>
        </p:nvSpPr>
        <p:spPr>
          <a:xfrm>
            <a:off x="3480775" y="2479792"/>
            <a:ext cx="87890" cy="113709"/>
          </a:xfrm>
          <a:prstGeom prst="rect">
            <a:avLst/>
          </a:prstGeom>
        </p:spPr>
        <p:txBody>
          <a:bodyPr vert="horz" wrap="square" lIns="0" tIns="8659" rIns="0" bIns="0" rtlCol="0">
            <a:spAutoFit/>
          </a:bodyPr>
          <a:lstStyle/>
          <a:p>
            <a:pPr marL="8659">
              <a:spcBef>
                <a:spcPts val="68"/>
              </a:spcBef>
            </a:pPr>
            <a:r>
              <a:rPr sz="682" b="1" spc="-51" dirty="0">
                <a:solidFill>
                  <a:srgbClr val="0000FF"/>
                </a:solidFill>
                <a:latin typeface="Arial"/>
                <a:cs typeface="Arial"/>
              </a:rPr>
              <a:t>IN</a:t>
            </a:r>
            <a:endParaRPr sz="682">
              <a:latin typeface="Arial"/>
              <a:cs typeface="Arial"/>
            </a:endParaRPr>
          </a:p>
        </p:txBody>
      </p:sp>
      <p:sp>
        <p:nvSpPr>
          <p:cNvPr id="117" name="object 117"/>
          <p:cNvSpPr txBox="1"/>
          <p:nvPr/>
        </p:nvSpPr>
        <p:spPr>
          <a:xfrm>
            <a:off x="3401711" y="2371261"/>
            <a:ext cx="513051" cy="183617"/>
          </a:xfrm>
          <a:prstGeom prst="rect">
            <a:avLst/>
          </a:prstGeom>
        </p:spPr>
        <p:txBody>
          <a:bodyPr vert="horz" wrap="square" lIns="0" tIns="10391" rIns="0" bIns="0" rtlCol="0">
            <a:spAutoFit/>
          </a:bodyPr>
          <a:lstStyle/>
          <a:p>
            <a:pPr marL="8659">
              <a:spcBef>
                <a:spcPts val="82"/>
              </a:spcBef>
            </a:pPr>
            <a:r>
              <a:rPr sz="1125" b="1" dirty="0">
                <a:solidFill>
                  <a:srgbClr val="0000FF"/>
                </a:solidFill>
                <a:latin typeface="Arial"/>
                <a:cs typeface="Arial"/>
              </a:rPr>
              <a:t>V</a:t>
            </a:r>
            <a:r>
              <a:rPr sz="1125" b="1" spc="112" dirty="0">
                <a:solidFill>
                  <a:srgbClr val="0000FF"/>
                </a:solidFill>
                <a:latin typeface="Arial"/>
                <a:cs typeface="Arial"/>
              </a:rPr>
              <a:t> </a:t>
            </a:r>
            <a:r>
              <a:rPr sz="1125" b="1" spc="-123" dirty="0">
                <a:solidFill>
                  <a:srgbClr val="0000FF"/>
                </a:solidFill>
                <a:latin typeface="Arial"/>
                <a:cs typeface="Arial"/>
              </a:rPr>
              <a:t>=</a:t>
            </a:r>
            <a:r>
              <a:rPr sz="1125" b="1" spc="-55" dirty="0">
                <a:solidFill>
                  <a:srgbClr val="0000FF"/>
                </a:solidFill>
                <a:latin typeface="Arial"/>
                <a:cs typeface="Arial"/>
              </a:rPr>
              <a:t> </a:t>
            </a:r>
            <a:r>
              <a:rPr sz="1125" b="1" spc="-92" dirty="0">
                <a:solidFill>
                  <a:srgbClr val="0000FF"/>
                </a:solidFill>
                <a:latin typeface="Arial"/>
                <a:cs typeface="Arial"/>
              </a:rPr>
              <a:t>0.5V</a:t>
            </a:r>
            <a:endParaRPr sz="1125">
              <a:latin typeface="Arial"/>
              <a:cs typeface="Arial"/>
            </a:endParaRPr>
          </a:p>
        </p:txBody>
      </p:sp>
      <p:grpSp>
        <p:nvGrpSpPr>
          <p:cNvPr id="118" name="object 118"/>
          <p:cNvGrpSpPr/>
          <p:nvPr/>
        </p:nvGrpSpPr>
        <p:grpSpPr>
          <a:xfrm>
            <a:off x="2851136" y="1622851"/>
            <a:ext cx="342034" cy="93518"/>
            <a:chOff x="2854940" y="1970395"/>
            <a:chExt cx="501650" cy="137160"/>
          </a:xfrm>
        </p:grpSpPr>
        <p:sp>
          <p:nvSpPr>
            <p:cNvPr id="119" name="object 119"/>
            <p:cNvSpPr/>
            <p:nvPr/>
          </p:nvSpPr>
          <p:spPr>
            <a:xfrm>
              <a:off x="2874307" y="2038448"/>
              <a:ext cx="128270" cy="0"/>
            </a:xfrm>
            <a:custGeom>
              <a:avLst/>
              <a:gdLst/>
              <a:ahLst/>
              <a:cxnLst/>
              <a:rect l="l" t="t" r="r" b="b"/>
              <a:pathLst>
                <a:path w="128269">
                  <a:moveTo>
                    <a:pt x="0" y="0"/>
                  </a:moveTo>
                  <a:lnTo>
                    <a:pt x="127656" y="0"/>
                  </a:lnTo>
                </a:path>
              </a:pathLst>
            </a:custGeom>
            <a:ln w="38469">
              <a:solidFill>
                <a:srgbClr val="000000"/>
              </a:solidFill>
            </a:ln>
          </p:spPr>
          <p:txBody>
            <a:bodyPr wrap="square" lIns="0" tIns="0" rIns="0" bIns="0" rtlCol="0"/>
            <a:lstStyle/>
            <a:p>
              <a:endParaRPr sz="1227"/>
            </a:p>
          </p:txBody>
        </p:sp>
        <p:sp>
          <p:nvSpPr>
            <p:cNvPr id="120" name="object 120"/>
            <p:cNvSpPr/>
            <p:nvPr/>
          </p:nvSpPr>
          <p:spPr>
            <a:xfrm>
              <a:off x="3209070" y="2038447"/>
              <a:ext cx="128270" cy="0"/>
            </a:xfrm>
            <a:custGeom>
              <a:avLst/>
              <a:gdLst/>
              <a:ahLst/>
              <a:cxnLst/>
              <a:rect l="l" t="t" r="r" b="b"/>
              <a:pathLst>
                <a:path w="128270">
                  <a:moveTo>
                    <a:pt x="0" y="0"/>
                  </a:moveTo>
                  <a:lnTo>
                    <a:pt x="127656" y="0"/>
                  </a:lnTo>
                </a:path>
              </a:pathLst>
            </a:custGeom>
            <a:ln w="38469">
              <a:solidFill>
                <a:srgbClr val="000000"/>
              </a:solidFill>
            </a:ln>
          </p:spPr>
          <p:txBody>
            <a:bodyPr wrap="square" lIns="0" tIns="0" rIns="0" bIns="0" rtlCol="0"/>
            <a:lstStyle/>
            <a:p>
              <a:endParaRPr sz="1227"/>
            </a:p>
          </p:txBody>
        </p:sp>
        <p:sp>
          <p:nvSpPr>
            <p:cNvPr id="121" name="object 121"/>
            <p:cNvSpPr/>
            <p:nvPr/>
          </p:nvSpPr>
          <p:spPr>
            <a:xfrm>
              <a:off x="3057311" y="1991032"/>
              <a:ext cx="95885" cy="95885"/>
            </a:xfrm>
            <a:custGeom>
              <a:avLst/>
              <a:gdLst/>
              <a:ahLst/>
              <a:cxnLst/>
              <a:rect l="l" t="t" r="r" b="b"/>
              <a:pathLst>
                <a:path w="95885" h="95885">
                  <a:moveTo>
                    <a:pt x="0" y="0"/>
                  </a:moveTo>
                  <a:lnTo>
                    <a:pt x="95518" y="0"/>
                  </a:lnTo>
                  <a:lnTo>
                    <a:pt x="95518" y="95725"/>
                  </a:lnTo>
                  <a:lnTo>
                    <a:pt x="0" y="95725"/>
                  </a:lnTo>
                  <a:lnTo>
                    <a:pt x="0" y="0"/>
                  </a:lnTo>
                  <a:close/>
                </a:path>
              </a:pathLst>
            </a:custGeom>
            <a:ln w="41108">
              <a:solidFill>
                <a:srgbClr val="000000"/>
              </a:solidFill>
            </a:ln>
          </p:spPr>
          <p:txBody>
            <a:bodyPr wrap="square" lIns="0" tIns="0" rIns="0" bIns="0" rtlCol="0"/>
            <a:lstStyle/>
            <a:p>
              <a:endParaRPr sz="1227"/>
            </a:p>
          </p:txBody>
        </p:sp>
      </p:grpSp>
      <p:sp>
        <p:nvSpPr>
          <p:cNvPr id="122" name="object 122"/>
          <p:cNvSpPr txBox="1"/>
          <p:nvPr/>
        </p:nvSpPr>
        <p:spPr>
          <a:xfrm>
            <a:off x="3193210" y="1552018"/>
            <a:ext cx="1461655" cy="198888"/>
          </a:xfrm>
          <a:prstGeom prst="rect">
            <a:avLst/>
          </a:prstGeom>
        </p:spPr>
        <p:txBody>
          <a:bodyPr vert="horz" wrap="square" lIns="0" tIns="9957" rIns="0" bIns="0" rtlCol="0">
            <a:spAutoFit/>
          </a:bodyPr>
          <a:lstStyle/>
          <a:p>
            <a:pPr marL="25977">
              <a:spcBef>
                <a:spcPts val="78"/>
              </a:spcBef>
            </a:pPr>
            <a:r>
              <a:rPr sz="1227" b="1" spc="-109" dirty="0">
                <a:latin typeface="Arial"/>
                <a:cs typeface="Arial"/>
              </a:rPr>
              <a:t>V</a:t>
            </a:r>
            <a:r>
              <a:rPr sz="1125" b="1" spc="-164" baseline="-32828" dirty="0">
                <a:latin typeface="Arial"/>
                <a:cs typeface="Arial"/>
              </a:rPr>
              <a:t>IN</a:t>
            </a:r>
            <a:r>
              <a:rPr sz="1227" b="1" spc="-109" dirty="0">
                <a:latin typeface="Arial"/>
                <a:cs typeface="Arial"/>
              </a:rPr>
              <a:t>=1V,</a:t>
            </a:r>
            <a:r>
              <a:rPr sz="1227" b="1" spc="-55" dirty="0">
                <a:latin typeface="Arial"/>
                <a:cs typeface="Arial"/>
              </a:rPr>
              <a:t> </a:t>
            </a:r>
            <a:r>
              <a:rPr sz="1193" spc="-82" dirty="0">
                <a:latin typeface="Symbol"/>
                <a:cs typeface="Symbol"/>
              </a:rPr>
              <a:t></a:t>
            </a:r>
            <a:r>
              <a:rPr sz="1193" b="1" spc="-82" dirty="0">
                <a:latin typeface="Arial"/>
                <a:cs typeface="Arial"/>
              </a:rPr>
              <a:t>I</a:t>
            </a:r>
            <a:r>
              <a:rPr sz="1074" b="1" spc="-122" baseline="-34391" dirty="0">
                <a:latin typeface="Arial"/>
                <a:cs typeface="Arial"/>
              </a:rPr>
              <a:t>LOAD</a:t>
            </a:r>
            <a:r>
              <a:rPr sz="1193" b="1" spc="-82" dirty="0">
                <a:latin typeface="Arial"/>
                <a:cs typeface="Arial"/>
              </a:rPr>
              <a:t>=407.7mA</a:t>
            </a:r>
            <a:endParaRPr sz="1193">
              <a:latin typeface="Arial"/>
              <a:cs typeface="Arial"/>
            </a:endParaRPr>
          </a:p>
        </p:txBody>
      </p:sp>
      <p:grpSp>
        <p:nvGrpSpPr>
          <p:cNvPr id="123" name="object 123"/>
          <p:cNvGrpSpPr/>
          <p:nvPr/>
        </p:nvGrpSpPr>
        <p:grpSpPr>
          <a:xfrm>
            <a:off x="2851134" y="1854031"/>
            <a:ext cx="342034" cy="114300"/>
            <a:chOff x="2854937" y="2309459"/>
            <a:chExt cx="501650" cy="167640"/>
          </a:xfrm>
        </p:grpSpPr>
        <p:sp>
          <p:nvSpPr>
            <p:cNvPr id="124" name="object 124"/>
            <p:cNvSpPr/>
            <p:nvPr/>
          </p:nvSpPr>
          <p:spPr>
            <a:xfrm>
              <a:off x="2874305" y="2413298"/>
              <a:ext cx="128270" cy="0"/>
            </a:xfrm>
            <a:custGeom>
              <a:avLst/>
              <a:gdLst/>
              <a:ahLst/>
              <a:cxnLst/>
              <a:rect l="l" t="t" r="r" b="b"/>
              <a:pathLst>
                <a:path w="128269">
                  <a:moveTo>
                    <a:pt x="0" y="0"/>
                  </a:moveTo>
                  <a:lnTo>
                    <a:pt x="127656" y="0"/>
                  </a:lnTo>
                </a:path>
              </a:pathLst>
            </a:custGeom>
            <a:ln w="38469">
              <a:solidFill>
                <a:srgbClr val="000000"/>
              </a:solidFill>
            </a:ln>
          </p:spPr>
          <p:txBody>
            <a:bodyPr wrap="square" lIns="0" tIns="0" rIns="0" bIns="0" rtlCol="0"/>
            <a:lstStyle/>
            <a:p>
              <a:endParaRPr sz="1227"/>
            </a:p>
          </p:txBody>
        </p:sp>
        <p:sp>
          <p:nvSpPr>
            <p:cNvPr id="125" name="object 125"/>
            <p:cNvSpPr/>
            <p:nvPr/>
          </p:nvSpPr>
          <p:spPr>
            <a:xfrm>
              <a:off x="3209067" y="2413297"/>
              <a:ext cx="128270" cy="0"/>
            </a:xfrm>
            <a:custGeom>
              <a:avLst/>
              <a:gdLst/>
              <a:ahLst/>
              <a:cxnLst/>
              <a:rect l="l" t="t" r="r" b="b"/>
              <a:pathLst>
                <a:path w="128270">
                  <a:moveTo>
                    <a:pt x="0" y="0"/>
                  </a:moveTo>
                  <a:lnTo>
                    <a:pt x="127656" y="0"/>
                  </a:lnTo>
                </a:path>
              </a:pathLst>
            </a:custGeom>
            <a:ln w="38469">
              <a:solidFill>
                <a:srgbClr val="000000"/>
              </a:solidFill>
            </a:ln>
          </p:spPr>
          <p:txBody>
            <a:bodyPr wrap="square" lIns="0" tIns="0" rIns="0" bIns="0" rtlCol="0"/>
            <a:lstStyle/>
            <a:p>
              <a:endParaRPr sz="1227"/>
            </a:p>
          </p:txBody>
        </p:sp>
        <p:sp>
          <p:nvSpPr>
            <p:cNvPr id="126" name="object 126"/>
            <p:cNvSpPr/>
            <p:nvPr/>
          </p:nvSpPr>
          <p:spPr>
            <a:xfrm>
              <a:off x="3032313" y="2330097"/>
              <a:ext cx="146050" cy="126364"/>
            </a:xfrm>
            <a:custGeom>
              <a:avLst/>
              <a:gdLst/>
              <a:ahLst/>
              <a:cxnLst/>
              <a:rect l="l" t="t" r="r" b="b"/>
              <a:pathLst>
                <a:path w="146050" h="126364">
                  <a:moveTo>
                    <a:pt x="73201" y="0"/>
                  </a:moveTo>
                  <a:lnTo>
                    <a:pt x="145510" y="126143"/>
                  </a:lnTo>
                  <a:lnTo>
                    <a:pt x="0" y="126143"/>
                  </a:lnTo>
                  <a:lnTo>
                    <a:pt x="73201" y="0"/>
                  </a:lnTo>
                  <a:close/>
                </a:path>
              </a:pathLst>
            </a:custGeom>
            <a:ln w="41114">
              <a:solidFill>
                <a:srgbClr val="000000"/>
              </a:solidFill>
            </a:ln>
          </p:spPr>
          <p:txBody>
            <a:bodyPr wrap="square" lIns="0" tIns="0" rIns="0" bIns="0" rtlCol="0"/>
            <a:lstStyle/>
            <a:p>
              <a:endParaRPr sz="1227"/>
            </a:p>
          </p:txBody>
        </p:sp>
      </p:grpSp>
      <p:sp>
        <p:nvSpPr>
          <p:cNvPr id="127" name="object 127"/>
          <p:cNvSpPr txBox="1"/>
          <p:nvPr/>
        </p:nvSpPr>
        <p:spPr>
          <a:xfrm>
            <a:off x="3193209" y="1807596"/>
            <a:ext cx="1498456" cy="198888"/>
          </a:xfrm>
          <a:prstGeom prst="rect">
            <a:avLst/>
          </a:prstGeom>
        </p:spPr>
        <p:txBody>
          <a:bodyPr vert="horz" wrap="square" lIns="0" tIns="9957" rIns="0" bIns="0" rtlCol="0">
            <a:spAutoFit/>
          </a:bodyPr>
          <a:lstStyle/>
          <a:p>
            <a:pPr marL="25977">
              <a:spcBef>
                <a:spcPts val="78"/>
              </a:spcBef>
            </a:pPr>
            <a:r>
              <a:rPr sz="1227" b="1" spc="-106" dirty="0">
                <a:latin typeface="Arial"/>
                <a:cs typeface="Arial"/>
              </a:rPr>
              <a:t>V</a:t>
            </a:r>
            <a:r>
              <a:rPr sz="1125" b="1" spc="-158" baseline="-32828" dirty="0">
                <a:latin typeface="Arial"/>
                <a:cs typeface="Arial"/>
              </a:rPr>
              <a:t>IN</a:t>
            </a:r>
            <a:r>
              <a:rPr sz="1227" b="1" spc="-106" dirty="0">
                <a:latin typeface="Arial"/>
                <a:cs typeface="Arial"/>
              </a:rPr>
              <a:t>=0.5V,</a:t>
            </a:r>
            <a:r>
              <a:rPr sz="1227" b="1" spc="-51" dirty="0">
                <a:latin typeface="Arial"/>
                <a:cs typeface="Arial"/>
              </a:rPr>
              <a:t> </a:t>
            </a:r>
            <a:r>
              <a:rPr sz="1193" spc="-78" dirty="0">
                <a:latin typeface="Symbol"/>
                <a:cs typeface="Symbol"/>
              </a:rPr>
              <a:t></a:t>
            </a:r>
            <a:r>
              <a:rPr sz="1193" b="1" spc="-78" dirty="0">
                <a:latin typeface="Arial"/>
                <a:cs typeface="Arial"/>
              </a:rPr>
              <a:t>I</a:t>
            </a:r>
            <a:r>
              <a:rPr sz="1074" b="1" spc="-117" baseline="-34391" dirty="0">
                <a:latin typeface="Arial"/>
                <a:cs typeface="Arial"/>
              </a:rPr>
              <a:t>LOAD</a:t>
            </a:r>
            <a:r>
              <a:rPr sz="1193" b="1" spc="-78" dirty="0">
                <a:latin typeface="Arial"/>
                <a:cs typeface="Arial"/>
              </a:rPr>
              <a:t>=91.8mA</a:t>
            </a:r>
            <a:endParaRPr sz="1193">
              <a:latin typeface="Arial"/>
              <a:cs typeface="Arial"/>
            </a:endParaRPr>
          </a:p>
        </p:txBody>
      </p:sp>
      <p:sp>
        <p:nvSpPr>
          <p:cNvPr id="128" name="object 128"/>
          <p:cNvSpPr txBox="1"/>
          <p:nvPr/>
        </p:nvSpPr>
        <p:spPr>
          <a:xfrm>
            <a:off x="3058089" y="4155400"/>
            <a:ext cx="568469" cy="181431"/>
          </a:xfrm>
          <a:prstGeom prst="rect">
            <a:avLst/>
          </a:prstGeom>
        </p:spPr>
        <p:txBody>
          <a:bodyPr vert="horz" wrap="square" lIns="0" tIns="8226" rIns="0" bIns="0" rtlCol="0">
            <a:spAutoFit/>
          </a:bodyPr>
          <a:lstStyle/>
          <a:p>
            <a:pPr marL="25977">
              <a:spcBef>
                <a:spcPts val="65"/>
              </a:spcBef>
            </a:pPr>
            <a:r>
              <a:rPr sz="1125" b="1" spc="-82" dirty="0">
                <a:latin typeface="Arial"/>
                <a:cs typeface="Arial"/>
              </a:rPr>
              <a:t>T</a:t>
            </a:r>
            <a:r>
              <a:rPr sz="972" b="1" spc="-122" baseline="-35087" dirty="0">
                <a:latin typeface="Arial"/>
                <a:cs typeface="Arial"/>
              </a:rPr>
              <a:t>EDGE</a:t>
            </a:r>
            <a:r>
              <a:rPr sz="972" b="1" spc="76" baseline="-35087" dirty="0">
                <a:latin typeface="Arial"/>
                <a:cs typeface="Arial"/>
              </a:rPr>
              <a:t> </a:t>
            </a:r>
            <a:r>
              <a:rPr sz="1125" b="1" spc="-51" dirty="0">
                <a:latin typeface="Arial"/>
                <a:cs typeface="Arial"/>
              </a:rPr>
              <a:t>[ns]</a:t>
            </a:r>
            <a:endParaRPr sz="1125">
              <a:latin typeface="Arial"/>
              <a:cs typeface="Arial"/>
            </a:endParaRPr>
          </a:p>
        </p:txBody>
      </p:sp>
      <p:sp>
        <p:nvSpPr>
          <p:cNvPr id="129" name="object 129"/>
          <p:cNvSpPr txBox="1"/>
          <p:nvPr/>
        </p:nvSpPr>
        <p:spPr>
          <a:xfrm>
            <a:off x="1447296" y="2533018"/>
            <a:ext cx="166712" cy="645102"/>
          </a:xfrm>
          <a:prstGeom prst="rect">
            <a:avLst/>
          </a:prstGeom>
        </p:spPr>
        <p:txBody>
          <a:bodyPr vert="vert270" wrap="square" lIns="0" tIns="0" rIns="0" bIns="0" rtlCol="0">
            <a:spAutoFit/>
          </a:bodyPr>
          <a:lstStyle/>
          <a:p>
            <a:pPr marL="8659">
              <a:lnSpc>
                <a:spcPts val="1343"/>
              </a:lnSpc>
            </a:pPr>
            <a:r>
              <a:rPr sz="1125" b="1" spc="-82" dirty="0">
                <a:latin typeface="Arial"/>
                <a:cs typeface="Arial"/>
              </a:rPr>
              <a:t>V</a:t>
            </a:r>
            <a:r>
              <a:rPr sz="972" b="1" spc="-122" baseline="-35087" dirty="0">
                <a:latin typeface="Arial"/>
                <a:cs typeface="Arial"/>
              </a:rPr>
              <a:t>DROOP</a:t>
            </a:r>
            <a:r>
              <a:rPr sz="972" b="1" spc="71" baseline="-35087" dirty="0">
                <a:latin typeface="Arial"/>
                <a:cs typeface="Arial"/>
              </a:rPr>
              <a:t> </a:t>
            </a:r>
            <a:r>
              <a:rPr sz="1125" b="1" spc="-102" dirty="0">
                <a:latin typeface="Arial"/>
                <a:cs typeface="Arial"/>
              </a:rPr>
              <a:t>[mV]</a:t>
            </a:r>
            <a:endParaRPr sz="1125">
              <a:latin typeface="Arial"/>
              <a:cs typeface="Arial"/>
            </a:endParaRPr>
          </a:p>
        </p:txBody>
      </p:sp>
      <p:sp>
        <p:nvSpPr>
          <p:cNvPr id="130" name="object 130"/>
          <p:cNvSpPr txBox="1"/>
          <p:nvPr/>
        </p:nvSpPr>
        <p:spPr>
          <a:xfrm>
            <a:off x="1938766" y="1199449"/>
            <a:ext cx="1219200" cy="382681"/>
          </a:xfrm>
          <a:prstGeom prst="rect">
            <a:avLst/>
          </a:prstGeom>
        </p:spPr>
        <p:txBody>
          <a:bodyPr vert="horz" wrap="square" lIns="0" tIns="23380" rIns="0" bIns="0" rtlCol="0">
            <a:spAutoFit/>
          </a:bodyPr>
          <a:lstStyle/>
          <a:p>
            <a:pPr marL="75765" marR="20781" indent="-50221">
              <a:lnSpc>
                <a:spcPts val="1377"/>
              </a:lnSpc>
              <a:spcBef>
                <a:spcPts val="184"/>
              </a:spcBef>
            </a:pPr>
            <a:r>
              <a:rPr sz="1193" b="1" spc="-78" dirty="0">
                <a:latin typeface="Arial"/>
                <a:cs typeface="Arial"/>
              </a:rPr>
              <a:t>*</a:t>
            </a:r>
            <a:r>
              <a:rPr sz="1193" b="1" spc="-51" dirty="0">
                <a:latin typeface="Arial"/>
                <a:cs typeface="Arial"/>
              </a:rPr>
              <a:t> </a:t>
            </a:r>
            <a:r>
              <a:rPr sz="1193" b="1" spc="-65" dirty="0">
                <a:latin typeface="Arial"/>
                <a:cs typeface="Arial"/>
              </a:rPr>
              <a:t>measurement </a:t>
            </a:r>
            <a:r>
              <a:rPr sz="1193" b="1" spc="-126" dirty="0">
                <a:latin typeface="Arial"/>
                <a:cs typeface="Arial"/>
              </a:rPr>
              <a:t>Dropout</a:t>
            </a:r>
            <a:r>
              <a:rPr sz="1125" spc="-126" dirty="0">
                <a:latin typeface="Arial MT"/>
                <a:cs typeface="Arial MT"/>
              </a:rPr>
              <a:t>=</a:t>
            </a:r>
            <a:r>
              <a:rPr sz="1193" b="1" spc="-126" dirty="0">
                <a:latin typeface="Arial"/>
                <a:cs typeface="Arial"/>
              </a:rPr>
              <a:t>10%</a:t>
            </a:r>
            <a:r>
              <a:rPr sz="1193" b="1" spc="-31" dirty="0">
                <a:latin typeface="Arial"/>
                <a:cs typeface="Arial"/>
              </a:rPr>
              <a:t> </a:t>
            </a:r>
            <a:r>
              <a:rPr sz="1193" dirty="0">
                <a:latin typeface="Symbol"/>
                <a:cs typeface="Symbol"/>
              </a:rPr>
              <a:t></a:t>
            </a:r>
            <a:r>
              <a:rPr sz="1193" spc="10" dirty="0">
                <a:latin typeface="Times New Roman"/>
                <a:cs typeface="Times New Roman"/>
              </a:rPr>
              <a:t> </a:t>
            </a:r>
            <a:r>
              <a:rPr sz="1193" b="1" spc="-72" dirty="0">
                <a:latin typeface="Arial"/>
                <a:cs typeface="Arial"/>
              </a:rPr>
              <a:t>V</a:t>
            </a:r>
            <a:r>
              <a:rPr sz="1074" b="1" spc="-107" baseline="-34391" dirty="0">
                <a:latin typeface="Arial"/>
                <a:cs typeface="Arial"/>
              </a:rPr>
              <a:t>IN</a:t>
            </a:r>
            <a:endParaRPr sz="1074" baseline="-34391">
              <a:latin typeface="Arial"/>
              <a:cs typeface="Arial"/>
            </a:endParaRPr>
          </a:p>
        </p:txBody>
      </p:sp>
      <p:sp>
        <p:nvSpPr>
          <p:cNvPr id="131" name="object 131"/>
          <p:cNvSpPr txBox="1"/>
          <p:nvPr/>
        </p:nvSpPr>
        <p:spPr>
          <a:xfrm>
            <a:off x="4775391" y="3762574"/>
            <a:ext cx="82261" cy="180993"/>
          </a:xfrm>
          <a:prstGeom prst="rect">
            <a:avLst/>
          </a:prstGeom>
        </p:spPr>
        <p:txBody>
          <a:bodyPr vert="horz" wrap="square" lIns="0" tIns="7793" rIns="0" bIns="0" rtlCol="0">
            <a:spAutoFit/>
          </a:bodyPr>
          <a:lstStyle/>
          <a:p>
            <a:pPr marL="8659">
              <a:spcBef>
                <a:spcPts val="61"/>
              </a:spcBef>
            </a:pPr>
            <a:r>
              <a:rPr sz="1125" b="1" spc="-82" dirty="0">
                <a:solidFill>
                  <a:srgbClr val="0000FF"/>
                </a:solidFill>
                <a:latin typeface="Arial"/>
                <a:cs typeface="Arial"/>
              </a:rPr>
              <a:t>0</a:t>
            </a:r>
            <a:endParaRPr sz="1125">
              <a:latin typeface="Arial"/>
              <a:cs typeface="Arial"/>
            </a:endParaRPr>
          </a:p>
        </p:txBody>
      </p:sp>
      <p:sp>
        <p:nvSpPr>
          <p:cNvPr id="132" name="object 132"/>
          <p:cNvSpPr txBox="1"/>
          <p:nvPr/>
        </p:nvSpPr>
        <p:spPr>
          <a:xfrm>
            <a:off x="4775391" y="3017839"/>
            <a:ext cx="82261" cy="180993"/>
          </a:xfrm>
          <a:prstGeom prst="rect">
            <a:avLst/>
          </a:prstGeom>
        </p:spPr>
        <p:txBody>
          <a:bodyPr vert="horz" wrap="square" lIns="0" tIns="7793" rIns="0" bIns="0" rtlCol="0">
            <a:spAutoFit/>
          </a:bodyPr>
          <a:lstStyle/>
          <a:p>
            <a:pPr marL="8659">
              <a:spcBef>
                <a:spcPts val="61"/>
              </a:spcBef>
            </a:pPr>
            <a:r>
              <a:rPr sz="1125" b="1" spc="-82" dirty="0">
                <a:solidFill>
                  <a:srgbClr val="0000FF"/>
                </a:solidFill>
                <a:latin typeface="Arial"/>
                <a:cs typeface="Arial"/>
              </a:rPr>
              <a:t>1</a:t>
            </a:r>
            <a:endParaRPr sz="1125">
              <a:latin typeface="Arial"/>
              <a:cs typeface="Arial"/>
            </a:endParaRPr>
          </a:p>
        </p:txBody>
      </p:sp>
      <p:sp>
        <p:nvSpPr>
          <p:cNvPr id="133" name="object 133"/>
          <p:cNvSpPr txBox="1"/>
          <p:nvPr/>
        </p:nvSpPr>
        <p:spPr>
          <a:xfrm>
            <a:off x="4775391" y="2272392"/>
            <a:ext cx="82261" cy="180993"/>
          </a:xfrm>
          <a:prstGeom prst="rect">
            <a:avLst/>
          </a:prstGeom>
        </p:spPr>
        <p:txBody>
          <a:bodyPr vert="horz" wrap="square" lIns="0" tIns="7793" rIns="0" bIns="0" rtlCol="0">
            <a:spAutoFit/>
          </a:bodyPr>
          <a:lstStyle/>
          <a:p>
            <a:pPr marL="8659">
              <a:spcBef>
                <a:spcPts val="61"/>
              </a:spcBef>
            </a:pPr>
            <a:r>
              <a:rPr sz="1125" b="1" spc="-82" dirty="0">
                <a:solidFill>
                  <a:srgbClr val="0000FF"/>
                </a:solidFill>
                <a:latin typeface="Arial"/>
                <a:cs typeface="Arial"/>
              </a:rPr>
              <a:t>2</a:t>
            </a:r>
            <a:endParaRPr sz="1125">
              <a:latin typeface="Arial"/>
              <a:cs typeface="Arial"/>
            </a:endParaRPr>
          </a:p>
        </p:txBody>
      </p:sp>
      <p:sp>
        <p:nvSpPr>
          <p:cNvPr id="134" name="object 134"/>
          <p:cNvSpPr txBox="1"/>
          <p:nvPr/>
        </p:nvSpPr>
        <p:spPr>
          <a:xfrm>
            <a:off x="4775391" y="1527657"/>
            <a:ext cx="82261" cy="180993"/>
          </a:xfrm>
          <a:prstGeom prst="rect">
            <a:avLst/>
          </a:prstGeom>
        </p:spPr>
        <p:txBody>
          <a:bodyPr vert="horz" wrap="square" lIns="0" tIns="7793" rIns="0" bIns="0" rtlCol="0">
            <a:spAutoFit/>
          </a:bodyPr>
          <a:lstStyle/>
          <a:p>
            <a:pPr marL="8659">
              <a:spcBef>
                <a:spcPts val="61"/>
              </a:spcBef>
            </a:pPr>
            <a:r>
              <a:rPr sz="1125" b="1" spc="-82" dirty="0">
                <a:solidFill>
                  <a:srgbClr val="0000FF"/>
                </a:solidFill>
                <a:latin typeface="Arial"/>
                <a:cs typeface="Arial"/>
              </a:rPr>
              <a:t>3</a:t>
            </a:r>
            <a:endParaRPr sz="1125">
              <a:latin typeface="Arial"/>
              <a:cs typeface="Arial"/>
            </a:endParaRPr>
          </a:p>
        </p:txBody>
      </p:sp>
      <p:grpSp>
        <p:nvGrpSpPr>
          <p:cNvPr id="135" name="object 135"/>
          <p:cNvGrpSpPr/>
          <p:nvPr/>
        </p:nvGrpSpPr>
        <p:grpSpPr>
          <a:xfrm>
            <a:off x="2190543" y="1624415"/>
            <a:ext cx="2564389" cy="2261321"/>
            <a:chOff x="1886069" y="1972688"/>
            <a:chExt cx="3761104" cy="3316604"/>
          </a:xfrm>
        </p:grpSpPr>
        <p:sp>
          <p:nvSpPr>
            <p:cNvPr id="136" name="object 136"/>
            <p:cNvSpPr/>
            <p:nvPr/>
          </p:nvSpPr>
          <p:spPr>
            <a:xfrm>
              <a:off x="5585436" y="5269865"/>
              <a:ext cx="61594" cy="0"/>
            </a:xfrm>
            <a:custGeom>
              <a:avLst/>
              <a:gdLst/>
              <a:ahLst/>
              <a:cxnLst/>
              <a:rect l="l" t="t" r="r" b="b"/>
              <a:pathLst>
                <a:path w="61595">
                  <a:moveTo>
                    <a:pt x="61596" y="0"/>
                  </a:moveTo>
                  <a:lnTo>
                    <a:pt x="0" y="0"/>
                  </a:lnTo>
                </a:path>
              </a:pathLst>
            </a:custGeom>
            <a:ln w="38469">
              <a:solidFill>
                <a:srgbClr val="0000FF"/>
              </a:solidFill>
            </a:ln>
          </p:spPr>
          <p:txBody>
            <a:bodyPr wrap="square" lIns="0" tIns="0" rIns="0" bIns="0" rtlCol="0"/>
            <a:lstStyle/>
            <a:p>
              <a:endParaRPr sz="1227"/>
            </a:p>
          </p:txBody>
        </p:sp>
        <p:sp>
          <p:nvSpPr>
            <p:cNvPr id="137" name="object 137"/>
            <p:cNvSpPr/>
            <p:nvPr/>
          </p:nvSpPr>
          <p:spPr>
            <a:xfrm>
              <a:off x="5585436" y="4723243"/>
              <a:ext cx="31750" cy="0"/>
            </a:xfrm>
            <a:custGeom>
              <a:avLst/>
              <a:gdLst/>
              <a:ahLst/>
              <a:cxnLst/>
              <a:rect l="l" t="t" r="r" b="b"/>
              <a:pathLst>
                <a:path w="31750">
                  <a:moveTo>
                    <a:pt x="31244" y="0"/>
                  </a:moveTo>
                  <a:lnTo>
                    <a:pt x="0" y="0"/>
                  </a:lnTo>
                </a:path>
              </a:pathLst>
            </a:custGeom>
            <a:ln w="38469">
              <a:solidFill>
                <a:srgbClr val="0000FF"/>
              </a:solidFill>
            </a:ln>
          </p:spPr>
          <p:txBody>
            <a:bodyPr wrap="square" lIns="0" tIns="0" rIns="0" bIns="0" rtlCol="0"/>
            <a:lstStyle/>
            <a:p>
              <a:endParaRPr sz="1227"/>
            </a:p>
          </p:txBody>
        </p:sp>
        <p:sp>
          <p:nvSpPr>
            <p:cNvPr id="138" name="object 138"/>
            <p:cNvSpPr/>
            <p:nvPr/>
          </p:nvSpPr>
          <p:spPr>
            <a:xfrm>
              <a:off x="5585436" y="4177516"/>
              <a:ext cx="61594" cy="0"/>
            </a:xfrm>
            <a:custGeom>
              <a:avLst/>
              <a:gdLst/>
              <a:ahLst/>
              <a:cxnLst/>
              <a:rect l="l" t="t" r="r" b="b"/>
              <a:pathLst>
                <a:path w="61595">
                  <a:moveTo>
                    <a:pt x="61596" y="0"/>
                  </a:moveTo>
                  <a:lnTo>
                    <a:pt x="0" y="0"/>
                  </a:lnTo>
                </a:path>
              </a:pathLst>
            </a:custGeom>
            <a:ln w="38469">
              <a:solidFill>
                <a:srgbClr val="0000FF"/>
              </a:solidFill>
            </a:ln>
          </p:spPr>
          <p:txBody>
            <a:bodyPr wrap="square" lIns="0" tIns="0" rIns="0" bIns="0" rtlCol="0"/>
            <a:lstStyle/>
            <a:p>
              <a:endParaRPr sz="1227"/>
            </a:p>
          </p:txBody>
        </p:sp>
        <p:sp>
          <p:nvSpPr>
            <p:cNvPr id="139" name="object 139"/>
            <p:cNvSpPr/>
            <p:nvPr/>
          </p:nvSpPr>
          <p:spPr>
            <a:xfrm>
              <a:off x="5585436" y="3630894"/>
              <a:ext cx="31750" cy="0"/>
            </a:xfrm>
            <a:custGeom>
              <a:avLst/>
              <a:gdLst/>
              <a:ahLst/>
              <a:cxnLst/>
              <a:rect l="l" t="t" r="r" b="b"/>
              <a:pathLst>
                <a:path w="31750">
                  <a:moveTo>
                    <a:pt x="31244" y="0"/>
                  </a:moveTo>
                  <a:lnTo>
                    <a:pt x="0" y="0"/>
                  </a:lnTo>
                </a:path>
              </a:pathLst>
            </a:custGeom>
            <a:ln w="38469">
              <a:solidFill>
                <a:srgbClr val="0000FF"/>
              </a:solidFill>
            </a:ln>
          </p:spPr>
          <p:txBody>
            <a:bodyPr wrap="square" lIns="0" tIns="0" rIns="0" bIns="0" rtlCol="0"/>
            <a:lstStyle/>
            <a:p>
              <a:endParaRPr sz="1227"/>
            </a:p>
          </p:txBody>
        </p:sp>
        <p:sp>
          <p:nvSpPr>
            <p:cNvPr id="140" name="object 140"/>
            <p:cNvSpPr/>
            <p:nvPr/>
          </p:nvSpPr>
          <p:spPr>
            <a:xfrm>
              <a:off x="5585436" y="3084272"/>
              <a:ext cx="61594" cy="0"/>
            </a:xfrm>
            <a:custGeom>
              <a:avLst/>
              <a:gdLst/>
              <a:ahLst/>
              <a:cxnLst/>
              <a:rect l="l" t="t" r="r" b="b"/>
              <a:pathLst>
                <a:path w="61595">
                  <a:moveTo>
                    <a:pt x="61596" y="0"/>
                  </a:moveTo>
                  <a:lnTo>
                    <a:pt x="0" y="0"/>
                  </a:lnTo>
                </a:path>
              </a:pathLst>
            </a:custGeom>
            <a:ln w="38469">
              <a:solidFill>
                <a:srgbClr val="0000FF"/>
              </a:solidFill>
            </a:ln>
          </p:spPr>
          <p:txBody>
            <a:bodyPr wrap="square" lIns="0" tIns="0" rIns="0" bIns="0" rtlCol="0"/>
            <a:lstStyle/>
            <a:p>
              <a:endParaRPr sz="1227"/>
            </a:p>
          </p:txBody>
        </p:sp>
        <p:sp>
          <p:nvSpPr>
            <p:cNvPr id="141" name="object 141"/>
            <p:cNvSpPr/>
            <p:nvPr/>
          </p:nvSpPr>
          <p:spPr>
            <a:xfrm>
              <a:off x="5585436" y="2538544"/>
              <a:ext cx="31750" cy="0"/>
            </a:xfrm>
            <a:custGeom>
              <a:avLst/>
              <a:gdLst/>
              <a:ahLst/>
              <a:cxnLst/>
              <a:rect l="l" t="t" r="r" b="b"/>
              <a:pathLst>
                <a:path w="31750">
                  <a:moveTo>
                    <a:pt x="31244" y="0"/>
                  </a:moveTo>
                  <a:lnTo>
                    <a:pt x="0" y="0"/>
                  </a:lnTo>
                </a:path>
              </a:pathLst>
            </a:custGeom>
            <a:ln w="38469">
              <a:solidFill>
                <a:srgbClr val="0000FF"/>
              </a:solidFill>
            </a:ln>
          </p:spPr>
          <p:txBody>
            <a:bodyPr wrap="square" lIns="0" tIns="0" rIns="0" bIns="0" rtlCol="0"/>
            <a:lstStyle/>
            <a:p>
              <a:endParaRPr sz="1227"/>
            </a:p>
          </p:txBody>
        </p:sp>
        <p:sp>
          <p:nvSpPr>
            <p:cNvPr id="142" name="object 142"/>
            <p:cNvSpPr/>
            <p:nvPr/>
          </p:nvSpPr>
          <p:spPr>
            <a:xfrm>
              <a:off x="5585436" y="1991922"/>
              <a:ext cx="61594" cy="0"/>
            </a:xfrm>
            <a:custGeom>
              <a:avLst/>
              <a:gdLst/>
              <a:ahLst/>
              <a:cxnLst/>
              <a:rect l="l" t="t" r="r" b="b"/>
              <a:pathLst>
                <a:path w="61595">
                  <a:moveTo>
                    <a:pt x="61596" y="0"/>
                  </a:moveTo>
                  <a:lnTo>
                    <a:pt x="0" y="0"/>
                  </a:lnTo>
                </a:path>
              </a:pathLst>
            </a:custGeom>
            <a:ln w="38469">
              <a:solidFill>
                <a:srgbClr val="0000FF"/>
              </a:solidFill>
            </a:ln>
          </p:spPr>
          <p:txBody>
            <a:bodyPr wrap="square" lIns="0" tIns="0" rIns="0" bIns="0" rtlCol="0"/>
            <a:lstStyle/>
            <a:p>
              <a:endParaRPr sz="1227"/>
            </a:p>
          </p:txBody>
        </p:sp>
        <p:sp>
          <p:nvSpPr>
            <p:cNvPr id="143" name="object 143"/>
            <p:cNvSpPr/>
            <p:nvPr/>
          </p:nvSpPr>
          <p:spPr>
            <a:xfrm>
              <a:off x="5585436" y="1991922"/>
              <a:ext cx="0" cy="3278504"/>
            </a:xfrm>
            <a:custGeom>
              <a:avLst/>
              <a:gdLst/>
              <a:ahLst/>
              <a:cxnLst/>
              <a:rect l="l" t="t" r="r" b="b"/>
              <a:pathLst>
                <a:path h="3278504">
                  <a:moveTo>
                    <a:pt x="0" y="3277937"/>
                  </a:moveTo>
                  <a:lnTo>
                    <a:pt x="0" y="0"/>
                  </a:lnTo>
                </a:path>
              </a:pathLst>
            </a:custGeom>
            <a:ln w="38386">
              <a:solidFill>
                <a:srgbClr val="0000FF"/>
              </a:solidFill>
            </a:ln>
          </p:spPr>
          <p:txBody>
            <a:bodyPr wrap="square" lIns="0" tIns="0" rIns="0" bIns="0" rtlCol="0"/>
            <a:lstStyle/>
            <a:p>
              <a:endParaRPr sz="1227"/>
            </a:p>
          </p:txBody>
        </p:sp>
        <p:sp>
          <p:nvSpPr>
            <p:cNvPr id="144" name="object 144"/>
            <p:cNvSpPr/>
            <p:nvPr/>
          </p:nvSpPr>
          <p:spPr>
            <a:xfrm>
              <a:off x="3746475" y="3417072"/>
              <a:ext cx="278130" cy="421005"/>
            </a:xfrm>
            <a:custGeom>
              <a:avLst/>
              <a:gdLst/>
              <a:ahLst/>
              <a:cxnLst/>
              <a:rect l="l" t="t" r="r" b="b"/>
              <a:pathLst>
                <a:path w="278129" h="421004">
                  <a:moveTo>
                    <a:pt x="195501" y="420477"/>
                  </a:moveTo>
                  <a:lnTo>
                    <a:pt x="146402" y="407952"/>
                  </a:lnTo>
                  <a:lnTo>
                    <a:pt x="105338" y="391849"/>
                  </a:lnTo>
                  <a:lnTo>
                    <a:pt x="70523" y="372167"/>
                  </a:lnTo>
                  <a:lnTo>
                    <a:pt x="23210" y="325646"/>
                  </a:lnTo>
                  <a:lnTo>
                    <a:pt x="1785" y="271074"/>
                  </a:lnTo>
                  <a:lnTo>
                    <a:pt x="0" y="242445"/>
                  </a:lnTo>
                  <a:lnTo>
                    <a:pt x="3570" y="213817"/>
                  </a:lnTo>
                  <a:lnTo>
                    <a:pt x="26780" y="155666"/>
                  </a:lnTo>
                  <a:lnTo>
                    <a:pt x="67845" y="101988"/>
                  </a:lnTo>
                  <a:lnTo>
                    <a:pt x="124977" y="55467"/>
                  </a:lnTo>
                  <a:lnTo>
                    <a:pt x="158900" y="36679"/>
                  </a:lnTo>
                  <a:lnTo>
                    <a:pt x="195501" y="20576"/>
                  </a:lnTo>
                  <a:lnTo>
                    <a:pt x="235672" y="8051"/>
                  </a:lnTo>
                  <a:lnTo>
                    <a:pt x="277629" y="0"/>
                  </a:lnTo>
                </a:path>
              </a:pathLst>
            </a:custGeom>
            <a:ln w="23225">
              <a:solidFill>
                <a:srgbClr val="0000FF"/>
              </a:solidFill>
            </a:ln>
          </p:spPr>
          <p:txBody>
            <a:bodyPr wrap="square" lIns="0" tIns="0" rIns="0" bIns="0" rtlCol="0"/>
            <a:lstStyle/>
            <a:p>
              <a:endParaRPr sz="1227"/>
            </a:p>
          </p:txBody>
        </p:sp>
        <p:pic>
          <p:nvPicPr>
            <p:cNvPr id="145" name="object 145"/>
            <p:cNvPicPr/>
            <p:nvPr/>
          </p:nvPicPr>
          <p:blipFill>
            <a:blip r:embed="rId4" cstate="print"/>
            <a:stretch>
              <a:fillRect/>
            </a:stretch>
          </p:blipFill>
          <p:spPr>
            <a:xfrm>
              <a:off x="3893750" y="3399184"/>
              <a:ext cx="141980" cy="79613"/>
            </a:xfrm>
            <a:prstGeom prst="rect">
              <a:avLst/>
            </a:prstGeom>
          </p:spPr>
        </p:pic>
        <p:sp>
          <p:nvSpPr>
            <p:cNvPr id="146" name="object 146"/>
            <p:cNvSpPr/>
            <p:nvPr/>
          </p:nvSpPr>
          <p:spPr>
            <a:xfrm>
              <a:off x="2138723" y="2940231"/>
              <a:ext cx="386715" cy="259079"/>
            </a:xfrm>
            <a:custGeom>
              <a:avLst/>
              <a:gdLst/>
              <a:ahLst/>
              <a:cxnLst/>
              <a:rect l="l" t="t" r="r" b="b"/>
              <a:pathLst>
                <a:path w="386714" h="259080">
                  <a:moveTo>
                    <a:pt x="319586" y="0"/>
                  </a:moveTo>
                  <a:lnTo>
                    <a:pt x="347260" y="17892"/>
                  </a:lnTo>
                  <a:lnTo>
                    <a:pt x="366899" y="35785"/>
                  </a:lnTo>
                  <a:lnTo>
                    <a:pt x="380290" y="54572"/>
                  </a:lnTo>
                  <a:lnTo>
                    <a:pt x="386538" y="73359"/>
                  </a:lnTo>
                  <a:lnTo>
                    <a:pt x="386538" y="91252"/>
                  </a:lnTo>
                  <a:lnTo>
                    <a:pt x="371363" y="127932"/>
                  </a:lnTo>
                  <a:lnTo>
                    <a:pt x="337440" y="162823"/>
                  </a:lnTo>
                  <a:lnTo>
                    <a:pt x="286556" y="194135"/>
                  </a:lnTo>
                  <a:lnTo>
                    <a:pt x="224960" y="220079"/>
                  </a:lnTo>
                  <a:lnTo>
                    <a:pt x="153544" y="240656"/>
                  </a:lnTo>
                  <a:lnTo>
                    <a:pt x="116050" y="248708"/>
                  </a:lnTo>
                  <a:lnTo>
                    <a:pt x="77664" y="254075"/>
                  </a:lnTo>
                  <a:lnTo>
                    <a:pt x="39278" y="257654"/>
                  </a:lnTo>
                  <a:lnTo>
                    <a:pt x="0" y="258549"/>
                  </a:lnTo>
                </a:path>
              </a:pathLst>
            </a:custGeom>
            <a:ln w="23244">
              <a:solidFill>
                <a:srgbClr val="000000"/>
              </a:solidFill>
            </a:ln>
          </p:spPr>
          <p:txBody>
            <a:bodyPr wrap="square" lIns="0" tIns="0" rIns="0" bIns="0" rtlCol="0"/>
            <a:lstStyle/>
            <a:p>
              <a:endParaRPr sz="1227"/>
            </a:p>
          </p:txBody>
        </p:sp>
        <p:pic>
          <p:nvPicPr>
            <p:cNvPr id="147" name="object 147"/>
            <p:cNvPicPr/>
            <p:nvPr/>
          </p:nvPicPr>
          <p:blipFill>
            <a:blip r:embed="rId5" cstate="print"/>
            <a:stretch>
              <a:fillRect/>
            </a:stretch>
          </p:blipFill>
          <p:spPr>
            <a:xfrm>
              <a:off x="2127098" y="3155842"/>
              <a:ext cx="139301" cy="80507"/>
            </a:xfrm>
            <a:prstGeom prst="rect">
              <a:avLst/>
            </a:prstGeom>
          </p:spPr>
        </p:pic>
        <p:sp>
          <p:nvSpPr>
            <p:cNvPr id="148" name="object 148"/>
            <p:cNvSpPr/>
            <p:nvPr/>
          </p:nvSpPr>
          <p:spPr>
            <a:xfrm>
              <a:off x="1897694" y="3372338"/>
              <a:ext cx="386715" cy="259079"/>
            </a:xfrm>
            <a:custGeom>
              <a:avLst/>
              <a:gdLst/>
              <a:ahLst/>
              <a:cxnLst/>
              <a:rect l="l" t="t" r="r" b="b"/>
              <a:pathLst>
                <a:path w="386714" h="259079">
                  <a:moveTo>
                    <a:pt x="319586" y="0"/>
                  </a:moveTo>
                  <a:lnTo>
                    <a:pt x="347260" y="17892"/>
                  </a:lnTo>
                  <a:lnTo>
                    <a:pt x="366899" y="35785"/>
                  </a:lnTo>
                  <a:lnTo>
                    <a:pt x="380290" y="54572"/>
                  </a:lnTo>
                  <a:lnTo>
                    <a:pt x="386538" y="73359"/>
                  </a:lnTo>
                  <a:lnTo>
                    <a:pt x="386538" y="91252"/>
                  </a:lnTo>
                  <a:lnTo>
                    <a:pt x="371363" y="127932"/>
                  </a:lnTo>
                  <a:lnTo>
                    <a:pt x="337440" y="162823"/>
                  </a:lnTo>
                  <a:lnTo>
                    <a:pt x="286556" y="194135"/>
                  </a:lnTo>
                  <a:lnTo>
                    <a:pt x="224960" y="220079"/>
                  </a:lnTo>
                  <a:lnTo>
                    <a:pt x="153544" y="240656"/>
                  </a:lnTo>
                  <a:lnTo>
                    <a:pt x="116050" y="248708"/>
                  </a:lnTo>
                  <a:lnTo>
                    <a:pt x="77664" y="254075"/>
                  </a:lnTo>
                  <a:lnTo>
                    <a:pt x="39278" y="257654"/>
                  </a:lnTo>
                  <a:lnTo>
                    <a:pt x="0" y="258549"/>
                  </a:lnTo>
                </a:path>
              </a:pathLst>
            </a:custGeom>
            <a:ln w="23244">
              <a:solidFill>
                <a:srgbClr val="000000"/>
              </a:solidFill>
            </a:ln>
          </p:spPr>
          <p:txBody>
            <a:bodyPr wrap="square" lIns="0" tIns="0" rIns="0" bIns="0" rtlCol="0"/>
            <a:lstStyle/>
            <a:p>
              <a:endParaRPr sz="1227"/>
            </a:p>
          </p:txBody>
        </p:sp>
        <p:pic>
          <p:nvPicPr>
            <p:cNvPr id="149" name="object 149"/>
            <p:cNvPicPr/>
            <p:nvPr/>
          </p:nvPicPr>
          <p:blipFill>
            <a:blip r:embed="rId5" cstate="print"/>
            <a:stretch>
              <a:fillRect/>
            </a:stretch>
          </p:blipFill>
          <p:spPr>
            <a:xfrm>
              <a:off x="1886069" y="3587948"/>
              <a:ext cx="139301" cy="80507"/>
            </a:xfrm>
            <a:prstGeom prst="rect">
              <a:avLst/>
            </a:prstGeom>
          </p:spPr>
        </p:pic>
        <p:sp>
          <p:nvSpPr>
            <p:cNvPr id="150" name="object 150"/>
            <p:cNvSpPr/>
            <p:nvPr/>
          </p:nvSpPr>
          <p:spPr>
            <a:xfrm>
              <a:off x="2564541" y="4270548"/>
              <a:ext cx="278130" cy="421005"/>
            </a:xfrm>
            <a:custGeom>
              <a:avLst/>
              <a:gdLst/>
              <a:ahLst/>
              <a:cxnLst/>
              <a:rect l="l" t="t" r="r" b="b"/>
              <a:pathLst>
                <a:path w="278130" h="421004">
                  <a:moveTo>
                    <a:pt x="195501" y="420477"/>
                  </a:moveTo>
                  <a:lnTo>
                    <a:pt x="146402" y="407952"/>
                  </a:lnTo>
                  <a:lnTo>
                    <a:pt x="105338" y="391849"/>
                  </a:lnTo>
                  <a:lnTo>
                    <a:pt x="70523" y="372167"/>
                  </a:lnTo>
                  <a:lnTo>
                    <a:pt x="23210" y="325646"/>
                  </a:lnTo>
                  <a:lnTo>
                    <a:pt x="1785" y="271074"/>
                  </a:lnTo>
                  <a:lnTo>
                    <a:pt x="0" y="242445"/>
                  </a:lnTo>
                  <a:lnTo>
                    <a:pt x="3570" y="213817"/>
                  </a:lnTo>
                  <a:lnTo>
                    <a:pt x="26780" y="155666"/>
                  </a:lnTo>
                  <a:lnTo>
                    <a:pt x="67845" y="101988"/>
                  </a:lnTo>
                  <a:lnTo>
                    <a:pt x="124977" y="55467"/>
                  </a:lnTo>
                  <a:lnTo>
                    <a:pt x="158900" y="36679"/>
                  </a:lnTo>
                  <a:lnTo>
                    <a:pt x="195501" y="20576"/>
                  </a:lnTo>
                  <a:lnTo>
                    <a:pt x="235672" y="8051"/>
                  </a:lnTo>
                  <a:lnTo>
                    <a:pt x="277629" y="0"/>
                  </a:lnTo>
                </a:path>
              </a:pathLst>
            </a:custGeom>
            <a:ln w="23225">
              <a:solidFill>
                <a:srgbClr val="0000FF"/>
              </a:solidFill>
            </a:ln>
          </p:spPr>
          <p:txBody>
            <a:bodyPr wrap="square" lIns="0" tIns="0" rIns="0" bIns="0" rtlCol="0"/>
            <a:lstStyle/>
            <a:p>
              <a:endParaRPr sz="1227"/>
            </a:p>
          </p:txBody>
        </p:sp>
        <p:pic>
          <p:nvPicPr>
            <p:cNvPr id="151" name="object 151"/>
            <p:cNvPicPr/>
            <p:nvPr/>
          </p:nvPicPr>
          <p:blipFill>
            <a:blip r:embed="rId6" cstate="print"/>
            <a:stretch>
              <a:fillRect/>
            </a:stretch>
          </p:blipFill>
          <p:spPr>
            <a:xfrm>
              <a:off x="2711816" y="4252659"/>
              <a:ext cx="141980" cy="79613"/>
            </a:xfrm>
            <a:prstGeom prst="rect">
              <a:avLst/>
            </a:prstGeom>
          </p:spPr>
        </p:pic>
      </p:grpSp>
      <p:sp>
        <p:nvSpPr>
          <p:cNvPr id="152" name="object 152"/>
          <p:cNvSpPr txBox="1"/>
          <p:nvPr/>
        </p:nvSpPr>
        <p:spPr>
          <a:xfrm>
            <a:off x="4873434" y="2277855"/>
            <a:ext cx="166712" cy="1141268"/>
          </a:xfrm>
          <a:prstGeom prst="rect">
            <a:avLst/>
          </a:prstGeom>
        </p:spPr>
        <p:txBody>
          <a:bodyPr vert="vert270" wrap="square" lIns="0" tIns="0" rIns="0" bIns="0" rtlCol="0">
            <a:spAutoFit/>
          </a:bodyPr>
          <a:lstStyle/>
          <a:p>
            <a:pPr marL="8659">
              <a:lnSpc>
                <a:spcPts val="1343"/>
              </a:lnSpc>
            </a:pPr>
            <a:r>
              <a:rPr sz="1125" b="1" spc="-167" dirty="0">
                <a:solidFill>
                  <a:srgbClr val="0000FF"/>
                </a:solidFill>
                <a:latin typeface="Arial"/>
                <a:cs typeface="Arial"/>
              </a:rPr>
              <a:t>FOM</a:t>
            </a:r>
            <a:r>
              <a:rPr sz="1125" b="1" spc="-51" dirty="0">
                <a:solidFill>
                  <a:srgbClr val="0000FF"/>
                </a:solidFill>
                <a:latin typeface="Arial"/>
                <a:cs typeface="Arial"/>
              </a:rPr>
              <a:t> </a:t>
            </a:r>
            <a:r>
              <a:rPr sz="1125" b="1" spc="-89" dirty="0">
                <a:solidFill>
                  <a:srgbClr val="0000FF"/>
                </a:solidFill>
                <a:latin typeface="Arial"/>
                <a:cs typeface="Arial"/>
              </a:rPr>
              <a:t>(in</a:t>
            </a:r>
            <a:r>
              <a:rPr sz="1125" b="1" spc="-51" dirty="0">
                <a:solidFill>
                  <a:srgbClr val="0000FF"/>
                </a:solidFill>
                <a:latin typeface="Arial"/>
                <a:cs typeface="Arial"/>
              </a:rPr>
              <a:t> </a:t>
            </a:r>
            <a:r>
              <a:rPr sz="1125" b="1" spc="-116" dirty="0">
                <a:solidFill>
                  <a:srgbClr val="0000FF"/>
                </a:solidFill>
                <a:latin typeface="Arial"/>
                <a:cs typeface="Arial"/>
              </a:rPr>
              <a:t>Table</a:t>
            </a:r>
            <a:r>
              <a:rPr sz="1125" b="1" spc="-48" dirty="0">
                <a:solidFill>
                  <a:srgbClr val="0000FF"/>
                </a:solidFill>
                <a:latin typeface="Arial"/>
                <a:cs typeface="Arial"/>
              </a:rPr>
              <a:t> </a:t>
            </a:r>
            <a:r>
              <a:rPr sz="1125" b="1" spc="-72" dirty="0">
                <a:solidFill>
                  <a:srgbClr val="0000FF"/>
                </a:solidFill>
                <a:latin typeface="Arial"/>
                <a:cs typeface="Arial"/>
              </a:rPr>
              <a:t>I)</a:t>
            </a:r>
            <a:r>
              <a:rPr sz="1125" b="1" spc="-48" dirty="0">
                <a:solidFill>
                  <a:srgbClr val="0000FF"/>
                </a:solidFill>
                <a:latin typeface="Arial"/>
                <a:cs typeface="Arial"/>
              </a:rPr>
              <a:t> </a:t>
            </a:r>
            <a:r>
              <a:rPr sz="1125" b="1" spc="-72" dirty="0">
                <a:solidFill>
                  <a:srgbClr val="0000FF"/>
                </a:solidFill>
                <a:latin typeface="Arial"/>
                <a:cs typeface="Arial"/>
              </a:rPr>
              <a:t>[ps]</a:t>
            </a:r>
            <a:endParaRPr sz="1125">
              <a:latin typeface="Arial"/>
              <a:cs typeface="Arial"/>
            </a:endParaRPr>
          </a:p>
        </p:txBody>
      </p:sp>
      <p:sp>
        <p:nvSpPr>
          <p:cNvPr id="153" name="object 153"/>
          <p:cNvSpPr txBox="1"/>
          <p:nvPr/>
        </p:nvSpPr>
        <p:spPr>
          <a:xfrm>
            <a:off x="3947415" y="4132481"/>
            <a:ext cx="1210541" cy="218236"/>
          </a:xfrm>
          <a:prstGeom prst="rect">
            <a:avLst/>
          </a:prstGeom>
        </p:spPr>
        <p:txBody>
          <a:bodyPr vert="horz" wrap="square" lIns="0" tIns="8226" rIns="0" bIns="0" rtlCol="0">
            <a:spAutoFit/>
          </a:bodyPr>
          <a:lstStyle/>
          <a:p>
            <a:pPr marL="8659">
              <a:spcBef>
                <a:spcPts val="65"/>
              </a:spcBef>
            </a:pPr>
            <a:r>
              <a:rPr sz="1364" spc="-24" dirty="0">
                <a:latin typeface="Verdana"/>
                <a:cs typeface="Verdana"/>
              </a:rPr>
              <a:t>[Kim-</a:t>
            </a:r>
            <a:r>
              <a:rPr sz="1364" spc="-7" dirty="0">
                <a:latin typeface="Verdana"/>
                <a:cs typeface="Verdana"/>
              </a:rPr>
              <a:t>VLSI19]</a:t>
            </a:r>
            <a:endParaRPr sz="1364">
              <a:latin typeface="Verdana"/>
              <a:cs typeface="Verdana"/>
            </a:endParaRPr>
          </a:p>
        </p:txBody>
      </p:sp>
    </p:spTree>
    <p:extLst>
      <p:ext uri="{BB962C8B-B14F-4D97-AF65-F5344CB8AC3E}">
        <p14:creationId xmlns:p14="http://schemas.microsoft.com/office/powerpoint/2010/main" val="12503070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98148" y="237085"/>
            <a:ext cx="7222634" cy="531526"/>
          </a:xfrm>
          <a:prstGeom prst="rect">
            <a:avLst/>
          </a:prstGeom>
        </p:spPr>
        <p:txBody>
          <a:bodyPr vert="horz" wrap="square" lIns="0" tIns="8226" rIns="0" bIns="0" rtlCol="0">
            <a:spAutoFit/>
          </a:bodyPr>
          <a:lstStyle/>
          <a:p>
            <a:pPr marL="8659">
              <a:spcBef>
                <a:spcPts val="65"/>
              </a:spcBef>
            </a:pPr>
            <a:r>
              <a:rPr dirty="0"/>
              <a:t>pF</a:t>
            </a:r>
            <a:r>
              <a:rPr spc="-24" dirty="0"/>
              <a:t> </a:t>
            </a:r>
            <a:r>
              <a:rPr dirty="0"/>
              <a:t>Figure</a:t>
            </a:r>
            <a:r>
              <a:rPr spc="-27" dirty="0"/>
              <a:t> </a:t>
            </a:r>
            <a:r>
              <a:rPr dirty="0"/>
              <a:t>of</a:t>
            </a:r>
            <a:r>
              <a:rPr spc="-14" dirty="0"/>
              <a:t> </a:t>
            </a:r>
            <a:r>
              <a:rPr dirty="0"/>
              <a:t>Merit</a:t>
            </a:r>
            <a:r>
              <a:rPr spc="-20" dirty="0"/>
              <a:t> </a:t>
            </a:r>
            <a:r>
              <a:rPr spc="-17" dirty="0"/>
              <a:t>(pF-</a:t>
            </a:r>
            <a:r>
              <a:rPr spc="-14" dirty="0"/>
              <a:t>FoM)</a:t>
            </a:r>
          </a:p>
        </p:txBody>
      </p:sp>
      <p:sp>
        <p:nvSpPr>
          <p:cNvPr id="3" name="object 3"/>
          <p:cNvSpPr txBox="1"/>
          <p:nvPr/>
        </p:nvSpPr>
        <p:spPr>
          <a:xfrm>
            <a:off x="2482562" y="2202217"/>
            <a:ext cx="6378286" cy="1645795"/>
          </a:xfrm>
          <a:prstGeom prst="rect">
            <a:avLst/>
          </a:prstGeom>
        </p:spPr>
        <p:txBody>
          <a:bodyPr vert="horz" wrap="square" lIns="0" tIns="8659" rIns="0" bIns="0" rtlCol="0">
            <a:spAutoFit/>
          </a:bodyPr>
          <a:lstStyle/>
          <a:p>
            <a:pPr marL="3434970" marR="1857325" indent="99577">
              <a:spcBef>
                <a:spcPts val="68"/>
              </a:spcBef>
            </a:pPr>
            <a:r>
              <a:rPr sz="1227" spc="-7" dirty="0">
                <a:solidFill>
                  <a:srgbClr val="C00000"/>
                </a:solidFill>
                <a:latin typeface="Verdana"/>
                <a:cs typeface="Verdana"/>
              </a:rPr>
              <a:t>Normalized </a:t>
            </a:r>
            <a:r>
              <a:rPr sz="1227" dirty="0">
                <a:solidFill>
                  <a:srgbClr val="C00000"/>
                </a:solidFill>
                <a:latin typeface="Verdana"/>
                <a:cs typeface="Verdana"/>
              </a:rPr>
              <a:t>voltage</a:t>
            </a:r>
            <a:r>
              <a:rPr sz="1227" spc="-37" dirty="0">
                <a:solidFill>
                  <a:srgbClr val="C00000"/>
                </a:solidFill>
                <a:latin typeface="Verdana"/>
                <a:cs typeface="Verdana"/>
              </a:rPr>
              <a:t> </a:t>
            </a:r>
            <a:r>
              <a:rPr sz="1227" spc="-14" dirty="0">
                <a:solidFill>
                  <a:srgbClr val="C00000"/>
                </a:solidFill>
                <a:latin typeface="Verdana"/>
                <a:cs typeface="Verdana"/>
              </a:rPr>
              <a:t>droop</a:t>
            </a:r>
            <a:endParaRPr sz="1227">
              <a:latin typeface="Verdana"/>
              <a:cs typeface="Verdana"/>
            </a:endParaRPr>
          </a:p>
          <a:p>
            <a:pPr>
              <a:spcBef>
                <a:spcPts val="859"/>
              </a:spcBef>
            </a:pPr>
            <a:endParaRPr sz="1227">
              <a:latin typeface="Verdana"/>
              <a:cs typeface="Verdana"/>
            </a:endParaRPr>
          </a:p>
          <a:p>
            <a:pPr marL="355013" indent="-320378">
              <a:buClr>
                <a:srgbClr val="CC0000"/>
              </a:buClr>
              <a:buFont typeface="Wingdings"/>
              <a:buChar char=""/>
              <a:tabLst>
                <a:tab pos="355013" algn="l"/>
              </a:tabLst>
            </a:pPr>
            <a:r>
              <a:rPr sz="1364" dirty="0">
                <a:latin typeface="Verdana"/>
                <a:cs typeface="Verdana"/>
              </a:rPr>
              <a:t>Alternative</a:t>
            </a:r>
            <a:r>
              <a:rPr sz="1364" spc="-44" dirty="0">
                <a:latin typeface="Verdana"/>
                <a:cs typeface="Verdana"/>
              </a:rPr>
              <a:t> </a:t>
            </a:r>
            <a:r>
              <a:rPr sz="1364" dirty="0">
                <a:latin typeface="Verdana"/>
                <a:cs typeface="Verdana"/>
              </a:rPr>
              <a:t>FoM</a:t>
            </a:r>
            <a:r>
              <a:rPr sz="1364" spc="-37" dirty="0">
                <a:latin typeface="Verdana"/>
                <a:cs typeface="Verdana"/>
              </a:rPr>
              <a:t> </a:t>
            </a:r>
            <a:r>
              <a:rPr sz="1364" dirty="0">
                <a:latin typeface="Verdana"/>
                <a:cs typeface="Verdana"/>
              </a:rPr>
              <a:t>for</a:t>
            </a:r>
            <a:r>
              <a:rPr sz="1364" spc="-48" dirty="0">
                <a:latin typeface="Verdana"/>
                <a:cs typeface="Verdana"/>
              </a:rPr>
              <a:t> </a:t>
            </a:r>
            <a:r>
              <a:rPr sz="1364" dirty="0">
                <a:latin typeface="Verdana"/>
                <a:cs typeface="Verdana"/>
              </a:rPr>
              <a:t>dynamic</a:t>
            </a:r>
            <a:r>
              <a:rPr sz="1364" spc="-34" dirty="0">
                <a:latin typeface="Verdana"/>
                <a:cs typeface="Verdana"/>
              </a:rPr>
              <a:t> </a:t>
            </a:r>
            <a:r>
              <a:rPr sz="1364" dirty="0">
                <a:latin typeface="Verdana"/>
                <a:cs typeface="Verdana"/>
              </a:rPr>
              <a:t>load</a:t>
            </a:r>
            <a:r>
              <a:rPr sz="1364" spc="-37" dirty="0">
                <a:latin typeface="Verdana"/>
                <a:cs typeface="Verdana"/>
              </a:rPr>
              <a:t> </a:t>
            </a:r>
            <a:r>
              <a:rPr sz="1364" dirty="0">
                <a:latin typeface="Verdana"/>
                <a:cs typeface="Verdana"/>
              </a:rPr>
              <a:t>regulation</a:t>
            </a:r>
            <a:r>
              <a:rPr sz="1364" spc="-37" dirty="0">
                <a:latin typeface="Verdana"/>
                <a:cs typeface="Verdana"/>
              </a:rPr>
              <a:t> </a:t>
            </a:r>
            <a:r>
              <a:rPr sz="1364" spc="-7" dirty="0">
                <a:latin typeface="Verdana"/>
                <a:cs typeface="Verdana"/>
              </a:rPr>
              <a:t>performance</a:t>
            </a:r>
            <a:endParaRPr sz="1364">
              <a:latin typeface="Verdana"/>
              <a:cs typeface="Verdana"/>
            </a:endParaRPr>
          </a:p>
          <a:p>
            <a:pPr marL="355013" indent="-320378">
              <a:spcBef>
                <a:spcPts val="327"/>
              </a:spcBef>
              <a:buClr>
                <a:srgbClr val="CC0000"/>
              </a:buClr>
              <a:buFont typeface="Wingdings"/>
              <a:buChar char=""/>
              <a:tabLst>
                <a:tab pos="355013" algn="l"/>
              </a:tabLst>
            </a:pPr>
            <a:r>
              <a:rPr sz="1364" i="1" dirty="0">
                <a:latin typeface="Verdana"/>
                <a:cs typeface="Verdana"/>
              </a:rPr>
              <a:t>How</a:t>
            </a:r>
            <a:r>
              <a:rPr sz="1364" i="1" spc="-20" dirty="0">
                <a:latin typeface="Verdana"/>
                <a:cs typeface="Verdana"/>
              </a:rPr>
              <a:t> </a:t>
            </a:r>
            <a:r>
              <a:rPr sz="1364" i="1" dirty="0">
                <a:latin typeface="Verdana"/>
                <a:cs typeface="Verdana"/>
              </a:rPr>
              <a:t>small</a:t>
            </a:r>
            <a:r>
              <a:rPr sz="1364" i="1" spc="-14" dirty="0">
                <a:latin typeface="Verdana"/>
                <a:cs typeface="Verdana"/>
              </a:rPr>
              <a:t> </a:t>
            </a:r>
            <a:r>
              <a:rPr sz="1364" i="1" dirty="0">
                <a:latin typeface="Verdana"/>
                <a:cs typeface="Verdana"/>
              </a:rPr>
              <a:t>the</a:t>
            </a:r>
            <a:r>
              <a:rPr sz="1364" i="1" spc="-27" dirty="0">
                <a:latin typeface="Verdana"/>
                <a:cs typeface="Verdana"/>
              </a:rPr>
              <a:t> </a:t>
            </a:r>
            <a:r>
              <a:rPr sz="1364" i="1" dirty="0">
                <a:latin typeface="Verdana"/>
                <a:cs typeface="Verdana"/>
              </a:rPr>
              <a:t>voltage</a:t>
            </a:r>
            <a:r>
              <a:rPr sz="1364" i="1" spc="-17" dirty="0">
                <a:latin typeface="Verdana"/>
                <a:cs typeface="Verdana"/>
              </a:rPr>
              <a:t> </a:t>
            </a:r>
            <a:r>
              <a:rPr sz="1364" i="1" dirty="0">
                <a:latin typeface="Verdana"/>
                <a:cs typeface="Verdana"/>
              </a:rPr>
              <a:t>droop</a:t>
            </a:r>
            <a:r>
              <a:rPr sz="1364" i="1" spc="-17" dirty="0">
                <a:latin typeface="Verdana"/>
                <a:cs typeface="Verdana"/>
              </a:rPr>
              <a:t> </a:t>
            </a:r>
            <a:r>
              <a:rPr sz="1364" i="1" dirty="0">
                <a:latin typeface="Verdana"/>
                <a:cs typeface="Verdana"/>
              </a:rPr>
              <a:t>is</a:t>
            </a:r>
            <a:r>
              <a:rPr sz="1364" i="1" spc="-20" dirty="0">
                <a:latin typeface="Verdana"/>
                <a:cs typeface="Verdana"/>
              </a:rPr>
              <a:t> </a:t>
            </a:r>
            <a:r>
              <a:rPr sz="1364" i="1" dirty="0">
                <a:latin typeface="Verdana"/>
                <a:cs typeface="Verdana"/>
              </a:rPr>
              <a:t>at</a:t>
            </a:r>
            <a:r>
              <a:rPr sz="1364" i="1" spc="-24" dirty="0">
                <a:latin typeface="Verdana"/>
                <a:cs typeface="Verdana"/>
              </a:rPr>
              <a:t> </a:t>
            </a:r>
            <a:r>
              <a:rPr sz="1364" i="1" dirty="0">
                <a:latin typeface="Verdana"/>
                <a:cs typeface="Verdana"/>
              </a:rPr>
              <a:t>the</a:t>
            </a:r>
            <a:r>
              <a:rPr sz="1364" i="1" spc="-24" dirty="0">
                <a:latin typeface="Verdana"/>
                <a:cs typeface="Verdana"/>
              </a:rPr>
              <a:t> </a:t>
            </a:r>
            <a:r>
              <a:rPr sz="1364" i="1" dirty="0">
                <a:latin typeface="Verdana"/>
                <a:cs typeface="Verdana"/>
              </a:rPr>
              <a:t>power</a:t>
            </a:r>
            <a:r>
              <a:rPr sz="1364" i="1" spc="-17" dirty="0">
                <a:latin typeface="Verdana"/>
                <a:cs typeface="Verdana"/>
              </a:rPr>
              <a:t> </a:t>
            </a:r>
            <a:r>
              <a:rPr sz="1364" i="1" dirty="0">
                <a:latin typeface="Verdana"/>
                <a:cs typeface="Verdana"/>
              </a:rPr>
              <a:t>(I</a:t>
            </a:r>
            <a:r>
              <a:rPr sz="1330" i="1" baseline="-21367" dirty="0">
                <a:latin typeface="Verdana"/>
                <a:cs typeface="Verdana"/>
              </a:rPr>
              <a:t>q</a:t>
            </a:r>
            <a:r>
              <a:rPr sz="1364" i="1" dirty="0">
                <a:latin typeface="Verdana"/>
                <a:cs typeface="Verdana"/>
              </a:rPr>
              <a:t>)</a:t>
            </a:r>
            <a:r>
              <a:rPr sz="1364" i="1" spc="-20" dirty="0">
                <a:latin typeface="Verdana"/>
                <a:cs typeface="Verdana"/>
              </a:rPr>
              <a:t> </a:t>
            </a:r>
            <a:r>
              <a:rPr sz="1364" i="1" dirty="0">
                <a:latin typeface="Verdana"/>
                <a:cs typeface="Verdana"/>
              </a:rPr>
              <a:t>and</a:t>
            </a:r>
            <a:r>
              <a:rPr sz="1364" i="1" spc="-20" dirty="0">
                <a:latin typeface="Verdana"/>
                <a:cs typeface="Verdana"/>
              </a:rPr>
              <a:t> </a:t>
            </a:r>
            <a:r>
              <a:rPr sz="1364" i="1" dirty="0">
                <a:latin typeface="Verdana"/>
                <a:cs typeface="Verdana"/>
              </a:rPr>
              <a:t>area</a:t>
            </a:r>
            <a:r>
              <a:rPr sz="1364" i="1" spc="-27" dirty="0">
                <a:latin typeface="Verdana"/>
                <a:cs typeface="Verdana"/>
              </a:rPr>
              <a:t> </a:t>
            </a:r>
            <a:r>
              <a:rPr sz="1364" i="1" dirty="0">
                <a:latin typeface="Verdana"/>
                <a:cs typeface="Verdana"/>
              </a:rPr>
              <a:t>cost</a:t>
            </a:r>
            <a:r>
              <a:rPr sz="1364" i="1" spc="-20" dirty="0">
                <a:latin typeface="Verdana"/>
                <a:cs typeface="Verdana"/>
              </a:rPr>
              <a:t> </a:t>
            </a:r>
            <a:r>
              <a:rPr sz="1364" i="1" spc="-7" dirty="0">
                <a:latin typeface="Verdana"/>
                <a:cs typeface="Verdana"/>
              </a:rPr>
              <a:t>(C</a:t>
            </a:r>
            <a:r>
              <a:rPr sz="1330" i="1" spc="-10" baseline="-21367" dirty="0">
                <a:latin typeface="Verdana"/>
                <a:cs typeface="Verdana"/>
              </a:rPr>
              <a:t>out</a:t>
            </a:r>
            <a:r>
              <a:rPr sz="1364" i="1" spc="-7" dirty="0">
                <a:latin typeface="Verdana"/>
                <a:cs typeface="Verdana"/>
              </a:rPr>
              <a:t>)</a:t>
            </a:r>
            <a:endParaRPr sz="1364">
              <a:latin typeface="Verdana"/>
              <a:cs typeface="Verdana"/>
            </a:endParaRPr>
          </a:p>
          <a:p>
            <a:pPr marL="355013" indent="-320378">
              <a:spcBef>
                <a:spcPts val="327"/>
              </a:spcBef>
              <a:buClr>
                <a:srgbClr val="CC0000"/>
              </a:buClr>
              <a:buFont typeface="Wingdings"/>
              <a:buChar char=""/>
              <a:tabLst>
                <a:tab pos="355013" algn="l"/>
              </a:tabLst>
            </a:pPr>
            <a:r>
              <a:rPr sz="1364" dirty="0">
                <a:latin typeface="Verdana"/>
                <a:cs typeface="Verdana"/>
              </a:rPr>
              <a:t>Smaller</a:t>
            </a:r>
            <a:r>
              <a:rPr sz="1364" spc="-20" dirty="0">
                <a:latin typeface="Verdana"/>
                <a:cs typeface="Verdana"/>
              </a:rPr>
              <a:t> </a:t>
            </a:r>
            <a:r>
              <a:rPr sz="1364" dirty="0">
                <a:latin typeface="Verdana"/>
                <a:cs typeface="Verdana"/>
              </a:rPr>
              <a:t>is</a:t>
            </a:r>
            <a:r>
              <a:rPr sz="1364" spc="-20" dirty="0">
                <a:latin typeface="Verdana"/>
                <a:cs typeface="Verdana"/>
              </a:rPr>
              <a:t> </a:t>
            </a:r>
            <a:r>
              <a:rPr sz="1364" spc="-7" dirty="0">
                <a:latin typeface="Verdana"/>
                <a:cs typeface="Verdana"/>
              </a:rPr>
              <a:t>better</a:t>
            </a:r>
            <a:endParaRPr sz="1364">
              <a:latin typeface="Verdana"/>
              <a:cs typeface="Verdana"/>
            </a:endParaRPr>
          </a:p>
          <a:p>
            <a:pPr marL="355013" indent="-320378">
              <a:spcBef>
                <a:spcPts val="324"/>
              </a:spcBef>
              <a:buClr>
                <a:srgbClr val="CC0000"/>
              </a:buClr>
              <a:buFont typeface="Wingdings"/>
              <a:buChar char=""/>
              <a:tabLst>
                <a:tab pos="355013" algn="l"/>
              </a:tabLst>
            </a:pPr>
            <a:r>
              <a:rPr sz="1364" dirty="0">
                <a:latin typeface="Verdana"/>
                <a:cs typeface="Verdana"/>
              </a:rPr>
              <a:t>pF</a:t>
            </a:r>
            <a:r>
              <a:rPr sz="1364" spc="-24" dirty="0">
                <a:latin typeface="Verdana"/>
                <a:cs typeface="Verdana"/>
              </a:rPr>
              <a:t> </a:t>
            </a:r>
            <a:r>
              <a:rPr sz="1364" dirty="0">
                <a:latin typeface="Verdana"/>
                <a:cs typeface="Verdana"/>
              </a:rPr>
              <a:t>FoM</a:t>
            </a:r>
            <a:r>
              <a:rPr sz="1364" spc="-31" dirty="0">
                <a:latin typeface="Verdana"/>
                <a:cs typeface="Verdana"/>
              </a:rPr>
              <a:t> </a:t>
            </a:r>
            <a:r>
              <a:rPr sz="1364" dirty="0">
                <a:latin typeface="Verdana"/>
                <a:cs typeface="Verdana"/>
              </a:rPr>
              <a:t>works</a:t>
            </a:r>
            <a:r>
              <a:rPr sz="1364" spc="-27" dirty="0">
                <a:latin typeface="Verdana"/>
                <a:cs typeface="Verdana"/>
              </a:rPr>
              <a:t> </a:t>
            </a:r>
            <a:r>
              <a:rPr sz="1364" dirty="0">
                <a:latin typeface="Verdana"/>
                <a:cs typeface="Verdana"/>
              </a:rPr>
              <a:t>better</a:t>
            </a:r>
            <a:r>
              <a:rPr sz="1364" spc="-27" dirty="0">
                <a:latin typeface="Verdana"/>
                <a:cs typeface="Verdana"/>
              </a:rPr>
              <a:t> </a:t>
            </a:r>
            <a:r>
              <a:rPr sz="1364" dirty="0">
                <a:latin typeface="Verdana"/>
                <a:cs typeface="Verdana"/>
              </a:rPr>
              <a:t>to</a:t>
            </a:r>
            <a:r>
              <a:rPr sz="1364" spc="-31" dirty="0">
                <a:latin typeface="Verdana"/>
                <a:cs typeface="Verdana"/>
              </a:rPr>
              <a:t> </a:t>
            </a:r>
            <a:r>
              <a:rPr sz="1364" dirty="0">
                <a:latin typeface="Verdana"/>
                <a:cs typeface="Verdana"/>
              </a:rPr>
              <a:t>compare</a:t>
            </a:r>
            <a:r>
              <a:rPr sz="1364" spc="-27" dirty="0">
                <a:latin typeface="Verdana"/>
                <a:cs typeface="Verdana"/>
              </a:rPr>
              <a:t> </a:t>
            </a:r>
            <a:r>
              <a:rPr sz="1364" dirty="0">
                <a:latin typeface="Verdana"/>
                <a:cs typeface="Verdana"/>
              </a:rPr>
              <a:t>LDOs</a:t>
            </a:r>
            <a:r>
              <a:rPr sz="1364" spc="-31" dirty="0">
                <a:latin typeface="Verdana"/>
                <a:cs typeface="Verdana"/>
              </a:rPr>
              <a:t> </a:t>
            </a:r>
            <a:r>
              <a:rPr sz="1364" dirty="0">
                <a:latin typeface="Verdana"/>
                <a:cs typeface="Verdana"/>
              </a:rPr>
              <a:t>with</a:t>
            </a:r>
            <a:r>
              <a:rPr sz="1364" spc="-34" dirty="0">
                <a:latin typeface="Verdana"/>
                <a:cs typeface="Verdana"/>
              </a:rPr>
              <a:t> </a:t>
            </a:r>
            <a:r>
              <a:rPr sz="1364" dirty="0">
                <a:latin typeface="Verdana"/>
                <a:cs typeface="Verdana"/>
              </a:rPr>
              <a:t>different</a:t>
            </a:r>
            <a:r>
              <a:rPr sz="1364" spc="-27" dirty="0">
                <a:latin typeface="Verdana"/>
                <a:cs typeface="Verdana"/>
              </a:rPr>
              <a:t> </a:t>
            </a:r>
            <a:r>
              <a:rPr sz="1364" spc="-7" dirty="0">
                <a:latin typeface="Verdana"/>
                <a:cs typeface="Verdana"/>
              </a:rPr>
              <a:t>ΔI</a:t>
            </a:r>
            <a:r>
              <a:rPr sz="1330" spc="-10" baseline="-21367" dirty="0">
                <a:latin typeface="Verdana"/>
                <a:cs typeface="Verdana"/>
              </a:rPr>
              <a:t>load,max</a:t>
            </a:r>
            <a:endParaRPr sz="1330" baseline="-21367">
              <a:latin typeface="Verdana"/>
              <a:cs typeface="Verdana"/>
            </a:endParaRPr>
          </a:p>
        </p:txBody>
      </p:sp>
      <p:sp>
        <p:nvSpPr>
          <p:cNvPr id="4" name="object 4"/>
          <p:cNvSpPr txBox="1"/>
          <p:nvPr/>
        </p:nvSpPr>
        <p:spPr>
          <a:xfrm>
            <a:off x="2491221" y="3872544"/>
            <a:ext cx="4881995" cy="218236"/>
          </a:xfrm>
          <a:prstGeom prst="rect">
            <a:avLst/>
          </a:prstGeom>
        </p:spPr>
        <p:txBody>
          <a:bodyPr vert="horz" wrap="square" lIns="0" tIns="8226" rIns="0" bIns="0" rtlCol="0">
            <a:spAutoFit/>
          </a:bodyPr>
          <a:lstStyle/>
          <a:p>
            <a:pPr marL="346354" indent="-320378">
              <a:spcBef>
                <a:spcPts val="65"/>
              </a:spcBef>
              <a:buClr>
                <a:srgbClr val="CC0000"/>
              </a:buClr>
              <a:buFont typeface="Wingdings"/>
              <a:buChar char=""/>
              <a:tabLst>
                <a:tab pos="346354" algn="l"/>
              </a:tabLst>
            </a:pPr>
            <a:r>
              <a:rPr sz="1364" dirty="0">
                <a:latin typeface="Verdana"/>
                <a:cs typeface="Verdana"/>
              </a:rPr>
              <a:t>Should</a:t>
            </a:r>
            <a:r>
              <a:rPr sz="1364" spc="-24" dirty="0">
                <a:latin typeface="Verdana"/>
                <a:cs typeface="Verdana"/>
              </a:rPr>
              <a:t> </a:t>
            </a:r>
            <a:r>
              <a:rPr sz="1364" dirty="0">
                <a:latin typeface="Verdana"/>
                <a:cs typeface="Verdana"/>
              </a:rPr>
              <a:t>use</a:t>
            </a:r>
            <a:r>
              <a:rPr sz="1364" spc="-24" dirty="0">
                <a:latin typeface="Verdana"/>
                <a:cs typeface="Verdana"/>
              </a:rPr>
              <a:t> </a:t>
            </a:r>
            <a:r>
              <a:rPr sz="1364" dirty="0">
                <a:latin typeface="Verdana"/>
                <a:cs typeface="Verdana"/>
              </a:rPr>
              <a:t>it</a:t>
            </a:r>
            <a:r>
              <a:rPr sz="1364" spc="-20" dirty="0">
                <a:latin typeface="Verdana"/>
                <a:cs typeface="Verdana"/>
              </a:rPr>
              <a:t> </a:t>
            </a:r>
            <a:r>
              <a:rPr sz="1364" dirty="0">
                <a:latin typeface="Verdana"/>
                <a:cs typeface="Verdana"/>
              </a:rPr>
              <a:t>for</a:t>
            </a:r>
            <a:r>
              <a:rPr sz="1364" spc="-24" dirty="0">
                <a:latin typeface="Verdana"/>
                <a:cs typeface="Verdana"/>
              </a:rPr>
              <a:t> </a:t>
            </a:r>
            <a:r>
              <a:rPr sz="1364" dirty="0">
                <a:latin typeface="Verdana"/>
                <a:cs typeface="Verdana"/>
              </a:rPr>
              <a:t>designs</a:t>
            </a:r>
            <a:r>
              <a:rPr sz="1364" spc="-14" dirty="0">
                <a:latin typeface="Verdana"/>
                <a:cs typeface="Verdana"/>
              </a:rPr>
              <a:t> </a:t>
            </a:r>
            <a:r>
              <a:rPr sz="1364" dirty="0">
                <a:latin typeface="Verdana"/>
                <a:cs typeface="Verdana"/>
              </a:rPr>
              <a:t>having</a:t>
            </a:r>
            <a:r>
              <a:rPr sz="1364" spc="-14" dirty="0">
                <a:latin typeface="Verdana"/>
                <a:cs typeface="Verdana"/>
              </a:rPr>
              <a:t> </a:t>
            </a:r>
            <a:r>
              <a:rPr sz="1364" dirty="0">
                <a:latin typeface="Verdana"/>
                <a:cs typeface="Verdana"/>
              </a:rPr>
              <a:t>similar</a:t>
            </a:r>
            <a:r>
              <a:rPr sz="1364" spc="-17" dirty="0">
                <a:latin typeface="Verdana"/>
                <a:cs typeface="Verdana"/>
              </a:rPr>
              <a:t> </a:t>
            </a:r>
            <a:r>
              <a:rPr sz="1364" dirty="0">
                <a:latin typeface="Verdana"/>
                <a:cs typeface="Verdana"/>
              </a:rPr>
              <a:t>V</a:t>
            </a:r>
            <a:r>
              <a:rPr sz="1330" baseline="-21367" dirty="0">
                <a:latin typeface="Verdana"/>
                <a:cs typeface="Verdana"/>
              </a:rPr>
              <a:t>in</a:t>
            </a:r>
            <a:r>
              <a:rPr sz="1330" spc="225" baseline="-21367" dirty="0">
                <a:latin typeface="Verdana"/>
                <a:cs typeface="Verdana"/>
              </a:rPr>
              <a:t> </a:t>
            </a:r>
            <a:r>
              <a:rPr sz="1364" dirty="0">
                <a:latin typeface="Verdana"/>
                <a:cs typeface="Verdana"/>
              </a:rPr>
              <a:t>and</a:t>
            </a:r>
            <a:r>
              <a:rPr sz="1364" spc="-20" dirty="0">
                <a:latin typeface="Verdana"/>
                <a:cs typeface="Verdana"/>
              </a:rPr>
              <a:t> </a:t>
            </a:r>
            <a:r>
              <a:rPr sz="1364" spc="-7" dirty="0">
                <a:latin typeface="Verdana"/>
                <a:cs typeface="Verdana"/>
              </a:rPr>
              <a:t>t</a:t>
            </a:r>
            <a:r>
              <a:rPr sz="1330" spc="-10" baseline="-21367" dirty="0">
                <a:latin typeface="Verdana"/>
                <a:cs typeface="Verdana"/>
              </a:rPr>
              <a:t>edge</a:t>
            </a:r>
            <a:endParaRPr sz="1330" baseline="-21367">
              <a:latin typeface="Verdana"/>
              <a:cs typeface="Verdana"/>
            </a:endParaRPr>
          </a:p>
        </p:txBody>
      </p:sp>
      <p:sp>
        <p:nvSpPr>
          <p:cNvPr id="5" name="object 5"/>
          <p:cNvSpPr txBox="1"/>
          <p:nvPr/>
        </p:nvSpPr>
        <p:spPr>
          <a:xfrm>
            <a:off x="8696561" y="3929930"/>
            <a:ext cx="1235219" cy="218236"/>
          </a:xfrm>
          <a:prstGeom prst="rect">
            <a:avLst/>
          </a:prstGeom>
        </p:spPr>
        <p:txBody>
          <a:bodyPr vert="horz" wrap="square" lIns="0" tIns="8226" rIns="0" bIns="0" rtlCol="0">
            <a:spAutoFit/>
          </a:bodyPr>
          <a:lstStyle/>
          <a:p>
            <a:pPr marL="8659">
              <a:spcBef>
                <a:spcPts val="65"/>
              </a:spcBef>
            </a:pPr>
            <a:r>
              <a:rPr sz="1364" spc="-27" dirty="0">
                <a:latin typeface="Verdana"/>
                <a:cs typeface="Verdana"/>
              </a:rPr>
              <a:t>[Kim-</a:t>
            </a:r>
            <a:r>
              <a:rPr sz="1364" spc="-7" dirty="0">
                <a:latin typeface="Verdana"/>
                <a:cs typeface="Verdana"/>
              </a:rPr>
              <a:t>JSSC17]</a:t>
            </a:r>
            <a:endParaRPr sz="1364">
              <a:latin typeface="Verdana"/>
              <a:cs typeface="Verdana"/>
            </a:endParaRPr>
          </a:p>
        </p:txBody>
      </p:sp>
      <p:sp>
        <p:nvSpPr>
          <p:cNvPr id="6" name="object 6"/>
          <p:cNvSpPr txBox="1"/>
          <p:nvPr/>
        </p:nvSpPr>
        <p:spPr>
          <a:xfrm>
            <a:off x="4761653" y="1591026"/>
            <a:ext cx="906174" cy="218236"/>
          </a:xfrm>
          <a:prstGeom prst="rect">
            <a:avLst/>
          </a:prstGeom>
        </p:spPr>
        <p:txBody>
          <a:bodyPr vert="horz" wrap="square" lIns="0" tIns="8226" rIns="0" bIns="0" rtlCol="0">
            <a:spAutoFit/>
          </a:bodyPr>
          <a:lstStyle/>
          <a:p>
            <a:pPr marL="8659">
              <a:spcBef>
                <a:spcPts val="65"/>
              </a:spcBef>
            </a:pPr>
            <a:r>
              <a:rPr sz="1364" dirty="0">
                <a:latin typeface="Cambria Math"/>
                <a:cs typeface="Cambria Math"/>
              </a:rPr>
              <a:t>𝑝𝐹</a:t>
            </a:r>
            <a:r>
              <a:rPr sz="1364" spc="37" dirty="0">
                <a:latin typeface="Cambria Math"/>
                <a:cs typeface="Cambria Math"/>
              </a:rPr>
              <a:t> </a:t>
            </a:r>
            <a:r>
              <a:rPr sz="1364" dirty="0">
                <a:latin typeface="Cambria Math"/>
                <a:cs typeface="Cambria Math"/>
              </a:rPr>
              <a:t>𝐹𝑜𝑀</a:t>
            </a:r>
            <a:r>
              <a:rPr sz="1364" spc="102" dirty="0">
                <a:latin typeface="Cambria Math"/>
                <a:cs typeface="Cambria Math"/>
              </a:rPr>
              <a:t> </a:t>
            </a:r>
            <a:r>
              <a:rPr sz="1364" dirty="0">
                <a:latin typeface="Cambria Math"/>
                <a:cs typeface="Cambria Math"/>
              </a:rPr>
              <a:t>=</a:t>
            </a:r>
            <a:r>
              <a:rPr sz="1364" spc="72" dirty="0">
                <a:latin typeface="Cambria Math"/>
                <a:cs typeface="Cambria Math"/>
              </a:rPr>
              <a:t> </a:t>
            </a:r>
            <a:r>
              <a:rPr sz="1364" spc="-34" dirty="0">
                <a:solidFill>
                  <a:srgbClr val="0000FF"/>
                </a:solidFill>
                <a:latin typeface="Cambria Math"/>
                <a:cs typeface="Cambria Math"/>
              </a:rPr>
              <a:t>𝐼</a:t>
            </a:r>
            <a:endParaRPr sz="1364">
              <a:latin typeface="Cambria Math"/>
              <a:cs typeface="Cambria Math"/>
            </a:endParaRPr>
          </a:p>
        </p:txBody>
      </p:sp>
      <p:sp>
        <p:nvSpPr>
          <p:cNvPr id="7" name="object 7"/>
          <p:cNvSpPr txBox="1"/>
          <p:nvPr/>
        </p:nvSpPr>
        <p:spPr>
          <a:xfrm>
            <a:off x="5650235" y="1691218"/>
            <a:ext cx="79663" cy="147686"/>
          </a:xfrm>
          <a:prstGeom prst="rect">
            <a:avLst/>
          </a:prstGeom>
        </p:spPr>
        <p:txBody>
          <a:bodyPr vert="horz" wrap="square" lIns="0" tIns="11257" rIns="0" bIns="0" rtlCol="0">
            <a:spAutoFit/>
          </a:bodyPr>
          <a:lstStyle/>
          <a:p>
            <a:pPr marL="8659">
              <a:spcBef>
                <a:spcPts val="89"/>
              </a:spcBef>
            </a:pPr>
            <a:r>
              <a:rPr sz="886" spc="-34" dirty="0">
                <a:solidFill>
                  <a:srgbClr val="0000FF"/>
                </a:solidFill>
                <a:latin typeface="Cambria Math"/>
                <a:cs typeface="Cambria Math"/>
              </a:rPr>
              <a:t>𝑞</a:t>
            </a:r>
            <a:endParaRPr sz="886">
              <a:latin typeface="Cambria Math"/>
              <a:cs typeface="Cambria Math"/>
            </a:endParaRPr>
          </a:p>
        </p:txBody>
      </p:sp>
      <p:sp>
        <p:nvSpPr>
          <p:cNvPr id="8" name="object 8"/>
          <p:cNvSpPr/>
          <p:nvPr/>
        </p:nvSpPr>
        <p:spPr>
          <a:xfrm>
            <a:off x="5769206" y="1503062"/>
            <a:ext cx="1288473" cy="441181"/>
          </a:xfrm>
          <a:custGeom>
            <a:avLst/>
            <a:gdLst/>
            <a:ahLst/>
            <a:cxnLst/>
            <a:rect l="l" t="t" r="r" b="b"/>
            <a:pathLst>
              <a:path w="1889759" h="647064">
                <a:moveTo>
                  <a:pt x="116586" y="9296"/>
                </a:moveTo>
                <a:lnTo>
                  <a:pt x="65074" y="54330"/>
                </a:lnTo>
                <a:lnTo>
                  <a:pt x="46177" y="89535"/>
                </a:lnTo>
                <a:lnTo>
                  <a:pt x="29921" y="130098"/>
                </a:lnTo>
                <a:lnTo>
                  <a:pt x="16827" y="174599"/>
                </a:lnTo>
                <a:lnTo>
                  <a:pt x="7467" y="221602"/>
                </a:lnTo>
                <a:lnTo>
                  <a:pt x="1866" y="271106"/>
                </a:lnTo>
                <a:lnTo>
                  <a:pt x="0" y="323253"/>
                </a:lnTo>
                <a:lnTo>
                  <a:pt x="1790" y="372465"/>
                </a:lnTo>
                <a:lnTo>
                  <a:pt x="7467" y="423786"/>
                </a:lnTo>
                <a:lnTo>
                  <a:pt x="16827" y="470890"/>
                </a:lnTo>
                <a:lnTo>
                  <a:pt x="29921" y="515848"/>
                </a:lnTo>
                <a:lnTo>
                  <a:pt x="46177" y="556971"/>
                </a:lnTo>
                <a:lnTo>
                  <a:pt x="65074" y="592543"/>
                </a:lnTo>
                <a:lnTo>
                  <a:pt x="110756" y="647001"/>
                </a:lnTo>
                <a:lnTo>
                  <a:pt x="116586" y="637832"/>
                </a:lnTo>
                <a:lnTo>
                  <a:pt x="95846" y="612978"/>
                </a:lnTo>
                <a:lnTo>
                  <a:pt x="77647" y="583107"/>
                </a:lnTo>
                <a:lnTo>
                  <a:pt x="61963" y="548233"/>
                </a:lnTo>
                <a:lnTo>
                  <a:pt x="48806" y="508355"/>
                </a:lnTo>
                <a:lnTo>
                  <a:pt x="38392" y="465010"/>
                </a:lnTo>
                <a:lnTo>
                  <a:pt x="30962" y="419709"/>
                </a:lnTo>
                <a:lnTo>
                  <a:pt x="26504" y="372465"/>
                </a:lnTo>
                <a:lnTo>
                  <a:pt x="25019" y="323253"/>
                </a:lnTo>
                <a:lnTo>
                  <a:pt x="26504" y="273113"/>
                </a:lnTo>
                <a:lnTo>
                  <a:pt x="30975" y="225412"/>
                </a:lnTo>
                <a:lnTo>
                  <a:pt x="38430" y="180124"/>
                </a:lnTo>
                <a:lnTo>
                  <a:pt x="48869" y="137274"/>
                </a:lnTo>
                <a:lnTo>
                  <a:pt x="62039" y="98056"/>
                </a:lnTo>
                <a:lnTo>
                  <a:pt x="95897" y="34074"/>
                </a:lnTo>
                <a:lnTo>
                  <a:pt x="116586" y="9296"/>
                </a:lnTo>
                <a:close/>
              </a:path>
              <a:path w="1889759" h="647064">
                <a:moveTo>
                  <a:pt x="1764538" y="314579"/>
                </a:moveTo>
                <a:lnTo>
                  <a:pt x="125476" y="314579"/>
                </a:lnTo>
                <a:lnTo>
                  <a:pt x="125476" y="331343"/>
                </a:lnTo>
                <a:lnTo>
                  <a:pt x="1764538" y="331343"/>
                </a:lnTo>
                <a:lnTo>
                  <a:pt x="1764538" y="314579"/>
                </a:lnTo>
                <a:close/>
              </a:path>
              <a:path w="1889759" h="647064">
                <a:moveTo>
                  <a:pt x="1889302" y="323253"/>
                </a:moveTo>
                <a:lnTo>
                  <a:pt x="1887512" y="273113"/>
                </a:lnTo>
                <a:lnTo>
                  <a:pt x="1881822" y="221602"/>
                </a:lnTo>
                <a:lnTo>
                  <a:pt x="1872475" y="174599"/>
                </a:lnTo>
                <a:lnTo>
                  <a:pt x="1859394" y="130098"/>
                </a:lnTo>
                <a:lnTo>
                  <a:pt x="1843112" y="89535"/>
                </a:lnTo>
                <a:lnTo>
                  <a:pt x="1824215" y="54330"/>
                </a:lnTo>
                <a:lnTo>
                  <a:pt x="1778546" y="0"/>
                </a:lnTo>
                <a:lnTo>
                  <a:pt x="1772729" y="9296"/>
                </a:lnTo>
                <a:lnTo>
                  <a:pt x="1793341" y="34074"/>
                </a:lnTo>
                <a:lnTo>
                  <a:pt x="1811502" y="63665"/>
                </a:lnTo>
                <a:lnTo>
                  <a:pt x="1840369" y="137274"/>
                </a:lnTo>
                <a:lnTo>
                  <a:pt x="1850821" y="180124"/>
                </a:lnTo>
                <a:lnTo>
                  <a:pt x="1858302" y="225412"/>
                </a:lnTo>
                <a:lnTo>
                  <a:pt x="1862785" y="273113"/>
                </a:lnTo>
                <a:lnTo>
                  <a:pt x="1864283" y="323253"/>
                </a:lnTo>
                <a:lnTo>
                  <a:pt x="1862785" y="372465"/>
                </a:lnTo>
                <a:lnTo>
                  <a:pt x="1858327" y="419709"/>
                </a:lnTo>
                <a:lnTo>
                  <a:pt x="1850898" y="465010"/>
                </a:lnTo>
                <a:lnTo>
                  <a:pt x="1840496" y="508355"/>
                </a:lnTo>
                <a:lnTo>
                  <a:pt x="1827326" y="548233"/>
                </a:lnTo>
                <a:lnTo>
                  <a:pt x="1811655" y="583107"/>
                </a:lnTo>
                <a:lnTo>
                  <a:pt x="1772729" y="637832"/>
                </a:lnTo>
                <a:lnTo>
                  <a:pt x="1778546" y="647001"/>
                </a:lnTo>
                <a:lnTo>
                  <a:pt x="1824215" y="592543"/>
                </a:lnTo>
                <a:lnTo>
                  <a:pt x="1843112" y="556971"/>
                </a:lnTo>
                <a:lnTo>
                  <a:pt x="1859394" y="515848"/>
                </a:lnTo>
                <a:lnTo>
                  <a:pt x="1872475" y="470890"/>
                </a:lnTo>
                <a:lnTo>
                  <a:pt x="1881822" y="423786"/>
                </a:lnTo>
                <a:lnTo>
                  <a:pt x="1887435" y="374535"/>
                </a:lnTo>
                <a:lnTo>
                  <a:pt x="1889302" y="323253"/>
                </a:lnTo>
                <a:close/>
              </a:path>
            </a:pathLst>
          </a:custGeom>
          <a:solidFill>
            <a:srgbClr val="C00000"/>
          </a:solidFill>
        </p:spPr>
        <p:txBody>
          <a:bodyPr wrap="square" lIns="0" tIns="0" rIns="0" bIns="0" rtlCol="0"/>
          <a:lstStyle/>
          <a:p>
            <a:endParaRPr sz="1227"/>
          </a:p>
        </p:txBody>
      </p:sp>
      <p:sp>
        <p:nvSpPr>
          <p:cNvPr id="9" name="object 9"/>
          <p:cNvSpPr txBox="1"/>
          <p:nvPr/>
        </p:nvSpPr>
        <p:spPr>
          <a:xfrm>
            <a:off x="6192987" y="1502624"/>
            <a:ext cx="435552" cy="218107"/>
          </a:xfrm>
          <a:prstGeom prst="rect">
            <a:avLst/>
          </a:prstGeom>
        </p:spPr>
        <p:txBody>
          <a:bodyPr vert="horz" wrap="square" lIns="0" tIns="8226" rIns="0" bIns="0" rtlCol="0">
            <a:spAutoFit/>
          </a:bodyPr>
          <a:lstStyle/>
          <a:p>
            <a:pPr marL="25977">
              <a:spcBef>
                <a:spcPts val="65"/>
              </a:spcBef>
            </a:pPr>
            <a:r>
              <a:rPr sz="2045" spc="-10" baseline="13888" dirty="0">
                <a:solidFill>
                  <a:srgbClr val="C00000"/>
                </a:solidFill>
                <a:latin typeface="Cambria Math"/>
                <a:cs typeface="Cambria Math"/>
              </a:rPr>
              <a:t>∆𝑉</a:t>
            </a:r>
            <a:r>
              <a:rPr sz="886" spc="-7" dirty="0">
                <a:solidFill>
                  <a:srgbClr val="C00000"/>
                </a:solidFill>
                <a:latin typeface="Cambria Math"/>
                <a:cs typeface="Cambria Math"/>
              </a:rPr>
              <a:t>𝑜𝑢𝑡</a:t>
            </a:r>
            <a:endParaRPr sz="886">
              <a:latin typeface="Cambria Math"/>
              <a:cs typeface="Cambria Math"/>
            </a:endParaRPr>
          </a:p>
        </p:txBody>
      </p:sp>
      <p:sp>
        <p:nvSpPr>
          <p:cNvPr id="10" name="object 10"/>
          <p:cNvSpPr txBox="1"/>
          <p:nvPr/>
        </p:nvSpPr>
        <p:spPr>
          <a:xfrm>
            <a:off x="5846104" y="1706804"/>
            <a:ext cx="186170" cy="218236"/>
          </a:xfrm>
          <a:prstGeom prst="rect">
            <a:avLst/>
          </a:prstGeom>
        </p:spPr>
        <p:txBody>
          <a:bodyPr vert="horz" wrap="square" lIns="0" tIns="8226" rIns="0" bIns="0" rtlCol="0">
            <a:spAutoFit/>
          </a:bodyPr>
          <a:lstStyle/>
          <a:p>
            <a:pPr marL="8659">
              <a:spcBef>
                <a:spcPts val="65"/>
              </a:spcBef>
            </a:pPr>
            <a:r>
              <a:rPr sz="1364" spc="-17" dirty="0">
                <a:solidFill>
                  <a:srgbClr val="C00000"/>
                </a:solidFill>
                <a:latin typeface="Cambria Math"/>
                <a:cs typeface="Cambria Math"/>
              </a:rPr>
              <a:t>∆𝐼</a:t>
            </a:r>
            <a:endParaRPr sz="1364">
              <a:latin typeface="Cambria Math"/>
              <a:cs typeface="Cambria Math"/>
            </a:endParaRPr>
          </a:p>
        </p:txBody>
      </p:sp>
      <p:sp>
        <p:nvSpPr>
          <p:cNvPr id="11" name="object 11"/>
          <p:cNvSpPr txBox="1"/>
          <p:nvPr/>
        </p:nvSpPr>
        <p:spPr>
          <a:xfrm>
            <a:off x="5997118" y="1807078"/>
            <a:ext cx="562408" cy="147815"/>
          </a:xfrm>
          <a:prstGeom prst="rect">
            <a:avLst/>
          </a:prstGeom>
        </p:spPr>
        <p:txBody>
          <a:bodyPr vert="horz" wrap="square" lIns="0" tIns="11257" rIns="0" bIns="0" rtlCol="0">
            <a:spAutoFit/>
          </a:bodyPr>
          <a:lstStyle/>
          <a:p>
            <a:pPr marL="25977">
              <a:spcBef>
                <a:spcPts val="89"/>
              </a:spcBef>
            </a:pPr>
            <a:r>
              <a:rPr sz="886" dirty="0">
                <a:solidFill>
                  <a:srgbClr val="C00000"/>
                </a:solidFill>
                <a:latin typeface="Cambria Math"/>
                <a:cs typeface="Cambria Math"/>
              </a:rPr>
              <a:t>𝑙𝑜𝑎𝑑</a:t>
            </a:r>
            <a:r>
              <a:rPr sz="1330" baseline="-21367" dirty="0">
                <a:solidFill>
                  <a:srgbClr val="C00000"/>
                </a:solidFill>
                <a:latin typeface="Cambria Math"/>
                <a:cs typeface="Cambria Math"/>
              </a:rPr>
              <a:t>,</a:t>
            </a:r>
            <a:r>
              <a:rPr sz="1330" spc="173" baseline="-21367" dirty="0">
                <a:solidFill>
                  <a:srgbClr val="C00000"/>
                </a:solidFill>
                <a:latin typeface="Cambria Math"/>
                <a:cs typeface="Cambria Math"/>
              </a:rPr>
              <a:t> </a:t>
            </a:r>
            <a:r>
              <a:rPr sz="886" spc="-17" dirty="0">
                <a:solidFill>
                  <a:srgbClr val="C00000"/>
                </a:solidFill>
                <a:latin typeface="Cambria Math"/>
                <a:cs typeface="Cambria Math"/>
              </a:rPr>
              <a:t>𝑚𝑎𝑥</a:t>
            </a:r>
            <a:endParaRPr sz="886">
              <a:latin typeface="Cambria Math"/>
              <a:cs typeface="Cambria Math"/>
            </a:endParaRPr>
          </a:p>
        </p:txBody>
      </p:sp>
      <p:sp>
        <p:nvSpPr>
          <p:cNvPr id="12" name="object 12"/>
          <p:cNvSpPr txBox="1"/>
          <p:nvPr/>
        </p:nvSpPr>
        <p:spPr>
          <a:xfrm>
            <a:off x="6550434" y="1742133"/>
            <a:ext cx="436851" cy="218107"/>
          </a:xfrm>
          <a:prstGeom prst="rect">
            <a:avLst/>
          </a:prstGeom>
        </p:spPr>
        <p:txBody>
          <a:bodyPr vert="horz" wrap="square" lIns="0" tIns="8226" rIns="0" bIns="0" rtlCol="0">
            <a:spAutoFit/>
          </a:bodyPr>
          <a:lstStyle/>
          <a:p>
            <a:pPr marL="112565" indent="-86589">
              <a:spcBef>
                <a:spcPts val="65"/>
              </a:spcBef>
              <a:buChar char="∙"/>
              <a:tabLst>
                <a:tab pos="112565" algn="l"/>
              </a:tabLst>
            </a:pPr>
            <a:r>
              <a:rPr sz="2045" spc="-20" baseline="11111" dirty="0">
                <a:solidFill>
                  <a:srgbClr val="C00000"/>
                </a:solidFill>
                <a:latin typeface="Cambria Math"/>
                <a:cs typeface="Cambria Math"/>
              </a:rPr>
              <a:t>𝑉</a:t>
            </a:r>
            <a:r>
              <a:rPr sz="989" spc="-14" dirty="0">
                <a:solidFill>
                  <a:srgbClr val="C00000"/>
                </a:solidFill>
                <a:latin typeface="Cambria Math"/>
                <a:cs typeface="Cambria Math"/>
              </a:rPr>
              <a:t>𝑜𝑢𝑡</a:t>
            </a:r>
            <a:endParaRPr sz="989">
              <a:latin typeface="Cambria Math"/>
              <a:cs typeface="Cambria Math"/>
            </a:endParaRPr>
          </a:p>
        </p:txBody>
      </p:sp>
      <p:sp>
        <p:nvSpPr>
          <p:cNvPr id="13" name="object 13"/>
          <p:cNvSpPr txBox="1"/>
          <p:nvPr/>
        </p:nvSpPr>
        <p:spPr>
          <a:xfrm>
            <a:off x="7091454" y="1590946"/>
            <a:ext cx="120794" cy="218236"/>
          </a:xfrm>
          <a:prstGeom prst="rect">
            <a:avLst/>
          </a:prstGeom>
        </p:spPr>
        <p:txBody>
          <a:bodyPr vert="horz" wrap="square" lIns="0" tIns="8226" rIns="0" bIns="0" rtlCol="0">
            <a:spAutoFit/>
          </a:bodyPr>
          <a:lstStyle/>
          <a:p>
            <a:pPr marL="8659">
              <a:spcBef>
                <a:spcPts val="65"/>
              </a:spcBef>
            </a:pPr>
            <a:r>
              <a:rPr sz="1364" spc="-34" dirty="0">
                <a:latin typeface="Cambria Math"/>
                <a:cs typeface="Cambria Math"/>
              </a:rPr>
              <a:t>𝐶</a:t>
            </a:r>
            <a:endParaRPr sz="1364">
              <a:latin typeface="Cambria Math"/>
              <a:cs typeface="Cambria Math"/>
            </a:endParaRPr>
          </a:p>
        </p:txBody>
      </p:sp>
      <p:sp>
        <p:nvSpPr>
          <p:cNvPr id="14" name="object 14"/>
          <p:cNvSpPr txBox="1"/>
          <p:nvPr/>
        </p:nvSpPr>
        <p:spPr>
          <a:xfrm>
            <a:off x="7194844" y="1691218"/>
            <a:ext cx="190067" cy="147686"/>
          </a:xfrm>
          <a:prstGeom prst="rect">
            <a:avLst/>
          </a:prstGeom>
        </p:spPr>
        <p:txBody>
          <a:bodyPr vert="horz" wrap="square" lIns="0" tIns="11257" rIns="0" bIns="0" rtlCol="0">
            <a:spAutoFit/>
          </a:bodyPr>
          <a:lstStyle/>
          <a:p>
            <a:pPr marL="8659">
              <a:spcBef>
                <a:spcPts val="89"/>
              </a:spcBef>
            </a:pPr>
            <a:r>
              <a:rPr sz="886" spc="-17" dirty="0">
                <a:latin typeface="Cambria Math"/>
                <a:cs typeface="Cambria Math"/>
              </a:rPr>
              <a:t>𝑜𝑢𝑡</a:t>
            </a:r>
            <a:endParaRPr sz="886">
              <a:latin typeface="Cambria Math"/>
              <a:cs typeface="Cambria Math"/>
            </a:endParaRPr>
          </a:p>
        </p:txBody>
      </p:sp>
      <p:sp>
        <p:nvSpPr>
          <p:cNvPr id="15" name="object 15"/>
          <p:cNvSpPr/>
          <p:nvPr/>
        </p:nvSpPr>
        <p:spPr>
          <a:xfrm>
            <a:off x="5879350" y="2035060"/>
            <a:ext cx="1157720" cy="151534"/>
          </a:xfrm>
          <a:custGeom>
            <a:avLst/>
            <a:gdLst/>
            <a:ahLst/>
            <a:cxnLst/>
            <a:rect l="l" t="t" r="r" b="b"/>
            <a:pathLst>
              <a:path w="1697990" h="222250">
                <a:moveTo>
                  <a:pt x="1697736" y="0"/>
                </a:moveTo>
                <a:lnTo>
                  <a:pt x="1664454" y="65476"/>
                </a:lnTo>
                <a:lnTo>
                  <a:pt x="1627115" y="89477"/>
                </a:lnTo>
                <a:lnTo>
                  <a:pt x="1579764" y="105218"/>
                </a:lnTo>
                <a:lnTo>
                  <a:pt x="1525244" y="110871"/>
                </a:lnTo>
                <a:lnTo>
                  <a:pt x="1021359" y="110871"/>
                </a:lnTo>
                <a:lnTo>
                  <a:pt x="966839" y="116523"/>
                </a:lnTo>
                <a:lnTo>
                  <a:pt x="919488" y="132264"/>
                </a:lnTo>
                <a:lnTo>
                  <a:pt x="882149" y="156265"/>
                </a:lnTo>
                <a:lnTo>
                  <a:pt x="857661" y="186700"/>
                </a:lnTo>
                <a:lnTo>
                  <a:pt x="848868" y="221742"/>
                </a:lnTo>
                <a:lnTo>
                  <a:pt x="840074" y="186700"/>
                </a:lnTo>
                <a:lnTo>
                  <a:pt x="815586" y="156265"/>
                </a:lnTo>
                <a:lnTo>
                  <a:pt x="778247" y="132264"/>
                </a:lnTo>
                <a:lnTo>
                  <a:pt x="730896" y="116523"/>
                </a:lnTo>
                <a:lnTo>
                  <a:pt x="676376" y="110871"/>
                </a:lnTo>
                <a:lnTo>
                  <a:pt x="172491" y="110871"/>
                </a:lnTo>
                <a:lnTo>
                  <a:pt x="117971" y="105218"/>
                </a:lnTo>
                <a:lnTo>
                  <a:pt x="70620" y="89477"/>
                </a:lnTo>
                <a:lnTo>
                  <a:pt x="33281" y="65476"/>
                </a:lnTo>
                <a:lnTo>
                  <a:pt x="8793" y="35041"/>
                </a:lnTo>
                <a:lnTo>
                  <a:pt x="0" y="0"/>
                </a:lnTo>
              </a:path>
            </a:pathLst>
          </a:custGeom>
          <a:ln w="28956">
            <a:solidFill>
              <a:srgbClr val="C00000"/>
            </a:solidFill>
          </a:ln>
        </p:spPr>
        <p:txBody>
          <a:bodyPr wrap="square" lIns="0" tIns="0" rIns="0" bIns="0" rtlCol="0"/>
          <a:lstStyle/>
          <a:p>
            <a:endParaRPr sz="1227"/>
          </a:p>
        </p:txBody>
      </p:sp>
    </p:spTree>
    <p:extLst>
      <p:ext uri="{BB962C8B-B14F-4D97-AF65-F5344CB8AC3E}">
        <p14:creationId xmlns:p14="http://schemas.microsoft.com/office/powerpoint/2010/main" val="20260777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98148" y="237085"/>
            <a:ext cx="7222634" cy="531526"/>
          </a:xfrm>
          <a:prstGeom prst="rect">
            <a:avLst/>
          </a:prstGeom>
        </p:spPr>
        <p:txBody>
          <a:bodyPr vert="horz" wrap="square" lIns="0" tIns="8226" rIns="0" bIns="0" rtlCol="0">
            <a:spAutoFit/>
          </a:bodyPr>
          <a:lstStyle/>
          <a:p>
            <a:pPr marL="8659">
              <a:spcBef>
                <a:spcPts val="65"/>
              </a:spcBef>
            </a:pPr>
            <a:r>
              <a:rPr dirty="0"/>
              <a:t>Maximum</a:t>
            </a:r>
            <a:r>
              <a:rPr spc="-51" dirty="0"/>
              <a:t> </a:t>
            </a:r>
            <a:r>
              <a:rPr dirty="0"/>
              <a:t>Load</a:t>
            </a:r>
            <a:r>
              <a:rPr spc="-44" dirty="0"/>
              <a:t> </a:t>
            </a:r>
            <a:r>
              <a:rPr dirty="0"/>
              <a:t>Current</a:t>
            </a:r>
            <a:r>
              <a:rPr spc="-48" dirty="0"/>
              <a:t> </a:t>
            </a:r>
            <a:r>
              <a:rPr spc="-7" dirty="0"/>
              <a:t>(I</a:t>
            </a:r>
            <a:r>
              <a:rPr sz="2557" spc="-10" baseline="-21111" dirty="0"/>
              <a:t>load,max</a:t>
            </a:r>
            <a:r>
              <a:rPr sz="2591" spc="-7" dirty="0"/>
              <a:t>)</a:t>
            </a:r>
            <a:endParaRPr sz="2591"/>
          </a:p>
        </p:txBody>
      </p:sp>
      <p:sp>
        <p:nvSpPr>
          <p:cNvPr id="3" name="object 3"/>
          <p:cNvSpPr txBox="1"/>
          <p:nvPr/>
        </p:nvSpPr>
        <p:spPr>
          <a:xfrm>
            <a:off x="2874336" y="1417443"/>
            <a:ext cx="2209367" cy="218236"/>
          </a:xfrm>
          <a:prstGeom prst="rect">
            <a:avLst/>
          </a:prstGeom>
        </p:spPr>
        <p:txBody>
          <a:bodyPr vert="horz" wrap="square" lIns="0" tIns="8226" rIns="0" bIns="0" rtlCol="0">
            <a:spAutoFit/>
          </a:bodyPr>
          <a:lstStyle/>
          <a:p>
            <a:pPr marL="8659">
              <a:spcBef>
                <a:spcPts val="65"/>
              </a:spcBef>
              <a:tabLst>
                <a:tab pos="1956469" algn="l"/>
              </a:tabLst>
            </a:pPr>
            <a:r>
              <a:rPr sz="1364" dirty="0">
                <a:latin typeface="Cambria Math"/>
                <a:cs typeface="Cambria Math"/>
              </a:rPr>
              <a:t>𝑃𝑜𝑤𝑒𝑟</a:t>
            </a:r>
            <a:r>
              <a:rPr sz="1364" spc="7" dirty="0">
                <a:latin typeface="Cambria Math"/>
                <a:cs typeface="Cambria Math"/>
              </a:rPr>
              <a:t> </a:t>
            </a:r>
            <a:r>
              <a:rPr sz="1364" dirty="0">
                <a:latin typeface="Cambria Math"/>
                <a:cs typeface="Cambria Math"/>
              </a:rPr>
              <a:t>𝐹𝐸𝑇</a:t>
            </a:r>
            <a:r>
              <a:rPr sz="1364" spc="10" dirty="0">
                <a:latin typeface="Cambria Math"/>
                <a:cs typeface="Cambria Math"/>
              </a:rPr>
              <a:t> </a:t>
            </a:r>
            <a:r>
              <a:rPr sz="1364" dirty="0">
                <a:latin typeface="Cambria Math"/>
                <a:cs typeface="Cambria Math"/>
              </a:rPr>
              <a:t>𝑢𝑛𝑖𝑡</a:t>
            </a:r>
            <a:r>
              <a:rPr sz="1364" spc="14" dirty="0">
                <a:latin typeface="Cambria Math"/>
                <a:cs typeface="Cambria Math"/>
              </a:rPr>
              <a:t> </a:t>
            </a:r>
            <a:r>
              <a:rPr sz="1364" spc="-7" dirty="0">
                <a:latin typeface="Cambria Math"/>
                <a:cs typeface="Cambria Math"/>
              </a:rPr>
              <a:t>𝑐𝑢𝑟𝑟𝑒𝑛𝑡</a:t>
            </a:r>
            <a:r>
              <a:rPr sz="1364" dirty="0">
                <a:latin typeface="Cambria Math"/>
                <a:cs typeface="Cambria Math"/>
              </a:rPr>
              <a:t>	=</a:t>
            </a:r>
            <a:r>
              <a:rPr sz="1364" spc="65" dirty="0">
                <a:latin typeface="Cambria Math"/>
                <a:cs typeface="Cambria Math"/>
              </a:rPr>
              <a:t> </a:t>
            </a:r>
            <a:r>
              <a:rPr sz="1364" spc="-34" dirty="0">
                <a:latin typeface="Cambria Math"/>
                <a:cs typeface="Cambria Math"/>
              </a:rPr>
              <a:t>𝐼</a:t>
            </a:r>
            <a:endParaRPr sz="1364">
              <a:latin typeface="Cambria Math"/>
              <a:cs typeface="Cambria Math"/>
            </a:endParaRPr>
          </a:p>
        </p:txBody>
      </p:sp>
      <p:sp>
        <p:nvSpPr>
          <p:cNvPr id="4" name="object 4"/>
          <p:cNvSpPr txBox="1"/>
          <p:nvPr/>
        </p:nvSpPr>
        <p:spPr>
          <a:xfrm>
            <a:off x="5065778" y="1517716"/>
            <a:ext cx="83560" cy="147686"/>
          </a:xfrm>
          <a:prstGeom prst="rect">
            <a:avLst/>
          </a:prstGeom>
        </p:spPr>
        <p:txBody>
          <a:bodyPr vert="horz" wrap="square" lIns="0" tIns="11257" rIns="0" bIns="0" rtlCol="0">
            <a:spAutoFit/>
          </a:bodyPr>
          <a:lstStyle/>
          <a:p>
            <a:pPr marL="8659">
              <a:spcBef>
                <a:spcPts val="89"/>
              </a:spcBef>
            </a:pPr>
            <a:r>
              <a:rPr sz="886" spc="-34" dirty="0">
                <a:latin typeface="Cambria Math"/>
                <a:cs typeface="Cambria Math"/>
              </a:rPr>
              <a:t>𝑢</a:t>
            </a:r>
            <a:endParaRPr sz="886">
              <a:latin typeface="Cambria Math"/>
              <a:cs typeface="Cambria Math"/>
            </a:endParaRPr>
          </a:p>
        </p:txBody>
      </p:sp>
      <p:sp>
        <p:nvSpPr>
          <p:cNvPr id="5" name="object 5"/>
          <p:cNvSpPr txBox="1"/>
          <p:nvPr/>
        </p:nvSpPr>
        <p:spPr>
          <a:xfrm>
            <a:off x="5964123" y="1317062"/>
            <a:ext cx="2004580" cy="428165"/>
          </a:xfrm>
          <a:prstGeom prst="rect">
            <a:avLst/>
          </a:prstGeom>
        </p:spPr>
        <p:txBody>
          <a:bodyPr vert="horz" wrap="square" lIns="0" tIns="8226" rIns="0" bIns="0" rtlCol="0">
            <a:spAutoFit/>
          </a:bodyPr>
          <a:lstStyle/>
          <a:p>
            <a:pPr marL="8659" marR="3464">
              <a:spcBef>
                <a:spcPts val="65"/>
              </a:spcBef>
            </a:pPr>
            <a:r>
              <a:rPr sz="1364" i="1" dirty="0">
                <a:solidFill>
                  <a:srgbClr val="C00000"/>
                </a:solidFill>
                <a:latin typeface="Verdana"/>
                <a:cs typeface="Verdana"/>
              </a:rPr>
              <a:t>If</a:t>
            </a:r>
            <a:r>
              <a:rPr sz="1364" i="1" spc="-34" dirty="0">
                <a:solidFill>
                  <a:srgbClr val="C00000"/>
                </a:solidFill>
                <a:latin typeface="Verdana"/>
                <a:cs typeface="Verdana"/>
              </a:rPr>
              <a:t> </a:t>
            </a:r>
            <a:r>
              <a:rPr sz="1364" i="1" dirty="0">
                <a:solidFill>
                  <a:srgbClr val="C00000"/>
                </a:solidFill>
                <a:latin typeface="Verdana"/>
                <a:cs typeface="Verdana"/>
              </a:rPr>
              <a:t>power</a:t>
            </a:r>
            <a:r>
              <a:rPr sz="1364" i="1" spc="-24" dirty="0">
                <a:solidFill>
                  <a:srgbClr val="C00000"/>
                </a:solidFill>
                <a:latin typeface="Verdana"/>
                <a:cs typeface="Verdana"/>
              </a:rPr>
              <a:t> </a:t>
            </a:r>
            <a:r>
              <a:rPr sz="1364" i="1" dirty="0">
                <a:solidFill>
                  <a:srgbClr val="C00000"/>
                </a:solidFill>
                <a:latin typeface="Verdana"/>
                <a:cs typeface="Verdana"/>
              </a:rPr>
              <a:t>FETs</a:t>
            </a:r>
            <a:r>
              <a:rPr sz="1364" i="1" spc="-27" dirty="0">
                <a:solidFill>
                  <a:srgbClr val="C00000"/>
                </a:solidFill>
                <a:latin typeface="Verdana"/>
                <a:cs typeface="Verdana"/>
              </a:rPr>
              <a:t> </a:t>
            </a:r>
            <a:r>
              <a:rPr sz="1364" i="1" spc="-17" dirty="0">
                <a:solidFill>
                  <a:srgbClr val="C00000"/>
                </a:solidFill>
                <a:latin typeface="Verdana"/>
                <a:cs typeface="Verdana"/>
              </a:rPr>
              <a:t>are </a:t>
            </a:r>
            <a:r>
              <a:rPr sz="1364" i="1" dirty="0">
                <a:solidFill>
                  <a:srgbClr val="C00000"/>
                </a:solidFill>
                <a:latin typeface="Verdana"/>
                <a:cs typeface="Verdana"/>
              </a:rPr>
              <a:t>sized</a:t>
            </a:r>
            <a:r>
              <a:rPr sz="1364" i="1" spc="-17" dirty="0">
                <a:solidFill>
                  <a:srgbClr val="C00000"/>
                </a:solidFill>
                <a:latin typeface="Verdana"/>
                <a:cs typeface="Verdana"/>
              </a:rPr>
              <a:t> </a:t>
            </a:r>
            <a:r>
              <a:rPr sz="1364" i="1" dirty="0">
                <a:solidFill>
                  <a:srgbClr val="C00000"/>
                </a:solidFill>
                <a:latin typeface="Verdana"/>
                <a:cs typeface="Verdana"/>
              </a:rPr>
              <a:t>in</a:t>
            </a:r>
            <a:r>
              <a:rPr sz="1364" i="1" spc="-24" dirty="0">
                <a:solidFill>
                  <a:srgbClr val="C00000"/>
                </a:solidFill>
                <a:latin typeface="Verdana"/>
                <a:cs typeface="Verdana"/>
              </a:rPr>
              <a:t> </a:t>
            </a:r>
            <a:r>
              <a:rPr sz="1364" i="1" dirty="0">
                <a:solidFill>
                  <a:srgbClr val="C00000"/>
                </a:solidFill>
                <a:latin typeface="Verdana"/>
                <a:cs typeface="Verdana"/>
              </a:rPr>
              <a:t>the</a:t>
            </a:r>
            <a:r>
              <a:rPr sz="1364" i="1" spc="-20" dirty="0">
                <a:solidFill>
                  <a:srgbClr val="C00000"/>
                </a:solidFill>
                <a:latin typeface="Verdana"/>
                <a:cs typeface="Verdana"/>
              </a:rPr>
              <a:t> </a:t>
            </a:r>
            <a:r>
              <a:rPr sz="1364" i="1" dirty="0">
                <a:solidFill>
                  <a:srgbClr val="C00000"/>
                </a:solidFill>
                <a:latin typeface="Verdana"/>
                <a:cs typeface="Verdana"/>
              </a:rPr>
              <a:t>power</a:t>
            </a:r>
            <a:r>
              <a:rPr sz="1364" i="1" spc="-20" dirty="0">
                <a:solidFill>
                  <a:srgbClr val="C00000"/>
                </a:solidFill>
                <a:latin typeface="Verdana"/>
                <a:cs typeface="Verdana"/>
              </a:rPr>
              <a:t> </a:t>
            </a:r>
            <a:r>
              <a:rPr sz="1364" i="1" dirty="0">
                <a:solidFill>
                  <a:srgbClr val="C00000"/>
                </a:solidFill>
                <a:latin typeface="Verdana"/>
                <a:cs typeface="Verdana"/>
              </a:rPr>
              <a:t>of</a:t>
            </a:r>
            <a:r>
              <a:rPr sz="1364" i="1" spc="-20" dirty="0">
                <a:solidFill>
                  <a:srgbClr val="C00000"/>
                </a:solidFill>
                <a:latin typeface="Verdana"/>
                <a:cs typeface="Verdana"/>
              </a:rPr>
              <a:t> </a:t>
            </a:r>
            <a:r>
              <a:rPr sz="1364" i="1" spc="-34" dirty="0">
                <a:solidFill>
                  <a:srgbClr val="C00000"/>
                </a:solidFill>
                <a:latin typeface="Verdana"/>
                <a:cs typeface="Verdana"/>
              </a:rPr>
              <a:t>2</a:t>
            </a:r>
            <a:endParaRPr sz="1364">
              <a:latin typeface="Verdana"/>
              <a:cs typeface="Verdana"/>
            </a:endParaRPr>
          </a:p>
        </p:txBody>
      </p:sp>
      <p:grpSp>
        <p:nvGrpSpPr>
          <p:cNvPr id="6" name="object 6"/>
          <p:cNvGrpSpPr/>
          <p:nvPr/>
        </p:nvGrpSpPr>
        <p:grpSpPr>
          <a:xfrm>
            <a:off x="5856556" y="1769341"/>
            <a:ext cx="309563" cy="168419"/>
            <a:chOff x="8492249" y="1985010"/>
            <a:chExt cx="454025" cy="247015"/>
          </a:xfrm>
        </p:grpSpPr>
        <p:sp>
          <p:nvSpPr>
            <p:cNvPr id="7" name="object 7"/>
            <p:cNvSpPr/>
            <p:nvPr/>
          </p:nvSpPr>
          <p:spPr>
            <a:xfrm>
              <a:off x="8506727" y="1999488"/>
              <a:ext cx="424815" cy="211454"/>
            </a:xfrm>
            <a:custGeom>
              <a:avLst/>
              <a:gdLst/>
              <a:ahLst/>
              <a:cxnLst/>
              <a:rect l="l" t="t" r="r" b="b"/>
              <a:pathLst>
                <a:path w="424815" h="211455">
                  <a:moveTo>
                    <a:pt x="424675" y="0"/>
                  </a:moveTo>
                  <a:lnTo>
                    <a:pt x="0" y="211264"/>
                  </a:lnTo>
                </a:path>
              </a:pathLst>
            </a:custGeom>
            <a:ln w="28956">
              <a:solidFill>
                <a:srgbClr val="C00000"/>
              </a:solidFill>
              <a:prstDash val="sysDash"/>
            </a:ln>
          </p:spPr>
          <p:txBody>
            <a:bodyPr wrap="square" lIns="0" tIns="0" rIns="0" bIns="0" rtlCol="0"/>
            <a:lstStyle/>
            <a:p>
              <a:endParaRPr sz="1227"/>
            </a:p>
          </p:txBody>
        </p:sp>
        <p:sp>
          <p:nvSpPr>
            <p:cNvPr id="8" name="object 8"/>
            <p:cNvSpPr/>
            <p:nvPr/>
          </p:nvSpPr>
          <p:spPr>
            <a:xfrm>
              <a:off x="8506729" y="2126691"/>
              <a:ext cx="100965" cy="90805"/>
            </a:xfrm>
            <a:custGeom>
              <a:avLst/>
              <a:gdLst/>
              <a:ahLst/>
              <a:cxnLst/>
              <a:rect l="l" t="t" r="r" b="b"/>
              <a:pathLst>
                <a:path w="100965" h="90805">
                  <a:moveTo>
                    <a:pt x="100342" y="90741"/>
                  </a:moveTo>
                  <a:lnTo>
                    <a:pt x="0" y="84061"/>
                  </a:lnTo>
                  <a:lnTo>
                    <a:pt x="55206" y="0"/>
                  </a:lnTo>
                </a:path>
              </a:pathLst>
            </a:custGeom>
            <a:ln w="28956">
              <a:solidFill>
                <a:srgbClr val="C00000"/>
              </a:solidFill>
            </a:ln>
          </p:spPr>
          <p:txBody>
            <a:bodyPr wrap="square" lIns="0" tIns="0" rIns="0" bIns="0" rtlCol="0"/>
            <a:lstStyle/>
            <a:p>
              <a:endParaRPr sz="1227"/>
            </a:p>
          </p:txBody>
        </p:sp>
      </p:grpSp>
      <p:sp>
        <p:nvSpPr>
          <p:cNvPr id="9" name="object 9"/>
          <p:cNvSpPr txBox="1"/>
          <p:nvPr/>
        </p:nvSpPr>
        <p:spPr>
          <a:xfrm>
            <a:off x="2320949" y="1974084"/>
            <a:ext cx="1823605" cy="218236"/>
          </a:xfrm>
          <a:prstGeom prst="rect">
            <a:avLst/>
          </a:prstGeom>
        </p:spPr>
        <p:txBody>
          <a:bodyPr vert="horz" wrap="square" lIns="0" tIns="8226" rIns="0" bIns="0" rtlCol="0">
            <a:spAutoFit/>
          </a:bodyPr>
          <a:lstStyle/>
          <a:p>
            <a:pPr marL="8659">
              <a:spcBef>
                <a:spcPts val="65"/>
              </a:spcBef>
            </a:pPr>
            <a:r>
              <a:rPr sz="1364" dirty="0">
                <a:latin typeface="Cambria Math"/>
                <a:cs typeface="Cambria Math"/>
              </a:rPr>
              <a:t>𝑀𝑎𝑥𝑖𝑚𝑢𝑚 𝑙𝑜𝑎𝑑</a:t>
            </a:r>
            <a:r>
              <a:rPr sz="1364" spc="20" dirty="0">
                <a:latin typeface="Cambria Math"/>
                <a:cs typeface="Cambria Math"/>
              </a:rPr>
              <a:t> </a:t>
            </a:r>
            <a:r>
              <a:rPr sz="1364" spc="-7" dirty="0">
                <a:latin typeface="Cambria Math"/>
                <a:cs typeface="Cambria Math"/>
              </a:rPr>
              <a:t>𝑐𝑢𝑟𝑟𝑒𝑛𝑡</a:t>
            </a:r>
            <a:endParaRPr sz="1364">
              <a:latin typeface="Cambria Math"/>
              <a:cs typeface="Cambria Math"/>
            </a:endParaRPr>
          </a:p>
        </p:txBody>
      </p:sp>
      <p:sp>
        <p:nvSpPr>
          <p:cNvPr id="10" name="object 10"/>
          <p:cNvSpPr/>
          <p:nvPr/>
        </p:nvSpPr>
        <p:spPr>
          <a:xfrm>
            <a:off x="4193358" y="2026409"/>
            <a:ext cx="694459" cy="160626"/>
          </a:xfrm>
          <a:custGeom>
            <a:avLst/>
            <a:gdLst/>
            <a:ahLst/>
            <a:cxnLst/>
            <a:rect l="l" t="t" r="r" b="b"/>
            <a:pathLst>
              <a:path w="1018540" h="235585">
                <a:moveTo>
                  <a:pt x="943584" y="0"/>
                </a:moveTo>
                <a:lnTo>
                  <a:pt x="940244" y="9537"/>
                </a:lnTo>
                <a:lnTo>
                  <a:pt x="953846" y="15443"/>
                </a:lnTo>
                <a:lnTo>
                  <a:pt x="965544" y="23617"/>
                </a:lnTo>
                <a:lnTo>
                  <a:pt x="989303" y="61502"/>
                </a:lnTo>
                <a:lnTo>
                  <a:pt x="997115" y="116344"/>
                </a:lnTo>
                <a:lnTo>
                  <a:pt x="996243" y="137073"/>
                </a:lnTo>
                <a:lnTo>
                  <a:pt x="983170" y="187833"/>
                </a:lnTo>
                <a:lnTo>
                  <a:pt x="954002" y="219567"/>
                </a:lnTo>
                <a:lnTo>
                  <a:pt x="940612" y="225501"/>
                </a:lnTo>
                <a:lnTo>
                  <a:pt x="943584" y="235038"/>
                </a:lnTo>
                <a:lnTo>
                  <a:pt x="988490" y="208356"/>
                </a:lnTo>
                <a:lnTo>
                  <a:pt x="1013709" y="159105"/>
                </a:lnTo>
                <a:lnTo>
                  <a:pt x="1018540" y="117576"/>
                </a:lnTo>
                <a:lnTo>
                  <a:pt x="1017342" y="96287"/>
                </a:lnTo>
                <a:lnTo>
                  <a:pt x="1017328" y="96030"/>
                </a:lnTo>
                <a:lnTo>
                  <a:pt x="1007636" y="57844"/>
                </a:lnTo>
                <a:lnTo>
                  <a:pt x="975567" y="15070"/>
                </a:lnTo>
                <a:lnTo>
                  <a:pt x="960624" y="6153"/>
                </a:lnTo>
                <a:lnTo>
                  <a:pt x="943584" y="0"/>
                </a:lnTo>
                <a:close/>
              </a:path>
              <a:path w="1018540" h="235585">
                <a:moveTo>
                  <a:pt x="74955" y="0"/>
                </a:moveTo>
                <a:lnTo>
                  <a:pt x="30137" y="26751"/>
                </a:lnTo>
                <a:lnTo>
                  <a:pt x="4848" y="76120"/>
                </a:lnTo>
                <a:lnTo>
                  <a:pt x="69" y="116344"/>
                </a:lnTo>
                <a:lnTo>
                  <a:pt x="0" y="117576"/>
                </a:lnTo>
                <a:lnTo>
                  <a:pt x="1090" y="137073"/>
                </a:lnTo>
                <a:lnTo>
                  <a:pt x="1207" y="139174"/>
                </a:lnTo>
                <a:lnTo>
                  <a:pt x="4830" y="159105"/>
                </a:lnTo>
                <a:lnTo>
                  <a:pt x="30051" y="208356"/>
                </a:lnTo>
                <a:lnTo>
                  <a:pt x="74955" y="235038"/>
                </a:lnTo>
                <a:lnTo>
                  <a:pt x="77927" y="225501"/>
                </a:lnTo>
                <a:lnTo>
                  <a:pt x="64537" y="219567"/>
                </a:lnTo>
                <a:lnTo>
                  <a:pt x="52981" y="211310"/>
                </a:lnTo>
                <a:lnTo>
                  <a:pt x="29276" y="172819"/>
                </a:lnTo>
                <a:lnTo>
                  <a:pt x="21489" y="117576"/>
                </a:lnTo>
                <a:lnTo>
                  <a:pt x="21437" y="116344"/>
                </a:lnTo>
                <a:lnTo>
                  <a:pt x="24922" y="78006"/>
                </a:lnTo>
                <a:lnTo>
                  <a:pt x="43282" y="34060"/>
                </a:lnTo>
                <a:lnTo>
                  <a:pt x="78308" y="9537"/>
                </a:lnTo>
                <a:lnTo>
                  <a:pt x="74955" y="0"/>
                </a:lnTo>
                <a:close/>
              </a:path>
            </a:pathLst>
          </a:custGeom>
          <a:solidFill>
            <a:srgbClr val="000000"/>
          </a:solidFill>
        </p:spPr>
        <p:txBody>
          <a:bodyPr wrap="square" lIns="0" tIns="0" rIns="0" bIns="0" rtlCol="0"/>
          <a:lstStyle/>
          <a:p>
            <a:endParaRPr sz="1227"/>
          </a:p>
        </p:txBody>
      </p:sp>
      <p:sp>
        <p:nvSpPr>
          <p:cNvPr id="11" name="object 11"/>
          <p:cNvSpPr txBox="1"/>
          <p:nvPr/>
        </p:nvSpPr>
        <p:spPr>
          <a:xfrm>
            <a:off x="4223871" y="2016687"/>
            <a:ext cx="628217" cy="218107"/>
          </a:xfrm>
          <a:prstGeom prst="rect">
            <a:avLst/>
          </a:prstGeom>
        </p:spPr>
        <p:txBody>
          <a:bodyPr vert="horz" wrap="square" lIns="0" tIns="8226" rIns="0" bIns="0" rtlCol="0">
            <a:spAutoFit/>
          </a:bodyPr>
          <a:lstStyle/>
          <a:p>
            <a:pPr marL="25977">
              <a:spcBef>
                <a:spcPts val="65"/>
              </a:spcBef>
            </a:pPr>
            <a:r>
              <a:rPr sz="2045" baseline="13888" dirty="0">
                <a:latin typeface="Cambria Math"/>
                <a:cs typeface="Cambria Math"/>
              </a:rPr>
              <a:t>𝐼</a:t>
            </a:r>
            <a:r>
              <a:rPr sz="886" dirty="0">
                <a:latin typeface="Cambria Math"/>
                <a:cs typeface="Cambria Math"/>
              </a:rPr>
              <a:t>𝑙𝑜𝑎𝑑</a:t>
            </a:r>
            <a:r>
              <a:rPr sz="1330" baseline="-21367" dirty="0">
                <a:latin typeface="Cambria Math"/>
                <a:cs typeface="Cambria Math"/>
              </a:rPr>
              <a:t>,</a:t>
            </a:r>
            <a:r>
              <a:rPr sz="1330" spc="168" baseline="-21367" dirty="0">
                <a:latin typeface="Cambria Math"/>
                <a:cs typeface="Cambria Math"/>
              </a:rPr>
              <a:t> </a:t>
            </a:r>
            <a:r>
              <a:rPr sz="886" spc="-17" dirty="0">
                <a:latin typeface="Cambria Math"/>
                <a:cs typeface="Cambria Math"/>
              </a:rPr>
              <a:t>𝑚𝑎𝑥</a:t>
            </a:r>
            <a:endParaRPr sz="886">
              <a:latin typeface="Cambria Math"/>
              <a:cs typeface="Cambria Math"/>
            </a:endParaRPr>
          </a:p>
        </p:txBody>
      </p:sp>
      <p:pic>
        <p:nvPicPr>
          <p:cNvPr id="17" name="Picture 16"/>
          <p:cNvPicPr>
            <a:picLocks noChangeAspect="1"/>
          </p:cNvPicPr>
          <p:nvPr/>
        </p:nvPicPr>
        <p:blipFill>
          <a:blip r:embed="rId2"/>
          <a:stretch>
            <a:fillRect/>
          </a:stretch>
        </p:blipFill>
        <p:spPr>
          <a:xfrm>
            <a:off x="4968834" y="1761490"/>
            <a:ext cx="1222416" cy="635656"/>
          </a:xfrm>
          <a:prstGeom prst="rect">
            <a:avLst/>
          </a:prstGeom>
        </p:spPr>
      </p:pic>
    </p:spTree>
    <p:extLst>
      <p:ext uri="{BB962C8B-B14F-4D97-AF65-F5344CB8AC3E}">
        <p14:creationId xmlns:p14="http://schemas.microsoft.com/office/powerpoint/2010/main" val="32521514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98148" y="237085"/>
            <a:ext cx="7222634" cy="531526"/>
          </a:xfrm>
          <a:prstGeom prst="rect">
            <a:avLst/>
          </a:prstGeom>
        </p:spPr>
        <p:txBody>
          <a:bodyPr vert="horz" wrap="square" lIns="0" tIns="8226" rIns="0" bIns="0" rtlCol="0">
            <a:spAutoFit/>
          </a:bodyPr>
          <a:lstStyle/>
          <a:p>
            <a:pPr marL="8659">
              <a:spcBef>
                <a:spcPts val="65"/>
              </a:spcBef>
            </a:pPr>
            <a:r>
              <a:rPr dirty="0"/>
              <a:t>DAC</a:t>
            </a:r>
            <a:r>
              <a:rPr spc="-51" dirty="0"/>
              <a:t> </a:t>
            </a:r>
            <a:r>
              <a:rPr dirty="0"/>
              <a:t>Number</a:t>
            </a:r>
            <a:r>
              <a:rPr spc="-34" dirty="0"/>
              <a:t> </a:t>
            </a:r>
            <a:r>
              <a:rPr dirty="0"/>
              <a:t>of</a:t>
            </a:r>
            <a:r>
              <a:rPr spc="-31" dirty="0"/>
              <a:t> </a:t>
            </a:r>
            <a:r>
              <a:rPr dirty="0"/>
              <a:t>Bits</a:t>
            </a:r>
            <a:r>
              <a:rPr spc="-44" dirty="0"/>
              <a:t> </a:t>
            </a:r>
            <a:r>
              <a:rPr spc="-7" dirty="0"/>
              <a:t>(N</a:t>
            </a:r>
            <a:r>
              <a:rPr sz="2557" spc="-10" baseline="-21111" dirty="0"/>
              <a:t>DAC</a:t>
            </a:r>
            <a:r>
              <a:rPr sz="2591" spc="-7" dirty="0"/>
              <a:t>)</a:t>
            </a:r>
            <a:endParaRPr sz="2591"/>
          </a:p>
        </p:txBody>
      </p:sp>
      <p:sp>
        <p:nvSpPr>
          <p:cNvPr id="3" name="object 3"/>
          <p:cNvSpPr txBox="1"/>
          <p:nvPr/>
        </p:nvSpPr>
        <p:spPr>
          <a:xfrm>
            <a:off x="3085066" y="1947625"/>
            <a:ext cx="1823605" cy="218236"/>
          </a:xfrm>
          <a:prstGeom prst="rect">
            <a:avLst/>
          </a:prstGeom>
        </p:spPr>
        <p:txBody>
          <a:bodyPr vert="horz" wrap="square" lIns="0" tIns="8226" rIns="0" bIns="0" rtlCol="0">
            <a:spAutoFit/>
          </a:bodyPr>
          <a:lstStyle/>
          <a:p>
            <a:pPr marL="8659">
              <a:spcBef>
                <a:spcPts val="65"/>
              </a:spcBef>
            </a:pPr>
            <a:r>
              <a:rPr sz="1364" dirty="0">
                <a:latin typeface="Cambria Math"/>
                <a:cs typeface="Cambria Math"/>
              </a:rPr>
              <a:t>𝑀𝑎𝑥𝑖𝑚𝑢𝑚 𝑙𝑜𝑎𝑑</a:t>
            </a:r>
            <a:r>
              <a:rPr sz="1364" spc="20" dirty="0">
                <a:latin typeface="Cambria Math"/>
                <a:cs typeface="Cambria Math"/>
              </a:rPr>
              <a:t> </a:t>
            </a:r>
            <a:r>
              <a:rPr sz="1364" spc="-7" dirty="0">
                <a:latin typeface="Cambria Math"/>
                <a:cs typeface="Cambria Math"/>
              </a:rPr>
              <a:t>𝑐𝑢𝑟𝑟𝑒𝑛𝑡</a:t>
            </a:r>
            <a:endParaRPr sz="1364">
              <a:latin typeface="Cambria Math"/>
              <a:cs typeface="Cambria Math"/>
            </a:endParaRPr>
          </a:p>
        </p:txBody>
      </p:sp>
      <p:sp>
        <p:nvSpPr>
          <p:cNvPr id="4" name="object 4"/>
          <p:cNvSpPr/>
          <p:nvPr/>
        </p:nvSpPr>
        <p:spPr>
          <a:xfrm>
            <a:off x="4957475" y="1999950"/>
            <a:ext cx="694459" cy="160626"/>
          </a:xfrm>
          <a:custGeom>
            <a:avLst/>
            <a:gdLst/>
            <a:ahLst/>
            <a:cxnLst/>
            <a:rect l="l" t="t" r="r" b="b"/>
            <a:pathLst>
              <a:path w="1018540" h="235585">
                <a:moveTo>
                  <a:pt x="943584" y="0"/>
                </a:moveTo>
                <a:lnTo>
                  <a:pt x="940244" y="9537"/>
                </a:lnTo>
                <a:lnTo>
                  <a:pt x="953846" y="15443"/>
                </a:lnTo>
                <a:lnTo>
                  <a:pt x="965544" y="23617"/>
                </a:lnTo>
                <a:lnTo>
                  <a:pt x="989303" y="61502"/>
                </a:lnTo>
                <a:lnTo>
                  <a:pt x="997115" y="116344"/>
                </a:lnTo>
                <a:lnTo>
                  <a:pt x="996243" y="137073"/>
                </a:lnTo>
                <a:lnTo>
                  <a:pt x="983170" y="187833"/>
                </a:lnTo>
                <a:lnTo>
                  <a:pt x="954002" y="219567"/>
                </a:lnTo>
                <a:lnTo>
                  <a:pt x="940612" y="225501"/>
                </a:lnTo>
                <a:lnTo>
                  <a:pt x="943584" y="235038"/>
                </a:lnTo>
                <a:lnTo>
                  <a:pt x="988490" y="208356"/>
                </a:lnTo>
                <a:lnTo>
                  <a:pt x="1013709" y="159105"/>
                </a:lnTo>
                <a:lnTo>
                  <a:pt x="1018540" y="117576"/>
                </a:lnTo>
                <a:lnTo>
                  <a:pt x="1017342" y="96287"/>
                </a:lnTo>
                <a:lnTo>
                  <a:pt x="1017328" y="96030"/>
                </a:lnTo>
                <a:lnTo>
                  <a:pt x="1007636" y="57844"/>
                </a:lnTo>
                <a:lnTo>
                  <a:pt x="975567" y="15070"/>
                </a:lnTo>
                <a:lnTo>
                  <a:pt x="960624" y="6153"/>
                </a:lnTo>
                <a:lnTo>
                  <a:pt x="943584" y="0"/>
                </a:lnTo>
                <a:close/>
              </a:path>
              <a:path w="1018540" h="235585">
                <a:moveTo>
                  <a:pt x="74955" y="0"/>
                </a:moveTo>
                <a:lnTo>
                  <a:pt x="30137" y="26751"/>
                </a:lnTo>
                <a:lnTo>
                  <a:pt x="4848" y="76120"/>
                </a:lnTo>
                <a:lnTo>
                  <a:pt x="69" y="116344"/>
                </a:lnTo>
                <a:lnTo>
                  <a:pt x="0" y="117576"/>
                </a:lnTo>
                <a:lnTo>
                  <a:pt x="1090" y="137073"/>
                </a:lnTo>
                <a:lnTo>
                  <a:pt x="1207" y="139174"/>
                </a:lnTo>
                <a:lnTo>
                  <a:pt x="4830" y="159105"/>
                </a:lnTo>
                <a:lnTo>
                  <a:pt x="30051" y="208356"/>
                </a:lnTo>
                <a:lnTo>
                  <a:pt x="74955" y="235038"/>
                </a:lnTo>
                <a:lnTo>
                  <a:pt x="77927" y="225501"/>
                </a:lnTo>
                <a:lnTo>
                  <a:pt x="64537" y="219567"/>
                </a:lnTo>
                <a:lnTo>
                  <a:pt x="52981" y="211310"/>
                </a:lnTo>
                <a:lnTo>
                  <a:pt x="29276" y="172819"/>
                </a:lnTo>
                <a:lnTo>
                  <a:pt x="21489" y="117576"/>
                </a:lnTo>
                <a:lnTo>
                  <a:pt x="21437" y="116344"/>
                </a:lnTo>
                <a:lnTo>
                  <a:pt x="24922" y="78006"/>
                </a:lnTo>
                <a:lnTo>
                  <a:pt x="43282" y="34060"/>
                </a:lnTo>
                <a:lnTo>
                  <a:pt x="78308" y="9537"/>
                </a:lnTo>
                <a:lnTo>
                  <a:pt x="74955" y="0"/>
                </a:lnTo>
                <a:close/>
              </a:path>
            </a:pathLst>
          </a:custGeom>
          <a:solidFill>
            <a:srgbClr val="000000"/>
          </a:solidFill>
        </p:spPr>
        <p:txBody>
          <a:bodyPr wrap="square" lIns="0" tIns="0" rIns="0" bIns="0" rtlCol="0"/>
          <a:lstStyle/>
          <a:p>
            <a:endParaRPr sz="1227"/>
          </a:p>
        </p:txBody>
      </p:sp>
      <p:sp>
        <p:nvSpPr>
          <p:cNvPr id="5" name="object 5"/>
          <p:cNvSpPr txBox="1"/>
          <p:nvPr/>
        </p:nvSpPr>
        <p:spPr>
          <a:xfrm>
            <a:off x="4987988" y="1990228"/>
            <a:ext cx="628217" cy="218107"/>
          </a:xfrm>
          <a:prstGeom prst="rect">
            <a:avLst/>
          </a:prstGeom>
        </p:spPr>
        <p:txBody>
          <a:bodyPr vert="horz" wrap="square" lIns="0" tIns="8226" rIns="0" bIns="0" rtlCol="0">
            <a:spAutoFit/>
          </a:bodyPr>
          <a:lstStyle/>
          <a:p>
            <a:pPr marL="25977">
              <a:spcBef>
                <a:spcPts val="65"/>
              </a:spcBef>
            </a:pPr>
            <a:r>
              <a:rPr sz="2045" baseline="13888" dirty="0">
                <a:latin typeface="Cambria Math"/>
                <a:cs typeface="Cambria Math"/>
              </a:rPr>
              <a:t>𝐼</a:t>
            </a:r>
            <a:r>
              <a:rPr sz="886" dirty="0">
                <a:latin typeface="Cambria Math"/>
                <a:cs typeface="Cambria Math"/>
              </a:rPr>
              <a:t>𝑙𝑜𝑎𝑑</a:t>
            </a:r>
            <a:r>
              <a:rPr sz="1330" baseline="-21367" dirty="0">
                <a:latin typeface="Cambria Math"/>
                <a:cs typeface="Cambria Math"/>
              </a:rPr>
              <a:t>,</a:t>
            </a:r>
            <a:r>
              <a:rPr sz="1330" spc="168" baseline="-21367" dirty="0">
                <a:latin typeface="Cambria Math"/>
                <a:cs typeface="Cambria Math"/>
              </a:rPr>
              <a:t> </a:t>
            </a:r>
            <a:r>
              <a:rPr sz="886" spc="-17" dirty="0">
                <a:latin typeface="Cambria Math"/>
                <a:cs typeface="Cambria Math"/>
              </a:rPr>
              <a:t>𝑚𝑎𝑥</a:t>
            </a:r>
            <a:endParaRPr sz="886">
              <a:latin typeface="Cambria Math"/>
              <a:cs typeface="Cambria Math"/>
            </a:endParaRPr>
          </a:p>
        </p:txBody>
      </p:sp>
      <p:sp>
        <p:nvSpPr>
          <p:cNvPr id="7" name="object 7"/>
          <p:cNvSpPr txBox="1"/>
          <p:nvPr/>
        </p:nvSpPr>
        <p:spPr>
          <a:xfrm>
            <a:off x="3638453" y="1390984"/>
            <a:ext cx="2209367" cy="218236"/>
          </a:xfrm>
          <a:prstGeom prst="rect">
            <a:avLst/>
          </a:prstGeom>
        </p:spPr>
        <p:txBody>
          <a:bodyPr vert="horz" wrap="square" lIns="0" tIns="8226" rIns="0" bIns="0" rtlCol="0">
            <a:spAutoFit/>
          </a:bodyPr>
          <a:lstStyle/>
          <a:p>
            <a:pPr marL="8659">
              <a:spcBef>
                <a:spcPts val="65"/>
              </a:spcBef>
              <a:tabLst>
                <a:tab pos="1956469" algn="l"/>
              </a:tabLst>
            </a:pPr>
            <a:r>
              <a:rPr sz="1364" dirty="0">
                <a:latin typeface="Cambria Math"/>
                <a:cs typeface="Cambria Math"/>
              </a:rPr>
              <a:t>𝑃𝑜𝑤𝑒𝑟</a:t>
            </a:r>
            <a:r>
              <a:rPr sz="1364" spc="7" dirty="0">
                <a:latin typeface="Cambria Math"/>
                <a:cs typeface="Cambria Math"/>
              </a:rPr>
              <a:t> </a:t>
            </a:r>
            <a:r>
              <a:rPr sz="1364" dirty="0">
                <a:latin typeface="Cambria Math"/>
                <a:cs typeface="Cambria Math"/>
              </a:rPr>
              <a:t>𝐹𝐸𝑇</a:t>
            </a:r>
            <a:r>
              <a:rPr sz="1364" spc="10" dirty="0">
                <a:latin typeface="Cambria Math"/>
                <a:cs typeface="Cambria Math"/>
              </a:rPr>
              <a:t> </a:t>
            </a:r>
            <a:r>
              <a:rPr sz="1364" dirty="0">
                <a:latin typeface="Cambria Math"/>
                <a:cs typeface="Cambria Math"/>
              </a:rPr>
              <a:t>𝑢𝑛𝑖𝑡</a:t>
            </a:r>
            <a:r>
              <a:rPr sz="1364" spc="14" dirty="0">
                <a:latin typeface="Cambria Math"/>
                <a:cs typeface="Cambria Math"/>
              </a:rPr>
              <a:t> </a:t>
            </a:r>
            <a:r>
              <a:rPr sz="1364" spc="-7" dirty="0">
                <a:latin typeface="Cambria Math"/>
                <a:cs typeface="Cambria Math"/>
              </a:rPr>
              <a:t>𝑐𝑢𝑟𝑟𝑒𝑛𝑡</a:t>
            </a:r>
            <a:r>
              <a:rPr sz="1364" dirty="0">
                <a:latin typeface="Cambria Math"/>
                <a:cs typeface="Cambria Math"/>
              </a:rPr>
              <a:t>	=</a:t>
            </a:r>
            <a:r>
              <a:rPr sz="1364" spc="65" dirty="0">
                <a:latin typeface="Cambria Math"/>
                <a:cs typeface="Cambria Math"/>
              </a:rPr>
              <a:t> </a:t>
            </a:r>
            <a:r>
              <a:rPr sz="1364" spc="-34" dirty="0">
                <a:latin typeface="Cambria Math"/>
                <a:cs typeface="Cambria Math"/>
              </a:rPr>
              <a:t>𝐼</a:t>
            </a:r>
            <a:endParaRPr sz="1364">
              <a:latin typeface="Cambria Math"/>
              <a:cs typeface="Cambria Math"/>
            </a:endParaRPr>
          </a:p>
        </p:txBody>
      </p:sp>
      <p:sp>
        <p:nvSpPr>
          <p:cNvPr id="8" name="object 8"/>
          <p:cNvSpPr txBox="1"/>
          <p:nvPr/>
        </p:nvSpPr>
        <p:spPr>
          <a:xfrm>
            <a:off x="5829895" y="1491257"/>
            <a:ext cx="83560" cy="147686"/>
          </a:xfrm>
          <a:prstGeom prst="rect">
            <a:avLst/>
          </a:prstGeom>
        </p:spPr>
        <p:txBody>
          <a:bodyPr vert="horz" wrap="square" lIns="0" tIns="11257" rIns="0" bIns="0" rtlCol="0">
            <a:spAutoFit/>
          </a:bodyPr>
          <a:lstStyle/>
          <a:p>
            <a:pPr marL="8659">
              <a:spcBef>
                <a:spcPts val="89"/>
              </a:spcBef>
            </a:pPr>
            <a:r>
              <a:rPr sz="886" spc="-34" dirty="0">
                <a:latin typeface="Cambria Math"/>
                <a:cs typeface="Cambria Math"/>
              </a:rPr>
              <a:t>𝑢</a:t>
            </a:r>
            <a:endParaRPr sz="886">
              <a:latin typeface="Cambria Math"/>
              <a:cs typeface="Cambria Math"/>
            </a:endParaRPr>
          </a:p>
        </p:txBody>
      </p:sp>
      <p:sp>
        <p:nvSpPr>
          <p:cNvPr id="9" name="object 9"/>
          <p:cNvSpPr txBox="1"/>
          <p:nvPr/>
        </p:nvSpPr>
        <p:spPr>
          <a:xfrm>
            <a:off x="6728240" y="1290603"/>
            <a:ext cx="2004580" cy="428165"/>
          </a:xfrm>
          <a:prstGeom prst="rect">
            <a:avLst/>
          </a:prstGeom>
        </p:spPr>
        <p:txBody>
          <a:bodyPr vert="horz" wrap="square" lIns="0" tIns="8226" rIns="0" bIns="0" rtlCol="0">
            <a:spAutoFit/>
          </a:bodyPr>
          <a:lstStyle/>
          <a:p>
            <a:pPr marL="8659" marR="3464">
              <a:spcBef>
                <a:spcPts val="65"/>
              </a:spcBef>
            </a:pPr>
            <a:r>
              <a:rPr sz="1364" i="1" dirty="0">
                <a:solidFill>
                  <a:srgbClr val="C00000"/>
                </a:solidFill>
                <a:latin typeface="Verdana"/>
                <a:cs typeface="Verdana"/>
              </a:rPr>
              <a:t>If</a:t>
            </a:r>
            <a:r>
              <a:rPr sz="1364" i="1" spc="-34" dirty="0">
                <a:solidFill>
                  <a:srgbClr val="C00000"/>
                </a:solidFill>
                <a:latin typeface="Verdana"/>
                <a:cs typeface="Verdana"/>
              </a:rPr>
              <a:t> </a:t>
            </a:r>
            <a:r>
              <a:rPr sz="1364" i="1" dirty="0">
                <a:solidFill>
                  <a:srgbClr val="C00000"/>
                </a:solidFill>
                <a:latin typeface="Verdana"/>
                <a:cs typeface="Verdana"/>
              </a:rPr>
              <a:t>power</a:t>
            </a:r>
            <a:r>
              <a:rPr sz="1364" i="1" spc="-24" dirty="0">
                <a:solidFill>
                  <a:srgbClr val="C00000"/>
                </a:solidFill>
                <a:latin typeface="Verdana"/>
                <a:cs typeface="Verdana"/>
              </a:rPr>
              <a:t> </a:t>
            </a:r>
            <a:r>
              <a:rPr sz="1364" i="1" dirty="0">
                <a:solidFill>
                  <a:srgbClr val="C00000"/>
                </a:solidFill>
                <a:latin typeface="Verdana"/>
                <a:cs typeface="Verdana"/>
              </a:rPr>
              <a:t>FETs</a:t>
            </a:r>
            <a:r>
              <a:rPr sz="1364" i="1" spc="-27" dirty="0">
                <a:solidFill>
                  <a:srgbClr val="C00000"/>
                </a:solidFill>
                <a:latin typeface="Verdana"/>
                <a:cs typeface="Verdana"/>
              </a:rPr>
              <a:t> </a:t>
            </a:r>
            <a:r>
              <a:rPr sz="1364" i="1" spc="-17" dirty="0">
                <a:solidFill>
                  <a:srgbClr val="C00000"/>
                </a:solidFill>
                <a:latin typeface="Verdana"/>
                <a:cs typeface="Verdana"/>
              </a:rPr>
              <a:t>are </a:t>
            </a:r>
            <a:r>
              <a:rPr sz="1364" i="1" dirty="0">
                <a:solidFill>
                  <a:srgbClr val="C00000"/>
                </a:solidFill>
                <a:latin typeface="Verdana"/>
                <a:cs typeface="Verdana"/>
              </a:rPr>
              <a:t>sized</a:t>
            </a:r>
            <a:r>
              <a:rPr sz="1364" i="1" spc="-17" dirty="0">
                <a:solidFill>
                  <a:srgbClr val="C00000"/>
                </a:solidFill>
                <a:latin typeface="Verdana"/>
                <a:cs typeface="Verdana"/>
              </a:rPr>
              <a:t> </a:t>
            </a:r>
            <a:r>
              <a:rPr sz="1364" i="1" dirty="0">
                <a:solidFill>
                  <a:srgbClr val="C00000"/>
                </a:solidFill>
                <a:latin typeface="Verdana"/>
                <a:cs typeface="Verdana"/>
              </a:rPr>
              <a:t>in</a:t>
            </a:r>
            <a:r>
              <a:rPr sz="1364" i="1" spc="-24" dirty="0">
                <a:solidFill>
                  <a:srgbClr val="C00000"/>
                </a:solidFill>
                <a:latin typeface="Verdana"/>
                <a:cs typeface="Verdana"/>
              </a:rPr>
              <a:t> </a:t>
            </a:r>
            <a:r>
              <a:rPr sz="1364" i="1" dirty="0">
                <a:solidFill>
                  <a:srgbClr val="C00000"/>
                </a:solidFill>
                <a:latin typeface="Verdana"/>
                <a:cs typeface="Verdana"/>
              </a:rPr>
              <a:t>the</a:t>
            </a:r>
            <a:r>
              <a:rPr sz="1364" i="1" spc="-20" dirty="0">
                <a:solidFill>
                  <a:srgbClr val="C00000"/>
                </a:solidFill>
                <a:latin typeface="Verdana"/>
                <a:cs typeface="Verdana"/>
              </a:rPr>
              <a:t> </a:t>
            </a:r>
            <a:r>
              <a:rPr sz="1364" i="1" dirty="0">
                <a:solidFill>
                  <a:srgbClr val="C00000"/>
                </a:solidFill>
                <a:latin typeface="Verdana"/>
                <a:cs typeface="Verdana"/>
              </a:rPr>
              <a:t>power</a:t>
            </a:r>
            <a:r>
              <a:rPr sz="1364" i="1" spc="-20" dirty="0">
                <a:solidFill>
                  <a:srgbClr val="C00000"/>
                </a:solidFill>
                <a:latin typeface="Verdana"/>
                <a:cs typeface="Verdana"/>
              </a:rPr>
              <a:t> </a:t>
            </a:r>
            <a:r>
              <a:rPr sz="1364" i="1" dirty="0">
                <a:solidFill>
                  <a:srgbClr val="C00000"/>
                </a:solidFill>
                <a:latin typeface="Verdana"/>
                <a:cs typeface="Verdana"/>
              </a:rPr>
              <a:t>of</a:t>
            </a:r>
            <a:r>
              <a:rPr sz="1364" i="1" spc="-20" dirty="0">
                <a:solidFill>
                  <a:srgbClr val="C00000"/>
                </a:solidFill>
                <a:latin typeface="Verdana"/>
                <a:cs typeface="Verdana"/>
              </a:rPr>
              <a:t> </a:t>
            </a:r>
            <a:r>
              <a:rPr sz="1364" i="1" spc="-34" dirty="0">
                <a:solidFill>
                  <a:srgbClr val="C00000"/>
                </a:solidFill>
                <a:latin typeface="Verdana"/>
                <a:cs typeface="Verdana"/>
              </a:rPr>
              <a:t>2</a:t>
            </a:r>
            <a:endParaRPr sz="1364">
              <a:latin typeface="Verdana"/>
              <a:cs typeface="Verdana"/>
            </a:endParaRPr>
          </a:p>
        </p:txBody>
      </p:sp>
      <p:grpSp>
        <p:nvGrpSpPr>
          <p:cNvPr id="10" name="object 10"/>
          <p:cNvGrpSpPr/>
          <p:nvPr/>
        </p:nvGrpSpPr>
        <p:grpSpPr>
          <a:xfrm>
            <a:off x="6620673" y="1742882"/>
            <a:ext cx="309563" cy="168419"/>
            <a:chOff x="8492249" y="1985010"/>
            <a:chExt cx="454025" cy="247015"/>
          </a:xfrm>
        </p:grpSpPr>
        <p:sp>
          <p:nvSpPr>
            <p:cNvPr id="11" name="object 11"/>
            <p:cNvSpPr/>
            <p:nvPr/>
          </p:nvSpPr>
          <p:spPr>
            <a:xfrm>
              <a:off x="8506727" y="1999488"/>
              <a:ext cx="424815" cy="211454"/>
            </a:xfrm>
            <a:custGeom>
              <a:avLst/>
              <a:gdLst/>
              <a:ahLst/>
              <a:cxnLst/>
              <a:rect l="l" t="t" r="r" b="b"/>
              <a:pathLst>
                <a:path w="424815" h="211455">
                  <a:moveTo>
                    <a:pt x="424675" y="0"/>
                  </a:moveTo>
                  <a:lnTo>
                    <a:pt x="0" y="211264"/>
                  </a:lnTo>
                </a:path>
              </a:pathLst>
            </a:custGeom>
            <a:ln w="28956">
              <a:solidFill>
                <a:srgbClr val="C00000"/>
              </a:solidFill>
              <a:prstDash val="sysDash"/>
            </a:ln>
          </p:spPr>
          <p:txBody>
            <a:bodyPr wrap="square" lIns="0" tIns="0" rIns="0" bIns="0" rtlCol="0"/>
            <a:lstStyle/>
            <a:p>
              <a:endParaRPr sz="1227"/>
            </a:p>
          </p:txBody>
        </p:sp>
        <p:sp>
          <p:nvSpPr>
            <p:cNvPr id="12" name="object 12"/>
            <p:cNvSpPr/>
            <p:nvPr/>
          </p:nvSpPr>
          <p:spPr>
            <a:xfrm>
              <a:off x="8506729" y="2126691"/>
              <a:ext cx="100965" cy="90805"/>
            </a:xfrm>
            <a:custGeom>
              <a:avLst/>
              <a:gdLst/>
              <a:ahLst/>
              <a:cxnLst/>
              <a:rect l="l" t="t" r="r" b="b"/>
              <a:pathLst>
                <a:path w="100965" h="90805">
                  <a:moveTo>
                    <a:pt x="100342" y="90741"/>
                  </a:moveTo>
                  <a:lnTo>
                    <a:pt x="0" y="84061"/>
                  </a:lnTo>
                  <a:lnTo>
                    <a:pt x="55206" y="0"/>
                  </a:lnTo>
                </a:path>
              </a:pathLst>
            </a:custGeom>
            <a:ln w="28956">
              <a:solidFill>
                <a:srgbClr val="C00000"/>
              </a:solidFill>
            </a:ln>
          </p:spPr>
          <p:txBody>
            <a:bodyPr wrap="square" lIns="0" tIns="0" rIns="0" bIns="0" rtlCol="0"/>
            <a:lstStyle/>
            <a:p>
              <a:endParaRPr sz="1227"/>
            </a:p>
          </p:txBody>
        </p:sp>
      </p:grpSp>
      <p:sp>
        <p:nvSpPr>
          <p:cNvPr id="13" name="object 13"/>
          <p:cNvSpPr txBox="1"/>
          <p:nvPr/>
        </p:nvSpPr>
        <p:spPr>
          <a:xfrm>
            <a:off x="5196733" y="2519549"/>
            <a:ext cx="1018742" cy="218236"/>
          </a:xfrm>
          <a:prstGeom prst="rect">
            <a:avLst/>
          </a:prstGeom>
        </p:spPr>
        <p:txBody>
          <a:bodyPr vert="horz" wrap="square" lIns="0" tIns="8226" rIns="0" bIns="0" rtlCol="0">
            <a:spAutoFit/>
          </a:bodyPr>
          <a:lstStyle/>
          <a:p>
            <a:pPr marL="25977">
              <a:spcBef>
                <a:spcPts val="65"/>
              </a:spcBef>
            </a:pPr>
            <a:r>
              <a:rPr sz="1364" dirty="0">
                <a:latin typeface="Cambria Math"/>
                <a:cs typeface="Cambria Math"/>
              </a:rPr>
              <a:t>𝑁</a:t>
            </a:r>
            <a:r>
              <a:rPr sz="1330" baseline="-21367" dirty="0">
                <a:latin typeface="Cambria Math"/>
                <a:cs typeface="Cambria Math"/>
              </a:rPr>
              <a:t>𝐷𝐴𝐶</a:t>
            </a:r>
            <a:r>
              <a:rPr sz="1330" spc="383" baseline="-21367" dirty="0">
                <a:latin typeface="Cambria Math"/>
                <a:cs typeface="Cambria Math"/>
              </a:rPr>
              <a:t> </a:t>
            </a:r>
            <a:r>
              <a:rPr sz="1364" dirty="0">
                <a:latin typeface="Cambria Math"/>
                <a:cs typeface="Cambria Math"/>
              </a:rPr>
              <a:t>=</a:t>
            </a:r>
            <a:r>
              <a:rPr sz="1364" spc="92" dirty="0">
                <a:latin typeface="Cambria Math"/>
                <a:cs typeface="Cambria Math"/>
              </a:rPr>
              <a:t> </a:t>
            </a:r>
            <a:r>
              <a:rPr sz="1364" spc="-14" dirty="0">
                <a:latin typeface="Cambria Math"/>
                <a:cs typeface="Cambria Math"/>
              </a:rPr>
              <a:t>log</a:t>
            </a:r>
            <a:r>
              <a:rPr sz="1483" spc="-20" baseline="-15325" dirty="0">
                <a:latin typeface="Cambria Math"/>
                <a:cs typeface="Cambria Math"/>
              </a:rPr>
              <a:t>2</a:t>
            </a:r>
            <a:r>
              <a:rPr sz="1364" spc="-14" dirty="0">
                <a:latin typeface="Cambria Math"/>
                <a:cs typeface="Cambria Math"/>
              </a:rPr>
              <a:t>(</a:t>
            </a:r>
            <a:endParaRPr sz="1364">
              <a:latin typeface="Cambria Math"/>
              <a:cs typeface="Cambria Math"/>
            </a:endParaRPr>
          </a:p>
        </p:txBody>
      </p:sp>
      <p:sp>
        <p:nvSpPr>
          <p:cNvPr id="14" name="object 14"/>
          <p:cNvSpPr/>
          <p:nvPr/>
        </p:nvSpPr>
        <p:spPr>
          <a:xfrm>
            <a:off x="6189065" y="2646145"/>
            <a:ext cx="581024" cy="11690"/>
          </a:xfrm>
          <a:custGeom>
            <a:avLst/>
            <a:gdLst/>
            <a:ahLst/>
            <a:cxnLst/>
            <a:rect l="l" t="t" r="r" b="b"/>
            <a:pathLst>
              <a:path w="852170" h="17145">
                <a:moveTo>
                  <a:pt x="851916" y="0"/>
                </a:moveTo>
                <a:lnTo>
                  <a:pt x="0" y="0"/>
                </a:lnTo>
                <a:lnTo>
                  <a:pt x="0" y="16764"/>
                </a:lnTo>
                <a:lnTo>
                  <a:pt x="851916" y="16764"/>
                </a:lnTo>
                <a:lnTo>
                  <a:pt x="851916" y="0"/>
                </a:lnTo>
                <a:close/>
              </a:path>
            </a:pathLst>
          </a:custGeom>
          <a:solidFill>
            <a:srgbClr val="000000"/>
          </a:solidFill>
        </p:spPr>
        <p:txBody>
          <a:bodyPr wrap="square" lIns="0" tIns="0" rIns="0" bIns="0" rtlCol="0"/>
          <a:lstStyle/>
          <a:p>
            <a:endParaRPr sz="1227"/>
          </a:p>
        </p:txBody>
      </p:sp>
      <p:sp>
        <p:nvSpPr>
          <p:cNvPr id="15" name="object 15"/>
          <p:cNvSpPr txBox="1"/>
          <p:nvPr/>
        </p:nvSpPr>
        <p:spPr>
          <a:xfrm>
            <a:off x="6402251" y="2635408"/>
            <a:ext cx="83127" cy="218236"/>
          </a:xfrm>
          <a:prstGeom prst="rect">
            <a:avLst/>
          </a:prstGeom>
        </p:spPr>
        <p:txBody>
          <a:bodyPr vert="horz" wrap="square" lIns="0" tIns="8226" rIns="0" bIns="0" rtlCol="0">
            <a:spAutoFit/>
          </a:bodyPr>
          <a:lstStyle/>
          <a:p>
            <a:pPr marL="8659">
              <a:spcBef>
                <a:spcPts val="65"/>
              </a:spcBef>
            </a:pPr>
            <a:r>
              <a:rPr sz="1364" spc="-34" dirty="0">
                <a:latin typeface="Cambria Math"/>
                <a:cs typeface="Cambria Math"/>
              </a:rPr>
              <a:t>𝐼</a:t>
            </a:r>
            <a:endParaRPr sz="1364">
              <a:latin typeface="Cambria Math"/>
              <a:cs typeface="Cambria Math"/>
            </a:endParaRPr>
          </a:p>
        </p:txBody>
      </p:sp>
      <p:sp>
        <p:nvSpPr>
          <p:cNvPr id="16" name="object 16"/>
          <p:cNvSpPr txBox="1"/>
          <p:nvPr/>
        </p:nvSpPr>
        <p:spPr>
          <a:xfrm>
            <a:off x="6467715" y="2735680"/>
            <a:ext cx="83560" cy="147686"/>
          </a:xfrm>
          <a:prstGeom prst="rect">
            <a:avLst/>
          </a:prstGeom>
        </p:spPr>
        <p:txBody>
          <a:bodyPr vert="horz" wrap="square" lIns="0" tIns="11257" rIns="0" bIns="0" rtlCol="0">
            <a:spAutoFit/>
          </a:bodyPr>
          <a:lstStyle/>
          <a:p>
            <a:pPr marL="8659">
              <a:spcBef>
                <a:spcPts val="89"/>
              </a:spcBef>
            </a:pPr>
            <a:r>
              <a:rPr sz="886" spc="-34" dirty="0">
                <a:latin typeface="Cambria Math"/>
                <a:cs typeface="Cambria Math"/>
              </a:rPr>
              <a:t>𝑢</a:t>
            </a:r>
            <a:endParaRPr sz="886">
              <a:latin typeface="Cambria Math"/>
              <a:cs typeface="Cambria Math"/>
            </a:endParaRPr>
          </a:p>
        </p:txBody>
      </p:sp>
      <p:sp>
        <p:nvSpPr>
          <p:cNvPr id="17" name="object 17"/>
          <p:cNvSpPr txBox="1"/>
          <p:nvPr/>
        </p:nvSpPr>
        <p:spPr>
          <a:xfrm>
            <a:off x="6163087" y="2431226"/>
            <a:ext cx="1007918" cy="218107"/>
          </a:xfrm>
          <a:prstGeom prst="rect">
            <a:avLst/>
          </a:prstGeom>
        </p:spPr>
        <p:txBody>
          <a:bodyPr vert="horz" wrap="square" lIns="0" tIns="8226" rIns="0" bIns="0" rtlCol="0">
            <a:spAutoFit/>
          </a:bodyPr>
          <a:lstStyle/>
          <a:p>
            <a:pPr marL="25977">
              <a:spcBef>
                <a:spcPts val="65"/>
              </a:spcBef>
            </a:pPr>
            <a:r>
              <a:rPr sz="2045" baseline="13888" dirty="0">
                <a:latin typeface="Cambria Math"/>
                <a:cs typeface="Cambria Math"/>
              </a:rPr>
              <a:t>𝐼</a:t>
            </a:r>
            <a:r>
              <a:rPr sz="886" dirty="0">
                <a:latin typeface="Cambria Math"/>
                <a:cs typeface="Cambria Math"/>
              </a:rPr>
              <a:t>𝑙𝑜𝑎𝑑</a:t>
            </a:r>
            <a:r>
              <a:rPr sz="1330" baseline="-21367" dirty="0">
                <a:latin typeface="Cambria Math"/>
                <a:cs typeface="Cambria Math"/>
              </a:rPr>
              <a:t>,</a:t>
            </a:r>
            <a:r>
              <a:rPr sz="1330" spc="82" baseline="-21367" dirty="0">
                <a:latin typeface="Cambria Math"/>
                <a:cs typeface="Cambria Math"/>
              </a:rPr>
              <a:t> </a:t>
            </a:r>
            <a:r>
              <a:rPr sz="886" dirty="0">
                <a:latin typeface="Cambria Math"/>
                <a:cs typeface="Cambria Math"/>
              </a:rPr>
              <a:t>𝑚𝑎𝑥</a:t>
            </a:r>
            <a:r>
              <a:rPr sz="886" spc="187" dirty="0">
                <a:latin typeface="Cambria Math"/>
                <a:cs typeface="Cambria Math"/>
              </a:rPr>
              <a:t> </a:t>
            </a:r>
            <a:r>
              <a:rPr sz="2045" baseline="-27777" dirty="0">
                <a:latin typeface="Cambria Math"/>
                <a:cs typeface="Cambria Math"/>
              </a:rPr>
              <a:t>+</a:t>
            </a:r>
            <a:r>
              <a:rPr sz="2045" spc="66" baseline="-27777" dirty="0">
                <a:latin typeface="Cambria Math"/>
                <a:cs typeface="Cambria Math"/>
              </a:rPr>
              <a:t> </a:t>
            </a:r>
            <a:r>
              <a:rPr sz="2045" spc="-25" baseline="-27777" dirty="0">
                <a:latin typeface="Cambria Math"/>
                <a:cs typeface="Cambria Math"/>
              </a:rPr>
              <a:t>1)</a:t>
            </a:r>
            <a:endParaRPr sz="2045" baseline="-27777">
              <a:latin typeface="Cambria Math"/>
              <a:cs typeface="Cambria Math"/>
            </a:endParaRPr>
          </a:p>
        </p:txBody>
      </p:sp>
      <p:sp>
        <p:nvSpPr>
          <p:cNvPr id="18" name="object 18"/>
          <p:cNvSpPr txBox="1"/>
          <p:nvPr/>
        </p:nvSpPr>
        <p:spPr>
          <a:xfrm>
            <a:off x="2812373" y="2508996"/>
            <a:ext cx="83127" cy="218236"/>
          </a:xfrm>
          <a:prstGeom prst="rect">
            <a:avLst/>
          </a:prstGeom>
        </p:spPr>
        <p:txBody>
          <a:bodyPr vert="horz" wrap="square" lIns="0" tIns="8226" rIns="0" bIns="0" rtlCol="0">
            <a:spAutoFit/>
          </a:bodyPr>
          <a:lstStyle/>
          <a:p>
            <a:pPr marL="8659">
              <a:spcBef>
                <a:spcPts val="65"/>
              </a:spcBef>
            </a:pPr>
            <a:r>
              <a:rPr sz="1364" spc="-34" dirty="0">
                <a:latin typeface="Cambria Math"/>
                <a:cs typeface="Cambria Math"/>
              </a:rPr>
              <a:t>𝐼</a:t>
            </a:r>
            <a:endParaRPr sz="1364">
              <a:latin typeface="Cambria Math"/>
              <a:cs typeface="Cambria Math"/>
            </a:endParaRPr>
          </a:p>
        </p:txBody>
      </p:sp>
      <p:sp>
        <p:nvSpPr>
          <p:cNvPr id="19" name="object 19"/>
          <p:cNvSpPr txBox="1"/>
          <p:nvPr/>
        </p:nvSpPr>
        <p:spPr>
          <a:xfrm>
            <a:off x="2860435" y="2609275"/>
            <a:ext cx="562408" cy="147815"/>
          </a:xfrm>
          <a:prstGeom prst="rect">
            <a:avLst/>
          </a:prstGeom>
        </p:spPr>
        <p:txBody>
          <a:bodyPr vert="horz" wrap="square" lIns="0" tIns="11257" rIns="0" bIns="0" rtlCol="0">
            <a:spAutoFit/>
          </a:bodyPr>
          <a:lstStyle/>
          <a:p>
            <a:pPr marL="25977">
              <a:spcBef>
                <a:spcPts val="89"/>
              </a:spcBef>
            </a:pPr>
            <a:r>
              <a:rPr sz="886" dirty="0">
                <a:latin typeface="Cambria Math"/>
                <a:cs typeface="Cambria Math"/>
              </a:rPr>
              <a:t>𝑙𝑜𝑎𝑑</a:t>
            </a:r>
            <a:r>
              <a:rPr sz="1330" baseline="-21367" dirty="0">
                <a:latin typeface="Cambria Math"/>
                <a:cs typeface="Cambria Math"/>
              </a:rPr>
              <a:t>,</a:t>
            </a:r>
            <a:r>
              <a:rPr sz="1330" spc="179" baseline="-21367" dirty="0">
                <a:latin typeface="Cambria Math"/>
                <a:cs typeface="Cambria Math"/>
              </a:rPr>
              <a:t> </a:t>
            </a:r>
            <a:r>
              <a:rPr sz="886" spc="-17" dirty="0">
                <a:latin typeface="Cambria Math"/>
                <a:cs typeface="Cambria Math"/>
              </a:rPr>
              <a:t>𝑚𝑎𝑥</a:t>
            </a:r>
            <a:endParaRPr sz="886">
              <a:latin typeface="Cambria Math"/>
              <a:cs typeface="Cambria Math"/>
            </a:endParaRPr>
          </a:p>
        </p:txBody>
      </p:sp>
      <p:sp>
        <p:nvSpPr>
          <p:cNvPr id="20" name="object 20"/>
          <p:cNvSpPr txBox="1"/>
          <p:nvPr/>
        </p:nvSpPr>
        <p:spPr>
          <a:xfrm>
            <a:off x="3684607" y="2609275"/>
            <a:ext cx="83560" cy="147686"/>
          </a:xfrm>
          <a:prstGeom prst="rect">
            <a:avLst/>
          </a:prstGeom>
        </p:spPr>
        <p:txBody>
          <a:bodyPr vert="horz" wrap="square" lIns="0" tIns="11257" rIns="0" bIns="0" rtlCol="0">
            <a:spAutoFit/>
          </a:bodyPr>
          <a:lstStyle/>
          <a:p>
            <a:pPr marL="8659">
              <a:spcBef>
                <a:spcPts val="89"/>
              </a:spcBef>
            </a:pPr>
            <a:r>
              <a:rPr sz="886" spc="-34" dirty="0">
                <a:latin typeface="Cambria Math"/>
                <a:cs typeface="Cambria Math"/>
              </a:rPr>
              <a:t>𝑢</a:t>
            </a:r>
            <a:endParaRPr sz="886">
              <a:latin typeface="Cambria Math"/>
              <a:cs typeface="Cambria Math"/>
            </a:endParaRPr>
          </a:p>
        </p:txBody>
      </p:sp>
      <p:sp>
        <p:nvSpPr>
          <p:cNvPr id="21" name="object 21"/>
          <p:cNvSpPr txBox="1"/>
          <p:nvPr/>
        </p:nvSpPr>
        <p:spPr>
          <a:xfrm>
            <a:off x="3423622" y="2509002"/>
            <a:ext cx="1333066" cy="218236"/>
          </a:xfrm>
          <a:prstGeom prst="rect">
            <a:avLst/>
          </a:prstGeom>
        </p:spPr>
        <p:txBody>
          <a:bodyPr vert="horz" wrap="square" lIns="0" tIns="8226" rIns="0" bIns="0" rtlCol="0">
            <a:spAutoFit/>
          </a:bodyPr>
          <a:lstStyle/>
          <a:p>
            <a:pPr marL="25977">
              <a:spcBef>
                <a:spcPts val="65"/>
              </a:spcBef>
            </a:pPr>
            <a:r>
              <a:rPr sz="1364" dirty="0">
                <a:latin typeface="Cambria Math"/>
                <a:cs typeface="Cambria Math"/>
              </a:rPr>
              <a:t>=</a:t>
            </a:r>
            <a:r>
              <a:rPr sz="1364" spc="72" dirty="0">
                <a:latin typeface="Cambria Math"/>
                <a:cs typeface="Cambria Math"/>
              </a:rPr>
              <a:t> </a:t>
            </a:r>
            <a:r>
              <a:rPr sz="1364" dirty="0">
                <a:latin typeface="Cambria Math"/>
                <a:cs typeface="Cambria Math"/>
              </a:rPr>
              <a:t>𝐼</a:t>
            </a:r>
            <a:r>
              <a:rPr sz="1364" spc="242" dirty="0">
                <a:latin typeface="Cambria Math"/>
                <a:cs typeface="Cambria Math"/>
              </a:rPr>
              <a:t> </a:t>
            </a:r>
            <a:r>
              <a:rPr sz="1364" spc="44" dirty="0" smtClean="0">
                <a:latin typeface="Cambria Math"/>
                <a:cs typeface="Cambria Math"/>
              </a:rPr>
              <a:t>(2</a:t>
            </a:r>
            <a:r>
              <a:rPr sz="1483" spc="66" baseline="28735" dirty="0">
                <a:latin typeface="Cambria Math"/>
                <a:cs typeface="Cambria Math"/>
              </a:rPr>
              <a:t>𝑁</a:t>
            </a:r>
            <a:r>
              <a:rPr sz="1227" spc="66" baseline="20833" dirty="0">
                <a:latin typeface="Cambria Math"/>
                <a:cs typeface="Cambria Math"/>
              </a:rPr>
              <a:t>𝐷AC</a:t>
            </a:r>
            <a:r>
              <a:rPr sz="1227" spc="312" baseline="20833" dirty="0">
                <a:latin typeface="Cambria Math"/>
                <a:cs typeface="Cambria Math"/>
              </a:rPr>
              <a:t> </a:t>
            </a:r>
            <a:r>
              <a:rPr sz="1364" dirty="0">
                <a:latin typeface="Cambria Math"/>
                <a:cs typeface="Cambria Math"/>
              </a:rPr>
              <a:t>−</a:t>
            </a:r>
            <a:r>
              <a:rPr sz="1364" spc="3" dirty="0">
                <a:latin typeface="Cambria Math"/>
                <a:cs typeface="Cambria Math"/>
              </a:rPr>
              <a:t> </a:t>
            </a:r>
            <a:r>
              <a:rPr sz="1364" spc="-17" dirty="0">
                <a:latin typeface="Cambria Math"/>
                <a:cs typeface="Cambria Math"/>
              </a:rPr>
              <a:t>1)</a:t>
            </a:r>
            <a:endParaRPr sz="1364" dirty="0">
              <a:latin typeface="Cambria Math"/>
              <a:cs typeface="Cambria Math"/>
            </a:endParaRPr>
          </a:p>
        </p:txBody>
      </p:sp>
      <p:pic>
        <p:nvPicPr>
          <p:cNvPr id="22" name="object 22"/>
          <p:cNvPicPr/>
          <p:nvPr/>
        </p:nvPicPr>
        <p:blipFill>
          <a:blip r:embed="rId2" cstate="print"/>
          <a:stretch>
            <a:fillRect/>
          </a:stretch>
        </p:blipFill>
        <p:spPr>
          <a:xfrm>
            <a:off x="4918287" y="2591819"/>
            <a:ext cx="168332" cy="120014"/>
          </a:xfrm>
          <a:prstGeom prst="rect">
            <a:avLst/>
          </a:prstGeom>
        </p:spPr>
      </p:pic>
      <p:pic>
        <p:nvPicPr>
          <p:cNvPr id="27" name="Picture 26"/>
          <p:cNvPicPr>
            <a:picLocks noChangeAspect="1"/>
          </p:cNvPicPr>
          <p:nvPr/>
        </p:nvPicPr>
        <p:blipFill>
          <a:blip r:embed="rId3"/>
          <a:stretch>
            <a:fillRect/>
          </a:stretch>
        </p:blipFill>
        <p:spPr>
          <a:xfrm>
            <a:off x="5736126" y="1741381"/>
            <a:ext cx="1222416" cy="635656"/>
          </a:xfrm>
          <a:prstGeom prst="rect">
            <a:avLst/>
          </a:prstGeom>
        </p:spPr>
      </p:pic>
    </p:spTree>
    <p:extLst>
      <p:ext uri="{BB962C8B-B14F-4D97-AF65-F5344CB8AC3E}">
        <p14:creationId xmlns:p14="http://schemas.microsoft.com/office/powerpoint/2010/main" val="322036473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98148" y="237085"/>
            <a:ext cx="7222634" cy="531526"/>
          </a:xfrm>
          <a:prstGeom prst="rect">
            <a:avLst/>
          </a:prstGeom>
        </p:spPr>
        <p:txBody>
          <a:bodyPr vert="horz" wrap="square" lIns="0" tIns="8226" rIns="0" bIns="0" rtlCol="0">
            <a:spAutoFit/>
          </a:bodyPr>
          <a:lstStyle/>
          <a:p>
            <a:pPr marL="8659">
              <a:spcBef>
                <a:spcPts val="65"/>
              </a:spcBef>
            </a:pPr>
            <a:r>
              <a:rPr dirty="0"/>
              <a:t>DAC</a:t>
            </a:r>
            <a:r>
              <a:rPr spc="-34" dirty="0"/>
              <a:t> </a:t>
            </a:r>
            <a:r>
              <a:rPr dirty="0"/>
              <a:t>Step</a:t>
            </a:r>
            <a:r>
              <a:rPr spc="-20" dirty="0"/>
              <a:t> </a:t>
            </a:r>
            <a:r>
              <a:rPr dirty="0"/>
              <a:t>Size</a:t>
            </a:r>
            <a:r>
              <a:rPr spc="-34" dirty="0"/>
              <a:t> </a:t>
            </a:r>
            <a:r>
              <a:rPr spc="-7" dirty="0"/>
              <a:t>(V</a:t>
            </a:r>
            <a:r>
              <a:rPr sz="2557" spc="-10" baseline="-21111" dirty="0"/>
              <a:t>DAC,SS</a:t>
            </a:r>
            <a:r>
              <a:rPr sz="2591" spc="-7" dirty="0"/>
              <a:t>)</a:t>
            </a:r>
            <a:endParaRPr sz="2591"/>
          </a:p>
        </p:txBody>
      </p:sp>
      <p:sp>
        <p:nvSpPr>
          <p:cNvPr id="3" name="object 3"/>
          <p:cNvSpPr txBox="1"/>
          <p:nvPr/>
        </p:nvSpPr>
        <p:spPr>
          <a:xfrm>
            <a:off x="4866084" y="3108035"/>
            <a:ext cx="1755631" cy="218107"/>
          </a:xfrm>
          <a:prstGeom prst="rect">
            <a:avLst/>
          </a:prstGeom>
        </p:spPr>
        <p:txBody>
          <a:bodyPr vert="horz" wrap="square" lIns="0" tIns="8226" rIns="0" bIns="0" rtlCol="0">
            <a:spAutoFit/>
          </a:bodyPr>
          <a:lstStyle/>
          <a:p>
            <a:pPr marL="25977">
              <a:spcBef>
                <a:spcPts val="65"/>
              </a:spcBef>
            </a:pPr>
            <a:r>
              <a:rPr sz="2045" baseline="13888" dirty="0">
                <a:latin typeface="Cambria Math"/>
                <a:cs typeface="Cambria Math"/>
              </a:rPr>
              <a:t>𝑉</a:t>
            </a:r>
            <a:r>
              <a:rPr sz="886" dirty="0">
                <a:latin typeface="Cambria Math"/>
                <a:cs typeface="Cambria Math"/>
              </a:rPr>
              <a:t>𝐷𝐴𝐶</a:t>
            </a:r>
            <a:r>
              <a:rPr sz="1330" baseline="-21367" dirty="0">
                <a:latin typeface="Cambria Math"/>
                <a:cs typeface="Cambria Math"/>
              </a:rPr>
              <a:t>,</a:t>
            </a:r>
            <a:r>
              <a:rPr sz="1330" spc="66" baseline="-21367" dirty="0">
                <a:latin typeface="Cambria Math"/>
                <a:cs typeface="Cambria Math"/>
              </a:rPr>
              <a:t> </a:t>
            </a:r>
            <a:r>
              <a:rPr sz="886" dirty="0">
                <a:latin typeface="Cambria Math"/>
                <a:cs typeface="Cambria Math"/>
              </a:rPr>
              <a:t>𝑆𝑆</a:t>
            </a:r>
            <a:r>
              <a:rPr sz="886" spc="222" dirty="0">
                <a:latin typeface="Cambria Math"/>
                <a:cs typeface="Cambria Math"/>
              </a:rPr>
              <a:t> </a:t>
            </a:r>
            <a:r>
              <a:rPr sz="2045" baseline="13888" dirty="0">
                <a:latin typeface="Cambria Math"/>
                <a:cs typeface="Cambria Math"/>
              </a:rPr>
              <a:t>=</a:t>
            </a:r>
            <a:r>
              <a:rPr sz="2045" spc="148" baseline="13888" dirty="0">
                <a:latin typeface="Cambria Math"/>
                <a:cs typeface="Cambria Math"/>
              </a:rPr>
              <a:t> </a:t>
            </a:r>
            <a:r>
              <a:rPr sz="2045" baseline="13888" dirty="0" smtClean="0">
                <a:latin typeface="Cambria Math"/>
                <a:cs typeface="Cambria Math"/>
              </a:rPr>
              <a:t>𝐼</a:t>
            </a:r>
            <a:r>
              <a:rPr sz="1483" baseline="3831" dirty="0" smtClean="0">
                <a:latin typeface="Cambria Math"/>
                <a:cs typeface="Cambria Math"/>
              </a:rPr>
              <a:t>𝑢</a:t>
            </a:r>
            <a:r>
              <a:rPr sz="1483" spc="286" baseline="3831" dirty="0" smtClean="0">
                <a:latin typeface="Cambria Math"/>
                <a:cs typeface="Cambria Math"/>
              </a:rPr>
              <a:t> </a:t>
            </a:r>
            <a:r>
              <a:rPr lang="en-US" sz="1483" spc="286" baseline="3831" dirty="0" smtClean="0">
                <a:latin typeface="Cambria Math"/>
                <a:cs typeface="Cambria Math"/>
              </a:rPr>
              <a:t>.</a:t>
            </a:r>
            <a:r>
              <a:rPr sz="2045" spc="61" baseline="13888" dirty="0" smtClean="0">
                <a:latin typeface="Cambria Math"/>
                <a:cs typeface="Cambria Math"/>
              </a:rPr>
              <a:t>𝑅</a:t>
            </a:r>
            <a:r>
              <a:rPr sz="1483" spc="61" baseline="3831" dirty="0" smtClean="0">
                <a:latin typeface="Cambria Math"/>
                <a:cs typeface="Cambria Math"/>
              </a:rPr>
              <a:t>𝑙𝑜𝑎𝑑</a:t>
            </a:r>
            <a:r>
              <a:rPr sz="1483" spc="61" baseline="3831" dirty="0">
                <a:latin typeface="Cambria Math"/>
                <a:cs typeface="Cambria Math"/>
              </a:rPr>
              <a:t>,𝑚𝑎𝑥</a:t>
            </a:r>
            <a:endParaRPr sz="1483" baseline="3831" dirty="0">
              <a:latin typeface="Cambria Math"/>
              <a:cs typeface="Cambria Math"/>
            </a:endParaRPr>
          </a:p>
        </p:txBody>
      </p:sp>
      <p:sp>
        <p:nvSpPr>
          <p:cNvPr id="4" name="object 4"/>
          <p:cNvSpPr txBox="1"/>
          <p:nvPr/>
        </p:nvSpPr>
        <p:spPr>
          <a:xfrm>
            <a:off x="4630111" y="1468243"/>
            <a:ext cx="2209367" cy="218236"/>
          </a:xfrm>
          <a:prstGeom prst="rect">
            <a:avLst/>
          </a:prstGeom>
        </p:spPr>
        <p:txBody>
          <a:bodyPr vert="horz" wrap="square" lIns="0" tIns="8226" rIns="0" bIns="0" rtlCol="0">
            <a:spAutoFit/>
          </a:bodyPr>
          <a:lstStyle/>
          <a:p>
            <a:pPr marL="8659">
              <a:spcBef>
                <a:spcPts val="65"/>
              </a:spcBef>
              <a:tabLst>
                <a:tab pos="1956469" algn="l"/>
              </a:tabLst>
            </a:pPr>
            <a:r>
              <a:rPr sz="1364" dirty="0">
                <a:latin typeface="Cambria Math"/>
                <a:cs typeface="Cambria Math"/>
              </a:rPr>
              <a:t>𝑃𝑜𝑤𝑒𝑟</a:t>
            </a:r>
            <a:r>
              <a:rPr sz="1364" spc="7" dirty="0">
                <a:latin typeface="Cambria Math"/>
                <a:cs typeface="Cambria Math"/>
              </a:rPr>
              <a:t> </a:t>
            </a:r>
            <a:r>
              <a:rPr sz="1364" dirty="0">
                <a:latin typeface="Cambria Math"/>
                <a:cs typeface="Cambria Math"/>
              </a:rPr>
              <a:t>𝐹𝐸𝑇</a:t>
            </a:r>
            <a:r>
              <a:rPr sz="1364" spc="10" dirty="0">
                <a:latin typeface="Cambria Math"/>
                <a:cs typeface="Cambria Math"/>
              </a:rPr>
              <a:t> </a:t>
            </a:r>
            <a:r>
              <a:rPr sz="1364" dirty="0">
                <a:latin typeface="Cambria Math"/>
                <a:cs typeface="Cambria Math"/>
              </a:rPr>
              <a:t>𝑢𝑛𝑖𝑡</a:t>
            </a:r>
            <a:r>
              <a:rPr sz="1364" spc="14" dirty="0">
                <a:latin typeface="Cambria Math"/>
                <a:cs typeface="Cambria Math"/>
              </a:rPr>
              <a:t> </a:t>
            </a:r>
            <a:r>
              <a:rPr sz="1364" spc="-7" dirty="0">
                <a:latin typeface="Cambria Math"/>
                <a:cs typeface="Cambria Math"/>
              </a:rPr>
              <a:t>𝑐𝑢𝑟𝑟𝑒𝑛𝑡</a:t>
            </a:r>
            <a:r>
              <a:rPr sz="1364" dirty="0">
                <a:latin typeface="Cambria Math"/>
                <a:cs typeface="Cambria Math"/>
              </a:rPr>
              <a:t>	=</a:t>
            </a:r>
            <a:r>
              <a:rPr sz="1364" spc="65" dirty="0">
                <a:latin typeface="Cambria Math"/>
                <a:cs typeface="Cambria Math"/>
              </a:rPr>
              <a:t> </a:t>
            </a:r>
            <a:r>
              <a:rPr sz="1364" spc="-34" dirty="0">
                <a:latin typeface="Cambria Math"/>
                <a:cs typeface="Cambria Math"/>
              </a:rPr>
              <a:t>𝐼</a:t>
            </a:r>
            <a:endParaRPr sz="1364">
              <a:latin typeface="Cambria Math"/>
              <a:cs typeface="Cambria Math"/>
            </a:endParaRPr>
          </a:p>
        </p:txBody>
      </p:sp>
      <p:sp>
        <p:nvSpPr>
          <p:cNvPr id="5" name="object 5"/>
          <p:cNvSpPr txBox="1"/>
          <p:nvPr/>
        </p:nvSpPr>
        <p:spPr>
          <a:xfrm>
            <a:off x="6821553" y="1568516"/>
            <a:ext cx="83560" cy="147686"/>
          </a:xfrm>
          <a:prstGeom prst="rect">
            <a:avLst/>
          </a:prstGeom>
        </p:spPr>
        <p:txBody>
          <a:bodyPr vert="horz" wrap="square" lIns="0" tIns="11257" rIns="0" bIns="0" rtlCol="0">
            <a:spAutoFit/>
          </a:bodyPr>
          <a:lstStyle/>
          <a:p>
            <a:pPr marL="8659">
              <a:spcBef>
                <a:spcPts val="89"/>
              </a:spcBef>
            </a:pPr>
            <a:r>
              <a:rPr sz="886" spc="-34" dirty="0">
                <a:latin typeface="Cambria Math"/>
                <a:cs typeface="Cambria Math"/>
              </a:rPr>
              <a:t>𝑢</a:t>
            </a:r>
            <a:endParaRPr sz="886">
              <a:latin typeface="Cambria Math"/>
              <a:cs typeface="Cambria Math"/>
            </a:endParaRPr>
          </a:p>
        </p:txBody>
      </p:sp>
      <p:sp>
        <p:nvSpPr>
          <p:cNvPr id="6" name="object 6"/>
          <p:cNvSpPr txBox="1"/>
          <p:nvPr/>
        </p:nvSpPr>
        <p:spPr>
          <a:xfrm>
            <a:off x="2319299" y="2913379"/>
            <a:ext cx="2037051" cy="428165"/>
          </a:xfrm>
          <a:prstGeom prst="rect">
            <a:avLst/>
          </a:prstGeom>
        </p:spPr>
        <p:txBody>
          <a:bodyPr vert="horz" wrap="square" lIns="0" tIns="8226" rIns="0" bIns="0" rtlCol="0">
            <a:spAutoFit/>
          </a:bodyPr>
          <a:lstStyle/>
          <a:p>
            <a:pPr marL="8659" marR="3464">
              <a:spcBef>
                <a:spcPts val="65"/>
              </a:spcBef>
            </a:pPr>
            <a:r>
              <a:rPr sz="1364" i="1" dirty="0">
                <a:solidFill>
                  <a:srgbClr val="C00000"/>
                </a:solidFill>
                <a:latin typeface="Verdana"/>
                <a:cs typeface="Verdana"/>
              </a:rPr>
              <a:t>Output</a:t>
            </a:r>
            <a:r>
              <a:rPr sz="1364" i="1" spc="-51" dirty="0">
                <a:solidFill>
                  <a:srgbClr val="C00000"/>
                </a:solidFill>
                <a:latin typeface="Verdana"/>
                <a:cs typeface="Verdana"/>
              </a:rPr>
              <a:t> </a:t>
            </a:r>
            <a:r>
              <a:rPr sz="1364" i="1" spc="-7" dirty="0">
                <a:solidFill>
                  <a:srgbClr val="C00000"/>
                </a:solidFill>
                <a:latin typeface="Verdana"/>
                <a:cs typeface="Verdana"/>
              </a:rPr>
              <a:t>voltage </a:t>
            </a:r>
            <a:r>
              <a:rPr sz="1364" i="1" dirty="0">
                <a:solidFill>
                  <a:srgbClr val="C00000"/>
                </a:solidFill>
                <a:latin typeface="Verdana"/>
                <a:cs typeface="Verdana"/>
              </a:rPr>
              <a:t>resolution</a:t>
            </a:r>
            <a:r>
              <a:rPr sz="1364" i="1" spc="-44" dirty="0">
                <a:solidFill>
                  <a:srgbClr val="C00000"/>
                </a:solidFill>
                <a:latin typeface="Verdana"/>
                <a:cs typeface="Verdana"/>
              </a:rPr>
              <a:t> </a:t>
            </a:r>
            <a:r>
              <a:rPr sz="1364" i="1" spc="-7" dirty="0">
                <a:solidFill>
                  <a:srgbClr val="C00000"/>
                </a:solidFill>
                <a:latin typeface="Verdana"/>
                <a:cs typeface="Verdana"/>
              </a:rPr>
              <a:t>(worst-</a:t>
            </a:r>
            <a:r>
              <a:rPr sz="1364" i="1" spc="-14" dirty="0">
                <a:solidFill>
                  <a:srgbClr val="C00000"/>
                </a:solidFill>
                <a:latin typeface="Verdana"/>
                <a:cs typeface="Verdana"/>
              </a:rPr>
              <a:t>case)</a:t>
            </a:r>
            <a:endParaRPr sz="1364">
              <a:latin typeface="Verdana"/>
              <a:cs typeface="Verdana"/>
            </a:endParaRPr>
          </a:p>
        </p:txBody>
      </p:sp>
      <p:grpSp>
        <p:nvGrpSpPr>
          <p:cNvPr id="7" name="object 7"/>
          <p:cNvGrpSpPr/>
          <p:nvPr/>
        </p:nvGrpSpPr>
        <p:grpSpPr>
          <a:xfrm>
            <a:off x="4457815" y="3159264"/>
            <a:ext cx="278823" cy="89189"/>
            <a:chOff x="3865626" y="3949058"/>
            <a:chExt cx="408940" cy="130810"/>
          </a:xfrm>
        </p:grpSpPr>
        <p:sp>
          <p:nvSpPr>
            <p:cNvPr id="8" name="object 8"/>
            <p:cNvSpPr/>
            <p:nvPr/>
          </p:nvSpPr>
          <p:spPr>
            <a:xfrm>
              <a:off x="3865626" y="4014215"/>
              <a:ext cx="394335" cy="0"/>
            </a:xfrm>
            <a:custGeom>
              <a:avLst/>
              <a:gdLst/>
              <a:ahLst/>
              <a:cxnLst/>
              <a:rect l="l" t="t" r="r" b="b"/>
              <a:pathLst>
                <a:path w="394335">
                  <a:moveTo>
                    <a:pt x="0" y="0"/>
                  </a:moveTo>
                  <a:lnTo>
                    <a:pt x="394246" y="0"/>
                  </a:lnTo>
                </a:path>
              </a:pathLst>
            </a:custGeom>
            <a:ln w="28956">
              <a:solidFill>
                <a:srgbClr val="C00000"/>
              </a:solidFill>
              <a:prstDash val="sysDash"/>
            </a:ln>
          </p:spPr>
          <p:txBody>
            <a:bodyPr wrap="square" lIns="0" tIns="0" rIns="0" bIns="0" rtlCol="0"/>
            <a:lstStyle/>
            <a:p>
              <a:endParaRPr sz="1227"/>
            </a:p>
          </p:txBody>
        </p:sp>
        <p:sp>
          <p:nvSpPr>
            <p:cNvPr id="9" name="object 9"/>
            <p:cNvSpPr/>
            <p:nvPr/>
          </p:nvSpPr>
          <p:spPr>
            <a:xfrm>
              <a:off x="4173004" y="3963536"/>
              <a:ext cx="86995" cy="101600"/>
            </a:xfrm>
            <a:custGeom>
              <a:avLst/>
              <a:gdLst/>
              <a:ahLst/>
              <a:cxnLst/>
              <a:rect l="l" t="t" r="r" b="b"/>
              <a:pathLst>
                <a:path w="86995" h="101600">
                  <a:moveTo>
                    <a:pt x="0" y="0"/>
                  </a:moveTo>
                  <a:lnTo>
                    <a:pt x="86868" y="50673"/>
                  </a:lnTo>
                  <a:lnTo>
                    <a:pt x="0" y="101346"/>
                  </a:lnTo>
                </a:path>
              </a:pathLst>
            </a:custGeom>
            <a:ln w="28956">
              <a:solidFill>
                <a:srgbClr val="C00000"/>
              </a:solidFill>
            </a:ln>
          </p:spPr>
          <p:txBody>
            <a:bodyPr wrap="square" lIns="0" tIns="0" rIns="0" bIns="0" rtlCol="0"/>
            <a:lstStyle/>
            <a:p>
              <a:endParaRPr sz="1227"/>
            </a:p>
          </p:txBody>
        </p:sp>
      </p:grpSp>
      <p:sp>
        <p:nvSpPr>
          <p:cNvPr id="10" name="object 10"/>
          <p:cNvSpPr txBox="1"/>
          <p:nvPr/>
        </p:nvSpPr>
        <p:spPr>
          <a:xfrm>
            <a:off x="7719898" y="1367862"/>
            <a:ext cx="2004580" cy="428165"/>
          </a:xfrm>
          <a:prstGeom prst="rect">
            <a:avLst/>
          </a:prstGeom>
        </p:spPr>
        <p:txBody>
          <a:bodyPr vert="horz" wrap="square" lIns="0" tIns="8226" rIns="0" bIns="0" rtlCol="0">
            <a:spAutoFit/>
          </a:bodyPr>
          <a:lstStyle/>
          <a:p>
            <a:pPr marL="8659" marR="3464">
              <a:spcBef>
                <a:spcPts val="65"/>
              </a:spcBef>
            </a:pPr>
            <a:r>
              <a:rPr sz="1364" i="1" dirty="0">
                <a:solidFill>
                  <a:srgbClr val="C00000"/>
                </a:solidFill>
                <a:latin typeface="Verdana"/>
                <a:cs typeface="Verdana"/>
              </a:rPr>
              <a:t>If</a:t>
            </a:r>
            <a:r>
              <a:rPr sz="1364" i="1" spc="-34" dirty="0">
                <a:solidFill>
                  <a:srgbClr val="C00000"/>
                </a:solidFill>
                <a:latin typeface="Verdana"/>
                <a:cs typeface="Verdana"/>
              </a:rPr>
              <a:t> </a:t>
            </a:r>
            <a:r>
              <a:rPr sz="1364" i="1" dirty="0">
                <a:solidFill>
                  <a:srgbClr val="C00000"/>
                </a:solidFill>
                <a:latin typeface="Verdana"/>
                <a:cs typeface="Verdana"/>
              </a:rPr>
              <a:t>power</a:t>
            </a:r>
            <a:r>
              <a:rPr sz="1364" i="1" spc="-24" dirty="0">
                <a:solidFill>
                  <a:srgbClr val="C00000"/>
                </a:solidFill>
                <a:latin typeface="Verdana"/>
                <a:cs typeface="Verdana"/>
              </a:rPr>
              <a:t> </a:t>
            </a:r>
            <a:r>
              <a:rPr sz="1364" i="1" dirty="0">
                <a:solidFill>
                  <a:srgbClr val="C00000"/>
                </a:solidFill>
                <a:latin typeface="Verdana"/>
                <a:cs typeface="Verdana"/>
              </a:rPr>
              <a:t>FETs</a:t>
            </a:r>
            <a:r>
              <a:rPr sz="1364" i="1" spc="-27" dirty="0">
                <a:solidFill>
                  <a:srgbClr val="C00000"/>
                </a:solidFill>
                <a:latin typeface="Verdana"/>
                <a:cs typeface="Verdana"/>
              </a:rPr>
              <a:t> </a:t>
            </a:r>
            <a:r>
              <a:rPr sz="1364" i="1" spc="-17" dirty="0">
                <a:solidFill>
                  <a:srgbClr val="C00000"/>
                </a:solidFill>
                <a:latin typeface="Verdana"/>
                <a:cs typeface="Verdana"/>
              </a:rPr>
              <a:t>are </a:t>
            </a:r>
            <a:r>
              <a:rPr sz="1364" i="1" dirty="0">
                <a:solidFill>
                  <a:srgbClr val="C00000"/>
                </a:solidFill>
                <a:latin typeface="Verdana"/>
                <a:cs typeface="Verdana"/>
              </a:rPr>
              <a:t>sized</a:t>
            </a:r>
            <a:r>
              <a:rPr sz="1364" i="1" spc="-17" dirty="0">
                <a:solidFill>
                  <a:srgbClr val="C00000"/>
                </a:solidFill>
                <a:latin typeface="Verdana"/>
                <a:cs typeface="Verdana"/>
              </a:rPr>
              <a:t> </a:t>
            </a:r>
            <a:r>
              <a:rPr sz="1364" i="1" dirty="0">
                <a:solidFill>
                  <a:srgbClr val="C00000"/>
                </a:solidFill>
                <a:latin typeface="Verdana"/>
                <a:cs typeface="Verdana"/>
              </a:rPr>
              <a:t>in</a:t>
            </a:r>
            <a:r>
              <a:rPr sz="1364" i="1" spc="-24" dirty="0">
                <a:solidFill>
                  <a:srgbClr val="C00000"/>
                </a:solidFill>
                <a:latin typeface="Verdana"/>
                <a:cs typeface="Verdana"/>
              </a:rPr>
              <a:t> </a:t>
            </a:r>
            <a:r>
              <a:rPr sz="1364" i="1" dirty="0">
                <a:solidFill>
                  <a:srgbClr val="C00000"/>
                </a:solidFill>
                <a:latin typeface="Verdana"/>
                <a:cs typeface="Verdana"/>
              </a:rPr>
              <a:t>the</a:t>
            </a:r>
            <a:r>
              <a:rPr sz="1364" i="1" spc="-20" dirty="0">
                <a:solidFill>
                  <a:srgbClr val="C00000"/>
                </a:solidFill>
                <a:latin typeface="Verdana"/>
                <a:cs typeface="Verdana"/>
              </a:rPr>
              <a:t> </a:t>
            </a:r>
            <a:r>
              <a:rPr sz="1364" i="1" dirty="0">
                <a:solidFill>
                  <a:srgbClr val="C00000"/>
                </a:solidFill>
                <a:latin typeface="Verdana"/>
                <a:cs typeface="Verdana"/>
              </a:rPr>
              <a:t>power</a:t>
            </a:r>
            <a:r>
              <a:rPr sz="1364" i="1" spc="-20" dirty="0">
                <a:solidFill>
                  <a:srgbClr val="C00000"/>
                </a:solidFill>
                <a:latin typeface="Verdana"/>
                <a:cs typeface="Verdana"/>
              </a:rPr>
              <a:t> </a:t>
            </a:r>
            <a:r>
              <a:rPr sz="1364" i="1" dirty="0">
                <a:solidFill>
                  <a:srgbClr val="C00000"/>
                </a:solidFill>
                <a:latin typeface="Verdana"/>
                <a:cs typeface="Verdana"/>
              </a:rPr>
              <a:t>of</a:t>
            </a:r>
            <a:r>
              <a:rPr sz="1364" i="1" spc="-20" dirty="0">
                <a:solidFill>
                  <a:srgbClr val="C00000"/>
                </a:solidFill>
                <a:latin typeface="Verdana"/>
                <a:cs typeface="Verdana"/>
              </a:rPr>
              <a:t> </a:t>
            </a:r>
            <a:r>
              <a:rPr sz="1364" i="1" spc="-34" dirty="0">
                <a:solidFill>
                  <a:srgbClr val="C00000"/>
                </a:solidFill>
                <a:latin typeface="Verdana"/>
                <a:cs typeface="Verdana"/>
              </a:rPr>
              <a:t>2</a:t>
            </a:r>
            <a:endParaRPr sz="1364">
              <a:latin typeface="Verdana"/>
              <a:cs typeface="Verdana"/>
            </a:endParaRPr>
          </a:p>
        </p:txBody>
      </p:sp>
      <p:grpSp>
        <p:nvGrpSpPr>
          <p:cNvPr id="11" name="object 11"/>
          <p:cNvGrpSpPr/>
          <p:nvPr/>
        </p:nvGrpSpPr>
        <p:grpSpPr>
          <a:xfrm>
            <a:off x="7612331" y="1820141"/>
            <a:ext cx="309563" cy="168419"/>
            <a:chOff x="8492249" y="1985010"/>
            <a:chExt cx="454025" cy="247015"/>
          </a:xfrm>
        </p:grpSpPr>
        <p:sp>
          <p:nvSpPr>
            <p:cNvPr id="12" name="object 12"/>
            <p:cNvSpPr/>
            <p:nvPr/>
          </p:nvSpPr>
          <p:spPr>
            <a:xfrm>
              <a:off x="8506727" y="1999488"/>
              <a:ext cx="424815" cy="211454"/>
            </a:xfrm>
            <a:custGeom>
              <a:avLst/>
              <a:gdLst/>
              <a:ahLst/>
              <a:cxnLst/>
              <a:rect l="l" t="t" r="r" b="b"/>
              <a:pathLst>
                <a:path w="424815" h="211455">
                  <a:moveTo>
                    <a:pt x="424675" y="0"/>
                  </a:moveTo>
                  <a:lnTo>
                    <a:pt x="0" y="211264"/>
                  </a:lnTo>
                </a:path>
              </a:pathLst>
            </a:custGeom>
            <a:ln w="28956">
              <a:solidFill>
                <a:srgbClr val="C00000"/>
              </a:solidFill>
              <a:prstDash val="sysDash"/>
            </a:ln>
          </p:spPr>
          <p:txBody>
            <a:bodyPr wrap="square" lIns="0" tIns="0" rIns="0" bIns="0" rtlCol="0"/>
            <a:lstStyle/>
            <a:p>
              <a:endParaRPr sz="1227"/>
            </a:p>
          </p:txBody>
        </p:sp>
        <p:sp>
          <p:nvSpPr>
            <p:cNvPr id="13" name="object 13"/>
            <p:cNvSpPr/>
            <p:nvPr/>
          </p:nvSpPr>
          <p:spPr>
            <a:xfrm>
              <a:off x="8506729" y="2126691"/>
              <a:ext cx="100965" cy="90805"/>
            </a:xfrm>
            <a:custGeom>
              <a:avLst/>
              <a:gdLst/>
              <a:ahLst/>
              <a:cxnLst/>
              <a:rect l="l" t="t" r="r" b="b"/>
              <a:pathLst>
                <a:path w="100965" h="90805">
                  <a:moveTo>
                    <a:pt x="100342" y="90741"/>
                  </a:moveTo>
                  <a:lnTo>
                    <a:pt x="0" y="84061"/>
                  </a:lnTo>
                  <a:lnTo>
                    <a:pt x="55206" y="0"/>
                  </a:lnTo>
                </a:path>
              </a:pathLst>
            </a:custGeom>
            <a:ln w="28956">
              <a:solidFill>
                <a:srgbClr val="C00000"/>
              </a:solidFill>
            </a:ln>
          </p:spPr>
          <p:txBody>
            <a:bodyPr wrap="square" lIns="0" tIns="0" rIns="0" bIns="0" rtlCol="0"/>
            <a:lstStyle/>
            <a:p>
              <a:endParaRPr sz="1227"/>
            </a:p>
          </p:txBody>
        </p:sp>
      </p:grpSp>
      <p:sp>
        <p:nvSpPr>
          <p:cNvPr id="14" name="object 14"/>
          <p:cNvSpPr txBox="1"/>
          <p:nvPr/>
        </p:nvSpPr>
        <p:spPr>
          <a:xfrm>
            <a:off x="4076724" y="2024884"/>
            <a:ext cx="1823605" cy="218236"/>
          </a:xfrm>
          <a:prstGeom prst="rect">
            <a:avLst/>
          </a:prstGeom>
        </p:spPr>
        <p:txBody>
          <a:bodyPr vert="horz" wrap="square" lIns="0" tIns="8226" rIns="0" bIns="0" rtlCol="0">
            <a:spAutoFit/>
          </a:bodyPr>
          <a:lstStyle/>
          <a:p>
            <a:pPr marL="8659">
              <a:spcBef>
                <a:spcPts val="65"/>
              </a:spcBef>
            </a:pPr>
            <a:r>
              <a:rPr sz="1364" dirty="0">
                <a:latin typeface="Cambria Math"/>
                <a:cs typeface="Cambria Math"/>
              </a:rPr>
              <a:t>𝑀𝑎𝑥𝑖𝑚𝑢𝑚 𝑙𝑜𝑎𝑑</a:t>
            </a:r>
            <a:r>
              <a:rPr sz="1364" spc="20" dirty="0">
                <a:latin typeface="Cambria Math"/>
                <a:cs typeface="Cambria Math"/>
              </a:rPr>
              <a:t> </a:t>
            </a:r>
            <a:r>
              <a:rPr sz="1364" spc="-7" dirty="0">
                <a:latin typeface="Cambria Math"/>
                <a:cs typeface="Cambria Math"/>
              </a:rPr>
              <a:t>𝑐𝑢𝑟𝑟𝑒𝑛𝑡</a:t>
            </a:r>
            <a:endParaRPr sz="1364">
              <a:latin typeface="Cambria Math"/>
              <a:cs typeface="Cambria Math"/>
            </a:endParaRPr>
          </a:p>
        </p:txBody>
      </p:sp>
      <p:sp>
        <p:nvSpPr>
          <p:cNvPr id="15" name="object 15"/>
          <p:cNvSpPr/>
          <p:nvPr/>
        </p:nvSpPr>
        <p:spPr>
          <a:xfrm>
            <a:off x="5949133" y="2077209"/>
            <a:ext cx="694459" cy="160626"/>
          </a:xfrm>
          <a:custGeom>
            <a:avLst/>
            <a:gdLst/>
            <a:ahLst/>
            <a:cxnLst/>
            <a:rect l="l" t="t" r="r" b="b"/>
            <a:pathLst>
              <a:path w="1018540" h="235585">
                <a:moveTo>
                  <a:pt x="943584" y="0"/>
                </a:moveTo>
                <a:lnTo>
                  <a:pt x="940244" y="9537"/>
                </a:lnTo>
                <a:lnTo>
                  <a:pt x="953846" y="15443"/>
                </a:lnTo>
                <a:lnTo>
                  <a:pt x="965544" y="23617"/>
                </a:lnTo>
                <a:lnTo>
                  <a:pt x="989303" y="61502"/>
                </a:lnTo>
                <a:lnTo>
                  <a:pt x="997115" y="116344"/>
                </a:lnTo>
                <a:lnTo>
                  <a:pt x="996243" y="137073"/>
                </a:lnTo>
                <a:lnTo>
                  <a:pt x="983170" y="187833"/>
                </a:lnTo>
                <a:lnTo>
                  <a:pt x="954002" y="219567"/>
                </a:lnTo>
                <a:lnTo>
                  <a:pt x="940612" y="225501"/>
                </a:lnTo>
                <a:lnTo>
                  <a:pt x="943584" y="235038"/>
                </a:lnTo>
                <a:lnTo>
                  <a:pt x="988490" y="208356"/>
                </a:lnTo>
                <a:lnTo>
                  <a:pt x="1013709" y="159105"/>
                </a:lnTo>
                <a:lnTo>
                  <a:pt x="1018540" y="117576"/>
                </a:lnTo>
                <a:lnTo>
                  <a:pt x="1017342" y="96287"/>
                </a:lnTo>
                <a:lnTo>
                  <a:pt x="1017328" y="96030"/>
                </a:lnTo>
                <a:lnTo>
                  <a:pt x="1007636" y="57844"/>
                </a:lnTo>
                <a:lnTo>
                  <a:pt x="975567" y="15070"/>
                </a:lnTo>
                <a:lnTo>
                  <a:pt x="960624" y="6153"/>
                </a:lnTo>
                <a:lnTo>
                  <a:pt x="943584" y="0"/>
                </a:lnTo>
                <a:close/>
              </a:path>
              <a:path w="1018540" h="235585">
                <a:moveTo>
                  <a:pt x="74955" y="0"/>
                </a:moveTo>
                <a:lnTo>
                  <a:pt x="30137" y="26751"/>
                </a:lnTo>
                <a:lnTo>
                  <a:pt x="4848" y="76120"/>
                </a:lnTo>
                <a:lnTo>
                  <a:pt x="69" y="116344"/>
                </a:lnTo>
                <a:lnTo>
                  <a:pt x="0" y="117576"/>
                </a:lnTo>
                <a:lnTo>
                  <a:pt x="1090" y="137073"/>
                </a:lnTo>
                <a:lnTo>
                  <a:pt x="1207" y="139174"/>
                </a:lnTo>
                <a:lnTo>
                  <a:pt x="4830" y="159105"/>
                </a:lnTo>
                <a:lnTo>
                  <a:pt x="30051" y="208356"/>
                </a:lnTo>
                <a:lnTo>
                  <a:pt x="74955" y="235038"/>
                </a:lnTo>
                <a:lnTo>
                  <a:pt x="77927" y="225501"/>
                </a:lnTo>
                <a:lnTo>
                  <a:pt x="64537" y="219567"/>
                </a:lnTo>
                <a:lnTo>
                  <a:pt x="52981" y="211310"/>
                </a:lnTo>
                <a:lnTo>
                  <a:pt x="29276" y="172819"/>
                </a:lnTo>
                <a:lnTo>
                  <a:pt x="21489" y="117576"/>
                </a:lnTo>
                <a:lnTo>
                  <a:pt x="21437" y="116344"/>
                </a:lnTo>
                <a:lnTo>
                  <a:pt x="24922" y="78006"/>
                </a:lnTo>
                <a:lnTo>
                  <a:pt x="43282" y="34060"/>
                </a:lnTo>
                <a:lnTo>
                  <a:pt x="78308" y="9537"/>
                </a:lnTo>
                <a:lnTo>
                  <a:pt x="74955" y="0"/>
                </a:lnTo>
                <a:close/>
              </a:path>
            </a:pathLst>
          </a:custGeom>
          <a:solidFill>
            <a:srgbClr val="000000"/>
          </a:solidFill>
        </p:spPr>
        <p:txBody>
          <a:bodyPr wrap="square" lIns="0" tIns="0" rIns="0" bIns="0" rtlCol="0"/>
          <a:lstStyle/>
          <a:p>
            <a:endParaRPr sz="1227"/>
          </a:p>
        </p:txBody>
      </p:sp>
      <p:sp>
        <p:nvSpPr>
          <p:cNvPr id="16" name="object 16"/>
          <p:cNvSpPr txBox="1"/>
          <p:nvPr/>
        </p:nvSpPr>
        <p:spPr>
          <a:xfrm>
            <a:off x="5979646" y="2067487"/>
            <a:ext cx="628217" cy="218107"/>
          </a:xfrm>
          <a:prstGeom prst="rect">
            <a:avLst/>
          </a:prstGeom>
        </p:spPr>
        <p:txBody>
          <a:bodyPr vert="horz" wrap="square" lIns="0" tIns="8226" rIns="0" bIns="0" rtlCol="0">
            <a:spAutoFit/>
          </a:bodyPr>
          <a:lstStyle/>
          <a:p>
            <a:pPr marL="25977">
              <a:spcBef>
                <a:spcPts val="65"/>
              </a:spcBef>
            </a:pPr>
            <a:r>
              <a:rPr sz="2045" baseline="13888" dirty="0">
                <a:latin typeface="Cambria Math"/>
                <a:cs typeface="Cambria Math"/>
              </a:rPr>
              <a:t>𝐼</a:t>
            </a:r>
            <a:r>
              <a:rPr sz="886" dirty="0">
                <a:latin typeface="Cambria Math"/>
                <a:cs typeface="Cambria Math"/>
              </a:rPr>
              <a:t>𝑙𝑜𝑎𝑑</a:t>
            </a:r>
            <a:r>
              <a:rPr sz="1330" baseline="-21367" dirty="0">
                <a:latin typeface="Cambria Math"/>
                <a:cs typeface="Cambria Math"/>
              </a:rPr>
              <a:t>,</a:t>
            </a:r>
            <a:r>
              <a:rPr sz="1330" spc="168" baseline="-21367" dirty="0">
                <a:latin typeface="Cambria Math"/>
                <a:cs typeface="Cambria Math"/>
              </a:rPr>
              <a:t> </a:t>
            </a:r>
            <a:r>
              <a:rPr sz="886" spc="-17" dirty="0">
                <a:latin typeface="Cambria Math"/>
                <a:cs typeface="Cambria Math"/>
              </a:rPr>
              <a:t>𝑚𝑎𝑥</a:t>
            </a:r>
            <a:endParaRPr sz="886">
              <a:latin typeface="Cambria Math"/>
              <a:cs typeface="Cambria Math"/>
            </a:endParaRPr>
          </a:p>
        </p:txBody>
      </p:sp>
      <p:sp>
        <p:nvSpPr>
          <p:cNvPr id="18" name="object 18"/>
          <p:cNvSpPr txBox="1"/>
          <p:nvPr/>
        </p:nvSpPr>
        <p:spPr>
          <a:xfrm>
            <a:off x="6188391" y="2596808"/>
            <a:ext cx="1018742" cy="218236"/>
          </a:xfrm>
          <a:prstGeom prst="rect">
            <a:avLst/>
          </a:prstGeom>
        </p:spPr>
        <p:txBody>
          <a:bodyPr vert="horz" wrap="square" lIns="0" tIns="8226" rIns="0" bIns="0" rtlCol="0">
            <a:spAutoFit/>
          </a:bodyPr>
          <a:lstStyle/>
          <a:p>
            <a:pPr marL="25977">
              <a:spcBef>
                <a:spcPts val="65"/>
              </a:spcBef>
            </a:pPr>
            <a:r>
              <a:rPr sz="1364" dirty="0">
                <a:latin typeface="Cambria Math"/>
                <a:cs typeface="Cambria Math"/>
              </a:rPr>
              <a:t>𝑁</a:t>
            </a:r>
            <a:r>
              <a:rPr sz="1330" baseline="-21367" dirty="0">
                <a:latin typeface="Cambria Math"/>
                <a:cs typeface="Cambria Math"/>
              </a:rPr>
              <a:t>𝐷𝐴𝐶</a:t>
            </a:r>
            <a:r>
              <a:rPr sz="1330" spc="383" baseline="-21367" dirty="0">
                <a:latin typeface="Cambria Math"/>
                <a:cs typeface="Cambria Math"/>
              </a:rPr>
              <a:t> </a:t>
            </a:r>
            <a:r>
              <a:rPr sz="1364" dirty="0">
                <a:latin typeface="Cambria Math"/>
                <a:cs typeface="Cambria Math"/>
              </a:rPr>
              <a:t>=</a:t>
            </a:r>
            <a:r>
              <a:rPr sz="1364" spc="92" dirty="0">
                <a:latin typeface="Cambria Math"/>
                <a:cs typeface="Cambria Math"/>
              </a:rPr>
              <a:t> </a:t>
            </a:r>
            <a:r>
              <a:rPr sz="1364" spc="-14" dirty="0">
                <a:latin typeface="Cambria Math"/>
                <a:cs typeface="Cambria Math"/>
              </a:rPr>
              <a:t>log</a:t>
            </a:r>
            <a:r>
              <a:rPr sz="1483" spc="-20" baseline="-15325" dirty="0">
                <a:latin typeface="Cambria Math"/>
                <a:cs typeface="Cambria Math"/>
              </a:rPr>
              <a:t>2</a:t>
            </a:r>
            <a:r>
              <a:rPr sz="1364" spc="-14" dirty="0">
                <a:latin typeface="Cambria Math"/>
                <a:cs typeface="Cambria Math"/>
              </a:rPr>
              <a:t>(</a:t>
            </a:r>
            <a:endParaRPr sz="1364">
              <a:latin typeface="Cambria Math"/>
              <a:cs typeface="Cambria Math"/>
            </a:endParaRPr>
          </a:p>
        </p:txBody>
      </p:sp>
      <p:sp>
        <p:nvSpPr>
          <p:cNvPr id="19" name="object 19"/>
          <p:cNvSpPr/>
          <p:nvPr/>
        </p:nvSpPr>
        <p:spPr>
          <a:xfrm>
            <a:off x="7180723" y="2723404"/>
            <a:ext cx="581024" cy="11690"/>
          </a:xfrm>
          <a:custGeom>
            <a:avLst/>
            <a:gdLst/>
            <a:ahLst/>
            <a:cxnLst/>
            <a:rect l="l" t="t" r="r" b="b"/>
            <a:pathLst>
              <a:path w="852170" h="17145">
                <a:moveTo>
                  <a:pt x="851916" y="0"/>
                </a:moveTo>
                <a:lnTo>
                  <a:pt x="0" y="0"/>
                </a:lnTo>
                <a:lnTo>
                  <a:pt x="0" y="16764"/>
                </a:lnTo>
                <a:lnTo>
                  <a:pt x="851916" y="16764"/>
                </a:lnTo>
                <a:lnTo>
                  <a:pt x="851916" y="0"/>
                </a:lnTo>
                <a:close/>
              </a:path>
            </a:pathLst>
          </a:custGeom>
          <a:solidFill>
            <a:srgbClr val="000000"/>
          </a:solidFill>
        </p:spPr>
        <p:txBody>
          <a:bodyPr wrap="square" lIns="0" tIns="0" rIns="0" bIns="0" rtlCol="0"/>
          <a:lstStyle/>
          <a:p>
            <a:endParaRPr sz="1227"/>
          </a:p>
        </p:txBody>
      </p:sp>
      <p:sp>
        <p:nvSpPr>
          <p:cNvPr id="20" name="object 20"/>
          <p:cNvSpPr txBox="1"/>
          <p:nvPr/>
        </p:nvSpPr>
        <p:spPr>
          <a:xfrm>
            <a:off x="7393909" y="2712667"/>
            <a:ext cx="83127" cy="218236"/>
          </a:xfrm>
          <a:prstGeom prst="rect">
            <a:avLst/>
          </a:prstGeom>
        </p:spPr>
        <p:txBody>
          <a:bodyPr vert="horz" wrap="square" lIns="0" tIns="8226" rIns="0" bIns="0" rtlCol="0">
            <a:spAutoFit/>
          </a:bodyPr>
          <a:lstStyle/>
          <a:p>
            <a:pPr marL="8659">
              <a:spcBef>
                <a:spcPts val="65"/>
              </a:spcBef>
            </a:pPr>
            <a:r>
              <a:rPr sz="1364" spc="-34" dirty="0">
                <a:latin typeface="Cambria Math"/>
                <a:cs typeface="Cambria Math"/>
              </a:rPr>
              <a:t>𝐼</a:t>
            </a:r>
            <a:endParaRPr sz="1364">
              <a:latin typeface="Cambria Math"/>
              <a:cs typeface="Cambria Math"/>
            </a:endParaRPr>
          </a:p>
        </p:txBody>
      </p:sp>
      <p:sp>
        <p:nvSpPr>
          <p:cNvPr id="21" name="object 21"/>
          <p:cNvSpPr txBox="1"/>
          <p:nvPr/>
        </p:nvSpPr>
        <p:spPr>
          <a:xfrm>
            <a:off x="7459373" y="2812939"/>
            <a:ext cx="83560" cy="147686"/>
          </a:xfrm>
          <a:prstGeom prst="rect">
            <a:avLst/>
          </a:prstGeom>
        </p:spPr>
        <p:txBody>
          <a:bodyPr vert="horz" wrap="square" lIns="0" tIns="11257" rIns="0" bIns="0" rtlCol="0">
            <a:spAutoFit/>
          </a:bodyPr>
          <a:lstStyle/>
          <a:p>
            <a:pPr marL="8659">
              <a:spcBef>
                <a:spcPts val="89"/>
              </a:spcBef>
            </a:pPr>
            <a:r>
              <a:rPr sz="886" spc="-34" dirty="0">
                <a:latin typeface="Cambria Math"/>
                <a:cs typeface="Cambria Math"/>
              </a:rPr>
              <a:t>𝑢</a:t>
            </a:r>
            <a:endParaRPr sz="886">
              <a:latin typeface="Cambria Math"/>
              <a:cs typeface="Cambria Math"/>
            </a:endParaRPr>
          </a:p>
        </p:txBody>
      </p:sp>
      <p:sp>
        <p:nvSpPr>
          <p:cNvPr id="22" name="object 22"/>
          <p:cNvSpPr txBox="1"/>
          <p:nvPr/>
        </p:nvSpPr>
        <p:spPr>
          <a:xfrm>
            <a:off x="7154745" y="2508485"/>
            <a:ext cx="1007918" cy="218107"/>
          </a:xfrm>
          <a:prstGeom prst="rect">
            <a:avLst/>
          </a:prstGeom>
        </p:spPr>
        <p:txBody>
          <a:bodyPr vert="horz" wrap="square" lIns="0" tIns="8226" rIns="0" bIns="0" rtlCol="0">
            <a:spAutoFit/>
          </a:bodyPr>
          <a:lstStyle/>
          <a:p>
            <a:pPr marL="25977">
              <a:spcBef>
                <a:spcPts val="65"/>
              </a:spcBef>
            </a:pPr>
            <a:r>
              <a:rPr sz="2045" baseline="13888" dirty="0">
                <a:latin typeface="Cambria Math"/>
                <a:cs typeface="Cambria Math"/>
              </a:rPr>
              <a:t>𝐼</a:t>
            </a:r>
            <a:r>
              <a:rPr sz="886" dirty="0">
                <a:latin typeface="Cambria Math"/>
                <a:cs typeface="Cambria Math"/>
              </a:rPr>
              <a:t>𝑙𝑜𝑎𝑑</a:t>
            </a:r>
            <a:r>
              <a:rPr sz="1330" baseline="-21367" dirty="0">
                <a:latin typeface="Cambria Math"/>
                <a:cs typeface="Cambria Math"/>
              </a:rPr>
              <a:t>,</a:t>
            </a:r>
            <a:r>
              <a:rPr sz="1330" spc="82" baseline="-21367" dirty="0">
                <a:latin typeface="Cambria Math"/>
                <a:cs typeface="Cambria Math"/>
              </a:rPr>
              <a:t> </a:t>
            </a:r>
            <a:r>
              <a:rPr sz="886" dirty="0">
                <a:latin typeface="Cambria Math"/>
                <a:cs typeface="Cambria Math"/>
              </a:rPr>
              <a:t>𝑚𝑎𝑥</a:t>
            </a:r>
            <a:r>
              <a:rPr sz="886" spc="187" dirty="0">
                <a:latin typeface="Cambria Math"/>
                <a:cs typeface="Cambria Math"/>
              </a:rPr>
              <a:t> </a:t>
            </a:r>
            <a:r>
              <a:rPr sz="2045" baseline="-27777" dirty="0">
                <a:latin typeface="Cambria Math"/>
                <a:cs typeface="Cambria Math"/>
              </a:rPr>
              <a:t>+</a:t>
            </a:r>
            <a:r>
              <a:rPr sz="2045" spc="66" baseline="-27777" dirty="0">
                <a:latin typeface="Cambria Math"/>
                <a:cs typeface="Cambria Math"/>
              </a:rPr>
              <a:t> </a:t>
            </a:r>
            <a:r>
              <a:rPr sz="2045" spc="-25" baseline="-27777" dirty="0">
                <a:latin typeface="Cambria Math"/>
                <a:cs typeface="Cambria Math"/>
              </a:rPr>
              <a:t>1)</a:t>
            </a:r>
            <a:endParaRPr sz="2045" baseline="-27777">
              <a:latin typeface="Cambria Math"/>
              <a:cs typeface="Cambria Math"/>
            </a:endParaRPr>
          </a:p>
        </p:txBody>
      </p:sp>
      <p:sp>
        <p:nvSpPr>
          <p:cNvPr id="23" name="object 23"/>
          <p:cNvSpPr txBox="1"/>
          <p:nvPr/>
        </p:nvSpPr>
        <p:spPr>
          <a:xfrm>
            <a:off x="3804031" y="2586255"/>
            <a:ext cx="83127" cy="218236"/>
          </a:xfrm>
          <a:prstGeom prst="rect">
            <a:avLst/>
          </a:prstGeom>
        </p:spPr>
        <p:txBody>
          <a:bodyPr vert="horz" wrap="square" lIns="0" tIns="8226" rIns="0" bIns="0" rtlCol="0">
            <a:spAutoFit/>
          </a:bodyPr>
          <a:lstStyle/>
          <a:p>
            <a:pPr marL="8659">
              <a:spcBef>
                <a:spcPts val="65"/>
              </a:spcBef>
            </a:pPr>
            <a:r>
              <a:rPr sz="1364" spc="-34" dirty="0">
                <a:latin typeface="Cambria Math"/>
                <a:cs typeface="Cambria Math"/>
              </a:rPr>
              <a:t>𝐼</a:t>
            </a:r>
            <a:endParaRPr sz="1364">
              <a:latin typeface="Cambria Math"/>
              <a:cs typeface="Cambria Math"/>
            </a:endParaRPr>
          </a:p>
        </p:txBody>
      </p:sp>
      <p:sp>
        <p:nvSpPr>
          <p:cNvPr id="24" name="object 24"/>
          <p:cNvSpPr txBox="1"/>
          <p:nvPr/>
        </p:nvSpPr>
        <p:spPr>
          <a:xfrm>
            <a:off x="3852093" y="2686534"/>
            <a:ext cx="562408" cy="147815"/>
          </a:xfrm>
          <a:prstGeom prst="rect">
            <a:avLst/>
          </a:prstGeom>
        </p:spPr>
        <p:txBody>
          <a:bodyPr vert="horz" wrap="square" lIns="0" tIns="11257" rIns="0" bIns="0" rtlCol="0">
            <a:spAutoFit/>
          </a:bodyPr>
          <a:lstStyle/>
          <a:p>
            <a:pPr marL="25977">
              <a:spcBef>
                <a:spcPts val="89"/>
              </a:spcBef>
            </a:pPr>
            <a:r>
              <a:rPr sz="886" dirty="0">
                <a:latin typeface="Cambria Math"/>
                <a:cs typeface="Cambria Math"/>
              </a:rPr>
              <a:t>𝑙𝑜𝑎𝑑</a:t>
            </a:r>
            <a:r>
              <a:rPr sz="1330" baseline="-21367" dirty="0">
                <a:latin typeface="Cambria Math"/>
                <a:cs typeface="Cambria Math"/>
              </a:rPr>
              <a:t>,</a:t>
            </a:r>
            <a:r>
              <a:rPr sz="1330" spc="179" baseline="-21367" dirty="0">
                <a:latin typeface="Cambria Math"/>
                <a:cs typeface="Cambria Math"/>
              </a:rPr>
              <a:t> </a:t>
            </a:r>
            <a:r>
              <a:rPr sz="886" spc="-17" dirty="0">
                <a:latin typeface="Cambria Math"/>
                <a:cs typeface="Cambria Math"/>
              </a:rPr>
              <a:t>𝑚𝑎𝑥</a:t>
            </a:r>
            <a:endParaRPr sz="886">
              <a:latin typeface="Cambria Math"/>
              <a:cs typeface="Cambria Math"/>
            </a:endParaRPr>
          </a:p>
        </p:txBody>
      </p:sp>
      <p:sp>
        <p:nvSpPr>
          <p:cNvPr id="25" name="object 25"/>
          <p:cNvSpPr txBox="1"/>
          <p:nvPr/>
        </p:nvSpPr>
        <p:spPr>
          <a:xfrm>
            <a:off x="4676265" y="2686534"/>
            <a:ext cx="83560" cy="147686"/>
          </a:xfrm>
          <a:prstGeom prst="rect">
            <a:avLst/>
          </a:prstGeom>
        </p:spPr>
        <p:txBody>
          <a:bodyPr vert="horz" wrap="square" lIns="0" tIns="11257" rIns="0" bIns="0" rtlCol="0">
            <a:spAutoFit/>
          </a:bodyPr>
          <a:lstStyle/>
          <a:p>
            <a:pPr marL="8659">
              <a:spcBef>
                <a:spcPts val="89"/>
              </a:spcBef>
            </a:pPr>
            <a:r>
              <a:rPr sz="886" spc="-34" dirty="0">
                <a:latin typeface="Cambria Math"/>
                <a:cs typeface="Cambria Math"/>
              </a:rPr>
              <a:t>𝑢</a:t>
            </a:r>
            <a:endParaRPr sz="886">
              <a:latin typeface="Cambria Math"/>
              <a:cs typeface="Cambria Math"/>
            </a:endParaRPr>
          </a:p>
        </p:txBody>
      </p:sp>
      <p:sp>
        <p:nvSpPr>
          <p:cNvPr id="26" name="object 26"/>
          <p:cNvSpPr txBox="1"/>
          <p:nvPr/>
        </p:nvSpPr>
        <p:spPr>
          <a:xfrm>
            <a:off x="4415280" y="2586261"/>
            <a:ext cx="1333066" cy="218236"/>
          </a:xfrm>
          <a:prstGeom prst="rect">
            <a:avLst/>
          </a:prstGeom>
        </p:spPr>
        <p:txBody>
          <a:bodyPr vert="horz" wrap="square" lIns="0" tIns="8226" rIns="0" bIns="0" rtlCol="0">
            <a:spAutoFit/>
          </a:bodyPr>
          <a:lstStyle/>
          <a:p>
            <a:pPr marL="25977">
              <a:spcBef>
                <a:spcPts val="65"/>
              </a:spcBef>
            </a:pPr>
            <a:r>
              <a:rPr sz="1364" dirty="0">
                <a:latin typeface="Cambria Math"/>
                <a:cs typeface="Cambria Math"/>
              </a:rPr>
              <a:t>=</a:t>
            </a:r>
            <a:r>
              <a:rPr sz="1364" spc="72" dirty="0">
                <a:latin typeface="Cambria Math"/>
                <a:cs typeface="Cambria Math"/>
              </a:rPr>
              <a:t> </a:t>
            </a:r>
            <a:r>
              <a:rPr sz="1364" dirty="0">
                <a:latin typeface="Cambria Math"/>
                <a:cs typeface="Cambria Math"/>
              </a:rPr>
              <a:t>𝐼</a:t>
            </a:r>
            <a:r>
              <a:rPr sz="1364" spc="242" dirty="0">
                <a:latin typeface="Cambria Math"/>
                <a:cs typeface="Cambria Math"/>
              </a:rPr>
              <a:t> </a:t>
            </a:r>
            <a:r>
              <a:rPr sz="1364" dirty="0" smtClean="0">
                <a:latin typeface="Cambria Math"/>
                <a:cs typeface="Cambria Math"/>
              </a:rPr>
              <a:t> </a:t>
            </a:r>
            <a:r>
              <a:rPr sz="1364" spc="44" dirty="0" smtClean="0">
                <a:latin typeface="Cambria Math"/>
                <a:cs typeface="Cambria Math"/>
              </a:rPr>
              <a:t>(</a:t>
            </a:r>
            <a:r>
              <a:rPr sz="1364" spc="44" dirty="0">
                <a:latin typeface="Cambria Math"/>
                <a:cs typeface="Cambria Math"/>
              </a:rPr>
              <a:t>2</a:t>
            </a:r>
            <a:r>
              <a:rPr sz="1483" spc="66" baseline="28735" dirty="0">
                <a:latin typeface="Cambria Math"/>
                <a:cs typeface="Cambria Math"/>
              </a:rPr>
              <a:t>𝑁</a:t>
            </a:r>
            <a:r>
              <a:rPr sz="1227" spc="66" baseline="20833" dirty="0">
                <a:latin typeface="Cambria Math"/>
                <a:cs typeface="Cambria Math"/>
              </a:rPr>
              <a:t>𝐷AC</a:t>
            </a:r>
            <a:r>
              <a:rPr sz="1227" spc="312" baseline="20833" dirty="0">
                <a:latin typeface="Cambria Math"/>
                <a:cs typeface="Cambria Math"/>
              </a:rPr>
              <a:t> </a:t>
            </a:r>
            <a:r>
              <a:rPr sz="1364" dirty="0">
                <a:latin typeface="Cambria Math"/>
                <a:cs typeface="Cambria Math"/>
              </a:rPr>
              <a:t>−</a:t>
            </a:r>
            <a:r>
              <a:rPr sz="1364" spc="3" dirty="0">
                <a:latin typeface="Cambria Math"/>
                <a:cs typeface="Cambria Math"/>
              </a:rPr>
              <a:t> </a:t>
            </a:r>
            <a:r>
              <a:rPr sz="1364" spc="-17" dirty="0">
                <a:latin typeface="Cambria Math"/>
                <a:cs typeface="Cambria Math"/>
              </a:rPr>
              <a:t>1)</a:t>
            </a:r>
            <a:endParaRPr sz="1364" dirty="0">
              <a:latin typeface="Cambria Math"/>
              <a:cs typeface="Cambria Math"/>
            </a:endParaRPr>
          </a:p>
        </p:txBody>
      </p:sp>
      <p:pic>
        <p:nvPicPr>
          <p:cNvPr id="27" name="object 27"/>
          <p:cNvPicPr/>
          <p:nvPr/>
        </p:nvPicPr>
        <p:blipFill>
          <a:blip r:embed="rId2" cstate="print"/>
          <a:stretch>
            <a:fillRect/>
          </a:stretch>
        </p:blipFill>
        <p:spPr>
          <a:xfrm>
            <a:off x="5909945" y="2669078"/>
            <a:ext cx="168332" cy="120014"/>
          </a:xfrm>
          <a:prstGeom prst="rect">
            <a:avLst/>
          </a:prstGeom>
        </p:spPr>
      </p:pic>
      <p:pic>
        <p:nvPicPr>
          <p:cNvPr id="32" name="Picture 31"/>
          <p:cNvPicPr>
            <a:picLocks noChangeAspect="1"/>
          </p:cNvPicPr>
          <p:nvPr/>
        </p:nvPicPr>
        <p:blipFill>
          <a:blip r:embed="rId3"/>
          <a:stretch>
            <a:fillRect/>
          </a:stretch>
        </p:blipFill>
        <p:spPr>
          <a:xfrm>
            <a:off x="6699209" y="1818640"/>
            <a:ext cx="1222416" cy="635656"/>
          </a:xfrm>
          <a:prstGeom prst="rect">
            <a:avLst/>
          </a:prstGeom>
        </p:spPr>
      </p:pic>
    </p:spTree>
    <p:extLst>
      <p:ext uri="{BB962C8B-B14F-4D97-AF65-F5344CB8AC3E}">
        <p14:creationId xmlns:p14="http://schemas.microsoft.com/office/powerpoint/2010/main" val="17026589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98148" y="237085"/>
            <a:ext cx="7222634" cy="531526"/>
          </a:xfrm>
          <a:prstGeom prst="rect">
            <a:avLst/>
          </a:prstGeom>
        </p:spPr>
        <p:txBody>
          <a:bodyPr vert="horz" wrap="square" lIns="0" tIns="8226" rIns="0" bIns="0" rtlCol="0">
            <a:spAutoFit/>
          </a:bodyPr>
          <a:lstStyle/>
          <a:p>
            <a:pPr marL="8659">
              <a:spcBef>
                <a:spcPts val="65"/>
              </a:spcBef>
            </a:pPr>
            <a:r>
              <a:rPr dirty="0"/>
              <a:t>Minimum</a:t>
            </a:r>
            <a:r>
              <a:rPr spc="-65" dirty="0"/>
              <a:t> </a:t>
            </a:r>
            <a:r>
              <a:rPr dirty="0"/>
              <a:t>Load</a:t>
            </a:r>
            <a:r>
              <a:rPr spc="-41" dirty="0"/>
              <a:t> </a:t>
            </a:r>
            <a:r>
              <a:rPr dirty="0"/>
              <a:t>Current</a:t>
            </a:r>
            <a:r>
              <a:rPr spc="-58" dirty="0"/>
              <a:t> </a:t>
            </a:r>
            <a:r>
              <a:rPr spc="-7" dirty="0"/>
              <a:t>(I</a:t>
            </a:r>
            <a:r>
              <a:rPr sz="2557" spc="-10" baseline="-21111" dirty="0"/>
              <a:t>load,min</a:t>
            </a:r>
            <a:r>
              <a:rPr sz="2591" spc="-7" dirty="0"/>
              <a:t>)</a:t>
            </a:r>
            <a:endParaRPr sz="2591"/>
          </a:p>
        </p:txBody>
      </p:sp>
      <p:sp>
        <p:nvSpPr>
          <p:cNvPr id="10" name="object 10"/>
          <p:cNvSpPr txBox="1"/>
          <p:nvPr/>
        </p:nvSpPr>
        <p:spPr>
          <a:xfrm>
            <a:off x="5244055" y="3555751"/>
            <a:ext cx="99580" cy="161402"/>
          </a:xfrm>
          <a:prstGeom prst="rect">
            <a:avLst/>
          </a:prstGeom>
        </p:spPr>
        <p:txBody>
          <a:bodyPr vert="horz" wrap="square" lIns="0" tIns="9092" rIns="0" bIns="0" rtlCol="0">
            <a:spAutoFit/>
          </a:bodyPr>
          <a:lstStyle/>
          <a:p>
            <a:pPr marL="8659">
              <a:spcBef>
                <a:spcPts val="72"/>
              </a:spcBef>
            </a:pPr>
            <a:r>
              <a:rPr sz="989" spc="37" dirty="0">
                <a:latin typeface="Cambria Math"/>
                <a:cs typeface="Cambria Math"/>
              </a:rPr>
              <a:t>𝑢</a:t>
            </a:r>
            <a:endParaRPr sz="989">
              <a:latin typeface="Cambria Math"/>
              <a:cs typeface="Cambria Math"/>
            </a:endParaRPr>
          </a:p>
        </p:txBody>
      </p:sp>
      <p:sp>
        <p:nvSpPr>
          <p:cNvPr id="11" name="object 11"/>
          <p:cNvSpPr txBox="1"/>
          <p:nvPr/>
        </p:nvSpPr>
        <p:spPr>
          <a:xfrm>
            <a:off x="5011299" y="3473662"/>
            <a:ext cx="429491" cy="218236"/>
          </a:xfrm>
          <a:prstGeom prst="rect">
            <a:avLst/>
          </a:prstGeom>
        </p:spPr>
        <p:txBody>
          <a:bodyPr vert="horz" wrap="square" lIns="0" tIns="8226" rIns="0" bIns="0" rtlCol="0">
            <a:spAutoFit/>
          </a:bodyPr>
          <a:lstStyle/>
          <a:p>
            <a:pPr marL="8659">
              <a:spcBef>
                <a:spcPts val="65"/>
              </a:spcBef>
              <a:tabLst>
                <a:tab pos="371465" algn="l"/>
              </a:tabLst>
            </a:pPr>
            <a:r>
              <a:rPr sz="1364" dirty="0">
                <a:latin typeface="Cambria Math"/>
                <a:cs typeface="Cambria Math"/>
              </a:rPr>
              <a:t>=</a:t>
            </a:r>
            <a:r>
              <a:rPr sz="1364" spc="65" dirty="0">
                <a:latin typeface="Cambria Math"/>
                <a:cs typeface="Cambria Math"/>
              </a:rPr>
              <a:t> </a:t>
            </a:r>
            <a:r>
              <a:rPr sz="1364" spc="-34" dirty="0">
                <a:latin typeface="Cambria Math"/>
                <a:cs typeface="Cambria Math"/>
              </a:rPr>
              <a:t>𝐼</a:t>
            </a:r>
            <a:r>
              <a:rPr sz="1364" dirty="0">
                <a:latin typeface="Cambria Math"/>
                <a:cs typeface="Cambria Math"/>
              </a:rPr>
              <a:t>	</a:t>
            </a:r>
            <a:r>
              <a:rPr lang="en-US" sz="1364" dirty="0" smtClean="0">
                <a:latin typeface="Cambria Math"/>
                <a:cs typeface="Cambria Math"/>
              </a:rPr>
              <a:t>.</a:t>
            </a:r>
            <a:endParaRPr sz="1364" dirty="0">
              <a:latin typeface="Cambria Math"/>
              <a:cs typeface="Cambria Math"/>
            </a:endParaRPr>
          </a:p>
        </p:txBody>
      </p:sp>
      <p:sp>
        <p:nvSpPr>
          <p:cNvPr id="12" name="object 12"/>
          <p:cNvSpPr/>
          <p:nvPr/>
        </p:nvSpPr>
        <p:spPr>
          <a:xfrm>
            <a:off x="5470407" y="3600262"/>
            <a:ext cx="619558" cy="11690"/>
          </a:xfrm>
          <a:custGeom>
            <a:avLst/>
            <a:gdLst/>
            <a:ahLst/>
            <a:cxnLst/>
            <a:rect l="l" t="t" r="r" b="b"/>
            <a:pathLst>
              <a:path w="908684" h="17145">
                <a:moveTo>
                  <a:pt x="908304" y="0"/>
                </a:moveTo>
                <a:lnTo>
                  <a:pt x="0" y="0"/>
                </a:lnTo>
                <a:lnTo>
                  <a:pt x="0" y="16764"/>
                </a:lnTo>
                <a:lnTo>
                  <a:pt x="908304" y="16764"/>
                </a:lnTo>
                <a:lnTo>
                  <a:pt x="908304" y="0"/>
                </a:lnTo>
                <a:close/>
              </a:path>
            </a:pathLst>
          </a:custGeom>
          <a:solidFill>
            <a:srgbClr val="000000"/>
          </a:solidFill>
        </p:spPr>
        <p:txBody>
          <a:bodyPr wrap="square" lIns="0" tIns="0" rIns="0" bIns="0" rtlCol="0"/>
          <a:lstStyle/>
          <a:p>
            <a:endParaRPr sz="1227"/>
          </a:p>
        </p:txBody>
      </p:sp>
      <p:sp>
        <p:nvSpPr>
          <p:cNvPr id="13" name="object 13"/>
          <p:cNvSpPr txBox="1"/>
          <p:nvPr/>
        </p:nvSpPr>
        <p:spPr>
          <a:xfrm>
            <a:off x="5600291" y="3378066"/>
            <a:ext cx="349394" cy="218107"/>
          </a:xfrm>
          <a:prstGeom prst="rect">
            <a:avLst/>
          </a:prstGeom>
        </p:spPr>
        <p:txBody>
          <a:bodyPr vert="horz" wrap="square" lIns="0" tIns="8226" rIns="0" bIns="0" rtlCol="0">
            <a:spAutoFit/>
          </a:bodyPr>
          <a:lstStyle/>
          <a:p>
            <a:pPr marL="25977">
              <a:spcBef>
                <a:spcPts val="65"/>
              </a:spcBef>
            </a:pPr>
            <a:r>
              <a:rPr sz="2045" spc="-20" baseline="11111" dirty="0">
                <a:latin typeface="Cambria Math"/>
                <a:cs typeface="Cambria Math"/>
              </a:rPr>
              <a:t>𝑉</a:t>
            </a:r>
            <a:r>
              <a:rPr sz="989" spc="-14" dirty="0">
                <a:latin typeface="Cambria Math"/>
                <a:cs typeface="Cambria Math"/>
              </a:rPr>
              <a:t>𝑜𝑢𝑡</a:t>
            </a:r>
            <a:endParaRPr sz="989">
              <a:latin typeface="Cambria Math"/>
              <a:cs typeface="Cambria Math"/>
            </a:endParaRPr>
          </a:p>
        </p:txBody>
      </p:sp>
      <p:sp>
        <p:nvSpPr>
          <p:cNvPr id="14" name="object 14"/>
          <p:cNvSpPr txBox="1"/>
          <p:nvPr/>
        </p:nvSpPr>
        <p:spPr>
          <a:xfrm>
            <a:off x="5444427" y="3624850"/>
            <a:ext cx="661121" cy="218107"/>
          </a:xfrm>
          <a:prstGeom prst="rect">
            <a:avLst/>
          </a:prstGeom>
        </p:spPr>
        <p:txBody>
          <a:bodyPr vert="horz" wrap="square" lIns="0" tIns="8226" rIns="0" bIns="0" rtlCol="0">
            <a:spAutoFit/>
          </a:bodyPr>
          <a:lstStyle/>
          <a:p>
            <a:pPr marL="25977">
              <a:spcBef>
                <a:spcPts val="65"/>
              </a:spcBef>
            </a:pPr>
            <a:r>
              <a:rPr sz="2045" spc="46" baseline="11111" dirty="0">
                <a:latin typeface="Cambria Math"/>
                <a:cs typeface="Cambria Math"/>
              </a:rPr>
              <a:t>𝐼</a:t>
            </a:r>
            <a:r>
              <a:rPr sz="989" spc="31" dirty="0">
                <a:latin typeface="Cambria Math"/>
                <a:cs typeface="Cambria Math"/>
              </a:rPr>
              <a:t>𝑙𝑜𝑎𝑑,𝑚𝑖𝑛</a:t>
            </a:r>
            <a:endParaRPr sz="989">
              <a:latin typeface="Cambria Math"/>
              <a:cs typeface="Cambria Math"/>
            </a:endParaRPr>
          </a:p>
        </p:txBody>
      </p:sp>
      <p:sp>
        <p:nvSpPr>
          <p:cNvPr id="15" name="object 15"/>
          <p:cNvSpPr txBox="1"/>
          <p:nvPr/>
        </p:nvSpPr>
        <p:spPr>
          <a:xfrm>
            <a:off x="6362637" y="3555751"/>
            <a:ext cx="99580" cy="161402"/>
          </a:xfrm>
          <a:prstGeom prst="rect">
            <a:avLst/>
          </a:prstGeom>
        </p:spPr>
        <p:txBody>
          <a:bodyPr vert="horz" wrap="square" lIns="0" tIns="9092" rIns="0" bIns="0" rtlCol="0">
            <a:spAutoFit/>
          </a:bodyPr>
          <a:lstStyle/>
          <a:p>
            <a:pPr marL="8659">
              <a:spcBef>
                <a:spcPts val="72"/>
              </a:spcBef>
            </a:pPr>
            <a:r>
              <a:rPr sz="989" spc="37" dirty="0">
                <a:latin typeface="Cambria Math"/>
                <a:cs typeface="Cambria Math"/>
              </a:rPr>
              <a:t>𝑢</a:t>
            </a:r>
            <a:endParaRPr sz="989">
              <a:latin typeface="Cambria Math"/>
              <a:cs typeface="Cambria Math"/>
            </a:endParaRPr>
          </a:p>
        </p:txBody>
      </p:sp>
      <p:sp>
        <p:nvSpPr>
          <p:cNvPr id="16" name="object 16"/>
          <p:cNvSpPr txBox="1"/>
          <p:nvPr/>
        </p:nvSpPr>
        <p:spPr>
          <a:xfrm>
            <a:off x="6129362" y="3473662"/>
            <a:ext cx="429924" cy="218236"/>
          </a:xfrm>
          <a:prstGeom prst="rect">
            <a:avLst/>
          </a:prstGeom>
        </p:spPr>
        <p:txBody>
          <a:bodyPr vert="horz" wrap="square" lIns="0" tIns="8226" rIns="0" bIns="0" rtlCol="0">
            <a:spAutoFit/>
          </a:bodyPr>
          <a:lstStyle/>
          <a:p>
            <a:pPr marL="8659">
              <a:spcBef>
                <a:spcPts val="65"/>
              </a:spcBef>
              <a:tabLst>
                <a:tab pos="371898" algn="l"/>
              </a:tabLst>
            </a:pPr>
            <a:r>
              <a:rPr sz="1364" dirty="0">
                <a:latin typeface="Cambria Math"/>
                <a:cs typeface="Cambria Math"/>
              </a:rPr>
              <a:t>=</a:t>
            </a:r>
            <a:r>
              <a:rPr sz="1364" spc="68" dirty="0">
                <a:latin typeface="Cambria Math"/>
                <a:cs typeface="Cambria Math"/>
              </a:rPr>
              <a:t> </a:t>
            </a:r>
            <a:r>
              <a:rPr sz="1364" spc="-41" dirty="0">
                <a:latin typeface="Cambria Math"/>
                <a:cs typeface="Cambria Math"/>
              </a:rPr>
              <a:t>𝐼</a:t>
            </a:r>
            <a:r>
              <a:rPr sz="1364" dirty="0">
                <a:latin typeface="Cambria Math"/>
                <a:cs typeface="Cambria Math"/>
              </a:rPr>
              <a:t>	</a:t>
            </a:r>
            <a:r>
              <a:rPr lang="en-US" sz="1364" spc="-1023" dirty="0" smtClean="0">
                <a:latin typeface="Cambria Math"/>
                <a:cs typeface="Cambria Math"/>
              </a:rPr>
              <a:t>.</a:t>
            </a:r>
            <a:endParaRPr sz="1364" dirty="0">
              <a:latin typeface="Cambria Math"/>
              <a:cs typeface="Cambria Math"/>
            </a:endParaRPr>
          </a:p>
        </p:txBody>
      </p:sp>
      <p:sp>
        <p:nvSpPr>
          <p:cNvPr id="17" name="object 17"/>
          <p:cNvSpPr/>
          <p:nvPr/>
        </p:nvSpPr>
        <p:spPr>
          <a:xfrm>
            <a:off x="6588988" y="3600262"/>
            <a:ext cx="523442" cy="11690"/>
          </a:xfrm>
          <a:custGeom>
            <a:avLst/>
            <a:gdLst/>
            <a:ahLst/>
            <a:cxnLst/>
            <a:rect l="l" t="t" r="r" b="b"/>
            <a:pathLst>
              <a:path w="767715" h="17145">
                <a:moveTo>
                  <a:pt x="767333" y="0"/>
                </a:moveTo>
                <a:lnTo>
                  <a:pt x="0" y="0"/>
                </a:lnTo>
                <a:lnTo>
                  <a:pt x="0" y="16764"/>
                </a:lnTo>
                <a:lnTo>
                  <a:pt x="767333" y="16764"/>
                </a:lnTo>
                <a:lnTo>
                  <a:pt x="767333" y="0"/>
                </a:lnTo>
                <a:close/>
              </a:path>
            </a:pathLst>
          </a:custGeom>
          <a:solidFill>
            <a:srgbClr val="000000"/>
          </a:solidFill>
        </p:spPr>
        <p:txBody>
          <a:bodyPr wrap="square" lIns="0" tIns="0" rIns="0" bIns="0" rtlCol="0"/>
          <a:lstStyle/>
          <a:p>
            <a:endParaRPr sz="1227"/>
          </a:p>
        </p:txBody>
      </p:sp>
      <p:sp>
        <p:nvSpPr>
          <p:cNvPr id="18" name="object 18"/>
          <p:cNvSpPr txBox="1"/>
          <p:nvPr/>
        </p:nvSpPr>
        <p:spPr>
          <a:xfrm>
            <a:off x="6670555" y="3378066"/>
            <a:ext cx="349394" cy="218107"/>
          </a:xfrm>
          <a:prstGeom prst="rect">
            <a:avLst/>
          </a:prstGeom>
        </p:spPr>
        <p:txBody>
          <a:bodyPr vert="horz" wrap="square" lIns="0" tIns="8226" rIns="0" bIns="0" rtlCol="0">
            <a:spAutoFit/>
          </a:bodyPr>
          <a:lstStyle/>
          <a:p>
            <a:pPr marL="25977">
              <a:spcBef>
                <a:spcPts val="65"/>
              </a:spcBef>
            </a:pPr>
            <a:r>
              <a:rPr sz="2045" spc="-20" baseline="11111" dirty="0">
                <a:latin typeface="Cambria Math"/>
                <a:cs typeface="Cambria Math"/>
              </a:rPr>
              <a:t>𝑉</a:t>
            </a:r>
            <a:r>
              <a:rPr sz="989" spc="-14" dirty="0">
                <a:latin typeface="Cambria Math"/>
                <a:cs typeface="Cambria Math"/>
              </a:rPr>
              <a:t>𝑜𝑢𝑡</a:t>
            </a:r>
            <a:endParaRPr sz="989">
              <a:latin typeface="Cambria Math"/>
              <a:cs typeface="Cambria Math"/>
            </a:endParaRPr>
          </a:p>
        </p:txBody>
      </p:sp>
      <p:sp>
        <p:nvSpPr>
          <p:cNvPr id="19" name="object 19"/>
          <p:cNvSpPr txBox="1"/>
          <p:nvPr/>
        </p:nvSpPr>
        <p:spPr>
          <a:xfrm>
            <a:off x="6563091" y="3568778"/>
            <a:ext cx="229466" cy="218236"/>
          </a:xfrm>
          <a:prstGeom prst="rect">
            <a:avLst/>
          </a:prstGeom>
        </p:spPr>
        <p:txBody>
          <a:bodyPr vert="horz" wrap="square" lIns="0" tIns="8226" rIns="0" bIns="0" rtlCol="0">
            <a:spAutoFit/>
          </a:bodyPr>
          <a:lstStyle/>
          <a:p>
            <a:pPr marL="25977">
              <a:spcBef>
                <a:spcPts val="65"/>
              </a:spcBef>
            </a:pPr>
            <a:r>
              <a:rPr sz="1364" spc="-17" dirty="0">
                <a:latin typeface="Cambria Math"/>
                <a:cs typeface="Cambria Math"/>
              </a:rPr>
              <a:t>1</a:t>
            </a:r>
            <a:r>
              <a:rPr sz="2045" spc="-25" baseline="-12500" dirty="0">
                <a:latin typeface="Cambria Math"/>
                <a:cs typeface="Cambria Math"/>
              </a:rPr>
              <a:t>/</a:t>
            </a:r>
            <a:endParaRPr sz="2045" baseline="-12500">
              <a:latin typeface="Cambria Math"/>
              <a:cs typeface="Cambria Math"/>
            </a:endParaRPr>
          </a:p>
        </p:txBody>
      </p:sp>
      <p:sp>
        <p:nvSpPr>
          <p:cNvPr id="20" name="object 20"/>
          <p:cNvSpPr txBox="1"/>
          <p:nvPr/>
        </p:nvSpPr>
        <p:spPr>
          <a:xfrm>
            <a:off x="6868815" y="3623968"/>
            <a:ext cx="170150" cy="218236"/>
          </a:xfrm>
          <a:prstGeom prst="rect">
            <a:avLst/>
          </a:prstGeom>
        </p:spPr>
        <p:txBody>
          <a:bodyPr vert="horz" wrap="square" lIns="0" tIns="8226" rIns="0" bIns="0" rtlCol="0">
            <a:spAutoFit/>
          </a:bodyPr>
          <a:lstStyle/>
          <a:p>
            <a:pPr marL="95247" indent="-86589">
              <a:spcBef>
                <a:spcPts val="65"/>
              </a:spcBef>
              <a:buChar char="∙"/>
              <a:tabLst>
                <a:tab pos="95247" algn="l"/>
              </a:tabLst>
            </a:pPr>
            <a:r>
              <a:rPr sz="1364" spc="-34" dirty="0">
                <a:latin typeface="Cambria Math"/>
                <a:cs typeface="Cambria Math"/>
              </a:rPr>
              <a:t>𝐼</a:t>
            </a:r>
            <a:endParaRPr sz="1364">
              <a:latin typeface="Cambria Math"/>
              <a:cs typeface="Cambria Math"/>
            </a:endParaRPr>
          </a:p>
        </p:txBody>
      </p:sp>
      <p:sp>
        <p:nvSpPr>
          <p:cNvPr id="21" name="object 21"/>
          <p:cNvSpPr txBox="1"/>
          <p:nvPr/>
        </p:nvSpPr>
        <p:spPr>
          <a:xfrm>
            <a:off x="6744075" y="3662376"/>
            <a:ext cx="367145" cy="218236"/>
          </a:xfrm>
          <a:prstGeom prst="rect">
            <a:avLst/>
          </a:prstGeom>
        </p:spPr>
        <p:txBody>
          <a:bodyPr vert="horz" wrap="square" lIns="0" tIns="8226" rIns="0" bIns="0" rtlCol="0">
            <a:spAutoFit/>
          </a:bodyPr>
          <a:lstStyle/>
          <a:p>
            <a:pPr marL="8659">
              <a:spcBef>
                <a:spcPts val="65"/>
              </a:spcBef>
              <a:tabLst>
                <a:tab pos="275785" algn="l"/>
              </a:tabLst>
            </a:pPr>
            <a:r>
              <a:rPr sz="1364" spc="-34" dirty="0">
                <a:latin typeface="Cambria Math"/>
                <a:cs typeface="Cambria Math"/>
              </a:rPr>
              <a:t>𝑟</a:t>
            </a:r>
            <a:r>
              <a:rPr sz="1364" dirty="0">
                <a:latin typeface="Cambria Math"/>
                <a:cs typeface="Cambria Math"/>
              </a:rPr>
              <a:t>	</a:t>
            </a:r>
            <a:r>
              <a:rPr sz="1483" spc="56" baseline="1915" dirty="0">
                <a:latin typeface="Cambria Math"/>
                <a:cs typeface="Cambria Math"/>
              </a:rPr>
              <a:t>𝑢</a:t>
            </a:r>
            <a:endParaRPr sz="1483" baseline="1915">
              <a:latin typeface="Cambria Math"/>
              <a:cs typeface="Cambria Math"/>
            </a:endParaRPr>
          </a:p>
        </p:txBody>
      </p:sp>
      <p:sp>
        <p:nvSpPr>
          <p:cNvPr id="22" name="object 22"/>
          <p:cNvSpPr txBox="1"/>
          <p:nvPr/>
        </p:nvSpPr>
        <p:spPr>
          <a:xfrm>
            <a:off x="7151826" y="3473662"/>
            <a:ext cx="515216" cy="218236"/>
          </a:xfrm>
          <a:prstGeom prst="rect">
            <a:avLst/>
          </a:prstGeom>
        </p:spPr>
        <p:txBody>
          <a:bodyPr vert="horz" wrap="square" lIns="0" tIns="8226" rIns="0" bIns="0" rtlCol="0">
            <a:spAutoFit/>
          </a:bodyPr>
          <a:lstStyle/>
          <a:p>
            <a:pPr marL="8659">
              <a:spcBef>
                <a:spcPts val="65"/>
              </a:spcBef>
            </a:pPr>
            <a:r>
              <a:rPr sz="1364" dirty="0">
                <a:latin typeface="Cambria Math"/>
                <a:cs typeface="Cambria Math"/>
              </a:rPr>
              <a:t>=</a:t>
            </a:r>
            <a:r>
              <a:rPr sz="1364" spc="68" dirty="0">
                <a:latin typeface="Cambria Math"/>
                <a:cs typeface="Cambria Math"/>
              </a:rPr>
              <a:t> </a:t>
            </a:r>
            <a:r>
              <a:rPr sz="1364" dirty="0">
                <a:latin typeface="Cambria Math"/>
                <a:cs typeface="Cambria Math"/>
              </a:rPr>
              <a:t>𝑟</a:t>
            </a:r>
            <a:r>
              <a:rPr sz="1364" spc="31" dirty="0">
                <a:latin typeface="Cambria Math"/>
                <a:cs typeface="Cambria Math"/>
              </a:rPr>
              <a:t> </a:t>
            </a:r>
            <a:r>
              <a:rPr lang="en-US" sz="1364" spc="31" dirty="0" smtClean="0">
                <a:latin typeface="Cambria Math"/>
                <a:cs typeface="Cambria Math"/>
              </a:rPr>
              <a:t> .</a:t>
            </a:r>
            <a:r>
              <a:rPr sz="1364" spc="-34" dirty="0" smtClean="0">
                <a:latin typeface="Cambria Math"/>
                <a:cs typeface="Cambria Math"/>
              </a:rPr>
              <a:t>𝑉</a:t>
            </a:r>
            <a:endParaRPr sz="1364" dirty="0">
              <a:latin typeface="Cambria Math"/>
              <a:cs typeface="Cambria Math"/>
            </a:endParaRPr>
          </a:p>
        </p:txBody>
      </p:sp>
      <p:sp>
        <p:nvSpPr>
          <p:cNvPr id="23" name="object 23"/>
          <p:cNvSpPr txBox="1"/>
          <p:nvPr/>
        </p:nvSpPr>
        <p:spPr>
          <a:xfrm>
            <a:off x="7626691" y="3555751"/>
            <a:ext cx="229466" cy="161402"/>
          </a:xfrm>
          <a:prstGeom prst="rect">
            <a:avLst/>
          </a:prstGeom>
        </p:spPr>
        <p:txBody>
          <a:bodyPr vert="horz" wrap="square" lIns="0" tIns="9092" rIns="0" bIns="0" rtlCol="0">
            <a:spAutoFit/>
          </a:bodyPr>
          <a:lstStyle/>
          <a:p>
            <a:pPr marL="8659">
              <a:spcBef>
                <a:spcPts val="72"/>
              </a:spcBef>
            </a:pPr>
            <a:r>
              <a:rPr sz="989" spc="37" dirty="0">
                <a:latin typeface="Cambria Math"/>
                <a:cs typeface="Cambria Math"/>
              </a:rPr>
              <a:t>𝑜𝑢𝑡</a:t>
            </a:r>
            <a:endParaRPr sz="989">
              <a:latin typeface="Cambria Math"/>
              <a:cs typeface="Cambria Math"/>
            </a:endParaRPr>
          </a:p>
        </p:txBody>
      </p:sp>
      <p:sp>
        <p:nvSpPr>
          <p:cNvPr id="28" name="object 28"/>
          <p:cNvSpPr txBox="1"/>
          <p:nvPr/>
        </p:nvSpPr>
        <p:spPr>
          <a:xfrm>
            <a:off x="7421463" y="2845672"/>
            <a:ext cx="1679864" cy="516640"/>
          </a:xfrm>
          <a:prstGeom prst="rect">
            <a:avLst/>
          </a:prstGeom>
        </p:spPr>
        <p:txBody>
          <a:bodyPr vert="horz" wrap="square" lIns="0" tIns="8659" rIns="0" bIns="0" rtlCol="0">
            <a:spAutoFit/>
          </a:bodyPr>
          <a:lstStyle/>
          <a:p>
            <a:pPr marL="25977" marR="20781">
              <a:lnSpc>
                <a:spcPct val="120500"/>
              </a:lnSpc>
              <a:spcBef>
                <a:spcPts val="68"/>
              </a:spcBef>
            </a:pPr>
            <a:r>
              <a:rPr sz="1364" i="1" dirty="0">
                <a:solidFill>
                  <a:srgbClr val="C00000"/>
                </a:solidFill>
                <a:latin typeface="Verdana"/>
                <a:cs typeface="Verdana"/>
              </a:rPr>
              <a:t>r=0.01</a:t>
            </a:r>
            <a:r>
              <a:rPr sz="1364" i="1" spc="-24" dirty="0">
                <a:solidFill>
                  <a:srgbClr val="C00000"/>
                </a:solidFill>
                <a:latin typeface="Verdana"/>
                <a:cs typeface="Verdana"/>
              </a:rPr>
              <a:t> </a:t>
            </a:r>
            <a:r>
              <a:rPr sz="1364" i="1" dirty="0">
                <a:solidFill>
                  <a:srgbClr val="C00000"/>
                </a:solidFill>
                <a:latin typeface="Verdana"/>
                <a:cs typeface="Verdana"/>
              </a:rPr>
              <a:t>if</a:t>
            </a:r>
            <a:r>
              <a:rPr sz="1364" i="1" spc="-31" dirty="0">
                <a:solidFill>
                  <a:srgbClr val="C00000"/>
                </a:solidFill>
                <a:latin typeface="Verdana"/>
                <a:cs typeface="Verdana"/>
              </a:rPr>
              <a:t> </a:t>
            </a:r>
            <a:r>
              <a:rPr sz="1364" i="1" spc="-7" dirty="0">
                <a:solidFill>
                  <a:srgbClr val="C00000"/>
                </a:solidFill>
                <a:latin typeface="Verdana"/>
                <a:cs typeface="Verdana"/>
              </a:rPr>
              <a:t>targeting </a:t>
            </a:r>
            <a:r>
              <a:rPr sz="2045" i="1" baseline="13888" dirty="0">
                <a:solidFill>
                  <a:srgbClr val="C00000"/>
                </a:solidFill>
                <a:latin typeface="Verdana"/>
                <a:cs typeface="Verdana"/>
              </a:rPr>
              <a:t>V</a:t>
            </a:r>
            <a:r>
              <a:rPr sz="886" i="1" dirty="0">
                <a:solidFill>
                  <a:srgbClr val="C00000"/>
                </a:solidFill>
                <a:latin typeface="Verdana"/>
                <a:cs typeface="Verdana"/>
              </a:rPr>
              <a:t>DAC,SS</a:t>
            </a:r>
            <a:r>
              <a:rPr sz="2045" i="1" baseline="13888" dirty="0">
                <a:solidFill>
                  <a:srgbClr val="C00000"/>
                </a:solidFill>
                <a:latin typeface="Verdana"/>
                <a:cs typeface="Verdana"/>
              </a:rPr>
              <a:t>=1%</a:t>
            </a:r>
            <a:r>
              <a:rPr sz="2045" i="1" spc="25" baseline="13888" dirty="0">
                <a:solidFill>
                  <a:srgbClr val="C00000"/>
                </a:solidFill>
                <a:latin typeface="Verdana"/>
                <a:cs typeface="Verdana"/>
              </a:rPr>
              <a:t> </a:t>
            </a:r>
            <a:r>
              <a:rPr sz="2045" i="1" baseline="13888" dirty="0">
                <a:solidFill>
                  <a:srgbClr val="C00000"/>
                </a:solidFill>
                <a:latin typeface="Verdana"/>
                <a:cs typeface="Verdana"/>
              </a:rPr>
              <a:t>of</a:t>
            </a:r>
            <a:r>
              <a:rPr sz="2045" i="1" spc="15" baseline="13888" dirty="0">
                <a:solidFill>
                  <a:srgbClr val="C00000"/>
                </a:solidFill>
                <a:latin typeface="Verdana"/>
                <a:cs typeface="Verdana"/>
              </a:rPr>
              <a:t> </a:t>
            </a:r>
            <a:r>
              <a:rPr sz="2045" i="1" spc="-20" baseline="13888" dirty="0">
                <a:solidFill>
                  <a:srgbClr val="C00000"/>
                </a:solidFill>
                <a:latin typeface="Verdana"/>
                <a:cs typeface="Verdana"/>
              </a:rPr>
              <a:t>V</a:t>
            </a:r>
            <a:r>
              <a:rPr sz="886" i="1" spc="-14" dirty="0">
                <a:solidFill>
                  <a:srgbClr val="C00000"/>
                </a:solidFill>
                <a:latin typeface="Verdana"/>
                <a:cs typeface="Verdana"/>
              </a:rPr>
              <a:t>out</a:t>
            </a:r>
            <a:endParaRPr sz="886">
              <a:latin typeface="Verdana"/>
              <a:cs typeface="Verdana"/>
            </a:endParaRPr>
          </a:p>
        </p:txBody>
      </p:sp>
      <p:grpSp>
        <p:nvGrpSpPr>
          <p:cNvPr id="29" name="object 29"/>
          <p:cNvGrpSpPr/>
          <p:nvPr/>
        </p:nvGrpSpPr>
        <p:grpSpPr>
          <a:xfrm>
            <a:off x="6801776" y="3345815"/>
            <a:ext cx="703984" cy="390525"/>
            <a:chOff x="7913458" y="4199382"/>
            <a:chExt cx="1032510" cy="572770"/>
          </a:xfrm>
        </p:grpSpPr>
        <p:sp>
          <p:nvSpPr>
            <p:cNvPr id="30" name="object 30"/>
            <p:cNvSpPr/>
            <p:nvPr/>
          </p:nvSpPr>
          <p:spPr>
            <a:xfrm>
              <a:off x="7927936" y="4213860"/>
              <a:ext cx="1003935" cy="540385"/>
            </a:xfrm>
            <a:custGeom>
              <a:avLst/>
              <a:gdLst/>
              <a:ahLst/>
              <a:cxnLst/>
              <a:rect l="l" t="t" r="r" b="b"/>
              <a:pathLst>
                <a:path w="1003934" h="540385">
                  <a:moveTo>
                    <a:pt x="1003465" y="0"/>
                  </a:moveTo>
                  <a:lnTo>
                    <a:pt x="0" y="540385"/>
                  </a:lnTo>
                </a:path>
              </a:pathLst>
            </a:custGeom>
            <a:ln w="28956">
              <a:solidFill>
                <a:srgbClr val="C00000"/>
              </a:solidFill>
              <a:prstDash val="sysDash"/>
            </a:ln>
          </p:spPr>
          <p:txBody>
            <a:bodyPr wrap="square" lIns="0" tIns="0" rIns="0" bIns="0" rtlCol="0"/>
            <a:lstStyle/>
            <a:p>
              <a:endParaRPr sz="1227"/>
            </a:p>
          </p:txBody>
        </p:sp>
        <p:sp>
          <p:nvSpPr>
            <p:cNvPr id="31" name="object 31"/>
            <p:cNvSpPr/>
            <p:nvPr/>
          </p:nvSpPr>
          <p:spPr>
            <a:xfrm>
              <a:off x="7927943" y="4668445"/>
              <a:ext cx="100965" cy="89535"/>
            </a:xfrm>
            <a:custGeom>
              <a:avLst/>
              <a:gdLst/>
              <a:ahLst/>
              <a:cxnLst/>
              <a:rect l="l" t="t" r="r" b="b"/>
              <a:pathLst>
                <a:path w="100965" h="89535">
                  <a:moveTo>
                    <a:pt x="100507" y="89230"/>
                  </a:moveTo>
                  <a:lnTo>
                    <a:pt x="0" y="85801"/>
                  </a:lnTo>
                  <a:lnTo>
                    <a:pt x="52463" y="0"/>
                  </a:lnTo>
                </a:path>
              </a:pathLst>
            </a:custGeom>
            <a:ln w="28955">
              <a:solidFill>
                <a:srgbClr val="C00000"/>
              </a:solidFill>
            </a:ln>
          </p:spPr>
          <p:txBody>
            <a:bodyPr wrap="square" lIns="0" tIns="0" rIns="0" bIns="0" rtlCol="0"/>
            <a:lstStyle/>
            <a:p>
              <a:endParaRPr sz="1227"/>
            </a:p>
          </p:txBody>
        </p:sp>
      </p:grpSp>
      <p:sp>
        <p:nvSpPr>
          <p:cNvPr id="51" name="object 3"/>
          <p:cNvSpPr txBox="1"/>
          <p:nvPr/>
        </p:nvSpPr>
        <p:spPr>
          <a:xfrm>
            <a:off x="4570809" y="3085810"/>
            <a:ext cx="1755631" cy="218107"/>
          </a:xfrm>
          <a:prstGeom prst="rect">
            <a:avLst/>
          </a:prstGeom>
        </p:spPr>
        <p:txBody>
          <a:bodyPr vert="horz" wrap="square" lIns="0" tIns="8226" rIns="0" bIns="0" rtlCol="0">
            <a:spAutoFit/>
          </a:bodyPr>
          <a:lstStyle/>
          <a:p>
            <a:pPr marL="25977">
              <a:spcBef>
                <a:spcPts val="65"/>
              </a:spcBef>
            </a:pPr>
            <a:r>
              <a:rPr sz="2045" baseline="13888" dirty="0">
                <a:latin typeface="Cambria Math"/>
                <a:cs typeface="Cambria Math"/>
              </a:rPr>
              <a:t>𝑉</a:t>
            </a:r>
            <a:r>
              <a:rPr sz="886" dirty="0">
                <a:latin typeface="Cambria Math"/>
                <a:cs typeface="Cambria Math"/>
              </a:rPr>
              <a:t>𝐷𝐴𝐶</a:t>
            </a:r>
            <a:r>
              <a:rPr sz="1330" baseline="-21367" dirty="0">
                <a:latin typeface="Cambria Math"/>
                <a:cs typeface="Cambria Math"/>
              </a:rPr>
              <a:t>,</a:t>
            </a:r>
            <a:r>
              <a:rPr sz="1330" spc="66" baseline="-21367" dirty="0">
                <a:latin typeface="Cambria Math"/>
                <a:cs typeface="Cambria Math"/>
              </a:rPr>
              <a:t> </a:t>
            </a:r>
            <a:r>
              <a:rPr sz="886" dirty="0">
                <a:latin typeface="Cambria Math"/>
                <a:cs typeface="Cambria Math"/>
              </a:rPr>
              <a:t>𝑆𝑆</a:t>
            </a:r>
            <a:r>
              <a:rPr sz="886" spc="222" dirty="0">
                <a:latin typeface="Cambria Math"/>
                <a:cs typeface="Cambria Math"/>
              </a:rPr>
              <a:t> </a:t>
            </a:r>
            <a:r>
              <a:rPr sz="2045" baseline="13888" dirty="0">
                <a:latin typeface="Cambria Math"/>
                <a:cs typeface="Cambria Math"/>
              </a:rPr>
              <a:t>=</a:t>
            </a:r>
            <a:r>
              <a:rPr sz="2045" spc="148" baseline="13888" dirty="0">
                <a:latin typeface="Cambria Math"/>
                <a:cs typeface="Cambria Math"/>
              </a:rPr>
              <a:t> </a:t>
            </a:r>
            <a:r>
              <a:rPr sz="2045" baseline="13888" dirty="0" smtClean="0">
                <a:latin typeface="Cambria Math"/>
                <a:cs typeface="Cambria Math"/>
              </a:rPr>
              <a:t>𝐼</a:t>
            </a:r>
            <a:r>
              <a:rPr sz="1483" baseline="3831" dirty="0" smtClean="0">
                <a:latin typeface="Cambria Math"/>
                <a:cs typeface="Cambria Math"/>
              </a:rPr>
              <a:t>𝑢</a:t>
            </a:r>
            <a:r>
              <a:rPr sz="1483" spc="286" baseline="3831" dirty="0" smtClean="0">
                <a:latin typeface="Cambria Math"/>
                <a:cs typeface="Cambria Math"/>
              </a:rPr>
              <a:t> </a:t>
            </a:r>
            <a:r>
              <a:rPr lang="en-US" sz="1483" spc="286" baseline="3831" dirty="0" smtClean="0">
                <a:latin typeface="Cambria Math"/>
                <a:cs typeface="Cambria Math"/>
              </a:rPr>
              <a:t>.</a:t>
            </a:r>
            <a:r>
              <a:rPr sz="2045" spc="61" baseline="13888" dirty="0" smtClean="0">
                <a:latin typeface="Cambria Math"/>
                <a:cs typeface="Cambria Math"/>
              </a:rPr>
              <a:t>𝑅</a:t>
            </a:r>
            <a:r>
              <a:rPr sz="1483" spc="61" baseline="3831" dirty="0" smtClean="0">
                <a:latin typeface="Cambria Math"/>
                <a:cs typeface="Cambria Math"/>
              </a:rPr>
              <a:t>𝑙𝑜𝑎𝑑</a:t>
            </a:r>
            <a:r>
              <a:rPr sz="1483" spc="61" baseline="3831" dirty="0">
                <a:latin typeface="Cambria Math"/>
                <a:cs typeface="Cambria Math"/>
              </a:rPr>
              <a:t>,𝑚𝑎𝑥</a:t>
            </a:r>
            <a:endParaRPr sz="1483" baseline="3831" dirty="0">
              <a:latin typeface="Cambria Math"/>
              <a:cs typeface="Cambria Math"/>
            </a:endParaRPr>
          </a:p>
        </p:txBody>
      </p:sp>
      <p:sp>
        <p:nvSpPr>
          <p:cNvPr id="52" name="object 4"/>
          <p:cNvSpPr txBox="1"/>
          <p:nvPr/>
        </p:nvSpPr>
        <p:spPr>
          <a:xfrm>
            <a:off x="4334836" y="1446018"/>
            <a:ext cx="2209367" cy="218236"/>
          </a:xfrm>
          <a:prstGeom prst="rect">
            <a:avLst/>
          </a:prstGeom>
        </p:spPr>
        <p:txBody>
          <a:bodyPr vert="horz" wrap="square" lIns="0" tIns="8226" rIns="0" bIns="0" rtlCol="0">
            <a:spAutoFit/>
          </a:bodyPr>
          <a:lstStyle/>
          <a:p>
            <a:pPr marL="8659">
              <a:spcBef>
                <a:spcPts val="65"/>
              </a:spcBef>
              <a:tabLst>
                <a:tab pos="1956469" algn="l"/>
              </a:tabLst>
            </a:pPr>
            <a:r>
              <a:rPr sz="1364" dirty="0">
                <a:latin typeface="Cambria Math"/>
                <a:cs typeface="Cambria Math"/>
              </a:rPr>
              <a:t>𝑃𝑜𝑤𝑒𝑟</a:t>
            </a:r>
            <a:r>
              <a:rPr sz="1364" spc="7" dirty="0">
                <a:latin typeface="Cambria Math"/>
                <a:cs typeface="Cambria Math"/>
              </a:rPr>
              <a:t> </a:t>
            </a:r>
            <a:r>
              <a:rPr sz="1364" dirty="0">
                <a:latin typeface="Cambria Math"/>
                <a:cs typeface="Cambria Math"/>
              </a:rPr>
              <a:t>𝐹𝐸𝑇</a:t>
            </a:r>
            <a:r>
              <a:rPr sz="1364" spc="10" dirty="0">
                <a:latin typeface="Cambria Math"/>
                <a:cs typeface="Cambria Math"/>
              </a:rPr>
              <a:t> </a:t>
            </a:r>
            <a:r>
              <a:rPr sz="1364" dirty="0">
                <a:latin typeface="Cambria Math"/>
                <a:cs typeface="Cambria Math"/>
              </a:rPr>
              <a:t>𝑢𝑛𝑖𝑡</a:t>
            </a:r>
            <a:r>
              <a:rPr sz="1364" spc="14" dirty="0">
                <a:latin typeface="Cambria Math"/>
                <a:cs typeface="Cambria Math"/>
              </a:rPr>
              <a:t> </a:t>
            </a:r>
            <a:r>
              <a:rPr sz="1364" spc="-7" dirty="0">
                <a:latin typeface="Cambria Math"/>
                <a:cs typeface="Cambria Math"/>
              </a:rPr>
              <a:t>𝑐𝑢𝑟𝑟𝑒𝑛𝑡</a:t>
            </a:r>
            <a:r>
              <a:rPr sz="1364" dirty="0">
                <a:latin typeface="Cambria Math"/>
                <a:cs typeface="Cambria Math"/>
              </a:rPr>
              <a:t>	=</a:t>
            </a:r>
            <a:r>
              <a:rPr sz="1364" spc="65" dirty="0">
                <a:latin typeface="Cambria Math"/>
                <a:cs typeface="Cambria Math"/>
              </a:rPr>
              <a:t> </a:t>
            </a:r>
            <a:r>
              <a:rPr sz="1364" spc="-34" dirty="0">
                <a:latin typeface="Cambria Math"/>
                <a:cs typeface="Cambria Math"/>
              </a:rPr>
              <a:t>𝐼</a:t>
            </a:r>
            <a:endParaRPr sz="1364">
              <a:latin typeface="Cambria Math"/>
              <a:cs typeface="Cambria Math"/>
            </a:endParaRPr>
          </a:p>
        </p:txBody>
      </p:sp>
      <p:sp>
        <p:nvSpPr>
          <p:cNvPr id="53" name="object 5"/>
          <p:cNvSpPr txBox="1"/>
          <p:nvPr/>
        </p:nvSpPr>
        <p:spPr>
          <a:xfrm>
            <a:off x="6526278" y="1546291"/>
            <a:ext cx="83560" cy="147686"/>
          </a:xfrm>
          <a:prstGeom prst="rect">
            <a:avLst/>
          </a:prstGeom>
        </p:spPr>
        <p:txBody>
          <a:bodyPr vert="horz" wrap="square" lIns="0" tIns="11257" rIns="0" bIns="0" rtlCol="0">
            <a:spAutoFit/>
          </a:bodyPr>
          <a:lstStyle/>
          <a:p>
            <a:pPr marL="8659">
              <a:spcBef>
                <a:spcPts val="89"/>
              </a:spcBef>
            </a:pPr>
            <a:r>
              <a:rPr sz="886" spc="-34" dirty="0">
                <a:latin typeface="Cambria Math"/>
                <a:cs typeface="Cambria Math"/>
              </a:rPr>
              <a:t>𝑢</a:t>
            </a:r>
            <a:endParaRPr sz="886">
              <a:latin typeface="Cambria Math"/>
              <a:cs typeface="Cambria Math"/>
            </a:endParaRPr>
          </a:p>
        </p:txBody>
      </p:sp>
      <p:sp>
        <p:nvSpPr>
          <p:cNvPr id="54" name="object 6"/>
          <p:cNvSpPr txBox="1"/>
          <p:nvPr/>
        </p:nvSpPr>
        <p:spPr>
          <a:xfrm>
            <a:off x="2024024" y="2891154"/>
            <a:ext cx="2037051" cy="428165"/>
          </a:xfrm>
          <a:prstGeom prst="rect">
            <a:avLst/>
          </a:prstGeom>
        </p:spPr>
        <p:txBody>
          <a:bodyPr vert="horz" wrap="square" lIns="0" tIns="8226" rIns="0" bIns="0" rtlCol="0">
            <a:spAutoFit/>
          </a:bodyPr>
          <a:lstStyle/>
          <a:p>
            <a:pPr marL="8659" marR="3464">
              <a:spcBef>
                <a:spcPts val="65"/>
              </a:spcBef>
            </a:pPr>
            <a:r>
              <a:rPr sz="1364" i="1" dirty="0">
                <a:solidFill>
                  <a:srgbClr val="C00000"/>
                </a:solidFill>
                <a:latin typeface="Verdana"/>
                <a:cs typeface="Verdana"/>
              </a:rPr>
              <a:t>Output</a:t>
            </a:r>
            <a:r>
              <a:rPr sz="1364" i="1" spc="-51" dirty="0">
                <a:solidFill>
                  <a:srgbClr val="C00000"/>
                </a:solidFill>
                <a:latin typeface="Verdana"/>
                <a:cs typeface="Verdana"/>
              </a:rPr>
              <a:t> </a:t>
            </a:r>
            <a:r>
              <a:rPr sz="1364" i="1" spc="-7" dirty="0">
                <a:solidFill>
                  <a:srgbClr val="C00000"/>
                </a:solidFill>
                <a:latin typeface="Verdana"/>
                <a:cs typeface="Verdana"/>
              </a:rPr>
              <a:t>voltage </a:t>
            </a:r>
            <a:r>
              <a:rPr sz="1364" i="1" dirty="0">
                <a:solidFill>
                  <a:srgbClr val="C00000"/>
                </a:solidFill>
                <a:latin typeface="Verdana"/>
                <a:cs typeface="Verdana"/>
              </a:rPr>
              <a:t>resolution</a:t>
            </a:r>
            <a:r>
              <a:rPr sz="1364" i="1" spc="-44" dirty="0">
                <a:solidFill>
                  <a:srgbClr val="C00000"/>
                </a:solidFill>
                <a:latin typeface="Verdana"/>
                <a:cs typeface="Verdana"/>
              </a:rPr>
              <a:t> </a:t>
            </a:r>
            <a:r>
              <a:rPr sz="1364" i="1" spc="-7" dirty="0">
                <a:solidFill>
                  <a:srgbClr val="C00000"/>
                </a:solidFill>
                <a:latin typeface="Verdana"/>
                <a:cs typeface="Verdana"/>
              </a:rPr>
              <a:t>(worst-</a:t>
            </a:r>
            <a:r>
              <a:rPr sz="1364" i="1" spc="-14" dirty="0">
                <a:solidFill>
                  <a:srgbClr val="C00000"/>
                </a:solidFill>
                <a:latin typeface="Verdana"/>
                <a:cs typeface="Verdana"/>
              </a:rPr>
              <a:t>case)</a:t>
            </a:r>
            <a:endParaRPr sz="1364">
              <a:latin typeface="Verdana"/>
              <a:cs typeface="Verdana"/>
            </a:endParaRPr>
          </a:p>
        </p:txBody>
      </p:sp>
      <p:grpSp>
        <p:nvGrpSpPr>
          <p:cNvPr id="55" name="object 7"/>
          <p:cNvGrpSpPr/>
          <p:nvPr/>
        </p:nvGrpSpPr>
        <p:grpSpPr>
          <a:xfrm>
            <a:off x="4162540" y="3137039"/>
            <a:ext cx="278823" cy="89189"/>
            <a:chOff x="3865626" y="3949058"/>
            <a:chExt cx="408940" cy="130810"/>
          </a:xfrm>
        </p:grpSpPr>
        <p:sp>
          <p:nvSpPr>
            <p:cNvPr id="56" name="object 8"/>
            <p:cNvSpPr/>
            <p:nvPr/>
          </p:nvSpPr>
          <p:spPr>
            <a:xfrm>
              <a:off x="3865626" y="4014215"/>
              <a:ext cx="394335" cy="0"/>
            </a:xfrm>
            <a:custGeom>
              <a:avLst/>
              <a:gdLst/>
              <a:ahLst/>
              <a:cxnLst/>
              <a:rect l="l" t="t" r="r" b="b"/>
              <a:pathLst>
                <a:path w="394335">
                  <a:moveTo>
                    <a:pt x="0" y="0"/>
                  </a:moveTo>
                  <a:lnTo>
                    <a:pt x="394246" y="0"/>
                  </a:lnTo>
                </a:path>
              </a:pathLst>
            </a:custGeom>
            <a:ln w="28956">
              <a:solidFill>
                <a:srgbClr val="C00000"/>
              </a:solidFill>
              <a:prstDash val="sysDash"/>
            </a:ln>
          </p:spPr>
          <p:txBody>
            <a:bodyPr wrap="square" lIns="0" tIns="0" rIns="0" bIns="0" rtlCol="0"/>
            <a:lstStyle/>
            <a:p>
              <a:endParaRPr sz="1227"/>
            </a:p>
          </p:txBody>
        </p:sp>
        <p:sp>
          <p:nvSpPr>
            <p:cNvPr id="57" name="object 9"/>
            <p:cNvSpPr/>
            <p:nvPr/>
          </p:nvSpPr>
          <p:spPr>
            <a:xfrm>
              <a:off x="4173004" y="3963536"/>
              <a:ext cx="86995" cy="101600"/>
            </a:xfrm>
            <a:custGeom>
              <a:avLst/>
              <a:gdLst/>
              <a:ahLst/>
              <a:cxnLst/>
              <a:rect l="l" t="t" r="r" b="b"/>
              <a:pathLst>
                <a:path w="86995" h="101600">
                  <a:moveTo>
                    <a:pt x="0" y="0"/>
                  </a:moveTo>
                  <a:lnTo>
                    <a:pt x="86868" y="50673"/>
                  </a:lnTo>
                  <a:lnTo>
                    <a:pt x="0" y="101346"/>
                  </a:lnTo>
                </a:path>
              </a:pathLst>
            </a:custGeom>
            <a:ln w="28956">
              <a:solidFill>
                <a:srgbClr val="C00000"/>
              </a:solidFill>
            </a:ln>
          </p:spPr>
          <p:txBody>
            <a:bodyPr wrap="square" lIns="0" tIns="0" rIns="0" bIns="0" rtlCol="0"/>
            <a:lstStyle/>
            <a:p>
              <a:endParaRPr sz="1227"/>
            </a:p>
          </p:txBody>
        </p:sp>
      </p:grpSp>
      <p:sp>
        <p:nvSpPr>
          <p:cNvPr id="58" name="object 10"/>
          <p:cNvSpPr txBox="1"/>
          <p:nvPr/>
        </p:nvSpPr>
        <p:spPr>
          <a:xfrm>
            <a:off x="7424623" y="1345637"/>
            <a:ext cx="2004580" cy="428165"/>
          </a:xfrm>
          <a:prstGeom prst="rect">
            <a:avLst/>
          </a:prstGeom>
        </p:spPr>
        <p:txBody>
          <a:bodyPr vert="horz" wrap="square" lIns="0" tIns="8226" rIns="0" bIns="0" rtlCol="0">
            <a:spAutoFit/>
          </a:bodyPr>
          <a:lstStyle/>
          <a:p>
            <a:pPr marL="8659" marR="3464">
              <a:spcBef>
                <a:spcPts val="65"/>
              </a:spcBef>
            </a:pPr>
            <a:r>
              <a:rPr sz="1364" i="1" dirty="0">
                <a:solidFill>
                  <a:srgbClr val="C00000"/>
                </a:solidFill>
                <a:latin typeface="Verdana"/>
                <a:cs typeface="Verdana"/>
              </a:rPr>
              <a:t>If</a:t>
            </a:r>
            <a:r>
              <a:rPr sz="1364" i="1" spc="-34" dirty="0">
                <a:solidFill>
                  <a:srgbClr val="C00000"/>
                </a:solidFill>
                <a:latin typeface="Verdana"/>
                <a:cs typeface="Verdana"/>
              </a:rPr>
              <a:t> </a:t>
            </a:r>
            <a:r>
              <a:rPr sz="1364" i="1" dirty="0">
                <a:solidFill>
                  <a:srgbClr val="C00000"/>
                </a:solidFill>
                <a:latin typeface="Verdana"/>
                <a:cs typeface="Verdana"/>
              </a:rPr>
              <a:t>power</a:t>
            </a:r>
            <a:r>
              <a:rPr sz="1364" i="1" spc="-24" dirty="0">
                <a:solidFill>
                  <a:srgbClr val="C00000"/>
                </a:solidFill>
                <a:latin typeface="Verdana"/>
                <a:cs typeface="Verdana"/>
              </a:rPr>
              <a:t> </a:t>
            </a:r>
            <a:r>
              <a:rPr sz="1364" i="1" dirty="0">
                <a:solidFill>
                  <a:srgbClr val="C00000"/>
                </a:solidFill>
                <a:latin typeface="Verdana"/>
                <a:cs typeface="Verdana"/>
              </a:rPr>
              <a:t>FETs</a:t>
            </a:r>
            <a:r>
              <a:rPr sz="1364" i="1" spc="-27" dirty="0">
                <a:solidFill>
                  <a:srgbClr val="C00000"/>
                </a:solidFill>
                <a:latin typeface="Verdana"/>
                <a:cs typeface="Verdana"/>
              </a:rPr>
              <a:t> </a:t>
            </a:r>
            <a:r>
              <a:rPr sz="1364" i="1" spc="-17" dirty="0">
                <a:solidFill>
                  <a:srgbClr val="C00000"/>
                </a:solidFill>
                <a:latin typeface="Verdana"/>
                <a:cs typeface="Verdana"/>
              </a:rPr>
              <a:t>are </a:t>
            </a:r>
            <a:r>
              <a:rPr sz="1364" i="1" dirty="0">
                <a:solidFill>
                  <a:srgbClr val="C00000"/>
                </a:solidFill>
                <a:latin typeface="Verdana"/>
                <a:cs typeface="Verdana"/>
              </a:rPr>
              <a:t>sized</a:t>
            </a:r>
            <a:r>
              <a:rPr sz="1364" i="1" spc="-17" dirty="0">
                <a:solidFill>
                  <a:srgbClr val="C00000"/>
                </a:solidFill>
                <a:latin typeface="Verdana"/>
                <a:cs typeface="Verdana"/>
              </a:rPr>
              <a:t> </a:t>
            </a:r>
            <a:r>
              <a:rPr sz="1364" i="1" dirty="0">
                <a:solidFill>
                  <a:srgbClr val="C00000"/>
                </a:solidFill>
                <a:latin typeface="Verdana"/>
                <a:cs typeface="Verdana"/>
              </a:rPr>
              <a:t>in</a:t>
            </a:r>
            <a:r>
              <a:rPr sz="1364" i="1" spc="-24" dirty="0">
                <a:solidFill>
                  <a:srgbClr val="C00000"/>
                </a:solidFill>
                <a:latin typeface="Verdana"/>
                <a:cs typeface="Verdana"/>
              </a:rPr>
              <a:t> </a:t>
            </a:r>
            <a:r>
              <a:rPr sz="1364" i="1" dirty="0">
                <a:solidFill>
                  <a:srgbClr val="C00000"/>
                </a:solidFill>
                <a:latin typeface="Verdana"/>
                <a:cs typeface="Verdana"/>
              </a:rPr>
              <a:t>the</a:t>
            </a:r>
            <a:r>
              <a:rPr sz="1364" i="1" spc="-20" dirty="0">
                <a:solidFill>
                  <a:srgbClr val="C00000"/>
                </a:solidFill>
                <a:latin typeface="Verdana"/>
                <a:cs typeface="Verdana"/>
              </a:rPr>
              <a:t> </a:t>
            </a:r>
            <a:r>
              <a:rPr sz="1364" i="1" dirty="0">
                <a:solidFill>
                  <a:srgbClr val="C00000"/>
                </a:solidFill>
                <a:latin typeface="Verdana"/>
                <a:cs typeface="Verdana"/>
              </a:rPr>
              <a:t>power</a:t>
            </a:r>
            <a:r>
              <a:rPr sz="1364" i="1" spc="-20" dirty="0">
                <a:solidFill>
                  <a:srgbClr val="C00000"/>
                </a:solidFill>
                <a:latin typeface="Verdana"/>
                <a:cs typeface="Verdana"/>
              </a:rPr>
              <a:t> </a:t>
            </a:r>
            <a:r>
              <a:rPr sz="1364" i="1" dirty="0">
                <a:solidFill>
                  <a:srgbClr val="C00000"/>
                </a:solidFill>
                <a:latin typeface="Verdana"/>
                <a:cs typeface="Verdana"/>
              </a:rPr>
              <a:t>of</a:t>
            </a:r>
            <a:r>
              <a:rPr sz="1364" i="1" spc="-20" dirty="0">
                <a:solidFill>
                  <a:srgbClr val="C00000"/>
                </a:solidFill>
                <a:latin typeface="Verdana"/>
                <a:cs typeface="Verdana"/>
              </a:rPr>
              <a:t> </a:t>
            </a:r>
            <a:r>
              <a:rPr sz="1364" i="1" spc="-34" dirty="0">
                <a:solidFill>
                  <a:srgbClr val="C00000"/>
                </a:solidFill>
                <a:latin typeface="Verdana"/>
                <a:cs typeface="Verdana"/>
              </a:rPr>
              <a:t>2</a:t>
            </a:r>
            <a:endParaRPr sz="1364">
              <a:latin typeface="Verdana"/>
              <a:cs typeface="Verdana"/>
            </a:endParaRPr>
          </a:p>
        </p:txBody>
      </p:sp>
      <p:grpSp>
        <p:nvGrpSpPr>
          <p:cNvPr id="59" name="object 11"/>
          <p:cNvGrpSpPr/>
          <p:nvPr/>
        </p:nvGrpSpPr>
        <p:grpSpPr>
          <a:xfrm>
            <a:off x="7317056" y="1797916"/>
            <a:ext cx="309563" cy="168419"/>
            <a:chOff x="8492249" y="1985010"/>
            <a:chExt cx="454025" cy="247015"/>
          </a:xfrm>
        </p:grpSpPr>
        <p:sp>
          <p:nvSpPr>
            <p:cNvPr id="60" name="object 12"/>
            <p:cNvSpPr/>
            <p:nvPr/>
          </p:nvSpPr>
          <p:spPr>
            <a:xfrm>
              <a:off x="8506727" y="1999488"/>
              <a:ext cx="424815" cy="211454"/>
            </a:xfrm>
            <a:custGeom>
              <a:avLst/>
              <a:gdLst/>
              <a:ahLst/>
              <a:cxnLst/>
              <a:rect l="l" t="t" r="r" b="b"/>
              <a:pathLst>
                <a:path w="424815" h="211455">
                  <a:moveTo>
                    <a:pt x="424675" y="0"/>
                  </a:moveTo>
                  <a:lnTo>
                    <a:pt x="0" y="211264"/>
                  </a:lnTo>
                </a:path>
              </a:pathLst>
            </a:custGeom>
            <a:ln w="28956">
              <a:solidFill>
                <a:srgbClr val="C00000"/>
              </a:solidFill>
              <a:prstDash val="sysDash"/>
            </a:ln>
          </p:spPr>
          <p:txBody>
            <a:bodyPr wrap="square" lIns="0" tIns="0" rIns="0" bIns="0" rtlCol="0"/>
            <a:lstStyle/>
            <a:p>
              <a:endParaRPr sz="1227"/>
            </a:p>
          </p:txBody>
        </p:sp>
        <p:sp>
          <p:nvSpPr>
            <p:cNvPr id="61" name="object 13"/>
            <p:cNvSpPr/>
            <p:nvPr/>
          </p:nvSpPr>
          <p:spPr>
            <a:xfrm>
              <a:off x="8506729" y="2126691"/>
              <a:ext cx="100965" cy="90805"/>
            </a:xfrm>
            <a:custGeom>
              <a:avLst/>
              <a:gdLst/>
              <a:ahLst/>
              <a:cxnLst/>
              <a:rect l="l" t="t" r="r" b="b"/>
              <a:pathLst>
                <a:path w="100965" h="90805">
                  <a:moveTo>
                    <a:pt x="100342" y="90741"/>
                  </a:moveTo>
                  <a:lnTo>
                    <a:pt x="0" y="84061"/>
                  </a:lnTo>
                  <a:lnTo>
                    <a:pt x="55206" y="0"/>
                  </a:lnTo>
                </a:path>
              </a:pathLst>
            </a:custGeom>
            <a:ln w="28956">
              <a:solidFill>
                <a:srgbClr val="C00000"/>
              </a:solidFill>
            </a:ln>
          </p:spPr>
          <p:txBody>
            <a:bodyPr wrap="square" lIns="0" tIns="0" rIns="0" bIns="0" rtlCol="0"/>
            <a:lstStyle/>
            <a:p>
              <a:endParaRPr sz="1227"/>
            </a:p>
          </p:txBody>
        </p:sp>
      </p:grpSp>
      <p:sp>
        <p:nvSpPr>
          <p:cNvPr id="62" name="object 14"/>
          <p:cNvSpPr txBox="1"/>
          <p:nvPr/>
        </p:nvSpPr>
        <p:spPr>
          <a:xfrm>
            <a:off x="3781449" y="2002659"/>
            <a:ext cx="1823605" cy="218236"/>
          </a:xfrm>
          <a:prstGeom prst="rect">
            <a:avLst/>
          </a:prstGeom>
        </p:spPr>
        <p:txBody>
          <a:bodyPr vert="horz" wrap="square" lIns="0" tIns="8226" rIns="0" bIns="0" rtlCol="0">
            <a:spAutoFit/>
          </a:bodyPr>
          <a:lstStyle/>
          <a:p>
            <a:pPr marL="8659">
              <a:spcBef>
                <a:spcPts val="65"/>
              </a:spcBef>
            </a:pPr>
            <a:r>
              <a:rPr sz="1364" dirty="0">
                <a:latin typeface="Cambria Math"/>
                <a:cs typeface="Cambria Math"/>
              </a:rPr>
              <a:t>𝑀𝑎𝑥𝑖𝑚𝑢𝑚 𝑙𝑜𝑎𝑑</a:t>
            </a:r>
            <a:r>
              <a:rPr sz="1364" spc="20" dirty="0">
                <a:latin typeface="Cambria Math"/>
                <a:cs typeface="Cambria Math"/>
              </a:rPr>
              <a:t> </a:t>
            </a:r>
            <a:r>
              <a:rPr sz="1364" spc="-7" dirty="0">
                <a:latin typeface="Cambria Math"/>
                <a:cs typeface="Cambria Math"/>
              </a:rPr>
              <a:t>𝑐𝑢𝑟𝑟𝑒𝑛𝑡</a:t>
            </a:r>
            <a:endParaRPr sz="1364">
              <a:latin typeface="Cambria Math"/>
              <a:cs typeface="Cambria Math"/>
            </a:endParaRPr>
          </a:p>
        </p:txBody>
      </p:sp>
      <p:sp>
        <p:nvSpPr>
          <p:cNvPr id="63" name="object 15"/>
          <p:cNvSpPr/>
          <p:nvPr/>
        </p:nvSpPr>
        <p:spPr>
          <a:xfrm>
            <a:off x="5653858" y="2054984"/>
            <a:ext cx="694459" cy="160626"/>
          </a:xfrm>
          <a:custGeom>
            <a:avLst/>
            <a:gdLst/>
            <a:ahLst/>
            <a:cxnLst/>
            <a:rect l="l" t="t" r="r" b="b"/>
            <a:pathLst>
              <a:path w="1018540" h="235585">
                <a:moveTo>
                  <a:pt x="943584" y="0"/>
                </a:moveTo>
                <a:lnTo>
                  <a:pt x="940244" y="9537"/>
                </a:lnTo>
                <a:lnTo>
                  <a:pt x="953846" y="15443"/>
                </a:lnTo>
                <a:lnTo>
                  <a:pt x="965544" y="23617"/>
                </a:lnTo>
                <a:lnTo>
                  <a:pt x="989303" y="61502"/>
                </a:lnTo>
                <a:lnTo>
                  <a:pt x="997115" y="116344"/>
                </a:lnTo>
                <a:lnTo>
                  <a:pt x="996243" y="137073"/>
                </a:lnTo>
                <a:lnTo>
                  <a:pt x="983170" y="187833"/>
                </a:lnTo>
                <a:lnTo>
                  <a:pt x="954002" y="219567"/>
                </a:lnTo>
                <a:lnTo>
                  <a:pt x="940612" y="225501"/>
                </a:lnTo>
                <a:lnTo>
                  <a:pt x="943584" y="235038"/>
                </a:lnTo>
                <a:lnTo>
                  <a:pt x="988490" y="208356"/>
                </a:lnTo>
                <a:lnTo>
                  <a:pt x="1013709" y="159105"/>
                </a:lnTo>
                <a:lnTo>
                  <a:pt x="1018540" y="117576"/>
                </a:lnTo>
                <a:lnTo>
                  <a:pt x="1017342" y="96287"/>
                </a:lnTo>
                <a:lnTo>
                  <a:pt x="1017328" y="96030"/>
                </a:lnTo>
                <a:lnTo>
                  <a:pt x="1007636" y="57844"/>
                </a:lnTo>
                <a:lnTo>
                  <a:pt x="975567" y="15070"/>
                </a:lnTo>
                <a:lnTo>
                  <a:pt x="960624" y="6153"/>
                </a:lnTo>
                <a:lnTo>
                  <a:pt x="943584" y="0"/>
                </a:lnTo>
                <a:close/>
              </a:path>
              <a:path w="1018540" h="235585">
                <a:moveTo>
                  <a:pt x="74955" y="0"/>
                </a:moveTo>
                <a:lnTo>
                  <a:pt x="30137" y="26751"/>
                </a:lnTo>
                <a:lnTo>
                  <a:pt x="4848" y="76120"/>
                </a:lnTo>
                <a:lnTo>
                  <a:pt x="69" y="116344"/>
                </a:lnTo>
                <a:lnTo>
                  <a:pt x="0" y="117576"/>
                </a:lnTo>
                <a:lnTo>
                  <a:pt x="1090" y="137073"/>
                </a:lnTo>
                <a:lnTo>
                  <a:pt x="1207" y="139174"/>
                </a:lnTo>
                <a:lnTo>
                  <a:pt x="4830" y="159105"/>
                </a:lnTo>
                <a:lnTo>
                  <a:pt x="30051" y="208356"/>
                </a:lnTo>
                <a:lnTo>
                  <a:pt x="74955" y="235038"/>
                </a:lnTo>
                <a:lnTo>
                  <a:pt x="77927" y="225501"/>
                </a:lnTo>
                <a:lnTo>
                  <a:pt x="64537" y="219567"/>
                </a:lnTo>
                <a:lnTo>
                  <a:pt x="52981" y="211310"/>
                </a:lnTo>
                <a:lnTo>
                  <a:pt x="29276" y="172819"/>
                </a:lnTo>
                <a:lnTo>
                  <a:pt x="21489" y="117576"/>
                </a:lnTo>
                <a:lnTo>
                  <a:pt x="21437" y="116344"/>
                </a:lnTo>
                <a:lnTo>
                  <a:pt x="24922" y="78006"/>
                </a:lnTo>
                <a:lnTo>
                  <a:pt x="43282" y="34060"/>
                </a:lnTo>
                <a:lnTo>
                  <a:pt x="78308" y="9537"/>
                </a:lnTo>
                <a:lnTo>
                  <a:pt x="74955" y="0"/>
                </a:lnTo>
                <a:close/>
              </a:path>
            </a:pathLst>
          </a:custGeom>
          <a:solidFill>
            <a:srgbClr val="000000"/>
          </a:solidFill>
        </p:spPr>
        <p:txBody>
          <a:bodyPr wrap="square" lIns="0" tIns="0" rIns="0" bIns="0" rtlCol="0"/>
          <a:lstStyle/>
          <a:p>
            <a:endParaRPr sz="1227"/>
          </a:p>
        </p:txBody>
      </p:sp>
      <p:sp>
        <p:nvSpPr>
          <p:cNvPr id="64" name="object 16"/>
          <p:cNvSpPr txBox="1"/>
          <p:nvPr/>
        </p:nvSpPr>
        <p:spPr>
          <a:xfrm>
            <a:off x="5684371" y="2045262"/>
            <a:ext cx="628217" cy="218107"/>
          </a:xfrm>
          <a:prstGeom prst="rect">
            <a:avLst/>
          </a:prstGeom>
        </p:spPr>
        <p:txBody>
          <a:bodyPr vert="horz" wrap="square" lIns="0" tIns="8226" rIns="0" bIns="0" rtlCol="0">
            <a:spAutoFit/>
          </a:bodyPr>
          <a:lstStyle/>
          <a:p>
            <a:pPr marL="25977">
              <a:spcBef>
                <a:spcPts val="65"/>
              </a:spcBef>
            </a:pPr>
            <a:r>
              <a:rPr sz="2045" baseline="13888" dirty="0">
                <a:latin typeface="Cambria Math"/>
                <a:cs typeface="Cambria Math"/>
              </a:rPr>
              <a:t>𝐼</a:t>
            </a:r>
            <a:r>
              <a:rPr sz="886" dirty="0">
                <a:latin typeface="Cambria Math"/>
                <a:cs typeface="Cambria Math"/>
              </a:rPr>
              <a:t>𝑙𝑜𝑎𝑑</a:t>
            </a:r>
            <a:r>
              <a:rPr sz="1330" baseline="-21367" dirty="0">
                <a:latin typeface="Cambria Math"/>
                <a:cs typeface="Cambria Math"/>
              </a:rPr>
              <a:t>,</a:t>
            </a:r>
            <a:r>
              <a:rPr sz="1330" spc="168" baseline="-21367" dirty="0">
                <a:latin typeface="Cambria Math"/>
                <a:cs typeface="Cambria Math"/>
              </a:rPr>
              <a:t> </a:t>
            </a:r>
            <a:r>
              <a:rPr sz="886" spc="-17" dirty="0">
                <a:latin typeface="Cambria Math"/>
                <a:cs typeface="Cambria Math"/>
              </a:rPr>
              <a:t>𝑚𝑎𝑥</a:t>
            </a:r>
            <a:endParaRPr sz="886">
              <a:latin typeface="Cambria Math"/>
              <a:cs typeface="Cambria Math"/>
            </a:endParaRPr>
          </a:p>
        </p:txBody>
      </p:sp>
      <p:sp>
        <p:nvSpPr>
          <p:cNvPr id="65" name="object 18"/>
          <p:cNvSpPr txBox="1"/>
          <p:nvPr/>
        </p:nvSpPr>
        <p:spPr>
          <a:xfrm>
            <a:off x="5893116" y="2574583"/>
            <a:ext cx="1018742" cy="218236"/>
          </a:xfrm>
          <a:prstGeom prst="rect">
            <a:avLst/>
          </a:prstGeom>
        </p:spPr>
        <p:txBody>
          <a:bodyPr vert="horz" wrap="square" lIns="0" tIns="8226" rIns="0" bIns="0" rtlCol="0">
            <a:spAutoFit/>
          </a:bodyPr>
          <a:lstStyle/>
          <a:p>
            <a:pPr marL="25977">
              <a:spcBef>
                <a:spcPts val="65"/>
              </a:spcBef>
            </a:pPr>
            <a:r>
              <a:rPr sz="1364" dirty="0">
                <a:latin typeface="Cambria Math"/>
                <a:cs typeface="Cambria Math"/>
              </a:rPr>
              <a:t>𝑁</a:t>
            </a:r>
            <a:r>
              <a:rPr sz="1330" baseline="-21367" dirty="0">
                <a:latin typeface="Cambria Math"/>
                <a:cs typeface="Cambria Math"/>
              </a:rPr>
              <a:t>𝐷𝐴𝐶</a:t>
            </a:r>
            <a:r>
              <a:rPr sz="1330" spc="383" baseline="-21367" dirty="0">
                <a:latin typeface="Cambria Math"/>
                <a:cs typeface="Cambria Math"/>
              </a:rPr>
              <a:t> </a:t>
            </a:r>
            <a:r>
              <a:rPr sz="1364" dirty="0">
                <a:latin typeface="Cambria Math"/>
                <a:cs typeface="Cambria Math"/>
              </a:rPr>
              <a:t>=</a:t>
            </a:r>
            <a:r>
              <a:rPr sz="1364" spc="92" dirty="0">
                <a:latin typeface="Cambria Math"/>
                <a:cs typeface="Cambria Math"/>
              </a:rPr>
              <a:t> </a:t>
            </a:r>
            <a:r>
              <a:rPr sz="1364" spc="-14" dirty="0">
                <a:latin typeface="Cambria Math"/>
                <a:cs typeface="Cambria Math"/>
              </a:rPr>
              <a:t>log</a:t>
            </a:r>
            <a:r>
              <a:rPr sz="1483" spc="-20" baseline="-15325" dirty="0">
                <a:latin typeface="Cambria Math"/>
                <a:cs typeface="Cambria Math"/>
              </a:rPr>
              <a:t>2</a:t>
            </a:r>
            <a:r>
              <a:rPr sz="1364" spc="-14" dirty="0">
                <a:latin typeface="Cambria Math"/>
                <a:cs typeface="Cambria Math"/>
              </a:rPr>
              <a:t>(</a:t>
            </a:r>
            <a:endParaRPr sz="1364">
              <a:latin typeface="Cambria Math"/>
              <a:cs typeface="Cambria Math"/>
            </a:endParaRPr>
          </a:p>
        </p:txBody>
      </p:sp>
      <p:sp>
        <p:nvSpPr>
          <p:cNvPr id="66" name="object 19"/>
          <p:cNvSpPr/>
          <p:nvPr/>
        </p:nvSpPr>
        <p:spPr>
          <a:xfrm>
            <a:off x="6885448" y="2701179"/>
            <a:ext cx="581024" cy="11690"/>
          </a:xfrm>
          <a:custGeom>
            <a:avLst/>
            <a:gdLst/>
            <a:ahLst/>
            <a:cxnLst/>
            <a:rect l="l" t="t" r="r" b="b"/>
            <a:pathLst>
              <a:path w="852170" h="17145">
                <a:moveTo>
                  <a:pt x="851916" y="0"/>
                </a:moveTo>
                <a:lnTo>
                  <a:pt x="0" y="0"/>
                </a:lnTo>
                <a:lnTo>
                  <a:pt x="0" y="16764"/>
                </a:lnTo>
                <a:lnTo>
                  <a:pt x="851916" y="16764"/>
                </a:lnTo>
                <a:lnTo>
                  <a:pt x="851916" y="0"/>
                </a:lnTo>
                <a:close/>
              </a:path>
            </a:pathLst>
          </a:custGeom>
          <a:solidFill>
            <a:srgbClr val="000000"/>
          </a:solidFill>
        </p:spPr>
        <p:txBody>
          <a:bodyPr wrap="square" lIns="0" tIns="0" rIns="0" bIns="0" rtlCol="0"/>
          <a:lstStyle/>
          <a:p>
            <a:endParaRPr sz="1227"/>
          </a:p>
        </p:txBody>
      </p:sp>
      <p:sp>
        <p:nvSpPr>
          <p:cNvPr id="67" name="object 20"/>
          <p:cNvSpPr txBox="1"/>
          <p:nvPr/>
        </p:nvSpPr>
        <p:spPr>
          <a:xfrm>
            <a:off x="7098634" y="2690442"/>
            <a:ext cx="83127" cy="218236"/>
          </a:xfrm>
          <a:prstGeom prst="rect">
            <a:avLst/>
          </a:prstGeom>
        </p:spPr>
        <p:txBody>
          <a:bodyPr vert="horz" wrap="square" lIns="0" tIns="8226" rIns="0" bIns="0" rtlCol="0">
            <a:spAutoFit/>
          </a:bodyPr>
          <a:lstStyle/>
          <a:p>
            <a:pPr marL="8659">
              <a:spcBef>
                <a:spcPts val="65"/>
              </a:spcBef>
            </a:pPr>
            <a:r>
              <a:rPr sz="1364" spc="-34" dirty="0">
                <a:latin typeface="Cambria Math"/>
                <a:cs typeface="Cambria Math"/>
              </a:rPr>
              <a:t>𝐼</a:t>
            </a:r>
            <a:endParaRPr sz="1364">
              <a:latin typeface="Cambria Math"/>
              <a:cs typeface="Cambria Math"/>
            </a:endParaRPr>
          </a:p>
        </p:txBody>
      </p:sp>
      <p:sp>
        <p:nvSpPr>
          <p:cNvPr id="68" name="object 21"/>
          <p:cNvSpPr txBox="1"/>
          <p:nvPr/>
        </p:nvSpPr>
        <p:spPr>
          <a:xfrm>
            <a:off x="7164098" y="2790714"/>
            <a:ext cx="83560" cy="147686"/>
          </a:xfrm>
          <a:prstGeom prst="rect">
            <a:avLst/>
          </a:prstGeom>
        </p:spPr>
        <p:txBody>
          <a:bodyPr vert="horz" wrap="square" lIns="0" tIns="11257" rIns="0" bIns="0" rtlCol="0">
            <a:spAutoFit/>
          </a:bodyPr>
          <a:lstStyle/>
          <a:p>
            <a:pPr marL="8659">
              <a:spcBef>
                <a:spcPts val="89"/>
              </a:spcBef>
            </a:pPr>
            <a:r>
              <a:rPr sz="886" spc="-34" dirty="0">
                <a:latin typeface="Cambria Math"/>
                <a:cs typeface="Cambria Math"/>
              </a:rPr>
              <a:t>𝑢</a:t>
            </a:r>
            <a:endParaRPr sz="886">
              <a:latin typeface="Cambria Math"/>
              <a:cs typeface="Cambria Math"/>
            </a:endParaRPr>
          </a:p>
        </p:txBody>
      </p:sp>
      <p:sp>
        <p:nvSpPr>
          <p:cNvPr id="69" name="object 22"/>
          <p:cNvSpPr txBox="1"/>
          <p:nvPr/>
        </p:nvSpPr>
        <p:spPr>
          <a:xfrm>
            <a:off x="6859470" y="2486260"/>
            <a:ext cx="1007918" cy="218107"/>
          </a:xfrm>
          <a:prstGeom prst="rect">
            <a:avLst/>
          </a:prstGeom>
        </p:spPr>
        <p:txBody>
          <a:bodyPr vert="horz" wrap="square" lIns="0" tIns="8226" rIns="0" bIns="0" rtlCol="0">
            <a:spAutoFit/>
          </a:bodyPr>
          <a:lstStyle/>
          <a:p>
            <a:pPr marL="25977">
              <a:spcBef>
                <a:spcPts val="65"/>
              </a:spcBef>
            </a:pPr>
            <a:r>
              <a:rPr sz="2045" baseline="13888" dirty="0">
                <a:latin typeface="Cambria Math"/>
                <a:cs typeface="Cambria Math"/>
              </a:rPr>
              <a:t>𝐼</a:t>
            </a:r>
            <a:r>
              <a:rPr sz="886" dirty="0">
                <a:latin typeface="Cambria Math"/>
                <a:cs typeface="Cambria Math"/>
              </a:rPr>
              <a:t>𝑙𝑜𝑎𝑑</a:t>
            </a:r>
            <a:r>
              <a:rPr sz="1330" baseline="-21367" dirty="0">
                <a:latin typeface="Cambria Math"/>
                <a:cs typeface="Cambria Math"/>
              </a:rPr>
              <a:t>,</a:t>
            </a:r>
            <a:r>
              <a:rPr sz="1330" spc="82" baseline="-21367" dirty="0">
                <a:latin typeface="Cambria Math"/>
                <a:cs typeface="Cambria Math"/>
              </a:rPr>
              <a:t> </a:t>
            </a:r>
            <a:r>
              <a:rPr sz="886" dirty="0">
                <a:latin typeface="Cambria Math"/>
                <a:cs typeface="Cambria Math"/>
              </a:rPr>
              <a:t>𝑚𝑎𝑥</a:t>
            </a:r>
            <a:r>
              <a:rPr sz="886" spc="187" dirty="0">
                <a:latin typeface="Cambria Math"/>
                <a:cs typeface="Cambria Math"/>
              </a:rPr>
              <a:t> </a:t>
            </a:r>
            <a:r>
              <a:rPr sz="2045" baseline="-27777" dirty="0">
                <a:latin typeface="Cambria Math"/>
                <a:cs typeface="Cambria Math"/>
              </a:rPr>
              <a:t>+</a:t>
            </a:r>
            <a:r>
              <a:rPr sz="2045" spc="66" baseline="-27777" dirty="0">
                <a:latin typeface="Cambria Math"/>
                <a:cs typeface="Cambria Math"/>
              </a:rPr>
              <a:t> </a:t>
            </a:r>
            <a:r>
              <a:rPr sz="2045" spc="-25" baseline="-27777" dirty="0">
                <a:latin typeface="Cambria Math"/>
                <a:cs typeface="Cambria Math"/>
              </a:rPr>
              <a:t>1)</a:t>
            </a:r>
            <a:endParaRPr sz="2045" baseline="-27777">
              <a:latin typeface="Cambria Math"/>
              <a:cs typeface="Cambria Math"/>
            </a:endParaRPr>
          </a:p>
        </p:txBody>
      </p:sp>
      <p:sp>
        <p:nvSpPr>
          <p:cNvPr id="70" name="object 23"/>
          <p:cNvSpPr txBox="1"/>
          <p:nvPr/>
        </p:nvSpPr>
        <p:spPr>
          <a:xfrm>
            <a:off x="3508756" y="2564030"/>
            <a:ext cx="83127" cy="218236"/>
          </a:xfrm>
          <a:prstGeom prst="rect">
            <a:avLst/>
          </a:prstGeom>
        </p:spPr>
        <p:txBody>
          <a:bodyPr vert="horz" wrap="square" lIns="0" tIns="8226" rIns="0" bIns="0" rtlCol="0">
            <a:spAutoFit/>
          </a:bodyPr>
          <a:lstStyle/>
          <a:p>
            <a:pPr marL="8659">
              <a:spcBef>
                <a:spcPts val="65"/>
              </a:spcBef>
            </a:pPr>
            <a:r>
              <a:rPr sz="1364" spc="-34" dirty="0">
                <a:latin typeface="Cambria Math"/>
                <a:cs typeface="Cambria Math"/>
              </a:rPr>
              <a:t>𝐼</a:t>
            </a:r>
            <a:endParaRPr sz="1364">
              <a:latin typeface="Cambria Math"/>
              <a:cs typeface="Cambria Math"/>
            </a:endParaRPr>
          </a:p>
        </p:txBody>
      </p:sp>
      <p:sp>
        <p:nvSpPr>
          <p:cNvPr id="71" name="object 24"/>
          <p:cNvSpPr txBox="1"/>
          <p:nvPr/>
        </p:nvSpPr>
        <p:spPr>
          <a:xfrm>
            <a:off x="3556818" y="2664309"/>
            <a:ext cx="562408" cy="147815"/>
          </a:xfrm>
          <a:prstGeom prst="rect">
            <a:avLst/>
          </a:prstGeom>
        </p:spPr>
        <p:txBody>
          <a:bodyPr vert="horz" wrap="square" lIns="0" tIns="11257" rIns="0" bIns="0" rtlCol="0">
            <a:spAutoFit/>
          </a:bodyPr>
          <a:lstStyle/>
          <a:p>
            <a:pPr marL="25977">
              <a:spcBef>
                <a:spcPts val="89"/>
              </a:spcBef>
            </a:pPr>
            <a:r>
              <a:rPr sz="886" dirty="0">
                <a:latin typeface="Cambria Math"/>
                <a:cs typeface="Cambria Math"/>
              </a:rPr>
              <a:t>𝑙𝑜𝑎𝑑</a:t>
            </a:r>
            <a:r>
              <a:rPr sz="1330" baseline="-21367" dirty="0">
                <a:latin typeface="Cambria Math"/>
                <a:cs typeface="Cambria Math"/>
              </a:rPr>
              <a:t>,</a:t>
            </a:r>
            <a:r>
              <a:rPr sz="1330" spc="179" baseline="-21367" dirty="0">
                <a:latin typeface="Cambria Math"/>
                <a:cs typeface="Cambria Math"/>
              </a:rPr>
              <a:t> </a:t>
            </a:r>
            <a:r>
              <a:rPr sz="886" spc="-17" dirty="0">
                <a:latin typeface="Cambria Math"/>
                <a:cs typeface="Cambria Math"/>
              </a:rPr>
              <a:t>𝑚𝑎𝑥</a:t>
            </a:r>
            <a:endParaRPr sz="886">
              <a:latin typeface="Cambria Math"/>
              <a:cs typeface="Cambria Math"/>
            </a:endParaRPr>
          </a:p>
        </p:txBody>
      </p:sp>
      <p:sp>
        <p:nvSpPr>
          <p:cNvPr id="72" name="object 25"/>
          <p:cNvSpPr txBox="1"/>
          <p:nvPr/>
        </p:nvSpPr>
        <p:spPr>
          <a:xfrm>
            <a:off x="4380990" y="2664309"/>
            <a:ext cx="83560" cy="147686"/>
          </a:xfrm>
          <a:prstGeom prst="rect">
            <a:avLst/>
          </a:prstGeom>
        </p:spPr>
        <p:txBody>
          <a:bodyPr vert="horz" wrap="square" lIns="0" tIns="11257" rIns="0" bIns="0" rtlCol="0">
            <a:spAutoFit/>
          </a:bodyPr>
          <a:lstStyle/>
          <a:p>
            <a:pPr marL="8659">
              <a:spcBef>
                <a:spcPts val="89"/>
              </a:spcBef>
            </a:pPr>
            <a:r>
              <a:rPr sz="886" spc="-34" dirty="0">
                <a:latin typeface="Cambria Math"/>
                <a:cs typeface="Cambria Math"/>
              </a:rPr>
              <a:t>𝑢</a:t>
            </a:r>
            <a:endParaRPr sz="886">
              <a:latin typeface="Cambria Math"/>
              <a:cs typeface="Cambria Math"/>
            </a:endParaRPr>
          </a:p>
        </p:txBody>
      </p:sp>
      <p:sp>
        <p:nvSpPr>
          <p:cNvPr id="73" name="object 26"/>
          <p:cNvSpPr txBox="1"/>
          <p:nvPr/>
        </p:nvSpPr>
        <p:spPr>
          <a:xfrm>
            <a:off x="4120005" y="2564036"/>
            <a:ext cx="1333066" cy="218236"/>
          </a:xfrm>
          <a:prstGeom prst="rect">
            <a:avLst/>
          </a:prstGeom>
        </p:spPr>
        <p:txBody>
          <a:bodyPr vert="horz" wrap="square" lIns="0" tIns="8226" rIns="0" bIns="0" rtlCol="0">
            <a:spAutoFit/>
          </a:bodyPr>
          <a:lstStyle/>
          <a:p>
            <a:pPr marL="25977">
              <a:spcBef>
                <a:spcPts val="65"/>
              </a:spcBef>
            </a:pPr>
            <a:r>
              <a:rPr sz="1364" dirty="0">
                <a:latin typeface="Cambria Math"/>
                <a:cs typeface="Cambria Math"/>
              </a:rPr>
              <a:t>=</a:t>
            </a:r>
            <a:r>
              <a:rPr sz="1364" spc="72" dirty="0">
                <a:latin typeface="Cambria Math"/>
                <a:cs typeface="Cambria Math"/>
              </a:rPr>
              <a:t> </a:t>
            </a:r>
            <a:r>
              <a:rPr sz="1364" dirty="0">
                <a:latin typeface="Cambria Math"/>
                <a:cs typeface="Cambria Math"/>
              </a:rPr>
              <a:t>𝐼</a:t>
            </a:r>
            <a:r>
              <a:rPr sz="1364" spc="242" dirty="0">
                <a:latin typeface="Cambria Math"/>
                <a:cs typeface="Cambria Math"/>
              </a:rPr>
              <a:t> </a:t>
            </a:r>
            <a:r>
              <a:rPr sz="1364" dirty="0" smtClean="0">
                <a:latin typeface="Cambria Math"/>
                <a:cs typeface="Cambria Math"/>
              </a:rPr>
              <a:t> </a:t>
            </a:r>
            <a:r>
              <a:rPr sz="1364" spc="44" dirty="0" smtClean="0">
                <a:latin typeface="Cambria Math"/>
                <a:cs typeface="Cambria Math"/>
              </a:rPr>
              <a:t>(</a:t>
            </a:r>
            <a:r>
              <a:rPr sz="1364" spc="44" dirty="0">
                <a:latin typeface="Cambria Math"/>
                <a:cs typeface="Cambria Math"/>
              </a:rPr>
              <a:t>2</a:t>
            </a:r>
            <a:r>
              <a:rPr sz="1483" spc="66" baseline="28735" dirty="0">
                <a:latin typeface="Cambria Math"/>
                <a:cs typeface="Cambria Math"/>
              </a:rPr>
              <a:t>𝑁</a:t>
            </a:r>
            <a:r>
              <a:rPr sz="1227" spc="66" baseline="20833" dirty="0">
                <a:latin typeface="Cambria Math"/>
                <a:cs typeface="Cambria Math"/>
              </a:rPr>
              <a:t>𝐷AC</a:t>
            </a:r>
            <a:r>
              <a:rPr sz="1227" spc="312" baseline="20833" dirty="0">
                <a:latin typeface="Cambria Math"/>
                <a:cs typeface="Cambria Math"/>
              </a:rPr>
              <a:t> </a:t>
            </a:r>
            <a:r>
              <a:rPr sz="1364" dirty="0">
                <a:latin typeface="Cambria Math"/>
                <a:cs typeface="Cambria Math"/>
              </a:rPr>
              <a:t>−</a:t>
            </a:r>
            <a:r>
              <a:rPr sz="1364" spc="3" dirty="0">
                <a:latin typeface="Cambria Math"/>
                <a:cs typeface="Cambria Math"/>
              </a:rPr>
              <a:t> </a:t>
            </a:r>
            <a:r>
              <a:rPr sz="1364" spc="-17" dirty="0">
                <a:latin typeface="Cambria Math"/>
                <a:cs typeface="Cambria Math"/>
              </a:rPr>
              <a:t>1)</a:t>
            </a:r>
            <a:endParaRPr sz="1364" dirty="0">
              <a:latin typeface="Cambria Math"/>
              <a:cs typeface="Cambria Math"/>
            </a:endParaRPr>
          </a:p>
        </p:txBody>
      </p:sp>
      <p:pic>
        <p:nvPicPr>
          <p:cNvPr id="74" name="object 27"/>
          <p:cNvPicPr/>
          <p:nvPr/>
        </p:nvPicPr>
        <p:blipFill>
          <a:blip r:embed="rId2" cstate="print"/>
          <a:stretch>
            <a:fillRect/>
          </a:stretch>
        </p:blipFill>
        <p:spPr>
          <a:xfrm>
            <a:off x="5614670" y="2646853"/>
            <a:ext cx="168332" cy="120014"/>
          </a:xfrm>
          <a:prstGeom prst="rect">
            <a:avLst/>
          </a:prstGeom>
        </p:spPr>
      </p:pic>
      <p:pic>
        <p:nvPicPr>
          <p:cNvPr id="75" name="Picture 74"/>
          <p:cNvPicPr>
            <a:picLocks noChangeAspect="1"/>
          </p:cNvPicPr>
          <p:nvPr/>
        </p:nvPicPr>
        <p:blipFill>
          <a:blip r:embed="rId3"/>
          <a:stretch>
            <a:fillRect/>
          </a:stretch>
        </p:blipFill>
        <p:spPr>
          <a:xfrm>
            <a:off x="6403934" y="1796415"/>
            <a:ext cx="1222416" cy="635656"/>
          </a:xfrm>
          <a:prstGeom prst="rect">
            <a:avLst/>
          </a:prstGeom>
        </p:spPr>
      </p:pic>
    </p:spTree>
    <p:extLst>
      <p:ext uri="{BB962C8B-B14F-4D97-AF65-F5344CB8AC3E}">
        <p14:creationId xmlns:p14="http://schemas.microsoft.com/office/powerpoint/2010/main" val="23057167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98148" y="237085"/>
            <a:ext cx="7222634" cy="531526"/>
          </a:xfrm>
          <a:prstGeom prst="rect">
            <a:avLst/>
          </a:prstGeom>
        </p:spPr>
        <p:txBody>
          <a:bodyPr vert="horz" wrap="square" lIns="0" tIns="8226" rIns="0" bIns="0" rtlCol="0">
            <a:spAutoFit/>
          </a:bodyPr>
          <a:lstStyle/>
          <a:p>
            <a:pPr marL="8659">
              <a:spcBef>
                <a:spcPts val="65"/>
              </a:spcBef>
            </a:pPr>
            <a:r>
              <a:rPr dirty="0"/>
              <a:t>Minimum</a:t>
            </a:r>
            <a:r>
              <a:rPr spc="-65" dirty="0"/>
              <a:t> </a:t>
            </a:r>
            <a:r>
              <a:rPr dirty="0"/>
              <a:t>Load</a:t>
            </a:r>
            <a:r>
              <a:rPr spc="-41" dirty="0"/>
              <a:t> </a:t>
            </a:r>
            <a:r>
              <a:rPr dirty="0"/>
              <a:t>Current</a:t>
            </a:r>
            <a:r>
              <a:rPr spc="-58" dirty="0"/>
              <a:t> </a:t>
            </a:r>
            <a:r>
              <a:rPr spc="-7" dirty="0"/>
              <a:t>(I</a:t>
            </a:r>
            <a:r>
              <a:rPr sz="2557" spc="-10" baseline="-21111" dirty="0"/>
              <a:t>load,min</a:t>
            </a:r>
            <a:r>
              <a:rPr sz="2591" spc="-7" dirty="0"/>
              <a:t>)</a:t>
            </a:r>
            <a:endParaRPr sz="2591"/>
          </a:p>
        </p:txBody>
      </p:sp>
      <p:sp>
        <p:nvSpPr>
          <p:cNvPr id="46" name="object 46"/>
          <p:cNvSpPr txBox="1"/>
          <p:nvPr/>
        </p:nvSpPr>
        <p:spPr>
          <a:xfrm>
            <a:off x="3687222" y="3816367"/>
            <a:ext cx="83127" cy="218236"/>
          </a:xfrm>
          <a:prstGeom prst="rect">
            <a:avLst/>
          </a:prstGeom>
        </p:spPr>
        <p:txBody>
          <a:bodyPr vert="horz" wrap="square" lIns="0" tIns="8226" rIns="0" bIns="0" rtlCol="0">
            <a:spAutoFit/>
          </a:bodyPr>
          <a:lstStyle/>
          <a:p>
            <a:pPr marL="8659">
              <a:spcBef>
                <a:spcPts val="65"/>
              </a:spcBef>
            </a:pPr>
            <a:r>
              <a:rPr sz="1364" spc="-34" dirty="0">
                <a:latin typeface="Cambria Math"/>
                <a:cs typeface="Cambria Math"/>
              </a:rPr>
              <a:t>𝐼</a:t>
            </a:r>
            <a:endParaRPr sz="1364">
              <a:latin typeface="Cambria Math"/>
              <a:cs typeface="Cambria Math"/>
            </a:endParaRPr>
          </a:p>
        </p:txBody>
      </p:sp>
      <p:sp>
        <p:nvSpPr>
          <p:cNvPr id="47" name="object 47"/>
          <p:cNvSpPr txBox="1"/>
          <p:nvPr/>
        </p:nvSpPr>
        <p:spPr>
          <a:xfrm>
            <a:off x="3742814" y="3898455"/>
            <a:ext cx="571067" cy="161402"/>
          </a:xfrm>
          <a:prstGeom prst="rect">
            <a:avLst/>
          </a:prstGeom>
        </p:spPr>
        <p:txBody>
          <a:bodyPr vert="horz" wrap="square" lIns="0" tIns="9092" rIns="0" bIns="0" rtlCol="0">
            <a:spAutoFit/>
          </a:bodyPr>
          <a:lstStyle/>
          <a:p>
            <a:pPr marL="8659">
              <a:spcBef>
                <a:spcPts val="72"/>
              </a:spcBef>
            </a:pPr>
            <a:r>
              <a:rPr sz="989" spc="48" dirty="0">
                <a:latin typeface="Cambria Math"/>
                <a:cs typeface="Cambria Math"/>
              </a:rPr>
              <a:t>𝑙𝑜𝑎𝑑,𝑚𝑖𝑛</a:t>
            </a:r>
            <a:endParaRPr sz="989">
              <a:latin typeface="Cambria Math"/>
              <a:cs typeface="Cambria Math"/>
            </a:endParaRPr>
          </a:p>
        </p:txBody>
      </p:sp>
      <p:sp>
        <p:nvSpPr>
          <p:cNvPr id="48" name="object 48"/>
          <p:cNvSpPr txBox="1"/>
          <p:nvPr/>
        </p:nvSpPr>
        <p:spPr>
          <a:xfrm>
            <a:off x="4588114" y="3898455"/>
            <a:ext cx="99580" cy="161402"/>
          </a:xfrm>
          <a:prstGeom prst="rect">
            <a:avLst/>
          </a:prstGeom>
        </p:spPr>
        <p:txBody>
          <a:bodyPr vert="horz" wrap="square" lIns="0" tIns="9092" rIns="0" bIns="0" rtlCol="0">
            <a:spAutoFit/>
          </a:bodyPr>
          <a:lstStyle/>
          <a:p>
            <a:pPr marL="8659">
              <a:spcBef>
                <a:spcPts val="72"/>
              </a:spcBef>
            </a:pPr>
            <a:r>
              <a:rPr sz="989" spc="37" dirty="0">
                <a:latin typeface="Cambria Math"/>
                <a:cs typeface="Cambria Math"/>
              </a:rPr>
              <a:t>𝑢</a:t>
            </a:r>
            <a:endParaRPr sz="989">
              <a:latin typeface="Cambria Math"/>
              <a:cs typeface="Cambria Math"/>
            </a:endParaRPr>
          </a:p>
        </p:txBody>
      </p:sp>
      <p:sp>
        <p:nvSpPr>
          <p:cNvPr id="49" name="object 49"/>
          <p:cNvSpPr txBox="1"/>
          <p:nvPr/>
        </p:nvSpPr>
        <p:spPr>
          <a:xfrm>
            <a:off x="4354319" y="3816367"/>
            <a:ext cx="430357" cy="218236"/>
          </a:xfrm>
          <a:prstGeom prst="rect">
            <a:avLst/>
          </a:prstGeom>
        </p:spPr>
        <p:txBody>
          <a:bodyPr vert="horz" wrap="square" lIns="0" tIns="8226" rIns="0" bIns="0" rtlCol="0">
            <a:spAutoFit/>
          </a:bodyPr>
          <a:lstStyle/>
          <a:p>
            <a:pPr marL="8659">
              <a:spcBef>
                <a:spcPts val="65"/>
              </a:spcBef>
              <a:tabLst>
                <a:tab pos="372764" algn="l"/>
              </a:tabLst>
            </a:pPr>
            <a:r>
              <a:rPr sz="1364" dirty="0">
                <a:latin typeface="Cambria Math"/>
                <a:cs typeface="Cambria Math"/>
              </a:rPr>
              <a:t>=</a:t>
            </a:r>
            <a:r>
              <a:rPr sz="1364" spc="72" dirty="0">
                <a:latin typeface="Cambria Math"/>
                <a:cs typeface="Cambria Math"/>
              </a:rPr>
              <a:t> </a:t>
            </a:r>
            <a:r>
              <a:rPr sz="1364" spc="-34" dirty="0">
                <a:latin typeface="Cambria Math"/>
                <a:cs typeface="Cambria Math"/>
              </a:rPr>
              <a:t>𝐼</a:t>
            </a:r>
            <a:r>
              <a:rPr sz="1364" dirty="0">
                <a:latin typeface="Cambria Math"/>
                <a:cs typeface="Cambria Math"/>
              </a:rPr>
              <a:t>	</a:t>
            </a:r>
            <a:r>
              <a:rPr lang="en-US" sz="1364" dirty="0" smtClean="0">
                <a:latin typeface="Cambria Math"/>
                <a:cs typeface="Cambria Math"/>
              </a:rPr>
              <a:t>.</a:t>
            </a:r>
            <a:endParaRPr sz="1364" dirty="0">
              <a:latin typeface="Cambria Math"/>
              <a:cs typeface="Cambria Math"/>
            </a:endParaRPr>
          </a:p>
        </p:txBody>
      </p:sp>
      <p:sp>
        <p:nvSpPr>
          <p:cNvPr id="50" name="object 50"/>
          <p:cNvSpPr/>
          <p:nvPr/>
        </p:nvSpPr>
        <p:spPr>
          <a:xfrm>
            <a:off x="4814463" y="3942966"/>
            <a:ext cx="518680" cy="11690"/>
          </a:xfrm>
          <a:custGeom>
            <a:avLst/>
            <a:gdLst/>
            <a:ahLst/>
            <a:cxnLst/>
            <a:rect l="l" t="t" r="r" b="b"/>
            <a:pathLst>
              <a:path w="760729" h="17145">
                <a:moveTo>
                  <a:pt x="760476" y="0"/>
                </a:moveTo>
                <a:lnTo>
                  <a:pt x="0" y="0"/>
                </a:lnTo>
                <a:lnTo>
                  <a:pt x="0" y="16763"/>
                </a:lnTo>
                <a:lnTo>
                  <a:pt x="760476" y="16763"/>
                </a:lnTo>
                <a:lnTo>
                  <a:pt x="760476" y="0"/>
                </a:lnTo>
                <a:close/>
              </a:path>
            </a:pathLst>
          </a:custGeom>
          <a:solidFill>
            <a:srgbClr val="000000"/>
          </a:solidFill>
        </p:spPr>
        <p:txBody>
          <a:bodyPr wrap="square" lIns="0" tIns="0" rIns="0" bIns="0" rtlCol="0"/>
          <a:lstStyle/>
          <a:p>
            <a:endParaRPr sz="1227"/>
          </a:p>
        </p:txBody>
      </p:sp>
      <p:sp>
        <p:nvSpPr>
          <p:cNvPr id="51" name="object 51"/>
          <p:cNvSpPr txBox="1"/>
          <p:nvPr/>
        </p:nvSpPr>
        <p:spPr>
          <a:xfrm>
            <a:off x="4893434" y="3720771"/>
            <a:ext cx="349394" cy="218107"/>
          </a:xfrm>
          <a:prstGeom prst="rect">
            <a:avLst/>
          </a:prstGeom>
        </p:spPr>
        <p:txBody>
          <a:bodyPr vert="horz" wrap="square" lIns="0" tIns="8226" rIns="0" bIns="0" rtlCol="0">
            <a:spAutoFit/>
          </a:bodyPr>
          <a:lstStyle/>
          <a:p>
            <a:pPr marL="25977">
              <a:spcBef>
                <a:spcPts val="65"/>
              </a:spcBef>
            </a:pPr>
            <a:r>
              <a:rPr sz="2045" spc="-20" baseline="11111" dirty="0">
                <a:latin typeface="Cambria Math"/>
                <a:cs typeface="Cambria Math"/>
              </a:rPr>
              <a:t>𝑉</a:t>
            </a:r>
            <a:r>
              <a:rPr sz="989" spc="-14" dirty="0">
                <a:latin typeface="Cambria Math"/>
                <a:cs typeface="Cambria Math"/>
              </a:rPr>
              <a:t>𝑜𝑢𝑡</a:t>
            </a:r>
            <a:endParaRPr sz="989">
              <a:latin typeface="Cambria Math"/>
              <a:cs typeface="Cambria Math"/>
            </a:endParaRPr>
          </a:p>
        </p:txBody>
      </p:sp>
      <p:sp>
        <p:nvSpPr>
          <p:cNvPr id="52" name="object 52"/>
          <p:cNvSpPr txBox="1"/>
          <p:nvPr/>
        </p:nvSpPr>
        <p:spPr>
          <a:xfrm>
            <a:off x="4788486" y="3967555"/>
            <a:ext cx="559377" cy="218107"/>
          </a:xfrm>
          <a:prstGeom prst="rect">
            <a:avLst/>
          </a:prstGeom>
        </p:spPr>
        <p:txBody>
          <a:bodyPr vert="horz" wrap="square" lIns="0" tIns="8226" rIns="0" bIns="0" rtlCol="0">
            <a:spAutoFit/>
          </a:bodyPr>
          <a:lstStyle/>
          <a:p>
            <a:pPr marL="25977">
              <a:spcBef>
                <a:spcPts val="65"/>
              </a:spcBef>
            </a:pPr>
            <a:r>
              <a:rPr sz="2045" spc="-10" baseline="11111" dirty="0">
                <a:latin typeface="Cambria Math"/>
                <a:cs typeface="Cambria Math"/>
              </a:rPr>
              <a:t>𝑉</a:t>
            </a:r>
            <a:r>
              <a:rPr sz="989" spc="-7" dirty="0">
                <a:latin typeface="Cambria Math"/>
                <a:cs typeface="Cambria Math"/>
              </a:rPr>
              <a:t>𝐷𝐴𝐶,𝑆𝑆</a:t>
            </a:r>
            <a:endParaRPr sz="989">
              <a:latin typeface="Cambria Math"/>
              <a:cs typeface="Cambria Math"/>
            </a:endParaRPr>
          </a:p>
        </p:txBody>
      </p:sp>
      <p:sp>
        <p:nvSpPr>
          <p:cNvPr id="53" name="object 53"/>
          <p:cNvSpPr txBox="1"/>
          <p:nvPr/>
        </p:nvSpPr>
        <p:spPr>
          <a:xfrm>
            <a:off x="5605384" y="3898455"/>
            <a:ext cx="99580" cy="161402"/>
          </a:xfrm>
          <a:prstGeom prst="rect">
            <a:avLst/>
          </a:prstGeom>
        </p:spPr>
        <p:txBody>
          <a:bodyPr vert="horz" wrap="square" lIns="0" tIns="9092" rIns="0" bIns="0" rtlCol="0">
            <a:spAutoFit/>
          </a:bodyPr>
          <a:lstStyle/>
          <a:p>
            <a:pPr marL="8659">
              <a:spcBef>
                <a:spcPts val="72"/>
              </a:spcBef>
            </a:pPr>
            <a:r>
              <a:rPr sz="989" spc="37" dirty="0">
                <a:latin typeface="Cambria Math"/>
                <a:cs typeface="Cambria Math"/>
              </a:rPr>
              <a:t>𝑢</a:t>
            </a:r>
            <a:endParaRPr sz="989">
              <a:latin typeface="Cambria Math"/>
              <a:cs typeface="Cambria Math"/>
            </a:endParaRPr>
          </a:p>
        </p:txBody>
      </p:sp>
      <p:sp>
        <p:nvSpPr>
          <p:cNvPr id="54" name="object 54"/>
          <p:cNvSpPr txBox="1"/>
          <p:nvPr/>
        </p:nvSpPr>
        <p:spPr>
          <a:xfrm>
            <a:off x="5372108" y="3816367"/>
            <a:ext cx="429924" cy="218236"/>
          </a:xfrm>
          <a:prstGeom prst="rect">
            <a:avLst/>
          </a:prstGeom>
        </p:spPr>
        <p:txBody>
          <a:bodyPr vert="horz" wrap="square" lIns="0" tIns="8226" rIns="0" bIns="0" rtlCol="0">
            <a:spAutoFit/>
          </a:bodyPr>
          <a:lstStyle/>
          <a:p>
            <a:pPr marL="8659">
              <a:spcBef>
                <a:spcPts val="65"/>
              </a:spcBef>
              <a:tabLst>
                <a:tab pos="371898" algn="l"/>
              </a:tabLst>
            </a:pPr>
            <a:r>
              <a:rPr sz="1364" dirty="0">
                <a:latin typeface="Cambria Math"/>
                <a:cs typeface="Cambria Math"/>
              </a:rPr>
              <a:t>=</a:t>
            </a:r>
            <a:r>
              <a:rPr sz="1364" spc="68" dirty="0">
                <a:latin typeface="Cambria Math"/>
                <a:cs typeface="Cambria Math"/>
              </a:rPr>
              <a:t> </a:t>
            </a:r>
            <a:r>
              <a:rPr sz="1364" spc="-41" dirty="0">
                <a:latin typeface="Cambria Math"/>
                <a:cs typeface="Cambria Math"/>
              </a:rPr>
              <a:t>𝐼</a:t>
            </a:r>
            <a:r>
              <a:rPr sz="1364" dirty="0">
                <a:latin typeface="Cambria Math"/>
                <a:cs typeface="Cambria Math"/>
              </a:rPr>
              <a:t>	</a:t>
            </a:r>
            <a:r>
              <a:rPr lang="en-US" sz="1364" spc="-1023" dirty="0" smtClean="0">
                <a:latin typeface="Cambria Math"/>
                <a:cs typeface="Cambria Math"/>
              </a:rPr>
              <a:t>.</a:t>
            </a:r>
            <a:endParaRPr sz="1364" dirty="0">
              <a:latin typeface="Cambria Math"/>
              <a:cs typeface="Cambria Math"/>
            </a:endParaRPr>
          </a:p>
        </p:txBody>
      </p:sp>
      <p:sp>
        <p:nvSpPr>
          <p:cNvPr id="55" name="object 55"/>
          <p:cNvSpPr/>
          <p:nvPr/>
        </p:nvSpPr>
        <p:spPr>
          <a:xfrm>
            <a:off x="5831734" y="3942966"/>
            <a:ext cx="519545" cy="11690"/>
          </a:xfrm>
          <a:custGeom>
            <a:avLst/>
            <a:gdLst/>
            <a:ahLst/>
            <a:cxnLst/>
            <a:rect l="l" t="t" r="r" b="b"/>
            <a:pathLst>
              <a:path w="762000" h="17145">
                <a:moveTo>
                  <a:pt x="762000" y="0"/>
                </a:moveTo>
                <a:lnTo>
                  <a:pt x="0" y="0"/>
                </a:lnTo>
                <a:lnTo>
                  <a:pt x="0" y="16763"/>
                </a:lnTo>
                <a:lnTo>
                  <a:pt x="762000" y="16763"/>
                </a:lnTo>
                <a:lnTo>
                  <a:pt x="762000" y="0"/>
                </a:lnTo>
                <a:close/>
              </a:path>
            </a:pathLst>
          </a:custGeom>
          <a:solidFill>
            <a:srgbClr val="000000"/>
          </a:solidFill>
        </p:spPr>
        <p:txBody>
          <a:bodyPr wrap="square" lIns="0" tIns="0" rIns="0" bIns="0" rtlCol="0"/>
          <a:lstStyle/>
          <a:p>
            <a:endParaRPr sz="1227"/>
          </a:p>
        </p:txBody>
      </p:sp>
      <p:sp>
        <p:nvSpPr>
          <p:cNvPr id="56" name="object 56"/>
          <p:cNvSpPr txBox="1"/>
          <p:nvPr/>
        </p:nvSpPr>
        <p:spPr>
          <a:xfrm>
            <a:off x="5911743" y="3720771"/>
            <a:ext cx="349394" cy="218107"/>
          </a:xfrm>
          <a:prstGeom prst="rect">
            <a:avLst/>
          </a:prstGeom>
        </p:spPr>
        <p:txBody>
          <a:bodyPr vert="horz" wrap="square" lIns="0" tIns="8226" rIns="0" bIns="0" rtlCol="0">
            <a:spAutoFit/>
          </a:bodyPr>
          <a:lstStyle/>
          <a:p>
            <a:pPr marL="25977">
              <a:spcBef>
                <a:spcPts val="65"/>
              </a:spcBef>
            </a:pPr>
            <a:r>
              <a:rPr sz="2045" spc="-20" baseline="11111" dirty="0">
                <a:latin typeface="Cambria Math"/>
                <a:cs typeface="Cambria Math"/>
              </a:rPr>
              <a:t>𝑉</a:t>
            </a:r>
            <a:r>
              <a:rPr sz="989" spc="-14" dirty="0">
                <a:latin typeface="Cambria Math"/>
                <a:cs typeface="Cambria Math"/>
              </a:rPr>
              <a:t>𝑜𝑢𝑡</a:t>
            </a:r>
            <a:endParaRPr sz="989">
              <a:latin typeface="Cambria Math"/>
              <a:cs typeface="Cambria Math"/>
            </a:endParaRPr>
          </a:p>
        </p:txBody>
      </p:sp>
      <p:sp>
        <p:nvSpPr>
          <p:cNvPr id="57" name="object 57"/>
          <p:cNvSpPr/>
          <p:nvPr/>
        </p:nvSpPr>
        <p:spPr>
          <a:xfrm>
            <a:off x="6577800" y="3942966"/>
            <a:ext cx="147638" cy="11690"/>
          </a:xfrm>
          <a:custGeom>
            <a:avLst/>
            <a:gdLst/>
            <a:ahLst/>
            <a:cxnLst/>
            <a:rect l="l" t="t" r="r" b="b"/>
            <a:pathLst>
              <a:path w="216534" h="17145">
                <a:moveTo>
                  <a:pt x="216407" y="0"/>
                </a:moveTo>
                <a:lnTo>
                  <a:pt x="0" y="0"/>
                </a:lnTo>
                <a:lnTo>
                  <a:pt x="0" y="16763"/>
                </a:lnTo>
                <a:lnTo>
                  <a:pt x="216407" y="16763"/>
                </a:lnTo>
                <a:lnTo>
                  <a:pt x="216407" y="0"/>
                </a:lnTo>
                <a:close/>
              </a:path>
            </a:pathLst>
          </a:custGeom>
          <a:solidFill>
            <a:srgbClr val="000000"/>
          </a:solidFill>
        </p:spPr>
        <p:txBody>
          <a:bodyPr wrap="square" lIns="0" tIns="0" rIns="0" bIns="0" rtlCol="0"/>
          <a:lstStyle/>
          <a:p>
            <a:endParaRPr sz="1227"/>
          </a:p>
        </p:txBody>
      </p:sp>
      <p:sp>
        <p:nvSpPr>
          <p:cNvPr id="58" name="object 58"/>
          <p:cNvSpPr txBox="1"/>
          <p:nvPr/>
        </p:nvSpPr>
        <p:spPr>
          <a:xfrm>
            <a:off x="6569141" y="3685443"/>
            <a:ext cx="74468" cy="218236"/>
          </a:xfrm>
          <a:prstGeom prst="rect">
            <a:avLst/>
          </a:prstGeom>
        </p:spPr>
        <p:txBody>
          <a:bodyPr vert="horz" wrap="square" lIns="0" tIns="8226" rIns="0" bIns="0" rtlCol="0">
            <a:spAutoFit/>
          </a:bodyPr>
          <a:lstStyle/>
          <a:p>
            <a:pPr marL="8659">
              <a:spcBef>
                <a:spcPts val="65"/>
              </a:spcBef>
            </a:pPr>
            <a:r>
              <a:rPr sz="1364" spc="-41" dirty="0">
                <a:latin typeface="Cambria Math"/>
                <a:cs typeface="Cambria Math"/>
              </a:rPr>
              <a:t>𝐼</a:t>
            </a:r>
            <a:endParaRPr sz="1364">
              <a:latin typeface="Cambria Math"/>
              <a:cs typeface="Cambria Math"/>
            </a:endParaRPr>
          </a:p>
        </p:txBody>
      </p:sp>
      <p:sp>
        <p:nvSpPr>
          <p:cNvPr id="59" name="object 59"/>
          <p:cNvSpPr txBox="1"/>
          <p:nvPr/>
        </p:nvSpPr>
        <p:spPr>
          <a:xfrm>
            <a:off x="6624213" y="3767530"/>
            <a:ext cx="99580" cy="161402"/>
          </a:xfrm>
          <a:prstGeom prst="rect">
            <a:avLst/>
          </a:prstGeom>
        </p:spPr>
        <p:txBody>
          <a:bodyPr vert="horz" wrap="square" lIns="0" tIns="9092" rIns="0" bIns="0" rtlCol="0">
            <a:spAutoFit/>
          </a:bodyPr>
          <a:lstStyle/>
          <a:p>
            <a:pPr marL="8659">
              <a:spcBef>
                <a:spcPts val="72"/>
              </a:spcBef>
            </a:pPr>
            <a:r>
              <a:rPr sz="989" spc="37" dirty="0">
                <a:latin typeface="Cambria Math"/>
                <a:cs typeface="Cambria Math"/>
              </a:rPr>
              <a:t>𝑢</a:t>
            </a:r>
            <a:endParaRPr sz="989">
              <a:latin typeface="Cambria Math"/>
              <a:cs typeface="Cambria Math"/>
            </a:endParaRPr>
          </a:p>
        </p:txBody>
      </p:sp>
      <p:sp>
        <p:nvSpPr>
          <p:cNvPr id="60" name="object 60"/>
          <p:cNvSpPr txBox="1"/>
          <p:nvPr/>
        </p:nvSpPr>
        <p:spPr>
          <a:xfrm>
            <a:off x="5797098" y="3932227"/>
            <a:ext cx="920028" cy="218236"/>
          </a:xfrm>
          <a:prstGeom prst="rect">
            <a:avLst/>
          </a:prstGeom>
        </p:spPr>
        <p:txBody>
          <a:bodyPr vert="horz" wrap="square" lIns="0" tIns="8226" rIns="0" bIns="0" rtlCol="0">
            <a:spAutoFit/>
          </a:bodyPr>
          <a:lstStyle/>
          <a:p>
            <a:pPr marL="34635">
              <a:spcBef>
                <a:spcPts val="65"/>
              </a:spcBef>
              <a:tabLst>
                <a:tab pos="810902" algn="l"/>
              </a:tabLst>
            </a:pPr>
            <a:r>
              <a:rPr sz="1364" dirty="0">
                <a:latin typeface="Cambria Math"/>
                <a:cs typeface="Cambria Math"/>
              </a:rPr>
              <a:t>𝑟</a:t>
            </a:r>
            <a:r>
              <a:rPr sz="1364" spc="31" dirty="0">
                <a:latin typeface="Cambria Math"/>
                <a:cs typeface="Cambria Math"/>
              </a:rPr>
              <a:t> </a:t>
            </a:r>
            <a:r>
              <a:rPr lang="en-US" sz="1364" spc="-982" dirty="0" smtClean="0">
                <a:latin typeface="Cambria Math"/>
                <a:cs typeface="Cambria Math"/>
              </a:rPr>
              <a:t>.  . </a:t>
            </a:r>
            <a:r>
              <a:rPr sz="1364" spc="-14" dirty="0" smtClean="0">
                <a:latin typeface="Cambria Math"/>
                <a:cs typeface="Cambria Math"/>
              </a:rPr>
              <a:t>𝑉</a:t>
            </a:r>
            <a:r>
              <a:rPr sz="1483" spc="-20" baseline="-15325" dirty="0" smtClean="0">
                <a:latin typeface="Cambria Math"/>
                <a:cs typeface="Cambria Math"/>
              </a:rPr>
              <a:t>𝑜𝑢𝑡</a:t>
            </a:r>
            <a:r>
              <a:rPr sz="1483" baseline="-15325" dirty="0">
                <a:latin typeface="Cambria Math"/>
                <a:cs typeface="Cambria Math"/>
              </a:rPr>
              <a:t>	</a:t>
            </a:r>
            <a:r>
              <a:rPr sz="1364" spc="-34" dirty="0">
                <a:latin typeface="Cambria Math"/>
                <a:cs typeface="Cambria Math"/>
              </a:rPr>
              <a:t>𝑟</a:t>
            </a:r>
            <a:endParaRPr sz="1364" dirty="0">
              <a:latin typeface="Cambria Math"/>
              <a:cs typeface="Cambria Math"/>
            </a:endParaRPr>
          </a:p>
        </p:txBody>
      </p:sp>
      <p:sp>
        <p:nvSpPr>
          <p:cNvPr id="61" name="object 61"/>
          <p:cNvSpPr txBox="1"/>
          <p:nvPr/>
        </p:nvSpPr>
        <p:spPr>
          <a:xfrm>
            <a:off x="6390937" y="3816367"/>
            <a:ext cx="659823" cy="218236"/>
          </a:xfrm>
          <a:prstGeom prst="rect">
            <a:avLst/>
          </a:prstGeom>
        </p:spPr>
        <p:txBody>
          <a:bodyPr vert="horz" wrap="square" lIns="0" tIns="8226" rIns="0" bIns="0" rtlCol="0">
            <a:spAutoFit/>
          </a:bodyPr>
          <a:lstStyle/>
          <a:p>
            <a:pPr marL="8659">
              <a:spcBef>
                <a:spcPts val="65"/>
              </a:spcBef>
              <a:tabLst>
                <a:tab pos="381856" algn="l"/>
              </a:tabLst>
            </a:pPr>
            <a:r>
              <a:rPr sz="1364" spc="-34" dirty="0">
                <a:latin typeface="Cambria Math"/>
                <a:cs typeface="Cambria Math"/>
              </a:rPr>
              <a:t>=</a:t>
            </a:r>
            <a:r>
              <a:rPr sz="1364" dirty="0">
                <a:latin typeface="Cambria Math"/>
                <a:cs typeface="Cambria Math"/>
              </a:rPr>
              <a:t>	≫</a:t>
            </a:r>
            <a:r>
              <a:rPr sz="1364" spc="72" dirty="0">
                <a:latin typeface="Cambria Math"/>
                <a:cs typeface="Cambria Math"/>
              </a:rPr>
              <a:t> </a:t>
            </a:r>
            <a:r>
              <a:rPr sz="1364" spc="-34" dirty="0">
                <a:latin typeface="Cambria Math"/>
                <a:cs typeface="Cambria Math"/>
              </a:rPr>
              <a:t>𝐼</a:t>
            </a:r>
            <a:endParaRPr sz="1364">
              <a:latin typeface="Cambria Math"/>
              <a:cs typeface="Cambria Math"/>
            </a:endParaRPr>
          </a:p>
        </p:txBody>
      </p:sp>
      <p:sp>
        <p:nvSpPr>
          <p:cNvPr id="62" name="object 62"/>
          <p:cNvSpPr txBox="1"/>
          <p:nvPr/>
        </p:nvSpPr>
        <p:spPr>
          <a:xfrm>
            <a:off x="7022704" y="3898455"/>
            <a:ext cx="99580" cy="161402"/>
          </a:xfrm>
          <a:prstGeom prst="rect">
            <a:avLst/>
          </a:prstGeom>
        </p:spPr>
        <p:txBody>
          <a:bodyPr vert="horz" wrap="square" lIns="0" tIns="9092" rIns="0" bIns="0" rtlCol="0">
            <a:spAutoFit/>
          </a:bodyPr>
          <a:lstStyle/>
          <a:p>
            <a:pPr marL="8659">
              <a:spcBef>
                <a:spcPts val="72"/>
              </a:spcBef>
            </a:pPr>
            <a:r>
              <a:rPr sz="989" spc="37" dirty="0">
                <a:latin typeface="Cambria Math"/>
                <a:cs typeface="Cambria Math"/>
              </a:rPr>
              <a:t>𝑢</a:t>
            </a:r>
            <a:endParaRPr sz="989">
              <a:latin typeface="Cambria Math"/>
              <a:cs typeface="Cambria Math"/>
            </a:endParaRPr>
          </a:p>
        </p:txBody>
      </p:sp>
      <p:sp>
        <p:nvSpPr>
          <p:cNvPr id="63" name="object 63"/>
          <p:cNvSpPr txBox="1"/>
          <p:nvPr/>
        </p:nvSpPr>
        <p:spPr>
          <a:xfrm>
            <a:off x="7446134" y="3977343"/>
            <a:ext cx="548986" cy="218236"/>
          </a:xfrm>
          <a:prstGeom prst="rect">
            <a:avLst/>
          </a:prstGeom>
        </p:spPr>
        <p:txBody>
          <a:bodyPr vert="horz" wrap="square" lIns="0" tIns="8226" rIns="0" bIns="0" rtlCol="0">
            <a:spAutoFit/>
          </a:bodyPr>
          <a:lstStyle/>
          <a:p>
            <a:pPr marL="8659">
              <a:spcBef>
                <a:spcPts val="65"/>
              </a:spcBef>
            </a:pPr>
            <a:r>
              <a:rPr sz="1364" i="1" dirty="0">
                <a:solidFill>
                  <a:srgbClr val="C00000"/>
                </a:solidFill>
                <a:latin typeface="Verdana"/>
                <a:cs typeface="Verdana"/>
              </a:rPr>
              <a:t>e.g.,</a:t>
            </a:r>
            <a:r>
              <a:rPr sz="1364" i="1" spc="-20" dirty="0">
                <a:solidFill>
                  <a:srgbClr val="C00000"/>
                </a:solidFill>
                <a:latin typeface="Verdana"/>
                <a:cs typeface="Verdana"/>
              </a:rPr>
              <a:t> </a:t>
            </a:r>
            <a:r>
              <a:rPr sz="1364" i="1" spc="-34" dirty="0">
                <a:solidFill>
                  <a:srgbClr val="C00000"/>
                </a:solidFill>
                <a:latin typeface="Verdana"/>
                <a:cs typeface="Verdana"/>
              </a:rPr>
              <a:t>I</a:t>
            </a:r>
            <a:endParaRPr sz="1364">
              <a:latin typeface="Verdana"/>
              <a:cs typeface="Verdana"/>
            </a:endParaRPr>
          </a:p>
        </p:txBody>
      </p:sp>
      <p:sp>
        <p:nvSpPr>
          <p:cNvPr id="64" name="object 64"/>
          <p:cNvSpPr txBox="1"/>
          <p:nvPr/>
        </p:nvSpPr>
        <p:spPr>
          <a:xfrm>
            <a:off x="7977629" y="4077616"/>
            <a:ext cx="519113" cy="147686"/>
          </a:xfrm>
          <a:prstGeom prst="rect">
            <a:avLst/>
          </a:prstGeom>
        </p:spPr>
        <p:txBody>
          <a:bodyPr vert="horz" wrap="square" lIns="0" tIns="11257" rIns="0" bIns="0" rtlCol="0">
            <a:spAutoFit/>
          </a:bodyPr>
          <a:lstStyle/>
          <a:p>
            <a:pPr marL="8659">
              <a:spcBef>
                <a:spcPts val="89"/>
              </a:spcBef>
            </a:pPr>
            <a:r>
              <a:rPr sz="886" i="1" spc="-7" dirty="0">
                <a:solidFill>
                  <a:srgbClr val="C00000"/>
                </a:solidFill>
                <a:latin typeface="Verdana"/>
                <a:cs typeface="Verdana"/>
              </a:rPr>
              <a:t>load,min</a:t>
            </a:r>
            <a:endParaRPr sz="886">
              <a:latin typeface="Verdana"/>
              <a:cs typeface="Verdana"/>
            </a:endParaRPr>
          </a:p>
        </p:txBody>
      </p:sp>
      <p:sp>
        <p:nvSpPr>
          <p:cNvPr id="65" name="object 65"/>
          <p:cNvSpPr txBox="1"/>
          <p:nvPr/>
        </p:nvSpPr>
        <p:spPr>
          <a:xfrm>
            <a:off x="8478991" y="3977343"/>
            <a:ext cx="625619" cy="218236"/>
          </a:xfrm>
          <a:prstGeom prst="rect">
            <a:avLst/>
          </a:prstGeom>
        </p:spPr>
        <p:txBody>
          <a:bodyPr vert="horz" wrap="square" lIns="0" tIns="8226" rIns="0" bIns="0" rtlCol="0">
            <a:spAutoFit/>
          </a:bodyPr>
          <a:lstStyle/>
          <a:p>
            <a:pPr marL="8659">
              <a:spcBef>
                <a:spcPts val="65"/>
              </a:spcBef>
            </a:pPr>
            <a:r>
              <a:rPr sz="1364" i="1" spc="-7" dirty="0">
                <a:solidFill>
                  <a:srgbClr val="C00000"/>
                </a:solidFill>
                <a:latin typeface="Verdana"/>
                <a:cs typeface="Verdana"/>
              </a:rPr>
              <a:t>=100·I</a:t>
            </a:r>
            <a:endParaRPr sz="1364">
              <a:latin typeface="Verdana"/>
              <a:cs typeface="Verdana"/>
            </a:endParaRPr>
          </a:p>
        </p:txBody>
      </p:sp>
      <p:sp>
        <p:nvSpPr>
          <p:cNvPr id="66" name="object 66"/>
          <p:cNvSpPr txBox="1"/>
          <p:nvPr/>
        </p:nvSpPr>
        <p:spPr>
          <a:xfrm>
            <a:off x="9086858" y="4077616"/>
            <a:ext cx="90488" cy="147686"/>
          </a:xfrm>
          <a:prstGeom prst="rect">
            <a:avLst/>
          </a:prstGeom>
        </p:spPr>
        <p:txBody>
          <a:bodyPr vert="horz" wrap="square" lIns="0" tIns="11257" rIns="0" bIns="0" rtlCol="0">
            <a:spAutoFit/>
          </a:bodyPr>
          <a:lstStyle/>
          <a:p>
            <a:pPr marL="8659">
              <a:spcBef>
                <a:spcPts val="89"/>
              </a:spcBef>
            </a:pPr>
            <a:r>
              <a:rPr sz="886" i="1" spc="-34" dirty="0">
                <a:solidFill>
                  <a:srgbClr val="C00000"/>
                </a:solidFill>
                <a:latin typeface="Verdana"/>
                <a:cs typeface="Verdana"/>
              </a:rPr>
              <a:t>u</a:t>
            </a:r>
            <a:endParaRPr sz="886">
              <a:latin typeface="Verdana"/>
              <a:cs typeface="Verdana"/>
            </a:endParaRPr>
          </a:p>
        </p:txBody>
      </p:sp>
      <p:sp>
        <p:nvSpPr>
          <p:cNvPr id="67" name="object 67"/>
          <p:cNvSpPr txBox="1"/>
          <p:nvPr/>
        </p:nvSpPr>
        <p:spPr>
          <a:xfrm>
            <a:off x="7446134" y="4185161"/>
            <a:ext cx="926523" cy="218236"/>
          </a:xfrm>
          <a:prstGeom prst="rect">
            <a:avLst/>
          </a:prstGeom>
        </p:spPr>
        <p:txBody>
          <a:bodyPr vert="horz" wrap="square" lIns="0" tIns="8226" rIns="0" bIns="0" rtlCol="0">
            <a:spAutoFit/>
          </a:bodyPr>
          <a:lstStyle/>
          <a:p>
            <a:pPr marL="8659">
              <a:spcBef>
                <a:spcPts val="65"/>
              </a:spcBef>
            </a:pPr>
            <a:r>
              <a:rPr sz="1364" i="1" dirty="0">
                <a:solidFill>
                  <a:srgbClr val="C00000"/>
                </a:solidFill>
                <a:latin typeface="Verdana"/>
                <a:cs typeface="Verdana"/>
              </a:rPr>
              <a:t>for</a:t>
            </a:r>
            <a:r>
              <a:rPr sz="1364" i="1" spc="-10" dirty="0">
                <a:solidFill>
                  <a:srgbClr val="C00000"/>
                </a:solidFill>
                <a:latin typeface="Verdana"/>
                <a:cs typeface="Verdana"/>
              </a:rPr>
              <a:t> </a:t>
            </a:r>
            <a:r>
              <a:rPr sz="1364" i="1" spc="-7" dirty="0">
                <a:solidFill>
                  <a:srgbClr val="C00000"/>
                </a:solidFill>
                <a:latin typeface="Verdana"/>
                <a:cs typeface="Verdana"/>
              </a:rPr>
              <a:t>r=0.01</a:t>
            </a:r>
            <a:endParaRPr sz="1364">
              <a:latin typeface="Verdana"/>
              <a:cs typeface="Verdana"/>
            </a:endParaRPr>
          </a:p>
        </p:txBody>
      </p:sp>
      <p:grpSp>
        <p:nvGrpSpPr>
          <p:cNvPr id="68" name="object 68"/>
          <p:cNvGrpSpPr/>
          <p:nvPr/>
        </p:nvGrpSpPr>
        <p:grpSpPr>
          <a:xfrm>
            <a:off x="6861126" y="4051569"/>
            <a:ext cx="492269" cy="191366"/>
            <a:chOff x="8224024" y="5504574"/>
            <a:chExt cx="721995" cy="280670"/>
          </a:xfrm>
        </p:grpSpPr>
        <p:sp>
          <p:nvSpPr>
            <p:cNvPr id="69" name="object 69"/>
            <p:cNvSpPr/>
            <p:nvPr/>
          </p:nvSpPr>
          <p:spPr>
            <a:xfrm>
              <a:off x="8238502" y="5539663"/>
              <a:ext cx="693420" cy="231140"/>
            </a:xfrm>
            <a:custGeom>
              <a:avLst/>
              <a:gdLst/>
              <a:ahLst/>
              <a:cxnLst/>
              <a:rect l="l" t="t" r="r" b="b"/>
              <a:pathLst>
                <a:path w="693420" h="231139">
                  <a:moveTo>
                    <a:pt x="692899" y="230962"/>
                  </a:moveTo>
                  <a:lnTo>
                    <a:pt x="0" y="0"/>
                  </a:lnTo>
                </a:path>
              </a:pathLst>
            </a:custGeom>
            <a:ln w="28956">
              <a:solidFill>
                <a:srgbClr val="C00000"/>
              </a:solidFill>
              <a:prstDash val="sysDash"/>
            </a:ln>
          </p:spPr>
          <p:txBody>
            <a:bodyPr wrap="square" lIns="0" tIns="0" rIns="0" bIns="0" rtlCol="0"/>
            <a:lstStyle/>
            <a:p>
              <a:endParaRPr sz="1227"/>
            </a:p>
          </p:txBody>
        </p:sp>
        <p:sp>
          <p:nvSpPr>
            <p:cNvPr id="70" name="object 70"/>
            <p:cNvSpPr/>
            <p:nvPr/>
          </p:nvSpPr>
          <p:spPr>
            <a:xfrm>
              <a:off x="8238503" y="5519052"/>
              <a:ext cx="99060" cy="96520"/>
            </a:xfrm>
            <a:custGeom>
              <a:avLst/>
              <a:gdLst/>
              <a:ahLst/>
              <a:cxnLst/>
              <a:rect l="l" t="t" r="r" b="b"/>
              <a:pathLst>
                <a:path w="99059" h="96520">
                  <a:moveTo>
                    <a:pt x="98437" y="0"/>
                  </a:moveTo>
                  <a:lnTo>
                    <a:pt x="0" y="20612"/>
                  </a:lnTo>
                  <a:lnTo>
                    <a:pt x="66395" y="96151"/>
                  </a:lnTo>
                </a:path>
              </a:pathLst>
            </a:custGeom>
            <a:ln w="28956">
              <a:solidFill>
                <a:srgbClr val="C00000"/>
              </a:solidFill>
            </a:ln>
          </p:spPr>
          <p:txBody>
            <a:bodyPr wrap="square" lIns="0" tIns="0" rIns="0" bIns="0" rtlCol="0"/>
            <a:lstStyle/>
            <a:p>
              <a:endParaRPr sz="1227"/>
            </a:p>
          </p:txBody>
        </p:sp>
      </p:grpSp>
      <p:sp>
        <p:nvSpPr>
          <p:cNvPr id="75" name="object 10"/>
          <p:cNvSpPr txBox="1"/>
          <p:nvPr/>
        </p:nvSpPr>
        <p:spPr>
          <a:xfrm>
            <a:off x="5218655" y="3349376"/>
            <a:ext cx="99580" cy="161402"/>
          </a:xfrm>
          <a:prstGeom prst="rect">
            <a:avLst/>
          </a:prstGeom>
        </p:spPr>
        <p:txBody>
          <a:bodyPr vert="horz" wrap="square" lIns="0" tIns="9092" rIns="0" bIns="0" rtlCol="0">
            <a:spAutoFit/>
          </a:bodyPr>
          <a:lstStyle/>
          <a:p>
            <a:pPr marL="8659">
              <a:spcBef>
                <a:spcPts val="72"/>
              </a:spcBef>
            </a:pPr>
            <a:r>
              <a:rPr sz="989" spc="37" dirty="0">
                <a:latin typeface="Cambria Math"/>
                <a:cs typeface="Cambria Math"/>
              </a:rPr>
              <a:t>𝑢</a:t>
            </a:r>
            <a:endParaRPr sz="989">
              <a:latin typeface="Cambria Math"/>
              <a:cs typeface="Cambria Math"/>
            </a:endParaRPr>
          </a:p>
        </p:txBody>
      </p:sp>
      <p:sp>
        <p:nvSpPr>
          <p:cNvPr id="76" name="object 11"/>
          <p:cNvSpPr txBox="1"/>
          <p:nvPr/>
        </p:nvSpPr>
        <p:spPr>
          <a:xfrm>
            <a:off x="4985899" y="3267287"/>
            <a:ext cx="429491" cy="218236"/>
          </a:xfrm>
          <a:prstGeom prst="rect">
            <a:avLst/>
          </a:prstGeom>
        </p:spPr>
        <p:txBody>
          <a:bodyPr vert="horz" wrap="square" lIns="0" tIns="8226" rIns="0" bIns="0" rtlCol="0">
            <a:spAutoFit/>
          </a:bodyPr>
          <a:lstStyle/>
          <a:p>
            <a:pPr marL="8659">
              <a:spcBef>
                <a:spcPts val="65"/>
              </a:spcBef>
              <a:tabLst>
                <a:tab pos="371465" algn="l"/>
              </a:tabLst>
            </a:pPr>
            <a:r>
              <a:rPr sz="1364" dirty="0">
                <a:latin typeface="Cambria Math"/>
                <a:cs typeface="Cambria Math"/>
              </a:rPr>
              <a:t>=</a:t>
            </a:r>
            <a:r>
              <a:rPr sz="1364" spc="65" dirty="0">
                <a:latin typeface="Cambria Math"/>
                <a:cs typeface="Cambria Math"/>
              </a:rPr>
              <a:t> </a:t>
            </a:r>
            <a:r>
              <a:rPr sz="1364" spc="-34" dirty="0">
                <a:latin typeface="Cambria Math"/>
                <a:cs typeface="Cambria Math"/>
              </a:rPr>
              <a:t>𝐼</a:t>
            </a:r>
            <a:r>
              <a:rPr sz="1364" dirty="0">
                <a:latin typeface="Cambria Math"/>
                <a:cs typeface="Cambria Math"/>
              </a:rPr>
              <a:t>	</a:t>
            </a:r>
            <a:r>
              <a:rPr lang="en-US" sz="1364" dirty="0" smtClean="0">
                <a:latin typeface="Cambria Math"/>
                <a:cs typeface="Cambria Math"/>
              </a:rPr>
              <a:t>.</a:t>
            </a:r>
            <a:endParaRPr sz="1364" dirty="0">
              <a:latin typeface="Cambria Math"/>
              <a:cs typeface="Cambria Math"/>
            </a:endParaRPr>
          </a:p>
        </p:txBody>
      </p:sp>
      <p:sp>
        <p:nvSpPr>
          <p:cNvPr id="77" name="object 12"/>
          <p:cNvSpPr/>
          <p:nvPr/>
        </p:nvSpPr>
        <p:spPr>
          <a:xfrm>
            <a:off x="5445007" y="3393887"/>
            <a:ext cx="619558" cy="11690"/>
          </a:xfrm>
          <a:custGeom>
            <a:avLst/>
            <a:gdLst/>
            <a:ahLst/>
            <a:cxnLst/>
            <a:rect l="l" t="t" r="r" b="b"/>
            <a:pathLst>
              <a:path w="908684" h="17145">
                <a:moveTo>
                  <a:pt x="908304" y="0"/>
                </a:moveTo>
                <a:lnTo>
                  <a:pt x="0" y="0"/>
                </a:lnTo>
                <a:lnTo>
                  <a:pt x="0" y="16764"/>
                </a:lnTo>
                <a:lnTo>
                  <a:pt x="908304" y="16764"/>
                </a:lnTo>
                <a:lnTo>
                  <a:pt x="908304" y="0"/>
                </a:lnTo>
                <a:close/>
              </a:path>
            </a:pathLst>
          </a:custGeom>
          <a:solidFill>
            <a:srgbClr val="000000"/>
          </a:solidFill>
        </p:spPr>
        <p:txBody>
          <a:bodyPr wrap="square" lIns="0" tIns="0" rIns="0" bIns="0" rtlCol="0"/>
          <a:lstStyle/>
          <a:p>
            <a:endParaRPr sz="1227"/>
          </a:p>
        </p:txBody>
      </p:sp>
      <p:sp>
        <p:nvSpPr>
          <p:cNvPr id="78" name="object 13"/>
          <p:cNvSpPr txBox="1"/>
          <p:nvPr/>
        </p:nvSpPr>
        <p:spPr>
          <a:xfrm>
            <a:off x="5574891" y="3171691"/>
            <a:ext cx="349394" cy="218107"/>
          </a:xfrm>
          <a:prstGeom prst="rect">
            <a:avLst/>
          </a:prstGeom>
        </p:spPr>
        <p:txBody>
          <a:bodyPr vert="horz" wrap="square" lIns="0" tIns="8226" rIns="0" bIns="0" rtlCol="0">
            <a:spAutoFit/>
          </a:bodyPr>
          <a:lstStyle/>
          <a:p>
            <a:pPr marL="25977">
              <a:spcBef>
                <a:spcPts val="65"/>
              </a:spcBef>
            </a:pPr>
            <a:r>
              <a:rPr sz="2045" spc="-20" baseline="11111" dirty="0">
                <a:latin typeface="Cambria Math"/>
                <a:cs typeface="Cambria Math"/>
              </a:rPr>
              <a:t>𝑉</a:t>
            </a:r>
            <a:r>
              <a:rPr sz="989" spc="-14" dirty="0">
                <a:latin typeface="Cambria Math"/>
                <a:cs typeface="Cambria Math"/>
              </a:rPr>
              <a:t>𝑜𝑢𝑡</a:t>
            </a:r>
            <a:endParaRPr sz="989">
              <a:latin typeface="Cambria Math"/>
              <a:cs typeface="Cambria Math"/>
            </a:endParaRPr>
          </a:p>
        </p:txBody>
      </p:sp>
      <p:sp>
        <p:nvSpPr>
          <p:cNvPr id="79" name="object 14"/>
          <p:cNvSpPr txBox="1"/>
          <p:nvPr/>
        </p:nvSpPr>
        <p:spPr>
          <a:xfrm>
            <a:off x="5419027" y="3418475"/>
            <a:ext cx="661121" cy="218107"/>
          </a:xfrm>
          <a:prstGeom prst="rect">
            <a:avLst/>
          </a:prstGeom>
        </p:spPr>
        <p:txBody>
          <a:bodyPr vert="horz" wrap="square" lIns="0" tIns="8226" rIns="0" bIns="0" rtlCol="0">
            <a:spAutoFit/>
          </a:bodyPr>
          <a:lstStyle/>
          <a:p>
            <a:pPr marL="25977">
              <a:spcBef>
                <a:spcPts val="65"/>
              </a:spcBef>
            </a:pPr>
            <a:r>
              <a:rPr sz="2045" spc="46" baseline="11111" dirty="0">
                <a:latin typeface="Cambria Math"/>
                <a:cs typeface="Cambria Math"/>
              </a:rPr>
              <a:t>𝐼</a:t>
            </a:r>
            <a:r>
              <a:rPr sz="989" spc="31" dirty="0">
                <a:latin typeface="Cambria Math"/>
                <a:cs typeface="Cambria Math"/>
              </a:rPr>
              <a:t>𝑙𝑜𝑎𝑑,𝑚𝑖𝑛</a:t>
            </a:r>
            <a:endParaRPr sz="989">
              <a:latin typeface="Cambria Math"/>
              <a:cs typeface="Cambria Math"/>
            </a:endParaRPr>
          </a:p>
        </p:txBody>
      </p:sp>
      <p:sp>
        <p:nvSpPr>
          <p:cNvPr id="80" name="object 15"/>
          <p:cNvSpPr txBox="1"/>
          <p:nvPr/>
        </p:nvSpPr>
        <p:spPr>
          <a:xfrm>
            <a:off x="6337237" y="3349376"/>
            <a:ext cx="99580" cy="161402"/>
          </a:xfrm>
          <a:prstGeom prst="rect">
            <a:avLst/>
          </a:prstGeom>
        </p:spPr>
        <p:txBody>
          <a:bodyPr vert="horz" wrap="square" lIns="0" tIns="9092" rIns="0" bIns="0" rtlCol="0">
            <a:spAutoFit/>
          </a:bodyPr>
          <a:lstStyle/>
          <a:p>
            <a:pPr marL="8659">
              <a:spcBef>
                <a:spcPts val="72"/>
              </a:spcBef>
            </a:pPr>
            <a:r>
              <a:rPr sz="989" spc="37" dirty="0">
                <a:latin typeface="Cambria Math"/>
                <a:cs typeface="Cambria Math"/>
              </a:rPr>
              <a:t>𝑢</a:t>
            </a:r>
            <a:endParaRPr sz="989">
              <a:latin typeface="Cambria Math"/>
              <a:cs typeface="Cambria Math"/>
            </a:endParaRPr>
          </a:p>
        </p:txBody>
      </p:sp>
      <p:sp>
        <p:nvSpPr>
          <p:cNvPr id="81" name="object 16"/>
          <p:cNvSpPr txBox="1"/>
          <p:nvPr/>
        </p:nvSpPr>
        <p:spPr>
          <a:xfrm>
            <a:off x="6103962" y="3267287"/>
            <a:ext cx="429924" cy="218236"/>
          </a:xfrm>
          <a:prstGeom prst="rect">
            <a:avLst/>
          </a:prstGeom>
        </p:spPr>
        <p:txBody>
          <a:bodyPr vert="horz" wrap="square" lIns="0" tIns="8226" rIns="0" bIns="0" rtlCol="0">
            <a:spAutoFit/>
          </a:bodyPr>
          <a:lstStyle/>
          <a:p>
            <a:pPr marL="8659">
              <a:spcBef>
                <a:spcPts val="65"/>
              </a:spcBef>
              <a:tabLst>
                <a:tab pos="371898" algn="l"/>
              </a:tabLst>
            </a:pPr>
            <a:r>
              <a:rPr sz="1364" dirty="0">
                <a:latin typeface="Cambria Math"/>
                <a:cs typeface="Cambria Math"/>
              </a:rPr>
              <a:t>=</a:t>
            </a:r>
            <a:r>
              <a:rPr sz="1364" spc="68" dirty="0">
                <a:latin typeface="Cambria Math"/>
                <a:cs typeface="Cambria Math"/>
              </a:rPr>
              <a:t> </a:t>
            </a:r>
            <a:r>
              <a:rPr sz="1364" spc="-41" dirty="0">
                <a:latin typeface="Cambria Math"/>
                <a:cs typeface="Cambria Math"/>
              </a:rPr>
              <a:t>𝐼</a:t>
            </a:r>
            <a:r>
              <a:rPr sz="1364" dirty="0">
                <a:latin typeface="Cambria Math"/>
                <a:cs typeface="Cambria Math"/>
              </a:rPr>
              <a:t>	</a:t>
            </a:r>
            <a:r>
              <a:rPr lang="en-US" sz="1364" spc="-1023" dirty="0" smtClean="0">
                <a:latin typeface="Cambria Math"/>
                <a:cs typeface="Cambria Math"/>
              </a:rPr>
              <a:t>.</a:t>
            </a:r>
            <a:endParaRPr sz="1364" dirty="0">
              <a:latin typeface="Cambria Math"/>
              <a:cs typeface="Cambria Math"/>
            </a:endParaRPr>
          </a:p>
        </p:txBody>
      </p:sp>
      <p:sp>
        <p:nvSpPr>
          <p:cNvPr id="82" name="object 17"/>
          <p:cNvSpPr/>
          <p:nvPr/>
        </p:nvSpPr>
        <p:spPr>
          <a:xfrm>
            <a:off x="6563588" y="3393887"/>
            <a:ext cx="523442" cy="11690"/>
          </a:xfrm>
          <a:custGeom>
            <a:avLst/>
            <a:gdLst/>
            <a:ahLst/>
            <a:cxnLst/>
            <a:rect l="l" t="t" r="r" b="b"/>
            <a:pathLst>
              <a:path w="767715" h="17145">
                <a:moveTo>
                  <a:pt x="767333" y="0"/>
                </a:moveTo>
                <a:lnTo>
                  <a:pt x="0" y="0"/>
                </a:lnTo>
                <a:lnTo>
                  <a:pt x="0" y="16764"/>
                </a:lnTo>
                <a:lnTo>
                  <a:pt x="767333" y="16764"/>
                </a:lnTo>
                <a:lnTo>
                  <a:pt x="767333" y="0"/>
                </a:lnTo>
                <a:close/>
              </a:path>
            </a:pathLst>
          </a:custGeom>
          <a:solidFill>
            <a:srgbClr val="000000"/>
          </a:solidFill>
        </p:spPr>
        <p:txBody>
          <a:bodyPr wrap="square" lIns="0" tIns="0" rIns="0" bIns="0" rtlCol="0"/>
          <a:lstStyle/>
          <a:p>
            <a:endParaRPr sz="1227"/>
          </a:p>
        </p:txBody>
      </p:sp>
      <p:sp>
        <p:nvSpPr>
          <p:cNvPr id="83" name="object 18"/>
          <p:cNvSpPr txBox="1"/>
          <p:nvPr/>
        </p:nvSpPr>
        <p:spPr>
          <a:xfrm>
            <a:off x="6645155" y="3171691"/>
            <a:ext cx="349394" cy="218107"/>
          </a:xfrm>
          <a:prstGeom prst="rect">
            <a:avLst/>
          </a:prstGeom>
        </p:spPr>
        <p:txBody>
          <a:bodyPr vert="horz" wrap="square" lIns="0" tIns="8226" rIns="0" bIns="0" rtlCol="0">
            <a:spAutoFit/>
          </a:bodyPr>
          <a:lstStyle/>
          <a:p>
            <a:pPr marL="25977">
              <a:spcBef>
                <a:spcPts val="65"/>
              </a:spcBef>
            </a:pPr>
            <a:r>
              <a:rPr sz="2045" spc="-20" baseline="11111" dirty="0">
                <a:latin typeface="Cambria Math"/>
                <a:cs typeface="Cambria Math"/>
              </a:rPr>
              <a:t>𝑉</a:t>
            </a:r>
            <a:r>
              <a:rPr sz="989" spc="-14" dirty="0">
                <a:latin typeface="Cambria Math"/>
                <a:cs typeface="Cambria Math"/>
              </a:rPr>
              <a:t>𝑜𝑢𝑡</a:t>
            </a:r>
            <a:endParaRPr sz="989">
              <a:latin typeface="Cambria Math"/>
              <a:cs typeface="Cambria Math"/>
            </a:endParaRPr>
          </a:p>
        </p:txBody>
      </p:sp>
      <p:sp>
        <p:nvSpPr>
          <p:cNvPr id="84" name="object 19"/>
          <p:cNvSpPr txBox="1"/>
          <p:nvPr/>
        </p:nvSpPr>
        <p:spPr>
          <a:xfrm>
            <a:off x="6537691" y="3362403"/>
            <a:ext cx="229466" cy="218236"/>
          </a:xfrm>
          <a:prstGeom prst="rect">
            <a:avLst/>
          </a:prstGeom>
        </p:spPr>
        <p:txBody>
          <a:bodyPr vert="horz" wrap="square" lIns="0" tIns="8226" rIns="0" bIns="0" rtlCol="0">
            <a:spAutoFit/>
          </a:bodyPr>
          <a:lstStyle/>
          <a:p>
            <a:pPr marL="25977">
              <a:spcBef>
                <a:spcPts val="65"/>
              </a:spcBef>
            </a:pPr>
            <a:r>
              <a:rPr sz="1364" spc="-17" dirty="0">
                <a:latin typeface="Cambria Math"/>
                <a:cs typeface="Cambria Math"/>
              </a:rPr>
              <a:t>1</a:t>
            </a:r>
            <a:r>
              <a:rPr sz="2045" spc="-25" baseline="-12500" dirty="0">
                <a:latin typeface="Cambria Math"/>
                <a:cs typeface="Cambria Math"/>
              </a:rPr>
              <a:t>/</a:t>
            </a:r>
            <a:endParaRPr sz="2045" baseline="-12500">
              <a:latin typeface="Cambria Math"/>
              <a:cs typeface="Cambria Math"/>
            </a:endParaRPr>
          </a:p>
        </p:txBody>
      </p:sp>
      <p:sp>
        <p:nvSpPr>
          <p:cNvPr id="85" name="object 20"/>
          <p:cNvSpPr txBox="1"/>
          <p:nvPr/>
        </p:nvSpPr>
        <p:spPr>
          <a:xfrm>
            <a:off x="6843415" y="3417593"/>
            <a:ext cx="170150" cy="218236"/>
          </a:xfrm>
          <a:prstGeom prst="rect">
            <a:avLst/>
          </a:prstGeom>
        </p:spPr>
        <p:txBody>
          <a:bodyPr vert="horz" wrap="square" lIns="0" tIns="8226" rIns="0" bIns="0" rtlCol="0">
            <a:spAutoFit/>
          </a:bodyPr>
          <a:lstStyle/>
          <a:p>
            <a:pPr marL="95247" indent="-86589">
              <a:spcBef>
                <a:spcPts val="65"/>
              </a:spcBef>
              <a:buChar char="∙"/>
              <a:tabLst>
                <a:tab pos="95247" algn="l"/>
              </a:tabLst>
            </a:pPr>
            <a:r>
              <a:rPr sz="1364" spc="-34" dirty="0">
                <a:latin typeface="Cambria Math"/>
                <a:cs typeface="Cambria Math"/>
              </a:rPr>
              <a:t>𝐼</a:t>
            </a:r>
            <a:endParaRPr sz="1364">
              <a:latin typeface="Cambria Math"/>
              <a:cs typeface="Cambria Math"/>
            </a:endParaRPr>
          </a:p>
        </p:txBody>
      </p:sp>
      <p:sp>
        <p:nvSpPr>
          <p:cNvPr id="86" name="object 21"/>
          <p:cNvSpPr txBox="1"/>
          <p:nvPr/>
        </p:nvSpPr>
        <p:spPr>
          <a:xfrm>
            <a:off x="6718675" y="3456001"/>
            <a:ext cx="367145" cy="218236"/>
          </a:xfrm>
          <a:prstGeom prst="rect">
            <a:avLst/>
          </a:prstGeom>
        </p:spPr>
        <p:txBody>
          <a:bodyPr vert="horz" wrap="square" lIns="0" tIns="8226" rIns="0" bIns="0" rtlCol="0">
            <a:spAutoFit/>
          </a:bodyPr>
          <a:lstStyle/>
          <a:p>
            <a:pPr marL="8659">
              <a:spcBef>
                <a:spcPts val="65"/>
              </a:spcBef>
              <a:tabLst>
                <a:tab pos="275785" algn="l"/>
              </a:tabLst>
            </a:pPr>
            <a:r>
              <a:rPr sz="1364" spc="-34" dirty="0">
                <a:latin typeface="Cambria Math"/>
                <a:cs typeface="Cambria Math"/>
              </a:rPr>
              <a:t>𝑟</a:t>
            </a:r>
            <a:r>
              <a:rPr sz="1364" dirty="0">
                <a:latin typeface="Cambria Math"/>
                <a:cs typeface="Cambria Math"/>
              </a:rPr>
              <a:t>	</a:t>
            </a:r>
            <a:r>
              <a:rPr sz="1483" spc="56" baseline="1915" dirty="0">
                <a:latin typeface="Cambria Math"/>
                <a:cs typeface="Cambria Math"/>
              </a:rPr>
              <a:t>𝑢</a:t>
            </a:r>
            <a:endParaRPr sz="1483" baseline="1915">
              <a:latin typeface="Cambria Math"/>
              <a:cs typeface="Cambria Math"/>
            </a:endParaRPr>
          </a:p>
        </p:txBody>
      </p:sp>
      <p:sp>
        <p:nvSpPr>
          <p:cNvPr id="87" name="object 22"/>
          <p:cNvSpPr txBox="1"/>
          <p:nvPr/>
        </p:nvSpPr>
        <p:spPr>
          <a:xfrm>
            <a:off x="7126426" y="3267287"/>
            <a:ext cx="515216" cy="218236"/>
          </a:xfrm>
          <a:prstGeom prst="rect">
            <a:avLst/>
          </a:prstGeom>
        </p:spPr>
        <p:txBody>
          <a:bodyPr vert="horz" wrap="square" lIns="0" tIns="8226" rIns="0" bIns="0" rtlCol="0">
            <a:spAutoFit/>
          </a:bodyPr>
          <a:lstStyle/>
          <a:p>
            <a:pPr marL="8659">
              <a:spcBef>
                <a:spcPts val="65"/>
              </a:spcBef>
            </a:pPr>
            <a:r>
              <a:rPr sz="1364" dirty="0">
                <a:latin typeface="Cambria Math"/>
                <a:cs typeface="Cambria Math"/>
              </a:rPr>
              <a:t>=</a:t>
            </a:r>
            <a:r>
              <a:rPr sz="1364" spc="68" dirty="0">
                <a:latin typeface="Cambria Math"/>
                <a:cs typeface="Cambria Math"/>
              </a:rPr>
              <a:t> </a:t>
            </a:r>
            <a:r>
              <a:rPr sz="1364" dirty="0">
                <a:latin typeface="Cambria Math"/>
                <a:cs typeface="Cambria Math"/>
              </a:rPr>
              <a:t>𝑟</a:t>
            </a:r>
            <a:r>
              <a:rPr sz="1364" spc="31" dirty="0">
                <a:latin typeface="Cambria Math"/>
                <a:cs typeface="Cambria Math"/>
              </a:rPr>
              <a:t> </a:t>
            </a:r>
            <a:r>
              <a:rPr lang="en-US" sz="1364" spc="31" dirty="0" smtClean="0">
                <a:latin typeface="Cambria Math"/>
                <a:cs typeface="Cambria Math"/>
              </a:rPr>
              <a:t> .</a:t>
            </a:r>
            <a:r>
              <a:rPr sz="1364" spc="-34" dirty="0" smtClean="0">
                <a:latin typeface="Cambria Math"/>
                <a:cs typeface="Cambria Math"/>
              </a:rPr>
              <a:t>𝑉</a:t>
            </a:r>
            <a:endParaRPr sz="1364" dirty="0">
              <a:latin typeface="Cambria Math"/>
              <a:cs typeface="Cambria Math"/>
            </a:endParaRPr>
          </a:p>
        </p:txBody>
      </p:sp>
      <p:sp>
        <p:nvSpPr>
          <p:cNvPr id="88" name="object 23"/>
          <p:cNvSpPr txBox="1"/>
          <p:nvPr/>
        </p:nvSpPr>
        <p:spPr>
          <a:xfrm>
            <a:off x="7601291" y="3349376"/>
            <a:ext cx="229466" cy="161402"/>
          </a:xfrm>
          <a:prstGeom prst="rect">
            <a:avLst/>
          </a:prstGeom>
        </p:spPr>
        <p:txBody>
          <a:bodyPr vert="horz" wrap="square" lIns="0" tIns="9092" rIns="0" bIns="0" rtlCol="0">
            <a:spAutoFit/>
          </a:bodyPr>
          <a:lstStyle/>
          <a:p>
            <a:pPr marL="8659">
              <a:spcBef>
                <a:spcPts val="72"/>
              </a:spcBef>
            </a:pPr>
            <a:r>
              <a:rPr sz="989" spc="37" dirty="0">
                <a:latin typeface="Cambria Math"/>
                <a:cs typeface="Cambria Math"/>
              </a:rPr>
              <a:t>𝑜𝑢𝑡</a:t>
            </a:r>
            <a:endParaRPr sz="989">
              <a:latin typeface="Cambria Math"/>
              <a:cs typeface="Cambria Math"/>
            </a:endParaRPr>
          </a:p>
        </p:txBody>
      </p:sp>
      <p:sp>
        <p:nvSpPr>
          <p:cNvPr id="89" name="object 28"/>
          <p:cNvSpPr txBox="1"/>
          <p:nvPr/>
        </p:nvSpPr>
        <p:spPr>
          <a:xfrm>
            <a:off x="7396063" y="2639297"/>
            <a:ext cx="1679864" cy="516640"/>
          </a:xfrm>
          <a:prstGeom prst="rect">
            <a:avLst/>
          </a:prstGeom>
        </p:spPr>
        <p:txBody>
          <a:bodyPr vert="horz" wrap="square" lIns="0" tIns="8659" rIns="0" bIns="0" rtlCol="0">
            <a:spAutoFit/>
          </a:bodyPr>
          <a:lstStyle/>
          <a:p>
            <a:pPr marL="25977" marR="20781">
              <a:lnSpc>
                <a:spcPct val="120500"/>
              </a:lnSpc>
              <a:spcBef>
                <a:spcPts val="68"/>
              </a:spcBef>
            </a:pPr>
            <a:r>
              <a:rPr sz="1364" i="1" dirty="0">
                <a:solidFill>
                  <a:srgbClr val="C00000"/>
                </a:solidFill>
                <a:latin typeface="Verdana"/>
                <a:cs typeface="Verdana"/>
              </a:rPr>
              <a:t>r=0.01</a:t>
            </a:r>
            <a:r>
              <a:rPr sz="1364" i="1" spc="-24" dirty="0">
                <a:solidFill>
                  <a:srgbClr val="C00000"/>
                </a:solidFill>
                <a:latin typeface="Verdana"/>
                <a:cs typeface="Verdana"/>
              </a:rPr>
              <a:t> </a:t>
            </a:r>
            <a:r>
              <a:rPr sz="1364" i="1" dirty="0">
                <a:solidFill>
                  <a:srgbClr val="C00000"/>
                </a:solidFill>
                <a:latin typeface="Verdana"/>
                <a:cs typeface="Verdana"/>
              </a:rPr>
              <a:t>if</a:t>
            </a:r>
            <a:r>
              <a:rPr sz="1364" i="1" spc="-31" dirty="0">
                <a:solidFill>
                  <a:srgbClr val="C00000"/>
                </a:solidFill>
                <a:latin typeface="Verdana"/>
                <a:cs typeface="Verdana"/>
              </a:rPr>
              <a:t> </a:t>
            </a:r>
            <a:r>
              <a:rPr sz="1364" i="1" spc="-7" dirty="0">
                <a:solidFill>
                  <a:srgbClr val="C00000"/>
                </a:solidFill>
                <a:latin typeface="Verdana"/>
                <a:cs typeface="Verdana"/>
              </a:rPr>
              <a:t>targeting </a:t>
            </a:r>
            <a:r>
              <a:rPr sz="2045" i="1" baseline="13888" dirty="0">
                <a:solidFill>
                  <a:srgbClr val="C00000"/>
                </a:solidFill>
                <a:latin typeface="Verdana"/>
                <a:cs typeface="Verdana"/>
              </a:rPr>
              <a:t>V</a:t>
            </a:r>
            <a:r>
              <a:rPr sz="886" i="1" dirty="0">
                <a:solidFill>
                  <a:srgbClr val="C00000"/>
                </a:solidFill>
                <a:latin typeface="Verdana"/>
                <a:cs typeface="Verdana"/>
              </a:rPr>
              <a:t>DAC,SS</a:t>
            </a:r>
            <a:r>
              <a:rPr sz="2045" i="1" baseline="13888" dirty="0">
                <a:solidFill>
                  <a:srgbClr val="C00000"/>
                </a:solidFill>
                <a:latin typeface="Verdana"/>
                <a:cs typeface="Verdana"/>
              </a:rPr>
              <a:t>=1%</a:t>
            </a:r>
            <a:r>
              <a:rPr sz="2045" i="1" spc="25" baseline="13888" dirty="0">
                <a:solidFill>
                  <a:srgbClr val="C00000"/>
                </a:solidFill>
                <a:latin typeface="Verdana"/>
                <a:cs typeface="Verdana"/>
              </a:rPr>
              <a:t> </a:t>
            </a:r>
            <a:r>
              <a:rPr sz="2045" i="1" baseline="13888" dirty="0">
                <a:solidFill>
                  <a:srgbClr val="C00000"/>
                </a:solidFill>
                <a:latin typeface="Verdana"/>
                <a:cs typeface="Verdana"/>
              </a:rPr>
              <a:t>of</a:t>
            </a:r>
            <a:r>
              <a:rPr sz="2045" i="1" spc="15" baseline="13888" dirty="0">
                <a:solidFill>
                  <a:srgbClr val="C00000"/>
                </a:solidFill>
                <a:latin typeface="Verdana"/>
                <a:cs typeface="Verdana"/>
              </a:rPr>
              <a:t> </a:t>
            </a:r>
            <a:r>
              <a:rPr sz="2045" i="1" spc="-20" baseline="13888" dirty="0">
                <a:solidFill>
                  <a:srgbClr val="C00000"/>
                </a:solidFill>
                <a:latin typeface="Verdana"/>
                <a:cs typeface="Verdana"/>
              </a:rPr>
              <a:t>V</a:t>
            </a:r>
            <a:r>
              <a:rPr sz="886" i="1" spc="-14" dirty="0">
                <a:solidFill>
                  <a:srgbClr val="C00000"/>
                </a:solidFill>
                <a:latin typeface="Verdana"/>
                <a:cs typeface="Verdana"/>
              </a:rPr>
              <a:t>out</a:t>
            </a:r>
            <a:endParaRPr sz="886">
              <a:latin typeface="Verdana"/>
              <a:cs typeface="Verdana"/>
            </a:endParaRPr>
          </a:p>
        </p:txBody>
      </p:sp>
      <p:grpSp>
        <p:nvGrpSpPr>
          <p:cNvPr id="90" name="object 29"/>
          <p:cNvGrpSpPr/>
          <p:nvPr/>
        </p:nvGrpSpPr>
        <p:grpSpPr>
          <a:xfrm>
            <a:off x="6776376" y="3139440"/>
            <a:ext cx="703984" cy="390525"/>
            <a:chOff x="7913458" y="4199382"/>
            <a:chExt cx="1032510" cy="572770"/>
          </a:xfrm>
        </p:grpSpPr>
        <p:sp>
          <p:nvSpPr>
            <p:cNvPr id="91" name="object 30"/>
            <p:cNvSpPr/>
            <p:nvPr/>
          </p:nvSpPr>
          <p:spPr>
            <a:xfrm>
              <a:off x="7927936" y="4213860"/>
              <a:ext cx="1003935" cy="540385"/>
            </a:xfrm>
            <a:custGeom>
              <a:avLst/>
              <a:gdLst/>
              <a:ahLst/>
              <a:cxnLst/>
              <a:rect l="l" t="t" r="r" b="b"/>
              <a:pathLst>
                <a:path w="1003934" h="540385">
                  <a:moveTo>
                    <a:pt x="1003465" y="0"/>
                  </a:moveTo>
                  <a:lnTo>
                    <a:pt x="0" y="540385"/>
                  </a:lnTo>
                </a:path>
              </a:pathLst>
            </a:custGeom>
            <a:ln w="28956">
              <a:solidFill>
                <a:srgbClr val="C00000"/>
              </a:solidFill>
              <a:prstDash val="sysDash"/>
            </a:ln>
          </p:spPr>
          <p:txBody>
            <a:bodyPr wrap="square" lIns="0" tIns="0" rIns="0" bIns="0" rtlCol="0"/>
            <a:lstStyle/>
            <a:p>
              <a:endParaRPr sz="1227"/>
            </a:p>
          </p:txBody>
        </p:sp>
        <p:sp>
          <p:nvSpPr>
            <p:cNvPr id="92" name="object 31"/>
            <p:cNvSpPr/>
            <p:nvPr/>
          </p:nvSpPr>
          <p:spPr>
            <a:xfrm>
              <a:off x="7927943" y="4668445"/>
              <a:ext cx="100965" cy="89535"/>
            </a:xfrm>
            <a:custGeom>
              <a:avLst/>
              <a:gdLst/>
              <a:ahLst/>
              <a:cxnLst/>
              <a:rect l="l" t="t" r="r" b="b"/>
              <a:pathLst>
                <a:path w="100965" h="89535">
                  <a:moveTo>
                    <a:pt x="100507" y="89230"/>
                  </a:moveTo>
                  <a:lnTo>
                    <a:pt x="0" y="85801"/>
                  </a:lnTo>
                  <a:lnTo>
                    <a:pt x="52463" y="0"/>
                  </a:lnTo>
                </a:path>
              </a:pathLst>
            </a:custGeom>
            <a:ln w="28955">
              <a:solidFill>
                <a:srgbClr val="C00000"/>
              </a:solidFill>
            </a:ln>
          </p:spPr>
          <p:txBody>
            <a:bodyPr wrap="square" lIns="0" tIns="0" rIns="0" bIns="0" rtlCol="0"/>
            <a:lstStyle/>
            <a:p>
              <a:endParaRPr sz="1227"/>
            </a:p>
          </p:txBody>
        </p:sp>
      </p:grpSp>
      <p:sp>
        <p:nvSpPr>
          <p:cNvPr id="93" name="object 3"/>
          <p:cNvSpPr txBox="1"/>
          <p:nvPr/>
        </p:nvSpPr>
        <p:spPr>
          <a:xfrm>
            <a:off x="4545409" y="2879435"/>
            <a:ext cx="1755631" cy="218107"/>
          </a:xfrm>
          <a:prstGeom prst="rect">
            <a:avLst/>
          </a:prstGeom>
        </p:spPr>
        <p:txBody>
          <a:bodyPr vert="horz" wrap="square" lIns="0" tIns="8226" rIns="0" bIns="0" rtlCol="0">
            <a:spAutoFit/>
          </a:bodyPr>
          <a:lstStyle/>
          <a:p>
            <a:pPr marL="25977">
              <a:spcBef>
                <a:spcPts val="65"/>
              </a:spcBef>
            </a:pPr>
            <a:r>
              <a:rPr sz="2045" baseline="13888" dirty="0">
                <a:latin typeface="Cambria Math"/>
                <a:cs typeface="Cambria Math"/>
              </a:rPr>
              <a:t>𝑉</a:t>
            </a:r>
            <a:r>
              <a:rPr sz="886" dirty="0">
                <a:latin typeface="Cambria Math"/>
                <a:cs typeface="Cambria Math"/>
              </a:rPr>
              <a:t>𝐷𝐴𝐶</a:t>
            </a:r>
            <a:r>
              <a:rPr sz="1330" baseline="-21367" dirty="0">
                <a:latin typeface="Cambria Math"/>
                <a:cs typeface="Cambria Math"/>
              </a:rPr>
              <a:t>,</a:t>
            </a:r>
            <a:r>
              <a:rPr sz="1330" spc="66" baseline="-21367" dirty="0">
                <a:latin typeface="Cambria Math"/>
                <a:cs typeface="Cambria Math"/>
              </a:rPr>
              <a:t> </a:t>
            </a:r>
            <a:r>
              <a:rPr sz="886" dirty="0">
                <a:latin typeface="Cambria Math"/>
                <a:cs typeface="Cambria Math"/>
              </a:rPr>
              <a:t>𝑆𝑆</a:t>
            </a:r>
            <a:r>
              <a:rPr sz="886" spc="222" dirty="0">
                <a:latin typeface="Cambria Math"/>
                <a:cs typeface="Cambria Math"/>
              </a:rPr>
              <a:t> </a:t>
            </a:r>
            <a:r>
              <a:rPr sz="2045" baseline="13888" dirty="0">
                <a:latin typeface="Cambria Math"/>
                <a:cs typeface="Cambria Math"/>
              </a:rPr>
              <a:t>=</a:t>
            </a:r>
            <a:r>
              <a:rPr sz="2045" spc="148" baseline="13888" dirty="0">
                <a:latin typeface="Cambria Math"/>
                <a:cs typeface="Cambria Math"/>
              </a:rPr>
              <a:t> </a:t>
            </a:r>
            <a:r>
              <a:rPr sz="2045" baseline="13888" dirty="0" smtClean="0">
                <a:latin typeface="Cambria Math"/>
                <a:cs typeface="Cambria Math"/>
              </a:rPr>
              <a:t>𝐼</a:t>
            </a:r>
            <a:r>
              <a:rPr sz="1483" baseline="3831" dirty="0" smtClean="0">
                <a:latin typeface="Cambria Math"/>
                <a:cs typeface="Cambria Math"/>
              </a:rPr>
              <a:t>𝑢</a:t>
            </a:r>
            <a:r>
              <a:rPr sz="1483" spc="286" baseline="3831" dirty="0" smtClean="0">
                <a:latin typeface="Cambria Math"/>
                <a:cs typeface="Cambria Math"/>
              </a:rPr>
              <a:t> </a:t>
            </a:r>
            <a:r>
              <a:rPr lang="en-US" sz="1483" spc="286" baseline="3831" dirty="0" smtClean="0">
                <a:latin typeface="Cambria Math"/>
                <a:cs typeface="Cambria Math"/>
              </a:rPr>
              <a:t>.</a:t>
            </a:r>
            <a:r>
              <a:rPr sz="2045" spc="61" baseline="13888" dirty="0" smtClean="0">
                <a:latin typeface="Cambria Math"/>
                <a:cs typeface="Cambria Math"/>
              </a:rPr>
              <a:t>𝑅</a:t>
            </a:r>
            <a:r>
              <a:rPr sz="1483" spc="61" baseline="3831" dirty="0" smtClean="0">
                <a:latin typeface="Cambria Math"/>
                <a:cs typeface="Cambria Math"/>
              </a:rPr>
              <a:t>𝑙𝑜𝑎𝑑</a:t>
            </a:r>
            <a:r>
              <a:rPr sz="1483" spc="61" baseline="3831" dirty="0">
                <a:latin typeface="Cambria Math"/>
                <a:cs typeface="Cambria Math"/>
              </a:rPr>
              <a:t>,𝑚𝑎𝑥</a:t>
            </a:r>
            <a:endParaRPr sz="1483" baseline="3831" dirty="0">
              <a:latin typeface="Cambria Math"/>
              <a:cs typeface="Cambria Math"/>
            </a:endParaRPr>
          </a:p>
        </p:txBody>
      </p:sp>
      <p:sp>
        <p:nvSpPr>
          <p:cNvPr id="94" name="object 4"/>
          <p:cNvSpPr txBox="1"/>
          <p:nvPr/>
        </p:nvSpPr>
        <p:spPr>
          <a:xfrm>
            <a:off x="4309436" y="1239643"/>
            <a:ext cx="2209367" cy="218236"/>
          </a:xfrm>
          <a:prstGeom prst="rect">
            <a:avLst/>
          </a:prstGeom>
        </p:spPr>
        <p:txBody>
          <a:bodyPr vert="horz" wrap="square" lIns="0" tIns="8226" rIns="0" bIns="0" rtlCol="0">
            <a:spAutoFit/>
          </a:bodyPr>
          <a:lstStyle/>
          <a:p>
            <a:pPr marL="8659">
              <a:spcBef>
                <a:spcPts val="65"/>
              </a:spcBef>
              <a:tabLst>
                <a:tab pos="1956469" algn="l"/>
              </a:tabLst>
            </a:pPr>
            <a:r>
              <a:rPr sz="1364" dirty="0">
                <a:latin typeface="Cambria Math"/>
                <a:cs typeface="Cambria Math"/>
              </a:rPr>
              <a:t>𝑃𝑜𝑤𝑒𝑟</a:t>
            </a:r>
            <a:r>
              <a:rPr sz="1364" spc="7" dirty="0">
                <a:latin typeface="Cambria Math"/>
                <a:cs typeface="Cambria Math"/>
              </a:rPr>
              <a:t> </a:t>
            </a:r>
            <a:r>
              <a:rPr sz="1364" dirty="0">
                <a:latin typeface="Cambria Math"/>
                <a:cs typeface="Cambria Math"/>
              </a:rPr>
              <a:t>𝐹𝐸𝑇</a:t>
            </a:r>
            <a:r>
              <a:rPr sz="1364" spc="10" dirty="0">
                <a:latin typeface="Cambria Math"/>
                <a:cs typeface="Cambria Math"/>
              </a:rPr>
              <a:t> </a:t>
            </a:r>
            <a:r>
              <a:rPr sz="1364" dirty="0">
                <a:latin typeface="Cambria Math"/>
                <a:cs typeface="Cambria Math"/>
              </a:rPr>
              <a:t>𝑢𝑛𝑖𝑡</a:t>
            </a:r>
            <a:r>
              <a:rPr sz="1364" spc="14" dirty="0">
                <a:latin typeface="Cambria Math"/>
                <a:cs typeface="Cambria Math"/>
              </a:rPr>
              <a:t> </a:t>
            </a:r>
            <a:r>
              <a:rPr sz="1364" spc="-7" dirty="0">
                <a:latin typeface="Cambria Math"/>
                <a:cs typeface="Cambria Math"/>
              </a:rPr>
              <a:t>𝑐𝑢𝑟𝑟𝑒𝑛𝑡</a:t>
            </a:r>
            <a:r>
              <a:rPr sz="1364" dirty="0">
                <a:latin typeface="Cambria Math"/>
                <a:cs typeface="Cambria Math"/>
              </a:rPr>
              <a:t>	=</a:t>
            </a:r>
            <a:r>
              <a:rPr sz="1364" spc="65" dirty="0">
                <a:latin typeface="Cambria Math"/>
                <a:cs typeface="Cambria Math"/>
              </a:rPr>
              <a:t> </a:t>
            </a:r>
            <a:r>
              <a:rPr sz="1364" spc="-34" dirty="0">
                <a:latin typeface="Cambria Math"/>
                <a:cs typeface="Cambria Math"/>
              </a:rPr>
              <a:t>𝐼</a:t>
            </a:r>
            <a:endParaRPr sz="1364">
              <a:latin typeface="Cambria Math"/>
              <a:cs typeface="Cambria Math"/>
            </a:endParaRPr>
          </a:p>
        </p:txBody>
      </p:sp>
      <p:sp>
        <p:nvSpPr>
          <p:cNvPr id="95" name="object 5"/>
          <p:cNvSpPr txBox="1"/>
          <p:nvPr/>
        </p:nvSpPr>
        <p:spPr>
          <a:xfrm>
            <a:off x="6500878" y="1339916"/>
            <a:ext cx="83560" cy="147686"/>
          </a:xfrm>
          <a:prstGeom prst="rect">
            <a:avLst/>
          </a:prstGeom>
        </p:spPr>
        <p:txBody>
          <a:bodyPr vert="horz" wrap="square" lIns="0" tIns="11257" rIns="0" bIns="0" rtlCol="0">
            <a:spAutoFit/>
          </a:bodyPr>
          <a:lstStyle/>
          <a:p>
            <a:pPr marL="8659">
              <a:spcBef>
                <a:spcPts val="89"/>
              </a:spcBef>
            </a:pPr>
            <a:r>
              <a:rPr sz="886" spc="-34" dirty="0">
                <a:latin typeface="Cambria Math"/>
                <a:cs typeface="Cambria Math"/>
              </a:rPr>
              <a:t>𝑢</a:t>
            </a:r>
            <a:endParaRPr sz="886">
              <a:latin typeface="Cambria Math"/>
              <a:cs typeface="Cambria Math"/>
            </a:endParaRPr>
          </a:p>
        </p:txBody>
      </p:sp>
      <p:sp>
        <p:nvSpPr>
          <p:cNvPr id="96" name="object 6"/>
          <p:cNvSpPr txBox="1"/>
          <p:nvPr/>
        </p:nvSpPr>
        <p:spPr>
          <a:xfrm>
            <a:off x="1998624" y="2684779"/>
            <a:ext cx="2037051" cy="428165"/>
          </a:xfrm>
          <a:prstGeom prst="rect">
            <a:avLst/>
          </a:prstGeom>
        </p:spPr>
        <p:txBody>
          <a:bodyPr vert="horz" wrap="square" lIns="0" tIns="8226" rIns="0" bIns="0" rtlCol="0">
            <a:spAutoFit/>
          </a:bodyPr>
          <a:lstStyle/>
          <a:p>
            <a:pPr marL="8659" marR="3464">
              <a:spcBef>
                <a:spcPts val="65"/>
              </a:spcBef>
            </a:pPr>
            <a:r>
              <a:rPr sz="1364" i="1" dirty="0">
                <a:solidFill>
                  <a:srgbClr val="C00000"/>
                </a:solidFill>
                <a:latin typeface="Verdana"/>
                <a:cs typeface="Verdana"/>
              </a:rPr>
              <a:t>Output</a:t>
            </a:r>
            <a:r>
              <a:rPr sz="1364" i="1" spc="-51" dirty="0">
                <a:solidFill>
                  <a:srgbClr val="C00000"/>
                </a:solidFill>
                <a:latin typeface="Verdana"/>
                <a:cs typeface="Verdana"/>
              </a:rPr>
              <a:t> </a:t>
            </a:r>
            <a:r>
              <a:rPr sz="1364" i="1" spc="-7" dirty="0">
                <a:solidFill>
                  <a:srgbClr val="C00000"/>
                </a:solidFill>
                <a:latin typeface="Verdana"/>
                <a:cs typeface="Verdana"/>
              </a:rPr>
              <a:t>voltage </a:t>
            </a:r>
            <a:r>
              <a:rPr sz="1364" i="1" dirty="0">
                <a:solidFill>
                  <a:srgbClr val="C00000"/>
                </a:solidFill>
                <a:latin typeface="Verdana"/>
                <a:cs typeface="Verdana"/>
              </a:rPr>
              <a:t>resolution</a:t>
            </a:r>
            <a:r>
              <a:rPr sz="1364" i="1" spc="-44" dirty="0">
                <a:solidFill>
                  <a:srgbClr val="C00000"/>
                </a:solidFill>
                <a:latin typeface="Verdana"/>
                <a:cs typeface="Verdana"/>
              </a:rPr>
              <a:t> </a:t>
            </a:r>
            <a:r>
              <a:rPr sz="1364" i="1" spc="-7" dirty="0">
                <a:solidFill>
                  <a:srgbClr val="C00000"/>
                </a:solidFill>
                <a:latin typeface="Verdana"/>
                <a:cs typeface="Verdana"/>
              </a:rPr>
              <a:t>(worst-</a:t>
            </a:r>
            <a:r>
              <a:rPr sz="1364" i="1" spc="-14" dirty="0">
                <a:solidFill>
                  <a:srgbClr val="C00000"/>
                </a:solidFill>
                <a:latin typeface="Verdana"/>
                <a:cs typeface="Verdana"/>
              </a:rPr>
              <a:t>case)</a:t>
            </a:r>
            <a:endParaRPr sz="1364">
              <a:latin typeface="Verdana"/>
              <a:cs typeface="Verdana"/>
            </a:endParaRPr>
          </a:p>
        </p:txBody>
      </p:sp>
      <p:grpSp>
        <p:nvGrpSpPr>
          <p:cNvPr id="97" name="object 7"/>
          <p:cNvGrpSpPr/>
          <p:nvPr/>
        </p:nvGrpSpPr>
        <p:grpSpPr>
          <a:xfrm>
            <a:off x="4137140" y="2930664"/>
            <a:ext cx="278823" cy="89189"/>
            <a:chOff x="3865626" y="3949058"/>
            <a:chExt cx="408940" cy="130810"/>
          </a:xfrm>
        </p:grpSpPr>
        <p:sp>
          <p:nvSpPr>
            <p:cNvPr id="98" name="object 8"/>
            <p:cNvSpPr/>
            <p:nvPr/>
          </p:nvSpPr>
          <p:spPr>
            <a:xfrm>
              <a:off x="3865626" y="4014215"/>
              <a:ext cx="394335" cy="0"/>
            </a:xfrm>
            <a:custGeom>
              <a:avLst/>
              <a:gdLst/>
              <a:ahLst/>
              <a:cxnLst/>
              <a:rect l="l" t="t" r="r" b="b"/>
              <a:pathLst>
                <a:path w="394335">
                  <a:moveTo>
                    <a:pt x="0" y="0"/>
                  </a:moveTo>
                  <a:lnTo>
                    <a:pt x="394246" y="0"/>
                  </a:lnTo>
                </a:path>
              </a:pathLst>
            </a:custGeom>
            <a:ln w="28956">
              <a:solidFill>
                <a:srgbClr val="C00000"/>
              </a:solidFill>
              <a:prstDash val="sysDash"/>
            </a:ln>
          </p:spPr>
          <p:txBody>
            <a:bodyPr wrap="square" lIns="0" tIns="0" rIns="0" bIns="0" rtlCol="0"/>
            <a:lstStyle/>
            <a:p>
              <a:endParaRPr sz="1227"/>
            </a:p>
          </p:txBody>
        </p:sp>
        <p:sp>
          <p:nvSpPr>
            <p:cNvPr id="99" name="object 9"/>
            <p:cNvSpPr/>
            <p:nvPr/>
          </p:nvSpPr>
          <p:spPr>
            <a:xfrm>
              <a:off x="4173004" y="3963536"/>
              <a:ext cx="86995" cy="101600"/>
            </a:xfrm>
            <a:custGeom>
              <a:avLst/>
              <a:gdLst/>
              <a:ahLst/>
              <a:cxnLst/>
              <a:rect l="l" t="t" r="r" b="b"/>
              <a:pathLst>
                <a:path w="86995" h="101600">
                  <a:moveTo>
                    <a:pt x="0" y="0"/>
                  </a:moveTo>
                  <a:lnTo>
                    <a:pt x="86868" y="50673"/>
                  </a:lnTo>
                  <a:lnTo>
                    <a:pt x="0" y="101346"/>
                  </a:lnTo>
                </a:path>
              </a:pathLst>
            </a:custGeom>
            <a:ln w="28956">
              <a:solidFill>
                <a:srgbClr val="C00000"/>
              </a:solidFill>
            </a:ln>
          </p:spPr>
          <p:txBody>
            <a:bodyPr wrap="square" lIns="0" tIns="0" rIns="0" bIns="0" rtlCol="0"/>
            <a:lstStyle/>
            <a:p>
              <a:endParaRPr sz="1227"/>
            </a:p>
          </p:txBody>
        </p:sp>
      </p:grpSp>
      <p:sp>
        <p:nvSpPr>
          <p:cNvPr id="100" name="object 10"/>
          <p:cNvSpPr txBox="1"/>
          <p:nvPr/>
        </p:nvSpPr>
        <p:spPr>
          <a:xfrm>
            <a:off x="7399223" y="1139262"/>
            <a:ext cx="2004580" cy="428165"/>
          </a:xfrm>
          <a:prstGeom prst="rect">
            <a:avLst/>
          </a:prstGeom>
        </p:spPr>
        <p:txBody>
          <a:bodyPr vert="horz" wrap="square" lIns="0" tIns="8226" rIns="0" bIns="0" rtlCol="0">
            <a:spAutoFit/>
          </a:bodyPr>
          <a:lstStyle/>
          <a:p>
            <a:pPr marL="8659" marR="3464">
              <a:spcBef>
                <a:spcPts val="65"/>
              </a:spcBef>
            </a:pPr>
            <a:r>
              <a:rPr sz="1364" i="1" dirty="0">
                <a:solidFill>
                  <a:srgbClr val="C00000"/>
                </a:solidFill>
                <a:latin typeface="Verdana"/>
                <a:cs typeface="Verdana"/>
              </a:rPr>
              <a:t>If</a:t>
            </a:r>
            <a:r>
              <a:rPr sz="1364" i="1" spc="-34" dirty="0">
                <a:solidFill>
                  <a:srgbClr val="C00000"/>
                </a:solidFill>
                <a:latin typeface="Verdana"/>
                <a:cs typeface="Verdana"/>
              </a:rPr>
              <a:t> </a:t>
            </a:r>
            <a:r>
              <a:rPr sz="1364" i="1" dirty="0">
                <a:solidFill>
                  <a:srgbClr val="C00000"/>
                </a:solidFill>
                <a:latin typeface="Verdana"/>
                <a:cs typeface="Verdana"/>
              </a:rPr>
              <a:t>power</a:t>
            </a:r>
            <a:r>
              <a:rPr sz="1364" i="1" spc="-24" dirty="0">
                <a:solidFill>
                  <a:srgbClr val="C00000"/>
                </a:solidFill>
                <a:latin typeface="Verdana"/>
                <a:cs typeface="Verdana"/>
              </a:rPr>
              <a:t> </a:t>
            </a:r>
            <a:r>
              <a:rPr sz="1364" i="1" dirty="0">
                <a:solidFill>
                  <a:srgbClr val="C00000"/>
                </a:solidFill>
                <a:latin typeface="Verdana"/>
                <a:cs typeface="Verdana"/>
              </a:rPr>
              <a:t>FETs</a:t>
            </a:r>
            <a:r>
              <a:rPr sz="1364" i="1" spc="-27" dirty="0">
                <a:solidFill>
                  <a:srgbClr val="C00000"/>
                </a:solidFill>
                <a:latin typeface="Verdana"/>
                <a:cs typeface="Verdana"/>
              </a:rPr>
              <a:t> </a:t>
            </a:r>
            <a:r>
              <a:rPr sz="1364" i="1" spc="-17" dirty="0">
                <a:solidFill>
                  <a:srgbClr val="C00000"/>
                </a:solidFill>
                <a:latin typeface="Verdana"/>
                <a:cs typeface="Verdana"/>
              </a:rPr>
              <a:t>are </a:t>
            </a:r>
            <a:r>
              <a:rPr sz="1364" i="1" dirty="0">
                <a:solidFill>
                  <a:srgbClr val="C00000"/>
                </a:solidFill>
                <a:latin typeface="Verdana"/>
                <a:cs typeface="Verdana"/>
              </a:rPr>
              <a:t>sized</a:t>
            </a:r>
            <a:r>
              <a:rPr sz="1364" i="1" spc="-17" dirty="0">
                <a:solidFill>
                  <a:srgbClr val="C00000"/>
                </a:solidFill>
                <a:latin typeface="Verdana"/>
                <a:cs typeface="Verdana"/>
              </a:rPr>
              <a:t> </a:t>
            </a:r>
            <a:r>
              <a:rPr sz="1364" i="1" dirty="0">
                <a:solidFill>
                  <a:srgbClr val="C00000"/>
                </a:solidFill>
                <a:latin typeface="Verdana"/>
                <a:cs typeface="Verdana"/>
              </a:rPr>
              <a:t>in</a:t>
            </a:r>
            <a:r>
              <a:rPr sz="1364" i="1" spc="-24" dirty="0">
                <a:solidFill>
                  <a:srgbClr val="C00000"/>
                </a:solidFill>
                <a:latin typeface="Verdana"/>
                <a:cs typeface="Verdana"/>
              </a:rPr>
              <a:t> </a:t>
            </a:r>
            <a:r>
              <a:rPr sz="1364" i="1" dirty="0">
                <a:solidFill>
                  <a:srgbClr val="C00000"/>
                </a:solidFill>
                <a:latin typeface="Verdana"/>
                <a:cs typeface="Verdana"/>
              </a:rPr>
              <a:t>the</a:t>
            </a:r>
            <a:r>
              <a:rPr sz="1364" i="1" spc="-20" dirty="0">
                <a:solidFill>
                  <a:srgbClr val="C00000"/>
                </a:solidFill>
                <a:latin typeface="Verdana"/>
                <a:cs typeface="Verdana"/>
              </a:rPr>
              <a:t> </a:t>
            </a:r>
            <a:r>
              <a:rPr sz="1364" i="1" dirty="0">
                <a:solidFill>
                  <a:srgbClr val="C00000"/>
                </a:solidFill>
                <a:latin typeface="Verdana"/>
                <a:cs typeface="Verdana"/>
              </a:rPr>
              <a:t>power</a:t>
            </a:r>
            <a:r>
              <a:rPr sz="1364" i="1" spc="-20" dirty="0">
                <a:solidFill>
                  <a:srgbClr val="C00000"/>
                </a:solidFill>
                <a:latin typeface="Verdana"/>
                <a:cs typeface="Verdana"/>
              </a:rPr>
              <a:t> </a:t>
            </a:r>
            <a:r>
              <a:rPr sz="1364" i="1" dirty="0">
                <a:solidFill>
                  <a:srgbClr val="C00000"/>
                </a:solidFill>
                <a:latin typeface="Verdana"/>
                <a:cs typeface="Verdana"/>
              </a:rPr>
              <a:t>of</a:t>
            </a:r>
            <a:r>
              <a:rPr sz="1364" i="1" spc="-20" dirty="0">
                <a:solidFill>
                  <a:srgbClr val="C00000"/>
                </a:solidFill>
                <a:latin typeface="Verdana"/>
                <a:cs typeface="Verdana"/>
              </a:rPr>
              <a:t> </a:t>
            </a:r>
            <a:r>
              <a:rPr sz="1364" i="1" spc="-34" dirty="0">
                <a:solidFill>
                  <a:srgbClr val="C00000"/>
                </a:solidFill>
                <a:latin typeface="Verdana"/>
                <a:cs typeface="Verdana"/>
              </a:rPr>
              <a:t>2</a:t>
            </a:r>
            <a:endParaRPr sz="1364">
              <a:latin typeface="Verdana"/>
              <a:cs typeface="Verdana"/>
            </a:endParaRPr>
          </a:p>
        </p:txBody>
      </p:sp>
      <p:grpSp>
        <p:nvGrpSpPr>
          <p:cNvPr id="101" name="object 11"/>
          <p:cNvGrpSpPr/>
          <p:nvPr/>
        </p:nvGrpSpPr>
        <p:grpSpPr>
          <a:xfrm>
            <a:off x="7291656" y="1591541"/>
            <a:ext cx="309563" cy="168419"/>
            <a:chOff x="8492249" y="1985010"/>
            <a:chExt cx="454025" cy="247015"/>
          </a:xfrm>
        </p:grpSpPr>
        <p:sp>
          <p:nvSpPr>
            <p:cNvPr id="102" name="object 12"/>
            <p:cNvSpPr/>
            <p:nvPr/>
          </p:nvSpPr>
          <p:spPr>
            <a:xfrm>
              <a:off x="8506727" y="1999488"/>
              <a:ext cx="424815" cy="211454"/>
            </a:xfrm>
            <a:custGeom>
              <a:avLst/>
              <a:gdLst/>
              <a:ahLst/>
              <a:cxnLst/>
              <a:rect l="l" t="t" r="r" b="b"/>
              <a:pathLst>
                <a:path w="424815" h="211455">
                  <a:moveTo>
                    <a:pt x="424675" y="0"/>
                  </a:moveTo>
                  <a:lnTo>
                    <a:pt x="0" y="211264"/>
                  </a:lnTo>
                </a:path>
              </a:pathLst>
            </a:custGeom>
            <a:ln w="28956">
              <a:solidFill>
                <a:srgbClr val="C00000"/>
              </a:solidFill>
              <a:prstDash val="sysDash"/>
            </a:ln>
          </p:spPr>
          <p:txBody>
            <a:bodyPr wrap="square" lIns="0" tIns="0" rIns="0" bIns="0" rtlCol="0"/>
            <a:lstStyle/>
            <a:p>
              <a:endParaRPr sz="1227"/>
            </a:p>
          </p:txBody>
        </p:sp>
        <p:sp>
          <p:nvSpPr>
            <p:cNvPr id="103" name="object 13"/>
            <p:cNvSpPr/>
            <p:nvPr/>
          </p:nvSpPr>
          <p:spPr>
            <a:xfrm>
              <a:off x="8506729" y="2126691"/>
              <a:ext cx="100965" cy="90805"/>
            </a:xfrm>
            <a:custGeom>
              <a:avLst/>
              <a:gdLst/>
              <a:ahLst/>
              <a:cxnLst/>
              <a:rect l="l" t="t" r="r" b="b"/>
              <a:pathLst>
                <a:path w="100965" h="90805">
                  <a:moveTo>
                    <a:pt x="100342" y="90741"/>
                  </a:moveTo>
                  <a:lnTo>
                    <a:pt x="0" y="84061"/>
                  </a:lnTo>
                  <a:lnTo>
                    <a:pt x="55206" y="0"/>
                  </a:lnTo>
                </a:path>
              </a:pathLst>
            </a:custGeom>
            <a:ln w="28956">
              <a:solidFill>
                <a:srgbClr val="C00000"/>
              </a:solidFill>
            </a:ln>
          </p:spPr>
          <p:txBody>
            <a:bodyPr wrap="square" lIns="0" tIns="0" rIns="0" bIns="0" rtlCol="0"/>
            <a:lstStyle/>
            <a:p>
              <a:endParaRPr sz="1227"/>
            </a:p>
          </p:txBody>
        </p:sp>
      </p:grpSp>
      <p:sp>
        <p:nvSpPr>
          <p:cNvPr id="104" name="object 14"/>
          <p:cNvSpPr txBox="1"/>
          <p:nvPr/>
        </p:nvSpPr>
        <p:spPr>
          <a:xfrm>
            <a:off x="3756049" y="1796284"/>
            <a:ext cx="1823605" cy="218236"/>
          </a:xfrm>
          <a:prstGeom prst="rect">
            <a:avLst/>
          </a:prstGeom>
        </p:spPr>
        <p:txBody>
          <a:bodyPr vert="horz" wrap="square" lIns="0" tIns="8226" rIns="0" bIns="0" rtlCol="0">
            <a:spAutoFit/>
          </a:bodyPr>
          <a:lstStyle/>
          <a:p>
            <a:pPr marL="8659">
              <a:spcBef>
                <a:spcPts val="65"/>
              </a:spcBef>
            </a:pPr>
            <a:r>
              <a:rPr sz="1364" dirty="0">
                <a:latin typeface="Cambria Math"/>
                <a:cs typeface="Cambria Math"/>
              </a:rPr>
              <a:t>𝑀𝑎𝑥𝑖𝑚𝑢𝑚 𝑙𝑜𝑎𝑑</a:t>
            </a:r>
            <a:r>
              <a:rPr sz="1364" spc="20" dirty="0">
                <a:latin typeface="Cambria Math"/>
                <a:cs typeface="Cambria Math"/>
              </a:rPr>
              <a:t> </a:t>
            </a:r>
            <a:r>
              <a:rPr sz="1364" spc="-7" dirty="0">
                <a:latin typeface="Cambria Math"/>
                <a:cs typeface="Cambria Math"/>
              </a:rPr>
              <a:t>𝑐𝑢𝑟𝑟𝑒𝑛𝑡</a:t>
            </a:r>
            <a:endParaRPr sz="1364">
              <a:latin typeface="Cambria Math"/>
              <a:cs typeface="Cambria Math"/>
            </a:endParaRPr>
          </a:p>
        </p:txBody>
      </p:sp>
      <p:sp>
        <p:nvSpPr>
          <p:cNvPr id="105" name="object 15"/>
          <p:cNvSpPr/>
          <p:nvPr/>
        </p:nvSpPr>
        <p:spPr>
          <a:xfrm>
            <a:off x="5628458" y="1848609"/>
            <a:ext cx="694459" cy="160626"/>
          </a:xfrm>
          <a:custGeom>
            <a:avLst/>
            <a:gdLst/>
            <a:ahLst/>
            <a:cxnLst/>
            <a:rect l="l" t="t" r="r" b="b"/>
            <a:pathLst>
              <a:path w="1018540" h="235585">
                <a:moveTo>
                  <a:pt x="943584" y="0"/>
                </a:moveTo>
                <a:lnTo>
                  <a:pt x="940244" y="9537"/>
                </a:lnTo>
                <a:lnTo>
                  <a:pt x="953846" y="15443"/>
                </a:lnTo>
                <a:lnTo>
                  <a:pt x="965544" y="23617"/>
                </a:lnTo>
                <a:lnTo>
                  <a:pt x="989303" y="61502"/>
                </a:lnTo>
                <a:lnTo>
                  <a:pt x="997115" y="116344"/>
                </a:lnTo>
                <a:lnTo>
                  <a:pt x="996243" y="137073"/>
                </a:lnTo>
                <a:lnTo>
                  <a:pt x="983170" y="187833"/>
                </a:lnTo>
                <a:lnTo>
                  <a:pt x="954002" y="219567"/>
                </a:lnTo>
                <a:lnTo>
                  <a:pt x="940612" y="225501"/>
                </a:lnTo>
                <a:lnTo>
                  <a:pt x="943584" y="235038"/>
                </a:lnTo>
                <a:lnTo>
                  <a:pt x="988490" y="208356"/>
                </a:lnTo>
                <a:lnTo>
                  <a:pt x="1013709" y="159105"/>
                </a:lnTo>
                <a:lnTo>
                  <a:pt x="1018540" y="117576"/>
                </a:lnTo>
                <a:lnTo>
                  <a:pt x="1017342" y="96287"/>
                </a:lnTo>
                <a:lnTo>
                  <a:pt x="1017328" y="96030"/>
                </a:lnTo>
                <a:lnTo>
                  <a:pt x="1007636" y="57844"/>
                </a:lnTo>
                <a:lnTo>
                  <a:pt x="975567" y="15070"/>
                </a:lnTo>
                <a:lnTo>
                  <a:pt x="960624" y="6153"/>
                </a:lnTo>
                <a:lnTo>
                  <a:pt x="943584" y="0"/>
                </a:lnTo>
                <a:close/>
              </a:path>
              <a:path w="1018540" h="235585">
                <a:moveTo>
                  <a:pt x="74955" y="0"/>
                </a:moveTo>
                <a:lnTo>
                  <a:pt x="30137" y="26751"/>
                </a:lnTo>
                <a:lnTo>
                  <a:pt x="4848" y="76120"/>
                </a:lnTo>
                <a:lnTo>
                  <a:pt x="69" y="116344"/>
                </a:lnTo>
                <a:lnTo>
                  <a:pt x="0" y="117576"/>
                </a:lnTo>
                <a:lnTo>
                  <a:pt x="1090" y="137073"/>
                </a:lnTo>
                <a:lnTo>
                  <a:pt x="1207" y="139174"/>
                </a:lnTo>
                <a:lnTo>
                  <a:pt x="4830" y="159105"/>
                </a:lnTo>
                <a:lnTo>
                  <a:pt x="30051" y="208356"/>
                </a:lnTo>
                <a:lnTo>
                  <a:pt x="74955" y="235038"/>
                </a:lnTo>
                <a:lnTo>
                  <a:pt x="77927" y="225501"/>
                </a:lnTo>
                <a:lnTo>
                  <a:pt x="64537" y="219567"/>
                </a:lnTo>
                <a:lnTo>
                  <a:pt x="52981" y="211310"/>
                </a:lnTo>
                <a:lnTo>
                  <a:pt x="29276" y="172819"/>
                </a:lnTo>
                <a:lnTo>
                  <a:pt x="21489" y="117576"/>
                </a:lnTo>
                <a:lnTo>
                  <a:pt x="21437" y="116344"/>
                </a:lnTo>
                <a:lnTo>
                  <a:pt x="24922" y="78006"/>
                </a:lnTo>
                <a:lnTo>
                  <a:pt x="43282" y="34060"/>
                </a:lnTo>
                <a:lnTo>
                  <a:pt x="78308" y="9537"/>
                </a:lnTo>
                <a:lnTo>
                  <a:pt x="74955" y="0"/>
                </a:lnTo>
                <a:close/>
              </a:path>
            </a:pathLst>
          </a:custGeom>
          <a:solidFill>
            <a:srgbClr val="000000"/>
          </a:solidFill>
        </p:spPr>
        <p:txBody>
          <a:bodyPr wrap="square" lIns="0" tIns="0" rIns="0" bIns="0" rtlCol="0"/>
          <a:lstStyle/>
          <a:p>
            <a:endParaRPr sz="1227"/>
          </a:p>
        </p:txBody>
      </p:sp>
      <p:sp>
        <p:nvSpPr>
          <p:cNvPr id="106" name="object 16"/>
          <p:cNvSpPr txBox="1"/>
          <p:nvPr/>
        </p:nvSpPr>
        <p:spPr>
          <a:xfrm>
            <a:off x="5658971" y="1838887"/>
            <a:ext cx="628217" cy="218107"/>
          </a:xfrm>
          <a:prstGeom prst="rect">
            <a:avLst/>
          </a:prstGeom>
        </p:spPr>
        <p:txBody>
          <a:bodyPr vert="horz" wrap="square" lIns="0" tIns="8226" rIns="0" bIns="0" rtlCol="0">
            <a:spAutoFit/>
          </a:bodyPr>
          <a:lstStyle/>
          <a:p>
            <a:pPr marL="25977">
              <a:spcBef>
                <a:spcPts val="65"/>
              </a:spcBef>
            </a:pPr>
            <a:r>
              <a:rPr sz="2045" baseline="13888" dirty="0">
                <a:latin typeface="Cambria Math"/>
                <a:cs typeface="Cambria Math"/>
              </a:rPr>
              <a:t>𝐼</a:t>
            </a:r>
            <a:r>
              <a:rPr sz="886" dirty="0">
                <a:latin typeface="Cambria Math"/>
                <a:cs typeface="Cambria Math"/>
              </a:rPr>
              <a:t>𝑙𝑜𝑎𝑑</a:t>
            </a:r>
            <a:r>
              <a:rPr sz="1330" baseline="-21367" dirty="0">
                <a:latin typeface="Cambria Math"/>
                <a:cs typeface="Cambria Math"/>
              </a:rPr>
              <a:t>,</a:t>
            </a:r>
            <a:r>
              <a:rPr sz="1330" spc="168" baseline="-21367" dirty="0">
                <a:latin typeface="Cambria Math"/>
                <a:cs typeface="Cambria Math"/>
              </a:rPr>
              <a:t> </a:t>
            </a:r>
            <a:r>
              <a:rPr sz="886" spc="-17" dirty="0">
                <a:latin typeface="Cambria Math"/>
                <a:cs typeface="Cambria Math"/>
              </a:rPr>
              <a:t>𝑚𝑎𝑥</a:t>
            </a:r>
            <a:endParaRPr sz="886">
              <a:latin typeface="Cambria Math"/>
              <a:cs typeface="Cambria Math"/>
            </a:endParaRPr>
          </a:p>
        </p:txBody>
      </p:sp>
      <p:sp>
        <p:nvSpPr>
          <p:cNvPr id="107" name="object 18"/>
          <p:cNvSpPr txBox="1"/>
          <p:nvPr/>
        </p:nvSpPr>
        <p:spPr>
          <a:xfrm>
            <a:off x="5867716" y="2368208"/>
            <a:ext cx="1018742" cy="218236"/>
          </a:xfrm>
          <a:prstGeom prst="rect">
            <a:avLst/>
          </a:prstGeom>
        </p:spPr>
        <p:txBody>
          <a:bodyPr vert="horz" wrap="square" lIns="0" tIns="8226" rIns="0" bIns="0" rtlCol="0">
            <a:spAutoFit/>
          </a:bodyPr>
          <a:lstStyle/>
          <a:p>
            <a:pPr marL="25977">
              <a:spcBef>
                <a:spcPts val="65"/>
              </a:spcBef>
            </a:pPr>
            <a:r>
              <a:rPr sz="1364" dirty="0">
                <a:latin typeface="Cambria Math"/>
                <a:cs typeface="Cambria Math"/>
              </a:rPr>
              <a:t>𝑁</a:t>
            </a:r>
            <a:r>
              <a:rPr sz="1330" baseline="-21367" dirty="0">
                <a:latin typeface="Cambria Math"/>
                <a:cs typeface="Cambria Math"/>
              </a:rPr>
              <a:t>𝐷𝐴𝐶</a:t>
            </a:r>
            <a:r>
              <a:rPr sz="1330" spc="383" baseline="-21367" dirty="0">
                <a:latin typeface="Cambria Math"/>
                <a:cs typeface="Cambria Math"/>
              </a:rPr>
              <a:t> </a:t>
            </a:r>
            <a:r>
              <a:rPr sz="1364" dirty="0">
                <a:latin typeface="Cambria Math"/>
                <a:cs typeface="Cambria Math"/>
              </a:rPr>
              <a:t>=</a:t>
            </a:r>
            <a:r>
              <a:rPr sz="1364" spc="92" dirty="0">
                <a:latin typeface="Cambria Math"/>
                <a:cs typeface="Cambria Math"/>
              </a:rPr>
              <a:t> </a:t>
            </a:r>
            <a:r>
              <a:rPr sz="1364" spc="-14" dirty="0">
                <a:latin typeface="Cambria Math"/>
                <a:cs typeface="Cambria Math"/>
              </a:rPr>
              <a:t>log</a:t>
            </a:r>
            <a:r>
              <a:rPr sz="1483" spc="-20" baseline="-15325" dirty="0">
                <a:latin typeface="Cambria Math"/>
                <a:cs typeface="Cambria Math"/>
              </a:rPr>
              <a:t>2</a:t>
            </a:r>
            <a:r>
              <a:rPr sz="1364" spc="-14" dirty="0">
                <a:latin typeface="Cambria Math"/>
                <a:cs typeface="Cambria Math"/>
              </a:rPr>
              <a:t>(</a:t>
            </a:r>
            <a:endParaRPr sz="1364">
              <a:latin typeface="Cambria Math"/>
              <a:cs typeface="Cambria Math"/>
            </a:endParaRPr>
          </a:p>
        </p:txBody>
      </p:sp>
      <p:sp>
        <p:nvSpPr>
          <p:cNvPr id="108" name="object 19"/>
          <p:cNvSpPr/>
          <p:nvPr/>
        </p:nvSpPr>
        <p:spPr>
          <a:xfrm>
            <a:off x="6860048" y="2494804"/>
            <a:ext cx="581024" cy="11690"/>
          </a:xfrm>
          <a:custGeom>
            <a:avLst/>
            <a:gdLst/>
            <a:ahLst/>
            <a:cxnLst/>
            <a:rect l="l" t="t" r="r" b="b"/>
            <a:pathLst>
              <a:path w="852170" h="17145">
                <a:moveTo>
                  <a:pt x="851916" y="0"/>
                </a:moveTo>
                <a:lnTo>
                  <a:pt x="0" y="0"/>
                </a:lnTo>
                <a:lnTo>
                  <a:pt x="0" y="16764"/>
                </a:lnTo>
                <a:lnTo>
                  <a:pt x="851916" y="16764"/>
                </a:lnTo>
                <a:lnTo>
                  <a:pt x="851916" y="0"/>
                </a:lnTo>
                <a:close/>
              </a:path>
            </a:pathLst>
          </a:custGeom>
          <a:solidFill>
            <a:srgbClr val="000000"/>
          </a:solidFill>
        </p:spPr>
        <p:txBody>
          <a:bodyPr wrap="square" lIns="0" tIns="0" rIns="0" bIns="0" rtlCol="0"/>
          <a:lstStyle/>
          <a:p>
            <a:endParaRPr sz="1227"/>
          </a:p>
        </p:txBody>
      </p:sp>
      <p:sp>
        <p:nvSpPr>
          <p:cNvPr id="109" name="object 20"/>
          <p:cNvSpPr txBox="1"/>
          <p:nvPr/>
        </p:nvSpPr>
        <p:spPr>
          <a:xfrm>
            <a:off x="7073234" y="2484067"/>
            <a:ext cx="83127" cy="218236"/>
          </a:xfrm>
          <a:prstGeom prst="rect">
            <a:avLst/>
          </a:prstGeom>
        </p:spPr>
        <p:txBody>
          <a:bodyPr vert="horz" wrap="square" lIns="0" tIns="8226" rIns="0" bIns="0" rtlCol="0">
            <a:spAutoFit/>
          </a:bodyPr>
          <a:lstStyle/>
          <a:p>
            <a:pPr marL="8659">
              <a:spcBef>
                <a:spcPts val="65"/>
              </a:spcBef>
            </a:pPr>
            <a:r>
              <a:rPr sz="1364" spc="-34" dirty="0">
                <a:latin typeface="Cambria Math"/>
                <a:cs typeface="Cambria Math"/>
              </a:rPr>
              <a:t>𝐼</a:t>
            </a:r>
            <a:endParaRPr sz="1364">
              <a:latin typeface="Cambria Math"/>
              <a:cs typeface="Cambria Math"/>
            </a:endParaRPr>
          </a:p>
        </p:txBody>
      </p:sp>
      <p:sp>
        <p:nvSpPr>
          <p:cNvPr id="110" name="object 21"/>
          <p:cNvSpPr txBox="1"/>
          <p:nvPr/>
        </p:nvSpPr>
        <p:spPr>
          <a:xfrm>
            <a:off x="7138698" y="2584339"/>
            <a:ext cx="83560" cy="147686"/>
          </a:xfrm>
          <a:prstGeom prst="rect">
            <a:avLst/>
          </a:prstGeom>
        </p:spPr>
        <p:txBody>
          <a:bodyPr vert="horz" wrap="square" lIns="0" tIns="11257" rIns="0" bIns="0" rtlCol="0">
            <a:spAutoFit/>
          </a:bodyPr>
          <a:lstStyle/>
          <a:p>
            <a:pPr marL="8659">
              <a:spcBef>
                <a:spcPts val="89"/>
              </a:spcBef>
            </a:pPr>
            <a:r>
              <a:rPr sz="886" spc="-34" dirty="0">
                <a:latin typeface="Cambria Math"/>
                <a:cs typeface="Cambria Math"/>
              </a:rPr>
              <a:t>𝑢</a:t>
            </a:r>
            <a:endParaRPr sz="886">
              <a:latin typeface="Cambria Math"/>
              <a:cs typeface="Cambria Math"/>
            </a:endParaRPr>
          </a:p>
        </p:txBody>
      </p:sp>
      <p:sp>
        <p:nvSpPr>
          <p:cNvPr id="111" name="object 22"/>
          <p:cNvSpPr txBox="1"/>
          <p:nvPr/>
        </p:nvSpPr>
        <p:spPr>
          <a:xfrm>
            <a:off x="6834070" y="2279885"/>
            <a:ext cx="1007918" cy="218107"/>
          </a:xfrm>
          <a:prstGeom prst="rect">
            <a:avLst/>
          </a:prstGeom>
        </p:spPr>
        <p:txBody>
          <a:bodyPr vert="horz" wrap="square" lIns="0" tIns="8226" rIns="0" bIns="0" rtlCol="0">
            <a:spAutoFit/>
          </a:bodyPr>
          <a:lstStyle/>
          <a:p>
            <a:pPr marL="25977">
              <a:spcBef>
                <a:spcPts val="65"/>
              </a:spcBef>
            </a:pPr>
            <a:r>
              <a:rPr sz="2045" baseline="13888" dirty="0">
                <a:latin typeface="Cambria Math"/>
                <a:cs typeface="Cambria Math"/>
              </a:rPr>
              <a:t>𝐼</a:t>
            </a:r>
            <a:r>
              <a:rPr sz="886" dirty="0">
                <a:latin typeface="Cambria Math"/>
                <a:cs typeface="Cambria Math"/>
              </a:rPr>
              <a:t>𝑙𝑜𝑎𝑑</a:t>
            </a:r>
            <a:r>
              <a:rPr sz="1330" baseline="-21367" dirty="0">
                <a:latin typeface="Cambria Math"/>
                <a:cs typeface="Cambria Math"/>
              </a:rPr>
              <a:t>,</a:t>
            </a:r>
            <a:r>
              <a:rPr sz="1330" spc="82" baseline="-21367" dirty="0">
                <a:latin typeface="Cambria Math"/>
                <a:cs typeface="Cambria Math"/>
              </a:rPr>
              <a:t> </a:t>
            </a:r>
            <a:r>
              <a:rPr sz="886" dirty="0">
                <a:latin typeface="Cambria Math"/>
                <a:cs typeface="Cambria Math"/>
              </a:rPr>
              <a:t>𝑚𝑎𝑥</a:t>
            </a:r>
            <a:r>
              <a:rPr sz="886" spc="187" dirty="0">
                <a:latin typeface="Cambria Math"/>
                <a:cs typeface="Cambria Math"/>
              </a:rPr>
              <a:t> </a:t>
            </a:r>
            <a:r>
              <a:rPr sz="2045" baseline="-27777" dirty="0">
                <a:latin typeface="Cambria Math"/>
                <a:cs typeface="Cambria Math"/>
              </a:rPr>
              <a:t>+</a:t>
            </a:r>
            <a:r>
              <a:rPr sz="2045" spc="66" baseline="-27777" dirty="0">
                <a:latin typeface="Cambria Math"/>
                <a:cs typeface="Cambria Math"/>
              </a:rPr>
              <a:t> </a:t>
            </a:r>
            <a:r>
              <a:rPr sz="2045" spc="-25" baseline="-27777" dirty="0">
                <a:latin typeface="Cambria Math"/>
                <a:cs typeface="Cambria Math"/>
              </a:rPr>
              <a:t>1)</a:t>
            </a:r>
            <a:endParaRPr sz="2045" baseline="-27777">
              <a:latin typeface="Cambria Math"/>
              <a:cs typeface="Cambria Math"/>
            </a:endParaRPr>
          </a:p>
        </p:txBody>
      </p:sp>
      <p:sp>
        <p:nvSpPr>
          <p:cNvPr id="112" name="object 23"/>
          <p:cNvSpPr txBox="1"/>
          <p:nvPr/>
        </p:nvSpPr>
        <p:spPr>
          <a:xfrm>
            <a:off x="3483356" y="2357655"/>
            <a:ext cx="83127" cy="218236"/>
          </a:xfrm>
          <a:prstGeom prst="rect">
            <a:avLst/>
          </a:prstGeom>
        </p:spPr>
        <p:txBody>
          <a:bodyPr vert="horz" wrap="square" lIns="0" tIns="8226" rIns="0" bIns="0" rtlCol="0">
            <a:spAutoFit/>
          </a:bodyPr>
          <a:lstStyle/>
          <a:p>
            <a:pPr marL="8659">
              <a:spcBef>
                <a:spcPts val="65"/>
              </a:spcBef>
            </a:pPr>
            <a:r>
              <a:rPr sz="1364" spc="-34" dirty="0">
                <a:latin typeface="Cambria Math"/>
                <a:cs typeface="Cambria Math"/>
              </a:rPr>
              <a:t>𝐼</a:t>
            </a:r>
            <a:endParaRPr sz="1364">
              <a:latin typeface="Cambria Math"/>
              <a:cs typeface="Cambria Math"/>
            </a:endParaRPr>
          </a:p>
        </p:txBody>
      </p:sp>
      <p:sp>
        <p:nvSpPr>
          <p:cNvPr id="113" name="object 24"/>
          <p:cNvSpPr txBox="1"/>
          <p:nvPr/>
        </p:nvSpPr>
        <p:spPr>
          <a:xfrm>
            <a:off x="3531418" y="2457934"/>
            <a:ext cx="562408" cy="147815"/>
          </a:xfrm>
          <a:prstGeom prst="rect">
            <a:avLst/>
          </a:prstGeom>
        </p:spPr>
        <p:txBody>
          <a:bodyPr vert="horz" wrap="square" lIns="0" tIns="11257" rIns="0" bIns="0" rtlCol="0">
            <a:spAutoFit/>
          </a:bodyPr>
          <a:lstStyle/>
          <a:p>
            <a:pPr marL="25977">
              <a:spcBef>
                <a:spcPts val="89"/>
              </a:spcBef>
            </a:pPr>
            <a:r>
              <a:rPr sz="886" dirty="0">
                <a:latin typeface="Cambria Math"/>
                <a:cs typeface="Cambria Math"/>
              </a:rPr>
              <a:t>𝑙𝑜𝑎𝑑</a:t>
            </a:r>
            <a:r>
              <a:rPr sz="1330" baseline="-21367" dirty="0">
                <a:latin typeface="Cambria Math"/>
                <a:cs typeface="Cambria Math"/>
              </a:rPr>
              <a:t>,</a:t>
            </a:r>
            <a:r>
              <a:rPr sz="1330" spc="179" baseline="-21367" dirty="0">
                <a:latin typeface="Cambria Math"/>
                <a:cs typeface="Cambria Math"/>
              </a:rPr>
              <a:t> </a:t>
            </a:r>
            <a:r>
              <a:rPr sz="886" spc="-17" dirty="0">
                <a:latin typeface="Cambria Math"/>
                <a:cs typeface="Cambria Math"/>
              </a:rPr>
              <a:t>𝑚𝑎𝑥</a:t>
            </a:r>
            <a:endParaRPr sz="886">
              <a:latin typeface="Cambria Math"/>
              <a:cs typeface="Cambria Math"/>
            </a:endParaRPr>
          </a:p>
        </p:txBody>
      </p:sp>
      <p:sp>
        <p:nvSpPr>
          <p:cNvPr id="114" name="object 25"/>
          <p:cNvSpPr txBox="1"/>
          <p:nvPr/>
        </p:nvSpPr>
        <p:spPr>
          <a:xfrm>
            <a:off x="4355590" y="2457934"/>
            <a:ext cx="83560" cy="147686"/>
          </a:xfrm>
          <a:prstGeom prst="rect">
            <a:avLst/>
          </a:prstGeom>
        </p:spPr>
        <p:txBody>
          <a:bodyPr vert="horz" wrap="square" lIns="0" tIns="11257" rIns="0" bIns="0" rtlCol="0">
            <a:spAutoFit/>
          </a:bodyPr>
          <a:lstStyle/>
          <a:p>
            <a:pPr marL="8659">
              <a:spcBef>
                <a:spcPts val="89"/>
              </a:spcBef>
            </a:pPr>
            <a:r>
              <a:rPr sz="886" spc="-34" dirty="0">
                <a:latin typeface="Cambria Math"/>
                <a:cs typeface="Cambria Math"/>
              </a:rPr>
              <a:t>𝑢</a:t>
            </a:r>
            <a:endParaRPr sz="886">
              <a:latin typeface="Cambria Math"/>
              <a:cs typeface="Cambria Math"/>
            </a:endParaRPr>
          </a:p>
        </p:txBody>
      </p:sp>
      <p:sp>
        <p:nvSpPr>
          <p:cNvPr id="115" name="object 26"/>
          <p:cNvSpPr txBox="1"/>
          <p:nvPr/>
        </p:nvSpPr>
        <p:spPr>
          <a:xfrm>
            <a:off x="4094605" y="2357661"/>
            <a:ext cx="1333066" cy="218236"/>
          </a:xfrm>
          <a:prstGeom prst="rect">
            <a:avLst/>
          </a:prstGeom>
        </p:spPr>
        <p:txBody>
          <a:bodyPr vert="horz" wrap="square" lIns="0" tIns="8226" rIns="0" bIns="0" rtlCol="0">
            <a:spAutoFit/>
          </a:bodyPr>
          <a:lstStyle/>
          <a:p>
            <a:pPr marL="25977">
              <a:spcBef>
                <a:spcPts val="65"/>
              </a:spcBef>
            </a:pPr>
            <a:r>
              <a:rPr sz="1364" dirty="0">
                <a:latin typeface="Cambria Math"/>
                <a:cs typeface="Cambria Math"/>
              </a:rPr>
              <a:t>=</a:t>
            </a:r>
            <a:r>
              <a:rPr sz="1364" spc="72" dirty="0">
                <a:latin typeface="Cambria Math"/>
                <a:cs typeface="Cambria Math"/>
              </a:rPr>
              <a:t> </a:t>
            </a:r>
            <a:r>
              <a:rPr sz="1364" dirty="0">
                <a:latin typeface="Cambria Math"/>
                <a:cs typeface="Cambria Math"/>
              </a:rPr>
              <a:t>𝐼</a:t>
            </a:r>
            <a:r>
              <a:rPr sz="1364" spc="242" dirty="0">
                <a:latin typeface="Cambria Math"/>
                <a:cs typeface="Cambria Math"/>
              </a:rPr>
              <a:t> </a:t>
            </a:r>
            <a:r>
              <a:rPr sz="1364" dirty="0" smtClean="0">
                <a:latin typeface="Cambria Math"/>
                <a:cs typeface="Cambria Math"/>
              </a:rPr>
              <a:t> </a:t>
            </a:r>
            <a:r>
              <a:rPr sz="1364" spc="44" dirty="0" smtClean="0">
                <a:latin typeface="Cambria Math"/>
                <a:cs typeface="Cambria Math"/>
              </a:rPr>
              <a:t>(</a:t>
            </a:r>
            <a:r>
              <a:rPr sz="1364" spc="44" dirty="0">
                <a:latin typeface="Cambria Math"/>
                <a:cs typeface="Cambria Math"/>
              </a:rPr>
              <a:t>2</a:t>
            </a:r>
            <a:r>
              <a:rPr sz="1483" spc="66" baseline="28735" dirty="0">
                <a:latin typeface="Cambria Math"/>
                <a:cs typeface="Cambria Math"/>
              </a:rPr>
              <a:t>𝑁</a:t>
            </a:r>
            <a:r>
              <a:rPr sz="1227" spc="66" baseline="20833" dirty="0">
                <a:latin typeface="Cambria Math"/>
                <a:cs typeface="Cambria Math"/>
              </a:rPr>
              <a:t>𝐷AC</a:t>
            </a:r>
            <a:r>
              <a:rPr sz="1227" spc="312" baseline="20833" dirty="0">
                <a:latin typeface="Cambria Math"/>
                <a:cs typeface="Cambria Math"/>
              </a:rPr>
              <a:t> </a:t>
            </a:r>
            <a:r>
              <a:rPr sz="1364" dirty="0">
                <a:latin typeface="Cambria Math"/>
                <a:cs typeface="Cambria Math"/>
              </a:rPr>
              <a:t>−</a:t>
            </a:r>
            <a:r>
              <a:rPr sz="1364" spc="3" dirty="0">
                <a:latin typeface="Cambria Math"/>
                <a:cs typeface="Cambria Math"/>
              </a:rPr>
              <a:t> </a:t>
            </a:r>
            <a:r>
              <a:rPr sz="1364" spc="-17" dirty="0">
                <a:latin typeface="Cambria Math"/>
                <a:cs typeface="Cambria Math"/>
              </a:rPr>
              <a:t>1)</a:t>
            </a:r>
            <a:endParaRPr sz="1364" dirty="0">
              <a:latin typeface="Cambria Math"/>
              <a:cs typeface="Cambria Math"/>
            </a:endParaRPr>
          </a:p>
        </p:txBody>
      </p:sp>
      <p:pic>
        <p:nvPicPr>
          <p:cNvPr id="116" name="object 27"/>
          <p:cNvPicPr/>
          <p:nvPr/>
        </p:nvPicPr>
        <p:blipFill>
          <a:blip r:embed="rId2" cstate="print"/>
          <a:stretch>
            <a:fillRect/>
          </a:stretch>
        </p:blipFill>
        <p:spPr>
          <a:xfrm>
            <a:off x="5589270" y="2440478"/>
            <a:ext cx="168332" cy="120014"/>
          </a:xfrm>
          <a:prstGeom prst="rect">
            <a:avLst/>
          </a:prstGeom>
        </p:spPr>
      </p:pic>
      <p:pic>
        <p:nvPicPr>
          <p:cNvPr id="117" name="Picture 116"/>
          <p:cNvPicPr>
            <a:picLocks noChangeAspect="1"/>
          </p:cNvPicPr>
          <p:nvPr/>
        </p:nvPicPr>
        <p:blipFill>
          <a:blip r:embed="rId3"/>
          <a:stretch>
            <a:fillRect/>
          </a:stretch>
        </p:blipFill>
        <p:spPr>
          <a:xfrm>
            <a:off x="6378534" y="1590040"/>
            <a:ext cx="1222416" cy="635656"/>
          </a:xfrm>
          <a:prstGeom prst="rect">
            <a:avLst/>
          </a:prstGeom>
        </p:spPr>
      </p:pic>
    </p:spTree>
    <p:extLst>
      <p:ext uri="{BB962C8B-B14F-4D97-AF65-F5344CB8AC3E}">
        <p14:creationId xmlns:p14="http://schemas.microsoft.com/office/powerpoint/2010/main" val="10144967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98148" y="237085"/>
            <a:ext cx="7222634" cy="531526"/>
          </a:xfrm>
          <a:prstGeom prst="rect">
            <a:avLst/>
          </a:prstGeom>
        </p:spPr>
        <p:txBody>
          <a:bodyPr vert="horz" wrap="square" lIns="0" tIns="8226" rIns="0" bIns="0" rtlCol="0">
            <a:spAutoFit/>
          </a:bodyPr>
          <a:lstStyle/>
          <a:p>
            <a:pPr marL="8659">
              <a:spcBef>
                <a:spcPts val="65"/>
              </a:spcBef>
            </a:pPr>
            <a:r>
              <a:rPr dirty="0"/>
              <a:t>Clock</a:t>
            </a:r>
            <a:r>
              <a:rPr spc="-48" dirty="0"/>
              <a:t> </a:t>
            </a:r>
            <a:r>
              <a:rPr dirty="0"/>
              <a:t>Frequency</a:t>
            </a:r>
            <a:r>
              <a:rPr spc="-44" dirty="0"/>
              <a:t> </a:t>
            </a:r>
            <a:r>
              <a:rPr spc="-7" dirty="0"/>
              <a:t>(f</a:t>
            </a:r>
            <a:r>
              <a:rPr sz="2557" spc="-10" baseline="-21111" dirty="0"/>
              <a:t>clk</a:t>
            </a:r>
            <a:r>
              <a:rPr sz="2591" spc="-7" dirty="0"/>
              <a:t>)</a:t>
            </a:r>
            <a:endParaRPr sz="2591"/>
          </a:p>
        </p:txBody>
      </p:sp>
      <p:sp>
        <p:nvSpPr>
          <p:cNvPr id="3" name="object 3"/>
          <p:cNvSpPr txBox="1"/>
          <p:nvPr/>
        </p:nvSpPr>
        <p:spPr>
          <a:xfrm>
            <a:off x="2161021" y="3666690"/>
            <a:ext cx="6423314" cy="757445"/>
          </a:xfrm>
          <a:prstGeom prst="rect">
            <a:avLst/>
          </a:prstGeom>
        </p:spPr>
        <p:txBody>
          <a:bodyPr vert="horz" wrap="square" lIns="0" tIns="50223" rIns="0" bIns="0" rtlCol="0">
            <a:spAutoFit/>
          </a:bodyPr>
          <a:lstStyle/>
          <a:p>
            <a:pPr marL="346354" indent="-320378">
              <a:spcBef>
                <a:spcPts val="395"/>
              </a:spcBef>
              <a:buClr>
                <a:srgbClr val="CC0000"/>
              </a:buClr>
              <a:buFont typeface="Wingdings"/>
              <a:buChar char=""/>
              <a:tabLst>
                <a:tab pos="346354" algn="l"/>
              </a:tabLst>
            </a:pPr>
            <a:r>
              <a:rPr sz="1364" dirty="0">
                <a:latin typeface="Verdana"/>
                <a:cs typeface="Verdana"/>
              </a:rPr>
              <a:t>Clock</a:t>
            </a:r>
            <a:r>
              <a:rPr sz="1364" spc="-7" dirty="0">
                <a:latin typeface="Verdana"/>
                <a:cs typeface="Verdana"/>
              </a:rPr>
              <a:t> </a:t>
            </a:r>
            <a:r>
              <a:rPr sz="1364" dirty="0">
                <a:latin typeface="Verdana"/>
                <a:cs typeface="Verdana"/>
              </a:rPr>
              <a:t>for</a:t>
            </a:r>
            <a:r>
              <a:rPr sz="1364" spc="-17" dirty="0">
                <a:latin typeface="Verdana"/>
                <a:cs typeface="Verdana"/>
              </a:rPr>
              <a:t> </a:t>
            </a:r>
            <a:r>
              <a:rPr sz="1364" dirty="0">
                <a:latin typeface="Verdana"/>
                <a:cs typeface="Verdana"/>
              </a:rPr>
              <a:t>a</a:t>
            </a:r>
            <a:r>
              <a:rPr sz="1364" spc="-17" dirty="0">
                <a:latin typeface="Verdana"/>
                <a:cs typeface="Verdana"/>
              </a:rPr>
              <a:t> </a:t>
            </a:r>
            <a:r>
              <a:rPr sz="1364" dirty="0">
                <a:latin typeface="Verdana"/>
                <a:cs typeface="Verdana"/>
              </a:rPr>
              <a:t>synchronous</a:t>
            </a:r>
            <a:r>
              <a:rPr sz="1364" spc="-24" dirty="0">
                <a:latin typeface="Verdana"/>
                <a:cs typeface="Verdana"/>
              </a:rPr>
              <a:t> </a:t>
            </a:r>
            <a:r>
              <a:rPr sz="1364" dirty="0">
                <a:latin typeface="Verdana"/>
                <a:cs typeface="Verdana"/>
              </a:rPr>
              <a:t>ADC</a:t>
            </a:r>
            <a:r>
              <a:rPr sz="1364" spc="-17" dirty="0">
                <a:latin typeface="Verdana"/>
                <a:cs typeface="Verdana"/>
              </a:rPr>
              <a:t> </a:t>
            </a:r>
            <a:r>
              <a:rPr sz="1364" dirty="0">
                <a:latin typeface="Verdana"/>
                <a:cs typeface="Verdana"/>
              </a:rPr>
              <a:t>and</a:t>
            </a:r>
            <a:r>
              <a:rPr sz="1364" spc="-14" dirty="0">
                <a:latin typeface="Verdana"/>
                <a:cs typeface="Verdana"/>
              </a:rPr>
              <a:t> </a:t>
            </a:r>
            <a:r>
              <a:rPr sz="1364" dirty="0">
                <a:latin typeface="Verdana"/>
                <a:cs typeface="Verdana"/>
              </a:rPr>
              <a:t>a</a:t>
            </a:r>
            <a:r>
              <a:rPr sz="1364" spc="-14" dirty="0">
                <a:latin typeface="Verdana"/>
                <a:cs typeface="Verdana"/>
              </a:rPr>
              <a:t> </a:t>
            </a:r>
            <a:r>
              <a:rPr sz="1364" spc="-7" dirty="0">
                <a:latin typeface="Verdana"/>
                <a:cs typeface="Verdana"/>
              </a:rPr>
              <a:t>controller</a:t>
            </a:r>
            <a:endParaRPr sz="1364">
              <a:latin typeface="Verdana"/>
              <a:cs typeface="Verdana"/>
            </a:endParaRPr>
          </a:p>
          <a:p>
            <a:pPr marL="346354" indent="-320378">
              <a:spcBef>
                <a:spcPts val="324"/>
              </a:spcBef>
              <a:buClr>
                <a:srgbClr val="CC0000"/>
              </a:buClr>
              <a:buFont typeface="Wingdings"/>
              <a:buChar char=""/>
              <a:tabLst>
                <a:tab pos="346354" algn="l"/>
              </a:tabLst>
            </a:pPr>
            <a:r>
              <a:rPr sz="1364" dirty="0">
                <a:latin typeface="Verdana"/>
                <a:cs typeface="Verdana"/>
              </a:rPr>
              <a:t>High</a:t>
            </a:r>
            <a:r>
              <a:rPr sz="1364" spc="-3" dirty="0">
                <a:latin typeface="Verdana"/>
                <a:cs typeface="Verdana"/>
              </a:rPr>
              <a:t> </a:t>
            </a:r>
            <a:r>
              <a:rPr sz="1364" dirty="0">
                <a:latin typeface="Verdana"/>
                <a:cs typeface="Verdana"/>
              </a:rPr>
              <a:t>clock</a:t>
            </a:r>
            <a:r>
              <a:rPr sz="1364" spc="-3" dirty="0">
                <a:latin typeface="Verdana"/>
                <a:cs typeface="Verdana"/>
              </a:rPr>
              <a:t> </a:t>
            </a:r>
            <a:r>
              <a:rPr sz="1364" dirty="0">
                <a:latin typeface="Verdana"/>
                <a:cs typeface="Verdana"/>
              </a:rPr>
              <a:t>frequency</a:t>
            </a:r>
            <a:r>
              <a:rPr sz="1364" spc="-7" dirty="0">
                <a:latin typeface="Verdana"/>
                <a:cs typeface="Verdana"/>
              </a:rPr>
              <a:t> </a:t>
            </a:r>
            <a:r>
              <a:rPr sz="1364" dirty="0">
                <a:latin typeface="Verdana"/>
                <a:cs typeface="Verdana"/>
              </a:rPr>
              <a:t>(f</a:t>
            </a:r>
            <a:r>
              <a:rPr sz="1330" baseline="-21367" dirty="0">
                <a:latin typeface="Verdana"/>
                <a:cs typeface="Verdana"/>
              </a:rPr>
              <a:t>clk</a:t>
            </a:r>
            <a:r>
              <a:rPr sz="1364" dirty="0">
                <a:latin typeface="Verdana"/>
                <a:cs typeface="Verdana"/>
              </a:rPr>
              <a:t>)</a:t>
            </a:r>
            <a:r>
              <a:rPr sz="1364" spc="-3" dirty="0">
                <a:latin typeface="Verdana"/>
                <a:cs typeface="Verdana"/>
              </a:rPr>
              <a:t> </a:t>
            </a:r>
            <a:r>
              <a:rPr sz="1364" dirty="0">
                <a:latin typeface="Verdana"/>
                <a:cs typeface="Verdana"/>
              </a:rPr>
              <a:t>improves</a:t>
            </a:r>
            <a:r>
              <a:rPr sz="1364" spc="3" dirty="0">
                <a:latin typeface="Verdana"/>
                <a:cs typeface="Verdana"/>
              </a:rPr>
              <a:t> </a:t>
            </a:r>
            <a:r>
              <a:rPr sz="1364" dirty="0">
                <a:latin typeface="Verdana"/>
                <a:cs typeface="Verdana"/>
              </a:rPr>
              <a:t>t</a:t>
            </a:r>
            <a:r>
              <a:rPr sz="1330" baseline="-21367" dirty="0">
                <a:latin typeface="Verdana"/>
                <a:cs typeface="Verdana"/>
              </a:rPr>
              <a:t>response</a:t>
            </a:r>
            <a:r>
              <a:rPr sz="1364" dirty="0">
                <a:latin typeface="Verdana"/>
                <a:cs typeface="Verdana"/>
              </a:rPr>
              <a:t>,</a:t>
            </a:r>
            <a:r>
              <a:rPr sz="1364" spc="10" dirty="0">
                <a:latin typeface="Verdana"/>
                <a:cs typeface="Verdana"/>
              </a:rPr>
              <a:t> </a:t>
            </a:r>
            <a:r>
              <a:rPr sz="1364" dirty="0">
                <a:latin typeface="Verdana"/>
                <a:cs typeface="Verdana"/>
              </a:rPr>
              <a:t>t</a:t>
            </a:r>
            <a:r>
              <a:rPr sz="1330" baseline="-21367" dirty="0">
                <a:latin typeface="Verdana"/>
                <a:cs typeface="Verdana"/>
              </a:rPr>
              <a:t>settle</a:t>
            </a:r>
            <a:r>
              <a:rPr sz="1364" dirty="0">
                <a:latin typeface="Verdana"/>
                <a:cs typeface="Verdana"/>
              </a:rPr>
              <a:t>,</a:t>
            </a:r>
            <a:r>
              <a:rPr sz="1364" spc="10" dirty="0">
                <a:latin typeface="Verdana"/>
                <a:cs typeface="Verdana"/>
              </a:rPr>
              <a:t> </a:t>
            </a:r>
            <a:r>
              <a:rPr sz="1364" dirty="0">
                <a:latin typeface="Verdana"/>
                <a:cs typeface="Verdana"/>
              </a:rPr>
              <a:t>V</a:t>
            </a:r>
            <a:r>
              <a:rPr sz="1330" baseline="-21367" dirty="0">
                <a:latin typeface="Verdana"/>
                <a:cs typeface="Verdana"/>
              </a:rPr>
              <a:t>droop</a:t>
            </a:r>
            <a:r>
              <a:rPr sz="1364" dirty="0">
                <a:latin typeface="Verdana"/>
                <a:cs typeface="Verdana"/>
              </a:rPr>
              <a:t>,</a:t>
            </a:r>
            <a:r>
              <a:rPr sz="1364" spc="-14" dirty="0">
                <a:latin typeface="Verdana"/>
                <a:cs typeface="Verdana"/>
              </a:rPr>
              <a:t> </a:t>
            </a:r>
            <a:r>
              <a:rPr sz="1364" dirty="0">
                <a:latin typeface="Verdana"/>
                <a:cs typeface="Verdana"/>
              </a:rPr>
              <a:t>and</a:t>
            </a:r>
            <a:r>
              <a:rPr sz="1364" spc="-7" dirty="0">
                <a:latin typeface="Verdana"/>
                <a:cs typeface="Verdana"/>
              </a:rPr>
              <a:t> V</a:t>
            </a:r>
            <a:r>
              <a:rPr sz="1330" spc="-10" baseline="-21367" dirty="0">
                <a:latin typeface="Verdana"/>
                <a:cs typeface="Verdana"/>
              </a:rPr>
              <a:t>overshoot</a:t>
            </a:r>
            <a:endParaRPr sz="1330" baseline="-21367">
              <a:latin typeface="Verdana"/>
              <a:cs typeface="Verdana"/>
            </a:endParaRPr>
          </a:p>
          <a:p>
            <a:pPr marL="346354" indent="-320378">
              <a:spcBef>
                <a:spcPts val="330"/>
              </a:spcBef>
              <a:buClr>
                <a:srgbClr val="CC0000"/>
              </a:buClr>
              <a:buFont typeface="Wingdings"/>
              <a:buChar char=""/>
              <a:tabLst>
                <a:tab pos="346354" algn="l"/>
              </a:tabLst>
            </a:pPr>
            <a:r>
              <a:rPr sz="1364" dirty="0">
                <a:latin typeface="Verdana"/>
                <a:cs typeface="Verdana"/>
              </a:rPr>
              <a:t>High</a:t>
            </a:r>
            <a:r>
              <a:rPr sz="1364" spc="-20" dirty="0">
                <a:latin typeface="Verdana"/>
                <a:cs typeface="Verdana"/>
              </a:rPr>
              <a:t> </a:t>
            </a:r>
            <a:r>
              <a:rPr sz="1364" dirty="0">
                <a:latin typeface="Verdana"/>
                <a:cs typeface="Verdana"/>
              </a:rPr>
              <a:t>f</a:t>
            </a:r>
            <a:r>
              <a:rPr sz="1330" baseline="-21367" dirty="0">
                <a:latin typeface="Verdana"/>
                <a:cs typeface="Verdana"/>
              </a:rPr>
              <a:t>clk</a:t>
            </a:r>
            <a:r>
              <a:rPr sz="1330" spc="220" baseline="-21367" dirty="0">
                <a:latin typeface="Verdana"/>
                <a:cs typeface="Verdana"/>
              </a:rPr>
              <a:t> </a:t>
            </a:r>
            <a:r>
              <a:rPr sz="1364" dirty="0">
                <a:latin typeface="Verdana"/>
                <a:cs typeface="Verdana"/>
              </a:rPr>
              <a:t>increases</a:t>
            </a:r>
            <a:r>
              <a:rPr sz="1364" spc="-31" dirty="0">
                <a:latin typeface="Verdana"/>
                <a:cs typeface="Verdana"/>
              </a:rPr>
              <a:t> </a:t>
            </a:r>
            <a:r>
              <a:rPr sz="1364" dirty="0">
                <a:latin typeface="Verdana"/>
                <a:cs typeface="Verdana"/>
              </a:rPr>
              <a:t>I</a:t>
            </a:r>
            <a:r>
              <a:rPr sz="1330" baseline="-21367" dirty="0">
                <a:latin typeface="Verdana"/>
                <a:cs typeface="Verdana"/>
              </a:rPr>
              <a:t>q</a:t>
            </a:r>
            <a:r>
              <a:rPr sz="1364" dirty="0">
                <a:latin typeface="Verdana"/>
                <a:cs typeface="Verdana"/>
              </a:rPr>
              <a:t>,</a:t>
            </a:r>
            <a:r>
              <a:rPr sz="1364" spc="-31" dirty="0">
                <a:latin typeface="Verdana"/>
                <a:cs typeface="Verdana"/>
              </a:rPr>
              <a:t> </a:t>
            </a:r>
            <a:r>
              <a:rPr sz="1364" dirty="0">
                <a:latin typeface="Verdana"/>
                <a:cs typeface="Verdana"/>
              </a:rPr>
              <a:t>thus</a:t>
            </a:r>
            <a:r>
              <a:rPr sz="1364" spc="-31" dirty="0">
                <a:latin typeface="Verdana"/>
                <a:cs typeface="Verdana"/>
              </a:rPr>
              <a:t> </a:t>
            </a:r>
            <a:r>
              <a:rPr sz="1364" dirty="0">
                <a:latin typeface="Verdana"/>
                <a:cs typeface="Verdana"/>
              </a:rPr>
              <a:t>degrading</a:t>
            </a:r>
            <a:r>
              <a:rPr sz="1364" spc="-3" dirty="0">
                <a:latin typeface="Verdana"/>
                <a:cs typeface="Verdana"/>
              </a:rPr>
              <a:t> </a:t>
            </a:r>
            <a:r>
              <a:rPr sz="1364" spc="-17" dirty="0">
                <a:latin typeface="Verdana"/>
                <a:cs typeface="Verdana"/>
              </a:rPr>
              <a:t>CE</a:t>
            </a:r>
            <a:endParaRPr sz="1364">
              <a:latin typeface="Verdana"/>
              <a:cs typeface="Verdana"/>
            </a:endParaRPr>
          </a:p>
        </p:txBody>
      </p:sp>
      <p:grpSp>
        <p:nvGrpSpPr>
          <p:cNvPr id="4" name="object 4"/>
          <p:cNvGrpSpPr/>
          <p:nvPr/>
        </p:nvGrpSpPr>
        <p:grpSpPr>
          <a:xfrm>
            <a:off x="6026092" y="1510751"/>
            <a:ext cx="276225" cy="447242"/>
            <a:chOff x="6477761" y="1754758"/>
            <a:chExt cx="405130" cy="655955"/>
          </a:xfrm>
        </p:grpSpPr>
        <p:sp>
          <p:nvSpPr>
            <p:cNvPr id="5" name="object 5"/>
            <p:cNvSpPr/>
            <p:nvPr/>
          </p:nvSpPr>
          <p:spPr>
            <a:xfrm>
              <a:off x="6749795" y="1963673"/>
              <a:ext cx="118110" cy="234950"/>
            </a:xfrm>
            <a:custGeom>
              <a:avLst/>
              <a:gdLst/>
              <a:ahLst/>
              <a:cxnLst/>
              <a:rect l="l" t="t" r="r" b="b"/>
              <a:pathLst>
                <a:path w="118109" h="234950">
                  <a:moveTo>
                    <a:pt x="0" y="234696"/>
                  </a:moveTo>
                  <a:lnTo>
                    <a:pt x="0" y="0"/>
                  </a:lnTo>
                </a:path>
                <a:path w="118109" h="234950">
                  <a:moveTo>
                    <a:pt x="0" y="234696"/>
                  </a:moveTo>
                  <a:lnTo>
                    <a:pt x="118110" y="234696"/>
                  </a:lnTo>
                </a:path>
              </a:pathLst>
            </a:custGeom>
            <a:ln w="28956">
              <a:solidFill>
                <a:srgbClr val="000000"/>
              </a:solidFill>
            </a:ln>
          </p:spPr>
          <p:txBody>
            <a:bodyPr wrap="square" lIns="0" tIns="0" rIns="0" bIns="0" rtlCol="0"/>
            <a:lstStyle/>
            <a:p>
              <a:endParaRPr sz="1227"/>
            </a:p>
          </p:txBody>
        </p:sp>
        <p:sp>
          <p:nvSpPr>
            <p:cNvPr id="6" name="object 6"/>
            <p:cNvSpPr/>
            <p:nvPr/>
          </p:nvSpPr>
          <p:spPr>
            <a:xfrm>
              <a:off x="6749795" y="1963673"/>
              <a:ext cx="118110" cy="0"/>
            </a:xfrm>
            <a:custGeom>
              <a:avLst/>
              <a:gdLst/>
              <a:ahLst/>
              <a:cxnLst/>
              <a:rect l="l" t="t" r="r" b="b"/>
              <a:pathLst>
                <a:path w="118109">
                  <a:moveTo>
                    <a:pt x="0" y="0"/>
                  </a:moveTo>
                  <a:lnTo>
                    <a:pt x="118110" y="0"/>
                  </a:lnTo>
                </a:path>
              </a:pathLst>
            </a:custGeom>
            <a:ln w="28956">
              <a:solidFill>
                <a:srgbClr val="000000"/>
              </a:solidFill>
            </a:ln>
          </p:spPr>
          <p:txBody>
            <a:bodyPr wrap="square" lIns="0" tIns="0" rIns="0" bIns="0" rtlCol="0"/>
            <a:lstStyle/>
            <a:p>
              <a:endParaRPr sz="1227"/>
            </a:p>
          </p:txBody>
        </p:sp>
        <p:sp>
          <p:nvSpPr>
            <p:cNvPr id="7" name="object 7"/>
            <p:cNvSpPr/>
            <p:nvPr/>
          </p:nvSpPr>
          <p:spPr>
            <a:xfrm>
              <a:off x="6867905" y="1769363"/>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sp>
          <p:nvSpPr>
            <p:cNvPr id="8" name="object 8"/>
            <p:cNvSpPr/>
            <p:nvPr/>
          </p:nvSpPr>
          <p:spPr>
            <a:xfrm>
              <a:off x="6867905" y="2199893"/>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pic>
          <p:nvPicPr>
            <p:cNvPr id="9" name="object 9"/>
            <p:cNvPicPr/>
            <p:nvPr/>
          </p:nvPicPr>
          <p:blipFill>
            <a:blip r:embed="rId2" cstate="print"/>
            <a:stretch>
              <a:fillRect/>
            </a:stretch>
          </p:blipFill>
          <p:spPr>
            <a:xfrm>
              <a:off x="6477761" y="1967483"/>
              <a:ext cx="208787" cy="233934"/>
            </a:xfrm>
            <a:prstGeom prst="rect">
              <a:avLst/>
            </a:prstGeom>
          </p:spPr>
        </p:pic>
      </p:grpSp>
      <p:sp>
        <p:nvSpPr>
          <p:cNvPr id="10" name="object 10"/>
          <p:cNvSpPr txBox="1"/>
          <p:nvPr/>
        </p:nvSpPr>
        <p:spPr>
          <a:xfrm>
            <a:off x="6802018" y="1246074"/>
            <a:ext cx="253278" cy="197641"/>
          </a:xfrm>
          <a:prstGeom prst="rect">
            <a:avLst/>
          </a:prstGeom>
        </p:spPr>
        <p:txBody>
          <a:bodyPr vert="horz" wrap="square" lIns="0" tIns="8659" rIns="0" bIns="0" rtlCol="0">
            <a:spAutoFit/>
          </a:bodyPr>
          <a:lstStyle/>
          <a:p>
            <a:pPr marL="25977">
              <a:spcBef>
                <a:spcPts val="68"/>
              </a:spcBef>
            </a:pPr>
            <a:r>
              <a:rPr sz="1841" spc="-25" baseline="13888" dirty="0">
                <a:latin typeface="Verdana"/>
                <a:cs typeface="Verdana"/>
              </a:rPr>
              <a:t>V</a:t>
            </a:r>
            <a:r>
              <a:rPr sz="818" spc="-17" dirty="0">
                <a:latin typeface="Verdana"/>
                <a:cs typeface="Verdana"/>
              </a:rPr>
              <a:t>in</a:t>
            </a:r>
            <a:endParaRPr sz="818">
              <a:latin typeface="Verdana"/>
              <a:cs typeface="Verdana"/>
            </a:endParaRPr>
          </a:p>
        </p:txBody>
      </p:sp>
      <p:sp>
        <p:nvSpPr>
          <p:cNvPr id="11" name="object 11"/>
          <p:cNvSpPr txBox="1"/>
          <p:nvPr/>
        </p:nvSpPr>
        <p:spPr>
          <a:xfrm>
            <a:off x="4018814" y="1525431"/>
            <a:ext cx="301336" cy="197641"/>
          </a:xfrm>
          <a:prstGeom prst="rect">
            <a:avLst/>
          </a:prstGeom>
        </p:spPr>
        <p:txBody>
          <a:bodyPr vert="horz" wrap="square" lIns="0" tIns="8659" rIns="0" bIns="0" rtlCol="0">
            <a:spAutoFit/>
          </a:bodyPr>
          <a:lstStyle/>
          <a:p>
            <a:pPr marL="25977">
              <a:spcBef>
                <a:spcPts val="68"/>
              </a:spcBef>
            </a:pPr>
            <a:r>
              <a:rPr sz="1841" spc="-20" baseline="13888" dirty="0">
                <a:latin typeface="Verdana"/>
                <a:cs typeface="Verdana"/>
              </a:rPr>
              <a:t>V</a:t>
            </a:r>
            <a:r>
              <a:rPr sz="818" spc="-14" dirty="0">
                <a:latin typeface="Verdana"/>
                <a:cs typeface="Verdana"/>
              </a:rPr>
              <a:t>ref</a:t>
            </a:r>
            <a:endParaRPr sz="818">
              <a:latin typeface="Verdana"/>
              <a:cs typeface="Verdana"/>
            </a:endParaRPr>
          </a:p>
        </p:txBody>
      </p:sp>
      <p:grpSp>
        <p:nvGrpSpPr>
          <p:cNvPr id="12" name="object 12"/>
          <p:cNvGrpSpPr/>
          <p:nvPr/>
        </p:nvGrpSpPr>
        <p:grpSpPr>
          <a:xfrm>
            <a:off x="5607339" y="2603442"/>
            <a:ext cx="209983" cy="513917"/>
            <a:chOff x="5863590" y="3357371"/>
            <a:chExt cx="307975" cy="753745"/>
          </a:xfrm>
        </p:grpSpPr>
        <p:sp>
          <p:nvSpPr>
            <p:cNvPr id="13" name="object 13"/>
            <p:cNvSpPr/>
            <p:nvPr/>
          </p:nvSpPr>
          <p:spPr>
            <a:xfrm>
              <a:off x="6016752" y="3367277"/>
              <a:ext cx="0" cy="511809"/>
            </a:xfrm>
            <a:custGeom>
              <a:avLst/>
              <a:gdLst/>
              <a:ahLst/>
              <a:cxnLst/>
              <a:rect l="l" t="t" r="r" b="b"/>
              <a:pathLst>
                <a:path h="511810">
                  <a:moveTo>
                    <a:pt x="0" y="511302"/>
                  </a:moveTo>
                  <a:lnTo>
                    <a:pt x="0" y="0"/>
                  </a:lnTo>
                </a:path>
              </a:pathLst>
            </a:custGeom>
            <a:ln w="28956">
              <a:solidFill>
                <a:srgbClr val="000000"/>
              </a:solidFill>
            </a:ln>
          </p:spPr>
          <p:txBody>
            <a:bodyPr wrap="square" lIns="0" tIns="0" rIns="0" bIns="0" rtlCol="0"/>
            <a:lstStyle/>
            <a:p>
              <a:endParaRPr sz="1227"/>
            </a:p>
          </p:txBody>
        </p:sp>
        <p:sp>
          <p:nvSpPr>
            <p:cNvPr id="14" name="object 14"/>
            <p:cNvSpPr/>
            <p:nvPr/>
          </p:nvSpPr>
          <p:spPr>
            <a:xfrm>
              <a:off x="5863590" y="3371849"/>
              <a:ext cx="307975" cy="0"/>
            </a:xfrm>
            <a:custGeom>
              <a:avLst/>
              <a:gdLst/>
              <a:ahLst/>
              <a:cxnLst/>
              <a:rect l="l" t="t" r="r" b="b"/>
              <a:pathLst>
                <a:path w="307975">
                  <a:moveTo>
                    <a:pt x="307848" y="0"/>
                  </a:moveTo>
                  <a:lnTo>
                    <a:pt x="0" y="0"/>
                  </a:lnTo>
                </a:path>
              </a:pathLst>
            </a:custGeom>
            <a:ln w="28956">
              <a:solidFill>
                <a:srgbClr val="000000"/>
              </a:solidFill>
            </a:ln>
          </p:spPr>
          <p:txBody>
            <a:bodyPr wrap="square" lIns="0" tIns="0" rIns="0" bIns="0" rtlCol="0"/>
            <a:lstStyle/>
            <a:p>
              <a:endParaRPr sz="1227"/>
            </a:p>
          </p:txBody>
        </p:sp>
        <p:sp>
          <p:nvSpPr>
            <p:cNvPr id="15" name="object 15"/>
            <p:cNvSpPr/>
            <p:nvPr/>
          </p:nvSpPr>
          <p:spPr>
            <a:xfrm>
              <a:off x="5899404" y="3996689"/>
              <a:ext cx="234950" cy="0"/>
            </a:xfrm>
            <a:custGeom>
              <a:avLst/>
              <a:gdLst/>
              <a:ahLst/>
              <a:cxnLst/>
              <a:rect l="l" t="t" r="r" b="b"/>
              <a:pathLst>
                <a:path w="234950">
                  <a:moveTo>
                    <a:pt x="0" y="0"/>
                  </a:moveTo>
                  <a:lnTo>
                    <a:pt x="234696" y="0"/>
                  </a:lnTo>
                </a:path>
              </a:pathLst>
            </a:custGeom>
            <a:ln w="28956">
              <a:solidFill>
                <a:srgbClr val="000000"/>
              </a:solidFill>
            </a:ln>
          </p:spPr>
          <p:txBody>
            <a:bodyPr wrap="square" lIns="0" tIns="0" rIns="0" bIns="0" rtlCol="0"/>
            <a:lstStyle/>
            <a:p>
              <a:endParaRPr sz="1227"/>
            </a:p>
          </p:txBody>
        </p:sp>
        <p:sp>
          <p:nvSpPr>
            <p:cNvPr id="16" name="object 16"/>
            <p:cNvSpPr/>
            <p:nvPr/>
          </p:nvSpPr>
          <p:spPr>
            <a:xfrm>
              <a:off x="5958078" y="4046981"/>
              <a:ext cx="116205" cy="0"/>
            </a:xfrm>
            <a:custGeom>
              <a:avLst/>
              <a:gdLst/>
              <a:ahLst/>
              <a:cxnLst/>
              <a:rect l="l" t="t" r="r" b="b"/>
              <a:pathLst>
                <a:path w="116204">
                  <a:moveTo>
                    <a:pt x="0" y="0"/>
                  </a:moveTo>
                  <a:lnTo>
                    <a:pt x="115823" y="0"/>
                  </a:lnTo>
                </a:path>
              </a:pathLst>
            </a:custGeom>
            <a:ln w="28956">
              <a:solidFill>
                <a:srgbClr val="000000"/>
              </a:solidFill>
            </a:ln>
          </p:spPr>
          <p:txBody>
            <a:bodyPr wrap="square" lIns="0" tIns="0" rIns="0" bIns="0" rtlCol="0"/>
            <a:lstStyle/>
            <a:p>
              <a:endParaRPr sz="1227"/>
            </a:p>
          </p:txBody>
        </p:sp>
        <p:sp>
          <p:nvSpPr>
            <p:cNvPr id="17" name="object 17"/>
            <p:cNvSpPr/>
            <p:nvPr/>
          </p:nvSpPr>
          <p:spPr>
            <a:xfrm>
              <a:off x="5985510" y="4096511"/>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endParaRPr sz="1227"/>
            </a:p>
          </p:txBody>
        </p:sp>
        <p:sp>
          <p:nvSpPr>
            <p:cNvPr id="18" name="object 18"/>
            <p:cNvSpPr/>
            <p:nvPr/>
          </p:nvSpPr>
          <p:spPr>
            <a:xfrm>
              <a:off x="6016752" y="3800855"/>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grpSp>
      <p:grpSp>
        <p:nvGrpSpPr>
          <p:cNvPr id="19" name="object 19"/>
          <p:cNvGrpSpPr/>
          <p:nvPr/>
        </p:nvGrpSpPr>
        <p:grpSpPr>
          <a:xfrm>
            <a:off x="4355147" y="1613622"/>
            <a:ext cx="2032289" cy="1504084"/>
            <a:chOff x="4027042" y="1905635"/>
            <a:chExt cx="2980690" cy="2205990"/>
          </a:xfrm>
        </p:grpSpPr>
        <p:sp>
          <p:nvSpPr>
            <p:cNvPr id="20" name="object 20"/>
            <p:cNvSpPr/>
            <p:nvPr/>
          </p:nvSpPr>
          <p:spPr>
            <a:xfrm>
              <a:off x="6017513" y="2081784"/>
              <a:ext cx="464820" cy="0"/>
            </a:xfrm>
            <a:custGeom>
              <a:avLst/>
              <a:gdLst/>
              <a:ahLst/>
              <a:cxnLst/>
              <a:rect l="l" t="t" r="r" b="b"/>
              <a:pathLst>
                <a:path w="464820">
                  <a:moveTo>
                    <a:pt x="0" y="0"/>
                  </a:moveTo>
                  <a:lnTo>
                    <a:pt x="464820" y="0"/>
                  </a:lnTo>
                </a:path>
              </a:pathLst>
            </a:custGeom>
            <a:ln w="28956">
              <a:solidFill>
                <a:srgbClr val="000000"/>
              </a:solidFill>
            </a:ln>
          </p:spPr>
          <p:txBody>
            <a:bodyPr wrap="square" lIns="0" tIns="0" rIns="0" bIns="0" rtlCol="0"/>
            <a:lstStyle/>
            <a:p>
              <a:endParaRPr sz="1227"/>
            </a:p>
          </p:txBody>
        </p:sp>
        <p:sp>
          <p:nvSpPr>
            <p:cNvPr id="21" name="object 21"/>
            <p:cNvSpPr/>
            <p:nvPr/>
          </p:nvSpPr>
          <p:spPr>
            <a:xfrm>
              <a:off x="4041647" y="1920240"/>
              <a:ext cx="438150" cy="3810"/>
            </a:xfrm>
            <a:custGeom>
              <a:avLst/>
              <a:gdLst/>
              <a:ahLst/>
              <a:cxnLst/>
              <a:rect l="l" t="t" r="r" b="b"/>
              <a:pathLst>
                <a:path w="438150" h="3810">
                  <a:moveTo>
                    <a:pt x="0" y="0"/>
                  </a:moveTo>
                  <a:lnTo>
                    <a:pt x="438150" y="3810"/>
                  </a:lnTo>
                </a:path>
              </a:pathLst>
            </a:custGeom>
            <a:ln w="28956">
              <a:solidFill>
                <a:srgbClr val="000000"/>
              </a:solidFill>
            </a:ln>
          </p:spPr>
          <p:txBody>
            <a:bodyPr wrap="square" lIns="0" tIns="0" rIns="0" bIns="0" rtlCol="0"/>
            <a:lstStyle/>
            <a:p>
              <a:endParaRPr sz="1227"/>
            </a:p>
          </p:txBody>
        </p:sp>
        <p:sp>
          <p:nvSpPr>
            <p:cNvPr id="22" name="object 22"/>
            <p:cNvSpPr/>
            <p:nvPr/>
          </p:nvSpPr>
          <p:spPr>
            <a:xfrm>
              <a:off x="6016751" y="2781300"/>
              <a:ext cx="0" cy="508634"/>
            </a:xfrm>
            <a:custGeom>
              <a:avLst/>
              <a:gdLst/>
              <a:ahLst/>
              <a:cxnLst/>
              <a:rect l="l" t="t" r="r" b="b"/>
              <a:pathLst>
                <a:path h="508635">
                  <a:moveTo>
                    <a:pt x="0" y="508253"/>
                  </a:moveTo>
                  <a:lnTo>
                    <a:pt x="0" y="0"/>
                  </a:lnTo>
                </a:path>
              </a:pathLst>
            </a:custGeom>
            <a:ln w="28956">
              <a:solidFill>
                <a:srgbClr val="000000"/>
              </a:solidFill>
            </a:ln>
          </p:spPr>
          <p:txBody>
            <a:bodyPr wrap="square" lIns="0" tIns="0" rIns="0" bIns="0" rtlCol="0"/>
            <a:lstStyle/>
            <a:p>
              <a:endParaRPr sz="1227"/>
            </a:p>
          </p:txBody>
        </p:sp>
        <p:pic>
          <p:nvPicPr>
            <p:cNvPr id="23" name="object 23"/>
            <p:cNvPicPr/>
            <p:nvPr/>
          </p:nvPicPr>
          <p:blipFill>
            <a:blip r:embed="rId3" cstate="print"/>
            <a:stretch>
              <a:fillRect/>
            </a:stretch>
          </p:blipFill>
          <p:spPr>
            <a:xfrm>
              <a:off x="5973312" y="2737866"/>
              <a:ext cx="86868" cy="86867"/>
            </a:xfrm>
            <a:prstGeom prst="rect">
              <a:avLst/>
            </a:prstGeom>
          </p:spPr>
        </p:pic>
        <p:sp>
          <p:nvSpPr>
            <p:cNvPr id="24" name="object 24"/>
            <p:cNvSpPr/>
            <p:nvPr/>
          </p:nvSpPr>
          <p:spPr>
            <a:xfrm>
              <a:off x="5863589" y="3291077"/>
              <a:ext cx="307975" cy="0"/>
            </a:xfrm>
            <a:custGeom>
              <a:avLst/>
              <a:gdLst/>
              <a:ahLst/>
              <a:cxnLst/>
              <a:rect l="l" t="t" r="r" b="b"/>
              <a:pathLst>
                <a:path w="307975">
                  <a:moveTo>
                    <a:pt x="307848" y="0"/>
                  </a:moveTo>
                  <a:lnTo>
                    <a:pt x="0" y="0"/>
                  </a:lnTo>
                </a:path>
              </a:pathLst>
            </a:custGeom>
            <a:ln w="28956">
              <a:solidFill>
                <a:srgbClr val="000000"/>
              </a:solidFill>
            </a:ln>
          </p:spPr>
          <p:txBody>
            <a:bodyPr wrap="square" lIns="0" tIns="0" rIns="0" bIns="0" rtlCol="0"/>
            <a:lstStyle/>
            <a:p>
              <a:endParaRPr sz="1227"/>
            </a:p>
          </p:txBody>
        </p:sp>
        <p:sp>
          <p:nvSpPr>
            <p:cNvPr id="25" name="object 25"/>
            <p:cNvSpPr/>
            <p:nvPr/>
          </p:nvSpPr>
          <p:spPr>
            <a:xfrm>
              <a:off x="6867905" y="2366772"/>
              <a:ext cx="5715" cy="741680"/>
            </a:xfrm>
            <a:custGeom>
              <a:avLst/>
              <a:gdLst/>
              <a:ahLst/>
              <a:cxnLst/>
              <a:rect l="l" t="t" r="r" b="b"/>
              <a:pathLst>
                <a:path w="5715" h="741680">
                  <a:moveTo>
                    <a:pt x="0" y="0"/>
                  </a:moveTo>
                  <a:lnTo>
                    <a:pt x="5334" y="741426"/>
                  </a:lnTo>
                </a:path>
              </a:pathLst>
            </a:custGeom>
            <a:ln w="28956">
              <a:solidFill>
                <a:srgbClr val="000000"/>
              </a:solidFill>
            </a:ln>
          </p:spPr>
          <p:txBody>
            <a:bodyPr wrap="square" lIns="0" tIns="0" rIns="0" bIns="0" rtlCol="0"/>
            <a:lstStyle/>
            <a:p>
              <a:endParaRPr sz="1227"/>
            </a:p>
          </p:txBody>
        </p:sp>
        <p:sp>
          <p:nvSpPr>
            <p:cNvPr id="26" name="object 26"/>
            <p:cNvSpPr/>
            <p:nvPr/>
          </p:nvSpPr>
          <p:spPr>
            <a:xfrm>
              <a:off x="4179569" y="2764536"/>
              <a:ext cx="2694940" cy="7620"/>
            </a:xfrm>
            <a:custGeom>
              <a:avLst/>
              <a:gdLst/>
              <a:ahLst/>
              <a:cxnLst/>
              <a:rect l="l" t="t" r="r" b="b"/>
              <a:pathLst>
                <a:path w="2694940" h="7619">
                  <a:moveTo>
                    <a:pt x="0" y="7620"/>
                  </a:moveTo>
                  <a:lnTo>
                    <a:pt x="2694432" y="0"/>
                  </a:lnTo>
                </a:path>
              </a:pathLst>
            </a:custGeom>
            <a:ln w="28956">
              <a:solidFill>
                <a:srgbClr val="000000"/>
              </a:solidFill>
            </a:ln>
          </p:spPr>
          <p:txBody>
            <a:bodyPr wrap="square" lIns="0" tIns="0" rIns="0" bIns="0" rtlCol="0"/>
            <a:lstStyle/>
            <a:p>
              <a:endParaRPr sz="1227"/>
            </a:p>
          </p:txBody>
        </p:sp>
        <p:pic>
          <p:nvPicPr>
            <p:cNvPr id="27" name="object 27"/>
            <p:cNvPicPr/>
            <p:nvPr/>
          </p:nvPicPr>
          <p:blipFill>
            <a:blip r:embed="rId4" cstate="print"/>
            <a:stretch>
              <a:fillRect/>
            </a:stretch>
          </p:blipFill>
          <p:spPr>
            <a:xfrm>
              <a:off x="6830567" y="2721098"/>
              <a:ext cx="86868" cy="86868"/>
            </a:xfrm>
            <a:prstGeom prst="rect">
              <a:avLst/>
            </a:prstGeom>
          </p:spPr>
        </p:pic>
        <p:sp>
          <p:nvSpPr>
            <p:cNvPr id="28" name="object 28"/>
            <p:cNvSpPr/>
            <p:nvPr/>
          </p:nvSpPr>
          <p:spPr>
            <a:xfrm>
              <a:off x="4187951" y="2072640"/>
              <a:ext cx="3810" cy="691515"/>
            </a:xfrm>
            <a:custGeom>
              <a:avLst/>
              <a:gdLst/>
              <a:ahLst/>
              <a:cxnLst/>
              <a:rect l="l" t="t" r="r" b="b"/>
              <a:pathLst>
                <a:path w="3810" h="691514">
                  <a:moveTo>
                    <a:pt x="0" y="0"/>
                  </a:moveTo>
                  <a:lnTo>
                    <a:pt x="3810" y="691134"/>
                  </a:lnTo>
                </a:path>
              </a:pathLst>
            </a:custGeom>
            <a:ln w="28955">
              <a:solidFill>
                <a:srgbClr val="000000"/>
              </a:solidFill>
            </a:ln>
          </p:spPr>
          <p:txBody>
            <a:bodyPr wrap="square" lIns="0" tIns="0" rIns="0" bIns="0" rtlCol="0"/>
            <a:lstStyle/>
            <a:p>
              <a:endParaRPr sz="1227"/>
            </a:p>
          </p:txBody>
        </p:sp>
        <p:sp>
          <p:nvSpPr>
            <p:cNvPr id="29" name="object 29"/>
            <p:cNvSpPr/>
            <p:nvPr/>
          </p:nvSpPr>
          <p:spPr>
            <a:xfrm>
              <a:off x="5020817" y="2072640"/>
              <a:ext cx="227965" cy="0"/>
            </a:xfrm>
            <a:custGeom>
              <a:avLst/>
              <a:gdLst/>
              <a:ahLst/>
              <a:cxnLst/>
              <a:rect l="l" t="t" r="r" b="b"/>
              <a:pathLst>
                <a:path w="227964">
                  <a:moveTo>
                    <a:pt x="0" y="0"/>
                  </a:moveTo>
                  <a:lnTo>
                    <a:pt x="227838" y="0"/>
                  </a:lnTo>
                </a:path>
              </a:pathLst>
            </a:custGeom>
            <a:ln w="28956">
              <a:solidFill>
                <a:srgbClr val="000000"/>
              </a:solidFill>
            </a:ln>
          </p:spPr>
          <p:txBody>
            <a:bodyPr wrap="square" lIns="0" tIns="0" rIns="0" bIns="0" rtlCol="0"/>
            <a:lstStyle/>
            <a:p>
              <a:endParaRPr sz="1227"/>
            </a:p>
          </p:txBody>
        </p:sp>
        <p:sp>
          <p:nvSpPr>
            <p:cNvPr id="30" name="object 30"/>
            <p:cNvSpPr/>
            <p:nvPr/>
          </p:nvSpPr>
          <p:spPr>
            <a:xfrm>
              <a:off x="6875525" y="3589020"/>
              <a:ext cx="0" cy="243204"/>
            </a:xfrm>
            <a:custGeom>
              <a:avLst/>
              <a:gdLst/>
              <a:ahLst/>
              <a:cxnLst/>
              <a:rect l="l" t="t" r="r" b="b"/>
              <a:pathLst>
                <a:path h="243204">
                  <a:moveTo>
                    <a:pt x="0" y="0"/>
                  </a:moveTo>
                  <a:lnTo>
                    <a:pt x="0" y="243078"/>
                  </a:lnTo>
                </a:path>
              </a:pathLst>
            </a:custGeom>
            <a:ln w="28956">
              <a:solidFill>
                <a:srgbClr val="000000"/>
              </a:solidFill>
            </a:ln>
          </p:spPr>
          <p:txBody>
            <a:bodyPr wrap="square" lIns="0" tIns="0" rIns="0" bIns="0" rtlCol="0"/>
            <a:lstStyle/>
            <a:p>
              <a:endParaRPr sz="1227"/>
            </a:p>
          </p:txBody>
        </p:sp>
        <p:sp>
          <p:nvSpPr>
            <p:cNvPr id="31" name="object 31"/>
            <p:cNvSpPr/>
            <p:nvPr/>
          </p:nvSpPr>
          <p:spPr>
            <a:xfrm>
              <a:off x="6758939" y="3996689"/>
              <a:ext cx="234315" cy="0"/>
            </a:xfrm>
            <a:custGeom>
              <a:avLst/>
              <a:gdLst/>
              <a:ahLst/>
              <a:cxnLst/>
              <a:rect l="l" t="t" r="r" b="b"/>
              <a:pathLst>
                <a:path w="234315">
                  <a:moveTo>
                    <a:pt x="0" y="0"/>
                  </a:moveTo>
                  <a:lnTo>
                    <a:pt x="233934" y="0"/>
                  </a:lnTo>
                </a:path>
              </a:pathLst>
            </a:custGeom>
            <a:ln w="28956">
              <a:solidFill>
                <a:srgbClr val="000000"/>
              </a:solidFill>
            </a:ln>
          </p:spPr>
          <p:txBody>
            <a:bodyPr wrap="square" lIns="0" tIns="0" rIns="0" bIns="0" rtlCol="0"/>
            <a:lstStyle/>
            <a:p>
              <a:endParaRPr sz="1227"/>
            </a:p>
          </p:txBody>
        </p:sp>
        <p:sp>
          <p:nvSpPr>
            <p:cNvPr id="32" name="object 32"/>
            <p:cNvSpPr/>
            <p:nvPr/>
          </p:nvSpPr>
          <p:spPr>
            <a:xfrm>
              <a:off x="6817613" y="4046982"/>
              <a:ext cx="115570" cy="0"/>
            </a:xfrm>
            <a:custGeom>
              <a:avLst/>
              <a:gdLst/>
              <a:ahLst/>
              <a:cxnLst/>
              <a:rect l="l" t="t" r="r" b="b"/>
              <a:pathLst>
                <a:path w="115570">
                  <a:moveTo>
                    <a:pt x="0" y="0"/>
                  </a:moveTo>
                  <a:lnTo>
                    <a:pt x="115062" y="0"/>
                  </a:lnTo>
                </a:path>
              </a:pathLst>
            </a:custGeom>
            <a:ln w="28956">
              <a:solidFill>
                <a:srgbClr val="000000"/>
              </a:solidFill>
            </a:ln>
          </p:spPr>
          <p:txBody>
            <a:bodyPr wrap="square" lIns="0" tIns="0" rIns="0" bIns="0" rtlCol="0"/>
            <a:lstStyle/>
            <a:p>
              <a:endParaRPr sz="1227"/>
            </a:p>
          </p:txBody>
        </p:sp>
        <p:sp>
          <p:nvSpPr>
            <p:cNvPr id="33" name="object 33"/>
            <p:cNvSpPr/>
            <p:nvPr/>
          </p:nvSpPr>
          <p:spPr>
            <a:xfrm>
              <a:off x="6845045" y="4096511"/>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endParaRPr sz="1227"/>
            </a:p>
          </p:txBody>
        </p:sp>
        <p:sp>
          <p:nvSpPr>
            <p:cNvPr id="34" name="object 34"/>
            <p:cNvSpPr/>
            <p:nvPr/>
          </p:nvSpPr>
          <p:spPr>
            <a:xfrm>
              <a:off x="6876288" y="3800855"/>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grpSp>
      <p:sp>
        <p:nvSpPr>
          <p:cNvPr id="35" name="object 35"/>
          <p:cNvSpPr txBox="1"/>
          <p:nvPr/>
        </p:nvSpPr>
        <p:spPr>
          <a:xfrm>
            <a:off x="6309778" y="2113916"/>
            <a:ext cx="328613" cy="197641"/>
          </a:xfrm>
          <a:prstGeom prst="rect">
            <a:avLst/>
          </a:prstGeom>
        </p:spPr>
        <p:txBody>
          <a:bodyPr vert="horz" wrap="square" lIns="0" tIns="8659" rIns="0" bIns="0" rtlCol="0">
            <a:spAutoFit/>
          </a:bodyPr>
          <a:lstStyle/>
          <a:p>
            <a:pPr marL="25977">
              <a:spcBef>
                <a:spcPts val="68"/>
              </a:spcBef>
            </a:pPr>
            <a:r>
              <a:rPr sz="1841" spc="-20" baseline="13888" dirty="0">
                <a:latin typeface="Verdana"/>
                <a:cs typeface="Verdana"/>
              </a:rPr>
              <a:t>V</a:t>
            </a:r>
            <a:r>
              <a:rPr sz="818" spc="-14" dirty="0">
                <a:latin typeface="Verdana"/>
                <a:cs typeface="Verdana"/>
              </a:rPr>
              <a:t>out</a:t>
            </a:r>
            <a:endParaRPr sz="818">
              <a:latin typeface="Verdana"/>
              <a:cs typeface="Verdana"/>
            </a:endParaRPr>
          </a:p>
        </p:txBody>
      </p:sp>
      <p:pic>
        <p:nvPicPr>
          <p:cNvPr id="36" name="object 36"/>
          <p:cNvPicPr/>
          <p:nvPr/>
        </p:nvPicPr>
        <p:blipFill>
          <a:blip r:embed="rId5" cstate="print"/>
          <a:stretch>
            <a:fillRect/>
          </a:stretch>
        </p:blipFill>
        <p:spPr>
          <a:xfrm>
            <a:off x="7024659" y="1655791"/>
            <a:ext cx="142875" cy="159500"/>
          </a:xfrm>
          <a:prstGeom prst="rect">
            <a:avLst/>
          </a:prstGeom>
        </p:spPr>
      </p:pic>
      <p:sp>
        <p:nvSpPr>
          <p:cNvPr id="37" name="object 37"/>
          <p:cNvSpPr/>
          <p:nvPr/>
        </p:nvSpPr>
        <p:spPr>
          <a:xfrm>
            <a:off x="6722023" y="1734502"/>
            <a:ext cx="225136" cy="0"/>
          </a:xfrm>
          <a:custGeom>
            <a:avLst/>
            <a:gdLst/>
            <a:ahLst/>
            <a:cxnLst/>
            <a:rect l="l" t="t" r="r" b="b"/>
            <a:pathLst>
              <a:path w="330200">
                <a:moveTo>
                  <a:pt x="0" y="0"/>
                </a:moveTo>
                <a:lnTo>
                  <a:pt x="329946" y="0"/>
                </a:lnTo>
              </a:path>
            </a:pathLst>
          </a:custGeom>
          <a:ln w="63246">
            <a:solidFill>
              <a:srgbClr val="000000"/>
            </a:solidFill>
            <a:prstDash val="dot"/>
          </a:ln>
        </p:spPr>
        <p:txBody>
          <a:bodyPr wrap="square" lIns="0" tIns="0" rIns="0" bIns="0" rtlCol="0"/>
          <a:lstStyle/>
          <a:p>
            <a:endParaRPr sz="1227"/>
          </a:p>
        </p:txBody>
      </p:sp>
      <p:grpSp>
        <p:nvGrpSpPr>
          <p:cNvPr id="38" name="object 38"/>
          <p:cNvGrpSpPr/>
          <p:nvPr/>
        </p:nvGrpSpPr>
        <p:grpSpPr>
          <a:xfrm>
            <a:off x="4457498" y="1302501"/>
            <a:ext cx="2863561" cy="1634836"/>
            <a:chOff x="4177157" y="1449324"/>
            <a:chExt cx="4199890" cy="2397760"/>
          </a:xfrm>
        </p:grpSpPr>
        <p:sp>
          <p:nvSpPr>
            <p:cNvPr id="39" name="object 39"/>
            <p:cNvSpPr/>
            <p:nvPr/>
          </p:nvSpPr>
          <p:spPr>
            <a:xfrm>
              <a:off x="7185660" y="1963674"/>
              <a:ext cx="118110" cy="234950"/>
            </a:xfrm>
            <a:custGeom>
              <a:avLst/>
              <a:gdLst/>
              <a:ahLst/>
              <a:cxnLst/>
              <a:rect l="l" t="t" r="r" b="b"/>
              <a:pathLst>
                <a:path w="118109" h="234950">
                  <a:moveTo>
                    <a:pt x="0" y="234696"/>
                  </a:moveTo>
                  <a:lnTo>
                    <a:pt x="0" y="0"/>
                  </a:lnTo>
                </a:path>
                <a:path w="118109" h="234950">
                  <a:moveTo>
                    <a:pt x="0" y="234696"/>
                  </a:moveTo>
                  <a:lnTo>
                    <a:pt x="118110" y="234696"/>
                  </a:lnTo>
                </a:path>
              </a:pathLst>
            </a:custGeom>
            <a:ln w="28956">
              <a:solidFill>
                <a:srgbClr val="000000"/>
              </a:solidFill>
            </a:ln>
          </p:spPr>
          <p:txBody>
            <a:bodyPr wrap="square" lIns="0" tIns="0" rIns="0" bIns="0" rtlCol="0"/>
            <a:lstStyle/>
            <a:p>
              <a:endParaRPr sz="1227"/>
            </a:p>
          </p:txBody>
        </p:sp>
        <p:sp>
          <p:nvSpPr>
            <p:cNvPr id="40" name="object 40"/>
            <p:cNvSpPr/>
            <p:nvPr/>
          </p:nvSpPr>
          <p:spPr>
            <a:xfrm>
              <a:off x="7185660" y="1963674"/>
              <a:ext cx="118110" cy="0"/>
            </a:xfrm>
            <a:custGeom>
              <a:avLst/>
              <a:gdLst/>
              <a:ahLst/>
              <a:cxnLst/>
              <a:rect l="l" t="t" r="r" b="b"/>
              <a:pathLst>
                <a:path w="118109">
                  <a:moveTo>
                    <a:pt x="0" y="0"/>
                  </a:moveTo>
                  <a:lnTo>
                    <a:pt x="118110" y="0"/>
                  </a:lnTo>
                </a:path>
              </a:pathLst>
            </a:custGeom>
            <a:ln w="28956">
              <a:solidFill>
                <a:srgbClr val="000000"/>
              </a:solidFill>
            </a:ln>
          </p:spPr>
          <p:txBody>
            <a:bodyPr wrap="square" lIns="0" tIns="0" rIns="0" bIns="0" rtlCol="0"/>
            <a:lstStyle/>
            <a:p>
              <a:endParaRPr sz="1227"/>
            </a:p>
          </p:txBody>
        </p:sp>
        <p:sp>
          <p:nvSpPr>
            <p:cNvPr id="41" name="object 41"/>
            <p:cNvSpPr/>
            <p:nvPr/>
          </p:nvSpPr>
          <p:spPr>
            <a:xfrm>
              <a:off x="7303770" y="1769364"/>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sp>
          <p:nvSpPr>
            <p:cNvPr id="42" name="object 42"/>
            <p:cNvSpPr/>
            <p:nvPr/>
          </p:nvSpPr>
          <p:spPr>
            <a:xfrm>
              <a:off x="7303770" y="2199894"/>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sp>
          <p:nvSpPr>
            <p:cNvPr id="43" name="object 43"/>
            <p:cNvSpPr/>
            <p:nvPr/>
          </p:nvSpPr>
          <p:spPr>
            <a:xfrm>
              <a:off x="7260336" y="2352294"/>
              <a:ext cx="86995" cy="86995"/>
            </a:xfrm>
            <a:custGeom>
              <a:avLst/>
              <a:gdLst/>
              <a:ahLst/>
              <a:cxnLst/>
              <a:rect l="l" t="t" r="r" b="b"/>
              <a:pathLst>
                <a:path w="86995" h="86994">
                  <a:moveTo>
                    <a:pt x="43433" y="0"/>
                  </a:moveTo>
                  <a:lnTo>
                    <a:pt x="26526" y="3412"/>
                  </a:lnTo>
                  <a:lnTo>
                    <a:pt x="12720" y="12720"/>
                  </a:lnTo>
                  <a:lnTo>
                    <a:pt x="3412" y="26526"/>
                  </a:lnTo>
                  <a:lnTo>
                    <a:pt x="0" y="43434"/>
                  </a:lnTo>
                  <a:lnTo>
                    <a:pt x="3412" y="60341"/>
                  </a:lnTo>
                  <a:lnTo>
                    <a:pt x="12720" y="74147"/>
                  </a:lnTo>
                  <a:lnTo>
                    <a:pt x="26526" y="83455"/>
                  </a:lnTo>
                  <a:lnTo>
                    <a:pt x="43433" y="86868"/>
                  </a:lnTo>
                  <a:lnTo>
                    <a:pt x="60341" y="83455"/>
                  </a:lnTo>
                  <a:lnTo>
                    <a:pt x="74147" y="74147"/>
                  </a:lnTo>
                  <a:lnTo>
                    <a:pt x="83455" y="60341"/>
                  </a:lnTo>
                  <a:lnTo>
                    <a:pt x="86867" y="43434"/>
                  </a:lnTo>
                  <a:lnTo>
                    <a:pt x="83455" y="26526"/>
                  </a:lnTo>
                  <a:lnTo>
                    <a:pt x="74147" y="12720"/>
                  </a:lnTo>
                  <a:lnTo>
                    <a:pt x="60341" y="3412"/>
                  </a:lnTo>
                  <a:lnTo>
                    <a:pt x="43433" y="0"/>
                  </a:lnTo>
                  <a:close/>
                </a:path>
              </a:pathLst>
            </a:custGeom>
            <a:solidFill>
              <a:srgbClr val="000000"/>
            </a:solidFill>
          </p:spPr>
          <p:txBody>
            <a:bodyPr wrap="square" lIns="0" tIns="0" rIns="0" bIns="0" rtlCol="0"/>
            <a:lstStyle/>
            <a:p>
              <a:endParaRPr sz="1227"/>
            </a:p>
          </p:txBody>
        </p:sp>
        <p:pic>
          <p:nvPicPr>
            <p:cNvPr id="44" name="object 44"/>
            <p:cNvPicPr/>
            <p:nvPr/>
          </p:nvPicPr>
          <p:blipFill>
            <a:blip r:embed="rId2" cstate="print"/>
            <a:stretch>
              <a:fillRect/>
            </a:stretch>
          </p:blipFill>
          <p:spPr>
            <a:xfrm>
              <a:off x="6913626" y="1967484"/>
              <a:ext cx="208788" cy="233934"/>
            </a:xfrm>
            <a:prstGeom prst="rect">
              <a:avLst/>
            </a:prstGeom>
          </p:spPr>
        </p:pic>
        <p:sp>
          <p:nvSpPr>
            <p:cNvPr id="45" name="object 45"/>
            <p:cNvSpPr/>
            <p:nvPr/>
          </p:nvSpPr>
          <p:spPr>
            <a:xfrm>
              <a:off x="8214360" y="1963674"/>
              <a:ext cx="119380" cy="234950"/>
            </a:xfrm>
            <a:custGeom>
              <a:avLst/>
              <a:gdLst/>
              <a:ahLst/>
              <a:cxnLst/>
              <a:rect l="l" t="t" r="r" b="b"/>
              <a:pathLst>
                <a:path w="119379" h="234950">
                  <a:moveTo>
                    <a:pt x="0" y="234696"/>
                  </a:moveTo>
                  <a:lnTo>
                    <a:pt x="0" y="0"/>
                  </a:lnTo>
                </a:path>
                <a:path w="119379" h="234950">
                  <a:moveTo>
                    <a:pt x="0" y="234696"/>
                  </a:moveTo>
                  <a:lnTo>
                    <a:pt x="118872" y="234696"/>
                  </a:lnTo>
                </a:path>
              </a:pathLst>
            </a:custGeom>
            <a:ln w="28956">
              <a:solidFill>
                <a:srgbClr val="000000"/>
              </a:solidFill>
            </a:ln>
          </p:spPr>
          <p:txBody>
            <a:bodyPr wrap="square" lIns="0" tIns="0" rIns="0" bIns="0" rtlCol="0"/>
            <a:lstStyle/>
            <a:p>
              <a:endParaRPr sz="1227"/>
            </a:p>
          </p:txBody>
        </p:sp>
        <p:sp>
          <p:nvSpPr>
            <p:cNvPr id="46" name="object 46"/>
            <p:cNvSpPr/>
            <p:nvPr/>
          </p:nvSpPr>
          <p:spPr>
            <a:xfrm>
              <a:off x="8214360" y="1963674"/>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endParaRPr sz="1227"/>
            </a:p>
          </p:txBody>
        </p:sp>
        <p:sp>
          <p:nvSpPr>
            <p:cNvPr id="47" name="object 47"/>
            <p:cNvSpPr/>
            <p:nvPr/>
          </p:nvSpPr>
          <p:spPr>
            <a:xfrm>
              <a:off x="8333232" y="1769364"/>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sp>
          <p:nvSpPr>
            <p:cNvPr id="48" name="object 48"/>
            <p:cNvSpPr/>
            <p:nvPr/>
          </p:nvSpPr>
          <p:spPr>
            <a:xfrm>
              <a:off x="8333232" y="2199894"/>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sp>
          <p:nvSpPr>
            <p:cNvPr id="49" name="object 49"/>
            <p:cNvSpPr/>
            <p:nvPr/>
          </p:nvSpPr>
          <p:spPr>
            <a:xfrm>
              <a:off x="8289797" y="2352294"/>
              <a:ext cx="86995" cy="86995"/>
            </a:xfrm>
            <a:custGeom>
              <a:avLst/>
              <a:gdLst/>
              <a:ahLst/>
              <a:cxnLst/>
              <a:rect l="l" t="t" r="r" b="b"/>
              <a:pathLst>
                <a:path w="86995" h="86994">
                  <a:moveTo>
                    <a:pt x="43433" y="0"/>
                  </a:moveTo>
                  <a:lnTo>
                    <a:pt x="26526" y="3412"/>
                  </a:lnTo>
                  <a:lnTo>
                    <a:pt x="12720" y="12720"/>
                  </a:lnTo>
                  <a:lnTo>
                    <a:pt x="3412" y="26526"/>
                  </a:lnTo>
                  <a:lnTo>
                    <a:pt x="0" y="43434"/>
                  </a:lnTo>
                  <a:lnTo>
                    <a:pt x="3412" y="60341"/>
                  </a:lnTo>
                  <a:lnTo>
                    <a:pt x="12720" y="74147"/>
                  </a:lnTo>
                  <a:lnTo>
                    <a:pt x="26526" y="83455"/>
                  </a:lnTo>
                  <a:lnTo>
                    <a:pt x="43433" y="86868"/>
                  </a:lnTo>
                  <a:lnTo>
                    <a:pt x="60341" y="83455"/>
                  </a:lnTo>
                  <a:lnTo>
                    <a:pt x="74147" y="74147"/>
                  </a:lnTo>
                  <a:lnTo>
                    <a:pt x="83455" y="60341"/>
                  </a:lnTo>
                  <a:lnTo>
                    <a:pt x="86867" y="43434"/>
                  </a:lnTo>
                  <a:lnTo>
                    <a:pt x="83455" y="26526"/>
                  </a:lnTo>
                  <a:lnTo>
                    <a:pt x="74147" y="12720"/>
                  </a:lnTo>
                  <a:lnTo>
                    <a:pt x="60341" y="3412"/>
                  </a:lnTo>
                  <a:lnTo>
                    <a:pt x="43433" y="0"/>
                  </a:lnTo>
                  <a:close/>
                </a:path>
              </a:pathLst>
            </a:custGeom>
            <a:solidFill>
              <a:srgbClr val="000000"/>
            </a:solidFill>
          </p:spPr>
          <p:txBody>
            <a:bodyPr wrap="square" lIns="0" tIns="0" rIns="0" bIns="0" rtlCol="0"/>
            <a:lstStyle/>
            <a:p>
              <a:endParaRPr sz="1227"/>
            </a:p>
          </p:txBody>
        </p:sp>
        <p:sp>
          <p:nvSpPr>
            <p:cNvPr id="50" name="object 50"/>
            <p:cNvSpPr/>
            <p:nvPr/>
          </p:nvSpPr>
          <p:spPr>
            <a:xfrm>
              <a:off x="6870192" y="2391156"/>
              <a:ext cx="1463040" cy="6985"/>
            </a:xfrm>
            <a:custGeom>
              <a:avLst/>
              <a:gdLst/>
              <a:ahLst/>
              <a:cxnLst/>
              <a:rect l="l" t="t" r="r" b="b"/>
              <a:pathLst>
                <a:path w="1463040" h="6985">
                  <a:moveTo>
                    <a:pt x="0" y="0"/>
                  </a:moveTo>
                  <a:lnTo>
                    <a:pt x="1463040" y="6858"/>
                  </a:lnTo>
                </a:path>
              </a:pathLst>
            </a:custGeom>
            <a:ln w="28956">
              <a:solidFill>
                <a:srgbClr val="000000"/>
              </a:solidFill>
            </a:ln>
          </p:spPr>
          <p:txBody>
            <a:bodyPr wrap="square" lIns="0" tIns="0" rIns="0" bIns="0" rtlCol="0"/>
            <a:lstStyle/>
            <a:p>
              <a:endParaRPr sz="1227"/>
            </a:p>
          </p:txBody>
        </p:sp>
        <p:pic>
          <p:nvPicPr>
            <p:cNvPr id="51" name="object 51"/>
            <p:cNvPicPr/>
            <p:nvPr/>
          </p:nvPicPr>
          <p:blipFill>
            <a:blip r:embed="rId6" cstate="print"/>
            <a:stretch>
              <a:fillRect/>
            </a:stretch>
          </p:blipFill>
          <p:spPr>
            <a:xfrm>
              <a:off x="6826756" y="2347722"/>
              <a:ext cx="86868" cy="86868"/>
            </a:xfrm>
            <a:prstGeom prst="rect">
              <a:avLst/>
            </a:prstGeom>
          </p:spPr>
        </p:pic>
        <p:sp>
          <p:nvSpPr>
            <p:cNvPr id="52" name="object 52"/>
            <p:cNvSpPr/>
            <p:nvPr/>
          </p:nvSpPr>
          <p:spPr>
            <a:xfrm>
              <a:off x="6870192" y="1775460"/>
              <a:ext cx="1463040" cy="7620"/>
            </a:xfrm>
            <a:custGeom>
              <a:avLst/>
              <a:gdLst/>
              <a:ahLst/>
              <a:cxnLst/>
              <a:rect l="l" t="t" r="r" b="b"/>
              <a:pathLst>
                <a:path w="1463040" h="7619">
                  <a:moveTo>
                    <a:pt x="0" y="0"/>
                  </a:moveTo>
                  <a:lnTo>
                    <a:pt x="1463040" y="7620"/>
                  </a:lnTo>
                </a:path>
              </a:pathLst>
            </a:custGeom>
            <a:ln w="28955">
              <a:solidFill>
                <a:srgbClr val="000000"/>
              </a:solidFill>
            </a:ln>
          </p:spPr>
          <p:txBody>
            <a:bodyPr wrap="square" lIns="0" tIns="0" rIns="0" bIns="0" rtlCol="0"/>
            <a:lstStyle/>
            <a:p>
              <a:endParaRPr sz="1227"/>
            </a:p>
          </p:txBody>
        </p:sp>
        <p:pic>
          <p:nvPicPr>
            <p:cNvPr id="53" name="object 53"/>
            <p:cNvPicPr/>
            <p:nvPr/>
          </p:nvPicPr>
          <p:blipFill>
            <a:blip r:embed="rId7" cstate="print"/>
            <a:stretch>
              <a:fillRect/>
            </a:stretch>
          </p:blipFill>
          <p:spPr>
            <a:xfrm>
              <a:off x="8289797" y="1739649"/>
              <a:ext cx="86868" cy="86868"/>
            </a:xfrm>
            <a:prstGeom prst="rect">
              <a:avLst/>
            </a:prstGeom>
          </p:spPr>
        </p:pic>
        <p:pic>
          <p:nvPicPr>
            <p:cNvPr id="54" name="object 54"/>
            <p:cNvPicPr/>
            <p:nvPr/>
          </p:nvPicPr>
          <p:blipFill>
            <a:blip r:embed="rId6" cstate="print"/>
            <a:stretch>
              <a:fillRect/>
            </a:stretch>
          </p:blipFill>
          <p:spPr>
            <a:xfrm>
              <a:off x="6826756" y="1732026"/>
              <a:ext cx="86868" cy="86868"/>
            </a:xfrm>
            <a:prstGeom prst="rect">
              <a:avLst/>
            </a:prstGeom>
          </p:spPr>
        </p:pic>
        <p:sp>
          <p:nvSpPr>
            <p:cNvPr id="55" name="object 55"/>
            <p:cNvSpPr/>
            <p:nvPr/>
          </p:nvSpPr>
          <p:spPr>
            <a:xfrm>
              <a:off x="7582661" y="1492758"/>
              <a:ext cx="0" cy="300990"/>
            </a:xfrm>
            <a:custGeom>
              <a:avLst/>
              <a:gdLst/>
              <a:ahLst/>
              <a:cxnLst/>
              <a:rect l="l" t="t" r="r" b="b"/>
              <a:pathLst>
                <a:path h="300989">
                  <a:moveTo>
                    <a:pt x="0" y="0"/>
                  </a:moveTo>
                  <a:lnTo>
                    <a:pt x="0" y="300990"/>
                  </a:lnTo>
                </a:path>
              </a:pathLst>
            </a:custGeom>
            <a:ln w="28956">
              <a:solidFill>
                <a:srgbClr val="000000"/>
              </a:solidFill>
            </a:ln>
          </p:spPr>
          <p:txBody>
            <a:bodyPr wrap="square" lIns="0" tIns="0" rIns="0" bIns="0" rtlCol="0"/>
            <a:lstStyle/>
            <a:p>
              <a:endParaRPr sz="1227"/>
            </a:p>
          </p:txBody>
        </p:sp>
        <p:pic>
          <p:nvPicPr>
            <p:cNvPr id="56" name="object 56"/>
            <p:cNvPicPr/>
            <p:nvPr/>
          </p:nvPicPr>
          <p:blipFill>
            <a:blip r:embed="rId8" cstate="print"/>
            <a:stretch>
              <a:fillRect/>
            </a:stretch>
          </p:blipFill>
          <p:spPr>
            <a:xfrm>
              <a:off x="7539223" y="1750314"/>
              <a:ext cx="86867" cy="86867"/>
            </a:xfrm>
            <a:prstGeom prst="rect">
              <a:avLst/>
            </a:prstGeom>
          </p:spPr>
        </p:pic>
        <p:pic>
          <p:nvPicPr>
            <p:cNvPr id="57" name="object 57"/>
            <p:cNvPicPr/>
            <p:nvPr/>
          </p:nvPicPr>
          <p:blipFill>
            <a:blip r:embed="rId9" cstate="print"/>
            <a:stretch>
              <a:fillRect/>
            </a:stretch>
          </p:blipFill>
          <p:spPr>
            <a:xfrm>
              <a:off x="7539228" y="1449324"/>
              <a:ext cx="86867" cy="86867"/>
            </a:xfrm>
            <a:prstGeom prst="rect">
              <a:avLst/>
            </a:prstGeom>
          </p:spPr>
        </p:pic>
        <p:sp>
          <p:nvSpPr>
            <p:cNvPr id="58" name="object 58"/>
            <p:cNvSpPr/>
            <p:nvPr/>
          </p:nvSpPr>
          <p:spPr>
            <a:xfrm>
              <a:off x="6238494" y="1975866"/>
              <a:ext cx="137160" cy="193675"/>
            </a:xfrm>
            <a:custGeom>
              <a:avLst/>
              <a:gdLst/>
              <a:ahLst/>
              <a:cxnLst/>
              <a:rect l="l" t="t" r="r" b="b"/>
              <a:pathLst>
                <a:path w="137160" h="193675">
                  <a:moveTo>
                    <a:pt x="0" y="193548"/>
                  </a:moveTo>
                  <a:lnTo>
                    <a:pt x="137160" y="0"/>
                  </a:lnTo>
                </a:path>
              </a:pathLst>
            </a:custGeom>
            <a:ln w="28956">
              <a:solidFill>
                <a:srgbClr val="000000"/>
              </a:solidFill>
            </a:ln>
          </p:spPr>
          <p:txBody>
            <a:bodyPr wrap="square" lIns="0" tIns="0" rIns="0" bIns="0" rtlCol="0"/>
            <a:lstStyle/>
            <a:p>
              <a:endParaRPr sz="1227"/>
            </a:p>
          </p:txBody>
        </p:sp>
        <p:sp>
          <p:nvSpPr>
            <p:cNvPr id="59" name="object 59"/>
            <p:cNvSpPr/>
            <p:nvPr/>
          </p:nvSpPr>
          <p:spPr>
            <a:xfrm>
              <a:off x="4191762" y="2081022"/>
              <a:ext cx="215900" cy="1270"/>
            </a:xfrm>
            <a:custGeom>
              <a:avLst/>
              <a:gdLst/>
              <a:ahLst/>
              <a:cxnLst/>
              <a:rect l="l" t="t" r="r" b="b"/>
              <a:pathLst>
                <a:path w="215900" h="1269">
                  <a:moveTo>
                    <a:pt x="0" y="762"/>
                  </a:moveTo>
                  <a:lnTo>
                    <a:pt x="215646" y="0"/>
                  </a:lnTo>
                </a:path>
              </a:pathLst>
            </a:custGeom>
            <a:ln w="28955">
              <a:solidFill>
                <a:srgbClr val="000000"/>
              </a:solidFill>
            </a:ln>
          </p:spPr>
          <p:txBody>
            <a:bodyPr wrap="square" lIns="0" tIns="0" rIns="0" bIns="0" rtlCol="0"/>
            <a:lstStyle/>
            <a:p>
              <a:endParaRPr sz="1227"/>
            </a:p>
          </p:txBody>
        </p:sp>
        <p:sp>
          <p:nvSpPr>
            <p:cNvPr id="60" name="object 60"/>
            <p:cNvSpPr/>
            <p:nvPr/>
          </p:nvSpPr>
          <p:spPr>
            <a:xfrm>
              <a:off x="6875526" y="3589019"/>
              <a:ext cx="0" cy="243204"/>
            </a:xfrm>
            <a:custGeom>
              <a:avLst/>
              <a:gdLst/>
              <a:ahLst/>
              <a:cxnLst/>
              <a:rect l="l" t="t" r="r" b="b"/>
              <a:pathLst>
                <a:path h="243204">
                  <a:moveTo>
                    <a:pt x="0" y="0"/>
                  </a:moveTo>
                  <a:lnTo>
                    <a:pt x="0" y="243078"/>
                  </a:lnTo>
                </a:path>
              </a:pathLst>
            </a:custGeom>
            <a:ln w="28956">
              <a:solidFill>
                <a:srgbClr val="000000"/>
              </a:solidFill>
            </a:ln>
          </p:spPr>
          <p:txBody>
            <a:bodyPr wrap="square" lIns="0" tIns="0" rIns="0" bIns="0" rtlCol="0"/>
            <a:lstStyle/>
            <a:p>
              <a:endParaRPr sz="1227"/>
            </a:p>
          </p:txBody>
        </p:sp>
        <p:sp>
          <p:nvSpPr>
            <p:cNvPr id="61" name="object 61"/>
            <p:cNvSpPr/>
            <p:nvPr/>
          </p:nvSpPr>
          <p:spPr>
            <a:xfrm>
              <a:off x="6879336" y="3575303"/>
              <a:ext cx="0" cy="243204"/>
            </a:xfrm>
            <a:custGeom>
              <a:avLst/>
              <a:gdLst/>
              <a:ahLst/>
              <a:cxnLst/>
              <a:rect l="l" t="t" r="r" b="b"/>
              <a:pathLst>
                <a:path h="243204">
                  <a:moveTo>
                    <a:pt x="0" y="0"/>
                  </a:moveTo>
                  <a:lnTo>
                    <a:pt x="0" y="243078"/>
                  </a:lnTo>
                </a:path>
              </a:pathLst>
            </a:custGeom>
            <a:ln w="28956">
              <a:solidFill>
                <a:srgbClr val="000000"/>
              </a:solidFill>
            </a:ln>
          </p:spPr>
          <p:txBody>
            <a:bodyPr wrap="square" lIns="0" tIns="0" rIns="0" bIns="0" rtlCol="0"/>
            <a:lstStyle/>
            <a:p>
              <a:endParaRPr sz="1227"/>
            </a:p>
          </p:txBody>
        </p:sp>
        <p:sp>
          <p:nvSpPr>
            <p:cNvPr id="62" name="object 62"/>
            <p:cNvSpPr/>
            <p:nvPr/>
          </p:nvSpPr>
          <p:spPr>
            <a:xfrm>
              <a:off x="6769608" y="3466338"/>
              <a:ext cx="108585" cy="45720"/>
            </a:xfrm>
            <a:custGeom>
              <a:avLst/>
              <a:gdLst/>
              <a:ahLst/>
              <a:cxnLst/>
              <a:rect l="l" t="t" r="r" b="b"/>
              <a:pathLst>
                <a:path w="108584" h="45720">
                  <a:moveTo>
                    <a:pt x="108203" y="45720"/>
                  </a:moveTo>
                  <a:lnTo>
                    <a:pt x="0" y="0"/>
                  </a:lnTo>
                </a:path>
              </a:pathLst>
            </a:custGeom>
            <a:ln w="28955">
              <a:solidFill>
                <a:srgbClr val="000000"/>
              </a:solidFill>
            </a:ln>
          </p:spPr>
          <p:txBody>
            <a:bodyPr wrap="square" lIns="0" tIns="0" rIns="0" bIns="0" rtlCol="0"/>
            <a:lstStyle/>
            <a:p>
              <a:endParaRPr sz="1227"/>
            </a:p>
          </p:txBody>
        </p:sp>
        <p:sp>
          <p:nvSpPr>
            <p:cNvPr id="63" name="object 63"/>
            <p:cNvSpPr/>
            <p:nvPr/>
          </p:nvSpPr>
          <p:spPr>
            <a:xfrm>
              <a:off x="6769608" y="3419856"/>
              <a:ext cx="215900" cy="48260"/>
            </a:xfrm>
            <a:custGeom>
              <a:avLst/>
              <a:gdLst/>
              <a:ahLst/>
              <a:cxnLst/>
              <a:rect l="l" t="t" r="r" b="b"/>
              <a:pathLst>
                <a:path w="215900" h="48260">
                  <a:moveTo>
                    <a:pt x="0" y="48005"/>
                  </a:moveTo>
                  <a:lnTo>
                    <a:pt x="215646" y="0"/>
                  </a:lnTo>
                </a:path>
              </a:pathLst>
            </a:custGeom>
            <a:ln w="28955">
              <a:solidFill>
                <a:srgbClr val="000000"/>
              </a:solidFill>
            </a:ln>
          </p:spPr>
          <p:txBody>
            <a:bodyPr wrap="square" lIns="0" tIns="0" rIns="0" bIns="0" rtlCol="0"/>
            <a:lstStyle/>
            <a:p>
              <a:endParaRPr sz="1227"/>
            </a:p>
          </p:txBody>
        </p:sp>
        <p:sp>
          <p:nvSpPr>
            <p:cNvPr id="64" name="object 64"/>
            <p:cNvSpPr/>
            <p:nvPr/>
          </p:nvSpPr>
          <p:spPr>
            <a:xfrm>
              <a:off x="6769608" y="3377184"/>
              <a:ext cx="215900" cy="43180"/>
            </a:xfrm>
            <a:custGeom>
              <a:avLst/>
              <a:gdLst/>
              <a:ahLst/>
              <a:cxnLst/>
              <a:rect l="l" t="t" r="r" b="b"/>
              <a:pathLst>
                <a:path w="215900" h="43179">
                  <a:moveTo>
                    <a:pt x="215646" y="42672"/>
                  </a:moveTo>
                  <a:lnTo>
                    <a:pt x="0" y="0"/>
                  </a:lnTo>
                </a:path>
              </a:pathLst>
            </a:custGeom>
            <a:ln w="28956">
              <a:solidFill>
                <a:srgbClr val="000000"/>
              </a:solidFill>
            </a:ln>
          </p:spPr>
          <p:txBody>
            <a:bodyPr wrap="square" lIns="0" tIns="0" rIns="0" bIns="0" rtlCol="0"/>
            <a:lstStyle/>
            <a:p>
              <a:endParaRPr sz="1227"/>
            </a:p>
          </p:txBody>
        </p:sp>
        <p:sp>
          <p:nvSpPr>
            <p:cNvPr id="65" name="object 65"/>
            <p:cNvSpPr/>
            <p:nvPr/>
          </p:nvSpPr>
          <p:spPr>
            <a:xfrm>
              <a:off x="6771132" y="3327653"/>
              <a:ext cx="215900" cy="51435"/>
            </a:xfrm>
            <a:custGeom>
              <a:avLst/>
              <a:gdLst/>
              <a:ahLst/>
              <a:cxnLst/>
              <a:rect l="l" t="t" r="r" b="b"/>
              <a:pathLst>
                <a:path w="215900" h="51435">
                  <a:moveTo>
                    <a:pt x="0" y="51053"/>
                  </a:moveTo>
                  <a:lnTo>
                    <a:pt x="215646" y="0"/>
                  </a:lnTo>
                </a:path>
              </a:pathLst>
            </a:custGeom>
            <a:ln w="28956">
              <a:solidFill>
                <a:srgbClr val="000000"/>
              </a:solidFill>
            </a:ln>
          </p:spPr>
          <p:txBody>
            <a:bodyPr wrap="square" lIns="0" tIns="0" rIns="0" bIns="0" rtlCol="0"/>
            <a:lstStyle/>
            <a:p>
              <a:endParaRPr sz="1227"/>
            </a:p>
          </p:txBody>
        </p:sp>
        <p:sp>
          <p:nvSpPr>
            <p:cNvPr id="66" name="object 66"/>
            <p:cNvSpPr/>
            <p:nvPr/>
          </p:nvSpPr>
          <p:spPr>
            <a:xfrm>
              <a:off x="6771132" y="3283458"/>
              <a:ext cx="215900" cy="44450"/>
            </a:xfrm>
            <a:custGeom>
              <a:avLst/>
              <a:gdLst/>
              <a:ahLst/>
              <a:cxnLst/>
              <a:rect l="l" t="t" r="r" b="b"/>
              <a:pathLst>
                <a:path w="215900" h="44450">
                  <a:moveTo>
                    <a:pt x="215646" y="44196"/>
                  </a:moveTo>
                  <a:lnTo>
                    <a:pt x="0" y="0"/>
                  </a:lnTo>
                </a:path>
              </a:pathLst>
            </a:custGeom>
            <a:ln w="28955">
              <a:solidFill>
                <a:srgbClr val="000000"/>
              </a:solidFill>
            </a:ln>
          </p:spPr>
          <p:txBody>
            <a:bodyPr wrap="square" lIns="0" tIns="0" rIns="0" bIns="0" rtlCol="0"/>
            <a:lstStyle/>
            <a:p>
              <a:endParaRPr sz="1227"/>
            </a:p>
          </p:txBody>
        </p:sp>
        <p:sp>
          <p:nvSpPr>
            <p:cNvPr id="67" name="object 67"/>
            <p:cNvSpPr/>
            <p:nvPr/>
          </p:nvSpPr>
          <p:spPr>
            <a:xfrm>
              <a:off x="6769608" y="3236213"/>
              <a:ext cx="215900" cy="47625"/>
            </a:xfrm>
            <a:custGeom>
              <a:avLst/>
              <a:gdLst/>
              <a:ahLst/>
              <a:cxnLst/>
              <a:rect l="l" t="t" r="r" b="b"/>
              <a:pathLst>
                <a:path w="215900" h="47625">
                  <a:moveTo>
                    <a:pt x="0" y="47244"/>
                  </a:moveTo>
                  <a:lnTo>
                    <a:pt x="215646" y="0"/>
                  </a:lnTo>
                </a:path>
              </a:pathLst>
            </a:custGeom>
            <a:ln w="28956">
              <a:solidFill>
                <a:srgbClr val="000000"/>
              </a:solidFill>
            </a:ln>
          </p:spPr>
          <p:txBody>
            <a:bodyPr wrap="square" lIns="0" tIns="0" rIns="0" bIns="0" rtlCol="0"/>
            <a:lstStyle/>
            <a:p>
              <a:endParaRPr sz="1227"/>
            </a:p>
          </p:txBody>
        </p:sp>
        <p:sp>
          <p:nvSpPr>
            <p:cNvPr id="68" name="object 68"/>
            <p:cNvSpPr/>
            <p:nvPr/>
          </p:nvSpPr>
          <p:spPr>
            <a:xfrm>
              <a:off x="6877811" y="3189731"/>
              <a:ext cx="107950" cy="46990"/>
            </a:xfrm>
            <a:custGeom>
              <a:avLst/>
              <a:gdLst/>
              <a:ahLst/>
              <a:cxnLst/>
              <a:rect l="l" t="t" r="r" b="b"/>
              <a:pathLst>
                <a:path w="107950" h="46989">
                  <a:moveTo>
                    <a:pt x="107442" y="46482"/>
                  </a:moveTo>
                  <a:lnTo>
                    <a:pt x="0" y="0"/>
                  </a:lnTo>
                </a:path>
              </a:pathLst>
            </a:custGeom>
            <a:ln w="28956">
              <a:solidFill>
                <a:srgbClr val="000000"/>
              </a:solidFill>
            </a:ln>
          </p:spPr>
          <p:txBody>
            <a:bodyPr wrap="square" lIns="0" tIns="0" rIns="0" bIns="0" rtlCol="0"/>
            <a:lstStyle/>
            <a:p>
              <a:endParaRPr sz="1227"/>
            </a:p>
          </p:txBody>
        </p:sp>
        <p:sp>
          <p:nvSpPr>
            <p:cNvPr id="69" name="object 69"/>
            <p:cNvSpPr/>
            <p:nvPr/>
          </p:nvSpPr>
          <p:spPr>
            <a:xfrm>
              <a:off x="6879336" y="3099053"/>
              <a:ext cx="0" cy="92710"/>
            </a:xfrm>
            <a:custGeom>
              <a:avLst/>
              <a:gdLst/>
              <a:ahLst/>
              <a:cxnLst/>
              <a:rect l="l" t="t" r="r" b="b"/>
              <a:pathLst>
                <a:path h="92710">
                  <a:moveTo>
                    <a:pt x="0" y="92201"/>
                  </a:moveTo>
                  <a:lnTo>
                    <a:pt x="0" y="0"/>
                  </a:lnTo>
                </a:path>
              </a:pathLst>
            </a:custGeom>
            <a:ln w="28956">
              <a:solidFill>
                <a:srgbClr val="000000"/>
              </a:solidFill>
            </a:ln>
          </p:spPr>
          <p:txBody>
            <a:bodyPr wrap="square" lIns="0" tIns="0" rIns="0" bIns="0" rtlCol="0"/>
            <a:lstStyle/>
            <a:p>
              <a:endParaRPr sz="1227"/>
            </a:p>
          </p:txBody>
        </p:sp>
        <p:sp>
          <p:nvSpPr>
            <p:cNvPr id="70" name="object 70"/>
            <p:cNvSpPr/>
            <p:nvPr/>
          </p:nvSpPr>
          <p:spPr>
            <a:xfrm>
              <a:off x="6835907" y="3055620"/>
              <a:ext cx="86995" cy="86995"/>
            </a:xfrm>
            <a:custGeom>
              <a:avLst/>
              <a:gdLst/>
              <a:ahLst/>
              <a:cxnLst/>
              <a:rect l="l" t="t" r="r" b="b"/>
              <a:pathLst>
                <a:path w="86995" h="86994">
                  <a:moveTo>
                    <a:pt x="43421" y="0"/>
                  </a:moveTo>
                  <a:lnTo>
                    <a:pt x="26521" y="3412"/>
                  </a:lnTo>
                  <a:lnTo>
                    <a:pt x="12719" y="12720"/>
                  </a:lnTo>
                  <a:lnTo>
                    <a:pt x="3412" y="26526"/>
                  </a:lnTo>
                  <a:lnTo>
                    <a:pt x="0" y="43433"/>
                  </a:lnTo>
                  <a:lnTo>
                    <a:pt x="3412" y="60341"/>
                  </a:lnTo>
                  <a:lnTo>
                    <a:pt x="12720" y="74147"/>
                  </a:lnTo>
                  <a:lnTo>
                    <a:pt x="26526" y="83455"/>
                  </a:lnTo>
                  <a:lnTo>
                    <a:pt x="43433" y="86867"/>
                  </a:lnTo>
                  <a:lnTo>
                    <a:pt x="60341" y="83455"/>
                  </a:lnTo>
                  <a:lnTo>
                    <a:pt x="74147" y="74147"/>
                  </a:lnTo>
                  <a:lnTo>
                    <a:pt x="83455" y="60341"/>
                  </a:lnTo>
                  <a:lnTo>
                    <a:pt x="86867" y="43433"/>
                  </a:lnTo>
                  <a:lnTo>
                    <a:pt x="83453" y="26526"/>
                  </a:lnTo>
                  <a:lnTo>
                    <a:pt x="74141" y="12720"/>
                  </a:lnTo>
                  <a:lnTo>
                    <a:pt x="60330" y="3412"/>
                  </a:lnTo>
                  <a:lnTo>
                    <a:pt x="43421" y="0"/>
                  </a:lnTo>
                  <a:close/>
                </a:path>
              </a:pathLst>
            </a:custGeom>
            <a:solidFill>
              <a:srgbClr val="000000"/>
            </a:solidFill>
          </p:spPr>
          <p:txBody>
            <a:bodyPr wrap="square" lIns="0" tIns="0" rIns="0" bIns="0" rtlCol="0"/>
            <a:lstStyle/>
            <a:p>
              <a:endParaRPr sz="1227"/>
            </a:p>
          </p:txBody>
        </p:sp>
        <p:sp>
          <p:nvSpPr>
            <p:cNvPr id="71" name="object 71"/>
            <p:cNvSpPr/>
            <p:nvPr/>
          </p:nvSpPr>
          <p:spPr>
            <a:xfrm>
              <a:off x="6879336" y="3513581"/>
              <a:ext cx="0" cy="92710"/>
            </a:xfrm>
            <a:custGeom>
              <a:avLst/>
              <a:gdLst/>
              <a:ahLst/>
              <a:cxnLst/>
              <a:rect l="l" t="t" r="r" b="b"/>
              <a:pathLst>
                <a:path h="92710">
                  <a:moveTo>
                    <a:pt x="0" y="92201"/>
                  </a:moveTo>
                  <a:lnTo>
                    <a:pt x="0" y="0"/>
                  </a:lnTo>
                </a:path>
              </a:pathLst>
            </a:custGeom>
            <a:ln w="28956">
              <a:solidFill>
                <a:srgbClr val="000000"/>
              </a:solidFill>
            </a:ln>
          </p:spPr>
          <p:txBody>
            <a:bodyPr wrap="square" lIns="0" tIns="0" rIns="0" bIns="0" rtlCol="0"/>
            <a:lstStyle/>
            <a:p>
              <a:endParaRPr sz="1227"/>
            </a:p>
          </p:txBody>
        </p:sp>
        <p:sp>
          <p:nvSpPr>
            <p:cNvPr id="72" name="object 72"/>
            <p:cNvSpPr/>
            <p:nvPr/>
          </p:nvSpPr>
          <p:spPr>
            <a:xfrm>
              <a:off x="6835902" y="3562350"/>
              <a:ext cx="86995" cy="86995"/>
            </a:xfrm>
            <a:custGeom>
              <a:avLst/>
              <a:gdLst/>
              <a:ahLst/>
              <a:cxnLst/>
              <a:rect l="l" t="t" r="r" b="b"/>
              <a:pathLst>
                <a:path w="86995" h="86995">
                  <a:moveTo>
                    <a:pt x="43433" y="0"/>
                  </a:moveTo>
                  <a:lnTo>
                    <a:pt x="26526" y="3412"/>
                  </a:lnTo>
                  <a:lnTo>
                    <a:pt x="12720" y="12720"/>
                  </a:lnTo>
                  <a:lnTo>
                    <a:pt x="3412" y="26526"/>
                  </a:lnTo>
                  <a:lnTo>
                    <a:pt x="0" y="43434"/>
                  </a:lnTo>
                  <a:lnTo>
                    <a:pt x="3412" y="60341"/>
                  </a:lnTo>
                  <a:lnTo>
                    <a:pt x="12720" y="74147"/>
                  </a:lnTo>
                  <a:lnTo>
                    <a:pt x="26526" y="83455"/>
                  </a:lnTo>
                  <a:lnTo>
                    <a:pt x="43433" y="86868"/>
                  </a:lnTo>
                  <a:lnTo>
                    <a:pt x="60341" y="83455"/>
                  </a:lnTo>
                  <a:lnTo>
                    <a:pt x="74147" y="74147"/>
                  </a:lnTo>
                  <a:lnTo>
                    <a:pt x="83455" y="60341"/>
                  </a:lnTo>
                  <a:lnTo>
                    <a:pt x="86867" y="43434"/>
                  </a:lnTo>
                  <a:lnTo>
                    <a:pt x="83455" y="26526"/>
                  </a:lnTo>
                  <a:lnTo>
                    <a:pt x="74147" y="12720"/>
                  </a:lnTo>
                  <a:lnTo>
                    <a:pt x="60341" y="3412"/>
                  </a:lnTo>
                  <a:lnTo>
                    <a:pt x="43433" y="0"/>
                  </a:lnTo>
                  <a:close/>
                </a:path>
              </a:pathLst>
            </a:custGeom>
            <a:solidFill>
              <a:srgbClr val="000000"/>
            </a:solidFill>
          </p:spPr>
          <p:txBody>
            <a:bodyPr wrap="square" lIns="0" tIns="0" rIns="0" bIns="0" rtlCol="0"/>
            <a:lstStyle/>
            <a:p>
              <a:endParaRPr sz="1227"/>
            </a:p>
          </p:txBody>
        </p:sp>
        <p:sp>
          <p:nvSpPr>
            <p:cNvPr id="73" name="object 73"/>
            <p:cNvSpPr/>
            <p:nvPr/>
          </p:nvSpPr>
          <p:spPr>
            <a:xfrm>
              <a:off x="6706742" y="3221151"/>
              <a:ext cx="412750" cy="275590"/>
            </a:xfrm>
            <a:custGeom>
              <a:avLst/>
              <a:gdLst/>
              <a:ahLst/>
              <a:cxnLst/>
              <a:rect l="l" t="t" r="r" b="b"/>
              <a:pathLst>
                <a:path w="412750" h="275589">
                  <a:moveTo>
                    <a:pt x="0" y="275285"/>
                  </a:moveTo>
                  <a:lnTo>
                    <a:pt x="412559" y="0"/>
                  </a:lnTo>
                </a:path>
              </a:pathLst>
            </a:custGeom>
            <a:ln w="19050">
              <a:solidFill>
                <a:srgbClr val="000000"/>
              </a:solidFill>
            </a:ln>
          </p:spPr>
          <p:txBody>
            <a:bodyPr wrap="square" lIns="0" tIns="0" rIns="0" bIns="0" rtlCol="0"/>
            <a:lstStyle/>
            <a:p>
              <a:endParaRPr sz="1227"/>
            </a:p>
          </p:txBody>
        </p:sp>
        <p:sp>
          <p:nvSpPr>
            <p:cNvPr id="74" name="object 74"/>
            <p:cNvSpPr/>
            <p:nvPr/>
          </p:nvSpPr>
          <p:spPr>
            <a:xfrm>
              <a:off x="7031236" y="3221153"/>
              <a:ext cx="88265" cy="79375"/>
            </a:xfrm>
            <a:custGeom>
              <a:avLst/>
              <a:gdLst/>
              <a:ahLst/>
              <a:cxnLst/>
              <a:rect l="l" t="t" r="r" b="b"/>
              <a:pathLst>
                <a:path w="88265" h="79375">
                  <a:moveTo>
                    <a:pt x="49352" y="79273"/>
                  </a:moveTo>
                  <a:lnTo>
                    <a:pt x="88061" y="0"/>
                  </a:lnTo>
                  <a:lnTo>
                    <a:pt x="0" y="5321"/>
                  </a:lnTo>
                </a:path>
              </a:pathLst>
            </a:custGeom>
            <a:ln w="19050">
              <a:solidFill>
                <a:srgbClr val="000000"/>
              </a:solidFill>
            </a:ln>
          </p:spPr>
          <p:txBody>
            <a:bodyPr wrap="square" lIns="0" tIns="0" rIns="0" bIns="0" rtlCol="0"/>
            <a:lstStyle/>
            <a:p>
              <a:endParaRPr sz="1227"/>
            </a:p>
          </p:txBody>
        </p:sp>
      </p:grpSp>
      <p:sp>
        <p:nvSpPr>
          <p:cNvPr id="75" name="object 75"/>
          <p:cNvSpPr txBox="1"/>
          <p:nvPr/>
        </p:nvSpPr>
        <p:spPr>
          <a:xfrm>
            <a:off x="6398047" y="2596224"/>
            <a:ext cx="379268" cy="197641"/>
          </a:xfrm>
          <a:prstGeom prst="rect">
            <a:avLst/>
          </a:prstGeom>
        </p:spPr>
        <p:txBody>
          <a:bodyPr vert="horz" wrap="square" lIns="0" tIns="8659" rIns="0" bIns="0" rtlCol="0">
            <a:spAutoFit/>
          </a:bodyPr>
          <a:lstStyle/>
          <a:p>
            <a:pPr marL="25977">
              <a:spcBef>
                <a:spcPts val="68"/>
              </a:spcBef>
            </a:pPr>
            <a:r>
              <a:rPr sz="1841" spc="-10" baseline="13888" dirty="0">
                <a:latin typeface="Verdana"/>
                <a:cs typeface="Verdana"/>
              </a:rPr>
              <a:t>R</a:t>
            </a:r>
            <a:r>
              <a:rPr sz="818" spc="-7" dirty="0">
                <a:latin typeface="Verdana"/>
                <a:cs typeface="Verdana"/>
              </a:rPr>
              <a:t>load</a:t>
            </a:r>
            <a:endParaRPr sz="818">
              <a:latin typeface="Verdana"/>
              <a:cs typeface="Verdana"/>
            </a:endParaRPr>
          </a:p>
        </p:txBody>
      </p:sp>
      <p:grpSp>
        <p:nvGrpSpPr>
          <p:cNvPr id="76" name="object 76"/>
          <p:cNvGrpSpPr/>
          <p:nvPr/>
        </p:nvGrpSpPr>
        <p:grpSpPr>
          <a:xfrm>
            <a:off x="4835207" y="1861444"/>
            <a:ext cx="633845" cy="172749"/>
            <a:chOff x="4731130" y="2269108"/>
            <a:chExt cx="929640" cy="253365"/>
          </a:xfrm>
        </p:grpSpPr>
        <p:sp>
          <p:nvSpPr>
            <p:cNvPr id="77" name="object 77"/>
            <p:cNvSpPr/>
            <p:nvPr/>
          </p:nvSpPr>
          <p:spPr>
            <a:xfrm>
              <a:off x="4745735" y="2311907"/>
              <a:ext cx="0" cy="196215"/>
            </a:xfrm>
            <a:custGeom>
              <a:avLst/>
              <a:gdLst/>
              <a:ahLst/>
              <a:cxnLst/>
              <a:rect l="l" t="t" r="r" b="b"/>
              <a:pathLst>
                <a:path h="196214">
                  <a:moveTo>
                    <a:pt x="0" y="195834"/>
                  </a:moveTo>
                  <a:lnTo>
                    <a:pt x="0" y="0"/>
                  </a:lnTo>
                </a:path>
              </a:pathLst>
            </a:custGeom>
            <a:ln w="28956">
              <a:solidFill>
                <a:srgbClr val="FF0000"/>
              </a:solidFill>
            </a:ln>
          </p:spPr>
          <p:txBody>
            <a:bodyPr wrap="square" lIns="0" tIns="0" rIns="0" bIns="0" rtlCol="0"/>
            <a:lstStyle/>
            <a:p>
              <a:endParaRPr sz="1227"/>
            </a:p>
          </p:txBody>
        </p:sp>
        <p:sp>
          <p:nvSpPr>
            <p:cNvPr id="78" name="object 78"/>
            <p:cNvSpPr/>
            <p:nvPr/>
          </p:nvSpPr>
          <p:spPr>
            <a:xfrm>
              <a:off x="5645658" y="2283713"/>
              <a:ext cx="0" cy="196215"/>
            </a:xfrm>
            <a:custGeom>
              <a:avLst/>
              <a:gdLst/>
              <a:ahLst/>
              <a:cxnLst/>
              <a:rect l="l" t="t" r="r" b="b"/>
              <a:pathLst>
                <a:path h="196214">
                  <a:moveTo>
                    <a:pt x="0" y="195834"/>
                  </a:moveTo>
                  <a:lnTo>
                    <a:pt x="0" y="0"/>
                  </a:lnTo>
                </a:path>
              </a:pathLst>
            </a:custGeom>
            <a:ln w="28956">
              <a:solidFill>
                <a:srgbClr val="FF0000"/>
              </a:solidFill>
            </a:ln>
          </p:spPr>
          <p:txBody>
            <a:bodyPr wrap="square" lIns="0" tIns="0" rIns="0" bIns="0" rtlCol="0"/>
            <a:lstStyle/>
            <a:p>
              <a:endParaRPr sz="1227"/>
            </a:p>
          </p:txBody>
        </p:sp>
      </p:grpSp>
      <p:sp>
        <p:nvSpPr>
          <p:cNvPr id="79" name="object 79"/>
          <p:cNvSpPr txBox="1"/>
          <p:nvPr/>
        </p:nvSpPr>
        <p:spPr>
          <a:xfrm>
            <a:off x="4883629" y="1914860"/>
            <a:ext cx="261072" cy="197578"/>
          </a:xfrm>
          <a:prstGeom prst="rect">
            <a:avLst/>
          </a:prstGeom>
        </p:spPr>
        <p:txBody>
          <a:bodyPr vert="horz" wrap="square" lIns="0" tIns="8659" rIns="0" bIns="0" rtlCol="0">
            <a:spAutoFit/>
          </a:bodyPr>
          <a:lstStyle/>
          <a:p>
            <a:pPr marL="8659">
              <a:spcBef>
                <a:spcPts val="68"/>
              </a:spcBef>
            </a:pPr>
            <a:r>
              <a:rPr sz="1227" spc="-17" dirty="0">
                <a:solidFill>
                  <a:srgbClr val="FF0000"/>
                </a:solidFill>
                <a:latin typeface="Verdana"/>
                <a:cs typeface="Verdana"/>
              </a:rPr>
              <a:t>Clk</a:t>
            </a:r>
            <a:endParaRPr sz="1227">
              <a:latin typeface="Verdana"/>
              <a:cs typeface="Verdana"/>
            </a:endParaRPr>
          </a:p>
        </p:txBody>
      </p:sp>
      <p:sp>
        <p:nvSpPr>
          <p:cNvPr id="80" name="object 80"/>
          <p:cNvSpPr txBox="1"/>
          <p:nvPr/>
        </p:nvSpPr>
        <p:spPr>
          <a:xfrm>
            <a:off x="5489782" y="1919692"/>
            <a:ext cx="261072" cy="197578"/>
          </a:xfrm>
          <a:prstGeom prst="rect">
            <a:avLst/>
          </a:prstGeom>
        </p:spPr>
        <p:txBody>
          <a:bodyPr vert="horz" wrap="square" lIns="0" tIns="8659" rIns="0" bIns="0" rtlCol="0">
            <a:spAutoFit/>
          </a:bodyPr>
          <a:lstStyle/>
          <a:p>
            <a:pPr marL="8659">
              <a:spcBef>
                <a:spcPts val="68"/>
              </a:spcBef>
            </a:pPr>
            <a:r>
              <a:rPr sz="1227" spc="-17" dirty="0">
                <a:solidFill>
                  <a:srgbClr val="FF0000"/>
                </a:solidFill>
                <a:latin typeface="Verdana"/>
                <a:cs typeface="Verdana"/>
              </a:rPr>
              <a:t>Clk</a:t>
            </a:r>
            <a:endParaRPr sz="1227">
              <a:latin typeface="Verdana"/>
              <a:cs typeface="Verdana"/>
            </a:endParaRPr>
          </a:p>
        </p:txBody>
      </p:sp>
      <p:sp>
        <p:nvSpPr>
          <p:cNvPr id="81" name="object 81"/>
          <p:cNvSpPr txBox="1"/>
          <p:nvPr/>
        </p:nvSpPr>
        <p:spPr>
          <a:xfrm>
            <a:off x="5797128" y="1411576"/>
            <a:ext cx="223405" cy="197578"/>
          </a:xfrm>
          <a:prstGeom prst="rect">
            <a:avLst/>
          </a:prstGeom>
        </p:spPr>
        <p:txBody>
          <a:bodyPr vert="horz" wrap="square" lIns="0" tIns="8659" rIns="0" bIns="0" rtlCol="0">
            <a:spAutoFit/>
          </a:bodyPr>
          <a:lstStyle/>
          <a:p>
            <a:pPr marL="25977">
              <a:spcBef>
                <a:spcPts val="68"/>
              </a:spcBef>
            </a:pPr>
            <a:r>
              <a:rPr sz="1227" spc="-17" dirty="0">
                <a:latin typeface="Verdana"/>
                <a:cs typeface="Verdana"/>
              </a:rPr>
              <a:t>V</a:t>
            </a:r>
            <a:r>
              <a:rPr sz="1227" spc="-25" baseline="-20833" dirty="0">
                <a:latin typeface="Verdana"/>
                <a:cs typeface="Verdana"/>
              </a:rPr>
              <a:t>g</a:t>
            </a:r>
            <a:endParaRPr sz="1227" baseline="-20833">
              <a:latin typeface="Verdana"/>
              <a:cs typeface="Verdana"/>
            </a:endParaRPr>
          </a:p>
        </p:txBody>
      </p:sp>
      <p:sp>
        <p:nvSpPr>
          <p:cNvPr id="82" name="object 82"/>
          <p:cNvSpPr txBox="1"/>
          <p:nvPr/>
        </p:nvSpPr>
        <p:spPr>
          <a:xfrm>
            <a:off x="5320354" y="2576707"/>
            <a:ext cx="330344" cy="197641"/>
          </a:xfrm>
          <a:prstGeom prst="rect">
            <a:avLst/>
          </a:prstGeom>
        </p:spPr>
        <p:txBody>
          <a:bodyPr vert="horz" wrap="square" lIns="0" tIns="8659" rIns="0" bIns="0" rtlCol="0">
            <a:spAutoFit/>
          </a:bodyPr>
          <a:lstStyle/>
          <a:p>
            <a:pPr marL="25977">
              <a:spcBef>
                <a:spcPts val="68"/>
              </a:spcBef>
            </a:pPr>
            <a:r>
              <a:rPr sz="1841" spc="-20" baseline="13888" dirty="0">
                <a:latin typeface="Verdana"/>
                <a:cs typeface="Verdana"/>
              </a:rPr>
              <a:t>C</a:t>
            </a:r>
            <a:r>
              <a:rPr sz="818" spc="-14" dirty="0">
                <a:latin typeface="Verdana"/>
                <a:cs typeface="Verdana"/>
              </a:rPr>
              <a:t>out</a:t>
            </a:r>
            <a:endParaRPr sz="818">
              <a:latin typeface="Verdana"/>
              <a:cs typeface="Verdana"/>
            </a:endParaRPr>
          </a:p>
        </p:txBody>
      </p:sp>
      <p:grpSp>
        <p:nvGrpSpPr>
          <p:cNvPr id="83" name="object 83"/>
          <p:cNvGrpSpPr/>
          <p:nvPr/>
        </p:nvGrpSpPr>
        <p:grpSpPr>
          <a:xfrm>
            <a:off x="5176549" y="1538288"/>
            <a:ext cx="535132" cy="365414"/>
            <a:chOff x="5231765" y="1795146"/>
            <a:chExt cx="784860" cy="535940"/>
          </a:xfrm>
        </p:grpSpPr>
        <p:sp>
          <p:nvSpPr>
            <p:cNvPr id="84" name="object 84"/>
            <p:cNvSpPr/>
            <p:nvPr/>
          </p:nvSpPr>
          <p:spPr>
            <a:xfrm>
              <a:off x="5246370" y="1809751"/>
              <a:ext cx="755650" cy="506730"/>
            </a:xfrm>
            <a:custGeom>
              <a:avLst/>
              <a:gdLst/>
              <a:ahLst/>
              <a:cxnLst/>
              <a:rect l="l" t="t" r="r" b="b"/>
              <a:pathLst>
                <a:path w="755650" h="506730">
                  <a:moveTo>
                    <a:pt x="670687" y="0"/>
                  </a:moveTo>
                  <a:lnTo>
                    <a:pt x="84455" y="0"/>
                  </a:lnTo>
                  <a:lnTo>
                    <a:pt x="51579" y="6636"/>
                  </a:lnTo>
                  <a:lnTo>
                    <a:pt x="24734" y="24734"/>
                  </a:lnTo>
                  <a:lnTo>
                    <a:pt x="6636" y="51579"/>
                  </a:lnTo>
                  <a:lnTo>
                    <a:pt x="0" y="84454"/>
                  </a:lnTo>
                  <a:lnTo>
                    <a:pt x="0" y="422274"/>
                  </a:lnTo>
                  <a:lnTo>
                    <a:pt x="6636" y="455150"/>
                  </a:lnTo>
                  <a:lnTo>
                    <a:pt x="24734" y="481995"/>
                  </a:lnTo>
                  <a:lnTo>
                    <a:pt x="51579" y="500093"/>
                  </a:lnTo>
                  <a:lnTo>
                    <a:pt x="84455" y="506729"/>
                  </a:lnTo>
                  <a:lnTo>
                    <a:pt x="670687" y="506729"/>
                  </a:lnTo>
                  <a:lnTo>
                    <a:pt x="703562" y="500093"/>
                  </a:lnTo>
                  <a:lnTo>
                    <a:pt x="730407" y="481995"/>
                  </a:lnTo>
                  <a:lnTo>
                    <a:pt x="748505" y="455150"/>
                  </a:lnTo>
                  <a:lnTo>
                    <a:pt x="755142" y="422274"/>
                  </a:lnTo>
                  <a:lnTo>
                    <a:pt x="755142" y="84454"/>
                  </a:lnTo>
                  <a:lnTo>
                    <a:pt x="748505" y="51579"/>
                  </a:lnTo>
                  <a:lnTo>
                    <a:pt x="730407" y="24734"/>
                  </a:lnTo>
                  <a:lnTo>
                    <a:pt x="703562" y="6636"/>
                  </a:lnTo>
                  <a:lnTo>
                    <a:pt x="670687" y="0"/>
                  </a:lnTo>
                  <a:close/>
                </a:path>
              </a:pathLst>
            </a:custGeom>
            <a:solidFill>
              <a:srgbClr val="FFFFFF"/>
            </a:solidFill>
          </p:spPr>
          <p:txBody>
            <a:bodyPr wrap="square" lIns="0" tIns="0" rIns="0" bIns="0" rtlCol="0"/>
            <a:lstStyle/>
            <a:p>
              <a:endParaRPr sz="1227"/>
            </a:p>
          </p:txBody>
        </p:sp>
        <p:sp>
          <p:nvSpPr>
            <p:cNvPr id="85" name="object 85"/>
            <p:cNvSpPr/>
            <p:nvPr/>
          </p:nvSpPr>
          <p:spPr>
            <a:xfrm>
              <a:off x="5246370" y="1809751"/>
              <a:ext cx="755650" cy="506730"/>
            </a:xfrm>
            <a:custGeom>
              <a:avLst/>
              <a:gdLst/>
              <a:ahLst/>
              <a:cxnLst/>
              <a:rect l="l" t="t" r="r" b="b"/>
              <a:pathLst>
                <a:path w="755650" h="506730">
                  <a:moveTo>
                    <a:pt x="0" y="84454"/>
                  </a:moveTo>
                  <a:lnTo>
                    <a:pt x="6636" y="51579"/>
                  </a:lnTo>
                  <a:lnTo>
                    <a:pt x="24734" y="24734"/>
                  </a:lnTo>
                  <a:lnTo>
                    <a:pt x="51579" y="6636"/>
                  </a:lnTo>
                  <a:lnTo>
                    <a:pt x="84455" y="0"/>
                  </a:lnTo>
                  <a:lnTo>
                    <a:pt x="670687" y="0"/>
                  </a:lnTo>
                  <a:lnTo>
                    <a:pt x="703562" y="6636"/>
                  </a:lnTo>
                  <a:lnTo>
                    <a:pt x="730407" y="24734"/>
                  </a:lnTo>
                  <a:lnTo>
                    <a:pt x="748505" y="51579"/>
                  </a:lnTo>
                  <a:lnTo>
                    <a:pt x="755142" y="84454"/>
                  </a:lnTo>
                  <a:lnTo>
                    <a:pt x="755142" y="422274"/>
                  </a:lnTo>
                  <a:lnTo>
                    <a:pt x="748505" y="455150"/>
                  </a:lnTo>
                  <a:lnTo>
                    <a:pt x="730407" y="481995"/>
                  </a:lnTo>
                  <a:lnTo>
                    <a:pt x="703562" y="500093"/>
                  </a:lnTo>
                  <a:lnTo>
                    <a:pt x="670687" y="506729"/>
                  </a:lnTo>
                  <a:lnTo>
                    <a:pt x="84455" y="506729"/>
                  </a:lnTo>
                  <a:lnTo>
                    <a:pt x="51579" y="500093"/>
                  </a:lnTo>
                  <a:lnTo>
                    <a:pt x="24734" y="481995"/>
                  </a:lnTo>
                  <a:lnTo>
                    <a:pt x="6636" y="455150"/>
                  </a:lnTo>
                  <a:lnTo>
                    <a:pt x="0" y="422274"/>
                  </a:lnTo>
                  <a:lnTo>
                    <a:pt x="0" y="84454"/>
                  </a:lnTo>
                  <a:close/>
                </a:path>
              </a:pathLst>
            </a:custGeom>
            <a:ln w="28956">
              <a:solidFill>
                <a:srgbClr val="000000"/>
              </a:solidFill>
            </a:ln>
          </p:spPr>
          <p:txBody>
            <a:bodyPr wrap="square" lIns="0" tIns="0" rIns="0" bIns="0" rtlCol="0"/>
            <a:lstStyle/>
            <a:p>
              <a:endParaRPr sz="1227"/>
            </a:p>
          </p:txBody>
        </p:sp>
      </p:grpSp>
      <p:sp>
        <p:nvSpPr>
          <p:cNvPr id="86" name="object 86"/>
          <p:cNvSpPr txBox="1"/>
          <p:nvPr/>
        </p:nvSpPr>
        <p:spPr>
          <a:xfrm>
            <a:off x="5267262" y="1573610"/>
            <a:ext cx="353724" cy="260479"/>
          </a:xfrm>
          <a:prstGeom prst="rect">
            <a:avLst/>
          </a:prstGeom>
        </p:spPr>
        <p:txBody>
          <a:bodyPr vert="horz" wrap="square" lIns="0" tIns="8659" rIns="0" bIns="0" rtlCol="0">
            <a:spAutoFit/>
          </a:bodyPr>
          <a:lstStyle/>
          <a:p>
            <a:pPr marL="8659">
              <a:spcBef>
                <a:spcPts val="68"/>
              </a:spcBef>
            </a:pPr>
            <a:r>
              <a:rPr sz="1636" spc="-14" dirty="0">
                <a:latin typeface="Verdana"/>
                <a:cs typeface="Verdana"/>
              </a:rPr>
              <a:t>ctrl</a:t>
            </a:r>
            <a:endParaRPr sz="1636">
              <a:latin typeface="Verdana"/>
              <a:cs typeface="Verdana"/>
            </a:endParaRPr>
          </a:p>
        </p:txBody>
      </p:sp>
      <p:grpSp>
        <p:nvGrpSpPr>
          <p:cNvPr id="87" name="object 87"/>
          <p:cNvGrpSpPr/>
          <p:nvPr/>
        </p:nvGrpSpPr>
        <p:grpSpPr>
          <a:xfrm>
            <a:off x="4374457" y="1548246"/>
            <a:ext cx="1636568" cy="629949"/>
            <a:chOff x="4055364" y="1809750"/>
            <a:chExt cx="2400300" cy="923925"/>
          </a:xfrm>
        </p:grpSpPr>
        <p:sp>
          <p:nvSpPr>
            <p:cNvPr id="88" name="object 88"/>
            <p:cNvSpPr/>
            <p:nvPr/>
          </p:nvSpPr>
          <p:spPr>
            <a:xfrm>
              <a:off x="4397502" y="1824227"/>
              <a:ext cx="621030" cy="478155"/>
            </a:xfrm>
            <a:custGeom>
              <a:avLst/>
              <a:gdLst/>
              <a:ahLst/>
              <a:cxnLst/>
              <a:rect l="l" t="t" r="r" b="b"/>
              <a:pathLst>
                <a:path w="621029" h="478155">
                  <a:moveTo>
                    <a:pt x="621029" y="0"/>
                  </a:moveTo>
                  <a:lnTo>
                    <a:pt x="621029" y="477773"/>
                  </a:lnTo>
                  <a:lnTo>
                    <a:pt x="124205" y="477773"/>
                  </a:lnTo>
                  <a:lnTo>
                    <a:pt x="0" y="238886"/>
                  </a:lnTo>
                  <a:lnTo>
                    <a:pt x="124205" y="0"/>
                  </a:lnTo>
                  <a:lnTo>
                    <a:pt x="621029" y="0"/>
                  </a:lnTo>
                  <a:close/>
                </a:path>
              </a:pathLst>
            </a:custGeom>
            <a:ln w="28956">
              <a:solidFill>
                <a:srgbClr val="000000"/>
              </a:solidFill>
            </a:ln>
          </p:spPr>
          <p:txBody>
            <a:bodyPr wrap="square" lIns="0" tIns="0" rIns="0" bIns="0" rtlCol="0"/>
            <a:lstStyle/>
            <a:p>
              <a:endParaRPr sz="1227"/>
            </a:p>
          </p:txBody>
        </p:sp>
        <p:sp>
          <p:nvSpPr>
            <p:cNvPr id="89" name="object 89"/>
            <p:cNvSpPr/>
            <p:nvPr/>
          </p:nvSpPr>
          <p:spPr>
            <a:xfrm>
              <a:off x="4074414" y="2188463"/>
              <a:ext cx="2362200" cy="525780"/>
            </a:xfrm>
            <a:custGeom>
              <a:avLst/>
              <a:gdLst/>
              <a:ahLst/>
              <a:cxnLst/>
              <a:rect l="l" t="t" r="r" b="b"/>
              <a:pathLst>
                <a:path w="2362200" h="525780">
                  <a:moveTo>
                    <a:pt x="0" y="262889"/>
                  </a:moveTo>
                  <a:lnTo>
                    <a:pt x="20498" y="213869"/>
                  </a:lnTo>
                  <a:lnTo>
                    <a:pt x="55786" y="182819"/>
                  </a:lnTo>
                  <a:lnTo>
                    <a:pt x="107081" y="153361"/>
                  </a:lnTo>
                  <a:lnTo>
                    <a:pt x="173276" y="125740"/>
                  </a:lnTo>
                  <a:lnTo>
                    <a:pt x="211615" y="112696"/>
                  </a:lnTo>
                  <a:lnTo>
                    <a:pt x="253264" y="100204"/>
                  </a:lnTo>
                  <a:lnTo>
                    <a:pt x="298084" y="88295"/>
                  </a:lnTo>
                  <a:lnTo>
                    <a:pt x="345938" y="77000"/>
                  </a:lnTo>
                  <a:lnTo>
                    <a:pt x="396686" y="66348"/>
                  </a:lnTo>
                  <a:lnTo>
                    <a:pt x="450191" y="56372"/>
                  </a:lnTo>
                  <a:lnTo>
                    <a:pt x="506314" y="47102"/>
                  </a:lnTo>
                  <a:lnTo>
                    <a:pt x="564917" y="38568"/>
                  </a:lnTo>
                  <a:lnTo>
                    <a:pt x="625861" y="30802"/>
                  </a:lnTo>
                  <a:lnTo>
                    <a:pt x="689008" y="23834"/>
                  </a:lnTo>
                  <a:lnTo>
                    <a:pt x="754220" y="17695"/>
                  </a:lnTo>
                  <a:lnTo>
                    <a:pt x="821358" y="12417"/>
                  </a:lnTo>
                  <a:lnTo>
                    <a:pt x="890284" y="8029"/>
                  </a:lnTo>
                  <a:lnTo>
                    <a:pt x="960859" y="4562"/>
                  </a:lnTo>
                  <a:lnTo>
                    <a:pt x="1032946" y="2048"/>
                  </a:lnTo>
                  <a:lnTo>
                    <a:pt x="1106406" y="517"/>
                  </a:lnTo>
                  <a:lnTo>
                    <a:pt x="1181100" y="0"/>
                  </a:lnTo>
                  <a:lnTo>
                    <a:pt x="1255793" y="517"/>
                  </a:lnTo>
                  <a:lnTo>
                    <a:pt x="1329253" y="2048"/>
                  </a:lnTo>
                  <a:lnTo>
                    <a:pt x="1401340" y="4562"/>
                  </a:lnTo>
                  <a:lnTo>
                    <a:pt x="1471915" y="8029"/>
                  </a:lnTo>
                  <a:lnTo>
                    <a:pt x="1540841" y="12417"/>
                  </a:lnTo>
                  <a:lnTo>
                    <a:pt x="1607979" y="17695"/>
                  </a:lnTo>
                  <a:lnTo>
                    <a:pt x="1673191" y="23834"/>
                  </a:lnTo>
                  <a:lnTo>
                    <a:pt x="1736338" y="30802"/>
                  </a:lnTo>
                  <a:lnTo>
                    <a:pt x="1797282" y="38568"/>
                  </a:lnTo>
                  <a:lnTo>
                    <a:pt x="1855885" y="47102"/>
                  </a:lnTo>
                  <a:lnTo>
                    <a:pt x="1912008" y="56372"/>
                  </a:lnTo>
                  <a:lnTo>
                    <a:pt x="1965513" y="66348"/>
                  </a:lnTo>
                  <a:lnTo>
                    <a:pt x="2016261" y="77000"/>
                  </a:lnTo>
                  <a:lnTo>
                    <a:pt x="2064115" y="88295"/>
                  </a:lnTo>
                  <a:lnTo>
                    <a:pt x="2108935" y="100204"/>
                  </a:lnTo>
                  <a:lnTo>
                    <a:pt x="2150584" y="112696"/>
                  </a:lnTo>
                  <a:lnTo>
                    <a:pt x="2188923" y="125740"/>
                  </a:lnTo>
                  <a:lnTo>
                    <a:pt x="2255118" y="153361"/>
                  </a:lnTo>
                  <a:lnTo>
                    <a:pt x="2306413" y="182819"/>
                  </a:lnTo>
                  <a:lnTo>
                    <a:pt x="2341701" y="213869"/>
                  </a:lnTo>
                  <a:lnTo>
                    <a:pt x="2362200" y="262889"/>
                  </a:lnTo>
                  <a:lnTo>
                    <a:pt x="2359876" y="279515"/>
                  </a:lnTo>
                  <a:lnTo>
                    <a:pt x="2326127" y="327619"/>
                  </a:lnTo>
                  <a:lnTo>
                    <a:pt x="2282697" y="357904"/>
                  </a:lnTo>
                  <a:lnTo>
                    <a:pt x="2223814" y="386474"/>
                  </a:lnTo>
                  <a:lnTo>
                    <a:pt x="2150584" y="413083"/>
                  </a:lnTo>
                  <a:lnTo>
                    <a:pt x="2108935" y="425575"/>
                  </a:lnTo>
                  <a:lnTo>
                    <a:pt x="2064115" y="437484"/>
                  </a:lnTo>
                  <a:lnTo>
                    <a:pt x="2016261" y="448779"/>
                  </a:lnTo>
                  <a:lnTo>
                    <a:pt x="1965513" y="459431"/>
                  </a:lnTo>
                  <a:lnTo>
                    <a:pt x="1912008" y="469407"/>
                  </a:lnTo>
                  <a:lnTo>
                    <a:pt x="1855885" y="478677"/>
                  </a:lnTo>
                  <a:lnTo>
                    <a:pt x="1797282" y="487211"/>
                  </a:lnTo>
                  <a:lnTo>
                    <a:pt x="1736338" y="494977"/>
                  </a:lnTo>
                  <a:lnTo>
                    <a:pt x="1673191" y="501945"/>
                  </a:lnTo>
                  <a:lnTo>
                    <a:pt x="1607979" y="508084"/>
                  </a:lnTo>
                  <a:lnTo>
                    <a:pt x="1540841" y="513362"/>
                  </a:lnTo>
                  <a:lnTo>
                    <a:pt x="1471915" y="517750"/>
                  </a:lnTo>
                  <a:lnTo>
                    <a:pt x="1401340" y="521217"/>
                  </a:lnTo>
                  <a:lnTo>
                    <a:pt x="1329253" y="523731"/>
                  </a:lnTo>
                  <a:lnTo>
                    <a:pt x="1255793" y="525262"/>
                  </a:lnTo>
                  <a:lnTo>
                    <a:pt x="1181100" y="525779"/>
                  </a:lnTo>
                  <a:lnTo>
                    <a:pt x="1106406" y="525262"/>
                  </a:lnTo>
                  <a:lnTo>
                    <a:pt x="1032946" y="523731"/>
                  </a:lnTo>
                  <a:lnTo>
                    <a:pt x="960859" y="521217"/>
                  </a:lnTo>
                  <a:lnTo>
                    <a:pt x="890284" y="517750"/>
                  </a:lnTo>
                  <a:lnTo>
                    <a:pt x="821358" y="513362"/>
                  </a:lnTo>
                  <a:lnTo>
                    <a:pt x="754220" y="508084"/>
                  </a:lnTo>
                  <a:lnTo>
                    <a:pt x="689008" y="501945"/>
                  </a:lnTo>
                  <a:lnTo>
                    <a:pt x="625861" y="494977"/>
                  </a:lnTo>
                  <a:lnTo>
                    <a:pt x="564917" y="487211"/>
                  </a:lnTo>
                  <a:lnTo>
                    <a:pt x="506314" y="478677"/>
                  </a:lnTo>
                  <a:lnTo>
                    <a:pt x="450191" y="469407"/>
                  </a:lnTo>
                  <a:lnTo>
                    <a:pt x="396686" y="459431"/>
                  </a:lnTo>
                  <a:lnTo>
                    <a:pt x="345938" y="448779"/>
                  </a:lnTo>
                  <a:lnTo>
                    <a:pt x="298084" y="437484"/>
                  </a:lnTo>
                  <a:lnTo>
                    <a:pt x="253264" y="425575"/>
                  </a:lnTo>
                  <a:lnTo>
                    <a:pt x="211615" y="413083"/>
                  </a:lnTo>
                  <a:lnTo>
                    <a:pt x="173276" y="400039"/>
                  </a:lnTo>
                  <a:lnTo>
                    <a:pt x="107081" y="372418"/>
                  </a:lnTo>
                  <a:lnTo>
                    <a:pt x="55786" y="342960"/>
                  </a:lnTo>
                  <a:lnTo>
                    <a:pt x="20498" y="311910"/>
                  </a:lnTo>
                  <a:lnTo>
                    <a:pt x="0" y="262889"/>
                  </a:lnTo>
                  <a:close/>
                </a:path>
              </a:pathLst>
            </a:custGeom>
            <a:ln w="38100">
              <a:solidFill>
                <a:srgbClr val="FF0000"/>
              </a:solidFill>
              <a:prstDash val="sysDash"/>
            </a:ln>
          </p:spPr>
          <p:txBody>
            <a:bodyPr wrap="square" lIns="0" tIns="0" rIns="0" bIns="0" rtlCol="0"/>
            <a:lstStyle/>
            <a:p>
              <a:endParaRPr sz="1227"/>
            </a:p>
          </p:txBody>
        </p:sp>
      </p:grpSp>
      <p:sp>
        <p:nvSpPr>
          <p:cNvPr id="90" name="object 90"/>
          <p:cNvSpPr txBox="1"/>
          <p:nvPr/>
        </p:nvSpPr>
        <p:spPr>
          <a:xfrm>
            <a:off x="4650901" y="1607757"/>
            <a:ext cx="352858" cy="197578"/>
          </a:xfrm>
          <a:prstGeom prst="rect">
            <a:avLst/>
          </a:prstGeom>
        </p:spPr>
        <p:txBody>
          <a:bodyPr vert="horz" wrap="square" lIns="0" tIns="8659" rIns="0" bIns="0" rtlCol="0">
            <a:spAutoFit/>
          </a:bodyPr>
          <a:lstStyle/>
          <a:p>
            <a:pPr marL="8659">
              <a:spcBef>
                <a:spcPts val="68"/>
              </a:spcBef>
            </a:pPr>
            <a:r>
              <a:rPr sz="1227" spc="-17" dirty="0">
                <a:latin typeface="Verdana"/>
                <a:cs typeface="Verdana"/>
              </a:rPr>
              <a:t>ADC</a:t>
            </a:r>
            <a:endParaRPr sz="1227">
              <a:latin typeface="Verdana"/>
              <a:cs typeface="Verdana"/>
            </a:endParaRPr>
          </a:p>
        </p:txBody>
      </p:sp>
    </p:spTree>
    <p:extLst>
      <p:ext uri="{BB962C8B-B14F-4D97-AF65-F5344CB8AC3E}">
        <p14:creationId xmlns:p14="http://schemas.microsoft.com/office/powerpoint/2010/main" val="37008095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98148" y="237085"/>
            <a:ext cx="7222634" cy="531526"/>
          </a:xfrm>
          <a:prstGeom prst="rect">
            <a:avLst/>
          </a:prstGeom>
        </p:spPr>
        <p:txBody>
          <a:bodyPr vert="horz" wrap="square" lIns="0" tIns="8226" rIns="0" bIns="0" rtlCol="0">
            <a:spAutoFit/>
          </a:bodyPr>
          <a:lstStyle/>
          <a:p>
            <a:pPr marL="8659">
              <a:spcBef>
                <a:spcPts val="65"/>
              </a:spcBef>
            </a:pPr>
            <a:r>
              <a:rPr dirty="0"/>
              <a:t>Output</a:t>
            </a:r>
            <a:r>
              <a:rPr spc="-24" dirty="0"/>
              <a:t> </a:t>
            </a:r>
            <a:r>
              <a:rPr dirty="0"/>
              <a:t>Ripple</a:t>
            </a:r>
            <a:r>
              <a:rPr spc="-34" dirty="0"/>
              <a:t> </a:t>
            </a:r>
            <a:r>
              <a:rPr dirty="0"/>
              <a:t>Size</a:t>
            </a:r>
            <a:r>
              <a:rPr spc="-24" dirty="0"/>
              <a:t> </a:t>
            </a:r>
            <a:r>
              <a:rPr spc="-7" dirty="0"/>
              <a:t>(V</a:t>
            </a:r>
            <a:r>
              <a:rPr sz="2557" spc="-10" baseline="-21111" dirty="0"/>
              <a:t>ripple</a:t>
            </a:r>
            <a:r>
              <a:rPr sz="2591" spc="-7" dirty="0"/>
              <a:t>)</a:t>
            </a:r>
            <a:endParaRPr sz="2591"/>
          </a:p>
        </p:txBody>
      </p:sp>
      <p:sp>
        <p:nvSpPr>
          <p:cNvPr id="3" name="object 3"/>
          <p:cNvSpPr txBox="1"/>
          <p:nvPr/>
        </p:nvSpPr>
        <p:spPr>
          <a:xfrm>
            <a:off x="1838036" y="3674120"/>
            <a:ext cx="6734608" cy="718973"/>
          </a:xfrm>
          <a:prstGeom prst="rect">
            <a:avLst/>
          </a:prstGeom>
        </p:spPr>
        <p:txBody>
          <a:bodyPr vert="horz" wrap="square" lIns="0" tIns="50223" rIns="0" bIns="0" rtlCol="0">
            <a:spAutoFit/>
          </a:bodyPr>
          <a:lstStyle/>
          <a:p>
            <a:pPr marL="346354" indent="-320378">
              <a:spcBef>
                <a:spcPts val="395"/>
              </a:spcBef>
              <a:buClr>
                <a:srgbClr val="CC0000"/>
              </a:buClr>
              <a:buFont typeface="Wingdings"/>
              <a:buChar char=""/>
              <a:tabLst>
                <a:tab pos="346354" algn="l"/>
              </a:tabLst>
            </a:pPr>
            <a:r>
              <a:rPr sz="1364" dirty="0">
                <a:latin typeface="Verdana"/>
                <a:cs typeface="Verdana"/>
              </a:rPr>
              <a:t>High</a:t>
            </a:r>
            <a:r>
              <a:rPr sz="1364" spc="-10" dirty="0">
                <a:latin typeface="Verdana"/>
                <a:cs typeface="Verdana"/>
              </a:rPr>
              <a:t> </a:t>
            </a:r>
            <a:r>
              <a:rPr sz="1364" dirty="0">
                <a:latin typeface="Verdana"/>
                <a:cs typeface="Verdana"/>
              </a:rPr>
              <a:t>f</a:t>
            </a:r>
            <a:r>
              <a:rPr sz="1330" baseline="-21367" dirty="0">
                <a:latin typeface="Verdana"/>
                <a:cs typeface="Verdana"/>
              </a:rPr>
              <a:t>clk</a:t>
            </a:r>
            <a:r>
              <a:rPr sz="1330" spc="230" baseline="-21367" dirty="0">
                <a:latin typeface="Verdana"/>
                <a:cs typeface="Verdana"/>
              </a:rPr>
              <a:t> </a:t>
            </a:r>
            <a:r>
              <a:rPr sz="1364" dirty="0">
                <a:latin typeface="Verdana"/>
                <a:cs typeface="Verdana"/>
              </a:rPr>
              <a:t>increases</a:t>
            </a:r>
            <a:r>
              <a:rPr sz="1364" spc="-24" dirty="0">
                <a:latin typeface="Verdana"/>
                <a:cs typeface="Verdana"/>
              </a:rPr>
              <a:t> </a:t>
            </a:r>
            <a:r>
              <a:rPr sz="1364" spc="-7" dirty="0">
                <a:latin typeface="Verdana"/>
                <a:cs typeface="Verdana"/>
              </a:rPr>
              <a:t>V</a:t>
            </a:r>
            <a:r>
              <a:rPr sz="1330" spc="-10" baseline="-21367" dirty="0">
                <a:latin typeface="Verdana"/>
                <a:cs typeface="Verdana"/>
              </a:rPr>
              <a:t>ripple</a:t>
            </a:r>
            <a:endParaRPr sz="1330" baseline="-21367">
              <a:latin typeface="Verdana"/>
              <a:cs typeface="Verdana"/>
            </a:endParaRPr>
          </a:p>
          <a:p>
            <a:pPr marL="346354" marR="20781" indent="-320810">
              <a:spcBef>
                <a:spcPts val="327"/>
              </a:spcBef>
              <a:buClr>
                <a:srgbClr val="CC0000"/>
              </a:buClr>
              <a:buFont typeface="Wingdings"/>
              <a:buChar char=""/>
              <a:tabLst>
                <a:tab pos="346354" algn="l"/>
              </a:tabLst>
            </a:pPr>
            <a:r>
              <a:rPr sz="1364" dirty="0">
                <a:latin typeface="Verdana"/>
                <a:cs typeface="Verdana"/>
              </a:rPr>
              <a:t>Because</a:t>
            </a:r>
            <a:r>
              <a:rPr sz="1364" spc="-31" dirty="0">
                <a:latin typeface="Verdana"/>
                <a:cs typeface="Verdana"/>
              </a:rPr>
              <a:t> </a:t>
            </a:r>
            <a:r>
              <a:rPr sz="1364" dirty="0">
                <a:latin typeface="Verdana"/>
                <a:cs typeface="Verdana"/>
              </a:rPr>
              <a:t>a</a:t>
            </a:r>
            <a:r>
              <a:rPr sz="1364" spc="-31" dirty="0">
                <a:latin typeface="Verdana"/>
                <a:cs typeface="Verdana"/>
              </a:rPr>
              <a:t> </a:t>
            </a:r>
            <a:r>
              <a:rPr sz="1364" dirty="0">
                <a:latin typeface="Verdana"/>
                <a:cs typeface="Verdana"/>
              </a:rPr>
              <a:t>controller</a:t>
            </a:r>
            <a:r>
              <a:rPr sz="1364" spc="-31" dirty="0">
                <a:latin typeface="Verdana"/>
                <a:cs typeface="Verdana"/>
              </a:rPr>
              <a:t> </a:t>
            </a:r>
            <a:r>
              <a:rPr sz="1364" dirty="0">
                <a:latin typeface="Verdana"/>
                <a:cs typeface="Verdana"/>
              </a:rPr>
              <a:t>makes</a:t>
            </a:r>
            <a:r>
              <a:rPr sz="1364" spc="-27" dirty="0">
                <a:latin typeface="Verdana"/>
                <a:cs typeface="Verdana"/>
              </a:rPr>
              <a:t> </a:t>
            </a:r>
            <a:r>
              <a:rPr sz="1364" dirty="0">
                <a:latin typeface="Verdana"/>
                <a:cs typeface="Verdana"/>
              </a:rPr>
              <a:t>a</a:t>
            </a:r>
            <a:r>
              <a:rPr sz="1364" spc="-27" dirty="0">
                <a:latin typeface="Verdana"/>
                <a:cs typeface="Verdana"/>
              </a:rPr>
              <a:t> </a:t>
            </a:r>
            <a:r>
              <a:rPr sz="1364" dirty="0">
                <a:latin typeface="Verdana"/>
                <a:cs typeface="Verdana"/>
              </a:rPr>
              <a:t>correction</a:t>
            </a:r>
            <a:r>
              <a:rPr sz="1364" spc="-34" dirty="0">
                <a:latin typeface="Verdana"/>
                <a:cs typeface="Verdana"/>
              </a:rPr>
              <a:t> </a:t>
            </a:r>
            <a:r>
              <a:rPr sz="1364" dirty="0">
                <a:latin typeface="Verdana"/>
                <a:cs typeface="Verdana"/>
              </a:rPr>
              <a:t>before</a:t>
            </a:r>
            <a:r>
              <a:rPr sz="1364" spc="-31" dirty="0">
                <a:latin typeface="Verdana"/>
                <a:cs typeface="Verdana"/>
              </a:rPr>
              <a:t> </a:t>
            </a:r>
            <a:r>
              <a:rPr sz="1364" dirty="0">
                <a:latin typeface="Verdana"/>
                <a:cs typeface="Verdana"/>
              </a:rPr>
              <a:t>the</a:t>
            </a:r>
            <a:r>
              <a:rPr sz="1364" spc="-34" dirty="0">
                <a:latin typeface="Verdana"/>
                <a:cs typeface="Verdana"/>
              </a:rPr>
              <a:t> </a:t>
            </a:r>
            <a:r>
              <a:rPr sz="1364" dirty="0">
                <a:latin typeface="Verdana"/>
                <a:cs typeface="Verdana"/>
              </a:rPr>
              <a:t>previous</a:t>
            </a:r>
            <a:r>
              <a:rPr sz="1364" spc="-24" dirty="0">
                <a:latin typeface="Verdana"/>
                <a:cs typeface="Verdana"/>
              </a:rPr>
              <a:t> </a:t>
            </a:r>
            <a:r>
              <a:rPr sz="1364" dirty="0">
                <a:latin typeface="Verdana"/>
                <a:cs typeface="Verdana"/>
              </a:rPr>
              <a:t>correction</a:t>
            </a:r>
            <a:r>
              <a:rPr sz="1364" spc="-31" dirty="0">
                <a:latin typeface="Verdana"/>
                <a:cs typeface="Verdana"/>
              </a:rPr>
              <a:t> </a:t>
            </a:r>
            <a:r>
              <a:rPr sz="1364" spc="-17" dirty="0">
                <a:latin typeface="Verdana"/>
                <a:cs typeface="Verdana"/>
              </a:rPr>
              <a:t>is </a:t>
            </a:r>
            <a:r>
              <a:rPr sz="1364" dirty="0">
                <a:latin typeface="Verdana"/>
                <a:cs typeface="Verdana"/>
              </a:rPr>
              <a:t>fully</a:t>
            </a:r>
            <a:r>
              <a:rPr sz="1364" spc="-17" dirty="0">
                <a:latin typeface="Verdana"/>
                <a:cs typeface="Verdana"/>
              </a:rPr>
              <a:t> </a:t>
            </a:r>
            <a:r>
              <a:rPr sz="1364" dirty="0">
                <a:latin typeface="Verdana"/>
                <a:cs typeface="Verdana"/>
              </a:rPr>
              <a:t>applied on</a:t>
            </a:r>
            <a:r>
              <a:rPr sz="1364" spc="-24" dirty="0">
                <a:latin typeface="Verdana"/>
                <a:cs typeface="Verdana"/>
              </a:rPr>
              <a:t> </a:t>
            </a:r>
            <a:r>
              <a:rPr sz="1364" dirty="0">
                <a:latin typeface="Verdana"/>
                <a:cs typeface="Verdana"/>
              </a:rPr>
              <a:t>a</a:t>
            </a:r>
            <a:r>
              <a:rPr sz="1364" spc="-20" dirty="0">
                <a:latin typeface="Verdana"/>
                <a:cs typeface="Verdana"/>
              </a:rPr>
              <a:t> </a:t>
            </a:r>
            <a:r>
              <a:rPr sz="1364" dirty="0">
                <a:latin typeface="Verdana"/>
                <a:cs typeface="Verdana"/>
              </a:rPr>
              <a:t>load</a:t>
            </a:r>
            <a:r>
              <a:rPr sz="1364" spc="-14" dirty="0">
                <a:latin typeface="Verdana"/>
                <a:cs typeface="Verdana"/>
              </a:rPr>
              <a:t> [Nasir-</a:t>
            </a:r>
            <a:r>
              <a:rPr sz="1364" spc="-7" dirty="0">
                <a:latin typeface="Verdana"/>
                <a:cs typeface="Verdana"/>
              </a:rPr>
              <a:t>TPE16]</a:t>
            </a:r>
            <a:endParaRPr sz="1364">
              <a:latin typeface="Verdana"/>
              <a:cs typeface="Verdana"/>
            </a:endParaRPr>
          </a:p>
        </p:txBody>
      </p:sp>
      <p:sp>
        <p:nvSpPr>
          <p:cNvPr id="4" name="object 4"/>
          <p:cNvSpPr/>
          <p:nvPr/>
        </p:nvSpPr>
        <p:spPr>
          <a:xfrm>
            <a:off x="3325668" y="3144519"/>
            <a:ext cx="4156364" cy="484909"/>
          </a:xfrm>
          <a:custGeom>
            <a:avLst/>
            <a:gdLst/>
            <a:ahLst/>
            <a:cxnLst/>
            <a:rect l="l" t="t" r="r" b="b"/>
            <a:pathLst>
              <a:path w="6096000" h="711200">
                <a:moveTo>
                  <a:pt x="6095999" y="710946"/>
                </a:moveTo>
                <a:lnTo>
                  <a:pt x="0" y="710946"/>
                </a:lnTo>
                <a:lnTo>
                  <a:pt x="0" y="0"/>
                </a:lnTo>
                <a:lnTo>
                  <a:pt x="6095999" y="0"/>
                </a:lnTo>
                <a:lnTo>
                  <a:pt x="6095999" y="710946"/>
                </a:lnTo>
                <a:close/>
              </a:path>
            </a:pathLst>
          </a:custGeom>
          <a:solidFill>
            <a:srgbClr val="FFFF00"/>
          </a:solidFill>
        </p:spPr>
        <p:txBody>
          <a:bodyPr wrap="square" lIns="0" tIns="0" rIns="0" bIns="0" rtlCol="0"/>
          <a:lstStyle/>
          <a:p>
            <a:endParaRPr sz="1227"/>
          </a:p>
        </p:txBody>
      </p:sp>
      <p:sp>
        <p:nvSpPr>
          <p:cNvPr id="5" name="object 5"/>
          <p:cNvSpPr txBox="1"/>
          <p:nvPr/>
        </p:nvSpPr>
        <p:spPr>
          <a:xfrm>
            <a:off x="3308350" y="3268953"/>
            <a:ext cx="453736" cy="216849"/>
          </a:xfrm>
          <a:prstGeom prst="rect">
            <a:avLst/>
          </a:prstGeom>
        </p:spPr>
        <p:txBody>
          <a:bodyPr vert="horz" wrap="square" lIns="0" tIns="12123" rIns="0" bIns="0" rtlCol="0">
            <a:spAutoFit/>
          </a:bodyPr>
          <a:lstStyle/>
          <a:p>
            <a:pPr marL="17318">
              <a:spcBef>
                <a:spcPts val="95"/>
              </a:spcBef>
            </a:pPr>
            <a:r>
              <a:rPr sz="1994" spc="-10" baseline="11396" dirty="0">
                <a:latin typeface="Cambria Math"/>
                <a:cs typeface="Cambria Math"/>
              </a:rPr>
              <a:t>V</a:t>
            </a:r>
            <a:r>
              <a:rPr sz="989" spc="-7" dirty="0">
                <a:latin typeface="Cambria Math"/>
                <a:cs typeface="Cambria Math"/>
              </a:rPr>
              <a:t>ripple</a:t>
            </a:r>
            <a:endParaRPr sz="989">
              <a:latin typeface="Cambria Math"/>
              <a:cs typeface="Cambria Math"/>
            </a:endParaRPr>
          </a:p>
        </p:txBody>
      </p:sp>
      <p:sp>
        <p:nvSpPr>
          <p:cNvPr id="6" name="object 6"/>
          <p:cNvSpPr txBox="1"/>
          <p:nvPr/>
        </p:nvSpPr>
        <p:spPr>
          <a:xfrm>
            <a:off x="6743447" y="3138957"/>
            <a:ext cx="621723" cy="216849"/>
          </a:xfrm>
          <a:prstGeom prst="rect">
            <a:avLst/>
          </a:prstGeom>
        </p:spPr>
        <p:txBody>
          <a:bodyPr vert="horz" wrap="square" lIns="0" tIns="12123" rIns="0" bIns="0" rtlCol="0">
            <a:spAutoFit/>
          </a:bodyPr>
          <a:lstStyle/>
          <a:p>
            <a:pPr marL="17318">
              <a:spcBef>
                <a:spcPts val="95"/>
              </a:spcBef>
            </a:pPr>
            <a:r>
              <a:rPr sz="1994" baseline="11396" dirty="0">
                <a:latin typeface="Cambria Math"/>
                <a:cs typeface="Cambria Math"/>
              </a:rPr>
              <a:t>I</a:t>
            </a:r>
            <a:r>
              <a:rPr sz="989" dirty="0">
                <a:latin typeface="Cambria Math"/>
                <a:cs typeface="Cambria Math"/>
              </a:rPr>
              <a:t>𝑙𝑜𝑎𝑑 </a:t>
            </a:r>
            <a:r>
              <a:rPr sz="989" spc="-14" dirty="0">
                <a:latin typeface="Cambria Math"/>
                <a:cs typeface="Cambria Math"/>
              </a:rPr>
              <a:t>,𝑚𝑖𝑛</a:t>
            </a:r>
            <a:endParaRPr sz="989">
              <a:latin typeface="Cambria Math"/>
              <a:cs typeface="Cambria Math"/>
            </a:endParaRPr>
          </a:p>
        </p:txBody>
      </p:sp>
      <p:sp>
        <p:nvSpPr>
          <p:cNvPr id="7" name="object 7"/>
          <p:cNvSpPr txBox="1"/>
          <p:nvPr/>
        </p:nvSpPr>
        <p:spPr>
          <a:xfrm>
            <a:off x="3818020" y="3233874"/>
            <a:ext cx="3009900" cy="216913"/>
          </a:xfrm>
          <a:prstGeom prst="rect">
            <a:avLst/>
          </a:prstGeom>
        </p:spPr>
        <p:txBody>
          <a:bodyPr vert="horz" wrap="square" lIns="0" tIns="12123" rIns="0" bIns="0" rtlCol="0">
            <a:spAutoFit/>
          </a:bodyPr>
          <a:lstStyle/>
          <a:p>
            <a:pPr marL="17318">
              <a:spcBef>
                <a:spcPts val="95"/>
              </a:spcBef>
            </a:pPr>
            <a:r>
              <a:rPr sz="1330" dirty="0">
                <a:latin typeface="Cambria Math"/>
                <a:cs typeface="Cambria Math"/>
              </a:rPr>
              <a:t>≅</a:t>
            </a:r>
            <a:r>
              <a:rPr sz="1330" spc="99" dirty="0">
                <a:latin typeface="Cambria Math"/>
                <a:cs typeface="Cambria Math"/>
              </a:rPr>
              <a:t> </a:t>
            </a:r>
            <a:r>
              <a:rPr sz="1330" dirty="0">
                <a:latin typeface="Cambria Math"/>
                <a:cs typeface="Cambria Math"/>
              </a:rPr>
              <a:t>α</a:t>
            </a:r>
            <a:r>
              <a:rPr sz="1330" spc="14" dirty="0">
                <a:latin typeface="Cambria Math"/>
                <a:cs typeface="Cambria Math"/>
              </a:rPr>
              <a:t> </a:t>
            </a:r>
            <a:r>
              <a:rPr sz="1330" dirty="0">
                <a:latin typeface="Cambria Math"/>
                <a:cs typeface="Cambria Math"/>
              </a:rPr>
              <a:t>∙</a:t>
            </a:r>
            <a:r>
              <a:rPr sz="1330" spc="31" dirty="0">
                <a:latin typeface="Cambria Math"/>
                <a:cs typeface="Cambria Math"/>
              </a:rPr>
              <a:t> </a:t>
            </a:r>
            <a:r>
              <a:rPr sz="1330" dirty="0">
                <a:latin typeface="Cambria Math"/>
                <a:cs typeface="Cambria Math"/>
              </a:rPr>
              <a:t>I</a:t>
            </a:r>
            <a:r>
              <a:rPr sz="1483" baseline="-15325" dirty="0">
                <a:latin typeface="Cambria Math"/>
                <a:cs typeface="Cambria Math"/>
              </a:rPr>
              <a:t>u</a:t>
            </a:r>
            <a:r>
              <a:rPr sz="1483" spc="352" baseline="-15325" dirty="0">
                <a:latin typeface="Cambria Math"/>
                <a:cs typeface="Cambria Math"/>
              </a:rPr>
              <a:t> </a:t>
            </a:r>
            <a:r>
              <a:rPr sz="1330" dirty="0">
                <a:latin typeface="Cambria Math"/>
                <a:cs typeface="Cambria Math"/>
              </a:rPr>
              <a:t>∙</a:t>
            </a:r>
            <a:r>
              <a:rPr sz="1330" spc="20" dirty="0">
                <a:latin typeface="Cambria Math"/>
                <a:cs typeface="Cambria Math"/>
              </a:rPr>
              <a:t> </a:t>
            </a:r>
            <a:r>
              <a:rPr sz="1330" dirty="0">
                <a:latin typeface="Cambria Math"/>
                <a:cs typeface="Cambria Math"/>
              </a:rPr>
              <a:t>R</a:t>
            </a:r>
            <a:r>
              <a:rPr sz="1483" baseline="-15325" dirty="0">
                <a:latin typeface="Cambria Math"/>
                <a:cs typeface="Cambria Math"/>
              </a:rPr>
              <a:t>load</a:t>
            </a:r>
            <a:r>
              <a:rPr sz="1483" spc="148" baseline="-15325" dirty="0">
                <a:latin typeface="Cambria Math"/>
                <a:cs typeface="Cambria Math"/>
              </a:rPr>
              <a:t> </a:t>
            </a:r>
            <a:r>
              <a:rPr sz="1330" dirty="0">
                <a:latin typeface="Cambria Math"/>
                <a:cs typeface="Cambria Math"/>
              </a:rPr>
              <a:t>,</a:t>
            </a:r>
            <a:r>
              <a:rPr sz="1330" spc="-65" dirty="0">
                <a:latin typeface="Cambria Math"/>
                <a:cs typeface="Cambria Math"/>
              </a:rPr>
              <a:t> </a:t>
            </a:r>
            <a:r>
              <a:rPr sz="1330" dirty="0">
                <a:solidFill>
                  <a:srgbClr val="FFFFFF"/>
                </a:solidFill>
                <a:latin typeface="Cambria Math"/>
                <a:cs typeface="Cambria Math"/>
              </a:rPr>
              <a:t>,</a:t>
            </a:r>
            <a:r>
              <a:rPr sz="1330" spc="-58" dirty="0">
                <a:solidFill>
                  <a:srgbClr val="FFFFFF"/>
                </a:solidFill>
                <a:latin typeface="Cambria Math"/>
                <a:cs typeface="Cambria Math"/>
              </a:rPr>
              <a:t> </a:t>
            </a:r>
            <a:r>
              <a:rPr sz="1330" dirty="0">
                <a:latin typeface="Cambria Math"/>
                <a:cs typeface="Cambria Math"/>
              </a:rPr>
              <a:t>where</a:t>
            </a:r>
            <a:r>
              <a:rPr sz="1330" spc="20" dirty="0">
                <a:latin typeface="Cambria Math"/>
                <a:cs typeface="Cambria Math"/>
              </a:rPr>
              <a:t> </a:t>
            </a:r>
            <a:r>
              <a:rPr sz="1330" dirty="0">
                <a:latin typeface="Cambria Math"/>
                <a:cs typeface="Cambria Math"/>
              </a:rPr>
              <a:t>α</a:t>
            </a:r>
            <a:r>
              <a:rPr sz="1330" spc="99" dirty="0">
                <a:latin typeface="Cambria Math"/>
                <a:cs typeface="Cambria Math"/>
              </a:rPr>
              <a:t> </a:t>
            </a:r>
            <a:r>
              <a:rPr sz="1330" dirty="0">
                <a:latin typeface="Cambria Math"/>
                <a:cs typeface="Cambria Math"/>
              </a:rPr>
              <a:t>=</a:t>
            </a:r>
            <a:r>
              <a:rPr sz="1330" spc="102" dirty="0">
                <a:latin typeface="Cambria Math"/>
                <a:cs typeface="Cambria Math"/>
              </a:rPr>
              <a:t> </a:t>
            </a:r>
            <a:r>
              <a:rPr sz="1330" dirty="0">
                <a:latin typeface="Cambria Math"/>
                <a:cs typeface="Cambria Math"/>
              </a:rPr>
              <a:t>1</a:t>
            </a:r>
            <a:r>
              <a:rPr sz="1330" spc="17" dirty="0">
                <a:latin typeface="Cambria Math"/>
                <a:cs typeface="Cambria Math"/>
              </a:rPr>
              <a:t> </a:t>
            </a:r>
            <a:r>
              <a:rPr sz="1330" dirty="0">
                <a:latin typeface="Cambria Math"/>
                <a:cs typeface="Cambria Math"/>
              </a:rPr>
              <a:t>for</a:t>
            </a:r>
            <a:r>
              <a:rPr sz="1330" spc="17" dirty="0">
                <a:latin typeface="Cambria Math"/>
                <a:cs typeface="Cambria Math"/>
              </a:rPr>
              <a:t> </a:t>
            </a:r>
            <a:r>
              <a:rPr sz="1330" dirty="0">
                <a:latin typeface="Cambria Math"/>
                <a:cs typeface="Cambria Math"/>
              </a:rPr>
              <a:t>f</a:t>
            </a:r>
            <a:r>
              <a:rPr sz="1483" baseline="-15325" dirty="0">
                <a:latin typeface="Cambria Math"/>
                <a:cs typeface="Cambria Math"/>
              </a:rPr>
              <a:t>clk</a:t>
            </a:r>
            <a:r>
              <a:rPr sz="1483" spc="142" baseline="-15325" dirty="0">
                <a:latin typeface="Cambria Math"/>
                <a:cs typeface="Cambria Math"/>
              </a:rPr>
              <a:t>  </a:t>
            </a:r>
            <a:r>
              <a:rPr sz="1330" dirty="0">
                <a:latin typeface="Cambria Math"/>
                <a:cs typeface="Cambria Math"/>
              </a:rPr>
              <a:t>≪</a:t>
            </a:r>
            <a:r>
              <a:rPr sz="1330" spc="99" dirty="0">
                <a:latin typeface="Cambria Math"/>
                <a:cs typeface="Cambria Math"/>
              </a:rPr>
              <a:t> </a:t>
            </a:r>
            <a:r>
              <a:rPr sz="1994" spc="-51" baseline="-38461" dirty="0">
                <a:latin typeface="Cambria Math"/>
                <a:cs typeface="Cambria Math"/>
              </a:rPr>
              <a:t>V</a:t>
            </a:r>
            <a:endParaRPr sz="1994" baseline="-38461">
              <a:latin typeface="Cambria Math"/>
              <a:cs typeface="Cambria Math"/>
            </a:endParaRPr>
          </a:p>
        </p:txBody>
      </p:sp>
      <p:sp>
        <p:nvSpPr>
          <p:cNvPr id="8" name="object 8"/>
          <p:cNvSpPr txBox="1"/>
          <p:nvPr/>
        </p:nvSpPr>
        <p:spPr>
          <a:xfrm>
            <a:off x="7041499" y="3349427"/>
            <a:ext cx="187902" cy="216913"/>
          </a:xfrm>
          <a:prstGeom prst="rect">
            <a:avLst/>
          </a:prstGeom>
        </p:spPr>
        <p:txBody>
          <a:bodyPr vert="horz" wrap="square" lIns="0" tIns="12123" rIns="0" bIns="0" rtlCol="0">
            <a:spAutoFit/>
          </a:bodyPr>
          <a:lstStyle/>
          <a:p>
            <a:pPr marL="80960" indent="-80960">
              <a:spcBef>
                <a:spcPts val="95"/>
              </a:spcBef>
              <a:buChar char="∙"/>
              <a:tabLst>
                <a:tab pos="80960" algn="l"/>
              </a:tabLst>
            </a:pPr>
            <a:r>
              <a:rPr sz="1330" spc="-34" dirty="0">
                <a:latin typeface="Cambria Math"/>
                <a:cs typeface="Cambria Math"/>
              </a:rPr>
              <a:t>C</a:t>
            </a:r>
            <a:endParaRPr sz="1330">
              <a:latin typeface="Cambria Math"/>
              <a:cs typeface="Cambria Math"/>
            </a:endParaRPr>
          </a:p>
        </p:txBody>
      </p:sp>
      <p:sp>
        <p:nvSpPr>
          <p:cNvPr id="9" name="object 9"/>
          <p:cNvSpPr txBox="1"/>
          <p:nvPr/>
        </p:nvSpPr>
        <p:spPr>
          <a:xfrm>
            <a:off x="6794952" y="3431964"/>
            <a:ext cx="612631" cy="160090"/>
          </a:xfrm>
          <a:prstGeom prst="rect">
            <a:avLst/>
          </a:prstGeom>
        </p:spPr>
        <p:txBody>
          <a:bodyPr vert="horz" wrap="square" lIns="0" tIns="7793" rIns="0" bIns="0" rtlCol="0">
            <a:spAutoFit/>
          </a:bodyPr>
          <a:lstStyle/>
          <a:p>
            <a:pPr>
              <a:spcBef>
                <a:spcPts val="61"/>
              </a:spcBef>
              <a:tabLst>
                <a:tab pos="425583" algn="l"/>
              </a:tabLst>
            </a:pPr>
            <a:r>
              <a:rPr sz="989" spc="-17" dirty="0">
                <a:latin typeface="Cambria Math"/>
                <a:cs typeface="Cambria Math"/>
              </a:rPr>
              <a:t>out</a:t>
            </a:r>
            <a:r>
              <a:rPr sz="989" dirty="0">
                <a:latin typeface="Cambria Math"/>
                <a:cs typeface="Cambria Math"/>
              </a:rPr>
              <a:t>	</a:t>
            </a:r>
            <a:r>
              <a:rPr sz="989" spc="-17" dirty="0">
                <a:latin typeface="Cambria Math"/>
                <a:cs typeface="Cambria Math"/>
              </a:rPr>
              <a:t>out</a:t>
            </a:r>
            <a:endParaRPr sz="989">
              <a:latin typeface="Cambria Math"/>
              <a:cs typeface="Cambria Math"/>
            </a:endParaRPr>
          </a:p>
        </p:txBody>
      </p:sp>
      <p:sp>
        <p:nvSpPr>
          <p:cNvPr id="10" name="object 10"/>
          <p:cNvSpPr/>
          <p:nvPr/>
        </p:nvSpPr>
        <p:spPr>
          <a:xfrm>
            <a:off x="6705863" y="3360149"/>
            <a:ext cx="723467" cy="11690"/>
          </a:xfrm>
          <a:custGeom>
            <a:avLst/>
            <a:gdLst/>
            <a:ahLst/>
            <a:cxnLst/>
            <a:rect l="l" t="t" r="r" b="b"/>
            <a:pathLst>
              <a:path w="1061084" h="17145">
                <a:moveTo>
                  <a:pt x="1060502" y="16645"/>
                </a:moveTo>
                <a:lnTo>
                  <a:pt x="0" y="16645"/>
                </a:lnTo>
                <a:lnTo>
                  <a:pt x="0" y="0"/>
                </a:lnTo>
                <a:lnTo>
                  <a:pt x="1060502" y="0"/>
                </a:lnTo>
                <a:lnTo>
                  <a:pt x="1060502" y="16645"/>
                </a:lnTo>
                <a:close/>
              </a:path>
            </a:pathLst>
          </a:custGeom>
          <a:solidFill>
            <a:srgbClr val="000000"/>
          </a:solidFill>
        </p:spPr>
        <p:txBody>
          <a:bodyPr wrap="square" lIns="0" tIns="0" rIns="0" bIns="0" rtlCol="0"/>
          <a:lstStyle/>
          <a:p>
            <a:endParaRPr sz="1227"/>
          </a:p>
        </p:txBody>
      </p:sp>
      <p:grpSp>
        <p:nvGrpSpPr>
          <p:cNvPr id="11" name="object 11"/>
          <p:cNvGrpSpPr/>
          <p:nvPr/>
        </p:nvGrpSpPr>
        <p:grpSpPr>
          <a:xfrm>
            <a:off x="5664142" y="1437726"/>
            <a:ext cx="276225" cy="447242"/>
            <a:chOff x="6477761" y="1754758"/>
            <a:chExt cx="405130" cy="655955"/>
          </a:xfrm>
        </p:grpSpPr>
        <p:sp>
          <p:nvSpPr>
            <p:cNvPr id="12" name="object 12"/>
            <p:cNvSpPr/>
            <p:nvPr/>
          </p:nvSpPr>
          <p:spPr>
            <a:xfrm>
              <a:off x="6749795" y="1963673"/>
              <a:ext cx="118110" cy="234950"/>
            </a:xfrm>
            <a:custGeom>
              <a:avLst/>
              <a:gdLst/>
              <a:ahLst/>
              <a:cxnLst/>
              <a:rect l="l" t="t" r="r" b="b"/>
              <a:pathLst>
                <a:path w="118109" h="234950">
                  <a:moveTo>
                    <a:pt x="0" y="234696"/>
                  </a:moveTo>
                  <a:lnTo>
                    <a:pt x="0" y="0"/>
                  </a:lnTo>
                </a:path>
                <a:path w="118109" h="234950">
                  <a:moveTo>
                    <a:pt x="0" y="234696"/>
                  </a:moveTo>
                  <a:lnTo>
                    <a:pt x="118110" y="234696"/>
                  </a:lnTo>
                </a:path>
              </a:pathLst>
            </a:custGeom>
            <a:ln w="28956">
              <a:solidFill>
                <a:srgbClr val="000000"/>
              </a:solidFill>
            </a:ln>
          </p:spPr>
          <p:txBody>
            <a:bodyPr wrap="square" lIns="0" tIns="0" rIns="0" bIns="0" rtlCol="0"/>
            <a:lstStyle/>
            <a:p>
              <a:endParaRPr sz="1227"/>
            </a:p>
          </p:txBody>
        </p:sp>
        <p:sp>
          <p:nvSpPr>
            <p:cNvPr id="13" name="object 13"/>
            <p:cNvSpPr/>
            <p:nvPr/>
          </p:nvSpPr>
          <p:spPr>
            <a:xfrm>
              <a:off x="6749795" y="1963673"/>
              <a:ext cx="118110" cy="0"/>
            </a:xfrm>
            <a:custGeom>
              <a:avLst/>
              <a:gdLst/>
              <a:ahLst/>
              <a:cxnLst/>
              <a:rect l="l" t="t" r="r" b="b"/>
              <a:pathLst>
                <a:path w="118109">
                  <a:moveTo>
                    <a:pt x="0" y="0"/>
                  </a:moveTo>
                  <a:lnTo>
                    <a:pt x="118110" y="0"/>
                  </a:lnTo>
                </a:path>
              </a:pathLst>
            </a:custGeom>
            <a:ln w="28956">
              <a:solidFill>
                <a:srgbClr val="000000"/>
              </a:solidFill>
            </a:ln>
          </p:spPr>
          <p:txBody>
            <a:bodyPr wrap="square" lIns="0" tIns="0" rIns="0" bIns="0" rtlCol="0"/>
            <a:lstStyle/>
            <a:p>
              <a:endParaRPr sz="1227"/>
            </a:p>
          </p:txBody>
        </p:sp>
        <p:sp>
          <p:nvSpPr>
            <p:cNvPr id="14" name="object 14"/>
            <p:cNvSpPr/>
            <p:nvPr/>
          </p:nvSpPr>
          <p:spPr>
            <a:xfrm>
              <a:off x="6867905" y="1769363"/>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sp>
          <p:nvSpPr>
            <p:cNvPr id="15" name="object 15"/>
            <p:cNvSpPr/>
            <p:nvPr/>
          </p:nvSpPr>
          <p:spPr>
            <a:xfrm>
              <a:off x="6867905" y="2199893"/>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pic>
          <p:nvPicPr>
            <p:cNvPr id="16" name="object 16"/>
            <p:cNvPicPr/>
            <p:nvPr/>
          </p:nvPicPr>
          <p:blipFill>
            <a:blip r:embed="rId2" cstate="print"/>
            <a:stretch>
              <a:fillRect/>
            </a:stretch>
          </p:blipFill>
          <p:spPr>
            <a:xfrm>
              <a:off x="6477761" y="1967483"/>
              <a:ext cx="208787" cy="233934"/>
            </a:xfrm>
            <a:prstGeom prst="rect">
              <a:avLst/>
            </a:prstGeom>
          </p:spPr>
        </p:pic>
      </p:grpSp>
      <p:sp>
        <p:nvSpPr>
          <p:cNvPr id="17" name="object 17"/>
          <p:cNvSpPr txBox="1"/>
          <p:nvPr/>
        </p:nvSpPr>
        <p:spPr>
          <a:xfrm>
            <a:off x="6440068" y="1173049"/>
            <a:ext cx="253278" cy="197641"/>
          </a:xfrm>
          <a:prstGeom prst="rect">
            <a:avLst/>
          </a:prstGeom>
        </p:spPr>
        <p:txBody>
          <a:bodyPr vert="horz" wrap="square" lIns="0" tIns="8659" rIns="0" bIns="0" rtlCol="0">
            <a:spAutoFit/>
          </a:bodyPr>
          <a:lstStyle/>
          <a:p>
            <a:pPr marL="25977">
              <a:spcBef>
                <a:spcPts val="68"/>
              </a:spcBef>
            </a:pPr>
            <a:r>
              <a:rPr sz="1841" spc="-25" baseline="13888" dirty="0">
                <a:latin typeface="Verdana"/>
                <a:cs typeface="Verdana"/>
              </a:rPr>
              <a:t>V</a:t>
            </a:r>
            <a:r>
              <a:rPr sz="818" spc="-17" dirty="0">
                <a:latin typeface="Verdana"/>
                <a:cs typeface="Verdana"/>
              </a:rPr>
              <a:t>in</a:t>
            </a:r>
            <a:endParaRPr sz="818">
              <a:latin typeface="Verdana"/>
              <a:cs typeface="Verdana"/>
            </a:endParaRPr>
          </a:p>
        </p:txBody>
      </p:sp>
      <p:sp>
        <p:nvSpPr>
          <p:cNvPr id="18" name="object 18"/>
          <p:cNvSpPr txBox="1"/>
          <p:nvPr/>
        </p:nvSpPr>
        <p:spPr>
          <a:xfrm>
            <a:off x="3656864" y="1452406"/>
            <a:ext cx="301336" cy="197641"/>
          </a:xfrm>
          <a:prstGeom prst="rect">
            <a:avLst/>
          </a:prstGeom>
        </p:spPr>
        <p:txBody>
          <a:bodyPr vert="horz" wrap="square" lIns="0" tIns="8659" rIns="0" bIns="0" rtlCol="0">
            <a:spAutoFit/>
          </a:bodyPr>
          <a:lstStyle/>
          <a:p>
            <a:pPr marL="25977">
              <a:spcBef>
                <a:spcPts val="68"/>
              </a:spcBef>
            </a:pPr>
            <a:r>
              <a:rPr sz="1841" spc="-20" baseline="13888" dirty="0">
                <a:latin typeface="Verdana"/>
                <a:cs typeface="Verdana"/>
              </a:rPr>
              <a:t>V</a:t>
            </a:r>
            <a:r>
              <a:rPr sz="818" spc="-14" dirty="0">
                <a:latin typeface="Verdana"/>
                <a:cs typeface="Verdana"/>
              </a:rPr>
              <a:t>ref</a:t>
            </a:r>
            <a:endParaRPr sz="818">
              <a:latin typeface="Verdana"/>
              <a:cs typeface="Verdana"/>
            </a:endParaRPr>
          </a:p>
        </p:txBody>
      </p:sp>
      <p:grpSp>
        <p:nvGrpSpPr>
          <p:cNvPr id="19" name="object 19"/>
          <p:cNvGrpSpPr/>
          <p:nvPr/>
        </p:nvGrpSpPr>
        <p:grpSpPr>
          <a:xfrm>
            <a:off x="5245389" y="2530417"/>
            <a:ext cx="209983" cy="513917"/>
            <a:chOff x="5863590" y="3357371"/>
            <a:chExt cx="307975" cy="753745"/>
          </a:xfrm>
        </p:grpSpPr>
        <p:sp>
          <p:nvSpPr>
            <p:cNvPr id="20" name="object 20"/>
            <p:cNvSpPr/>
            <p:nvPr/>
          </p:nvSpPr>
          <p:spPr>
            <a:xfrm>
              <a:off x="6016752" y="3367277"/>
              <a:ext cx="0" cy="511809"/>
            </a:xfrm>
            <a:custGeom>
              <a:avLst/>
              <a:gdLst/>
              <a:ahLst/>
              <a:cxnLst/>
              <a:rect l="l" t="t" r="r" b="b"/>
              <a:pathLst>
                <a:path h="511810">
                  <a:moveTo>
                    <a:pt x="0" y="511302"/>
                  </a:moveTo>
                  <a:lnTo>
                    <a:pt x="0" y="0"/>
                  </a:lnTo>
                </a:path>
              </a:pathLst>
            </a:custGeom>
            <a:ln w="28956">
              <a:solidFill>
                <a:srgbClr val="000000"/>
              </a:solidFill>
            </a:ln>
          </p:spPr>
          <p:txBody>
            <a:bodyPr wrap="square" lIns="0" tIns="0" rIns="0" bIns="0" rtlCol="0"/>
            <a:lstStyle/>
            <a:p>
              <a:endParaRPr sz="1227"/>
            </a:p>
          </p:txBody>
        </p:sp>
        <p:sp>
          <p:nvSpPr>
            <p:cNvPr id="21" name="object 21"/>
            <p:cNvSpPr/>
            <p:nvPr/>
          </p:nvSpPr>
          <p:spPr>
            <a:xfrm>
              <a:off x="5863590" y="3371849"/>
              <a:ext cx="307975" cy="0"/>
            </a:xfrm>
            <a:custGeom>
              <a:avLst/>
              <a:gdLst/>
              <a:ahLst/>
              <a:cxnLst/>
              <a:rect l="l" t="t" r="r" b="b"/>
              <a:pathLst>
                <a:path w="307975">
                  <a:moveTo>
                    <a:pt x="307848" y="0"/>
                  </a:moveTo>
                  <a:lnTo>
                    <a:pt x="0" y="0"/>
                  </a:lnTo>
                </a:path>
              </a:pathLst>
            </a:custGeom>
            <a:ln w="28956">
              <a:solidFill>
                <a:srgbClr val="000000"/>
              </a:solidFill>
            </a:ln>
          </p:spPr>
          <p:txBody>
            <a:bodyPr wrap="square" lIns="0" tIns="0" rIns="0" bIns="0" rtlCol="0"/>
            <a:lstStyle/>
            <a:p>
              <a:endParaRPr sz="1227"/>
            </a:p>
          </p:txBody>
        </p:sp>
        <p:sp>
          <p:nvSpPr>
            <p:cNvPr id="22" name="object 22"/>
            <p:cNvSpPr/>
            <p:nvPr/>
          </p:nvSpPr>
          <p:spPr>
            <a:xfrm>
              <a:off x="5899404" y="3996689"/>
              <a:ext cx="234950" cy="0"/>
            </a:xfrm>
            <a:custGeom>
              <a:avLst/>
              <a:gdLst/>
              <a:ahLst/>
              <a:cxnLst/>
              <a:rect l="l" t="t" r="r" b="b"/>
              <a:pathLst>
                <a:path w="234950">
                  <a:moveTo>
                    <a:pt x="0" y="0"/>
                  </a:moveTo>
                  <a:lnTo>
                    <a:pt x="234696" y="0"/>
                  </a:lnTo>
                </a:path>
              </a:pathLst>
            </a:custGeom>
            <a:ln w="28956">
              <a:solidFill>
                <a:srgbClr val="000000"/>
              </a:solidFill>
            </a:ln>
          </p:spPr>
          <p:txBody>
            <a:bodyPr wrap="square" lIns="0" tIns="0" rIns="0" bIns="0" rtlCol="0"/>
            <a:lstStyle/>
            <a:p>
              <a:endParaRPr sz="1227"/>
            </a:p>
          </p:txBody>
        </p:sp>
        <p:sp>
          <p:nvSpPr>
            <p:cNvPr id="23" name="object 23"/>
            <p:cNvSpPr/>
            <p:nvPr/>
          </p:nvSpPr>
          <p:spPr>
            <a:xfrm>
              <a:off x="5958078" y="4046981"/>
              <a:ext cx="116205" cy="0"/>
            </a:xfrm>
            <a:custGeom>
              <a:avLst/>
              <a:gdLst/>
              <a:ahLst/>
              <a:cxnLst/>
              <a:rect l="l" t="t" r="r" b="b"/>
              <a:pathLst>
                <a:path w="116204">
                  <a:moveTo>
                    <a:pt x="0" y="0"/>
                  </a:moveTo>
                  <a:lnTo>
                    <a:pt x="115823" y="0"/>
                  </a:lnTo>
                </a:path>
              </a:pathLst>
            </a:custGeom>
            <a:ln w="28956">
              <a:solidFill>
                <a:srgbClr val="000000"/>
              </a:solidFill>
            </a:ln>
          </p:spPr>
          <p:txBody>
            <a:bodyPr wrap="square" lIns="0" tIns="0" rIns="0" bIns="0" rtlCol="0"/>
            <a:lstStyle/>
            <a:p>
              <a:endParaRPr sz="1227"/>
            </a:p>
          </p:txBody>
        </p:sp>
        <p:sp>
          <p:nvSpPr>
            <p:cNvPr id="24" name="object 24"/>
            <p:cNvSpPr/>
            <p:nvPr/>
          </p:nvSpPr>
          <p:spPr>
            <a:xfrm>
              <a:off x="5985510" y="4096511"/>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endParaRPr sz="1227"/>
            </a:p>
          </p:txBody>
        </p:sp>
        <p:sp>
          <p:nvSpPr>
            <p:cNvPr id="25" name="object 25"/>
            <p:cNvSpPr/>
            <p:nvPr/>
          </p:nvSpPr>
          <p:spPr>
            <a:xfrm>
              <a:off x="6016752" y="3800855"/>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grpSp>
      <p:grpSp>
        <p:nvGrpSpPr>
          <p:cNvPr id="26" name="object 26"/>
          <p:cNvGrpSpPr/>
          <p:nvPr/>
        </p:nvGrpSpPr>
        <p:grpSpPr>
          <a:xfrm>
            <a:off x="3993197" y="1540597"/>
            <a:ext cx="2032289" cy="1504084"/>
            <a:chOff x="4027042" y="1905635"/>
            <a:chExt cx="2980690" cy="2205990"/>
          </a:xfrm>
        </p:grpSpPr>
        <p:sp>
          <p:nvSpPr>
            <p:cNvPr id="27" name="object 27"/>
            <p:cNvSpPr/>
            <p:nvPr/>
          </p:nvSpPr>
          <p:spPr>
            <a:xfrm>
              <a:off x="6017513" y="2081784"/>
              <a:ext cx="464820" cy="0"/>
            </a:xfrm>
            <a:custGeom>
              <a:avLst/>
              <a:gdLst/>
              <a:ahLst/>
              <a:cxnLst/>
              <a:rect l="l" t="t" r="r" b="b"/>
              <a:pathLst>
                <a:path w="464820">
                  <a:moveTo>
                    <a:pt x="0" y="0"/>
                  </a:moveTo>
                  <a:lnTo>
                    <a:pt x="464820" y="0"/>
                  </a:lnTo>
                </a:path>
              </a:pathLst>
            </a:custGeom>
            <a:ln w="28956">
              <a:solidFill>
                <a:srgbClr val="000000"/>
              </a:solidFill>
            </a:ln>
          </p:spPr>
          <p:txBody>
            <a:bodyPr wrap="square" lIns="0" tIns="0" rIns="0" bIns="0" rtlCol="0"/>
            <a:lstStyle/>
            <a:p>
              <a:endParaRPr sz="1227"/>
            </a:p>
          </p:txBody>
        </p:sp>
        <p:sp>
          <p:nvSpPr>
            <p:cNvPr id="28" name="object 28"/>
            <p:cNvSpPr/>
            <p:nvPr/>
          </p:nvSpPr>
          <p:spPr>
            <a:xfrm>
              <a:off x="4041647" y="1920240"/>
              <a:ext cx="438150" cy="3810"/>
            </a:xfrm>
            <a:custGeom>
              <a:avLst/>
              <a:gdLst/>
              <a:ahLst/>
              <a:cxnLst/>
              <a:rect l="l" t="t" r="r" b="b"/>
              <a:pathLst>
                <a:path w="438150" h="3810">
                  <a:moveTo>
                    <a:pt x="0" y="0"/>
                  </a:moveTo>
                  <a:lnTo>
                    <a:pt x="438150" y="3810"/>
                  </a:lnTo>
                </a:path>
              </a:pathLst>
            </a:custGeom>
            <a:ln w="28956">
              <a:solidFill>
                <a:srgbClr val="000000"/>
              </a:solidFill>
            </a:ln>
          </p:spPr>
          <p:txBody>
            <a:bodyPr wrap="square" lIns="0" tIns="0" rIns="0" bIns="0" rtlCol="0"/>
            <a:lstStyle/>
            <a:p>
              <a:endParaRPr sz="1227"/>
            </a:p>
          </p:txBody>
        </p:sp>
        <p:sp>
          <p:nvSpPr>
            <p:cNvPr id="29" name="object 29"/>
            <p:cNvSpPr/>
            <p:nvPr/>
          </p:nvSpPr>
          <p:spPr>
            <a:xfrm>
              <a:off x="6016751" y="2781300"/>
              <a:ext cx="0" cy="508634"/>
            </a:xfrm>
            <a:custGeom>
              <a:avLst/>
              <a:gdLst/>
              <a:ahLst/>
              <a:cxnLst/>
              <a:rect l="l" t="t" r="r" b="b"/>
              <a:pathLst>
                <a:path h="508635">
                  <a:moveTo>
                    <a:pt x="0" y="508253"/>
                  </a:moveTo>
                  <a:lnTo>
                    <a:pt x="0" y="0"/>
                  </a:lnTo>
                </a:path>
              </a:pathLst>
            </a:custGeom>
            <a:ln w="28956">
              <a:solidFill>
                <a:srgbClr val="000000"/>
              </a:solidFill>
            </a:ln>
          </p:spPr>
          <p:txBody>
            <a:bodyPr wrap="square" lIns="0" tIns="0" rIns="0" bIns="0" rtlCol="0"/>
            <a:lstStyle/>
            <a:p>
              <a:endParaRPr sz="1227"/>
            </a:p>
          </p:txBody>
        </p:sp>
        <p:pic>
          <p:nvPicPr>
            <p:cNvPr id="30" name="object 30"/>
            <p:cNvPicPr/>
            <p:nvPr/>
          </p:nvPicPr>
          <p:blipFill>
            <a:blip r:embed="rId3" cstate="print"/>
            <a:stretch>
              <a:fillRect/>
            </a:stretch>
          </p:blipFill>
          <p:spPr>
            <a:xfrm>
              <a:off x="5973312" y="2737866"/>
              <a:ext cx="86868" cy="86867"/>
            </a:xfrm>
            <a:prstGeom prst="rect">
              <a:avLst/>
            </a:prstGeom>
          </p:spPr>
        </p:pic>
        <p:sp>
          <p:nvSpPr>
            <p:cNvPr id="31" name="object 31"/>
            <p:cNvSpPr/>
            <p:nvPr/>
          </p:nvSpPr>
          <p:spPr>
            <a:xfrm>
              <a:off x="5863589" y="3291077"/>
              <a:ext cx="307975" cy="0"/>
            </a:xfrm>
            <a:custGeom>
              <a:avLst/>
              <a:gdLst/>
              <a:ahLst/>
              <a:cxnLst/>
              <a:rect l="l" t="t" r="r" b="b"/>
              <a:pathLst>
                <a:path w="307975">
                  <a:moveTo>
                    <a:pt x="307848" y="0"/>
                  </a:moveTo>
                  <a:lnTo>
                    <a:pt x="0" y="0"/>
                  </a:lnTo>
                </a:path>
              </a:pathLst>
            </a:custGeom>
            <a:ln w="28956">
              <a:solidFill>
                <a:srgbClr val="000000"/>
              </a:solidFill>
            </a:ln>
          </p:spPr>
          <p:txBody>
            <a:bodyPr wrap="square" lIns="0" tIns="0" rIns="0" bIns="0" rtlCol="0"/>
            <a:lstStyle/>
            <a:p>
              <a:endParaRPr sz="1227"/>
            </a:p>
          </p:txBody>
        </p:sp>
        <p:sp>
          <p:nvSpPr>
            <p:cNvPr id="32" name="object 32"/>
            <p:cNvSpPr/>
            <p:nvPr/>
          </p:nvSpPr>
          <p:spPr>
            <a:xfrm>
              <a:off x="6867905" y="2366772"/>
              <a:ext cx="5715" cy="741680"/>
            </a:xfrm>
            <a:custGeom>
              <a:avLst/>
              <a:gdLst/>
              <a:ahLst/>
              <a:cxnLst/>
              <a:rect l="l" t="t" r="r" b="b"/>
              <a:pathLst>
                <a:path w="5715" h="741680">
                  <a:moveTo>
                    <a:pt x="0" y="0"/>
                  </a:moveTo>
                  <a:lnTo>
                    <a:pt x="5334" y="741426"/>
                  </a:lnTo>
                </a:path>
              </a:pathLst>
            </a:custGeom>
            <a:ln w="28956">
              <a:solidFill>
                <a:srgbClr val="000000"/>
              </a:solidFill>
            </a:ln>
          </p:spPr>
          <p:txBody>
            <a:bodyPr wrap="square" lIns="0" tIns="0" rIns="0" bIns="0" rtlCol="0"/>
            <a:lstStyle/>
            <a:p>
              <a:endParaRPr sz="1227"/>
            </a:p>
          </p:txBody>
        </p:sp>
        <p:sp>
          <p:nvSpPr>
            <p:cNvPr id="33" name="object 33"/>
            <p:cNvSpPr/>
            <p:nvPr/>
          </p:nvSpPr>
          <p:spPr>
            <a:xfrm>
              <a:off x="4179569" y="2764536"/>
              <a:ext cx="2694940" cy="7620"/>
            </a:xfrm>
            <a:custGeom>
              <a:avLst/>
              <a:gdLst/>
              <a:ahLst/>
              <a:cxnLst/>
              <a:rect l="l" t="t" r="r" b="b"/>
              <a:pathLst>
                <a:path w="2694940" h="7619">
                  <a:moveTo>
                    <a:pt x="0" y="7620"/>
                  </a:moveTo>
                  <a:lnTo>
                    <a:pt x="2694432" y="0"/>
                  </a:lnTo>
                </a:path>
              </a:pathLst>
            </a:custGeom>
            <a:ln w="28956">
              <a:solidFill>
                <a:srgbClr val="000000"/>
              </a:solidFill>
            </a:ln>
          </p:spPr>
          <p:txBody>
            <a:bodyPr wrap="square" lIns="0" tIns="0" rIns="0" bIns="0" rtlCol="0"/>
            <a:lstStyle/>
            <a:p>
              <a:endParaRPr sz="1227"/>
            </a:p>
          </p:txBody>
        </p:sp>
        <p:pic>
          <p:nvPicPr>
            <p:cNvPr id="34" name="object 34"/>
            <p:cNvPicPr/>
            <p:nvPr/>
          </p:nvPicPr>
          <p:blipFill>
            <a:blip r:embed="rId4" cstate="print"/>
            <a:stretch>
              <a:fillRect/>
            </a:stretch>
          </p:blipFill>
          <p:spPr>
            <a:xfrm>
              <a:off x="6830567" y="2721098"/>
              <a:ext cx="86868" cy="86868"/>
            </a:xfrm>
            <a:prstGeom prst="rect">
              <a:avLst/>
            </a:prstGeom>
          </p:spPr>
        </p:pic>
        <p:sp>
          <p:nvSpPr>
            <p:cNvPr id="35" name="object 35"/>
            <p:cNvSpPr/>
            <p:nvPr/>
          </p:nvSpPr>
          <p:spPr>
            <a:xfrm>
              <a:off x="4187951" y="2072640"/>
              <a:ext cx="3810" cy="691515"/>
            </a:xfrm>
            <a:custGeom>
              <a:avLst/>
              <a:gdLst/>
              <a:ahLst/>
              <a:cxnLst/>
              <a:rect l="l" t="t" r="r" b="b"/>
              <a:pathLst>
                <a:path w="3810" h="691514">
                  <a:moveTo>
                    <a:pt x="0" y="0"/>
                  </a:moveTo>
                  <a:lnTo>
                    <a:pt x="3810" y="691134"/>
                  </a:lnTo>
                </a:path>
              </a:pathLst>
            </a:custGeom>
            <a:ln w="28955">
              <a:solidFill>
                <a:srgbClr val="000000"/>
              </a:solidFill>
            </a:ln>
          </p:spPr>
          <p:txBody>
            <a:bodyPr wrap="square" lIns="0" tIns="0" rIns="0" bIns="0" rtlCol="0"/>
            <a:lstStyle/>
            <a:p>
              <a:endParaRPr sz="1227"/>
            </a:p>
          </p:txBody>
        </p:sp>
        <p:sp>
          <p:nvSpPr>
            <p:cNvPr id="36" name="object 36"/>
            <p:cNvSpPr/>
            <p:nvPr/>
          </p:nvSpPr>
          <p:spPr>
            <a:xfrm>
              <a:off x="6875525" y="3589020"/>
              <a:ext cx="0" cy="243204"/>
            </a:xfrm>
            <a:custGeom>
              <a:avLst/>
              <a:gdLst/>
              <a:ahLst/>
              <a:cxnLst/>
              <a:rect l="l" t="t" r="r" b="b"/>
              <a:pathLst>
                <a:path h="243204">
                  <a:moveTo>
                    <a:pt x="0" y="0"/>
                  </a:moveTo>
                  <a:lnTo>
                    <a:pt x="0" y="243078"/>
                  </a:lnTo>
                </a:path>
              </a:pathLst>
            </a:custGeom>
            <a:ln w="28956">
              <a:solidFill>
                <a:srgbClr val="000000"/>
              </a:solidFill>
            </a:ln>
          </p:spPr>
          <p:txBody>
            <a:bodyPr wrap="square" lIns="0" tIns="0" rIns="0" bIns="0" rtlCol="0"/>
            <a:lstStyle/>
            <a:p>
              <a:endParaRPr sz="1227"/>
            </a:p>
          </p:txBody>
        </p:sp>
        <p:sp>
          <p:nvSpPr>
            <p:cNvPr id="37" name="object 37"/>
            <p:cNvSpPr/>
            <p:nvPr/>
          </p:nvSpPr>
          <p:spPr>
            <a:xfrm>
              <a:off x="6758939" y="3996689"/>
              <a:ext cx="234315" cy="0"/>
            </a:xfrm>
            <a:custGeom>
              <a:avLst/>
              <a:gdLst/>
              <a:ahLst/>
              <a:cxnLst/>
              <a:rect l="l" t="t" r="r" b="b"/>
              <a:pathLst>
                <a:path w="234315">
                  <a:moveTo>
                    <a:pt x="0" y="0"/>
                  </a:moveTo>
                  <a:lnTo>
                    <a:pt x="233934" y="0"/>
                  </a:lnTo>
                </a:path>
              </a:pathLst>
            </a:custGeom>
            <a:ln w="28956">
              <a:solidFill>
                <a:srgbClr val="000000"/>
              </a:solidFill>
            </a:ln>
          </p:spPr>
          <p:txBody>
            <a:bodyPr wrap="square" lIns="0" tIns="0" rIns="0" bIns="0" rtlCol="0"/>
            <a:lstStyle/>
            <a:p>
              <a:endParaRPr sz="1227"/>
            </a:p>
          </p:txBody>
        </p:sp>
        <p:sp>
          <p:nvSpPr>
            <p:cNvPr id="38" name="object 38"/>
            <p:cNvSpPr/>
            <p:nvPr/>
          </p:nvSpPr>
          <p:spPr>
            <a:xfrm>
              <a:off x="6817613" y="4046982"/>
              <a:ext cx="115570" cy="0"/>
            </a:xfrm>
            <a:custGeom>
              <a:avLst/>
              <a:gdLst/>
              <a:ahLst/>
              <a:cxnLst/>
              <a:rect l="l" t="t" r="r" b="b"/>
              <a:pathLst>
                <a:path w="115570">
                  <a:moveTo>
                    <a:pt x="0" y="0"/>
                  </a:moveTo>
                  <a:lnTo>
                    <a:pt x="115062" y="0"/>
                  </a:lnTo>
                </a:path>
              </a:pathLst>
            </a:custGeom>
            <a:ln w="28956">
              <a:solidFill>
                <a:srgbClr val="000000"/>
              </a:solidFill>
            </a:ln>
          </p:spPr>
          <p:txBody>
            <a:bodyPr wrap="square" lIns="0" tIns="0" rIns="0" bIns="0" rtlCol="0"/>
            <a:lstStyle/>
            <a:p>
              <a:endParaRPr sz="1227"/>
            </a:p>
          </p:txBody>
        </p:sp>
        <p:sp>
          <p:nvSpPr>
            <p:cNvPr id="39" name="object 39"/>
            <p:cNvSpPr/>
            <p:nvPr/>
          </p:nvSpPr>
          <p:spPr>
            <a:xfrm>
              <a:off x="6845045" y="4096511"/>
              <a:ext cx="59055" cy="0"/>
            </a:xfrm>
            <a:custGeom>
              <a:avLst/>
              <a:gdLst/>
              <a:ahLst/>
              <a:cxnLst/>
              <a:rect l="l" t="t" r="r" b="b"/>
              <a:pathLst>
                <a:path w="59054">
                  <a:moveTo>
                    <a:pt x="0" y="0"/>
                  </a:moveTo>
                  <a:lnTo>
                    <a:pt x="58674" y="0"/>
                  </a:lnTo>
                </a:path>
              </a:pathLst>
            </a:custGeom>
            <a:ln w="28956">
              <a:solidFill>
                <a:srgbClr val="000000"/>
              </a:solidFill>
            </a:ln>
          </p:spPr>
          <p:txBody>
            <a:bodyPr wrap="square" lIns="0" tIns="0" rIns="0" bIns="0" rtlCol="0"/>
            <a:lstStyle/>
            <a:p>
              <a:endParaRPr sz="1227"/>
            </a:p>
          </p:txBody>
        </p:sp>
        <p:sp>
          <p:nvSpPr>
            <p:cNvPr id="40" name="object 40"/>
            <p:cNvSpPr/>
            <p:nvPr/>
          </p:nvSpPr>
          <p:spPr>
            <a:xfrm>
              <a:off x="6876288" y="3800855"/>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grpSp>
      <p:sp>
        <p:nvSpPr>
          <p:cNvPr id="41" name="object 41"/>
          <p:cNvSpPr txBox="1"/>
          <p:nvPr/>
        </p:nvSpPr>
        <p:spPr>
          <a:xfrm>
            <a:off x="5965146" y="2002445"/>
            <a:ext cx="124258" cy="197578"/>
          </a:xfrm>
          <a:prstGeom prst="rect">
            <a:avLst/>
          </a:prstGeom>
        </p:spPr>
        <p:txBody>
          <a:bodyPr vert="horz" wrap="square" lIns="0" tIns="8659" rIns="0" bIns="0" rtlCol="0">
            <a:spAutoFit/>
          </a:bodyPr>
          <a:lstStyle/>
          <a:p>
            <a:pPr marL="8659">
              <a:spcBef>
                <a:spcPts val="68"/>
              </a:spcBef>
            </a:pPr>
            <a:r>
              <a:rPr sz="1227" spc="-34" dirty="0">
                <a:latin typeface="Verdana"/>
                <a:cs typeface="Verdana"/>
              </a:rPr>
              <a:t>V</a:t>
            </a:r>
            <a:endParaRPr sz="1227">
              <a:latin typeface="Verdana"/>
              <a:cs typeface="Verdana"/>
            </a:endParaRPr>
          </a:p>
        </p:txBody>
      </p:sp>
      <p:sp>
        <p:nvSpPr>
          <p:cNvPr id="42" name="object 42"/>
          <p:cNvSpPr txBox="1"/>
          <p:nvPr/>
        </p:nvSpPr>
        <p:spPr>
          <a:xfrm>
            <a:off x="6071653" y="2092845"/>
            <a:ext cx="187469" cy="134612"/>
          </a:xfrm>
          <a:prstGeom prst="rect">
            <a:avLst/>
          </a:prstGeom>
        </p:spPr>
        <p:txBody>
          <a:bodyPr vert="horz" wrap="square" lIns="0" tIns="8659" rIns="0" bIns="0" rtlCol="0">
            <a:spAutoFit/>
          </a:bodyPr>
          <a:lstStyle/>
          <a:p>
            <a:pPr marL="8659">
              <a:spcBef>
                <a:spcPts val="68"/>
              </a:spcBef>
            </a:pPr>
            <a:r>
              <a:rPr sz="818" spc="-17" dirty="0">
                <a:latin typeface="Verdana"/>
                <a:cs typeface="Verdana"/>
              </a:rPr>
              <a:t>out</a:t>
            </a:r>
            <a:endParaRPr sz="818">
              <a:latin typeface="Verdana"/>
              <a:cs typeface="Verdana"/>
            </a:endParaRPr>
          </a:p>
        </p:txBody>
      </p:sp>
      <p:sp>
        <p:nvSpPr>
          <p:cNvPr id="43" name="object 43"/>
          <p:cNvSpPr/>
          <p:nvPr/>
        </p:nvSpPr>
        <p:spPr>
          <a:xfrm>
            <a:off x="6360073" y="1661477"/>
            <a:ext cx="225136" cy="0"/>
          </a:xfrm>
          <a:custGeom>
            <a:avLst/>
            <a:gdLst/>
            <a:ahLst/>
            <a:cxnLst/>
            <a:rect l="l" t="t" r="r" b="b"/>
            <a:pathLst>
              <a:path w="330200">
                <a:moveTo>
                  <a:pt x="0" y="0"/>
                </a:moveTo>
                <a:lnTo>
                  <a:pt x="329946" y="0"/>
                </a:lnTo>
              </a:path>
            </a:pathLst>
          </a:custGeom>
          <a:ln w="63246">
            <a:solidFill>
              <a:srgbClr val="000000"/>
            </a:solidFill>
            <a:prstDash val="dot"/>
          </a:ln>
        </p:spPr>
        <p:txBody>
          <a:bodyPr wrap="square" lIns="0" tIns="0" rIns="0" bIns="0" rtlCol="0"/>
          <a:lstStyle/>
          <a:p>
            <a:endParaRPr sz="1227"/>
          </a:p>
        </p:txBody>
      </p:sp>
      <p:grpSp>
        <p:nvGrpSpPr>
          <p:cNvPr id="44" name="object 44"/>
          <p:cNvGrpSpPr/>
          <p:nvPr/>
        </p:nvGrpSpPr>
        <p:grpSpPr>
          <a:xfrm>
            <a:off x="4095548" y="1229476"/>
            <a:ext cx="2863561" cy="1634836"/>
            <a:chOff x="4177157" y="1449324"/>
            <a:chExt cx="4199890" cy="2397760"/>
          </a:xfrm>
        </p:grpSpPr>
        <p:sp>
          <p:nvSpPr>
            <p:cNvPr id="45" name="object 45"/>
            <p:cNvSpPr/>
            <p:nvPr/>
          </p:nvSpPr>
          <p:spPr>
            <a:xfrm>
              <a:off x="7185660" y="1963674"/>
              <a:ext cx="118110" cy="234950"/>
            </a:xfrm>
            <a:custGeom>
              <a:avLst/>
              <a:gdLst/>
              <a:ahLst/>
              <a:cxnLst/>
              <a:rect l="l" t="t" r="r" b="b"/>
              <a:pathLst>
                <a:path w="118109" h="234950">
                  <a:moveTo>
                    <a:pt x="0" y="234696"/>
                  </a:moveTo>
                  <a:lnTo>
                    <a:pt x="0" y="0"/>
                  </a:lnTo>
                </a:path>
                <a:path w="118109" h="234950">
                  <a:moveTo>
                    <a:pt x="0" y="234696"/>
                  </a:moveTo>
                  <a:lnTo>
                    <a:pt x="118110" y="234696"/>
                  </a:lnTo>
                </a:path>
              </a:pathLst>
            </a:custGeom>
            <a:ln w="28956">
              <a:solidFill>
                <a:srgbClr val="000000"/>
              </a:solidFill>
            </a:ln>
          </p:spPr>
          <p:txBody>
            <a:bodyPr wrap="square" lIns="0" tIns="0" rIns="0" bIns="0" rtlCol="0"/>
            <a:lstStyle/>
            <a:p>
              <a:endParaRPr sz="1227"/>
            </a:p>
          </p:txBody>
        </p:sp>
        <p:sp>
          <p:nvSpPr>
            <p:cNvPr id="46" name="object 46"/>
            <p:cNvSpPr/>
            <p:nvPr/>
          </p:nvSpPr>
          <p:spPr>
            <a:xfrm>
              <a:off x="7185660" y="1963674"/>
              <a:ext cx="118110" cy="0"/>
            </a:xfrm>
            <a:custGeom>
              <a:avLst/>
              <a:gdLst/>
              <a:ahLst/>
              <a:cxnLst/>
              <a:rect l="l" t="t" r="r" b="b"/>
              <a:pathLst>
                <a:path w="118109">
                  <a:moveTo>
                    <a:pt x="0" y="0"/>
                  </a:moveTo>
                  <a:lnTo>
                    <a:pt x="118110" y="0"/>
                  </a:lnTo>
                </a:path>
              </a:pathLst>
            </a:custGeom>
            <a:ln w="28956">
              <a:solidFill>
                <a:srgbClr val="000000"/>
              </a:solidFill>
            </a:ln>
          </p:spPr>
          <p:txBody>
            <a:bodyPr wrap="square" lIns="0" tIns="0" rIns="0" bIns="0" rtlCol="0"/>
            <a:lstStyle/>
            <a:p>
              <a:endParaRPr sz="1227"/>
            </a:p>
          </p:txBody>
        </p:sp>
        <p:sp>
          <p:nvSpPr>
            <p:cNvPr id="47" name="object 47"/>
            <p:cNvSpPr/>
            <p:nvPr/>
          </p:nvSpPr>
          <p:spPr>
            <a:xfrm>
              <a:off x="7303770" y="1769364"/>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sp>
          <p:nvSpPr>
            <p:cNvPr id="48" name="object 48"/>
            <p:cNvSpPr/>
            <p:nvPr/>
          </p:nvSpPr>
          <p:spPr>
            <a:xfrm>
              <a:off x="7303770" y="2199894"/>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sp>
          <p:nvSpPr>
            <p:cNvPr id="49" name="object 49"/>
            <p:cNvSpPr/>
            <p:nvPr/>
          </p:nvSpPr>
          <p:spPr>
            <a:xfrm>
              <a:off x="7260336" y="2352294"/>
              <a:ext cx="86995" cy="86995"/>
            </a:xfrm>
            <a:custGeom>
              <a:avLst/>
              <a:gdLst/>
              <a:ahLst/>
              <a:cxnLst/>
              <a:rect l="l" t="t" r="r" b="b"/>
              <a:pathLst>
                <a:path w="86995" h="86994">
                  <a:moveTo>
                    <a:pt x="43433" y="0"/>
                  </a:moveTo>
                  <a:lnTo>
                    <a:pt x="26526" y="3412"/>
                  </a:lnTo>
                  <a:lnTo>
                    <a:pt x="12720" y="12720"/>
                  </a:lnTo>
                  <a:lnTo>
                    <a:pt x="3412" y="26526"/>
                  </a:lnTo>
                  <a:lnTo>
                    <a:pt x="0" y="43434"/>
                  </a:lnTo>
                  <a:lnTo>
                    <a:pt x="3412" y="60341"/>
                  </a:lnTo>
                  <a:lnTo>
                    <a:pt x="12720" y="74147"/>
                  </a:lnTo>
                  <a:lnTo>
                    <a:pt x="26526" y="83455"/>
                  </a:lnTo>
                  <a:lnTo>
                    <a:pt x="43433" y="86868"/>
                  </a:lnTo>
                  <a:lnTo>
                    <a:pt x="60341" y="83455"/>
                  </a:lnTo>
                  <a:lnTo>
                    <a:pt x="74147" y="74147"/>
                  </a:lnTo>
                  <a:lnTo>
                    <a:pt x="83455" y="60341"/>
                  </a:lnTo>
                  <a:lnTo>
                    <a:pt x="86867" y="43434"/>
                  </a:lnTo>
                  <a:lnTo>
                    <a:pt x="83455" y="26526"/>
                  </a:lnTo>
                  <a:lnTo>
                    <a:pt x="74147" y="12720"/>
                  </a:lnTo>
                  <a:lnTo>
                    <a:pt x="60341" y="3412"/>
                  </a:lnTo>
                  <a:lnTo>
                    <a:pt x="43433" y="0"/>
                  </a:lnTo>
                  <a:close/>
                </a:path>
              </a:pathLst>
            </a:custGeom>
            <a:solidFill>
              <a:srgbClr val="000000"/>
            </a:solidFill>
          </p:spPr>
          <p:txBody>
            <a:bodyPr wrap="square" lIns="0" tIns="0" rIns="0" bIns="0" rtlCol="0"/>
            <a:lstStyle/>
            <a:p>
              <a:endParaRPr sz="1227"/>
            </a:p>
          </p:txBody>
        </p:sp>
        <p:pic>
          <p:nvPicPr>
            <p:cNvPr id="50" name="object 50"/>
            <p:cNvPicPr/>
            <p:nvPr/>
          </p:nvPicPr>
          <p:blipFill>
            <a:blip r:embed="rId2" cstate="print"/>
            <a:stretch>
              <a:fillRect/>
            </a:stretch>
          </p:blipFill>
          <p:spPr>
            <a:xfrm>
              <a:off x="6913626" y="1967484"/>
              <a:ext cx="208788" cy="233934"/>
            </a:xfrm>
            <a:prstGeom prst="rect">
              <a:avLst/>
            </a:prstGeom>
          </p:spPr>
        </p:pic>
        <p:sp>
          <p:nvSpPr>
            <p:cNvPr id="51" name="object 51"/>
            <p:cNvSpPr/>
            <p:nvPr/>
          </p:nvSpPr>
          <p:spPr>
            <a:xfrm>
              <a:off x="8214360" y="1963674"/>
              <a:ext cx="119380" cy="234950"/>
            </a:xfrm>
            <a:custGeom>
              <a:avLst/>
              <a:gdLst/>
              <a:ahLst/>
              <a:cxnLst/>
              <a:rect l="l" t="t" r="r" b="b"/>
              <a:pathLst>
                <a:path w="119379" h="234950">
                  <a:moveTo>
                    <a:pt x="0" y="234696"/>
                  </a:moveTo>
                  <a:lnTo>
                    <a:pt x="0" y="0"/>
                  </a:lnTo>
                </a:path>
                <a:path w="119379" h="234950">
                  <a:moveTo>
                    <a:pt x="0" y="234696"/>
                  </a:moveTo>
                  <a:lnTo>
                    <a:pt x="118872" y="234696"/>
                  </a:lnTo>
                </a:path>
              </a:pathLst>
            </a:custGeom>
            <a:ln w="28956">
              <a:solidFill>
                <a:srgbClr val="000000"/>
              </a:solidFill>
            </a:ln>
          </p:spPr>
          <p:txBody>
            <a:bodyPr wrap="square" lIns="0" tIns="0" rIns="0" bIns="0" rtlCol="0"/>
            <a:lstStyle/>
            <a:p>
              <a:endParaRPr sz="1227"/>
            </a:p>
          </p:txBody>
        </p:sp>
        <p:sp>
          <p:nvSpPr>
            <p:cNvPr id="52" name="object 52"/>
            <p:cNvSpPr/>
            <p:nvPr/>
          </p:nvSpPr>
          <p:spPr>
            <a:xfrm>
              <a:off x="8214360" y="1963674"/>
              <a:ext cx="119380" cy="0"/>
            </a:xfrm>
            <a:custGeom>
              <a:avLst/>
              <a:gdLst/>
              <a:ahLst/>
              <a:cxnLst/>
              <a:rect l="l" t="t" r="r" b="b"/>
              <a:pathLst>
                <a:path w="119379">
                  <a:moveTo>
                    <a:pt x="0" y="0"/>
                  </a:moveTo>
                  <a:lnTo>
                    <a:pt x="118872" y="0"/>
                  </a:lnTo>
                </a:path>
              </a:pathLst>
            </a:custGeom>
            <a:ln w="28956">
              <a:solidFill>
                <a:srgbClr val="000000"/>
              </a:solidFill>
            </a:ln>
          </p:spPr>
          <p:txBody>
            <a:bodyPr wrap="square" lIns="0" tIns="0" rIns="0" bIns="0" rtlCol="0"/>
            <a:lstStyle/>
            <a:p>
              <a:endParaRPr sz="1227"/>
            </a:p>
          </p:txBody>
        </p:sp>
        <p:sp>
          <p:nvSpPr>
            <p:cNvPr id="53" name="object 53"/>
            <p:cNvSpPr/>
            <p:nvPr/>
          </p:nvSpPr>
          <p:spPr>
            <a:xfrm>
              <a:off x="8333232" y="1769364"/>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sp>
          <p:nvSpPr>
            <p:cNvPr id="54" name="object 54"/>
            <p:cNvSpPr/>
            <p:nvPr/>
          </p:nvSpPr>
          <p:spPr>
            <a:xfrm>
              <a:off x="8333232" y="2199894"/>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sp>
          <p:nvSpPr>
            <p:cNvPr id="55" name="object 55"/>
            <p:cNvSpPr/>
            <p:nvPr/>
          </p:nvSpPr>
          <p:spPr>
            <a:xfrm>
              <a:off x="8289797" y="2352294"/>
              <a:ext cx="86995" cy="86995"/>
            </a:xfrm>
            <a:custGeom>
              <a:avLst/>
              <a:gdLst/>
              <a:ahLst/>
              <a:cxnLst/>
              <a:rect l="l" t="t" r="r" b="b"/>
              <a:pathLst>
                <a:path w="86995" h="86994">
                  <a:moveTo>
                    <a:pt x="43433" y="0"/>
                  </a:moveTo>
                  <a:lnTo>
                    <a:pt x="26526" y="3412"/>
                  </a:lnTo>
                  <a:lnTo>
                    <a:pt x="12720" y="12720"/>
                  </a:lnTo>
                  <a:lnTo>
                    <a:pt x="3412" y="26526"/>
                  </a:lnTo>
                  <a:lnTo>
                    <a:pt x="0" y="43434"/>
                  </a:lnTo>
                  <a:lnTo>
                    <a:pt x="3412" y="60341"/>
                  </a:lnTo>
                  <a:lnTo>
                    <a:pt x="12720" y="74147"/>
                  </a:lnTo>
                  <a:lnTo>
                    <a:pt x="26526" y="83455"/>
                  </a:lnTo>
                  <a:lnTo>
                    <a:pt x="43433" y="86868"/>
                  </a:lnTo>
                  <a:lnTo>
                    <a:pt x="60341" y="83455"/>
                  </a:lnTo>
                  <a:lnTo>
                    <a:pt x="74147" y="74147"/>
                  </a:lnTo>
                  <a:lnTo>
                    <a:pt x="83455" y="60341"/>
                  </a:lnTo>
                  <a:lnTo>
                    <a:pt x="86867" y="43434"/>
                  </a:lnTo>
                  <a:lnTo>
                    <a:pt x="83455" y="26526"/>
                  </a:lnTo>
                  <a:lnTo>
                    <a:pt x="74147" y="12720"/>
                  </a:lnTo>
                  <a:lnTo>
                    <a:pt x="60341" y="3412"/>
                  </a:lnTo>
                  <a:lnTo>
                    <a:pt x="43433" y="0"/>
                  </a:lnTo>
                  <a:close/>
                </a:path>
              </a:pathLst>
            </a:custGeom>
            <a:solidFill>
              <a:srgbClr val="000000"/>
            </a:solidFill>
          </p:spPr>
          <p:txBody>
            <a:bodyPr wrap="square" lIns="0" tIns="0" rIns="0" bIns="0" rtlCol="0"/>
            <a:lstStyle/>
            <a:p>
              <a:endParaRPr sz="1227"/>
            </a:p>
          </p:txBody>
        </p:sp>
        <p:pic>
          <p:nvPicPr>
            <p:cNvPr id="56" name="object 56"/>
            <p:cNvPicPr/>
            <p:nvPr/>
          </p:nvPicPr>
          <p:blipFill>
            <a:blip r:embed="rId5" cstate="print"/>
            <a:stretch>
              <a:fillRect/>
            </a:stretch>
          </p:blipFill>
          <p:spPr>
            <a:xfrm>
              <a:off x="7942326" y="1967484"/>
              <a:ext cx="209550" cy="233934"/>
            </a:xfrm>
            <a:prstGeom prst="rect">
              <a:avLst/>
            </a:prstGeom>
          </p:spPr>
        </p:pic>
        <p:sp>
          <p:nvSpPr>
            <p:cNvPr id="57" name="object 57"/>
            <p:cNvSpPr/>
            <p:nvPr/>
          </p:nvSpPr>
          <p:spPr>
            <a:xfrm>
              <a:off x="6870192" y="2391156"/>
              <a:ext cx="1463040" cy="6985"/>
            </a:xfrm>
            <a:custGeom>
              <a:avLst/>
              <a:gdLst/>
              <a:ahLst/>
              <a:cxnLst/>
              <a:rect l="l" t="t" r="r" b="b"/>
              <a:pathLst>
                <a:path w="1463040" h="6985">
                  <a:moveTo>
                    <a:pt x="0" y="0"/>
                  </a:moveTo>
                  <a:lnTo>
                    <a:pt x="1463040" y="6858"/>
                  </a:lnTo>
                </a:path>
              </a:pathLst>
            </a:custGeom>
            <a:ln w="28956">
              <a:solidFill>
                <a:srgbClr val="000000"/>
              </a:solidFill>
            </a:ln>
          </p:spPr>
          <p:txBody>
            <a:bodyPr wrap="square" lIns="0" tIns="0" rIns="0" bIns="0" rtlCol="0"/>
            <a:lstStyle/>
            <a:p>
              <a:endParaRPr sz="1227"/>
            </a:p>
          </p:txBody>
        </p:sp>
        <p:pic>
          <p:nvPicPr>
            <p:cNvPr id="58" name="object 58"/>
            <p:cNvPicPr/>
            <p:nvPr/>
          </p:nvPicPr>
          <p:blipFill>
            <a:blip r:embed="rId6" cstate="print"/>
            <a:stretch>
              <a:fillRect/>
            </a:stretch>
          </p:blipFill>
          <p:spPr>
            <a:xfrm>
              <a:off x="6826756" y="2347722"/>
              <a:ext cx="86868" cy="86868"/>
            </a:xfrm>
            <a:prstGeom prst="rect">
              <a:avLst/>
            </a:prstGeom>
          </p:spPr>
        </p:pic>
        <p:sp>
          <p:nvSpPr>
            <p:cNvPr id="59" name="object 59"/>
            <p:cNvSpPr/>
            <p:nvPr/>
          </p:nvSpPr>
          <p:spPr>
            <a:xfrm>
              <a:off x="6870192" y="1775460"/>
              <a:ext cx="1463040" cy="7620"/>
            </a:xfrm>
            <a:custGeom>
              <a:avLst/>
              <a:gdLst/>
              <a:ahLst/>
              <a:cxnLst/>
              <a:rect l="l" t="t" r="r" b="b"/>
              <a:pathLst>
                <a:path w="1463040" h="7619">
                  <a:moveTo>
                    <a:pt x="0" y="0"/>
                  </a:moveTo>
                  <a:lnTo>
                    <a:pt x="1463040" y="7620"/>
                  </a:lnTo>
                </a:path>
              </a:pathLst>
            </a:custGeom>
            <a:ln w="28955">
              <a:solidFill>
                <a:srgbClr val="000000"/>
              </a:solidFill>
            </a:ln>
          </p:spPr>
          <p:txBody>
            <a:bodyPr wrap="square" lIns="0" tIns="0" rIns="0" bIns="0" rtlCol="0"/>
            <a:lstStyle/>
            <a:p>
              <a:endParaRPr sz="1227"/>
            </a:p>
          </p:txBody>
        </p:sp>
        <p:pic>
          <p:nvPicPr>
            <p:cNvPr id="60" name="object 60"/>
            <p:cNvPicPr/>
            <p:nvPr/>
          </p:nvPicPr>
          <p:blipFill>
            <a:blip r:embed="rId7" cstate="print"/>
            <a:stretch>
              <a:fillRect/>
            </a:stretch>
          </p:blipFill>
          <p:spPr>
            <a:xfrm>
              <a:off x="8289797" y="1739649"/>
              <a:ext cx="86868" cy="86868"/>
            </a:xfrm>
            <a:prstGeom prst="rect">
              <a:avLst/>
            </a:prstGeom>
          </p:spPr>
        </p:pic>
        <p:pic>
          <p:nvPicPr>
            <p:cNvPr id="61" name="object 61"/>
            <p:cNvPicPr/>
            <p:nvPr/>
          </p:nvPicPr>
          <p:blipFill>
            <a:blip r:embed="rId6" cstate="print"/>
            <a:stretch>
              <a:fillRect/>
            </a:stretch>
          </p:blipFill>
          <p:spPr>
            <a:xfrm>
              <a:off x="6826756" y="1732026"/>
              <a:ext cx="86868" cy="86868"/>
            </a:xfrm>
            <a:prstGeom prst="rect">
              <a:avLst/>
            </a:prstGeom>
          </p:spPr>
        </p:pic>
        <p:sp>
          <p:nvSpPr>
            <p:cNvPr id="62" name="object 62"/>
            <p:cNvSpPr/>
            <p:nvPr/>
          </p:nvSpPr>
          <p:spPr>
            <a:xfrm>
              <a:off x="7582661" y="1492758"/>
              <a:ext cx="0" cy="300990"/>
            </a:xfrm>
            <a:custGeom>
              <a:avLst/>
              <a:gdLst/>
              <a:ahLst/>
              <a:cxnLst/>
              <a:rect l="l" t="t" r="r" b="b"/>
              <a:pathLst>
                <a:path h="300989">
                  <a:moveTo>
                    <a:pt x="0" y="0"/>
                  </a:moveTo>
                  <a:lnTo>
                    <a:pt x="0" y="300990"/>
                  </a:lnTo>
                </a:path>
              </a:pathLst>
            </a:custGeom>
            <a:ln w="28956">
              <a:solidFill>
                <a:srgbClr val="000000"/>
              </a:solidFill>
            </a:ln>
          </p:spPr>
          <p:txBody>
            <a:bodyPr wrap="square" lIns="0" tIns="0" rIns="0" bIns="0" rtlCol="0"/>
            <a:lstStyle/>
            <a:p>
              <a:endParaRPr sz="1227"/>
            </a:p>
          </p:txBody>
        </p:sp>
        <p:pic>
          <p:nvPicPr>
            <p:cNvPr id="63" name="object 63"/>
            <p:cNvPicPr/>
            <p:nvPr/>
          </p:nvPicPr>
          <p:blipFill>
            <a:blip r:embed="rId8" cstate="print"/>
            <a:stretch>
              <a:fillRect/>
            </a:stretch>
          </p:blipFill>
          <p:spPr>
            <a:xfrm>
              <a:off x="7539223" y="1750314"/>
              <a:ext cx="86867" cy="86867"/>
            </a:xfrm>
            <a:prstGeom prst="rect">
              <a:avLst/>
            </a:prstGeom>
          </p:spPr>
        </p:pic>
        <p:pic>
          <p:nvPicPr>
            <p:cNvPr id="64" name="object 64"/>
            <p:cNvPicPr/>
            <p:nvPr/>
          </p:nvPicPr>
          <p:blipFill>
            <a:blip r:embed="rId9" cstate="print"/>
            <a:stretch>
              <a:fillRect/>
            </a:stretch>
          </p:blipFill>
          <p:spPr>
            <a:xfrm>
              <a:off x="7539228" y="1449324"/>
              <a:ext cx="86867" cy="86867"/>
            </a:xfrm>
            <a:prstGeom prst="rect">
              <a:avLst/>
            </a:prstGeom>
          </p:spPr>
        </p:pic>
        <p:sp>
          <p:nvSpPr>
            <p:cNvPr id="65" name="object 65"/>
            <p:cNvSpPr/>
            <p:nvPr/>
          </p:nvSpPr>
          <p:spPr>
            <a:xfrm>
              <a:off x="6238494" y="1975866"/>
              <a:ext cx="137160" cy="193675"/>
            </a:xfrm>
            <a:custGeom>
              <a:avLst/>
              <a:gdLst/>
              <a:ahLst/>
              <a:cxnLst/>
              <a:rect l="l" t="t" r="r" b="b"/>
              <a:pathLst>
                <a:path w="137160" h="193675">
                  <a:moveTo>
                    <a:pt x="0" y="193548"/>
                  </a:moveTo>
                  <a:lnTo>
                    <a:pt x="137160" y="0"/>
                  </a:lnTo>
                </a:path>
              </a:pathLst>
            </a:custGeom>
            <a:ln w="28956">
              <a:solidFill>
                <a:srgbClr val="000000"/>
              </a:solidFill>
            </a:ln>
          </p:spPr>
          <p:txBody>
            <a:bodyPr wrap="square" lIns="0" tIns="0" rIns="0" bIns="0" rtlCol="0"/>
            <a:lstStyle/>
            <a:p>
              <a:endParaRPr sz="1227"/>
            </a:p>
          </p:txBody>
        </p:sp>
        <p:sp>
          <p:nvSpPr>
            <p:cNvPr id="66" name="object 66"/>
            <p:cNvSpPr/>
            <p:nvPr/>
          </p:nvSpPr>
          <p:spPr>
            <a:xfrm>
              <a:off x="4191762" y="2081022"/>
              <a:ext cx="215900" cy="1270"/>
            </a:xfrm>
            <a:custGeom>
              <a:avLst/>
              <a:gdLst/>
              <a:ahLst/>
              <a:cxnLst/>
              <a:rect l="l" t="t" r="r" b="b"/>
              <a:pathLst>
                <a:path w="215900" h="1269">
                  <a:moveTo>
                    <a:pt x="0" y="762"/>
                  </a:moveTo>
                  <a:lnTo>
                    <a:pt x="215646" y="0"/>
                  </a:lnTo>
                </a:path>
              </a:pathLst>
            </a:custGeom>
            <a:ln w="28955">
              <a:solidFill>
                <a:srgbClr val="000000"/>
              </a:solidFill>
            </a:ln>
          </p:spPr>
          <p:txBody>
            <a:bodyPr wrap="square" lIns="0" tIns="0" rIns="0" bIns="0" rtlCol="0"/>
            <a:lstStyle/>
            <a:p>
              <a:endParaRPr sz="1227"/>
            </a:p>
          </p:txBody>
        </p:sp>
        <p:sp>
          <p:nvSpPr>
            <p:cNvPr id="67" name="object 67"/>
            <p:cNvSpPr/>
            <p:nvPr/>
          </p:nvSpPr>
          <p:spPr>
            <a:xfrm>
              <a:off x="6875526" y="3589019"/>
              <a:ext cx="0" cy="243204"/>
            </a:xfrm>
            <a:custGeom>
              <a:avLst/>
              <a:gdLst/>
              <a:ahLst/>
              <a:cxnLst/>
              <a:rect l="l" t="t" r="r" b="b"/>
              <a:pathLst>
                <a:path h="243204">
                  <a:moveTo>
                    <a:pt x="0" y="0"/>
                  </a:moveTo>
                  <a:lnTo>
                    <a:pt x="0" y="243078"/>
                  </a:lnTo>
                </a:path>
              </a:pathLst>
            </a:custGeom>
            <a:ln w="28956">
              <a:solidFill>
                <a:srgbClr val="000000"/>
              </a:solidFill>
            </a:ln>
          </p:spPr>
          <p:txBody>
            <a:bodyPr wrap="square" lIns="0" tIns="0" rIns="0" bIns="0" rtlCol="0"/>
            <a:lstStyle/>
            <a:p>
              <a:endParaRPr sz="1227"/>
            </a:p>
          </p:txBody>
        </p:sp>
        <p:sp>
          <p:nvSpPr>
            <p:cNvPr id="68" name="object 68"/>
            <p:cNvSpPr/>
            <p:nvPr/>
          </p:nvSpPr>
          <p:spPr>
            <a:xfrm>
              <a:off x="6879336" y="3575303"/>
              <a:ext cx="0" cy="243204"/>
            </a:xfrm>
            <a:custGeom>
              <a:avLst/>
              <a:gdLst/>
              <a:ahLst/>
              <a:cxnLst/>
              <a:rect l="l" t="t" r="r" b="b"/>
              <a:pathLst>
                <a:path h="243204">
                  <a:moveTo>
                    <a:pt x="0" y="0"/>
                  </a:moveTo>
                  <a:lnTo>
                    <a:pt x="0" y="243078"/>
                  </a:lnTo>
                </a:path>
              </a:pathLst>
            </a:custGeom>
            <a:ln w="28956">
              <a:solidFill>
                <a:srgbClr val="000000"/>
              </a:solidFill>
            </a:ln>
          </p:spPr>
          <p:txBody>
            <a:bodyPr wrap="square" lIns="0" tIns="0" rIns="0" bIns="0" rtlCol="0"/>
            <a:lstStyle/>
            <a:p>
              <a:endParaRPr sz="1227"/>
            </a:p>
          </p:txBody>
        </p:sp>
        <p:sp>
          <p:nvSpPr>
            <p:cNvPr id="69" name="object 69"/>
            <p:cNvSpPr/>
            <p:nvPr/>
          </p:nvSpPr>
          <p:spPr>
            <a:xfrm>
              <a:off x="6769608" y="3466338"/>
              <a:ext cx="108585" cy="45720"/>
            </a:xfrm>
            <a:custGeom>
              <a:avLst/>
              <a:gdLst/>
              <a:ahLst/>
              <a:cxnLst/>
              <a:rect l="l" t="t" r="r" b="b"/>
              <a:pathLst>
                <a:path w="108584" h="45720">
                  <a:moveTo>
                    <a:pt x="108203" y="45720"/>
                  </a:moveTo>
                  <a:lnTo>
                    <a:pt x="0" y="0"/>
                  </a:lnTo>
                </a:path>
              </a:pathLst>
            </a:custGeom>
            <a:ln w="28955">
              <a:solidFill>
                <a:srgbClr val="000000"/>
              </a:solidFill>
            </a:ln>
          </p:spPr>
          <p:txBody>
            <a:bodyPr wrap="square" lIns="0" tIns="0" rIns="0" bIns="0" rtlCol="0"/>
            <a:lstStyle/>
            <a:p>
              <a:endParaRPr sz="1227"/>
            </a:p>
          </p:txBody>
        </p:sp>
        <p:sp>
          <p:nvSpPr>
            <p:cNvPr id="70" name="object 70"/>
            <p:cNvSpPr/>
            <p:nvPr/>
          </p:nvSpPr>
          <p:spPr>
            <a:xfrm>
              <a:off x="6769608" y="3419856"/>
              <a:ext cx="215900" cy="48260"/>
            </a:xfrm>
            <a:custGeom>
              <a:avLst/>
              <a:gdLst/>
              <a:ahLst/>
              <a:cxnLst/>
              <a:rect l="l" t="t" r="r" b="b"/>
              <a:pathLst>
                <a:path w="215900" h="48260">
                  <a:moveTo>
                    <a:pt x="0" y="48005"/>
                  </a:moveTo>
                  <a:lnTo>
                    <a:pt x="215646" y="0"/>
                  </a:lnTo>
                </a:path>
              </a:pathLst>
            </a:custGeom>
            <a:ln w="28955">
              <a:solidFill>
                <a:srgbClr val="000000"/>
              </a:solidFill>
            </a:ln>
          </p:spPr>
          <p:txBody>
            <a:bodyPr wrap="square" lIns="0" tIns="0" rIns="0" bIns="0" rtlCol="0"/>
            <a:lstStyle/>
            <a:p>
              <a:endParaRPr sz="1227"/>
            </a:p>
          </p:txBody>
        </p:sp>
        <p:sp>
          <p:nvSpPr>
            <p:cNvPr id="71" name="object 71"/>
            <p:cNvSpPr/>
            <p:nvPr/>
          </p:nvSpPr>
          <p:spPr>
            <a:xfrm>
              <a:off x="6769608" y="3377184"/>
              <a:ext cx="215900" cy="43180"/>
            </a:xfrm>
            <a:custGeom>
              <a:avLst/>
              <a:gdLst/>
              <a:ahLst/>
              <a:cxnLst/>
              <a:rect l="l" t="t" r="r" b="b"/>
              <a:pathLst>
                <a:path w="215900" h="43179">
                  <a:moveTo>
                    <a:pt x="215646" y="42672"/>
                  </a:moveTo>
                  <a:lnTo>
                    <a:pt x="0" y="0"/>
                  </a:lnTo>
                </a:path>
              </a:pathLst>
            </a:custGeom>
            <a:ln w="28956">
              <a:solidFill>
                <a:srgbClr val="000000"/>
              </a:solidFill>
            </a:ln>
          </p:spPr>
          <p:txBody>
            <a:bodyPr wrap="square" lIns="0" tIns="0" rIns="0" bIns="0" rtlCol="0"/>
            <a:lstStyle/>
            <a:p>
              <a:endParaRPr sz="1227"/>
            </a:p>
          </p:txBody>
        </p:sp>
        <p:sp>
          <p:nvSpPr>
            <p:cNvPr id="72" name="object 72"/>
            <p:cNvSpPr/>
            <p:nvPr/>
          </p:nvSpPr>
          <p:spPr>
            <a:xfrm>
              <a:off x="6771132" y="3327653"/>
              <a:ext cx="215900" cy="51435"/>
            </a:xfrm>
            <a:custGeom>
              <a:avLst/>
              <a:gdLst/>
              <a:ahLst/>
              <a:cxnLst/>
              <a:rect l="l" t="t" r="r" b="b"/>
              <a:pathLst>
                <a:path w="215900" h="51435">
                  <a:moveTo>
                    <a:pt x="0" y="51053"/>
                  </a:moveTo>
                  <a:lnTo>
                    <a:pt x="215646" y="0"/>
                  </a:lnTo>
                </a:path>
              </a:pathLst>
            </a:custGeom>
            <a:ln w="28956">
              <a:solidFill>
                <a:srgbClr val="000000"/>
              </a:solidFill>
            </a:ln>
          </p:spPr>
          <p:txBody>
            <a:bodyPr wrap="square" lIns="0" tIns="0" rIns="0" bIns="0" rtlCol="0"/>
            <a:lstStyle/>
            <a:p>
              <a:endParaRPr sz="1227"/>
            </a:p>
          </p:txBody>
        </p:sp>
        <p:sp>
          <p:nvSpPr>
            <p:cNvPr id="73" name="object 73"/>
            <p:cNvSpPr/>
            <p:nvPr/>
          </p:nvSpPr>
          <p:spPr>
            <a:xfrm>
              <a:off x="6771132" y="3283458"/>
              <a:ext cx="215900" cy="44450"/>
            </a:xfrm>
            <a:custGeom>
              <a:avLst/>
              <a:gdLst/>
              <a:ahLst/>
              <a:cxnLst/>
              <a:rect l="l" t="t" r="r" b="b"/>
              <a:pathLst>
                <a:path w="215900" h="44450">
                  <a:moveTo>
                    <a:pt x="215646" y="44196"/>
                  </a:moveTo>
                  <a:lnTo>
                    <a:pt x="0" y="0"/>
                  </a:lnTo>
                </a:path>
              </a:pathLst>
            </a:custGeom>
            <a:ln w="28955">
              <a:solidFill>
                <a:srgbClr val="000000"/>
              </a:solidFill>
            </a:ln>
          </p:spPr>
          <p:txBody>
            <a:bodyPr wrap="square" lIns="0" tIns="0" rIns="0" bIns="0" rtlCol="0"/>
            <a:lstStyle/>
            <a:p>
              <a:endParaRPr sz="1227"/>
            </a:p>
          </p:txBody>
        </p:sp>
        <p:sp>
          <p:nvSpPr>
            <p:cNvPr id="74" name="object 74"/>
            <p:cNvSpPr/>
            <p:nvPr/>
          </p:nvSpPr>
          <p:spPr>
            <a:xfrm>
              <a:off x="6769608" y="3236213"/>
              <a:ext cx="215900" cy="47625"/>
            </a:xfrm>
            <a:custGeom>
              <a:avLst/>
              <a:gdLst/>
              <a:ahLst/>
              <a:cxnLst/>
              <a:rect l="l" t="t" r="r" b="b"/>
              <a:pathLst>
                <a:path w="215900" h="47625">
                  <a:moveTo>
                    <a:pt x="0" y="47244"/>
                  </a:moveTo>
                  <a:lnTo>
                    <a:pt x="215646" y="0"/>
                  </a:lnTo>
                </a:path>
              </a:pathLst>
            </a:custGeom>
            <a:ln w="28956">
              <a:solidFill>
                <a:srgbClr val="000000"/>
              </a:solidFill>
            </a:ln>
          </p:spPr>
          <p:txBody>
            <a:bodyPr wrap="square" lIns="0" tIns="0" rIns="0" bIns="0" rtlCol="0"/>
            <a:lstStyle/>
            <a:p>
              <a:endParaRPr sz="1227"/>
            </a:p>
          </p:txBody>
        </p:sp>
        <p:sp>
          <p:nvSpPr>
            <p:cNvPr id="75" name="object 75"/>
            <p:cNvSpPr/>
            <p:nvPr/>
          </p:nvSpPr>
          <p:spPr>
            <a:xfrm>
              <a:off x="6877811" y="3189731"/>
              <a:ext cx="107950" cy="46990"/>
            </a:xfrm>
            <a:custGeom>
              <a:avLst/>
              <a:gdLst/>
              <a:ahLst/>
              <a:cxnLst/>
              <a:rect l="l" t="t" r="r" b="b"/>
              <a:pathLst>
                <a:path w="107950" h="46989">
                  <a:moveTo>
                    <a:pt x="107442" y="46482"/>
                  </a:moveTo>
                  <a:lnTo>
                    <a:pt x="0" y="0"/>
                  </a:lnTo>
                </a:path>
              </a:pathLst>
            </a:custGeom>
            <a:ln w="28956">
              <a:solidFill>
                <a:srgbClr val="000000"/>
              </a:solidFill>
            </a:ln>
          </p:spPr>
          <p:txBody>
            <a:bodyPr wrap="square" lIns="0" tIns="0" rIns="0" bIns="0" rtlCol="0"/>
            <a:lstStyle/>
            <a:p>
              <a:endParaRPr sz="1227"/>
            </a:p>
          </p:txBody>
        </p:sp>
        <p:sp>
          <p:nvSpPr>
            <p:cNvPr id="76" name="object 76"/>
            <p:cNvSpPr/>
            <p:nvPr/>
          </p:nvSpPr>
          <p:spPr>
            <a:xfrm>
              <a:off x="6879336" y="3099053"/>
              <a:ext cx="0" cy="92710"/>
            </a:xfrm>
            <a:custGeom>
              <a:avLst/>
              <a:gdLst/>
              <a:ahLst/>
              <a:cxnLst/>
              <a:rect l="l" t="t" r="r" b="b"/>
              <a:pathLst>
                <a:path h="92710">
                  <a:moveTo>
                    <a:pt x="0" y="92201"/>
                  </a:moveTo>
                  <a:lnTo>
                    <a:pt x="0" y="0"/>
                  </a:lnTo>
                </a:path>
              </a:pathLst>
            </a:custGeom>
            <a:ln w="28956">
              <a:solidFill>
                <a:srgbClr val="000000"/>
              </a:solidFill>
            </a:ln>
          </p:spPr>
          <p:txBody>
            <a:bodyPr wrap="square" lIns="0" tIns="0" rIns="0" bIns="0" rtlCol="0"/>
            <a:lstStyle/>
            <a:p>
              <a:endParaRPr sz="1227"/>
            </a:p>
          </p:txBody>
        </p:sp>
        <p:sp>
          <p:nvSpPr>
            <p:cNvPr id="77" name="object 77"/>
            <p:cNvSpPr/>
            <p:nvPr/>
          </p:nvSpPr>
          <p:spPr>
            <a:xfrm>
              <a:off x="6835907" y="3055620"/>
              <a:ext cx="86995" cy="86995"/>
            </a:xfrm>
            <a:custGeom>
              <a:avLst/>
              <a:gdLst/>
              <a:ahLst/>
              <a:cxnLst/>
              <a:rect l="l" t="t" r="r" b="b"/>
              <a:pathLst>
                <a:path w="86995" h="86994">
                  <a:moveTo>
                    <a:pt x="43421" y="0"/>
                  </a:moveTo>
                  <a:lnTo>
                    <a:pt x="26521" y="3412"/>
                  </a:lnTo>
                  <a:lnTo>
                    <a:pt x="12719" y="12720"/>
                  </a:lnTo>
                  <a:lnTo>
                    <a:pt x="3412" y="26526"/>
                  </a:lnTo>
                  <a:lnTo>
                    <a:pt x="0" y="43433"/>
                  </a:lnTo>
                  <a:lnTo>
                    <a:pt x="3412" y="60341"/>
                  </a:lnTo>
                  <a:lnTo>
                    <a:pt x="12720" y="74147"/>
                  </a:lnTo>
                  <a:lnTo>
                    <a:pt x="26526" y="83455"/>
                  </a:lnTo>
                  <a:lnTo>
                    <a:pt x="43433" y="86867"/>
                  </a:lnTo>
                  <a:lnTo>
                    <a:pt x="60341" y="83455"/>
                  </a:lnTo>
                  <a:lnTo>
                    <a:pt x="74147" y="74147"/>
                  </a:lnTo>
                  <a:lnTo>
                    <a:pt x="83455" y="60341"/>
                  </a:lnTo>
                  <a:lnTo>
                    <a:pt x="86867" y="43433"/>
                  </a:lnTo>
                  <a:lnTo>
                    <a:pt x="83453" y="26526"/>
                  </a:lnTo>
                  <a:lnTo>
                    <a:pt x="74141" y="12720"/>
                  </a:lnTo>
                  <a:lnTo>
                    <a:pt x="60330" y="3412"/>
                  </a:lnTo>
                  <a:lnTo>
                    <a:pt x="43421" y="0"/>
                  </a:lnTo>
                  <a:close/>
                </a:path>
              </a:pathLst>
            </a:custGeom>
            <a:solidFill>
              <a:srgbClr val="000000"/>
            </a:solidFill>
          </p:spPr>
          <p:txBody>
            <a:bodyPr wrap="square" lIns="0" tIns="0" rIns="0" bIns="0" rtlCol="0"/>
            <a:lstStyle/>
            <a:p>
              <a:endParaRPr sz="1227"/>
            </a:p>
          </p:txBody>
        </p:sp>
        <p:sp>
          <p:nvSpPr>
            <p:cNvPr id="78" name="object 78"/>
            <p:cNvSpPr/>
            <p:nvPr/>
          </p:nvSpPr>
          <p:spPr>
            <a:xfrm>
              <a:off x="6879336" y="3513581"/>
              <a:ext cx="0" cy="92710"/>
            </a:xfrm>
            <a:custGeom>
              <a:avLst/>
              <a:gdLst/>
              <a:ahLst/>
              <a:cxnLst/>
              <a:rect l="l" t="t" r="r" b="b"/>
              <a:pathLst>
                <a:path h="92710">
                  <a:moveTo>
                    <a:pt x="0" y="92201"/>
                  </a:moveTo>
                  <a:lnTo>
                    <a:pt x="0" y="0"/>
                  </a:lnTo>
                </a:path>
              </a:pathLst>
            </a:custGeom>
            <a:ln w="28956">
              <a:solidFill>
                <a:srgbClr val="000000"/>
              </a:solidFill>
            </a:ln>
          </p:spPr>
          <p:txBody>
            <a:bodyPr wrap="square" lIns="0" tIns="0" rIns="0" bIns="0" rtlCol="0"/>
            <a:lstStyle/>
            <a:p>
              <a:endParaRPr sz="1227"/>
            </a:p>
          </p:txBody>
        </p:sp>
        <p:sp>
          <p:nvSpPr>
            <p:cNvPr id="79" name="object 79"/>
            <p:cNvSpPr/>
            <p:nvPr/>
          </p:nvSpPr>
          <p:spPr>
            <a:xfrm>
              <a:off x="6835902" y="3562350"/>
              <a:ext cx="86995" cy="86995"/>
            </a:xfrm>
            <a:custGeom>
              <a:avLst/>
              <a:gdLst/>
              <a:ahLst/>
              <a:cxnLst/>
              <a:rect l="l" t="t" r="r" b="b"/>
              <a:pathLst>
                <a:path w="86995" h="86995">
                  <a:moveTo>
                    <a:pt x="43433" y="0"/>
                  </a:moveTo>
                  <a:lnTo>
                    <a:pt x="26526" y="3412"/>
                  </a:lnTo>
                  <a:lnTo>
                    <a:pt x="12720" y="12720"/>
                  </a:lnTo>
                  <a:lnTo>
                    <a:pt x="3412" y="26526"/>
                  </a:lnTo>
                  <a:lnTo>
                    <a:pt x="0" y="43434"/>
                  </a:lnTo>
                  <a:lnTo>
                    <a:pt x="3412" y="60341"/>
                  </a:lnTo>
                  <a:lnTo>
                    <a:pt x="12720" y="74147"/>
                  </a:lnTo>
                  <a:lnTo>
                    <a:pt x="26526" y="83455"/>
                  </a:lnTo>
                  <a:lnTo>
                    <a:pt x="43433" y="86868"/>
                  </a:lnTo>
                  <a:lnTo>
                    <a:pt x="60341" y="83455"/>
                  </a:lnTo>
                  <a:lnTo>
                    <a:pt x="74147" y="74147"/>
                  </a:lnTo>
                  <a:lnTo>
                    <a:pt x="83455" y="60341"/>
                  </a:lnTo>
                  <a:lnTo>
                    <a:pt x="86867" y="43434"/>
                  </a:lnTo>
                  <a:lnTo>
                    <a:pt x="83455" y="26526"/>
                  </a:lnTo>
                  <a:lnTo>
                    <a:pt x="74147" y="12720"/>
                  </a:lnTo>
                  <a:lnTo>
                    <a:pt x="60341" y="3412"/>
                  </a:lnTo>
                  <a:lnTo>
                    <a:pt x="43433" y="0"/>
                  </a:lnTo>
                  <a:close/>
                </a:path>
              </a:pathLst>
            </a:custGeom>
            <a:solidFill>
              <a:srgbClr val="000000"/>
            </a:solidFill>
          </p:spPr>
          <p:txBody>
            <a:bodyPr wrap="square" lIns="0" tIns="0" rIns="0" bIns="0" rtlCol="0"/>
            <a:lstStyle/>
            <a:p>
              <a:endParaRPr sz="1227"/>
            </a:p>
          </p:txBody>
        </p:sp>
        <p:sp>
          <p:nvSpPr>
            <p:cNvPr id="80" name="object 80"/>
            <p:cNvSpPr/>
            <p:nvPr/>
          </p:nvSpPr>
          <p:spPr>
            <a:xfrm>
              <a:off x="6706742" y="3221151"/>
              <a:ext cx="412750" cy="275590"/>
            </a:xfrm>
            <a:custGeom>
              <a:avLst/>
              <a:gdLst/>
              <a:ahLst/>
              <a:cxnLst/>
              <a:rect l="l" t="t" r="r" b="b"/>
              <a:pathLst>
                <a:path w="412750" h="275589">
                  <a:moveTo>
                    <a:pt x="0" y="275285"/>
                  </a:moveTo>
                  <a:lnTo>
                    <a:pt x="412559" y="0"/>
                  </a:lnTo>
                </a:path>
              </a:pathLst>
            </a:custGeom>
            <a:ln w="19050">
              <a:solidFill>
                <a:srgbClr val="000000"/>
              </a:solidFill>
            </a:ln>
          </p:spPr>
          <p:txBody>
            <a:bodyPr wrap="square" lIns="0" tIns="0" rIns="0" bIns="0" rtlCol="0"/>
            <a:lstStyle/>
            <a:p>
              <a:endParaRPr sz="1227"/>
            </a:p>
          </p:txBody>
        </p:sp>
        <p:sp>
          <p:nvSpPr>
            <p:cNvPr id="81" name="object 81"/>
            <p:cNvSpPr/>
            <p:nvPr/>
          </p:nvSpPr>
          <p:spPr>
            <a:xfrm>
              <a:off x="7031236" y="3221153"/>
              <a:ext cx="88265" cy="79375"/>
            </a:xfrm>
            <a:custGeom>
              <a:avLst/>
              <a:gdLst/>
              <a:ahLst/>
              <a:cxnLst/>
              <a:rect l="l" t="t" r="r" b="b"/>
              <a:pathLst>
                <a:path w="88265" h="79375">
                  <a:moveTo>
                    <a:pt x="49352" y="79273"/>
                  </a:moveTo>
                  <a:lnTo>
                    <a:pt x="88061" y="0"/>
                  </a:lnTo>
                  <a:lnTo>
                    <a:pt x="0" y="5321"/>
                  </a:lnTo>
                </a:path>
              </a:pathLst>
            </a:custGeom>
            <a:ln w="19050">
              <a:solidFill>
                <a:srgbClr val="000000"/>
              </a:solidFill>
            </a:ln>
          </p:spPr>
          <p:txBody>
            <a:bodyPr wrap="square" lIns="0" tIns="0" rIns="0" bIns="0" rtlCol="0"/>
            <a:lstStyle/>
            <a:p>
              <a:endParaRPr sz="1227"/>
            </a:p>
          </p:txBody>
        </p:sp>
      </p:grpSp>
      <p:sp>
        <p:nvSpPr>
          <p:cNvPr id="82" name="object 82"/>
          <p:cNvSpPr txBox="1"/>
          <p:nvPr/>
        </p:nvSpPr>
        <p:spPr>
          <a:xfrm>
            <a:off x="6053416" y="2484753"/>
            <a:ext cx="125990" cy="197578"/>
          </a:xfrm>
          <a:prstGeom prst="rect">
            <a:avLst/>
          </a:prstGeom>
        </p:spPr>
        <p:txBody>
          <a:bodyPr vert="horz" wrap="square" lIns="0" tIns="8659" rIns="0" bIns="0" rtlCol="0">
            <a:spAutoFit/>
          </a:bodyPr>
          <a:lstStyle/>
          <a:p>
            <a:pPr marL="8659">
              <a:spcBef>
                <a:spcPts val="68"/>
              </a:spcBef>
            </a:pPr>
            <a:r>
              <a:rPr sz="1227" spc="-34" dirty="0">
                <a:latin typeface="Verdana"/>
                <a:cs typeface="Verdana"/>
              </a:rPr>
              <a:t>R</a:t>
            </a:r>
            <a:endParaRPr sz="1227">
              <a:latin typeface="Verdana"/>
              <a:cs typeface="Verdana"/>
            </a:endParaRPr>
          </a:p>
        </p:txBody>
      </p:sp>
      <p:sp>
        <p:nvSpPr>
          <p:cNvPr id="83" name="object 83"/>
          <p:cNvSpPr txBox="1"/>
          <p:nvPr/>
        </p:nvSpPr>
        <p:spPr>
          <a:xfrm>
            <a:off x="6162001" y="2575154"/>
            <a:ext cx="235960" cy="134612"/>
          </a:xfrm>
          <a:prstGeom prst="rect">
            <a:avLst/>
          </a:prstGeom>
        </p:spPr>
        <p:txBody>
          <a:bodyPr vert="horz" wrap="square" lIns="0" tIns="8659" rIns="0" bIns="0" rtlCol="0">
            <a:spAutoFit/>
          </a:bodyPr>
          <a:lstStyle/>
          <a:p>
            <a:pPr marL="8659">
              <a:spcBef>
                <a:spcPts val="68"/>
              </a:spcBef>
            </a:pPr>
            <a:r>
              <a:rPr sz="818" spc="-14" dirty="0">
                <a:latin typeface="Verdana"/>
                <a:cs typeface="Verdana"/>
              </a:rPr>
              <a:t>load</a:t>
            </a:r>
            <a:endParaRPr sz="818">
              <a:latin typeface="Verdana"/>
              <a:cs typeface="Verdana"/>
            </a:endParaRPr>
          </a:p>
        </p:txBody>
      </p:sp>
      <p:grpSp>
        <p:nvGrpSpPr>
          <p:cNvPr id="84" name="object 84"/>
          <p:cNvGrpSpPr/>
          <p:nvPr/>
        </p:nvGrpSpPr>
        <p:grpSpPr>
          <a:xfrm>
            <a:off x="4473257" y="1788419"/>
            <a:ext cx="633845" cy="172749"/>
            <a:chOff x="4731130" y="2269108"/>
            <a:chExt cx="929640" cy="253365"/>
          </a:xfrm>
        </p:grpSpPr>
        <p:sp>
          <p:nvSpPr>
            <p:cNvPr id="85" name="object 85"/>
            <p:cNvSpPr/>
            <p:nvPr/>
          </p:nvSpPr>
          <p:spPr>
            <a:xfrm>
              <a:off x="4745735" y="2311907"/>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sp>
          <p:nvSpPr>
            <p:cNvPr id="86" name="object 86"/>
            <p:cNvSpPr/>
            <p:nvPr/>
          </p:nvSpPr>
          <p:spPr>
            <a:xfrm>
              <a:off x="5645658" y="2283713"/>
              <a:ext cx="0" cy="196215"/>
            </a:xfrm>
            <a:custGeom>
              <a:avLst/>
              <a:gdLst/>
              <a:ahLst/>
              <a:cxnLst/>
              <a:rect l="l" t="t" r="r" b="b"/>
              <a:pathLst>
                <a:path h="196214">
                  <a:moveTo>
                    <a:pt x="0" y="195834"/>
                  </a:moveTo>
                  <a:lnTo>
                    <a:pt x="0" y="0"/>
                  </a:lnTo>
                </a:path>
              </a:pathLst>
            </a:custGeom>
            <a:ln w="28956">
              <a:solidFill>
                <a:srgbClr val="000000"/>
              </a:solidFill>
            </a:ln>
          </p:spPr>
          <p:txBody>
            <a:bodyPr wrap="square" lIns="0" tIns="0" rIns="0" bIns="0" rtlCol="0"/>
            <a:lstStyle/>
            <a:p>
              <a:endParaRPr sz="1227"/>
            </a:p>
          </p:txBody>
        </p:sp>
      </p:grpSp>
      <p:sp>
        <p:nvSpPr>
          <p:cNvPr id="87" name="object 87"/>
          <p:cNvSpPr txBox="1"/>
          <p:nvPr/>
        </p:nvSpPr>
        <p:spPr>
          <a:xfrm>
            <a:off x="4521679" y="1841835"/>
            <a:ext cx="261072" cy="197578"/>
          </a:xfrm>
          <a:prstGeom prst="rect">
            <a:avLst/>
          </a:prstGeom>
        </p:spPr>
        <p:txBody>
          <a:bodyPr vert="horz" wrap="square" lIns="0" tIns="8659" rIns="0" bIns="0" rtlCol="0">
            <a:spAutoFit/>
          </a:bodyPr>
          <a:lstStyle/>
          <a:p>
            <a:pPr marL="8659">
              <a:spcBef>
                <a:spcPts val="68"/>
              </a:spcBef>
            </a:pPr>
            <a:r>
              <a:rPr sz="1227" spc="-17" dirty="0">
                <a:latin typeface="Verdana"/>
                <a:cs typeface="Verdana"/>
              </a:rPr>
              <a:t>Clk</a:t>
            </a:r>
            <a:endParaRPr sz="1227">
              <a:latin typeface="Verdana"/>
              <a:cs typeface="Verdana"/>
            </a:endParaRPr>
          </a:p>
        </p:txBody>
      </p:sp>
      <p:sp>
        <p:nvSpPr>
          <p:cNvPr id="88" name="object 88"/>
          <p:cNvSpPr txBox="1"/>
          <p:nvPr/>
        </p:nvSpPr>
        <p:spPr>
          <a:xfrm>
            <a:off x="5127832" y="1846667"/>
            <a:ext cx="261072" cy="197578"/>
          </a:xfrm>
          <a:prstGeom prst="rect">
            <a:avLst/>
          </a:prstGeom>
        </p:spPr>
        <p:txBody>
          <a:bodyPr vert="horz" wrap="square" lIns="0" tIns="8659" rIns="0" bIns="0" rtlCol="0">
            <a:spAutoFit/>
          </a:bodyPr>
          <a:lstStyle/>
          <a:p>
            <a:pPr marL="8659">
              <a:spcBef>
                <a:spcPts val="68"/>
              </a:spcBef>
            </a:pPr>
            <a:r>
              <a:rPr sz="1227" spc="-17" dirty="0">
                <a:latin typeface="Verdana"/>
                <a:cs typeface="Verdana"/>
              </a:rPr>
              <a:t>Clk</a:t>
            </a:r>
            <a:endParaRPr sz="1227">
              <a:latin typeface="Verdana"/>
              <a:cs typeface="Verdana"/>
            </a:endParaRPr>
          </a:p>
        </p:txBody>
      </p:sp>
      <p:sp>
        <p:nvSpPr>
          <p:cNvPr id="89" name="object 89"/>
          <p:cNvSpPr txBox="1"/>
          <p:nvPr/>
        </p:nvSpPr>
        <p:spPr>
          <a:xfrm>
            <a:off x="7393178" y="1947046"/>
            <a:ext cx="1881188" cy="848023"/>
          </a:xfrm>
          <a:prstGeom prst="rect">
            <a:avLst/>
          </a:prstGeom>
        </p:spPr>
        <p:txBody>
          <a:bodyPr vert="horz" wrap="square" lIns="0" tIns="8226" rIns="0" bIns="0" rtlCol="0">
            <a:spAutoFit/>
          </a:bodyPr>
          <a:lstStyle/>
          <a:p>
            <a:pPr marL="8659" marR="3464">
              <a:spcBef>
                <a:spcPts val="65"/>
              </a:spcBef>
            </a:pPr>
            <a:r>
              <a:rPr sz="1364" dirty="0">
                <a:solidFill>
                  <a:srgbClr val="C00000"/>
                </a:solidFill>
                <a:latin typeface="Verdana"/>
                <a:cs typeface="Verdana"/>
              </a:rPr>
              <a:t>The</a:t>
            </a:r>
            <a:r>
              <a:rPr sz="1364" spc="-24" dirty="0">
                <a:solidFill>
                  <a:srgbClr val="C00000"/>
                </a:solidFill>
                <a:latin typeface="Verdana"/>
                <a:cs typeface="Verdana"/>
              </a:rPr>
              <a:t> </a:t>
            </a:r>
            <a:r>
              <a:rPr sz="1364" dirty="0">
                <a:solidFill>
                  <a:srgbClr val="C00000"/>
                </a:solidFill>
                <a:latin typeface="Verdana"/>
                <a:cs typeface="Verdana"/>
              </a:rPr>
              <a:t>controller</a:t>
            </a:r>
            <a:r>
              <a:rPr sz="1364" spc="-24" dirty="0">
                <a:solidFill>
                  <a:srgbClr val="C00000"/>
                </a:solidFill>
                <a:latin typeface="Verdana"/>
                <a:cs typeface="Verdana"/>
              </a:rPr>
              <a:t> </a:t>
            </a:r>
            <a:r>
              <a:rPr sz="1364" spc="-7" dirty="0">
                <a:solidFill>
                  <a:srgbClr val="C00000"/>
                </a:solidFill>
                <a:latin typeface="Verdana"/>
                <a:cs typeface="Verdana"/>
              </a:rPr>
              <a:t>output </a:t>
            </a:r>
            <a:r>
              <a:rPr sz="1364" dirty="0">
                <a:solidFill>
                  <a:srgbClr val="C00000"/>
                </a:solidFill>
                <a:latin typeface="Verdana"/>
                <a:cs typeface="Verdana"/>
              </a:rPr>
              <a:t>alternates</a:t>
            </a:r>
            <a:r>
              <a:rPr sz="1364" spc="-41" dirty="0">
                <a:solidFill>
                  <a:srgbClr val="C00000"/>
                </a:solidFill>
                <a:latin typeface="Verdana"/>
                <a:cs typeface="Verdana"/>
              </a:rPr>
              <a:t> </a:t>
            </a:r>
            <a:r>
              <a:rPr sz="1364" spc="-7" dirty="0">
                <a:solidFill>
                  <a:srgbClr val="C00000"/>
                </a:solidFill>
                <a:latin typeface="Verdana"/>
                <a:cs typeface="Verdana"/>
              </a:rPr>
              <a:t>between </a:t>
            </a:r>
            <a:r>
              <a:rPr sz="1364" dirty="0">
                <a:solidFill>
                  <a:srgbClr val="C00000"/>
                </a:solidFill>
                <a:latin typeface="Verdana"/>
                <a:cs typeface="Verdana"/>
              </a:rPr>
              <a:t>two</a:t>
            </a:r>
            <a:r>
              <a:rPr sz="1364" spc="-24" dirty="0">
                <a:solidFill>
                  <a:srgbClr val="C00000"/>
                </a:solidFill>
                <a:latin typeface="Verdana"/>
                <a:cs typeface="Verdana"/>
              </a:rPr>
              <a:t> </a:t>
            </a:r>
            <a:r>
              <a:rPr sz="1364" dirty="0">
                <a:solidFill>
                  <a:srgbClr val="C00000"/>
                </a:solidFill>
                <a:latin typeface="Verdana"/>
                <a:cs typeface="Verdana"/>
              </a:rPr>
              <a:t>codes</a:t>
            </a:r>
            <a:r>
              <a:rPr sz="1364" spc="-20" dirty="0">
                <a:solidFill>
                  <a:srgbClr val="C00000"/>
                </a:solidFill>
                <a:latin typeface="Verdana"/>
                <a:cs typeface="Verdana"/>
              </a:rPr>
              <a:t> </a:t>
            </a:r>
            <a:r>
              <a:rPr sz="1364" dirty="0">
                <a:solidFill>
                  <a:srgbClr val="C00000"/>
                </a:solidFill>
                <a:latin typeface="Verdana"/>
                <a:cs typeface="Verdana"/>
              </a:rPr>
              <a:t>with</a:t>
            </a:r>
            <a:r>
              <a:rPr sz="1364" spc="-24" dirty="0">
                <a:solidFill>
                  <a:srgbClr val="C00000"/>
                </a:solidFill>
                <a:latin typeface="Verdana"/>
                <a:cs typeface="Verdana"/>
              </a:rPr>
              <a:t> </a:t>
            </a:r>
            <a:r>
              <a:rPr sz="1364" dirty="0">
                <a:solidFill>
                  <a:srgbClr val="C00000"/>
                </a:solidFill>
                <a:latin typeface="Verdana"/>
                <a:cs typeface="Verdana"/>
              </a:rPr>
              <a:t>1</a:t>
            </a:r>
            <a:r>
              <a:rPr sz="1364" spc="-20" dirty="0">
                <a:solidFill>
                  <a:srgbClr val="C00000"/>
                </a:solidFill>
                <a:latin typeface="Verdana"/>
                <a:cs typeface="Verdana"/>
              </a:rPr>
              <a:t> </a:t>
            </a:r>
            <a:r>
              <a:rPr sz="1364" spc="-17" dirty="0">
                <a:solidFill>
                  <a:srgbClr val="C00000"/>
                </a:solidFill>
                <a:latin typeface="Verdana"/>
                <a:cs typeface="Verdana"/>
              </a:rPr>
              <a:t>LSB </a:t>
            </a:r>
            <a:r>
              <a:rPr sz="1364" spc="-7" dirty="0">
                <a:solidFill>
                  <a:srgbClr val="C00000"/>
                </a:solidFill>
                <a:latin typeface="Verdana"/>
                <a:cs typeface="Verdana"/>
              </a:rPr>
              <a:t>difference</a:t>
            </a:r>
            <a:endParaRPr sz="1364">
              <a:latin typeface="Verdana"/>
              <a:cs typeface="Verdana"/>
            </a:endParaRPr>
          </a:p>
        </p:txBody>
      </p:sp>
      <p:grpSp>
        <p:nvGrpSpPr>
          <p:cNvPr id="90" name="object 90"/>
          <p:cNvGrpSpPr/>
          <p:nvPr/>
        </p:nvGrpSpPr>
        <p:grpSpPr>
          <a:xfrm>
            <a:off x="4660813" y="1465264"/>
            <a:ext cx="2612448" cy="886258"/>
            <a:chOff x="5006213" y="1795146"/>
            <a:chExt cx="3831590" cy="1299845"/>
          </a:xfrm>
        </p:grpSpPr>
        <p:sp>
          <p:nvSpPr>
            <p:cNvPr id="91" name="object 91"/>
            <p:cNvSpPr/>
            <p:nvPr/>
          </p:nvSpPr>
          <p:spPr>
            <a:xfrm>
              <a:off x="6402539" y="2184692"/>
              <a:ext cx="2421255" cy="895350"/>
            </a:xfrm>
            <a:custGeom>
              <a:avLst/>
              <a:gdLst/>
              <a:ahLst/>
              <a:cxnLst/>
              <a:rect l="l" t="t" r="r" b="b"/>
              <a:pathLst>
                <a:path w="2421254" h="895350">
                  <a:moveTo>
                    <a:pt x="2420658" y="895311"/>
                  </a:moveTo>
                  <a:lnTo>
                    <a:pt x="0" y="0"/>
                  </a:lnTo>
                </a:path>
              </a:pathLst>
            </a:custGeom>
            <a:ln w="28956">
              <a:solidFill>
                <a:srgbClr val="C00000"/>
              </a:solidFill>
              <a:prstDash val="sysDash"/>
            </a:ln>
          </p:spPr>
          <p:txBody>
            <a:bodyPr wrap="square" lIns="0" tIns="0" rIns="0" bIns="0" rtlCol="0"/>
            <a:lstStyle/>
            <a:p>
              <a:endParaRPr sz="1227"/>
            </a:p>
          </p:txBody>
        </p:sp>
        <p:sp>
          <p:nvSpPr>
            <p:cNvPr id="92" name="object 92"/>
            <p:cNvSpPr/>
            <p:nvPr/>
          </p:nvSpPr>
          <p:spPr>
            <a:xfrm>
              <a:off x="6402545" y="2167294"/>
              <a:ext cx="99060" cy="95250"/>
            </a:xfrm>
            <a:custGeom>
              <a:avLst/>
              <a:gdLst/>
              <a:ahLst/>
              <a:cxnLst/>
              <a:rect l="l" t="t" r="r" b="b"/>
              <a:pathLst>
                <a:path w="99060" h="95250">
                  <a:moveTo>
                    <a:pt x="99047" y="0"/>
                  </a:moveTo>
                  <a:lnTo>
                    <a:pt x="0" y="17399"/>
                  </a:lnTo>
                  <a:lnTo>
                    <a:pt x="63893" y="95059"/>
                  </a:lnTo>
                </a:path>
              </a:pathLst>
            </a:custGeom>
            <a:ln w="28956">
              <a:solidFill>
                <a:srgbClr val="C00000"/>
              </a:solidFill>
            </a:ln>
          </p:spPr>
          <p:txBody>
            <a:bodyPr wrap="square" lIns="0" tIns="0" rIns="0" bIns="0" rtlCol="0"/>
            <a:lstStyle/>
            <a:p>
              <a:endParaRPr sz="1227"/>
            </a:p>
          </p:txBody>
        </p:sp>
        <p:sp>
          <p:nvSpPr>
            <p:cNvPr id="93" name="object 93"/>
            <p:cNvSpPr/>
            <p:nvPr/>
          </p:nvSpPr>
          <p:spPr>
            <a:xfrm>
              <a:off x="5020818" y="2072639"/>
              <a:ext cx="227965" cy="0"/>
            </a:xfrm>
            <a:custGeom>
              <a:avLst/>
              <a:gdLst/>
              <a:ahLst/>
              <a:cxnLst/>
              <a:rect l="l" t="t" r="r" b="b"/>
              <a:pathLst>
                <a:path w="227964">
                  <a:moveTo>
                    <a:pt x="0" y="0"/>
                  </a:moveTo>
                  <a:lnTo>
                    <a:pt x="227838" y="0"/>
                  </a:lnTo>
                </a:path>
              </a:pathLst>
            </a:custGeom>
            <a:ln w="28956">
              <a:solidFill>
                <a:srgbClr val="000000"/>
              </a:solidFill>
            </a:ln>
          </p:spPr>
          <p:txBody>
            <a:bodyPr wrap="square" lIns="0" tIns="0" rIns="0" bIns="0" rtlCol="0"/>
            <a:lstStyle/>
            <a:p>
              <a:endParaRPr sz="1227"/>
            </a:p>
          </p:txBody>
        </p:sp>
        <p:sp>
          <p:nvSpPr>
            <p:cNvPr id="94" name="object 94"/>
            <p:cNvSpPr/>
            <p:nvPr/>
          </p:nvSpPr>
          <p:spPr>
            <a:xfrm>
              <a:off x="5246370" y="1809751"/>
              <a:ext cx="755650" cy="506730"/>
            </a:xfrm>
            <a:custGeom>
              <a:avLst/>
              <a:gdLst/>
              <a:ahLst/>
              <a:cxnLst/>
              <a:rect l="l" t="t" r="r" b="b"/>
              <a:pathLst>
                <a:path w="755650" h="506730">
                  <a:moveTo>
                    <a:pt x="670687" y="0"/>
                  </a:moveTo>
                  <a:lnTo>
                    <a:pt x="84455" y="0"/>
                  </a:lnTo>
                  <a:lnTo>
                    <a:pt x="51579" y="6636"/>
                  </a:lnTo>
                  <a:lnTo>
                    <a:pt x="24734" y="24734"/>
                  </a:lnTo>
                  <a:lnTo>
                    <a:pt x="6636" y="51579"/>
                  </a:lnTo>
                  <a:lnTo>
                    <a:pt x="0" y="84454"/>
                  </a:lnTo>
                  <a:lnTo>
                    <a:pt x="0" y="422274"/>
                  </a:lnTo>
                  <a:lnTo>
                    <a:pt x="6636" y="455150"/>
                  </a:lnTo>
                  <a:lnTo>
                    <a:pt x="24734" y="481995"/>
                  </a:lnTo>
                  <a:lnTo>
                    <a:pt x="51579" y="500093"/>
                  </a:lnTo>
                  <a:lnTo>
                    <a:pt x="84455" y="506729"/>
                  </a:lnTo>
                  <a:lnTo>
                    <a:pt x="670687" y="506729"/>
                  </a:lnTo>
                  <a:lnTo>
                    <a:pt x="703562" y="500093"/>
                  </a:lnTo>
                  <a:lnTo>
                    <a:pt x="730407" y="481995"/>
                  </a:lnTo>
                  <a:lnTo>
                    <a:pt x="748505" y="455150"/>
                  </a:lnTo>
                  <a:lnTo>
                    <a:pt x="755142" y="422274"/>
                  </a:lnTo>
                  <a:lnTo>
                    <a:pt x="755142" y="84454"/>
                  </a:lnTo>
                  <a:lnTo>
                    <a:pt x="748505" y="51579"/>
                  </a:lnTo>
                  <a:lnTo>
                    <a:pt x="730407" y="24734"/>
                  </a:lnTo>
                  <a:lnTo>
                    <a:pt x="703562" y="6636"/>
                  </a:lnTo>
                  <a:lnTo>
                    <a:pt x="670687" y="0"/>
                  </a:lnTo>
                  <a:close/>
                </a:path>
              </a:pathLst>
            </a:custGeom>
            <a:solidFill>
              <a:srgbClr val="FFFFFF"/>
            </a:solidFill>
          </p:spPr>
          <p:txBody>
            <a:bodyPr wrap="square" lIns="0" tIns="0" rIns="0" bIns="0" rtlCol="0"/>
            <a:lstStyle/>
            <a:p>
              <a:endParaRPr sz="1227"/>
            </a:p>
          </p:txBody>
        </p:sp>
        <p:sp>
          <p:nvSpPr>
            <p:cNvPr id="95" name="object 95"/>
            <p:cNvSpPr/>
            <p:nvPr/>
          </p:nvSpPr>
          <p:spPr>
            <a:xfrm>
              <a:off x="5246370" y="1809751"/>
              <a:ext cx="755650" cy="506730"/>
            </a:xfrm>
            <a:custGeom>
              <a:avLst/>
              <a:gdLst/>
              <a:ahLst/>
              <a:cxnLst/>
              <a:rect l="l" t="t" r="r" b="b"/>
              <a:pathLst>
                <a:path w="755650" h="506730">
                  <a:moveTo>
                    <a:pt x="0" y="84454"/>
                  </a:moveTo>
                  <a:lnTo>
                    <a:pt x="6636" y="51579"/>
                  </a:lnTo>
                  <a:lnTo>
                    <a:pt x="24734" y="24734"/>
                  </a:lnTo>
                  <a:lnTo>
                    <a:pt x="51579" y="6636"/>
                  </a:lnTo>
                  <a:lnTo>
                    <a:pt x="84455" y="0"/>
                  </a:lnTo>
                  <a:lnTo>
                    <a:pt x="670687" y="0"/>
                  </a:lnTo>
                  <a:lnTo>
                    <a:pt x="703562" y="6636"/>
                  </a:lnTo>
                  <a:lnTo>
                    <a:pt x="730407" y="24734"/>
                  </a:lnTo>
                  <a:lnTo>
                    <a:pt x="748505" y="51579"/>
                  </a:lnTo>
                  <a:lnTo>
                    <a:pt x="755142" y="84454"/>
                  </a:lnTo>
                  <a:lnTo>
                    <a:pt x="755142" y="422274"/>
                  </a:lnTo>
                  <a:lnTo>
                    <a:pt x="748505" y="455150"/>
                  </a:lnTo>
                  <a:lnTo>
                    <a:pt x="730407" y="481995"/>
                  </a:lnTo>
                  <a:lnTo>
                    <a:pt x="703562" y="500093"/>
                  </a:lnTo>
                  <a:lnTo>
                    <a:pt x="670687" y="506729"/>
                  </a:lnTo>
                  <a:lnTo>
                    <a:pt x="84455" y="506729"/>
                  </a:lnTo>
                  <a:lnTo>
                    <a:pt x="51579" y="500093"/>
                  </a:lnTo>
                  <a:lnTo>
                    <a:pt x="24734" y="481995"/>
                  </a:lnTo>
                  <a:lnTo>
                    <a:pt x="6636" y="455150"/>
                  </a:lnTo>
                  <a:lnTo>
                    <a:pt x="0" y="422274"/>
                  </a:lnTo>
                  <a:lnTo>
                    <a:pt x="0" y="84454"/>
                  </a:lnTo>
                  <a:close/>
                </a:path>
              </a:pathLst>
            </a:custGeom>
            <a:ln w="28956">
              <a:solidFill>
                <a:srgbClr val="000000"/>
              </a:solidFill>
            </a:ln>
          </p:spPr>
          <p:txBody>
            <a:bodyPr wrap="square" lIns="0" tIns="0" rIns="0" bIns="0" rtlCol="0"/>
            <a:lstStyle/>
            <a:p>
              <a:endParaRPr sz="1227"/>
            </a:p>
          </p:txBody>
        </p:sp>
      </p:grpSp>
      <p:sp>
        <p:nvSpPr>
          <p:cNvPr id="96" name="object 96"/>
          <p:cNvSpPr txBox="1"/>
          <p:nvPr/>
        </p:nvSpPr>
        <p:spPr>
          <a:xfrm>
            <a:off x="5435117" y="1338607"/>
            <a:ext cx="223405" cy="197578"/>
          </a:xfrm>
          <a:prstGeom prst="rect">
            <a:avLst/>
          </a:prstGeom>
        </p:spPr>
        <p:txBody>
          <a:bodyPr vert="horz" wrap="square" lIns="0" tIns="8659" rIns="0" bIns="0" rtlCol="0">
            <a:spAutoFit/>
          </a:bodyPr>
          <a:lstStyle/>
          <a:p>
            <a:pPr marL="25977">
              <a:spcBef>
                <a:spcPts val="68"/>
              </a:spcBef>
            </a:pPr>
            <a:r>
              <a:rPr sz="1227" spc="-17" dirty="0">
                <a:latin typeface="Verdana"/>
                <a:cs typeface="Verdana"/>
              </a:rPr>
              <a:t>V</a:t>
            </a:r>
            <a:r>
              <a:rPr sz="1227" spc="-25" baseline="-20833" dirty="0">
                <a:latin typeface="Verdana"/>
                <a:cs typeface="Verdana"/>
              </a:rPr>
              <a:t>g</a:t>
            </a:r>
            <a:endParaRPr sz="1227" baseline="-20833">
              <a:latin typeface="Verdana"/>
              <a:cs typeface="Verdana"/>
            </a:endParaRPr>
          </a:p>
        </p:txBody>
      </p:sp>
      <p:sp>
        <p:nvSpPr>
          <p:cNvPr id="97" name="object 97"/>
          <p:cNvSpPr txBox="1"/>
          <p:nvPr/>
        </p:nvSpPr>
        <p:spPr>
          <a:xfrm>
            <a:off x="4916590" y="2489788"/>
            <a:ext cx="330344" cy="197641"/>
          </a:xfrm>
          <a:prstGeom prst="rect">
            <a:avLst/>
          </a:prstGeom>
        </p:spPr>
        <p:txBody>
          <a:bodyPr vert="horz" wrap="square" lIns="0" tIns="8659" rIns="0" bIns="0" rtlCol="0">
            <a:spAutoFit/>
          </a:bodyPr>
          <a:lstStyle/>
          <a:p>
            <a:pPr marL="25977">
              <a:spcBef>
                <a:spcPts val="68"/>
              </a:spcBef>
            </a:pPr>
            <a:r>
              <a:rPr sz="1841" spc="-20" baseline="13888" dirty="0">
                <a:latin typeface="Verdana"/>
                <a:cs typeface="Verdana"/>
              </a:rPr>
              <a:t>C</a:t>
            </a:r>
            <a:r>
              <a:rPr sz="818" spc="-14" dirty="0">
                <a:latin typeface="Verdana"/>
                <a:cs typeface="Verdana"/>
              </a:rPr>
              <a:t>out</a:t>
            </a:r>
            <a:endParaRPr sz="818">
              <a:latin typeface="Verdana"/>
              <a:cs typeface="Verdana"/>
            </a:endParaRPr>
          </a:p>
        </p:txBody>
      </p:sp>
      <p:sp>
        <p:nvSpPr>
          <p:cNvPr id="98" name="object 98"/>
          <p:cNvSpPr txBox="1"/>
          <p:nvPr/>
        </p:nvSpPr>
        <p:spPr>
          <a:xfrm>
            <a:off x="4905312" y="1500585"/>
            <a:ext cx="353724" cy="260479"/>
          </a:xfrm>
          <a:prstGeom prst="rect">
            <a:avLst/>
          </a:prstGeom>
        </p:spPr>
        <p:txBody>
          <a:bodyPr vert="horz" wrap="square" lIns="0" tIns="8659" rIns="0" bIns="0" rtlCol="0">
            <a:spAutoFit/>
          </a:bodyPr>
          <a:lstStyle/>
          <a:p>
            <a:pPr marL="8659">
              <a:spcBef>
                <a:spcPts val="68"/>
              </a:spcBef>
            </a:pPr>
            <a:r>
              <a:rPr sz="1636" spc="-14" dirty="0">
                <a:latin typeface="Verdana"/>
                <a:cs typeface="Verdana"/>
              </a:rPr>
              <a:t>ctrl</a:t>
            </a:r>
            <a:endParaRPr sz="1636">
              <a:latin typeface="Verdana"/>
              <a:cs typeface="Verdana"/>
            </a:endParaRPr>
          </a:p>
        </p:txBody>
      </p:sp>
      <p:sp>
        <p:nvSpPr>
          <p:cNvPr id="99" name="object 99"/>
          <p:cNvSpPr/>
          <p:nvPr/>
        </p:nvSpPr>
        <p:spPr>
          <a:xfrm>
            <a:off x="4245783" y="1485091"/>
            <a:ext cx="423430" cy="326015"/>
          </a:xfrm>
          <a:custGeom>
            <a:avLst/>
            <a:gdLst/>
            <a:ahLst/>
            <a:cxnLst/>
            <a:rect l="l" t="t" r="r" b="b"/>
            <a:pathLst>
              <a:path w="621029" h="478155">
                <a:moveTo>
                  <a:pt x="621029" y="0"/>
                </a:moveTo>
                <a:lnTo>
                  <a:pt x="621029" y="477773"/>
                </a:lnTo>
                <a:lnTo>
                  <a:pt x="124205" y="477773"/>
                </a:lnTo>
                <a:lnTo>
                  <a:pt x="0" y="238886"/>
                </a:lnTo>
                <a:lnTo>
                  <a:pt x="124205" y="0"/>
                </a:lnTo>
                <a:lnTo>
                  <a:pt x="621029" y="0"/>
                </a:lnTo>
                <a:close/>
              </a:path>
            </a:pathLst>
          </a:custGeom>
          <a:ln w="28956">
            <a:solidFill>
              <a:srgbClr val="000000"/>
            </a:solidFill>
          </a:ln>
        </p:spPr>
        <p:txBody>
          <a:bodyPr wrap="square" lIns="0" tIns="0" rIns="0" bIns="0" rtlCol="0"/>
          <a:lstStyle/>
          <a:p>
            <a:endParaRPr sz="1227"/>
          </a:p>
        </p:txBody>
      </p:sp>
      <p:sp>
        <p:nvSpPr>
          <p:cNvPr id="100" name="object 100"/>
          <p:cNvSpPr txBox="1"/>
          <p:nvPr/>
        </p:nvSpPr>
        <p:spPr>
          <a:xfrm>
            <a:off x="4288951" y="1534732"/>
            <a:ext cx="352858" cy="197578"/>
          </a:xfrm>
          <a:prstGeom prst="rect">
            <a:avLst/>
          </a:prstGeom>
        </p:spPr>
        <p:txBody>
          <a:bodyPr vert="horz" wrap="square" lIns="0" tIns="8659" rIns="0" bIns="0" rtlCol="0">
            <a:spAutoFit/>
          </a:bodyPr>
          <a:lstStyle/>
          <a:p>
            <a:pPr marL="8659">
              <a:spcBef>
                <a:spcPts val="68"/>
              </a:spcBef>
            </a:pPr>
            <a:r>
              <a:rPr sz="1227" spc="-17" dirty="0">
                <a:latin typeface="Verdana"/>
                <a:cs typeface="Verdana"/>
              </a:rPr>
              <a:t>ADC</a:t>
            </a:r>
            <a:endParaRPr sz="1227">
              <a:latin typeface="Verdana"/>
              <a:cs typeface="Verdana"/>
            </a:endParaRPr>
          </a:p>
        </p:txBody>
      </p:sp>
    </p:spTree>
    <p:extLst>
      <p:ext uri="{BB962C8B-B14F-4D97-AF65-F5344CB8AC3E}">
        <p14:creationId xmlns:p14="http://schemas.microsoft.com/office/powerpoint/2010/main" val="28806185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98148" y="237085"/>
            <a:ext cx="7222634" cy="531526"/>
          </a:xfrm>
          <a:prstGeom prst="rect">
            <a:avLst/>
          </a:prstGeom>
        </p:spPr>
        <p:txBody>
          <a:bodyPr vert="horz" wrap="square" lIns="0" tIns="8226" rIns="0" bIns="0" rtlCol="0">
            <a:spAutoFit/>
          </a:bodyPr>
          <a:lstStyle/>
          <a:p>
            <a:pPr marL="8659">
              <a:spcBef>
                <a:spcPts val="65"/>
              </a:spcBef>
            </a:pPr>
            <a:r>
              <a:rPr dirty="0"/>
              <a:t>Output</a:t>
            </a:r>
            <a:r>
              <a:rPr spc="-24" dirty="0"/>
              <a:t> </a:t>
            </a:r>
            <a:r>
              <a:rPr dirty="0"/>
              <a:t>Ripple</a:t>
            </a:r>
            <a:r>
              <a:rPr spc="-34" dirty="0"/>
              <a:t> </a:t>
            </a:r>
            <a:r>
              <a:rPr dirty="0"/>
              <a:t>Size</a:t>
            </a:r>
            <a:r>
              <a:rPr spc="-24" dirty="0"/>
              <a:t> </a:t>
            </a:r>
            <a:r>
              <a:rPr spc="-7" dirty="0"/>
              <a:t>(V</a:t>
            </a:r>
            <a:r>
              <a:rPr sz="2557" spc="-10" baseline="-21111" dirty="0"/>
              <a:t>ripple</a:t>
            </a:r>
            <a:r>
              <a:rPr sz="2591" spc="-7" dirty="0"/>
              <a:t>)</a:t>
            </a:r>
            <a:endParaRPr sz="2591"/>
          </a:p>
        </p:txBody>
      </p:sp>
      <p:sp>
        <p:nvSpPr>
          <p:cNvPr id="3" name="object 3"/>
          <p:cNvSpPr txBox="1"/>
          <p:nvPr/>
        </p:nvSpPr>
        <p:spPr>
          <a:xfrm>
            <a:off x="6383116" y="1918829"/>
            <a:ext cx="2580409" cy="218236"/>
          </a:xfrm>
          <a:prstGeom prst="rect">
            <a:avLst/>
          </a:prstGeom>
        </p:spPr>
        <p:txBody>
          <a:bodyPr vert="horz" wrap="square" lIns="0" tIns="8226" rIns="0" bIns="0" rtlCol="0">
            <a:spAutoFit/>
          </a:bodyPr>
          <a:lstStyle/>
          <a:p>
            <a:pPr marL="346354" indent="-320378">
              <a:spcBef>
                <a:spcPts val="65"/>
              </a:spcBef>
              <a:buClr>
                <a:srgbClr val="CC0000"/>
              </a:buClr>
              <a:buFont typeface="Wingdings"/>
              <a:buChar char=""/>
              <a:tabLst>
                <a:tab pos="346354" algn="l"/>
              </a:tabLst>
            </a:pPr>
            <a:r>
              <a:rPr sz="1364" dirty="0">
                <a:latin typeface="Verdana"/>
                <a:cs typeface="Verdana"/>
              </a:rPr>
              <a:t>V</a:t>
            </a:r>
            <a:r>
              <a:rPr sz="1330" baseline="-21367" dirty="0">
                <a:latin typeface="Verdana"/>
                <a:cs typeface="Verdana"/>
              </a:rPr>
              <a:t>ripple</a:t>
            </a:r>
            <a:r>
              <a:rPr sz="1330" spc="245" baseline="-21367" dirty="0">
                <a:latin typeface="Verdana"/>
                <a:cs typeface="Verdana"/>
              </a:rPr>
              <a:t> </a:t>
            </a:r>
            <a:r>
              <a:rPr sz="1364" dirty="0">
                <a:latin typeface="Verdana"/>
                <a:cs typeface="Verdana"/>
              </a:rPr>
              <a:t>is</a:t>
            </a:r>
            <a:r>
              <a:rPr sz="1364" spc="-3" dirty="0">
                <a:latin typeface="Verdana"/>
                <a:cs typeface="Verdana"/>
              </a:rPr>
              <a:t> </a:t>
            </a:r>
            <a:r>
              <a:rPr sz="1364" dirty="0">
                <a:latin typeface="Verdana"/>
                <a:cs typeface="Verdana"/>
              </a:rPr>
              <a:t>also</a:t>
            </a:r>
            <a:r>
              <a:rPr sz="1364" spc="-3" dirty="0">
                <a:latin typeface="Verdana"/>
                <a:cs typeface="Verdana"/>
              </a:rPr>
              <a:t> </a:t>
            </a:r>
            <a:r>
              <a:rPr sz="1364" dirty="0">
                <a:latin typeface="Verdana"/>
                <a:cs typeface="Verdana"/>
              </a:rPr>
              <a:t>a</a:t>
            </a:r>
            <a:r>
              <a:rPr sz="1364" spc="-3" dirty="0">
                <a:latin typeface="Verdana"/>
                <a:cs typeface="Verdana"/>
              </a:rPr>
              <a:t> </a:t>
            </a:r>
            <a:r>
              <a:rPr sz="1364" dirty="0">
                <a:latin typeface="Verdana"/>
                <a:cs typeface="Verdana"/>
              </a:rPr>
              <a:t>function</a:t>
            </a:r>
            <a:r>
              <a:rPr sz="1364" spc="-7" dirty="0">
                <a:latin typeface="Verdana"/>
                <a:cs typeface="Verdana"/>
              </a:rPr>
              <a:t> </a:t>
            </a:r>
            <a:r>
              <a:rPr sz="1364" spc="-17" dirty="0">
                <a:latin typeface="Verdana"/>
                <a:cs typeface="Verdana"/>
              </a:rPr>
              <a:t>of</a:t>
            </a:r>
            <a:endParaRPr sz="1364">
              <a:latin typeface="Verdana"/>
              <a:cs typeface="Verdana"/>
            </a:endParaRPr>
          </a:p>
        </p:txBody>
      </p:sp>
      <p:sp>
        <p:nvSpPr>
          <p:cNvPr id="4" name="object 4"/>
          <p:cNvSpPr txBox="1"/>
          <p:nvPr/>
        </p:nvSpPr>
        <p:spPr>
          <a:xfrm>
            <a:off x="6704195" y="2088200"/>
            <a:ext cx="1502785" cy="539927"/>
          </a:xfrm>
          <a:prstGeom prst="rect">
            <a:avLst/>
          </a:prstGeom>
        </p:spPr>
        <p:txBody>
          <a:bodyPr vert="horz" wrap="square" lIns="0" tIns="84426" rIns="0" bIns="0" rtlCol="0">
            <a:spAutoFit/>
          </a:bodyPr>
          <a:lstStyle/>
          <a:p>
            <a:pPr marL="323841" indent="-297865">
              <a:spcBef>
                <a:spcPts val="665"/>
              </a:spcBef>
              <a:buClr>
                <a:srgbClr val="CC0000"/>
              </a:buClr>
              <a:buFont typeface="Wingdings"/>
              <a:buChar char=""/>
              <a:tabLst>
                <a:tab pos="323841" algn="l"/>
              </a:tabLst>
            </a:pPr>
            <a:r>
              <a:rPr sz="1227" dirty="0">
                <a:latin typeface="Verdana"/>
                <a:cs typeface="Verdana"/>
              </a:rPr>
              <a:t>temperature</a:t>
            </a:r>
            <a:r>
              <a:rPr sz="1227" spc="-65" dirty="0">
                <a:latin typeface="Verdana"/>
                <a:cs typeface="Verdana"/>
              </a:rPr>
              <a:t> </a:t>
            </a:r>
            <a:r>
              <a:rPr sz="1227" spc="-34" dirty="0">
                <a:latin typeface="Verdana"/>
                <a:cs typeface="Verdana"/>
              </a:rPr>
              <a:t>&amp;</a:t>
            </a:r>
            <a:endParaRPr sz="1227">
              <a:latin typeface="Verdana"/>
              <a:cs typeface="Verdana"/>
            </a:endParaRPr>
          </a:p>
          <a:p>
            <a:pPr marL="323841" indent="-297865">
              <a:spcBef>
                <a:spcPts val="597"/>
              </a:spcBef>
              <a:buClr>
                <a:srgbClr val="CC0000"/>
              </a:buClr>
              <a:buFont typeface="Wingdings"/>
              <a:buChar char=""/>
              <a:tabLst>
                <a:tab pos="323841" algn="l"/>
              </a:tabLst>
            </a:pPr>
            <a:r>
              <a:rPr sz="1841" spc="-10" baseline="13888" dirty="0">
                <a:latin typeface="Verdana"/>
                <a:cs typeface="Verdana"/>
              </a:rPr>
              <a:t>I</a:t>
            </a:r>
            <a:r>
              <a:rPr sz="818" spc="-7" dirty="0">
                <a:latin typeface="Verdana"/>
                <a:cs typeface="Verdana"/>
              </a:rPr>
              <a:t>load</a:t>
            </a:r>
            <a:endParaRPr sz="818">
              <a:latin typeface="Verdana"/>
              <a:cs typeface="Verdana"/>
            </a:endParaRPr>
          </a:p>
        </p:txBody>
      </p:sp>
      <p:sp>
        <p:nvSpPr>
          <p:cNvPr id="5" name="object 5"/>
          <p:cNvSpPr txBox="1"/>
          <p:nvPr/>
        </p:nvSpPr>
        <p:spPr>
          <a:xfrm>
            <a:off x="6383116" y="2824709"/>
            <a:ext cx="3193040" cy="509044"/>
          </a:xfrm>
          <a:prstGeom prst="rect">
            <a:avLst/>
          </a:prstGeom>
        </p:spPr>
        <p:txBody>
          <a:bodyPr vert="horz" wrap="square" lIns="0" tIns="50223" rIns="0" bIns="0" rtlCol="0">
            <a:spAutoFit/>
          </a:bodyPr>
          <a:lstStyle/>
          <a:p>
            <a:pPr marL="346354" indent="-320378">
              <a:spcBef>
                <a:spcPts val="395"/>
              </a:spcBef>
              <a:buClr>
                <a:srgbClr val="CC0000"/>
              </a:buClr>
              <a:buFont typeface="Wingdings"/>
              <a:buChar char=""/>
              <a:tabLst>
                <a:tab pos="346354" algn="l"/>
              </a:tabLst>
            </a:pPr>
            <a:r>
              <a:rPr sz="1364" spc="-7" dirty="0">
                <a:latin typeface="Verdana"/>
                <a:cs typeface="Verdana"/>
              </a:rPr>
              <a:t>Worst-</a:t>
            </a:r>
            <a:r>
              <a:rPr sz="1364" dirty="0">
                <a:latin typeface="Verdana"/>
                <a:cs typeface="Verdana"/>
              </a:rPr>
              <a:t>case</a:t>
            </a:r>
            <a:r>
              <a:rPr sz="1364" spc="-3" dirty="0">
                <a:latin typeface="Verdana"/>
                <a:cs typeface="Verdana"/>
              </a:rPr>
              <a:t> </a:t>
            </a:r>
            <a:r>
              <a:rPr sz="1364" spc="-7" dirty="0">
                <a:latin typeface="Verdana"/>
                <a:cs typeface="Verdana"/>
              </a:rPr>
              <a:t>V</a:t>
            </a:r>
            <a:r>
              <a:rPr sz="1330" spc="-10" baseline="-21367" dirty="0">
                <a:latin typeface="Verdana"/>
                <a:cs typeface="Verdana"/>
              </a:rPr>
              <a:t>ripple</a:t>
            </a:r>
            <a:endParaRPr sz="1330" baseline="-21367">
              <a:latin typeface="Verdana"/>
              <a:cs typeface="Verdana"/>
            </a:endParaRPr>
          </a:p>
          <a:p>
            <a:pPr marL="389649">
              <a:spcBef>
                <a:spcPts val="327"/>
              </a:spcBef>
            </a:pPr>
            <a:r>
              <a:rPr sz="1364" dirty="0">
                <a:latin typeface="Verdana"/>
                <a:cs typeface="Verdana"/>
              </a:rPr>
              <a:t>@ I</a:t>
            </a:r>
            <a:r>
              <a:rPr sz="1330" baseline="-21367" dirty="0">
                <a:latin typeface="Verdana"/>
                <a:cs typeface="Verdana"/>
              </a:rPr>
              <a:t>load,min</a:t>
            </a:r>
            <a:r>
              <a:rPr sz="1330" spc="260" baseline="-21367" dirty="0">
                <a:latin typeface="Verdana"/>
                <a:cs typeface="Verdana"/>
              </a:rPr>
              <a:t> </a:t>
            </a:r>
            <a:r>
              <a:rPr sz="1364" dirty="0">
                <a:latin typeface="Verdana"/>
                <a:cs typeface="Verdana"/>
              </a:rPr>
              <a:t>and high</a:t>
            </a:r>
            <a:r>
              <a:rPr sz="1364" spc="7" dirty="0">
                <a:latin typeface="Verdana"/>
                <a:cs typeface="Verdana"/>
              </a:rPr>
              <a:t> </a:t>
            </a:r>
            <a:r>
              <a:rPr sz="1364" spc="-7" dirty="0">
                <a:latin typeface="Verdana"/>
                <a:cs typeface="Verdana"/>
              </a:rPr>
              <a:t>temperature</a:t>
            </a:r>
            <a:endParaRPr sz="1364">
              <a:latin typeface="Verdana"/>
              <a:cs typeface="Verdana"/>
            </a:endParaRPr>
          </a:p>
        </p:txBody>
      </p:sp>
      <p:grpSp>
        <p:nvGrpSpPr>
          <p:cNvPr id="6" name="object 6"/>
          <p:cNvGrpSpPr/>
          <p:nvPr/>
        </p:nvGrpSpPr>
        <p:grpSpPr>
          <a:xfrm>
            <a:off x="2855589" y="1977349"/>
            <a:ext cx="2392074" cy="1945265"/>
            <a:chOff x="1515694" y="2350625"/>
            <a:chExt cx="3508375" cy="2853055"/>
          </a:xfrm>
        </p:grpSpPr>
        <p:sp>
          <p:nvSpPr>
            <p:cNvPr id="7" name="object 7"/>
            <p:cNvSpPr/>
            <p:nvPr/>
          </p:nvSpPr>
          <p:spPr>
            <a:xfrm>
              <a:off x="1830293" y="2350625"/>
              <a:ext cx="1387475" cy="2799715"/>
            </a:xfrm>
            <a:custGeom>
              <a:avLst/>
              <a:gdLst/>
              <a:ahLst/>
              <a:cxnLst/>
              <a:rect l="l" t="t" r="r" b="b"/>
              <a:pathLst>
                <a:path w="1387475" h="2799715">
                  <a:moveTo>
                    <a:pt x="0" y="0"/>
                  </a:moveTo>
                  <a:lnTo>
                    <a:pt x="0" y="2798561"/>
                  </a:lnTo>
                </a:path>
                <a:path w="1387475" h="2799715">
                  <a:moveTo>
                    <a:pt x="207435" y="64"/>
                  </a:moveTo>
                  <a:lnTo>
                    <a:pt x="207435" y="2798625"/>
                  </a:lnTo>
                </a:path>
                <a:path w="1387475" h="2799715">
                  <a:moveTo>
                    <a:pt x="355166" y="2387317"/>
                  </a:moveTo>
                  <a:lnTo>
                    <a:pt x="355166" y="2798690"/>
                  </a:lnTo>
                </a:path>
                <a:path w="1387475" h="2799715">
                  <a:moveTo>
                    <a:pt x="355166" y="129"/>
                  </a:moveTo>
                  <a:lnTo>
                    <a:pt x="355166" y="2310853"/>
                  </a:lnTo>
                </a:path>
                <a:path w="1387475" h="2799715">
                  <a:moveTo>
                    <a:pt x="469218" y="194"/>
                  </a:moveTo>
                  <a:lnTo>
                    <a:pt x="469218" y="2798755"/>
                  </a:lnTo>
                </a:path>
                <a:path w="1387475" h="2799715">
                  <a:moveTo>
                    <a:pt x="562602" y="258"/>
                  </a:moveTo>
                  <a:lnTo>
                    <a:pt x="562602" y="2798820"/>
                  </a:lnTo>
                </a:path>
                <a:path w="1387475" h="2799715">
                  <a:moveTo>
                    <a:pt x="641443" y="323"/>
                  </a:moveTo>
                  <a:lnTo>
                    <a:pt x="641443" y="2798884"/>
                  </a:lnTo>
                </a:path>
                <a:path w="1387475" h="2799715">
                  <a:moveTo>
                    <a:pt x="710333" y="388"/>
                  </a:moveTo>
                  <a:lnTo>
                    <a:pt x="710333" y="2798949"/>
                  </a:lnTo>
                </a:path>
                <a:path w="1387475" h="2799715">
                  <a:moveTo>
                    <a:pt x="770038" y="2623148"/>
                  </a:moveTo>
                  <a:lnTo>
                    <a:pt x="770038" y="2799014"/>
                  </a:lnTo>
                </a:path>
                <a:path w="1387475" h="2799715">
                  <a:moveTo>
                    <a:pt x="770038" y="453"/>
                  </a:moveTo>
                  <a:lnTo>
                    <a:pt x="770038" y="2544742"/>
                  </a:lnTo>
                </a:path>
                <a:path w="1387475" h="2799715">
                  <a:moveTo>
                    <a:pt x="1179551" y="517"/>
                  </a:moveTo>
                  <a:lnTo>
                    <a:pt x="1179551" y="2799078"/>
                  </a:lnTo>
                </a:path>
                <a:path w="1387475" h="2799715">
                  <a:moveTo>
                    <a:pt x="1386987" y="582"/>
                  </a:moveTo>
                  <a:lnTo>
                    <a:pt x="1386987" y="2799143"/>
                  </a:lnTo>
                </a:path>
              </a:pathLst>
            </a:custGeom>
            <a:ln w="3827">
              <a:solidFill>
                <a:srgbClr val="C0C0C0"/>
              </a:solidFill>
              <a:prstDash val="sysDot"/>
            </a:ln>
          </p:spPr>
          <p:txBody>
            <a:bodyPr wrap="square" lIns="0" tIns="0" rIns="0" bIns="0" rtlCol="0"/>
            <a:lstStyle/>
            <a:p>
              <a:endParaRPr sz="1227"/>
            </a:p>
          </p:txBody>
        </p:sp>
        <p:sp>
          <p:nvSpPr>
            <p:cNvPr id="8" name="object 8"/>
            <p:cNvSpPr/>
            <p:nvPr/>
          </p:nvSpPr>
          <p:spPr>
            <a:xfrm>
              <a:off x="3365011" y="5142186"/>
              <a:ext cx="0" cy="8255"/>
            </a:xfrm>
            <a:custGeom>
              <a:avLst/>
              <a:gdLst/>
              <a:ahLst/>
              <a:cxnLst/>
              <a:rect l="l" t="t" r="r" b="b"/>
              <a:pathLst>
                <a:path h="8254">
                  <a:moveTo>
                    <a:pt x="0" y="7646"/>
                  </a:moveTo>
                  <a:lnTo>
                    <a:pt x="0" y="0"/>
                  </a:lnTo>
                </a:path>
              </a:pathLst>
            </a:custGeom>
            <a:ln w="3827">
              <a:solidFill>
                <a:srgbClr val="C0C0C0"/>
              </a:solidFill>
            </a:ln>
          </p:spPr>
          <p:txBody>
            <a:bodyPr wrap="square" lIns="0" tIns="0" rIns="0" bIns="0" rtlCol="0"/>
            <a:lstStyle/>
            <a:p>
              <a:endParaRPr sz="1227"/>
            </a:p>
          </p:txBody>
        </p:sp>
        <p:sp>
          <p:nvSpPr>
            <p:cNvPr id="9" name="object 9"/>
            <p:cNvSpPr/>
            <p:nvPr/>
          </p:nvSpPr>
          <p:spPr>
            <a:xfrm>
              <a:off x="3363097" y="5132710"/>
              <a:ext cx="4445" cy="0"/>
            </a:xfrm>
            <a:custGeom>
              <a:avLst/>
              <a:gdLst/>
              <a:ahLst/>
              <a:cxnLst/>
              <a:rect l="l" t="t" r="r" b="b"/>
              <a:pathLst>
                <a:path w="4445">
                  <a:moveTo>
                    <a:pt x="0" y="0"/>
                  </a:moveTo>
                  <a:lnTo>
                    <a:pt x="3827" y="0"/>
                  </a:lnTo>
                </a:path>
              </a:pathLst>
            </a:custGeom>
            <a:ln w="3175">
              <a:solidFill>
                <a:srgbClr val="C0C0C0"/>
              </a:solidFill>
            </a:ln>
          </p:spPr>
          <p:txBody>
            <a:bodyPr wrap="square" lIns="0" tIns="0" rIns="0" bIns="0" rtlCol="0"/>
            <a:lstStyle/>
            <a:p>
              <a:endParaRPr sz="1227"/>
            </a:p>
          </p:txBody>
        </p:sp>
        <p:sp>
          <p:nvSpPr>
            <p:cNvPr id="10" name="object 10"/>
            <p:cNvSpPr/>
            <p:nvPr/>
          </p:nvSpPr>
          <p:spPr>
            <a:xfrm>
              <a:off x="3365011" y="2351272"/>
              <a:ext cx="355600" cy="2799080"/>
            </a:xfrm>
            <a:custGeom>
              <a:avLst/>
              <a:gdLst/>
              <a:ahLst/>
              <a:cxnLst/>
              <a:rect l="l" t="t" r="r" b="b"/>
              <a:pathLst>
                <a:path w="355600" h="2799079">
                  <a:moveTo>
                    <a:pt x="0" y="0"/>
                  </a:moveTo>
                  <a:lnTo>
                    <a:pt x="0" y="2710025"/>
                  </a:lnTo>
                </a:path>
                <a:path w="355600" h="2799079">
                  <a:moveTo>
                    <a:pt x="114051" y="64"/>
                  </a:moveTo>
                  <a:lnTo>
                    <a:pt x="114051" y="2798625"/>
                  </a:lnTo>
                </a:path>
                <a:path w="355600" h="2799079">
                  <a:moveTo>
                    <a:pt x="207435" y="129"/>
                  </a:moveTo>
                  <a:lnTo>
                    <a:pt x="207435" y="2798690"/>
                  </a:lnTo>
                </a:path>
                <a:path w="355600" h="2799079">
                  <a:moveTo>
                    <a:pt x="286276" y="194"/>
                  </a:moveTo>
                  <a:lnTo>
                    <a:pt x="286276" y="2798755"/>
                  </a:lnTo>
                </a:path>
                <a:path w="355600" h="2799079">
                  <a:moveTo>
                    <a:pt x="355166" y="258"/>
                  </a:moveTo>
                  <a:lnTo>
                    <a:pt x="355166" y="2725321"/>
                  </a:lnTo>
                </a:path>
              </a:pathLst>
            </a:custGeom>
            <a:ln w="3827">
              <a:solidFill>
                <a:srgbClr val="C0C0C0"/>
              </a:solidFill>
              <a:prstDash val="sysDot"/>
            </a:ln>
          </p:spPr>
          <p:txBody>
            <a:bodyPr wrap="square" lIns="0" tIns="0" rIns="0" bIns="0" rtlCol="0"/>
            <a:lstStyle/>
            <a:p>
              <a:endParaRPr sz="1227"/>
            </a:p>
          </p:txBody>
        </p:sp>
        <p:sp>
          <p:nvSpPr>
            <p:cNvPr id="11" name="object 11"/>
            <p:cNvSpPr/>
            <p:nvPr/>
          </p:nvSpPr>
          <p:spPr>
            <a:xfrm>
              <a:off x="3779882" y="5142510"/>
              <a:ext cx="0" cy="8255"/>
            </a:xfrm>
            <a:custGeom>
              <a:avLst/>
              <a:gdLst/>
              <a:ahLst/>
              <a:cxnLst/>
              <a:rect l="l" t="t" r="r" b="b"/>
              <a:pathLst>
                <a:path h="8254">
                  <a:moveTo>
                    <a:pt x="0" y="7646"/>
                  </a:moveTo>
                  <a:lnTo>
                    <a:pt x="0" y="0"/>
                  </a:lnTo>
                </a:path>
              </a:pathLst>
            </a:custGeom>
            <a:ln w="3827">
              <a:solidFill>
                <a:srgbClr val="C0C0C0"/>
              </a:solidFill>
            </a:ln>
          </p:spPr>
          <p:txBody>
            <a:bodyPr wrap="square" lIns="0" tIns="0" rIns="0" bIns="0" rtlCol="0"/>
            <a:lstStyle/>
            <a:p>
              <a:endParaRPr sz="1227"/>
            </a:p>
          </p:txBody>
        </p:sp>
        <p:sp>
          <p:nvSpPr>
            <p:cNvPr id="12" name="object 12"/>
            <p:cNvSpPr/>
            <p:nvPr/>
          </p:nvSpPr>
          <p:spPr>
            <a:xfrm>
              <a:off x="3779882" y="5128590"/>
              <a:ext cx="0" cy="5080"/>
            </a:xfrm>
            <a:custGeom>
              <a:avLst/>
              <a:gdLst/>
              <a:ahLst/>
              <a:cxnLst/>
              <a:rect l="l" t="t" r="r" b="b"/>
              <a:pathLst>
                <a:path h="5079">
                  <a:moveTo>
                    <a:pt x="0" y="0"/>
                  </a:moveTo>
                  <a:lnTo>
                    <a:pt x="0" y="4744"/>
                  </a:lnTo>
                </a:path>
              </a:pathLst>
            </a:custGeom>
            <a:ln w="3827">
              <a:solidFill>
                <a:srgbClr val="C0C0C0"/>
              </a:solidFill>
            </a:ln>
          </p:spPr>
          <p:txBody>
            <a:bodyPr wrap="square" lIns="0" tIns="0" rIns="0" bIns="0" rtlCol="0"/>
            <a:lstStyle/>
            <a:p>
              <a:endParaRPr sz="1227"/>
            </a:p>
          </p:txBody>
        </p:sp>
        <p:sp>
          <p:nvSpPr>
            <p:cNvPr id="13" name="object 13"/>
            <p:cNvSpPr/>
            <p:nvPr/>
          </p:nvSpPr>
          <p:spPr>
            <a:xfrm>
              <a:off x="3777969" y="5075908"/>
              <a:ext cx="4445" cy="0"/>
            </a:xfrm>
            <a:custGeom>
              <a:avLst/>
              <a:gdLst/>
              <a:ahLst/>
              <a:cxnLst/>
              <a:rect l="l" t="t" r="r" b="b"/>
              <a:pathLst>
                <a:path w="4445">
                  <a:moveTo>
                    <a:pt x="0" y="0"/>
                  </a:moveTo>
                  <a:lnTo>
                    <a:pt x="3827" y="0"/>
                  </a:lnTo>
                </a:path>
              </a:pathLst>
            </a:custGeom>
            <a:ln w="3175">
              <a:solidFill>
                <a:srgbClr val="C0C0C0"/>
              </a:solidFill>
            </a:ln>
          </p:spPr>
          <p:txBody>
            <a:bodyPr wrap="square" lIns="0" tIns="0" rIns="0" bIns="0" rtlCol="0"/>
            <a:lstStyle/>
            <a:p>
              <a:endParaRPr sz="1227"/>
            </a:p>
          </p:txBody>
        </p:sp>
        <p:sp>
          <p:nvSpPr>
            <p:cNvPr id="14" name="object 14"/>
            <p:cNvSpPr/>
            <p:nvPr/>
          </p:nvSpPr>
          <p:spPr>
            <a:xfrm>
              <a:off x="3779882" y="2351595"/>
              <a:ext cx="1179830" cy="2799080"/>
            </a:xfrm>
            <a:custGeom>
              <a:avLst/>
              <a:gdLst/>
              <a:ahLst/>
              <a:cxnLst/>
              <a:rect l="l" t="t" r="r" b="b"/>
              <a:pathLst>
                <a:path w="1179829" h="2799079">
                  <a:moveTo>
                    <a:pt x="0" y="0"/>
                  </a:moveTo>
                  <a:lnTo>
                    <a:pt x="0" y="2714451"/>
                  </a:lnTo>
                </a:path>
                <a:path w="1179829" h="2799079">
                  <a:moveTo>
                    <a:pt x="409513" y="64"/>
                  </a:moveTo>
                  <a:lnTo>
                    <a:pt x="409513" y="2798625"/>
                  </a:lnTo>
                </a:path>
                <a:path w="1179829" h="2799079">
                  <a:moveTo>
                    <a:pt x="616949" y="129"/>
                  </a:moveTo>
                  <a:lnTo>
                    <a:pt x="616949" y="2748224"/>
                  </a:lnTo>
                </a:path>
                <a:path w="1179829" h="2799079">
                  <a:moveTo>
                    <a:pt x="764680" y="194"/>
                  </a:moveTo>
                  <a:lnTo>
                    <a:pt x="764680" y="2798755"/>
                  </a:lnTo>
                </a:path>
                <a:path w="1179829" h="2799079">
                  <a:moveTo>
                    <a:pt x="878731" y="258"/>
                  </a:moveTo>
                  <a:lnTo>
                    <a:pt x="878731" y="2798820"/>
                  </a:lnTo>
                </a:path>
                <a:path w="1179829" h="2799079">
                  <a:moveTo>
                    <a:pt x="972115" y="323"/>
                  </a:moveTo>
                  <a:lnTo>
                    <a:pt x="972115" y="2760169"/>
                  </a:lnTo>
                </a:path>
                <a:path w="1179829" h="2799079">
                  <a:moveTo>
                    <a:pt x="1050956" y="388"/>
                  </a:moveTo>
                  <a:lnTo>
                    <a:pt x="1050956" y="2798949"/>
                  </a:lnTo>
                </a:path>
                <a:path w="1179829" h="2799079">
                  <a:moveTo>
                    <a:pt x="1119846" y="453"/>
                  </a:moveTo>
                  <a:lnTo>
                    <a:pt x="1119846" y="2799014"/>
                  </a:lnTo>
                </a:path>
                <a:path w="1179829" h="2799079">
                  <a:moveTo>
                    <a:pt x="1179551" y="517"/>
                  </a:moveTo>
                  <a:lnTo>
                    <a:pt x="1179551" y="2799078"/>
                  </a:lnTo>
                </a:path>
              </a:pathLst>
            </a:custGeom>
            <a:ln w="3827">
              <a:solidFill>
                <a:srgbClr val="C0C0C0"/>
              </a:solidFill>
              <a:prstDash val="sysDot"/>
            </a:ln>
          </p:spPr>
          <p:txBody>
            <a:bodyPr wrap="square" lIns="0" tIns="0" rIns="0" bIns="0" rtlCol="0"/>
            <a:lstStyle/>
            <a:p>
              <a:endParaRPr sz="1227"/>
            </a:p>
          </p:txBody>
        </p:sp>
        <p:sp>
          <p:nvSpPr>
            <p:cNvPr id="15" name="object 15"/>
            <p:cNvSpPr/>
            <p:nvPr/>
          </p:nvSpPr>
          <p:spPr>
            <a:xfrm>
              <a:off x="2654678" y="2351349"/>
              <a:ext cx="0" cy="2799715"/>
            </a:xfrm>
            <a:custGeom>
              <a:avLst/>
              <a:gdLst/>
              <a:ahLst/>
              <a:cxnLst/>
              <a:rect l="l" t="t" r="r" b="b"/>
              <a:pathLst>
                <a:path h="2799715">
                  <a:moveTo>
                    <a:pt x="0" y="2799390"/>
                  </a:moveTo>
                  <a:lnTo>
                    <a:pt x="0" y="0"/>
                  </a:lnTo>
                </a:path>
              </a:pathLst>
            </a:custGeom>
            <a:ln w="3827">
              <a:solidFill>
                <a:srgbClr val="808080"/>
              </a:solidFill>
            </a:ln>
          </p:spPr>
          <p:txBody>
            <a:bodyPr wrap="square" lIns="0" tIns="0" rIns="0" bIns="0" rtlCol="0"/>
            <a:lstStyle/>
            <a:p>
              <a:endParaRPr sz="1227"/>
            </a:p>
          </p:txBody>
        </p:sp>
        <p:sp>
          <p:nvSpPr>
            <p:cNvPr id="16" name="object 16"/>
            <p:cNvSpPr/>
            <p:nvPr/>
          </p:nvSpPr>
          <p:spPr>
            <a:xfrm>
              <a:off x="3834229" y="2351349"/>
              <a:ext cx="0" cy="2799715"/>
            </a:xfrm>
            <a:custGeom>
              <a:avLst/>
              <a:gdLst/>
              <a:ahLst/>
              <a:cxnLst/>
              <a:rect l="l" t="t" r="r" b="b"/>
              <a:pathLst>
                <a:path h="2799715">
                  <a:moveTo>
                    <a:pt x="0" y="2777240"/>
                  </a:moveTo>
                  <a:lnTo>
                    <a:pt x="0" y="2799390"/>
                  </a:lnTo>
                </a:path>
                <a:path h="2799715">
                  <a:moveTo>
                    <a:pt x="0" y="0"/>
                  </a:moveTo>
                  <a:lnTo>
                    <a:pt x="0" y="2725244"/>
                  </a:lnTo>
                </a:path>
              </a:pathLst>
            </a:custGeom>
            <a:ln w="3827">
              <a:solidFill>
                <a:srgbClr val="808080"/>
              </a:solidFill>
            </a:ln>
          </p:spPr>
          <p:txBody>
            <a:bodyPr wrap="square" lIns="0" tIns="0" rIns="0" bIns="0" rtlCol="0"/>
            <a:lstStyle/>
            <a:p>
              <a:endParaRPr sz="1227"/>
            </a:p>
          </p:txBody>
        </p:sp>
        <p:sp>
          <p:nvSpPr>
            <p:cNvPr id="17" name="object 17"/>
            <p:cNvSpPr/>
            <p:nvPr/>
          </p:nvSpPr>
          <p:spPr>
            <a:xfrm>
              <a:off x="1568510" y="4632306"/>
              <a:ext cx="3445510" cy="0"/>
            </a:xfrm>
            <a:custGeom>
              <a:avLst/>
              <a:gdLst/>
              <a:ahLst/>
              <a:cxnLst/>
              <a:rect l="l" t="t" r="r" b="b"/>
              <a:pathLst>
                <a:path w="3445510">
                  <a:moveTo>
                    <a:pt x="0" y="0"/>
                  </a:moveTo>
                  <a:lnTo>
                    <a:pt x="3445270" y="0"/>
                  </a:lnTo>
                </a:path>
              </a:pathLst>
            </a:custGeom>
            <a:ln w="3823">
              <a:solidFill>
                <a:srgbClr val="808080"/>
              </a:solidFill>
            </a:ln>
          </p:spPr>
          <p:txBody>
            <a:bodyPr wrap="square" lIns="0" tIns="0" rIns="0" bIns="0" rtlCol="0"/>
            <a:lstStyle/>
            <a:p>
              <a:endParaRPr sz="1227"/>
            </a:p>
          </p:txBody>
        </p:sp>
        <p:sp>
          <p:nvSpPr>
            <p:cNvPr id="18" name="object 18"/>
            <p:cNvSpPr/>
            <p:nvPr/>
          </p:nvSpPr>
          <p:spPr>
            <a:xfrm>
              <a:off x="1568510" y="4113872"/>
              <a:ext cx="3445510" cy="0"/>
            </a:xfrm>
            <a:custGeom>
              <a:avLst/>
              <a:gdLst/>
              <a:ahLst/>
              <a:cxnLst/>
              <a:rect l="l" t="t" r="r" b="b"/>
              <a:pathLst>
                <a:path w="3445510">
                  <a:moveTo>
                    <a:pt x="0" y="0"/>
                  </a:moveTo>
                  <a:lnTo>
                    <a:pt x="3445270" y="0"/>
                  </a:lnTo>
                </a:path>
              </a:pathLst>
            </a:custGeom>
            <a:ln w="3823">
              <a:solidFill>
                <a:srgbClr val="808080"/>
              </a:solidFill>
            </a:ln>
          </p:spPr>
          <p:txBody>
            <a:bodyPr wrap="square" lIns="0" tIns="0" rIns="0" bIns="0" rtlCol="0"/>
            <a:lstStyle/>
            <a:p>
              <a:endParaRPr sz="1227"/>
            </a:p>
          </p:txBody>
        </p:sp>
        <p:sp>
          <p:nvSpPr>
            <p:cNvPr id="19" name="object 19"/>
            <p:cNvSpPr/>
            <p:nvPr/>
          </p:nvSpPr>
          <p:spPr>
            <a:xfrm>
              <a:off x="1568510" y="3595439"/>
              <a:ext cx="3445510" cy="0"/>
            </a:xfrm>
            <a:custGeom>
              <a:avLst/>
              <a:gdLst/>
              <a:ahLst/>
              <a:cxnLst/>
              <a:rect l="l" t="t" r="r" b="b"/>
              <a:pathLst>
                <a:path w="3445510">
                  <a:moveTo>
                    <a:pt x="0" y="0"/>
                  </a:moveTo>
                  <a:lnTo>
                    <a:pt x="3445270" y="0"/>
                  </a:lnTo>
                </a:path>
              </a:pathLst>
            </a:custGeom>
            <a:ln w="3823">
              <a:solidFill>
                <a:srgbClr val="808080"/>
              </a:solidFill>
            </a:ln>
          </p:spPr>
          <p:txBody>
            <a:bodyPr wrap="square" lIns="0" tIns="0" rIns="0" bIns="0" rtlCol="0"/>
            <a:lstStyle/>
            <a:p>
              <a:endParaRPr sz="1227"/>
            </a:p>
          </p:txBody>
        </p:sp>
        <p:sp>
          <p:nvSpPr>
            <p:cNvPr id="20" name="object 20"/>
            <p:cNvSpPr/>
            <p:nvPr/>
          </p:nvSpPr>
          <p:spPr>
            <a:xfrm>
              <a:off x="1568510" y="3077005"/>
              <a:ext cx="3445510" cy="0"/>
            </a:xfrm>
            <a:custGeom>
              <a:avLst/>
              <a:gdLst/>
              <a:ahLst/>
              <a:cxnLst/>
              <a:rect l="l" t="t" r="r" b="b"/>
              <a:pathLst>
                <a:path w="3445510">
                  <a:moveTo>
                    <a:pt x="0" y="0"/>
                  </a:moveTo>
                  <a:lnTo>
                    <a:pt x="3445270" y="0"/>
                  </a:lnTo>
                </a:path>
              </a:pathLst>
            </a:custGeom>
            <a:ln w="3823">
              <a:solidFill>
                <a:srgbClr val="808080"/>
              </a:solidFill>
            </a:ln>
          </p:spPr>
          <p:txBody>
            <a:bodyPr wrap="square" lIns="0" tIns="0" rIns="0" bIns="0" rtlCol="0"/>
            <a:lstStyle/>
            <a:p>
              <a:endParaRPr sz="1227"/>
            </a:p>
          </p:txBody>
        </p:sp>
        <p:sp>
          <p:nvSpPr>
            <p:cNvPr id="21" name="object 21"/>
            <p:cNvSpPr/>
            <p:nvPr/>
          </p:nvSpPr>
          <p:spPr>
            <a:xfrm>
              <a:off x="1568510" y="2558572"/>
              <a:ext cx="3445510" cy="0"/>
            </a:xfrm>
            <a:custGeom>
              <a:avLst/>
              <a:gdLst/>
              <a:ahLst/>
              <a:cxnLst/>
              <a:rect l="l" t="t" r="r" b="b"/>
              <a:pathLst>
                <a:path w="3445510">
                  <a:moveTo>
                    <a:pt x="0" y="0"/>
                  </a:moveTo>
                  <a:lnTo>
                    <a:pt x="3445270" y="0"/>
                  </a:lnTo>
                </a:path>
              </a:pathLst>
            </a:custGeom>
            <a:ln w="3823">
              <a:solidFill>
                <a:srgbClr val="808080"/>
              </a:solidFill>
            </a:ln>
          </p:spPr>
          <p:txBody>
            <a:bodyPr wrap="square" lIns="0" tIns="0" rIns="0" bIns="0" rtlCol="0"/>
            <a:lstStyle/>
            <a:p>
              <a:endParaRPr sz="1227"/>
            </a:p>
          </p:txBody>
        </p:sp>
        <p:sp>
          <p:nvSpPr>
            <p:cNvPr id="22" name="object 22"/>
            <p:cNvSpPr/>
            <p:nvPr/>
          </p:nvSpPr>
          <p:spPr>
            <a:xfrm>
              <a:off x="1830293" y="5150742"/>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23" name="object 23"/>
            <p:cNvSpPr/>
            <p:nvPr/>
          </p:nvSpPr>
          <p:spPr>
            <a:xfrm>
              <a:off x="2037728" y="5150742"/>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24" name="object 24"/>
            <p:cNvSpPr/>
            <p:nvPr/>
          </p:nvSpPr>
          <p:spPr>
            <a:xfrm>
              <a:off x="2185459" y="5150743"/>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25" name="object 25"/>
            <p:cNvSpPr/>
            <p:nvPr/>
          </p:nvSpPr>
          <p:spPr>
            <a:xfrm>
              <a:off x="2299511" y="5150743"/>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26" name="object 26"/>
            <p:cNvSpPr/>
            <p:nvPr/>
          </p:nvSpPr>
          <p:spPr>
            <a:xfrm>
              <a:off x="2392895" y="5150743"/>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27" name="object 27"/>
            <p:cNvSpPr/>
            <p:nvPr/>
          </p:nvSpPr>
          <p:spPr>
            <a:xfrm>
              <a:off x="2471736" y="5150744"/>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28" name="object 28"/>
            <p:cNvSpPr/>
            <p:nvPr/>
          </p:nvSpPr>
          <p:spPr>
            <a:xfrm>
              <a:off x="2540626" y="5150744"/>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29" name="object 29"/>
            <p:cNvSpPr/>
            <p:nvPr/>
          </p:nvSpPr>
          <p:spPr>
            <a:xfrm>
              <a:off x="2600331" y="5150745"/>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30" name="object 30"/>
            <p:cNvSpPr/>
            <p:nvPr/>
          </p:nvSpPr>
          <p:spPr>
            <a:xfrm>
              <a:off x="2654678" y="5150745"/>
              <a:ext cx="0" cy="53340"/>
            </a:xfrm>
            <a:custGeom>
              <a:avLst/>
              <a:gdLst/>
              <a:ahLst/>
              <a:cxnLst/>
              <a:rect l="l" t="t" r="r" b="b"/>
              <a:pathLst>
                <a:path h="53339">
                  <a:moveTo>
                    <a:pt x="0" y="52760"/>
                  </a:moveTo>
                  <a:lnTo>
                    <a:pt x="0" y="0"/>
                  </a:lnTo>
                </a:path>
              </a:pathLst>
            </a:custGeom>
            <a:ln w="19901">
              <a:solidFill>
                <a:srgbClr val="000000"/>
              </a:solidFill>
            </a:ln>
          </p:spPr>
          <p:txBody>
            <a:bodyPr wrap="square" lIns="0" tIns="0" rIns="0" bIns="0" rtlCol="0"/>
            <a:lstStyle/>
            <a:p>
              <a:endParaRPr sz="1227"/>
            </a:p>
          </p:txBody>
        </p:sp>
        <p:sp>
          <p:nvSpPr>
            <p:cNvPr id="31" name="object 31"/>
            <p:cNvSpPr/>
            <p:nvPr/>
          </p:nvSpPr>
          <p:spPr>
            <a:xfrm>
              <a:off x="3009844" y="5150745"/>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32" name="object 32"/>
            <p:cNvSpPr/>
            <p:nvPr/>
          </p:nvSpPr>
          <p:spPr>
            <a:xfrm>
              <a:off x="3217280" y="5150746"/>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33" name="object 33"/>
            <p:cNvSpPr/>
            <p:nvPr/>
          </p:nvSpPr>
          <p:spPr>
            <a:xfrm>
              <a:off x="3365011" y="5150746"/>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34" name="object 34"/>
            <p:cNvSpPr/>
            <p:nvPr/>
          </p:nvSpPr>
          <p:spPr>
            <a:xfrm>
              <a:off x="3479062" y="5150747"/>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35" name="object 35"/>
            <p:cNvSpPr/>
            <p:nvPr/>
          </p:nvSpPr>
          <p:spPr>
            <a:xfrm>
              <a:off x="3572447" y="5150747"/>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36" name="object 36"/>
            <p:cNvSpPr/>
            <p:nvPr/>
          </p:nvSpPr>
          <p:spPr>
            <a:xfrm>
              <a:off x="3651288" y="5150747"/>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37" name="object 37"/>
            <p:cNvSpPr/>
            <p:nvPr/>
          </p:nvSpPr>
          <p:spPr>
            <a:xfrm>
              <a:off x="3720178" y="5150748"/>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38" name="object 38"/>
            <p:cNvSpPr/>
            <p:nvPr/>
          </p:nvSpPr>
          <p:spPr>
            <a:xfrm>
              <a:off x="3779882" y="5150748"/>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39" name="object 39"/>
            <p:cNvSpPr/>
            <p:nvPr/>
          </p:nvSpPr>
          <p:spPr>
            <a:xfrm>
              <a:off x="3834229" y="5150748"/>
              <a:ext cx="0" cy="53340"/>
            </a:xfrm>
            <a:custGeom>
              <a:avLst/>
              <a:gdLst/>
              <a:ahLst/>
              <a:cxnLst/>
              <a:rect l="l" t="t" r="r" b="b"/>
              <a:pathLst>
                <a:path h="53339">
                  <a:moveTo>
                    <a:pt x="0" y="52760"/>
                  </a:moveTo>
                  <a:lnTo>
                    <a:pt x="0" y="0"/>
                  </a:lnTo>
                </a:path>
              </a:pathLst>
            </a:custGeom>
            <a:ln w="19901">
              <a:solidFill>
                <a:srgbClr val="000000"/>
              </a:solidFill>
            </a:ln>
          </p:spPr>
          <p:txBody>
            <a:bodyPr wrap="square" lIns="0" tIns="0" rIns="0" bIns="0" rtlCol="0"/>
            <a:lstStyle/>
            <a:p>
              <a:endParaRPr sz="1227"/>
            </a:p>
          </p:txBody>
        </p:sp>
        <p:sp>
          <p:nvSpPr>
            <p:cNvPr id="40" name="object 40"/>
            <p:cNvSpPr/>
            <p:nvPr/>
          </p:nvSpPr>
          <p:spPr>
            <a:xfrm>
              <a:off x="4189396" y="5150749"/>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41" name="object 41"/>
            <p:cNvSpPr/>
            <p:nvPr/>
          </p:nvSpPr>
          <p:spPr>
            <a:xfrm>
              <a:off x="4544563" y="5150750"/>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42" name="object 42"/>
            <p:cNvSpPr/>
            <p:nvPr/>
          </p:nvSpPr>
          <p:spPr>
            <a:xfrm>
              <a:off x="4658614" y="5150750"/>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43" name="object 43"/>
            <p:cNvSpPr/>
            <p:nvPr/>
          </p:nvSpPr>
          <p:spPr>
            <a:xfrm>
              <a:off x="4830839" y="5150751"/>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44" name="object 44"/>
            <p:cNvSpPr/>
            <p:nvPr/>
          </p:nvSpPr>
          <p:spPr>
            <a:xfrm>
              <a:off x="4899729" y="5150751"/>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45" name="object 45"/>
            <p:cNvSpPr/>
            <p:nvPr/>
          </p:nvSpPr>
          <p:spPr>
            <a:xfrm>
              <a:off x="4959434" y="5150752"/>
              <a:ext cx="0" cy="27305"/>
            </a:xfrm>
            <a:custGeom>
              <a:avLst/>
              <a:gdLst/>
              <a:ahLst/>
              <a:cxnLst/>
              <a:rect l="l" t="t" r="r" b="b"/>
              <a:pathLst>
                <a:path h="27304">
                  <a:moveTo>
                    <a:pt x="0" y="26762"/>
                  </a:moveTo>
                  <a:lnTo>
                    <a:pt x="0" y="0"/>
                  </a:lnTo>
                </a:path>
              </a:pathLst>
            </a:custGeom>
            <a:ln w="19901">
              <a:solidFill>
                <a:srgbClr val="000000"/>
              </a:solidFill>
            </a:ln>
          </p:spPr>
          <p:txBody>
            <a:bodyPr wrap="square" lIns="0" tIns="0" rIns="0" bIns="0" rtlCol="0"/>
            <a:lstStyle/>
            <a:p>
              <a:endParaRPr sz="1227"/>
            </a:p>
          </p:txBody>
        </p:sp>
        <p:sp>
          <p:nvSpPr>
            <p:cNvPr id="46" name="object 46"/>
            <p:cNvSpPr/>
            <p:nvPr/>
          </p:nvSpPr>
          <p:spPr>
            <a:xfrm>
              <a:off x="5013781" y="5150752"/>
              <a:ext cx="0" cy="53340"/>
            </a:xfrm>
            <a:custGeom>
              <a:avLst/>
              <a:gdLst/>
              <a:ahLst/>
              <a:cxnLst/>
              <a:rect l="l" t="t" r="r" b="b"/>
              <a:pathLst>
                <a:path h="53339">
                  <a:moveTo>
                    <a:pt x="0" y="52760"/>
                  </a:moveTo>
                  <a:lnTo>
                    <a:pt x="0" y="0"/>
                  </a:lnTo>
                </a:path>
              </a:pathLst>
            </a:custGeom>
            <a:ln w="19901">
              <a:solidFill>
                <a:srgbClr val="000000"/>
              </a:solidFill>
            </a:ln>
          </p:spPr>
          <p:txBody>
            <a:bodyPr wrap="square" lIns="0" tIns="0" rIns="0" bIns="0" rtlCol="0"/>
            <a:lstStyle/>
            <a:p>
              <a:endParaRPr sz="1227"/>
            </a:p>
          </p:txBody>
        </p:sp>
        <p:sp>
          <p:nvSpPr>
            <p:cNvPr id="47" name="object 47"/>
            <p:cNvSpPr/>
            <p:nvPr/>
          </p:nvSpPr>
          <p:spPr>
            <a:xfrm>
              <a:off x="1568510" y="5150752"/>
              <a:ext cx="3445510" cy="0"/>
            </a:xfrm>
            <a:custGeom>
              <a:avLst/>
              <a:gdLst/>
              <a:ahLst/>
              <a:cxnLst/>
              <a:rect l="l" t="t" r="r" b="b"/>
              <a:pathLst>
                <a:path w="3445510">
                  <a:moveTo>
                    <a:pt x="0" y="0"/>
                  </a:moveTo>
                  <a:lnTo>
                    <a:pt x="3445270" y="0"/>
                  </a:lnTo>
                </a:path>
              </a:pathLst>
            </a:custGeom>
            <a:ln w="19880">
              <a:solidFill>
                <a:srgbClr val="000000"/>
              </a:solidFill>
            </a:ln>
          </p:spPr>
          <p:txBody>
            <a:bodyPr wrap="square" lIns="0" tIns="0" rIns="0" bIns="0" rtlCol="0"/>
            <a:lstStyle/>
            <a:p>
              <a:endParaRPr sz="1227"/>
            </a:p>
          </p:txBody>
        </p:sp>
        <p:sp>
          <p:nvSpPr>
            <p:cNvPr id="48" name="object 48"/>
            <p:cNvSpPr/>
            <p:nvPr/>
          </p:nvSpPr>
          <p:spPr>
            <a:xfrm>
              <a:off x="1515694" y="5150753"/>
              <a:ext cx="53340" cy="0"/>
            </a:xfrm>
            <a:custGeom>
              <a:avLst/>
              <a:gdLst/>
              <a:ahLst/>
              <a:cxnLst/>
              <a:rect l="l" t="t" r="r" b="b"/>
              <a:pathLst>
                <a:path w="53340">
                  <a:moveTo>
                    <a:pt x="0" y="0"/>
                  </a:moveTo>
                  <a:lnTo>
                    <a:pt x="52815" y="0"/>
                  </a:lnTo>
                </a:path>
              </a:pathLst>
            </a:custGeom>
            <a:ln w="19880">
              <a:solidFill>
                <a:srgbClr val="000000"/>
              </a:solidFill>
            </a:ln>
          </p:spPr>
          <p:txBody>
            <a:bodyPr wrap="square" lIns="0" tIns="0" rIns="0" bIns="0" rtlCol="0"/>
            <a:lstStyle/>
            <a:p>
              <a:endParaRPr sz="1227"/>
            </a:p>
          </p:txBody>
        </p:sp>
        <p:sp>
          <p:nvSpPr>
            <p:cNvPr id="49" name="object 49"/>
            <p:cNvSpPr/>
            <p:nvPr/>
          </p:nvSpPr>
          <p:spPr>
            <a:xfrm>
              <a:off x="1515694" y="4632319"/>
              <a:ext cx="53340" cy="0"/>
            </a:xfrm>
            <a:custGeom>
              <a:avLst/>
              <a:gdLst/>
              <a:ahLst/>
              <a:cxnLst/>
              <a:rect l="l" t="t" r="r" b="b"/>
              <a:pathLst>
                <a:path w="53340">
                  <a:moveTo>
                    <a:pt x="0" y="0"/>
                  </a:moveTo>
                  <a:lnTo>
                    <a:pt x="52815" y="0"/>
                  </a:lnTo>
                </a:path>
              </a:pathLst>
            </a:custGeom>
            <a:ln w="19880">
              <a:solidFill>
                <a:srgbClr val="000000"/>
              </a:solidFill>
            </a:ln>
          </p:spPr>
          <p:txBody>
            <a:bodyPr wrap="square" lIns="0" tIns="0" rIns="0" bIns="0" rtlCol="0"/>
            <a:lstStyle/>
            <a:p>
              <a:endParaRPr sz="1227"/>
            </a:p>
          </p:txBody>
        </p:sp>
        <p:sp>
          <p:nvSpPr>
            <p:cNvPr id="50" name="object 50"/>
            <p:cNvSpPr/>
            <p:nvPr/>
          </p:nvSpPr>
          <p:spPr>
            <a:xfrm>
              <a:off x="1515694" y="4113886"/>
              <a:ext cx="53340" cy="0"/>
            </a:xfrm>
            <a:custGeom>
              <a:avLst/>
              <a:gdLst/>
              <a:ahLst/>
              <a:cxnLst/>
              <a:rect l="l" t="t" r="r" b="b"/>
              <a:pathLst>
                <a:path w="53340">
                  <a:moveTo>
                    <a:pt x="0" y="0"/>
                  </a:moveTo>
                  <a:lnTo>
                    <a:pt x="52815" y="0"/>
                  </a:lnTo>
                </a:path>
              </a:pathLst>
            </a:custGeom>
            <a:ln w="19880">
              <a:solidFill>
                <a:srgbClr val="000000"/>
              </a:solidFill>
            </a:ln>
          </p:spPr>
          <p:txBody>
            <a:bodyPr wrap="square" lIns="0" tIns="0" rIns="0" bIns="0" rtlCol="0"/>
            <a:lstStyle/>
            <a:p>
              <a:endParaRPr sz="1227"/>
            </a:p>
          </p:txBody>
        </p:sp>
        <p:sp>
          <p:nvSpPr>
            <p:cNvPr id="51" name="object 51"/>
            <p:cNvSpPr/>
            <p:nvPr/>
          </p:nvSpPr>
          <p:spPr>
            <a:xfrm>
              <a:off x="1515694" y="3595452"/>
              <a:ext cx="53340" cy="0"/>
            </a:xfrm>
            <a:custGeom>
              <a:avLst/>
              <a:gdLst/>
              <a:ahLst/>
              <a:cxnLst/>
              <a:rect l="l" t="t" r="r" b="b"/>
              <a:pathLst>
                <a:path w="53340">
                  <a:moveTo>
                    <a:pt x="0" y="0"/>
                  </a:moveTo>
                  <a:lnTo>
                    <a:pt x="52815" y="0"/>
                  </a:lnTo>
                </a:path>
              </a:pathLst>
            </a:custGeom>
            <a:ln w="19880">
              <a:solidFill>
                <a:srgbClr val="000000"/>
              </a:solidFill>
            </a:ln>
          </p:spPr>
          <p:txBody>
            <a:bodyPr wrap="square" lIns="0" tIns="0" rIns="0" bIns="0" rtlCol="0"/>
            <a:lstStyle/>
            <a:p>
              <a:endParaRPr sz="1227"/>
            </a:p>
          </p:txBody>
        </p:sp>
        <p:sp>
          <p:nvSpPr>
            <p:cNvPr id="52" name="object 52"/>
            <p:cNvSpPr/>
            <p:nvPr/>
          </p:nvSpPr>
          <p:spPr>
            <a:xfrm>
              <a:off x="1515694" y="3077019"/>
              <a:ext cx="53340" cy="0"/>
            </a:xfrm>
            <a:custGeom>
              <a:avLst/>
              <a:gdLst/>
              <a:ahLst/>
              <a:cxnLst/>
              <a:rect l="l" t="t" r="r" b="b"/>
              <a:pathLst>
                <a:path w="53340">
                  <a:moveTo>
                    <a:pt x="0" y="0"/>
                  </a:moveTo>
                  <a:lnTo>
                    <a:pt x="52815" y="0"/>
                  </a:lnTo>
                </a:path>
              </a:pathLst>
            </a:custGeom>
            <a:ln w="19880">
              <a:solidFill>
                <a:srgbClr val="000000"/>
              </a:solidFill>
            </a:ln>
          </p:spPr>
          <p:txBody>
            <a:bodyPr wrap="square" lIns="0" tIns="0" rIns="0" bIns="0" rtlCol="0"/>
            <a:lstStyle/>
            <a:p>
              <a:endParaRPr sz="1227"/>
            </a:p>
          </p:txBody>
        </p:sp>
        <p:sp>
          <p:nvSpPr>
            <p:cNvPr id="53" name="object 53"/>
            <p:cNvSpPr/>
            <p:nvPr/>
          </p:nvSpPr>
          <p:spPr>
            <a:xfrm>
              <a:off x="1515694" y="2558585"/>
              <a:ext cx="53340" cy="0"/>
            </a:xfrm>
            <a:custGeom>
              <a:avLst/>
              <a:gdLst/>
              <a:ahLst/>
              <a:cxnLst/>
              <a:rect l="l" t="t" r="r" b="b"/>
              <a:pathLst>
                <a:path w="53340">
                  <a:moveTo>
                    <a:pt x="0" y="0"/>
                  </a:moveTo>
                  <a:lnTo>
                    <a:pt x="52815" y="0"/>
                  </a:lnTo>
                </a:path>
              </a:pathLst>
            </a:custGeom>
            <a:ln w="19880">
              <a:solidFill>
                <a:srgbClr val="000000"/>
              </a:solidFill>
            </a:ln>
          </p:spPr>
          <p:txBody>
            <a:bodyPr wrap="square" lIns="0" tIns="0" rIns="0" bIns="0" rtlCol="0"/>
            <a:lstStyle/>
            <a:p>
              <a:endParaRPr sz="1227"/>
            </a:p>
          </p:txBody>
        </p:sp>
        <p:sp>
          <p:nvSpPr>
            <p:cNvPr id="54" name="object 54"/>
            <p:cNvSpPr/>
            <p:nvPr/>
          </p:nvSpPr>
          <p:spPr>
            <a:xfrm>
              <a:off x="1568510" y="2351365"/>
              <a:ext cx="0" cy="2799715"/>
            </a:xfrm>
            <a:custGeom>
              <a:avLst/>
              <a:gdLst/>
              <a:ahLst/>
              <a:cxnLst/>
              <a:rect l="l" t="t" r="r" b="b"/>
              <a:pathLst>
                <a:path h="2799715">
                  <a:moveTo>
                    <a:pt x="0" y="2799390"/>
                  </a:moveTo>
                  <a:lnTo>
                    <a:pt x="0" y="0"/>
                  </a:lnTo>
                </a:path>
              </a:pathLst>
            </a:custGeom>
            <a:ln w="19901">
              <a:solidFill>
                <a:srgbClr val="000000"/>
              </a:solidFill>
            </a:ln>
          </p:spPr>
          <p:txBody>
            <a:bodyPr wrap="square" lIns="0" tIns="0" rIns="0" bIns="0" rtlCol="0"/>
            <a:lstStyle/>
            <a:p>
              <a:endParaRPr sz="1227"/>
            </a:p>
          </p:txBody>
        </p:sp>
        <p:sp>
          <p:nvSpPr>
            <p:cNvPr id="55" name="object 55"/>
            <p:cNvSpPr/>
            <p:nvPr/>
          </p:nvSpPr>
          <p:spPr>
            <a:xfrm>
              <a:off x="1568510" y="3795793"/>
              <a:ext cx="207645" cy="388620"/>
            </a:xfrm>
            <a:custGeom>
              <a:avLst/>
              <a:gdLst/>
              <a:ahLst/>
              <a:cxnLst/>
              <a:rect l="l" t="t" r="r" b="b"/>
              <a:pathLst>
                <a:path w="207644" h="388620">
                  <a:moveTo>
                    <a:pt x="207435" y="388443"/>
                  </a:moveTo>
                  <a:lnTo>
                    <a:pt x="0" y="0"/>
                  </a:lnTo>
                </a:path>
              </a:pathLst>
            </a:custGeom>
            <a:ln w="19897">
              <a:solidFill>
                <a:srgbClr val="000000"/>
              </a:solidFill>
            </a:ln>
          </p:spPr>
          <p:txBody>
            <a:bodyPr wrap="square" lIns="0" tIns="0" rIns="0" bIns="0" rtlCol="0"/>
            <a:lstStyle/>
            <a:p>
              <a:endParaRPr sz="1227"/>
            </a:p>
          </p:txBody>
        </p:sp>
        <p:sp>
          <p:nvSpPr>
            <p:cNvPr id="56" name="object 56"/>
            <p:cNvSpPr/>
            <p:nvPr/>
          </p:nvSpPr>
          <p:spPr>
            <a:xfrm>
              <a:off x="1775946" y="4184236"/>
              <a:ext cx="434340" cy="514984"/>
            </a:xfrm>
            <a:custGeom>
              <a:avLst/>
              <a:gdLst/>
              <a:ahLst/>
              <a:cxnLst/>
              <a:rect l="l" t="t" r="r" b="b"/>
              <a:pathLst>
                <a:path w="434339" h="514985">
                  <a:moveTo>
                    <a:pt x="434007" y="514610"/>
                  </a:moveTo>
                  <a:lnTo>
                    <a:pt x="0" y="0"/>
                  </a:lnTo>
                </a:path>
              </a:pathLst>
            </a:custGeom>
            <a:ln w="19893">
              <a:solidFill>
                <a:srgbClr val="000000"/>
              </a:solidFill>
            </a:ln>
          </p:spPr>
          <p:txBody>
            <a:bodyPr wrap="square" lIns="0" tIns="0" rIns="0" bIns="0" rtlCol="0"/>
            <a:lstStyle/>
            <a:p>
              <a:endParaRPr sz="1227"/>
            </a:p>
          </p:txBody>
        </p:sp>
        <p:sp>
          <p:nvSpPr>
            <p:cNvPr id="57" name="object 57"/>
            <p:cNvSpPr/>
            <p:nvPr/>
          </p:nvSpPr>
          <p:spPr>
            <a:xfrm>
              <a:off x="2209954" y="4698847"/>
              <a:ext cx="390525" cy="233045"/>
            </a:xfrm>
            <a:custGeom>
              <a:avLst/>
              <a:gdLst/>
              <a:ahLst/>
              <a:cxnLst/>
              <a:rect l="l" t="t" r="r" b="b"/>
              <a:pathLst>
                <a:path w="390525" h="233045">
                  <a:moveTo>
                    <a:pt x="390377" y="232454"/>
                  </a:moveTo>
                  <a:lnTo>
                    <a:pt x="0" y="0"/>
                  </a:lnTo>
                </a:path>
              </a:pathLst>
            </a:custGeom>
            <a:ln w="19886">
              <a:solidFill>
                <a:srgbClr val="000000"/>
              </a:solidFill>
            </a:ln>
          </p:spPr>
          <p:txBody>
            <a:bodyPr wrap="square" lIns="0" tIns="0" rIns="0" bIns="0" rtlCol="0"/>
            <a:lstStyle/>
            <a:p>
              <a:endParaRPr sz="1227"/>
            </a:p>
          </p:txBody>
        </p:sp>
        <p:sp>
          <p:nvSpPr>
            <p:cNvPr id="58" name="object 58"/>
            <p:cNvSpPr/>
            <p:nvPr/>
          </p:nvSpPr>
          <p:spPr>
            <a:xfrm>
              <a:off x="2600331" y="4931302"/>
              <a:ext cx="372110" cy="111760"/>
            </a:xfrm>
            <a:custGeom>
              <a:avLst/>
              <a:gdLst/>
              <a:ahLst/>
              <a:cxnLst/>
              <a:rect l="l" t="t" r="r" b="b"/>
              <a:pathLst>
                <a:path w="372110" h="111760">
                  <a:moveTo>
                    <a:pt x="372006" y="111639"/>
                  </a:moveTo>
                  <a:lnTo>
                    <a:pt x="0" y="0"/>
                  </a:lnTo>
                </a:path>
              </a:pathLst>
            </a:custGeom>
            <a:ln w="19882">
              <a:solidFill>
                <a:srgbClr val="000000"/>
              </a:solidFill>
            </a:ln>
          </p:spPr>
          <p:txBody>
            <a:bodyPr wrap="square" lIns="0" tIns="0" rIns="0" bIns="0" rtlCol="0"/>
            <a:lstStyle/>
            <a:p>
              <a:endParaRPr sz="1227"/>
            </a:p>
          </p:txBody>
        </p:sp>
        <p:sp>
          <p:nvSpPr>
            <p:cNvPr id="59" name="object 59"/>
            <p:cNvSpPr/>
            <p:nvPr/>
          </p:nvSpPr>
          <p:spPr>
            <a:xfrm>
              <a:off x="2972337" y="5042941"/>
              <a:ext cx="363855" cy="54610"/>
            </a:xfrm>
            <a:custGeom>
              <a:avLst/>
              <a:gdLst/>
              <a:ahLst/>
              <a:cxnLst/>
              <a:rect l="l" t="t" r="r" b="b"/>
              <a:pathLst>
                <a:path w="363854" h="54610">
                  <a:moveTo>
                    <a:pt x="363586" y="54290"/>
                  </a:moveTo>
                  <a:lnTo>
                    <a:pt x="0" y="0"/>
                  </a:lnTo>
                </a:path>
              </a:pathLst>
            </a:custGeom>
            <a:ln w="19881">
              <a:solidFill>
                <a:srgbClr val="000000"/>
              </a:solidFill>
            </a:ln>
          </p:spPr>
          <p:txBody>
            <a:bodyPr wrap="square" lIns="0" tIns="0" rIns="0" bIns="0" rtlCol="0"/>
            <a:lstStyle/>
            <a:p>
              <a:endParaRPr sz="1227"/>
            </a:p>
          </p:txBody>
        </p:sp>
        <p:sp>
          <p:nvSpPr>
            <p:cNvPr id="60" name="object 60"/>
            <p:cNvSpPr/>
            <p:nvPr/>
          </p:nvSpPr>
          <p:spPr>
            <a:xfrm>
              <a:off x="3335924" y="5097232"/>
              <a:ext cx="359410" cy="27305"/>
            </a:xfrm>
            <a:custGeom>
              <a:avLst/>
              <a:gdLst/>
              <a:ahLst/>
              <a:cxnLst/>
              <a:rect l="l" t="t" r="r" b="b"/>
              <a:pathLst>
                <a:path w="359410" h="27304">
                  <a:moveTo>
                    <a:pt x="358993" y="26762"/>
                  </a:moveTo>
                  <a:lnTo>
                    <a:pt x="0" y="0"/>
                  </a:lnTo>
                </a:path>
              </a:pathLst>
            </a:custGeom>
            <a:ln w="19881">
              <a:solidFill>
                <a:srgbClr val="000000"/>
              </a:solidFill>
            </a:ln>
          </p:spPr>
          <p:txBody>
            <a:bodyPr wrap="square" lIns="0" tIns="0" rIns="0" bIns="0" rtlCol="0"/>
            <a:lstStyle/>
            <a:p>
              <a:endParaRPr sz="1227"/>
            </a:p>
          </p:txBody>
        </p:sp>
        <p:sp>
          <p:nvSpPr>
            <p:cNvPr id="61" name="object 61"/>
            <p:cNvSpPr/>
            <p:nvPr/>
          </p:nvSpPr>
          <p:spPr>
            <a:xfrm>
              <a:off x="3684978" y="5138145"/>
              <a:ext cx="377825" cy="0"/>
            </a:xfrm>
            <a:custGeom>
              <a:avLst/>
              <a:gdLst/>
              <a:ahLst/>
              <a:cxnLst/>
              <a:rect l="l" t="t" r="r" b="b"/>
              <a:pathLst>
                <a:path w="377825">
                  <a:moveTo>
                    <a:pt x="0" y="0"/>
                  </a:moveTo>
                  <a:lnTo>
                    <a:pt x="377344" y="0"/>
                  </a:lnTo>
                </a:path>
              </a:pathLst>
            </a:custGeom>
            <a:ln w="19109">
              <a:solidFill>
                <a:srgbClr val="000000"/>
              </a:solidFill>
            </a:ln>
          </p:spPr>
          <p:txBody>
            <a:bodyPr wrap="square" lIns="0" tIns="0" rIns="0" bIns="0" rtlCol="0"/>
            <a:lstStyle/>
            <a:p>
              <a:endParaRPr sz="1227"/>
            </a:p>
          </p:txBody>
        </p:sp>
        <p:sp>
          <p:nvSpPr>
            <p:cNvPr id="62" name="object 62"/>
            <p:cNvSpPr/>
            <p:nvPr/>
          </p:nvSpPr>
          <p:spPr>
            <a:xfrm>
              <a:off x="4052381" y="5137759"/>
              <a:ext cx="356235" cy="6350"/>
            </a:xfrm>
            <a:custGeom>
              <a:avLst/>
              <a:gdLst/>
              <a:ahLst/>
              <a:cxnLst/>
              <a:rect l="l" t="t" r="r" b="b"/>
              <a:pathLst>
                <a:path w="356235" h="6350">
                  <a:moveTo>
                    <a:pt x="355932" y="6117"/>
                  </a:moveTo>
                  <a:lnTo>
                    <a:pt x="0" y="0"/>
                  </a:lnTo>
                </a:path>
              </a:pathLst>
            </a:custGeom>
            <a:ln w="19880">
              <a:solidFill>
                <a:srgbClr val="000000"/>
              </a:solidFill>
            </a:ln>
          </p:spPr>
          <p:txBody>
            <a:bodyPr wrap="square" lIns="0" tIns="0" rIns="0" bIns="0" rtlCol="0"/>
            <a:lstStyle/>
            <a:p>
              <a:endParaRPr sz="1227"/>
            </a:p>
          </p:txBody>
        </p:sp>
        <p:sp>
          <p:nvSpPr>
            <p:cNvPr id="63" name="object 63"/>
            <p:cNvSpPr/>
            <p:nvPr/>
          </p:nvSpPr>
          <p:spPr>
            <a:xfrm>
              <a:off x="4408313" y="5143877"/>
              <a:ext cx="355600" cy="4445"/>
            </a:xfrm>
            <a:custGeom>
              <a:avLst/>
              <a:gdLst/>
              <a:ahLst/>
              <a:cxnLst/>
              <a:rect l="l" t="t" r="r" b="b"/>
              <a:pathLst>
                <a:path w="355600" h="4445">
                  <a:moveTo>
                    <a:pt x="355166" y="3823"/>
                  </a:moveTo>
                  <a:lnTo>
                    <a:pt x="0" y="0"/>
                  </a:lnTo>
                </a:path>
              </a:pathLst>
            </a:custGeom>
            <a:ln w="19880">
              <a:solidFill>
                <a:srgbClr val="000000"/>
              </a:solidFill>
            </a:ln>
          </p:spPr>
          <p:txBody>
            <a:bodyPr wrap="square" lIns="0" tIns="0" rIns="0" bIns="0" rtlCol="0"/>
            <a:lstStyle/>
            <a:p>
              <a:endParaRPr sz="1227"/>
            </a:p>
          </p:txBody>
        </p:sp>
        <p:sp>
          <p:nvSpPr>
            <p:cNvPr id="64" name="object 64"/>
            <p:cNvSpPr/>
            <p:nvPr/>
          </p:nvSpPr>
          <p:spPr>
            <a:xfrm>
              <a:off x="1532533" y="3759858"/>
              <a:ext cx="71755" cy="71120"/>
            </a:xfrm>
            <a:custGeom>
              <a:avLst/>
              <a:gdLst/>
              <a:ahLst/>
              <a:cxnLst/>
              <a:rect l="l" t="t" r="r" b="b"/>
              <a:pathLst>
                <a:path w="71755" h="71120">
                  <a:moveTo>
                    <a:pt x="71186" y="71111"/>
                  </a:moveTo>
                  <a:lnTo>
                    <a:pt x="0" y="71111"/>
                  </a:lnTo>
                  <a:lnTo>
                    <a:pt x="0" y="0"/>
                  </a:lnTo>
                  <a:lnTo>
                    <a:pt x="71186" y="0"/>
                  </a:lnTo>
                  <a:lnTo>
                    <a:pt x="71186" y="71111"/>
                  </a:lnTo>
                  <a:close/>
                </a:path>
              </a:pathLst>
            </a:custGeom>
            <a:solidFill>
              <a:srgbClr val="000000"/>
            </a:solidFill>
          </p:spPr>
          <p:txBody>
            <a:bodyPr wrap="square" lIns="0" tIns="0" rIns="0" bIns="0" rtlCol="0"/>
            <a:lstStyle/>
            <a:p>
              <a:endParaRPr sz="1227"/>
            </a:p>
          </p:txBody>
        </p:sp>
        <p:sp>
          <p:nvSpPr>
            <p:cNvPr id="65" name="object 65"/>
            <p:cNvSpPr/>
            <p:nvPr/>
          </p:nvSpPr>
          <p:spPr>
            <a:xfrm>
              <a:off x="1532534" y="3759857"/>
              <a:ext cx="71755" cy="71120"/>
            </a:xfrm>
            <a:custGeom>
              <a:avLst/>
              <a:gdLst/>
              <a:ahLst/>
              <a:cxnLst/>
              <a:rect l="l" t="t" r="r" b="b"/>
              <a:pathLst>
                <a:path w="71755" h="71120">
                  <a:moveTo>
                    <a:pt x="0" y="0"/>
                  </a:moveTo>
                  <a:lnTo>
                    <a:pt x="71186" y="0"/>
                  </a:lnTo>
                  <a:lnTo>
                    <a:pt x="71186" y="71112"/>
                  </a:lnTo>
                  <a:lnTo>
                    <a:pt x="0" y="71112"/>
                  </a:lnTo>
                  <a:lnTo>
                    <a:pt x="0" y="0"/>
                  </a:lnTo>
                  <a:close/>
                </a:path>
              </a:pathLst>
            </a:custGeom>
            <a:ln w="6120">
              <a:solidFill>
                <a:srgbClr val="000000"/>
              </a:solidFill>
            </a:ln>
          </p:spPr>
          <p:txBody>
            <a:bodyPr wrap="square" lIns="0" tIns="0" rIns="0" bIns="0" rtlCol="0"/>
            <a:lstStyle/>
            <a:p>
              <a:endParaRPr sz="1227"/>
            </a:p>
          </p:txBody>
        </p:sp>
        <p:sp>
          <p:nvSpPr>
            <p:cNvPr id="66" name="object 66"/>
            <p:cNvSpPr/>
            <p:nvPr/>
          </p:nvSpPr>
          <p:spPr>
            <a:xfrm>
              <a:off x="1739970" y="4148301"/>
              <a:ext cx="71755" cy="71120"/>
            </a:xfrm>
            <a:custGeom>
              <a:avLst/>
              <a:gdLst/>
              <a:ahLst/>
              <a:cxnLst/>
              <a:rect l="l" t="t" r="r" b="b"/>
              <a:pathLst>
                <a:path w="71755" h="71120">
                  <a:moveTo>
                    <a:pt x="71187" y="71112"/>
                  </a:moveTo>
                  <a:lnTo>
                    <a:pt x="0" y="71112"/>
                  </a:lnTo>
                  <a:lnTo>
                    <a:pt x="0" y="0"/>
                  </a:lnTo>
                  <a:lnTo>
                    <a:pt x="71187" y="0"/>
                  </a:lnTo>
                  <a:lnTo>
                    <a:pt x="71187" y="71112"/>
                  </a:lnTo>
                  <a:close/>
                </a:path>
              </a:pathLst>
            </a:custGeom>
            <a:solidFill>
              <a:srgbClr val="000000"/>
            </a:solidFill>
          </p:spPr>
          <p:txBody>
            <a:bodyPr wrap="square" lIns="0" tIns="0" rIns="0" bIns="0" rtlCol="0"/>
            <a:lstStyle/>
            <a:p>
              <a:endParaRPr sz="1227"/>
            </a:p>
          </p:txBody>
        </p:sp>
        <p:sp>
          <p:nvSpPr>
            <p:cNvPr id="67" name="object 67"/>
            <p:cNvSpPr/>
            <p:nvPr/>
          </p:nvSpPr>
          <p:spPr>
            <a:xfrm>
              <a:off x="1739970" y="4148301"/>
              <a:ext cx="71755" cy="71120"/>
            </a:xfrm>
            <a:custGeom>
              <a:avLst/>
              <a:gdLst/>
              <a:ahLst/>
              <a:cxnLst/>
              <a:rect l="l" t="t" r="r" b="b"/>
              <a:pathLst>
                <a:path w="71755" h="71120">
                  <a:moveTo>
                    <a:pt x="0" y="0"/>
                  </a:moveTo>
                  <a:lnTo>
                    <a:pt x="71186" y="0"/>
                  </a:lnTo>
                  <a:lnTo>
                    <a:pt x="71186" y="71112"/>
                  </a:lnTo>
                  <a:lnTo>
                    <a:pt x="0" y="71112"/>
                  </a:lnTo>
                  <a:lnTo>
                    <a:pt x="0" y="0"/>
                  </a:lnTo>
                  <a:close/>
                </a:path>
              </a:pathLst>
            </a:custGeom>
            <a:ln w="6120">
              <a:solidFill>
                <a:srgbClr val="000000"/>
              </a:solidFill>
            </a:ln>
          </p:spPr>
          <p:txBody>
            <a:bodyPr wrap="square" lIns="0" tIns="0" rIns="0" bIns="0" rtlCol="0"/>
            <a:lstStyle/>
            <a:p>
              <a:endParaRPr sz="1227"/>
            </a:p>
          </p:txBody>
        </p:sp>
        <p:sp>
          <p:nvSpPr>
            <p:cNvPr id="68" name="object 68"/>
            <p:cNvSpPr/>
            <p:nvPr/>
          </p:nvSpPr>
          <p:spPr>
            <a:xfrm>
              <a:off x="2173977" y="4662912"/>
              <a:ext cx="71755" cy="71120"/>
            </a:xfrm>
            <a:custGeom>
              <a:avLst/>
              <a:gdLst/>
              <a:ahLst/>
              <a:cxnLst/>
              <a:rect l="l" t="t" r="r" b="b"/>
              <a:pathLst>
                <a:path w="71755" h="71120">
                  <a:moveTo>
                    <a:pt x="71186" y="71112"/>
                  </a:moveTo>
                  <a:lnTo>
                    <a:pt x="0" y="71112"/>
                  </a:lnTo>
                  <a:lnTo>
                    <a:pt x="0" y="0"/>
                  </a:lnTo>
                  <a:lnTo>
                    <a:pt x="71186" y="0"/>
                  </a:lnTo>
                  <a:lnTo>
                    <a:pt x="71186" y="71112"/>
                  </a:lnTo>
                  <a:close/>
                </a:path>
              </a:pathLst>
            </a:custGeom>
            <a:solidFill>
              <a:srgbClr val="000000"/>
            </a:solidFill>
          </p:spPr>
          <p:txBody>
            <a:bodyPr wrap="square" lIns="0" tIns="0" rIns="0" bIns="0" rtlCol="0"/>
            <a:lstStyle/>
            <a:p>
              <a:endParaRPr sz="1227"/>
            </a:p>
          </p:txBody>
        </p:sp>
        <p:sp>
          <p:nvSpPr>
            <p:cNvPr id="69" name="object 69"/>
            <p:cNvSpPr/>
            <p:nvPr/>
          </p:nvSpPr>
          <p:spPr>
            <a:xfrm>
              <a:off x="2173978" y="4662912"/>
              <a:ext cx="71755" cy="71120"/>
            </a:xfrm>
            <a:custGeom>
              <a:avLst/>
              <a:gdLst/>
              <a:ahLst/>
              <a:cxnLst/>
              <a:rect l="l" t="t" r="r" b="b"/>
              <a:pathLst>
                <a:path w="71755" h="71120">
                  <a:moveTo>
                    <a:pt x="0" y="0"/>
                  </a:moveTo>
                  <a:lnTo>
                    <a:pt x="71186" y="0"/>
                  </a:lnTo>
                  <a:lnTo>
                    <a:pt x="71186" y="71112"/>
                  </a:lnTo>
                  <a:lnTo>
                    <a:pt x="0" y="71112"/>
                  </a:lnTo>
                  <a:lnTo>
                    <a:pt x="0" y="0"/>
                  </a:lnTo>
                  <a:close/>
                </a:path>
              </a:pathLst>
            </a:custGeom>
            <a:ln w="6120">
              <a:solidFill>
                <a:srgbClr val="000000"/>
              </a:solidFill>
            </a:ln>
          </p:spPr>
          <p:txBody>
            <a:bodyPr wrap="square" lIns="0" tIns="0" rIns="0" bIns="0" rtlCol="0"/>
            <a:lstStyle/>
            <a:p>
              <a:endParaRPr sz="1227"/>
            </a:p>
          </p:txBody>
        </p:sp>
        <p:sp>
          <p:nvSpPr>
            <p:cNvPr id="70" name="object 70"/>
            <p:cNvSpPr/>
            <p:nvPr/>
          </p:nvSpPr>
          <p:spPr>
            <a:xfrm>
              <a:off x="2564355" y="4895367"/>
              <a:ext cx="71755" cy="71120"/>
            </a:xfrm>
            <a:custGeom>
              <a:avLst/>
              <a:gdLst/>
              <a:ahLst/>
              <a:cxnLst/>
              <a:rect l="l" t="t" r="r" b="b"/>
              <a:pathLst>
                <a:path w="71755" h="71120">
                  <a:moveTo>
                    <a:pt x="71187" y="71112"/>
                  </a:moveTo>
                  <a:lnTo>
                    <a:pt x="0" y="71112"/>
                  </a:lnTo>
                  <a:lnTo>
                    <a:pt x="0" y="0"/>
                  </a:lnTo>
                  <a:lnTo>
                    <a:pt x="71187" y="0"/>
                  </a:lnTo>
                  <a:lnTo>
                    <a:pt x="71187" y="71112"/>
                  </a:lnTo>
                  <a:close/>
                </a:path>
              </a:pathLst>
            </a:custGeom>
            <a:solidFill>
              <a:srgbClr val="000000"/>
            </a:solidFill>
          </p:spPr>
          <p:txBody>
            <a:bodyPr wrap="square" lIns="0" tIns="0" rIns="0" bIns="0" rtlCol="0"/>
            <a:lstStyle/>
            <a:p>
              <a:endParaRPr sz="1227"/>
            </a:p>
          </p:txBody>
        </p:sp>
        <p:sp>
          <p:nvSpPr>
            <p:cNvPr id="71" name="object 71"/>
            <p:cNvSpPr/>
            <p:nvPr/>
          </p:nvSpPr>
          <p:spPr>
            <a:xfrm>
              <a:off x="2564355" y="4895366"/>
              <a:ext cx="71755" cy="71120"/>
            </a:xfrm>
            <a:custGeom>
              <a:avLst/>
              <a:gdLst/>
              <a:ahLst/>
              <a:cxnLst/>
              <a:rect l="l" t="t" r="r" b="b"/>
              <a:pathLst>
                <a:path w="71755" h="71120">
                  <a:moveTo>
                    <a:pt x="0" y="0"/>
                  </a:moveTo>
                  <a:lnTo>
                    <a:pt x="71186" y="0"/>
                  </a:lnTo>
                  <a:lnTo>
                    <a:pt x="71186" y="71112"/>
                  </a:lnTo>
                  <a:lnTo>
                    <a:pt x="0" y="71112"/>
                  </a:lnTo>
                  <a:lnTo>
                    <a:pt x="0" y="0"/>
                  </a:lnTo>
                  <a:close/>
                </a:path>
              </a:pathLst>
            </a:custGeom>
            <a:ln w="6120">
              <a:solidFill>
                <a:srgbClr val="000000"/>
              </a:solidFill>
            </a:ln>
          </p:spPr>
          <p:txBody>
            <a:bodyPr wrap="square" lIns="0" tIns="0" rIns="0" bIns="0" rtlCol="0"/>
            <a:lstStyle/>
            <a:p>
              <a:endParaRPr sz="1227"/>
            </a:p>
          </p:txBody>
        </p:sp>
        <p:sp>
          <p:nvSpPr>
            <p:cNvPr id="72" name="object 72"/>
            <p:cNvSpPr/>
            <p:nvPr/>
          </p:nvSpPr>
          <p:spPr>
            <a:xfrm>
              <a:off x="2936361" y="5007006"/>
              <a:ext cx="71755" cy="71120"/>
            </a:xfrm>
            <a:custGeom>
              <a:avLst/>
              <a:gdLst/>
              <a:ahLst/>
              <a:cxnLst/>
              <a:rect l="l" t="t" r="r" b="b"/>
              <a:pathLst>
                <a:path w="71755" h="71120">
                  <a:moveTo>
                    <a:pt x="71186" y="71111"/>
                  </a:moveTo>
                  <a:lnTo>
                    <a:pt x="0" y="71111"/>
                  </a:lnTo>
                  <a:lnTo>
                    <a:pt x="0" y="0"/>
                  </a:lnTo>
                  <a:lnTo>
                    <a:pt x="71186" y="0"/>
                  </a:lnTo>
                  <a:lnTo>
                    <a:pt x="71186" y="71111"/>
                  </a:lnTo>
                  <a:close/>
                </a:path>
              </a:pathLst>
            </a:custGeom>
            <a:solidFill>
              <a:srgbClr val="000000"/>
            </a:solidFill>
          </p:spPr>
          <p:txBody>
            <a:bodyPr wrap="square" lIns="0" tIns="0" rIns="0" bIns="0" rtlCol="0"/>
            <a:lstStyle/>
            <a:p>
              <a:endParaRPr sz="1227"/>
            </a:p>
          </p:txBody>
        </p:sp>
        <p:sp>
          <p:nvSpPr>
            <p:cNvPr id="73" name="object 73"/>
            <p:cNvSpPr/>
            <p:nvPr/>
          </p:nvSpPr>
          <p:spPr>
            <a:xfrm>
              <a:off x="2936362" y="5007006"/>
              <a:ext cx="71755" cy="71120"/>
            </a:xfrm>
            <a:custGeom>
              <a:avLst/>
              <a:gdLst/>
              <a:ahLst/>
              <a:cxnLst/>
              <a:rect l="l" t="t" r="r" b="b"/>
              <a:pathLst>
                <a:path w="71755" h="71120">
                  <a:moveTo>
                    <a:pt x="0" y="0"/>
                  </a:moveTo>
                  <a:lnTo>
                    <a:pt x="71186" y="0"/>
                  </a:lnTo>
                  <a:lnTo>
                    <a:pt x="71186" y="71112"/>
                  </a:lnTo>
                  <a:lnTo>
                    <a:pt x="0" y="71112"/>
                  </a:lnTo>
                  <a:lnTo>
                    <a:pt x="0" y="0"/>
                  </a:lnTo>
                  <a:close/>
                </a:path>
              </a:pathLst>
            </a:custGeom>
            <a:ln w="6120">
              <a:solidFill>
                <a:srgbClr val="000000"/>
              </a:solidFill>
            </a:ln>
          </p:spPr>
          <p:txBody>
            <a:bodyPr wrap="square" lIns="0" tIns="0" rIns="0" bIns="0" rtlCol="0"/>
            <a:lstStyle/>
            <a:p>
              <a:endParaRPr sz="1227"/>
            </a:p>
          </p:txBody>
        </p:sp>
        <p:sp>
          <p:nvSpPr>
            <p:cNvPr id="74" name="object 74"/>
            <p:cNvSpPr/>
            <p:nvPr/>
          </p:nvSpPr>
          <p:spPr>
            <a:xfrm>
              <a:off x="3299949" y="5061297"/>
              <a:ext cx="71755" cy="71120"/>
            </a:xfrm>
            <a:custGeom>
              <a:avLst/>
              <a:gdLst/>
              <a:ahLst/>
              <a:cxnLst/>
              <a:rect l="l" t="t" r="r" b="b"/>
              <a:pathLst>
                <a:path w="71754" h="71120">
                  <a:moveTo>
                    <a:pt x="71185" y="71111"/>
                  </a:moveTo>
                  <a:lnTo>
                    <a:pt x="0" y="71111"/>
                  </a:lnTo>
                  <a:lnTo>
                    <a:pt x="0" y="0"/>
                  </a:lnTo>
                  <a:lnTo>
                    <a:pt x="71185" y="0"/>
                  </a:lnTo>
                  <a:lnTo>
                    <a:pt x="71185" y="71111"/>
                  </a:lnTo>
                  <a:close/>
                </a:path>
              </a:pathLst>
            </a:custGeom>
            <a:solidFill>
              <a:srgbClr val="000000"/>
            </a:solidFill>
          </p:spPr>
          <p:txBody>
            <a:bodyPr wrap="square" lIns="0" tIns="0" rIns="0" bIns="0" rtlCol="0"/>
            <a:lstStyle/>
            <a:p>
              <a:endParaRPr sz="1227"/>
            </a:p>
          </p:txBody>
        </p:sp>
        <p:sp>
          <p:nvSpPr>
            <p:cNvPr id="75" name="object 75"/>
            <p:cNvSpPr/>
            <p:nvPr/>
          </p:nvSpPr>
          <p:spPr>
            <a:xfrm>
              <a:off x="3299948" y="5061297"/>
              <a:ext cx="71755" cy="71120"/>
            </a:xfrm>
            <a:custGeom>
              <a:avLst/>
              <a:gdLst/>
              <a:ahLst/>
              <a:cxnLst/>
              <a:rect l="l" t="t" r="r" b="b"/>
              <a:pathLst>
                <a:path w="71754" h="71120">
                  <a:moveTo>
                    <a:pt x="0" y="0"/>
                  </a:moveTo>
                  <a:lnTo>
                    <a:pt x="71186" y="0"/>
                  </a:lnTo>
                  <a:lnTo>
                    <a:pt x="71186" y="71112"/>
                  </a:lnTo>
                  <a:lnTo>
                    <a:pt x="0" y="71112"/>
                  </a:lnTo>
                  <a:lnTo>
                    <a:pt x="0" y="0"/>
                  </a:lnTo>
                  <a:close/>
                </a:path>
              </a:pathLst>
            </a:custGeom>
            <a:ln w="6120">
              <a:solidFill>
                <a:srgbClr val="000000"/>
              </a:solidFill>
            </a:ln>
          </p:spPr>
          <p:txBody>
            <a:bodyPr wrap="square" lIns="0" tIns="0" rIns="0" bIns="0" rtlCol="0"/>
            <a:lstStyle/>
            <a:p>
              <a:endParaRPr sz="1227"/>
            </a:p>
          </p:txBody>
        </p:sp>
        <p:sp>
          <p:nvSpPr>
            <p:cNvPr id="76" name="object 76"/>
            <p:cNvSpPr/>
            <p:nvPr/>
          </p:nvSpPr>
          <p:spPr>
            <a:xfrm>
              <a:off x="3658942" y="5088059"/>
              <a:ext cx="71755" cy="71120"/>
            </a:xfrm>
            <a:custGeom>
              <a:avLst/>
              <a:gdLst/>
              <a:ahLst/>
              <a:cxnLst/>
              <a:rect l="l" t="t" r="r" b="b"/>
              <a:pathLst>
                <a:path w="71754" h="71120">
                  <a:moveTo>
                    <a:pt x="71186" y="71112"/>
                  </a:moveTo>
                  <a:lnTo>
                    <a:pt x="0" y="71112"/>
                  </a:lnTo>
                  <a:lnTo>
                    <a:pt x="0" y="0"/>
                  </a:lnTo>
                  <a:lnTo>
                    <a:pt x="71186" y="0"/>
                  </a:lnTo>
                  <a:lnTo>
                    <a:pt x="71186" y="71112"/>
                  </a:lnTo>
                  <a:close/>
                </a:path>
              </a:pathLst>
            </a:custGeom>
            <a:solidFill>
              <a:srgbClr val="000000"/>
            </a:solidFill>
          </p:spPr>
          <p:txBody>
            <a:bodyPr wrap="square" lIns="0" tIns="0" rIns="0" bIns="0" rtlCol="0"/>
            <a:lstStyle/>
            <a:p>
              <a:endParaRPr sz="1227"/>
            </a:p>
          </p:txBody>
        </p:sp>
        <p:sp>
          <p:nvSpPr>
            <p:cNvPr id="77" name="object 77"/>
            <p:cNvSpPr/>
            <p:nvPr/>
          </p:nvSpPr>
          <p:spPr>
            <a:xfrm>
              <a:off x="3658942" y="5088060"/>
              <a:ext cx="71755" cy="71120"/>
            </a:xfrm>
            <a:custGeom>
              <a:avLst/>
              <a:gdLst/>
              <a:ahLst/>
              <a:cxnLst/>
              <a:rect l="l" t="t" r="r" b="b"/>
              <a:pathLst>
                <a:path w="71754" h="71120">
                  <a:moveTo>
                    <a:pt x="0" y="0"/>
                  </a:moveTo>
                  <a:lnTo>
                    <a:pt x="71186" y="0"/>
                  </a:lnTo>
                  <a:lnTo>
                    <a:pt x="71186" y="71112"/>
                  </a:lnTo>
                  <a:lnTo>
                    <a:pt x="0" y="71112"/>
                  </a:lnTo>
                  <a:lnTo>
                    <a:pt x="0" y="0"/>
                  </a:lnTo>
                  <a:close/>
                </a:path>
              </a:pathLst>
            </a:custGeom>
            <a:ln w="6120">
              <a:solidFill>
                <a:srgbClr val="000000"/>
              </a:solidFill>
            </a:ln>
          </p:spPr>
          <p:txBody>
            <a:bodyPr wrap="square" lIns="0" tIns="0" rIns="0" bIns="0" rtlCol="0"/>
            <a:lstStyle/>
            <a:p>
              <a:endParaRPr sz="1227"/>
            </a:p>
          </p:txBody>
        </p:sp>
        <p:sp>
          <p:nvSpPr>
            <p:cNvPr id="78" name="object 78"/>
            <p:cNvSpPr/>
            <p:nvPr/>
          </p:nvSpPr>
          <p:spPr>
            <a:xfrm>
              <a:off x="4016405" y="5101824"/>
              <a:ext cx="71755" cy="71120"/>
            </a:xfrm>
            <a:custGeom>
              <a:avLst/>
              <a:gdLst/>
              <a:ahLst/>
              <a:cxnLst/>
              <a:rect l="l" t="t" r="r" b="b"/>
              <a:pathLst>
                <a:path w="71754" h="71120">
                  <a:moveTo>
                    <a:pt x="71186" y="71111"/>
                  </a:moveTo>
                  <a:lnTo>
                    <a:pt x="0" y="71111"/>
                  </a:lnTo>
                  <a:lnTo>
                    <a:pt x="0" y="0"/>
                  </a:lnTo>
                  <a:lnTo>
                    <a:pt x="71186" y="0"/>
                  </a:lnTo>
                  <a:lnTo>
                    <a:pt x="71186" y="71111"/>
                  </a:lnTo>
                  <a:close/>
                </a:path>
              </a:pathLst>
            </a:custGeom>
            <a:solidFill>
              <a:srgbClr val="000000"/>
            </a:solidFill>
          </p:spPr>
          <p:txBody>
            <a:bodyPr wrap="square" lIns="0" tIns="0" rIns="0" bIns="0" rtlCol="0"/>
            <a:lstStyle/>
            <a:p>
              <a:endParaRPr sz="1227"/>
            </a:p>
          </p:txBody>
        </p:sp>
        <p:sp>
          <p:nvSpPr>
            <p:cNvPr id="79" name="object 79"/>
            <p:cNvSpPr/>
            <p:nvPr/>
          </p:nvSpPr>
          <p:spPr>
            <a:xfrm>
              <a:off x="4016405" y="5101824"/>
              <a:ext cx="71755" cy="71120"/>
            </a:xfrm>
            <a:custGeom>
              <a:avLst/>
              <a:gdLst/>
              <a:ahLst/>
              <a:cxnLst/>
              <a:rect l="l" t="t" r="r" b="b"/>
              <a:pathLst>
                <a:path w="71754" h="71120">
                  <a:moveTo>
                    <a:pt x="0" y="0"/>
                  </a:moveTo>
                  <a:lnTo>
                    <a:pt x="71186" y="0"/>
                  </a:lnTo>
                  <a:lnTo>
                    <a:pt x="71186" y="71112"/>
                  </a:lnTo>
                  <a:lnTo>
                    <a:pt x="0" y="71112"/>
                  </a:lnTo>
                  <a:lnTo>
                    <a:pt x="0" y="0"/>
                  </a:lnTo>
                  <a:close/>
                </a:path>
              </a:pathLst>
            </a:custGeom>
            <a:ln w="6120">
              <a:solidFill>
                <a:srgbClr val="000000"/>
              </a:solidFill>
            </a:ln>
          </p:spPr>
          <p:txBody>
            <a:bodyPr wrap="square" lIns="0" tIns="0" rIns="0" bIns="0" rtlCol="0"/>
            <a:lstStyle/>
            <a:p>
              <a:endParaRPr sz="1227"/>
            </a:p>
          </p:txBody>
        </p:sp>
        <p:sp>
          <p:nvSpPr>
            <p:cNvPr id="80" name="object 80"/>
            <p:cNvSpPr/>
            <p:nvPr/>
          </p:nvSpPr>
          <p:spPr>
            <a:xfrm>
              <a:off x="4372338" y="5107941"/>
              <a:ext cx="71755" cy="71120"/>
            </a:xfrm>
            <a:custGeom>
              <a:avLst/>
              <a:gdLst/>
              <a:ahLst/>
              <a:cxnLst/>
              <a:rect l="l" t="t" r="r" b="b"/>
              <a:pathLst>
                <a:path w="71754" h="71120">
                  <a:moveTo>
                    <a:pt x="71185" y="71112"/>
                  </a:moveTo>
                  <a:lnTo>
                    <a:pt x="0" y="71112"/>
                  </a:lnTo>
                  <a:lnTo>
                    <a:pt x="0" y="0"/>
                  </a:lnTo>
                  <a:lnTo>
                    <a:pt x="71185" y="0"/>
                  </a:lnTo>
                  <a:lnTo>
                    <a:pt x="71185" y="71112"/>
                  </a:lnTo>
                  <a:close/>
                </a:path>
              </a:pathLst>
            </a:custGeom>
            <a:solidFill>
              <a:srgbClr val="000000"/>
            </a:solidFill>
          </p:spPr>
          <p:txBody>
            <a:bodyPr wrap="square" lIns="0" tIns="0" rIns="0" bIns="0" rtlCol="0"/>
            <a:lstStyle/>
            <a:p>
              <a:endParaRPr sz="1227"/>
            </a:p>
          </p:txBody>
        </p:sp>
        <p:sp>
          <p:nvSpPr>
            <p:cNvPr id="81" name="object 81"/>
            <p:cNvSpPr/>
            <p:nvPr/>
          </p:nvSpPr>
          <p:spPr>
            <a:xfrm>
              <a:off x="4372337" y="5107941"/>
              <a:ext cx="71755" cy="71120"/>
            </a:xfrm>
            <a:custGeom>
              <a:avLst/>
              <a:gdLst/>
              <a:ahLst/>
              <a:cxnLst/>
              <a:rect l="l" t="t" r="r" b="b"/>
              <a:pathLst>
                <a:path w="71754" h="71120">
                  <a:moveTo>
                    <a:pt x="0" y="0"/>
                  </a:moveTo>
                  <a:lnTo>
                    <a:pt x="71186" y="0"/>
                  </a:lnTo>
                  <a:lnTo>
                    <a:pt x="71186" y="71112"/>
                  </a:lnTo>
                  <a:lnTo>
                    <a:pt x="0" y="71112"/>
                  </a:lnTo>
                  <a:lnTo>
                    <a:pt x="0" y="0"/>
                  </a:lnTo>
                  <a:close/>
                </a:path>
              </a:pathLst>
            </a:custGeom>
            <a:ln w="6120">
              <a:solidFill>
                <a:srgbClr val="000000"/>
              </a:solidFill>
            </a:ln>
          </p:spPr>
          <p:txBody>
            <a:bodyPr wrap="square" lIns="0" tIns="0" rIns="0" bIns="0" rtlCol="0"/>
            <a:lstStyle/>
            <a:p>
              <a:endParaRPr sz="1227"/>
            </a:p>
          </p:txBody>
        </p:sp>
        <p:sp>
          <p:nvSpPr>
            <p:cNvPr id="82" name="object 82"/>
            <p:cNvSpPr/>
            <p:nvPr/>
          </p:nvSpPr>
          <p:spPr>
            <a:xfrm>
              <a:off x="4727503" y="5111765"/>
              <a:ext cx="71755" cy="71120"/>
            </a:xfrm>
            <a:custGeom>
              <a:avLst/>
              <a:gdLst/>
              <a:ahLst/>
              <a:cxnLst/>
              <a:rect l="l" t="t" r="r" b="b"/>
              <a:pathLst>
                <a:path w="71754" h="71120">
                  <a:moveTo>
                    <a:pt x="71187" y="71113"/>
                  </a:moveTo>
                  <a:lnTo>
                    <a:pt x="0" y="71113"/>
                  </a:lnTo>
                  <a:lnTo>
                    <a:pt x="0" y="0"/>
                  </a:lnTo>
                  <a:lnTo>
                    <a:pt x="71187" y="0"/>
                  </a:lnTo>
                  <a:lnTo>
                    <a:pt x="71187" y="71113"/>
                  </a:lnTo>
                  <a:close/>
                </a:path>
              </a:pathLst>
            </a:custGeom>
            <a:solidFill>
              <a:srgbClr val="000000"/>
            </a:solidFill>
          </p:spPr>
          <p:txBody>
            <a:bodyPr wrap="square" lIns="0" tIns="0" rIns="0" bIns="0" rtlCol="0"/>
            <a:lstStyle/>
            <a:p>
              <a:endParaRPr sz="1227"/>
            </a:p>
          </p:txBody>
        </p:sp>
        <p:sp>
          <p:nvSpPr>
            <p:cNvPr id="83" name="object 83"/>
            <p:cNvSpPr/>
            <p:nvPr/>
          </p:nvSpPr>
          <p:spPr>
            <a:xfrm>
              <a:off x="4727504" y="5111765"/>
              <a:ext cx="71755" cy="71120"/>
            </a:xfrm>
            <a:custGeom>
              <a:avLst/>
              <a:gdLst/>
              <a:ahLst/>
              <a:cxnLst/>
              <a:rect l="l" t="t" r="r" b="b"/>
              <a:pathLst>
                <a:path w="71754" h="71120">
                  <a:moveTo>
                    <a:pt x="0" y="0"/>
                  </a:moveTo>
                  <a:lnTo>
                    <a:pt x="71186" y="0"/>
                  </a:lnTo>
                  <a:lnTo>
                    <a:pt x="71186" y="71112"/>
                  </a:lnTo>
                  <a:lnTo>
                    <a:pt x="0" y="71112"/>
                  </a:lnTo>
                  <a:lnTo>
                    <a:pt x="0" y="0"/>
                  </a:lnTo>
                  <a:close/>
                </a:path>
              </a:pathLst>
            </a:custGeom>
            <a:ln w="6120">
              <a:solidFill>
                <a:srgbClr val="000000"/>
              </a:solidFill>
            </a:ln>
          </p:spPr>
          <p:txBody>
            <a:bodyPr wrap="square" lIns="0" tIns="0" rIns="0" bIns="0" rtlCol="0"/>
            <a:lstStyle/>
            <a:p>
              <a:endParaRPr sz="1227"/>
            </a:p>
          </p:txBody>
        </p:sp>
        <p:sp>
          <p:nvSpPr>
            <p:cNvPr id="84" name="object 84"/>
            <p:cNvSpPr/>
            <p:nvPr/>
          </p:nvSpPr>
          <p:spPr>
            <a:xfrm>
              <a:off x="1571572" y="2463012"/>
              <a:ext cx="562610" cy="1537970"/>
            </a:xfrm>
            <a:custGeom>
              <a:avLst/>
              <a:gdLst/>
              <a:ahLst/>
              <a:cxnLst/>
              <a:rect l="l" t="t" r="r" b="b"/>
              <a:pathLst>
                <a:path w="562610" h="1537970">
                  <a:moveTo>
                    <a:pt x="562602" y="1537714"/>
                  </a:moveTo>
                  <a:lnTo>
                    <a:pt x="0" y="0"/>
                  </a:lnTo>
                </a:path>
              </a:pathLst>
            </a:custGeom>
            <a:ln w="19899">
              <a:solidFill>
                <a:srgbClr val="FF0000"/>
              </a:solidFill>
            </a:ln>
          </p:spPr>
          <p:txBody>
            <a:bodyPr wrap="square" lIns="0" tIns="0" rIns="0" bIns="0" rtlCol="0"/>
            <a:lstStyle/>
            <a:p>
              <a:endParaRPr sz="1227"/>
            </a:p>
          </p:txBody>
        </p:sp>
        <p:sp>
          <p:nvSpPr>
            <p:cNvPr id="85" name="object 85"/>
            <p:cNvSpPr/>
            <p:nvPr/>
          </p:nvSpPr>
          <p:spPr>
            <a:xfrm>
              <a:off x="2134175" y="4000727"/>
              <a:ext cx="434340" cy="610235"/>
            </a:xfrm>
            <a:custGeom>
              <a:avLst/>
              <a:gdLst/>
              <a:ahLst/>
              <a:cxnLst/>
              <a:rect l="l" t="t" r="r" b="b"/>
              <a:pathLst>
                <a:path w="434339" h="610235">
                  <a:moveTo>
                    <a:pt x="434007" y="610192"/>
                  </a:moveTo>
                  <a:lnTo>
                    <a:pt x="0" y="0"/>
                  </a:lnTo>
                </a:path>
              </a:pathLst>
            </a:custGeom>
            <a:ln w="19894">
              <a:solidFill>
                <a:srgbClr val="FF0000"/>
              </a:solidFill>
            </a:ln>
          </p:spPr>
          <p:txBody>
            <a:bodyPr wrap="square" lIns="0" tIns="0" rIns="0" bIns="0" rtlCol="0"/>
            <a:lstStyle/>
            <a:p>
              <a:endParaRPr sz="1227"/>
            </a:p>
          </p:txBody>
        </p:sp>
        <p:sp>
          <p:nvSpPr>
            <p:cNvPr id="86" name="object 86"/>
            <p:cNvSpPr/>
            <p:nvPr/>
          </p:nvSpPr>
          <p:spPr>
            <a:xfrm>
              <a:off x="2568182" y="4610919"/>
              <a:ext cx="390525" cy="278130"/>
            </a:xfrm>
            <a:custGeom>
              <a:avLst/>
              <a:gdLst/>
              <a:ahLst/>
              <a:cxnLst/>
              <a:rect l="l" t="t" r="r" b="b"/>
              <a:pathLst>
                <a:path w="390525" h="278129">
                  <a:moveTo>
                    <a:pt x="390377" y="277568"/>
                  </a:moveTo>
                  <a:lnTo>
                    <a:pt x="0" y="0"/>
                  </a:lnTo>
                </a:path>
              </a:pathLst>
            </a:custGeom>
            <a:ln w="19887">
              <a:solidFill>
                <a:srgbClr val="FF0000"/>
              </a:solidFill>
            </a:ln>
          </p:spPr>
          <p:txBody>
            <a:bodyPr wrap="square" lIns="0" tIns="0" rIns="0" bIns="0" rtlCol="0"/>
            <a:lstStyle/>
            <a:p>
              <a:endParaRPr sz="1227"/>
            </a:p>
          </p:txBody>
        </p:sp>
        <p:sp>
          <p:nvSpPr>
            <p:cNvPr id="87" name="object 87"/>
            <p:cNvSpPr/>
            <p:nvPr/>
          </p:nvSpPr>
          <p:spPr>
            <a:xfrm>
              <a:off x="2958559" y="4888488"/>
              <a:ext cx="372110" cy="133350"/>
            </a:xfrm>
            <a:custGeom>
              <a:avLst/>
              <a:gdLst/>
              <a:ahLst/>
              <a:cxnLst/>
              <a:rect l="l" t="t" r="r" b="b"/>
              <a:pathLst>
                <a:path w="372110" h="133350">
                  <a:moveTo>
                    <a:pt x="372006" y="133049"/>
                  </a:moveTo>
                  <a:lnTo>
                    <a:pt x="0" y="0"/>
                  </a:lnTo>
                </a:path>
              </a:pathLst>
            </a:custGeom>
            <a:ln w="19883">
              <a:solidFill>
                <a:srgbClr val="FF0000"/>
              </a:solidFill>
            </a:ln>
          </p:spPr>
          <p:txBody>
            <a:bodyPr wrap="square" lIns="0" tIns="0" rIns="0" bIns="0" rtlCol="0"/>
            <a:lstStyle/>
            <a:p>
              <a:endParaRPr sz="1227"/>
            </a:p>
          </p:txBody>
        </p:sp>
        <p:sp>
          <p:nvSpPr>
            <p:cNvPr id="88" name="object 88"/>
            <p:cNvSpPr/>
            <p:nvPr/>
          </p:nvSpPr>
          <p:spPr>
            <a:xfrm>
              <a:off x="3330566" y="5021538"/>
              <a:ext cx="363855" cy="65405"/>
            </a:xfrm>
            <a:custGeom>
              <a:avLst/>
              <a:gdLst/>
              <a:ahLst/>
              <a:cxnLst/>
              <a:rect l="l" t="t" r="r" b="b"/>
              <a:pathLst>
                <a:path w="363854" h="65404">
                  <a:moveTo>
                    <a:pt x="363586" y="64995"/>
                  </a:moveTo>
                  <a:lnTo>
                    <a:pt x="0" y="0"/>
                  </a:lnTo>
                </a:path>
              </a:pathLst>
            </a:custGeom>
            <a:ln w="19881">
              <a:solidFill>
                <a:srgbClr val="FF0000"/>
              </a:solidFill>
            </a:ln>
          </p:spPr>
          <p:txBody>
            <a:bodyPr wrap="square" lIns="0" tIns="0" rIns="0" bIns="0" rtlCol="0"/>
            <a:lstStyle/>
            <a:p>
              <a:endParaRPr sz="1227"/>
            </a:p>
          </p:txBody>
        </p:sp>
        <p:sp>
          <p:nvSpPr>
            <p:cNvPr id="89" name="object 89"/>
            <p:cNvSpPr/>
            <p:nvPr/>
          </p:nvSpPr>
          <p:spPr>
            <a:xfrm>
              <a:off x="3694153" y="5086534"/>
              <a:ext cx="359410" cy="32384"/>
            </a:xfrm>
            <a:custGeom>
              <a:avLst/>
              <a:gdLst/>
              <a:ahLst/>
              <a:cxnLst/>
              <a:rect l="l" t="t" r="r" b="b"/>
              <a:pathLst>
                <a:path w="359410" h="32385">
                  <a:moveTo>
                    <a:pt x="358993" y="32115"/>
                  </a:moveTo>
                  <a:lnTo>
                    <a:pt x="0" y="0"/>
                  </a:lnTo>
                </a:path>
              </a:pathLst>
            </a:custGeom>
            <a:ln w="19881">
              <a:solidFill>
                <a:srgbClr val="FF0000"/>
              </a:solidFill>
            </a:ln>
          </p:spPr>
          <p:txBody>
            <a:bodyPr wrap="square" lIns="0" tIns="0" rIns="0" bIns="0" rtlCol="0"/>
            <a:lstStyle/>
            <a:p>
              <a:endParaRPr sz="1227"/>
            </a:p>
          </p:txBody>
        </p:sp>
        <p:sp>
          <p:nvSpPr>
            <p:cNvPr id="90" name="object 90"/>
            <p:cNvSpPr/>
            <p:nvPr/>
          </p:nvSpPr>
          <p:spPr>
            <a:xfrm>
              <a:off x="4053147" y="5118650"/>
              <a:ext cx="356870" cy="16510"/>
            </a:xfrm>
            <a:custGeom>
              <a:avLst/>
              <a:gdLst/>
              <a:ahLst/>
              <a:cxnLst/>
              <a:rect l="l" t="t" r="r" b="b"/>
              <a:pathLst>
                <a:path w="356870" h="16510">
                  <a:moveTo>
                    <a:pt x="356697" y="16057"/>
                  </a:moveTo>
                  <a:lnTo>
                    <a:pt x="0" y="0"/>
                  </a:lnTo>
                </a:path>
              </a:pathLst>
            </a:custGeom>
            <a:ln w="19880">
              <a:solidFill>
                <a:srgbClr val="FF0000"/>
              </a:solidFill>
            </a:ln>
          </p:spPr>
          <p:txBody>
            <a:bodyPr wrap="square" lIns="0" tIns="0" rIns="0" bIns="0" rtlCol="0"/>
            <a:lstStyle/>
            <a:p>
              <a:endParaRPr sz="1227"/>
            </a:p>
          </p:txBody>
        </p:sp>
        <p:sp>
          <p:nvSpPr>
            <p:cNvPr id="91" name="object 91"/>
            <p:cNvSpPr/>
            <p:nvPr/>
          </p:nvSpPr>
          <p:spPr>
            <a:xfrm>
              <a:off x="4409844" y="5134708"/>
              <a:ext cx="356870" cy="8890"/>
            </a:xfrm>
            <a:custGeom>
              <a:avLst/>
              <a:gdLst/>
              <a:ahLst/>
              <a:cxnLst/>
              <a:rect l="l" t="t" r="r" b="b"/>
              <a:pathLst>
                <a:path w="356870" h="8889">
                  <a:moveTo>
                    <a:pt x="356697" y="8411"/>
                  </a:moveTo>
                  <a:lnTo>
                    <a:pt x="0" y="0"/>
                  </a:lnTo>
                </a:path>
              </a:pathLst>
            </a:custGeom>
            <a:ln w="19880">
              <a:solidFill>
                <a:srgbClr val="FF0000"/>
              </a:solidFill>
            </a:ln>
          </p:spPr>
          <p:txBody>
            <a:bodyPr wrap="square" lIns="0" tIns="0" rIns="0" bIns="0" rtlCol="0"/>
            <a:lstStyle/>
            <a:p>
              <a:endParaRPr sz="1227"/>
            </a:p>
          </p:txBody>
        </p:sp>
        <p:pic>
          <p:nvPicPr>
            <p:cNvPr id="92" name="object 92"/>
            <p:cNvPicPr/>
            <p:nvPr/>
          </p:nvPicPr>
          <p:blipFill>
            <a:blip r:embed="rId2" cstate="print"/>
            <a:stretch>
              <a:fillRect/>
            </a:stretch>
          </p:blipFill>
          <p:spPr>
            <a:xfrm>
              <a:off x="1527178" y="2418664"/>
              <a:ext cx="88023" cy="87938"/>
            </a:xfrm>
            <a:prstGeom prst="rect">
              <a:avLst/>
            </a:prstGeom>
          </p:spPr>
        </p:pic>
        <p:pic>
          <p:nvPicPr>
            <p:cNvPr id="93" name="object 93"/>
            <p:cNvPicPr/>
            <p:nvPr/>
          </p:nvPicPr>
          <p:blipFill>
            <a:blip r:embed="rId2" cstate="print"/>
            <a:stretch>
              <a:fillRect/>
            </a:stretch>
          </p:blipFill>
          <p:spPr>
            <a:xfrm>
              <a:off x="2089780" y="3956379"/>
              <a:ext cx="88023" cy="87938"/>
            </a:xfrm>
            <a:prstGeom prst="rect">
              <a:avLst/>
            </a:prstGeom>
          </p:spPr>
        </p:pic>
        <p:pic>
          <p:nvPicPr>
            <p:cNvPr id="94" name="object 94"/>
            <p:cNvPicPr/>
            <p:nvPr/>
          </p:nvPicPr>
          <p:blipFill>
            <a:blip r:embed="rId2" cstate="print"/>
            <a:stretch>
              <a:fillRect/>
            </a:stretch>
          </p:blipFill>
          <p:spPr>
            <a:xfrm>
              <a:off x="2523788" y="4566571"/>
              <a:ext cx="88023" cy="87938"/>
            </a:xfrm>
            <a:prstGeom prst="rect">
              <a:avLst/>
            </a:prstGeom>
          </p:spPr>
        </p:pic>
        <p:pic>
          <p:nvPicPr>
            <p:cNvPr id="95" name="object 95"/>
            <p:cNvPicPr/>
            <p:nvPr/>
          </p:nvPicPr>
          <p:blipFill>
            <a:blip r:embed="rId3" cstate="print"/>
            <a:stretch>
              <a:fillRect/>
            </a:stretch>
          </p:blipFill>
          <p:spPr>
            <a:xfrm>
              <a:off x="2914165" y="4844140"/>
              <a:ext cx="88023" cy="87938"/>
            </a:xfrm>
            <a:prstGeom prst="rect">
              <a:avLst/>
            </a:prstGeom>
          </p:spPr>
        </p:pic>
        <p:pic>
          <p:nvPicPr>
            <p:cNvPr id="96" name="object 96"/>
            <p:cNvPicPr/>
            <p:nvPr/>
          </p:nvPicPr>
          <p:blipFill>
            <a:blip r:embed="rId3" cstate="print"/>
            <a:stretch>
              <a:fillRect/>
            </a:stretch>
          </p:blipFill>
          <p:spPr>
            <a:xfrm>
              <a:off x="3286172" y="4977190"/>
              <a:ext cx="88023" cy="87938"/>
            </a:xfrm>
            <a:prstGeom prst="rect">
              <a:avLst/>
            </a:prstGeom>
          </p:spPr>
        </p:pic>
        <p:pic>
          <p:nvPicPr>
            <p:cNvPr id="97" name="object 97"/>
            <p:cNvPicPr/>
            <p:nvPr/>
          </p:nvPicPr>
          <p:blipFill>
            <a:blip r:embed="rId4" cstate="print"/>
            <a:stretch>
              <a:fillRect/>
            </a:stretch>
          </p:blipFill>
          <p:spPr>
            <a:xfrm>
              <a:off x="3649758" y="5042186"/>
              <a:ext cx="88023" cy="87938"/>
            </a:xfrm>
            <a:prstGeom prst="rect">
              <a:avLst/>
            </a:prstGeom>
          </p:spPr>
        </p:pic>
        <p:pic>
          <p:nvPicPr>
            <p:cNvPr id="98" name="object 98"/>
            <p:cNvPicPr/>
            <p:nvPr/>
          </p:nvPicPr>
          <p:blipFill>
            <a:blip r:embed="rId3" cstate="print"/>
            <a:stretch>
              <a:fillRect/>
            </a:stretch>
          </p:blipFill>
          <p:spPr>
            <a:xfrm>
              <a:off x="4008752" y="5074301"/>
              <a:ext cx="88023" cy="87938"/>
            </a:xfrm>
            <a:prstGeom prst="rect">
              <a:avLst/>
            </a:prstGeom>
          </p:spPr>
        </p:pic>
        <p:pic>
          <p:nvPicPr>
            <p:cNvPr id="99" name="object 99"/>
            <p:cNvPicPr/>
            <p:nvPr/>
          </p:nvPicPr>
          <p:blipFill>
            <a:blip r:embed="rId2" cstate="print"/>
            <a:stretch>
              <a:fillRect/>
            </a:stretch>
          </p:blipFill>
          <p:spPr>
            <a:xfrm>
              <a:off x="4365450" y="5090360"/>
              <a:ext cx="88023" cy="87938"/>
            </a:xfrm>
            <a:prstGeom prst="rect">
              <a:avLst/>
            </a:prstGeom>
          </p:spPr>
        </p:pic>
        <p:pic>
          <p:nvPicPr>
            <p:cNvPr id="100" name="object 100"/>
            <p:cNvPicPr/>
            <p:nvPr/>
          </p:nvPicPr>
          <p:blipFill>
            <a:blip r:embed="rId2" cstate="print"/>
            <a:stretch>
              <a:fillRect/>
            </a:stretch>
          </p:blipFill>
          <p:spPr>
            <a:xfrm>
              <a:off x="4722147" y="5098771"/>
              <a:ext cx="88023" cy="87938"/>
            </a:xfrm>
            <a:prstGeom prst="rect">
              <a:avLst/>
            </a:prstGeom>
          </p:spPr>
        </p:pic>
        <p:sp>
          <p:nvSpPr>
            <p:cNvPr id="101" name="object 101"/>
            <p:cNvSpPr/>
            <p:nvPr/>
          </p:nvSpPr>
          <p:spPr>
            <a:xfrm>
              <a:off x="1570041" y="4262244"/>
              <a:ext cx="434340" cy="473709"/>
            </a:xfrm>
            <a:custGeom>
              <a:avLst/>
              <a:gdLst/>
              <a:ahLst/>
              <a:cxnLst/>
              <a:rect l="l" t="t" r="r" b="b"/>
              <a:pathLst>
                <a:path w="434339" h="473710">
                  <a:moveTo>
                    <a:pt x="434007" y="473319"/>
                  </a:moveTo>
                  <a:lnTo>
                    <a:pt x="0" y="0"/>
                  </a:lnTo>
                </a:path>
              </a:pathLst>
            </a:custGeom>
            <a:ln w="19892">
              <a:solidFill>
                <a:srgbClr val="0000FF"/>
              </a:solidFill>
            </a:ln>
          </p:spPr>
          <p:txBody>
            <a:bodyPr wrap="square" lIns="0" tIns="0" rIns="0" bIns="0" rtlCol="0"/>
            <a:lstStyle/>
            <a:p>
              <a:endParaRPr sz="1227"/>
            </a:p>
          </p:txBody>
        </p:sp>
        <p:sp>
          <p:nvSpPr>
            <p:cNvPr id="102" name="object 102"/>
            <p:cNvSpPr/>
            <p:nvPr/>
          </p:nvSpPr>
          <p:spPr>
            <a:xfrm>
              <a:off x="2004049" y="4735564"/>
              <a:ext cx="390525" cy="214629"/>
            </a:xfrm>
            <a:custGeom>
              <a:avLst/>
              <a:gdLst/>
              <a:ahLst/>
              <a:cxnLst/>
              <a:rect l="l" t="t" r="r" b="b"/>
              <a:pathLst>
                <a:path w="390525" h="214629">
                  <a:moveTo>
                    <a:pt x="390377" y="214102"/>
                  </a:moveTo>
                  <a:lnTo>
                    <a:pt x="0" y="0"/>
                  </a:lnTo>
                </a:path>
              </a:pathLst>
            </a:custGeom>
            <a:ln w="19885">
              <a:solidFill>
                <a:srgbClr val="0000FF"/>
              </a:solidFill>
            </a:ln>
          </p:spPr>
          <p:txBody>
            <a:bodyPr wrap="square" lIns="0" tIns="0" rIns="0" bIns="0" rtlCol="0"/>
            <a:lstStyle/>
            <a:p>
              <a:endParaRPr sz="1227"/>
            </a:p>
          </p:txBody>
        </p:sp>
        <p:sp>
          <p:nvSpPr>
            <p:cNvPr id="103" name="object 103"/>
            <p:cNvSpPr/>
            <p:nvPr/>
          </p:nvSpPr>
          <p:spPr>
            <a:xfrm>
              <a:off x="2394426" y="4949667"/>
              <a:ext cx="372110" cy="102870"/>
            </a:xfrm>
            <a:custGeom>
              <a:avLst/>
              <a:gdLst/>
              <a:ahLst/>
              <a:cxnLst/>
              <a:rect l="l" t="t" r="r" b="b"/>
              <a:pathLst>
                <a:path w="372110" h="102870">
                  <a:moveTo>
                    <a:pt x="372006" y="102463"/>
                  </a:moveTo>
                  <a:lnTo>
                    <a:pt x="0" y="0"/>
                  </a:lnTo>
                </a:path>
              </a:pathLst>
            </a:custGeom>
            <a:ln w="19882">
              <a:solidFill>
                <a:srgbClr val="0000FF"/>
              </a:solidFill>
            </a:ln>
          </p:spPr>
          <p:txBody>
            <a:bodyPr wrap="square" lIns="0" tIns="0" rIns="0" bIns="0" rtlCol="0"/>
            <a:lstStyle/>
            <a:p>
              <a:endParaRPr sz="1227"/>
            </a:p>
          </p:txBody>
        </p:sp>
        <p:sp>
          <p:nvSpPr>
            <p:cNvPr id="104" name="object 104"/>
            <p:cNvSpPr/>
            <p:nvPr/>
          </p:nvSpPr>
          <p:spPr>
            <a:xfrm>
              <a:off x="2766433" y="5052130"/>
              <a:ext cx="363220" cy="50165"/>
            </a:xfrm>
            <a:custGeom>
              <a:avLst/>
              <a:gdLst/>
              <a:ahLst/>
              <a:cxnLst/>
              <a:rect l="l" t="t" r="r" b="b"/>
              <a:pathLst>
                <a:path w="363219" h="50164">
                  <a:moveTo>
                    <a:pt x="362821" y="49702"/>
                  </a:moveTo>
                  <a:lnTo>
                    <a:pt x="0" y="0"/>
                  </a:lnTo>
                </a:path>
              </a:pathLst>
            </a:custGeom>
            <a:ln w="19881">
              <a:solidFill>
                <a:srgbClr val="0000FF"/>
              </a:solidFill>
            </a:ln>
          </p:spPr>
          <p:txBody>
            <a:bodyPr wrap="square" lIns="0" tIns="0" rIns="0" bIns="0" rtlCol="0"/>
            <a:lstStyle/>
            <a:p>
              <a:endParaRPr sz="1227"/>
            </a:p>
          </p:txBody>
        </p:sp>
        <p:sp>
          <p:nvSpPr>
            <p:cNvPr id="105" name="object 105"/>
            <p:cNvSpPr/>
            <p:nvPr/>
          </p:nvSpPr>
          <p:spPr>
            <a:xfrm>
              <a:off x="3129254" y="5101833"/>
              <a:ext cx="359410" cy="24765"/>
            </a:xfrm>
            <a:custGeom>
              <a:avLst/>
              <a:gdLst/>
              <a:ahLst/>
              <a:cxnLst/>
              <a:rect l="l" t="t" r="r" b="b"/>
              <a:pathLst>
                <a:path w="359410" h="24764">
                  <a:moveTo>
                    <a:pt x="358993" y="24468"/>
                  </a:moveTo>
                  <a:lnTo>
                    <a:pt x="0" y="0"/>
                  </a:lnTo>
                </a:path>
              </a:pathLst>
            </a:custGeom>
            <a:ln w="19881">
              <a:solidFill>
                <a:srgbClr val="0000FF"/>
              </a:solidFill>
            </a:ln>
          </p:spPr>
          <p:txBody>
            <a:bodyPr wrap="square" lIns="0" tIns="0" rIns="0" bIns="0" rtlCol="0"/>
            <a:lstStyle/>
            <a:p>
              <a:endParaRPr sz="1227"/>
            </a:p>
          </p:txBody>
        </p:sp>
        <p:sp>
          <p:nvSpPr>
            <p:cNvPr id="106" name="object 106"/>
            <p:cNvSpPr/>
            <p:nvPr/>
          </p:nvSpPr>
          <p:spPr>
            <a:xfrm>
              <a:off x="3488248" y="5126302"/>
              <a:ext cx="357505" cy="12700"/>
            </a:xfrm>
            <a:custGeom>
              <a:avLst/>
              <a:gdLst/>
              <a:ahLst/>
              <a:cxnLst/>
              <a:rect l="l" t="t" r="r" b="b"/>
              <a:pathLst>
                <a:path w="357504" h="12700">
                  <a:moveTo>
                    <a:pt x="357463" y="12234"/>
                  </a:moveTo>
                  <a:lnTo>
                    <a:pt x="0" y="0"/>
                  </a:lnTo>
                </a:path>
              </a:pathLst>
            </a:custGeom>
            <a:ln w="19880">
              <a:solidFill>
                <a:srgbClr val="0000FF"/>
              </a:solidFill>
            </a:ln>
          </p:spPr>
          <p:txBody>
            <a:bodyPr wrap="square" lIns="0" tIns="0" rIns="0" bIns="0" rtlCol="0"/>
            <a:lstStyle/>
            <a:p>
              <a:endParaRPr sz="1227"/>
            </a:p>
          </p:txBody>
        </p:sp>
        <p:sp>
          <p:nvSpPr>
            <p:cNvPr id="107" name="object 107"/>
            <p:cNvSpPr/>
            <p:nvPr/>
          </p:nvSpPr>
          <p:spPr>
            <a:xfrm>
              <a:off x="3845711" y="5138537"/>
              <a:ext cx="356235" cy="6350"/>
            </a:xfrm>
            <a:custGeom>
              <a:avLst/>
              <a:gdLst/>
              <a:ahLst/>
              <a:cxnLst/>
              <a:rect l="l" t="t" r="r" b="b"/>
              <a:pathLst>
                <a:path w="356235" h="6350">
                  <a:moveTo>
                    <a:pt x="355932" y="6117"/>
                  </a:moveTo>
                  <a:lnTo>
                    <a:pt x="0" y="0"/>
                  </a:lnTo>
                </a:path>
              </a:pathLst>
            </a:custGeom>
            <a:ln w="19880">
              <a:solidFill>
                <a:srgbClr val="0000FF"/>
              </a:solidFill>
            </a:ln>
          </p:spPr>
          <p:txBody>
            <a:bodyPr wrap="square" lIns="0" tIns="0" rIns="0" bIns="0" rtlCol="0"/>
            <a:lstStyle/>
            <a:p>
              <a:endParaRPr sz="1227"/>
            </a:p>
          </p:txBody>
        </p:sp>
        <p:sp>
          <p:nvSpPr>
            <p:cNvPr id="108" name="object 108"/>
            <p:cNvSpPr/>
            <p:nvPr/>
          </p:nvSpPr>
          <p:spPr>
            <a:xfrm>
              <a:off x="4201643" y="5144655"/>
              <a:ext cx="356235" cy="3175"/>
            </a:xfrm>
            <a:custGeom>
              <a:avLst/>
              <a:gdLst/>
              <a:ahLst/>
              <a:cxnLst/>
              <a:rect l="l" t="t" r="r" b="b"/>
              <a:pathLst>
                <a:path w="356235" h="3175">
                  <a:moveTo>
                    <a:pt x="355932" y="3058"/>
                  </a:moveTo>
                  <a:lnTo>
                    <a:pt x="0" y="0"/>
                  </a:lnTo>
                </a:path>
              </a:pathLst>
            </a:custGeom>
            <a:ln w="19880">
              <a:solidFill>
                <a:srgbClr val="0000FF"/>
              </a:solidFill>
            </a:ln>
          </p:spPr>
          <p:txBody>
            <a:bodyPr wrap="square" lIns="0" tIns="0" rIns="0" bIns="0" rtlCol="0"/>
            <a:lstStyle/>
            <a:p>
              <a:endParaRPr sz="1227"/>
            </a:p>
          </p:txBody>
        </p:sp>
        <p:sp>
          <p:nvSpPr>
            <p:cNvPr id="109" name="object 109"/>
            <p:cNvSpPr/>
            <p:nvPr/>
          </p:nvSpPr>
          <p:spPr>
            <a:xfrm>
              <a:off x="4557575" y="5147714"/>
              <a:ext cx="355600" cy="1905"/>
            </a:xfrm>
            <a:custGeom>
              <a:avLst/>
              <a:gdLst/>
              <a:ahLst/>
              <a:cxnLst/>
              <a:rect l="l" t="t" r="r" b="b"/>
              <a:pathLst>
                <a:path w="355600" h="1904">
                  <a:moveTo>
                    <a:pt x="355166" y="1529"/>
                  </a:moveTo>
                  <a:lnTo>
                    <a:pt x="0" y="0"/>
                  </a:lnTo>
                </a:path>
              </a:pathLst>
            </a:custGeom>
            <a:ln w="19880">
              <a:solidFill>
                <a:srgbClr val="0000FF"/>
              </a:solidFill>
            </a:ln>
          </p:spPr>
          <p:txBody>
            <a:bodyPr wrap="square" lIns="0" tIns="0" rIns="0" bIns="0" rtlCol="0"/>
            <a:lstStyle/>
            <a:p>
              <a:endParaRPr sz="1227"/>
            </a:p>
          </p:txBody>
        </p:sp>
        <p:pic>
          <p:nvPicPr>
            <p:cNvPr id="110" name="object 110"/>
            <p:cNvPicPr/>
            <p:nvPr/>
          </p:nvPicPr>
          <p:blipFill>
            <a:blip r:embed="rId5" cstate="print"/>
            <a:stretch>
              <a:fillRect/>
            </a:stretch>
          </p:blipFill>
          <p:spPr>
            <a:xfrm>
              <a:off x="1517227" y="4202603"/>
              <a:ext cx="104862" cy="90996"/>
            </a:xfrm>
            <a:prstGeom prst="rect">
              <a:avLst/>
            </a:prstGeom>
          </p:spPr>
        </p:pic>
        <p:pic>
          <p:nvPicPr>
            <p:cNvPr id="111" name="object 111"/>
            <p:cNvPicPr/>
            <p:nvPr/>
          </p:nvPicPr>
          <p:blipFill>
            <a:blip r:embed="rId6" cstate="print"/>
            <a:stretch>
              <a:fillRect/>
            </a:stretch>
          </p:blipFill>
          <p:spPr>
            <a:xfrm>
              <a:off x="1951235" y="4675923"/>
              <a:ext cx="104862" cy="90996"/>
            </a:xfrm>
            <a:prstGeom prst="rect">
              <a:avLst/>
            </a:prstGeom>
          </p:spPr>
        </p:pic>
        <p:pic>
          <p:nvPicPr>
            <p:cNvPr id="112" name="object 112"/>
            <p:cNvPicPr/>
            <p:nvPr/>
          </p:nvPicPr>
          <p:blipFill>
            <a:blip r:embed="rId6" cstate="print"/>
            <a:stretch>
              <a:fillRect/>
            </a:stretch>
          </p:blipFill>
          <p:spPr>
            <a:xfrm>
              <a:off x="2341612" y="4890026"/>
              <a:ext cx="104862" cy="90996"/>
            </a:xfrm>
            <a:prstGeom prst="rect">
              <a:avLst/>
            </a:prstGeom>
          </p:spPr>
        </p:pic>
        <p:pic>
          <p:nvPicPr>
            <p:cNvPr id="113" name="object 113"/>
            <p:cNvPicPr/>
            <p:nvPr/>
          </p:nvPicPr>
          <p:blipFill>
            <a:blip r:embed="rId6" cstate="print"/>
            <a:stretch>
              <a:fillRect/>
            </a:stretch>
          </p:blipFill>
          <p:spPr>
            <a:xfrm>
              <a:off x="2713619" y="4992490"/>
              <a:ext cx="104862" cy="90996"/>
            </a:xfrm>
            <a:prstGeom prst="rect">
              <a:avLst/>
            </a:prstGeom>
          </p:spPr>
        </p:pic>
        <p:pic>
          <p:nvPicPr>
            <p:cNvPr id="114" name="object 114"/>
            <p:cNvPicPr/>
            <p:nvPr/>
          </p:nvPicPr>
          <p:blipFill>
            <a:blip r:embed="rId6" cstate="print"/>
            <a:stretch>
              <a:fillRect/>
            </a:stretch>
          </p:blipFill>
          <p:spPr>
            <a:xfrm>
              <a:off x="3076440" y="5042193"/>
              <a:ext cx="104862" cy="90996"/>
            </a:xfrm>
            <a:prstGeom prst="rect">
              <a:avLst/>
            </a:prstGeom>
          </p:spPr>
        </p:pic>
        <p:pic>
          <p:nvPicPr>
            <p:cNvPr id="115" name="object 115"/>
            <p:cNvPicPr/>
            <p:nvPr/>
          </p:nvPicPr>
          <p:blipFill>
            <a:blip r:embed="rId6" cstate="print"/>
            <a:stretch>
              <a:fillRect/>
            </a:stretch>
          </p:blipFill>
          <p:spPr>
            <a:xfrm>
              <a:off x="3435434" y="5066662"/>
              <a:ext cx="104862" cy="90996"/>
            </a:xfrm>
            <a:prstGeom prst="rect">
              <a:avLst/>
            </a:prstGeom>
          </p:spPr>
        </p:pic>
        <p:pic>
          <p:nvPicPr>
            <p:cNvPr id="116" name="object 116"/>
            <p:cNvPicPr/>
            <p:nvPr/>
          </p:nvPicPr>
          <p:blipFill>
            <a:blip r:embed="rId5" cstate="print"/>
            <a:stretch>
              <a:fillRect/>
            </a:stretch>
          </p:blipFill>
          <p:spPr>
            <a:xfrm>
              <a:off x="3792897" y="5078896"/>
              <a:ext cx="104862" cy="90996"/>
            </a:xfrm>
            <a:prstGeom prst="rect">
              <a:avLst/>
            </a:prstGeom>
          </p:spPr>
        </p:pic>
        <p:pic>
          <p:nvPicPr>
            <p:cNvPr id="117" name="object 117"/>
            <p:cNvPicPr/>
            <p:nvPr/>
          </p:nvPicPr>
          <p:blipFill>
            <a:blip r:embed="rId6" cstate="print"/>
            <a:stretch>
              <a:fillRect/>
            </a:stretch>
          </p:blipFill>
          <p:spPr>
            <a:xfrm>
              <a:off x="4148829" y="5085014"/>
              <a:ext cx="104862" cy="90996"/>
            </a:xfrm>
            <a:prstGeom prst="rect">
              <a:avLst/>
            </a:prstGeom>
          </p:spPr>
        </p:pic>
        <p:pic>
          <p:nvPicPr>
            <p:cNvPr id="118" name="object 118"/>
            <p:cNvPicPr/>
            <p:nvPr/>
          </p:nvPicPr>
          <p:blipFill>
            <a:blip r:embed="rId6" cstate="print"/>
            <a:stretch>
              <a:fillRect/>
            </a:stretch>
          </p:blipFill>
          <p:spPr>
            <a:xfrm>
              <a:off x="4504761" y="5088073"/>
              <a:ext cx="104862" cy="90996"/>
            </a:xfrm>
            <a:prstGeom prst="rect">
              <a:avLst/>
            </a:prstGeom>
          </p:spPr>
        </p:pic>
        <p:pic>
          <p:nvPicPr>
            <p:cNvPr id="119" name="object 119"/>
            <p:cNvPicPr/>
            <p:nvPr/>
          </p:nvPicPr>
          <p:blipFill>
            <a:blip r:embed="rId6" cstate="print"/>
            <a:stretch>
              <a:fillRect/>
            </a:stretch>
          </p:blipFill>
          <p:spPr>
            <a:xfrm>
              <a:off x="4859928" y="5089603"/>
              <a:ext cx="104862" cy="90996"/>
            </a:xfrm>
            <a:prstGeom prst="rect">
              <a:avLst/>
            </a:prstGeom>
          </p:spPr>
        </p:pic>
      </p:grpSp>
      <p:sp>
        <p:nvSpPr>
          <p:cNvPr id="120" name="object 120"/>
          <p:cNvSpPr txBox="1"/>
          <p:nvPr/>
        </p:nvSpPr>
        <p:spPr>
          <a:xfrm>
            <a:off x="2678985" y="3059389"/>
            <a:ext cx="160626" cy="198015"/>
          </a:xfrm>
          <a:prstGeom prst="rect">
            <a:avLst/>
          </a:prstGeom>
        </p:spPr>
        <p:txBody>
          <a:bodyPr vert="horz" wrap="square" lIns="0" tIns="9092" rIns="0" bIns="0" rtlCol="0">
            <a:spAutoFit/>
          </a:bodyPr>
          <a:lstStyle/>
          <a:p>
            <a:pPr marL="8659">
              <a:spcBef>
                <a:spcPts val="72"/>
              </a:spcBef>
            </a:pPr>
            <a:r>
              <a:rPr sz="1227" b="1" spc="-106" dirty="0">
                <a:latin typeface="Arial"/>
                <a:cs typeface="Arial"/>
              </a:rPr>
              <a:t>10</a:t>
            </a:r>
            <a:endParaRPr sz="1227">
              <a:latin typeface="Arial"/>
              <a:cs typeface="Arial"/>
            </a:endParaRPr>
          </a:p>
        </p:txBody>
      </p:sp>
      <p:sp>
        <p:nvSpPr>
          <p:cNvPr id="121" name="object 121"/>
          <p:cNvSpPr txBox="1"/>
          <p:nvPr/>
        </p:nvSpPr>
        <p:spPr>
          <a:xfrm>
            <a:off x="2678985" y="2705913"/>
            <a:ext cx="160626" cy="198015"/>
          </a:xfrm>
          <a:prstGeom prst="rect">
            <a:avLst/>
          </a:prstGeom>
        </p:spPr>
        <p:txBody>
          <a:bodyPr vert="horz" wrap="square" lIns="0" tIns="9092" rIns="0" bIns="0" rtlCol="0">
            <a:spAutoFit/>
          </a:bodyPr>
          <a:lstStyle/>
          <a:p>
            <a:pPr marL="8659">
              <a:spcBef>
                <a:spcPts val="72"/>
              </a:spcBef>
            </a:pPr>
            <a:r>
              <a:rPr sz="1227" b="1" spc="-106" dirty="0">
                <a:latin typeface="Arial"/>
                <a:cs typeface="Arial"/>
              </a:rPr>
              <a:t>15</a:t>
            </a:r>
            <a:endParaRPr sz="1227">
              <a:latin typeface="Arial"/>
              <a:cs typeface="Arial"/>
            </a:endParaRPr>
          </a:p>
        </p:txBody>
      </p:sp>
      <p:sp>
        <p:nvSpPr>
          <p:cNvPr id="122" name="object 122"/>
          <p:cNvSpPr txBox="1"/>
          <p:nvPr/>
        </p:nvSpPr>
        <p:spPr>
          <a:xfrm>
            <a:off x="2678985" y="2352436"/>
            <a:ext cx="160626" cy="198015"/>
          </a:xfrm>
          <a:prstGeom prst="rect">
            <a:avLst/>
          </a:prstGeom>
        </p:spPr>
        <p:txBody>
          <a:bodyPr vert="horz" wrap="square" lIns="0" tIns="9092" rIns="0" bIns="0" rtlCol="0">
            <a:spAutoFit/>
          </a:bodyPr>
          <a:lstStyle/>
          <a:p>
            <a:pPr marL="8659">
              <a:spcBef>
                <a:spcPts val="72"/>
              </a:spcBef>
            </a:pPr>
            <a:r>
              <a:rPr sz="1227" b="1" spc="-106" dirty="0">
                <a:latin typeface="Arial"/>
                <a:cs typeface="Arial"/>
              </a:rPr>
              <a:t>20</a:t>
            </a:r>
            <a:endParaRPr sz="1227">
              <a:latin typeface="Arial"/>
              <a:cs typeface="Arial"/>
            </a:endParaRPr>
          </a:p>
        </p:txBody>
      </p:sp>
      <p:sp>
        <p:nvSpPr>
          <p:cNvPr id="123" name="object 123"/>
          <p:cNvSpPr txBox="1"/>
          <p:nvPr/>
        </p:nvSpPr>
        <p:spPr>
          <a:xfrm>
            <a:off x="2678985" y="1998959"/>
            <a:ext cx="160626" cy="198015"/>
          </a:xfrm>
          <a:prstGeom prst="rect">
            <a:avLst/>
          </a:prstGeom>
        </p:spPr>
        <p:txBody>
          <a:bodyPr vert="horz" wrap="square" lIns="0" tIns="9092" rIns="0" bIns="0" rtlCol="0">
            <a:spAutoFit/>
          </a:bodyPr>
          <a:lstStyle/>
          <a:p>
            <a:pPr marL="8659">
              <a:spcBef>
                <a:spcPts val="72"/>
              </a:spcBef>
            </a:pPr>
            <a:r>
              <a:rPr sz="1227" b="1" spc="-106" dirty="0">
                <a:latin typeface="Arial"/>
                <a:cs typeface="Arial"/>
              </a:rPr>
              <a:t>25</a:t>
            </a:r>
            <a:endParaRPr sz="1227">
              <a:latin typeface="Arial"/>
              <a:cs typeface="Arial"/>
            </a:endParaRPr>
          </a:p>
        </p:txBody>
      </p:sp>
      <p:sp>
        <p:nvSpPr>
          <p:cNvPr id="124" name="object 124"/>
          <p:cNvSpPr txBox="1"/>
          <p:nvPr/>
        </p:nvSpPr>
        <p:spPr>
          <a:xfrm>
            <a:off x="2975293" y="2143866"/>
            <a:ext cx="251114" cy="156144"/>
          </a:xfrm>
          <a:prstGeom prst="rect">
            <a:avLst/>
          </a:prstGeom>
        </p:spPr>
        <p:txBody>
          <a:bodyPr vert="horz" wrap="square" lIns="0" tIns="9092" rIns="0" bIns="0" rtlCol="0">
            <a:spAutoFit/>
          </a:bodyPr>
          <a:lstStyle/>
          <a:p>
            <a:pPr marL="8659">
              <a:spcBef>
                <a:spcPts val="72"/>
              </a:spcBef>
            </a:pPr>
            <a:r>
              <a:rPr sz="955" b="1" spc="-68" dirty="0">
                <a:solidFill>
                  <a:srgbClr val="FF0000"/>
                </a:solidFill>
                <a:latin typeface="Arial"/>
                <a:cs typeface="Arial"/>
              </a:rPr>
              <a:t>80</a:t>
            </a:r>
            <a:r>
              <a:rPr sz="955" spc="-68" dirty="0">
                <a:solidFill>
                  <a:srgbClr val="FF0000"/>
                </a:solidFill>
                <a:latin typeface="Symbol"/>
                <a:cs typeface="Symbol"/>
              </a:rPr>
              <a:t></a:t>
            </a:r>
            <a:r>
              <a:rPr sz="955" b="1" spc="-68" dirty="0">
                <a:solidFill>
                  <a:srgbClr val="FF0000"/>
                </a:solidFill>
                <a:latin typeface="Arial"/>
                <a:cs typeface="Arial"/>
              </a:rPr>
              <a:t>C</a:t>
            </a:r>
            <a:endParaRPr sz="955">
              <a:latin typeface="Arial"/>
              <a:cs typeface="Arial"/>
            </a:endParaRPr>
          </a:p>
        </p:txBody>
      </p:sp>
      <p:sp>
        <p:nvSpPr>
          <p:cNvPr id="125" name="object 125"/>
          <p:cNvSpPr txBox="1"/>
          <p:nvPr/>
        </p:nvSpPr>
        <p:spPr>
          <a:xfrm>
            <a:off x="2438984" y="3043673"/>
            <a:ext cx="384721" cy="312160"/>
          </a:xfrm>
          <a:prstGeom prst="rect">
            <a:avLst/>
          </a:prstGeom>
        </p:spPr>
        <p:txBody>
          <a:bodyPr vert="vert270" wrap="square" lIns="0" tIns="54119" rIns="0" bIns="0" rtlCol="0">
            <a:spAutoFit/>
          </a:bodyPr>
          <a:lstStyle/>
          <a:p>
            <a:pPr marL="8659">
              <a:lnSpc>
                <a:spcPts val="1452"/>
              </a:lnSpc>
              <a:spcBef>
                <a:spcPts val="426"/>
              </a:spcBef>
            </a:pPr>
            <a:r>
              <a:rPr sz="1841" b="1" spc="-87" baseline="20061" dirty="0">
                <a:latin typeface="Arial"/>
                <a:cs typeface="Arial"/>
              </a:rPr>
              <a:t>V</a:t>
            </a:r>
            <a:r>
              <a:rPr sz="716" b="1" spc="-58" dirty="0">
                <a:latin typeface="Arial"/>
                <a:cs typeface="Arial"/>
              </a:rPr>
              <a:t>ripple</a:t>
            </a:r>
            <a:endParaRPr sz="716">
              <a:latin typeface="Arial"/>
              <a:cs typeface="Arial"/>
            </a:endParaRPr>
          </a:p>
        </p:txBody>
      </p:sp>
      <p:sp>
        <p:nvSpPr>
          <p:cNvPr id="126" name="object 126"/>
          <p:cNvSpPr txBox="1"/>
          <p:nvPr/>
        </p:nvSpPr>
        <p:spPr>
          <a:xfrm>
            <a:off x="2438984" y="2723107"/>
            <a:ext cx="192360" cy="302635"/>
          </a:xfrm>
          <a:prstGeom prst="rect">
            <a:avLst/>
          </a:prstGeom>
        </p:spPr>
        <p:txBody>
          <a:bodyPr vert="vert270" wrap="square" lIns="0" tIns="0" rIns="0" bIns="0" rtlCol="0">
            <a:spAutoFit/>
          </a:bodyPr>
          <a:lstStyle/>
          <a:p>
            <a:pPr marL="8659">
              <a:lnSpc>
                <a:spcPts val="1466"/>
              </a:lnSpc>
            </a:pPr>
            <a:r>
              <a:rPr sz="1227" b="1" spc="-116" dirty="0">
                <a:latin typeface="Arial"/>
                <a:cs typeface="Arial"/>
              </a:rPr>
              <a:t>[mV]</a:t>
            </a:r>
            <a:endParaRPr sz="1227">
              <a:latin typeface="Arial"/>
              <a:cs typeface="Arial"/>
            </a:endParaRPr>
          </a:p>
        </p:txBody>
      </p:sp>
      <p:sp>
        <p:nvSpPr>
          <p:cNvPr id="127" name="object 127"/>
          <p:cNvSpPr txBox="1"/>
          <p:nvPr/>
        </p:nvSpPr>
        <p:spPr>
          <a:xfrm>
            <a:off x="3634469" y="2457716"/>
            <a:ext cx="1614055" cy="145937"/>
          </a:xfrm>
          <a:prstGeom prst="rect">
            <a:avLst/>
          </a:prstGeom>
        </p:spPr>
        <p:txBody>
          <a:bodyPr vert="horz" wrap="square" lIns="0" tIns="9525" rIns="0" bIns="0" rtlCol="0">
            <a:spAutoFit/>
          </a:bodyPr>
          <a:lstStyle/>
          <a:p>
            <a:pPr marL="8659">
              <a:spcBef>
                <a:spcPts val="75"/>
              </a:spcBef>
            </a:pPr>
            <a:r>
              <a:rPr sz="886" spc="-58" dirty="0">
                <a:latin typeface="Symbol"/>
                <a:cs typeface="Symbol"/>
              </a:rPr>
              <a:t></a:t>
            </a:r>
            <a:r>
              <a:rPr sz="886" b="1" spc="-58" dirty="0">
                <a:latin typeface="Arial"/>
                <a:cs typeface="Arial"/>
              </a:rPr>
              <a:t>=1,</a:t>
            </a:r>
            <a:r>
              <a:rPr sz="886" b="1" spc="-17" dirty="0">
                <a:latin typeface="Arial"/>
                <a:cs typeface="Arial"/>
              </a:rPr>
              <a:t> </a:t>
            </a:r>
            <a:r>
              <a:rPr sz="886" b="1" spc="-85" dirty="0">
                <a:latin typeface="Arial"/>
                <a:cs typeface="Arial"/>
              </a:rPr>
              <a:t>I</a:t>
            </a:r>
            <a:r>
              <a:rPr sz="614" b="1" spc="-85" dirty="0">
                <a:latin typeface="Arial"/>
                <a:cs typeface="Arial"/>
              </a:rPr>
              <a:t>U</a:t>
            </a:r>
            <a:r>
              <a:rPr sz="886" b="1" spc="-85" dirty="0">
                <a:latin typeface="Arial"/>
                <a:cs typeface="Arial"/>
              </a:rPr>
              <a:t>=6nA,</a:t>
            </a:r>
            <a:r>
              <a:rPr sz="886" b="1" spc="-17" dirty="0">
                <a:latin typeface="Arial"/>
                <a:cs typeface="Arial"/>
              </a:rPr>
              <a:t> </a:t>
            </a:r>
            <a:r>
              <a:rPr sz="886" b="1" spc="-85" dirty="0">
                <a:latin typeface="Arial"/>
                <a:cs typeface="Arial"/>
              </a:rPr>
              <a:t>11-</a:t>
            </a:r>
            <a:r>
              <a:rPr sz="886" b="1" spc="-72" dirty="0">
                <a:latin typeface="Arial"/>
                <a:cs typeface="Arial"/>
              </a:rPr>
              <a:t>bit</a:t>
            </a:r>
            <a:r>
              <a:rPr sz="886" b="1" spc="-17" dirty="0">
                <a:latin typeface="Arial"/>
                <a:cs typeface="Arial"/>
              </a:rPr>
              <a:t> </a:t>
            </a:r>
            <a:r>
              <a:rPr sz="886" b="1" spc="-95" dirty="0">
                <a:latin typeface="Arial"/>
                <a:cs typeface="Arial"/>
              </a:rPr>
              <a:t>power-</a:t>
            </a:r>
            <a:r>
              <a:rPr sz="886" b="1" spc="-109" dirty="0">
                <a:latin typeface="Arial"/>
                <a:cs typeface="Arial"/>
              </a:rPr>
              <a:t>FET</a:t>
            </a:r>
            <a:r>
              <a:rPr sz="886" b="1" spc="-20" dirty="0">
                <a:latin typeface="Arial"/>
                <a:cs typeface="Arial"/>
              </a:rPr>
              <a:t> </a:t>
            </a:r>
            <a:r>
              <a:rPr sz="886" b="1" spc="-48" dirty="0">
                <a:latin typeface="Arial"/>
                <a:cs typeface="Arial"/>
              </a:rPr>
              <a:t>array</a:t>
            </a:r>
            <a:endParaRPr sz="886">
              <a:latin typeface="Arial"/>
              <a:cs typeface="Arial"/>
            </a:endParaRPr>
          </a:p>
        </p:txBody>
      </p:sp>
      <p:sp>
        <p:nvSpPr>
          <p:cNvPr id="128" name="object 128"/>
          <p:cNvSpPr txBox="1"/>
          <p:nvPr/>
        </p:nvSpPr>
        <p:spPr>
          <a:xfrm>
            <a:off x="2930434" y="1746319"/>
            <a:ext cx="974581" cy="303824"/>
          </a:xfrm>
          <a:prstGeom prst="rect">
            <a:avLst/>
          </a:prstGeom>
        </p:spPr>
        <p:txBody>
          <a:bodyPr vert="horz" wrap="square" lIns="0" tIns="18184" rIns="0" bIns="0" rtlCol="0">
            <a:spAutoFit/>
          </a:bodyPr>
          <a:lstStyle/>
          <a:p>
            <a:pPr marL="8659">
              <a:spcBef>
                <a:spcPts val="143"/>
              </a:spcBef>
            </a:pPr>
            <a:r>
              <a:rPr sz="886" b="1" spc="-27" dirty="0">
                <a:latin typeface="Arial"/>
                <a:cs typeface="Arial"/>
              </a:rPr>
              <a:t>*Simulation</a:t>
            </a:r>
            <a:endParaRPr sz="886">
              <a:latin typeface="Arial"/>
              <a:cs typeface="Arial"/>
            </a:endParaRPr>
          </a:p>
          <a:p>
            <a:pPr marL="35934">
              <a:spcBef>
                <a:spcPts val="82"/>
              </a:spcBef>
            </a:pPr>
            <a:r>
              <a:rPr sz="886" b="1" spc="-82" dirty="0">
                <a:latin typeface="Arial"/>
                <a:cs typeface="Arial"/>
              </a:rPr>
              <a:t>V</a:t>
            </a:r>
            <a:r>
              <a:rPr sz="614" b="1" spc="-82" dirty="0">
                <a:latin typeface="Arial"/>
                <a:cs typeface="Arial"/>
              </a:rPr>
              <a:t>in</a:t>
            </a:r>
            <a:r>
              <a:rPr sz="886" b="1" spc="-82" dirty="0">
                <a:latin typeface="Arial"/>
                <a:cs typeface="Arial"/>
              </a:rPr>
              <a:t>=0.55V,</a:t>
            </a:r>
            <a:r>
              <a:rPr sz="886" b="1" spc="-3" dirty="0">
                <a:latin typeface="Arial"/>
                <a:cs typeface="Arial"/>
              </a:rPr>
              <a:t> </a:t>
            </a:r>
            <a:r>
              <a:rPr sz="886" b="1" spc="-72" dirty="0">
                <a:latin typeface="Arial"/>
                <a:cs typeface="Arial"/>
              </a:rPr>
              <a:t>V</a:t>
            </a:r>
            <a:r>
              <a:rPr sz="614" b="1" spc="-72" dirty="0">
                <a:latin typeface="Arial"/>
                <a:cs typeface="Arial"/>
              </a:rPr>
              <a:t>out</a:t>
            </a:r>
            <a:r>
              <a:rPr sz="886" b="1" spc="-72" dirty="0">
                <a:latin typeface="Arial"/>
                <a:cs typeface="Arial"/>
              </a:rPr>
              <a:t>=0.45V</a:t>
            </a:r>
            <a:endParaRPr sz="886">
              <a:latin typeface="Arial"/>
              <a:cs typeface="Arial"/>
            </a:endParaRPr>
          </a:p>
        </p:txBody>
      </p:sp>
      <p:sp>
        <p:nvSpPr>
          <p:cNvPr id="129" name="object 129"/>
          <p:cNvSpPr txBox="1"/>
          <p:nvPr/>
        </p:nvSpPr>
        <p:spPr>
          <a:xfrm>
            <a:off x="2965923" y="2961865"/>
            <a:ext cx="251114" cy="156144"/>
          </a:xfrm>
          <a:prstGeom prst="rect">
            <a:avLst/>
          </a:prstGeom>
        </p:spPr>
        <p:txBody>
          <a:bodyPr vert="horz" wrap="square" lIns="0" tIns="9092" rIns="0" bIns="0" rtlCol="0">
            <a:spAutoFit/>
          </a:bodyPr>
          <a:lstStyle/>
          <a:p>
            <a:pPr marL="8659">
              <a:spcBef>
                <a:spcPts val="72"/>
              </a:spcBef>
            </a:pPr>
            <a:r>
              <a:rPr sz="955" b="1" spc="-68" dirty="0">
                <a:latin typeface="Arial"/>
                <a:cs typeface="Arial"/>
              </a:rPr>
              <a:t>24</a:t>
            </a:r>
            <a:r>
              <a:rPr sz="955" spc="-68" dirty="0">
                <a:latin typeface="Symbol"/>
                <a:cs typeface="Symbol"/>
              </a:rPr>
              <a:t></a:t>
            </a:r>
            <a:r>
              <a:rPr sz="955" b="1" spc="-68" dirty="0">
                <a:latin typeface="Arial"/>
                <a:cs typeface="Arial"/>
              </a:rPr>
              <a:t>C</a:t>
            </a:r>
            <a:endParaRPr sz="955">
              <a:latin typeface="Arial"/>
              <a:cs typeface="Arial"/>
            </a:endParaRPr>
          </a:p>
        </p:txBody>
      </p:sp>
      <p:sp>
        <p:nvSpPr>
          <p:cNvPr id="130" name="object 130"/>
          <p:cNvSpPr txBox="1"/>
          <p:nvPr/>
        </p:nvSpPr>
        <p:spPr>
          <a:xfrm>
            <a:off x="2733218" y="3412866"/>
            <a:ext cx="2730211" cy="1078320"/>
          </a:xfrm>
          <a:prstGeom prst="rect">
            <a:avLst/>
          </a:prstGeom>
        </p:spPr>
        <p:txBody>
          <a:bodyPr vert="horz" wrap="square" lIns="0" tIns="9092" rIns="0" bIns="0" rtlCol="0">
            <a:spAutoFit/>
          </a:bodyPr>
          <a:lstStyle/>
          <a:p>
            <a:pPr marL="25977">
              <a:lnSpc>
                <a:spcPts val="1445"/>
              </a:lnSpc>
              <a:spcBef>
                <a:spcPts val="72"/>
              </a:spcBef>
            </a:pPr>
            <a:r>
              <a:rPr sz="1227" b="1" spc="-34" dirty="0">
                <a:latin typeface="Arial"/>
                <a:cs typeface="Arial"/>
              </a:rPr>
              <a:t>5</a:t>
            </a:r>
            <a:endParaRPr sz="1227">
              <a:latin typeface="Arial"/>
              <a:cs typeface="Arial"/>
            </a:endParaRPr>
          </a:p>
          <a:p>
            <a:pPr marL="240716">
              <a:lnSpc>
                <a:spcPts val="1117"/>
              </a:lnSpc>
            </a:pPr>
            <a:r>
              <a:rPr sz="955" b="1" spc="-17" dirty="0">
                <a:solidFill>
                  <a:srgbClr val="0000FF"/>
                </a:solidFill>
                <a:latin typeface="Arial"/>
                <a:cs typeface="Arial"/>
              </a:rPr>
              <a:t>0</a:t>
            </a:r>
            <a:r>
              <a:rPr sz="955" spc="-17" dirty="0">
                <a:solidFill>
                  <a:srgbClr val="0000FF"/>
                </a:solidFill>
                <a:latin typeface="Symbol"/>
                <a:cs typeface="Symbol"/>
              </a:rPr>
              <a:t></a:t>
            </a:r>
            <a:r>
              <a:rPr sz="955" b="1" spc="-17" dirty="0">
                <a:solidFill>
                  <a:srgbClr val="0000FF"/>
                </a:solidFill>
                <a:latin typeface="Arial"/>
                <a:cs typeface="Arial"/>
              </a:rPr>
              <a:t>C</a:t>
            </a:r>
            <a:endParaRPr sz="955">
              <a:latin typeface="Arial"/>
              <a:cs typeface="Arial"/>
            </a:endParaRPr>
          </a:p>
          <a:p>
            <a:pPr marL="25977">
              <a:lnSpc>
                <a:spcPts val="1285"/>
              </a:lnSpc>
              <a:spcBef>
                <a:spcPts val="218"/>
              </a:spcBef>
            </a:pPr>
            <a:r>
              <a:rPr sz="1227" b="1" spc="-34" dirty="0">
                <a:latin typeface="Arial"/>
                <a:cs typeface="Arial"/>
              </a:rPr>
              <a:t>0</a:t>
            </a:r>
            <a:endParaRPr sz="1227">
              <a:latin typeface="Arial"/>
              <a:cs typeface="Arial"/>
            </a:endParaRPr>
          </a:p>
          <a:p>
            <a:pPr marL="790987">
              <a:lnSpc>
                <a:spcPts val="1091"/>
              </a:lnSpc>
              <a:tabLst>
                <a:tab pos="1542143" algn="l"/>
                <a:tab pos="2310617" algn="l"/>
              </a:tabLst>
            </a:pPr>
            <a:r>
              <a:rPr sz="1227" b="1" spc="-17" dirty="0">
                <a:latin typeface="Arial"/>
                <a:cs typeface="Arial"/>
              </a:rPr>
              <a:t>100</a:t>
            </a:r>
            <a:r>
              <a:rPr sz="1227" b="1" dirty="0">
                <a:latin typeface="Arial"/>
                <a:cs typeface="Arial"/>
              </a:rPr>
              <a:t>	</a:t>
            </a:r>
            <a:r>
              <a:rPr sz="1227" b="1" spc="-7" dirty="0">
                <a:latin typeface="Arial"/>
                <a:cs typeface="Arial"/>
              </a:rPr>
              <a:t>1,000</a:t>
            </a:r>
            <a:r>
              <a:rPr sz="1227" b="1" dirty="0">
                <a:latin typeface="Arial"/>
                <a:cs typeface="Arial"/>
              </a:rPr>
              <a:t>	</a:t>
            </a:r>
            <a:r>
              <a:rPr sz="1227" b="1" spc="-85" dirty="0">
                <a:latin typeface="Arial"/>
                <a:cs typeface="Arial"/>
              </a:rPr>
              <a:t>10,000</a:t>
            </a:r>
            <a:endParaRPr sz="1227">
              <a:latin typeface="Arial"/>
              <a:cs typeface="Arial"/>
            </a:endParaRPr>
          </a:p>
          <a:p>
            <a:pPr marR="58880" algn="ctr">
              <a:lnSpc>
                <a:spcPts val="1278"/>
              </a:lnSpc>
            </a:pPr>
            <a:r>
              <a:rPr sz="1227" b="1" spc="-44" dirty="0">
                <a:latin typeface="Arial"/>
                <a:cs typeface="Arial"/>
              </a:rPr>
              <a:t>I</a:t>
            </a:r>
            <a:r>
              <a:rPr sz="1074" b="1" spc="-66" baseline="-34391" dirty="0">
                <a:latin typeface="Arial"/>
                <a:cs typeface="Arial"/>
              </a:rPr>
              <a:t>load</a:t>
            </a:r>
            <a:r>
              <a:rPr sz="1074" b="1" spc="5" baseline="-34391" dirty="0">
                <a:latin typeface="Arial"/>
                <a:cs typeface="Arial"/>
              </a:rPr>
              <a:t> </a:t>
            </a:r>
            <a:r>
              <a:rPr sz="1227" b="1" spc="-14" dirty="0">
                <a:latin typeface="Arial"/>
                <a:cs typeface="Arial"/>
              </a:rPr>
              <a:t>[nA]</a:t>
            </a:r>
            <a:endParaRPr sz="1227">
              <a:latin typeface="Arial"/>
              <a:cs typeface="Arial"/>
            </a:endParaRPr>
          </a:p>
          <a:p>
            <a:pPr marL="125553">
              <a:spcBef>
                <a:spcPts val="320"/>
              </a:spcBef>
            </a:pPr>
            <a:r>
              <a:rPr sz="1364" dirty="0">
                <a:latin typeface="Verdana"/>
                <a:cs typeface="Verdana"/>
              </a:rPr>
              <a:t>Source:</a:t>
            </a:r>
            <a:r>
              <a:rPr sz="1364" spc="-44" dirty="0">
                <a:latin typeface="Verdana"/>
                <a:cs typeface="Verdana"/>
              </a:rPr>
              <a:t> </a:t>
            </a:r>
            <a:r>
              <a:rPr sz="1364" dirty="0">
                <a:latin typeface="Verdana"/>
                <a:cs typeface="Verdana"/>
              </a:rPr>
              <a:t>S.J.</a:t>
            </a:r>
            <a:r>
              <a:rPr sz="1364" spc="-41" dirty="0">
                <a:latin typeface="Verdana"/>
                <a:cs typeface="Verdana"/>
              </a:rPr>
              <a:t> </a:t>
            </a:r>
            <a:r>
              <a:rPr sz="1364" dirty="0">
                <a:latin typeface="Verdana"/>
                <a:cs typeface="Verdana"/>
              </a:rPr>
              <a:t>Kim</a:t>
            </a:r>
            <a:r>
              <a:rPr sz="1364" spc="-31" dirty="0">
                <a:latin typeface="Verdana"/>
                <a:cs typeface="Verdana"/>
              </a:rPr>
              <a:t> </a:t>
            </a:r>
            <a:r>
              <a:rPr sz="1364" spc="-7" dirty="0">
                <a:latin typeface="Verdana"/>
                <a:cs typeface="Verdana"/>
              </a:rPr>
              <a:t>(Columbia)</a:t>
            </a:r>
            <a:endParaRPr sz="1364">
              <a:latin typeface="Verdana"/>
              <a:cs typeface="Verdana"/>
            </a:endParaRPr>
          </a:p>
        </p:txBody>
      </p:sp>
      <p:sp>
        <p:nvSpPr>
          <p:cNvPr id="131" name="object 131"/>
          <p:cNvSpPr/>
          <p:nvPr/>
        </p:nvSpPr>
        <p:spPr>
          <a:xfrm>
            <a:off x="3900343" y="1214755"/>
            <a:ext cx="4156364" cy="485342"/>
          </a:xfrm>
          <a:custGeom>
            <a:avLst/>
            <a:gdLst/>
            <a:ahLst/>
            <a:cxnLst/>
            <a:rect l="l" t="t" r="r" b="b"/>
            <a:pathLst>
              <a:path w="6096000" h="711835">
                <a:moveTo>
                  <a:pt x="6096000" y="711708"/>
                </a:moveTo>
                <a:lnTo>
                  <a:pt x="0" y="711708"/>
                </a:lnTo>
                <a:lnTo>
                  <a:pt x="0" y="0"/>
                </a:lnTo>
                <a:lnTo>
                  <a:pt x="6096000" y="0"/>
                </a:lnTo>
                <a:lnTo>
                  <a:pt x="6096000" y="711708"/>
                </a:lnTo>
                <a:close/>
              </a:path>
            </a:pathLst>
          </a:custGeom>
          <a:solidFill>
            <a:srgbClr val="FFFF00"/>
          </a:solidFill>
        </p:spPr>
        <p:txBody>
          <a:bodyPr wrap="square" lIns="0" tIns="0" rIns="0" bIns="0" rtlCol="0"/>
          <a:lstStyle/>
          <a:p>
            <a:endParaRPr sz="1227"/>
          </a:p>
        </p:txBody>
      </p:sp>
      <p:sp>
        <p:nvSpPr>
          <p:cNvPr id="132" name="object 132"/>
          <p:cNvSpPr txBox="1"/>
          <p:nvPr/>
        </p:nvSpPr>
        <p:spPr>
          <a:xfrm>
            <a:off x="3883025" y="1339331"/>
            <a:ext cx="453736" cy="217670"/>
          </a:xfrm>
          <a:prstGeom prst="rect">
            <a:avLst/>
          </a:prstGeom>
        </p:spPr>
        <p:txBody>
          <a:bodyPr vert="horz" wrap="square" lIns="0" tIns="7793" rIns="0" bIns="0" rtlCol="0">
            <a:spAutoFit/>
          </a:bodyPr>
          <a:lstStyle/>
          <a:p>
            <a:pPr marL="17318">
              <a:spcBef>
                <a:spcPts val="61"/>
              </a:spcBef>
            </a:pPr>
            <a:r>
              <a:rPr sz="2045" spc="-10" baseline="11111" dirty="0">
                <a:latin typeface="Cambria Math"/>
                <a:cs typeface="Cambria Math"/>
              </a:rPr>
              <a:t>V</a:t>
            </a:r>
            <a:r>
              <a:rPr sz="989" spc="-7" dirty="0">
                <a:latin typeface="Cambria Math"/>
                <a:cs typeface="Cambria Math"/>
              </a:rPr>
              <a:t>ripple</a:t>
            </a:r>
            <a:endParaRPr sz="989">
              <a:latin typeface="Cambria Math"/>
              <a:cs typeface="Cambria Math"/>
            </a:endParaRPr>
          </a:p>
        </p:txBody>
      </p:sp>
      <p:sp>
        <p:nvSpPr>
          <p:cNvPr id="133" name="object 133"/>
          <p:cNvSpPr txBox="1"/>
          <p:nvPr/>
        </p:nvSpPr>
        <p:spPr>
          <a:xfrm>
            <a:off x="7318122" y="1209196"/>
            <a:ext cx="621723" cy="217670"/>
          </a:xfrm>
          <a:prstGeom prst="rect">
            <a:avLst/>
          </a:prstGeom>
        </p:spPr>
        <p:txBody>
          <a:bodyPr vert="horz" wrap="square" lIns="0" tIns="7793" rIns="0" bIns="0" rtlCol="0">
            <a:spAutoFit/>
          </a:bodyPr>
          <a:lstStyle/>
          <a:p>
            <a:pPr marL="17318">
              <a:spcBef>
                <a:spcPts val="61"/>
              </a:spcBef>
            </a:pPr>
            <a:r>
              <a:rPr sz="2045" baseline="11111" dirty="0">
                <a:latin typeface="Cambria Math"/>
                <a:cs typeface="Cambria Math"/>
              </a:rPr>
              <a:t>I</a:t>
            </a:r>
            <a:r>
              <a:rPr sz="989" dirty="0">
                <a:latin typeface="Cambria Math"/>
                <a:cs typeface="Cambria Math"/>
              </a:rPr>
              <a:t>𝑙𝑜𝑎𝑑</a:t>
            </a:r>
            <a:r>
              <a:rPr sz="989" spc="-7" dirty="0">
                <a:latin typeface="Cambria Math"/>
                <a:cs typeface="Cambria Math"/>
              </a:rPr>
              <a:t> </a:t>
            </a:r>
            <a:r>
              <a:rPr sz="989" spc="-14" dirty="0">
                <a:latin typeface="Cambria Math"/>
                <a:cs typeface="Cambria Math"/>
              </a:rPr>
              <a:t>,𝑚𝑖𝑛</a:t>
            </a:r>
            <a:endParaRPr sz="989">
              <a:latin typeface="Cambria Math"/>
              <a:cs typeface="Cambria Math"/>
            </a:endParaRPr>
          </a:p>
        </p:txBody>
      </p:sp>
      <p:sp>
        <p:nvSpPr>
          <p:cNvPr id="134" name="object 134"/>
          <p:cNvSpPr txBox="1"/>
          <p:nvPr/>
        </p:nvSpPr>
        <p:spPr>
          <a:xfrm>
            <a:off x="4392695" y="1304215"/>
            <a:ext cx="3009900" cy="217798"/>
          </a:xfrm>
          <a:prstGeom prst="rect">
            <a:avLst/>
          </a:prstGeom>
        </p:spPr>
        <p:txBody>
          <a:bodyPr vert="horz" wrap="square" lIns="0" tIns="7793" rIns="0" bIns="0" rtlCol="0">
            <a:spAutoFit/>
          </a:bodyPr>
          <a:lstStyle/>
          <a:p>
            <a:pPr marL="17318">
              <a:spcBef>
                <a:spcPts val="61"/>
              </a:spcBef>
            </a:pPr>
            <a:r>
              <a:rPr sz="1364" dirty="0">
                <a:latin typeface="Cambria Math"/>
                <a:cs typeface="Cambria Math"/>
              </a:rPr>
              <a:t>≅</a:t>
            </a:r>
            <a:r>
              <a:rPr sz="1364" spc="61" dirty="0">
                <a:latin typeface="Cambria Math"/>
                <a:cs typeface="Cambria Math"/>
              </a:rPr>
              <a:t> </a:t>
            </a:r>
            <a:r>
              <a:rPr sz="1364" dirty="0">
                <a:latin typeface="Cambria Math"/>
                <a:cs typeface="Cambria Math"/>
              </a:rPr>
              <a:t>α</a:t>
            </a:r>
            <a:r>
              <a:rPr sz="1364" spc="-10" dirty="0">
                <a:latin typeface="Cambria Math"/>
                <a:cs typeface="Cambria Math"/>
              </a:rPr>
              <a:t> </a:t>
            </a:r>
            <a:r>
              <a:rPr sz="1364" dirty="0">
                <a:latin typeface="Cambria Math"/>
                <a:cs typeface="Cambria Math"/>
              </a:rPr>
              <a:t>∙</a:t>
            </a:r>
            <a:r>
              <a:rPr sz="1364" spc="3" dirty="0">
                <a:latin typeface="Cambria Math"/>
                <a:cs typeface="Cambria Math"/>
              </a:rPr>
              <a:t> </a:t>
            </a:r>
            <a:r>
              <a:rPr sz="1364" dirty="0">
                <a:latin typeface="Cambria Math"/>
                <a:cs typeface="Cambria Math"/>
              </a:rPr>
              <a:t>I</a:t>
            </a:r>
            <a:r>
              <a:rPr sz="1483" baseline="-15325" dirty="0">
                <a:latin typeface="Cambria Math"/>
                <a:cs typeface="Cambria Math"/>
              </a:rPr>
              <a:t>u</a:t>
            </a:r>
            <a:r>
              <a:rPr sz="1483" spc="307" baseline="-15325" dirty="0">
                <a:latin typeface="Cambria Math"/>
                <a:cs typeface="Cambria Math"/>
              </a:rPr>
              <a:t> </a:t>
            </a:r>
            <a:r>
              <a:rPr sz="1364" dirty="0">
                <a:latin typeface="Cambria Math"/>
                <a:cs typeface="Cambria Math"/>
              </a:rPr>
              <a:t>∙</a:t>
            </a:r>
            <a:r>
              <a:rPr sz="1364" spc="-7" dirty="0">
                <a:latin typeface="Cambria Math"/>
                <a:cs typeface="Cambria Math"/>
              </a:rPr>
              <a:t> </a:t>
            </a:r>
            <a:r>
              <a:rPr sz="1364" dirty="0">
                <a:latin typeface="Cambria Math"/>
                <a:cs typeface="Cambria Math"/>
              </a:rPr>
              <a:t>R</a:t>
            </a:r>
            <a:r>
              <a:rPr sz="1483" baseline="-15325" dirty="0">
                <a:latin typeface="Cambria Math"/>
                <a:cs typeface="Cambria Math"/>
              </a:rPr>
              <a:t>load</a:t>
            </a:r>
            <a:r>
              <a:rPr sz="1483" spc="112" baseline="-15325" dirty="0">
                <a:latin typeface="Cambria Math"/>
                <a:cs typeface="Cambria Math"/>
              </a:rPr>
              <a:t> </a:t>
            </a:r>
            <a:r>
              <a:rPr sz="1364" spc="-7" dirty="0">
                <a:latin typeface="Cambria Math"/>
                <a:cs typeface="Cambria Math"/>
              </a:rPr>
              <a:t>,</a:t>
            </a:r>
            <a:r>
              <a:rPr sz="1364" spc="-85" dirty="0">
                <a:latin typeface="Cambria Math"/>
                <a:cs typeface="Cambria Math"/>
              </a:rPr>
              <a:t> </a:t>
            </a:r>
            <a:r>
              <a:rPr sz="1364" spc="-7" dirty="0">
                <a:solidFill>
                  <a:srgbClr val="FFFFFF"/>
                </a:solidFill>
                <a:latin typeface="Cambria Math"/>
                <a:cs typeface="Cambria Math"/>
              </a:rPr>
              <a:t>,</a:t>
            </a:r>
            <a:r>
              <a:rPr sz="1364" spc="-75" dirty="0">
                <a:solidFill>
                  <a:srgbClr val="FFFFFF"/>
                </a:solidFill>
                <a:latin typeface="Cambria Math"/>
                <a:cs typeface="Cambria Math"/>
              </a:rPr>
              <a:t> </a:t>
            </a:r>
            <a:r>
              <a:rPr sz="1364" dirty="0">
                <a:latin typeface="Cambria Math"/>
                <a:cs typeface="Cambria Math"/>
              </a:rPr>
              <a:t>where</a:t>
            </a:r>
            <a:r>
              <a:rPr sz="1364" spc="-7" dirty="0">
                <a:latin typeface="Cambria Math"/>
                <a:cs typeface="Cambria Math"/>
              </a:rPr>
              <a:t> </a:t>
            </a:r>
            <a:r>
              <a:rPr sz="1364" dirty="0">
                <a:latin typeface="Cambria Math"/>
                <a:cs typeface="Cambria Math"/>
              </a:rPr>
              <a:t>α</a:t>
            </a:r>
            <a:r>
              <a:rPr sz="1364" spc="72" dirty="0">
                <a:latin typeface="Cambria Math"/>
                <a:cs typeface="Cambria Math"/>
              </a:rPr>
              <a:t> </a:t>
            </a:r>
            <a:r>
              <a:rPr sz="1364" dirty="0">
                <a:latin typeface="Cambria Math"/>
                <a:cs typeface="Cambria Math"/>
              </a:rPr>
              <a:t>=</a:t>
            </a:r>
            <a:r>
              <a:rPr sz="1364" spc="68" dirty="0">
                <a:latin typeface="Cambria Math"/>
                <a:cs typeface="Cambria Math"/>
              </a:rPr>
              <a:t> </a:t>
            </a:r>
            <a:r>
              <a:rPr sz="1364" dirty="0">
                <a:latin typeface="Cambria Math"/>
                <a:cs typeface="Cambria Math"/>
              </a:rPr>
              <a:t>1</a:t>
            </a:r>
            <a:r>
              <a:rPr sz="1364" spc="-7" dirty="0">
                <a:latin typeface="Cambria Math"/>
                <a:cs typeface="Cambria Math"/>
              </a:rPr>
              <a:t> </a:t>
            </a:r>
            <a:r>
              <a:rPr sz="1364" dirty="0">
                <a:latin typeface="Cambria Math"/>
                <a:cs typeface="Cambria Math"/>
              </a:rPr>
              <a:t>for</a:t>
            </a:r>
            <a:r>
              <a:rPr sz="1364" spc="-14" dirty="0">
                <a:latin typeface="Cambria Math"/>
                <a:cs typeface="Cambria Math"/>
              </a:rPr>
              <a:t> </a:t>
            </a:r>
            <a:r>
              <a:rPr sz="1364" dirty="0">
                <a:latin typeface="Cambria Math"/>
                <a:cs typeface="Cambria Math"/>
              </a:rPr>
              <a:t>f</a:t>
            </a:r>
            <a:r>
              <a:rPr sz="1483" baseline="-15325" dirty="0">
                <a:latin typeface="Cambria Math"/>
                <a:cs typeface="Cambria Math"/>
              </a:rPr>
              <a:t>clk</a:t>
            </a:r>
            <a:r>
              <a:rPr sz="1483" spc="112" baseline="-15325" dirty="0">
                <a:latin typeface="Cambria Math"/>
                <a:cs typeface="Cambria Math"/>
              </a:rPr>
              <a:t>  </a:t>
            </a:r>
            <a:r>
              <a:rPr sz="1364" dirty="0">
                <a:latin typeface="Cambria Math"/>
                <a:cs typeface="Cambria Math"/>
              </a:rPr>
              <a:t>≪</a:t>
            </a:r>
            <a:r>
              <a:rPr sz="1364" spc="72" dirty="0">
                <a:latin typeface="Cambria Math"/>
                <a:cs typeface="Cambria Math"/>
              </a:rPr>
              <a:t> </a:t>
            </a:r>
            <a:r>
              <a:rPr sz="2045" spc="-51" baseline="-37500" dirty="0">
                <a:latin typeface="Cambria Math"/>
                <a:cs typeface="Cambria Math"/>
              </a:rPr>
              <a:t>V</a:t>
            </a:r>
            <a:endParaRPr sz="2045" baseline="-37500">
              <a:latin typeface="Cambria Math"/>
              <a:cs typeface="Cambria Math"/>
            </a:endParaRPr>
          </a:p>
        </p:txBody>
      </p:sp>
      <p:sp>
        <p:nvSpPr>
          <p:cNvPr id="135" name="object 135"/>
          <p:cNvSpPr txBox="1"/>
          <p:nvPr/>
        </p:nvSpPr>
        <p:spPr>
          <a:xfrm>
            <a:off x="7616174" y="1419891"/>
            <a:ext cx="187902" cy="217798"/>
          </a:xfrm>
          <a:prstGeom prst="rect">
            <a:avLst/>
          </a:prstGeom>
        </p:spPr>
        <p:txBody>
          <a:bodyPr vert="horz" wrap="square" lIns="0" tIns="7793" rIns="0" bIns="0" rtlCol="0">
            <a:spAutoFit/>
          </a:bodyPr>
          <a:lstStyle/>
          <a:p>
            <a:pPr marL="81393" indent="-81393">
              <a:spcBef>
                <a:spcPts val="61"/>
              </a:spcBef>
              <a:buChar char="∙"/>
              <a:tabLst>
                <a:tab pos="81393" algn="l"/>
              </a:tabLst>
            </a:pPr>
            <a:r>
              <a:rPr sz="1364" spc="-34" dirty="0">
                <a:latin typeface="Cambria Math"/>
                <a:cs typeface="Cambria Math"/>
              </a:rPr>
              <a:t>C</a:t>
            </a:r>
            <a:endParaRPr sz="1364">
              <a:latin typeface="Cambria Math"/>
              <a:cs typeface="Cambria Math"/>
            </a:endParaRPr>
          </a:p>
        </p:txBody>
      </p:sp>
      <p:sp>
        <p:nvSpPr>
          <p:cNvPr id="136" name="object 136"/>
          <p:cNvSpPr txBox="1"/>
          <p:nvPr/>
        </p:nvSpPr>
        <p:spPr>
          <a:xfrm>
            <a:off x="7369627" y="1502517"/>
            <a:ext cx="612631" cy="160090"/>
          </a:xfrm>
          <a:prstGeom prst="rect">
            <a:avLst/>
          </a:prstGeom>
        </p:spPr>
        <p:txBody>
          <a:bodyPr vert="horz" wrap="square" lIns="0" tIns="7793" rIns="0" bIns="0" rtlCol="0">
            <a:spAutoFit/>
          </a:bodyPr>
          <a:lstStyle/>
          <a:p>
            <a:pPr>
              <a:spcBef>
                <a:spcPts val="61"/>
              </a:spcBef>
              <a:tabLst>
                <a:tab pos="425583" algn="l"/>
              </a:tabLst>
            </a:pPr>
            <a:r>
              <a:rPr sz="989" spc="-17" dirty="0">
                <a:latin typeface="Cambria Math"/>
                <a:cs typeface="Cambria Math"/>
              </a:rPr>
              <a:t>out</a:t>
            </a:r>
            <a:r>
              <a:rPr sz="989" dirty="0">
                <a:latin typeface="Cambria Math"/>
                <a:cs typeface="Cambria Math"/>
              </a:rPr>
              <a:t>	</a:t>
            </a:r>
            <a:r>
              <a:rPr sz="989" spc="-17" dirty="0">
                <a:latin typeface="Cambria Math"/>
                <a:cs typeface="Cambria Math"/>
              </a:rPr>
              <a:t>out</a:t>
            </a:r>
            <a:endParaRPr sz="989">
              <a:latin typeface="Cambria Math"/>
              <a:cs typeface="Cambria Math"/>
            </a:endParaRPr>
          </a:p>
        </p:txBody>
      </p:sp>
      <p:sp>
        <p:nvSpPr>
          <p:cNvPr id="137" name="object 137"/>
          <p:cNvSpPr/>
          <p:nvPr/>
        </p:nvSpPr>
        <p:spPr>
          <a:xfrm>
            <a:off x="7280539" y="1430618"/>
            <a:ext cx="723467" cy="11690"/>
          </a:xfrm>
          <a:custGeom>
            <a:avLst/>
            <a:gdLst/>
            <a:ahLst/>
            <a:cxnLst/>
            <a:rect l="l" t="t" r="r" b="b"/>
            <a:pathLst>
              <a:path w="1061084" h="17144">
                <a:moveTo>
                  <a:pt x="1060502" y="16661"/>
                </a:moveTo>
                <a:lnTo>
                  <a:pt x="0" y="16661"/>
                </a:lnTo>
                <a:lnTo>
                  <a:pt x="0" y="0"/>
                </a:lnTo>
                <a:lnTo>
                  <a:pt x="1060502" y="0"/>
                </a:lnTo>
                <a:lnTo>
                  <a:pt x="1060502" y="16661"/>
                </a:lnTo>
                <a:close/>
              </a:path>
            </a:pathLst>
          </a:custGeom>
          <a:solidFill>
            <a:srgbClr val="000000"/>
          </a:solidFill>
        </p:spPr>
        <p:txBody>
          <a:bodyPr wrap="square" lIns="0" tIns="0" rIns="0" bIns="0" rtlCol="0"/>
          <a:lstStyle/>
          <a:p>
            <a:endParaRPr sz="1227"/>
          </a:p>
        </p:txBody>
      </p:sp>
    </p:spTree>
    <p:extLst>
      <p:ext uri="{BB962C8B-B14F-4D97-AF65-F5344CB8AC3E}">
        <p14:creationId xmlns:p14="http://schemas.microsoft.com/office/powerpoint/2010/main" val="315220924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98148" y="237085"/>
            <a:ext cx="7222634" cy="531526"/>
          </a:xfrm>
          <a:prstGeom prst="rect">
            <a:avLst/>
          </a:prstGeom>
        </p:spPr>
        <p:txBody>
          <a:bodyPr vert="horz" wrap="square" lIns="0" tIns="8226" rIns="0" bIns="0" rtlCol="0">
            <a:spAutoFit/>
          </a:bodyPr>
          <a:lstStyle/>
          <a:p>
            <a:pPr marL="8659">
              <a:spcBef>
                <a:spcPts val="65"/>
              </a:spcBef>
            </a:pPr>
            <a:r>
              <a:rPr dirty="0"/>
              <a:t>IR</a:t>
            </a:r>
            <a:r>
              <a:rPr spc="-44" dirty="0"/>
              <a:t> </a:t>
            </a:r>
            <a:r>
              <a:rPr dirty="0"/>
              <a:t>Drop</a:t>
            </a:r>
            <a:r>
              <a:rPr spc="-37" dirty="0"/>
              <a:t> </a:t>
            </a:r>
            <a:r>
              <a:rPr spc="-7" dirty="0"/>
              <a:t>(V</a:t>
            </a:r>
            <a:r>
              <a:rPr sz="2557" spc="-10" baseline="-21111" dirty="0"/>
              <a:t>IR</a:t>
            </a:r>
            <a:r>
              <a:rPr sz="2591" spc="-7" dirty="0"/>
              <a:t>)</a:t>
            </a:r>
            <a:endParaRPr sz="2591"/>
          </a:p>
        </p:txBody>
      </p:sp>
      <p:sp>
        <p:nvSpPr>
          <p:cNvPr id="3" name="object 3"/>
          <p:cNvSpPr txBox="1"/>
          <p:nvPr/>
        </p:nvSpPr>
        <p:spPr>
          <a:xfrm>
            <a:off x="1882649" y="3747707"/>
            <a:ext cx="4679373" cy="757445"/>
          </a:xfrm>
          <a:prstGeom prst="rect">
            <a:avLst/>
          </a:prstGeom>
        </p:spPr>
        <p:txBody>
          <a:bodyPr vert="horz" wrap="square" lIns="0" tIns="50223" rIns="0" bIns="0" rtlCol="0">
            <a:spAutoFit/>
          </a:bodyPr>
          <a:lstStyle/>
          <a:p>
            <a:pPr marL="346354" indent="-320378">
              <a:spcBef>
                <a:spcPts val="395"/>
              </a:spcBef>
              <a:buClr>
                <a:srgbClr val="CC0000"/>
              </a:buClr>
              <a:buFont typeface="Wingdings"/>
              <a:buChar char=""/>
              <a:tabLst>
                <a:tab pos="346354" algn="l"/>
              </a:tabLst>
            </a:pPr>
            <a:r>
              <a:rPr sz="1364" dirty="0">
                <a:latin typeface="Verdana"/>
                <a:cs typeface="Verdana"/>
              </a:rPr>
              <a:t>Parasitic</a:t>
            </a:r>
            <a:r>
              <a:rPr sz="1364" spc="-24" dirty="0">
                <a:latin typeface="Verdana"/>
                <a:cs typeface="Verdana"/>
              </a:rPr>
              <a:t> </a:t>
            </a:r>
            <a:r>
              <a:rPr sz="1364" dirty="0">
                <a:latin typeface="Verdana"/>
                <a:cs typeface="Verdana"/>
              </a:rPr>
              <a:t>resistance</a:t>
            </a:r>
            <a:r>
              <a:rPr sz="1364" spc="-17" dirty="0">
                <a:latin typeface="Verdana"/>
                <a:cs typeface="Verdana"/>
              </a:rPr>
              <a:t> </a:t>
            </a:r>
            <a:r>
              <a:rPr sz="1364" dirty="0">
                <a:latin typeface="Verdana"/>
                <a:cs typeface="Verdana"/>
              </a:rPr>
              <a:t>(R</a:t>
            </a:r>
            <a:r>
              <a:rPr sz="1330" baseline="-21367" dirty="0">
                <a:latin typeface="Verdana"/>
                <a:cs typeface="Verdana"/>
              </a:rPr>
              <a:t>para</a:t>
            </a:r>
            <a:r>
              <a:rPr sz="1364" dirty="0">
                <a:latin typeface="Verdana"/>
                <a:cs typeface="Verdana"/>
              </a:rPr>
              <a:t>)</a:t>
            </a:r>
            <a:r>
              <a:rPr sz="1364" spc="-10" dirty="0">
                <a:latin typeface="Verdana"/>
                <a:cs typeface="Verdana"/>
              </a:rPr>
              <a:t> </a:t>
            </a:r>
            <a:r>
              <a:rPr sz="1364" dirty="0">
                <a:latin typeface="Verdana"/>
                <a:cs typeface="Verdana"/>
              </a:rPr>
              <a:t>can</a:t>
            </a:r>
            <a:r>
              <a:rPr sz="1364" spc="-20" dirty="0">
                <a:latin typeface="Verdana"/>
                <a:cs typeface="Verdana"/>
              </a:rPr>
              <a:t> </a:t>
            </a:r>
            <a:r>
              <a:rPr sz="1364" dirty="0">
                <a:latin typeface="Verdana"/>
                <a:cs typeface="Verdana"/>
              </a:rPr>
              <a:t>make</a:t>
            </a:r>
            <a:r>
              <a:rPr sz="1364" spc="-7" dirty="0">
                <a:latin typeface="Verdana"/>
                <a:cs typeface="Verdana"/>
              </a:rPr>
              <a:t> </a:t>
            </a:r>
            <a:r>
              <a:rPr sz="1364" dirty="0">
                <a:latin typeface="Verdana"/>
                <a:cs typeface="Verdana"/>
              </a:rPr>
              <a:t>V</a:t>
            </a:r>
            <a:r>
              <a:rPr sz="1330" baseline="-21367" dirty="0">
                <a:latin typeface="Verdana"/>
                <a:cs typeface="Verdana"/>
              </a:rPr>
              <a:t>out</a:t>
            </a:r>
            <a:r>
              <a:rPr sz="1330" spc="235" baseline="-21367" dirty="0">
                <a:latin typeface="Verdana"/>
                <a:cs typeface="Verdana"/>
              </a:rPr>
              <a:t> </a:t>
            </a:r>
            <a:r>
              <a:rPr sz="1364" dirty="0">
                <a:latin typeface="Verdana"/>
                <a:cs typeface="Verdana"/>
              </a:rPr>
              <a:t>≠</a:t>
            </a:r>
            <a:r>
              <a:rPr sz="1364" spc="-10" dirty="0">
                <a:latin typeface="Verdana"/>
                <a:cs typeface="Verdana"/>
              </a:rPr>
              <a:t> </a:t>
            </a:r>
            <a:r>
              <a:rPr sz="1364" spc="-7" dirty="0">
                <a:latin typeface="Verdana"/>
                <a:cs typeface="Verdana"/>
              </a:rPr>
              <a:t>V</a:t>
            </a:r>
            <a:r>
              <a:rPr sz="1330" spc="-10" baseline="-21367" dirty="0">
                <a:latin typeface="Verdana"/>
                <a:cs typeface="Verdana"/>
              </a:rPr>
              <a:t>out,far</a:t>
            </a:r>
            <a:endParaRPr sz="1330" baseline="-21367">
              <a:latin typeface="Verdana"/>
              <a:cs typeface="Verdana"/>
            </a:endParaRPr>
          </a:p>
          <a:p>
            <a:pPr marL="346354" indent="-320378">
              <a:spcBef>
                <a:spcPts val="327"/>
              </a:spcBef>
              <a:buClr>
                <a:srgbClr val="CC0000"/>
              </a:buClr>
              <a:buFont typeface="Wingdings"/>
              <a:buChar char=""/>
              <a:tabLst>
                <a:tab pos="346354" algn="l"/>
              </a:tabLst>
            </a:pPr>
            <a:r>
              <a:rPr sz="1364" i="1" dirty="0">
                <a:latin typeface="Verdana"/>
                <a:cs typeface="Verdana"/>
              </a:rPr>
              <a:t>The</a:t>
            </a:r>
            <a:r>
              <a:rPr sz="1364" i="1" spc="-17" dirty="0">
                <a:latin typeface="Verdana"/>
                <a:cs typeface="Verdana"/>
              </a:rPr>
              <a:t> </a:t>
            </a:r>
            <a:r>
              <a:rPr sz="1364" i="1" dirty="0">
                <a:latin typeface="Verdana"/>
                <a:cs typeface="Verdana"/>
              </a:rPr>
              <a:t>ADC</a:t>
            </a:r>
            <a:r>
              <a:rPr sz="1364" i="1" spc="-3" dirty="0">
                <a:latin typeface="Verdana"/>
                <a:cs typeface="Verdana"/>
              </a:rPr>
              <a:t> </a:t>
            </a:r>
            <a:r>
              <a:rPr sz="1364" i="1" dirty="0">
                <a:latin typeface="Verdana"/>
                <a:cs typeface="Verdana"/>
              </a:rPr>
              <a:t>senses</a:t>
            </a:r>
            <a:r>
              <a:rPr sz="1364" i="1" spc="-27" dirty="0">
                <a:latin typeface="Verdana"/>
                <a:cs typeface="Verdana"/>
              </a:rPr>
              <a:t> </a:t>
            </a:r>
            <a:r>
              <a:rPr sz="1364" i="1" dirty="0">
                <a:latin typeface="Verdana"/>
                <a:cs typeface="Verdana"/>
              </a:rPr>
              <a:t>V</a:t>
            </a:r>
            <a:r>
              <a:rPr sz="1330" i="1" baseline="-21367" dirty="0">
                <a:latin typeface="Verdana"/>
                <a:cs typeface="Verdana"/>
              </a:rPr>
              <a:t>out</a:t>
            </a:r>
            <a:r>
              <a:rPr sz="1364" i="1" dirty="0">
                <a:latin typeface="Verdana"/>
                <a:cs typeface="Verdana"/>
              </a:rPr>
              <a:t>,</a:t>
            </a:r>
            <a:r>
              <a:rPr sz="1364" i="1" spc="-3" dirty="0">
                <a:latin typeface="Verdana"/>
                <a:cs typeface="Verdana"/>
              </a:rPr>
              <a:t> </a:t>
            </a:r>
            <a:r>
              <a:rPr sz="1364" i="1" dirty="0">
                <a:latin typeface="Verdana"/>
                <a:cs typeface="Verdana"/>
              </a:rPr>
              <a:t>not</a:t>
            </a:r>
            <a:r>
              <a:rPr sz="1364" i="1" spc="-20" dirty="0">
                <a:latin typeface="Verdana"/>
                <a:cs typeface="Verdana"/>
              </a:rPr>
              <a:t> </a:t>
            </a:r>
            <a:r>
              <a:rPr sz="1364" i="1" spc="-7" dirty="0">
                <a:latin typeface="Verdana"/>
                <a:cs typeface="Verdana"/>
              </a:rPr>
              <a:t>V</a:t>
            </a:r>
            <a:r>
              <a:rPr sz="1330" i="1" spc="-10" baseline="-21367" dirty="0">
                <a:latin typeface="Verdana"/>
                <a:cs typeface="Verdana"/>
              </a:rPr>
              <a:t>out,far</a:t>
            </a:r>
            <a:endParaRPr sz="1330" baseline="-21367">
              <a:latin typeface="Verdana"/>
              <a:cs typeface="Verdana"/>
            </a:endParaRPr>
          </a:p>
          <a:p>
            <a:pPr marL="346354" indent="-320378">
              <a:spcBef>
                <a:spcPts val="327"/>
              </a:spcBef>
              <a:buClr>
                <a:srgbClr val="CC0000"/>
              </a:buClr>
              <a:buFont typeface="Wingdings"/>
              <a:buChar char=""/>
              <a:tabLst>
                <a:tab pos="346354" algn="l"/>
              </a:tabLst>
            </a:pPr>
            <a:r>
              <a:rPr sz="1364" dirty="0">
                <a:latin typeface="Verdana"/>
                <a:cs typeface="Verdana"/>
              </a:rPr>
              <a:t>This</a:t>
            </a:r>
            <a:r>
              <a:rPr sz="1364" spc="-34" dirty="0">
                <a:latin typeface="Verdana"/>
                <a:cs typeface="Verdana"/>
              </a:rPr>
              <a:t> </a:t>
            </a:r>
            <a:r>
              <a:rPr sz="1364" dirty="0">
                <a:latin typeface="Verdana"/>
                <a:cs typeface="Verdana"/>
              </a:rPr>
              <a:t>deviation,</a:t>
            </a:r>
            <a:r>
              <a:rPr sz="1364" spc="-24" dirty="0">
                <a:latin typeface="Verdana"/>
                <a:cs typeface="Verdana"/>
              </a:rPr>
              <a:t> </a:t>
            </a:r>
            <a:r>
              <a:rPr sz="1364" dirty="0">
                <a:latin typeface="Verdana"/>
                <a:cs typeface="Verdana"/>
              </a:rPr>
              <a:t>V</a:t>
            </a:r>
            <a:r>
              <a:rPr sz="1330" baseline="-21367" dirty="0">
                <a:latin typeface="Verdana"/>
                <a:cs typeface="Verdana"/>
              </a:rPr>
              <a:t>IR</a:t>
            </a:r>
            <a:r>
              <a:rPr sz="1364" dirty="0">
                <a:latin typeface="Verdana"/>
                <a:cs typeface="Verdana"/>
              </a:rPr>
              <a:t>,</a:t>
            </a:r>
            <a:r>
              <a:rPr sz="1364" spc="-37" dirty="0">
                <a:latin typeface="Verdana"/>
                <a:cs typeface="Verdana"/>
              </a:rPr>
              <a:t> </a:t>
            </a:r>
            <a:r>
              <a:rPr sz="1364" dirty="0">
                <a:latin typeface="Verdana"/>
                <a:cs typeface="Verdana"/>
              </a:rPr>
              <a:t>grows</a:t>
            </a:r>
            <a:r>
              <a:rPr sz="1364" spc="-31" dirty="0">
                <a:latin typeface="Verdana"/>
                <a:cs typeface="Verdana"/>
              </a:rPr>
              <a:t> </a:t>
            </a:r>
            <a:r>
              <a:rPr sz="1364" dirty="0">
                <a:latin typeface="Verdana"/>
                <a:cs typeface="Verdana"/>
              </a:rPr>
              <a:t>with</a:t>
            </a:r>
            <a:r>
              <a:rPr sz="1364" spc="-41" dirty="0">
                <a:latin typeface="Verdana"/>
                <a:cs typeface="Verdana"/>
              </a:rPr>
              <a:t> </a:t>
            </a:r>
            <a:r>
              <a:rPr sz="1364" spc="-7" dirty="0">
                <a:latin typeface="Verdana"/>
                <a:cs typeface="Verdana"/>
              </a:rPr>
              <a:t>I</a:t>
            </a:r>
            <a:r>
              <a:rPr sz="1330" spc="-10" baseline="-21367" dirty="0">
                <a:latin typeface="Verdana"/>
                <a:cs typeface="Verdana"/>
              </a:rPr>
              <a:t>load</a:t>
            </a:r>
            <a:endParaRPr sz="1330" baseline="-21367">
              <a:latin typeface="Verdana"/>
              <a:cs typeface="Verdana"/>
            </a:endParaRPr>
          </a:p>
        </p:txBody>
      </p:sp>
      <p:grpSp>
        <p:nvGrpSpPr>
          <p:cNvPr id="4" name="object 4"/>
          <p:cNvGrpSpPr/>
          <p:nvPr/>
        </p:nvGrpSpPr>
        <p:grpSpPr>
          <a:xfrm>
            <a:off x="3303259" y="1837198"/>
            <a:ext cx="253711" cy="410874"/>
            <a:chOff x="2949701" y="2015363"/>
            <a:chExt cx="372110" cy="602615"/>
          </a:xfrm>
        </p:grpSpPr>
        <p:sp>
          <p:nvSpPr>
            <p:cNvPr id="5" name="object 5"/>
            <p:cNvSpPr/>
            <p:nvPr/>
          </p:nvSpPr>
          <p:spPr>
            <a:xfrm>
              <a:off x="3198113" y="2208276"/>
              <a:ext cx="109220" cy="214629"/>
            </a:xfrm>
            <a:custGeom>
              <a:avLst/>
              <a:gdLst/>
              <a:ahLst/>
              <a:cxnLst/>
              <a:rect l="l" t="t" r="r" b="b"/>
              <a:pathLst>
                <a:path w="109220" h="214630">
                  <a:moveTo>
                    <a:pt x="0" y="214122"/>
                  </a:moveTo>
                  <a:lnTo>
                    <a:pt x="0" y="0"/>
                  </a:lnTo>
                </a:path>
                <a:path w="109220" h="214630">
                  <a:moveTo>
                    <a:pt x="0" y="214122"/>
                  </a:moveTo>
                  <a:lnTo>
                    <a:pt x="108966" y="214122"/>
                  </a:lnTo>
                </a:path>
              </a:pathLst>
            </a:custGeom>
            <a:ln w="28956">
              <a:solidFill>
                <a:srgbClr val="000000"/>
              </a:solidFill>
            </a:ln>
          </p:spPr>
          <p:txBody>
            <a:bodyPr wrap="square" lIns="0" tIns="0" rIns="0" bIns="0" rtlCol="0"/>
            <a:lstStyle/>
            <a:p>
              <a:endParaRPr sz="1227"/>
            </a:p>
          </p:txBody>
        </p:sp>
        <p:sp>
          <p:nvSpPr>
            <p:cNvPr id="6" name="object 6"/>
            <p:cNvSpPr/>
            <p:nvPr/>
          </p:nvSpPr>
          <p:spPr>
            <a:xfrm>
              <a:off x="3198113" y="2208276"/>
              <a:ext cx="109220" cy="0"/>
            </a:xfrm>
            <a:custGeom>
              <a:avLst/>
              <a:gdLst/>
              <a:ahLst/>
              <a:cxnLst/>
              <a:rect l="l" t="t" r="r" b="b"/>
              <a:pathLst>
                <a:path w="109220">
                  <a:moveTo>
                    <a:pt x="0" y="0"/>
                  </a:moveTo>
                  <a:lnTo>
                    <a:pt x="108966" y="0"/>
                  </a:lnTo>
                </a:path>
              </a:pathLst>
            </a:custGeom>
            <a:ln w="28956">
              <a:solidFill>
                <a:srgbClr val="000000"/>
              </a:solidFill>
            </a:ln>
          </p:spPr>
          <p:txBody>
            <a:bodyPr wrap="square" lIns="0" tIns="0" rIns="0" bIns="0" rtlCol="0"/>
            <a:lstStyle/>
            <a:p>
              <a:endParaRPr sz="1227"/>
            </a:p>
          </p:txBody>
        </p:sp>
        <p:sp>
          <p:nvSpPr>
            <p:cNvPr id="7" name="object 7"/>
            <p:cNvSpPr/>
            <p:nvPr/>
          </p:nvSpPr>
          <p:spPr>
            <a:xfrm>
              <a:off x="3307079" y="2029968"/>
              <a:ext cx="0" cy="180340"/>
            </a:xfrm>
            <a:custGeom>
              <a:avLst/>
              <a:gdLst/>
              <a:ahLst/>
              <a:cxnLst/>
              <a:rect l="l" t="t" r="r" b="b"/>
              <a:pathLst>
                <a:path h="180339">
                  <a:moveTo>
                    <a:pt x="0" y="179832"/>
                  </a:moveTo>
                  <a:lnTo>
                    <a:pt x="0" y="0"/>
                  </a:lnTo>
                </a:path>
              </a:pathLst>
            </a:custGeom>
            <a:ln w="28956">
              <a:solidFill>
                <a:srgbClr val="000000"/>
              </a:solidFill>
            </a:ln>
          </p:spPr>
          <p:txBody>
            <a:bodyPr wrap="square" lIns="0" tIns="0" rIns="0" bIns="0" rtlCol="0"/>
            <a:lstStyle/>
            <a:p>
              <a:endParaRPr sz="1227"/>
            </a:p>
          </p:txBody>
        </p:sp>
        <p:sp>
          <p:nvSpPr>
            <p:cNvPr id="8" name="object 8"/>
            <p:cNvSpPr/>
            <p:nvPr/>
          </p:nvSpPr>
          <p:spPr>
            <a:xfrm>
              <a:off x="3307079" y="2423922"/>
              <a:ext cx="0" cy="179070"/>
            </a:xfrm>
            <a:custGeom>
              <a:avLst/>
              <a:gdLst/>
              <a:ahLst/>
              <a:cxnLst/>
              <a:rect l="l" t="t" r="r" b="b"/>
              <a:pathLst>
                <a:path h="179069">
                  <a:moveTo>
                    <a:pt x="0" y="179070"/>
                  </a:moveTo>
                  <a:lnTo>
                    <a:pt x="0" y="0"/>
                  </a:lnTo>
                </a:path>
              </a:pathLst>
            </a:custGeom>
            <a:ln w="28956">
              <a:solidFill>
                <a:srgbClr val="000000"/>
              </a:solidFill>
            </a:ln>
          </p:spPr>
          <p:txBody>
            <a:bodyPr wrap="square" lIns="0" tIns="0" rIns="0" bIns="0" rtlCol="0"/>
            <a:lstStyle/>
            <a:p>
              <a:endParaRPr sz="1227"/>
            </a:p>
          </p:txBody>
        </p:sp>
        <p:pic>
          <p:nvPicPr>
            <p:cNvPr id="9" name="object 9"/>
            <p:cNvPicPr/>
            <p:nvPr/>
          </p:nvPicPr>
          <p:blipFill>
            <a:blip r:embed="rId2" cstate="print"/>
            <a:stretch>
              <a:fillRect/>
            </a:stretch>
          </p:blipFill>
          <p:spPr>
            <a:xfrm>
              <a:off x="2949701" y="2211324"/>
              <a:ext cx="192786" cy="214122"/>
            </a:xfrm>
            <a:prstGeom prst="rect">
              <a:avLst/>
            </a:prstGeom>
          </p:spPr>
        </p:pic>
      </p:grpSp>
      <p:sp>
        <p:nvSpPr>
          <p:cNvPr id="10" name="object 10"/>
          <p:cNvSpPr txBox="1"/>
          <p:nvPr/>
        </p:nvSpPr>
        <p:spPr>
          <a:xfrm>
            <a:off x="3884199" y="1289388"/>
            <a:ext cx="253278" cy="197641"/>
          </a:xfrm>
          <a:prstGeom prst="rect">
            <a:avLst/>
          </a:prstGeom>
        </p:spPr>
        <p:txBody>
          <a:bodyPr vert="horz" wrap="square" lIns="0" tIns="8659" rIns="0" bIns="0" rtlCol="0">
            <a:spAutoFit/>
          </a:bodyPr>
          <a:lstStyle/>
          <a:p>
            <a:pPr marL="25977">
              <a:spcBef>
                <a:spcPts val="68"/>
              </a:spcBef>
            </a:pPr>
            <a:r>
              <a:rPr sz="1841" spc="-25" baseline="13888" dirty="0">
                <a:latin typeface="Verdana"/>
                <a:cs typeface="Verdana"/>
              </a:rPr>
              <a:t>V</a:t>
            </a:r>
            <a:r>
              <a:rPr sz="818" spc="-17" dirty="0">
                <a:latin typeface="Verdana"/>
                <a:cs typeface="Verdana"/>
              </a:rPr>
              <a:t>in</a:t>
            </a:r>
            <a:endParaRPr sz="818">
              <a:latin typeface="Verdana"/>
              <a:cs typeface="Verdana"/>
            </a:endParaRPr>
          </a:p>
        </p:txBody>
      </p:sp>
      <p:grpSp>
        <p:nvGrpSpPr>
          <p:cNvPr id="11" name="object 11"/>
          <p:cNvGrpSpPr/>
          <p:nvPr/>
        </p:nvGrpSpPr>
        <p:grpSpPr>
          <a:xfrm>
            <a:off x="2527491" y="1869931"/>
            <a:ext cx="788843" cy="335540"/>
            <a:chOff x="1811908" y="2063371"/>
            <a:chExt cx="1156970" cy="492125"/>
          </a:xfrm>
        </p:grpSpPr>
        <p:sp>
          <p:nvSpPr>
            <p:cNvPr id="12" name="object 12"/>
            <p:cNvSpPr/>
            <p:nvPr/>
          </p:nvSpPr>
          <p:spPr>
            <a:xfrm>
              <a:off x="2529077" y="2317241"/>
              <a:ext cx="425450" cy="0"/>
            </a:xfrm>
            <a:custGeom>
              <a:avLst/>
              <a:gdLst/>
              <a:ahLst/>
              <a:cxnLst/>
              <a:rect l="l" t="t" r="r" b="b"/>
              <a:pathLst>
                <a:path w="425450">
                  <a:moveTo>
                    <a:pt x="0" y="0"/>
                  </a:moveTo>
                  <a:lnTo>
                    <a:pt x="425195" y="0"/>
                  </a:lnTo>
                </a:path>
              </a:pathLst>
            </a:custGeom>
            <a:ln w="28956">
              <a:solidFill>
                <a:srgbClr val="000000"/>
              </a:solidFill>
            </a:ln>
          </p:spPr>
          <p:txBody>
            <a:bodyPr wrap="square" lIns="0" tIns="0" rIns="0" bIns="0" rtlCol="0"/>
            <a:lstStyle/>
            <a:p>
              <a:endParaRPr sz="1227"/>
            </a:p>
          </p:txBody>
        </p:sp>
        <p:sp>
          <p:nvSpPr>
            <p:cNvPr id="13" name="object 13"/>
            <p:cNvSpPr/>
            <p:nvPr/>
          </p:nvSpPr>
          <p:spPr>
            <a:xfrm>
              <a:off x="1826513" y="2077976"/>
              <a:ext cx="690880" cy="462915"/>
            </a:xfrm>
            <a:custGeom>
              <a:avLst/>
              <a:gdLst/>
              <a:ahLst/>
              <a:cxnLst/>
              <a:rect l="l" t="t" r="r" b="b"/>
              <a:pathLst>
                <a:path w="690880" h="462914">
                  <a:moveTo>
                    <a:pt x="0" y="77088"/>
                  </a:moveTo>
                  <a:lnTo>
                    <a:pt x="6058" y="47084"/>
                  </a:lnTo>
                  <a:lnTo>
                    <a:pt x="22580" y="22580"/>
                  </a:lnTo>
                  <a:lnTo>
                    <a:pt x="47084" y="6058"/>
                  </a:lnTo>
                  <a:lnTo>
                    <a:pt x="77089" y="0"/>
                  </a:lnTo>
                  <a:lnTo>
                    <a:pt x="613283" y="0"/>
                  </a:lnTo>
                  <a:lnTo>
                    <a:pt x="643287" y="6058"/>
                  </a:lnTo>
                  <a:lnTo>
                    <a:pt x="667791" y="22580"/>
                  </a:lnTo>
                  <a:lnTo>
                    <a:pt x="684313" y="47084"/>
                  </a:lnTo>
                  <a:lnTo>
                    <a:pt x="690372" y="77088"/>
                  </a:lnTo>
                  <a:lnTo>
                    <a:pt x="690372" y="385444"/>
                  </a:lnTo>
                  <a:lnTo>
                    <a:pt x="684313" y="415449"/>
                  </a:lnTo>
                  <a:lnTo>
                    <a:pt x="667791" y="439953"/>
                  </a:lnTo>
                  <a:lnTo>
                    <a:pt x="643287" y="456475"/>
                  </a:lnTo>
                  <a:lnTo>
                    <a:pt x="613283" y="462533"/>
                  </a:lnTo>
                  <a:lnTo>
                    <a:pt x="77089" y="462533"/>
                  </a:lnTo>
                  <a:lnTo>
                    <a:pt x="47084" y="456475"/>
                  </a:lnTo>
                  <a:lnTo>
                    <a:pt x="22580" y="439953"/>
                  </a:lnTo>
                  <a:lnTo>
                    <a:pt x="6058" y="415449"/>
                  </a:lnTo>
                  <a:lnTo>
                    <a:pt x="0" y="385444"/>
                  </a:lnTo>
                  <a:lnTo>
                    <a:pt x="0" y="77088"/>
                  </a:lnTo>
                  <a:close/>
                </a:path>
              </a:pathLst>
            </a:custGeom>
            <a:ln w="28956">
              <a:solidFill>
                <a:srgbClr val="000000"/>
              </a:solidFill>
            </a:ln>
          </p:spPr>
          <p:txBody>
            <a:bodyPr wrap="square" lIns="0" tIns="0" rIns="0" bIns="0" rtlCol="0"/>
            <a:lstStyle/>
            <a:p>
              <a:endParaRPr sz="1227"/>
            </a:p>
          </p:txBody>
        </p:sp>
      </p:grpSp>
      <p:sp>
        <p:nvSpPr>
          <p:cNvPr id="14" name="object 14"/>
          <p:cNvSpPr txBox="1"/>
          <p:nvPr/>
        </p:nvSpPr>
        <p:spPr>
          <a:xfrm>
            <a:off x="2624442" y="1925013"/>
            <a:ext cx="296574" cy="197578"/>
          </a:xfrm>
          <a:prstGeom prst="rect">
            <a:avLst/>
          </a:prstGeom>
        </p:spPr>
        <p:txBody>
          <a:bodyPr vert="horz" wrap="square" lIns="0" tIns="8659" rIns="0" bIns="0" rtlCol="0">
            <a:spAutoFit/>
          </a:bodyPr>
          <a:lstStyle/>
          <a:p>
            <a:pPr marL="8659">
              <a:spcBef>
                <a:spcPts val="68"/>
              </a:spcBef>
            </a:pPr>
            <a:r>
              <a:rPr sz="1227" spc="-14" dirty="0">
                <a:latin typeface="Verdana"/>
                <a:cs typeface="Verdana"/>
              </a:rPr>
              <a:t>Ctrl</a:t>
            </a:r>
            <a:endParaRPr sz="1227">
              <a:latin typeface="Verdana"/>
              <a:cs typeface="Verdana"/>
            </a:endParaRPr>
          </a:p>
        </p:txBody>
      </p:sp>
      <p:sp>
        <p:nvSpPr>
          <p:cNvPr id="15" name="object 15"/>
          <p:cNvSpPr/>
          <p:nvPr/>
        </p:nvSpPr>
        <p:spPr>
          <a:xfrm>
            <a:off x="1784629" y="1942753"/>
            <a:ext cx="273627" cy="2165"/>
          </a:xfrm>
          <a:custGeom>
            <a:avLst/>
            <a:gdLst/>
            <a:ahLst/>
            <a:cxnLst/>
            <a:rect l="l" t="t" r="r" b="b"/>
            <a:pathLst>
              <a:path w="401319" h="3175">
                <a:moveTo>
                  <a:pt x="0" y="0"/>
                </a:moveTo>
                <a:lnTo>
                  <a:pt x="400812" y="3048"/>
                </a:lnTo>
              </a:path>
            </a:pathLst>
          </a:custGeom>
          <a:ln w="28956">
            <a:solidFill>
              <a:srgbClr val="000000"/>
            </a:solidFill>
          </a:ln>
        </p:spPr>
        <p:txBody>
          <a:bodyPr wrap="square" lIns="0" tIns="0" rIns="0" bIns="0" rtlCol="0"/>
          <a:lstStyle/>
          <a:p>
            <a:endParaRPr sz="1227"/>
          </a:p>
        </p:txBody>
      </p:sp>
      <p:sp>
        <p:nvSpPr>
          <p:cNvPr id="16" name="object 16"/>
          <p:cNvSpPr txBox="1"/>
          <p:nvPr/>
        </p:nvSpPr>
        <p:spPr>
          <a:xfrm>
            <a:off x="1696292" y="1752245"/>
            <a:ext cx="301336" cy="197641"/>
          </a:xfrm>
          <a:prstGeom prst="rect">
            <a:avLst/>
          </a:prstGeom>
        </p:spPr>
        <p:txBody>
          <a:bodyPr vert="horz" wrap="square" lIns="0" tIns="8659" rIns="0" bIns="0" rtlCol="0">
            <a:spAutoFit/>
          </a:bodyPr>
          <a:lstStyle/>
          <a:p>
            <a:pPr marL="25977">
              <a:spcBef>
                <a:spcPts val="68"/>
              </a:spcBef>
            </a:pPr>
            <a:r>
              <a:rPr sz="1841" spc="-20" baseline="13888" dirty="0">
                <a:latin typeface="Verdana"/>
                <a:cs typeface="Verdana"/>
              </a:rPr>
              <a:t>V</a:t>
            </a:r>
            <a:r>
              <a:rPr sz="818" spc="-14" dirty="0">
                <a:latin typeface="Verdana"/>
                <a:cs typeface="Verdana"/>
              </a:rPr>
              <a:t>ref</a:t>
            </a:r>
            <a:endParaRPr sz="818">
              <a:latin typeface="Verdana"/>
              <a:cs typeface="Verdana"/>
            </a:endParaRPr>
          </a:p>
        </p:txBody>
      </p:sp>
      <p:grpSp>
        <p:nvGrpSpPr>
          <p:cNvPr id="17" name="object 17"/>
          <p:cNvGrpSpPr/>
          <p:nvPr/>
        </p:nvGrpSpPr>
        <p:grpSpPr>
          <a:xfrm>
            <a:off x="2920354" y="2837930"/>
            <a:ext cx="192232" cy="471920"/>
            <a:chOff x="2388107" y="3483102"/>
            <a:chExt cx="281940" cy="692150"/>
          </a:xfrm>
        </p:grpSpPr>
        <p:sp>
          <p:nvSpPr>
            <p:cNvPr id="18" name="object 18"/>
            <p:cNvSpPr/>
            <p:nvPr/>
          </p:nvSpPr>
          <p:spPr>
            <a:xfrm>
              <a:off x="2528315" y="3493008"/>
              <a:ext cx="0" cy="467359"/>
            </a:xfrm>
            <a:custGeom>
              <a:avLst/>
              <a:gdLst/>
              <a:ahLst/>
              <a:cxnLst/>
              <a:rect l="l" t="t" r="r" b="b"/>
              <a:pathLst>
                <a:path h="467360">
                  <a:moveTo>
                    <a:pt x="0" y="467106"/>
                  </a:moveTo>
                  <a:lnTo>
                    <a:pt x="0" y="0"/>
                  </a:lnTo>
                </a:path>
              </a:pathLst>
            </a:custGeom>
            <a:ln w="28956">
              <a:solidFill>
                <a:srgbClr val="000000"/>
              </a:solidFill>
            </a:ln>
          </p:spPr>
          <p:txBody>
            <a:bodyPr wrap="square" lIns="0" tIns="0" rIns="0" bIns="0" rtlCol="0"/>
            <a:lstStyle/>
            <a:p>
              <a:endParaRPr sz="1227"/>
            </a:p>
          </p:txBody>
        </p:sp>
        <p:sp>
          <p:nvSpPr>
            <p:cNvPr id="19" name="object 19"/>
            <p:cNvSpPr/>
            <p:nvPr/>
          </p:nvSpPr>
          <p:spPr>
            <a:xfrm>
              <a:off x="2388107" y="3497580"/>
              <a:ext cx="281940" cy="0"/>
            </a:xfrm>
            <a:custGeom>
              <a:avLst/>
              <a:gdLst/>
              <a:ahLst/>
              <a:cxnLst/>
              <a:rect l="l" t="t" r="r" b="b"/>
              <a:pathLst>
                <a:path w="281939">
                  <a:moveTo>
                    <a:pt x="281939" y="0"/>
                  </a:moveTo>
                  <a:lnTo>
                    <a:pt x="0" y="0"/>
                  </a:lnTo>
                </a:path>
              </a:pathLst>
            </a:custGeom>
            <a:ln w="28956">
              <a:solidFill>
                <a:srgbClr val="000000"/>
              </a:solidFill>
            </a:ln>
          </p:spPr>
          <p:txBody>
            <a:bodyPr wrap="square" lIns="0" tIns="0" rIns="0" bIns="0" rtlCol="0"/>
            <a:lstStyle/>
            <a:p>
              <a:endParaRPr sz="1227"/>
            </a:p>
          </p:txBody>
        </p:sp>
        <p:sp>
          <p:nvSpPr>
            <p:cNvPr id="20" name="object 20"/>
            <p:cNvSpPr/>
            <p:nvPr/>
          </p:nvSpPr>
          <p:spPr>
            <a:xfrm>
              <a:off x="2421635" y="4069080"/>
              <a:ext cx="214629" cy="0"/>
            </a:xfrm>
            <a:custGeom>
              <a:avLst/>
              <a:gdLst/>
              <a:ahLst/>
              <a:cxnLst/>
              <a:rect l="l" t="t" r="r" b="b"/>
              <a:pathLst>
                <a:path w="214630">
                  <a:moveTo>
                    <a:pt x="0" y="0"/>
                  </a:moveTo>
                  <a:lnTo>
                    <a:pt x="214122" y="0"/>
                  </a:lnTo>
                </a:path>
              </a:pathLst>
            </a:custGeom>
            <a:ln w="28956">
              <a:solidFill>
                <a:srgbClr val="000000"/>
              </a:solidFill>
            </a:ln>
          </p:spPr>
          <p:txBody>
            <a:bodyPr wrap="square" lIns="0" tIns="0" rIns="0" bIns="0" rtlCol="0"/>
            <a:lstStyle/>
            <a:p>
              <a:endParaRPr sz="1227"/>
            </a:p>
          </p:txBody>
        </p:sp>
        <p:sp>
          <p:nvSpPr>
            <p:cNvPr id="21" name="object 21"/>
            <p:cNvSpPr/>
            <p:nvPr/>
          </p:nvSpPr>
          <p:spPr>
            <a:xfrm>
              <a:off x="2474975" y="4114800"/>
              <a:ext cx="105410" cy="0"/>
            </a:xfrm>
            <a:custGeom>
              <a:avLst/>
              <a:gdLst/>
              <a:ahLst/>
              <a:cxnLst/>
              <a:rect l="l" t="t" r="r" b="b"/>
              <a:pathLst>
                <a:path w="105410">
                  <a:moveTo>
                    <a:pt x="0" y="0"/>
                  </a:moveTo>
                  <a:lnTo>
                    <a:pt x="105155" y="0"/>
                  </a:lnTo>
                </a:path>
              </a:pathLst>
            </a:custGeom>
            <a:ln w="28956">
              <a:solidFill>
                <a:srgbClr val="000000"/>
              </a:solidFill>
            </a:ln>
          </p:spPr>
          <p:txBody>
            <a:bodyPr wrap="square" lIns="0" tIns="0" rIns="0" bIns="0" rtlCol="0"/>
            <a:lstStyle/>
            <a:p>
              <a:endParaRPr sz="1227"/>
            </a:p>
          </p:txBody>
        </p:sp>
        <p:sp>
          <p:nvSpPr>
            <p:cNvPr id="22" name="object 22"/>
            <p:cNvSpPr/>
            <p:nvPr/>
          </p:nvSpPr>
          <p:spPr>
            <a:xfrm>
              <a:off x="2500121" y="4160520"/>
              <a:ext cx="53340" cy="0"/>
            </a:xfrm>
            <a:custGeom>
              <a:avLst/>
              <a:gdLst/>
              <a:ahLst/>
              <a:cxnLst/>
              <a:rect l="l" t="t" r="r" b="b"/>
              <a:pathLst>
                <a:path w="53339">
                  <a:moveTo>
                    <a:pt x="0" y="0"/>
                  </a:moveTo>
                  <a:lnTo>
                    <a:pt x="53340" y="0"/>
                  </a:lnTo>
                </a:path>
              </a:pathLst>
            </a:custGeom>
            <a:ln w="28956">
              <a:solidFill>
                <a:srgbClr val="000000"/>
              </a:solidFill>
            </a:ln>
          </p:spPr>
          <p:txBody>
            <a:bodyPr wrap="square" lIns="0" tIns="0" rIns="0" bIns="0" rtlCol="0"/>
            <a:lstStyle/>
            <a:p>
              <a:endParaRPr sz="1227"/>
            </a:p>
          </p:txBody>
        </p:sp>
        <p:sp>
          <p:nvSpPr>
            <p:cNvPr id="23" name="object 23"/>
            <p:cNvSpPr/>
            <p:nvPr/>
          </p:nvSpPr>
          <p:spPr>
            <a:xfrm>
              <a:off x="2528315" y="3889248"/>
              <a:ext cx="0" cy="180340"/>
            </a:xfrm>
            <a:custGeom>
              <a:avLst/>
              <a:gdLst/>
              <a:ahLst/>
              <a:cxnLst/>
              <a:rect l="l" t="t" r="r" b="b"/>
              <a:pathLst>
                <a:path h="180339">
                  <a:moveTo>
                    <a:pt x="0" y="179831"/>
                  </a:moveTo>
                  <a:lnTo>
                    <a:pt x="0" y="0"/>
                  </a:lnTo>
                </a:path>
              </a:pathLst>
            </a:custGeom>
            <a:ln w="28956">
              <a:solidFill>
                <a:srgbClr val="000000"/>
              </a:solidFill>
            </a:ln>
          </p:spPr>
          <p:txBody>
            <a:bodyPr wrap="square" lIns="0" tIns="0" rIns="0" bIns="0" rtlCol="0"/>
            <a:lstStyle/>
            <a:p>
              <a:endParaRPr sz="1227"/>
            </a:p>
          </p:txBody>
        </p:sp>
      </p:grpSp>
      <p:grpSp>
        <p:nvGrpSpPr>
          <p:cNvPr id="24" name="object 24"/>
          <p:cNvGrpSpPr/>
          <p:nvPr/>
        </p:nvGrpSpPr>
        <p:grpSpPr>
          <a:xfrm>
            <a:off x="1850523" y="2027871"/>
            <a:ext cx="3375314" cy="1276782"/>
            <a:chOff x="819022" y="2295017"/>
            <a:chExt cx="4950460" cy="1872614"/>
          </a:xfrm>
        </p:grpSpPr>
        <p:sp>
          <p:nvSpPr>
            <p:cNvPr id="25" name="object 25"/>
            <p:cNvSpPr/>
            <p:nvPr/>
          </p:nvSpPr>
          <p:spPr>
            <a:xfrm>
              <a:off x="2528315" y="2957322"/>
              <a:ext cx="0" cy="464820"/>
            </a:xfrm>
            <a:custGeom>
              <a:avLst/>
              <a:gdLst/>
              <a:ahLst/>
              <a:cxnLst/>
              <a:rect l="l" t="t" r="r" b="b"/>
              <a:pathLst>
                <a:path h="464820">
                  <a:moveTo>
                    <a:pt x="0" y="464820"/>
                  </a:moveTo>
                  <a:lnTo>
                    <a:pt x="0" y="0"/>
                  </a:lnTo>
                </a:path>
              </a:pathLst>
            </a:custGeom>
            <a:ln w="28956">
              <a:solidFill>
                <a:srgbClr val="000000"/>
              </a:solidFill>
            </a:ln>
          </p:spPr>
          <p:txBody>
            <a:bodyPr wrap="square" lIns="0" tIns="0" rIns="0" bIns="0" rtlCol="0"/>
            <a:lstStyle/>
            <a:p>
              <a:endParaRPr sz="1227"/>
            </a:p>
          </p:txBody>
        </p:sp>
        <p:pic>
          <p:nvPicPr>
            <p:cNvPr id="26" name="object 26"/>
            <p:cNvPicPr/>
            <p:nvPr/>
          </p:nvPicPr>
          <p:blipFill>
            <a:blip r:embed="rId3" cstate="print"/>
            <a:stretch>
              <a:fillRect/>
            </a:stretch>
          </p:blipFill>
          <p:spPr>
            <a:xfrm>
              <a:off x="2484876" y="2913888"/>
              <a:ext cx="86867" cy="86867"/>
            </a:xfrm>
            <a:prstGeom prst="rect">
              <a:avLst/>
            </a:prstGeom>
          </p:spPr>
        </p:pic>
        <p:sp>
          <p:nvSpPr>
            <p:cNvPr id="27" name="object 27"/>
            <p:cNvSpPr/>
            <p:nvPr/>
          </p:nvSpPr>
          <p:spPr>
            <a:xfrm>
              <a:off x="2388108" y="3423666"/>
              <a:ext cx="281940" cy="0"/>
            </a:xfrm>
            <a:custGeom>
              <a:avLst/>
              <a:gdLst/>
              <a:ahLst/>
              <a:cxnLst/>
              <a:rect l="l" t="t" r="r" b="b"/>
              <a:pathLst>
                <a:path w="281939">
                  <a:moveTo>
                    <a:pt x="281939" y="0"/>
                  </a:moveTo>
                  <a:lnTo>
                    <a:pt x="0" y="0"/>
                  </a:lnTo>
                </a:path>
              </a:pathLst>
            </a:custGeom>
            <a:ln w="28956">
              <a:solidFill>
                <a:srgbClr val="000000"/>
              </a:solidFill>
            </a:ln>
          </p:spPr>
          <p:txBody>
            <a:bodyPr wrap="square" lIns="0" tIns="0" rIns="0" bIns="0" rtlCol="0"/>
            <a:lstStyle/>
            <a:p>
              <a:endParaRPr sz="1227"/>
            </a:p>
          </p:txBody>
        </p:sp>
        <p:sp>
          <p:nvSpPr>
            <p:cNvPr id="28" name="object 28"/>
            <p:cNvSpPr/>
            <p:nvPr/>
          </p:nvSpPr>
          <p:spPr>
            <a:xfrm>
              <a:off x="3307080" y="2578608"/>
              <a:ext cx="5080" cy="370840"/>
            </a:xfrm>
            <a:custGeom>
              <a:avLst/>
              <a:gdLst/>
              <a:ahLst/>
              <a:cxnLst/>
              <a:rect l="l" t="t" r="r" b="b"/>
              <a:pathLst>
                <a:path w="5079" h="370839">
                  <a:moveTo>
                    <a:pt x="0" y="0"/>
                  </a:moveTo>
                  <a:lnTo>
                    <a:pt x="4572" y="370332"/>
                  </a:lnTo>
                </a:path>
              </a:pathLst>
            </a:custGeom>
            <a:ln w="28956">
              <a:solidFill>
                <a:srgbClr val="000000"/>
              </a:solidFill>
            </a:ln>
          </p:spPr>
          <p:txBody>
            <a:bodyPr wrap="square" lIns="0" tIns="0" rIns="0" bIns="0" rtlCol="0"/>
            <a:lstStyle/>
            <a:p>
              <a:endParaRPr sz="1227"/>
            </a:p>
          </p:txBody>
        </p:sp>
        <p:sp>
          <p:nvSpPr>
            <p:cNvPr id="29" name="object 29"/>
            <p:cNvSpPr/>
            <p:nvPr/>
          </p:nvSpPr>
          <p:spPr>
            <a:xfrm>
              <a:off x="833627" y="2939796"/>
              <a:ext cx="4140835" cy="9525"/>
            </a:xfrm>
            <a:custGeom>
              <a:avLst/>
              <a:gdLst/>
              <a:ahLst/>
              <a:cxnLst/>
              <a:rect l="l" t="t" r="r" b="b"/>
              <a:pathLst>
                <a:path w="4140835" h="9525">
                  <a:moveTo>
                    <a:pt x="0" y="9144"/>
                  </a:moveTo>
                  <a:lnTo>
                    <a:pt x="4140708" y="0"/>
                  </a:lnTo>
                </a:path>
              </a:pathLst>
            </a:custGeom>
            <a:ln w="28956">
              <a:solidFill>
                <a:srgbClr val="000000"/>
              </a:solidFill>
            </a:ln>
          </p:spPr>
          <p:txBody>
            <a:bodyPr wrap="square" lIns="0" tIns="0" rIns="0" bIns="0" rtlCol="0"/>
            <a:lstStyle/>
            <a:p>
              <a:endParaRPr sz="1227"/>
            </a:p>
          </p:txBody>
        </p:sp>
        <p:pic>
          <p:nvPicPr>
            <p:cNvPr id="30" name="object 30"/>
            <p:cNvPicPr/>
            <p:nvPr/>
          </p:nvPicPr>
          <p:blipFill>
            <a:blip r:embed="rId4" cstate="print"/>
            <a:stretch>
              <a:fillRect/>
            </a:stretch>
          </p:blipFill>
          <p:spPr>
            <a:xfrm>
              <a:off x="3268221" y="2905504"/>
              <a:ext cx="86868" cy="86867"/>
            </a:xfrm>
            <a:prstGeom prst="rect">
              <a:avLst/>
            </a:prstGeom>
          </p:spPr>
        </p:pic>
        <p:sp>
          <p:nvSpPr>
            <p:cNvPr id="31" name="object 31"/>
            <p:cNvSpPr/>
            <p:nvPr/>
          </p:nvSpPr>
          <p:spPr>
            <a:xfrm>
              <a:off x="856487" y="2309622"/>
              <a:ext cx="3175" cy="631825"/>
            </a:xfrm>
            <a:custGeom>
              <a:avLst/>
              <a:gdLst/>
              <a:ahLst/>
              <a:cxnLst/>
              <a:rect l="l" t="t" r="r" b="b"/>
              <a:pathLst>
                <a:path w="3175" h="631825">
                  <a:moveTo>
                    <a:pt x="0" y="0"/>
                  </a:moveTo>
                  <a:lnTo>
                    <a:pt x="3048" y="631698"/>
                  </a:lnTo>
                </a:path>
              </a:pathLst>
            </a:custGeom>
            <a:ln w="28955">
              <a:solidFill>
                <a:srgbClr val="000000"/>
              </a:solidFill>
            </a:ln>
          </p:spPr>
          <p:txBody>
            <a:bodyPr wrap="square" lIns="0" tIns="0" rIns="0" bIns="0" rtlCol="0"/>
            <a:lstStyle/>
            <a:p>
              <a:endParaRPr sz="1227"/>
            </a:p>
          </p:txBody>
        </p:sp>
        <p:sp>
          <p:nvSpPr>
            <p:cNvPr id="32" name="object 32"/>
            <p:cNvSpPr/>
            <p:nvPr/>
          </p:nvSpPr>
          <p:spPr>
            <a:xfrm>
              <a:off x="1617725" y="2309622"/>
              <a:ext cx="208915" cy="0"/>
            </a:xfrm>
            <a:custGeom>
              <a:avLst/>
              <a:gdLst/>
              <a:ahLst/>
              <a:cxnLst/>
              <a:rect l="l" t="t" r="r" b="b"/>
              <a:pathLst>
                <a:path w="208914">
                  <a:moveTo>
                    <a:pt x="0" y="0"/>
                  </a:moveTo>
                  <a:lnTo>
                    <a:pt x="208788" y="0"/>
                  </a:lnTo>
                </a:path>
              </a:pathLst>
            </a:custGeom>
            <a:ln w="28956">
              <a:solidFill>
                <a:srgbClr val="000000"/>
              </a:solidFill>
            </a:ln>
          </p:spPr>
          <p:txBody>
            <a:bodyPr wrap="square" lIns="0" tIns="0" rIns="0" bIns="0" rtlCol="0"/>
            <a:lstStyle/>
            <a:p>
              <a:endParaRPr sz="1227"/>
            </a:p>
          </p:txBody>
        </p:sp>
        <p:sp>
          <p:nvSpPr>
            <p:cNvPr id="33" name="object 33"/>
            <p:cNvSpPr/>
            <p:nvPr/>
          </p:nvSpPr>
          <p:spPr>
            <a:xfrm>
              <a:off x="5540501" y="4061460"/>
              <a:ext cx="214629" cy="0"/>
            </a:xfrm>
            <a:custGeom>
              <a:avLst/>
              <a:gdLst/>
              <a:ahLst/>
              <a:cxnLst/>
              <a:rect l="l" t="t" r="r" b="b"/>
              <a:pathLst>
                <a:path w="214629">
                  <a:moveTo>
                    <a:pt x="0" y="0"/>
                  </a:moveTo>
                  <a:lnTo>
                    <a:pt x="214122" y="0"/>
                  </a:lnTo>
                </a:path>
              </a:pathLst>
            </a:custGeom>
            <a:ln w="28956">
              <a:solidFill>
                <a:srgbClr val="000000"/>
              </a:solidFill>
            </a:ln>
          </p:spPr>
          <p:txBody>
            <a:bodyPr wrap="square" lIns="0" tIns="0" rIns="0" bIns="0" rtlCol="0"/>
            <a:lstStyle/>
            <a:p>
              <a:endParaRPr sz="1227"/>
            </a:p>
          </p:txBody>
        </p:sp>
        <p:sp>
          <p:nvSpPr>
            <p:cNvPr id="34" name="object 34"/>
            <p:cNvSpPr/>
            <p:nvPr/>
          </p:nvSpPr>
          <p:spPr>
            <a:xfrm>
              <a:off x="5593841" y="4107180"/>
              <a:ext cx="105410" cy="0"/>
            </a:xfrm>
            <a:custGeom>
              <a:avLst/>
              <a:gdLst/>
              <a:ahLst/>
              <a:cxnLst/>
              <a:rect l="l" t="t" r="r" b="b"/>
              <a:pathLst>
                <a:path w="105410">
                  <a:moveTo>
                    <a:pt x="0" y="0"/>
                  </a:moveTo>
                  <a:lnTo>
                    <a:pt x="105155" y="0"/>
                  </a:lnTo>
                </a:path>
              </a:pathLst>
            </a:custGeom>
            <a:ln w="28956">
              <a:solidFill>
                <a:srgbClr val="000000"/>
              </a:solidFill>
            </a:ln>
          </p:spPr>
          <p:txBody>
            <a:bodyPr wrap="square" lIns="0" tIns="0" rIns="0" bIns="0" rtlCol="0"/>
            <a:lstStyle/>
            <a:p>
              <a:endParaRPr sz="1227"/>
            </a:p>
          </p:txBody>
        </p:sp>
        <p:sp>
          <p:nvSpPr>
            <p:cNvPr id="35" name="object 35"/>
            <p:cNvSpPr/>
            <p:nvPr/>
          </p:nvSpPr>
          <p:spPr>
            <a:xfrm>
              <a:off x="5618988" y="4152900"/>
              <a:ext cx="53340" cy="0"/>
            </a:xfrm>
            <a:custGeom>
              <a:avLst/>
              <a:gdLst/>
              <a:ahLst/>
              <a:cxnLst/>
              <a:rect l="l" t="t" r="r" b="b"/>
              <a:pathLst>
                <a:path w="53339">
                  <a:moveTo>
                    <a:pt x="0" y="0"/>
                  </a:moveTo>
                  <a:lnTo>
                    <a:pt x="53340" y="0"/>
                  </a:lnTo>
                </a:path>
              </a:pathLst>
            </a:custGeom>
            <a:ln w="28956">
              <a:solidFill>
                <a:srgbClr val="000000"/>
              </a:solidFill>
            </a:ln>
          </p:spPr>
          <p:txBody>
            <a:bodyPr wrap="square" lIns="0" tIns="0" rIns="0" bIns="0" rtlCol="0"/>
            <a:lstStyle/>
            <a:p>
              <a:endParaRPr sz="1227"/>
            </a:p>
          </p:txBody>
        </p:sp>
        <p:sp>
          <p:nvSpPr>
            <p:cNvPr id="36" name="object 36"/>
            <p:cNvSpPr/>
            <p:nvPr/>
          </p:nvSpPr>
          <p:spPr>
            <a:xfrm>
              <a:off x="5647182" y="3882390"/>
              <a:ext cx="0" cy="179070"/>
            </a:xfrm>
            <a:custGeom>
              <a:avLst/>
              <a:gdLst/>
              <a:ahLst/>
              <a:cxnLst/>
              <a:rect l="l" t="t" r="r" b="b"/>
              <a:pathLst>
                <a:path h="179070">
                  <a:moveTo>
                    <a:pt x="0" y="179069"/>
                  </a:moveTo>
                  <a:lnTo>
                    <a:pt x="0" y="0"/>
                  </a:lnTo>
                </a:path>
              </a:pathLst>
            </a:custGeom>
            <a:ln w="28956">
              <a:solidFill>
                <a:srgbClr val="000000"/>
              </a:solidFill>
            </a:ln>
          </p:spPr>
          <p:txBody>
            <a:bodyPr wrap="square" lIns="0" tIns="0" rIns="0" bIns="0" rtlCol="0"/>
            <a:lstStyle/>
            <a:p>
              <a:endParaRPr sz="1227"/>
            </a:p>
          </p:txBody>
        </p:sp>
      </p:grpSp>
      <p:sp>
        <p:nvSpPr>
          <p:cNvPr id="37" name="object 37"/>
          <p:cNvSpPr txBox="1"/>
          <p:nvPr/>
        </p:nvSpPr>
        <p:spPr>
          <a:xfrm>
            <a:off x="3385809" y="2573154"/>
            <a:ext cx="328613" cy="197641"/>
          </a:xfrm>
          <a:prstGeom prst="rect">
            <a:avLst/>
          </a:prstGeom>
        </p:spPr>
        <p:txBody>
          <a:bodyPr vert="horz" wrap="square" lIns="0" tIns="8659" rIns="0" bIns="0" rtlCol="0">
            <a:spAutoFit/>
          </a:bodyPr>
          <a:lstStyle/>
          <a:p>
            <a:pPr marL="25977">
              <a:spcBef>
                <a:spcPts val="68"/>
              </a:spcBef>
            </a:pPr>
            <a:r>
              <a:rPr sz="1841" spc="-20" baseline="13888" dirty="0">
                <a:solidFill>
                  <a:srgbClr val="FF0000"/>
                </a:solidFill>
                <a:latin typeface="Verdana"/>
                <a:cs typeface="Verdana"/>
              </a:rPr>
              <a:t>V</a:t>
            </a:r>
            <a:r>
              <a:rPr sz="818" spc="-14" dirty="0">
                <a:solidFill>
                  <a:srgbClr val="FF0000"/>
                </a:solidFill>
                <a:latin typeface="Verdana"/>
                <a:cs typeface="Verdana"/>
              </a:rPr>
              <a:t>out</a:t>
            </a:r>
            <a:endParaRPr sz="818">
              <a:latin typeface="Verdana"/>
              <a:cs typeface="Verdana"/>
            </a:endParaRPr>
          </a:p>
        </p:txBody>
      </p:sp>
      <p:sp>
        <p:nvSpPr>
          <p:cNvPr id="38" name="object 38"/>
          <p:cNvSpPr txBox="1"/>
          <p:nvPr/>
        </p:nvSpPr>
        <p:spPr>
          <a:xfrm>
            <a:off x="2057924" y="1943419"/>
            <a:ext cx="352858" cy="197578"/>
          </a:xfrm>
          <a:prstGeom prst="rect">
            <a:avLst/>
          </a:prstGeom>
        </p:spPr>
        <p:txBody>
          <a:bodyPr vert="horz" wrap="square" lIns="0" tIns="8659" rIns="0" bIns="0" rtlCol="0">
            <a:spAutoFit/>
          </a:bodyPr>
          <a:lstStyle/>
          <a:p>
            <a:pPr marL="8659">
              <a:spcBef>
                <a:spcPts val="68"/>
              </a:spcBef>
            </a:pPr>
            <a:r>
              <a:rPr sz="1227" spc="-17" dirty="0">
                <a:latin typeface="Verdana"/>
                <a:cs typeface="Verdana"/>
              </a:rPr>
              <a:t>ADC</a:t>
            </a:r>
            <a:endParaRPr sz="1227">
              <a:latin typeface="Verdana"/>
              <a:cs typeface="Verdana"/>
            </a:endParaRPr>
          </a:p>
        </p:txBody>
      </p:sp>
      <p:grpSp>
        <p:nvGrpSpPr>
          <p:cNvPr id="39" name="object 39"/>
          <p:cNvGrpSpPr/>
          <p:nvPr/>
        </p:nvGrpSpPr>
        <p:grpSpPr>
          <a:xfrm>
            <a:off x="1868188" y="1442430"/>
            <a:ext cx="3432031" cy="1690688"/>
            <a:chOff x="844930" y="1436369"/>
            <a:chExt cx="5033645" cy="2479675"/>
          </a:xfrm>
        </p:grpSpPr>
        <p:sp>
          <p:nvSpPr>
            <p:cNvPr id="40" name="object 40"/>
            <p:cNvSpPr/>
            <p:nvPr/>
          </p:nvSpPr>
          <p:spPr>
            <a:xfrm>
              <a:off x="3597401" y="2208275"/>
              <a:ext cx="108585" cy="214629"/>
            </a:xfrm>
            <a:custGeom>
              <a:avLst/>
              <a:gdLst/>
              <a:ahLst/>
              <a:cxnLst/>
              <a:rect l="l" t="t" r="r" b="b"/>
              <a:pathLst>
                <a:path w="108585" h="214630">
                  <a:moveTo>
                    <a:pt x="0" y="214122"/>
                  </a:moveTo>
                  <a:lnTo>
                    <a:pt x="0" y="0"/>
                  </a:lnTo>
                </a:path>
                <a:path w="108585" h="214630">
                  <a:moveTo>
                    <a:pt x="0" y="214122"/>
                  </a:moveTo>
                  <a:lnTo>
                    <a:pt x="108204" y="214122"/>
                  </a:lnTo>
                </a:path>
              </a:pathLst>
            </a:custGeom>
            <a:ln w="28956">
              <a:solidFill>
                <a:srgbClr val="000000"/>
              </a:solidFill>
            </a:ln>
          </p:spPr>
          <p:txBody>
            <a:bodyPr wrap="square" lIns="0" tIns="0" rIns="0" bIns="0" rtlCol="0"/>
            <a:lstStyle/>
            <a:p>
              <a:endParaRPr sz="1227"/>
            </a:p>
          </p:txBody>
        </p:sp>
        <p:sp>
          <p:nvSpPr>
            <p:cNvPr id="41" name="object 41"/>
            <p:cNvSpPr/>
            <p:nvPr/>
          </p:nvSpPr>
          <p:spPr>
            <a:xfrm>
              <a:off x="3597401" y="2208275"/>
              <a:ext cx="108585" cy="0"/>
            </a:xfrm>
            <a:custGeom>
              <a:avLst/>
              <a:gdLst/>
              <a:ahLst/>
              <a:cxnLst/>
              <a:rect l="l" t="t" r="r" b="b"/>
              <a:pathLst>
                <a:path w="108585">
                  <a:moveTo>
                    <a:pt x="0" y="0"/>
                  </a:moveTo>
                  <a:lnTo>
                    <a:pt x="108204" y="0"/>
                  </a:lnTo>
                </a:path>
              </a:pathLst>
            </a:custGeom>
            <a:ln w="28956">
              <a:solidFill>
                <a:srgbClr val="000000"/>
              </a:solidFill>
            </a:ln>
          </p:spPr>
          <p:txBody>
            <a:bodyPr wrap="square" lIns="0" tIns="0" rIns="0" bIns="0" rtlCol="0"/>
            <a:lstStyle/>
            <a:p>
              <a:endParaRPr sz="1227"/>
            </a:p>
          </p:txBody>
        </p:sp>
        <p:sp>
          <p:nvSpPr>
            <p:cNvPr id="42" name="object 42"/>
            <p:cNvSpPr/>
            <p:nvPr/>
          </p:nvSpPr>
          <p:spPr>
            <a:xfrm>
              <a:off x="3705605" y="2029968"/>
              <a:ext cx="0" cy="180340"/>
            </a:xfrm>
            <a:custGeom>
              <a:avLst/>
              <a:gdLst/>
              <a:ahLst/>
              <a:cxnLst/>
              <a:rect l="l" t="t" r="r" b="b"/>
              <a:pathLst>
                <a:path h="180339">
                  <a:moveTo>
                    <a:pt x="0" y="179832"/>
                  </a:moveTo>
                  <a:lnTo>
                    <a:pt x="0" y="0"/>
                  </a:lnTo>
                </a:path>
              </a:pathLst>
            </a:custGeom>
            <a:ln w="28956">
              <a:solidFill>
                <a:srgbClr val="000000"/>
              </a:solidFill>
            </a:ln>
          </p:spPr>
          <p:txBody>
            <a:bodyPr wrap="square" lIns="0" tIns="0" rIns="0" bIns="0" rtlCol="0"/>
            <a:lstStyle/>
            <a:p>
              <a:endParaRPr sz="1227"/>
            </a:p>
          </p:txBody>
        </p:sp>
        <p:sp>
          <p:nvSpPr>
            <p:cNvPr id="43" name="object 43"/>
            <p:cNvSpPr/>
            <p:nvPr/>
          </p:nvSpPr>
          <p:spPr>
            <a:xfrm>
              <a:off x="3705605" y="2423922"/>
              <a:ext cx="0" cy="179070"/>
            </a:xfrm>
            <a:custGeom>
              <a:avLst/>
              <a:gdLst/>
              <a:ahLst/>
              <a:cxnLst/>
              <a:rect l="l" t="t" r="r" b="b"/>
              <a:pathLst>
                <a:path h="179069">
                  <a:moveTo>
                    <a:pt x="0" y="179070"/>
                  </a:moveTo>
                  <a:lnTo>
                    <a:pt x="0" y="0"/>
                  </a:lnTo>
                </a:path>
              </a:pathLst>
            </a:custGeom>
            <a:ln w="28956">
              <a:solidFill>
                <a:srgbClr val="000000"/>
              </a:solidFill>
            </a:ln>
          </p:spPr>
          <p:txBody>
            <a:bodyPr wrap="square" lIns="0" tIns="0" rIns="0" bIns="0" rtlCol="0"/>
            <a:lstStyle/>
            <a:p>
              <a:endParaRPr sz="1227"/>
            </a:p>
          </p:txBody>
        </p:sp>
        <p:sp>
          <p:nvSpPr>
            <p:cNvPr id="44" name="object 44"/>
            <p:cNvSpPr/>
            <p:nvPr/>
          </p:nvSpPr>
          <p:spPr>
            <a:xfrm>
              <a:off x="3662172" y="2559558"/>
              <a:ext cx="86995" cy="86995"/>
            </a:xfrm>
            <a:custGeom>
              <a:avLst/>
              <a:gdLst/>
              <a:ahLst/>
              <a:cxnLst/>
              <a:rect l="l" t="t" r="r" b="b"/>
              <a:pathLst>
                <a:path w="86995" h="86994">
                  <a:moveTo>
                    <a:pt x="43434" y="0"/>
                  </a:moveTo>
                  <a:lnTo>
                    <a:pt x="26526" y="3412"/>
                  </a:lnTo>
                  <a:lnTo>
                    <a:pt x="12720" y="12720"/>
                  </a:lnTo>
                  <a:lnTo>
                    <a:pt x="3412" y="26526"/>
                  </a:lnTo>
                  <a:lnTo>
                    <a:pt x="0" y="43434"/>
                  </a:lnTo>
                  <a:lnTo>
                    <a:pt x="3412" y="60341"/>
                  </a:lnTo>
                  <a:lnTo>
                    <a:pt x="12720" y="74147"/>
                  </a:lnTo>
                  <a:lnTo>
                    <a:pt x="26526" y="83455"/>
                  </a:lnTo>
                  <a:lnTo>
                    <a:pt x="43434" y="86868"/>
                  </a:lnTo>
                  <a:lnTo>
                    <a:pt x="60341" y="83455"/>
                  </a:lnTo>
                  <a:lnTo>
                    <a:pt x="74147" y="74147"/>
                  </a:lnTo>
                  <a:lnTo>
                    <a:pt x="83455" y="60341"/>
                  </a:lnTo>
                  <a:lnTo>
                    <a:pt x="86868" y="43434"/>
                  </a:lnTo>
                  <a:lnTo>
                    <a:pt x="83455" y="26526"/>
                  </a:lnTo>
                  <a:lnTo>
                    <a:pt x="74147" y="12720"/>
                  </a:lnTo>
                  <a:lnTo>
                    <a:pt x="60341" y="3412"/>
                  </a:lnTo>
                  <a:lnTo>
                    <a:pt x="43434" y="0"/>
                  </a:lnTo>
                  <a:close/>
                </a:path>
              </a:pathLst>
            </a:custGeom>
            <a:solidFill>
              <a:srgbClr val="000000"/>
            </a:solidFill>
          </p:spPr>
          <p:txBody>
            <a:bodyPr wrap="square" lIns="0" tIns="0" rIns="0" bIns="0" rtlCol="0"/>
            <a:lstStyle/>
            <a:p>
              <a:endParaRPr sz="1227"/>
            </a:p>
          </p:txBody>
        </p:sp>
        <p:pic>
          <p:nvPicPr>
            <p:cNvPr id="45" name="object 45"/>
            <p:cNvPicPr/>
            <p:nvPr/>
          </p:nvPicPr>
          <p:blipFill>
            <a:blip r:embed="rId2" cstate="print"/>
            <a:stretch>
              <a:fillRect/>
            </a:stretch>
          </p:blipFill>
          <p:spPr>
            <a:xfrm>
              <a:off x="3348227" y="2211323"/>
              <a:ext cx="192786" cy="214122"/>
            </a:xfrm>
            <a:prstGeom prst="rect">
              <a:avLst/>
            </a:prstGeom>
          </p:spPr>
        </p:pic>
        <p:sp>
          <p:nvSpPr>
            <p:cNvPr id="46" name="object 46"/>
            <p:cNvSpPr/>
            <p:nvPr/>
          </p:nvSpPr>
          <p:spPr>
            <a:xfrm>
              <a:off x="4538471" y="2208275"/>
              <a:ext cx="108585" cy="214629"/>
            </a:xfrm>
            <a:custGeom>
              <a:avLst/>
              <a:gdLst/>
              <a:ahLst/>
              <a:cxnLst/>
              <a:rect l="l" t="t" r="r" b="b"/>
              <a:pathLst>
                <a:path w="108585" h="214630">
                  <a:moveTo>
                    <a:pt x="0" y="214122"/>
                  </a:moveTo>
                  <a:lnTo>
                    <a:pt x="0" y="0"/>
                  </a:lnTo>
                </a:path>
                <a:path w="108585" h="214630">
                  <a:moveTo>
                    <a:pt x="0" y="214122"/>
                  </a:moveTo>
                  <a:lnTo>
                    <a:pt x="108204" y="214122"/>
                  </a:lnTo>
                </a:path>
              </a:pathLst>
            </a:custGeom>
            <a:ln w="28956">
              <a:solidFill>
                <a:srgbClr val="000000"/>
              </a:solidFill>
            </a:ln>
          </p:spPr>
          <p:txBody>
            <a:bodyPr wrap="square" lIns="0" tIns="0" rIns="0" bIns="0" rtlCol="0"/>
            <a:lstStyle/>
            <a:p>
              <a:endParaRPr sz="1227"/>
            </a:p>
          </p:txBody>
        </p:sp>
        <p:sp>
          <p:nvSpPr>
            <p:cNvPr id="47" name="object 47"/>
            <p:cNvSpPr/>
            <p:nvPr/>
          </p:nvSpPr>
          <p:spPr>
            <a:xfrm>
              <a:off x="4538471" y="2208275"/>
              <a:ext cx="108585" cy="0"/>
            </a:xfrm>
            <a:custGeom>
              <a:avLst/>
              <a:gdLst/>
              <a:ahLst/>
              <a:cxnLst/>
              <a:rect l="l" t="t" r="r" b="b"/>
              <a:pathLst>
                <a:path w="108585">
                  <a:moveTo>
                    <a:pt x="0" y="0"/>
                  </a:moveTo>
                  <a:lnTo>
                    <a:pt x="108204" y="0"/>
                  </a:lnTo>
                </a:path>
              </a:pathLst>
            </a:custGeom>
            <a:ln w="28956">
              <a:solidFill>
                <a:srgbClr val="000000"/>
              </a:solidFill>
            </a:ln>
          </p:spPr>
          <p:txBody>
            <a:bodyPr wrap="square" lIns="0" tIns="0" rIns="0" bIns="0" rtlCol="0"/>
            <a:lstStyle/>
            <a:p>
              <a:endParaRPr sz="1227"/>
            </a:p>
          </p:txBody>
        </p:sp>
        <p:sp>
          <p:nvSpPr>
            <p:cNvPr id="48" name="object 48"/>
            <p:cNvSpPr/>
            <p:nvPr/>
          </p:nvSpPr>
          <p:spPr>
            <a:xfrm>
              <a:off x="4646676" y="2029968"/>
              <a:ext cx="0" cy="180340"/>
            </a:xfrm>
            <a:custGeom>
              <a:avLst/>
              <a:gdLst/>
              <a:ahLst/>
              <a:cxnLst/>
              <a:rect l="l" t="t" r="r" b="b"/>
              <a:pathLst>
                <a:path h="180339">
                  <a:moveTo>
                    <a:pt x="0" y="179832"/>
                  </a:moveTo>
                  <a:lnTo>
                    <a:pt x="0" y="0"/>
                  </a:lnTo>
                </a:path>
              </a:pathLst>
            </a:custGeom>
            <a:ln w="28956">
              <a:solidFill>
                <a:srgbClr val="000000"/>
              </a:solidFill>
            </a:ln>
          </p:spPr>
          <p:txBody>
            <a:bodyPr wrap="square" lIns="0" tIns="0" rIns="0" bIns="0" rtlCol="0"/>
            <a:lstStyle/>
            <a:p>
              <a:endParaRPr sz="1227"/>
            </a:p>
          </p:txBody>
        </p:sp>
        <p:sp>
          <p:nvSpPr>
            <p:cNvPr id="49" name="object 49"/>
            <p:cNvSpPr/>
            <p:nvPr/>
          </p:nvSpPr>
          <p:spPr>
            <a:xfrm>
              <a:off x="4646676" y="2423922"/>
              <a:ext cx="0" cy="179070"/>
            </a:xfrm>
            <a:custGeom>
              <a:avLst/>
              <a:gdLst/>
              <a:ahLst/>
              <a:cxnLst/>
              <a:rect l="l" t="t" r="r" b="b"/>
              <a:pathLst>
                <a:path h="179069">
                  <a:moveTo>
                    <a:pt x="0" y="179070"/>
                  </a:moveTo>
                  <a:lnTo>
                    <a:pt x="0" y="0"/>
                  </a:lnTo>
                </a:path>
              </a:pathLst>
            </a:custGeom>
            <a:ln w="28956">
              <a:solidFill>
                <a:srgbClr val="000000"/>
              </a:solidFill>
            </a:ln>
          </p:spPr>
          <p:txBody>
            <a:bodyPr wrap="square" lIns="0" tIns="0" rIns="0" bIns="0" rtlCol="0"/>
            <a:lstStyle/>
            <a:p>
              <a:endParaRPr sz="1227"/>
            </a:p>
          </p:txBody>
        </p:sp>
        <p:sp>
          <p:nvSpPr>
            <p:cNvPr id="50" name="object 50"/>
            <p:cNvSpPr/>
            <p:nvPr/>
          </p:nvSpPr>
          <p:spPr>
            <a:xfrm>
              <a:off x="4603241" y="2559558"/>
              <a:ext cx="86995" cy="86995"/>
            </a:xfrm>
            <a:custGeom>
              <a:avLst/>
              <a:gdLst/>
              <a:ahLst/>
              <a:cxnLst/>
              <a:rect l="l" t="t" r="r" b="b"/>
              <a:pathLst>
                <a:path w="86995" h="86994">
                  <a:moveTo>
                    <a:pt x="43434" y="0"/>
                  </a:moveTo>
                  <a:lnTo>
                    <a:pt x="26526" y="3412"/>
                  </a:lnTo>
                  <a:lnTo>
                    <a:pt x="12720" y="12720"/>
                  </a:lnTo>
                  <a:lnTo>
                    <a:pt x="3412" y="26526"/>
                  </a:lnTo>
                  <a:lnTo>
                    <a:pt x="0" y="43434"/>
                  </a:lnTo>
                  <a:lnTo>
                    <a:pt x="3412" y="60341"/>
                  </a:lnTo>
                  <a:lnTo>
                    <a:pt x="12720" y="74147"/>
                  </a:lnTo>
                  <a:lnTo>
                    <a:pt x="26526" y="83455"/>
                  </a:lnTo>
                  <a:lnTo>
                    <a:pt x="43434" y="86868"/>
                  </a:lnTo>
                  <a:lnTo>
                    <a:pt x="60341" y="83455"/>
                  </a:lnTo>
                  <a:lnTo>
                    <a:pt x="74147" y="74147"/>
                  </a:lnTo>
                  <a:lnTo>
                    <a:pt x="83455" y="60341"/>
                  </a:lnTo>
                  <a:lnTo>
                    <a:pt x="86868" y="43434"/>
                  </a:lnTo>
                  <a:lnTo>
                    <a:pt x="83455" y="26526"/>
                  </a:lnTo>
                  <a:lnTo>
                    <a:pt x="74147" y="12720"/>
                  </a:lnTo>
                  <a:lnTo>
                    <a:pt x="60341" y="3412"/>
                  </a:lnTo>
                  <a:lnTo>
                    <a:pt x="43434" y="0"/>
                  </a:lnTo>
                  <a:close/>
                </a:path>
              </a:pathLst>
            </a:custGeom>
            <a:solidFill>
              <a:srgbClr val="000000"/>
            </a:solidFill>
          </p:spPr>
          <p:txBody>
            <a:bodyPr wrap="square" lIns="0" tIns="0" rIns="0" bIns="0" rtlCol="0"/>
            <a:lstStyle/>
            <a:p>
              <a:endParaRPr sz="1227"/>
            </a:p>
          </p:txBody>
        </p:sp>
        <p:pic>
          <p:nvPicPr>
            <p:cNvPr id="51" name="object 51"/>
            <p:cNvPicPr/>
            <p:nvPr/>
          </p:nvPicPr>
          <p:blipFill>
            <a:blip r:embed="rId5" cstate="print"/>
            <a:stretch>
              <a:fillRect/>
            </a:stretch>
          </p:blipFill>
          <p:spPr>
            <a:xfrm>
              <a:off x="4289297" y="2211323"/>
              <a:ext cx="192786" cy="214122"/>
            </a:xfrm>
            <a:prstGeom prst="rect">
              <a:avLst/>
            </a:prstGeom>
          </p:spPr>
        </p:pic>
        <p:sp>
          <p:nvSpPr>
            <p:cNvPr id="52" name="object 52"/>
            <p:cNvSpPr/>
            <p:nvPr/>
          </p:nvSpPr>
          <p:spPr>
            <a:xfrm>
              <a:off x="3883532" y="2316861"/>
              <a:ext cx="302260" cy="0"/>
            </a:xfrm>
            <a:custGeom>
              <a:avLst/>
              <a:gdLst/>
              <a:ahLst/>
              <a:cxnLst/>
              <a:rect l="l" t="t" r="r" b="b"/>
              <a:pathLst>
                <a:path w="302260">
                  <a:moveTo>
                    <a:pt x="0" y="0"/>
                  </a:moveTo>
                  <a:lnTo>
                    <a:pt x="301752" y="0"/>
                  </a:lnTo>
                </a:path>
              </a:pathLst>
            </a:custGeom>
            <a:ln w="63246">
              <a:solidFill>
                <a:srgbClr val="000000"/>
              </a:solidFill>
              <a:prstDash val="dot"/>
            </a:ln>
          </p:spPr>
          <p:txBody>
            <a:bodyPr wrap="square" lIns="0" tIns="0" rIns="0" bIns="0" rtlCol="0"/>
            <a:lstStyle/>
            <a:p>
              <a:endParaRPr sz="1227"/>
            </a:p>
          </p:txBody>
        </p:sp>
        <p:sp>
          <p:nvSpPr>
            <p:cNvPr id="53" name="object 53"/>
            <p:cNvSpPr/>
            <p:nvPr/>
          </p:nvSpPr>
          <p:spPr>
            <a:xfrm>
              <a:off x="3309366" y="2599181"/>
              <a:ext cx="1337310" cy="6350"/>
            </a:xfrm>
            <a:custGeom>
              <a:avLst/>
              <a:gdLst/>
              <a:ahLst/>
              <a:cxnLst/>
              <a:rect l="l" t="t" r="r" b="b"/>
              <a:pathLst>
                <a:path w="1337310" h="6350">
                  <a:moveTo>
                    <a:pt x="0" y="0"/>
                  </a:moveTo>
                  <a:lnTo>
                    <a:pt x="1337310" y="6096"/>
                  </a:lnTo>
                </a:path>
              </a:pathLst>
            </a:custGeom>
            <a:ln w="28956">
              <a:solidFill>
                <a:srgbClr val="000000"/>
              </a:solidFill>
            </a:ln>
          </p:spPr>
          <p:txBody>
            <a:bodyPr wrap="square" lIns="0" tIns="0" rIns="0" bIns="0" rtlCol="0"/>
            <a:lstStyle/>
            <a:p>
              <a:endParaRPr sz="1227"/>
            </a:p>
          </p:txBody>
        </p:sp>
        <p:pic>
          <p:nvPicPr>
            <p:cNvPr id="54" name="object 54"/>
            <p:cNvPicPr/>
            <p:nvPr/>
          </p:nvPicPr>
          <p:blipFill>
            <a:blip r:embed="rId6" cstate="print"/>
            <a:stretch>
              <a:fillRect/>
            </a:stretch>
          </p:blipFill>
          <p:spPr>
            <a:xfrm>
              <a:off x="3265932" y="2555747"/>
              <a:ext cx="86867" cy="86868"/>
            </a:xfrm>
            <a:prstGeom prst="rect">
              <a:avLst/>
            </a:prstGeom>
          </p:spPr>
        </p:pic>
        <p:sp>
          <p:nvSpPr>
            <p:cNvPr id="55" name="object 55"/>
            <p:cNvSpPr/>
            <p:nvPr/>
          </p:nvSpPr>
          <p:spPr>
            <a:xfrm>
              <a:off x="3309366" y="2036063"/>
              <a:ext cx="1337310" cy="6985"/>
            </a:xfrm>
            <a:custGeom>
              <a:avLst/>
              <a:gdLst/>
              <a:ahLst/>
              <a:cxnLst/>
              <a:rect l="l" t="t" r="r" b="b"/>
              <a:pathLst>
                <a:path w="1337310" h="6985">
                  <a:moveTo>
                    <a:pt x="0" y="0"/>
                  </a:moveTo>
                  <a:lnTo>
                    <a:pt x="1337310" y="6858"/>
                  </a:lnTo>
                </a:path>
              </a:pathLst>
            </a:custGeom>
            <a:ln w="28955">
              <a:solidFill>
                <a:srgbClr val="000000"/>
              </a:solidFill>
            </a:ln>
          </p:spPr>
          <p:txBody>
            <a:bodyPr wrap="square" lIns="0" tIns="0" rIns="0" bIns="0" rtlCol="0"/>
            <a:lstStyle/>
            <a:p>
              <a:endParaRPr sz="1227"/>
            </a:p>
          </p:txBody>
        </p:sp>
        <p:pic>
          <p:nvPicPr>
            <p:cNvPr id="56" name="object 56"/>
            <p:cNvPicPr/>
            <p:nvPr/>
          </p:nvPicPr>
          <p:blipFill>
            <a:blip r:embed="rId7" cstate="print"/>
            <a:stretch>
              <a:fillRect/>
            </a:stretch>
          </p:blipFill>
          <p:spPr>
            <a:xfrm>
              <a:off x="4603241" y="1999491"/>
              <a:ext cx="86867" cy="86868"/>
            </a:xfrm>
            <a:prstGeom prst="rect">
              <a:avLst/>
            </a:prstGeom>
          </p:spPr>
        </p:pic>
        <p:pic>
          <p:nvPicPr>
            <p:cNvPr id="57" name="object 57"/>
            <p:cNvPicPr/>
            <p:nvPr/>
          </p:nvPicPr>
          <p:blipFill>
            <a:blip r:embed="rId8" cstate="print"/>
            <a:stretch>
              <a:fillRect/>
            </a:stretch>
          </p:blipFill>
          <p:spPr>
            <a:xfrm>
              <a:off x="3265932" y="1992629"/>
              <a:ext cx="86867" cy="86868"/>
            </a:xfrm>
            <a:prstGeom prst="rect">
              <a:avLst/>
            </a:prstGeom>
          </p:spPr>
        </p:pic>
        <p:sp>
          <p:nvSpPr>
            <p:cNvPr id="58" name="object 58"/>
            <p:cNvSpPr/>
            <p:nvPr/>
          </p:nvSpPr>
          <p:spPr>
            <a:xfrm>
              <a:off x="3960113" y="1479803"/>
              <a:ext cx="0" cy="562610"/>
            </a:xfrm>
            <a:custGeom>
              <a:avLst/>
              <a:gdLst/>
              <a:ahLst/>
              <a:cxnLst/>
              <a:rect l="l" t="t" r="r" b="b"/>
              <a:pathLst>
                <a:path h="562610">
                  <a:moveTo>
                    <a:pt x="0" y="0"/>
                  </a:moveTo>
                  <a:lnTo>
                    <a:pt x="0" y="562356"/>
                  </a:lnTo>
                </a:path>
              </a:pathLst>
            </a:custGeom>
            <a:ln w="28956">
              <a:solidFill>
                <a:srgbClr val="000000"/>
              </a:solidFill>
            </a:ln>
          </p:spPr>
          <p:txBody>
            <a:bodyPr wrap="square" lIns="0" tIns="0" rIns="0" bIns="0" rtlCol="0"/>
            <a:lstStyle/>
            <a:p>
              <a:endParaRPr sz="1227"/>
            </a:p>
          </p:txBody>
        </p:sp>
        <p:pic>
          <p:nvPicPr>
            <p:cNvPr id="59" name="object 59"/>
            <p:cNvPicPr/>
            <p:nvPr/>
          </p:nvPicPr>
          <p:blipFill>
            <a:blip r:embed="rId9" cstate="print"/>
            <a:stretch>
              <a:fillRect/>
            </a:stretch>
          </p:blipFill>
          <p:spPr>
            <a:xfrm>
              <a:off x="3916674" y="1998725"/>
              <a:ext cx="86868" cy="86867"/>
            </a:xfrm>
            <a:prstGeom prst="rect">
              <a:avLst/>
            </a:prstGeom>
          </p:spPr>
        </p:pic>
        <p:pic>
          <p:nvPicPr>
            <p:cNvPr id="60" name="object 60"/>
            <p:cNvPicPr/>
            <p:nvPr/>
          </p:nvPicPr>
          <p:blipFill>
            <a:blip r:embed="rId10" cstate="print"/>
            <a:stretch>
              <a:fillRect/>
            </a:stretch>
          </p:blipFill>
          <p:spPr>
            <a:xfrm>
              <a:off x="3916679" y="1436369"/>
              <a:ext cx="86868" cy="86867"/>
            </a:xfrm>
            <a:prstGeom prst="rect">
              <a:avLst/>
            </a:prstGeom>
          </p:spPr>
        </p:pic>
        <p:sp>
          <p:nvSpPr>
            <p:cNvPr id="61" name="object 61"/>
            <p:cNvSpPr/>
            <p:nvPr/>
          </p:nvSpPr>
          <p:spPr>
            <a:xfrm>
              <a:off x="2731007" y="2220468"/>
              <a:ext cx="125730" cy="177800"/>
            </a:xfrm>
            <a:custGeom>
              <a:avLst/>
              <a:gdLst/>
              <a:ahLst/>
              <a:cxnLst/>
              <a:rect l="l" t="t" r="r" b="b"/>
              <a:pathLst>
                <a:path w="125730" h="177800">
                  <a:moveTo>
                    <a:pt x="0" y="177546"/>
                  </a:moveTo>
                  <a:lnTo>
                    <a:pt x="125730" y="0"/>
                  </a:lnTo>
                </a:path>
              </a:pathLst>
            </a:custGeom>
            <a:ln w="28956">
              <a:solidFill>
                <a:srgbClr val="000000"/>
              </a:solidFill>
            </a:ln>
          </p:spPr>
          <p:txBody>
            <a:bodyPr wrap="square" lIns="0" tIns="0" rIns="0" bIns="0" rtlCol="0"/>
            <a:lstStyle/>
            <a:p>
              <a:endParaRPr sz="1227"/>
            </a:p>
          </p:txBody>
        </p:sp>
        <p:sp>
          <p:nvSpPr>
            <p:cNvPr id="62" name="object 62"/>
            <p:cNvSpPr/>
            <p:nvPr/>
          </p:nvSpPr>
          <p:spPr>
            <a:xfrm>
              <a:off x="1050035" y="2090927"/>
              <a:ext cx="567690" cy="436880"/>
            </a:xfrm>
            <a:custGeom>
              <a:avLst/>
              <a:gdLst/>
              <a:ahLst/>
              <a:cxnLst/>
              <a:rect l="l" t="t" r="r" b="b"/>
              <a:pathLst>
                <a:path w="567690" h="436880">
                  <a:moveTo>
                    <a:pt x="567690" y="0"/>
                  </a:moveTo>
                  <a:lnTo>
                    <a:pt x="567690" y="436626"/>
                  </a:lnTo>
                  <a:lnTo>
                    <a:pt x="113538" y="436626"/>
                  </a:lnTo>
                  <a:lnTo>
                    <a:pt x="0" y="218313"/>
                  </a:lnTo>
                  <a:lnTo>
                    <a:pt x="113538" y="0"/>
                  </a:lnTo>
                  <a:lnTo>
                    <a:pt x="567690" y="0"/>
                  </a:lnTo>
                  <a:close/>
                </a:path>
              </a:pathLst>
            </a:custGeom>
            <a:ln w="28956">
              <a:solidFill>
                <a:srgbClr val="000000"/>
              </a:solidFill>
            </a:ln>
          </p:spPr>
          <p:txBody>
            <a:bodyPr wrap="square" lIns="0" tIns="0" rIns="0" bIns="0" rtlCol="0"/>
            <a:lstStyle/>
            <a:p>
              <a:endParaRPr sz="1227"/>
            </a:p>
          </p:txBody>
        </p:sp>
        <p:sp>
          <p:nvSpPr>
            <p:cNvPr id="63" name="object 63"/>
            <p:cNvSpPr/>
            <p:nvPr/>
          </p:nvSpPr>
          <p:spPr>
            <a:xfrm>
              <a:off x="859535" y="2316480"/>
              <a:ext cx="197485" cy="1270"/>
            </a:xfrm>
            <a:custGeom>
              <a:avLst/>
              <a:gdLst/>
              <a:ahLst/>
              <a:cxnLst/>
              <a:rect l="l" t="t" r="r" b="b"/>
              <a:pathLst>
                <a:path w="197484" h="1269">
                  <a:moveTo>
                    <a:pt x="0" y="762"/>
                  </a:moveTo>
                  <a:lnTo>
                    <a:pt x="197358" y="0"/>
                  </a:lnTo>
                </a:path>
              </a:pathLst>
            </a:custGeom>
            <a:ln w="28956">
              <a:solidFill>
                <a:srgbClr val="000000"/>
              </a:solidFill>
            </a:ln>
          </p:spPr>
          <p:txBody>
            <a:bodyPr wrap="square" lIns="0" tIns="0" rIns="0" bIns="0" rtlCol="0"/>
            <a:lstStyle/>
            <a:p>
              <a:endParaRPr sz="1227"/>
            </a:p>
          </p:txBody>
        </p:sp>
        <p:pic>
          <p:nvPicPr>
            <p:cNvPr id="64" name="object 64"/>
            <p:cNvPicPr/>
            <p:nvPr/>
          </p:nvPicPr>
          <p:blipFill>
            <a:blip r:embed="rId11" cstate="print"/>
            <a:stretch>
              <a:fillRect/>
            </a:stretch>
          </p:blipFill>
          <p:spPr>
            <a:xfrm>
              <a:off x="5535167" y="3309365"/>
              <a:ext cx="227838" cy="323850"/>
            </a:xfrm>
            <a:prstGeom prst="rect">
              <a:avLst/>
            </a:prstGeom>
          </p:spPr>
        </p:pic>
        <p:sp>
          <p:nvSpPr>
            <p:cNvPr id="65" name="object 65"/>
            <p:cNvSpPr/>
            <p:nvPr/>
          </p:nvSpPr>
          <p:spPr>
            <a:xfrm>
              <a:off x="5646420" y="2940558"/>
              <a:ext cx="3810" cy="384810"/>
            </a:xfrm>
            <a:custGeom>
              <a:avLst/>
              <a:gdLst/>
              <a:ahLst/>
              <a:cxnLst/>
              <a:rect l="l" t="t" r="r" b="b"/>
              <a:pathLst>
                <a:path w="3810" h="384810">
                  <a:moveTo>
                    <a:pt x="3810" y="384810"/>
                  </a:moveTo>
                  <a:lnTo>
                    <a:pt x="0" y="0"/>
                  </a:lnTo>
                </a:path>
              </a:pathLst>
            </a:custGeom>
            <a:ln w="28955">
              <a:solidFill>
                <a:srgbClr val="000000"/>
              </a:solidFill>
            </a:ln>
          </p:spPr>
          <p:txBody>
            <a:bodyPr wrap="square" lIns="0" tIns="0" rIns="0" bIns="0" rtlCol="0"/>
            <a:lstStyle/>
            <a:p>
              <a:endParaRPr sz="1227"/>
            </a:p>
          </p:txBody>
        </p:sp>
        <p:pic>
          <p:nvPicPr>
            <p:cNvPr id="66" name="object 66"/>
            <p:cNvPicPr/>
            <p:nvPr/>
          </p:nvPicPr>
          <p:blipFill>
            <a:blip r:embed="rId12" cstate="print"/>
            <a:stretch>
              <a:fillRect/>
            </a:stretch>
          </p:blipFill>
          <p:spPr>
            <a:xfrm>
              <a:off x="5602982" y="2897123"/>
              <a:ext cx="86868" cy="86867"/>
            </a:xfrm>
            <a:prstGeom prst="rect">
              <a:avLst/>
            </a:prstGeom>
          </p:spPr>
        </p:pic>
        <p:sp>
          <p:nvSpPr>
            <p:cNvPr id="67" name="object 67"/>
            <p:cNvSpPr/>
            <p:nvPr/>
          </p:nvSpPr>
          <p:spPr>
            <a:xfrm>
              <a:off x="5645658" y="3615690"/>
              <a:ext cx="0" cy="285750"/>
            </a:xfrm>
            <a:custGeom>
              <a:avLst/>
              <a:gdLst/>
              <a:ahLst/>
              <a:cxnLst/>
              <a:rect l="l" t="t" r="r" b="b"/>
              <a:pathLst>
                <a:path h="285750">
                  <a:moveTo>
                    <a:pt x="0" y="285750"/>
                  </a:moveTo>
                  <a:lnTo>
                    <a:pt x="0" y="0"/>
                  </a:lnTo>
                </a:path>
              </a:pathLst>
            </a:custGeom>
            <a:ln w="28956">
              <a:solidFill>
                <a:srgbClr val="000000"/>
              </a:solidFill>
            </a:ln>
          </p:spPr>
          <p:txBody>
            <a:bodyPr wrap="square" lIns="0" tIns="0" rIns="0" bIns="0" rtlCol="0"/>
            <a:lstStyle/>
            <a:p>
              <a:endParaRPr sz="1227"/>
            </a:p>
          </p:txBody>
        </p:sp>
        <p:sp>
          <p:nvSpPr>
            <p:cNvPr id="68" name="object 68"/>
            <p:cNvSpPr/>
            <p:nvPr/>
          </p:nvSpPr>
          <p:spPr>
            <a:xfrm>
              <a:off x="5492115" y="3353727"/>
              <a:ext cx="377190" cy="251460"/>
            </a:xfrm>
            <a:custGeom>
              <a:avLst/>
              <a:gdLst/>
              <a:ahLst/>
              <a:cxnLst/>
              <a:rect l="l" t="t" r="r" b="b"/>
              <a:pathLst>
                <a:path w="377189" h="251460">
                  <a:moveTo>
                    <a:pt x="0" y="250913"/>
                  </a:moveTo>
                  <a:lnTo>
                    <a:pt x="376732" y="0"/>
                  </a:lnTo>
                </a:path>
              </a:pathLst>
            </a:custGeom>
            <a:ln w="19050">
              <a:solidFill>
                <a:srgbClr val="000000"/>
              </a:solidFill>
            </a:ln>
          </p:spPr>
          <p:txBody>
            <a:bodyPr wrap="square" lIns="0" tIns="0" rIns="0" bIns="0" rtlCol="0"/>
            <a:lstStyle/>
            <a:p>
              <a:endParaRPr sz="1227"/>
            </a:p>
          </p:txBody>
        </p:sp>
        <p:sp>
          <p:nvSpPr>
            <p:cNvPr id="69" name="object 69"/>
            <p:cNvSpPr/>
            <p:nvPr/>
          </p:nvSpPr>
          <p:spPr>
            <a:xfrm>
              <a:off x="5780782" y="3353732"/>
              <a:ext cx="88265" cy="79375"/>
            </a:xfrm>
            <a:custGeom>
              <a:avLst/>
              <a:gdLst/>
              <a:ahLst/>
              <a:cxnLst/>
              <a:rect l="l" t="t" r="r" b="b"/>
              <a:pathLst>
                <a:path w="88264" h="79375">
                  <a:moveTo>
                    <a:pt x="49288" y="79235"/>
                  </a:moveTo>
                  <a:lnTo>
                    <a:pt x="88061" y="0"/>
                  </a:lnTo>
                  <a:lnTo>
                    <a:pt x="0" y="5245"/>
                  </a:lnTo>
                </a:path>
              </a:pathLst>
            </a:custGeom>
            <a:ln w="19050">
              <a:solidFill>
                <a:srgbClr val="000000"/>
              </a:solidFill>
            </a:ln>
          </p:spPr>
          <p:txBody>
            <a:bodyPr wrap="square" lIns="0" tIns="0" rIns="0" bIns="0" rtlCol="0"/>
            <a:lstStyle/>
            <a:p>
              <a:endParaRPr sz="1227"/>
            </a:p>
          </p:txBody>
        </p:sp>
        <p:sp>
          <p:nvSpPr>
            <p:cNvPr id="70" name="object 70"/>
            <p:cNvSpPr/>
            <p:nvPr/>
          </p:nvSpPr>
          <p:spPr>
            <a:xfrm>
              <a:off x="1417319" y="1748027"/>
              <a:ext cx="2543175" cy="16510"/>
            </a:xfrm>
            <a:custGeom>
              <a:avLst/>
              <a:gdLst/>
              <a:ahLst/>
              <a:cxnLst/>
              <a:rect l="l" t="t" r="r" b="b"/>
              <a:pathLst>
                <a:path w="2543175" h="16510">
                  <a:moveTo>
                    <a:pt x="0" y="16001"/>
                  </a:moveTo>
                  <a:lnTo>
                    <a:pt x="2542794" y="0"/>
                  </a:lnTo>
                </a:path>
              </a:pathLst>
            </a:custGeom>
            <a:ln w="28956">
              <a:solidFill>
                <a:srgbClr val="000000"/>
              </a:solidFill>
            </a:ln>
          </p:spPr>
          <p:txBody>
            <a:bodyPr wrap="square" lIns="0" tIns="0" rIns="0" bIns="0" rtlCol="0"/>
            <a:lstStyle/>
            <a:p>
              <a:endParaRPr sz="1227"/>
            </a:p>
          </p:txBody>
        </p:sp>
        <p:pic>
          <p:nvPicPr>
            <p:cNvPr id="71" name="object 71"/>
            <p:cNvPicPr/>
            <p:nvPr/>
          </p:nvPicPr>
          <p:blipFill>
            <a:blip r:embed="rId13" cstate="print"/>
            <a:stretch>
              <a:fillRect/>
            </a:stretch>
          </p:blipFill>
          <p:spPr>
            <a:xfrm>
              <a:off x="3916679" y="1704590"/>
              <a:ext cx="86867" cy="86868"/>
            </a:xfrm>
            <a:prstGeom prst="rect">
              <a:avLst/>
            </a:prstGeom>
          </p:spPr>
        </p:pic>
        <p:pic>
          <p:nvPicPr>
            <p:cNvPr id="72" name="object 72"/>
            <p:cNvPicPr/>
            <p:nvPr/>
          </p:nvPicPr>
          <p:blipFill>
            <a:blip r:embed="rId14" cstate="print"/>
            <a:stretch>
              <a:fillRect/>
            </a:stretch>
          </p:blipFill>
          <p:spPr>
            <a:xfrm>
              <a:off x="1373886" y="1720595"/>
              <a:ext cx="86868" cy="86868"/>
            </a:xfrm>
            <a:prstGeom prst="rect">
              <a:avLst/>
            </a:prstGeom>
          </p:spPr>
        </p:pic>
        <p:sp>
          <p:nvSpPr>
            <p:cNvPr id="73" name="object 73"/>
            <p:cNvSpPr/>
            <p:nvPr/>
          </p:nvSpPr>
          <p:spPr>
            <a:xfrm>
              <a:off x="2199131" y="1764029"/>
              <a:ext cx="0" cy="314325"/>
            </a:xfrm>
            <a:custGeom>
              <a:avLst/>
              <a:gdLst/>
              <a:ahLst/>
              <a:cxnLst/>
              <a:rect l="l" t="t" r="r" b="b"/>
              <a:pathLst>
                <a:path h="314325">
                  <a:moveTo>
                    <a:pt x="0" y="313944"/>
                  </a:moveTo>
                  <a:lnTo>
                    <a:pt x="0" y="0"/>
                  </a:lnTo>
                </a:path>
              </a:pathLst>
            </a:custGeom>
            <a:ln w="28956">
              <a:solidFill>
                <a:srgbClr val="000000"/>
              </a:solidFill>
            </a:ln>
          </p:spPr>
          <p:txBody>
            <a:bodyPr wrap="square" lIns="0" tIns="0" rIns="0" bIns="0" rtlCol="0"/>
            <a:lstStyle/>
            <a:p>
              <a:endParaRPr sz="1227"/>
            </a:p>
          </p:txBody>
        </p:sp>
        <p:pic>
          <p:nvPicPr>
            <p:cNvPr id="74" name="object 74"/>
            <p:cNvPicPr/>
            <p:nvPr/>
          </p:nvPicPr>
          <p:blipFill>
            <a:blip r:embed="rId15" cstate="print"/>
            <a:stretch>
              <a:fillRect/>
            </a:stretch>
          </p:blipFill>
          <p:spPr>
            <a:xfrm>
              <a:off x="2155692" y="1720595"/>
              <a:ext cx="86867" cy="86867"/>
            </a:xfrm>
            <a:prstGeom prst="rect">
              <a:avLst/>
            </a:prstGeom>
          </p:spPr>
        </p:pic>
        <p:sp>
          <p:nvSpPr>
            <p:cNvPr id="75" name="object 75"/>
            <p:cNvSpPr/>
            <p:nvPr/>
          </p:nvSpPr>
          <p:spPr>
            <a:xfrm>
              <a:off x="1417319" y="1764029"/>
              <a:ext cx="0" cy="327025"/>
            </a:xfrm>
            <a:custGeom>
              <a:avLst/>
              <a:gdLst/>
              <a:ahLst/>
              <a:cxnLst/>
              <a:rect l="l" t="t" r="r" b="b"/>
              <a:pathLst>
                <a:path h="327025">
                  <a:moveTo>
                    <a:pt x="0" y="326898"/>
                  </a:moveTo>
                  <a:lnTo>
                    <a:pt x="0" y="0"/>
                  </a:lnTo>
                </a:path>
              </a:pathLst>
            </a:custGeom>
            <a:ln w="28956">
              <a:solidFill>
                <a:srgbClr val="000000"/>
              </a:solidFill>
            </a:ln>
          </p:spPr>
          <p:txBody>
            <a:bodyPr wrap="square" lIns="0" tIns="0" rIns="0" bIns="0" rtlCol="0"/>
            <a:lstStyle/>
            <a:p>
              <a:endParaRPr sz="1227"/>
            </a:p>
          </p:txBody>
        </p:sp>
      </p:grpSp>
      <p:sp>
        <p:nvSpPr>
          <p:cNvPr id="76" name="object 76"/>
          <p:cNvSpPr txBox="1"/>
          <p:nvPr/>
        </p:nvSpPr>
        <p:spPr>
          <a:xfrm>
            <a:off x="4253116" y="2504735"/>
            <a:ext cx="336406" cy="197641"/>
          </a:xfrm>
          <a:prstGeom prst="rect">
            <a:avLst/>
          </a:prstGeom>
        </p:spPr>
        <p:txBody>
          <a:bodyPr vert="horz" wrap="square" lIns="0" tIns="8659" rIns="0" bIns="0" rtlCol="0">
            <a:spAutoFit/>
          </a:bodyPr>
          <a:lstStyle/>
          <a:p>
            <a:pPr marL="25977">
              <a:spcBef>
                <a:spcPts val="68"/>
              </a:spcBef>
            </a:pPr>
            <a:r>
              <a:rPr sz="1841" spc="-10" baseline="13888" dirty="0">
                <a:solidFill>
                  <a:srgbClr val="FF0000"/>
                </a:solidFill>
                <a:latin typeface="Verdana"/>
                <a:cs typeface="Verdana"/>
              </a:rPr>
              <a:t>I</a:t>
            </a:r>
            <a:r>
              <a:rPr sz="818" spc="-7" dirty="0">
                <a:solidFill>
                  <a:srgbClr val="FF0000"/>
                </a:solidFill>
                <a:latin typeface="Verdana"/>
                <a:cs typeface="Verdana"/>
              </a:rPr>
              <a:t>load</a:t>
            </a:r>
            <a:endParaRPr sz="818">
              <a:latin typeface="Verdana"/>
              <a:cs typeface="Verdana"/>
            </a:endParaRPr>
          </a:p>
        </p:txBody>
      </p:sp>
      <p:grpSp>
        <p:nvGrpSpPr>
          <p:cNvPr id="77" name="object 77"/>
          <p:cNvGrpSpPr/>
          <p:nvPr/>
        </p:nvGrpSpPr>
        <p:grpSpPr>
          <a:xfrm>
            <a:off x="4311695" y="2390601"/>
            <a:ext cx="910070" cy="155431"/>
            <a:chOff x="4428740" y="2827020"/>
            <a:chExt cx="1334770" cy="227965"/>
          </a:xfrm>
        </p:grpSpPr>
        <p:pic>
          <p:nvPicPr>
            <p:cNvPr id="78" name="object 78"/>
            <p:cNvPicPr/>
            <p:nvPr/>
          </p:nvPicPr>
          <p:blipFill>
            <a:blip r:embed="rId16" cstate="print"/>
            <a:stretch>
              <a:fillRect/>
            </a:stretch>
          </p:blipFill>
          <p:spPr>
            <a:xfrm>
              <a:off x="4916423" y="2827020"/>
              <a:ext cx="463296" cy="227838"/>
            </a:xfrm>
            <a:prstGeom prst="rect">
              <a:avLst/>
            </a:prstGeom>
          </p:spPr>
        </p:pic>
        <p:sp>
          <p:nvSpPr>
            <p:cNvPr id="79" name="object 79"/>
            <p:cNvSpPr/>
            <p:nvPr/>
          </p:nvSpPr>
          <p:spPr>
            <a:xfrm>
              <a:off x="5337809" y="2941320"/>
              <a:ext cx="425450" cy="0"/>
            </a:xfrm>
            <a:custGeom>
              <a:avLst/>
              <a:gdLst/>
              <a:ahLst/>
              <a:cxnLst/>
              <a:rect l="l" t="t" r="r" b="b"/>
              <a:pathLst>
                <a:path w="425450">
                  <a:moveTo>
                    <a:pt x="0" y="0"/>
                  </a:moveTo>
                  <a:lnTo>
                    <a:pt x="425195" y="0"/>
                  </a:lnTo>
                </a:path>
              </a:pathLst>
            </a:custGeom>
            <a:ln w="28956">
              <a:solidFill>
                <a:srgbClr val="000000"/>
              </a:solidFill>
            </a:ln>
          </p:spPr>
          <p:txBody>
            <a:bodyPr wrap="square" lIns="0" tIns="0" rIns="0" bIns="0" rtlCol="0"/>
            <a:lstStyle/>
            <a:p>
              <a:endParaRPr sz="1227"/>
            </a:p>
          </p:txBody>
        </p:sp>
        <p:sp>
          <p:nvSpPr>
            <p:cNvPr id="80" name="object 80"/>
            <p:cNvSpPr/>
            <p:nvPr/>
          </p:nvSpPr>
          <p:spPr>
            <a:xfrm>
              <a:off x="4443218" y="2939793"/>
              <a:ext cx="216535" cy="3810"/>
            </a:xfrm>
            <a:custGeom>
              <a:avLst/>
              <a:gdLst/>
              <a:ahLst/>
              <a:cxnLst/>
              <a:rect l="l" t="t" r="r" b="b"/>
              <a:pathLst>
                <a:path w="216535" h="3810">
                  <a:moveTo>
                    <a:pt x="216420" y="3428"/>
                  </a:moveTo>
                  <a:lnTo>
                    <a:pt x="0" y="0"/>
                  </a:lnTo>
                </a:path>
              </a:pathLst>
            </a:custGeom>
            <a:ln w="28956">
              <a:solidFill>
                <a:srgbClr val="FF0000"/>
              </a:solidFill>
            </a:ln>
          </p:spPr>
          <p:txBody>
            <a:bodyPr wrap="square" lIns="0" tIns="0" rIns="0" bIns="0" rtlCol="0"/>
            <a:lstStyle/>
            <a:p>
              <a:endParaRPr sz="1227"/>
            </a:p>
          </p:txBody>
        </p:sp>
        <p:sp>
          <p:nvSpPr>
            <p:cNvPr id="81" name="object 81"/>
            <p:cNvSpPr/>
            <p:nvPr/>
          </p:nvSpPr>
          <p:spPr>
            <a:xfrm>
              <a:off x="4644019" y="2870615"/>
              <a:ext cx="88265" cy="144780"/>
            </a:xfrm>
            <a:custGeom>
              <a:avLst/>
              <a:gdLst/>
              <a:ahLst/>
              <a:cxnLst/>
              <a:rect l="l" t="t" r="r" b="b"/>
              <a:pathLst>
                <a:path w="88264" h="144780">
                  <a:moveTo>
                    <a:pt x="2286" y="0"/>
                  </a:moveTo>
                  <a:lnTo>
                    <a:pt x="0" y="144767"/>
                  </a:lnTo>
                  <a:lnTo>
                    <a:pt x="87998" y="73748"/>
                  </a:lnTo>
                  <a:lnTo>
                    <a:pt x="2286" y="0"/>
                  </a:lnTo>
                  <a:close/>
                </a:path>
              </a:pathLst>
            </a:custGeom>
            <a:solidFill>
              <a:srgbClr val="FF0000"/>
            </a:solidFill>
          </p:spPr>
          <p:txBody>
            <a:bodyPr wrap="square" lIns="0" tIns="0" rIns="0" bIns="0" rtlCol="0"/>
            <a:lstStyle/>
            <a:p>
              <a:endParaRPr sz="1227"/>
            </a:p>
          </p:txBody>
        </p:sp>
      </p:grpSp>
      <p:sp>
        <p:nvSpPr>
          <p:cNvPr id="82" name="object 82"/>
          <p:cNvSpPr txBox="1"/>
          <p:nvPr/>
        </p:nvSpPr>
        <p:spPr>
          <a:xfrm>
            <a:off x="4590176" y="2236457"/>
            <a:ext cx="923492" cy="197641"/>
          </a:xfrm>
          <a:prstGeom prst="rect">
            <a:avLst/>
          </a:prstGeom>
        </p:spPr>
        <p:txBody>
          <a:bodyPr vert="horz" wrap="square" lIns="0" tIns="8659" rIns="0" bIns="0" rtlCol="0">
            <a:spAutoFit/>
          </a:bodyPr>
          <a:lstStyle/>
          <a:p>
            <a:pPr marL="25977">
              <a:spcBef>
                <a:spcPts val="68"/>
              </a:spcBef>
            </a:pPr>
            <a:r>
              <a:rPr sz="1841" baseline="32407" dirty="0">
                <a:latin typeface="Verdana"/>
                <a:cs typeface="Verdana"/>
              </a:rPr>
              <a:t>R</a:t>
            </a:r>
            <a:r>
              <a:rPr sz="1227" baseline="27777" dirty="0">
                <a:latin typeface="Verdana"/>
                <a:cs typeface="Verdana"/>
              </a:rPr>
              <a:t>para</a:t>
            </a:r>
            <a:r>
              <a:rPr sz="1227" spc="373" baseline="27777" dirty="0">
                <a:latin typeface="Verdana"/>
                <a:cs typeface="Verdana"/>
              </a:rPr>
              <a:t> </a:t>
            </a:r>
            <a:r>
              <a:rPr sz="1841" spc="-10" baseline="13888" dirty="0">
                <a:solidFill>
                  <a:srgbClr val="FF0000"/>
                </a:solidFill>
                <a:latin typeface="Verdana"/>
                <a:cs typeface="Verdana"/>
              </a:rPr>
              <a:t>V</a:t>
            </a:r>
            <a:r>
              <a:rPr sz="818" spc="-7" dirty="0">
                <a:solidFill>
                  <a:srgbClr val="FF0000"/>
                </a:solidFill>
                <a:latin typeface="Verdana"/>
                <a:cs typeface="Verdana"/>
              </a:rPr>
              <a:t>out,far</a:t>
            </a:r>
            <a:endParaRPr sz="818">
              <a:latin typeface="Verdana"/>
              <a:cs typeface="Verdana"/>
            </a:endParaRPr>
          </a:p>
        </p:txBody>
      </p:sp>
      <p:grpSp>
        <p:nvGrpSpPr>
          <p:cNvPr id="83" name="object 83"/>
          <p:cNvGrpSpPr/>
          <p:nvPr/>
        </p:nvGrpSpPr>
        <p:grpSpPr>
          <a:xfrm>
            <a:off x="5818601" y="1311895"/>
            <a:ext cx="2789525" cy="978044"/>
            <a:chOff x="6638869" y="1244918"/>
            <a:chExt cx="4091304" cy="1434465"/>
          </a:xfrm>
        </p:grpSpPr>
        <p:sp>
          <p:nvSpPr>
            <p:cNvPr id="84" name="object 84"/>
            <p:cNvSpPr/>
            <p:nvPr/>
          </p:nvSpPr>
          <p:spPr>
            <a:xfrm>
              <a:off x="6691503" y="2623947"/>
              <a:ext cx="4029075" cy="1905"/>
            </a:xfrm>
            <a:custGeom>
              <a:avLst/>
              <a:gdLst/>
              <a:ahLst/>
              <a:cxnLst/>
              <a:rect l="l" t="t" r="r" b="b"/>
              <a:pathLst>
                <a:path w="4029075" h="1905">
                  <a:moveTo>
                    <a:pt x="0" y="0"/>
                  </a:moveTo>
                  <a:lnTo>
                    <a:pt x="4028617" y="1346"/>
                  </a:lnTo>
                </a:path>
              </a:pathLst>
            </a:custGeom>
            <a:ln w="19050">
              <a:solidFill>
                <a:srgbClr val="000000"/>
              </a:solidFill>
            </a:ln>
          </p:spPr>
          <p:txBody>
            <a:bodyPr wrap="square" lIns="0" tIns="0" rIns="0" bIns="0" rtlCol="0"/>
            <a:lstStyle/>
            <a:p>
              <a:endParaRPr sz="1227"/>
            </a:p>
          </p:txBody>
        </p:sp>
        <p:sp>
          <p:nvSpPr>
            <p:cNvPr id="85" name="object 85"/>
            <p:cNvSpPr/>
            <p:nvPr/>
          </p:nvSpPr>
          <p:spPr>
            <a:xfrm>
              <a:off x="10643904" y="2580815"/>
              <a:ext cx="76835" cy="88900"/>
            </a:xfrm>
            <a:custGeom>
              <a:avLst/>
              <a:gdLst/>
              <a:ahLst/>
              <a:cxnLst/>
              <a:rect l="l" t="t" r="r" b="b"/>
              <a:pathLst>
                <a:path w="76834" h="88900">
                  <a:moveTo>
                    <a:pt x="38" y="0"/>
                  </a:moveTo>
                  <a:lnTo>
                    <a:pt x="76225" y="44475"/>
                  </a:lnTo>
                  <a:lnTo>
                    <a:pt x="0" y="88900"/>
                  </a:lnTo>
                </a:path>
              </a:pathLst>
            </a:custGeom>
            <a:ln w="19050">
              <a:solidFill>
                <a:srgbClr val="000000"/>
              </a:solidFill>
            </a:ln>
          </p:spPr>
          <p:txBody>
            <a:bodyPr wrap="square" lIns="0" tIns="0" rIns="0" bIns="0" rtlCol="0"/>
            <a:lstStyle/>
            <a:p>
              <a:endParaRPr sz="1227"/>
            </a:p>
          </p:txBody>
        </p:sp>
        <p:sp>
          <p:nvSpPr>
            <p:cNvPr id="86" name="object 86"/>
            <p:cNvSpPr/>
            <p:nvPr/>
          </p:nvSpPr>
          <p:spPr>
            <a:xfrm>
              <a:off x="6691504" y="1254445"/>
              <a:ext cx="1905" cy="1360805"/>
            </a:xfrm>
            <a:custGeom>
              <a:avLst/>
              <a:gdLst/>
              <a:ahLst/>
              <a:cxnLst/>
              <a:rect l="l" t="t" r="r" b="b"/>
              <a:pathLst>
                <a:path w="1904" h="1360805">
                  <a:moveTo>
                    <a:pt x="0" y="1360284"/>
                  </a:moveTo>
                  <a:lnTo>
                    <a:pt x="1422" y="0"/>
                  </a:lnTo>
                </a:path>
              </a:pathLst>
            </a:custGeom>
            <a:ln w="19050">
              <a:solidFill>
                <a:srgbClr val="000000"/>
              </a:solidFill>
            </a:ln>
          </p:spPr>
          <p:txBody>
            <a:bodyPr wrap="square" lIns="0" tIns="0" rIns="0" bIns="0" rtlCol="0"/>
            <a:lstStyle/>
            <a:p>
              <a:endParaRPr sz="1227"/>
            </a:p>
          </p:txBody>
        </p:sp>
        <p:sp>
          <p:nvSpPr>
            <p:cNvPr id="87" name="object 87"/>
            <p:cNvSpPr/>
            <p:nvPr/>
          </p:nvSpPr>
          <p:spPr>
            <a:xfrm>
              <a:off x="6648394" y="1254443"/>
              <a:ext cx="88900" cy="76835"/>
            </a:xfrm>
            <a:custGeom>
              <a:avLst/>
              <a:gdLst/>
              <a:ahLst/>
              <a:cxnLst/>
              <a:rect l="l" t="t" r="r" b="b"/>
              <a:pathLst>
                <a:path w="88900" h="76834">
                  <a:moveTo>
                    <a:pt x="0" y="76149"/>
                  </a:moveTo>
                  <a:lnTo>
                    <a:pt x="44538" y="0"/>
                  </a:lnTo>
                  <a:lnTo>
                    <a:pt x="88900" y="76250"/>
                  </a:lnTo>
                </a:path>
              </a:pathLst>
            </a:custGeom>
            <a:ln w="19050">
              <a:solidFill>
                <a:srgbClr val="000000"/>
              </a:solidFill>
            </a:ln>
          </p:spPr>
          <p:txBody>
            <a:bodyPr wrap="square" lIns="0" tIns="0" rIns="0" bIns="0" rtlCol="0"/>
            <a:lstStyle/>
            <a:p>
              <a:endParaRPr sz="1227"/>
            </a:p>
          </p:txBody>
        </p:sp>
      </p:grpSp>
      <p:sp>
        <p:nvSpPr>
          <p:cNvPr id="88" name="object 88"/>
          <p:cNvSpPr txBox="1"/>
          <p:nvPr/>
        </p:nvSpPr>
        <p:spPr>
          <a:xfrm>
            <a:off x="8651038" y="2135853"/>
            <a:ext cx="400916" cy="197578"/>
          </a:xfrm>
          <a:prstGeom prst="rect">
            <a:avLst/>
          </a:prstGeom>
        </p:spPr>
        <p:txBody>
          <a:bodyPr vert="horz" wrap="square" lIns="0" tIns="8659" rIns="0" bIns="0" rtlCol="0">
            <a:spAutoFit/>
          </a:bodyPr>
          <a:lstStyle/>
          <a:p>
            <a:pPr marL="8659">
              <a:spcBef>
                <a:spcPts val="68"/>
              </a:spcBef>
            </a:pPr>
            <a:r>
              <a:rPr sz="1227" spc="-14" dirty="0">
                <a:latin typeface="Verdana"/>
                <a:cs typeface="Verdana"/>
              </a:rPr>
              <a:t>Time</a:t>
            </a:r>
            <a:endParaRPr sz="1227">
              <a:latin typeface="Verdana"/>
              <a:cs typeface="Verdana"/>
            </a:endParaRPr>
          </a:p>
        </p:txBody>
      </p:sp>
      <p:grpSp>
        <p:nvGrpSpPr>
          <p:cNvPr id="89" name="object 89"/>
          <p:cNvGrpSpPr/>
          <p:nvPr/>
        </p:nvGrpSpPr>
        <p:grpSpPr>
          <a:xfrm>
            <a:off x="5811327" y="2376444"/>
            <a:ext cx="2789525" cy="978044"/>
            <a:chOff x="6628200" y="2806256"/>
            <a:chExt cx="4091304" cy="1434465"/>
          </a:xfrm>
        </p:grpSpPr>
        <p:sp>
          <p:nvSpPr>
            <p:cNvPr id="90" name="object 90"/>
            <p:cNvSpPr/>
            <p:nvPr/>
          </p:nvSpPr>
          <p:spPr>
            <a:xfrm>
              <a:off x="10478642" y="2955417"/>
              <a:ext cx="171450" cy="297180"/>
            </a:xfrm>
            <a:custGeom>
              <a:avLst/>
              <a:gdLst/>
              <a:ahLst/>
              <a:cxnLst/>
              <a:rect l="l" t="t" r="r" b="b"/>
              <a:pathLst>
                <a:path w="171450" h="297179">
                  <a:moveTo>
                    <a:pt x="128587" y="0"/>
                  </a:moveTo>
                  <a:lnTo>
                    <a:pt x="128587" y="211594"/>
                  </a:lnTo>
                  <a:lnTo>
                    <a:pt x="171450" y="211594"/>
                  </a:lnTo>
                  <a:lnTo>
                    <a:pt x="85725" y="297180"/>
                  </a:lnTo>
                  <a:lnTo>
                    <a:pt x="0" y="211594"/>
                  </a:lnTo>
                  <a:lnTo>
                    <a:pt x="42862" y="211594"/>
                  </a:lnTo>
                  <a:lnTo>
                    <a:pt x="42862" y="0"/>
                  </a:lnTo>
                  <a:lnTo>
                    <a:pt x="128587" y="0"/>
                  </a:lnTo>
                  <a:close/>
                </a:path>
              </a:pathLst>
            </a:custGeom>
            <a:ln w="19050">
              <a:solidFill>
                <a:srgbClr val="0000FF"/>
              </a:solidFill>
            </a:ln>
          </p:spPr>
          <p:txBody>
            <a:bodyPr wrap="square" lIns="0" tIns="0" rIns="0" bIns="0" rtlCol="0"/>
            <a:lstStyle/>
            <a:p>
              <a:endParaRPr sz="1227"/>
            </a:p>
          </p:txBody>
        </p:sp>
        <p:sp>
          <p:nvSpPr>
            <p:cNvPr id="91" name="object 91"/>
            <p:cNvSpPr/>
            <p:nvPr/>
          </p:nvSpPr>
          <p:spPr>
            <a:xfrm>
              <a:off x="6680834" y="4185285"/>
              <a:ext cx="4029075" cy="1905"/>
            </a:xfrm>
            <a:custGeom>
              <a:avLst/>
              <a:gdLst/>
              <a:ahLst/>
              <a:cxnLst/>
              <a:rect l="l" t="t" r="r" b="b"/>
              <a:pathLst>
                <a:path w="4029075" h="1904">
                  <a:moveTo>
                    <a:pt x="0" y="0"/>
                  </a:moveTo>
                  <a:lnTo>
                    <a:pt x="4028617" y="1346"/>
                  </a:lnTo>
                </a:path>
              </a:pathLst>
            </a:custGeom>
            <a:ln w="19050">
              <a:solidFill>
                <a:srgbClr val="000000"/>
              </a:solidFill>
            </a:ln>
          </p:spPr>
          <p:txBody>
            <a:bodyPr wrap="square" lIns="0" tIns="0" rIns="0" bIns="0" rtlCol="0"/>
            <a:lstStyle/>
            <a:p>
              <a:endParaRPr sz="1227"/>
            </a:p>
          </p:txBody>
        </p:sp>
        <p:sp>
          <p:nvSpPr>
            <p:cNvPr id="92" name="object 92"/>
            <p:cNvSpPr/>
            <p:nvPr/>
          </p:nvSpPr>
          <p:spPr>
            <a:xfrm>
              <a:off x="10633235" y="4142153"/>
              <a:ext cx="76835" cy="88900"/>
            </a:xfrm>
            <a:custGeom>
              <a:avLst/>
              <a:gdLst/>
              <a:ahLst/>
              <a:cxnLst/>
              <a:rect l="l" t="t" r="r" b="b"/>
              <a:pathLst>
                <a:path w="76834" h="88900">
                  <a:moveTo>
                    <a:pt x="38" y="0"/>
                  </a:moveTo>
                  <a:lnTo>
                    <a:pt x="76225" y="44475"/>
                  </a:lnTo>
                  <a:lnTo>
                    <a:pt x="0" y="88900"/>
                  </a:lnTo>
                </a:path>
              </a:pathLst>
            </a:custGeom>
            <a:ln w="19050">
              <a:solidFill>
                <a:srgbClr val="000000"/>
              </a:solidFill>
            </a:ln>
          </p:spPr>
          <p:txBody>
            <a:bodyPr wrap="square" lIns="0" tIns="0" rIns="0" bIns="0" rtlCol="0"/>
            <a:lstStyle/>
            <a:p>
              <a:endParaRPr sz="1227"/>
            </a:p>
          </p:txBody>
        </p:sp>
        <p:sp>
          <p:nvSpPr>
            <p:cNvPr id="93" name="object 93"/>
            <p:cNvSpPr/>
            <p:nvPr/>
          </p:nvSpPr>
          <p:spPr>
            <a:xfrm>
              <a:off x="6680834" y="2815783"/>
              <a:ext cx="1905" cy="1360805"/>
            </a:xfrm>
            <a:custGeom>
              <a:avLst/>
              <a:gdLst/>
              <a:ahLst/>
              <a:cxnLst/>
              <a:rect l="l" t="t" r="r" b="b"/>
              <a:pathLst>
                <a:path w="1904" h="1360804">
                  <a:moveTo>
                    <a:pt x="0" y="1360284"/>
                  </a:moveTo>
                  <a:lnTo>
                    <a:pt x="1422" y="0"/>
                  </a:lnTo>
                </a:path>
              </a:pathLst>
            </a:custGeom>
            <a:ln w="19050">
              <a:solidFill>
                <a:srgbClr val="000000"/>
              </a:solidFill>
            </a:ln>
          </p:spPr>
          <p:txBody>
            <a:bodyPr wrap="square" lIns="0" tIns="0" rIns="0" bIns="0" rtlCol="0"/>
            <a:lstStyle/>
            <a:p>
              <a:endParaRPr sz="1227"/>
            </a:p>
          </p:txBody>
        </p:sp>
        <p:sp>
          <p:nvSpPr>
            <p:cNvPr id="94" name="object 94"/>
            <p:cNvSpPr/>
            <p:nvPr/>
          </p:nvSpPr>
          <p:spPr>
            <a:xfrm>
              <a:off x="6637725" y="2815781"/>
              <a:ext cx="88900" cy="76835"/>
            </a:xfrm>
            <a:custGeom>
              <a:avLst/>
              <a:gdLst/>
              <a:ahLst/>
              <a:cxnLst/>
              <a:rect l="l" t="t" r="r" b="b"/>
              <a:pathLst>
                <a:path w="88900" h="76835">
                  <a:moveTo>
                    <a:pt x="0" y="76149"/>
                  </a:moveTo>
                  <a:lnTo>
                    <a:pt x="44538" y="0"/>
                  </a:lnTo>
                  <a:lnTo>
                    <a:pt x="88900" y="76250"/>
                  </a:lnTo>
                </a:path>
              </a:pathLst>
            </a:custGeom>
            <a:ln w="19050">
              <a:solidFill>
                <a:srgbClr val="000000"/>
              </a:solidFill>
            </a:ln>
          </p:spPr>
          <p:txBody>
            <a:bodyPr wrap="square" lIns="0" tIns="0" rIns="0" bIns="0" rtlCol="0"/>
            <a:lstStyle/>
            <a:p>
              <a:endParaRPr sz="1227"/>
            </a:p>
          </p:txBody>
        </p:sp>
      </p:grpSp>
      <p:sp>
        <p:nvSpPr>
          <p:cNvPr id="95" name="object 95"/>
          <p:cNvSpPr txBox="1"/>
          <p:nvPr/>
        </p:nvSpPr>
        <p:spPr>
          <a:xfrm>
            <a:off x="5528321" y="1686679"/>
            <a:ext cx="336406" cy="197641"/>
          </a:xfrm>
          <a:prstGeom prst="rect">
            <a:avLst/>
          </a:prstGeom>
        </p:spPr>
        <p:txBody>
          <a:bodyPr vert="horz" wrap="square" lIns="0" tIns="8659" rIns="0" bIns="0" rtlCol="0">
            <a:spAutoFit/>
          </a:bodyPr>
          <a:lstStyle/>
          <a:p>
            <a:pPr marL="25977">
              <a:spcBef>
                <a:spcPts val="68"/>
              </a:spcBef>
            </a:pPr>
            <a:r>
              <a:rPr sz="1841" spc="-10" baseline="13888" dirty="0">
                <a:latin typeface="Verdana"/>
                <a:cs typeface="Verdana"/>
              </a:rPr>
              <a:t>I</a:t>
            </a:r>
            <a:r>
              <a:rPr sz="818" spc="-7" dirty="0">
                <a:latin typeface="Verdana"/>
                <a:cs typeface="Verdana"/>
              </a:rPr>
              <a:t>load</a:t>
            </a:r>
            <a:endParaRPr sz="818">
              <a:latin typeface="Verdana"/>
              <a:cs typeface="Verdana"/>
            </a:endParaRPr>
          </a:p>
        </p:txBody>
      </p:sp>
      <p:sp>
        <p:nvSpPr>
          <p:cNvPr id="96" name="object 96"/>
          <p:cNvSpPr txBox="1"/>
          <p:nvPr/>
        </p:nvSpPr>
        <p:spPr>
          <a:xfrm>
            <a:off x="8716078" y="2634059"/>
            <a:ext cx="124258" cy="197578"/>
          </a:xfrm>
          <a:prstGeom prst="rect">
            <a:avLst/>
          </a:prstGeom>
        </p:spPr>
        <p:txBody>
          <a:bodyPr vert="horz" wrap="square" lIns="0" tIns="8659" rIns="0" bIns="0" rtlCol="0">
            <a:spAutoFit/>
          </a:bodyPr>
          <a:lstStyle/>
          <a:p>
            <a:pPr marL="8659">
              <a:spcBef>
                <a:spcPts val="68"/>
              </a:spcBef>
            </a:pPr>
            <a:r>
              <a:rPr sz="1227" spc="-34" dirty="0">
                <a:solidFill>
                  <a:srgbClr val="0000FF"/>
                </a:solidFill>
                <a:latin typeface="Verdana"/>
                <a:cs typeface="Verdana"/>
              </a:rPr>
              <a:t>V</a:t>
            </a:r>
            <a:endParaRPr sz="1227">
              <a:latin typeface="Verdana"/>
              <a:cs typeface="Verdana"/>
            </a:endParaRPr>
          </a:p>
        </p:txBody>
      </p:sp>
      <p:sp>
        <p:nvSpPr>
          <p:cNvPr id="97" name="object 97"/>
          <p:cNvSpPr txBox="1"/>
          <p:nvPr/>
        </p:nvSpPr>
        <p:spPr>
          <a:xfrm>
            <a:off x="8822585" y="2724460"/>
            <a:ext cx="133350" cy="134612"/>
          </a:xfrm>
          <a:prstGeom prst="rect">
            <a:avLst/>
          </a:prstGeom>
        </p:spPr>
        <p:txBody>
          <a:bodyPr vert="horz" wrap="square" lIns="0" tIns="8659" rIns="0" bIns="0" rtlCol="0">
            <a:spAutoFit/>
          </a:bodyPr>
          <a:lstStyle/>
          <a:p>
            <a:pPr marL="8659">
              <a:spcBef>
                <a:spcPts val="68"/>
              </a:spcBef>
            </a:pPr>
            <a:r>
              <a:rPr sz="818" spc="-17" dirty="0">
                <a:solidFill>
                  <a:srgbClr val="0000FF"/>
                </a:solidFill>
                <a:latin typeface="Verdana"/>
                <a:cs typeface="Verdana"/>
              </a:rPr>
              <a:t>IR</a:t>
            </a:r>
            <a:endParaRPr sz="818">
              <a:latin typeface="Verdana"/>
              <a:cs typeface="Verdana"/>
            </a:endParaRPr>
          </a:p>
        </p:txBody>
      </p:sp>
      <p:grpSp>
        <p:nvGrpSpPr>
          <p:cNvPr id="98" name="object 98"/>
          <p:cNvGrpSpPr/>
          <p:nvPr/>
        </p:nvGrpSpPr>
        <p:grpSpPr>
          <a:xfrm>
            <a:off x="5853188" y="1703242"/>
            <a:ext cx="2506807" cy="469756"/>
            <a:chOff x="6689597" y="1818894"/>
            <a:chExt cx="3676650" cy="688975"/>
          </a:xfrm>
        </p:grpSpPr>
        <p:sp>
          <p:nvSpPr>
            <p:cNvPr id="99" name="object 99"/>
            <p:cNvSpPr/>
            <p:nvPr/>
          </p:nvSpPr>
          <p:spPr>
            <a:xfrm>
              <a:off x="6704075" y="2486403"/>
              <a:ext cx="1832610" cy="1905"/>
            </a:xfrm>
            <a:custGeom>
              <a:avLst/>
              <a:gdLst/>
              <a:ahLst/>
              <a:cxnLst/>
              <a:rect l="l" t="t" r="r" b="b"/>
              <a:pathLst>
                <a:path w="1832609" h="1905">
                  <a:moveTo>
                    <a:pt x="0" y="1358"/>
                  </a:moveTo>
                  <a:lnTo>
                    <a:pt x="1832546" y="0"/>
                  </a:lnTo>
                </a:path>
              </a:pathLst>
            </a:custGeom>
            <a:ln w="28955">
              <a:solidFill>
                <a:srgbClr val="C00000"/>
              </a:solidFill>
            </a:ln>
          </p:spPr>
          <p:txBody>
            <a:bodyPr wrap="square" lIns="0" tIns="0" rIns="0" bIns="0" rtlCol="0"/>
            <a:lstStyle/>
            <a:p>
              <a:endParaRPr sz="1227"/>
            </a:p>
          </p:txBody>
        </p:sp>
        <p:sp>
          <p:nvSpPr>
            <p:cNvPr id="100" name="object 100"/>
            <p:cNvSpPr/>
            <p:nvPr/>
          </p:nvSpPr>
          <p:spPr>
            <a:xfrm>
              <a:off x="8536683" y="1833372"/>
              <a:ext cx="638810" cy="648335"/>
            </a:xfrm>
            <a:custGeom>
              <a:avLst/>
              <a:gdLst/>
              <a:ahLst/>
              <a:cxnLst/>
              <a:rect l="l" t="t" r="r" b="b"/>
              <a:pathLst>
                <a:path w="638809" h="648335">
                  <a:moveTo>
                    <a:pt x="638365" y="0"/>
                  </a:moveTo>
                  <a:lnTo>
                    <a:pt x="0" y="647966"/>
                  </a:lnTo>
                </a:path>
              </a:pathLst>
            </a:custGeom>
            <a:ln w="28956">
              <a:solidFill>
                <a:srgbClr val="C00000"/>
              </a:solidFill>
            </a:ln>
          </p:spPr>
          <p:txBody>
            <a:bodyPr wrap="square" lIns="0" tIns="0" rIns="0" bIns="0" rtlCol="0"/>
            <a:lstStyle/>
            <a:p>
              <a:endParaRPr sz="1227"/>
            </a:p>
          </p:txBody>
        </p:sp>
        <p:sp>
          <p:nvSpPr>
            <p:cNvPr id="101" name="object 101"/>
            <p:cNvSpPr/>
            <p:nvPr/>
          </p:nvSpPr>
          <p:spPr>
            <a:xfrm>
              <a:off x="9175241" y="1833373"/>
              <a:ext cx="1190625" cy="0"/>
            </a:xfrm>
            <a:custGeom>
              <a:avLst/>
              <a:gdLst/>
              <a:ahLst/>
              <a:cxnLst/>
              <a:rect l="l" t="t" r="r" b="b"/>
              <a:pathLst>
                <a:path w="1190625">
                  <a:moveTo>
                    <a:pt x="0" y="0"/>
                  </a:moveTo>
                  <a:lnTo>
                    <a:pt x="1190472" y="0"/>
                  </a:lnTo>
                </a:path>
              </a:pathLst>
            </a:custGeom>
            <a:ln w="28956">
              <a:solidFill>
                <a:srgbClr val="C00000"/>
              </a:solidFill>
            </a:ln>
          </p:spPr>
          <p:txBody>
            <a:bodyPr wrap="square" lIns="0" tIns="0" rIns="0" bIns="0" rtlCol="0"/>
            <a:lstStyle/>
            <a:p>
              <a:endParaRPr sz="1227"/>
            </a:p>
          </p:txBody>
        </p:sp>
        <p:sp>
          <p:nvSpPr>
            <p:cNvPr id="102" name="object 102"/>
            <p:cNvSpPr/>
            <p:nvPr/>
          </p:nvSpPr>
          <p:spPr>
            <a:xfrm>
              <a:off x="8506967" y="2491745"/>
              <a:ext cx="1832610" cy="1905"/>
            </a:xfrm>
            <a:custGeom>
              <a:avLst/>
              <a:gdLst/>
              <a:ahLst/>
              <a:cxnLst/>
              <a:rect l="l" t="t" r="r" b="b"/>
              <a:pathLst>
                <a:path w="1832609" h="1905">
                  <a:moveTo>
                    <a:pt x="0" y="1485"/>
                  </a:moveTo>
                  <a:lnTo>
                    <a:pt x="1832546" y="0"/>
                  </a:lnTo>
                </a:path>
              </a:pathLst>
            </a:custGeom>
            <a:ln w="28956">
              <a:solidFill>
                <a:srgbClr val="C00000"/>
              </a:solidFill>
              <a:prstDash val="sysDash"/>
            </a:ln>
          </p:spPr>
          <p:txBody>
            <a:bodyPr wrap="square" lIns="0" tIns="0" rIns="0" bIns="0" rtlCol="0"/>
            <a:lstStyle/>
            <a:p>
              <a:endParaRPr sz="1227"/>
            </a:p>
          </p:txBody>
        </p:sp>
      </p:grpSp>
      <p:sp>
        <p:nvSpPr>
          <p:cNvPr id="103" name="object 103"/>
          <p:cNvSpPr txBox="1"/>
          <p:nvPr/>
        </p:nvSpPr>
        <p:spPr>
          <a:xfrm>
            <a:off x="8643350" y="3200358"/>
            <a:ext cx="400916" cy="197578"/>
          </a:xfrm>
          <a:prstGeom prst="rect">
            <a:avLst/>
          </a:prstGeom>
        </p:spPr>
        <p:txBody>
          <a:bodyPr vert="horz" wrap="square" lIns="0" tIns="8659" rIns="0" bIns="0" rtlCol="0">
            <a:spAutoFit/>
          </a:bodyPr>
          <a:lstStyle/>
          <a:p>
            <a:pPr marL="8659">
              <a:spcBef>
                <a:spcPts val="68"/>
              </a:spcBef>
            </a:pPr>
            <a:r>
              <a:rPr sz="1227" spc="-14" dirty="0">
                <a:latin typeface="Verdana"/>
                <a:cs typeface="Verdana"/>
              </a:rPr>
              <a:t>Time</a:t>
            </a:r>
            <a:endParaRPr sz="1227">
              <a:latin typeface="Verdana"/>
              <a:cs typeface="Verdana"/>
            </a:endParaRPr>
          </a:p>
        </p:txBody>
      </p:sp>
      <p:sp>
        <p:nvSpPr>
          <p:cNvPr id="104" name="object 104"/>
          <p:cNvSpPr txBox="1"/>
          <p:nvPr/>
        </p:nvSpPr>
        <p:spPr>
          <a:xfrm>
            <a:off x="5524033" y="2751183"/>
            <a:ext cx="328613" cy="197641"/>
          </a:xfrm>
          <a:prstGeom prst="rect">
            <a:avLst/>
          </a:prstGeom>
        </p:spPr>
        <p:txBody>
          <a:bodyPr vert="horz" wrap="square" lIns="0" tIns="8659" rIns="0" bIns="0" rtlCol="0">
            <a:spAutoFit/>
          </a:bodyPr>
          <a:lstStyle/>
          <a:p>
            <a:pPr marL="25977">
              <a:spcBef>
                <a:spcPts val="68"/>
              </a:spcBef>
            </a:pPr>
            <a:r>
              <a:rPr sz="1841" spc="-20" baseline="13888" dirty="0">
                <a:latin typeface="Verdana"/>
                <a:cs typeface="Verdana"/>
              </a:rPr>
              <a:t>V</a:t>
            </a:r>
            <a:r>
              <a:rPr sz="818" spc="-14" dirty="0">
                <a:latin typeface="Verdana"/>
                <a:cs typeface="Verdana"/>
              </a:rPr>
              <a:t>out</a:t>
            </a:r>
            <a:endParaRPr sz="818">
              <a:latin typeface="Verdana"/>
              <a:cs typeface="Verdana"/>
            </a:endParaRPr>
          </a:p>
        </p:txBody>
      </p:sp>
      <p:grpSp>
        <p:nvGrpSpPr>
          <p:cNvPr id="105" name="object 105"/>
          <p:cNvGrpSpPr/>
          <p:nvPr/>
        </p:nvGrpSpPr>
        <p:grpSpPr>
          <a:xfrm>
            <a:off x="5836563" y="2567999"/>
            <a:ext cx="2798185" cy="460664"/>
            <a:chOff x="6665214" y="3087205"/>
            <a:chExt cx="4104004" cy="675640"/>
          </a:xfrm>
        </p:grpSpPr>
        <p:sp>
          <p:nvSpPr>
            <p:cNvPr id="106" name="object 106"/>
            <p:cNvSpPr/>
            <p:nvPr/>
          </p:nvSpPr>
          <p:spPr>
            <a:xfrm>
              <a:off x="6679692" y="3275834"/>
              <a:ext cx="1832610" cy="1905"/>
            </a:xfrm>
            <a:custGeom>
              <a:avLst/>
              <a:gdLst/>
              <a:ahLst/>
              <a:cxnLst/>
              <a:rect l="l" t="t" r="r" b="b"/>
              <a:pathLst>
                <a:path w="1832609" h="1904">
                  <a:moveTo>
                    <a:pt x="0" y="1358"/>
                  </a:moveTo>
                  <a:lnTo>
                    <a:pt x="1832546" y="0"/>
                  </a:lnTo>
                </a:path>
              </a:pathLst>
            </a:custGeom>
            <a:ln w="28955">
              <a:solidFill>
                <a:srgbClr val="0000FF"/>
              </a:solidFill>
            </a:ln>
          </p:spPr>
          <p:txBody>
            <a:bodyPr wrap="square" lIns="0" tIns="0" rIns="0" bIns="0" rtlCol="0"/>
            <a:lstStyle/>
            <a:p>
              <a:endParaRPr sz="1227"/>
            </a:p>
          </p:txBody>
        </p:sp>
        <p:sp>
          <p:nvSpPr>
            <p:cNvPr id="107" name="object 107"/>
            <p:cNvSpPr/>
            <p:nvPr/>
          </p:nvSpPr>
          <p:spPr>
            <a:xfrm>
              <a:off x="8511540" y="3265930"/>
              <a:ext cx="2100580" cy="12700"/>
            </a:xfrm>
            <a:custGeom>
              <a:avLst/>
              <a:gdLst/>
              <a:ahLst/>
              <a:cxnLst/>
              <a:rect l="l" t="t" r="r" b="b"/>
              <a:pathLst>
                <a:path w="2100579" h="12700">
                  <a:moveTo>
                    <a:pt x="0" y="12509"/>
                  </a:moveTo>
                  <a:lnTo>
                    <a:pt x="2100376" y="0"/>
                  </a:lnTo>
                </a:path>
              </a:pathLst>
            </a:custGeom>
            <a:ln w="28956">
              <a:solidFill>
                <a:srgbClr val="0000FF"/>
              </a:solidFill>
              <a:prstDash val="sysDash"/>
            </a:ln>
          </p:spPr>
          <p:txBody>
            <a:bodyPr wrap="square" lIns="0" tIns="0" rIns="0" bIns="0" rtlCol="0"/>
            <a:lstStyle/>
            <a:p>
              <a:endParaRPr sz="1227"/>
            </a:p>
          </p:txBody>
        </p:sp>
        <p:sp>
          <p:nvSpPr>
            <p:cNvPr id="108" name="object 108"/>
            <p:cNvSpPr/>
            <p:nvPr/>
          </p:nvSpPr>
          <p:spPr>
            <a:xfrm>
              <a:off x="10490073" y="3456051"/>
              <a:ext cx="171450" cy="297180"/>
            </a:xfrm>
            <a:custGeom>
              <a:avLst/>
              <a:gdLst/>
              <a:ahLst/>
              <a:cxnLst/>
              <a:rect l="l" t="t" r="r" b="b"/>
              <a:pathLst>
                <a:path w="171450" h="297179">
                  <a:moveTo>
                    <a:pt x="42862" y="297180"/>
                  </a:moveTo>
                  <a:lnTo>
                    <a:pt x="42862" y="85585"/>
                  </a:lnTo>
                  <a:lnTo>
                    <a:pt x="0" y="85585"/>
                  </a:lnTo>
                  <a:lnTo>
                    <a:pt x="85725" y="0"/>
                  </a:lnTo>
                  <a:lnTo>
                    <a:pt x="171450" y="85585"/>
                  </a:lnTo>
                  <a:lnTo>
                    <a:pt x="128587" y="85585"/>
                  </a:lnTo>
                  <a:lnTo>
                    <a:pt x="128587" y="297180"/>
                  </a:lnTo>
                  <a:lnTo>
                    <a:pt x="42862" y="297180"/>
                  </a:lnTo>
                  <a:close/>
                </a:path>
              </a:pathLst>
            </a:custGeom>
            <a:ln w="19050">
              <a:solidFill>
                <a:srgbClr val="0000FF"/>
              </a:solidFill>
            </a:ln>
          </p:spPr>
          <p:txBody>
            <a:bodyPr wrap="square" lIns="0" tIns="0" rIns="0" bIns="0" rtlCol="0"/>
            <a:lstStyle/>
            <a:p>
              <a:endParaRPr sz="1227"/>
            </a:p>
          </p:txBody>
        </p:sp>
        <p:sp>
          <p:nvSpPr>
            <p:cNvPr id="109" name="object 109"/>
            <p:cNvSpPr/>
            <p:nvPr/>
          </p:nvSpPr>
          <p:spPr>
            <a:xfrm>
              <a:off x="10611611" y="3265172"/>
              <a:ext cx="142875" cy="1270"/>
            </a:xfrm>
            <a:custGeom>
              <a:avLst/>
              <a:gdLst/>
              <a:ahLst/>
              <a:cxnLst/>
              <a:rect l="l" t="t" r="r" b="b"/>
              <a:pathLst>
                <a:path w="142875" h="1270">
                  <a:moveTo>
                    <a:pt x="0" y="825"/>
                  </a:moveTo>
                  <a:lnTo>
                    <a:pt x="142532" y="0"/>
                  </a:lnTo>
                </a:path>
              </a:pathLst>
            </a:custGeom>
            <a:ln w="28955">
              <a:solidFill>
                <a:srgbClr val="0000FF"/>
              </a:solidFill>
            </a:ln>
          </p:spPr>
          <p:txBody>
            <a:bodyPr wrap="square" lIns="0" tIns="0" rIns="0" bIns="0" rtlCol="0"/>
            <a:lstStyle/>
            <a:p>
              <a:endParaRPr sz="1227"/>
            </a:p>
          </p:txBody>
        </p:sp>
        <p:sp>
          <p:nvSpPr>
            <p:cNvPr id="110" name="object 110"/>
            <p:cNvSpPr/>
            <p:nvPr/>
          </p:nvSpPr>
          <p:spPr>
            <a:xfrm>
              <a:off x="9912858" y="3409184"/>
              <a:ext cx="841375" cy="7620"/>
            </a:xfrm>
            <a:custGeom>
              <a:avLst/>
              <a:gdLst/>
              <a:ahLst/>
              <a:cxnLst/>
              <a:rect l="l" t="t" r="r" b="b"/>
              <a:pathLst>
                <a:path w="841375" h="7620">
                  <a:moveTo>
                    <a:pt x="0" y="7251"/>
                  </a:moveTo>
                  <a:lnTo>
                    <a:pt x="841222" y="0"/>
                  </a:lnTo>
                </a:path>
              </a:pathLst>
            </a:custGeom>
            <a:ln w="28955">
              <a:solidFill>
                <a:srgbClr val="0000FF"/>
              </a:solidFill>
            </a:ln>
          </p:spPr>
          <p:txBody>
            <a:bodyPr wrap="square" lIns="0" tIns="0" rIns="0" bIns="0" rtlCol="0"/>
            <a:lstStyle/>
            <a:p>
              <a:endParaRPr sz="1227"/>
            </a:p>
          </p:txBody>
        </p:sp>
        <p:sp>
          <p:nvSpPr>
            <p:cNvPr id="111" name="object 111"/>
            <p:cNvSpPr/>
            <p:nvPr/>
          </p:nvSpPr>
          <p:spPr>
            <a:xfrm>
              <a:off x="8504682" y="3101683"/>
              <a:ext cx="1437640" cy="318135"/>
            </a:xfrm>
            <a:custGeom>
              <a:avLst/>
              <a:gdLst/>
              <a:ahLst/>
              <a:cxnLst/>
              <a:rect l="l" t="t" r="r" b="b"/>
              <a:pathLst>
                <a:path w="1437640" h="318135">
                  <a:moveTo>
                    <a:pt x="0" y="144017"/>
                  </a:moveTo>
                  <a:lnTo>
                    <a:pt x="39091" y="94432"/>
                  </a:lnTo>
                  <a:lnTo>
                    <a:pt x="77553" y="50280"/>
                  </a:lnTo>
                  <a:lnTo>
                    <a:pt x="114760" y="16991"/>
                  </a:lnTo>
                  <a:lnTo>
                    <a:pt x="150086" y="0"/>
                  </a:lnTo>
                  <a:lnTo>
                    <a:pt x="182905" y="4736"/>
                  </a:lnTo>
                  <a:lnTo>
                    <a:pt x="201380" y="25879"/>
                  </a:lnTo>
                  <a:lnTo>
                    <a:pt x="218018" y="63700"/>
                  </a:lnTo>
                  <a:lnTo>
                    <a:pt x="233432" y="112436"/>
                  </a:lnTo>
                  <a:lnTo>
                    <a:pt x="248232" y="166323"/>
                  </a:lnTo>
                  <a:lnTo>
                    <a:pt x="263032" y="219597"/>
                  </a:lnTo>
                  <a:lnTo>
                    <a:pt x="278444" y="266496"/>
                  </a:lnTo>
                  <a:lnTo>
                    <a:pt x="295079" y="301254"/>
                  </a:lnTo>
                  <a:lnTo>
                    <a:pt x="313550" y="318109"/>
                  </a:lnTo>
                  <a:lnTo>
                    <a:pt x="337090" y="311690"/>
                  </a:lnTo>
                  <a:lnTo>
                    <a:pt x="362511" y="283978"/>
                  </a:lnTo>
                  <a:lnTo>
                    <a:pt x="389201" y="242816"/>
                  </a:lnTo>
                  <a:lnTo>
                    <a:pt x="416552" y="196044"/>
                  </a:lnTo>
                  <a:lnTo>
                    <a:pt x="443953" y="151505"/>
                  </a:lnTo>
                  <a:lnTo>
                    <a:pt x="470795" y="117041"/>
                  </a:lnTo>
                  <a:lnTo>
                    <a:pt x="496468" y="100494"/>
                  </a:lnTo>
                  <a:lnTo>
                    <a:pt x="515690" y="103133"/>
                  </a:lnTo>
                  <a:lnTo>
                    <a:pt x="527242" y="118410"/>
                  </a:lnTo>
                  <a:lnTo>
                    <a:pt x="536610" y="142443"/>
                  </a:lnTo>
                  <a:lnTo>
                    <a:pt x="549280" y="171349"/>
                  </a:lnTo>
                  <a:lnTo>
                    <a:pt x="606464" y="228248"/>
                  </a:lnTo>
                  <a:lnTo>
                    <a:pt x="661949" y="248475"/>
                  </a:lnTo>
                  <a:lnTo>
                    <a:pt x="732429" y="261985"/>
                  </a:lnTo>
                  <a:lnTo>
                    <a:pt x="773088" y="268044"/>
                  </a:lnTo>
                  <a:lnTo>
                    <a:pt x="816999" y="273685"/>
                  </a:lnTo>
                  <a:lnTo>
                    <a:pt x="863890" y="278943"/>
                  </a:lnTo>
                  <a:lnTo>
                    <a:pt x="913491" y="283853"/>
                  </a:lnTo>
                  <a:lnTo>
                    <a:pt x="965531" y="288449"/>
                  </a:lnTo>
                  <a:lnTo>
                    <a:pt x="1019738" y="292766"/>
                  </a:lnTo>
                  <a:lnTo>
                    <a:pt x="1075843" y="296840"/>
                  </a:lnTo>
                  <a:lnTo>
                    <a:pt x="1133573" y="300705"/>
                  </a:lnTo>
                  <a:lnTo>
                    <a:pt x="1192659" y="304395"/>
                  </a:lnTo>
                  <a:lnTo>
                    <a:pt x="1252828" y="307946"/>
                  </a:lnTo>
                  <a:lnTo>
                    <a:pt x="1313811" y="311392"/>
                  </a:lnTo>
                  <a:lnTo>
                    <a:pt x="1375335" y="314768"/>
                  </a:lnTo>
                  <a:lnTo>
                    <a:pt x="1437132" y="318109"/>
                  </a:lnTo>
                </a:path>
              </a:pathLst>
            </a:custGeom>
            <a:ln w="28956">
              <a:solidFill>
                <a:srgbClr val="0000FF"/>
              </a:solidFill>
            </a:ln>
          </p:spPr>
          <p:txBody>
            <a:bodyPr wrap="square" lIns="0" tIns="0" rIns="0" bIns="0" rtlCol="0"/>
            <a:lstStyle/>
            <a:p>
              <a:endParaRPr sz="1227"/>
            </a:p>
          </p:txBody>
        </p:sp>
      </p:grpSp>
      <p:sp>
        <p:nvSpPr>
          <p:cNvPr id="112" name="object 112"/>
          <p:cNvSpPr txBox="1"/>
          <p:nvPr/>
        </p:nvSpPr>
        <p:spPr>
          <a:xfrm>
            <a:off x="5890387" y="3022741"/>
            <a:ext cx="1352117" cy="218107"/>
          </a:xfrm>
          <a:prstGeom prst="rect">
            <a:avLst/>
          </a:prstGeom>
        </p:spPr>
        <p:txBody>
          <a:bodyPr vert="horz" wrap="square" lIns="0" tIns="8226" rIns="0" bIns="0" rtlCol="0">
            <a:spAutoFit/>
          </a:bodyPr>
          <a:lstStyle/>
          <a:p>
            <a:pPr marL="25977">
              <a:spcBef>
                <a:spcPts val="65"/>
              </a:spcBef>
            </a:pPr>
            <a:r>
              <a:rPr sz="2045" baseline="13888" dirty="0">
                <a:latin typeface="Cambria Math"/>
                <a:cs typeface="Cambria Math"/>
              </a:rPr>
              <a:t>𝑉</a:t>
            </a:r>
            <a:r>
              <a:rPr sz="886" dirty="0">
                <a:latin typeface="Cambria Math"/>
                <a:cs typeface="Cambria Math"/>
              </a:rPr>
              <a:t>𝐼𝑅</a:t>
            </a:r>
            <a:r>
              <a:rPr sz="886" spc="215" dirty="0">
                <a:latin typeface="Cambria Math"/>
                <a:cs typeface="Cambria Math"/>
              </a:rPr>
              <a:t> </a:t>
            </a:r>
            <a:r>
              <a:rPr sz="2045" baseline="13888" dirty="0">
                <a:latin typeface="Cambria Math"/>
                <a:cs typeface="Cambria Math"/>
              </a:rPr>
              <a:t>=</a:t>
            </a:r>
            <a:r>
              <a:rPr sz="2045" spc="122" baseline="13888" dirty="0">
                <a:latin typeface="Cambria Math"/>
                <a:cs typeface="Cambria Math"/>
              </a:rPr>
              <a:t> </a:t>
            </a:r>
            <a:r>
              <a:rPr sz="2045" spc="66" baseline="13888" dirty="0">
                <a:latin typeface="Cambria Math"/>
                <a:cs typeface="Cambria Math"/>
              </a:rPr>
              <a:t>𝑅</a:t>
            </a:r>
            <a:r>
              <a:rPr sz="1483" spc="66" baseline="3831" dirty="0">
                <a:latin typeface="Cambria Math"/>
                <a:cs typeface="Cambria Math"/>
              </a:rPr>
              <a:t>𝑝𝑎𝑟𝑎</a:t>
            </a:r>
            <a:r>
              <a:rPr sz="1483" spc="260" baseline="3831" dirty="0">
                <a:latin typeface="Cambria Math"/>
                <a:cs typeface="Cambria Math"/>
              </a:rPr>
              <a:t> </a:t>
            </a:r>
            <a:r>
              <a:rPr sz="2045" spc="-1473" baseline="13888" dirty="0">
                <a:latin typeface="Cambria Math"/>
                <a:cs typeface="Cambria Math"/>
              </a:rPr>
              <a:t>�</a:t>
            </a:r>
            <a:r>
              <a:rPr sz="2045" baseline="13888" dirty="0">
                <a:latin typeface="Cambria Math"/>
                <a:cs typeface="Cambria Math"/>
              </a:rPr>
              <a:t> </a:t>
            </a:r>
            <a:r>
              <a:rPr sz="2045" spc="-20" baseline="13888" dirty="0">
                <a:latin typeface="Cambria Math"/>
                <a:cs typeface="Cambria Math"/>
              </a:rPr>
              <a:t>𝐼</a:t>
            </a:r>
            <a:r>
              <a:rPr sz="886" spc="-14" dirty="0">
                <a:latin typeface="Cambria Math"/>
                <a:cs typeface="Cambria Math"/>
              </a:rPr>
              <a:t>𝑙𝑜𝑎𝑑</a:t>
            </a:r>
            <a:endParaRPr sz="886">
              <a:latin typeface="Cambria Math"/>
              <a:cs typeface="Cambria Math"/>
            </a:endParaRPr>
          </a:p>
        </p:txBody>
      </p:sp>
      <p:sp>
        <p:nvSpPr>
          <p:cNvPr id="113" name="object 113"/>
          <p:cNvSpPr txBox="1"/>
          <p:nvPr/>
        </p:nvSpPr>
        <p:spPr>
          <a:xfrm>
            <a:off x="4656029" y="2763337"/>
            <a:ext cx="379268" cy="197641"/>
          </a:xfrm>
          <a:prstGeom prst="rect">
            <a:avLst/>
          </a:prstGeom>
        </p:spPr>
        <p:txBody>
          <a:bodyPr vert="horz" wrap="square" lIns="0" tIns="8659" rIns="0" bIns="0" rtlCol="0">
            <a:spAutoFit/>
          </a:bodyPr>
          <a:lstStyle/>
          <a:p>
            <a:pPr marL="25977">
              <a:spcBef>
                <a:spcPts val="68"/>
              </a:spcBef>
            </a:pPr>
            <a:r>
              <a:rPr sz="1841" spc="-10" baseline="13888" dirty="0">
                <a:latin typeface="Verdana"/>
                <a:cs typeface="Verdana"/>
              </a:rPr>
              <a:t>R</a:t>
            </a:r>
            <a:r>
              <a:rPr sz="818" spc="-7" dirty="0">
                <a:latin typeface="Verdana"/>
                <a:cs typeface="Verdana"/>
              </a:rPr>
              <a:t>load</a:t>
            </a:r>
            <a:endParaRPr sz="818">
              <a:latin typeface="Verdana"/>
              <a:cs typeface="Verdana"/>
            </a:endParaRPr>
          </a:p>
        </p:txBody>
      </p:sp>
      <p:sp>
        <p:nvSpPr>
          <p:cNvPr id="114" name="object 114"/>
          <p:cNvSpPr txBox="1"/>
          <p:nvPr/>
        </p:nvSpPr>
        <p:spPr>
          <a:xfrm>
            <a:off x="2639174" y="2761093"/>
            <a:ext cx="126423" cy="197578"/>
          </a:xfrm>
          <a:prstGeom prst="rect">
            <a:avLst/>
          </a:prstGeom>
        </p:spPr>
        <p:txBody>
          <a:bodyPr vert="horz" wrap="square" lIns="0" tIns="8659" rIns="0" bIns="0" rtlCol="0">
            <a:spAutoFit/>
          </a:bodyPr>
          <a:lstStyle/>
          <a:p>
            <a:pPr marL="8659">
              <a:spcBef>
                <a:spcPts val="68"/>
              </a:spcBef>
            </a:pPr>
            <a:r>
              <a:rPr sz="1227" spc="-34" dirty="0">
                <a:latin typeface="Verdana"/>
                <a:cs typeface="Verdana"/>
              </a:rPr>
              <a:t>C</a:t>
            </a:r>
            <a:endParaRPr sz="1227">
              <a:latin typeface="Verdana"/>
              <a:cs typeface="Verdana"/>
            </a:endParaRPr>
          </a:p>
        </p:txBody>
      </p:sp>
      <p:sp>
        <p:nvSpPr>
          <p:cNvPr id="115" name="object 115"/>
          <p:cNvSpPr txBox="1"/>
          <p:nvPr/>
        </p:nvSpPr>
        <p:spPr>
          <a:xfrm>
            <a:off x="2747761" y="2851494"/>
            <a:ext cx="187469" cy="134612"/>
          </a:xfrm>
          <a:prstGeom prst="rect">
            <a:avLst/>
          </a:prstGeom>
        </p:spPr>
        <p:txBody>
          <a:bodyPr vert="horz" wrap="square" lIns="0" tIns="8659" rIns="0" bIns="0" rtlCol="0">
            <a:spAutoFit/>
          </a:bodyPr>
          <a:lstStyle/>
          <a:p>
            <a:pPr marL="8659">
              <a:spcBef>
                <a:spcPts val="68"/>
              </a:spcBef>
            </a:pPr>
            <a:r>
              <a:rPr sz="818" spc="-17" dirty="0">
                <a:latin typeface="Verdana"/>
                <a:cs typeface="Verdana"/>
              </a:rPr>
              <a:t>out</a:t>
            </a:r>
            <a:endParaRPr sz="818">
              <a:latin typeface="Verdana"/>
              <a:cs typeface="Verdana"/>
            </a:endParaRPr>
          </a:p>
        </p:txBody>
      </p:sp>
    </p:spTree>
    <p:extLst>
      <p:ext uri="{BB962C8B-B14F-4D97-AF65-F5344CB8AC3E}">
        <p14:creationId xmlns:p14="http://schemas.microsoft.com/office/powerpoint/2010/main" val="1122963111"/>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2704</TotalTime>
  <Words>3591</Words>
  <Application>Microsoft Office PowerPoint</Application>
  <PresentationFormat>Widescreen</PresentationFormat>
  <Paragraphs>991</Paragraphs>
  <Slides>81</Slides>
  <Notes>0</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81</vt:i4>
      </vt:variant>
    </vt:vector>
  </HeadingPairs>
  <TitlesOfParts>
    <vt:vector size="96" baseType="lpstr">
      <vt:lpstr>Arial</vt:lpstr>
      <vt:lpstr>Arial MT</vt:lpstr>
      <vt:lpstr>Calibri</vt:lpstr>
      <vt:lpstr>Calibri Light</vt:lpstr>
      <vt:lpstr>Cambria Math</vt:lpstr>
      <vt:lpstr>Courier New</vt:lpstr>
      <vt:lpstr>Inter</vt:lpstr>
      <vt:lpstr>KaTeX_Main</vt:lpstr>
      <vt:lpstr>KaTeX_Math</vt:lpstr>
      <vt:lpstr>Symbol</vt:lpstr>
      <vt:lpstr>Times New Roman</vt:lpstr>
      <vt:lpstr>Verdana</vt:lpstr>
      <vt:lpstr>Wingdings</vt:lpstr>
      <vt:lpstr>2_Office Theme</vt:lpstr>
      <vt:lpstr>Office Theme</vt:lpstr>
      <vt:lpstr>PowerPoint Presentation</vt:lpstr>
      <vt:lpstr>Introduction to design Insights of LDOs </vt:lpstr>
      <vt:lpstr>Cont..</vt:lpstr>
      <vt:lpstr>Cont..</vt:lpstr>
      <vt:lpstr>Principle of operation </vt:lpstr>
      <vt:lpstr>Cont..</vt:lpstr>
      <vt:lpstr>Real LDOs</vt:lpstr>
      <vt:lpstr>Cont..</vt:lpstr>
      <vt:lpstr>Practical example of an LDO</vt:lpstr>
      <vt:lpstr>Cont..</vt:lpstr>
      <vt:lpstr>LDO operation under load </vt:lpstr>
      <vt:lpstr>LDO topologies </vt:lpstr>
      <vt:lpstr>PMOS V/S NMOS LDOs</vt:lpstr>
      <vt:lpstr>PMOS V/S NMOS LDOs</vt:lpstr>
      <vt:lpstr>PMOS LDOs/NMOS LDOs</vt:lpstr>
      <vt:lpstr>Advantage</vt:lpstr>
      <vt:lpstr>Single Stage OTAs</vt:lpstr>
      <vt:lpstr>PowerPoint Presentation</vt:lpstr>
      <vt:lpstr>2 Stage or Millar OTAs</vt:lpstr>
      <vt:lpstr>Folded Cascode OTAs</vt:lpstr>
      <vt:lpstr>Telescopic OP AMP/OTAs</vt:lpstr>
      <vt:lpstr>Comparison</vt:lpstr>
      <vt:lpstr>Feedback resistance calculation </vt:lpstr>
      <vt:lpstr>Cont..</vt:lpstr>
      <vt:lpstr>Cont..</vt:lpstr>
      <vt:lpstr>Output voltage error </vt:lpstr>
      <vt:lpstr>1. Voltage divider mismatch </vt:lpstr>
      <vt:lpstr>2 Gain error of error amplifier </vt:lpstr>
      <vt:lpstr>Cont..</vt:lpstr>
      <vt:lpstr>3 Reference voltage error </vt:lpstr>
      <vt:lpstr>Calculation Example</vt:lpstr>
      <vt:lpstr>Cont..</vt:lpstr>
      <vt:lpstr>Feedback Resistor Highlights</vt:lpstr>
      <vt:lpstr>Stability &amp; Transfer Function</vt:lpstr>
      <vt:lpstr>Cont..</vt:lpstr>
      <vt:lpstr>Cont..</vt:lpstr>
      <vt:lpstr>Transfer function of the LDO</vt:lpstr>
      <vt:lpstr>Compensation </vt:lpstr>
      <vt:lpstr>Using a ESR zero</vt:lpstr>
      <vt:lpstr>Cont..</vt:lpstr>
      <vt:lpstr>Using a buffer</vt:lpstr>
      <vt:lpstr>Cont..</vt:lpstr>
      <vt:lpstr>LDO Parasitics</vt:lpstr>
      <vt:lpstr>LDO Parasitics</vt:lpstr>
      <vt:lpstr>Cont..</vt:lpstr>
      <vt:lpstr>Digital LDO</vt:lpstr>
      <vt:lpstr>Digital LDO</vt:lpstr>
      <vt:lpstr>Analog vs Digital LDOs</vt:lpstr>
      <vt:lpstr>Analog v/s Digital LDOs</vt:lpstr>
      <vt:lpstr>Input Voltage</vt:lpstr>
      <vt:lpstr>Power-FET’s Source-Gate Voltage (Vsg)</vt:lpstr>
      <vt:lpstr>Deep Dive</vt:lpstr>
      <vt:lpstr>Output Voltage</vt:lpstr>
      <vt:lpstr>Output Voltage Range – Analog vs. Digital LDO</vt:lpstr>
      <vt:lpstr>Dropout Voltage Requirement</vt:lpstr>
      <vt:lpstr>Implication of Output Voltage Range in SoC Usage</vt:lpstr>
      <vt:lpstr>Key Specifications</vt:lpstr>
      <vt:lpstr>Silicon Area</vt:lpstr>
      <vt:lpstr>Voltage Droop (Vdroop)</vt:lpstr>
      <vt:lpstr>Edge Time (tedge)</vt:lpstr>
      <vt:lpstr>Response Time (tresponse)</vt:lpstr>
      <vt:lpstr>Settling Time (tsettle)</vt:lpstr>
      <vt:lpstr>Voltage Overshoot (Vovershoot)</vt:lpstr>
      <vt:lpstr>Current and Power Efficiency (CE, PE)</vt:lpstr>
      <vt:lpstr>PowerPoint Presentation</vt:lpstr>
      <vt:lpstr>Current Efficiency vs. Peak Current Efficiency</vt:lpstr>
      <vt:lpstr>Cont..</vt:lpstr>
      <vt:lpstr>Dropout Voltage (Vdropout)</vt:lpstr>
      <vt:lpstr>Power Supply Rejection Ratio (PSRR)</vt:lpstr>
      <vt:lpstr>ps Figure of Merit (ps-FoM)</vt:lpstr>
      <vt:lpstr>Caveats for the ps-FoM</vt:lpstr>
      <vt:lpstr>pF Figure of Merit (pF-FoM)</vt:lpstr>
      <vt:lpstr>Maximum Load Current (Iload,max)</vt:lpstr>
      <vt:lpstr>DAC Number of Bits (NDAC)</vt:lpstr>
      <vt:lpstr>DAC Step Size (VDAC,SS)</vt:lpstr>
      <vt:lpstr>Minimum Load Current (Iload,min)</vt:lpstr>
      <vt:lpstr>Minimum Load Current (Iload,min)</vt:lpstr>
      <vt:lpstr>Clock Frequency (fclk)</vt:lpstr>
      <vt:lpstr>Output Ripple Size (Vripple)</vt:lpstr>
      <vt:lpstr>Output Ripple Size (Vripple)</vt:lpstr>
      <vt:lpstr>IR Drop (VIR)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Neeraj Mishra</dc:creator>
  <cp:lastModifiedBy>Neeraj Mishra</cp:lastModifiedBy>
  <cp:revision>11</cp:revision>
  <dcterms:created xsi:type="dcterms:W3CDTF">2025-09-03T05:59:57Z</dcterms:created>
  <dcterms:modified xsi:type="dcterms:W3CDTF">2026-08-24T08:54:07Z</dcterms:modified>
</cp:coreProperties>
</file>