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7" d="100"/>
          <a:sy n="157" d="100"/>
        </p:scale>
        <p:origin x="392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78049" y="50114"/>
            <a:ext cx="8677910" cy="1099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05578" y="1153414"/>
            <a:ext cx="6691630" cy="456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195573" y="3277565"/>
            <a:ext cx="5801360" cy="2677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Calibri Light"/>
                <a:cs typeface="Calibri Light"/>
              </a:rPr>
              <a:t>AIC</a:t>
            </a:r>
            <a:r>
              <a:rPr sz="3600" spc="-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 Light"/>
                <a:cs typeface="Calibri Light"/>
              </a:rPr>
              <a:t>–</a:t>
            </a:r>
            <a:r>
              <a:rPr sz="3600" spc="-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 Light"/>
                <a:cs typeface="Calibri Light"/>
              </a:rPr>
              <a:t>Analog</a:t>
            </a:r>
            <a:r>
              <a:rPr sz="36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 Light"/>
                <a:cs typeface="Calibri Light"/>
              </a:rPr>
              <a:t>Integrated</a:t>
            </a:r>
            <a:r>
              <a:rPr sz="3600" spc="-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 Light"/>
                <a:cs typeface="Calibri Light"/>
              </a:rPr>
              <a:t>Circuits</a:t>
            </a:r>
            <a:endParaRPr sz="3600" dirty="0">
              <a:latin typeface="Calibri Light"/>
              <a:cs typeface="Calibri Light"/>
            </a:endParaRPr>
          </a:p>
          <a:p>
            <a:pPr marL="5715" algn="ctr">
              <a:lnSpc>
                <a:spcPct val="100000"/>
              </a:lnSpc>
              <a:spcBef>
                <a:spcPts val="3454"/>
              </a:spcBef>
            </a:pPr>
            <a:r>
              <a:rPr sz="3600" spc="-10" dirty="0">
                <a:solidFill>
                  <a:srgbClr val="FFFFFF"/>
                </a:solidFill>
                <a:latin typeface="Calibri Light"/>
                <a:cs typeface="Calibri Light"/>
              </a:rPr>
              <a:t>Low</a:t>
            </a:r>
            <a:r>
              <a:rPr sz="3600" spc="-1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spc="-35" dirty="0">
                <a:solidFill>
                  <a:srgbClr val="FFFFFF"/>
                </a:solidFill>
                <a:latin typeface="Calibri Light"/>
                <a:cs typeface="Calibri Light"/>
              </a:rPr>
              <a:t>Power</a:t>
            </a:r>
            <a:r>
              <a:rPr sz="3600" spc="-1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endParaRPr sz="3600" dirty="0">
              <a:latin typeface="Calibri Light"/>
              <a:cs typeface="Calibri Light"/>
            </a:endParaRPr>
          </a:p>
          <a:p>
            <a:pPr marL="334645" marR="323215" algn="ctr">
              <a:lnSpc>
                <a:spcPct val="100000"/>
              </a:lnSpc>
            </a:pPr>
            <a:endParaRPr lang="en-US" sz="3600" spc="-10" dirty="0" smtClean="0">
              <a:solidFill>
                <a:srgbClr val="FFFFFF"/>
              </a:solidFill>
              <a:latin typeface="Calibri Light"/>
              <a:cs typeface="Calibri Light"/>
            </a:endParaRPr>
          </a:p>
          <a:p>
            <a:pPr marL="334645" marR="323215" algn="ctr">
              <a:lnSpc>
                <a:spcPct val="100000"/>
              </a:lnSpc>
            </a:pPr>
            <a:r>
              <a:rPr lang="en-US" sz="3600" spc="-10" dirty="0" smtClean="0">
                <a:solidFill>
                  <a:srgbClr val="FFFFFF"/>
                </a:solidFill>
                <a:latin typeface="Calibri Light"/>
                <a:cs typeface="Calibri Light"/>
              </a:rPr>
              <a:t>Neeraj Mishra</a:t>
            </a:r>
            <a:endParaRPr sz="3600" dirty="0">
              <a:latin typeface="Calibri Light"/>
              <a:cs typeface="Calibri Ligh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457200"/>
            <a:ext cx="2495550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4"/>
            <a:ext cx="943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5628" y="1238834"/>
            <a:ext cx="5254372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4035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following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starts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IEEE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article*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needing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energy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efficient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wired interface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biomedical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multi-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implant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devices.</a:t>
            </a:r>
            <a:endParaRPr sz="1800" dirty="0">
              <a:latin typeface="Calibri Light"/>
              <a:cs typeface="Calibri Light"/>
            </a:endParaRPr>
          </a:p>
          <a:p>
            <a:pPr marL="12700" marR="187325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basic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concept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integrated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chip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capable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handling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both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communication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power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sharing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between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Uplink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(coming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slave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sensors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implant)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Downlink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(coming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master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chest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implant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integrated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battery).</a:t>
            </a:r>
            <a:endParaRPr sz="1800" dirty="0">
              <a:latin typeface="Calibri Light"/>
              <a:cs typeface="Calibri Light"/>
            </a:endParaRPr>
          </a:p>
          <a:p>
            <a:pPr marL="12700" marR="5080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chip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fabricated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using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C35B4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5V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compliant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presents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very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low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power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consumption,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requiring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91.2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µA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quiescent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current.</a:t>
            </a:r>
            <a:endParaRPr sz="1800" dirty="0">
              <a:latin typeface="Calibri Light"/>
              <a:cs typeface="Calibri Light"/>
            </a:endParaRPr>
          </a:p>
          <a:p>
            <a:pPr marL="12700" marR="459105" algn="just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following project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integrated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exploited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mentioned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article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using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C5N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technology.</a:t>
            </a:r>
            <a:endParaRPr sz="1800" dirty="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67255" y="1237488"/>
            <a:ext cx="4150360" cy="4383405"/>
            <a:chOff x="1667255" y="1237488"/>
            <a:chExt cx="4150360" cy="43834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7947" y="1237488"/>
              <a:ext cx="2939160" cy="43830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7255" y="3483863"/>
              <a:ext cx="1688592" cy="559308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6554" rIns="0" bIns="0" rtlCol="0">
            <a:spAutoFit/>
          </a:bodyPr>
          <a:lstStyle/>
          <a:p>
            <a:pPr marL="401002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The</a:t>
            </a:r>
            <a:r>
              <a:rPr sz="4000" spc="-150" dirty="0"/>
              <a:t> </a:t>
            </a:r>
            <a:r>
              <a:rPr sz="4000" dirty="0"/>
              <a:t>starting</a:t>
            </a:r>
            <a:r>
              <a:rPr sz="4000" spc="-140" dirty="0"/>
              <a:t> </a:t>
            </a:r>
            <a:r>
              <a:rPr sz="4000" spc="-10" dirty="0"/>
              <a:t>point…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2120" y="260604"/>
            <a:ext cx="10058400" cy="3656329"/>
            <a:chOff x="1722120" y="260604"/>
            <a:chExt cx="10058400" cy="36563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2120" y="260604"/>
              <a:ext cx="10058400" cy="35204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854702" y="393954"/>
              <a:ext cx="5215255" cy="3503929"/>
            </a:xfrm>
            <a:custGeom>
              <a:avLst/>
              <a:gdLst/>
              <a:ahLst/>
              <a:cxnLst/>
              <a:rect l="l" t="t" r="r" b="b"/>
              <a:pathLst>
                <a:path w="5215255" h="3503929">
                  <a:moveTo>
                    <a:pt x="0" y="583946"/>
                  </a:moveTo>
                  <a:lnTo>
                    <a:pt x="1936" y="536060"/>
                  </a:lnTo>
                  <a:lnTo>
                    <a:pt x="7644" y="489239"/>
                  </a:lnTo>
                  <a:lnTo>
                    <a:pt x="16973" y="443633"/>
                  </a:lnTo>
                  <a:lnTo>
                    <a:pt x="29774" y="399393"/>
                  </a:lnTo>
                  <a:lnTo>
                    <a:pt x="45896" y="356669"/>
                  </a:lnTo>
                  <a:lnTo>
                    <a:pt x="65188" y="315611"/>
                  </a:lnTo>
                  <a:lnTo>
                    <a:pt x="87500" y="276371"/>
                  </a:lnTo>
                  <a:lnTo>
                    <a:pt x="112682" y="239097"/>
                  </a:lnTo>
                  <a:lnTo>
                    <a:pt x="140583" y="203941"/>
                  </a:lnTo>
                  <a:lnTo>
                    <a:pt x="171053" y="171053"/>
                  </a:lnTo>
                  <a:lnTo>
                    <a:pt x="203941" y="140583"/>
                  </a:lnTo>
                  <a:lnTo>
                    <a:pt x="239097" y="112682"/>
                  </a:lnTo>
                  <a:lnTo>
                    <a:pt x="276371" y="87500"/>
                  </a:lnTo>
                  <a:lnTo>
                    <a:pt x="315611" y="65188"/>
                  </a:lnTo>
                  <a:lnTo>
                    <a:pt x="356669" y="45896"/>
                  </a:lnTo>
                  <a:lnTo>
                    <a:pt x="399393" y="29774"/>
                  </a:lnTo>
                  <a:lnTo>
                    <a:pt x="443633" y="16973"/>
                  </a:lnTo>
                  <a:lnTo>
                    <a:pt x="489239" y="7644"/>
                  </a:lnTo>
                  <a:lnTo>
                    <a:pt x="536060" y="1936"/>
                  </a:lnTo>
                  <a:lnTo>
                    <a:pt x="583946" y="0"/>
                  </a:lnTo>
                  <a:lnTo>
                    <a:pt x="4631182" y="0"/>
                  </a:lnTo>
                  <a:lnTo>
                    <a:pt x="4679067" y="1936"/>
                  </a:lnTo>
                  <a:lnTo>
                    <a:pt x="4725888" y="7644"/>
                  </a:lnTo>
                  <a:lnTo>
                    <a:pt x="4771494" y="16973"/>
                  </a:lnTo>
                  <a:lnTo>
                    <a:pt x="4815734" y="29774"/>
                  </a:lnTo>
                  <a:lnTo>
                    <a:pt x="4858458" y="45896"/>
                  </a:lnTo>
                  <a:lnTo>
                    <a:pt x="4899516" y="65188"/>
                  </a:lnTo>
                  <a:lnTo>
                    <a:pt x="4938756" y="87500"/>
                  </a:lnTo>
                  <a:lnTo>
                    <a:pt x="4976030" y="112682"/>
                  </a:lnTo>
                  <a:lnTo>
                    <a:pt x="5011186" y="140583"/>
                  </a:lnTo>
                  <a:lnTo>
                    <a:pt x="5044074" y="171053"/>
                  </a:lnTo>
                  <a:lnTo>
                    <a:pt x="5074544" y="203941"/>
                  </a:lnTo>
                  <a:lnTo>
                    <a:pt x="5102445" y="239097"/>
                  </a:lnTo>
                  <a:lnTo>
                    <a:pt x="5127627" y="276371"/>
                  </a:lnTo>
                  <a:lnTo>
                    <a:pt x="5149939" y="315611"/>
                  </a:lnTo>
                  <a:lnTo>
                    <a:pt x="5169231" y="356669"/>
                  </a:lnTo>
                  <a:lnTo>
                    <a:pt x="5185353" y="399393"/>
                  </a:lnTo>
                  <a:lnTo>
                    <a:pt x="5198154" y="443633"/>
                  </a:lnTo>
                  <a:lnTo>
                    <a:pt x="5207483" y="489239"/>
                  </a:lnTo>
                  <a:lnTo>
                    <a:pt x="5213191" y="536060"/>
                  </a:lnTo>
                  <a:lnTo>
                    <a:pt x="5215128" y="583946"/>
                  </a:lnTo>
                  <a:lnTo>
                    <a:pt x="5215128" y="2919730"/>
                  </a:lnTo>
                  <a:lnTo>
                    <a:pt x="5213191" y="2967615"/>
                  </a:lnTo>
                  <a:lnTo>
                    <a:pt x="5207483" y="3014436"/>
                  </a:lnTo>
                  <a:lnTo>
                    <a:pt x="5198154" y="3060042"/>
                  </a:lnTo>
                  <a:lnTo>
                    <a:pt x="5185353" y="3104282"/>
                  </a:lnTo>
                  <a:lnTo>
                    <a:pt x="5169231" y="3147006"/>
                  </a:lnTo>
                  <a:lnTo>
                    <a:pt x="5149939" y="3188064"/>
                  </a:lnTo>
                  <a:lnTo>
                    <a:pt x="5127627" y="3227304"/>
                  </a:lnTo>
                  <a:lnTo>
                    <a:pt x="5102445" y="3264578"/>
                  </a:lnTo>
                  <a:lnTo>
                    <a:pt x="5074544" y="3299734"/>
                  </a:lnTo>
                  <a:lnTo>
                    <a:pt x="5044074" y="3332622"/>
                  </a:lnTo>
                  <a:lnTo>
                    <a:pt x="5011186" y="3363092"/>
                  </a:lnTo>
                  <a:lnTo>
                    <a:pt x="4976030" y="3390993"/>
                  </a:lnTo>
                  <a:lnTo>
                    <a:pt x="4938756" y="3416175"/>
                  </a:lnTo>
                  <a:lnTo>
                    <a:pt x="4899516" y="3438487"/>
                  </a:lnTo>
                  <a:lnTo>
                    <a:pt x="4858458" y="3457779"/>
                  </a:lnTo>
                  <a:lnTo>
                    <a:pt x="4815734" y="3473901"/>
                  </a:lnTo>
                  <a:lnTo>
                    <a:pt x="4771494" y="3486702"/>
                  </a:lnTo>
                  <a:lnTo>
                    <a:pt x="4725888" y="3496031"/>
                  </a:lnTo>
                  <a:lnTo>
                    <a:pt x="4679067" y="3501739"/>
                  </a:lnTo>
                  <a:lnTo>
                    <a:pt x="4631182" y="3503676"/>
                  </a:lnTo>
                  <a:lnTo>
                    <a:pt x="583946" y="3503676"/>
                  </a:lnTo>
                  <a:lnTo>
                    <a:pt x="536060" y="3501739"/>
                  </a:lnTo>
                  <a:lnTo>
                    <a:pt x="489239" y="3496031"/>
                  </a:lnTo>
                  <a:lnTo>
                    <a:pt x="443633" y="3486702"/>
                  </a:lnTo>
                  <a:lnTo>
                    <a:pt x="399393" y="3473901"/>
                  </a:lnTo>
                  <a:lnTo>
                    <a:pt x="356669" y="3457779"/>
                  </a:lnTo>
                  <a:lnTo>
                    <a:pt x="315611" y="3438487"/>
                  </a:lnTo>
                  <a:lnTo>
                    <a:pt x="276371" y="3416175"/>
                  </a:lnTo>
                  <a:lnTo>
                    <a:pt x="239097" y="3390993"/>
                  </a:lnTo>
                  <a:lnTo>
                    <a:pt x="203941" y="3363092"/>
                  </a:lnTo>
                  <a:lnTo>
                    <a:pt x="171053" y="3332622"/>
                  </a:lnTo>
                  <a:lnTo>
                    <a:pt x="140583" y="3299734"/>
                  </a:lnTo>
                  <a:lnTo>
                    <a:pt x="112682" y="3264578"/>
                  </a:lnTo>
                  <a:lnTo>
                    <a:pt x="87500" y="3227304"/>
                  </a:lnTo>
                  <a:lnTo>
                    <a:pt x="65188" y="3188064"/>
                  </a:lnTo>
                  <a:lnTo>
                    <a:pt x="45896" y="3147006"/>
                  </a:lnTo>
                  <a:lnTo>
                    <a:pt x="29774" y="3104282"/>
                  </a:lnTo>
                  <a:lnTo>
                    <a:pt x="16973" y="3060042"/>
                  </a:lnTo>
                  <a:lnTo>
                    <a:pt x="7644" y="3014436"/>
                  </a:lnTo>
                  <a:lnTo>
                    <a:pt x="1936" y="2967615"/>
                  </a:lnTo>
                  <a:lnTo>
                    <a:pt x="0" y="2919730"/>
                  </a:lnTo>
                  <a:lnTo>
                    <a:pt x="0" y="583946"/>
                  </a:lnTo>
                  <a:close/>
                </a:path>
              </a:pathLst>
            </a:custGeom>
            <a:ln w="381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274823" y="4452366"/>
            <a:ext cx="2297177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Passive</a:t>
            </a:r>
            <a:r>
              <a:rPr sz="1800" spc="-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full-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wave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rectifier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charge-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storage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technique.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allows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extraction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5V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supply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Downlink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square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wave</a:t>
            </a:r>
            <a:r>
              <a:rPr sz="1800" spc="-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signal.</a:t>
            </a:r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3315" y="4175252"/>
            <a:ext cx="501078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circuitry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box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part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interest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consists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stage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(f)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implemented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PMOS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pass-transistor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topology,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generator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(e)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exploiting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β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multiplayer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approach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voltage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(d).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These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three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been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designed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implemented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schematic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level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while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completed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two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versions.</a:t>
            </a:r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87000" y="4114800"/>
            <a:ext cx="1600200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Power-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On-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Reset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logic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which monitors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regulator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output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enabling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final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needed.</a:t>
            </a:r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814" y="163143"/>
            <a:ext cx="1160145" cy="300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ts val="96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200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10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1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08775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budget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0314" y="2100783"/>
            <a:ext cx="9462770" cy="3592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558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Since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total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IC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92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µA,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budget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considered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power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section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been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950" spc="-82" baseline="25641" dirty="0" smtClean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lang="en-US" sz="2700" spc="-82" baseline="1543" dirty="0">
                <a:solidFill>
                  <a:srgbClr val="FFFFFF"/>
                </a:solidFill>
                <a:latin typeface="Cambria Math"/>
                <a:cs typeface="Cambria Math"/>
              </a:rPr>
              <a:t>/</a:t>
            </a:r>
            <a:r>
              <a:rPr sz="1950" spc="-82" baseline="-14957" dirty="0" smtClean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950" spc="104" baseline="-14957" dirty="0" smtClean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total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leads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30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µA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available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current.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latter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rationed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as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follows:</a:t>
            </a:r>
            <a:endParaRPr sz="1800" dirty="0">
              <a:latin typeface="Calibri Light"/>
              <a:cs typeface="Calibri Light"/>
            </a:endParaRPr>
          </a:p>
          <a:p>
            <a:pPr marL="863600" marR="442595" indent="-34353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863600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12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µA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entire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stage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8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µA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branch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4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µA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differential amplifier);</a:t>
            </a:r>
            <a:endParaRPr sz="1800" dirty="0">
              <a:latin typeface="Calibri Light"/>
              <a:cs typeface="Calibri Light"/>
            </a:endParaRPr>
          </a:p>
          <a:p>
            <a:pPr marL="863600" indent="-342900">
              <a:lnSpc>
                <a:spcPct val="100000"/>
              </a:lnSpc>
              <a:buFont typeface="Arial MT"/>
              <a:buChar char="•"/>
              <a:tabLst>
                <a:tab pos="863600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8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µA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(4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µA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branch)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important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part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endParaRPr sz="1800" dirty="0">
              <a:latin typeface="Calibri Light"/>
              <a:cs typeface="Calibri Light"/>
            </a:endParaRPr>
          </a:p>
          <a:p>
            <a:pPr marL="8636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performances;</a:t>
            </a:r>
            <a:endParaRPr sz="1800" dirty="0">
              <a:latin typeface="Calibri Light"/>
              <a:cs typeface="Calibri Light"/>
            </a:endParaRPr>
          </a:p>
          <a:p>
            <a:pPr marL="863600" marR="339090" indent="-343535">
              <a:lnSpc>
                <a:spcPct val="100000"/>
              </a:lnSpc>
              <a:buFont typeface="Arial MT"/>
              <a:buChar char="•"/>
              <a:tabLst>
                <a:tab pos="863600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remaining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budget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supply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(8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µA)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keep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safety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margin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about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possible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variations.</a:t>
            </a:r>
            <a:endParaRPr sz="1800" dirty="0">
              <a:latin typeface="Calibri Light"/>
              <a:cs typeface="Calibri Light"/>
            </a:endParaRPr>
          </a:p>
          <a:p>
            <a:pPr marL="635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Having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mind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limits,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start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power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stage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differential</a:t>
            </a:r>
            <a:endParaRPr sz="1800" dirty="0">
              <a:latin typeface="Calibri Light"/>
              <a:cs typeface="Calibri Light"/>
            </a:endParaRPr>
          </a:p>
          <a:p>
            <a:pPr marL="635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amplifier.</a:t>
            </a:r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85130" y="1004061"/>
            <a:ext cx="31337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4000" spc="-1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 Light"/>
                <a:cs typeface="Calibri Light"/>
              </a:rPr>
              <a:t>budget</a:t>
            </a:r>
            <a:endParaRPr sz="4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002030" cy="544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budget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592" rIns="0" bIns="0" rtlCol="0">
            <a:spAutoFit/>
          </a:bodyPr>
          <a:lstStyle/>
          <a:p>
            <a:pPr marL="506603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LDO</a:t>
            </a:r>
            <a:r>
              <a:rPr sz="4000" spc="-15" dirty="0"/>
              <a:t> </a:t>
            </a:r>
            <a:r>
              <a:rPr sz="4000" spc="-10" dirty="0"/>
              <a:t>design</a:t>
            </a:r>
            <a:endParaRPr sz="4000"/>
          </a:p>
        </p:txBody>
      </p:sp>
      <p:sp>
        <p:nvSpPr>
          <p:cNvPr id="4" name="object 4"/>
          <p:cNvSpPr/>
          <p:nvPr/>
        </p:nvSpPr>
        <p:spPr>
          <a:xfrm>
            <a:off x="7769606" y="3395979"/>
            <a:ext cx="502920" cy="15240"/>
          </a:xfrm>
          <a:custGeom>
            <a:avLst/>
            <a:gdLst/>
            <a:ahLst/>
            <a:cxnLst/>
            <a:rect l="l" t="t" r="r" b="b"/>
            <a:pathLst>
              <a:path w="502920" h="15239">
                <a:moveTo>
                  <a:pt x="502920" y="0"/>
                </a:moveTo>
                <a:lnTo>
                  <a:pt x="0" y="0"/>
                </a:lnTo>
                <a:lnTo>
                  <a:pt x="0" y="15239"/>
                </a:lnTo>
                <a:lnTo>
                  <a:pt x="502920" y="15239"/>
                </a:lnTo>
                <a:lnTo>
                  <a:pt x="5029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63692" y="1159586"/>
            <a:ext cx="6259830" cy="362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specification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 a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3.3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regulator capable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delivering</a:t>
            </a:r>
            <a:endParaRPr sz="1800">
              <a:latin typeface="Calibri Light"/>
              <a:cs typeface="Calibri Light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up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2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load.</a:t>
            </a:r>
            <a:endParaRPr sz="1800">
              <a:latin typeface="Calibri Light"/>
              <a:cs typeface="Calibri Light"/>
            </a:endParaRPr>
          </a:p>
          <a:p>
            <a:pPr marL="50800" marR="290830">
              <a:lnSpc>
                <a:spcPct val="100000"/>
              </a:lnSpc>
              <a:spcBef>
                <a:spcPts val="2160"/>
              </a:spcBef>
            </a:pP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R1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R2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requested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specific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quiescent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branch.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Since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assigned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branch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8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µA,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total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resistance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given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by:</a:t>
            </a:r>
            <a:endParaRPr sz="1800">
              <a:latin typeface="Calibri Light"/>
              <a:cs typeface="Calibri Light"/>
            </a:endParaRPr>
          </a:p>
          <a:p>
            <a:pPr marL="2606675">
              <a:lnSpc>
                <a:spcPts val="1764"/>
              </a:lnSpc>
              <a:spcBef>
                <a:spcPts val="1955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3.3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endParaRPr sz="1800">
              <a:latin typeface="Cambria Math"/>
              <a:cs typeface="Cambria Math"/>
            </a:endParaRPr>
          </a:p>
          <a:p>
            <a:pPr marL="142875" algn="ctr">
              <a:lnSpc>
                <a:spcPts val="1764"/>
              </a:lnSpc>
              <a:tabLst>
                <a:tab pos="669925" algn="l"/>
              </a:tabLst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𝑅</a:t>
            </a:r>
            <a:r>
              <a:rPr sz="1800" spc="1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2700" baseline="-37037" dirty="0">
                <a:solidFill>
                  <a:srgbClr val="FFFFFF"/>
                </a:solidFill>
                <a:latin typeface="Cambria Math"/>
                <a:cs typeface="Cambria Math"/>
              </a:rPr>
              <a:t>8</a:t>
            </a:r>
            <a:r>
              <a:rPr sz="2700" spc="-15" baseline="-3703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baseline="-37037" dirty="0">
                <a:solidFill>
                  <a:srgbClr val="FFFFFF"/>
                </a:solidFill>
                <a:latin typeface="Cambria Math"/>
                <a:cs typeface="Cambria Math"/>
              </a:rPr>
              <a:t>𝜇𝐴</a:t>
            </a:r>
            <a:r>
              <a:rPr sz="2700" spc="472" baseline="-3703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412.5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𝑘Ω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800">
              <a:latin typeface="Cambria Math"/>
              <a:cs typeface="Cambria Math"/>
            </a:endParaRPr>
          </a:p>
          <a:p>
            <a:pPr marL="50800" marR="43180">
              <a:lnSpc>
                <a:spcPct val="103899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feedback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depends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partition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ratio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r>
              <a:rPr sz="1950" spc="28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too.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work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chosen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½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factor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two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must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same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value: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05421" y="5185664"/>
            <a:ext cx="1104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𝑅1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𝑅2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10397" y="5352796"/>
            <a:ext cx="887094" cy="15240"/>
          </a:xfrm>
          <a:custGeom>
            <a:avLst/>
            <a:gdLst/>
            <a:ahLst/>
            <a:cxnLst/>
            <a:rect l="l" t="t" r="r" b="b"/>
            <a:pathLst>
              <a:path w="887095" h="15239">
                <a:moveTo>
                  <a:pt x="886968" y="0"/>
                </a:moveTo>
                <a:lnTo>
                  <a:pt x="0" y="0"/>
                </a:lnTo>
                <a:lnTo>
                  <a:pt x="0" y="15239"/>
                </a:lnTo>
                <a:lnTo>
                  <a:pt x="886968" y="15239"/>
                </a:lnTo>
                <a:lnTo>
                  <a:pt x="8869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98714" y="5011928"/>
            <a:ext cx="914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412.5</a:t>
            </a:r>
            <a:r>
              <a:rPr sz="1800" spc="-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𝑘Ω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78190" y="5338064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49943" y="5185664"/>
            <a:ext cx="974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≅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206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𝑘Ω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39" y="1228344"/>
            <a:ext cx="4072128" cy="44013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0490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81778" y="234137"/>
            <a:ext cx="4575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The</a:t>
            </a:r>
            <a:r>
              <a:rPr sz="1800" spc="-35" dirty="0"/>
              <a:t> </a:t>
            </a:r>
            <a:r>
              <a:rPr sz="1800" dirty="0"/>
              <a:t>remaining</a:t>
            </a:r>
            <a:r>
              <a:rPr sz="1800" spc="-15" dirty="0"/>
              <a:t> </a:t>
            </a:r>
            <a:r>
              <a:rPr sz="1800" spc="-10" dirty="0"/>
              <a:t>parameter</a:t>
            </a:r>
            <a:r>
              <a:rPr sz="1800" spc="-30" dirty="0"/>
              <a:t> </a:t>
            </a:r>
            <a:r>
              <a:rPr sz="1800" dirty="0"/>
              <a:t>to</a:t>
            </a:r>
            <a:r>
              <a:rPr sz="1800" spc="-35" dirty="0"/>
              <a:t> </a:t>
            </a:r>
            <a:r>
              <a:rPr sz="1800" dirty="0"/>
              <a:t>be</a:t>
            </a:r>
            <a:r>
              <a:rPr sz="1800" spc="-40" dirty="0"/>
              <a:t> </a:t>
            </a:r>
            <a:r>
              <a:rPr sz="1800" dirty="0"/>
              <a:t>designed</a:t>
            </a:r>
            <a:r>
              <a:rPr sz="1800" spc="-10" dirty="0"/>
              <a:t> </a:t>
            </a:r>
            <a:r>
              <a:rPr sz="1800" dirty="0"/>
              <a:t>is</a:t>
            </a:r>
            <a:r>
              <a:rPr sz="1800" spc="-25" dirty="0"/>
              <a:t> </a:t>
            </a:r>
            <a:r>
              <a:rPr sz="1800" dirty="0"/>
              <a:t>the</a:t>
            </a:r>
            <a:r>
              <a:rPr sz="1800" spc="-15" dirty="0"/>
              <a:t> </a:t>
            </a:r>
            <a:r>
              <a:rPr sz="1800" spc="-50" dirty="0">
                <a:latin typeface="Cambria Math"/>
                <a:cs typeface="Cambria Math"/>
              </a:rPr>
              <a:t>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17709" y="342341"/>
            <a:ext cx="13144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86873" y="234137"/>
            <a:ext cx="8978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1778" y="525907"/>
            <a:ext cx="2239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dimension.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Considering: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87230" y="1185799"/>
            <a:ext cx="1314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9467" y="1077595"/>
            <a:ext cx="5387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800" spc="1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 ∗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spc="104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𝑚𝑖𝑛</a:t>
            </a:r>
            <a:r>
              <a:rPr sz="1950" spc="40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 𝜇𝑚</a:t>
            </a:r>
            <a:r>
              <a:rPr sz="1800" spc="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spc="75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𝑚𝑎𝑥</a:t>
            </a:r>
            <a:r>
              <a:rPr sz="1950" spc="44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 mA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,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𝐾</a:t>
            </a:r>
            <a:r>
              <a:rPr sz="1950" spc="157" baseline="27777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r>
              <a:rPr sz="1950" spc="600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−18.9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mA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1778" y="1644522"/>
            <a:ext cx="1338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follows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that: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30491" y="2505836"/>
            <a:ext cx="2394585" cy="15240"/>
          </a:xfrm>
          <a:custGeom>
            <a:avLst/>
            <a:gdLst/>
            <a:ahLst/>
            <a:cxnLst/>
            <a:rect l="l" t="t" r="r" b="b"/>
            <a:pathLst>
              <a:path w="2394584" h="15239">
                <a:moveTo>
                  <a:pt x="2394204" y="0"/>
                </a:moveTo>
                <a:lnTo>
                  <a:pt x="0" y="0"/>
                </a:lnTo>
                <a:lnTo>
                  <a:pt x="0" y="15239"/>
                </a:lnTo>
                <a:lnTo>
                  <a:pt x="2394204" y="15239"/>
                </a:lnTo>
                <a:lnTo>
                  <a:pt x="23942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167369" y="2211704"/>
            <a:ext cx="510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44" baseline="10802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300" spc="30" dirty="0">
                <a:solidFill>
                  <a:srgbClr val="FFFFFF"/>
                </a:solidFill>
                <a:latin typeface="Cambria Math"/>
                <a:cs typeface="Cambria Math"/>
              </a:rPr>
              <a:t>𝑚𝑎𝑥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33564" y="2671952"/>
            <a:ext cx="1314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93280" y="2562225"/>
            <a:ext cx="106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FFFFFF"/>
                </a:solidFill>
                <a:latin typeface="Cambria Math"/>
                <a:cs typeface="Cambria Math"/>
              </a:rPr>
              <a:t>|𝐾</a:t>
            </a:r>
            <a:r>
              <a:rPr sz="1950" spc="104" baseline="27777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r>
              <a:rPr sz="1950" spc="-127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|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(𝑉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𝑠𝑔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852154" y="2550159"/>
            <a:ext cx="544195" cy="375285"/>
          </a:xfrm>
          <a:custGeom>
            <a:avLst/>
            <a:gdLst/>
            <a:ahLst/>
            <a:cxnLst/>
            <a:rect l="l" t="t" r="r" b="b"/>
            <a:pathLst>
              <a:path w="544195" h="375285">
                <a:moveTo>
                  <a:pt x="18288" y="0"/>
                </a:moveTo>
                <a:lnTo>
                  <a:pt x="0" y="0"/>
                </a:lnTo>
                <a:lnTo>
                  <a:pt x="0" y="375031"/>
                </a:lnTo>
                <a:lnTo>
                  <a:pt x="18288" y="375031"/>
                </a:lnTo>
                <a:lnTo>
                  <a:pt x="18288" y="0"/>
                </a:lnTo>
                <a:close/>
              </a:path>
              <a:path w="544195" h="375285">
                <a:moveTo>
                  <a:pt x="544068" y="0"/>
                </a:moveTo>
                <a:lnTo>
                  <a:pt x="525780" y="0"/>
                </a:lnTo>
                <a:lnTo>
                  <a:pt x="525780" y="375031"/>
                </a:lnTo>
                <a:lnTo>
                  <a:pt x="544068" y="375031"/>
                </a:lnTo>
                <a:lnTo>
                  <a:pt x="5440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566657" y="2562225"/>
            <a:ext cx="722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08009" y="2734436"/>
            <a:ext cx="11404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33144" algn="l"/>
              </a:tabLst>
            </a:pPr>
            <a:r>
              <a:rPr sz="1050" spc="125" dirty="0">
                <a:solidFill>
                  <a:srgbClr val="FFFFFF"/>
                </a:solidFill>
                <a:latin typeface="Cambria Math"/>
                <a:cs typeface="Cambria Math"/>
              </a:rPr>
              <a:t>𝑚𝑎𝑥</a:t>
            </a:r>
            <a:r>
              <a:rPr sz="105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050" spc="95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86569" y="2493645"/>
            <a:ext cx="26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16975" dirty="0">
                <a:solidFill>
                  <a:srgbClr val="FFFFFF"/>
                </a:solidFill>
                <a:latin typeface="Cambria Math"/>
                <a:cs typeface="Cambria Math"/>
              </a:rPr>
              <a:t>)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06914" y="2338196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(1)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30978" y="3158437"/>
            <a:ext cx="6563359" cy="337883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63500" marR="55880" algn="just">
              <a:lnSpc>
                <a:spcPct val="103099"/>
              </a:lnSpc>
              <a:spcBef>
                <a:spcPts val="17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assuming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r>
              <a:rPr sz="1950" spc="24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saturation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region.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(1)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observed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swing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differential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amplifier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must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computed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order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estimate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𝑠𝑔</a:t>
            </a:r>
            <a:r>
              <a:rPr sz="1575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𝑚𝑎𝑥</a:t>
            </a:r>
            <a:r>
              <a:rPr sz="1575" spc="397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must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chosen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such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within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amplifier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swing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while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maintaining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saturation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condition.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latter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means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op-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amp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must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performed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before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moving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forward.</a:t>
            </a:r>
            <a:endParaRPr sz="1800" dirty="0">
              <a:latin typeface="Calibri Light"/>
              <a:cs typeface="Calibri Light"/>
            </a:endParaRPr>
          </a:p>
          <a:p>
            <a:pPr marL="63500" marR="322580" algn="just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previous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calculations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12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</a:t>
            </a:r>
            <a:r>
              <a:rPr sz="1950" spc="23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or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feedback</a:t>
            </a: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has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½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requested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means:</a:t>
            </a:r>
            <a:endParaRPr sz="1800" dirty="0">
              <a:latin typeface="Calibri Light"/>
              <a:cs typeface="Calibri Light"/>
            </a:endParaRPr>
          </a:p>
          <a:p>
            <a:pPr marL="60325" algn="ctr">
              <a:lnSpc>
                <a:spcPct val="100000"/>
              </a:lnSpc>
              <a:spcBef>
                <a:spcPts val="2160"/>
              </a:spcBef>
            </a:pPr>
            <a:r>
              <a:rPr sz="1800" spc="-7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104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</a:t>
            </a:r>
            <a:r>
              <a:rPr sz="1950" spc="33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1.65</a:t>
            </a:r>
            <a:r>
              <a:rPr sz="1800" spc="-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endParaRPr sz="1800" dirty="0">
              <a:latin typeface="Calibri Light"/>
              <a:cs typeface="Calibri Light"/>
            </a:endParaRPr>
          </a:p>
          <a:p>
            <a:pPr marL="63500">
              <a:lnSpc>
                <a:spcPct val="100000"/>
              </a:lnSpc>
              <a:spcBef>
                <a:spcPts val="215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will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exploited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CMR-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specific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differential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amplifier.</a:t>
            </a:r>
            <a:endParaRPr sz="1800" dirty="0">
              <a:latin typeface="Calibri Light"/>
              <a:cs typeface="Calibri Ligh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39" y="1228344"/>
            <a:ext cx="4072128" cy="440131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286000"/>
            <a:ext cx="673135" cy="482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0490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31101" y="369061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5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70802" y="369061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5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5005578" y="1153414"/>
            <a:ext cx="6691630" cy="4616648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75285" marR="1071245" indent="-287020" algn="just">
              <a:lnSpc>
                <a:spcPts val="2150"/>
              </a:lnSpc>
              <a:spcBef>
                <a:spcPts val="180"/>
              </a:spcBef>
              <a:buFont typeface="Arial MT"/>
              <a:buChar char="•"/>
              <a:tabLst>
                <a:tab pos="375285" algn="l"/>
              </a:tabLst>
            </a:pPr>
            <a:r>
              <a:rPr dirty="0">
                <a:latin typeface="Cambria Math"/>
                <a:cs typeface="Cambria Math"/>
              </a:rPr>
              <a:t>𝐴</a:t>
            </a:r>
            <a:r>
              <a:rPr sz="1950" baseline="-14957" dirty="0">
                <a:latin typeface="Cambria Math"/>
                <a:cs typeface="Cambria Math"/>
              </a:rPr>
              <a:t>𝑣</a:t>
            </a:r>
            <a:r>
              <a:rPr sz="1950" spc="3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&gt;</a:t>
            </a:r>
            <a:r>
              <a:rPr sz="1800" spc="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10000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/>
              <a:t>because</a:t>
            </a:r>
            <a:r>
              <a:rPr sz="1800" spc="-25" dirty="0"/>
              <a:t> </a:t>
            </a:r>
            <a:r>
              <a:rPr sz="1800" dirty="0"/>
              <a:t>for</a:t>
            </a:r>
            <a:r>
              <a:rPr sz="1800" spc="-45" dirty="0"/>
              <a:t> </a:t>
            </a:r>
            <a:r>
              <a:rPr sz="1800" dirty="0"/>
              <a:t>a</a:t>
            </a:r>
            <a:r>
              <a:rPr sz="1800" spc="-45" dirty="0"/>
              <a:t> </a:t>
            </a:r>
            <a:r>
              <a:rPr sz="1800" dirty="0"/>
              <a:t>loop</a:t>
            </a:r>
            <a:r>
              <a:rPr sz="1800" spc="-30" dirty="0"/>
              <a:t> </a:t>
            </a:r>
            <a:r>
              <a:rPr sz="1800" dirty="0"/>
              <a:t>connected</a:t>
            </a:r>
            <a:r>
              <a:rPr sz="1800" spc="-5" dirty="0"/>
              <a:t> </a:t>
            </a:r>
            <a:r>
              <a:rPr sz="1800" dirty="0"/>
              <a:t>amplifier</a:t>
            </a:r>
            <a:r>
              <a:rPr sz="1800" spc="-35" dirty="0"/>
              <a:t> </a:t>
            </a:r>
            <a:r>
              <a:rPr sz="1800" dirty="0"/>
              <a:t>it</a:t>
            </a:r>
            <a:r>
              <a:rPr sz="1800" spc="-40" dirty="0"/>
              <a:t> </a:t>
            </a:r>
            <a:r>
              <a:rPr sz="1800" spc="-25" dirty="0"/>
              <a:t>is </a:t>
            </a:r>
            <a:r>
              <a:rPr sz="1800" dirty="0"/>
              <a:t>important</a:t>
            </a:r>
            <a:r>
              <a:rPr sz="1800" spc="-30" dirty="0"/>
              <a:t> </a:t>
            </a:r>
            <a:r>
              <a:rPr sz="1800" dirty="0"/>
              <a:t>to</a:t>
            </a:r>
            <a:r>
              <a:rPr sz="1800" spc="-40" dirty="0"/>
              <a:t> </a:t>
            </a:r>
            <a:r>
              <a:rPr sz="1800" dirty="0"/>
              <a:t>show</a:t>
            </a:r>
            <a:r>
              <a:rPr sz="1800" spc="-25" dirty="0"/>
              <a:t> </a:t>
            </a:r>
            <a:r>
              <a:rPr sz="1800" dirty="0"/>
              <a:t>a</a:t>
            </a:r>
            <a:r>
              <a:rPr sz="1800" spc="-30" dirty="0"/>
              <a:t> </a:t>
            </a:r>
            <a:r>
              <a:rPr sz="1800" dirty="0"/>
              <a:t>very</a:t>
            </a:r>
            <a:r>
              <a:rPr sz="1800" spc="-45" dirty="0"/>
              <a:t> </a:t>
            </a:r>
            <a:r>
              <a:rPr sz="1800" dirty="0"/>
              <a:t>high</a:t>
            </a:r>
            <a:r>
              <a:rPr sz="1800" spc="-20" dirty="0"/>
              <a:t> </a:t>
            </a:r>
            <a:r>
              <a:rPr sz="1800" spc="-10" dirty="0"/>
              <a:t>gain;</a:t>
            </a:r>
            <a:endParaRPr sz="1800" dirty="0">
              <a:latin typeface="Cambria Math"/>
              <a:cs typeface="Cambria Math"/>
            </a:endParaRPr>
          </a:p>
          <a:p>
            <a:pPr marL="375285" indent="-286385" algn="just">
              <a:lnSpc>
                <a:spcPct val="100000"/>
              </a:lnSpc>
              <a:spcBef>
                <a:spcPts val="2100"/>
              </a:spcBef>
              <a:buFont typeface="Arial MT"/>
              <a:buChar char="•"/>
              <a:tabLst>
                <a:tab pos="375285" algn="l"/>
              </a:tabLst>
            </a:pPr>
            <a:r>
              <a:rPr dirty="0">
                <a:latin typeface="Cambria Math"/>
                <a:cs typeface="Cambria Math"/>
              </a:rPr>
              <a:t>𝑉𝐷𝐷</a:t>
            </a:r>
            <a:r>
              <a:rPr spc="13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=</a:t>
            </a:r>
            <a:r>
              <a:rPr spc="9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5</a:t>
            </a:r>
            <a:r>
              <a:rPr spc="-1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𝑉</a:t>
            </a:r>
            <a:r>
              <a:rPr spc="55" dirty="0">
                <a:latin typeface="Cambria Math"/>
                <a:cs typeface="Cambria Math"/>
              </a:rPr>
              <a:t> </a:t>
            </a:r>
            <a:r>
              <a:rPr dirty="0">
                <a:latin typeface="Calibri Light"/>
                <a:cs typeface="Calibri Light"/>
              </a:rPr>
              <a:t>and</a:t>
            </a:r>
            <a:r>
              <a:rPr spc="5" dirty="0">
                <a:latin typeface="Calibri Light"/>
                <a:cs typeface="Calibri Light"/>
              </a:rPr>
              <a:t> </a:t>
            </a:r>
            <a:r>
              <a:rPr dirty="0">
                <a:latin typeface="Cambria Math"/>
                <a:cs typeface="Cambria Math"/>
              </a:rPr>
              <a:t>𝑉𝑆𝑆</a:t>
            </a:r>
            <a:r>
              <a:rPr spc="11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=</a:t>
            </a:r>
            <a:r>
              <a:rPr spc="10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0</a:t>
            </a:r>
            <a:r>
              <a:rPr spc="-10" dirty="0">
                <a:latin typeface="Cambria Math"/>
                <a:cs typeface="Cambria Math"/>
              </a:rPr>
              <a:t> </a:t>
            </a:r>
            <a:r>
              <a:rPr spc="-25" dirty="0">
                <a:latin typeface="Cambria Math"/>
                <a:cs typeface="Cambria Math"/>
              </a:rPr>
              <a:t>𝑉</a:t>
            </a:r>
            <a:r>
              <a:rPr spc="-25" dirty="0">
                <a:latin typeface="Calibri Light"/>
                <a:cs typeface="Calibri Light"/>
              </a:rPr>
              <a:t>;</a:t>
            </a:r>
          </a:p>
          <a:p>
            <a:pPr marL="375285" marR="119380" indent="-287020" algn="just">
              <a:lnSpc>
                <a:spcPct val="99700"/>
              </a:lnSpc>
              <a:spcBef>
                <a:spcPts val="2170"/>
              </a:spcBef>
              <a:buFont typeface="Arial MT"/>
              <a:buChar char="•"/>
              <a:tabLst>
                <a:tab pos="375285" algn="l"/>
              </a:tabLst>
            </a:pPr>
            <a:r>
              <a:rPr dirty="0">
                <a:latin typeface="Cambria Math"/>
                <a:cs typeface="Cambria Math"/>
              </a:rPr>
              <a:t>𝐶</a:t>
            </a:r>
            <a:r>
              <a:rPr sz="1950" baseline="-14957" dirty="0">
                <a:latin typeface="Cambria Math"/>
                <a:cs typeface="Cambria Math"/>
              </a:rPr>
              <a:t>𝑐</a:t>
            </a:r>
            <a:r>
              <a:rPr sz="1950" spc="40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</a:t>
            </a:r>
            <a:r>
              <a:rPr sz="1950" baseline="-14957" dirty="0">
                <a:latin typeface="Cambria Math"/>
                <a:cs typeface="Cambria Math"/>
              </a:rPr>
              <a:t>𝑐2</a:t>
            </a:r>
            <a:r>
              <a:rPr sz="1950" spc="34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5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𝑝𝐹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 Light"/>
                <a:cs typeface="Calibri Light"/>
              </a:rPr>
              <a:t>from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the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original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design: this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value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has</a:t>
            </a:r>
            <a:r>
              <a:rPr sz="1800" spc="-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been</a:t>
            </a:r>
            <a:r>
              <a:rPr sz="1800" spc="-30" dirty="0">
                <a:latin typeface="Calibri Light"/>
                <a:cs typeface="Calibri Light"/>
              </a:rPr>
              <a:t> </a:t>
            </a:r>
            <a:r>
              <a:rPr sz="1800" spc="-20" dirty="0">
                <a:latin typeface="Calibri Light"/>
                <a:cs typeface="Calibri Light"/>
              </a:rPr>
              <a:t>keep </a:t>
            </a:r>
            <a:r>
              <a:rPr sz="1800" dirty="0">
                <a:latin typeface="Calibri Light"/>
                <a:cs typeface="Calibri Light"/>
              </a:rPr>
              <a:t>as</a:t>
            </a:r>
            <a:r>
              <a:rPr sz="1800" spc="-2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it</a:t>
            </a:r>
            <a:r>
              <a:rPr sz="1800" spc="-3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is</a:t>
            </a:r>
            <a:r>
              <a:rPr sz="1800" spc="-2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since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it</a:t>
            </a:r>
            <a:r>
              <a:rPr sz="1800" spc="-3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should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take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into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account</a:t>
            </a:r>
            <a:r>
              <a:rPr sz="1800" spc="-5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the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expected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capacitive</a:t>
            </a:r>
            <a:r>
              <a:rPr sz="1800" spc="50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load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which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is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not</a:t>
            </a:r>
            <a:r>
              <a:rPr sz="1800" spc="-3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reported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within</a:t>
            </a:r>
            <a:r>
              <a:rPr sz="1800" spc="-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the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reference</a:t>
            </a:r>
            <a:r>
              <a:rPr sz="1800" spc="-45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article;</a:t>
            </a:r>
            <a:endParaRPr sz="1800" dirty="0">
              <a:latin typeface="Calibri Light"/>
              <a:cs typeface="Calibri Light"/>
            </a:endParaRPr>
          </a:p>
          <a:p>
            <a:pPr marL="375285" indent="-286385" algn="just">
              <a:lnSpc>
                <a:spcPct val="100000"/>
              </a:lnSpc>
              <a:spcBef>
                <a:spcPts val="2170"/>
              </a:spcBef>
              <a:buFont typeface="Arial MT"/>
              <a:buChar char="•"/>
              <a:tabLst>
                <a:tab pos="375285" algn="l"/>
                <a:tab pos="1720850" algn="l"/>
              </a:tabLst>
            </a:pPr>
            <a:r>
              <a:rPr dirty="0">
                <a:latin typeface="Cambria Math"/>
                <a:cs typeface="Cambria Math"/>
              </a:rPr>
              <a:t>𝑉</a:t>
            </a:r>
            <a:r>
              <a:rPr sz="1950" baseline="-14957" dirty="0">
                <a:latin typeface="Cambria Math"/>
                <a:cs typeface="Cambria Math"/>
              </a:rPr>
              <a:t>𝑖𝑛</a:t>
            </a:r>
            <a:r>
              <a:rPr sz="1950" spc="209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𝑟𝑎𝑛𝑔𝑒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r>
              <a:rPr sz="1800" dirty="0">
                <a:latin typeface="Cambria Math"/>
                <a:cs typeface="Cambria Math"/>
              </a:rPr>
              <a:t>	1,3</a:t>
            </a:r>
            <a:r>
              <a:rPr sz="1800" spc="1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𝑉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 Light"/>
                <a:cs typeface="Calibri Light"/>
              </a:rPr>
              <a:t>since</a:t>
            </a:r>
            <a:r>
              <a:rPr sz="1800" spc="-2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the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spc="-80" dirty="0">
                <a:latin typeface="Cambria Math"/>
                <a:cs typeface="Cambria Math"/>
              </a:rPr>
              <a:t>𝑉</a:t>
            </a:r>
            <a:r>
              <a:rPr sz="1950" spc="-120" baseline="-14957" dirty="0">
                <a:latin typeface="Cambria Math"/>
                <a:cs typeface="Cambria Math"/>
              </a:rPr>
              <a:t>𝑟</a:t>
            </a:r>
            <a:r>
              <a:rPr sz="1950" spc="30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 Light"/>
                <a:cs typeface="Calibri Light"/>
              </a:rPr>
              <a:t>value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has</a:t>
            </a:r>
            <a:r>
              <a:rPr sz="1800" spc="-3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been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set</a:t>
            </a:r>
            <a:r>
              <a:rPr sz="1800" spc="-2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to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1.65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spc="-25" dirty="0">
                <a:latin typeface="Calibri Light"/>
                <a:cs typeface="Calibri Light"/>
              </a:rPr>
              <a:t>V</a:t>
            </a:r>
            <a:r>
              <a:rPr sz="1600" spc="-25" dirty="0">
                <a:latin typeface="Calibri Light"/>
                <a:cs typeface="Calibri Light"/>
              </a:rPr>
              <a:t>;</a:t>
            </a:r>
            <a:endParaRPr sz="1600" dirty="0">
              <a:latin typeface="Calibri Light"/>
              <a:cs typeface="Calibri Light"/>
            </a:endParaRPr>
          </a:p>
          <a:p>
            <a:pPr marL="375285" marR="264160" indent="-287020" algn="just">
              <a:lnSpc>
                <a:spcPct val="100000"/>
              </a:lnSpc>
              <a:spcBef>
                <a:spcPts val="1930"/>
              </a:spcBef>
              <a:buFont typeface="Arial MT"/>
              <a:buChar char="•"/>
              <a:tabLst>
                <a:tab pos="375285" algn="l"/>
              </a:tabLst>
            </a:pPr>
            <a:r>
              <a:rPr sz="1600" dirty="0">
                <a:latin typeface="Cambria Math"/>
                <a:cs typeface="Cambria Math"/>
              </a:rPr>
              <a:t>𝐺𝐵</a:t>
            </a:r>
            <a:r>
              <a:rPr sz="1600" spc="9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6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10</a:t>
            </a:r>
            <a:r>
              <a:rPr sz="1600" spc="-3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𝑀𝐻𝑧</a:t>
            </a:r>
            <a:r>
              <a:rPr sz="1600" dirty="0">
                <a:latin typeface="Calibri Light"/>
                <a:cs typeface="Calibri Light"/>
              </a:rPr>
              <a:t>,</a:t>
            </a:r>
            <a:r>
              <a:rPr sz="1600" spc="-40" dirty="0">
                <a:latin typeface="Calibri Light"/>
                <a:cs typeface="Calibri Light"/>
              </a:rPr>
              <a:t> </a:t>
            </a:r>
            <a:r>
              <a:rPr sz="1600" dirty="0">
                <a:latin typeface="Calibri Light"/>
                <a:cs typeface="Calibri Light"/>
              </a:rPr>
              <a:t>which</a:t>
            </a:r>
            <a:r>
              <a:rPr sz="1600" spc="-20" dirty="0">
                <a:latin typeface="Calibri Light"/>
                <a:cs typeface="Calibri Light"/>
              </a:rPr>
              <a:t> </a:t>
            </a:r>
            <a:r>
              <a:rPr sz="1600" dirty="0">
                <a:latin typeface="Calibri Light"/>
                <a:cs typeface="Calibri Light"/>
              </a:rPr>
              <a:t>is</a:t>
            </a:r>
            <a:r>
              <a:rPr sz="1600" spc="-20" dirty="0">
                <a:latin typeface="Calibri Light"/>
                <a:cs typeface="Calibri Light"/>
              </a:rPr>
              <a:t> </a:t>
            </a:r>
            <a:r>
              <a:rPr sz="1600" dirty="0">
                <a:latin typeface="Calibri Light"/>
                <a:cs typeface="Calibri Light"/>
              </a:rPr>
              <a:t>an</a:t>
            </a:r>
            <a:r>
              <a:rPr sz="1600" spc="-30" dirty="0">
                <a:latin typeface="Calibri Light"/>
                <a:cs typeface="Calibri Light"/>
              </a:rPr>
              <a:t> </a:t>
            </a:r>
            <a:r>
              <a:rPr sz="1600" dirty="0">
                <a:latin typeface="Calibri Light"/>
                <a:cs typeface="Calibri Light"/>
              </a:rPr>
              <a:t>arbitrary</a:t>
            </a:r>
            <a:r>
              <a:rPr sz="1600" spc="-35" dirty="0">
                <a:latin typeface="Calibri Light"/>
                <a:cs typeface="Calibri Light"/>
              </a:rPr>
              <a:t> </a:t>
            </a:r>
            <a:r>
              <a:rPr sz="1600" dirty="0">
                <a:latin typeface="Calibri Light"/>
                <a:cs typeface="Calibri Light"/>
              </a:rPr>
              <a:t>value</a:t>
            </a:r>
            <a:r>
              <a:rPr sz="1600" spc="-30" dirty="0">
                <a:latin typeface="Calibri Light"/>
                <a:cs typeface="Calibri Light"/>
              </a:rPr>
              <a:t> </a:t>
            </a:r>
            <a:r>
              <a:rPr sz="1600" dirty="0">
                <a:latin typeface="Calibri Light"/>
                <a:cs typeface="Calibri Light"/>
              </a:rPr>
              <a:t>chosen</a:t>
            </a:r>
            <a:r>
              <a:rPr sz="1600" spc="-10" dirty="0">
                <a:latin typeface="Calibri Light"/>
                <a:cs typeface="Calibri Light"/>
              </a:rPr>
              <a:t> </a:t>
            </a:r>
            <a:r>
              <a:rPr sz="1600" dirty="0">
                <a:latin typeface="Calibri Light"/>
                <a:cs typeface="Calibri Light"/>
              </a:rPr>
              <a:t>to</a:t>
            </a:r>
            <a:r>
              <a:rPr sz="1600" spc="-30" dirty="0">
                <a:latin typeface="Calibri Light"/>
                <a:cs typeface="Calibri Light"/>
              </a:rPr>
              <a:t> </a:t>
            </a:r>
            <a:r>
              <a:rPr sz="1600" dirty="0">
                <a:latin typeface="Calibri Light"/>
                <a:cs typeface="Calibri Light"/>
              </a:rPr>
              <a:t>achieve</a:t>
            </a:r>
            <a:r>
              <a:rPr sz="1600" spc="-50" dirty="0">
                <a:latin typeface="Calibri Light"/>
                <a:cs typeface="Calibri Light"/>
              </a:rPr>
              <a:t> </a:t>
            </a:r>
            <a:r>
              <a:rPr sz="1600" dirty="0">
                <a:latin typeface="Calibri Light"/>
                <a:cs typeface="Calibri Light"/>
              </a:rPr>
              <a:t>a</a:t>
            </a:r>
            <a:r>
              <a:rPr sz="1600" spc="-30" dirty="0">
                <a:latin typeface="Calibri Light"/>
                <a:cs typeface="Calibri Light"/>
              </a:rPr>
              <a:t> </a:t>
            </a:r>
            <a:r>
              <a:rPr sz="1600" spc="-10" dirty="0">
                <a:latin typeface="Calibri Light"/>
                <a:cs typeface="Calibri Light"/>
              </a:rPr>
              <a:t>reasonable </a:t>
            </a:r>
            <a:r>
              <a:rPr sz="1600" dirty="0">
                <a:latin typeface="Calibri Light"/>
                <a:cs typeface="Calibri Light"/>
              </a:rPr>
              <a:t>frequency</a:t>
            </a:r>
            <a:r>
              <a:rPr sz="1600" spc="-70" dirty="0">
                <a:latin typeface="Calibri Light"/>
                <a:cs typeface="Calibri Light"/>
              </a:rPr>
              <a:t> </a:t>
            </a:r>
            <a:r>
              <a:rPr sz="1600" spc="-10" dirty="0">
                <a:latin typeface="Calibri Light"/>
                <a:cs typeface="Calibri Light"/>
              </a:rPr>
              <a:t>behaviour.</a:t>
            </a:r>
            <a:endParaRPr sz="1600" dirty="0">
              <a:latin typeface="Calibri Light"/>
              <a:cs typeface="Calibri Light"/>
            </a:endParaRPr>
          </a:p>
          <a:p>
            <a:pPr marL="375285" marR="356870" indent="-287020" algn="just">
              <a:lnSpc>
                <a:spcPct val="99800"/>
              </a:lnSpc>
              <a:spcBef>
                <a:spcPts val="1914"/>
              </a:spcBef>
              <a:buFont typeface="Arial MT"/>
              <a:buChar char="•"/>
              <a:tabLst>
                <a:tab pos="375285" algn="l"/>
              </a:tabLst>
            </a:pPr>
            <a:r>
              <a:rPr dirty="0">
                <a:latin typeface="Cambria Math"/>
                <a:cs typeface="Cambria Math"/>
              </a:rPr>
              <a:t>𝐼</a:t>
            </a:r>
            <a:r>
              <a:rPr sz="1950" baseline="-14957" dirty="0">
                <a:latin typeface="Cambria Math"/>
                <a:cs typeface="Cambria Math"/>
              </a:rPr>
              <a:t>0</a:t>
            </a:r>
            <a:r>
              <a:rPr sz="1950" spc="34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4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𝜇𝐴 </a:t>
            </a:r>
            <a:r>
              <a:rPr sz="1800" dirty="0">
                <a:latin typeface="Calibri Light"/>
                <a:cs typeface="Calibri Light"/>
              </a:rPr>
              <a:t>from</a:t>
            </a:r>
            <a:r>
              <a:rPr sz="1800" spc="-2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the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current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budget</a:t>
            </a:r>
            <a:r>
              <a:rPr sz="1800" spc="-25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requirement: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this</a:t>
            </a:r>
            <a:r>
              <a:rPr sz="1800" spc="-2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means</a:t>
            </a:r>
            <a:r>
              <a:rPr sz="1800" spc="-30" dirty="0">
                <a:latin typeface="Calibri Light"/>
                <a:cs typeface="Calibri Light"/>
              </a:rPr>
              <a:t> </a:t>
            </a:r>
            <a:r>
              <a:rPr sz="1800" spc="-20" dirty="0">
                <a:latin typeface="Calibri Light"/>
                <a:cs typeface="Calibri Light"/>
              </a:rPr>
              <a:t>that </a:t>
            </a:r>
            <a:r>
              <a:rPr sz="1800" dirty="0">
                <a:latin typeface="Calibri Light"/>
                <a:cs typeface="Calibri Light"/>
              </a:rPr>
              <a:t>SR</a:t>
            </a:r>
            <a:r>
              <a:rPr sz="1800" spc="-2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will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not</a:t>
            </a:r>
            <a:r>
              <a:rPr sz="1800" spc="-2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be</a:t>
            </a:r>
            <a:r>
              <a:rPr sz="1800" spc="-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a</a:t>
            </a:r>
            <a:r>
              <a:rPr sz="1800" spc="-2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driving</a:t>
            </a:r>
            <a:r>
              <a:rPr sz="1800" spc="-10" dirty="0">
                <a:latin typeface="Calibri Light"/>
                <a:cs typeface="Calibri Light"/>
              </a:rPr>
              <a:t> parameter</a:t>
            </a:r>
            <a:r>
              <a:rPr sz="1800" spc="-2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in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this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design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having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spc="-25" dirty="0">
                <a:latin typeface="Calibri Light"/>
                <a:cs typeface="Calibri Light"/>
              </a:rPr>
              <a:t>the </a:t>
            </a:r>
            <a:r>
              <a:rPr sz="1800" dirty="0">
                <a:latin typeface="Calibri Light"/>
                <a:cs typeface="Calibri Light"/>
              </a:rPr>
              <a:t>compensation</a:t>
            </a:r>
            <a:r>
              <a:rPr sz="1800" spc="-5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capacitance</a:t>
            </a:r>
            <a:r>
              <a:rPr sz="1800" spc="-7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and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the</a:t>
            </a:r>
            <a:r>
              <a:rPr sz="1800" spc="-5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current</a:t>
            </a:r>
            <a:r>
              <a:rPr sz="1800" spc="-4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already</a:t>
            </a:r>
            <a:r>
              <a:rPr sz="1800" spc="-50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fixed.</a:t>
            </a:r>
            <a:endParaRPr sz="1800" dirty="0">
              <a:latin typeface="Calibri Light"/>
              <a:cs typeface="Calibri Ligh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291" y="1402080"/>
            <a:ext cx="4189476" cy="387857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592" rIns="0" bIns="0" rtlCol="0">
            <a:spAutoFit/>
          </a:bodyPr>
          <a:lstStyle/>
          <a:p>
            <a:pPr marL="474091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Op-</a:t>
            </a:r>
            <a:r>
              <a:rPr sz="4000" dirty="0"/>
              <a:t>Amp</a:t>
            </a:r>
            <a:r>
              <a:rPr sz="4000" spc="10" dirty="0"/>
              <a:t> </a:t>
            </a:r>
            <a:r>
              <a:rPr sz="4000" spc="-10" dirty="0"/>
              <a:t>specs</a:t>
            </a:r>
            <a:endParaRPr sz="400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599" y="5791200"/>
            <a:ext cx="2571749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551" y="1406652"/>
            <a:ext cx="3704844" cy="38785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104900" cy="909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89145" y="243585"/>
            <a:ext cx="5272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Let’s</a:t>
            </a:r>
            <a:r>
              <a:rPr sz="1800" spc="-65" dirty="0"/>
              <a:t> </a:t>
            </a:r>
            <a:r>
              <a:rPr sz="1800" dirty="0"/>
              <a:t>start</a:t>
            </a:r>
            <a:r>
              <a:rPr sz="1800" spc="-60" dirty="0"/>
              <a:t> </a:t>
            </a:r>
            <a:r>
              <a:rPr sz="1800" dirty="0"/>
              <a:t>from</a:t>
            </a:r>
            <a:r>
              <a:rPr sz="1800" spc="-70" dirty="0"/>
              <a:t> </a:t>
            </a:r>
            <a:r>
              <a:rPr sz="1800" dirty="0"/>
              <a:t>the</a:t>
            </a:r>
            <a:r>
              <a:rPr sz="1800" spc="-65" dirty="0"/>
              <a:t> </a:t>
            </a:r>
            <a:r>
              <a:rPr sz="1800" dirty="0"/>
              <a:t>cascode</a:t>
            </a:r>
            <a:r>
              <a:rPr sz="1800" spc="-75" dirty="0"/>
              <a:t> </a:t>
            </a:r>
            <a:r>
              <a:rPr sz="1800" dirty="0"/>
              <a:t>current</a:t>
            </a:r>
            <a:r>
              <a:rPr sz="1800" spc="-65" dirty="0"/>
              <a:t> </a:t>
            </a:r>
            <a:r>
              <a:rPr sz="1800" dirty="0"/>
              <a:t>mirror</a:t>
            </a:r>
            <a:r>
              <a:rPr sz="1800" spc="-55" dirty="0"/>
              <a:t> </a:t>
            </a:r>
            <a:r>
              <a:rPr sz="1800" spc="-10" dirty="0"/>
              <a:t>dimensioning:</a:t>
            </a:r>
            <a:endParaRPr sz="1800"/>
          </a:p>
        </p:txBody>
      </p:sp>
      <p:sp>
        <p:nvSpPr>
          <p:cNvPr id="5" name="object 5"/>
          <p:cNvSpPr/>
          <p:nvPr/>
        </p:nvSpPr>
        <p:spPr>
          <a:xfrm>
            <a:off x="5062092" y="853186"/>
            <a:ext cx="133985" cy="1202690"/>
          </a:xfrm>
          <a:custGeom>
            <a:avLst/>
            <a:gdLst/>
            <a:ahLst/>
            <a:cxnLst/>
            <a:rect l="l" t="t" r="r" b="b"/>
            <a:pathLst>
              <a:path w="133985" h="1202689">
                <a:moveTo>
                  <a:pt x="133477" y="0"/>
                </a:moveTo>
                <a:lnTo>
                  <a:pt x="93948" y="17716"/>
                </a:lnTo>
                <a:lnTo>
                  <a:pt x="67564" y="54863"/>
                </a:lnTo>
                <a:lnTo>
                  <a:pt x="53975" y="104759"/>
                </a:lnTo>
                <a:lnTo>
                  <a:pt x="48006" y="172592"/>
                </a:lnTo>
                <a:lnTo>
                  <a:pt x="47752" y="172592"/>
                </a:lnTo>
                <a:lnTo>
                  <a:pt x="47752" y="491616"/>
                </a:lnTo>
                <a:lnTo>
                  <a:pt x="46944" y="515645"/>
                </a:lnTo>
                <a:lnTo>
                  <a:pt x="40518" y="554178"/>
                </a:lnTo>
                <a:lnTo>
                  <a:pt x="19891" y="588232"/>
                </a:lnTo>
                <a:lnTo>
                  <a:pt x="0" y="595376"/>
                </a:lnTo>
                <a:lnTo>
                  <a:pt x="0" y="608711"/>
                </a:lnTo>
                <a:lnTo>
                  <a:pt x="35179" y="635253"/>
                </a:lnTo>
                <a:lnTo>
                  <a:pt x="46966" y="687760"/>
                </a:lnTo>
                <a:lnTo>
                  <a:pt x="47752" y="711453"/>
                </a:lnTo>
                <a:lnTo>
                  <a:pt x="47752" y="1030731"/>
                </a:lnTo>
                <a:lnTo>
                  <a:pt x="48006" y="1030731"/>
                </a:lnTo>
                <a:lnTo>
                  <a:pt x="51490" y="1080422"/>
                </a:lnTo>
                <a:lnTo>
                  <a:pt x="60825" y="1128480"/>
                </a:lnTo>
                <a:lnTo>
                  <a:pt x="79113" y="1168703"/>
                </a:lnTo>
                <a:lnTo>
                  <a:pt x="112069" y="1196187"/>
                </a:lnTo>
                <a:lnTo>
                  <a:pt x="133477" y="1202689"/>
                </a:lnTo>
                <a:lnTo>
                  <a:pt x="133477" y="1192022"/>
                </a:lnTo>
                <a:lnTo>
                  <a:pt x="118286" y="1185926"/>
                </a:lnTo>
                <a:lnTo>
                  <a:pt x="105298" y="1175257"/>
                </a:lnTo>
                <a:lnTo>
                  <a:pt x="85979" y="1140205"/>
                </a:lnTo>
                <a:lnTo>
                  <a:pt x="74834" y="1084199"/>
                </a:lnTo>
                <a:lnTo>
                  <a:pt x="71120" y="1004188"/>
                </a:lnTo>
                <a:lnTo>
                  <a:pt x="71120" y="730885"/>
                </a:lnTo>
                <a:lnTo>
                  <a:pt x="69409" y="700621"/>
                </a:lnTo>
                <a:lnTo>
                  <a:pt x="60940" y="654000"/>
                </a:lnTo>
                <a:lnTo>
                  <a:pt x="38988" y="614997"/>
                </a:lnTo>
                <a:lnTo>
                  <a:pt x="23368" y="602996"/>
                </a:lnTo>
                <a:lnTo>
                  <a:pt x="23368" y="600201"/>
                </a:lnTo>
                <a:lnTo>
                  <a:pt x="55245" y="564006"/>
                </a:lnTo>
                <a:lnTo>
                  <a:pt x="67135" y="526288"/>
                </a:lnTo>
                <a:lnTo>
                  <a:pt x="71120" y="472186"/>
                </a:lnTo>
                <a:lnTo>
                  <a:pt x="71120" y="198374"/>
                </a:lnTo>
                <a:lnTo>
                  <a:pt x="72048" y="155368"/>
                </a:lnTo>
                <a:lnTo>
                  <a:pt x="79478" y="87360"/>
                </a:lnTo>
                <a:lnTo>
                  <a:pt x="94525" y="42544"/>
                </a:lnTo>
                <a:lnTo>
                  <a:pt x="133477" y="10540"/>
                </a:lnTo>
                <a:lnTo>
                  <a:pt x="1334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20765" y="1658365"/>
            <a:ext cx="4930140" cy="320040"/>
          </a:xfrm>
          <a:custGeom>
            <a:avLst/>
            <a:gdLst/>
            <a:ahLst/>
            <a:cxnLst/>
            <a:rect l="l" t="t" r="r" b="b"/>
            <a:pathLst>
              <a:path w="4930140" h="320039">
                <a:moveTo>
                  <a:pt x="2385568" y="43561"/>
                </a:moveTo>
                <a:lnTo>
                  <a:pt x="2368423" y="43561"/>
                </a:lnTo>
                <a:lnTo>
                  <a:pt x="2368423" y="319659"/>
                </a:lnTo>
                <a:lnTo>
                  <a:pt x="2385568" y="319659"/>
                </a:lnTo>
                <a:lnTo>
                  <a:pt x="2385568" y="43561"/>
                </a:lnTo>
                <a:close/>
              </a:path>
              <a:path w="4930140" h="320039">
                <a:moveTo>
                  <a:pt x="2896108" y="43561"/>
                </a:moveTo>
                <a:lnTo>
                  <a:pt x="2878963" y="43561"/>
                </a:lnTo>
                <a:lnTo>
                  <a:pt x="2878963" y="319659"/>
                </a:lnTo>
                <a:lnTo>
                  <a:pt x="2896108" y="319659"/>
                </a:lnTo>
                <a:lnTo>
                  <a:pt x="2896108" y="43561"/>
                </a:lnTo>
                <a:close/>
              </a:path>
              <a:path w="4930140" h="320039">
                <a:moveTo>
                  <a:pt x="3240532" y="43561"/>
                </a:moveTo>
                <a:lnTo>
                  <a:pt x="3223387" y="43561"/>
                </a:lnTo>
                <a:lnTo>
                  <a:pt x="3223387" y="319659"/>
                </a:lnTo>
                <a:lnTo>
                  <a:pt x="3240532" y="319659"/>
                </a:lnTo>
                <a:lnTo>
                  <a:pt x="3240532" y="43561"/>
                </a:lnTo>
                <a:close/>
              </a:path>
              <a:path w="4930140" h="320039">
                <a:moveTo>
                  <a:pt x="3751072" y="43561"/>
                </a:moveTo>
                <a:lnTo>
                  <a:pt x="3733927" y="43561"/>
                </a:lnTo>
                <a:lnTo>
                  <a:pt x="3733927" y="319659"/>
                </a:lnTo>
                <a:lnTo>
                  <a:pt x="3751072" y="319659"/>
                </a:lnTo>
                <a:lnTo>
                  <a:pt x="3751072" y="43561"/>
                </a:lnTo>
                <a:close/>
              </a:path>
              <a:path w="4930140" h="320039">
                <a:moveTo>
                  <a:pt x="4930140" y="0"/>
                </a:moveTo>
                <a:lnTo>
                  <a:pt x="0" y="0"/>
                </a:lnTo>
                <a:lnTo>
                  <a:pt x="0" y="15240"/>
                </a:lnTo>
                <a:lnTo>
                  <a:pt x="4930140" y="15240"/>
                </a:lnTo>
                <a:lnTo>
                  <a:pt x="4930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77000" y="1295400"/>
            <a:ext cx="3528060" cy="269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8844" algn="ctr">
              <a:lnSpc>
                <a:spcPts val="2025"/>
              </a:lnSpc>
            </a:pPr>
            <a:r>
              <a:rPr sz="1800" spc="-25" dirty="0" smtClean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3838" y="1774063"/>
            <a:ext cx="1314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63076" y="1836547"/>
            <a:ext cx="96202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67410" algn="l"/>
              </a:tabLst>
            </a:pPr>
            <a:r>
              <a:rPr sz="1050" dirty="0">
                <a:solidFill>
                  <a:srgbClr val="FFFFFF"/>
                </a:solidFill>
                <a:latin typeface="Cambria Math"/>
                <a:cs typeface="Cambria Math"/>
              </a:rPr>
              <a:t>4	6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01630" y="1836547"/>
            <a:ext cx="107314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8153" y="1664334"/>
            <a:ext cx="5045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3036570" algn="l"/>
                <a:tab pos="3891915" algn="l"/>
              </a:tabLst>
            </a:pPr>
            <a:r>
              <a:rPr sz="1800" spc="70" dirty="0">
                <a:solidFill>
                  <a:srgbClr val="FFFFFF"/>
                </a:solidFill>
                <a:latin typeface="Cambria Math"/>
                <a:cs typeface="Cambria Math"/>
              </a:rPr>
              <a:t>|𝐾</a:t>
            </a:r>
            <a:r>
              <a:rPr sz="1950" spc="104" baseline="27777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r>
              <a:rPr sz="1950" spc="-127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| ∗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(𝑉𝐷𝐷</a:t>
            </a:r>
            <a:r>
              <a:rPr sz="1800" spc="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 𝐶𝑀𝑅</a:t>
            </a:r>
            <a:r>
              <a:rPr sz="1950" baseline="23504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1950" spc="247" baseline="2350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75" dirty="0">
                <a:solidFill>
                  <a:srgbClr val="FFFFFF"/>
                </a:solidFill>
                <a:latin typeface="Cambria Math"/>
                <a:cs typeface="Cambria Math"/>
              </a:rPr>
              <a:t> 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1800" spc="-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950" spc="49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)</a:t>
            </a:r>
            <a:r>
              <a:rPr sz="1950" spc="-30" baseline="23504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/2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9145" y="2304669"/>
            <a:ext cx="4014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substituting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variables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comes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that: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95084" y="3167126"/>
            <a:ext cx="3499485" cy="15240"/>
          </a:xfrm>
          <a:custGeom>
            <a:avLst/>
            <a:gdLst/>
            <a:ahLst/>
            <a:cxnLst/>
            <a:rect l="l" t="t" r="r" b="b"/>
            <a:pathLst>
              <a:path w="3499484" h="15239">
                <a:moveTo>
                  <a:pt x="3499104" y="0"/>
                </a:moveTo>
                <a:lnTo>
                  <a:pt x="0" y="0"/>
                </a:lnTo>
                <a:lnTo>
                  <a:pt x="0" y="15239"/>
                </a:lnTo>
                <a:lnTo>
                  <a:pt x="3499104" y="15239"/>
                </a:lnTo>
                <a:lnTo>
                  <a:pt x="34991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782306" y="2825877"/>
            <a:ext cx="719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 ∗</a:t>
            </a:r>
            <a:r>
              <a:rPr sz="1800" spc="3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𝜇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57873" y="3152013"/>
            <a:ext cx="356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18.9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</a:t>
            </a:r>
            <a:r>
              <a:rPr sz="1800" spc="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(5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0.9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0.9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0.76)</a:t>
            </a:r>
            <a:r>
              <a:rPr sz="1950" spc="-15" baseline="23504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950" baseline="23504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45116" y="2999613"/>
            <a:ext cx="688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≅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1.35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25645" y="3691890"/>
            <a:ext cx="6865620" cy="2831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685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Since</a:t>
            </a:r>
            <a:r>
              <a:rPr sz="1800" spc="3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minimum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keep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mirror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working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correctly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useful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larger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margin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huge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importance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current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pairing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differential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stage,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chosen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ratio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2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times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computed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one.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950" spc="-15" baseline="25641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2700" spc="-15" baseline="1543" dirty="0">
                <a:solidFill>
                  <a:srgbClr val="FFFFFF"/>
                </a:solidFill>
                <a:latin typeface="Cambria Math"/>
                <a:cs typeface="Cambria Math"/>
              </a:rPr>
              <a:t>Τ</a:t>
            </a:r>
            <a:r>
              <a:rPr sz="1950" spc="-15" baseline="-14957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2700" spc="-15" baseline="1543" dirty="0">
                <a:solidFill>
                  <a:srgbClr val="FFFFFF"/>
                </a:solidFill>
                <a:latin typeface="Cambria Math"/>
                <a:cs typeface="Cambria Math"/>
              </a:rPr>
              <a:t>|</a:t>
            </a:r>
            <a:r>
              <a:rPr sz="1950" spc="-15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34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2.7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leads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:</a:t>
            </a:r>
            <a:endParaRPr sz="18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800" dirty="0">
              <a:latin typeface="Calibri Light"/>
              <a:cs typeface="Calibri Light"/>
            </a:endParaRPr>
          </a:p>
          <a:p>
            <a:pPr marL="1949450">
              <a:lnSpc>
                <a:spcPct val="100000"/>
              </a:lnSpc>
            </a:pPr>
            <a:r>
              <a:rPr sz="2700" spc="142" baseline="-37037" dirty="0" smtClean="0">
                <a:solidFill>
                  <a:srgbClr val="FFFFFF"/>
                </a:solidFill>
                <a:latin typeface="Cambria Math"/>
                <a:cs typeface="Cambria Math"/>
              </a:rPr>
              <a:t>  </a:t>
            </a:r>
            <a:r>
              <a:rPr sz="1800" dirty="0" smtClean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41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950" spc="44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 marL="2063750">
              <a:lnSpc>
                <a:spcPct val="100000"/>
              </a:lnSpc>
              <a:spcBef>
                <a:spcPts val="15"/>
              </a:spcBef>
            </a:pPr>
            <a:r>
              <a:rPr sz="1800" spc="-6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89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27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950" spc="28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950" spc="28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950" spc="30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4.8</a:t>
            </a:r>
            <a:r>
              <a:rPr sz="1800" spc="-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800" dirty="0">
              <a:latin typeface="Cambria Math"/>
              <a:cs typeface="Cambria Math"/>
            </a:endParaRPr>
          </a:p>
          <a:p>
            <a:pPr marL="76200" marR="213995">
              <a:lnSpc>
                <a:spcPts val="215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next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step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check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pole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associated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22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GB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product.</a:t>
            </a:r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464046" y="5007102"/>
            <a:ext cx="3152140" cy="817244"/>
          </a:xfrm>
          <a:custGeom>
            <a:avLst/>
            <a:gdLst/>
            <a:ahLst/>
            <a:cxnLst/>
            <a:rect l="l" t="t" r="r" b="b"/>
            <a:pathLst>
              <a:path w="3152140" h="817245">
                <a:moveTo>
                  <a:pt x="0" y="136144"/>
                </a:moveTo>
                <a:lnTo>
                  <a:pt x="6941" y="93114"/>
                </a:lnTo>
                <a:lnTo>
                  <a:pt x="26269" y="55741"/>
                </a:lnTo>
                <a:lnTo>
                  <a:pt x="55741" y="26269"/>
                </a:lnTo>
                <a:lnTo>
                  <a:pt x="93114" y="6941"/>
                </a:lnTo>
                <a:lnTo>
                  <a:pt x="136144" y="0"/>
                </a:lnTo>
                <a:lnTo>
                  <a:pt x="3015487" y="0"/>
                </a:lnTo>
                <a:lnTo>
                  <a:pt x="3058517" y="6941"/>
                </a:lnTo>
                <a:lnTo>
                  <a:pt x="3095890" y="26269"/>
                </a:lnTo>
                <a:lnTo>
                  <a:pt x="3125362" y="55741"/>
                </a:lnTo>
                <a:lnTo>
                  <a:pt x="3144690" y="93114"/>
                </a:lnTo>
                <a:lnTo>
                  <a:pt x="3151631" y="136144"/>
                </a:lnTo>
                <a:lnTo>
                  <a:pt x="3151631" y="680720"/>
                </a:lnTo>
                <a:lnTo>
                  <a:pt x="3144690" y="723749"/>
                </a:lnTo>
                <a:lnTo>
                  <a:pt x="3125362" y="761122"/>
                </a:lnTo>
                <a:lnTo>
                  <a:pt x="3095890" y="790594"/>
                </a:lnTo>
                <a:lnTo>
                  <a:pt x="3058517" y="809922"/>
                </a:lnTo>
                <a:lnTo>
                  <a:pt x="3015487" y="816864"/>
                </a:lnTo>
                <a:lnTo>
                  <a:pt x="136144" y="816864"/>
                </a:lnTo>
                <a:lnTo>
                  <a:pt x="93114" y="809922"/>
                </a:lnTo>
                <a:lnTo>
                  <a:pt x="55741" y="790594"/>
                </a:lnTo>
                <a:lnTo>
                  <a:pt x="26269" y="761122"/>
                </a:lnTo>
                <a:lnTo>
                  <a:pt x="6941" y="723749"/>
                </a:lnTo>
                <a:lnTo>
                  <a:pt x="0" y="680720"/>
                </a:lnTo>
                <a:lnTo>
                  <a:pt x="0" y="136144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371600"/>
            <a:ext cx="577880" cy="50167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895600"/>
            <a:ext cx="577880" cy="50167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838200"/>
            <a:ext cx="2667137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04900" cy="1031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6091" y="290829"/>
            <a:ext cx="6644005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 marR="30480">
              <a:lnSpc>
                <a:spcPts val="2150"/>
              </a:lnSpc>
              <a:spcBef>
                <a:spcPts val="18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next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step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check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pole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associated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22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GB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product.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09078" y="1332102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0206" y="1223898"/>
            <a:ext cx="484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0355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24748" y="1391666"/>
            <a:ext cx="734695" cy="15240"/>
          </a:xfrm>
          <a:custGeom>
            <a:avLst/>
            <a:gdLst/>
            <a:ahLst/>
            <a:cxnLst/>
            <a:rect l="l" t="t" r="r" b="b"/>
            <a:pathLst>
              <a:path w="734695" h="15240">
                <a:moveTo>
                  <a:pt x="734568" y="0"/>
                </a:moveTo>
                <a:lnTo>
                  <a:pt x="0" y="0"/>
                </a:lnTo>
                <a:lnTo>
                  <a:pt x="0" y="15239"/>
                </a:lnTo>
                <a:lnTo>
                  <a:pt x="734568" y="15239"/>
                </a:lnTo>
                <a:lnTo>
                  <a:pt x="7345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88197" y="1041019"/>
            <a:ext cx="165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𝑔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95385" y="1149223"/>
            <a:ext cx="31496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300" spc="70" dirty="0">
                <a:solidFill>
                  <a:srgbClr val="FFFFFF"/>
                </a:solidFill>
                <a:latin typeface="Cambria Math"/>
                <a:cs typeface="Cambria Math"/>
              </a:rPr>
              <a:t>𝑚</a:t>
            </a:r>
            <a:r>
              <a:rPr sz="1575" spc="104" baseline="-1322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7538" y="1376298"/>
            <a:ext cx="724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 ∗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53398" y="1548511"/>
            <a:ext cx="107314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46091" y="1946275"/>
            <a:ext cx="690181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Considering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worst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case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drain-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source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present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endParaRPr sz="1800">
              <a:latin typeface="Calibri Light"/>
              <a:cs typeface="Calibri Light"/>
            </a:endParaRPr>
          </a:p>
          <a:p>
            <a:pPr marL="38100">
              <a:lnSpc>
                <a:spcPts val="2155"/>
              </a:lnSpc>
              <a:spcBef>
                <a:spcPts val="1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drop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equal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half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VDD,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𝑔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𝑚</a:t>
            </a:r>
            <a:r>
              <a:rPr sz="1950" spc="40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4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𝛽</a:t>
            </a:r>
            <a:r>
              <a:rPr sz="1800" spc="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𝑑𝑠</a:t>
            </a:r>
            <a:r>
              <a:rPr sz="1950" spc="42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2.17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</a:t>
            </a:r>
            <a:r>
              <a:rPr sz="1950" baseline="2777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254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Ω</a:t>
            </a:r>
            <a:r>
              <a:rPr sz="1950" baseline="27777" dirty="0">
                <a:solidFill>
                  <a:srgbClr val="FFFFFF"/>
                </a:solidFill>
                <a:latin typeface="Cambria Math"/>
                <a:cs typeface="Cambria Math"/>
              </a:rPr>
              <a:t>−1</a:t>
            </a:r>
            <a:r>
              <a:rPr sz="1950" spc="247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endParaRPr sz="1800">
              <a:latin typeface="Calibri Light"/>
              <a:cs typeface="Calibri Light"/>
            </a:endParaRPr>
          </a:p>
          <a:p>
            <a:pPr marL="38100">
              <a:lnSpc>
                <a:spcPts val="2155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gate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capacitance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computed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knowing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poly/active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layers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691" y="2836545"/>
            <a:ext cx="4501515" cy="362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1775"/>
              </a:lnSpc>
              <a:spcBef>
                <a:spcPts val="100"/>
              </a:spcBef>
              <a:tabLst>
                <a:tab pos="392366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2.4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𝑓𝐹/𝜇𝑚</a:t>
            </a:r>
            <a:r>
              <a:rPr sz="1950" baseline="2777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247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leading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2.4</a:t>
            </a:r>
            <a:endParaRPr sz="1800">
              <a:latin typeface="Cambria Math"/>
              <a:cs typeface="Cambria Math"/>
            </a:endParaRPr>
          </a:p>
          <a:p>
            <a:pPr marR="647700" algn="r">
              <a:lnSpc>
                <a:spcPts val="875"/>
              </a:lnSpc>
            </a:pPr>
            <a:r>
              <a:rPr sz="105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059544" y="3004057"/>
            <a:ext cx="353695" cy="15240"/>
          </a:xfrm>
          <a:custGeom>
            <a:avLst/>
            <a:gdLst/>
            <a:ahLst/>
            <a:cxnLst/>
            <a:rect l="l" t="t" r="r" b="b"/>
            <a:pathLst>
              <a:path w="353695" h="15239">
                <a:moveTo>
                  <a:pt x="353568" y="0"/>
                </a:moveTo>
                <a:lnTo>
                  <a:pt x="0" y="0"/>
                </a:lnTo>
                <a:lnTo>
                  <a:pt x="0" y="15239"/>
                </a:lnTo>
                <a:lnTo>
                  <a:pt x="353568" y="15239"/>
                </a:lnTo>
                <a:lnTo>
                  <a:pt x="3535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19743" y="2763393"/>
            <a:ext cx="23114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𝑓𝐹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22715" y="3011805"/>
            <a:ext cx="426084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300" spc="8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r>
              <a:rPr sz="1575" spc="127" baseline="21164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575" baseline="21164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28098" y="2836545"/>
            <a:ext cx="2254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7.2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r>
              <a:rPr sz="1950" baseline="2777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419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17.28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𝑓𝐹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20691" y="3473577"/>
            <a:ext cx="6668770" cy="167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pole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thus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37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6.29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</a:t>
            </a:r>
            <a:r>
              <a:rPr sz="1950" baseline="27777" dirty="0">
                <a:solidFill>
                  <a:srgbClr val="FFFFFF"/>
                </a:solidFill>
                <a:latin typeface="Cambria Math"/>
                <a:cs typeface="Cambria Math"/>
              </a:rPr>
              <a:t>9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𝐻𝑧</a:t>
            </a:r>
            <a:r>
              <a:rPr sz="1800" spc="50" dirty="0">
                <a:solidFill>
                  <a:srgbClr val="FFFFFF"/>
                </a:solidFill>
                <a:latin typeface="Cambria Math"/>
                <a:cs typeface="Cambria Math"/>
              </a:rPr>
              <a:t> 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≫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𝑀𝐻𝑧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endParaRPr sz="1800">
              <a:latin typeface="Calibri Light"/>
              <a:cs typeface="Calibri Light"/>
            </a:endParaRPr>
          </a:p>
          <a:p>
            <a:pPr marL="63500">
              <a:lnSpc>
                <a:spcPct val="100000"/>
              </a:lnSpc>
              <a:spcBef>
                <a:spcPts val="2150"/>
              </a:spcBef>
            </a:pP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make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things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work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differential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must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same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𝑔</a:t>
            </a:r>
            <a:r>
              <a:rPr sz="1950" spc="-52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𝑚</a:t>
            </a:r>
            <a:endParaRPr sz="1950" baseline="-14957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whose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depends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𝐺𝐵</a:t>
            </a:r>
            <a:r>
              <a:rPr sz="1800" spc="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𝑐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:</a:t>
            </a:r>
            <a:endParaRPr sz="1800">
              <a:latin typeface="Calibri Light"/>
              <a:cs typeface="Calibri Light"/>
            </a:endParaRPr>
          </a:p>
          <a:p>
            <a:pPr marL="546735" algn="ctr">
              <a:lnSpc>
                <a:spcPct val="100000"/>
              </a:lnSpc>
              <a:spcBef>
                <a:spcPts val="2195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𝑔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𝑚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 𝑀𝐻𝑧</a:t>
            </a:r>
            <a:r>
              <a:rPr sz="1800" spc="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𝑝𝐹</a:t>
            </a:r>
            <a:r>
              <a:rPr sz="1800" spc="1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 10</a:t>
            </a:r>
            <a:r>
              <a:rPr sz="1950" baseline="27777" dirty="0">
                <a:solidFill>
                  <a:srgbClr val="FFFFFF"/>
                </a:solidFill>
                <a:latin typeface="Cambria Math"/>
                <a:cs typeface="Cambria Math"/>
              </a:rPr>
              <a:t>−5</a:t>
            </a:r>
            <a:r>
              <a:rPr sz="1950" spc="247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Ω</a:t>
            </a:r>
            <a:r>
              <a:rPr sz="1950" spc="-37" baseline="27777" dirty="0">
                <a:solidFill>
                  <a:srgbClr val="FFFFFF"/>
                </a:solidFill>
                <a:latin typeface="Cambria Math"/>
                <a:cs typeface="Cambria Math"/>
              </a:rPr>
              <a:t>−1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61936" y="5744197"/>
            <a:ext cx="995680" cy="15240"/>
          </a:xfrm>
          <a:custGeom>
            <a:avLst/>
            <a:gdLst/>
            <a:ahLst/>
            <a:cxnLst/>
            <a:rect l="l" t="t" r="r" b="b"/>
            <a:pathLst>
              <a:path w="995679" h="15239">
                <a:moveTo>
                  <a:pt x="995172" y="0"/>
                </a:moveTo>
                <a:lnTo>
                  <a:pt x="0" y="0"/>
                </a:lnTo>
                <a:lnTo>
                  <a:pt x="0" y="15240"/>
                </a:lnTo>
                <a:lnTo>
                  <a:pt x="995172" y="15240"/>
                </a:lnTo>
                <a:lnTo>
                  <a:pt x="9951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118857" y="5319217"/>
            <a:ext cx="475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67" baseline="-20061" dirty="0">
                <a:solidFill>
                  <a:srgbClr val="FFFFFF"/>
                </a:solidFill>
                <a:latin typeface="Cambria Math"/>
                <a:cs typeface="Cambria Math"/>
              </a:rPr>
              <a:t>𝑔</a:t>
            </a:r>
            <a:r>
              <a:rPr sz="1950" spc="67" baseline="-44871" dirty="0">
                <a:solidFill>
                  <a:srgbClr val="FFFFFF"/>
                </a:solidFill>
                <a:latin typeface="Cambria Math"/>
                <a:cs typeface="Cambria Math"/>
              </a:rPr>
              <a:t>𝑚</a:t>
            </a:r>
            <a:r>
              <a:rPr sz="1300" spc="45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62190" y="5705347"/>
            <a:ext cx="8572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80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67400" y="5715000"/>
            <a:ext cx="239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58215" algn="l"/>
                <a:tab pos="1362075" algn="l"/>
              </a:tabLst>
            </a:pPr>
            <a:r>
              <a:rPr sz="13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2700" baseline="1543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2700" spc="-15" baseline="1543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2700" spc="-22" baseline="1543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Cambria Math"/>
                <a:cs typeface="Cambria Math"/>
              </a:rPr>
              <a:t>𝐾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r>
              <a:rPr sz="1950" spc="25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2700" spc="-7" baseline="1543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spc="-37" baseline="1543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09306" y="5577332"/>
            <a:ext cx="1363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6345" algn="l"/>
              </a:tabLst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5.4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50375" y="5428894"/>
            <a:ext cx="1793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950" spc="39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41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20834" y="5702300"/>
            <a:ext cx="2051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60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950" spc="28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29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10.8</a:t>
            </a:r>
            <a:r>
              <a:rPr sz="1800" spc="-7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551" y="1406652"/>
            <a:ext cx="3704844" cy="3878580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9065514" y="5325617"/>
            <a:ext cx="2298700" cy="809625"/>
          </a:xfrm>
          <a:custGeom>
            <a:avLst/>
            <a:gdLst/>
            <a:ahLst/>
            <a:cxnLst/>
            <a:rect l="l" t="t" r="r" b="b"/>
            <a:pathLst>
              <a:path w="2298700" h="809625">
                <a:moveTo>
                  <a:pt x="0" y="134873"/>
                </a:moveTo>
                <a:lnTo>
                  <a:pt x="6870" y="92220"/>
                </a:lnTo>
                <a:lnTo>
                  <a:pt x="26005" y="55193"/>
                </a:lnTo>
                <a:lnTo>
                  <a:pt x="55193" y="26005"/>
                </a:lnTo>
                <a:lnTo>
                  <a:pt x="92220" y="6870"/>
                </a:lnTo>
                <a:lnTo>
                  <a:pt x="134874" y="0"/>
                </a:lnTo>
                <a:lnTo>
                  <a:pt x="2163317" y="0"/>
                </a:lnTo>
                <a:lnTo>
                  <a:pt x="2205971" y="6870"/>
                </a:lnTo>
                <a:lnTo>
                  <a:pt x="2242998" y="26005"/>
                </a:lnTo>
                <a:lnTo>
                  <a:pt x="2272186" y="55193"/>
                </a:lnTo>
                <a:lnTo>
                  <a:pt x="2291321" y="92220"/>
                </a:lnTo>
                <a:lnTo>
                  <a:pt x="2298191" y="134873"/>
                </a:lnTo>
                <a:lnTo>
                  <a:pt x="2298191" y="674369"/>
                </a:lnTo>
                <a:lnTo>
                  <a:pt x="2291321" y="716999"/>
                </a:lnTo>
                <a:lnTo>
                  <a:pt x="2272186" y="754023"/>
                </a:lnTo>
                <a:lnTo>
                  <a:pt x="2242998" y="783220"/>
                </a:lnTo>
                <a:lnTo>
                  <a:pt x="2205971" y="802367"/>
                </a:lnTo>
                <a:lnTo>
                  <a:pt x="2163317" y="809243"/>
                </a:lnTo>
                <a:lnTo>
                  <a:pt x="134874" y="809243"/>
                </a:lnTo>
                <a:lnTo>
                  <a:pt x="92220" y="802367"/>
                </a:lnTo>
                <a:lnTo>
                  <a:pt x="55193" y="783220"/>
                </a:lnTo>
                <a:lnTo>
                  <a:pt x="26005" y="754023"/>
                </a:lnTo>
                <a:lnTo>
                  <a:pt x="6870" y="716999"/>
                </a:lnTo>
                <a:lnTo>
                  <a:pt x="0" y="674369"/>
                </a:lnTo>
                <a:lnTo>
                  <a:pt x="0" y="134873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486400"/>
            <a:ext cx="1282766" cy="5016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04900" cy="1153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551" y="1406652"/>
            <a:ext cx="3704844" cy="38785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89145" y="484378"/>
            <a:ext cx="668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last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designed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800" spc="2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.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step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makes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use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CMR-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89145" y="592581"/>
            <a:ext cx="6700520" cy="7391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75920" algn="ctr">
              <a:lnSpc>
                <a:spcPts val="142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ts val="2020"/>
              </a:lnSpc>
            </a:pP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specification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compute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minimum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drain-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source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must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work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saturation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region.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53196" y="1892935"/>
            <a:ext cx="1114425" cy="15240"/>
          </a:xfrm>
          <a:custGeom>
            <a:avLst/>
            <a:gdLst/>
            <a:ahLst/>
            <a:cxnLst/>
            <a:rect l="l" t="t" r="r" b="b"/>
            <a:pathLst>
              <a:path w="1114425" h="15239">
                <a:moveTo>
                  <a:pt x="1114044" y="0"/>
                </a:moveTo>
                <a:lnTo>
                  <a:pt x="0" y="0"/>
                </a:lnTo>
                <a:lnTo>
                  <a:pt x="0" y="15239"/>
                </a:lnTo>
                <a:lnTo>
                  <a:pt x="1114044" y="15239"/>
                </a:lnTo>
                <a:lnTo>
                  <a:pt x="11140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82583" y="1551559"/>
            <a:ext cx="2463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83371" y="1996567"/>
            <a:ext cx="13462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5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04504" y="2010282"/>
            <a:ext cx="58610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300" spc="60" dirty="0">
                <a:solidFill>
                  <a:srgbClr val="FFFFFF"/>
                </a:solidFill>
                <a:latin typeface="Cambria Math"/>
                <a:cs typeface="Cambria Math"/>
              </a:rPr>
              <a:t>𝑑𝑠0</a:t>
            </a:r>
            <a:r>
              <a:rPr sz="1575" spc="89" baseline="-13227" dirty="0">
                <a:solidFill>
                  <a:srgbClr val="FFFFFF"/>
                </a:solidFill>
                <a:latin typeface="Cambria Math"/>
                <a:cs typeface="Cambria Math"/>
              </a:rPr>
              <a:t>𝑠𝑎𝑡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16240" y="1886839"/>
            <a:ext cx="805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𝐾</a:t>
            </a:r>
            <a:r>
              <a:rPr sz="1950" spc="157" baseline="27777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r>
              <a:rPr sz="1950" spc="509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67" baseline="2777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76821" y="2736926"/>
            <a:ext cx="14795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63745" y="2759786"/>
            <a:ext cx="3076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0535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Being</a:t>
            </a:r>
            <a:r>
              <a:rPr sz="1800" spc="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𝑑𝑠0</a:t>
            </a:r>
            <a:r>
              <a:rPr sz="1575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𝑠𝑎𝑡</a:t>
            </a:r>
            <a:r>
              <a:rPr sz="1575" spc="637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𝐶𝑀𝑅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−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𝑉𝑆𝑆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72500" y="2759786"/>
            <a:ext cx="22244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575" baseline="-3439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75" spc="494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≅</a:t>
            </a:r>
            <a:r>
              <a:rPr sz="1800" spc="7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170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𝑚𝑉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,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the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63745" y="3284601"/>
            <a:ext cx="4232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dimensions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ratio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19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must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greater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than: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86747" y="3979545"/>
            <a:ext cx="1135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2.39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89145" y="4554473"/>
            <a:ext cx="308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So: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76445" y="4851654"/>
            <a:ext cx="7055484" cy="1438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067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>
                <a:solidFill>
                  <a:srgbClr val="FFFFFF"/>
                </a:solidFill>
                <a:latin typeface="Cambria Math"/>
                <a:cs typeface="Cambria Math"/>
              </a:rPr>
              <a:t>  </a:t>
            </a:r>
            <a:r>
              <a:rPr sz="1800" dirty="0" smtClean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41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3.6</a:t>
            </a:r>
            <a:r>
              <a:rPr sz="1800" spc="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 marL="2934970">
              <a:lnSpc>
                <a:spcPct val="100000"/>
              </a:lnSpc>
              <a:spcBef>
                <a:spcPts val="10"/>
              </a:spcBef>
            </a:pP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29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10.8</a:t>
            </a:r>
            <a:r>
              <a:rPr sz="1800" spc="-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800" dirty="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Having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all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dimensions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possible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compute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endParaRPr sz="1800" dirty="0">
              <a:latin typeface="Calibri Light"/>
              <a:cs typeface="Calibri Light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swing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needed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PMOS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pass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design.</a:t>
            </a:r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285481" y="4801361"/>
            <a:ext cx="1731645" cy="810895"/>
          </a:xfrm>
          <a:custGeom>
            <a:avLst/>
            <a:gdLst/>
            <a:ahLst/>
            <a:cxnLst/>
            <a:rect l="l" t="t" r="r" b="b"/>
            <a:pathLst>
              <a:path w="1731645" h="810895">
                <a:moveTo>
                  <a:pt x="0" y="135127"/>
                </a:moveTo>
                <a:lnTo>
                  <a:pt x="6884" y="92399"/>
                </a:lnTo>
                <a:lnTo>
                  <a:pt x="26058" y="55302"/>
                </a:lnTo>
                <a:lnTo>
                  <a:pt x="55302" y="26058"/>
                </a:lnTo>
                <a:lnTo>
                  <a:pt x="92399" y="6884"/>
                </a:lnTo>
                <a:lnTo>
                  <a:pt x="135127" y="0"/>
                </a:lnTo>
                <a:lnTo>
                  <a:pt x="1596136" y="0"/>
                </a:lnTo>
                <a:lnTo>
                  <a:pt x="1638864" y="6884"/>
                </a:lnTo>
                <a:lnTo>
                  <a:pt x="1675961" y="26058"/>
                </a:lnTo>
                <a:lnTo>
                  <a:pt x="1705205" y="55302"/>
                </a:lnTo>
                <a:lnTo>
                  <a:pt x="1724379" y="92399"/>
                </a:lnTo>
                <a:lnTo>
                  <a:pt x="1731264" y="135127"/>
                </a:lnTo>
                <a:lnTo>
                  <a:pt x="1731264" y="675640"/>
                </a:lnTo>
                <a:lnTo>
                  <a:pt x="1724379" y="718368"/>
                </a:lnTo>
                <a:lnTo>
                  <a:pt x="1705205" y="755465"/>
                </a:lnTo>
                <a:lnTo>
                  <a:pt x="1675961" y="784709"/>
                </a:lnTo>
                <a:lnTo>
                  <a:pt x="1638864" y="803883"/>
                </a:lnTo>
                <a:lnTo>
                  <a:pt x="1596136" y="810768"/>
                </a:lnTo>
                <a:lnTo>
                  <a:pt x="135127" y="810768"/>
                </a:lnTo>
                <a:lnTo>
                  <a:pt x="92399" y="803883"/>
                </a:lnTo>
                <a:lnTo>
                  <a:pt x="55302" y="784709"/>
                </a:lnTo>
                <a:lnTo>
                  <a:pt x="26058" y="755465"/>
                </a:lnTo>
                <a:lnTo>
                  <a:pt x="6884" y="718368"/>
                </a:lnTo>
                <a:lnTo>
                  <a:pt x="0" y="675640"/>
                </a:lnTo>
                <a:lnTo>
                  <a:pt x="0" y="13512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354108"/>
            <a:ext cx="1143000" cy="1022382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524000"/>
            <a:ext cx="1018262" cy="6921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3733800"/>
            <a:ext cx="3911813" cy="8699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6378" y="876680"/>
            <a:ext cx="6449060" cy="870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lower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limit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swing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maximum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gate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endParaRPr sz="1800">
              <a:latin typeface="Calibri Light"/>
              <a:cs typeface="Calibri Light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r>
              <a:rPr sz="1950" spc="24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depends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23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950" spc="21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drain-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source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keep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them</a:t>
            </a:r>
            <a:endParaRPr sz="1800">
              <a:latin typeface="Calibri Light"/>
              <a:cs typeface="Calibri Light"/>
            </a:endParaRPr>
          </a:p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working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saturation.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1778" y="1995678"/>
            <a:ext cx="9950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general: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73597" y="2604642"/>
            <a:ext cx="133985" cy="1669414"/>
          </a:xfrm>
          <a:custGeom>
            <a:avLst/>
            <a:gdLst/>
            <a:ahLst/>
            <a:cxnLst/>
            <a:rect l="l" t="t" r="r" b="b"/>
            <a:pathLst>
              <a:path w="133985" h="1669414">
                <a:moveTo>
                  <a:pt x="133476" y="0"/>
                </a:moveTo>
                <a:lnTo>
                  <a:pt x="93837" y="17732"/>
                </a:lnTo>
                <a:lnTo>
                  <a:pt x="67437" y="54991"/>
                </a:lnTo>
                <a:lnTo>
                  <a:pt x="52578" y="113363"/>
                </a:lnTo>
                <a:lnTo>
                  <a:pt x="47625" y="194691"/>
                </a:lnTo>
                <a:lnTo>
                  <a:pt x="47625" y="724916"/>
                </a:lnTo>
                <a:lnTo>
                  <a:pt x="46837" y="748942"/>
                </a:lnTo>
                <a:lnTo>
                  <a:pt x="40499" y="787423"/>
                </a:lnTo>
                <a:lnTo>
                  <a:pt x="19796" y="821499"/>
                </a:lnTo>
                <a:lnTo>
                  <a:pt x="0" y="828548"/>
                </a:lnTo>
                <a:lnTo>
                  <a:pt x="0" y="842010"/>
                </a:lnTo>
                <a:lnTo>
                  <a:pt x="35178" y="868553"/>
                </a:lnTo>
                <a:lnTo>
                  <a:pt x="46841" y="920952"/>
                </a:lnTo>
                <a:lnTo>
                  <a:pt x="47625" y="944626"/>
                </a:lnTo>
                <a:lnTo>
                  <a:pt x="47625" y="1474343"/>
                </a:lnTo>
                <a:lnTo>
                  <a:pt x="48863" y="1517870"/>
                </a:lnTo>
                <a:lnTo>
                  <a:pt x="58769" y="1587732"/>
                </a:lnTo>
                <a:lnTo>
                  <a:pt x="78988" y="1635119"/>
                </a:lnTo>
                <a:lnTo>
                  <a:pt x="111996" y="1662602"/>
                </a:lnTo>
                <a:lnTo>
                  <a:pt x="133476" y="1669034"/>
                </a:lnTo>
                <a:lnTo>
                  <a:pt x="133476" y="1658493"/>
                </a:lnTo>
                <a:lnTo>
                  <a:pt x="118215" y="1652325"/>
                </a:lnTo>
                <a:lnTo>
                  <a:pt x="105203" y="1641633"/>
                </a:lnTo>
                <a:lnTo>
                  <a:pt x="85978" y="1606677"/>
                </a:lnTo>
                <a:lnTo>
                  <a:pt x="74834" y="1550558"/>
                </a:lnTo>
                <a:lnTo>
                  <a:pt x="71119" y="1470533"/>
                </a:lnTo>
                <a:lnTo>
                  <a:pt x="71119" y="964057"/>
                </a:lnTo>
                <a:lnTo>
                  <a:pt x="69355" y="933793"/>
                </a:lnTo>
                <a:lnTo>
                  <a:pt x="60922" y="887172"/>
                </a:lnTo>
                <a:lnTo>
                  <a:pt x="38893" y="848169"/>
                </a:lnTo>
                <a:lnTo>
                  <a:pt x="23367" y="836168"/>
                </a:lnTo>
                <a:lnTo>
                  <a:pt x="23367" y="833374"/>
                </a:lnTo>
                <a:lnTo>
                  <a:pt x="55117" y="797179"/>
                </a:lnTo>
                <a:lnTo>
                  <a:pt x="67119" y="759475"/>
                </a:lnTo>
                <a:lnTo>
                  <a:pt x="71119" y="705485"/>
                </a:lnTo>
                <a:lnTo>
                  <a:pt x="71119" y="198501"/>
                </a:lnTo>
                <a:lnTo>
                  <a:pt x="72048" y="155493"/>
                </a:lnTo>
                <a:lnTo>
                  <a:pt x="79478" y="87433"/>
                </a:lnTo>
                <a:lnTo>
                  <a:pt x="94454" y="42616"/>
                </a:lnTo>
                <a:lnTo>
                  <a:pt x="133476" y="10541"/>
                </a:lnTo>
                <a:lnTo>
                  <a:pt x="1334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52744" y="2649473"/>
            <a:ext cx="376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𝑑𝑠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4571" y="2602229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&gt;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21144" y="2639567"/>
            <a:ext cx="1175385" cy="276225"/>
          </a:xfrm>
          <a:custGeom>
            <a:avLst/>
            <a:gdLst/>
            <a:ahLst/>
            <a:cxnLst/>
            <a:rect l="l" t="t" r="r" b="b"/>
            <a:pathLst>
              <a:path w="1175384" h="276225">
                <a:moveTo>
                  <a:pt x="1102486" y="0"/>
                </a:moveTo>
                <a:lnTo>
                  <a:pt x="1099693" y="9144"/>
                </a:lnTo>
                <a:lnTo>
                  <a:pt x="1112406" y="15765"/>
                </a:lnTo>
                <a:lnTo>
                  <a:pt x="1123489" y="25352"/>
                </a:lnTo>
                <a:lnTo>
                  <a:pt x="1146734" y="71614"/>
                </a:lnTo>
                <a:lnTo>
                  <a:pt x="1153679" y="113956"/>
                </a:lnTo>
                <a:lnTo>
                  <a:pt x="1154556" y="138176"/>
                </a:lnTo>
                <a:lnTo>
                  <a:pt x="1153679" y="162393"/>
                </a:lnTo>
                <a:lnTo>
                  <a:pt x="1146734" y="204684"/>
                </a:lnTo>
                <a:lnTo>
                  <a:pt x="1123489" y="250872"/>
                </a:lnTo>
                <a:lnTo>
                  <a:pt x="1099693" y="267081"/>
                </a:lnTo>
                <a:lnTo>
                  <a:pt x="1102486" y="276225"/>
                </a:lnTo>
                <a:lnTo>
                  <a:pt x="1145778" y="246060"/>
                </a:lnTo>
                <a:lnTo>
                  <a:pt x="1164468" y="208702"/>
                </a:lnTo>
                <a:lnTo>
                  <a:pt x="1173942" y="163415"/>
                </a:lnTo>
                <a:lnTo>
                  <a:pt x="1175130" y="138176"/>
                </a:lnTo>
                <a:lnTo>
                  <a:pt x="1173993" y="113956"/>
                </a:lnTo>
                <a:lnTo>
                  <a:pt x="1164468" y="67524"/>
                </a:lnTo>
                <a:lnTo>
                  <a:pt x="1145778" y="30164"/>
                </a:lnTo>
                <a:lnTo>
                  <a:pt x="1118917" y="6403"/>
                </a:lnTo>
                <a:lnTo>
                  <a:pt x="1102486" y="0"/>
                </a:lnTo>
                <a:close/>
              </a:path>
              <a:path w="1175384" h="276225">
                <a:moveTo>
                  <a:pt x="72644" y="0"/>
                </a:moveTo>
                <a:lnTo>
                  <a:pt x="29352" y="30164"/>
                </a:lnTo>
                <a:lnTo>
                  <a:pt x="10662" y="67524"/>
                </a:lnTo>
                <a:lnTo>
                  <a:pt x="1188" y="112863"/>
                </a:lnTo>
                <a:lnTo>
                  <a:pt x="0" y="138176"/>
                </a:lnTo>
                <a:lnTo>
                  <a:pt x="1140" y="162393"/>
                </a:lnTo>
                <a:lnTo>
                  <a:pt x="10662" y="208702"/>
                </a:lnTo>
                <a:lnTo>
                  <a:pt x="29352" y="246060"/>
                </a:lnTo>
                <a:lnTo>
                  <a:pt x="72644" y="276225"/>
                </a:lnTo>
                <a:lnTo>
                  <a:pt x="75437" y="267081"/>
                </a:lnTo>
                <a:lnTo>
                  <a:pt x="62743" y="260459"/>
                </a:lnTo>
                <a:lnTo>
                  <a:pt x="51704" y="250872"/>
                </a:lnTo>
                <a:lnTo>
                  <a:pt x="28449" y="204684"/>
                </a:lnTo>
                <a:lnTo>
                  <a:pt x="21574" y="163415"/>
                </a:lnTo>
                <a:lnTo>
                  <a:pt x="21453" y="162393"/>
                </a:lnTo>
                <a:lnTo>
                  <a:pt x="20574" y="138176"/>
                </a:lnTo>
                <a:lnTo>
                  <a:pt x="21453" y="113956"/>
                </a:lnTo>
                <a:lnTo>
                  <a:pt x="24082" y="91773"/>
                </a:lnTo>
                <a:lnTo>
                  <a:pt x="34544" y="53467"/>
                </a:lnTo>
                <a:lnTo>
                  <a:pt x="62743" y="15765"/>
                </a:lnTo>
                <a:lnTo>
                  <a:pt x="75437" y="9144"/>
                </a:lnTo>
                <a:lnTo>
                  <a:pt x="726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65976" y="2649473"/>
            <a:ext cx="1071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20" baseline="10802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300" spc="-80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r>
              <a:rPr sz="13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baseline="10802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2700" spc="-97" baseline="10802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spc="-30" baseline="10802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300" spc="-20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575" spc="-30" baseline="-13227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9084" y="3338575"/>
            <a:ext cx="2159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46520" y="3012058"/>
            <a:ext cx="872490" cy="762635"/>
          </a:xfrm>
          <a:custGeom>
            <a:avLst/>
            <a:gdLst/>
            <a:ahLst/>
            <a:cxnLst/>
            <a:rect l="l" t="t" r="r" b="b"/>
            <a:pathLst>
              <a:path w="872490" h="762635">
                <a:moveTo>
                  <a:pt x="433451" y="385699"/>
                </a:moveTo>
                <a:lnTo>
                  <a:pt x="171323" y="385699"/>
                </a:lnTo>
                <a:lnTo>
                  <a:pt x="171323" y="400939"/>
                </a:lnTo>
                <a:lnTo>
                  <a:pt x="433451" y="400939"/>
                </a:lnTo>
                <a:lnTo>
                  <a:pt x="433451" y="385699"/>
                </a:lnTo>
                <a:close/>
              </a:path>
              <a:path w="872490" h="762635">
                <a:moveTo>
                  <a:pt x="872363" y="127"/>
                </a:moveTo>
                <a:lnTo>
                  <a:pt x="144399" y="0"/>
                </a:lnTo>
                <a:lnTo>
                  <a:pt x="97155" y="718439"/>
                </a:lnTo>
                <a:lnTo>
                  <a:pt x="40132" y="613029"/>
                </a:lnTo>
                <a:lnTo>
                  <a:pt x="0" y="634365"/>
                </a:lnTo>
                <a:lnTo>
                  <a:pt x="4318" y="642239"/>
                </a:lnTo>
                <a:lnTo>
                  <a:pt x="25400" y="631063"/>
                </a:lnTo>
                <a:lnTo>
                  <a:pt x="96647" y="762127"/>
                </a:lnTo>
                <a:lnTo>
                  <a:pt x="107061" y="762127"/>
                </a:lnTo>
                <a:lnTo>
                  <a:pt x="156972" y="14859"/>
                </a:lnTo>
                <a:lnTo>
                  <a:pt x="171323" y="14859"/>
                </a:lnTo>
                <a:lnTo>
                  <a:pt x="171323" y="15367"/>
                </a:lnTo>
                <a:lnTo>
                  <a:pt x="872363" y="15367"/>
                </a:lnTo>
                <a:lnTo>
                  <a:pt x="872363" y="1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47764" y="3492500"/>
            <a:ext cx="13462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5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80631" y="3297428"/>
            <a:ext cx="308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120" baseline="-20061" dirty="0">
                <a:solidFill>
                  <a:srgbClr val="FFFFFF"/>
                </a:solidFill>
                <a:latin typeface="Cambria Math"/>
                <a:cs typeface="Cambria Math"/>
              </a:rPr>
              <a:t>𝐾</a:t>
            </a:r>
            <a:r>
              <a:rPr sz="1300" spc="80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91806" y="3397758"/>
            <a:ext cx="227329" cy="15240"/>
          </a:xfrm>
          <a:custGeom>
            <a:avLst/>
            <a:gdLst/>
            <a:ahLst/>
            <a:cxnLst/>
            <a:rect l="l" t="t" r="r" b="b"/>
            <a:pathLst>
              <a:path w="227329" h="15239">
                <a:moveTo>
                  <a:pt x="227075" y="0"/>
                </a:moveTo>
                <a:lnTo>
                  <a:pt x="0" y="0"/>
                </a:lnTo>
                <a:lnTo>
                  <a:pt x="0" y="15239"/>
                </a:lnTo>
                <a:lnTo>
                  <a:pt x="227075" y="15239"/>
                </a:lnTo>
                <a:lnTo>
                  <a:pt x="227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79995" y="3382771"/>
            <a:ext cx="242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72911" y="3056635"/>
            <a:ext cx="2013585" cy="473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6460">
              <a:lnSpc>
                <a:spcPts val="1764"/>
              </a:lnSpc>
              <a:spcBef>
                <a:spcPts val="100"/>
              </a:spcBef>
              <a:tabLst>
                <a:tab pos="1369695" algn="l"/>
              </a:tabLst>
            </a:pP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ts val="1764"/>
              </a:lnSpc>
              <a:tabLst>
                <a:tab pos="385445" algn="l"/>
                <a:tab pos="1157605" algn="l"/>
                <a:tab pos="1597025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+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74864" y="3338575"/>
            <a:ext cx="3949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300" spc="25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575" spc="37" baseline="-13227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06744" y="3987800"/>
            <a:ext cx="13462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5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37223" y="3856735"/>
            <a:ext cx="8572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80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65011" y="3879595"/>
            <a:ext cx="1014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8455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𝐾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57.8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49157" y="3263900"/>
            <a:ext cx="52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94673" y="3408679"/>
            <a:ext cx="5511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50" spc="150" baseline="12820" dirty="0">
                <a:solidFill>
                  <a:srgbClr val="FFFFFF"/>
                </a:solidFill>
                <a:latin typeface="Cambria Math"/>
                <a:cs typeface="Cambria Math"/>
              </a:rPr>
              <a:t>𝑑𝑠</a:t>
            </a:r>
            <a:r>
              <a:rPr sz="1050" spc="100" dirty="0">
                <a:solidFill>
                  <a:srgbClr val="FFFFFF"/>
                </a:solidFill>
                <a:latin typeface="Cambria Math"/>
                <a:cs typeface="Cambria Math"/>
              </a:rPr>
              <a:t>𝑚𝑖𝑛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23476" y="3045586"/>
            <a:ext cx="872490" cy="762635"/>
          </a:xfrm>
          <a:custGeom>
            <a:avLst/>
            <a:gdLst/>
            <a:ahLst/>
            <a:cxnLst/>
            <a:rect l="l" t="t" r="r" b="b"/>
            <a:pathLst>
              <a:path w="872490" h="762635">
                <a:moveTo>
                  <a:pt x="433451" y="385699"/>
                </a:moveTo>
                <a:lnTo>
                  <a:pt x="171323" y="385699"/>
                </a:lnTo>
                <a:lnTo>
                  <a:pt x="171323" y="400939"/>
                </a:lnTo>
                <a:lnTo>
                  <a:pt x="433451" y="400939"/>
                </a:lnTo>
                <a:lnTo>
                  <a:pt x="433451" y="385699"/>
                </a:lnTo>
                <a:close/>
              </a:path>
              <a:path w="872490" h="762635">
                <a:moveTo>
                  <a:pt x="872363" y="127"/>
                </a:moveTo>
                <a:lnTo>
                  <a:pt x="144399" y="0"/>
                </a:lnTo>
                <a:lnTo>
                  <a:pt x="97155" y="718439"/>
                </a:lnTo>
                <a:lnTo>
                  <a:pt x="40132" y="613029"/>
                </a:lnTo>
                <a:lnTo>
                  <a:pt x="0" y="634365"/>
                </a:lnTo>
                <a:lnTo>
                  <a:pt x="4318" y="642239"/>
                </a:lnTo>
                <a:lnTo>
                  <a:pt x="25400" y="631063"/>
                </a:lnTo>
                <a:lnTo>
                  <a:pt x="96647" y="762127"/>
                </a:lnTo>
                <a:lnTo>
                  <a:pt x="107061" y="762127"/>
                </a:lnTo>
                <a:lnTo>
                  <a:pt x="156972" y="14859"/>
                </a:lnTo>
                <a:lnTo>
                  <a:pt x="171323" y="14859"/>
                </a:lnTo>
                <a:lnTo>
                  <a:pt x="171323" y="15367"/>
                </a:lnTo>
                <a:lnTo>
                  <a:pt x="872363" y="15367"/>
                </a:lnTo>
                <a:lnTo>
                  <a:pt x="872363" y="1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824973" y="3526027"/>
            <a:ext cx="13462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5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657842" y="3330955"/>
            <a:ext cx="308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120" baseline="-20061" dirty="0">
                <a:solidFill>
                  <a:srgbClr val="FFFFFF"/>
                </a:solidFill>
                <a:latin typeface="Cambria Math"/>
                <a:cs typeface="Cambria Math"/>
              </a:rPr>
              <a:t>𝐾</a:t>
            </a:r>
            <a:r>
              <a:rPr sz="1300" spc="80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168763" y="3431285"/>
            <a:ext cx="227329" cy="15240"/>
          </a:xfrm>
          <a:custGeom>
            <a:avLst/>
            <a:gdLst/>
            <a:ahLst/>
            <a:cxnLst/>
            <a:rect l="l" t="t" r="r" b="b"/>
            <a:pathLst>
              <a:path w="227329" h="15239">
                <a:moveTo>
                  <a:pt x="227075" y="0"/>
                </a:moveTo>
                <a:lnTo>
                  <a:pt x="0" y="0"/>
                </a:lnTo>
                <a:lnTo>
                  <a:pt x="0" y="15239"/>
                </a:lnTo>
                <a:lnTo>
                  <a:pt x="227075" y="15239"/>
                </a:lnTo>
                <a:lnTo>
                  <a:pt x="227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157586" y="3416300"/>
            <a:ext cx="242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47885" y="3090164"/>
            <a:ext cx="1828164" cy="473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0">
              <a:lnSpc>
                <a:spcPts val="1764"/>
              </a:lnSpc>
              <a:spcBef>
                <a:spcPts val="100"/>
              </a:spcBef>
              <a:tabLst>
                <a:tab pos="972185" algn="l"/>
              </a:tabLst>
            </a:pP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ts val="1764"/>
              </a:lnSpc>
              <a:tabLst>
                <a:tab pos="760095" algn="l"/>
                <a:tab pos="1211580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=</a:t>
            </a:r>
            <a:r>
              <a:rPr sz="1800" spc="50" dirty="0">
                <a:solidFill>
                  <a:srgbClr val="FFFFFF"/>
                </a:solidFill>
                <a:latin typeface="Cambria Math"/>
                <a:cs typeface="Cambria Math"/>
              </a:rPr>
              <a:t>  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∆𝑉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56378" y="4522419"/>
            <a:ext cx="400240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Since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24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𝜇𝐴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,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follows that: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61047" y="5111241"/>
            <a:ext cx="3049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89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𝑜𝑢𝑡</a:t>
            </a:r>
            <a:r>
              <a:rPr sz="1575" spc="89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𝑚𝑖𝑛</a:t>
            </a:r>
            <a:r>
              <a:rPr sz="1575" spc="442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∆𝑉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18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∆𝑉</a:t>
            </a:r>
            <a:r>
              <a:rPr sz="1950" spc="-15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≅</a:t>
            </a:r>
            <a:r>
              <a:rPr sz="1800" spc="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227</a:t>
            </a:r>
            <a:r>
              <a:rPr sz="1800" spc="-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𝑚𝑉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24828" y="5422188"/>
            <a:ext cx="3520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9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𝑜𝑢𝑡</a:t>
            </a:r>
            <a:r>
              <a:rPr sz="1575" spc="97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𝑀𝐴𝑋</a:t>
            </a:r>
            <a:r>
              <a:rPr sz="1575" spc="509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7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800" baseline="-25000" dirty="0">
                <a:solidFill>
                  <a:srgbClr val="FFFFFF"/>
                </a:solidFill>
                <a:latin typeface="Cambria Math"/>
                <a:cs typeface="Cambria Math"/>
              </a:rPr>
              <a:t>𝐷𝐷</a:t>
            </a:r>
            <a:r>
              <a:rPr sz="1800" spc="4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∆𝑉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950" spc="22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7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4.60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endParaRPr sz="1800" dirty="0">
              <a:latin typeface="Cambria Math"/>
              <a:cs typeface="Cambria Math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291" y="1402080"/>
            <a:ext cx="4189476" cy="387857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216814" y="163143"/>
            <a:ext cx="1104900" cy="1275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3810000"/>
            <a:ext cx="609600" cy="4735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291" y="1402080"/>
            <a:ext cx="4189476" cy="38785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104900" cy="1397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VIII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6883" y="585978"/>
            <a:ext cx="5171440" cy="874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leads</a:t>
            </a:r>
            <a:r>
              <a:rPr sz="1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40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𝑠𝑔</a:t>
            </a:r>
            <a:r>
              <a:rPr sz="1575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𝑀𝐴𝑋</a:t>
            </a:r>
            <a:r>
              <a:rPr sz="1575" spc="555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𝑉𝐷𝐷</a:t>
            </a:r>
            <a:r>
              <a:rPr sz="1800" spc="4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82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𝑜𝑢𝑡</a:t>
            </a:r>
            <a:r>
              <a:rPr sz="1575" spc="82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𝑚𝑖𝑛</a:t>
            </a:r>
            <a:r>
              <a:rPr sz="1575" spc="-179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means: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800">
              <a:latin typeface="Calibri"/>
              <a:cs typeface="Calibri"/>
            </a:endParaRPr>
          </a:p>
          <a:p>
            <a:pPr marL="142367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𝑠𝑔</a:t>
            </a:r>
            <a:r>
              <a:rPr sz="1575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𝑀𝐴𝑋</a:t>
            </a:r>
            <a:r>
              <a:rPr sz="1575" spc="562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5 𝑉</a:t>
            </a:r>
            <a:r>
              <a:rPr sz="1800" spc="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227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𝑚𝑉</a:t>
            </a:r>
            <a:r>
              <a:rPr sz="1800" spc="1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4.77𝑉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48416" y="1790319"/>
            <a:ext cx="18415" cy="375285"/>
          </a:xfrm>
          <a:custGeom>
            <a:avLst/>
            <a:gdLst/>
            <a:ahLst/>
            <a:cxnLst/>
            <a:rect l="l" t="t" r="r" b="b"/>
            <a:pathLst>
              <a:path w="18415" h="375285">
                <a:moveTo>
                  <a:pt x="18160" y="0"/>
                </a:moveTo>
                <a:lnTo>
                  <a:pt x="0" y="0"/>
                </a:lnTo>
                <a:lnTo>
                  <a:pt x="0" y="375030"/>
                </a:lnTo>
                <a:lnTo>
                  <a:pt x="18160" y="375030"/>
                </a:lnTo>
                <a:lnTo>
                  <a:pt x="181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424159" y="1790319"/>
            <a:ext cx="18415" cy="375285"/>
          </a:xfrm>
          <a:custGeom>
            <a:avLst/>
            <a:gdLst/>
            <a:ahLst/>
            <a:cxnLst/>
            <a:rect l="l" t="t" r="r" b="b"/>
            <a:pathLst>
              <a:path w="18415" h="375285">
                <a:moveTo>
                  <a:pt x="18161" y="0"/>
                </a:moveTo>
                <a:lnTo>
                  <a:pt x="0" y="0"/>
                </a:lnTo>
                <a:lnTo>
                  <a:pt x="0" y="375030"/>
                </a:lnTo>
                <a:lnTo>
                  <a:pt x="18161" y="375030"/>
                </a:lnTo>
                <a:lnTo>
                  <a:pt x="181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94064" y="2198751"/>
            <a:ext cx="18415" cy="375285"/>
          </a:xfrm>
          <a:custGeom>
            <a:avLst/>
            <a:gdLst/>
            <a:ahLst/>
            <a:cxnLst/>
            <a:rect l="l" t="t" r="r" b="b"/>
            <a:pathLst>
              <a:path w="18415" h="375285">
                <a:moveTo>
                  <a:pt x="18160" y="0"/>
                </a:moveTo>
                <a:lnTo>
                  <a:pt x="0" y="0"/>
                </a:lnTo>
                <a:lnTo>
                  <a:pt x="0" y="375031"/>
                </a:lnTo>
                <a:lnTo>
                  <a:pt x="18160" y="375031"/>
                </a:lnTo>
                <a:lnTo>
                  <a:pt x="181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69807" y="2198751"/>
            <a:ext cx="18415" cy="375285"/>
          </a:xfrm>
          <a:custGeom>
            <a:avLst/>
            <a:gdLst/>
            <a:ahLst/>
            <a:cxnLst/>
            <a:rect l="l" t="t" r="r" b="b"/>
            <a:pathLst>
              <a:path w="18415" h="375285">
                <a:moveTo>
                  <a:pt x="18161" y="0"/>
                </a:moveTo>
                <a:lnTo>
                  <a:pt x="0" y="0"/>
                </a:lnTo>
                <a:lnTo>
                  <a:pt x="0" y="375031"/>
                </a:lnTo>
                <a:lnTo>
                  <a:pt x="18161" y="375031"/>
                </a:lnTo>
                <a:lnTo>
                  <a:pt x="181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99583" y="1668272"/>
            <a:ext cx="5908675" cy="174942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15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But,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saturation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condition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imposes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75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𝑠𝑔</a:t>
            </a:r>
            <a:r>
              <a:rPr sz="1950" spc="35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&gt;</a:t>
            </a:r>
            <a:r>
              <a:rPr sz="1800" spc="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82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𝑑𝑠</a:t>
            </a:r>
            <a:r>
              <a:rPr sz="1575" spc="82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𝑀𝐴𝑋</a:t>
            </a:r>
            <a:r>
              <a:rPr sz="1575" spc="367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55" dirty="0">
                <a:solidFill>
                  <a:srgbClr val="FFFFFF"/>
                </a:solidFill>
                <a:latin typeface="Cambria Math"/>
                <a:cs typeface="Cambria Math"/>
              </a:rPr>
              <a:t> 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575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r>
              <a:rPr sz="1575" spc="600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:</a:t>
            </a:r>
            <a:endParaRPr sz="1800">
              <a:latin typeface="Calibri Light"/>
              <a:cs typeface="Calibri Light"/>
            </a:endParaRPr>
          </a:p>
          <a:p>
            <a:pPr marL="156845" algn="ctr">
              <a:lnSpc>
                <a:spcPct val="100000"/>
              </a:lnSpc>
              <a:spcBef>
                <a:spcPts val="1055"/>
              </a:spcBef>
              <a:tabLst>
                <a:tab pos="3153410" algn="l"/>
              </a:tabLst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𝑠𝑔</a:t>
            </a:r>
            <a:r>
              <a:rPr sz="1575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𝑠𝑎𝑡</a:t>
            </a:r>
            <a:r>
              <a:rPr sz="1575" spc="509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𝑉𝐷𝐷</a:t>
            </a:r>
            <a:r>
              <a:rPr sz="1800" spc="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𝑉𝑟𝑒𝑔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1800" spc="65" dirty="0">
                <a:solidFill>
                  <a:srgbClr val="FFFFFF"/>
                </a:solidFill>
                <a:latin typeface="Cambria Math"/>
                <a:cs typeface="Cambria Math"/>
              </a:rPr>
              <a:t> 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575" spc="-30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r>
              <a:rPr sz="1575" baseline="-34391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2.6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8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&lt;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4.77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V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800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computed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allows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r>
              <a:rPr sz="1950" spc="23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resulting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endParaRPr sz="1800">
              <a:latin typeface="Calibri Light"/>
              <a:cs typeface="Calibri Light"/>
            </a:endParaRPr>
          </a:p>
          <a:p>
            <a:pPr marL="762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following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expression: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45781" y="3987800"/>
            <a:ext cx="2301240" cy="15240"/>
          </a:xfrm>
          <a:custGeom>
            <a:avLst/>
            <a:gdLst/>
            <a:ahLst/>
            <a:cxnLst/>
            <a:rect l="l" t="t" r="r" b="b"/>
            <a:pathLst>
              <a:path w="2301240" h="15239">
                <a:moveTo>
                  <a:pt x="2301240" y="0"/>
                </a:moveTo>
                <a:lnTo>
                  <a:pt x="0" y="0"/>
                </a:lnTo>
                <a:lnTo>
                  <a:pt x="0" y="15239"/>
                </a:lnTo>
                <a:lnTo>
                  <a:pt x="2301240" y="15239"/>
                </a:lnTo>
                <a:lnTo>
                  <a:pt x="2301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448420" y="3718305"/>
            <a:ext cx="681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97" baseline="20061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spc="97" baseline="10683" dirty="0">
                <a:solidFill>
                  <a:srgbClr val="FFFFFF"/>
                </a:solidFill>
                <a:latin typeface="Cambria Math"/>
                <a:cs typeface="Cambria Math"/>
              </a:rPr>
              <a:t>𝑑𝑠</a:t>
            </a:r>
            <a:r>
              <a:rPr sz="1050" spc="65" dirty="0">
                <a:solidFill>
                  <a:srgbClr val="FFFFFF"/>
                </a:solidFill>
                <a:latin typeface="Cambria Math"/>
                <a:cs typeface="Cambria Math"/>
              </a:rPr>
              <a:t>𝑀𝐴𝑋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48981" y="4082541"/>
            <a:ext cx="1314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23172" y="4145026"/>
            <a:ext cx="104775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41069" algn="l"/>
              </a:tabLst>
            </a:pPr>
            <a:r>
              <a:rPr sz="1050" spc="65" dirty="0">
                <a:solidFill>
                  <a:srgbClr val="FFFFFF"/>
                </a:solidFill>
                <a:latin typeface="Cambria Math"/>
                <a:cs typeface="Cambria Math"/>
              </a:rPr>
              <a:t>𝑠𝑎𝑡</a:t>
            </a:r>
            <a:r>
              <a:rPr sz="105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050" spc="95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08696" y="3972814"/>
            <a:ext cx="2368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17625" algn="l"/>
              </a:tabLst>
            </a:pPr>
            <a:r>
              <a:rPr sz="1800" spc="70" dirty="0">
                <a:solidFill>
                  <a:srgbClr val="FFFFFF"/>
                </a:solidFill>
                <a:latin typeface="Cambria Math"/>
                <a:cs typeface="Cambria Math"/>
              </a:rPr>
              <a:t>|𝐾</a:t>
            </a:r>
            <a:r>
              <a:rPr sz="1950" spc="104" baseline="27777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r>
              <a:rPr sz="1950" spc="-127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|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(𝑉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𝑠𝑔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|𝑉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950" spc="63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|)</a:t>
            </a:r>
            <a:r>
              <a:rPr sz="1950" spc="-37" baseline="23504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950" baseline="23504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7683" y="4573270"/>
            <a:ext cx="3741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Considering </a:t>
            </a:r>
            <a:r>
              <a:rPr sz="1800" spc="75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spc="112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𝑑𝑠</a:t>
            </a:r>
            <a:r>
              <a:rPr sz="1575" spc="112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𝑀𝐴𝑋</a:t>
            </a:r>
            <a:r>
              <a:rPr sz="1575" spc="525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7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𝑚𝐴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ratio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62800" y="5594968"/>
            <a:ext cx="143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32790" algn="l"/>
              </a:tabLst>
            </a:pPr>
            <a:r>
              <a:rPr sz="1800" dirty="0" smtClean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0" dirty="0" smtClean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36.6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24800" y="5410200"/>
            <a:ext cx="2365375" cy="4800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9345">
              <a:lnSpc>
                <a:spcPts val="1789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r>
              <a:rPr sz="1950" spc="47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 marL="38100">
              <a:lnSpc>
                <a:spcPts val="1789"/>
              </a:lnSpc>
              <a:tabLst>
                <a:tab pos="394335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40</a:t>
            </a:r>
            <a:r>
              <a:rPr sz="1800" spc="48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 smtClean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012301" y="5766917"/>
            <a:ext cx="1281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82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r>
              <a:rPr sz="1950" spc="31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72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885681" y="5353050"/>
            <a:ext cx="1475740" cy="870585"/>
          </a:xfrm>
          <a:custGeom>
            <a:avLst/>
            <a:gdLst/>
            <a:ahLst/>
            <a:cxnLst/>
            <a:rect l="l" t="t" r="r" b="b"/>
            <a:pathLst>
              <a:path w="1475740" h="870585">
                <a:moveTo>
                  <a:pt x="0" y="145034"/>
                </a:moveTo>
                <a:lnTo>
                  <a:pt x="7390" y="99177"/>
                </a:lnTo>
                <a:lnTo>
                  <a:pt x="27972" y="59362"/>
                </a:lnTo>
                <a:lnTo>
                  <a:pt x="59362" y="27972"/>
                </a:lnTo>
                <a:lnTo>
                  <a:pt x="99177" y="7390"/>
                </a:lnTo>
                <a:lnTo>
                  <a:pt x="145034" y="0"/>
                </a:lnTo>
                <a:lnTo>
                  <a:pt x="1330198" y="0"/>
                </a:lnTo>
                <a:lnTo>
                  <a:pt x="1376054" y="7390"/>
                </a:lnTo>
                <a:lnTo>
                  <a:pt x="1415869" y="27972"/>
                </a:lnTo>
                <a:lnTo>
                  <a:pt x="1447259" y="59362"/>
                </a:lnTo>
                <a:lnTo>
                  <a:pt x="1467841" y="99177"/>
                </a:lnTo>
                <a:lnTo>
                  <a:pt x="1475232" y="145034"/>
                </a:lnTo>
                <a:lnTo>
                  <a:pt x="1475232" y="725170"/>
                </a:lnTo>
                <a:lnTo>
                  <a:pt x="1467841" y="771011"/>
                </a:lnTo>
                <a:lnTo>
                  <a:pt x="1447259" y="810824"/>
                </a:lnTo>
                <a:lnTo>
                  <a:pt x="1415869" y="842220"/>
                </a:lnTo>
                <a:lnTo>
                  <a:pt x="1376054" y="862809"/>
                </a:lnTo>
                <a:lnTo>
                  <a:pt x="1330198" y="870204"/>
                </a:lnTo>
                <a:lnTo>
                  <a:pt x="145034" y="870204"/>
                </a:lnTo>
                <a:lnTo>
                  <a:pt x="99177" y="862809"/>
                </a:lnTo>
                <a:lnTo>
                  <a:pt x="59362" y="842220"/>
                </a:lnTo>
                <a:lnTo>
                  <a:pt x="27972" y="810824"/>
                </a:lnTo>
                <a:lnTo>
                  <a:pt x="7390" y="771011"/>
                </a:lnTo>
                <a:lnTo>
                  <a:pt x="0" y="725170"/>
                </a:lnTo>
                <a:lnTo>
                  <a:pt x="0" y="14503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3733800"/>
            <a:ext cx="765202" cy="53428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5562600"/>
            <a:ext cx="502729" cy="4762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04900" cy="1519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0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965" rIns="0" bIns="0" rtlCol="0">
            <a:spAutoFit/>
          </a:bodyPr>
          <a:lstStyle/>
          <a:p>
            <a:pPr marL="163957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LDO</a:t>
            </a:r>
            <a:r>
              <a:rPr sz="4000" spc="-85" dirty="0"/>
              <a:t> </a:t>
            </a:r>
            <a:r>
              <a:rPr sz="4000" dirty="0"/>
              <a:t>DC</a:t>
            </a:r>
            <a:r>
              <a:rPr sz="4000" spc="-85" dirty="0"/>
              <a:t> </a:t>
            </a:r>
            <a:r>
              <a:rPr sz="4000" dirty="0"/>
              <a:t>Operating</a:t>
            </a:r>
            <a:r>
              <a:rPr sz="4000" spc="-110" dirty="0"/>
              <a:t> </a:t>
            </a:r>
            <a:r>
              <a:rPr sz="4000" dirty="0"/>
              <a:t>Point</a:t>
            </a:r>
            <a:r>
              <a:rPr sz="4000" spc="-80" dirty="0"/>
              <a:t> </a:t>
            </a:r>
            <a:r>
              <a:rPr sz="4000" dirty="0"/>
              <a:t>@</a:t>
            </a:r>
            <a:r>
              <a:rPr sz="4000" spc="-80" dirty="0"/>
              <a:t> </a:t>
            </a:r>
            <a:r>
              <a:rPr sz="4000" spc="-25" dirty="0"/>
              <a:t>2mA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138684" y="1214577"/>
            <a:ext cx="11669395" cy="5283835"/>
            <a:chOff x="138684" y="1214577"/>
            <a:chExt cx="11669395" cy="5283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7963" y="1214577"/>
              <a:ext cx="5999988" cy="49194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684" y="3387851"/>
              <a:ext cx="5804916" cy="311048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1652" y="1858517"/>
            <a:ext cx="48431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Here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side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operating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point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each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component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within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designed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while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bottom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reported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simulation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environment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exploited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device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testing.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All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are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working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saturation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region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expected.</a:t>
            </a:r>
            <a:endParaRPr sz="1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120" y="684276"/>
            <a:ext cx="10195560" cy="60350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104900" cy="1641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965" rIns="0" bIns="0" rtlCol="0">
            <a:spAutoFit/>
          </a:bodyPr>
          <a:lstStyle/>
          <a:p>
            <a:pPr marL="281051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LDO</a:t>
            </a:r>
            <a:r>
              <a:rPr sz="4000" spc="-50" dirty="0"/>
              <a:t> </a:t>
            </a:r>
            <a:r>
              <a:rPr sz="4000" dirty="0"/>
              <a:t>Load</a:t>
            </a:r>
            <a:r>
              <a:rPr sz="4000" spc="-45" dirty="0"/>
              <a:t> </a:t>
            </a:r>
            <a:r>
              <a:rPr sz="4000" spc="-10" dirty="0"/>
              <a:t>regulation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216814" y="2348610"/>
            <a:ext cx="2831186" cy="30649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925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figure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two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markers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are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highlight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regulated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sinking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2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when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request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negligible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respect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LDO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branch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(@160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nA).</a:t>
            </a:r>
            <a:endParaRPr sz="1800" dirty="0">
              <a:latin typeface="Calibri Light"/>
              <a:cs typeface="Calibri Light"/>
            </a:endParaRPr>
          </a:p>
          <a:p>
            <a:pPr marL="12700" marR="5080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variation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computed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percentage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ratio:</a:t>
            </a:r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1782" y="5681459"/>
            <a:ext cx="1384300" cy="15240"/>
          </a:xfrm>
          <a:custGeom>
            <a:avLst/>
            <a:gdLst/>
            <a:ahLst/>
            <a:cxnLst/>
            <a:rect l="l" t="t" r="r" b="b"/>
            <a:pathLst>
              <a:path w="1384300" h="15239">
                <a:moveTo>
                  <a:pt x="1383817" y="0"/>
                </a:moveTo>
                <a:lnTo>
                  <a:pt x="0" y="0"/>
                </a:lnTo>
                <a:lnTo>
                  <a:pt x="0" y="15240"/>
                </a:lnTo>
                <a:lnTo>
                  <a:pt x="1383817" y="15240"/>
                </a:lnTo>
                <a:lnTo>
                  <a:pt x="13838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9006" y="5340858"/>
            <a:ext cx="1408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3.321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3.297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15" y="5666943"/>
            <a:ext cx="580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3.321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3445" y="5514543"/>
            <a:ext cx="142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100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≅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0.7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%</a:t>
            </a:r>
            <a:endParaRPr sz="18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6567" y="736091"/>
            <a:ext cx="10386060" cy="59832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104900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965" rIns="0" bIns="0" rtlCol="0">
            <a:spAutoFit/>
          </a:bodyPr>
          <a:lstStyle/>
          <a:p>
            <a:pPr marL="288226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LDO</a:t>
            </a:r>
            <a:r>
              <a:rPr sz="4000" spc="-55" dirty="0"/>
              <a:t> </a:t>
            </a:r>
            <a:r>
              <a:rPr sz="4000" dirty="0"/>
              <a:t>Line</a:t>
            </a:r>
            <a:r>
              <a:rPr sz="4000" spc="-50" dirty="0"/>
              <a:t> </a:t>
            </a:r>
            <a:r>
              <a:rPr sz="4000" spc="-10" dirty="0"/>
              <a:t>regulation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388111" y="3156584"/>
            <a:ext cx="222313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turns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when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VDD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approaches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 1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V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(PMOS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pass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works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like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until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power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supply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reaches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3.4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Calibri Light"/>
                <a:cs typeface="Calibri Light"/>
              </a:rPr>
              <a:t>V.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this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point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regulation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function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starts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be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effective.</a:t>
            </a:r>
            <a:endParaRPr sz="1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965" rIns="0" bIns="0" rtlCol="0">
            <a:spAutoFit/>
          </a:bodyPr>
          <a:lstStyle/>
          <a:p>
            <a:pPr marL="206502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LDO</a:t>
            </a:r>
            <a:r>
              <a:rPr sz="4000" spc="-120" dirty="0"/>
              <a:t> </a:t>
            </a:r>
            <a:r>
              <a:rPr sz="4000" dirty="0"/>
              <a:t>PSRR@23pF</a:t>
            </a:r>
            <a:r>
              <a:rPr sz="4000" spc="-114" dirty="0"/>
              <a:t> </a:t>
            </a:r>
            <a:r>
              <a:rPr sz="4000" dirty="0"/>
              <a:t>capacitive</a:t>
            </a:r>
            <a:r>
              <a:rPr sz="4000" spc="-120" dirty="0"/>
              <a:t> </a:t>
            </a:r>
            <a:r>
              <a:rPr sz="4000" spc="-20" dirty="0"/>
              <a:t>load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16814" y="163143"/>
            <a:ext cx="1104900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3767" y="845819"/>
            <a:ext cx="9857232" cy="57668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6224" y="2548509"/>
            <a:ext cx="2877820" cy="359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-72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dB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very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good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frequency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-40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dB.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central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region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nonetheless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shows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greater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1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gain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for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power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supply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noise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which represents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problem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to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inverted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phase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same frequency.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performance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centre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region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related</a:t>
            </a:r>
            <a:r>
              <a:rPr sz="1800" spc="5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gain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op-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amp.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let’s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analyse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it.</a:t>
            </a:r>
            <a:endParaRPr sz="1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891" y="736091"/>
            <a:ext cx="10389108" cy="59847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10553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technology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965" rIns="0" bIns="0" rtlCol="0">
            <a:spAutoFit/>
          </a:bodyPr>
          <a:lstStyle/>
          <a:p>
            <a:pPr marL="326644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LDO</a:t>
            </a:r>
            <a:r>
              <a:rPr sz="4000" spc="-25" dirty="0"/>
              <a:t> </a:t>
            </a:r>
            <a:r>
              <a:rPr sz="4000" spc="-10" dirty="0"/>
              <a:t>Open-</a:t>
            </a:r>
            <a:r>
              <a:rPr sz="4000" dirty="0"/>
              <a:t>Loop</a:t>
            </a:r>
            <a:r>
              <a:rPr sz="4000" spc="-40" dirty="0"/>
              <a:t> </a:t>
            </a:r>
            <a:r>
              <a:rPr sz="4000" spc="-20" dirty="0"/>
              <a:t>gain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376224" y="2548509"/>
            <a:ext cx="236410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figure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phase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margin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45°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improved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using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bigger compensation capacitance.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aim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couple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simulations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performed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to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leads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greater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60°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phase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margin.</a:t>
            </a:r>
            <a:endParaRPr sz="1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1996" y="505968"/>
            <a:ext cx="10561320" cy="62163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256030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r>
              <a:rPr sz="10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381" rIns="0" bIns="0" rtlCol="0">
            <a:spAutoFit/>
          </a:bodyPr>
          <a:lstStyle/>
          <a:p>
            <a:pPr marL="297307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LDO</a:t>
            </a:r>
            <a:r>
              <a:rPr sz="2800" spc="-35" dirty="0"/>
              <a:t> </a:t>
            </a:r>
            <a:r>
              <a:rPr sz="2800" spc="-25" dirty="0"/>
              <a:t>Open-</a:t>
            </a:r>
            <a:r>
              <a:rPr sz="2800" dirty="0"/>
              <a:t>Loop</a:t>
            </a:r>
            <a:r>
              <a:rPr sz="2800" spc="-20" dirty="0"/>
              <a:t> </a:t>
            </a:r>
            <a:r>
              <a:rPr sz="2800" dirty="0"/>
              <a:t>gain</a:t>
            </a:r>
            <a:r>
              <a:rPr sz="2800" spc="-40" dirty="0"/>
              <a:t> </a:t>
            </a:r>
            <a:r>
              <a:rPr sz="2800" dirty="0"/>
              <a:t>analysis</a:t>
            </a:r>
            <a:r>
              <a:rPr sz="2800" spc="-50" dirty="0"/>
              <a:t> </a:t>
            </a:r>
            <a:r>
              <a:rPr sz="2800" dirty="0"/>
              <a:t>vs</a:t>
            </a:r>
            <a:r>
              <a:rPr sz="2800" spc="-35" dirty="0"/>
              <a:t> </a:t>
            </a:r>
            <a:r>
              <a:rPr sz="2800" spc="-25" dirty="0"/>
              <a:t>Cc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289661" y="2154377"/>
            <a:ext cx="211772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Starting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Cc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5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pF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plots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what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happens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gain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Cc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increased.</a:t>
            </a:r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661" y="4386198"/>
            <a:ext cx="2377339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Keeping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possible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look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impact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PSRR.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Cc</a:t>
            </a:r>
            <a:endParaRPr sz="1800" dirty="0">
              <a:latin typeface="Calibri"/>
              <a:cs typeface="Calibri"/>
            </a:endParaRPr>
          </a:p>
          <a:p>
            <a:pPr marL="12700" marR="297180" algn="just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23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pF 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phase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margin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greater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then 60°.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073150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511" y="390143"/>
            <a:ext cx="10632948" cy="63322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4116" y="4159122"/>
            <a:ext cx="2517775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6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figure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observed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small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reduction</a:t>
            </a:r>
            <a:r>
              <a:rPr sz="16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noise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gain</a:t>
            </a:r>
            <a:r>
              <a:rPr sz="16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peak</a:t>
            </a:r>
            <a:r>
              <a:rPr sz="16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but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frequency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at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6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occurs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reduced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too.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Considering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results,</a:t>
            </a:r>
            <a:r>
              <a:rPr sz="16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compensation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capacitor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has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6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kept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5</a:t>
            </a:r>
            <a:r>
              <a:rPr sz="16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pF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396" rIns="0" bIns="0" rtlCol="0">
            <a:spAutoFit/>
          </a:bodyPr>
          <a:lstStyle/>
          <a:p>
            <a:pPr marL="288163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LDO</a:t>
            </a:r>
            <a:r>
              <a:rPr sz="2800" spc="-30" dirty="0"/>
              <a:t> </a:t>
            </a:r>
            <a:r>
              <a:rPr sz="2800" dirty="0"/>
              <a:t>–</a:t>
            </a:r>
            <a:r>
              <a:rPr sz="2800" spc="-25" dirty="0"/>
              <a:t> </a:t>
            </a:r>
            <a:r>
              <a:rPr sz="2800" dirty="0"/>
              <a:t>Open</a:t>
            </a:r>
            <a:r>
              <a:rPr sz="2800" spc="-40" dirty="0"/>
              <a:t> </a:t>
            </a:r>
            <a:r>
              <a:rPr sz="2800" dirty="0"/>
              <a:t>Loop</a:t>
            </a:r>
            <a:r>
              <a:rPr sz="2800" spc="-40" dirty="0"/>
              <a:t> </a:t>
            </a:r>
            <a:r>
              <a:rPr sz="2800" dirty="0"/>
              <a:t>gain</a:t>
            </a:r>
            <a:r>
              <a:rPr sz="2800" spc="-45" dirty="0"/>
              <a:t> </a:t>
            </a:r>
            <a:r>
              <a:rPr sz="2800" dirty="0"/>
              <a:t>impact</a:t>
            </a:r>
            <a:r>
              <a:rPr sz="2800" spc="-40" dirty="0"/>
              <a:t> </a:t>
            </a:r>
            <a:r>
              <a:rPr sz="2800" dirty="0"/>
              <a:t>on</a:t>
            </a:r>
            <a:r>
              <a:rPr sz="2800" spc="-40" dirty="0"/>
              <a:t> </a:t>
            </a:r>
            <a:r>
              <a:rPr sz="2800" spc="-20" dirty="0"/>
              <a:t>PSRR</a:t>
            </a:r>
            <a:endParaRPr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982980"/>
            <a:ext cx="7620000" cy="43891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073150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0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215" y="2327909"/>
            <a:ext cx="5856605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197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final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respects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all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project specifications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delivering up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2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0.7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%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load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regulation.</a:t>
            </a:r>
            <a:endParaRPr sz="1800">
              <a:latin typeface="Calibri Light"/>
              <a:cs typeface="Calibri Light"/>
            </a:endParaRPr>
          </a:p>
          <a:p>
            <a:pPr marL="12700" marR="7239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 is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-70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 about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-40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high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frequency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positive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peak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around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450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MHz.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important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remind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that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these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mainly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missing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external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capacitance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would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stabilise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PSRR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behaviour.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example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100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capacitor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almost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stable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around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-70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grows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more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than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100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frequency.</a:t>
            </a:r>
            <a:endParaRPr sz="1800">
              <a:latin typeface="Calibri Light"/>
              <a:cs typeface="Calibri Light"/>
            </a:endParaRPr>
          </a:p>
          <a:p>
            <a:pPr marL="12700" marR="508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final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performances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schematic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level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level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will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evaluated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later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on.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396" rIns="0" bIns="0" rtlCol="0">
            <a:spAutoFit/>
          </a:bodyPr>
          <a:lstStyle/>
          <a:p>
            <a:pPr marL="283908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LDO</a:t>
            </a:r>
            <a:r>
              <a:rPr sz="4000" spc="-15" dirty="0"/>
              <a:t> </a:t>
            </a:r>
            <a:r>
              <a:rPr sz="4000" spc="-10" dirty="0"/>
              <a:t>outcomes</a:t>
            </a:r>
            <a:endParaRPr sz="4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748" y="662940"/>
            <a:ext cx="3842004" cy="57165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16751" y="479247"/>
            <a:ext cx="3746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4000" spc="-9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4000" spc="-9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57821" y="2321686"/>
            <a:ext cx="133985" cy="1475740"/>
          </a:xfrm>
          <a:custGeom>
            <a:avLst/>
            <a:gdLst/>
            <a:ahLst/>
            <a:cxnLst/>
            <a:rect l="l" t="t" r="r" b="b"/>
            <a:pathLst>
              <a:path w="133984" h="1475739">
                <a:moveTo>
                  <a:pt x="133603" y="0"/>
                </a:moveTo>
                <a:lnTo>
                  <a:pt x="93964" y="17732"/>
                </a:lnTo>
                <a:lnTo>
                  <a:pt x="67563" y="54990"/>
                </a:lnTo>
                <a:lnTo>
                  <a:pt x="52704" y="113363"/>
                </a:lnTo>
                <a:lnTo>
                  <a:pt x="47751" y="194690"/>
                </a:lnTo>
                <a:lnTo>
                  <a:pt x="47751" y="627379"/>
                </a:lnTo>
                <a:lnTo>
                  <a:pt x="46946" y="651353"/>
                </a:lnTo>
                <a:lnTo>
                  <a:pt x="40572" y="689869"/>
                </a:lnTo>
                <a:lnTo>
                  <a:pt x="19907" y="723868"/>
                </a:lnTo>
                <a:lnTo>
                  <a:pt x="0" y="731012"/>
                </a:lnTo>
                <a:lnTo>
                  <a:pt x="0" y="744347"/>
                </a:lnTo>
                <a:lnTo>
                  <a:pt x="35178" y="771016"/>
                </a:lnTo>
                <a:lnTo>
                  <a:pt x="46966" y="823398"/>
                </a:lnTo>
                <a:lnTo>
                  <a:pt x="47751" y="847089"/>
                </a:lnTo>
                <a:lnTo>
                  <a:pt x="47751" y="1280795"/>
                </a:lnTo>
                <a:lnTo>
                  <a:pt x="48990" y="1324322"/>
                </a:lnTo>
                <a:lnTo>
                  <a:pt x="58896" y="1394184"/>
                </a:lnTo>
                <a:lnTo>
                  <a:pt x="79115" y="1441517"/>
                </a:lnTo>
                <a:lnTo>
                  <a:pt x="112123" y="1469036"/>
                </a:lnTo>
                <a:lnTo>
                  <a:pt x="133603" y="1475486"/>
                </a:lnTo>
                <a:lnTo>
                  <a:pt x="133603" y="1464818"/>
                </a:lnTo>
                <a:lnTo>
                  <a:pt x="118340" y="1458723"/>
                </a:lnTo>
                <a:lnTo>
                  <a:pt x="105314" y="1448069"/>
                </a:lnTo>
                <a:lnTo>
                  <a:pt x="85978" y="1413129"/>
                </a:lnTo>
                <a:lnTo>
                  <a:pt x="74834" y="1357010"/>
                </a:lnTo>
                <a:lnTo>
                  <a:pt x="71120" y="1276985"/>
                </a:lnTo>
                <a:lnTo>
                  <a:pt x="71120" y="866521"/>
                </a:lnTo>
                <a:lnTo>
                  <a:pt x="69427" y="836257"/>
                </a:lnTo>
                <a:lnTo>
                  <a:pt x="60993" y="789636"/>
                </a:lnTo>
                <a:lnTo>
                  <a:pt x="38989" y="750633"/>
                </a:lnTo>
                <a:lnTo>
                  <a:pt x="23368" y="738632"/>
                </a:lnTo>
                <a:lnTo>
                  <a:pt x="23368" y="735838"/>
                </a:lnTo>
                <a:lnTo>
                  <a:pt x="55245" y="699642"/>
                </a:lnTo>
                <a:lnTo>
                  <a:pt x="67182" y="661939"/>
                </a:lnTo>
                <a:lnTo>
                  <a:pt x="71120" y="607949"/>
                </a:lnTo>
                <a:lnTo>
                  <a:pt x="71120" y="198374"/>
                </a:lnTo>
                <a:lnTo>
                  <a:pt x="72048" y="155422"/>
                </a:lnTo>
                <a:lnTo>
                  <a:pt x="79478" y="87377"/>
                </a:lnTo>
                <a:lnTo>
                  <a:pt x="94527" y="42616"/>
                </a:lnTo>
                <a:lnTo>
                  <a:pt x="133603" y="10540"/>
                </a:lnTo>
                <a:lnTo>
                  <a:pt x="1336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76392" y="1712467"/>
            <a:ext cx="5803265" cy="865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starts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following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equations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set: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Calibri Light"/>
              <a:cs typeface="Calibri Light"/>
            </a:endParaRPr>
          </a:p>
          <a:p>
            <a:pPr marL="2042160">
              <a:lnSpc>
                <a:spcPct val="100000"/>
              </a:lnSpc>
              <a:tabLst>
                <a:tab pos="4223385" algn="l"/>
              </a:tabLst>
            </a:pPr>
            <a:r>
              <a:rPr sz="1800" spc="-5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82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r>
              <a:rPr sz="1575" spc="-82" baseline="-34391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575" spc="434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89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r>
              <a:rPr sz="1575" spc="-89" baseline="-3439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75" spc="307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1800" spc="-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𝑅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(1)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58914" y="2639314"/>
            <a:ext cx="423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60" baseline="10802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300" spc="-40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r>
              <a:rPr sz="1575" spc="-60" baseline="-1322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8709" y="2592070"/>
            <a:ext cx="2423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875665" algn="l"/>
                <a:tab pos="1282700" algn="l"/>
              </a:tabLst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&gt;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r>
              <a:rPr sz="1575" spc="-30" baseline="-3439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75" baseline="-34391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𝛽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38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𝑘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𝛽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10373" y="3223005"/>
            <a:ext cx="59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104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r>
              <a:rPr sz="1950" spc="15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82331" y="3000374"/>
            <a:ext cx="878840" cy="762635"/>
          </a:xfrm>
          <a:custGeom>
            <a:avLst/>
            <a:gdLst/>
            <a:ahLst/>
            <a:cxnLst/>
            <a:rect l="l" t="t" r="r" b="b"/>
            <a:pathLst>
              <a:path w="878840" h="762635">
                <a:moveTo>
                  <a:pt x="878446" y="390271"/>
                </a:moveTo>
                <a:lnTo>
                  <a:pt x="171323" y="390271"/>
                </a:lnTo>
                <a:lnTo>
                  <a:pt x="171323" y="405511"/>
                </a:lnTo>
                <a:lnTo>
                  <a:pt x="878446" y="405511"/>
                </a:lnTo>
                <a:lnTo>
                  <a:pt x="878446" y="390271"/>
                </a:lnTo>
                <a:close/>
              </a:path>
              <a:path w="878840" h="762635">
                <a:moveTo>
                  <a:pt x="878459" y="127"/>
                </a:moveTo>
                <a:lnTo>
                  <a:pt x="144399" y="0"/>
                </a:lnTo>
                <a:lnTo>
                  <a:pt x="97028" y="718439"/>
                </a:lnTo>
                <a:lnTo>
                  <a:pt x="40132" y="613029"/>
                </a:lnTo>
                <a:lnTo>
                  <a:pt x="0" y="634365"/>
                </a:lnTo>
                <a:lnTo>
                  <a:pt x="4318" y="642239"/>
                </a:lnTo>
                <a:lnTo>
                  <a:pt x="25400" y="630936"/>
                </a:lnTo>
                <a:lnTo>
                  <a:pt x="96647" y="762127"/>
                </a:lnTo>
                <a:lnTo>
                  <a:pt x="107061" y="762127"/>
                </a:lnTo>
                <a:lnTo>
                  <a:pt x="156845" y="14859"/>
                </a:lnTo>
                <a:lnTo>
                  <a:pt x="171323" y="14859"/>
                </a:lnTo>
                <a:lnTo>
                  <a:pt x="171323" y="15367"/>
                </a:lnTo>
                <a:lnTo>
                  <a:pt x="878459" y="15367"/>
                </a:lnTo>
                <a:lnTo>
                  <a:pt x="878459" y="1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16569" y="3041650"/>
            <a:ext cx="770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 ∗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22385" y="3375405"/>
            <a:ext cx="164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𝛽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74252" y="3223005"/>
            <a:ext cx="73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575" spc="-30" baseline="-34391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575" baseline="-34391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93102" y="4245991"/>
            <a:ext cx="12255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10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33864" y="4209414"/>
            <a:ext cx="1352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76392" y="4073779"/>
            <a:ext cx="6191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30441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Since</a:t>
            </a:r>
            <a:r>
              <a:rPr sz="1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r>
              <a:rPr sz="1950" spc="50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𝜇𝐴,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0.76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𝑉,</a:t>
            </a:r>
            <a:r>
              <a:rPr sz="1800" spc="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𝛽</a:t>
            </a:r>
            <a:r>
              <a:rPr sz="18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115.6</a:t>
            </a:r>
            <a:r>
              <a:rPr sz="1800" spc="2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950" spc="-390" baseline="36324" dirty="0">
                <a:solidFill>
                  <a:srgbClr val="FFFFFF"/>
                </a:solidFill>
                <a:latin typeface="Cambria Math"/>
                <a:cs typeface="Cambria Math"/>
              </a:rPr>
              <a:t>𝜇𝐴</a:t>
            </a:r>
            <a:r>
              <a:rPr sz="1800" spc="-260" dirty="0">
                <a:solidFill>
                  <a:srgbClr val="FFFFFF"/>
                </a:solidFill>
                <a:latin typeface="Cambria Math"/>
                <a:cs typeface="Cambria Math"/>
              </a:rPr>
              <a:t>ൗ</a:t>
            </a:r>
            <a:r>
              <a:rPr sz="1800" spc="37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575" spc="75" baseline="-10582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75" spc="292" baseline="-10582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37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950" spc="-67" baseline="25641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2700" spc="-67" baseline="1543" dirty="0">
                <a:solidFill>
                  <a:srgbClr val="FFFFFF"/>
                </a:solidFill>
                <a:latin typeface="Cambria Math"/>
                <a:cs typeface="Cambria Math"/>
              </a:rPr>
              <a:t>Τ</a:t>
            </a:r>
            <a:r>
              <a:rPr sz="1950" spc="-6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spc="20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some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01792" y="4369434"/>
            <a:ext cx="5894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other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parameter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must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fixed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complete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following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equation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derived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(1):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82790" y="5470042"/>
            <a:ext cx="412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𝑅</a:t>
            </a:r>
            <a:r>
              <a:rPr sz="1800" spc="1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49515" y="5266563"/>
            <a:ext cx="975994" cy="762635"/>
          </a:xfrm>
          <a:custGeom>
            <a:avLst/>
            <a:gdLst/>
            <a:ahLst/>
            <a:cxnLst/>
            <a:rect l="l" t="t" r="r" b="b"/>
            <a:pathLst>
              <a:path w="975995" h="762635">
                <a:moveTo>
                  <a:pt x="975995" y="370395"/>
                </a:moveTo>
                <a:lnTo>
                  <a:pt x="171323" y="370395"/>
                </a:lnTo>
                <a:lnTo>
                  <a:pt x="171323" y="385635"/>
                </a:lnTo>
                <a:lnTo>
                  <a:pt x="975995" y="385635"/>
                </a:lnTo>
                <a:lnTo>
                  <a:pt x="975995" y="370395"/>
                </a:lnTo>
                <a:close/>
              </a:path>
              <a:path w="975995" h="762635">
                <a:moveTo>
                  <a:pt x="975995" y="127"/>
                </a:moveTo>
                <a:lnTo>
                  <a:pt x="144399" y="0"/>
                </a:lnTo>
                <a:lnTo>
                  <a:pt x="97028" y="718388"/>
                </a:lnTo>
                <a:lnTo>
                  <a:pt x="40132" y="613016"/>
                </a:lnTo>
                <a:lnTo>
                  <a:pt x="0" y="634339"/>
                </a:lnTo>
                <a:lnTo>
                  <a:pt x="4318" y="642264"/>
                </a:lnTo>
                <a:lnTo>
                  <a:pt x="25400" y="630986"/>
                </a:lnTo>
                <a:lnTo>
                  <a:pt x="96647" y="762139"/>
                </a:lnTo>
                <a:lnTo>
                  <a:pt x="107061" y="762139"/>
                </a:lnTo>
                <a:lnTo>
                  <a:pt x="156845" y="14859"/>
                </a:lnTo>
                <a:lnTo>
                  <a:pt x="171323" y="14859"/>
                </a:lnTo>
                <a:lnTo>
                  <a:pt x="171323" y="15367"/>
                </a:lnTo>
                <a:lnTo>
                  <a:pt x="975995" y="15367"/>
                </a:lnTo>
                <a:lnTo>
                  <a:pt x="975995" y="1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709154" y="5622442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8290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𝛽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∗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28026" y="5730646"/>
            <a:ext cx="6978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03860" algn="l"/>
              </a:tabLst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3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300" spc="40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757670" y="5353303"/>
            <a:ext cx="907415" cy="582930"/>
          </a:xfrm>
          <a:custGeom>
            <a:avLst/>
            <a:gdLst/>
            <a:ahLst/>
            <a:cxnLst/>
            <a:rect l="l" t="t" r="r" b="b"/>
            <a:pathLst>
              <a:path w="907415" h="582929">
                <a:moveTo>
                  <a:pt x="807588" y="0"/>
                </a:moveTo>
                <a:lnTo>
                  <a:pt x="802381" y="8382"/>
                </a:lnTo>
                <a:lnTo>
                  <a:pt x="820979" y="30666"/>
                </a:lnTo>
                <a:lnTo>
                  <a:pt x="837338" y="57308"/>
                </a:lnTo>
                <a:lnTo>
                  <a:pt x="863341" y="123571"/>
                </a:lnTo>
                <a:lnTo>
                  <a:pt x="872749" y="162194"/>
                </a:lnTo>
                <a:lnTo>
                  <a:pt x="879455" y="203004"/>
                </a:lnTo>
                <a:lnTo>
                  <a:pt x="883469" y="245998"/>
                </a:lnTo>
                <a:lnTo>
                  <a:pt x="884804" y="291172"/>
                </a:lnTo>
                <a:lnTo>
                  <a:pt x="883471" y="335499"/>
                </a:lnTo>
                <a:lnTo>
                  <a:pt x="879470" y="378069"/>
                </a:lnTo>
                <a:lnTo>
                  <a:pt x="872803" y="418881"/>
                </a:lnTo>
                <a:lnTo>
                  <a:pt x="863468" y="457936"/>
                </a:lnTo>
                <a:lnTo>
                  <a:pt x="837449" y="525272"/>
                </a:lnTo>
                <a:lnTo>
                  <a:pt x="802381" y="574586"/>
                </a:lnTo>
                <a:lnTo>
                  <a:pt x="807588" y="582841"/>
                </a:lnTo>
                <a:lnTo>
                  <a:pt x="848752" y="533768"/>
                </a:lnTo>
                <a:lnTo>
                  <a:pt x="880486" y="464693"/>
                </a:lnTo>
                <a:lnTo>
                  <a:pt x="892248" y="424180"/>
                </a:lnTo>
                <a:lnTo>
                  <a:pt x="900664" y="381738"/>
                </a:lnTo>
                <a:lnTo>
                  <a:pt x="905722" y="337364"/>
                </a:lnTo>
                <a:lnTo>
                  <a:pt x="907406" y="291172"/>
                </a:lnTo>
                <a:lnTo>
                  <a:pt x="905787" y="245998"/>
                </a:lnTo>
                <a:lnTo>
                  <a:pt x="900664" y="199577"/>
                </a:lnTo>
                <a:lnTo>
                  <a:pt x="892248" y="157245"/>
                </a:lnTo>
                <a:lnTo>
                  <a:pt x="880486" y="117221"/>
                </a:lnTo>
                <a:lnTo>
                  <a:pt x="865792" y="80670"/>
                </a:lnTo>
                <a:lnTo>
                  <a:pt x="829355" y="22048"/>
                </a:lnTo>
                <a:lnTo>
                  <a:pt x="807588" y="0"/>
                </a:lnTo>
                <a:close/>
              </a:path>
              <a:path w="907415" h="582929">
                <a:moveTo>
                  <a:pt x="99690" y="0"/>
                </a:moveTo>
                <a:lnTo>
                  <a:pt x="58590" y="48942"/>
                </a:lnTo>
                <a:lnTo>
                  <a:pt x="26919" y="117221"/>
                </a:lnTo>
                <a:lnTo>
                  <a:pt x="15104" y="157245"/>
                </a:lnTo>
                <a:lnTo>
                  <a:pt x="6695" y="199577"/>
                </a:lnTo>
                <a:lnTo>
                  <a:pt x="1666" y="244190"/>
                </a:lnTo>
                <a:lnTo>
                  <a:pt x="0" y="291172"/>
                </a:lnTo>
                <a:lnTo>
                  <a:pt x="1599" y="335499"/>
                </a:lnTo>
                <a:lnTo>
                  <a:pt x="1666" y="337364"/>
                </a:lnTo>
                <a:lnTo>
                  <a:pt x="6695" y="381738"/>
                </a:lnTo>
                <a:lnTo>
                  <a:pt x="15104" y="424180"/>
                </a:lnTo>
                <a:lnTo>
                  <a:pt x="26919" y="464693"/>
                </a:lnTo>
                <a:lnTo>
                  <a:pt x="41558" y="501730"/>
                </a:lnTo>
                <a:lnTo>
                  <a:pt x="77979" y="560805"/>
                </a:lnTo>
                <a:lnTo>
                  <a:pt x="99690" y="582841"/>
                </a:lnTo>
                <a:lnTo>
                  <a:pt x="105024" y="574586"/>
                </a:lnTo>
                <a:lnTo>
                  <a:pt x="86336" y="552180"/>
                </a:lnTo>
                <a:lnTo>
                  <a:pt x="69909" y="525272"/>
                </a:lnTo>
                <a:lnTo>
                  <a:pt x="43937" y="457936"/>
                </a:lnTo>
                <a:lnTo>
                  <a:pt x="34529" y="418881"/>
                </a:lnTo>
                <a:lnTo>
                  <a:pt x="27824" y="378069"/>
                </a:lnTo>
                <a:lnTo>
                  <a:pt x="23810" y="335499"/>
                </a:lnTo>
                <a:lnTo>
                  <a:pt x="22474" y="291172"/>
                </a:lnTo>
                <a:lnTo>
                  <a:pt x="23828" y="245998"/>
                </a:lnTo>
                <a:lnTo>
                  <a:pt x="27872" y="203004"/>
                </a:lnTo>
                <a:lnTo>
                  <a:pt x="34583" y="162194"/>
                </a:lnTo>
                <a:lnTo>
                  <a:pt x="43937" y="123571"/>
                </a:lnTo>
                <a:lnTo>
                  <a:pt x="69957" y="57308"/>
                </a:lnTo>
                <a:lnTo>
                  <a:pt x="105024" y="8382"/>
                </a:lnTo>
                <a:lnTo>
                  <a:pt x="996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64118" y="5470042"/>
            <a:ext cx="667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705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1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269222" y="5636958"/>
            <a:ext cx="283845" cy="278130"/>
          </a:xfrm>
          <a:custGeom>
            <a:avLst/>
            <a:gdLst/>
            <a:ahLst/>
            <a:cxnLst/>
            <a:rect l="l" t="t" r="r" b="b"/>
            <a:pathLst>
              <a:path w="283845" h="278129">
                <a:moveTo>
                  <a:pt x="281940" y="0"/>
                </a:moveTo>
                <a:lnTo>
                  <a:pt x="0" y="0"/>
                </a:lnTo>
                <a:lnTo>
                  <a:pt x="0" y="15240"/>
                </a:lnTo>
                <a:lnTo>
                  <a:pt x="281940" y="15240"/>
                </a:lnTo>
                <a:lnTo>
                  <a:pt x="281940" y="0"/>
                </a:lnTo>
                <a:close/>
              </a:path>
              <a:path w="283845" h="278129">
                <a:moveTo>
                  <a:pt x="283464" y="57912"/>
                </a:moveTo>
                <a:lnTo>
                  <a:pt x="163576" y="57912"/>
                </a:lnTo>
                <a:lnTo>
                  <a:pt x="163576" y="57708"/>
                </a:lnTo>
                <a:lnTo>
                  <a:pt x="135001" y="57708"/>
                </a:lnTo>
                <a:lnTo>
                  <a:pt x="79883" y="248246"/>
                </a:lnTo>
                <a:lnTo>
                  <a:pt x="40513" y="161632"/>
                </a:lnTo>
                <a:lnTo>
                  <a:pt x="3937" y="178371"/>
                </a:lnTo>
                <a:lnTo>
                  <a:pt x="7366" y="186740"/>
                </a:lnTo>
                <a:lnTo>
                  <a:pt x="26289" y="178371"/>
                </a:lnTo>
                <a:lnTo>
                  <a:pt x="72390" y="277710"/>
                </a:lnTo>
                <a:lnTo>
                  <a:pt x="83312" y="277710"/>
                </a:lnTo>
                <a:lnTo>
                  <a:pt x="143256" y="72555"/>
                </a:lnTo>
                <a:lnTo>
                  <a:pt x="150876" y="72555"/>
                </a:lnTo>
                <a:lnTo>
                  <a:pt x="150876" y="73152"/>
                </a:lnTo>
                <a:lnTo>
                  <a:pt x="283464" y="73152"/>
                </a:lnTo>
                <a:lnTo>
                  <a:pt x="283464" y="57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047481" y="5296280"/>
            <a:ext cx="144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0480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08668" y="5659018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𝑘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6814" y="163143"/>
            <a:ext cx="1073150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0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1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748" y="662940"/>
            <a:ext cx="3842004" cy="57165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073150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1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1190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0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3510" y="419480"/>
            <a:ext cx="702055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better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match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between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LDO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differential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amplifier,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dimension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ratio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950" spc="22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same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0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within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36942" y="1691716"/>
            <a:ext cx="1125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915" algn="l"/>
                <a:tab pos="998219" algn="l"/>
              </a:tabLst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39885" y="1542669"/>
            <a:ext cx="17932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950" spc="40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950" spc="41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3.6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10345" y="1817370"/>
            <a:ext cx="2051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60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950" spc="28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950" spc="29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10.8</a:t>
            </a:r>
            <a:r>
              <a:rPr sz="1800" spc="-7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48910" y="2404109"/>
            <a:ext cx="527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Setting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parameter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k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=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1.1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becomes: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37201" y="3126485"/>
            <a:ext cx="412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𝑅</a:t>
            </a:r>
            <a:r>
              <a:rPr sz="1800" spc="1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04180" y="3051682"/>
            <a:ext cx="993140" cy="510540"/>
          </a:xfrm>
          <a:custGeom>
            <a:avLst/>
            <a:gdLst/>
            <a:ahLst/>
            <a:cxnLst/>
            <a:rect l="l" t="t" r="r" b="b"/>
            <a:pathLst>
              <a:path w="993139" h="510539">
                <a:moveTo>
                  <a:pt x="992759" y="242316"/>
                </a:moveTo>
                <a:lnTo>
                  <a:pt x="168275" y="242316"/>
                </a:lnTo>
                <a:lnTo>
                  <a:pt x="168275" y="257556"/>
                </a:lnTo>
                <a:lnTo>
                  <a:pt x="992759" y="257556"/>
                </a:lnTo>
                <a:lnTo>
                  <a:pt x="992759" y="242316"/>
                </a:lnTo>
                <a:close/>
              </a:path>
              <a:path w="993139" h="510539">
                <a:moveTo>
                  <a:pt x="992759" y="0"/>
                </a:moveTo>
                <a:lnTo>
                  <a:pt x="168275" y="0"/>
                </a:lnTo>
                <a:lnTo>
                  <a:pt x="168275" y="254"/>
                </a:lnTo>
                <a:lnTo>
                  <a:pt x="141097" y="254"/>
                </a:lnTo>
                <a:lnTo>
                  <a:pt x="94742" y="469646"/>
                </a:lnTo>
                <a:lnTo>
                  <a:pt x="38735" y="366014"/>
                </a:lnTo>
                <a:lnTo>
                  <a:pt x="0" y="386334"/>
                </a:lnTo>
                <a:lnTo>
                  <a:pt x="4318" y="394335"/>
                </a:lnTo>
                <a:lnTo>
                  <a:pt x="24765" y="383667"/>
                </a:lnTo>
                <a:lnTo>
                  <a:pt x="93599" y="510159"/>
                </a:lnTo>
                <a:lnTo>
                  <a:pt x="104013" y="510159"/>
                </a:lnTo>
                <a:lnTo>
                  <a:pt x="153670" y="15113"/>
                </a:lnTo>
                <a:lnTo>
                  <a:pt x="992759" y="15240"/>
                </a:lnTo>
                <a:lnTo>
                  <a:pt x="9927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23228" y="3053333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60516" y="3301441"/>
            <a:ext cx="84772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solidFill>
                  <a:srgbClr val="FFFFFF"/>
                </a:solidFill>
                <a:latin typeface="Cambria Math"/>
                <a:cs typeface="Cambria Math"/>
              </a:rPr>
              <a:t>346.8𝜇∗4𝜇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28459" y="3113277"/>
            <a:ext cx="925194" cy="377190"/>
          </a:xfrm>
          <a:custGeom>
            <a:avLst/>
            <a:gdLst/>
            <a:ahLst/>
            <a:cxnLst/>
            <a:rect l="l" t="t" r="r" b="b"/>
            <a:pathLst>
              <a:path w="925195" h="377189">
                <a:moveTo>
                  <a:pt x="843153" y="0"/>
                </a:moveTo>
                <a:lnTo>
                  <a:pt x="839597" y="8889"/>
                </a:lnTo>
                <a:lnTo>
                  <a:pt x="853650" y="20320"/>
                </a:lnTo>
                <a:lnTo>
                  <a:pt x="866108" y="35179"/>
                </a:lnTo>
                <a:lnTo>
                  <a:pt x="886333" y="75184"/>
                </a:lnTo>
                <a:lnTo>
                  <a:pt x="899080" y="126888"/>
                </a:lnTo>
                <a:lnTo>
                  <a:pt x="902163" y="155410"/>
                </a:lnTo>
                <a:lnTo>
                  <a:pt x="902281" y="156497"/>
                </a:lnTo>
                <a:lnTo>
                  <a:pt x="903342" y="188341"/>
                </a:lnTo>
                <a:lnTo>
                  <a:pt x="903351" y="188595"/>
                </a:lnTo>
                <a:lnTo>
                  <a:pt x="902283" y="220146"/>
                </a:lnTo>
                <a:lnTo>
                  <a:pt x="893814" y="276534"/>
                </a:lnTo>
                <a:lnTo>
                  <a:pt x="877173" y="323254"/>
                </a:lnTo>
                <a:lnTo>
                  <a:pt x="853741" y="356592"/>
                </a:lnTo>
                <a:lnTo>
                  <a:pt x="839597" y="368046"/>
                </a:lnTo>
                <a:lnTo>
                  <a:pt x="843153" y="377063"/>
                </a:lnTo>
                <a:lnTo>
                  <a:pt x="876681" y="350170"/>
                </a:lnTo>
                <a:lnTo>
                  <a:pt x="902589" y="307086"/>
                </a:lnTo>
                <a:lnTo>
                  <a:pt x="919162" y="251856"/>
                </a:lnTo>
                <a:lnTo>
                  <a:pt x="924676" y="188595"/>
                </a:lnTo>
                <a:lnTo>
                  <a:pt x="924687" y="188341"/>
                </a:lnTo>
                <a:lnTo>
                  <a:pt x="923351" y="156497"/>
                </a:lnTo>
                <a:lnTo>
                  <a:pt x="923305" y="155410"/>
                </a:lnTo>
                <a:lnTo>
                  <a:pt x="919162" y="124634"/>
                </a:lnTo>
                <a:lnTo>
                  <a:pt x="902589" y="69596"/>
                </a:lnTo>
                <a:lnTo>
                  <a:pt x="876681" y="26844"/>
                </a:lnTo>
                <a:lnTo>
                  <a:pt x="860869" y="11428"/>
                </a:lnTo>
                <a:lnTo>
                  <a:pt x="843153" y="0"/>
                </a:lnTo>
                <a:close/>
              </a:path>
              <a:path w="925195" h="377189">
                <a:moveTo>
                  <a:pt x="81280" y="0"/>
                </a:moveTo>
                <a:lnTo>
                  <a:pt x="47863" y="26844"/>
                </a:lnTo>
                <a:lnTo>
                  <a:pt x="21971" y="69596"/>
                </a:lnTo>
                <a:lnTo>
                  <a:pt x="5461" y="124634"/>
                </a:lnTo>
                <a:lnTo>
                  <a:pt x="0" y="188341"/>
                </a:lnTo>
                <a:lnTo>
                  <a:pt x="1320" y="220146"/>
                </a:lnTo>
                <a:lnTo>
                  <a:pt x="1361" y="221128"/>
                </a:lnTo>
                <a:lnTo>
                  <a:pt x="12322" y="280513"/>
                </a:lnTo>
                <a:lnTo>
                  <a:pt x="33970" y="330664"/>
                </a:lnTo>
                <a:lnTo>
                  <a:pt x="63636" y="365629"/>
                </a:lnTo>
                <a:lnTo>
                  <a:pt x="81280" y="377063"/>
                </a:lnTo>
                <a:lnTo>
                  <a:pt x="84963" y="368046"/>
                </a:lnTo>
                <a:lnTo>
                  <a:pt x="70818" y="356592"/>
                </a:lnTo>
                <a:lnTo>
                  <a:pt x="58293" y="341661"/>
                </a:lnTo>
                <a:lnTo>
                  <a:pt x="38100" y="301371"/>
                </a:lnTo>
                <a:lnTo>
                  <a:pt x="25463" y="249459"/>
                </a:lnTo>
                <a:lnTo>
                  <a:pt x="21209" y="188595"/>
                </a:lnTo>
                <a:lnTo>
                  <a:pt x="22280" y="156497"/>
                </a:lnTo>
                <a:lnTo>
                  <a:pt x="30853" y="99780"/>
                </a:lnTo>
                <a:lnTo>
                  <a:pt x="47619" y="53467"/>
                </a:lnTo>
                <a:lnTo>
                  <a:pt x="70911" y="20320"/>
                </a:lnTo>
                <a:lnTo>
                  <a:pt x="84963" y="8889"/>
                </a:lnTo>
                <a:lnTo>
                  <a:pt x="812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535293" y="3126485"/>
            <a:ext cx="648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1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22363" y="3293998"/>
            <a:ext cx="338455" cy="15240"/>
          </a:xfrm>
          <a:custGeom>
            <a:avLst/>
            <a:gdLst/>
            <a:ahLst/>
            <a:cxnLst/>
            <a:rect l="l" t="t" r="r" b="b"/>
            <a:pathLst>
              <a:path w="338454" h="15239">
                <a:moveTo>
                  <a:pt x="338327" y="0"/>
                </a:moveTo>
                <a:lnTo>
                  <a:pt x="0" y="0"/>
                </a:lnTo>
                <a:lnTo>
                  <a:pt x="0" y="15239"/>
                </a:lnTo>
                <a:lnTo>
                  <a:pt x="338327" y="15239"/>
                </a:lnTo>
                <a:lnTo>
                  <a:pt x="3383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331202" y="3053333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225156" y="3337814"/>
            <a:ext cx="335915" cy="161290"/>
          </a:xfrm>
          <a:custGeom>
            <a:avLst/>
            <a:gdLst/>
            <a:ahLst/>
            <a:cxnLst/>
            <a:rect l="l" t="t" r="r" b="b"/>
            <a:pathLst>
              <a:path w="335915" h="161289">
                <a:moveTo>
                  <a:pt x="117094" y="0"/>
                </a:moveTo>
                <a:lnTo>
                  <a:pt x="96266" y="0"/>
                </a:lnTo>
                <a:lnTo>
                  <a:pt x="55752" y="139700"/>
                </a:lnTo>
                <a:lnTo>
                  <a:pt x="26924" y="76200"/>
                </a:lnTo>
                <a:lnTo>
                  <a:pt x="0" y="88391"/>
                </a:lnTo>
                <a:lnTo>
                  <a:pt x="2540" y="94614"/>
                </a:lnTo>
                <a:lnTo>
                  <a:pt x="16383" y="88391"/>
                </a:lnTo>
                <a:lnTo>
                  <a:pt x="50292" y="161289"/>
                </a:lnTo>
                <a:lnTo>
                  <a:pt x="58293" y="161289"/>
                </a:lnTo>
                <a:lnTo>
                  <a:pt x="102235" y="10795"/>
                </a:lnTo>
                <a:lnTo>
                  <a:pt x="106934" y="10795"/>
                </a:lnTo>
                <a:lnTo>
                  <a:pt x="106934" y="11049"/>
                </a:lnTo>
                <a:lnTo>
                  <a:pt x="335534" y="11049"/>
                </a:lnTo>
                <a:lnTo>
                  <a:pt x="335534" y="381"/>
                </a:lnTo>
                <a:lnTo>
                  <a:pt x="117094" y="381"/>
                </a:lnTo>
                <a:lnTo>
                  <a:pt x="1170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320533" y="3301441"/>
            <a:ext cx="25527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1.1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24393" y="3126485"/>
            <a:ext cx="1712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7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1.767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𝑘Ω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 smtClean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86061" y="2975609"/>
            <a:ext cx="2172970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3.6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27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82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28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11.85</a:t>
            </a:r>
            <a:r>
              <a:rPr sz="1800" spc="-7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23510" y="3838447"/>
            <a:ext cx="69989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cascode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mirror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designed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keep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working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in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saturation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drop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them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2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(arbitrary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choice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which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replaced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Cambria Math"/>
                <a:cs typeface="Cambria Math"/>
              </a:rPr>
              <a:t>∆𝑉</a:t>
            </a:r>
            <a:r>
              <a:rPr sz="1950" spc="-82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r>
              <a:rPr sz="1950" spc="20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7𝑚𝑉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minimum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drop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21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20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plus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arbitrary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safety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VDD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allowed)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,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nsideri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ng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half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each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13045" y="5638596"/>
            <a:ext cx="3720465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1950"/>
              </a:lnSpc>
              <a:spcBef>
                <a:spcPts val="100"/>
              </a:spcBef>
              <a:tabLst>
                <a:tab pos="735965" algn="l"/>
                <a:tab pos="1656714" algn="l"/>
                <a:tab pos="2577465" algn="l"/>
                <a:tab pos="3498215" algn="l"/>
              </a:tabLst>
            </a:pPr>
            <a:r>
              <a:rPr sz="2700" spc="-877" baseline="18518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800" spc="-585" dirty="0">
                <a:solidFill>
                  <a:srgbClr val="FFFFFF"/>
                </a:solidFill>
                <a:latin typeface="Cambria Math"/>
                <a:cs typeface="Cambria Math"/>
              </a:rPr>
              <a:t>ൗ</a:t>
            </a:r>
            <a:r>
              <a:rPr sz="2700" spc="-877" baseline="-23148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800" spc="-585" dirty="0">
                <a:solidFill>
                  <a:srgbClr val="FFFFFF"/>
                </a:solidFill>
                <a:latin typeface="Cambria Math"/>
                <a:cs typeface="Cambria Math"/>
              </a:rPr>
              <a:t>ቚ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spc="-877" baseline="18518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800" spc="-585" dirty="0">
                <a:solidFill>
                  <a:srgbClr val="FFFFFF"/>
                </a:solidFill>
                <a:latin typeface="Cambria Math"/>
                <a:cs typeface="Cambria Math"/>
              </a:rPr>
              <a:t>ൗ</a:t>
            </a:r>
            <a:r>
              <a:rPr sz="2700" spc="-877" baseline="-23148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800" spc="-585" dirty="0">
                <a:solidFill>
                  <a:srgbClr val="FFFFFF"/>
                </a:solidFill>
                <a:latin typeface="Cambria Math"/>
                <a:cs typeface="Cambria Math"/>
              </a:rPr>
              <a:t>ቚ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spc="-869" baseline="18518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800" spc="-580" dirty="0">
                <a:solidFill>
                  <a:srgbClr val="FFFFFF"/>
                </a:solidFill>
                <a:latin typeface="Cambria Math"/>
                <a:cs typeface="Cambria Math"/>
              </a:rPr>
              <a:t>ൗ</a:t>
            </a:r>
            <a:r>
              <a:rPr sz="2700" spc="-869" baseline="-23148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800" spc="-580" dirty="0">
                <a:solidFill>
                  <a:srgbClr val="FFFFFF"/>
                </a:solidFill>
                <a:latin typeface="Cambria Math"/>
                <a:cs typeface="Cambria Math"/>
              </a:rPr>
              <a:t>ቚ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spc="-877" baseline="18518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800" spc="-585" dirty="0">
                <a:solidFill>
                  <a:srgbClr val="FFFFFF"/>
                </a:solidFill>
                <a:latin typeface="Cambria Math"/>
                <a:cs typeface="Cambria Math"/>
              </a:rPr>
              <a:t>ൗ</a:t>
            </a:r>
            <a:r>
              <a:rPr sz="2700" spc="-877" baseline="-23148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800" spc="-585" dirty="0">
                <a:solidFill>
                  <a:srgbClr val="FFFFFF"/>
                </a:solidFill>
                <a:latin typeface="Cambria Math"/>
                <a:cs typeface="Cambria Math"/>
              </a:rPr>
              <a:t>ቚ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  <a:p>
            <a:pPr marL="567055">
              <a:lnSpc>
                <a:spcPts val="1350"/>
              </a:lnSpc>
              <a:tabLst>
                <a:tab pos="1487805" algn="l"/>
                <a:tab pos="2408555" algn="l"/>
                <a:tab pos="3328670" algn="l"/>
              </a:tabLst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8</a:t>
            </a:r>
            <a:r>
              <a:rPr sz="13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7</a:t>
            </a:r>
            <a:r>
              <a:rPr sz="13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3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045067" y="5805576"/>
            <a:ext cx="1614170" cy="15240"/>
          </a:xfrm>
          <a:custGeom>
            <a:avLst/>
            <a:gdLst/>
            <a:ahLst/>
            <a:cxnLst/>
            <a:rect l="l" t="t" r="r" b="b"/>
            <a:pathLst>
              <a:path w="1614170" h="15239">
                <a:moveTo>
                  <a:pt x="1613916" y="0"/>
                </a:moveTo>
                <a:lnTo>
                  <a:pt x="0" y="0"/>
                </a:lnTo>
                <a:lnTo>
                  <a:pt x="0" y="15239"/>
                </a:lnTo>
                <a:lnTo>
                  <a:pt x="1613916" y="15239"/>
                </a:lnTo>
                <a:lnTo>
                  <a:pt x="16139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631426" y="5504484"/>
            <a:ext cx="429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10802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300" spc="-20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072626" y="5849086"/>
            <a:ext cx="347980" cy="276225"/>
          </a:xfrm>
          <a:custGeom>
            <a:avLst/>
            <a:gdLst/>
            <a:ahLst/>
            <a:cxnLst/>
            <a:rect l="l" t="t" r="r" b="b"/>
            <a:pathLst>
              <a:path w="347979" h="276225">
                <a:moveTo>
                  <a:pt x="17145" y="0"/>
                </a:moveTo>
                <a:lnTo>
                  <a:pt x="0" y="0"/>
                </a:lnTo>
                <a:lnTo>
                  <a:pt x="0" y="276148"/>
                </a:lnTo>
                <a:lnTo>
                  <a:pt x="17145" y="276148"/>
                </a:lnTo>
                <a:lnTo>
                  <a:pt x="17145" y="0"/>
                </a:lnTo>
                <a:close/>
              </a:path>
              <a:path w="347979" h="276225">
                <a:moveTo>
                  <a:pt x="347853" y="0"/>
                </a:moveTo>
                <a:lnTo>
                  <a:pt x="330708" y="0"/>
                </a:lnTo>
                <a:lnTo>
                  <a:pt x="330708" y="276148"/>
                </a:lnTo>
                <a:lnTo>
                  <a:pt x="347853" y="276148"/>
                </a:lnTo>
                <a:lnTo>
                  <a:pt x="3478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248393" y="5922061"/>
            <a:ext cx="1314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81261" y="5726988"/>
            <a:ext cx="308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120" baseline="-20061" dirty="0">
                <a:solidFill>
                  <a:srgbClr val="FFFFFF"/>
                </a:solidFill>
                <a:latin typeface="Cambria Math"/>
                <a:cs typeface="Cambria Math"/>
              </a:rPr>
              <a:t>𝐾</a:t>
            </a:r>
            <a:r>
              <a:rPr sz="1300" spc="80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680829" y="5882030"/>
            <a:ext cx="852169" cy="212090"/>
          </a:xfrm>
          <a:custGeom>
            <a:avLst/>
            <a:gdLst/>
            <a:ahLst/>
            <a:cxnLst/>
            <a:rect l="l" t="t" r="r" b="b"/>
            <a:pathLst>
              <a:path w="852170" h="212089">
                <a:moveTo>
                  <a:pt x="784225" y="0"/>
                </a:moveTo>
                <a:lnTo>
                  <a:pt x="781176" y="8597"/>
                </a:lnTo>
                <a:lnTo>
                  <a:pt x="793462" y="13915"/>
                </a:lnTo>
                <a:lnTo>
                  <a:pt x="804021" y="21277"/>
                </a:lnTo>
                <a:lnTo>
                  <a:pt x="825412" y="55406"/>
                </a:lnTo>
                <a:lnTo>
                  <a:pt x="831666" y="86513"/>
                </a:lnTo>
                <a:lnTo>
                  <a:pt x="831699" y="86744"/>
                </a:lnTo>
                <a:lnTo>
                  <a:pt x="832485" y="104813"/>
                </a:lnTo>
                <a:lnTo>
                  <a:pt x="831699" y="123484"/>
                </a:lnTo>
                <a:lnTo>
                  <a:pt x="829341" y="140442"/>
                </a:lnTo>
                <a:lnTo>
                  <a:pt x="812794" y="180837"/>
                </a:lnTo>
                <a:lnTo>
                  <a:pt x="781557" y="203149"/>
                </a:lnTo>
                <a:lnTo>
                  <a:pt x="784225" y="211747"/>
                </a:lnTo>
                <a:lnTo>
                  <a:pt x="824694" y="187703"/>
                </a:lnTo>
                <a:lnTo>
                  <a:pt x="847423" y="143335"/>
                </a:lnTo>
                <a:lnTo>
                  <a:pt x="851789" y="105930"/>
                </a:lnTo>
                <a:lnTo>
                  <a:pt x="850706" y="86744"/>
                </a:lnTo>
                <a:lnTo>
                  <a:pt x="834263" y="37109"/>
                </a:lnTo>
                <a:lnTo>
                  <a:pt x="799580" y="5541"/>
                </a:lnTo>
                <a:lnTo>
                  <a:pt x="784225" y="0"/>
                </a:lnTo>
                <a:close/>
              </a:path>
              <a:path w="852170" h="212089">
                <a:moveTo>
                  <a:pt x="67564" y="0"/>
                </a:moveTo>
                <a:lnTo>
                  <a:pt x="27166" y="24095"/>
                </a:lnTo>
                <a:lnTo>
                  <a:pt x="4381" y="68572"/>
                </a:lnTo>
                <a:lnTo>
                  <a:pt x="63" y="104813"/>
                </a:lnTo>
                <a:lnTo>
                  <a:pt x="0" y="105930"/>
                </a:lnTo>
                <a:lnTo>
                  <a:pt x="986" y="123484"/>
                </a:lnTo>
                <a:lnTo>
                  <a:pt x="1093" y="125383"/>
                </a:lnTo>
                <a:lnTo>
                  <a:pt x="4365" y="143335"/>
                </a:lnTo>
                <a:lnTo>
                  <a:pt x="27094" y="187703"/>
                </a:lnTo>
                <a:lnTo>
                  <a:pt x="67564" y="211747"/>
                </a:lnTo>
                <a:lnTo>
                  <a:pt x="70230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76" y="155687"/>
                </a:lnTo>
                <a:lnTo>
                  <a:pt x="19351" y="105930"/>
                </a:lnTo>
                <a:lnTo>
                  <a:pt x="19303" y="104813"/>
                </a:lnTo>
                <a:lnTo>
                  <a:pt x="26376" y="55406"/>
                </a:lnTo>
                <a:lnTo>
                  <a:pt x="47815" y="21277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462261" y="5812332"/>
            <a:ext cx="1226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94005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1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− 0.9</a:t>
            </a:r>
            <a:r>
              <a:rPr sz="1800" spc="3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950" spc="-75" baseline="23504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950" baseline="23504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711688" y="5638596"/>
            <a:ext cx="513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≅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21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00200"/>
            <a:ext cx="1492327" cy="55882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524000"/>
            <a:ext cx="177809" cy="69218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200" y="2971800"/>
            <a:ext cx="177809" cy="6921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748" y="662940"/>
            <a:ext cx="3842004" cy="57165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073150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VI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1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0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5708" y="562102"/>
            <a:ext cx="4064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Finally,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dimensions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computed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as: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000" y="1219200"/>
            <a:ext cx="548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1005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0400" y="1143000"/>
            <a:ext cx="285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8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7</a:t>
            </a:r>
            <a:r>
              <a:rPr sz="1950" spc="44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950" spc="42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950" spc="44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2742" y="1410665"/>
            <a:ext cx="3239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8</a:t>
            </a:r>
            <a:r>
              <a:rPr sz="1950" spc="27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7</a:t>
            </a:r>
            <a:r>
              <a:rPr sz="1950" spc="28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950" spc="27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950" spc="29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37.8</a:t>
            </a:r>
            <a:r>
              <a:rPr sz="1800" spc="-7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9508" y="1998090"/>
            <a:ext cx="7214870" cy="3929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812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last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diode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connected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NMOS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acts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start-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up</a:t>
            </a:r>
            <a:r>
              <a:rPr sz="1800" spc="5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sinking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very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small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gates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5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6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injecting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into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gates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950" spc="20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20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starting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condition</a:t>
            </a:r>
            <a:r>
              <a:rPr sz="1800" spc="5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causes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drain-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source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terminals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drop.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latter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becomes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smaller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smaller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after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start-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up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stops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affecting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5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behaviour.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way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0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stable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working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point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avoided.</a:t>
            </a:r>
            <a:endParaRPr sz="1800" dirty="0">
              <a:latin typeface="Calibri Light"/>
              <a:cs typeface="Calibri Light"/>
            </a:endParaRPr>
          </a:p>
          <a:p>
            <a:pPr marL="88900" marR="35052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dimensions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taken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article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original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verified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simulation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throughout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analysis.</a:t>
            </a:r>
            <a:endParaRPr sz="18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800" dirty="0">
              <a:latin typeface="Calibri Light"/>
              <a:cs typeface="Calibri Light"/>
            </a:endParaRPr>
          </a:p>
          <a:p>
            <a:pPr marL="3025775">
              <a:lnSpc>
                <a:spcPct val="100000"/>
              </a:lnSpc>
            </a:pPr>
            <a:r>
              <a:rPr lang="en-US" sz="1800" spc="-280" dirty="0" smtClean="0">
                <a:solidFill>
                  <a:srgbClr val="FFFFFF"/>
                </a:solidFill>
                <a:latin typeface="Cambria Math"/>
                <a:cs typeface="Cambria Math"/>
              </a:rPr>
              <a:t>       </a:t>
            </a:r>
            <a:r>
              <a:rPr sz="1800" spc="-280" dirty="0" smtClean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spc="-419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41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1.5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 marL="3138170">
              <a:lnSpc>
                <a:spcPct val="100000"/>
              </a:lnSpc>
              <a:spcBef>
                <a:spcPts val="60"/>
              </a:spcBef>
            </a:pP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30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15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800" dirty="0">
              <a:latin typeface="Cambria Math"/>
              <a:cs typeface="Cambria Math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Now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ready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tested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adjusted.</a:t>
            </a:r>
            <a:endParaRPr sz="1800" dirty="0">
              <a:latin typeface="Calibri Light"/>
              <a:cs typeface="Calibri Ligh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143000"/>
            <a:ext cx="179931" cy="6318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4724400"/>
            <a:ext cx="228600" cy="8027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5987" y="204215"/>
            <a:ext cx="11340465" cy="6250305"/>
            <a:chOff x="665987" y="204215"/>
            <a:chExt cx="11340465" cy="6250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8331" y="204215"/>
              <a:ext cx="4777739" cy="62499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987" y="3683507"/>
              <a:ext cx="7004304" cy="2663952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16814" y="163143"/>
            <a:ext cx="1073150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VII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1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0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684" rIns="0" bIns="0" rtlCol="0">
            <a:spAutoFit/>
          </a:bodyPr>
          <a:lstStyle/>
          <a:p>
            <a:pPr marL="83121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BIAS</a:t>
            </a:r>
            <a:r>
              <a:rPr sz="4000" spc="-50" dirty="0"/>
              <a:t> </a:t>
            </a:r>
            <a:r>
              <a:rPr sz="4000" dirty="0"/>
              <a:t>DC</a:t>
            </a:r>
            <a:r>
              <a:rPr sz="4000" spc="-55" dirty="0"/>
              <a:t> </a:t>
            </a:r>
            <a:r>
              <a:rPr sz="4000" spc="-10" dirty="0"/>
              <a:t>Simulation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37079" y="1590802"/>
            <a:ext cx="4693285" cy="1396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branch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𝜇𝐴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higher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target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value.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adjust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this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possible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act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 performing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parameter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analysis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varying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its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resistance.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073150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VIII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1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9672" y="1115567"/>
            <a:ext cx="8990076" cy="517855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396" rIns="0" bIns="0" rtlCol="0">
            <a:spAutoFit/>
          </a:bodyPr>
          <a:lstStyle/>
          <a:p>
            <a:pPr marL="305943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BIAS</a:t>
            </a:r>
            <a:r>
              <a:rPr sz="4000" spc="-50" dirty="0"/>
              <a:t> </a:t>
            </a:r>
            <a:r>
              <a:rPr sz="4000" dirty="0"/>
              <a:t>DC</a:t>
            </a:r>
            <a:r>
              <a:rPr sz="4000" spc="-55" dirty="0"/>
              <a:t> </a:t>
            </a:r>
            <a:r>
              <a:rPr sz="4000" spc="-10" dirty="0"/>
              <a:t>adjust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891641" y="2971546"/>
            <a:ext cx="2926080" cy="2496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marker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highlights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resistance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be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implemented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order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branch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800" spc="-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𝜇𝐴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.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new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simulation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performed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verify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correct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behaviour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circuit.</a:t>
            </a:r>
            <a:endParaRPr sz="1800">
              <a:latin typeface="Calibri Light"/>
              <a:cs typeface="Calibri Light"/>
            </a:endParaRPr>
          </a:p>
          <a:p>
            <a:pPr marL="756285">
              <a:lnSpc>
                <a:spcPct val="100000"/>
              </a:lnSpc>
              <a:spcBef>
                <a:spcPts val="2170"/>
              </a:spcBef>
              <a:tabLst>
                <a:tab pos="1163320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R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2.5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kΩ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073150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1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5140" y="163068"/>
            <a:ext cx="5032248" cy="65318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8301" y="3431285"/>
            <a:ext cx="4965700" cy="139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final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drives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3.83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𝜇𝐴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each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branch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This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acceptable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simulation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verifies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all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working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saturation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region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threshold.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following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slides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will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report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set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simulations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characterize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designed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circuit.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89355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1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temp</a:t>
            </a:r>
            <a:r>
              <a:rPr sz="10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360" y="807719"/>
            <a:ext cx="10210800" cy="588111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540" rIns="0" bIns="0" rtlCol="0">
            <a:spAutoFit/>
          </a:bodyPr>
          <a:lstStyle/>
          <a:p>
            <a:pPr marL="318897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BIAS</a:t>
            </a:r>
            <a:r>
              <a:rPr sz="2800" spc="-50" dirty="0"/>
              <a:t> </a:t>
            </a:r>
            <a:r>
              <a:rPr sz="2800" spc="-20" dirty="0"/>
              <a:t>temperature</a:t>
            </a:r>
            <a:r>
              <a:rPr sz="2800" spc="-55" dirty="0"/>
              <a:t> </a:t>
            </a:r>
            <a:r>
              <a:rPr sz="2800" spc="-10" dirty="0"/>
              <a:t>sweep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460654" y="2134361"/>
            <a:ext cx="311721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considered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range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one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delimited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M10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M11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which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goes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30°C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45°C.</a:t>
            </a:r>
            <a:endParaRPr sz="1800">
              <a:latin typeface="Calibri Light"/>
              <a:cs typeface="Calibri Light"/>
            </a:endParaRPr>
          </a:p>
          <a:p>
            <a:pPr marL="12700" marR="8064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reason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short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range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target application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device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intended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work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human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implanted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circuitry,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meaning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body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temperature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for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project.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variation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computed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as: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2068" y="6015837"/>
            <a:ext cx="1130935" cy="15240"/>
          </a:xfrm>
          <a:custGeom>
            <a:avLst/>
            <a:gdLst/>
            <a:ahLst/>
            <a:cxnLst/>
            <a:rect l="l" t="t" r="r" b="b"/>
            <a:pathLst>
              <a:path w="1130935" h="15239">
                <a:moveTo>
                  <a:pt x="1130833" y="0"/>
                </a:moveTo>
                <a:lnTo>
                  <a:pt x="0" y="0"/>
                </a:lnTo>
                <a:lnTo>
                  <a:pt x="0" y="15240"/>
                </a:lnTo>
                <a:lnTo>
                  <a:pt x="1130833" y="15240"/>
                </a:lnTo>
                <a:lnTo>
                  <a:pt x="11308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9546" y="5675172"/>
            <a:ext cx="1155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3.99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3.84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0066" y="6001308"/>
            <a:ext cx="454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3.99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0620" y="5848908"/>
            <a:ext cx="142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100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3.8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073150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1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879346"/>
            <a:ext cx="10224516" cy="588873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540" rIns="0" bIns="0" rtlCol="0">
            <a:spAutoFit/>
          </a:bodyPr>
          <a:lstStyle/>
          <a:p>
            <a:pPr marL="349885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BIAS</a:t>
            </a:r>
            <a:r>
              <a:rPr sz="2800" spc="-50" dirty="0"/>
              <a:t> </a:t>
            </a:r>
            <a:r>
              <a:rPr sz="2800" dirty="0"/>
              <a:t>Line</a:t>
            </a:r>
            <a:r>
              <a:rPr sz="2800" spc="-60" dirty="0"/>
              <a:t> </a:t>
            </a:r>
            <a:r>
              <a:rPr sz="2800" spc="-10" dirty="0"/>
              <a:t>Regulation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407314" y="2693670"/>
            <a:ext cx="324104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There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particular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specification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supply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range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but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plot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stable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behaviour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between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3.3V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5.9V.</a:t>
            </a:r>
            <a:endParaRPr sz="1800">
              <a:latin typeface="Calibri Light"/>
              <a:cs typeface="Calibri Light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get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some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quantitative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value,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variation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between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3.3V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5V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computed: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4712" y="5482463"/>
            <a:ext cx="1257300" cy="15240"/>
          </a:xfrm>
          <a:custGeom>
            <a:avLst/>
            <a:gdLst/>
            <a:ahLst/>
            <a:cxnLst/>
            <a:rect l="l" t="t" r="r" b="b"/>
            <a:pathLst>
              <a:path w="1257300" h="15239">
                <a:moveTo>
                  <a:pt x="1257249" y="0"/>
                </a:moveTo>
                <a:lnTo>
                  <a:pt x="0" y="0"/>
                </a:lnTo>
                <a:lnTo>
                  <a:pt x="0" y="15240"/>
                </a:lnTo>
                <a:lnTo>
                  <a:pt x="1257249" y="15240"/>
                </a:lnTo>
                <a:lnTo>
                  <a:pt x="12572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2114" y="5141163"/>
            <a:ext cx="1281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3.82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3.785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6642" y="5467908"/>
            <a:ext cx="452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3.82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0061" y="5315458"/>
            <a:ext cx="142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100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≅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0.9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073150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1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2080" y="557783"/>
            <a:ext cx="10588752" cy="609904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540" rIns="0" bIns="0" rtlCol="0">
            <a:spAutoFit/>
          </a:bodyPr>
          <a:lstStyle/>
          <a:p>
            <a:pPr marL="423037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BIAS</a:t>
            </a:r>
            <a:r>
              <a:rPr sz="2800" spc="-45" dirty="0"/>
              <a:t> </a:t>
            </a:r>
            <a:r>
              <a:rPr sz="2800" spc="-20" dirty="0"/>
              <a:t>PSRR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398475" y="2894838"/>
            <a:ext cx="244983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presents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good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behaviour: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-68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 @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-20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peak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@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58MHz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-25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@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HF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074420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loop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1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000" spc="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10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2080" y="524255"/>
            <a:ext cx="10651236" cy="61356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3974" y="2939288"/>
            <a:ext cx="259270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start-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up</a:t>
            </a:r>
            <a:r>
              <a:rPr sz="1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time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endParaRPr sz="1800">
              <a:latin typeface="Calibri Light"/>
              <a:cs typeface="Calibri Light"/>
            </a:endParaRPr>
          </a:p>
          <a:p>
            <a:pPr marL="12700" marR="5080">
              <a:lnSpc>
                <a:spcPct val="999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4.5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𝜇𝑠</a:t>
            </a:r>
            <a:r>
              <a:rPr sz="1800" spc="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transient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presents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first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negative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peak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followed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opposite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VDD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steps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up.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observed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detail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next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slide…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06170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open-loop</a:t>
            </a:r>
            <a:r>
              <a:rPr sz="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1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000" spc="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10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0032" y="691895"/>
            <a:ext cx="9893807" cy="56982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0103" y="2286457"/>
            <a:ext cx="2613660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plot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overlapping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VDD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step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inverse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peak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highlighted.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could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be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caused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fixed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voltage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imposed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drain-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source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terminals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copied transistor.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027" y="4875276"/>
            <a:ext cx="2706624" cy="151485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" y="2112263"/>
            <a:ext cx="4081271" cy="43235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236345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adj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1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864609" y="182321"/>
            <a:ext cx="5054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Voltage</a:t>
            </a:r>
            <a:r>
              <a:rPr sz="4000" spc="-145" dirty="0"/>
              <a:t> </a:t>
            </a:r>
            <a:r>
              <a:rPr sz="4000" spc="-20" dirty="0"/>
              <a:t>reference</a:t>
            </a:r>
            <a:r>
              <a:rPr sz="4000" spc="-150" dirty="0"/>
              <a:t> </a:t>
            </a:r>
            <a:r>
              <a:rPr sz="4000" spc="-10" dirty="0"/>
              <a:t>design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4283202" y="1000759"/>
            <a:ext cx="7525384" cy="279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2762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last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block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designed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connected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non-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inverting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differential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amplifier.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Here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will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listed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equation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assumption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needed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get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final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circuit.</a:t>
            </a:r>
            <a:endParaRPr sz="1800">
              <a:latin typeface="Calibri Light"/>
              <a:cs typeface="Calibri Light"/>
            </a:endParaRPr>
          </a:p>
          <a:p>
            <a:pPr marL="63500" marR="55880">
              <a:lnSpc>
                <a:spcPct val="103299"/>
              </a:lnSpc>
              <a:spcBef>
                <a:spcPts val="212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driving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parameter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target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r>
              <a:rPr sz="1950" spc="39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1.65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800" spc="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budget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assigned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beginning 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8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𝜇𝐴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latter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branch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𝜇𝐴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endParaRPr sz="1800">
              <a:latin typeface="Calibri Light"/>
              <a:cs typeface="Calibri Light"/>
            </a:endParaRPr>
          </a:p>
          <a:p>
            <a:pPr marL="63500" marR="227965">
              <a:lnSpc>
                <a:spcPct val="101099"/>
              </a:lnSpc>
              <a:spcBef>
                <a:spcPts val="214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last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degree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freedom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drop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R.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must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be,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course,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threshold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case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will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104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</a:t>
            </a:r>
            <a:r>
              <a:rPr sz="1950" spc="39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0.81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Since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9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</a:t>
            </a:r>
            <a:r>
              <a:rPr sz="1950" spc="39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15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r>
              <a:rPr sz="1575" spc="-157" baseline="-34391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575" spc="-165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52490" y="4378197"/>
            <a:ext cx="1706880" cy="15240"/>
          </a:xfrm>
          <a:custGeom>
            <a:avLst/>
            <a:gdLst/>
            <a:ahLst/>
            <a:cxnLst/>
            <a:rect l="l" t="t" r="r" b="b"/>
            <a:pathLst>
              <a:path w="1706879" h="15239">
                <a:moveTo>
                  <a:pt x="1706880" y="0"/>
                </a:moveTo>
                <a:lnTo>
                  <a:pt x="0" y="0"/>
                </a:lnTo>
                <a:lnTo>
                  <a:pt x="0" y="15239"/>
                </a:lnTo>
                <a:lnTo>
                  <a:pt x="1706880" y="15239"/>
                </a:lnTo>
                <a:lnTo>
                  <a:pt x="1706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30390" y="4084446"/>
            <a:ext cx="741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67" baseline="10802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300" spc="45" dirty="0">
                <a:solidFill>
                  <a:srgbClr val="FFFFFF"/>
                </a:solidFill>
                <a:latin typeface="Cambria Math"/>
                <a:cs typeface="Cambria Math"/>
              </a:rPr>
              <a:t>𝑏𝑟𝑎𝑛𝑐ℎ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2410" y="4549266"/>
            <a:ext cx="13462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5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48049" y="4476622"/>
            <a:ext cx="1087120" cy="276225"/>
          </a:xfrm>
          <a:custGeom>
            <a:avLst/>
            <a:gdLst/>
            <a:ahLst/>
            <a:cxnLst/>
            <a:rect l="l" t="t" r="r" b="b"/>
            <a:pathLst>
              <a:path w="1087120" h="276225">
                <a:moveTo>
                  <a:pt x="1014089" y="0"/>
                </a:moveTo>
                <a:lnTo>
                  <a:pt x="1011295" y="9143"/>
                </a:lnTo>
                <a:lnTo>
                  <a:pt x="1023935" y="15712"/>
                </a:lnTo>
                <a:lnTo>
                  <a:pt x="1034980" y="25304"/>
                </a:lnTo>
                <a:lnTo>
                  <a:pt x="1058263" y="71560"/>
                </a:lnTo>
                <a:lnTo>
                  <a:pt x="1065172" y="113938"/>
                </a:lnTo>
                <a:lnTo>
                  <a:pt x="1066032" y="138175"/>
                </a:lnTo>
                <a:lnTo>
                  <a:pt x="1065172" y="162393"/>
                </a:lnTo>
                <a:lnTo>
                  <a:pt x="1058263" y="204684"/>
                </a:lnTo>
                <a:lnTo>
                  <a:pt x="1034980" y="250856"/>
                </a:lnTo>
                <a:lnTo>
                  <a:pt x="1011295" y="266953"/>
                </a:lnTo>
                <a:lnTo>
                  <a:pt x="1014089" y="276097"/>
                </a:lnTo>
                <a:lnTo>
                  <a:pt x="1057255" y="246040"/>
                </a:lnTo>
                <a:lnTo>
                  <a:pt x="1075944" y="208700"/>
                </a:lnTo>
                <a:lnTo>
                  <a:pt x="1085417" y="163361"/>
                </a:lnTo>
                <a:lnTo>
                  <a:pt x="1086600" y="138175"/>
                </a:lnTo>
                <a:lnTo>
                  <a:pt x="1085473" y="113938"/>
                </a:lnTo>
                <a:lnTo>
                  <a:pt x="1075944" y="67397"/>
                </a:lnTo>
                <a:lnTo>
                  <a:pt x="1057255" y="30057"/>
                </a:lnTo>
                <a:lnTo>
                  <a:pt x="1030446" y="6383"/>
                </a:lnTo>
                <a:lnTo>
                  <a:pt x="1014089" y="0"/>
                </a:lnTo>
                <a:close/>
              </a:path>
              <a:path w="1087120" h="276225">
                <a:moveTo>
                  <a:pt x="72511" y="0"/>
                </a:moveTo>
                <a:lnTo>
                  <a:pt x="29220" y="30057"/>
                </a:lnTo>
                <a:lnTo>
                  <a:pt x="10549" y="67397"/>
                </a:lnTo>
                <a:lnTo>
                  <a:pt x="1162" y="112736"/>
                </a:lnTo>
                <a:lnTo>
                  <a:pt x="0" y="138175"/>
                </a:lnTo>
                <a:lnTo>
                  <a:pt x="1118" y="162393"/>
                </a:lnTo>
                <a:lnTo>
                  <a:pt x="1162" y="163361"/>
                </a:lnTo>
                <a:lnTo>
                  <a:pt x="10549" y="208700"/>
                </a:lnTo>
                <a:lnTo>
                  <a:pt x="29220" y="246040"/>
                </a:lnTo>
                <a:lnTo>
                  <a:pt x="72511" y="276097"/>
                </a:lnTo>
                <a:lnTo>
                  <a:pt x="75305" y="266953"/>
                </a:lnTo>
                <a:lnTo>
                  <a:pt x="62611" y="260405"/>
                </a:lnTo>
                <a:lnTo>
                  <a:pt x="51572" y="250856"/>
                </a:lnTo>
                <a:lnTo>
                  <a:pt x="28317" y="204684"/>
                </a:lnTo>
                <a:lnTo>
                  <a:pt x="21435" y="163361"/>
                </a:lnTo>
                <a:lnTo>
                  <a:pt x="21320" y="162393"/>
                </a:lnTo>
                <a:lnTo>
                  <a:pt x="20441" y="138175"/>
                </a:lnTo>
                <a:lnTo>
                  <a:pt x="21320" y="113938"/>
                </a:lnTo>
                <a:lnTo>
                  <a:pt x="23949" y="91725"/>
                </a:lnTo>
                <a:lnTo>
                  <a:pt x="34411" y="53466"/>
                </a:lnTo>
                <a:lnTo>
                  <a:pt x="62611" y="15712"/>
                </a:lnTo>
                <a:lnTo>
                  <a:pt x="75305" y="9143"/>
                </a:lnTo>
                <a:lnTo>
                  <a:pt x="725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02578" y="4439539"/>
            <a:ext cx="1609725" cy="362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1775"/>
              </a:lnSpc>
              <a:spcBef>
                <a:spcPts val="100"/>
              </a:spcBef>
              <a:tabLst>
                <a:tab pos="629285" algn="l"/>
              </a:tabLst>
            </a:pP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𝐾</a:t>
            </a:r>
            <a:r>
              <a:rPr sz="1950" spc="157" baseline="27777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r>
              <a:rPr sz="1950" spc="532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9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135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</a:t>
            </a:r>
            <a:r>
              <a:rPr sz="1950" spc="17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endParaRPr sz="1950" baseline="-14957">
              <a:latin typeface="Cambria Math"/>
              <a:cs typeface="Cambria Math"/>
            </a:endParaRPr>
          </a:p>
          <a:p>
            <a:pPr marR="68580" algn="r">
              <a:lnSpc>
                <a:spcPts val="875"/>
              </a:lnSpc>
            </a:pPr>
            <a:r>
              <a:rPr sz="1050" spc="110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42403" y="4349622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11567" y="4210939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958074" y="4378197"/>
            <a:ext cx="2249805" cy="267335"/>
          </a:xfrm>
          <a:custGeom>
            <a:avLst/>
            <a:gdLst/>
            <a:ahLst/>
            <a:cxnLst/>
            <a:rect l="l" t="t" r="r" b="b"/>
            <a:pathLst>
              <a:path w="2249804" h="267335">
                <a:moveTo>
                  <a:pt x="913511" y="63754"/>
                </a:moveTo>
                <a:lnTo>
                  <a:pt x="910463" y="55118"/>
                </a:lnTo>
                <a:lnTo>
                  <a:pt x="895121" y="60667"/>
                </a:lnTo>
                <a:lnTo>
                  <a:pt x="881672" y="68707"/>
                </a:lnTo>
                <a:lnTo>
                  <a:pt x="852830" y="107226"/>
                </a:lnTo>
                <a:lnTo>
                  <a:pt x="843076" y="160020"/>
                </a:lnTo>
                <a:lnTo>
                  <a:pt x="843026" y="161036"/>
                </a:lnTo>
                <a:lnTo>
                  <a:pt x="843991" y="178689"/>
                </a:lnTo>
                <a:lnTo>
                  <a:pt x="860425" y="229870"/>
                </a:lnTo>
                <a:lnTo>
                  <a:pt x="895096" y="261366"/>
                </a:lnTo>
                <a:lnTo>
                  <a:pt x="910463" y="266954"/>
                </a:lnTo>
                <a:lnTo>
                  <a:pt x="913257" y="258318"/>
                </a:lnTo>
                <a:lnTo>
                  <a:pt x="901153" y="252984"/>
                </a:lnTo>
                <a:lnTo>
                  <a:pt x="890739" y="245554"/>
                </a:lnTo>
                <a:lnTo>
                  <a:pt x="869391" y="210883"/>
                </a:lnTo>
                <a:lnTo>
                  <a:pt x="862368" y="161036"/>
                </a:lnTo>
                <a:lnTo>
                  <a:pt x="862330" y="160020"/>
                </a:lnTo>
                <a:lnTo>
                  <a:pt x="863104" y="141897"/>
                </a:lnTo>
                <a:lnTo>
                  <a:pt x="874903" y="97282"/>
                </a:lnTo>
                <a:lnTo>
                  <a:pt x="901306" y="69075"/>
                </a:lnTo>
                <a:lnTo>
                  <a:pt x="913511" y="63754"/>
                </a:lnTo>
                <a:close/>
              </a:path>
              <a:path w="2249804" h="267335">
                <a:moveTo>
                  <a:pt x="2122932" y="161036"/>
                </a:moveTo>
                <a:lnTo>
                  <a:pt x="2121865" y="141897"/>
                </a:lnTo>
                <a:lnTo>
                  <a:pt x="2121852" y="141655"/>
                </a:lnTo>
                <a:lnTo>
                  <a:pt x="2118601" y="123723"/>
                </a:lnTo>
                <a:lnTo>
                  <a:pt x="2095830" y="79235"/>
                </a:lnTo>
                <a:lnTo>
                  <a:pt x="2055495" y="55118"/>
                </a:lnTo>
                <a:lnTo>
                  <a:pt x="2052447" y="63754"/>
                </a:lnTo>
                <a:lnTo>
                  <a:pt x="2064702" y="69075"/>
                </a:lnTo>
                <a:lnTo>
                  <a:pt x="2075243" y="76428"/>
                </a:lnTo>
                <a:lnTo>
                  <a:pt x="2096655" y="110553"/>
                </a:lnTo>
                <a:lnTo>
                  <a:pt x="2103628" y="160020"/>
                </a:lnTo>
                <a:lnTo>
                  <a:pt x="2102840" y="178689"/>
                </a:lnTo>
                <a:lnTo>
                  <a:pt x="2091055" y="224409"/>
                </a:lnTo>
                <a:lnTo>
                  <a:pt x="2064867" y="252984"/>
                </a:lnTo>
                <a:lnTo>
                  <a:pt x="2052828" y="258318"/>
                </a:lnTo>
                <a:lnTo>
                  <a:pt x="2055495" y="266954"/>
                </a:lnTo>
                <a:lnTo>
                  <a:pt x="2095881" y="242836"/>
                </a:lnTo>
                <a:lnTo>
                  <a:pt x="2118614" y="198462"/>
                </a:lnTo>
                <a:lnTo>
                  <a:pt x="2121852" y="180492"/>
                </a:lnTo>
                <a:lnTo>
                  <a:pt x="2122932" y="161036"/>
                </a:lnTo>
                <a:close/>
              </a:path>
              <a:path w="2249804" h="267335">
                <a:moveTo>
                  <a:pt x="2249424" y="0"/>
                </a:moveTo>
                <a:lnTo>
                  <a:pt x="0" y="0"/>
                </a:lnTo>
                <a:lnTo>
                  <a:pt x="0" y="15240"/>
                </a:lnTo>
                <a:lnTo>
                  <a:pt x="2249424" y="15240"/>
                </a:lnTo>
                <a:lnTo>
                  <a:pt x="22494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915781" y="4037203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𝜇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46263" y="4363339"/>
            <a:ext cx="207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0275" algn="l"/>
              </a:tabLst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57.8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</a:t>
            </a:r>
            <a:r>
              <a:rPr sz="1800" spc="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0.81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0.76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90784" y="4355719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59948" y="4210939"/>
            <a:ext cx="815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27.68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34002" y="5009769"/>
            <a:ext cx="72986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Since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will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implemented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level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too,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will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consider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multiplier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each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to.</a:t>
            </a:r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96910" y="6006490"/>
            <a:ext cx="217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72200" y="5867400"/>
            <a:ext cx="4114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226945" algn="l"/>
              </a:tabLst>
            </a:pPr>
            <a:r>
              <a:rPr sz="1800" spc="-395" dirty="0" smtClean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592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7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49.8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lang="en-US" sz="1800" dirty="0" smtClean="0">
                <a:solidFill>
                  <a:srgbClr val="FFFFFF"/>
                </a:solidFill>
                <a:latin typeface="Cambria Math"/>
                <a:cs typeface="Cambria Math"/>
              </a:rPr>
              <a:t>   </a:t>
            </a:r>
            <a:r>
              <a:rPr sz="1800" spc="-395" dirty="0" smtClean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592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7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8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 6.15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01283" y="6134201"/>
            <a:ext cx="3638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395855" algn="l"/>
              </a:tabLst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950" spc="39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950" spc="37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5867400"/>
            <a:ext cx="182896" cy="62794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5867400"/>
            <a:ext cx="182896" cy="62794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114800"/>
            <a:ext cx="863644" cy="59693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268095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20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" y="2112263"/>
            <a:ext cx="4081271" cy="43235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34002" y="439673"/>
            <a:ext cx="6539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computed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means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simple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Ohm’s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law: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34002" y="1710944"/>
            <a:ext cx="737425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better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implementation,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will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split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3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parts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66.6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𝑘Ω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resistance.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08602" y="2535428"/>
            <a:ext cx="7363459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next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step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20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dimensions.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gate-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source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endParaRPr sz="1800">
              <a:latin typeface="Calibri Light"/>
              <a:cs typeface="Calibri Light"/>
            </a:endParaRPr>
          </a:p>
          <a:p>
            <a:pPr marL="381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device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depends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target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r>
              <a:rPr sz="1950" spc="26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being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82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r>
              <a:rPr sz="1575" spc="-82" baseline="-3439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75" spc="472" baseline="-3439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r>
              <a:rPr sz="1950" spc="24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104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</a:t>
            </a:r>
            <a:r>
              <a:rPr sz="1950" spc="39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0.84</a:t>
            </a:r>
            <a:r>
              <a:rPr sz="1800" spc="-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,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then: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22594" y="3693667"/>
            <a:ext cx="1874520" cy="15240"/>
          </a:xfrm>
          <a:custGeom>
            <a:avLst/>
            <a:gdLst/>
            <a:ahLst/>
            <a:cxnLst/>
            <a:rect l="l" t="t" r="r" b="b"/>
            <a:pathLst>
              <a:path w="1874520" h="15239">
                <a:moveTo>
                  <a:pt x="1874520" y="0"/>
                </a:moveTo>
                <a:lnTo>
                  <a:pt x="0" y="0"/>
                </a:lnTo>
                <a:lnTo>
                  <a:pt x="0" y="15239"/>
                </a:lnTo>
                <a:lnTo>
                  <a:pt x="1874520" y="15239"/>
                </a:lnTo>
                <a:lnTo>
                  <a:pt x="18745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84315" y="3399790"/>
            <a:ext cx="741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67" baseline="10802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300" spc="45" dirty="0">
                <a:solidFill>
                  <a:srgbClr val="FFFFFF"/>
                </a:solidFill>
                <a:latin typeface="Cambria Math"/>
                <a:cs typeface="Cambria Math"/>
              </a:rPr>
              <a:t>𝑏𝑟𝑎𝑛𝑐ℎ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85383" y="3754882"/>
            <a:ext cx="4991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𝐾</a:t>
            </a:r>
            <a:r>
              <a:rPr sz="1950" spc="157" baseline="27777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r>
              <a:rPr sz="1950" spc="517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18154" y="3792092"/>
            <a:ext cx="1254760" cy="276225"/>
          </a:xfrm>
          <a:custGeom>
            <a:avLst/>
            <a:gdLst/>
            <a:ahLst/>
            <a:cxnLst/>
            <a:rect l="l" t="t" r="r" b="b"/>
            <a:pathLst>
              <a:path w="1254759" h="276225">
                <a:moveTo>
                  <a:pt x="1181729" y="0"/>
                </a:moveTo>
                <a:lnTo>
                  <a:pt x="1178935" y="9143"/>
                </a:lnTo>
                <a:lnTo>
                  <a:pt x="1191575" y="15712"/>
                </a:lnTo>
                <a:lnTo>
                  <a:pt x="1202620" y="25304"/>
                </a:lnTo>
                <a:lnTo>
                  <a:pt x="1225903" y="71560"/>
                </a:lnTo>
                <a:lnTo>
                  <a:pt x="1232812" y="113938"/>
                </a:lnTo>
                <a:lnTo>
                  <a:pt x="1233672" y="138175"/>
                </a:lnTo>
                <a:lnTo>
                  <a:pt x="1232812" y="162393"/>
                </a:lnTo>
                <a:lnTo>
                  <a:pt x="1225903" y="204684"/>
                </a:lnTo>
                <a:lnTo>
                  <a:pt x="1202620" y="250856"/>
                </a:lnTo>
                <a:lnTo>
                  <a:pt x="1178935" y="266953"/>
                </a:lnTo>
                <a:lnTo>
                  <a:pt x="1181729" y="276097"/>
                </a:lnTo>
                <a:lnTo>
                  <a:pt x="1224895" y="246040"/>
                </a:lnTo>
                <a:lnTo>
                  <a:pt x="1243584" y="208700"/>
                </a:lnTo>
                <a:lnTo>
                  <a:pt x="1253057" y="163361"/>
                </a:lnTo>
                <a:lnTo>
                  <a:pt x="1254240" y="138175"/>
                </a:lnTo>
                <a:lnTo>
                  <a:pt x="1253113" y="113938"/>
                </a:lnTo>
                <a:lnTo>
                  <a:pt x="1243584" y="67504"/>
                </a:lnTo>
                <a:lnTo>
                  <a:pt x="1224895" y="30164"/>
                </a:lnTo>
                <a:lnTo>
                  <a:pt x="1198086" y="6403"/>
                </a:lnTo>
                <a:lnTo>
                  <a:pt x="1181729" y="0"/>
                </a:lnTo>
                <a:close/>
              </a:path>
              <a:path w="1254759" h="276225">
                <a:moveTo>
                  <a:pt x="72511" y="0"/>
                </a:moveTo>
                <a:lnTo>
                  <a:pt x="29220" y="30164"/>
                </a:lnTo>
                <a:lnTo>
                  <a:pt x="10549" y="67504"/>
                </a:lnTo>
                <a:lnTo>
                  <a:pt x="1162" y="112756"/>
                </a:lnTo>
                <a:lnTo>
                  <a:pt x="0" y="138175"/>
                </a:lnTo>
                <a:lnTo>
                  <a:pt x="1118" y="162393"/>
                </a:lnTo>
                <a:lnTo>
                  <a:pt x="1162" y="163361"/>
                </a:lnTo>
                <a:lnTo>
                  <a:pt x="10549" y="208700"/>
                </a:lnTo>
                <a:lnTo>
                  <a:pt x="29220" y="246040"/>
                </a:lnTo>
                <a:lnTo>
                  <a:pt x="72511" y="276097"/>
                </a:lnTo>
                <a:lnTo>
                  <a:pt x="75305" y="266953"/>
                </a:lnTo>
                <a:lnTo>
                  <a:pt x="62611" y="260405"/>
                </a:lnTo>
                <a:lnTo>
                  <a:pt x="51572" y="250856"/>
                </a:lnTo>
                <a:lnTo>
                  <a:pt x="28317" y="204684"/>
                </a:lnTo>
                <a:lnTo>
                  <a:pt x="21435" y="163361"/>
                </a:lnTo>
                <a:lnTo>
                  <a:pt x="20441" y="138175"/>
                </a:lnTo>
                <a:lnTo>
                  <a:pt x="21320" y="113938"/>
                </a:lnTo>
                <a:lnTo>
                  <a:pt x="28317" y="71560"/>
                </a:lnTo>
                <a:lnTo>
                  <a:pt x="51572" y="25304"/>
                </a:lnTo>
                <a:lnTo>
                  <a:pt x="75305" y="9143"/>
                </a:lnTo>
                <a:lnTo>
                  <a:pt x="725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127115" y="3803650"/>
            <a:ext cx="1624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73709" algn="l"/>
              </a:tabLst>
            </a:pPr>
            <a:r>
              <a:rPr sz="1300" spc="55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r>
              <a:rPr sz="13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2700" spc="-89" baseline="1234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300" spc="-60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r>
              <a:rPr sz="1575" spc="-89" baseline="-1322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75" spc="277" baseline="-1322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baseline="12345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2700" spc="-120" baseline="123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700" spc="-30" baseline="1234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300" spc="-20" dirty="0">
                <a:solidFill>
                  <a:srgbClr val="FFFFFF"/>
                </a:solidFill>
                <a:latin typeface="Cambria Math"/>
                <a:cs typeface="Cambria Math"/>
              </a:rPr>
              <a:t>𝑇𝐻</a:t>
            </a:r>
            <a:r>
              <a:rPr sz="1575" spc="-30" baseline="-13227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80146" y="3664965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49310" y="3526282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95818" y="3693667"/>
            <a:ext cx="2249805" cy="267335"/>
          </a:xfrm>
          <a:custGeom>
            <a:avLst/>
            <a:gdLst/>
            <a:ahLst/>
            <a:cxnLst/>
            <a:rect l="l" t="t" r="r" b="b"/>
            <a:pathLst>
              <a:path w="2249804" h="267335">
                <a:moveTo>
                  <a:pt x="913511" y="63754"/>
                </a:moveTo>
                <a:lnTo>
                  <a:pt x="910463" y="55118"/>
                </a:lnTo>
                <a:lnTo>
                  <a:pt x="895121" y="60667"/>
                </a:lnTo>
                <a:lnTo>
                  <a:pt x="881672" y="68732"/>
                </a:lnTo>
                <a:lnTo>
                  <a:pt x="852830" y="107289"/>
                </a:lnTo>
                <a:lnTo>
                  <a:pt x="843076" y="160020"/>
                </a:lnTo>
                <a:lnTo>
                  <a:pt x="843026" y="161036"/>
                </a:lnTo>
                <a:lnTo>
                  <a:pt x="843991" y="178689"/>
                </a:lnTo>
                <a:lnTo>
                  <a:pt x="860425" y="229870"/>
                </a:lnTo>
                <a:lnTo>
                  <a:pt x="895096" y="261416"/>
                </a:lnTo>
                <a:lnTo>
                  <a:pt x="910463" y="266954"/>
                </a:lnTo>
                <a:lnTo>
                  <a:pt x="913257" y="258318"/>
                </a:lnTo>
                <a:lnTo>
                  <a:pt x="901153" y="252984"/>
                </a:lnTo>
                <a:lnTo>
                  <a:pt x="890739" y="245554"/>
                </a:lnTo>
                <a:lnTo>
                  <a:pt x="869391" y="210883"/>
                </a:lnTo>
                <a:lnTo>
                  <a:pt x="862368" y="161036"/>
                </a:lnTo>
                <a:lnTo>
                  <a:pt x="862330" y="160020"/>
                </a:lnTo>
                <a:lnTo>
                  <a:pt x="863104" y="141960"/>
                </a:lnTo>
                <a:lnTo>
                  <a:pt x="874903" y="97282"/>
                </a:lnTo>
                <a:lnTo>
                  <a:pt x="901306" y="69075"/>
                </a:lnTo>
                <a:lnTo>
                  <a:pt x="913511" y="63754"/>
                </a:lnTo>
                <a:close/>
              </a:path>
              <a:path w="2249804" h="267335">
                <a:moveTo>
                  <a:pt x="2122932" y="161036"/>
                </a:moveTo>
                <a:lnTo>
                  <a:pt x="2121865" y="141960"/>
                </a:lnTo>
                <a:lnTo>
                  <a:pt x="2121852" y="141668"/>
                </a:lnTo>
                <a:lnTo>
                  <a:pt x="2118614" y="123736"/>
                </a:lnTo>
                <a:lnTo>
                  <a:pt x="2095830" y="79286"/>
                </a:lnTo>
                <a:lnTo>
                  <a:pt x="2055495" y="55118"/>
                </a:lnTo>
                <a:lnTo>
                  <a:pt x="2052447" y="63754"/>
                </a:lnTo>
                <a:lnTo>
                  <a:pt x="2064702" y="69075"/>
                </a:lnTo>
                <a:lnTo>
                  <a:pt x="2075243" y="76428"/>
                </a:lnTo>
                <a:lnTo>
                  <a:pt x="2096655" y="110578"/>
                </a:lnTo>
                <a:lnTo>
                  <a:pt x="2103628" y="160020"/>
                </a:lnTo>
                <a:lnTo>
                  <a:pt x="2102840" y="178689"/>
                </a:lnTo>
                <a:lnTo>
                  <a:pt x="2091055" y="224409"/>
                </a:lnTo>
                <a:lnTo>
                  <a:pt x="2064867" y="252984"/>
                </a:lnTo>
                <a:lnTo>
                  <a:pt x="2052828" y="258318"/>
                </a:lnTo>
                <a:lnTo>
                  <a:pt x="2055495" y="266954"/>
                </a:lnTo>
                <a:lnTo>
                  <a:pt x="2095881" y="242849"/>
                </a:lnTo>
                <a:lnTo>
                  <a:pt x="2118614" y="198501"/>
                </a:lnTo>
                <a:lnTo>
                  <a:pt x="2121852" y="180543"/>
                </a:lnTo>
                <a:lnTo>
                  <a:pt x="2122932" y="161036"/>
                </a:lnTo>
                <a:close/>
              </a:path>
              <a:path w="2249804" h="267335">
                <a:moveTo>
                  <a:pt x="2249424" y="0"/>
                </a:moveTo>
                <a:lnTo>
                  <a:pt x="0" y="0"/>
                </a:lnTo>
                <a:lnTo>
                  <a:pt x="0" y="15240"/>
                </a:lnTo>
                <a:lnTo>
                  <a:pt x="2249424" y="15240"/>
                </a:lnTo>
                <a:lnTo>
                  <a:pt x="22494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153525" y="3352546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𝜇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84006" y="3678682"/>
            <a:ext cx="207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0275" algn="l"/>
              </a:tabLst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57.8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</a:t>
            </a:r>
            <a:r>
              <a:rPr sz="1800" spc="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0.84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0.76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28529" y="3671061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97693" y="3526282"/>
            <a:ext cx="513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≅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11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48400" y="4343400"/>
            <a:ext cx="15786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85" dirty="0" smtClean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577" baseline="-17094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434" baseline="-1709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7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19.8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60918" y="4500498"/>
            <a:ext cx="548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1005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34400" y="4343400"/>
            <a:ext cx="1677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7094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345" baseline="-1709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8</a:t>
            </a:r>
            <a:r>
              <a:rPr sz="1800" spc="-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2.5</a:t>
            </a:r>
            <a:r>
              <a:rPr sz="1800" spc="-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59195" y="4628515"/>
            <a:ext cx="3585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338070" algn="l"/>
              </a:tabLst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42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42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34002" y="5212207"/>
            <a:ext cx="73596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Unfortunately,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strongly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affected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body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effect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will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undermine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validity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computed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value.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reason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parametric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simulation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width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performed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adjust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final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voltage value.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4343400"/>
            <a:ext cx="182896" cy="62794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4343400"/>
            <a:ext cx="182896" cy="627942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914400"/>
            <a:ext cx="4273770" cy="53977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3352800"/>
            <a:ext cx="844593" cy="65408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268095" cy="174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830"/>
              </a:lnSpc>
              <a:spcBef>
                <a:spcPts val="20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835" y="655319"/>
            <a:ext cx="9631679" cy="55473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9333" y="2183968"/>
            <a:ext cx="2759075" cy="393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8509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approaches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desired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spc="-37" baseline="-14957" dirty="0">
                <a:solidFill>
                  <a:srgbClr val="FFFFFF"/>
                </a:solidFill>
                <a:latin typeface="Cambria Math"/>
                <a:cs typeface="Cambria Math"/>
              </a:rPr>
              <a:t>2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fingers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dimension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around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16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,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final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dimensions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are:</a:t>
            </a:r>
            <a:endParaRPr sz="18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 dirty="0">
              <a:latin typeface="Calibri Light"/>
              <a:cs typeface="Calibri Light"/>
            </a:endParaRPr>
          </a:p>
          <a:p>
            <a:pPr marL="484505">
              <a:lnSpc>
                <a:spcPct val="100000"/>
              </a:lnSpc>
            </a:pPr>
            <a:r>
              <a:rPr lang="en-US" sz="1800" spc="-385" dirty="0" smtClean="0">
                <a:solidFill>
                  <a:srgbClr val="FFFFFF"/>
                </a:solidFill>
                <a:latin typeface="Cambria Math"/>
                <a:cs typeface="Cambria Math"/>
              </a:rPr>
              <a:t>   </a:t>
            </a:r>
            <a:r>
              <a:rPr sz="1800" spc="-385" dirty="0" smtClean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577" baseline="-1495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7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8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16.05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 smtClean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lang="en-US" dirty="0">
              <a:latin typeface="Cambria Math"/>
              <a:cs typeface="Cambria Math"/>
            </a:endParaRPr>
          </a:p>
          <a:p>
            <a:pPr marL="484505">
              <a:lnSpc>
                <a:spcPct val="100000"/>
              </a:lnSpc>
            </a:pPr>
            <a:r>
              <a:rPr sz="1800" dirty="0" smtClean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950" spc="41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800" dirty="0">
              <a:latin typeface="Cambria Math"/>
              <a:cs typeface="Cambria Math"/>
            </a:endParaRPr>
          </a:p>
          <a:p>
            <a:pPr marL="76200" marR="177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width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very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much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larger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computed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was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expected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strong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BULK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effect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transistor.</a:t>
            </a:r>
            <a:endParaRPr sz="1800" dirty="0">
              <a:latin typeface="Calibri Light"/>
              <a:cs typeface="Calibri Ligh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10000"/>
            <a:ext cx="182896" cy="62794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6192"/>
            <a:ext cx="1299845" cy="174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ts val="835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" y="2112263"/>
            <a:ext cx="4081271" cy="43235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87417" y="439673"/>
            <a:ext cx="5779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mirrors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start-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up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must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defined.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left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side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minimum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saturation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working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65136" y="1064767"/>
            <a:ext cx="1267460" cy="762635"/>
          </a:xfrm>
          <a:custGeom>
            <a:avLst/>
            <a:gdLst/>
            <a:ahLst/>
            <a:cxnLst/>
            <a:rect l="l" t="t" r="r" b="b"/>
            <a:pathLst>
              <a:path w="1267459" h="762635">
                <a:moveTo>
                  <a:pt x="1267066" y="321564"/>
                </a:moveTo>
                <a:lnTo>
                  <a:pt x="171323" y="321564"/>
                </a:lnTo>
                <a:lnTo>
                  <a:pt x="171323" y="336804"/>
                </a:lnTo>
                <a:lnTo>
                  <a:pt x="1267066" y="336804"/>
                </a:lnTo>
                <a:lnTo>
                  <a:pt x="1267066" y="321564"/>
                </a:lnTo>
                <a:close/>
              </a:path>
              <a:path w="1267459" h="762635">
                <a:moveTo>
                  <a:pt x="1267079" y="0"/>
                </a:moveTo>
                <a:lnTo>
                  <a:pt x="144399" y="0"/>
                </a:lnTo>
                <a:lnTo>
                  <a:pt x="97028" y="718312"/>
                </a:lnTo>
                <a:lnTo>
                  <a:pt x="40132" y="613029"/>
                </a:lnTo>
                <a:lnTo>
                  <a:pt x="0" y="634365"/>
                </a:lnTo>
                <a:lnTo>
                  <a:pt x="4318" y="642239"/>
                </a:lnTo>
                <a:lnTo>
                  <a:pt x="25400" y="630936"/>
                </a:lnTo>
                <a:lnTo>
                  <a:pt x="96647" y="762127"/>
                </a:lnTo>
                <a:lnTo>
                  <a:pt x="106934" y="762127"/>
                </a:lnTo>
                <a:lnTo>
                  <a:pt x="156845" y="14859"/>
                </a:lnTo>
                <a:lnTo>
                  <a:pt x="171323" y="14859"/>
                </a:lnTo>
                <a:lnTo>
                  <a:pt x="171323" y="15240"/>
                </a:lnTo>
                <a:lnTo>
                  <a:pt x="1267079" y="15240"/>
                </a:lnTo>
                <a:lnTo>
                  <a:pt x="12670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09688" y="1091946"/>
            <a:ext cx="741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67" baseline="10802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300" spc="45" dirty="0">
                <a:solidFill>
                  <a:srgbClr val="FFFFFF"/>
                </a:solidFill>
                <a:latin typeface="Cambria Math"/>
                <a:cs typeface="Cambria Math"/>
              </a:rPr>
              <a:t>𝑏𝑟𝑎𝑛𝑐ℎ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66507" y="1526539"/>
            <a:ext cx="13462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5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99376" y="1416811"/>
            <a:ext cx="1068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𝐾</a:t>
            </a:r>
            <a:r>
              <a:rPr sz="1950" spc="157" baseline="27777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r>
              <a:rPr sz="1950" spc="509" baseline="2777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 smtClean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05678" y="1218133"/>
            <a:ext cx="48336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591435" algn="l"/>
              </a:tabLst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𝑉𝐷𝐷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spc="-127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</a:t>
            </a:r>
            <a:r>
              <a:rPr sz="1950" spc="21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4.11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800" spc="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@𝑉𝐷𝐷</a:t>
            </a:r>
            <a:r>
              <a:rPr sz="18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62017" y="1799335"/>
            <a:ext cx="6840855" cy="1146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right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side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drop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cascode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mirror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is:</a:t>
            </a:r>
            <a:endParaRPr sz="1800">
              <a:latin typeface="Calibri Light"/>
              <a:cs typeface="Calibri Light"/>
            </a:endParaRPr>
          </a:p>
          <a:p>
            <a:pPr marL="205867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𝑉𝐷𝐷</a:t>
            </a:r>
            <a:r>
              <a:rPr sz="1800" spc="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3.35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800" spc="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@𝑉𝐷𝐷</a:t>
            </a:r>
            <a:r>
              <a:rPr sz="18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second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taken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being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more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restrictive.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Then,</a:t>
            </a:r>
            <a:endParaRPr sz="1800">
              <a:latin typeface="Calibri Light"/>
              <a:cs typeface="Calibri Light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assuming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half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drop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each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021064" y="3506215"/>
            <a:ext cx="1376680" cy="15240"/>
          </a:xfrm>
          <a:custGeom>
            <a:avLst/>
            <a:gdLst/>
            <a:ahLst/>
            <a:cxnLst/>
            <a:rect l="l" t="t" r="r" b="b"/>
            <a:pathLst>
              <a:path w="1376679" h="15239">
                <a:moveTo>
                  <a:pt x="1376172" y="0"/>
                </a:moveTo>
                <a:lnTo>
                  <a:pt x="0" y="0"/>
                </a:lnTo>
                <a:lnTo>
                  <a:pt x="0" y="15239"/>
                </a:lnTo>
                <a:lnTo>
                  <a:pt x="1376172" y="15239"/>
                </a:lnTo>
                <a:lnTo>
                  <a:pt x="13761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33230" y="3212338"/>
            <a:ext cx="741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67" baseline="10802" dirty="0">
                <a:solidFill>
                  <a:srgbClr val="FFFFFF"/>
                </a:solidFill>
                <a:latin typeface="Cambria Math"/>
                <a:cs typeface="Cambria Math"/>
              </a:rPr>
              <a:t>𝐼</a:t>
            </a:r>
            <a:r>
              <a:rPr sz="1300" spc="45" dirty="0">
                <a:solidFill>
                  <a:srgbClr val="FFFFFF"/>
                </a:solidFill>
                <a:latin typeface="Cambria Math"/>
                <a:cs typeface="Cambria Math"/>
              </a:rPr>
              <a:t>𝑏𝑟𝑎𝑛𝑐ℎ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379331" y="3694557"/>
            <a:ext cx="17145" cy="276225"/>
          </a:xfrm>
          <a:custGeom>
            <a:avLst/>
            <a:gdLst/>
            <a:ahLst/>
            <a:cxnLst/>
            <a:rect l="l" t="t" r="r" b="b"/>
            <a:pathLst>
              <a:path w="17145" h="276225">
                <a:moveTo>
                  <a:pt x="17145" y="0"/>
                </a:moveTo>
                <a:lnTo>
                  <a:pt x="0" y="0"/>
                </a:lnTo>
                <a:lnTo>
                  <a:pt x="0" y="276098"/>
                </a:lnTo>
                <a:lnTo>
                  <a:pt x="17145" y="276098"/>
                </a:lnTo>
                <a:lnTo>
                  <a:pt x="171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048622" y="3694557"/>
            <a:ext cx="17145" cy="276225"/>
          </a:xfrm>
          <a:custGeom>
            <a:avLst/>
            <a:gdLst/>
            <a:ahLst/>
            <a:cxnLst/>
            <a:rect l="l" t="t" r="r" b="b"/>
            <a:pathLst>
              <a:path w="17145" h="276225">
                <a:moveTo>
                  <a:pt x="17145" y="0"/>
                </a:moveTo>
                <a:lnTo>
                  <a:pt x="0" y="0"/>
                </a:lnTo>
                <a:lnTo>
                  <a:pt x="0" y="276098"/>
                </a:lnTo>
                <a:lnTo>
                  <a:pt x="17145" y="276098"/>
                </a:lnTo>
                <a:lnTo>
                  <a:pt x="171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030207" y="3657345"/>
            <a:ext cx="606425" cy="336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1520"/>
              </a:lnSpc>
              <a:spcBef>
                <a:spcPts val="100"/>
              </a:spcBef>
              <a:tabLst>
                <a:tab pos="444500" algn="l"/>
              </a:tabLst>
            </a:pP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𝐾</a:t>
            </a:r>
            <a:r>
              <a:rPr sz="1950" spc="120" baseline="27777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r>
              <a:rPr sz="1950" baseline="27777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1800">
              <a:latin typeface="Cambria Math"/>
              <a:cs typeface="Cambria Math"/>
            </a:endParaRPr>
          </a:p>
          <a:p>
            <a:pPr marR="81280" algn="ctr">
              <a:lnSpc>
                <a:spcPts val="919"/>
              </a:lnSpc>
            </a:pPr>
            <a:r>
              <a:rPr sz="1300" spc="50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655683" y="3606800"/>
            <a:ext cx="616585" cy="452120"/>
          </a:xfrm>
          <a:custGeom>
            <a:avLst/>
            <a:gdLst/>
            <a:ahLst/>
            <a:cxnLst/>
            <a:rect l="l" t="t" r="r" b="b"/>
            <a:pathLst>
              <a:path w="616584" h="452120">
                <a:moveTo>
                  <a:pt x="86741" y="7493"/>
                </a:moveTo>
                <a:lnTo>
                  <a:pt x="50076" y="33274"/>
                </a:lnTo>
                <a:lnTo>
                  <a:pt x="24003" y="82550"/>
                </a:lnTo>
                <a:lnTo>
                  <a:pt x="5994" y="147027"/>
                </a:lnTo>
                <a:lnTo>
                  <a:pt x="0" y="225806"/>
                </a:lnTo>
                <a:lnTo>
                  <a:pt x="1422" y="265099"/>
                </a:lnTo>
                <a:lnTo>
                  <a:pt x="5994" y="304571"/>
                </a:lnTo>
                <a:lnTo>
                  <a:pt x="24003" y="369062"/>
                </a:lnTo>
                <a:lnTo>
                  <a:pt x="50076" y="418388"/>
                </a:lnTo>
                <a:lnTo>
                  <a:pt x="80264" y="451612"/>
                </a:lnTo>
                <a:lnTo>
                  <a:pt x="86741" y="444119"/>
                </a:lnTo>
                <a:lnTo>
                  <a:pt x="73240" y="429260"/>
                </a:lnTo>
                <a:lnTo>
                  <a:pt x="60947" y="410794"/>
                </a:lnTo>
                <a:lnTo>
                  <a:pt x="40132" y="362966"/>
                </a:lnTo>
                <a:lnTo>
                  <a:pt x="26301" y="301053"/>
                </a:lnTo>
                <a:lnTo>
                  <a:pt x="21717" y="225806"/>
                </a:lnTo>
                <a:lnTo>
                  <a:pt x="22860" y="186524"/>
                </a:lnTo>
                <a:lnTo>
                  <a:pt x="32054" y="117995"/>
                </a:lnTo>
                <a:lnTo>
                  <a:pt x="49911" y="62992"/>
                </a:lnTo>
                <a:lnTo>
                  <a:pt x="73240" y="22364"/>
                </a:lnTo>
                <a:lnTo>
                  <a:pt x="86741" y="7493"/>
                </a:lnTo>
                <a:close/>
              </a:path>
              <a:path w="616584" h="452120">
                <a:moveTo>
                  <a:pt x="522097" y="217944"/>
                </a:moveTo>
                <a:lnTo>
                  <a:pt x="93853" y="217944"/>
                </a:lnTo>
                <a:lnTo>
                  <a:pt x="93853" y="233172"/>
                </a:lnTo>
                <a:lnTo>
                  <a:pt x="522097" y="233172"/>
                </a:lnTo>
                <a:lnTo>
                  <a:pt x="522097" y="217944"/>
                </a:lnTo>
                <a:close/>
              </a:path>
              <a:path w="616584" h="452120">
                <a:moveTo>
                  <a:pt x="616064" y="225806"/>
                </a:moveTo>
                <a:lnTo>
                  <a:pt x="614641" y="186524"/>
                </a:lnTo>
                <a:lnTo>
                  <a:pt x="610069" y="147027"/>
                </a:lnTo>
                <a:lnTo>
                  <a:pt x="592074" y="82550"/>
                </a:lnTo>
                <a:lnTo>
                  <a:pt x="565988" y="33274"/>
                </a:lnTo>
                <a:lnTo>
                  <a:pt x="535813" y="0"/>
                </a:lnTo>
                <a:lnTo>
                  <a:pt x="529336" y="7493"/>
                </a:lnTo>
                <a:lnTo>
                  <a:pt x="542823" y="22364"/>
                </a:lnTo>
                <a:lnTo>
                  <a:pt x="555117" y="40855"/>
                </a:lnTo>
                <a:lnTo>
                  <a:pt x="575945" y="88773"/>
                </a:lnTo>
                <a:lnTo>
                  <a:pt x="589762" y="150583"/>
                </a:lnTo>
                <a:lnTo>
                  <a:pt x="594360" y="225806"/>
                </a:lnTo>
                <a:lnTo>
                  <a:pt x="593204" y="265099"/>
                </a:lnTo>
                <a:lnTo>
                  <a:pt x="584009" y="333679"/>
                </a:lnTo>
                <a:lnTo>
                  <a:pt x="566153" y="388696"/>
                </a:lnTo>
                <a:lnTo>
                  <a:pt x="542823" y="429260"/>
                </a:lnTo>
                <a:lnTo>
                  <a:pt x="529336" y="444119"/>
                </a:lnTo>
                <a:lnTo>
                  <a:pt x="535813" y="451612"/>
                </a:lnTo>
                <a:lnTo>
                  <a:pt x="565988" y="418388"/>
                </a:lnTo>
                <a:lnTo>
                  <a:pt x="592074" y="369062"/>
                </a:lnTo>
                <a:lnTo>
                  <a:pt x="610069" y="304571"/>
                </a:lnTo>
                <a:lnTo>
                  <a:pt x="614565" y="266928"/>
                </a:lnTo>
                <a:lnTo>
                  <a:pt x="616064" y="2258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738106" y="3523233"/>
            <a:ext cx="452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3.35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88981" y="377164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79126" y="3475989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449814" y="3338829"/>
            <a:ext cx="687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≅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0.08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87417" y="4306265"/>
            <a:ext cx="7474584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Since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MINIMUM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value,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actual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dimension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chosen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order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to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almost-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square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their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width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divided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4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implement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cascode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2D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structure: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4041" y="5427065"/>
            <a:ext cx="3103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950" spc="29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950" spc="28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82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28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950" spc="28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7.2</a:t>
            </a:r>
            <a:r>
              <a:rPr sz="1800" spc="-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48200" y="5715000"/>
            <a:ext cx="3091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 smtClean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950" spc="44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950" spc="44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950" spc="41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79156" y="5577941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9100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24800" y="5410200"/>
            <a:ext cx="39624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800" spc="-20" dirty="0" smtClean="0">
                <a:solidFill>
                  <a:srgbClr val="FFFFFF"/>
                </a:solidFill>
                <a:latin typeface="Cambria Math"/>
                <a:cs typeface="Cambria Math"/>
              </a:rPr>
              <a:t>          </a:t>
            </a:r>
            <a:r>
              <a:rPr sz="1800" spc="-20" dirty="0" smtClean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950" spc="30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950" spc="31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82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30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950" spc="30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800" spc="-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-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 smtClean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lang="en-US" dirty="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 smtClean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950" spc="434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r>
              <a:rPr sz="1950" spc="44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950" spc="44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1950" spc="41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5410200"/>
            <a:ext cx="182896" cy="62794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10200"/>
            <a:ext cx="182896" cy="62794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447800"/>
            <a:ext cx="538163" cy="32703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200400"/>
            <a:ext cx="3441810" cy="68734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6192"/>
            <a:ext cx="1299845" cy="174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ts val="835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7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7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7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" y="2112263"/>
            <a:ext cx="4081271" cy="43235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34002" y="439673"/>
            <a:ext cx="73920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start-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up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borrowed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article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4002" y="718565"/>
            <a:ext cx="7342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9010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chosen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topology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very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simple.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capacitor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100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𝑓𝐹</a:t>
            </a:r>
            <a:r>
              <a:rPr sz="1800" spc="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8602" y="826769"/>
            <a:ext cx="7433945" cy="7575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274320" algn="r">
              <a:lnSpc>
                <a:spcPts val="1495"/>
              </a:lnSpc>
              <a:spcBef>
                <a:spcPts val="120"/>
              </a:spcBef>
            </a:pPr>
            <a:r>
              <a:rPr sz="1300" spc="50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endParaRPr sz="1300">
              <a:latin typeface="Cambria Math"/>
              <a:cs typeface="Cambria Math"/>
            </a:endParaRPr>
          </a:p>
          <a:p>
            <a:pPr marL="38100" marR="30480">
              <a:lnSpc>
                <a:spcPts val="215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long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resistive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device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charges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capacitor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until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225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shut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down.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5902" y="1849628"/>
            <a:ext cx="7254875" cy="20942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360" algn="ctr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r>
              <a:rPr sz="1950" spc="47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50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 marL="248920" algn="ctr">
              <a:lnSpc>
                <a:spcPct val="100000"/>
              </a:lnSpc>
              <a:spcBef>
                <a:spcPts val="240"/>
              </a:spcBef>
            </a:pPr>
            <a:r>
              <a:rPr lang="en-US" sz="1800" spc="-470" dirty="0" smtClean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470" dirty="0" smtClean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705" baseline="-14957" dirty="0" smtClean="0">
                <a:solidFill>
                  <a:srgbClr val="FFFFFF"/>
                </a:solidFill>
                <a:latin typeface="Cambria Math"/>
                <a:cs typeface="Cambria Math"/>
              </a:rPr>
              <a:t>𝑝</a:t>
            </a:r>
            <a:r>
              <a:rPr sz="1950" spc="442" baseline="-14957" dirty="0" smtClean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800" dirty="0">
              <a:latin typeface="Cambria Math"/>
              <a:cs typeface="Cambria Math"/>
            </a:endParaRPr>
          </a:p>
          <a:p>
            <a:pPr marL="50800" marR="431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24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dimension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chosen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order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make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able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keep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VDD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node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until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capacitor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reaches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¾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power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supply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voltage.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condition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requires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deliver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25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𝜇𝐴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sees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5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drop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terminals.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results:</a:t>
            </a:r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73214" y="4512055"/>
            <a:ext cx="2123440" cy="15240"/>
          </a:xfrm>
          <a:custGeom>
            <a:avLst/>
            <a:gdLst/>
            <a:ahLst/>
            <a:cxnLst/>
            <a:rect l="l" t="t" r="r" b="b"/>
            <a:pathLst>
              <a:path w="2123440" h="15239">
                <a:moveTo>
                  <a:pt x="2122931" y="0"/>
                </a:moveTo>
                <a:lnTo>
                  <a:pt x="0" y="0"/>
                </a:lnTo>
                <a:lnTo>
                  <a:pt x="0" y="15240"/>
                </a:lnTo>
                <a:lnTo>
                  <a:pt x="2122931" y="15240"/>
                </a:lnTo>
                <a:lnTo>
                  <a:pt x="21229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04175" y="4170933"/>
            <a:ext cx="455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25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𝜇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61403" y="4497451"/>
            <a:ext cx="797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18.9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016240" y="4567173"/>
            <a:ext cx="1151890" cy="212090"/>
          </a:xfrm>
          <a:custGeom>
            <a:avLst/>
            <a:gdLst/>
            <a:ahLst/>
            <a:cxnLst/>
            <a:rect l="l" t="t" r="r" b="b"/>
            <a:pathLst>
              <a:path w="1151890" h="212089">
                <a:moveTo>
                  <a:pt x="1084452" y="0"/>
                </a:moveTo>
                <a:lnTo>
                  <a:pt x="1081404" y="8636"/>
                </a:lnTo>
                <a:lnTo>
                  <a:pt x="1093672" y="13946"/>
                </a:lnTo>
                <a:lnTo>
                  <a:pt x="1104201" y="21304"/>
                </a:lnTo>
                <a:lnTo>
                  <a:pt x="1125620" y="55449"/>
                </a:lnTo>
                <a:lnTo>
                  <a:pt x="1131779" y="86538"/>
                </a:lnTo>
                <a:lnTo>
                  <a:pt x="1131820" y="86830"/>
                </a:lnTo>
                <a:lnTo>
                  <a:pt x="1129442" y="140525"/>
                </a:lnTo>
                <a:lnTo>
                  <a:pt x="1112968" y="180911"/>
                </a:lnTo>
                <a:lnTo>
                  <a:pt x="1081785" y="203200"/>
                </a:lnTo>
                <a:lnTo>
                  <a:pt x="1084452" y="211836"/>
                </a:lnTo>
                <a:lnTo>
                  <a:pt x="1124850" y="187725"/>
                </a:lnTo>
                <a:lnTo>
                  <a:pt x="1147572" y="143382"/>
                </a:lnTo>
                <a:lnTo>
                  <a:pt x="1151889" y="105918"/>
                </a:lnTo>
                <a:lnTo>
                  <a:pt x="1150830" y="86830"/>
                </a:lnTo>
                <a:lnTo>
                  <a:pt x="1150814" y="86538"/>
                </a:lnTo>
                <a:lnTo>
                  <a:pt x="1134490" y="37211"/>
                </a:lnTo>
                <a:lnTo>
                  <a:pt x="1099790" y="5546"/>
                </a:lnTo>
                <a:lnTo>
                  <a:pt x="1084452" y="0"/>
                </a:lnTo>
                <a:close/>
              </a:path>
              <a:path w="1151890" h="212089">
                <a:moveTo>
                  <a:pt x="67436" y="0"/>
                </a:moveTo>
                <a:lnTo>
                  <a:pt x="27092" y="24163"/>
                </a:lnTo>
                <a:lnTo>
                  <a:pt x="4365" y="68611"/>
                </a:lnTo>
                <a:lnTo>
                  <a:pt x="0" y="105918"/>
                </a:lnTo>
                <a:lnTo>
                  <a:pt x="973" y="123570"/>
                </a:lnTo>
                <a:lnTo>
                  <a:pt x="1075" y="125424"/>
                </a:lnTo>
                <a:lnTo>
                  <a:pt x="17399" y="174751"/>
                </a:lnTo>
                <a:lnTo>
                  <a:pt x="52081" y="206291"/>
                </a:lnTo>
                <a:lnTo>
                  <a:pt x="67436" y="211836"/>
                </a:lnTo>
                <a:lnTo>
                  <a:pt x="70230" y="203200"/>
                </a:lnTo>
                <a:lnTo>
                  <a:pt x="58130" y="197865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1"/>
                </a:lnTo>
                <a:lnTo>
                  <a:pt x="26376" y="55449"/>
                </a:lnTo>
                <a:lnTo>
                  <a:pt x="47799" y="21304"/>
                </a:lnTo>
                <a:lnTo>
                  <a:pt x="70484" y="8636"/>
                </a:lnTo>
                <a:lnTo>
                  <a:pt x="67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078851" y="4497451"/>
            <a:ext cx="1028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1.25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0.9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77908" y="4489830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47072" y="4344365"/>
            <a:ext cx="5137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≅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24600" y="5029200"/>
            <a:ext cx="139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80" dirty="0" smtClean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spc="-419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41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14566" y="5329554"/>
            <a:ext cx="1289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30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18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74051" y="5204586"/>
            <a:ext cx="4959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</a:tabLst>
            </a:pP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77200" y="5029200"/>
            <a:ext cx="1991234" cy="58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800" dirty="0" smtClean="0">
                <a:solidFill>
                  <a:srgbClr val="FFFFFF"/>
                </a:solidFill>
                <a:latin typeface="Cambria Math"/>
                <a:cs typeface="Cambria Math"/>
              </a:rPr>
              <a:t>𝐿</a:t>
            </a:r>
            <a:r>
              <a:rPr sz="1950" baseline="-14957" dirty="0" smtClean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412" baseline="-14957" dirty="0" smtClean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lang="en-US" sz="1800" spc="-20" dirty="0" smtClean="0">
                <a:solidFill>
                  <a:srgbClr val="FFFFFF"/>
                </a:solidFill>
                <a:latin typeface="Cambria Math"/>
                <a:cs typeface="Cambria Math"/>
              </a:rPr>
              <a:t>       </a:t>
            </a:r>
            <a:r>
              <a:rPr sz="1800" spc="-20" dirty="0" smtClean="0">
                <a:solidFill>
                  <a:srgbClr val="FFFFFF"/>
                </a:solidFill>
                <a:latin typeface="Cambria Math"/>
                <a:cs typeface="Cambria Math"/>
              </a:rPr>
              <a:t>𝑊</a:t>
            </a:r>
            <a:r>
              <a:rPr sz="1950" spc="-30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950" spc="33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4.5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34002" y="5915964"/>
            <a:ext cx="6844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specification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will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verified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means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simulation.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029200"/>
            <a:ext cx="182896" cy="62794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029200"/>
            <a:ext cx="182896" cy="62794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905000"/>
            <a:ext cx="182896" cy="62794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191000"/>
            <a:ext cx="878275" cy="6223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26555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DC Sim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955" y="507491"/>
            <a:ext cx="5213604" cy="58064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03298" y="6224727"/>
            <a:ext cx="3326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2D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common</a:t>
            </a: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centroid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mirror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6559" y="507491"/>
            <a:ext cx="5286756" cy="57881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679181" y="6315252"/>
            <a:ext cx="3383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2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part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split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mirror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80" rIns="0" bIns="0" rtlCol="0">
            <a:spAutoFit/>
          </a:bodyPr>
          <a:lstStyle/>
          <a:p>
            <a:pPr marL="2628900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Voltage</a:t>
            </a:r>
            <a:r>
              <a:rPr sz="2800" spc="-75" dirty="0"/>
              <a:t> </a:t>
            </a:r>
            <a:r>
              <a:rPr sz="2800" spc="-25" dirty="0"/>
              <a:t>reference</a:t>
            </a:r>
            <a:r>
              <a:rPr sz="2800" spc="-45" dirty="0"/>
              <a:t> </a:t>
            </a:r>
            <a:r>
              <a:rPr sz="2800" dirty="0"/>
              <a:t>DC</a:t>
            </a:r>
            <a:r>
              <a:rPr sz="2800" spc="-65" dirty="0"/>
              <a:t> </a:t>
            </a:r>
            <a:r>
              <a:rPr sz="2800" spc="-10" dirty="0"/>
              <a:t>simulation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216814" y="2247138"/>
            <a:ext cx="1290320" cy="1520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only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difference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these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circuits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multiplier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cascode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current mirror.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414" y="3954271"/>
            <a:ext cx="1358900" cy="2605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00800"/>
              </a:lnSpc>
              <a:spcBef>
                <a:spcPts val="9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transistors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saturated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500" spc="-97" baseline="-16666" dirty="0">
                <a:solidFill>
                  <a:srgbClr val="FFFFFF"/>
                </a:solidFill>
                <a:latin typeface="Cambria Math"/>
                <a:cs typeface="Cambria Math"/>
              </a:rPr>
              <a:t>𝑔𝑠</a:t>
            </a:r>
            <a:r>
              <a:rPr sz="1500" spc="172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centroid version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about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5%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higher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then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counterpart.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could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seen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smaller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width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equivalent transistor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driving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current.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85409" y="2020061"/>
            <a:ext cx="6460490" cy="891540"/>
          </a:xfrm>
          <a:custGeom>
            <a:avLst/>
            <a:gdLst/>
            <a:ahLst/>
            <a:cxnLst/>
            <a:rect l="l" t="t" r="r" b="b"/>
            <a:pathLst>
              <a:path w="6460490" h="891539">
                <a:moveTo>
                  <a:pt x="0" y="148589"/>
                </a:moveTo>
                <a:lnTo>
                  <a:pt x="7577" y="101632"/>
                </a:lnTo>
                <a:lnTo>
                  <a:pt x="28675" y="60844"/>
                </a:lnTo>
                <a:lnTo>
                  <a:pt x="60844" y="28675"/>
                </a:lnTo>
                <a:lnTo>
                  <a:pt x="101632" y="7577"/>
                </a:lnTo>
                <a:lnTo>
                  <a:pt x="148589" y="0"/>
                </a:lnTo>
                <a:lnTo>
                  <a:pt x="1130045" y="0"/>
                </a:lnTo>
                <a:lnTo>
                  <a:pt x="1177003" y="7577"/>
                </a:lnTo>
                <a:lnTo>
                  <a:pt x="1217791" y="28675"/>
                </a:lnTo>
                <a:lnTo>
                  <a:pt x="1249960" y="60844"/>
                </a:lnTo>
                <a:lnTo>
                  <a:pt x="1271058" y="101632"/>
                </a:lnTo>
                <a:lnTo>
                  <a:pt x="1278636" y="148589"/>
                </a:lnTo>
                <a:lnTo>
                  <a:pt x="1278636" y="742950"/>
                </a:lnTo>
                <a:lnTo>
                  <a:pt x="1271058" y="789907"/>
                </a:lnTo>
                <a:lnTo>
                  <a:pt x="1249960" y="830695"/>
                </a:lnTo>
                <a:lnTo>
                  <a:pt x="1217791" y="862864"/>
                </a:lnTo>
                <a:lnTo>
                  <a:pt x="1177003" y="883962"/>
                </a:lnTo>
                <a:lnTo>
                  <a:pt x="1130045" y="891539"/>
                </a:lnTo>
                <a:lnTo>
                  <a:pt x="148589" y="891539"/>
                </a:lnTo>
                <a:lnTo>
                  <a:pt x="101632" y="883962"/>
                </a:lnTo>
                <a:lnTo>
                  <a:pt x="60844" y="862864"/>
                </a:lnTo>
                <a:lnTo>
                  <a:pt x="28675" y="830695"/>
                </a:lnTo>
                <a:lnTo>
                  <a:pt x="7577" y="789907"/>
                </a:lnTo>
                <a:lnTo>
                  <a:pt x="0" y="742950"/>
                </a:lnTo>
                <a:lnTo>
                  <a:pt x="0" y="148589"/>
                </a:lnTo>
                <a:close/>
              </a:path>
              <a:path w="6460490" h="891539">
                <a:moveTo>
                  <a:pt x="5181599" y="148589"/>
                </a:moveTo>
                <a:lnTo>
                  <a:pt x="5189177" y="101632"/>
                </a:lnTo>
                <a:lnTo>
                  <a:pt x="5210275" y="60844"/>
                </a:lnTo>
                <a:lnTo>
                  <a:pt x="5242444" y="28675"/>
                </a:lnTo>
                <a:lnTo>
                  <a:pt x="5283232" y="7577"/>
                </a:lnTo>
                <a:lnTo>
                  <a:pt x="5330190" y="0"/>
                </a:lnTo>
                <a:lnTo>
                  <a:pt x="6311645" y="0"/>
                </a:lnTo>
                <a:lnTo>
                  <a:pt x="6358603" y="7577"/>
                </a:lnTo>
                <a:lnTo>
                  <a:pt x="6399391" y="28675"/>
                </a:lnTo>
                <a:lnTo>
                  <a:pt x="6431560" y="60844"/>
                </a:lnTo>
                <a:lnTo>
                  <a:pt x="6452658" y="101632"/>
                </a:lnTo>
                <a:lnTo>
                  <a:pt x="6460236" y="148589"/>
                </a:lnTo>
                <a:lnTo>
                  <a:pt x="6460236" y="742950"/>
                </a:lnTo>
                <a:lnTo>
                  <a:pt x="6452658" y="789907"/>
                </a:lnTo>
                <a:lnTo>
                  <a:pt x="6431560" y="830695"/>
                </a:lnTo>
                <a:lnTo>
                  <a:pt x="6399391" y="862864"/>
                </a:lnTo>
                <a:lnTo>
                  <a:pt x="6358603" y="883962"/>
                </a:lnTo>
                <a:lnTo>
                  <a:pt x="6311645" y="891539"/>
                </a:lnTo>
                <a:lnTo>
                  <a:pt x="5330190" y="891539"/>
                </a:lnTo>
                <a:lnTo>
                  <a:pt x="5283232" y="883962"/>
                </a:lnTo>
                <a:lnTo>
                  <a:pt x="5242444" y="862864"/>
                </a:lnTo>
                <a:lnTo>
                  <a:pt x="5210275" y="830695"/>
                </a:lnTo>
                <a:lnTo>
                  <a:pt x="5189177" y="789907"/>
                </a:lnTo>
                <a:lnTo>
                  <a:pt x="5181599" y="742950"/>
                </a:lnTo>
                <a:lnTo>
                  <a:pt x="5181599" y="14858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29730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DC Sim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1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65147" y="3240023"/>
            <a:ext cx="9062085" cy="2954020"/>
            <a:chOff x="1565147" y="3240023"/>
            <a:chExt cx="9062085" cy="29540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5147" y="3240023"/>
              <a:ext cx="9061704" cy="29535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59268" y="3661790"/>
              <a:ext cx="421640" cy="342265"/>
            </a:xfrm>
            <a:custGeom>
              <a:avLst/>
              <a:gdLst/>
              <a:ahLst/>
              <a:cxnLst/>
              <a:rect l="l" t="t" r="r" b="b"/>
              <a:pathLst>
                <a:path w="421640" h="342264">
                  <a:moveTo>
                    <a:pt x="35305" y="264794"/>
                  </a:moveTo>
                  <a:lnTo>
                    <a:pt x="0" y="342264"/>
                  </a:lnTo>
                  <a:lnTo>
                    <a:pt x="83184" y="323976"/>
                  </a:lnTo>
                  <a:lnTo>
                    <a:pt x="69725" y="307339"/>
                  </a:lnTo>
                  <a:lnTo>
                    <a:pt x="53339" y="307339"/>
                  </a:lnTo>
                  <a:lnTo>
                    <a:pt x="45338" y="297433"/>
                  </a:lnTo>
                  <a:lnTo>
                    <a:pt x="55237" y="289431"/>
                  </a:lnTo>
                  <a:lnTo>
                    <a:pt x="35305" y="264794"/>
                  </a:lnTo>
                  <a:close/>
                </a:path>
                <a:path w="421640" h="342264">
                  <a:moveTo>
                    <a:pt x="55237" y="289431"/>
                  </a:moveTo>
                  <a:lnTo>
                    <a:pt x="45338" y="297433"/>
                  </a:lnTo>
                  <a:lnTo>
                    <a:pt x="53339" y="307339"/>
                  </a:lnTo>
                  <a:lnTo>
                    <a:pt x="63246" y="299331"/>
                  </a:lnTo>
                  <a:lnTo>
                    <a:pt x="55237" y="289431"/>
                  </a:lnTo>
                  <a:close/>
                </a:path>
                <a:path w="421640" h="342264">
                  <a:moveTo>
                    <a:pt x="63246" y="299331"/>
                  </a:moveTo>
                  <a:lnTo>
                    <a:pt x="53339" y="307339"/>
                  </a:lnTo>
                  <a:lnTo>
                    <a:pt x="69725" y="307339"/>
                  </a:lnTo>
                  <a:lnTo>
                    <a:pt x="63246" y="299331"/>
                  </a:lnTo>
                  <a:close/>
                </a:path>
                <a:path w="421640" h="342264">
                  <a:moveTo>
                    <a:pt x="413257" y="0"/>
                  </a:moveTo>
                  <a:lnTo>
                    <a:pt x="55237" y="289431"/>
                  </a:lnTo>
                  <a:lnTo>
                    <a:pt x="63246" y="299331"/>
                  </a:lnTo>
                  <a:lnTo>
                    <a:pt x="421258" y="9905"/>
                  </a:lnTo>
                  <a:lnTo>
                    <a:pt x="413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858514" y="400049"/>
            <a:ext cx="65036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Voltage</a:t>
            </a:r>
            <a:r>
              <a:rPr sz="2800" spc="-90" dirty="0"/>
              <a:t> </a:t>
            </a:r>
            <a:r>
              <a:rPr sz="2800" spc="-25" dirty="0"/>
              <a:t>reference</a:t>
            </a:r>
            <a:r>
              <a:rPr sz="2800" spc="-60" dirty="0"/>
              <a:t> </a:t>
            </a:r>
            <a:r>
              <a:rPr sz="2800" dirty="0"/>
              <a:t>DC</a:t>
            </a:r>
            <a:r>
              <a:rPr sz="2800" spc="-75" dirty="0"/>
              <a:t> </a:t>
            </a:r>
            <a:r>
              <a:rPr sz="2800" dirty="0"/>
              <a:t>simulation</a:t>
            </a:r>
            <a:r>
              <a:rPr sz="2800" spc="-85" dirty="0"/>
              <a:t> </a:t>
            </a:r>
            <a:r>
              <a:rPr sz="2800" spc="-10" dirty="0"/>
              <a:t>environment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3275457" y="1125728"/>
            <a:ext cx="7380605" cy="2610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Both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implementations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generator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placed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into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same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schematic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order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perform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comparative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simulations.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same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will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done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two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produced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work.</a:t>
            </a:r>
            <a:endParaRPr sz="1800">
              <a:latin typeface="Calibri Light"/>
              <a:cs typeface="Calibri Light"/>
            </a:endParaRPr>
          </a:p>
          <a:p>
            <a:pPr marL="12700" marR="25527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now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these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two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version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will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referred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Classic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Centroid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image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below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shows.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800">
              <a:latin typeface="Calibri Light"/>
              <a:cs typeface="Calibri Light"/>
            </a:endParaRPr>
          </a:p>
          <a:p>
            <a:pPr marR="1649095" algn="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Classic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59268" y="4766690"/>
            <a:ext cx="421640" cy="342265"/>
          </a:xfrm>
          <a:custGeom>
            <a:avLst/>
            <a:gdLst/>
            <a:ahLst/>
            <a:cxnLst/>
            <a:rect l="l" t="t" r="r" b="b"/>
            <a:pathLst>
              <a:path w="421640" h="342264">
                <a:moveTo>
                  <a:pt x="35305" y="264794"/>
                </a:moveTo>
                <a:lnTo>
                  <a:pt x="0" y="342264"/>
                </a:lnTo>
                <a:lnTo>
                  <a:pt x="83184" y="323976"/>
                </a:lnTo>
                <a:lnTo>
                  <a:pt x="69725" y="307339"/>
                </a:lnTo>
                <a:lnTo>
                  <a:pt x="53339" y="307339"/>
                </a:lnTo>
                <a:lnTo>
                  <a:pt x="45338" y="297433"/>
                </a:lnTo>
                <a:lnTo>
                  <a:pt x="55237" y="289431"/>
                </a:lnTo>
                <a:lnTo>
                  <a:pt x="35305" y="264794"/>
                </a:lnTo>
                <a:close/>
              </a:path>
              <a:path w="421640" h="342264">
                <a:moveTo>
                  <a:pt x="55237" y="289431"/>
                </a:moveTo>
                <a:lnTo>
                  <a:pt x="45338" y="297433"/>
                </a:lnTo>
                <a:lnTo>
                  <a:pt x="53339" y="307339"/>
                </a:lnTo>
                <a:lnTo>
                  <a:pt x="63246" y="299331"/>
                </a:lnTo>
                <a:lnTo>
                  <a:pt x="55237" y="289431"/>
                </a:lnTo>
                <a:close/>
              </a:path>
              <a:path w="421640" h="342264">
                <a:moveTo>
                  <a:pt x="63246" y="299331"/>
                </a:moveTo>
                <a:lnTo>
                  <a:pt x="53339" y="307339"/>
                </a:lnTo>
                <a:lnTo>
                  <a:pt x="69725" y="307339"/>
                </a:lnTo>
                <a:lnTo>
                  <a:pt x="63246" y="299331"/>
                </a:lnTo>
                <a:close/>
              </a:path>
              <a:path w="421640" h="342264">
                <a:moveTo>
                  <a:pt x="413257" y="0"/>
                </a:moveTo>
                <a:lnTo>
                  <a:pt x="55237" y="289431"/>
                </a:lnTo>
                <a:lnTo>
                  <a:pt x="63246" y="299331"/>
                </a:lnTo>
                <a:lnTo>
                  <a:pt x="421258" y="9905"/>
                </a:lnTo>
                <a:lnTo>
                  <a:pt x="4132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374126" y="4541977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Centroid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855" y="600455"/>
            <a:ext cx="10285476" cy="59237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278890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 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10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550" y="2293365"/>
            <a:ext cx="277431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classic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version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always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presents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lower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due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source-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gate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voltage difference</a:t>
            </a: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previously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seen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by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means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operation point.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circuit,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range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between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30°C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45°C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highlighted.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Even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presenting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little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offset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variation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similar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be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computed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as: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9900" y="5905169"/>
            <a:ext cx="1384300" cy="15240"/>
          </a:xfrm>
          <a:custGeom>
            <a:avLst/>
            <a:gdLst/>
            <a:ahLst/>
            <a:cxnLst/>
            <a:rect l="l" t="t" r="r" b="b"/>
            <a:pathLst>
              <a:path w="1384300" h="15239">
                <a:moveTo>
                  <a:pt x="1383753" y="0"/>
                </a:moveTo>
                <a:lnTo>
                  <a:pt x="0" y="0"/>
                </a:lnTo>
                <a:lnTo>
                  <a:pt x="0" y="15240"/>
                </a:lnTo>
                <a:lnTo>
                  <a:pt x="1383753" y="15240"/>
                </a:lnTo>
                <a:lnTo>
                  <a:pt x="13837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7314" y="5564530"/>
            <a:ext cx="140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1.655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1.645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0318" y="5890666"/>
            <a:ext cx="581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1.655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2897" y="5738266"/>
            <a:ext cx="137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100</a:t>
            </a:r>
            <a:r>
              <a:rPr sz="1800" spc="9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≅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0.6%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540" rIns="0" bIns="0" rtlCol="0">
            <a:spAutoFit/>
          </a:bodyPr>
          <a:lstStyle/>
          <a:p>
            <a:pPr marL="2250440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Voltage</a:t>
            </a:r>
            <a:r>
              <a:rPr sz="2800" spc="-80" dirty="0"/>
              <a:t> </a:t>
            </a:r>
            <a:r>
              <a:rPr sz="2800" spc="-25" dirty="0"/>
              <a:t>reference</a:t>
            </a:r>
            <a:r>
              <a:rPr sz="2800" spc="-65" dirty="0"/>
              <a:t> </a:t>
            </a:r>
            <a:r>
              <a:rPr sz="2800" spc="-20" dirty="0"/>
              <a:t>temperature</a:t>
            </a:r>
            <a:r>
              <a:rPr sz="2800" spc="-60" dirty="0"/>
              <a:t> </a:t>
            </a:r>
            <a:r>
              <a:rPr sz="2800" spc="-10" dirty="0"/>
              <a:t>sweep</a:t>
            </a:r>
            <a:endParaRPr sz="2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27825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 Line</a:t>
            </a:r>
            <a:r>
              <a:rPr sz="10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0116" y="688848"/>
            <a:ext cx="10131552" cy="583692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540" rIns="0" bIns="0" rtlCol="0">
            <a:spAutoFit/>
          </a:bodyPr>
          <a:lstStyle/>
          <a:p>
            <a:pPr marL="2591435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Voltage</a:t>
            </a:r>
            <a:r>
              <a:rPr sz="2800" spc="-80" dirty="0"/>
              <a:t> </a:t>
            </a:r>
            <a:r>
              <a:rPr sz="2800" spc="-25" dirty="0"/>
              <a:t>reference</a:t>
            </a:r>
            <a:r>
              <a:rPr sz="2800" spc="-60" dirty="0"/>
              <a:t> </a:t>
            </a:r>
            <a:r>
              <a:rPr sz="2800" dirty="0"/>
              <a:t>Line</a:t>
            </a:r>
            <a:r>
              <a:rPr sz="2800" spc="-70" dirty="0"/>
              <a:t> </a:t>
            </a:r>
            <a:r>
              <a:rPr sz="2800" spc="-10" dirty="0"/>
              <a:t>regulation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423672" y="2468626"/>
            <a:ext cx="2792730" cy="308800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 marR="30480">
              <a:lnSpc>
                <a:spcPct val="101600"/>
              </a:lnSpc>
              <a:spcBef>
                <a:spcPts val="6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Over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course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VDD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growth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r>
              <a:rPr sz="1950" spc="247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follows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power-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upper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PMOS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devices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connect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r>
              <a:rPr sz="1950" spc="30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VDD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until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enough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bring</a:t>
            </a:r>
            <a:r>
              <a:rPr sz="1800" spc="5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NMOS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into</a:t>
            </a:r>
            <a:r>
              <a:rPr sz="1800" spc="5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saturation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region.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Then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pulled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down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settles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value.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12520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adj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120" y="661416"/>
            <a:ext cx="10309860" cy="593902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540" rIns="0" bIns="0" rtlCol="0">
            <a:spAutoFit/>
          </a:bodyPr>
          <a:lstStyle/>
          <a:p>
            <a:pPr marL="2701290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Voltage</a:t>
            </a:r>
            <a:r>
              <a:rPr sz="2800" spc="-75" dirty="0"/>
              <a:t> </a:t>
            </a:r>
            <a:r>
              <a:rPr sz="2800" spc="-25" dirty="0"/>
              <a:t>reference</a:t>
            </a:r>
            <a:r>
              <a:rPr sz="2800" spc="-60" dirty="0"/>
              <a:t> </a:t>
            </a:r>
            <a:r>
              <a:rPr sz="2800" dirty="0"/>
              <a:t>PSRR</a:t>
            </a:r>
            <a:r>
              <a:rPr sz="2800" spc="-60" dirty="0"/>
              <a:t> </a:t>
            </a:r>
            <a:r>
              <a:rPr sz="2800" spc="-10" dirty="0"/>
              <a:t>analysis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362813" y="2646045"/>
            <a:ext cx="282575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points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interest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are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highlighted.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endParaRPr sz="1800">
              <a:latin typeface="Calibri Light"/>
              <a:cs typeface="Calibri Ligh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-13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frequency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around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20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MHz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falls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down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-24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higher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frequency.</a:t>
            </a:r>
            <a:endParaRPr sz="1800">
              <a:latin typeface="Calibri Light"/>
              <a:cs typeface="Calibri Light"/>
            </a:endParaRPr>
          </a:p>
          <a:p>
            <a:pPr marL="12700" marR="3556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-43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Centroid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shows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5% increment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peak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PSRR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performances.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332" y="745236"/>
            <a:ext cx="10308336" cy="593902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13855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Temp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 Tran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050" rIns="0" bIns="0" rtlCol="0">
            <a:spAutoFit/>
          </a:bodyPr>
          <a:lstStyle/>
          <a:p>
            <a:pPr marL="235140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Voltage</a:t>
            </a:r>
            <a:r>
              <a:rPr spc="-110" dirty="0"/>
              <a:t> </a:t>
            </a:r>
            <a:r>
              <a:rPr spc="-25" dirty="0"/>
              <a:t>reference</a:t>
            </a:r>
            <a:r>
              <a:rPr spc="-105" dirty="0"/>
              <a:t> </a:t>
            </a:r>
            <a:r>
              <a:rPr spc="-10" dirty="0"/>
              <a:t>transient</a:t>
            </a:r>
            <a:r>
              <a:rPr spc="-12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9072" y="2437257"/>
            <a:ext cx="2480310" cy="359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analysis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performed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applying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step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signal to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VDD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𝜇𝑠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delay.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right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plot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are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shown</a:t>
            </a:r>
            <a:r>
              <a:rPr sz="1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start-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up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time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both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circuits: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217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Classic: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≈</a:t>
            </a:r>
            <a:r>
              <a:rPr sz="1800" spc="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97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𝜇𝑠</a:t>
            </a:r>
            <a:endParaRPr sz="1800">
              <a:latin typeface="Cambria Math"/>
              <a:cs typeface="Cambria Math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Centroid: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≈</a:t>
            </a:r>
            <a:r>
              <a:rPr sz="1800" spc="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98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𝜇𝑠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ambria Math"/>
              <a:cs typeface="Cambria Math"/>
            </a:endParaRPr>
          </a:p>
          <a:p>
            <a:pPr marL="12700" marR="80645" algn="just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Both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them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reaches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same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1.656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V.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7030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 Tran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0096" y="397763"/>
            <a:ext cx="10523220" cy="60624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8574" y="2262885"/>
            <a:ext cx="2964815" cy="361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8445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designed,</a:t>
            </a:r>
            <a:r>
              <a:rPr sz="1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start-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up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𝑀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)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keeps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high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node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until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capacitor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(green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line)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reaches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¾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VDD.</a:t>
            </a:r>
            <a:endParaRPr sz="1800">
              <a:latin typeface="Calibri Light"/>
              <a:cs typeface="Calibri Light"/>
            </a:endParaRPr>
          </a:p>
          <a:p>
            <a:pPr marL="38100" marR="304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Then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across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1800" spc="5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drops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down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meantime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starts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to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flow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0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V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stability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point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abandoned.</a:t>
            </a:r>
            <a:endParaRPr sz="1800">
              <a:latin typeface="Calibri Light"/>
              <a:cs typeface="Calibri Light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Indeed,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𝑟𝑒𝑓</a:t>
            </a:r>
            <a:r>
              <a:rPr sz="1950" spc="270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starts</a:t>
            </a:r>
            <a:endParaRPr sz="1800">
              <a:latin typeface="Calibri Light"/>
              <a:cs typeface="Calibri Light"/>
            </a:endParaRPr>
          </a:p>
          <a:p>
            <a:pPr marL="381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growing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markers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M35</a:t>
            </a:r>
            <a:endParaRPr sz="1800">
              <a:latin typeface="Calibri Light"/>
              <a:cs typeface="Calibri Light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M36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show.</a:t>
            </a:r>
            <a:endParaRPr sz="180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14444" y="2244851"/>
            <a:ext cx="2174875" cy="2174875"/>
            <a:chOff x="4314444" y="2244851"/>
            <a:chExt cx="2174875" cy="21748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444" y="2244851"/>
              <a:ext cx="2174748" cy="21747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7802" y="3515867"/>
              <a:ext cx="283210" cy="756920"/>
            </a:xfrm>
            <a:custGeom>
              <a:avLst/>
              <a:gdLst/>
              <a:ahLst/>
              <a:cxnLst/>
              <a:rect l="l" t="t" r="r" b="b"/>
              <a:pathLst>
                <a:path w="283210" h="756920">
                  <a:moveTo>
                    <a:pt x="240995" y="69799"/>
                  </a:moveTo>
                  <a:lnTo>
                    <a:pt x="0" y="752475"/>
                  </a:lnTo>
                  <a:lnTo>
                    <a:pt x="11937" y="756666"/>
                  </a:lnTo>
                  <a:lnTo>
                    <a:pt x="252924" y="74015"/>
                  </a:lnTo>
                  <a:lnTo>
                    <a:pt x="240995" y="69799"/>
                  </a:lnTo>
                  <a:close/>
                </a:path>
                <a:path w="283210" h="756920">
                  <a:moveTo>
                    <a:pt x="279489" y="57785"/>
                  </a:moveTo>
                  <a:lnTo>
                    <a:pt x="245237" y="57785"/>
                  </a:lnTo>
                  <a:lnTo>
                    <a:pt x="257175" y="61976"/>
                  </a:lnTo>
                  <a:lnTo>
                    <a:pt x="252924" y="74015"/>
                  </a:lnTo>
                  <a:lnTo>
                    <a:pt x="282829" y="84582"/>
                  </a:lnTo>
                  <a:lnTo>
                    <a:pt x="279489" y="57785"/>
                  </a:lnTo>
                  <a:close/>
                </a:path>
                <a:path w="283210" h="756920">
                  <a:moveTo>
                    <a:pt x="245237" y="57785"/>
                  </a:moveTo>
                  <a:lnTo>
                    <a:pt x="240995" y="69799"/>
                  </a:lnTo>
                  <a:lnTo>
                    <a:pt x="252924" y="74015"/>
                  </a:lnTo>
                  <a:lnTo>
                    <a:pt x="257175" y="61976"/>
                  </a:lnTo>
                  <a:lnTo>
                    <a:pt x="245237" y="57785"/>
                  </a:lnTo>
                  <a:close/>
                </a:path>
                <a:path w="283210" h="756920">
                  <a:moveTo>
                    <a:pt x="272288" y="0"/>
                  </a:moveTo>
                  <a:lnTo>
                    <a:pt x="210947" y="59182"/>
                  </a:lnTo>
                  <a:lnTo>
                    <a:pt x="240995" y="69799"/>
                  </a:lnTo>
                  <a:lnTo>
                    <a:pt x="245237" y="57785"/>
                  </a:lnTo>
                  <a:lnTo>
                    <a:pt x="279489" y="57785"/>
                  </a:lnTo>
                  <a:lnTo>
                    <a:pt x="272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89728" y="4253865"/>
            <a:ext cx="598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VStart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1739" y="714755"/>
            <a:ext cx="9596627" cy="57759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25031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0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261864" y="50114"/>
            <a:ext cx="42672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Voltage</a:t>
            </a:r>
            <a:r>
              <a:rPr spc="-135" dirty="0"/>
              <a:t> </a:t>
            </a:r>
            <a:r>
              <a:rPr spc="-25" dirty="0"/>
              <a:t>reference</a:t>
            </a:r>
            <a:r>
              <a:rPr spc="-120" dirty="0"/>
              <a:t> </a:t>
            </a:r>
            <a:r>
              <a:rPr spc="-10" dirty="0"/>
              <a:t>LAYOUT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8714" y="2282190"/>
            <a:ext cx="2259965" cy="332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24574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mentioned,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two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800" spc="-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version</a:t>
            </a:r>
            <a:r>
              <a:rPr sz="1800" spc="-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have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implemented.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difference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only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cascode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mirror.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will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discussed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subsequent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slide.</a:t>
            </a:r>
            <a:endParaRPr sz="1800">
              <a:latin typeface="Calibri Light"/>
              <a:cs typeface="Calibri Light"/>
            </a:endParaRPr>
          </a:p>
          <a:p>
            <a:pPr marL="508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total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area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endParaRPr sz="1800">
              <a:latin typeface="Calibri Light"/>
              <a:cs typeface="Calibri Light"/>
            </a:endParaRPr>
          </a:p>
          <a:p>
            <a:pPr marL="508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same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both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cells:</a:t>
            </a:r>
            <a:endParaRPr sz="1800">
              <a:latin typeface="Calibri Light"/>
              <a:cs typeface="Calibri Light"/>
            </a:endParaRPr>
          </a:p>
          <a:p>
            <a:pPr marL="50800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≈</a:t>
            </a:r>
            <a:r>
              <a:rPr sz="1800" spc="7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4787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r>
              <a:rPr sz="1950" spc="-37" baseline="27777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69638" y="6464604"/>
            <a:ext cx="825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Centroid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63202" y="6467652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Classic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34048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0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IIv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15005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LAYOUT</a:t>
            </a:r>
            <a:r>
              <a:rPr spc="-85" dirty="0"/>
              <a:t> </a:t>
            </a:r>
            <a:r>
              <a:rPr dirty="0"/>
              <a:t>-</a:t>
            </a:r>
            <a:r>
              <a:rPr spc="-95" dirty="0"/>
              <a:t> </a:t>
            </a:r>
            <a:r>
              <a:rPr dirty="0"/>
              <a:t>Common</a:t>
            </a:r>
            <a:r>
              <a:rPr spc="-70" dirty="0"/>
              <a:t> </a:t>
            </a:r>
            <a:r>
              <a:rPr spc="-10" dirty="0"/>
              <a:t>parts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72883" y="609600"/>
            <a:ext cx="4800600" cy="6010910"/>
            <a:chOff x="7072883" y="609600"/>
            <a:chExt cx="4800600" cy="6010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2883" y="694943"/>
              <a:ext cx="4780787" cy="57759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155941" y="1218437"/>
              <a:ext cx="1065530" cy="1879600"/>
            </a:xfrm>
            <a:custGeom>
              <a:avLst/>
              <a:gdLst/>
              <a:ahLst/>
              <a:cxnLst/>
              <a:rect l="l" t="t" r="r" b="b"/>
              <a:pathLst>
                <a:path w="1065529" h="1879600">
                  <a:moveTo>
                    <a:pt x="0" y="177546"/>
                  </a:moveTo>
                  <a:lnTo>
                    <a:pt x="6342" y="130351"/>
                  </a:lnTo>
                  <a:lnTo>
                    <a:pt x="24242" y="87940"/>
                  </a:lnTo>
                  <a:lnTo>
                    <a:pt x="52006" y="52006"/>
                  </a:lnTo>
                  <a:lnTo>
                    <a:pt x="87940" y="24242"/>
                  </a:lnTo>
                  <a:lnTo>
                    <a:pt x="130351" y="6342"/>
                  </a:lnTo>
                  <a:lnTo>
                    <a:pt x="177546" y="0"/>
                  </a:lnTo>
                  <a:lnTo>
                    <a:pt x="887729" y="0"/>
                  </a:lnTo>
                  <a:lnTo>
                    <a:pt x="934924" y="6342"/>
                  </a:lnTo>
                  <a:lnTo>
                    <a:pt x="977335" y="24242"/>
                  </a:lnTo>
                  <a:lnTo>
                    <a:pt x="1013269" y="52006"/>
                  </a:lnTo>
                  <a:lnTo>
                    <a:pt x="1041033" y="87940"/>
                  </a:lnTo>
                  <a:lnTo>
                    <a:pt x="1058933" y="130351"/>
                  </a:lnTo>
                  <a:lnTo>
                    <a:pt x="1065276" y="177546"/>
                  </a:lnTo>
                  <a:lnTo>
                    <a:pt x="1065276" y="1701546"/>
                  </a:lnTo>
                  <a:lnTo>
                    <a:pt x="1058933" y="1748740"/>
                  </a:lnTo>
                  <a:lnTo>
                    <a:pt x="1041033" y="1791151"/>
                  </a:lnTo>
                  <a:lnTo>
                    <a:pt x="1013269" y="1827085"/>
                  </a:lnTo>
                  <a:lnTo>
                    <a:pt x="977335" y="1854849"/>
                  </a:lnTo>
                  <a:lnTo>
                    <a:pt x="934924" y="1872749"/>
                  </a:lnTo>
                  <a:lnTo>
                    <a:pt x="887729" y="1879091"/>
                  </a:lnTo>
                  <a:lnTo>
                    <a:pt x="177546" y="1879091"/>
                  </a:lnTo>
                  <a:lnTo>
                    <a:pt x="130351" y="1872749"/>
                  </a:lnTo>
                  <a:lnTo>
                    <a:pt x="87940" y="1854849"/>
                  </a:lnTo>
                  <a:lnTo>
                    <a:pt x="52006" y="1827085"/>
                  </a:lnTo>
                  <a:lnTo>
                    <a:pt x="24242" y="1791151"/>
                  </a:lnTo>
                  <a:lnTo>
                    <a:pt x="6342" y="1748740"/>
                  </a:lnTo>
                  <a:lnTo>
                    <a:pt x="0" y="1701546"/>
                  </a:lnTo>
                  <a:lnTo>
                    <a:pt x="0" y="177546"/>
                  </a:lnTo>
                  <a:close/>
                </a:path>
              </a:pathLst>
            </a:custGeom>
            <a:ln w="381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706861" y="628650"/>
              <a:ext cx="1148080" cy="2557780"/>
            </a:xfrm>
            <a:custGeom>
              <a:avLst/>
              <a:gdLst/>
              <a:ahLst/>
              <a:cxnLst/>
              <a:rect l="l" t="t" r="r" b="b"/>
              <a:pathLst>
                <a:path w="1148079" h="2557780">
                  <a:moveTo>
                    <a:pt x="0" y="191262"/>
                  </a:moveTo>
                  <a:lnTo>
                    <a:pt x="5049" y="147397"/>
                  </a:lnTo>
                  <a:lnTo>
                    <a:pt x="19434" y="107135"/>
                  </a:lnTo>
                  <a:lnTo>
                    <a:pt x="42007" y="71623"/>
                  </a:lnTo>
                  <a:lnTo>
                    <a:pt x="71623" y="42007"/>
                  </a:lnTo>
                  <a:lnTo>
                    <a:pt x="107135" y="19434"/>
                  </a:lnTo>
                  <a:lnTo>
                    <a:pt x="147397" y="5049"/>
                  </a:lnTo>
                  <a:lnTo>
                    <a:pt x="191262" y="0"/>
                  </a:lnTo>
                  <a:lnTo>
                    <a:pt x="956310" y="0"/>
                  </a:lnTo>
                  <a:lnTo>
                    <a:pt x="1000174" y="5049"/>
                  </a:lnTo>
                  <a:lnTo>
                    <a:pt x="1040436" y="19434"/>
                  </a:lnTo>
                  <a:lnTo>
                    <a:pt x="1075948" y="42007"/>
                  </a:lnTo>
                  <a:lnTo>
                    <a:pt x="1105564" y="71623"/>
                  </a:lnTo>
                  <a:lnTo>
                    <a:pt x="1128137" y="107135"/>
                  </a:lnTo>
                  <a:lnTo>
                    <a:pt x="1142522" y="147397"/>
                  </a:lnTo>
                  <a:lnTo>
                    <a:pt x="1147572" y="191262"/>
                  </a:lnTo>
                  <a:lnTo>
                    <a:pt x="1147572" y="2366010"/>
                  </a:lnTo>
                  <a:lnTo>
                    <a:pt x="1142522" y="2409874"/>
                  </a:lnTo>
                  <a:lnTo>
                    <a:pt x="1128137" y="2450136"/>
                  </a:lnTo>
                  <a:lnTo>
                    <a:pt x="1105564" y="2485648"/>
                  </a:lnTo>
                  <a:lnTo>
                    <a:pt x="1075948" y="2515264"/>
                  </a:lnTo>
                  <a:lnTo>
                    <a:pt x="1040436" y="2537837"/>
                  </a:lnTo>
                  <a:lnTo>
                    <a:pt x="1000174" y="2552222"/>
                  </a:lnTo>
                  <a:lnTo>
                    <a:pt x="956310" y="2557272"/>
                  </a:lnTo>
                  <a:lnTo>
                    <a:pt x="191262" y="2557272"/>
                  </a:lnTo>
                  <a:lnTo>
                    <a:pt x="147397" y="2552222"/>
                  </a:lnTo>
                  <a:lnTo>
                    <a:pt x="107135" y="2537837"/>
                  </a:lnTo>
                  <a:lnTo>
                    <a:pt x="71623" y="2515264"/>
                  </a:lnTo>
                  <a:lnTo>
                    <a:pt x="42007" y="2485648"/>
                  </a:lnTo>
                  <a:lnTo>
                    <a:pt x="19434" y="2450136"/>
                  </a:lnTo>
                  <a:lnTo>
                    <a:pt x="5049" y="2409874"/>
                  </a:lnTo>
                  <a:lnTo>
                    <a:pt x="0" y="2366010"/>
                  </a:lnTo>
                  <a:lnTo>
                    <a:pt x="0" y="191262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38509" y="4045458"/>
              <a:ext cx="833755" cy="2555875"/>
            </a:xfrm>
            <a:custGeom>
              <a:avLst/>
              <a:gdLst/>
              <a:ahLst/>
              <a:cxnLst/>
              <a:rect l="l" t="t" r="r" b="b"/>
              <a:pathLst>
                <a:path w="833754" h="2555875">
                  <a:moveTo>
                    <a:pt x="0" y="138938"/>
                  </a:moveTo>
                  <a:lnTo>
                    <a:pt x="7085" y="95032"/>
                  </a:lnTo>
                  <a:lnTo>
                    <a:pt x="26814" y="56893"/>
                  </a:lnTo>
                  <a:lnTo>
                    <a:pt x="56893" y="26814"/>
                  </a:lnTo>
                  <a:lnTo>
                    <a:pt x="95032" y="7085"/>
                  </a:lnTo>
                  <a:lnTo>
                    <a:pt x="138938" y="0"/>
                  </a:lnTo>
                  <a:lnTo>
                    <a:pt x="694690" y="0"/>
                  </a:lnTo>
                  <a:lnTo>
                    <a:pt x="738595" y="7085"/>
                  </a:lnTo>
                  <a:lnTo>
                    <a:pt x="776734" y="26814"/>
                  </a:lnTo>
                  <a:lnTo>
                    <a:pt x="806813" y="56893"/>
                  </a:lnTo>
                  <a:lnTo>
                    <a:pt x="826542" y="95032"/>
                  </a:lnTo>
                  <a:lnTo>
                    <a:pt x="833628" y="138938"/>
                  </a:lnTo>
                  <a:lnTo>
                    <a:pt x="833628" y="2416810"/>
                  </a:lnTo>
                  <a:lnTo>
                    <a:pt x="826542" y="2460725"/>
                  </a:lnTo>
                  <a:lnTo>
                    <a:pt x="806813" y="2498865"/>
                  </a:lnTo>
                  <a:lnTo>
                    <a:pt x="776734" y="2528941"/>
                  </a:lnTo>
                  <a:lnTo>
                    <a:pt x="738595" y="2548664"/>
                  </a:lnTo>
                  <a:lnTo>
                    <a:pt x="694690" y="2555748"/>
                  </a:lnTo>
                  <a:lnTo>
                    <a:pt x="138938" y="2555748"/>
                  </a:lnTo>
                  <a:lnTo>
                    <a:pt x="95032" y="2548664"/>
                  </a:lnTo>
                  <a:lnTo>
                    <a:pt x="56893" y="2528941"/>
                  </a:lnTo>
                  <a:lnTo>
                    <a:pt x="26814" y="2498865"/>
                  </a:lnTo>
                  <a:lnTo>
                    <a:pt x="7085" y="2460725"/>
                  </a:lnTo>
                  <a:lnTo>
                    <a:pt x="0" y="2416810"/>
                  </a:lnTo>
                  <a:lnTo>
                    <a:pt x="0" y="138938"/>
                  </a:lnTo>
                  <a:close/>
                </a:path>
              </a:pathLst>
            </a:custGeom>
            <a:ln w="381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55941" y="3300222"/>
              <a:ext cx="833755" cy="3237230"/>
            </a:xfrm>
            <a:custGeom>
              <a:avLst/>
              <a:gdLst/>
              <a:ahLst/>
              <a:cxnLst/>
              <a:rect l="l" t="t" r="r" b="b"/>
              <a:pathLst>
                <a:path w="833754" h="3237229">
                  <a:moveTo>
                    <a:pt x="0" y="138937"/>
                  </a:moveTo>
                  <a:lnTo>
                    <a:pt x="7085" y="95032"/>
                  </a:lnTo>
                  <a:lnTo>
                    <a:pt x="26814" y="56893"/>
                  </a:lnTo>
                  <a:lnTo>
                    <a:pt x="56893" y="26814"/>
                  </a:lnTo>
                  <a:lnTo>
                    <a:pt x="95032" y="7085"/>
                  </a:lnTo>
                  <a:lnTo>
                    <a:pt x="138937" y="0"/>
                  </a:lnTo>
                  <a:lnTo>
                    <a:pt x="694689" y="0"/>
                  </a:lnTo>
                  <a:lnTo>
                    <a:pt x="738595" y="7085"/>
                  </a:lnTo>
                  <a:lnTo>
                    <a:pt x="776734" y="26814"/>
                  </a:lnTo>
                  <a:lnTo>
                    <a:pt x="806813" y="56893"/>
                  </a:lnTo>
                  <a:lnTo>
                    <a:pt x="826542" y="95032"/>
                  </a:lnTo>
                  <a:lnTo>
                    <a:pt x="833627" y="138937"/>
                  </a:lnTo>
                  <a:lnTo>
                    <a:pt x="833627" y="3098038"/>
                  </a:lnTo>
                  <a:lnTo>
                    <a:pt x="826542" y="3141953"/>
                  </a:lnTo>
                  <a:lnTo>
                    <a:pt x="806813" y="3180093"/>
                  </a:lnTo>
                  <a:lnTo>
                    <a:pt x="776734" y="3210169"/>
                  </a:lnTo>
                  <a:lnTo>
                    <a:pt x="738595" y="3229892"/>
                  </a:lnTo>
                  <a:lnTo>
                    <a:pt x="694689" y="3236976"/>
                  </a:lnTo>
                  <a:lnTo>
                    <a:pt x="138937" y="3236976"/>
                  </a:lnTo>
                  <a:lnTo>
                    <a:pt x="95032" y="3229892"/>
                  </a:lnTo>
                  <a:lnTo>
                    <a:pt x="56893" y="3210169"/>
                  </a:lnTo>
                  <a:lnTo>
                    <a:pt x="26814" y="3180093"/>
                  </a:lnTo>
                  <a:lnTo>
                    <a:pt x="7085" y="3141953"/>
                  </a:lnTo>
                  <a:lnTo>
                    <a:pt x="0" y="3098038"/>
                  </a:lnTo>
                  <a:lnTo>
                    <a:pt x="0" y="138937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96249" y="3300222"/>
              <a:ext cx="2735580" cy="1879600"/>
            </a:xfrm>
            <a:custGeom>
              <a:avLst/>
              <a:gdLst/>
              <a:ahLst/>
              <a:cxnLst/>
              <a:rect l="l" t="t" r="r" b="b"/>
              <a:pathLst>
                <a:path w="2735579" h="1879600">
                  <a:moveTo>
                    <a:pt x="0" y="313181"/>
                  </a:moveTo>
                  <a:lnTo>
                    <a:pt x="3395" y="266900"/>
                  </a:lnTo>
                  <a:lnTo>
                    <a:pt x="13259" y="222727"/>
                  </a:lnTo>
                  <a:lnTo>
                    <a:pt x="29106" y="181148"/>
                  </a:lnTo>
                  <a:lnTo>
                    <a:pt x="50453" y="142647"/>
                  </a:lnTo>
                  <a:lnTo>
                    <a:pt x="76815" y="107708"/>
                  </a:lnTo>
                  <a:lnTo>
                    <a:pt x="107708" y="76815"/>
                  </a:lnTo>
                  <a:lnTo>
                    <a:pt x="142647" y="50453"/>
                  </a:lnTo>
                  <a:lnTo>
                    <a:pt x="181148" y="29106"/>
                  </a:lnTo>
                  <a:lnTo>
                    <a:pt x="222727" y="13259"/>
                  </a:lnTo>
                  <a:lnTo>
                    <a:pt x="266900" y="3395"/>
                  </a:lnTo>
                  <a:lnTo>
                    <a:pt x="313181" y="0"/>
                  </a:lnTo>
                  <a:lnTo>
                    <a:pt x="2422398" y="0"/>
                  </a:lnTo>
                  <a:lnTo>
                    <a:pt x="2468679" y="3395"/>
                  </a:lnTo>
                  <a:lnTo>
                    <a:pt x="2512852" y="13259"/>
                  </a:lnTo>
                  <a:lnTo>
                    <a:pt x="2554431" y="29106"/>
                  </a:lnTo>
                  <a:lnTo>
                    <a:pt x="2592932" y="50453"/>
                  </a:lnTo>
                  <a:lnTo>
                    <a:pt x="2627871" y="76815"/>
                  </a:lnTo>
                  <a:lnTo>
                    <a:pt x="2658764" y="107708"/>
                  </a:lnTo>
                  <a:lnTo>
                    <a:pt x="2685126" y="142647"/>
                  </a:lnTo>
                  <a:lnTo>
                    <a:pt x="2706473" y="181148"/>
                  </a:lnTo>
                  <a:lnTo>
                    <a:pt x="2722320" y="222727"/>
                  </a:lnTo>
                  <a:lnTo>
                    <a:pt x="2732184" y="266900"/>
                  </a:lnTo>
                  <a:lnTo>
                    <a:pt x="2735579" y="313181"/>
                  </a:lnTo>
                  <a:lnTo>
                    <a:pt x="2735579" y="1565909"/>
                  </a:lnTo>
                  <a:lnTo>
                    <a:pt x="2732184" y="1612191"/>
                  </a:lnTo>
                  <a:lnTo>
                    <a:pt x="2722320" y="1656364"/>
                  </a:lnTo>
                  <a:lnTo>
                    <a:pt x="2706473" y="1697943"/>
                  </a:lnTo>
                  <a:lnTo>
                    <a:pt x="2685126" y="1736444"/>
                  </a:lnTo>
                  <a:lnTo>
                    <a:pt x="2658764" y="1771383"/>
                  </a:lnTo>
                  <a:lnTo>
                    <a:pt x="2627871" y="1802276"/>
                  </a:lnTo>
                  <a:lnTo>
                    <a:pt x="2592932" y="1828638"/>
                  </a:lnTo>
                  <a:lnTo>
                    <a:pt x="2554431" y="1849985"/>
                  </a:lnTo>
                  <a:lnTo>
                    <a:pt x="2512852" y="1865832"/>
                  </a:lnTo>
                  <a:lnTo>
                    <a:pt x="2468679" y="1875696"/>
                  </a:lnTo>
                  <a:lnTo>
                    <a:pt x="2422398" y="1879091"/>
                  </a:lnTo>
                  <a:lnTo>
                    <a:pt x="313181" y="1879091"/>
                  </a:lnTo>
                  <a:lnTo>
                    <a:pt x="266900" y="1875696"/>
                  </a:lnTo>
                  <a:lnTo>
                    <a:pt x="222727" y="1865832"/>
                  </a:lnTo>
                  <a:lnTo>
                    <a:pt x="181148" y="1849985"/>
                  </a:lnTo>
                  <a:lnTo>
                    <a:pt x="142647" y="1828638"/>
                  </a:lnTo>
                  <a:lnTo>
                    <a:pt x="107708" y="1802276"/>
                  </a:lnTo>
                  <a:lnTo>
                    <a:pt x="76815" y="1771383"/>
                  </a:lnTo>
                  <a:lnTo>
                    <a:pt x="50453" y="1736444"/>
                  </a:lnTo>
                  <a:lnTo>
                    <a:pt x="29106" y="1697943"/>
                  </a:lnTo>
                  <a:lnTo>
                    <a:pt x="13259" y="1656364"/>
                  </a:lnTo>
                  <a:lnTo>
                    <a:pt x="3395" y="1612191"/>
                  </a:lnTo>
                  <a:lnTo>
                    <a:pt x="0" y="1565909"/>
                  </a:lnTo>
                  <a:lnTo>
                    <a:pt x="0" y="313181"/>
                  </a:lnTo>
                  <a:close/>
                </a:path>
              </a:pathLst>
            </a:custGeom>
            <a:ln w="381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19109" y="5293614"/>
              <a:ext cx="2737485" cy="1026160"/>
            </a:xfrm>
            <a:custGeom>
              <a:avLst/>
              <a:gdLst/>
              <a:ahLst/>
              <a:cxnLst/>
              <a:rect l="l" t="t" r="r" b="b"/>
              <a:pathLst>
                <a:path w="2737484" h="1026160">
                  <a:moveTo>
                    <a:pt x="0" y="170942"/>
                  </a:moveTo>
                  <a:lnTo>
                    <a:pt x="6109" y="125515"/>
                  </a:lnTo>
                  <a:lnTo>
                    <a:pt x="23349" y="84685"/>
                  </a:lnTo>
                  <a:lnTo>
                    <a:pt x="50085" y="50085"/>
                  </a:lnTo>
                  <a:lnTo>
                    <a:pt x="84685" y="23349"/>
                  </a:lnTo>
                  <a:lnTo>
                    <a:pt x="125515" y="6109"/>
                  </a:lnTo>
                  <a:lnTo>
                    <a:pt x="170942" y="0"/>
                  </a:lnTo>
                  <a:lnTo>
                    <a:pt x="2566162" y="0"/>
                  </a:lnTo>
                  <a:lnTo>
                    <a:pt x="2611588" y="6109"/>
                  </a:lnTo>
                  <a:lnTo>
                    <a:pt x="2652418" y="23349"/>
                  </a:lnTo>
                  <a:lnTo>
                    <a:pt x="2687018" y="50085"/>
                  </a:lnTo>
                  <a:lnTo>
                    <a:pt x="2713754" y="84685"/>
                  </a:lnTo>
                  <a:lnTo>
                    <a:pt x="2730994" y="125515"/>
                  </a:lnTo>
                  <a:lnTo>
                    <a:pt x="2737104" y="170942"/>
                  </a:lnTo>
                  <a:lnTo>
                    <a:pt x="2737104" y="854710"/>
                  </a:lnTo>
                  <a:lnTo>
                    <a:pt x="2730994" y="900154"/>
                  </a:lnTo>
                  <a:lnTo>
                    <a:pt x="2713754" y="940989"/>
                  </a:lnTo>
                  <a:lnTo>
                    <a:pt x="2687018" y="975585"/>
                  </a:lnTo>
                  <a:lnTo>
                    <a:pt x="2652418" y="1002314"/>
                  </a:lnTo>
                  <a:lnTo>
                    <a:pt x="2611588" y="1019546"/>
                  </a:lnTo>
                  <a:lnTo>
                    <a:pt x="2566162" y="1025652"/>
                  </a:lnTo>
                  <a:lnTo>
                    <a:pt x="170942" y="1025652"/>
                  </a:lnTo>
                  <a:lnTo>
                    <a:pt x="125515" y="1019546"/>
                  </a:lnTo>
                  <a:lnTo>
                    <a:pt x="84685" y="1002314"/>
                  </a:lnTo>
                  <a:lnTo>
                    <a:pt x="50085" y="975585"/>
                  </a:lnTo>
                  <a:lnTo>
                    <a:pt x="23349" y="940989"/>
                  </a:lnTo>
                  <a:lnTo>
                    <a:pt x="6109" y="900154"/>
                  </a:lnTo>
                  <a:lnTo>
                    <a:pt x="0" y="854710"/>
                  </a:lnTo>
                  <a:lnTo>
                    <a:pt x="0" y="170942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996439" y="784859"/>
            <a:ext cx="4994275" cy="5288280"/>
            <a:chOff x="1996439" y="784859"/>
            <a:chExt cx="4994275" cy="52882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6439" y="784859"/>
              <a:ext cx="4994148" cy="52882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830829" y="3120389"/>
              <a:ext cx="989330" cy="635635"/>
            </a:xfrm>
            <a:custGeom>
              <a:avLst/>
              <a:gdLst/>
              <a:ahLst/>
              <a:cxnLst/>
              <a:rect l="l" t="t" r="r" b="b"/>
              <a:pathLst>
                <a:path w="989329" h="635635">
                  <a:moveTo>
                    <a:pt x="0" y="105918"/>
                  </a:moveTo>
                  <a:lnTo>
                    <a:pt x="8316" y="64668"/>
                  </a:lnTo>
                  <a:lnTo>
                    <a:pt x="31003" y="31003"/>
                  </a:lnTo>
                  <a:lnTo>
                    <a:pt x="64668" y="8316"/>
                  </a:lnTo>
                  <a:lnTo>
                    <a:pt x="105918" y="0"/>
                  </a:lnTo>
                  <a:lnTo>
                    <a:pt x="883157" y="0"/>
                  </a:lnTo>
                  <a:lnTo>
                    <a:pt x="924407" y="8316"/>
                  </a:lnTo>
                  <a:lnTo>
                    <a:pt x="958072" y="31003"/>
                  </a:lnTo>
                  <a:lnTo>
                    <a:pt x="980759" y="64668"/>
                  </a:lnTo>
                  <a:lnTo>
                    <a:pt x="989075" y="105918"/>
                  </a:lnTo>
                  <a:lnTo>
                    <a:pt x="989075" y="529590"/>
                  </a:lnTo>
                  <a:lnTo>
                    <a:pt x="980759" y="570839"/>
                  </a:lnTo>
                  <a:lnTo>
                    <a:pt x="958072" y="604504"/>
                  </a:lnTo>
                  <a:lnTo>
                    <a:pt x="924407" y="627191"/>
                  </a:lnTo>
                  <a:lnTo>
                    <a:pt x="883157" y="635508"/>
                  </a:lnTo>
                  <a:lnTo>
                    <a:pt x="105918" y="635508"/>
                  </a:lnTo>
                  <a:lnTo>
                    <a:pt x="64668" y="627191"/>
                  </a:lnTo>
                  <a:lnTo>
                    <a:pt x="31003" y="604504"/>
                  </a:lnTo>
                  <a:lnTo>
                    <a:pt x="8316" y="570839"/>
                  </a:lnTo>
                  <a:lnTo>
                    <a:pt x="0" y="529590"/>
                  </a:lnTo>
                  <a:lnTo>
                    <a:pt x="0" y="105918"/>
                  </a:lnTo>
                  <a:close/>
                </a:path>
              </a:pathLst>
            </a:custGeom>
            <a:ln w="381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90165" y="1817370"/>
              <a:ext cx="1399540" cy="998219"/>
            </a:xfrm>
            <a:custGeom>
              <a:avLst/>
              <a:gdLst/>
              <a:ahLst/>
              <a:cxnLst/>
              <a:rect l="l" t="t" r="r" b="b"/>
              <a:pathLst>
                <a:path w="1399539" h="998219">
                  <a:moveTo>
                    <a:pt x="0" y="166369"/>
                  </a:moveTo>
                  <a:lnTo>
                    <a:pt x="5947" y="122164"/>
                  </a:lnTo>
                  <a:lnTo>
                    <a:pt x="22728" y="82427"/>
                  </a:lnTo>
                  <a:lnTo>
                    <a:pt x="48752" y="48752"/>
                  </a:lnTo>
                  <a:lnTo>
                    <a:pt x="82427" y="22728"/>
                  </a:lnTo>
                  <a:lnTo>
                    <a:pt x="122164" y="5947"/>
                  </a:lnTo>
                  <a:lnTo>
                    <a:pt x="166369" y="0"/>
                  </a:lnTo>
                  <a:lnTo>
                    <a:pt x="1232661" y="0"/>
                  </a:lnTo>
                  <a:lnTo>
                    <a:pt x="1276867" y="5947"/>
                  </a:lnTo>
                  <a:lnTo>
                    <a:pt x="1316604" y="22728"/>
                  </a:lnTo>
                  <a:lnTo>
                    <a:pt x="1350279" y="48752"/>
                  </a:lnTo>
                  <a:lnTo>
                    <a:pt x="1376303" y="82427"/>
                  </a:lnTo>
                  <a:lnTo>
                    <a:pt x="1393084" y="122164"/>
                  </a:lnTo>
                  <a:lnTo>
                    <a:pt x="1399032" y="166369"/>
                  </a:lnTo>
                  <a:lnTo>
                    <a:pt x="1399032" y="831850"/>
                  </a:lnTo>
                  <a:lnTo>
                    <a:pt x="1393084" y="876055"/>
                  </a:lnTo>
                  <a:lnTo>
                    <a:pt x="1376303" y="915792"/>
                  </a:lnTo>
                  <a:lnTo>
                    <a:pt x="1350279" y="949467"/>
                  </a:lnTo>
                  <a:lnTo>
                    <a:pt x="1316604" y="975491"/>
                  </a:lnTo>
                  <a:lnTo>
                    <a:pt x="1276867" y="992272"/>
                  </a:lnTo>
                  <a:lnTo>
                    <a:pt x="1232661" y="998219"/>
                  </a:lnTo>
                  <a:lnTo>
                    <a:pt x="166369" y="998219"/>
                  </a:lnTo>
                  <a:lnTo>
                    <a:pt x="122164" y="992272"/>
                  </a:lnTo>
                  <a:lnTo>
                    <a:pt x="82427" y="975491"/>
                  </a:lnTo>
                  <a:lnTo>
                    <a:pt x="48752" y="949467"/>
                  </a:lnTo>
                  <a:lnTo>
                    <a:pt x="22728" y="915792"/>
                  </a:lnTo>
                  <a:lnTo>
                    <a:pt x="5947" y="876055"/>
                  </a:lnTo>
                  <a:lnTo>
                    <a:pt x="0" y="831850"/>
                  </a:lnTo>
                  <a:lnTo>
                    <a:pt x="0" y="166369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46754" y="3918965"/>
              <a:ext cx="1385570" cy="769620"/>
            </a:xfrm>
            <a:custGeom>
              <a:avLst/>
              <a:gdLst/>
              <a:ahLst/>
              <a:cxnLst/>
              <a:rect l="l" t="t" r="r" b="b"/>
              <a:pathLst>
                <a:path w="1385570" h="769620">
                  <a:moveTo>
                    <a:pt x="0" y="128269"/>
                  </a:moveTo>
                  <a:lnTo>
                    <a:pt x="10076" y="78331"/>
                  </a:lnTo>
                  <a:lnTo>
                    <a:pt x="37560" y="37560"/>
                  </a:lnTo>
                  <a:lnTo>
                    <a:pt x="78331" y="10076"/>
                  </a:lnTo>
                  <a:lnTo>
                    <a:pt x="128270" y="0"/>
                  </a:lnTo>
                  <a:lnTo>
                    <a:pt x="1257046" y="0"/>
                  </a:lnTo>
                  <a:lnTo>
                    <a:pt x="1306984" y="10076"/>
                  </a:lnTo>
                  <a:lnTo>
                    <a:pt x="1347755" y="37560"/>
                  </a:lnTo>
                  <a:lnTo>
                    <a:pt x="1375239" y="78331"/>
                  </a:lnTo>
                  <a:lnTo>
                    <a:pt x="1385316" y="128269"/>
                  </a:lnTo>
                  <a:lnTo>
                    <a:pt x="1385316" y="641349"/>
                  </a:lnTo>
                  <a:lnTo>
                    <a:pt x="1375239" y="691288"/>
                  </a:lnTo>
                  <a:lnTo>
                    <a:pt x="1347755" y="732059"/>
                  </a:lnTo>
                  <a:lnTo>
                    <a:pt x="1306984" y="759543"/>
                  </a:lnTo>
                  <a:lnTo>
                    <a:pt x="1257046" y="769619"/>
                  </a:lnTo>
                  <a:lnTo>
                    <a:pt x="128270" y="769619"/>
                  </a:lnTo>
                  <a:lnTo>
                    <a:pt x="78331" y="759543"/>
                  </a:lnTo>
                  <a:lnTo>
                    <a:pt x="37560" y="732059"/>
                  </a:lnTo>
                  <a:lnTo>
                    <a:pt x="10076" y="691288"/>
                  </a:lnTo>
                  <a:lnTo>
                    <a:pt x="0" y="641349"/>
                  </a:lnTo>
                  <a:lnTo>
                    <a:pt x="0" y="128269"/>
                  </a:lnTo>
                  <a:close/>
                </a:path>
              </a:pathLst>
            </a:custGeom>
            <a:ln w="381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32069" y="4331969"/>
              <a:ext cx="1100455" cy="1030605"/>
            </a:xfrm>
            <a:custGeom>
              <a:avLst/>
              <a:gdLst/>
              <a:ahLst/>
              <a:cxnLst/>
              <a:rect l="l" t="t" r="r" b="b"/>
              <a:pathLst>
                <a:path w="1100454" h="1030604">
                  <a:moveTo>
                    <a:pt x="0" y="171703"/>
                  </a:moveTo>
                  <a:lnTo>
                    <a:pt x="6130" y="126044"/>
                  </a:lnTo>
                  <a:lnTo>
                    <a:pt x="23433" y="85024"/>
                  </a:lnTo>
                  <a:lnTo>
                    <a:pt x="50276" y="50276"/>
                  </a:lnTo>
                  <a:lnTo>
                    <a:pt x="85024" y="23433"/>
                  </a:lnTo>
                  <a:lnTo>
                    <a:pt x="126044" y="6130"/>
                  </a:lnTo>
                  <a:lnTo>
                    <a:pt x="171703" y="0"/>
                  </a:lnTo>
                  <a:lnTo>
                    <a:pt x="928624" y="0"/>
                  </a:lnTo>
                  <a:lnTo>
                    <a:pt x="974283" y="6130"/>
                  </a:lnTo>
                  <a:lnTo>
                    <a:pt x="1015303" y="23433"/>
                  </a:lnTo>
                  <a:lnTo>
                    <a:pt x="1050051" y="50276"/>
                  </a:lnTo>
                  <a:lnTo>
                    <a:pt x="1076894" y="85024"/>
                  </a:lnTo>
                  <a:lnTo>
                    <a:pt x="1094197" y="126044"/>
                  </a:lnTo>
                  <a:lnTo>
                    <a:pt x="1100327" y="171703"/>
                  </a:lnTo>
                  <a:lnTo>
                    <a:pt x="1100327" y="858519"/>
                  </a:lnTo>
                  <a:lnTo>
                    <a:pt x="1094197" y="904179"/>
                  </a:lnTo>
                  <a:lnTo>
                    <a:pt x="1076894" y="945199"/>
                  </a:lnTo>
                  <a:lnTo>
                    <a:pt x="1050051" y="979947"/>
                  </a:lnTo>
                  <a:lnTo>
                    <a:pt x="1015303" y="1006790"/>
                  </a:lnTo>
                  <a:lnTo>
                    <a:pt x="974283" y="1024093"/>
                  </a:lnTo>
                  <a:lnTo>
                    <a:pt x="928624" y="1030223"/>
                  </a:lnTo>
                  <a:lnTo>
                    <a:pt x="171703" y="1030223"/>
                  </a:lnTo>
                  <a:lnTo>
                    <a:pt x="126044" y="1024093"/>
                  </a:lnTo>
                  <a:lnTo>
                    <a:pt x="85024" y="1006790"/>
                  </a:lnTo>
                  <a:lnTo>
                    <a:pt x="50276" y="979947"/>
                  </a:lnTo>
                  <a:lnTo>
                    <a:pt x="23433" y="945199"/>
                  </a:lnTo>
                  <a:lnTo>
                    <a:pt x="6130" y="904179"/>
                  </a:lnTo>
                  <a:lnTo>
                    <a:pt x="0" y="858519"/>
                  </a:lnTo>
                  <a:lnTo>
                    <a:pt x="0" y="17170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62577" y="4748021"/>
              <a:ext cx="958850" cy="916305"/>
            </a:xfrm>
            <a:custGeom>
              <a:avLst/>
              <a:gdLst/>
              <a:ahLst/>
              <a:cxnLst/>
              <a:rect l="l" t="t" r="r" b="b"/>
              <a:pathLst>
                <a:path w="958850" h="916304">
                  <a:moveTo>
                    <a:pt x="0" y="152653"/>
                  </a:moveTo>
                  <a:lnTo>
                    <a:pt x="7780" y="104396"/>
                  </a:lnTo>
                  <a:lnTo>
                    <a:pt x="29447" y="62490"/>
                  </a:lnTo>
                  <a:lnTo>
                    <a:pt x="62490" y="29447"/>
                  </a:lnTo>
                  <a:lnTo>
                    <a:pt x="104396" y="7780"/>
                  </a:lnTo>
                  <a:lnTo>
                    <a:pt x="152654" y="0"/>
                  </a:lnTo>
                  <a:lnTo>
                    <a:pt x="805942" y="0"/>
                  </a:lnTo>
                  <a:lnTo>
                    <a:pt x="854199" y="7780"/>
                  </a:lnTo>
                  <a:lnTo>
                    <a:pt x="896105" y="29447"/>
                  </a:lnTo>
                  <a:lnTo>
                    <a:pt x="929148" y="62490"/>
                  </a:lnTo>
                  <a:lnTo>
                    <a:pt x="950815" y="104396"/>
                  </a:lnTo>
                  <a:lnTo>
                    <a:pt x="958596" y="152653"/>
                  </a:lnTo>
                  <a:lnTo>
                    <a:pt x="958596" y="763269"/>
                  </a:lnTo>
                  <a:lnTo>
                    <a:pt x="950815" y="811518"/>
                  </a:lnTo>
                  <a:lnTo>
                    <a:pt x="929148" y="853422"/>
                  </a:lnTo>
                  <a:lnTo>
                    <a:pt x="896105" y="886468"/>
                  </a:lnTo>
                  <a:lnTo>
                    <a:pt x="854199" y="908141"/>
                  </a:lnTo>
                  <a:lnTo>
                    <a:pt x="805942" y="915923"/>
                  </a:lnTo>
                  <a:lnTo>
                    <a:pt x="152654" y="915923"/>
                  </a:lnTo>
                  <a:lnTo>
                    <a:pt x="104396" y="908141"/>
                  </a:lnTo>
                  <a:lnTo>
                    <a:pt x="62490" y="886468"/>
                  </a:lnTo>
                  <a:lnTo>
                    <a:pt x="29447" y="853422"/>
                  </a:lnTo>
                  <a:lnTo>
                    <a:pt x="7780" y="811518"/>
                  </a:lnTo>
                  <a:lnTo>
                    <a:pt x="0" y="763269"/>
                  </a:lnTo>
                  <a:lnTo>
                    <a:pt x="0" y="152653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02357" y="4043933"/>
              <a:ext cx="835660" cy="905510"/>
            </a:xfrm>
            <a:custGeom>
              <a:avLst/>
              <a:gdLst/>
              <a:ahLst/>
              <a:cxnLst/>
              <a:rect l="l" t="t" r="r" b="b"/>
              <a:pathLst>
                <a:path w="835660" h="905510">
                  <a:moveTo>
                    <a:pt x="0" y="139192"/>
                  </a:moveTo>
                  <a:lnTo>
                    <a:pt x="7099" y="95211"/>
                  </a:lnTo>
                  <a:lnTo>
                    <a:pt x="26867" y="57003"/>
                  </a:lnTo>
                  <a:lnTo>
                    <a:pt x="57003" y="26867"/>
                  </a:lnTo>
                  <a:lnTo>
                    <a:pt x="95211" y="7099"/>
                  </a:lnTo>
                  <a:lnTo>
                    <a:pt x="139192" y="0"/>
                  </a:lnTo>
                  <a:lnTo>
                    <a:pt x="695960" y="0"/>
                  </a:lnTo>
                  <a:lnTo>
                    <a:pt x="739940" y="7099"/>
                  </a:lnTo>
                  <a:lnTo>
                    <a:pt x="778148" y="26867"/>
                  </a:lnTo>
                  <a:lnTo>
                    <a:pt x="808284" y="57003"/>
                  </a:lnTo>
                  <a:lnTo>
                    <a:pt x="828052" y="95211"/>
                  </a:lnTo>
                  <a:lnTo>
                    <a:pt x="835152" y="139192"/>
                  </a:lnTo>
                  <a:lnTo>
                    <a:pt x="835152" y="766064"/>
                  </a:lnTo>
                  <a:lnTo>
                    <a:pt x="828052" y="810044"/>
                  </a:lnTo>
                  <a:lnTo>
                    <a:pt x="808284" y="848252"/>
                  </a:lnTo>
                  <a:lnTo>
                    <a:pt x="778148" y="878388"/>
                  </a:lnTo>
                  <a:lnTo>
                    <a:pt x="739940" y="898156"/>
                  </a:lnTo>
                  <a:lnTo>
                    <a:pt x="695960" y="905256"/>
                  </a:lnTo>
                  <a:lnTo>
                    <a:pt x="139192" y="905256"/>
                  </a:lnTo>
                  <a:lnTo>
                    <a:pt x="95211" y="898156"/>
                  </a:lnTo>
                  <a:lnTo>
                    <a:pt x="57003" y="878388"/>
                  </a:lnTo>
                  <a:lnTo>
                    <a:pt x="26867" y="848252"/>
                  </a:lnTo>
                  <a:lnTo>
                    <a:pt x="7099" y="810044"/>
                  </a:lnTo>
                  <a:lnTo>
                    <a:pt x="0" y="766064"/>
                  </a:lnTo>
                  <a:lnTo>
                    <a:pt x="0" y="139192"/>
                  </a:lnTo>
                  <a:close/>
                </a:path>
              </a:pathLst>
            </a:custGeom>
            <a:ln w="38099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31381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0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5880" y="544068"/>
            <a:ext cx="2647187" cy="56448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3307" y="550926"/>
            <a:ext cx="51860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5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32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-</a:t>
            </a:r>
            <a:r>
              <a:rPr sz="32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Long</a:t>
            </a:r>
            <a:r>
              <a:rPr sz="32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32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4911" y="3258692"/>
            <a:ext cx="580009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classic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BULK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CMOS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process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width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usually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defined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active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channel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length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poly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covers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active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select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during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drain/source implantation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process.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Here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opposite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process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exploited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to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fabricate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long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channel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smaller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area.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width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given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active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thickness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poly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covers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everything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drain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source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regions.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289050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0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2323" y="1028700"/>
            <a:ext cx="1661160" cy="55885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3984" y="1129283"/>
            <a:ext cx="1659636" cy="53873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07297" y="1434465"/>
            <a:ext cx="3049270" cy="304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99"/>
              </a:lnSpc>
              <a:spcBef>
                <a:spcPts val="9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Precision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poly2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HiRes: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implementation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comes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multiple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advantages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respect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N-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WELL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resistor,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e.g.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less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parasitic capacitance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larger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isolated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distance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bulk,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smaller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area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unnecessary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insulation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junction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around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even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sheet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resistance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1076</a:t>
            </a:r>
            <a:r>
              <a:rPr sz="1800" spc="2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950" spc="-15" baseline="25641" dirty="0">
                <a:solidFill>
                  <a:srgbClr val="FFFFFF"/>
                </a:solidFill>
                <a:latin typeface="Cambria Math"/>
                <a:cs typeface="Cambria Math"/>
              </a:rPr>
              <a:t>Ω</a:t>
            </a:r>
            <a:r>
              <a:rPr sz="2700" spc="-15" baseline="6172" dirty="0">
                <a:solidFill>
                  <a:srgbClr val="FFFFFF"/>
                </a:solidFill>
                <a:latin typeface="Cambria Math"/>
                <a:cs typeface="Cambria Math"/>
              </a:rPr>
              <a:t>Τ</a:t>
            </a:r>
            <a:r>
              <a:rPr sz="1950" spc="-15" baseline="-8547" dirty="0">
                <a:solidFill>
                  <a:srgbClr val="FFFFFF"/>
                </a:solidFill>
                <a:latin typeface="Cambria Math"/>
                <a:cs typeface="Cambria Math"/>
              </a:rPr>
              <a:t>∎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).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3735" y="2767710"/>
            <a:ext cx="329882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Precision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capacitor</a:t>
            </a:r>
            <a:r>
              <a:rPr sz="1800" spc="-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poly/poly2: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poly2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advantage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capacitor implementation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separation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bulk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easily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source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noise.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Moreover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etched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layer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fabrication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should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be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more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precise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implantation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based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one.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Here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real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capacitor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area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given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poly2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layer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and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value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around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90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fF.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124" rIns="0" bIns="0" rtlCol="0">
            <a:spAutoFit/>
          </a:bodyPr>
          <a:lstStyle/>
          <a:p>
            <a:pPr marL="163385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LAYOUT</a:t>
            </a:r>
            <a:r>
              <a:rPr spc="-70" dirty="0"/>
              <a:t> </a:t>
            </a:r>
            <a:r>
              <a:rPr dirty="0"/>
              <a:t>-</a:t>
            </a:r>
            <a:r>
              <a:rPr spc="-90" dirty="0"/>
              <a:t> </a:t>
            </a:r>
            <a:r>
              <a:rPr spc="-10" dirty="0"/>
              <a:t>Resistors</a:t>
            </a:r>
            <a:r>
              <a:rPr spc="-7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capacitors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5900" y="2737104"/>
            <a:ext cx="6298692" cy="2705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6814" y="163143"/>
            <a:ext cx="132143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0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IV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124" rIns="0" bIns="0" rtlCol="0">
            <a:spAutoFit/>
          </a:bodyPr>
          <a:lstStyle/>
          <a:p>
            <a:pPr marL="156654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LAYOUT</a:t>
            </a:r>
            <a:r>
              <a:rPr spc="-75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spc="-20" dirty="0"/>
              <a:t>Interdigitated</a:t>
            </a:r>
            <a:r>
              <a:rPr spc="-80" dirty="0"/>
              <a:t> </a:t>
            </a:r>
            <a:r>
              <a:rPr spc="-10" dirty="0"/>
              <a:t>structures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6452" y="2399791"/>
            <a:ext cx="382841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MOS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split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8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smaller transistors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alternated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drain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source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implants.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follows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multiple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sum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parasitic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capacitance</a:t>
            </a:r>
            <a:r>
              <a:rPr sz="1800" spc="-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should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be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lower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equivalent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single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device.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Here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couple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dummy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gates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been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attached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extremities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last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implants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same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neighbourhood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any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other.</a:t>
            </a:r>
            <a:endParaRPr sz="1800">
              <a:latin typeface="Calibri Light"/>
              <a:cs typeface="Calibri Light"/>
            </a:endParaRPr>
          </a:p>
          <a:p>
            <a:pPr marL="12700" marR="7924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These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two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additive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gate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GND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connected.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289050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0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0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2207" y="791971"/>
            <a:ext cx="54673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5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3200" spc="-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–</a:t>
            </a:r>
            <a:r>
              <a:rPr sz="3200" spc="-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Cascode</a:t>
            </a:r>
            <a:r>
              <a:rPr sz="3200" spc="-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3200" spc="-1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mirror</a:t>
            </a:r>
            <a:endParaRPr sz="32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9304" y="1944623"/>
            <a:ext cx="2980944" cy="41239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4671" y="1944623"/>
            <a:ext cx="4151376" cy="41285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4584" y="2549144"/>
            <a:ext cx="392430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22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Here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comes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main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difference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between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two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proposed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layouts.</a:t>
            </a:r>
            <a:endParaRPr sz="1800">
              <a:latin typeface="Calibri Light"/>
              <a:cs typeface="Calibri Ligh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2D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common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centroid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structure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16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1.8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𝜇𝑚</a:t>
            </a:r>
            <a:r>
              <a:rPr sz="1800" spc="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makes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use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3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metal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layers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allows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enhanced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symmetry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temperature</a:t>
            </a:r>
            <a:r>
              <a:rPr sz="1800" spc="-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gradients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cancelling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both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directions.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second structure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simpler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does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require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third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metal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layer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case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shall correspond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one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less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mask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be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processed.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Moreover,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potentially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less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area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consuming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even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specific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cell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width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imposed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NMOS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transistors.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20339" y="166115"/>
            <a:ext cx="1234439" cy="20497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72054" y="830960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2630" y="830960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B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72054" y="1532890"/>
            <a:ext cx="164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D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32630" y="1532890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14620" y="2762758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25083" y="3574542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43419" y="4401439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54136" y="5228335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4136" y="2762758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B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43419" y="3574542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B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25083" y="440143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B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14620" y="522833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B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25083" y="2747517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35800" y="2754884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25083" y="522833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35800" y="522833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90490" y="3574542"/>
            <a:ext cx="164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D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07000" y="4401439"/>
            <a:ext cx="164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D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44357" y="3574542"/>
            <a:ext cx="164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D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44357" y="4401439"/>
            <a:ext cx="164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D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275823" y="2694813"/>
            <a:ext cx="59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0850" algn="l"/>
              </a:tabLst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60583" y="3574542"/>
            <a:ext cx="601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6090" algn="l"/>
              </a:tabLst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B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B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275823" y="4401439"/>
            <a:ext cx="586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0850" algn="l"/>
              </a:tabLst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260583" y="5281421"/>
            <a:ext cx="599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7040" algn="l"/>
              </a:tabLst>
            </a:pP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D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D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24396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Tran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127" rIns="0" bIns="0" rtlCol="0">
            <a:spAutoFit/>
          </a:bodyPr>
          <a:lstStyle/>
          <a:p>
            <a:pPr marL="2072005">
              <a:lnSpc>
                <a:spcPct val="100000"/>
              </a:lnSpc>
              <a:spcBef>
                <a:spcPts val="100"/>
              </a:spcBef>
            </a:pPr>
            <a:r>
              <a:rPr dirty="0"/>
              <a:t>EXTRACTED</a:t>
            </a:r>
            <a:r>
              <a:rPr spc="-90" dirty="0"/>
              <a:t> </a:t>
            </a:r>
            <a:r>
              <a:rPr spc="-35" dirty="0"/>
              <a:t>Transient</a:t>
            </a:r>
            <a:r>
              <a:rPr spc="-45" dirty="0"/>
              <a:t> </a:t>
            </a:r>
            <a:r>
              <a:rPr spc="-10" dirty="0"/>
              <a:t>Simulation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1555" y="722376"/>
            <a:ext cx="10271760" cy="59176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4992" y="2276094"/>
            <a:ext cx="29114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comparison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purposes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could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useful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report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here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schematic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level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start-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up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time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previously</a:t>
            </a:r>
            <a:r>
              <a:rPr sz="1800" spc="-1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obtained: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4992" y="3374593"/>
            <a:ext cx="1981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Classic: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≈</a:t>
            </a:r>
            <a:r>
              <a:rPr sz="1800" spc="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97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𝜇𝑠</a:t>
            </a:r>
            <a:endParaRPr sz="1800">
              <a:latin typeface="Cambria Math"/>
              <a:cs typeface="Cambria Math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Centroid: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≈</a:t>
            </a:r>
            <a:r>
              <a:rPr sz="1800" spc="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98</a:t>
            </a:r>
            <a:r>
              <a:rPr sz="1800" spc="-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𝜇𝑠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4992" y="4196588"/>
            <a:ext cx="288544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markers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time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increased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was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expected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real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wiring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parasitic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level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simulation.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now: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4992" y="5570016"/>
            <a:ext cx="2108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Classic: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≈</a:t>
            </a:r>
            <a:r>
              <a:rPr sz="1800" spc="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286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𝜇𝑠</a:t>
            </a:r>
            <a:endParaRPr sz="1800">
              <a:latin typeface="Cambria Math"/>
              <a:cs typeface="Cambria Math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Centroid: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≈</a:t>
            </a:r>
            <a:r>
              <a:rPr sz="1800" spc="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295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𝜇𝑠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33721" y="2154682"/>
            <a:ext cx="250825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NOTE: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start-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up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times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risen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an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difference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denoted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too.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could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caused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larger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wirings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needed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centroid structure.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27063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 DC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Tran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127" rIns="0" bIns="0" rtlCol="0">
            <a:spAutoFit/>
          </a:bodyPr>
          <a:lstStyle/>
          <a:p>
            <a:pPr marL="2407285">
              <a:lnSpc>
                <a:spcPct val="100000"/>
              </a:lnSpc>
              <a:spcBef>
                <a:spcPts val="100"/>
              </a:spcBef>
            </a:pPr>
            <a:r>
              <a:rPr dirty="0"/>
              <a:t>EXTRACTED</a:t>
            </a:r>
            <a:r>
              <a:rPr spc="-60" dirty="0"/>
              <a:t> </a:t>
            </a:r>
            <a:r>
              <a:rPr dirty="0"/>
              <a:t>PSRR</a:t>
            </a:r>
            <a:r>
              <a:rPr spc="-15" dirty="0"/>
              <a:t> </a:t>
            </a:r>
            <a:r>
              <a:rPr spc="-10" dirty="0"/>
              <a:t>Simulation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427" y="842772"/>
            <a:ext cx="10410444" cy="58765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048" y="4478273"/>
            <a:ext cx="270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Schematic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simulation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results: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8048" y="4752594"/>
            <a:ext cx="279654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Classic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peak: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-12.6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dB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Centroid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peak: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-13.3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PSRR: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-43.4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Classic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HF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PSRR: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-24.8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Centroid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HF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PSRR: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-24.3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3127" y="4270705"/>
            <a:ext cx="29718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NOTE: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Centroid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version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presents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same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behaviour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larger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capacitance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node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compared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Classic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(smoother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HF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PSRR)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190" y="2097735"/>
            <a:ext cx="259651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Comparing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schematic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vs.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simulations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results,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latter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behave better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peak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part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worst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higher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frequencies.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2712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r>
              <a:rPr sz="800" spc="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Tran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10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13682" y="145542"/>
            <a:ext cx="51841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Complete</a:t>
            </a:r>
            <a:r>
              <a:rPr spc="-90" dirty="0"/>
              <a:t> </a:t>
            </a:r>
            <a:r>
              <a:rPr spc="-10" dirty="0"/>
              <a:t>system</a:t>
            </a:r>
            <a:r>
              <a:rPr spc="-90" dirty="0"/>
              <a:t> </a:t>
            </a:r>
            <a:r>
              <a:rPr dirty="0"/>
              <a:t>DC</a:t>
            </a:r>
            <a:r>
              <a:rPr spc="-90" dirty="0"/>
              <a:t> </a:t>
            </a:r>
            <a:r>
              <a:rPr spc="-10" dirty="0"/>
              <a:t>simulation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7671" y="1153667"/>
            <a:ext cx="6080760" cy="26563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7671" y="3915155"/>
            <a:ext cx="6217920" cy="27279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96872" y="1079068"/>
            <a:ext cx="343281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Here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complete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designed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tested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sinks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maximum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(2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mA)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when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negligible.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All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blocks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schematic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level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implementation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except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“referenceCCentroidGen”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one.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95966" y="1007109"/>
            <a:ext cx="765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@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mA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80293" y="3920744"/>
            <a:ext cx="9759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@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843" y="3791839"/>
            <a:ext cx="516636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27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correct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reaches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its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limit.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impedance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simulation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allows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quiescent</a:t>
            </a:r>
            <a:endParaRPr sz="1800">
              <a:latin typeface="Calibri Light"/>
              <a:cs typeface="Calibri Light"/>
            </a:endParaRPr>
          </a:p>
          <a:p>
            <a:pPr marL="12700" marR="5080">
              <a:lnSpc>
                <a:spcPct val="997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estimation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28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𝜇𝐴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Since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total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budget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was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30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𝜇𝐴</a:t>
            </a:r>
            <a:r>
              <a:rPr sz="1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specification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has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satisfied.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2712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800" spc="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Sweep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Tran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 Reg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127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Complete</a:t>
            </a:r>
            <a:r>
              <a:rPr spc="-95" dirty="0"/>
              <a:t> </a:t>
            </a:r>
            <a:r>
              <a:rPr spc="-10" dirty="0"/>
              <a:t>system</a:t>
            </a:r>
            <a:r>
              <a:rPr spc="-90" dirty="0"/>
              <a:t> </a:t>
            </a:r>
            <a:r>
              <a:rPr dirty="0"/>
              <a:t>Line</a:t>
            </a:r>
            <a:r>
              <a:rPr spc="-90" dirty="0"/>
              <a:t> </a:t>
            </a:r>
            <a:r>
              <a:rPr spc="-10" dirty="0"/>
              <a:t>Regulation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100" y="731519"/>
            <a:ext cx="10241280" cy="58994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7431" y="3699509"/>
            <a:ext cx="25387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system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starts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to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regulate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voltage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VDD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above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3.7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V.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2712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Tran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127" rIns="0" bIns="0" rtlCol="0">
            <a:spAutoFit/>
          </a:bodyPr>
          <a:lstStyle/>
          <a:p>
            <a:pPr marL="197103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Complete</a:t>
            </a:r>
            <a:r>
              <a:rPr spc="-105" dirty="0"/>
              <a:t> </a:t>
            </a:r>
            <a:r>
              <a:rPr spc="-10" dirty="0"/>
              <a:t>system</a:t>
            </a:r>
            <a:r>
              <a:rPr spc="-100" dirty="0"/>
              <a:t> </a:t>
            </a:r>
            <a:r>
              <a:rPr dirty="0"/>
              <a:t>Load</a:t>
            </a:r>
            <a:r>
              <a:rPr spc="-100" dirty="0"/>
              <a:t> </a:t>
            </a:r>
            <a:r>
              <a:rPr spc="-10" dirty="0"/>
              <a:t>Regulation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120" y="778763"/>
            <a:ext cx="10190988" cy="58689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8241" y="2868295"/>
            <a:ext cx="2572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variation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is: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7667" y="3732148"/>
            <a:ext cx="1384300" cy="15240"/>
          </a:xfrm>
          <a:custGeom>
            <a:avLst/>
            <a:gdLst/>
            <a:ahLst/>
            <a:cxnLst/>
            <a:rect l="l" t="t" r="r" b="b"/>
            <a:pathLst>
              <a:path w="1384300" h="15239">
                <a:moveTo>
                  <a:pt x="1383855" y="0"/>
                </a:moveTo>
                <a:lnTo>
                  <a:pt x="0" y="0"/>
                </a:lnTo>
                <a:lnTo>
                  <a:pt x="0" y="15239"/>
                </a:lnTo>
                <a:lnTo>
                  <a:pt x="1383855" y="15239"/>
                </a:lnTo>
                <a:lnTo>
                  <a:pt x="13838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5005" y="3391027"/>
            <a:ext cx="1408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3.337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3.313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8009" y="3717163"/>
            <a:ext cx="580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3.337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0892" y="3564763"/>
            <a:ext cx="149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100</a:t>
            </a:r>
            <a:r>
              <a:rPr sz="1800" spc="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800" spc="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mbria Math"/>
                <a:cs typeface="Cambria Math"/>
              </a:rPr>
              <a:t>0.72%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241" y="4207586"/>
            <a:ext cx="28060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changes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less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1%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current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demand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increased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up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its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limit.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2712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Tran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1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127" rIns="0" bIns="0" rtlCol="0">
            <a:spAutoFit/>
          </a:bodyPr>
          <a:lstStyle/>
          <a:p>
            <a:pPr marL="16332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Complete</a:t>
            </a:r>
            <a:r>
              <a:rPr spc="-120" dirty="0"/>
              <a:t> </a:t>
            </a:r>
            <a:r>
              <a:rPr spc="-10" dirty="0"/>
              <a:t>system</a:t>
            </a:r>
            <a:r>
              <a:rPr spc="-120" dirty="0"/>
              <a:t> </a:t>
            </a:r>
            <a:r>
              <a:rPr spc="-35" dirty="0"/>
              <a:t>Transient</a:t>
            </a:r>
            <a:r>
              <a:rPr spc="-130" dirty="0"/>
              <a:t> </a:t>
            </a:r>
            <a:r>
              <a:rPr spc="-10" dirty="0"/>
              <a:t>simulation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120" y="754380"/>
            <a:ext cx="10290048" cy="59649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73133" y="2121865"/>
            <a:ext cx="16675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Elongation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node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capacitance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31118" y="1634489"/>
            <a:ext cx="332105" cy="531495"/>
          </a:xfrm>
          <a:custGeom>
            <a:avLst/>
            <a:gdLst/>
            <a:ahLst/>
            <a:cxnLst/>
            <a:rect l="l" t="t" r="r" b="b"/>
            <a:pathLst>
              <a:path w="332104" h="531494">
                <a:moveTo>
                  <a:pt x="274255" y="66619"/>
                </a:moveTo>
                <a:lnTo>
                  <a:pt x="0" y="516255"/>
                </a:lnTo>
                <a:lnTo>
                  <a:pt x="24637" y="531368"/>
                </a:lnTo>
                <a:lnTo>
                  <a:pt x="299025" y="81718"/>
                </a:lnTo>
                <a:lnTo>
                  <a:pt x="274255" y="66619"/>
                </a:lnTo>
                <a:close/>
              </a:path>
              <a:path w="332104" h="531494">
                <a:moveTo>
                  <a:pt x="327296" y="54229"/>
                </a:moveTo>
                <a:lnTo>
                  <a:pt x="281812" y="54229"/>
                </a:lnTo>
                <a:lnTo>
                  <a:pt x="306577" y="69342"/>
                </a:lnTo>
                <a:lnTo>
                  <a:pt x="299025" y="81718"/>
                </a:lnTo>
                <a:lnTo>
                  <a:pt x="323723" y="96774"/>
                </a:lnTo>
                <a:lnTo>
                  <a:pt x="327296" y="54229"/>
                </a:lnTo>
                <a:close/>
              </a:path>
              <a:path w="332104" h="531494">
                <a:moveTo>
                  <a:pt x="281812" y="54229"/>
                </a:moveTo>
                <a:lnTo>
                  <a:pt x="274255" y="66619"/>
                </a:lnTo>
                <a:lnTo>
                  <a:pt x="299025" y="81718"/>
                </a:lnTo>
                <a:lnTo>
                  <a:pt x="306577" y="69342"/>
                </a:lnTo>
                <a:lnTo>
                  <a:pt x="281812" y="54229"/>
                </a:lnTo>
                <a:close/>
              </a:path>
              <a:path w="332104" h="531494">
                <a:moveTo>
                  <a:pt x="331850" y="0"/>
                </a:moveTo>
                <a:lnTo>
                  <a:pt x="249554" y="51562"/>
                </a:lnTo>
                <a:lnTo>
                  <a:pt x="274255" y="66619"/>
                </a:lnTo>
                <a:lnTo>
                  <a:pt x="281812" y="54229"/>
                </a:lnTo>
                <a:lnTo>
                  <a:pt x="327296" y="54229"/>
                </a:lnTo>
                <a:lnTo>
                  <a:pt x="3318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9181" y="2124913"/>
            <a:ext cx="327660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plot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shows</a:t>
            </a:r>
            <a:r>
              <a:rPr sz="16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that</a:t>
            </a:r>
            <a:r>
              <a:rPr sz="16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start-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up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time</a:t>
            </a:r>
            <a:r>
              <a:rPr sz="16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complete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device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6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driven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6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voltage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6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circuit.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081" y="3131311"/>
            <a:ext cx="3361690" cy="345947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0800" marR="71755">
              <a:lnSpc>
                <a:spcPct val="100899"/>
              </a:lnSpc>
              <a:spcBef>
                <a:spcPts val="75"/>
              </a:spcBef>
            </a:pP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6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6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(red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line)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ready</a:t>
            </a:r>
            <a:r>
              <a:rPr sz="16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after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1600" spc="-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FFFF"/>
                </a:solidFill>
                <a:latin typeface="Cambria Math"/>
                <a:cs typeface="Cambria Math"/>
              </a:rPr>
              <a:t>𝜇𝑠</a:t>
            </a:r>
            <a:r>
              <a:rPr sz="16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before</a:t>
            </a:r>
            <a:r>
              <a:rPr sz="16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moment</a:t>
            </a:r>
            <a:r>
              <a:rPr sz="16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regulator</a:t>
            </a:r>
            <a:r>
              <a:rPr sz="16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6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(yellow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line)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pulled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up</a:t>
            </a:r>
            <a:r>
              <a:rPr sz="16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PMOS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pass-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transistor.</a:t>
            </a:r>
            <a:r>
              <a:rPr sz="1600" spc="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But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BIAS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ready,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differential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amplifier</a:t>
            </a:r>
            <a:r>
              <a:rPr sz="16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inside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start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working</a:t>
            </a:r>
            <a:r>
              <a:rPr sz="16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6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takes</a:t>
            </a:r>
            <a:r>
              <a:rPr sz="16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down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mbria Math"/>
                <a:cs typeface="Cambria Math"/>
              </a:rPr>
              <a:t>𝑉</a:t>
            </a:r>
            <a:r>
              <a:rPr sz="1725" spc="-30" baseline="-14492" dirty="0">
                <a:solidFill>
                  <a:srgbClr val="FFFFFF"/>
                </a:solidFill>
                <a:latin typeface="Cambria Math"/>
                <a:cs typeface="Cambria Math"/>
              </a:rPr>
              <a:t>𝑟𝑒𝑔</a:t>
            </a:r>
            <a:r>
              <a:rPr sz="1725" spc="195" baseline="-14492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since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its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inverting</a:t>
            </a:r>
            <a:r>
              <a:rPr sz="16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input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connected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resistors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divider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higher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voltage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respect</a:t>
            </a:r>
            <a:r>
              <a:rPr sz="16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non-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inverting</a:t>
            </a:r>
            <a:r>
              <a:rPr sz="16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one.</a:t>
            </a:r>
            <a:endParaRPr sz="1600">
              <a:latin typeface="Calibri Light"/>
              <a:cs typeface="Calibri Light"/>
            </a:endParaRPr>
          </a:p>
          <a:p>
            <a:pPr marL="50800" marR="17780" algn="just">
              <a:lnSpc>
                <a:spcPct val="100000"/>
              </a:lnSpc>
              <a:spcBef>
                <a:spcPts val="1920"/>
              </a:spcBef>
            </a:pP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NOTE:</a:t>
            </a:r>
            <a:r>
              <a:rPr sz="16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low</a:t>
            </a:r>
            <a:r>
              <a:rPr sz="16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pass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filter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 voltage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6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could</a:t>
            </a:r>
            <a:r>
              <a:rPr sz="16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smooth</a:t>
            </a:r>
            <a:r>
              <a:rPr sz="16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6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 Light"/>
                <a:cs typeface="Calibri Light"/>
              </a:rPr>
              <a:t>system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response</a:t>
            </a:r>
            <a:r>
              <a:rPr sz="1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6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maybe</a:t>
            </a:r>
            <a:r>
              <a:rPr sz="16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improve</a:t>
            </a:r>
            <a:r>
              <a:rPr sz="16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6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 Light"/>
                <a:cs typeface="Calibri Light"/>
              </a:rPr>
              <a:t>too.</a:t>
            </a:r>
            <a:endParaRPr sz="1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127" rIns="0" bIns="0" rtlCol="0">
            <a:spAutoFit/>
          </a:bodyPr>
          <a:lstStyle/>
          <a:p>
            <a:pPr marL="19481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Complete</a:t>
            </a:r>
            <a:r>
              <a:rPr spc="-70" dirty="0"/>
              <a:t> </a:t>
            </a:r>
            <a:r>
              <a:rPr spc="-10" dirty="0"/>
              <a:t>system</a:t>
            </a:r>
            <a:r>
              <a:rPr spc="-65" dirty="0"/>
              <a:t> </a:t>
            </a:r>
            <a:r>
              <a:rPr dirty="0"/>
              <a:t>PSRR</a:t>
            </a:r>
            <a:r>
              <a:rPr spc="-85" dirty="0"/>
              <a:t> </a:t>
            </a:r>
            <a:r>
              <a:rPr dirty="0"/>
              <a:t>@</a:t>
            </a:r>
            <a:r>
              <a:rPr spc="-85" dirty="0"/>
              <a:t> </a:t>
            </a:r>
            <a:r>
              <a:rPr dirty="0"/>
              <a:t>23pF</a:t>
            </a:r>
            <a:r>
              <a:rPr spc="-65" dirty="0"/>
              <a:t> </a:t>
            </a:r>
            <a:r>
              <a:rPr spc="-25" dirty="0"/>
              <a:t>CL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616" y="656844"/>
            <a:ext cx="10402824" cy="59908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6814" y="163143"/>
            <a:ext cx="112712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Tran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909" y="2264409"/>
            <a:ext cx="2825750" cy="3592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70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final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performances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are: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-37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@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-39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@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High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frequency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2.5 dB</a:t>
            </a:r>
            <a:r>
              <a:rPr sz="1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peak @470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MHz</a:t>
            </a:r>
            <a:endParaRPr sz="1800">
              <a:latin typeface="Calibri Light"/>
              <a:cs typeface="Calibri Light"/>
            </a:endParaRPr>
          </a:p>
          <a:p>
            <a:pPr marL="12700" marR="8826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last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parameter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issue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due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inverted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phase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same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very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frequency.</a:t>
            </a:r>
            <a:endParaRPr sz="1800">
              <a:latin typeface="Calibri Light"/>
              <a:cs typeface="Calibri Ligh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was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expected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since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comes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LDO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original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behaviour.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127" rIns="0" bIns="0" rtlCol="0">
            <a:spAutoFit/>
          </a:bodyPr>
          <a:lstStyle/>
          <a:p>
            <a:pPr marL="18446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Complete</a:t>
            </a:r>
            <a:r>
              <a:rPr spc="-70" dirty="0"/>
              <a:t> </a:t>
            </a:r>
            <a:r>
              <a:rPr spc="-10" dirty="0"/>
              <a:t>system</a:t>
            </a:r>
            <a:r>
              <a:rPr spc="-65" dirty="0"/>
              <a:t> </a:t>
            </a:r>
            <a:r>
              <a:rPr dirty="0"/>
              <a:t>PSRR</a:t>
            </a:r>
            <a:r>
              <a:rPr spc="-85" dirty="0"/>
              <a:t> </a:t>
            </a:r>
            <a:r>
              <a:rPr dirty="0"/>
              <a:t>@</a:t>
            </a:r>
            <a:r>
              <a:rPr spc="-85" dirty="0"/>
              <a:t> </a:t>
            </a:r>
            <a:r>
              <a:rPr dirty="0"/>
              <a:t>100nF</a:t>
            </a:r>
            <a:r>
              <a:rPr spc="-45" dirty="0"/>
              <a:t> </a:t>
            </a:r>
            <a:r>
              <a:rPr spc="-25" dirty="0"/>
              <a:t>CL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3060" y="722376"/>
            <a:ext cx="10226040" cy="58902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6814" y="163143"/>
            <a:ext cx="112712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</a:t>
            </a:r>
            <a:r>
              <a:rPr sz="800" spc="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Tran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0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475" y="2974594"/>
            <a:ext cx="2463165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One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could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think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about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placing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external capacitor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would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make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system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always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stable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respect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supply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noise.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plot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shows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starting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-37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level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and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improving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frequency growth.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814" y="163143"/>
            <a:ext cx="1127125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IV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800" spc="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Layout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Tran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Ref</a:t>
            </a:r>
            <a:r>
              <a:rPr sz="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extracted</a:t>
            </a:r>
            <a:r>
              <a:rPr sz="800" spc="-20" dirty="0">
                <a:solidFill>
                  <a:srgbClr val="FFFFFF"/>
                </a:solidFill>
                <a:latin typeface="Calibri Light"/>
                <a:cs typeface="Calibri Light"/>
              </a:rPr>
              <a:t> PSRR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DC</a:t>
            </a:r>
            <a:r>
              <a:rPr sz="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Sim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Reg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Transient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955"/>
              </a:lnSpc>
              <a:buFont typeface="Arial MT"/>
              <a:buChar char="•"/>
              <a:tabLst>
                <a:tab pos="299085" algn="l"/>
              </a:tabLst>
            </a:pP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Full</a:t>
            </a:r>
            <a:r>
              <a:rPr sz="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 Light"/>
                <a:cs typeface="Calibri Light"/>
              </a:rPr>
              <a:t>II</a:t>
            </a:r>
            <a:endParaRPr sz="800">
              <a:latin typeface="Calibri Light"/>
              <a:cs typeface="Calibri Light"/>
            </a:endParaRPr>
          </a:p>
          <a:p>
            <a:pPr marL="299085" indent="-286385">
              <a:lnSpc>
                <a:spcPts val="1195"/>
              </a:lnSpc>
              <a:buFont typeface="Arial MT"/>
              <a:buChar char="•"/>
              <a:tabLst>
                <a:tab pos="299085" algn="l"/>
              </a:tabLst>
            </a:pP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Final</a:t>
            </a:r>
            <a:r>
              <a:rPr sz="1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90141" y="732866"/>
            <a:ext cx="7490459" cy="1318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125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r>
              <a:rPr sz="4800" spc="-1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outcomes</a:t>
            </a:r>
            <a:endParaRPr sz="4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225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presented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device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seems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compliant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all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design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specifications.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90141" y="2300985"/>
            <a:ext cx="9114790" cy="3316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very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good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Line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regulation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(less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than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1%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)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drives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relatively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current.</a:t>
            </a:r>
            <a:endParaRPr sz="1800">
              <a:latin typeface="Calibri Light"/>
              <a:cs typeface="Calibri Light"/>
            </a:endParaRPr>
          </a:p>
          <a:p>
            <a:pPr marL="299085" marR="5080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weakness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middle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frequency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(around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500</a:t>
            </a:r>
            <a:r>
              <a:rPr sz="1800" spc="-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𝑘𝐻𝑧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)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positive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gain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inverted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phase.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Increasing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internal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compensation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capacitor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seems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not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enough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to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stabilise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it.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Indeed,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peak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attenuated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but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remains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positive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capacitance</a:t>
            </a:r>
            <a:r>
              <a:rPr sz="18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greater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then</a:t>
            </a:r>
            <a:r>
              <a:rPr sz="1800" spc="5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30</a:t>
            </a:r>
            <a:r>
              <a:rPr sz="1800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𝑝𝐹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.</a:t>
            </a:r>
            <a:endParaRPr sz="1800">
              <a:latin typeface="Calibri Light"/>
              <a:cs typeface="Calibri Light"/>
            </a:endParaRPr>
          </a:p>
          <a:p>
            <a:pPr marL="12700" marR="408940">
              <a:lnSpc>
                <a:spcPct val="100000"/>
              </a:lnSpc>
              <a:spcBef>
                <a:spcPts val="214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alternative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integration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huge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capacitor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consider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external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output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capacitor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which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would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lead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stable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at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any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frequency.</a:t>
            </a:r>
            <a:endParaRPr sz="1800">
              <a:latin typeface="Calibri Light"/>
              <a:cs typeface="Calibri Light"/>
            </a:endParaRPr>
          </a:p>
          <a:p>
            <a:pPr marL="12700" marR="216535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second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possibility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change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little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bit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topology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reference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article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authors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did.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Let’s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try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explore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second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approach…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400" y="202692"/>
            <a:ext cx="8535924" cy="64526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888" y="907796"/>
            <a:ext cx="2414905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5565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modified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topology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shown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here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presents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two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main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changes:</a:t>
            </a:r>
            <a:endParaRPr sz="1800">
              <a:latin typeface="Calibri Light"/>
              <a:cs typeface="Calibri Light"/>
            </a:endParaRPr>
          </a:p>
          <a:p>
            <a:pPr marL="299085" marR="127635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capacitors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have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been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moved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centre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cascode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current</a:t>
            </a:r>
            <a:r>
              <a:rPr sz="18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mirror;</a:t>
            </a:r>
            <a:endParaRPr sz="1800">
              <a:latin typeface="Calibri Light"/>
              <a:cs typeface="Calibri Light"/>
            </a:endParaRPr>
          </a:p>
          <a:p>
            <a:pPr marL="299085" marR="5080" indent="-28702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cascode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transistors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width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been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increased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get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larger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gain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which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amplifies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compensation capacitance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leading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to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better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PSRR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performances.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836" y="292608"/>
            <a:ext cx="10972800" cy="632002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6153" y="2175509"/>
            <a:ext cx="210820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796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phase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margin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higher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than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before,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moving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61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65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dB.</a:t>
            </a:r>
            <a:endParaRPr sz="1800">
              <a:latin typeface="Calibri Light"/>
              <a:cs typeface="Calibri Light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plot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refers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an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isolated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analysis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LDO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schematic.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6" y="272795"/>
            <a:ext cx="10957560" cy="63124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2671" y="2154682"/>
            <a:ext cx="219900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985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finally negative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even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when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reaches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its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peak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value.</a:t>
            </a:r>
            <a:endParaRPr sz="1800">
              <a:latin typeface="Calibri Light"/>
              <a:cs typeface="Calibri Light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last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step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to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simulate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entire system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new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topology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18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confirm</a:t>
            </a:r>
            <a:r>
              <a:rPr sz="18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result…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255" y="257556"/>
            <a:ext cx="10925556" cy="62925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1108" y="2154682"/>
            <a:ext cx="1961514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present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plot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behaviour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can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confirmed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for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final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circuit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too.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resulting</a:t>
            </a:r>
            <a:r>
              <a:rPr sz="18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 Light"/>
                <a:cs typeface="Calibri Light"/>
              </a:rPr>
              <a:t>peak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PSRR</a:t>
            </a:r>
            <a:r>
              <a:rPr sz="18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is:</a:t>
            </a:r>
            <a:endParaRPr sz="18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-5</a:t>
            </a:r>
            <a:r>
              <a:rPr sz="18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dB</a:t>
            </a:r>
            <a:r>
              <a:rPr sz="18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 Light"/>
                <a:cs typeface="Calibri Light"/>
              </a:rPr>
              <a:t>@930</a:t>
            </a:r>
            <a:r>
              <a:rPr sz="18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 Light"/>
                <a:cs typeface="Calibri Light"/>
              </a:rPr>
              <a:t>kHz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09569" y="3110610"/>
            <a:ext cx="5375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Thank</a:t>
            </a:r>
            <a:r>
              <a:rPr sz="3600" spc="-85" dirty="0"/>
              <a:t> </a:t>
            </a:r>
            <a:r>
              <a:rPr sz="3600" dirty="0"/>
              <a:t>you</a:t>
            </a:r>
            <a:r>
              <a:rPr sz="3600" spc="-80" dirty="0"/>
              <a:t> </a:t>
            </a:r>
            <a:r>
              <a:rPr sz="3600" dirty="0"/>
              <a:t>for</a:t>
            </a:r>
            <a:r>
              <a:rPr sz="3600" spc="-105" dirty="0"/>
              <a:t> </a:t>
            </a:r>
            <a:r>
              <a:rPr sz="3600" dirty="0"/>
              <a:t>your</a:t>
            </a:r>
            <a:r>
              <a:rPr sz="3600" spc="-85" dirty="0"/>
              <a:t> </a:t>
            </a:r>
            <a:r>
              <a:rPr sz="3600" spc="-10" dirty="0"/>
              <a:t>attention.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</TotalTime>
  <Words>7098</Words>
  <Application>Microsoft Office PowerPoint</Application>
  <PresentationFormat>Widescreen</PresentationFormat>
  <Paragraphs>1202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Arial MT</vt:lpstr>
      <vt:lpstr>Calibri</vt:lpstr>
      <vt:lpstr>Calibri Light</vt:lpstr>
      <vt:lpstr>Cambria Math</vt:lpstr>
      <vt:lpstr>Office Theme</vt:lpstr>
      <vt:lpstr>PowerPoint Presentation</vt:lpstr>
      <vt:lpstr>The starting point…</vt:lpstr>
      <vt:lpstr>PowerPoint Presentation</vt:lpstr>
      <vt:lpstr>PowerPoint Presentation</vt:lpstr>
      <vt:lpstr>LDO design</vt:lpstr>
      <vt:lpstr>The remaining parameter to be designed is the 𝑀</vt:lpstr>
      <vt:lpstr>Op-Amp specs</vt:lpstr>
      <vt:lpstr>Let’s start from the cascode current mirror dimensioning:</vt:lpstr>
      <vt:lpstr>PowerPoint Presentation</vt:lpstr>
      <vt:lpstr>PowerPoint Presentation</vt:lpstr>
      <vt:lpstr>PowerPoint Presentation</vt:lpstr>
      <vt:lpstr>PowerPoint Presentation</vt:lpstr>
      <vt:lpstr>LDO DC Operating Point @ 2mA</vt:lpstr>
      <vt:lpstr>LDO Load regulation</vt:lpstr>
      <vt:lpstr>LDO Line regulation</vt:lpstr>
      <vt:lpstr>LDO PSRR@23pF capacitive load</vt:lpstr>
      <vt:lpstr>LDO Open-Loop gain</vt:lpstr>
      <vt:lpstr>LDO Open-Loop gain analysis vs Cc</vt:lpstr>
      <vt:lpstr>LDO – Open Loop gain impact on PSRR</vt:lpstr>
      <vt:lpstr>LDO outcomes</vt:lpstr>
      <vt:lpstr>PowerPoint Presentation</vt:lpstr>
      <vt:lpstr>PowerPoint Presentation</vt:lpstr>
      <vt:lpstr>PowerPoint Presentation</vt:lpstr>
      <vt:lpstr>BIAS DC Simulation</vt:lpstr>
      <vt:lpstr>BIAS DC adjust</vt:lpstr>
      <vt:lpstr>PowerPoint Presentation</vt:lpstr>
      <vt:lpstr>BIAS temperature sweep</vt:lpstr>
      <vt:lpstr>BIAS Line Regulation</vt:lpstr>
      <vt:lpstr>BIAS PSRR</vt:lpstr>
      <vt:lpstr>PowerPoint Presentation</vt:lpstr>
      <vt:lpstr>PowerPoint Presentation</vt:lpstr>
      <vt:lpstr>Voltage reference design</vt:lpstr>
      <vt:lpstr>PowerPoint Presentation</vt:lpstr>
      <vt:lpstr>PowerPoint Presentation</vt:lpstr>
      <vt:lpstr>PowerPoint Presentation</vt:lpstr>
      <vt:lpstr>PowerPoint Presentation</vt:lpstr>
      <vt:lpstr>Voltage reference DC simulation</vt:lpstr>
      <vt:lpstr>Voltage reference DC simulation environment</vt:lpstr>
      <vt:lpstr>Voltage reference temperature sweep</vt:lpstr>
      <vt:lpstr>Voltage reference Line regulation</vt:lpstr>
      <vt:lpstr>Voltage reference PSRR analysis</vt:lpstr>
      <vt:lpstr>Voltage reference transient analysis</vt:lpstr>
      <vt:lpstr>PowerPoint Presentation</vt:lpstr>
      <vt:lpstr>Voltage reference LAYOUT</vt:lpstr>
      <vt:lpstr>LAYOUT - Common parts</vt:lpstr>
      <vt:lpstr>PowerPoint Presentation</vt:lpstr>
      <vt:lpstr>LAYOUT - Resistors and capacitors</vt:lpstr>
      <vt:lpstr>LAYOUT – Interdigitated structures</vt:lpstr>
      <vt:lpstr>PowerPoint Presentation</vt:lpstr>
      <vt:lpstr>EXTRACTED Transient Simulation</vt:lpstr>
      <vt:lpstr>EXTRACTED PSRR Simulation</vt:lpstr>
      <vt:lpstr>Complete system DC simulation</vt:lpstr>
      <vt:lpstr>Complete system Line Regulation</vt:lpstr>
      <vt:lpstr>Complete system Load Regulation</vt:lpstr>
      <vt:lpstr>Complete system Transient simulation</vt:lpstr>
      <vt:lpstr>Complete system PSRR @ 23pF CL</vt:lpstr>
      <vt:lpstr>Complete system PSRR @ 100nF CL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Giuseppe Bonfrate</dc:creator>
  <cp:lastModifiedBy>Neeraj Mishra</cp:lastModifiedBy>
  <cp:revision>7</cp:revision>
  <dcterms:created xsi:type="dcterms:W3CDTF">2026-08-24T08:34:09Z</dcterms:created>
  <dcterms:modified xsi:type="dcterms:W3CDTF">2026-08-25T10:17:57Z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2018-04-29T00:00:00Z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2026-08-24T00:00:00Z</vt:filetime>
  </property>
  <property fmtid="{D5CDD505-2E9C-101B-9397-08002B2CF9AE}" pid="6" name="Producer">
    <vt:lpwstr>Microsoft® PowerPoint® 2016</vt:lpwstr>
  </property>
</Properties>
</file>