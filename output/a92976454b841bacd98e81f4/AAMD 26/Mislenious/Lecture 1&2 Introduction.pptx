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3.xml" ContentType="application/vnd.openxmlformats-officedocument.theme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66" r:id="rId3"/>
    <p:sldMasterId id="2147483672" r:id="rId4"/>
  </p:sldMasterIdLst>
  <p:notesMasterIdLst>
    <p:notesMasterId r:id="rId86"/>
  </p:notesMasterIdLst>
  <p:sldIdLst>
    <p:sldId id="256" r:id="rId5"/>
    <p:sldId id="312" r:id="rId6"/>
    <p:sldId id="314" r:id="rId7"/>
    <p:sldId id="313" r:id="rId8"/>
    <p:sldId id="333" r:id="rId9"/>
    <p:sldId id="334" r:id="rId10"/>
    <p:sldId id="335" r:id="rId11"/>
    <p:sldId id="336" r:id="rId12"/>
    <p:sldId id="258" r:id="rId13"/>
    <p:sldId id="259" r:id="rId14"/>
    <p:sldId id="260" r:id="rId15"/>
    <p:sldId id="261" r:id="rId16"/>
    <p:sldId id="337" r:id="rId17"/>
    <p:sldId id="338" r:id="rId18"/>
    <p:sldId id="339" r:id="rId19"/>
    <p:sldId id="264" r:id="rId20"/>
    <p:sldId id="265" r:id="rId21"/>
    <p:sldId id="340" r:id="rId22"/>
    <p:sldId id="267" r:id="rId23"/>
    <p:sldId id="268" r:id="rId24"/>
    <p:sldId id="269" r:id="rId25"/>
    <p:sldId id="270" r:id="rId26"/>
    <p:sldId id="271" r:id="rId27"/>
    <p:sldId id="272" r:id="rId28"/>
    <p:sldId id="273" r:id="rId29"/>
    <p:sldId id="274" r:id="rId30"/>
    <p:sldId id="275" r:id="rId31"/>
    <p:sldId id="276" r:id="rId32"/>
    <p:sldId id="277" r:id="rId33"/>
    <p:sldId id="278" r:id="rId34"/>
    <p:sldId id="279" r:id="rId35"/>
    <p:sldId id="280" r:id="rId36"/>
    <p:sldId id="281" r:id="rId37"/>
    <p:sldId id="282" r:id="rId38"/>
    <p:sldId id="283" r:id="rId39"/>
    <p:sldId id="284" r:id="rId40"/>
    <p:sldId id="285" r:id="rId41"/>
    <p:sldId id="286" r:id="rId42"/>
    <p:sldId id="287" r:id="rId43"/>
    <p:sldId id="288" r:id="rId44"/>
    <p:sldId id="289" r:id="rId45"/>
    <p:sldId id="290" r:id="rId46"/>
    <p:sldId id="291" r:id="rId47"/>
    <p:sldId id="292" r:id="rId48"/>
    <p:sldId id="293" r:id="rId49"/>
    <p:sldId id="294" r:id="rId50"/>
    <p:sldId id="295" r:id="rId51"/>
    <p:sldId id="296" r:id="rId52"/>
    <p:sldId id="297" r:id="rId53"/>
    <p:sldId id="298" r:id="rId54"/>
    <p:sldId id="299" r:id="rId55"/>
    <p:sldId id="300" r:id="rId56"/>
    <p:sldId id="301" r:id="rId57"/>
    <p:sldId id="302" r:id="rId58"/>
    <p:sldId id="303" r:id="rId59"/>
    <p:sldId id="304" r:id="rId60"/>
    <p:sldId id="305" r:id="rId61"/>
    <p:sldId id="306" r:id="rId62"/>
    <p:sldId id="307" r:id="rId63"/>
    <p:sldId id="308" r:id="rId64"/>
    <p:sldId id="309" r:id="rId65"/>
    <p:sldId id="310" r:id="rId66"/>
    <p:sldId id="311" r:id="rId67"/>
    <p:sldId id="315" r:id="rId68"/>
    <p:sldId id="316" r:id="rId69"/>
    <p:sldId id="317" r:id="rId70"/>
    <p:sldId id="318" r:id="rId71"/>
    <p:sldId id="319" r:id="rId72"/>
    <p:sldId id="325" r:id="rId73"/>
    <p:sldId id="320" r:id="rId74"/>
    <p:sldId id="321" r:id="rId75"/>
    <p:sldId id="322" r:id="rId76"/>
    <p:sldId id="323" r:id="rId77"/>
    <p:sldId id="324" r:id="rId78"/>
    <p:sldId id="326" r:id="rId79"/>
    <p:sldId id="327" r:id="rId80"/>
    <p:sldId id="328" r:id="rId81"/>
    <p:sldId id="329" r:id="rId82"/>
    <p:sldId id="330" r:id="rId83"/>
    <p:sldId id="331" r:id="rId84"/>
    <p:sldId id="332" r:id="rId8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AA7DA"/>
    <a:srgbClr val="EEB500"/>
    <a:srgbClr val="91BCE3"/>
    <a:srgbClr val="FABE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3877" autoAdjust="0"/>
    <p:restoredTop sz="94660"/>
  </p:normalViewPr>
  <p:slideViewPr>
    <p:cSldViewPr snapToGrid="0">
      <p:cViewPr>
        <p:scale>
          <a:sx n="57" d="100"/>
          <a:sy n="57" d="100"/>
        </p:scale>
        <p:origin x="676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slide" Target="slides/slide80.xml"/><Relationship Id="rId89" Type="http://schemas.openxmlformats.org/officeDocument/2006/relationships/theme" Target="theme/theme1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5" Type="http://schemas.openxmlformats.org/officeDocument/2006/relationships/slide" Target="slides/slide1.xml"/><Relationship Id="rId90" Type="http://schemas.openxmlformats.org/officeDocument/2006/relationships/tableStyles" Target="tableStyles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77" Type="http://schemas.openxmlformats.org/officeDocument/2006/relationships/slide" Target="slides/slide73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83" Type="http://schemas.openxmlformats.org/officeDocument/2006/relationships/slide" Target="slides/slide79.xml"/><Relationship Id="rId88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slide" Target="slides/slide77.xml"/><Relationship Id="rId86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presProps" Target="presProps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" Type="http://schemas.openxmlformats.org/officeDocument/2006/relationships/slide" Target="slides/slide1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25F607-A145-46A7-8297-AB102CE2834E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988F86-197D-45D4-8A7C-DB8E5E50FD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5835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7CD5E6-E14A-4867-B19D-EB3F07698BD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170151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Relationship Id="rId4" Type="http://schemas.microsoft.com/office/2007/relationships/hdphoto" Target="../media/hdphoto1.wdp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DD02C-2658-4181-BB0F-B477318D422C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DCFF7-19EC-4241-BDCC-C7DE639E2A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2862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DD02C-2658-4181-BB0F-B477318D422C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DCFF7-19EC-4241-BDCC-C7DE639E2A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9115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DD02C-2658-4181-BB0F-B477318D422C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DCFF7-19EC-4241-BDCC-C7DE639E2A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5008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DD02C-2658-4181-BB0F-B477318D422C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DCFF7-19EC-4241-BDCC-C7DE639E2A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1501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DD02C-2658-4181-BB0F-B477318D422C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DCFF7-19EC-4241-BDCC-C7DE639E2A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4432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DD02C-2658-4181-BB0F-B477318D422C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DCFF7-19EC-4241-BDCC-C7DE639E2A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8418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DD02C-2658-4181-BB0F-B477318D422C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DCFF7-19EC-4241-BDCC-C7DE639E2A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1126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DD02C-2658-4181-BB0F-B477318D422C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DCFF7-19EC-4241-BDCC-C7DE639E2A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0830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DD02C-2658-4181-BB0F-B477318D422C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DCFF7-19EC-4241-BDCC-C7DE639E2A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7162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DD02C-2658-4181-BB0F-B477318D422C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DCFF7-19EC-4241-BDCC-C7DE639E2A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6772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DD02C-2658-4181-BB0F-B477318D422C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DCFF7-19EC-4241-BDCC-C7DE639E2A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2209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1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hlink"/>
                </a:solidFill>
                <a:latin typeface="Calibri"/>
                <a:cs typeface="Calibri"/>
              </a:defRPr>
            </a:lvl1pPr>
          </a:lstStyle>
          <a:p>
            <a:pPr marL="12700" marR="0" lvl="0" indent="0" defTabSz="91440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01:</a:t>
            </a:r>
            <a:r>
              <a:rPr kumimoji="0" sz="1400" b="1" i="0" u="none" strike="noStrike" kern="0" cap="none" spc="-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1" i="0" u="none" strike="noStrike" kern="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Introduction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8BD707-D9CF-40AE-B4C6-C98DA3205C09}" type="datetimeFigureOut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</a:rPr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8/2/2026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hlink"/>
                </a:solidFill>
                <a:latin typeface="Calibri"/>
                <a:cs typeface="Calibri"/>
              </a:defRPr>
            </a:lvl1pPr>
          </a:lstStyle>
          <a:p>
            <a:pPr marL="1461135" marR="0" lvl="0" indent="0" defTabSz="91440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400" b="1" i="0" u="none" strike="noStrike" kern="0" cap="none" spc="-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pPr marL="1461135" marR="0" lvl="0" indent="0" defTabSz="914400" eaLnBrk="1" fontAlgn="auto" latinLnBrk="0" hangingPunct="1">
                <a:lnSpc>
                  <a:spcPts val="143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sz="1400" b="1" i="0" u="none" strike="noStrike" kern="0" cap="none" spc="-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668342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1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hlink"/>
                </a:solidFill>
                <a:latin typeface="Calibri"/>
                <a:cs typeface="Calibri"/>
              </a:defRPr>
            </a:lvl1pPr>
          </a:lstStyle>
          <a:p>
            <a:pPr marL="12700" marR="0" lvl="0" indent="0" defTabSz="91440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01:</a:t>
            </a:r>
            <a:r>
              <a:rPr kumimoji="0" sz="1400" b="1" i="0" u="none" strike="noStrike" kern="0" cap="none" spc="-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1" i="0" u="none" strike="noStrike" kern="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Introduction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8BD707-D9CF-40AE-B4C6-C98DA3205C09}" type="datetimeFigureOut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</a:rPr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8/2/2026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hlink"/>
                </a:solidFill>
                <a:latin typeface="Calibri"/>
                <a:cs typeface="Calibri"/>
              </a:defRPr>
            </a:lvl1pPr>
          </a:lstStyle>
          <a:p>
            <a:pPr marL="1461135" marR="0" lvl="0" indent="0" defTabSz="91440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400" b="1" i="0" u="none" strike="noStrike" kern="0" cap="none" spc="-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pPr marL="1461135" marR="0" lvl="0" indent="0" defTabSz="914400" eaLnBrk="1" fontAlgn="auto" latinLnBrk="0" hangingPunct="1">
                <a:lnSpc>
                  <a:spcPts val="143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sz="1400" b="1" i="0" u="none" strike="noStrike" kern="0" cap="none" spc="-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472366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hlink"/>
                </a:solidFill>
                <a:latin typeface="Calibri"/>
                <a:cs typeface="Calibri"/>
              </a:defRPr>
            </a:lvl1pPr>
          </a:lstStyle>
          <a:p>
            <a:pPr marL="12700" marR="0" lvl="0" indent="0" defTabSz="91440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01:</a:t>
            </a:r>
            <a:r>
              <a:rPr kumimoji="0" sz="1400" b="1" i="0" u="none" strike="noStrike" kern="0" cap="none" spc="-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1" i="0" u="none" strike="noStrike" kern="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Introduction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8BD707-D9CF-40AE-B4C6-C98DA3205C09}" type="datetimeFigureOut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</a:rPr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8/2/2026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hlink"/>
                </a:solidFill>
                <a:latin typeface="Calibri"/>
                <a:cs typeface="Calibri"/>
              </a:defRPr>
            </a:lvl1pPr>
          </a:lstStyle>
          <a:p>
            <a:pPr marL="1461135" marR="0" lvl="0" indent="0" defTabSz="91440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400" b="1" i="0" u="none" strike="noStrike" kern="0" cap="none" spc="-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pPr marL="1461135" marR="0" lvl="0" indent="0" defTabSz="914400" eaLnBrk="1" fontAlgn="auto" latinLnBrk="0" hangingPunct="1">
                <a:lnSpc>
                  <a:spcPts val="143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sz="1400" b="1" i="0" u="none" strike="noStrike" kern="0" cap="none" spc="-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189328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hlink"/>
                </a:solidFill>
                <a:latin typeface="Calibri"/>
                <a:cs typeface="Calibri"/>
              </a:defRPr>
            </a:lvl1pPr>
          </a:lstStyle>
          <a:p>
            <a:pPr marL="12700" marR="0" lvl="0" indent="0" defTabSz="91440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01:</a:t>
            </a:r>
            <a:r>
              <a:rPr kumimoji="0" sz="1400" b="1" i="0" u="none" strike="noStrike" kern="0" cap="none" spc="-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1" i="0" u="none" strike="noStrike" kern="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Introduction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8BD707-D9CF-40AE-B4C6-C98DA3205C09}" type="datetimeFigureOut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</a:rPr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8/2/2026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hlink"/>
                </a:solidFill>
                <a:latin typeface="Calibri"/>
                <a:cs typeface="Calibri"/>
              </a:defRPr>
            </a:lvl1pPr>
          </a:lstStyle>
          <a:p>
            <a:pPr marL="1461135" marR="0" lvl="0" indent="0" defTabSz="91440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400" b="1" i="0" u="none" strike="noStrike" kern="0" cap="none" spc="-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pPr marL="1461135" marR="0" lvl="0" indent="0" defTabSz="914400" eaLnBrk="1" fontAlgn="auto" latinLnBrk="0" hangingPunct="1">
                <a:lnSpc>
                  <a:spcPts val="143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sz="1400" b="1" i="0" u="none" strike="noStrike" kern="0" cap="none" spc="-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180207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hlink"/>
                </a:solidFill>
                <a:latin typeface="Calibri"/>
                <a:cs typeface="Calibri"/>
              </a:defRPr>
            </a:lvl1pPr>
          </a:lstStyle>
          <a:p>
            <a:pPr marL="12700" marR="0" lvl="0" indent="0" defTabSz="91440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01:</a:t>
            </a:r>
            <a:r>
              <a:rPr kumimoji="0" sz="1400" b="1" i="0" u="none" strike="noStrike" kern="0" cap="none" spc="-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1" i="0" u="none" strike="noStrike" kern="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Introduction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8BD707-D9CF-40AE-B4C6-C98DA3205C09}" type="datetimeFigureOut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</a:rPr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8/2/2026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hlink"/>
                </a:solidFill>
                <a:latin typeface="Calibri"/>
                <a:cs typeface="Calibri"/>
              </a:defRPr>
            </a:lvl1pPr>
          </a:lstStyle>
          <a:p>
            <a:pPr marL="1461135" marR="0" lvl="0" indent="0" defTabSz="91440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400" b="1" i="0" u="none" strike="noStrike" kern="0" cap="none" spc="-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pPr marL="1461135" marR="0" lvl="0" indent="0" defTabSz="914400" eaLnBrk="1" fontAlgn="auto" latinLnBrk="0" hangingPunct="1">
                <a:lnSpc>
                  <a:spcPts val="143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sz="1400" b="1" i="0" u="none" strike="noStrike" kern="0" cap="none" spc="-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911552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336037" y="-3860"/>
            <a:ext cx="7519924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hlink"/>
                </a:solidFill>
                <a:latin typeface="Calibri"/>
                <a:cs typeface="Calibri"/>
              </a:defRPr>
            </a:lvl1pPr>
          </a:lstStyle>
          <a:p>
            <a:pPr marL="12700" marR="0" lvl="0" indent="0" defTabSz="91440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cs typeface="Calibri"/>
              </a:rPr>
              <a:t>01:</a:t>
            </a:r>
            <a:r>
              <a:rPr kumimoji="0" sz="1400" b="1" i="0" u="none" strike="noStrike" kern="0" cap="none" spc="-2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1" i="0" u="none" strike="noStrike" kern="0" cap="none" spc="-1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cs typeface="Calibri"/>
              </a:rPr>
              <a:t>Introduction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8BD707-D9CF-40AE-B4C6-C98DA3205C09}" type="datetimeFigureOut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</a:rPr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8/2/2026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hlink"/>
                </a:solidFill>
                <a:latin typeface="Calibri"/>
                <a:cs typeface="Calibri"/>
              </a:defRPr>
            </a:lvl1pPr>
          </a:lstStyle>
          <a:p>
            <a:pPr marL="7061834" marR="0" lvl="0" indent="0" defTabSz="91440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400" b="1" i="0" u="none" strike="noStrike" kern="0" cap="none" spc="-5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cs typeface="Calibri"/>
              </a:rPr>
              <a:pPr marL="7061834" marR="0" lvl="0" indent="0" defTabSz="914400" eaLnBrk="1" fontAlgn="auto" latinLnBrk="0" hangingPunct="1">
                <a:lnSpc>
                  <a:spcPts val="143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sz="1400" b="1" i="0" u="none" strike="noStrike" kern="0" cap="none" spc="-5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2104818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hlink"/>
                </a:solidFill>
                <a:latin typeface="Calibri"/>
                <a:cs typeface="Calibri"/>
              </a:defRPr>
            </a:lvl1pPr>
          </a:lstStyle>
          <a:p>
            <a:pPr marL="12700" marR="0" lvl="0" indent="0" defTabSz="91440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cs typeface="Calibri"/>
              </a:rPr>
              <a:t>01:</a:t>
            </a:r>
            <a:r>
              <a:rPr kumimoji="0" sz="1400" b="1" i="0" u="none" strike="noStrike" kern="0" cap="none" spc="-2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1" i="0" u="none" strike="noStrike" kern="0" cap="none" spc="-1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cs typeface="Calibri"/>
              </a:rPr>
              <a:t>Introduction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8BD707-D9CF-40AE-B4C6-C98DA3205C09}" type="datetimeFigureOut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</a:rPr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8/2/2026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hlink"/>
                </a:solidFill>
                <a:latin typeface="Calibri"/>
                <a:cs typeface="Calibri"/>
              </a:defRPr>
            </a:lvl1pPr>
          </a:lstStyle>
          <a:p>
            <a:pPr marL="7061834" marR="0" lvl="0" indent="0" defTabSz="91440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400" b="1" i="0" u="none" strike="noStrike" kern="0" cap="none" spc="-5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cs typeface="Calibri"/>
              </a:rPr>
              <a:pPr marL="7061834" marR="0" lvl="0" indent="0" defTabSz="914400" eaLnBrk="1" fontAlgn="auto" latinLnBrk="0" hangingPunct="1">
                <a:lnSpc>
                  <a:spcPts val="143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sz="1400" b="1" i="0" u="none" strike="noStrike" kern="0" cap="none" spc="-5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588261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hlink"/>
                </a:solidFill>
                <a:latin typeface="Calibri"/>
                <a:cs typeface="Calibri"/>
              </a:defRPr>
            </a:lvl1pPr>
          </a:lstStyle>
          <a:p>
            <a:pPr marL="12700" marR="0" lvl="0" indent="0" defTabSz="91440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cs typeface="Calibri"/>
              </a:rPr>
              <a:t>01:</a:t>
            </a:r>
            <a:r>
              <a:rPr kumimoji="0" sz="1400" b="1" i="0" u="none" strike="noStrike" kern="0" cap="none" spc="-2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1" i="0" u="none" strike="noStrike" kern="0" cap="none" spc="-1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cs typeface="Calibri"/>
              </a:rPr>
              <a:t>Introduction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8BD707-D9CF-40AE-B4C6-C98DA3205C09}" type="datetimeFigureOut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</a:rPr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8/2/2026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hlink"/>
                </a:solidFill>
                <a:latin typeface="Calibri"/>
                <a:cs typeface="Calibri"/>
              </a:defRPr>
            </a:lvl1pPr>
          </a:lstStyle>
          <a:p>
            <a:pPr marL="7061834" marR="0" lvl="0" indent="0" defTabSz="91440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400" b="1" i="0" u="none" strike="noStrike" kern="0" cap="none" spc="-5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cs typeface="Calibri"/>
              </a:rPr>
              <a:pPr marL="7061834" marR="0" lvl="0" indent="0" defTabSz="914400" eaLnBrk="1" fontAlgn="auto" latinLnBrk="0" hangingPunct="1">
                <a:lnSpc>
                  <a:spcPts val="143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sz="1400" b="1" i="0" u="none" strike="noStrike" kern="0" cap="none" spc="-5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2911113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hlink"/>
                </a:solidFill>
                <a:latin typeface="Calibri"/>
                <a:cs typeface="Calibri"/>
              </a:defRPr>
            </a:lvl1pPr>
          </a:lstStyle>
          <a:p>
            <a:pPr marL="12700" marR="0" lvl="0" indent="0" defTabSz="91440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cs typeface="Calibri"/>
              </a:rPr>
              <a:t>01:</a:t>
            </a:r>
            <a:r>
              <a:rPr kumimoji="0" sz="1400" b="1" i="0" u="none" strike="noStrike" kern="0" cap="none" spc="-2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1" i="0" u="none" strike="noStrike" kern="0" cap="none" spc="-1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cs typeface="Calibri"/>
              </a:rPr>
              <a:t>Introduction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8BD707-D9CF-40AE-B4C6-C98DA3205C09}" type="datetimeFigureOut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</a:rPr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8/2/2026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hlink"/>
                </a:solidFill>
                <a:latin typeface="Calibri"/>
                <a:cs typeface="Calibri"/>
              </a:defRPr>
            </a:lvl1pPr>
          </a:lstStyle>
          <a:p>
            <a:pPr marL="7061834" marR="0" lvl="0" indent="0" defTabSz="91440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400" b="1" i="0" u="none" strike="noStrike" kern="0" cap="none" spc="-5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cs typeface="Calibri"/>
              </a:rPr>
              <a:pPr marL="7061834" marR="0" lvl="0" indent="0" defTabSz="914400" eaLnBrk="1" fontAlgn="auto" latinLnBrk="0" hangingPunct="1">
                <a:lnSpc>
                  <a:spcPts val="143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sz="1400" b="1" i="0" u="none" strike="noStrike" kern="0" cap="none" spc="-5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2221836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hlink"/>
                </a:solidFill>
                <a:latin typeface="Calibri"/>
                <a:cs typeface="Calibri"/>
              </a:defRPr>
            </a:lvl1pPr>
          </a:lstStyle>
          <a:p>
            <a:pPr marL="12700" marR="0" lvl="0" indent="0" defTabSz="91440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cs typeface="Calibri"/>
              </a:rPr>
              <a:t>01:</a:t>
            </a:r>
            <a:r>
              <a:rPr kumimoji="0" sz="1400" b="1" i="0" u="none" strike="noStrike" kern="0" cap="none" spc="-2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1" i="0" u="none" strike="noStrike" kern="0" cap="none" spc="-1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cs typeface="Calibri"/>
              </a:rPr>
              <a:t>Introduction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8BD707-D9CF-40AE-B4C6-C98DA3205C09}" type="datetimeFigureOut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</a:rPr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8/2/2026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hlink"/>
                </a:solidFill>
                <a:latin typeface="Calibri"/>
                <a:cs typeface="Calibri"/>
              </a:defRPr>
            </a:lvl1pPr>
          </a:lstStyle>
          <a:p>
            <a:pPr marL="7061834" marR="0" lvl="0" indent="0" defTabSz="91440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400" b="1" i="0" u="none" strike="noStrike" kern="0" cap="none" spc="-5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cs typeface="Calibri"/>
              </a:rPr>
              <a:pPr marL="7061834" marR="0" lvl="0" indent="0" defTabSz="914400" eaLnBrk="1" fontAlgn="auto" latinLnBrk="0" hangingPunct="1">
                <a:lnSpc>
                  <a:spcPts val="143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sz="1400" b="1" i="0" u="none" strike="noStrike" kern="0" cap="none" spc="-5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0916129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제목 1">
            <a:extLst>
              <a:ext uri="{FF2B5EF4-FFF2-40B4-BE49-F238E27FC236}">
                <a16:creationId xmlns:a16="http://schemas.microsoft.com/office/drawing/2014/main" id="{C2B98D60-6BB7-134E-A3F3-3262A2904BB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77025" y="647700"/>
            <a:ext cx="10637950" cy="2056863"/>
          </a:xfrm>
        </p:spPr>
        <p:txBody>
          <a:bodyPr anchor="ctr">
            <a:normAutofit/>
          </a:bodyPr>
          <a:lstStyle>
            <a:lvl1pPr algn="ctr">
              <a:defRPr sz="4400" baseline="0">
                <a:latin typeface="+mn-lt"/>
              </a:defRPr>
            </a:lvl1pPr>
          </a:lstStyle>
          <a:p>
            <a:r>
              <a:rPr lang="en-US" altLang="ko-KR" dirty="0"/>
              <a:t>Click to edit Master title style</a:t>
            </a:r>
            <a:endParaRPr lang="ko-KR" altLang="en-US" dirty="0"/>
          </a:p>
        </p:txBody>
      </p:sp>
      <p:sp>
        <p:nvSpPr>
          <p:cNvPr id="21" name="부제목 2">
            <a:extLst>
              <a:ext uri="{FF2B5EF4-FFF2-40B4-BE49-F238E27FC236}">
                <a16:creationId xmlns:a16="http://schemas.microsoft.com/office/drawing/2014/main" id="{945326FA-26D5-1A45-A174-3BB574D3DF1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77025" y="2874694"/>
            <a:ext cx="10637950" cy="1413971"/>
          </a:xfrm>
        </p:spPr>
        <p:txBody>
          <a:bodyPr anchor="ctr">
            <a:normAutofit/>
          </a:bodyPr>
          <a:lstStyle>
            <a:lvl1pPr marL="0" indent="0" algn="ctr">
              <a:buNone/>
              <a:defRPr sz="32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ko-KR" dirty="0"/>
              <a:t>Click to add author name(s)</a:t>
            </a:r>
            <a:endParaRPr lang="ko-KR" altLang="en-US" dirty="0"/>
          </a:p>
        </p:txBody>
      </p:sp>
      <p:pic>
        <p:nvPicPr>
          <p:cNvPr id="22" name="Picture 4" descr="IEEE Solid-State Circuits Society">
            <a:extLst>
              <a:ext uri="{FF2B5EF4-FFF2-40B4-BE49-F238E27FC236}">
                <a16:creationId xmlns:a16="http://schemas.microsoft.com/office/drawing/2014/main" id="{7DBF0ED4-9F34-CC45-89EA-B96289331201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2356" b="12000"/>
          <a:stretch/>
        </p:blipFill>
        <p:spPr bwMode="auto">
          <a:xfrm>
            <a:off x="451033" y="160160"/>
            <a:ext cx="856475" cy="727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텍스트 개체 틀 2">
            <a:extLst>
              <a:ext uri="{FF2B5EF4-FFF2-40B4-BE49-F238E27FC236}">
                <a16:creationId xmlns:a16="http://schemas.microsoft.com/office/drawing/2014/main" id="{73AB01AA-861F-424E-964F-1B4FF707AA03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831850" y="4589463"/>
            <a:ext cx="10515600" cy="1500187"/>
          </a:xfrm>
        </p:spPr>
        <p:txBody>
          <a:bodyPr anchor="ctr">
            <a:normAutofit/>
          </a:bodyPr>
          <a:lstStyle>
            <a:lvl1pPr marL="0" indent="0" algn="ctr">
              <a:buNone/>
              <a:defRPr lang="en-US" altLang="ko-KR" sz="2400" b="1" kern="12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 dirty="0"/>
              <a:t>Click to add affiliation(s)</a:t>
            </a:r>
          </a:p>
        </p:txBody>
      </p:sp>
      <p:pic>
        <p:nvPicPr>
          <p:cNvPr id="25" name="그림 9">
            <a:extLst>
              <a:ext uri="{FF2B5EF4-FFF2-40B4-BE49-F238E27FC236}">
                <a16:creationId xmlns:a16="http://schemas.microsoft.com/office/drawing/2014/main" id="{3FC4B547-FEE1-274A-8866-BA829EA7FE8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100000" l="179" r="100000">
                        <a14:foregroundMark x1="31725" y1="23827" x2="26631" y2="14982"/>
                        <a14:foregroundMark x1="19124" y1="10650" x2="22341" y2="10830"/>
                        <a14:foregroundMark x1="27078" y1="14801" x2="26631" y2="12455"/>
                        <a14:foregroundMark x1="23592" y1="10469" x2="25648" y2="12094"/>
                        <a14:foregroundMark x1="19482" y1="85921" x2="6881" y2="75451"/>
                        <a14:foregroundMark x1="18141" y1="89531" x2="10277" y2="83935"/>
                        <a14:foregroundMark x1="21537" y1="61733" x2="83914" y2="59567"/>
                        <a14:foregroundMark x1="36193" y1="47112" x2="83557" y2="47653"/>
                        <a14:foregroundMark x1="85970" y1="47473" x2="84718" y2="70939"/>
                        <a14:foregroundMark x1="83646" y1="74007" x2="26273" y2="74368"/>
                        <a14:foregroundMark x1="29223" y1="90975" x2="51385" y2="85018"/>
                        <a14:foregroundMark x1="47096" y1="92238" x2="72654" y2="88989"/>
                        <a14:foregroundMark x1="74084" y1="86462" x2="89544" y2="84838"/>
                        <a14:foregroundMark x1="49866" y1="44224" x2="85612" y2="44946"/>
                        <a14:foregroundMark x1="86416" y1="47292" x2="86059" y2="44404"/>
                        <a14:foregroundMark x1="36282" y1="44224" x2="86595" y2="43141"/>
                        <a14:foregroundMark x1="87310" y1="45668" x2="87042" y2="43321"/>
                        <a14:foregroundMark x1="70777" y1="81408" x2="66667" y2="89170"/>
                        <a14:foregroundMark x1="97676" y1="85921" x2="91600" y2="85018"/>
                        <a14:backgroundMark x1="6971" y1="93321" x2="3128" y2="83574"/>
                        <a14:backgroundMark x1="12064" y1="96751" x2="18945" y2="97834"/>
                        <a14:backgroundMark x1="21001" y1="98375" x2="18409" y2="97292"/>
                      </a14:backgroundRemoval>
                    </a14:imgEffect>
                  </a14:imgLayer>
                </a14:imgProps>
              </a:ext>
            </a:extLst>
          </a:blip>
          <a:srcRect b="9287"/>
          <a:stretch/>
        </p:blipFill>
        <p:spPr>
          <a:xfrm>
            <a:off x="10108202" y="55775"/>
            <a:ext cx="1675495" cy="752475"/>
          </a:xfrm>
          <a:prstGeom prst="rect">
            <a:avLst/>
          </a:prstGeom>
        </p:spPr>
      </p:pic>
      <p:pic>
        <p:nvPicPr>
          <p:cNvPr id="26" name="Picture 4" descr="IEEE Solid-State Circuits Society">
            <a:extLst>
              <a:ext uri="{FF2B5EF4-FFF2-40B4-BE49-F238E27FC236}">
                <a16:creationId xmlns:a16="http://schemas.microsoft.com/office/drawing/2014/main" id="{C764A5E8-513E-8C40-8E6C-5E22B13AED2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2356" b="12000"/>
          <a:stretch/>
        </p:blipFill>
        <p:spPr bwMode="auto">
          <a:xfrm>
            <a:off x="451033" y="160160"/>
            <a:ext cx="856475" cy="727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그림 9">
            <a:extLst>
              <a:ext uri="{FF2B5EF4-FFF2-40B4-BE49-F238E27FC236}">
                <a16:creationId xmlns:a16="http://schemas.microsoft.com/office/drawing/2014/main" id="{DBFD8D7E-4BF8-054E-915D-B12DDC1BB79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100000" l="179" r="100000">
                        <a14:foregroundMark x1="31725" y1="23827" x2="26631" y2="14982"/>
                        <a14:foregroundMark x1="19124" y1="10650" x2="22341" y2="10830"/>
                        <a14:foregroundMark x1="27078" y1="14801" x2="26631" y2="12455"/>
                        <a14:foregroundMark x1="23592" y1="10469" x2="25648" y2="12094"/>
                        <a14:foregroundMark x1="19482" y1="85921" x2="6881" y2="75451"/>
                        <a14:foregroundMark x1="18141" y1="89531" x2="10277" y2="83935"/>
                        <a14:foregroundMark x1="21537" y1="61733" x2="83914" y2="59567"/>
                        <a14:foregroundMark x1="36193" y1="47112" x2="83557" y2="47653"/>
                        <a14:foregroundMark x1="85970" y1="47473" x2="84718" y2="70939"/>
                        <a14:foregroundMark x1="83646" y1="74007" x2="26273" y2="74368"/>
                        <a14:foregroundMark x1="29223" y1="90975" x2="51385" y2="85018"/>
                        <a14:foregroundMark x1="47096" y1="92238" x2="72654" y2="88989"/>
                        <a14:foregroundMark x1="74084" y1="86462" x2="89544" y2="84838"/>
                        <a14:foregroundMark x1="49866" y1="44224" x2="85612" y2="44946"/>
                        <a14:foregroundMark x1="86416" y1="47292" x2="86059" y2="44404"/>
                        <a14:foregroundMark x1="36282" y1="44224" x2="86595" y2="43141"/>
                        <a14:foregroundMark x1="87310" y1="45668" x2="87042" y2="43321"/>
                        <a14:foregroundMark x1="70777" y1="81408" x2="66667" y2="89170"/>
                        <a14:foregroundMark x1="97676" y1="85921" x2="91600" y2="85018"/>
                        <a14:backgroundMark x1="6971" y1="93321" x2="3128" y2="83574"/>
                        <a14:backgroundMark x1="12064" y1="96751" x2="18945" y2="97834"/>
                        <a14:backgroundMark x1="21001" y1="98375" x2="18409" y2="97292"/>
                      </a14:backgroundRemoval>
                    </a14:imgEffect>
                  </a14:imgLayer>
                </a14:imgProps>
              </a:ext>
            </a:extLst>
          </a:blip>
          <a:srcRect b="9287"/>
          <a:stretch/>
        </p:blipFill>
        <p:spPr>
          <a:xfrm>
            <a:off x="10108202" y="55775"/>
            <a:ext cx="1675495" cy="752475"/>
          </a:xfrm>
          <a:prstGeom prst="rect">
            <a:avLst/>
          </a:prstGeom>
        </p:spPr>
      </p:pic>
      <p:sp>
        <p:nvSpPr>
          <p:cNvPr id="29" name="바닥글 개체 틀 4">
            <a:extLst>
              <a:ext uri="{FF2B5EF4-FFF2-40B4-BE49-F238E27FC236}">
                <a16:creationId xmlns:a16="http://schemas.microsoft.com/office/drawing/2014/main" id="{5DCDFC98-2DDE-0E4B-A3C9-BA89C2BAAC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416538" y="6442075"/>
            <a:ext cx="53589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Faculty research presentation/interaction at IIT (ISM) Dhanbad</a:t>
            </a:r>
            <a:endParaRPr kumimoji="0" lang="ko-KR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rial" panose="020B0604020202020204" pitchFamily="34" charset="0"/>
              <a:ea typeface="맑은 고딕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446532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or Divider Slide o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BB624568-01F6-AA49-9DFD-DB19AC97762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029899"/>
            <a:ext cx="10515600" cy="827759"/>
          </a:xfrm>
        </p:spPr>
        <p:txBody>
          <a:bodyPr anchor="ctr">
            <a:normAutofit/>
          </a:bodyPr>
          <a:lstStyle>
            <a:lvl1pPr>
              <a:defRPr sz="4400" i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Divider Title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1CC199E7-51F6-BF42-909E-9CC80F5D2B91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884641"/>
            <a:ext cx="10515600" cy="672451"/>
          </a:xfrm>
        </p:spPr>
        <p:txBody>
          <a:bodyPr anchor="ctr">
            <a:normAutofit/>
          </a:bodyPr>
          <a:lstStyle>
            <a:lvl1pPr marL="0" indent="0" algn="ctr">
              <a:buNone/>
              <a:defRPr sz="2800" b="1" i="1">
                <a:solidFill>
                  <a:schemeClr val="tx1"/>
                </a:solidFill>
              </a:defRPr>
            </a:lvl1pPr>
            <a:lvl2pPr marL="457166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32" indent="0">
              <a:buNone/>
              <a:defRPr sz="1801">
                <a:solidFill>
                  <a:schemeClr val="tx1">
                    <a:tint val="75000"/>
                  </a:schemeClr>
                </a:solidFill>
              </a:defRPr>
            </a:lvl3pPr>
            <a:lvl4pPr marL="137149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66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3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299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16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3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Subhead</a:t>
            </a:r>
          </a:p>
        </p:txBody>
      </p:sp>
      <p:sp>
        <p:nvSpPr>
          <p:cNvPr id="16" name="날짜 개체 틀 6">
            <a:extLst>
              <a:ext uri="{FF2B5EF4-FFF2-40B4-BE49-F238E27FC236}">
                <a16:creationId xmlns:a16="http://schemas.microsoft.com/office/drawing/2014/main" id="{98D4ECF1-67F3-7644-9041-B203E2D132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42431" y="6442075"/>
            <a:ext cx="2743200" cy="365125"/>
          </a:xfrm>
          <a:prstGeom prst="rect">
            <a:avLst/>
          </a:prstGeom>
        </p:spPr>
        <p:txBody>
          <a:bodyPr anchor="ctr"/>
          <a:lstStyle>
            <a:lvl1pPr>
              <a:defRPr lang="en-US" altLang="ko-KR" sz="1400" b="1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marR="0" lvl="0" indent="0" algn="l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July 17, 2025</a:t>
            </a:r>
            <a:endParaRPr kumimoji="0" lang="en-US" altLang="ko-KR" sz="1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rial" panose="020B0604020202020204" pitchFamily="34" charset="0"/>
              <a:ea typeface="맑은 고딕"/>
              <a:cs typeface="Arial" panose="020B0604020202020204" pitchFamily="34" charset="0"/>
            </a:endParaRPr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589394E8-5171-8241-BD9C-03F802966E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09089" y="6419849"/>
            <a:ext cx="2514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r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Slide </a:t>
            </a:r>
            <a:fld id="{43D13783-42DA-4D39-B1EE-338536AF036D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pPr marL="0" marR="0" lvl="0" indent="0" algn="r" defTabSz="1219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rial" panose="020B0604020202020204" pitchFamily="34" charset="0"/>
              <a:ea typeface="맑은 고딕"/>
              <a:cs typeface="Arial" panose="020B0604020202020204" pitchFamily="34" charset="0"/>
            </a:endParaRPr>
          </a:p>
        </p:txBody>
      </p:sp>
      <p:sp>
        <p:nvSpPr>
          <p:cNvPr id="18" name="바닥글 개체 틀 4">
            <a:extLst>
              <a:ext uri="{FF2B5EF4-FFF2-40B4-BE49-F238E27FC236}">
                <a16:creationId xmlns:a16="http://schemas.microsoft.com/office/drawing/2014/main" id="{E3AF7199-371B-F24B-8842-EEC9BB1805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416538" y="6442075"/>
            <a:ext cx="53589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Faculty research presentation/interaction at IIT (ISM) Dhanbad</a:t>
            </a:r>
            <a:endParaRPr kumimoji="0" lang="ko-KR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rial" panose="020B0604020202020204" pitchFamily="34" charset="0"/>
              <a:ea typeface="맑은 고딕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970785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ue tint Single column network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Topic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3"/>
          </p:nvPr>
        </p:nvSpPr>
        <p:spPr>
          <a:xfrm>
            <a:off x="838201" y="1383489"/>
            <a:ext cx="10515600" cy="4234675"/>
          </a:xfrm>
        </p:spPr>
        <p:txBody>
          <a:bodyPr>
            <a:normAutofit/>
          </a:bodyPr>
          <a:lstStyle>
            <a:lvl1pPr marL="228584" indent="-228584">
              <a:buClr>
                <a:schemeClr val="tx1"/>
              </a:buClr>
              <a:buFont typeface="Arial" panose="020B0604020202020204" pitchFamily="34" charset="0"/>
              <a:buChar char="•"/>
              <a:defRPr sz="2667"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 sz="2133"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 sz="2133"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 sz="2133"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 sz="2133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251C8BA3-5016-A742-9C85-2B98B1D816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09089" y="6419849"/>
            <a:ext cx="2514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r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Slide </a:t>
            </a:r>
            <a:fld id="{43D13783-42DA-4D39-B1EE-338536AF036D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pPr marL="0" marR="0" lvl="0" indent="0" algn="r" defTabSz="1219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rial" panose="020B0604020202020204" pitchFamily="34" charset="0"/>
              <a:ea typeface="맑은 고딕"/>
              <a:cs typeface="Arial" panose="020B0604020202020204" pitchFamily="34" charset="0"/>
            </a:endParaRPr>
          </a:p>
        </p:txBody>
      </p:sp>
      <p:sp>
        <p:nvSpPr>
          <p:cNvPr id="16" name="바닥글 개체 틀 4">
            <a:extLst>
              <a:ext uri="{FF2B5EF4-FFF2-40B4-BE49-F238E27FC236}">
                <a16:creationId xmlns:a16="http://schemas.microsoft.com/office/drawing/2014/main" id="{18BE47A2-69AB-5E46-B250-98DB6B44E1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416538" y="6442075"/>
            <a:ext cx="53589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Faculty research presentation/interaction at IIT (ISM) Dhanbad</a:t>
            </a:r>
            <a:endParaRPr kumimoji="0" lang="ko-KR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rial" panose="020B0604020202020204" pitchFamily="34" charset="0"/>
              <a:ea typeface="맑은 고딕"/>
              <a:cs typeface="Arial" panose="020B0604020202020204" pitchFamily="34" charset="0"/>
            </a:endParaRPr>
          </a:p>
        </p:txBody>
      </p:sp>
      <p:sp>
        <p:nvSpPr>
          <p:cNvPr id="17" name="날짜 개체 틀 6">
            <a:extLst>
              <a:ext uri="{FF2B5EF4-FFF2-40B4-BE49-F238E27FC236}">
                <a16:creationId xmlns:a16="http://schemas.microsoft.com/office/drawing/2014/main" id="{C08EA2F6-5405-2C4E-8209-D4812C2654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42431" y="6442075"/>
            <a:ext cx="2743200" cy="365125"/>
          </a:xfrm>
          <a:prstGeom prst="rect">
            <a:avLst/>
          </a:prstGeom>
        </p:spPr>
        <p:txBody>
          <a:bodyPr anchor="ctr"/>
          <a:lstStyle>
            <a:lvl1pPr>
              <a:defRPr lang="en-US" altLang="ko-KR" sz="1400" b="1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marR="0" lvl="0" indent="0" algn="l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July 17, 2025</a:t>
            </a:r>
            <a:endParaRPr kumimoji="0" lang="en-US" altLang="ko-KR" sz="1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rial" panose="020B0604020202020204" pitchFamily="34" charset="0"/>
              <a:ea typeface="맑은 고딕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85667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tint Single column network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 dirty="0"/>
              <a:t>Topic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3"/>
          </p:nvPr>
        </p:nvSpPr>
        <p:spPr>
          <a:xfrm>
            <a:off x="838201" y="1825625"/>
            <a:ext cx="10515600" cy="3792539"/>
          </a:xfrm>
        </p:spPr>
        <p:txBody>
          <a:bodyPr>
            <a:normAutofit/>
          </a:bodyPr>
          <a:lstStyle>
            <a:lvl1pPr marL="228584" indent="-228584">
              <a:buClr>
                <a:schemeClr val="tx1"/>
              </a:buClr>
              <a:buFont typeface="Arial" panose="020B0604020202020204" pitchFamily="34" charset="0"/>
              <a:buChar char="•"/>
              <a:defRPr sz="2667"/>
            </a:lvl1pPr>
            <a:lvl2pPr>
              <a:buClr>
                <a:schemeClr val="tx1"/>
              </a:buClr>
              <a:defRPr sz="2133"/>
            </a:lvl2pPr>
            <a:lvl3pPr>
              <a:buClr>
                <a:schemeClr val="tx1"/>
              </a:buClr>
              <a:defRPr sz="2133"/>
            </a:lvl3pPr>
            <a:lvl4pPr>
              <a:buClr>
                <a:schemeClr val="tx1"/>
              </a:buClr>
              <a:defRPr sz="2133"/>
            </a:lvl4pPr>
            <a:lvl5pPr>
              <a:buClr>
                <a:schemeClr val="tx1"/>
              </a:buClr>
              <a:defRPr sz="2133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6" hasCustomPrompt="1"/>
          </p:nvPr>
        </p:nvSpPr>
        <p:spPr>
          <a:xfrm>
            <a:off x="838201" y="1106197"/>
            <a:ext cx="10515600" cy="356843"/>
          </a:xfrm>
        </p:spPr>
        <p:txBody>
          <a:bodyPr>
            <a:normAutofit/>
          </a:bodyPr>
          <a:lstStyle>
            <a:lvl1pPr marL="0" indent="0">
              <a:buNone/>
              <a:defRPr sz="2400" b="1" i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Subhead</a:t>
            </a:r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F882D628-03AF-F049-9F00-33EAFDDD3A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09089" y="6419849"/>
            <a:ext cx="2514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r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Slide </a:t>
            </a:r>
            <a:fld id="{43D13783-42DA-4D39-B1EE-338536AF036D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pPr marL="0" marR="0" lvl="0" indent="0" algn="r" defTabSz="1219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rial" panose="020B0604020202020204" pitchFamily="34" charset="0"/>
              <a:ea typeface="맑은 고딕"/>
              <a:cs typeface="Arial" panose="020B0604020202020204" pitchFamily="34" charset="0"/>
            </a:endParaRPr>
          </a:p>
        </p:txBody>
      </p:sp>
      <p:sp>
        <p:nvSpPr>
          <p:cNvPr id="18" name="바닥글 개체 틀 4">
            <a:extLst>
              <a:ext uri="{FF2B5EF4-FFF2-40B4-BE49-F238E27FC236}">
                <a16:creationId xmlns:a16="http://schemas.microsoft.com/office/drawing/2014/main" id="{13B8C5FB-B0B0-3044-8306-AE9152781F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416538" y="6442075"/>
            <a:ext cx="53589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Faculty research presentation/interaction at IIT (ISM) Dhanbad</a:t>
            </a:r>
            <a:endParaRPr kumimoji="0" lang="ko-KR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rial" panose="020B0604020202020204" pitchFamily="34" charset="0"/>
              <a:ea typeface="맑은 고딕"/>
              <a:cs typeface="Arial" panose="020B0604020202020204" pitchFamily="34" charset="0"/>
            </a:endParaRPr>
          </a:p>
        </p:txBody>
      </p:sp>
      <p:sp>
        <p:nvSpPr>
          <p:cNvPr id="19" name="날짜 개체 틀 6">
            <a:extLst>
              <a:ext uri="{FF2B5EF4-FFF2-40B4-BE49-F238E27FC236}">
                <a16:creationId xmlns:a16="http://schemas.microsoft.com/office/drawing/2014/main" id="{0BD0BC54-8693-2048-BE7D-87959D7B7F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42431" y="6442075"/>
            <a:ext cx="2743200" cy="365125"/>
          </a:xfrm>
          <a:prstGeom prst="rect">
            <a:avLst/>
          </a:prstGeom>
        </p:spPr>
        <p:txBody>
          <a:bodyPr anchor="ctr"/>
          <a:lstStyle>
            <a:lvl1pPr>
              <a:defRPr lang="en-US" altLang="ko-KR" sz="1400" b="1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marR="0" lvl="0" indent="0" algn="l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July 17, 2025</a:t>
            </a:r>
            <a:endParaRPr kumimoji="0" lang="en-US" altLang="ko-KR" sz="1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rial" panose="020B0604020202020204" pitchFamily="34" charset="0"/>
              <a:ea typeface="맑은 고딕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376492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with network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Topic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3"/>
          </p:nvPr>
        </p:nvSpPr>
        <p:spPr>
          <a:xfrm>
            <a:off x="838201" y="1825625"/>
            <a:ext cx="5181600" cy="3792539"/>
          </a:xfrm>
        </p:spPr>
        <p:txBody>
          <a:bodyPr/>
          <a:lstStyle>
            <a:lvl1pPr marL="228584" indent="-228584">
              <a:buClr>
                <a:schemeClr val="tx1"/>
              </a:buClr>
              <a:buFont typeface="Arial" panose="020B0604020202020204" pitchFamily="34" charset="0"/>
              <a:buChar char="•"/>
              <a:defRPr/>
            </a:lvl1pPr>
            <a:lvl2pPr>
              <a:buClr>
                <a:schemeClr val="tx1"/>
              </a:buClr>
              <a:defRPr/>
            </a:lvl2pPr>
            <a:lvl3pPr>
              <a:buClr>
                <a:schemeClr val="tx1"/>
              </a:buClr>
              <a:defRPr/>
            </a:lvl3pPr>
            <a:lvl4pPr>
              <a:buClr>
                <a:schemeClr val="tx1"/>
              </a:buClr>
              <a:defRPr/>
            </a:lvl4pPr>
            <a:lvl5pPr>
              <a:buClr>
                <a:schemeClr val="tx1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6" hasCustomPrompt="1"/>
          </p:nvPr>
        </p:nvSpPr>
        <p:spPr>
          <a:xfrm>
            <a:off x="838201" y="1106197"/>
            <a:ext cx="10515600" cy="356843"/>
          </a:xfrm>
        </p:spPr>
        <p:txBody>
          <a:bodyPr>
            <a:normAutofit/>
          </a:bodyPr>
          <a:lstStyle>
            <a:lvl1pPr marL="0" indent="0">
              <a:buNone/>
              <a:defRPr sz="2400" b="1" i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Subhead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BD93F922-DBB1-924F-82DA-99727D3C50B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179121" y="1825625"/>
            <a:ext cx="5181600" cy="3792539"/>
          </a:xfrm>
        </p:spPr>
        <p:txBody>
          <a:bodyPr/>
          <a:lstStyle>
            <a:lvl1pPr marL="228584" indent="-228584">
              <a:buClr>
                <a:schemeClr val="tx1"/>
              </a:buClr>
              <a:buFont typeface="Arial" panose="020B0604020202020204" pitchFamily="34" charset="0"/>
              <a:buChar char="•"/>
              <a:defRPr/>
            </a:lvl1pPr>
            <a:lvl2pPr>
              <a:buClr>
                <a:schemeClr val="tx1"/>
              </a:buClr>
              <a:defRPr/>
            </a:lvl2pPr>
            <a:lvl3pPr>
              <a:buClr>
                <a:schemeClr val="tx1"/>
              </a:buClr>
              <a:defRPr/>
            </a:lvl3pPr>
            <a:lvl4pPr>
              <a:buClr>
                <a:schemeClr val="tx1"/>
              </a:buClr>
              <a:defRPr/>
            </a:lvl4pPr>
            <a:lvl5pPr>
              <a:buClr>
                <a:schemeClr val="tx1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08EE1323-E515-B74A-8D91-546F3B8709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09089" y="6419849"/>
            <a:ext cx="2514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r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Slide </a:t>
            </a:r>
            <a:fld id="{43D13783-42DA-4D39-B1EE-338536AF036D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pPr marL="0" marR="0" lvl="0" indent="0" algn="r" defTabSz="1219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rial" panose="020B0604020202020204" pitchFamily="34" charset="0"/>
              <a:ea typeface="맑은 고딕"/>
              <a:cs typeface="Arial" panose="020B0604020202020204" pitchFamily="34" charset="0"/>
            </a:endParaRPr>
          </a:p>
        </p:txBody>
      </p:sp>
      <p:sp>
        <p:nvSpPr>
          <p:cNvPr id="20" name="바닥글 개체 틀 4">
            <a:extLst>
              <a:ext uri="{FF2B5EF4-FFF2-40B4-BE49-F238E27FC236}">
                <a16:creationId xmlns:a16="http://schemas.microsoft.com/office/drawing/2014/main" id="{5EFA1B84-EAD2-9B4A-A632-83A1EB49B8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416538" y="6442075"/>
            <a:ext cx="53589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Faculty research presentation/interaction at IIT (ISM) Dhanbad</a:t>
            </a:r>
            <a:endParaRPr kumimoji="0" lang="ko-KR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rial" panose="020B0604020202020204" pitchFamily="34" charset="0"/>
              <a:ea typeface="맑은 고딕"/>
              <a:cs typeface="Arial" panose="020B0604020202020204" pitchFamily="34" charset="0"/>
            </a:endParaRPr>
          </a:p>
        </p:txBody>
      </p:sp>
      <p:sp>
        <p:nvSpPr>
          <p:cNvPr id="21" name="날짜 개체 틀 6">
            <a:extLst>
              <a:ext uri="{FF2B5EF4-FFF2-40B4-BE49-F238E27FC236}">
                <a16:creationId xmlns:a16="http://schemas.microsoft.com/office/drawing/2014/main" id="{9F495B90-80AD-3948-AAEB-D4EB234BDC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42431" y="6442075"/>
            <a:ext cx="2743200" cy="365125"/>
          </a:xfrm>
          <a:prstGeom prst="rect">
            <a:avLst/>
          </a:prstGeom>
        </p:spPr>
        <p:txBody>
          <a:bodyPr anchor="ctr"/>
          <a:lstStyle>
            <a:lvl1pPr>
              <a:defRPr lang="en-US" altLang="ko-KR" sz="1400" b="1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marR="0" lvl="0" indent="0" algn="l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July 17, 2025</a:t>
            </a:r>
            <a:endParaRPr kumimoji="0" lang="en-US" altLang="ko-KR" sz="1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rial" panose="020B0604020202020204" pitchFamily="34" charset="0"/>
              <a:ea typeface="맑은 고딕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216444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3EBF86DF-2880-784C-A2AF-96C7FD8EB8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3010" y="3015120"/>
            <a:ext cx="10515600" cy="827759"/>
          </a:xfrm>
        </p:spPr>
        <p:txBody>
          <a:bodyPr anchor="ctr">
            <a:normAutofit/>
          </a:bodyPr>
          <a:lstStyle>
            <a:lvl1pPr>
              <a:defRPr sz="4400" i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Thank You!</a:t>
            </a:r>
          </a:p>
        </p:txBody>
      </p:sp>
      <p:sp>
        <p:nvSpPr>
          <p:cNvPr id="16" name="바닥글 개체 틀 4">
            <a:extLst>
              <a:ext uri="{FF2B5EF4-FFF2-40B4-BE49-F238E27FC236}">
                <a16:creationId xmlns:a16="http://schemas.microsoft.com/office/drawing/2014/main" id="{EF78DB2E-0E4F-CE43-AD63-8B95603240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416538" y="6442075"/>
            <a:ext cx="53589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Faculty research presentation/interaction at IIT (ISM) Dhanbad</a:t>
            </a:r>
            <a:endParaRPr kumimoji="0" lang="ko-KR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rial" panose="020B0604020202020204" pitchFamily="34" charset="0"/>
              <a:ea typeface="맑은 고딕"/>
              <a:cs typeface="Arial" panose="020B0604020202020204" pitchFamily="34" charset="0"/>
            </a:endParaRPr>
          </a:p>
        </p:txBody>
      </p:sp>
      <p:sp>
        <p:nvSpPr>
          <p:cNvPr id="17" name="날짜 개체 틀 6">
            <a:extLst>
              <a:ext uri="{FF2B5EF4-FFF2-40B4-BE49-F238E27FC236}">
                <a16:creationId xmlns:a16="http://schemas.microsoft.com/office/drawing/2014/main" id="{9E965FFA-CFAF-2C45-8750-46E5D8A9DF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42431" y="6442075"/>
            <a:ext cx="2743200" cy="365125"/>
          </a:xfrm>
          <a:prstGeom prst="rect">
            <a:avLst/>
          </a:prstGeom>
        </p:spPr>
        <p:txBody>
          <a:bodyPr anchor="ctr"/>
          <a:lstStyle>
            <a:lvl1pPr>
              <a:defRPr lang="en-US" altLang="ko-KR" sz="1400" b="1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marR="0" lvl="0" indent="0" algn="l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July 17, 2025</a:t>
            </a:r>
            <a:endParaRPr kumimoji="0" lang="en-US" altLang="ko-KR" sz="1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rial" panose="020B0604020202020204" pitchFamily="34" charset="0"/>
              <a:ea typeface="맑은 고딕"/>
              <a:cs typeface="Arial" panose="020B0604020202020204" pitchFamily="34" charset="0"/>
            </a:endParaRPr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6508EDAD-C71C-EB4E-944A-17F1CA6F45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09089" y="6419849"/>
            <a:ext cx="2514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r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Slide </a:t>
            </a:r>
            <a:fld id="{43D13783-42DA-4D39-B1EE-338536AF036D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pPr marL="0" marR="0" lvl="0" indent="0" algn="r" defTabSz="1219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rial" panose="020B0604020202020204" pitchFamily="34" charset="0"/>
              <a:ea typeface="맑은 고딕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951743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BFBFBF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3335" marR="0" lvl="0" indent="0" algn="ctr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맑은 고딕"/>
              </a:rPr>
              <a:t>Faculty research presentation/interaction at IIT (ISM) Dhanbad</a:t>
            </a:r>
            <a:endParaRPr kumimoji="0" sz="1200" b="0" i="0" u="none" strike="noStrike" kern="120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맑은 고딕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맑은 고딕"/>
              </a:rPr>
              <a:t>July 17, 2025</a:t>
            </a:r>
            <a:endParaRPr kumimoji="0" lang="en-US" altLang="ko-KR" sz="1200" b="0" i="0" u="none" strike="noStrike" kern="120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맑은 고딕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35255" marR="0" lvl="0" indent="0" algn="r" defTabSz="914400" rtl="0" eaLnBrk="1" fontAlgn="auto" latinLnBrk="0" hangingPunct="1">
              <a:lnSpc>
                <a:spcPct val="100000"/>
              </a:lnSpc>
              <a:spcBef>
                <a:spcPts val="1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2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맑은 고딕"/>
              </a:rPr>
              <a:pPr marL="135255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11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sz="1200" b="0" i="0" u="none" strike="noStrike" kern="1200" cap="none" spc="-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03521809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DD1AA82-F405-F4B9-1953-A59571B5D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July 17, 2025</a:t>
            </a:r>
            <a:endParaRPr kumimoji="0" lang="en-BE" altLang="ko-KR" sz="1400" b="1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rial" panose="020B0604020202020204" pitchFamily="34" charset="0"/>
              <a:ea typeface="맑은 고딕"/>
              <a:cs typeface="Arial" panose="020B0604020202020204" pitchFamily="34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7CAA60D-E7C0-9338-4219-DD0CC44EE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Faculty research presentation/interaction at IIT (ISM) Dhanbad</a:t>
            </a:r>
            <a:endParaRPr kumimoji="0" lang="en-BE" sz="1400" b="1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rial" panose="020B0604020202020204" pitchFamily="34" charset="0"/>
              <a:ea typeface="맑은 고딕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967915-BB96-EB59-1FF2-DCE7CBFC3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0331F8A-FA1D-427D-B40D-66DA77956C52}" type="slidenum">
              <a:rPr kumimoji="0" lang="en-BE" sz="14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BE" sz="1400" b="1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rial" panose="020B0604020202020204" pitchFamily="34" charset="0"/>
              <a:ea typeface="맑은 고딕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237593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Neeraj Mishra Microelectronics</a:t>
            </a:r>
            <a:endParaRPr kumimoji="0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Neeraj Mishra</a:t>
            </a:r>
            <a:endParaRPr kumimoji="0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34620" marR="0" lvl="0" indent="0" algn="l" defTabSz="914400" rtl="0" eaLnBrk="1" fontAlgn="auto" latinLnBrk="0" hangingPunct="1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2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pPr marL="13462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13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sz="1200" b="0" i="0" u="none" strike="noStrike" kern="0" cap="none" spc="-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794785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21.xml"/><Relationship Id="rId4" Type="http://schemas.openxmlformats.org/officeDocument/2006/relationships/slideLayout" Target="../slideLayouts/slideLayout20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6.xml"/><Relationship Id="rId10" Type="http://schemas.openxmlformats.org/officeDocument/2006/relationships/theme" Target="../theme/theme4.xml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4DD02C-2658-4181-BB0F-B477318D422C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6DCFF7-19EC-4241-BDCC-C7DE639E2A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689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746759"/>
            <a:ext cx="12192000" cy="91440"/>
          </a:xfrm>
          <a:custGeom>
            <a:avLst/>
            <a:gdLst/>
            <a:ahLst/>
            <a:cxnLst/>
            <a:rect l="l" t="t" r="r" b="b"/>
            <a:pathLst>
              <a:path w="12192000" h="91440">
                <a:moveTo>
                  <a:pt x="12192000" y="0"/>
                </a:moveTo>
                <a:lnTo>
                  <a:pt x="0" y="0"/>
                </a:lnTo>
                <a:lnTo>
                  <a:pt x="0" y="91439"/>
                </a:lnTo>
                <a:lnTo>
                  <a:pt x="12192000" y="91439"/>
                </a:lnTo>
                <a:lnTo>
                  <a:pt x="12192000" y="0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31800" y="-3860"/>
            <a:ext cx="11728399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42161" y="1338195"/>
            <a:ext cx="9706610" cy="42246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1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78739" y="6619595"/>
            <a:ext cx="1222375" cy="204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chemeClr val="hlink"/>
                </a:solidFill>
                <a:latin typeface="Calibri"/>
                <a:cs typeface="Calibri"/>
              </a:defRPr>
            </a:lvl1pPr>
          </a:lstStyle>
          <a:p>
            <a:pPr marL="12700" marR="0" lvl="0" indent="0" defTabSz="91440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01:</a:t>
            </a:r>
            <a:r>
              <a:rPr kumimoji="0" sz="1400" b="1" i="0" u="none" strike="noStrike" kern="0" cap="none" spc="-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1" i="0" u="none" strike="noStrike" kern="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Introduction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8BD707-D9CF-40AE-B4C6-C98DA3205C09}" type="datetimeFigureOut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</a:rPr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8/2/2026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548873" y="6617081"/>
            <a:ext cx="1602740" cy="2070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chemeClr val="hlink"/>
                </a:solidFill>
                <a:latin typeface="Calibri"/>
                <a:cs typeface="Calibri"/>
              </a:defRPr>
            </a:lvl1pPr>
          </a:lstStyle>
          <a:p>
            <a:pPr marL="1461135" marR="0" lvl="0" indent="0" defTabSz="91440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400" b="1" i="0" u="none" strike="noStrike" kern="0" cap="none" spc="-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pPr marL="1461135" marR="0" lvl="0" indent="0" defTabSz="914400" eaLnBrk="1" fontAlgn="auto" latinLnBrk="0" hangingPunct="1">
                <a:lnSpc>
                  <a:spcPts val="143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sz="1400" b="1" i="0" u="none" strike="noStrike" kern="0" cap="none" spc="-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256063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746759"/>
            <a:ext cx="12192000" cy="91440"/>
          </a:xfrm>
          <a:custGeom>
            <a:avLst/>
            <a:gdLst/>
            <a:ahLst/>
            <a:cxnLst/>
            <a:rect l="l" t="t" r="r" b="b"/>
            <a:pathLst>
              <a:path w="12192000" h="91440">
                <a:moveTo>
                  <a:pt x="12192000" y="0"/>
                </a:moveTo>
                <a:lnTo>
                  <a:pt x="0" y="0"/>
                </a:lnTo>
                <a:lnTo>
                  <a:pt x="0" y="91439"/>
                </a:lnTo>
                <a:lnTo>
                  <a:pt x="12192000" y="91439"/>
                </a:lnTo>
                <a:lnTo>
                  <a:pt x="12192000" y="0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31800" y="-3860"/>
            <a:ext cx="11728399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62140" y="1060450"/>
            <a:ext cx="11144250" cy="2590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78739" y="6619595"/>
            <a:ext cx="1222375" cy="204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chemeClr val="hlink"/>
                </a:solidFill>
                <a:latin typeface="Calibri"/>
                <a:cs typeface="Calibri"/>
              </a:defRPr>
            </a:lvl1pPr>
          </a:lstStyle>
          <a:p>
            <a:pPr marL="12700" marR="0" lvl="0" indent="0" defTabSz="91440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cs typeface="Calibri"/>
              </a:rPr>
              <a:t>01:</a:t>
            </a:r>
            <a:r>
              <a:rPr kumimoji="0" sz="1400" b="1" i="0" u="none" strike="noStrike" kern="0" cap="none" spc="-2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1" i="0" u="none" strike="noStrike" kern="0" cap="none" spc="-1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cs typeface="Calibri"/>
              </a:rPr>
              <a:t>Introduction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8BD707-D9CF-40AE-B4C6-C98DA3205C09}" type="datetimeFigureOut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</a:rPr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8/2/2026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948554" y="6406159"/>
            <a:ext cx="7202805" cy="4178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chemeClr val="hlink"/>
                </a:solidFill>
                <a:latin typeface="Calibri"/>
                <a:cs typeface="Calibri"/>
              </a:defRPr>
            </a:lvl1pPr>
          </a:lstStyle>
          <a:p>
            <a:pPr marL="7061834" marR="0" lvl="0" indent="0" defTabSz="91440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400" b="1" i="0" u="none" strike="noStrike" kern="0" cap="none" spc="-5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cs typeface="Calibri"/>
              </a:rPr>
              <a:pPr marL="7061834" marR="0" lvl="0" indent="0" defTabSz="914400" eaLnBrk="1" fontAlgn="auto" latinLnBrk="0" hangingPunct="1">
                <a:lnSpc>
                  <a:spcPts val="143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sz="1400" b="1" i="0" u="none" strike="noStrike" kern="0" cap="none" spc="-5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614964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25583BE3-7F27-474B-8977-CB25A2A7B5C3}"/>
              </a:ext>
            </a:extLst>
          </p:cNvPr>
          <p:cNvSpPr/>
          <p:nvPr/>
        </p:nvSpPr>
        <p:spPr>
          <a:xfrm>
            <a:off x="330200" y="1278590"/>
            <a:ext cx="11544300" cy="505553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맑은 고딕"/>
              <a:cs typeface="+mn-cs"/>
            </a:endParaRPr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431" y="111351"/>
            <a:ext cx="11519369" cy="9227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 dirty="0"/>
              <a:t>Click to edit Master title style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14698" y="1502044"/>
            <a:ext cx="10962604" cy="4673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632718" y="6442075"/>
            <a:ext cx="45206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Faculty research presentation/interaction at IIT (ISM) Dhanbad</a:t>
            </a:r>
            <a:endParaRPr kumimoji="0" lang="ko-KR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rial" panose="020B0604020202020204" pitchFamily="34" charset="0"/>
              <a:ea typeface="맑은 고딕"/>
              <a:cs typeface="Arial" panose="020B0604020202020204" pitchFamily="34" charset="0"/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09089" y="6419849"/>
            <a:ext cx="2514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r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Slide </a:t>
            </a:r>
            <a:fld id="{43D13783-42DA-4D39-B1EE-338536AF036D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pPr marL="0" marR="0" lvl="0" indent="0" algn="r" defTabSz="1219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rial" panose="020B0604020202020204" pitchFamily="34" charset="0"/>
              <a:ea typeface="맑은 고딕"/>
              <a:cs typeface="Arial" panose="020B0604020202020204" pitchFamily="34" charset="0"/>
            </a:endParaRPr>
          </a:p>
        </p:txBody>
      </p:sp>
      <p:sp>
        <p:nvSpPr>
          <p:cNvPr id="11" name="날짜 개체 틀 6"/>
          <p:cNvSpPr>
            <a:spLocks noGrp="1"/>
          </p:cNvSpPr>
          <p:nvPr>
            <p:ph type="dt" sz="half" idx="2"/>
          </p:nvPr>
        </p:nvSpPr>
        <p:spPr>
          <a:xfrm>
            <a:off x="342431" y="6442075"/>
            <a:ext cx="2743200" cy="365125"/>
          </a:xfrm>
          <a:prstGeom prst="rect">
            <a:avLst/>
          </a:prstGeom>
        </p:spPr>
        <p:txBody>
          <a:bodyPr anchor="ctr"/>
          <a:lstStyle>
            <a:lvl1pPr>
              <a:defRPr lang="en-US" altLang="ko-KR" sz="1400" b="1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marR="0" lvl="0" indent="0" algn="l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July 17, 2025</a:t>
            </a:r>
            <a:endParaRPr kumimoji="0" lang="en-US" altLang="ko-KR" sz="1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rial" panose="020B0604020202020204" pitchFamily="34" charset="0"/>
              <a:ea typeface="맑은 고딕"/>
              <a:cs typeface="Arial" panose="020B0604020202020204" pitchFamily="34" charset="0"/>
            </a:endParaRPr>
          </a:p>
        </p:txBody>
      </p:sp>
      <p:sp>
        <p:nvSpPr>
          <p:cNvPr id="7" name="Oval 5">
            <a:extLst>
              <a:ext uri="{FF2B5EF4-FFF2-40B4-BE49-F238E27FC236}">
                <a16:creationId xmlns:a16="http://schemas.microsoft.com/office/drawing/2014/main" id="{04A06D53-9DAE-4569-9D66-F458362994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725" y="1068161"/>
            <a:ext cx="101600" cy="104775"/>
          </a:xfrm>
          <a:prstGeom prst="ellipse">
            <a:avLst/>
          </a:prstGeom>
          <a:solidFill>
            <a:srgbClr val="16204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맑은 고딕"/>
              <a:cs typeface="+mn-cs"/>
            </a:endParaRPr>
          </a:p>
        </p:txBody>
      </p:sp>
      <p:sp>
        <p:nvSpPr>
          <p:cNvPr id="8" name="Freeform 6">
            <a:extLst>
              <a:ext uri="{FF2B5EF4-FFF2-40B4-BE49-F238E27FC236}">
                <a16:creationId xmlns:a16="http://schemas.microsoft.com/office/drawing/2014/main" id="{152B1177-EA1E-44CC-B53C-21DE83E23190}"/>
              </a:ext>
            </a:extLst>
          </p:cNvPr>
          <p:cNvSpPr>
            <a:spLocks/>
          </p:cNvSpPr>
          <p:nvPr/>
        </p:nvSpPr>
        <p:spPr bwMode="auto">
          <a:xfrm>
            <a:off x="420688" y="1003300"/>
            <a:ext cx="11450638" cy="116537"/>
          </a:xfrm>
          <a:custGeom>
            <a:avLst/>
            <a:gdLst>
              <a:gd name="T0" fmla="*/ 0 w 7213"/>
              <a:gd name="T1" fmla="*/ 205 h 205"/>
              <a:gd name="T2" fmla="*/ 210 w 7213"/>
              <a:gd name="T3" fmla="*/ 205 h 205"/>
              <a:gd name="T4" fmla="*/ 408 w 7213"/>
              <a:gd name="T5" fmla="*/ 0 h 205"/>
              <a:gd name="T6" fmla="*/ 7213 w 7213"/>
              <a:gd name="T7" fmla="*/ 0 h 2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213" h="205">
                <a:moveTo>
                  <a:pt x="0" y="205"/>
                </a:moveTo>
                <a:lnTo>
                  <a:pt x="210" y="205"/>
                </a:lnTo>
                <a:lnTo>
                  <a:pt x="408" y="0"/>
                </a:lnTo>
                <a:lnTo>
                  <a:pt x="7213" y="0"/>
                </a:lnTo>
              </a:path>
            </a:pathLst>
          </a:custGeom>
          <a:noFill/>
          <a:ln w="14288" cap="rnd">
            <a:solidFill>
              <a:srgbClr val="162048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맑은 고딕"/>
              <a:cs typeface="+mn-cs"/>
            </a:endParaRPr>
          </a:p>
        </p:txBody>
      </p:sp>
      <p:sp>
        <p:nvSpPr>
          <p:cNvPr id="13" name="Oval 5">
            <a:extLst>
              <a:ext uri="{FF2B5EF4-FFF2-40B4-BE49-F238E27FC236}">
                <a16:creationId xmlns:a16="http://schemas.microsoft.com/office/drawing/2014/main" id="{5FD7F483-9F4A-8943-8A9D-CFBEAE5ACCC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39725" y="1068161"/>
            <a:ext cx="101600" cy="104775"/>
          </a:xfrm>
          <a:prstGeom prst="ellipse">
            <a:avLst/>
          </a:prstGeom>
          <a:solidFill>
            <a:srgbClr val="16204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맑은 고딕"/>
              <a:cs typeface="+mn-cs"/>
            </a:endParaRPr>
          </a:p>
        </p:txBody>
      </p:sp>
      <p:sp>
        <p:nvSpPr>
          <p:cNvPr id="14" name="Freeform 6">
            <a:extLst>
              <a:ext uri="{FF2B5EF4-FFF2-40B4-BE49-F238E27FC236}">
                <a16:creationId xmlns:a16="http://schemas.microsoft.com/office/drawing/2014/main" id="{CD527920-E2C3-294C-8B27-64BAB8327C7D}"/>
              </a:ext>
            </a:extLst>
          </p:cNvPr>
          <p:cNvSpPr>
            <a:spLocks/>
          </p:cNvSpPr>
          <p:nvPr userDrawn="1"/>
        </p:nvSpPr>
        <p:spPr bwMode="auto">
          <a:xfrm>
            <a:off x="420688" y="1003300"/>
            <a:ext cx="11450638" cy="116537"/>
          </a:xfrm>
          <a:custGeom>
            <a:avLst/>
            <a:gdLst>
              <a:gd name="T0" fmla="*/ 0 w 7213"/>
              <a:gd name="T1" fmla="*/ 205 h 205"/>
              <a:gd name="T2" fmla="*/ 210 w 7213"/>
              <a:gd name="T3" fmla="*/ 205 h 205"/>
              <a:gd name="T4" fmla="*/ 408 w 7213"/>
              <a:gd name="T5" fmla="*/ 0 h 205"/>
              <a:gd name="T6" fmla="*/ 7213 w 7213"/>
              <a:gd name="T7" fmla="*/ 0 h 2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213" h="205">
                <a:moveTo>
                  <a:pt x="0" y="205"/>
                </a:moveTo>
                <a:lnTo>
                  <a:pt x="210" y="205"/>
                </a:lnTo>
                <a:lnTo>
                  <a:pt x="408" y="0"/>
                </a:lnTo>
                <a:lnTo>
                  <a:pt x="7213" y="0"/>
                </a:lnTo>
              </a:path>
            </a:pathLst>
          </a:custGeom>
          <a:noFill/>
          <a:ln w="14288" cap="rnd">
            <a:solidFill>
              <a:srgbClr val="162048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맑은 고딕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76249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</p:sldLayoutIdLst>
  <p:hf hdr="0"/>
  <p:txStyles>
    <p:titleStyle>
      <a:lvl1pPr algn="ctr" defTabSz="914400" rtl="0" eaLnBrk="1" latinLnBrk="1" hangingPunct="1">
        <a:lnSpc>
          <a:spcPct val="90000"/>
        </a:lnSpc>
        <a:spcBef>
          <a:spcPct val="0"/>
        </a:spcBef>
        <a:buNone/>
        <a:defRPr sz="4000" b="1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−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−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5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8.xml"/><Relationship Id="rId6" Type="http://schemas.microsoft.com/office/2007/relationships/hdphoto" Target="../media/hdphoto3.wdp"/><Relationship Id="rId5" Type="http://schemas.openxmlformats.org/officeDocument/2006/relationships/image" Target="../media/image6.png"/><Relationship Id="rId4" Type="http://schemas.microsoft.com/office/2007/relationships/hdphoto" Target="../media/hdphoto2.wdp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14.png"/><Relationship Id="rId4" Type="http://schemas.openxmlformats.org/officeDocument/2006/relationships/image" Target="../media/image13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0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3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8.jpg"/><Relationship Id="rId4" Type="http://schemas.openxmlformats.org/officeDocument/2006/relationships/image" Target="../media/image27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jp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anandtech.com/show/16656/ibm-creates-first-2nm-chip" TargetMode="External"/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g"/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13" Type="http://schemas.openxmlformats.org/officeDocument/2006/relationships/image" Target="../media/image55.pn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12" Type="http://schemas.openxmlformats.org/officeDocument/2006/relationships/image" Target="../media/image54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48.png"/><Relationship Id="rId11" Type="http://schemas.openxmlformats.org/officeDocument/2006/relationships/image" Target="../media/image53.png"/><Relationship Id="rId5" Type="http://schemas.openxmlformats.org/officeDocument/2006/relationships/image" Target="../media/image47.png"/><Relationship Id="rId10" Type="http://schemas.openxmlformats.org/officeDocument/2006/relationships/image" Target="../media/image52.png"/><Relationship Id="rId4" Type="http://schemas.openxmlformats.org/officeDocument/2006/relationships/image" Target="../media/image46.png"/><Relationship Id="rId9" Type="http://schemas.openxmlformats.org/officeDocument/2006/relationships/image" Target="../media/image51.png"/><Relationship Id="rId14" Type="http://schemas.openxmlformats.org/officeDocument/2006/relationships/image" Target="../media/image56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g"/><Relationship Id="rId1" Type="http://schemas.openxmlformats.org/officeDocument/2006/relationships/slideLayout" Target="../slideLayouts/slideLayout1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researchandmarkets.com/" TargetMode="External"/><Relationship Id="rId2" Type="http://schemas.openxmlformats.org/officeDocument/2006/relationships/image" Target="../media/image57.jp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4.png"/><Relationship Id="rId4" Type="http://schemas.openxmlformats.org/officeDocument/2006/relationships/hyperlink" Target="http://www.marketsandmarkets.com/" TargetMode="Externa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jpg"/><Relationship Id="rId3" Type="http://schemas.openxmlformats.org/officeDocument/2006/relationships/image" Target="../media/image59.png"/><Relationship Id="rId7" Type="http://schemas.openxmlformats.org/officeDocument/2006/relationships/image" Target="../media/image63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10" Type="http://schemas.openxmlformats.org/officeDocument/2006/relationships/image" Target="../media/image66.png"/><Relationship Id="rId4" Type="http://schemas.openxmlformats.org/officeDocument/2006/relationships/image" Target="../media/image60.jpg"/><Relationship Id="rId9" Type="http://schemas.openxmlformats.org/officeDocument/2006/relationships/image" Target="../media/image65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image" Target="../media/image68.png"/><Relationship Id="rId7" Type="http://schemas.openxmlformats.org/officeDocument/2006/relationships/image" Target="../media/image72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10" Type="http://schemas.openxmlformats.org/officeDocument/2006/relationships/image" Target="../media/image75.png"/><Relationship Id="rId4" Type="http://schemas.openxmlformats.org/officeDocument/2006/relationships/image" Target="../media/image69.png"/><Relationship Id="rId9" Type="http://schemas.openxmlformats.org/officeDocument/2006/relationships/image" Target="../media/image74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png"/><Relationship Id="rId3" Type="http://schemas.openxmlformats.org/officeDocument/2006/relationships/image" Target="../media/image77.png"/><Relationship Id="rId7" Type="http://schemas.openxmlformats.org/officeDocument/2006/relationships/image" Target="../media/image81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80.png"/><Relationship Id="rId11" Type="http://schemas.openxmlformats.org/officeDocument/2006/relationships/image" Target="../media/image85.png"/><Relationship Id="rId5" Type="http://schemas.openxmlformats.org/officeDocument/2006/relationships/image" Target="../media/image79.png"/><Relationship Id="rId10" Type="http://schemas.openxmlformats.org/officeDocument/2006/relationships/image" Target="../media/image84.png"/><Relationship Id="rId4" Type="http://schemas.openxmlformats.org/officeDocument/2006/relationships/image" Target="../media/image78.png"/><Relationship Id="rId9" Type="http://schemas.openxmlformats.org/officeDocument/2006/relationships/image" Target="../media/image8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1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jpg"/><Relationship Id="rId1" Type="http://schemas.openxmlformats.org/officeDocument/2006/relationships/slideLayout" Target="../slideLayouts/slideLayout20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jpg"/><Relationship Id="rId1" Type="http://schemas.openxmlformats.org/officeDocument/2006/relationships/slideLayout" Target="../slideLayouts/slideLayout20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jpg"/><Relationship Id="rId1" Type="http://schemas.openxmlformats.org/officeDocument/2006/relationships/slideLayout" Target="../slideLayouts/slideLayout20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jpg"/><Relationship Id="rId1" Type="http://schemas.openxmlformats.org/officeDocument/2006/relationships/slideLayout" Target="../slideLayouts/slideLayout20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jpg"/><Relationship Id="rId1" Type="http://schemas.openxmlformats.org/officeDocument/2006/relationships/slideLayout" Target="../slideLayouts/slideLayout18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jpg"/><Relationship Id="rId1" Type="http://schemas.openxmlformats.org/officeDocument/2006/relationships/slideLayout" Target="../slideLayouts/slideLayout18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jpg"/><Relationship Id="rId1" Type="http://schemas.openxmlformats.org/officeDocument/2006/relationships/slideLayout" Target="../slideLayouts/slideLayout18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jpg"/><Relationship Id="rId2" Type="http://schemas.openxmlformats.org/officeDocument/2006/relationships/hyperlink" Target="https://www.uciexpress.org/" TargetMode="Externa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24.png"/><Relationship Id="rId4" Type="http://schemas.openxmlformats.org/officeDocument/2006/relationships/image" Target="../media/image97.jp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hyperlink" Target="https://www.youtube.com/watch?v=XnR9j7ljAx4&amp;ab_channel=IntelTechnology" TargetMode="Externa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4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jpg"/><Relationship Id="rId1" Type="http://schemas.openxmlformats.org/officeDocument/2006/relationships/slideLayout" Target="../slideLayouts/slideLayout20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jpg"/><Relationship Id="rId1" Type="http://schemas.openxmlformats.org/officeDocument/2006/relationships/slideLayout" Target="../slideLayouts/slideLayout18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jp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18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jp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0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jp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0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jpg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2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jp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111.jpg"/><Relationship Id="rId4" Type="http://schemas.openxmlformats.org/officeDocument/2006/relationships/image" Target="../media/image110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jpg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20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jpg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117.jpg"/><Relationship Id="rId4" Type="http://schemas.openxmlformats.org/officeDocument/2006/relationships/image" Target="../media/image116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jpg"/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121.jpg"/><Relationship Id="rId4" Type="http://schemas.openxmlformats.org/officeDocument/2006/relationships/image" Target="../media/image120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jpg"/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20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4.jpg"/><Relationship Id="rId1" Type="http://schemas.openxmlformats.org/officeDocument/2006/relationships/slideLayout" Target="../slideLayouts/slideLayout20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5.jpg"/><Relationship Id="rId1" Type="http://schemas.openxmlformats.org/officeDocument/2006/relationships/slideLayout" Target="../slideLayouts/slideLayout20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6.jpg"/><Relationship Id="rId1" Type="http://schemas.openxmlformats.org/officeDocument/2006/relationships/slideLayout" Target="../slideLayouts/slideLayout20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jpg"/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20.xml"/><Relationship Id="rId4" Type="http://schemas.openxmlformats.org/officeDocument/2006/relationships/hyperlink" Target="http://www.icinsights.com/news/bulletins/Intel-To" TargetMode="Externa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jpg"/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20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jpg"/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20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tatista.com/statistics/266973/global-semiconductor-sales-since-1988/" TargetMode="External"/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18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4.jpg"/><Relationship Id="rId1" Type="http://schemas.openxmlformats.org/officeDocument/2006/relationships/slideLayout" Target="../slideLayouts/slideLayout20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5.jpg"/><Relationship Id="rId1" Type="http://schemas.openxmlformats.org/officeDocument/2006/relationships/slideLayout" Target="../slideLayouts/slideLayout20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tatista.com/statistics/268584/worldwide-ict-revenue-since-2005/" TargetMode="External"/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18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0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emf"/><Relationship Id="rId2" Type="http://schemas.openxmlformats.org/officeDocument/2006/relationships/image" Target="../media/image137.emf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139.emf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0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png"/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20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4.png"/><Relationship Id="rId1" Type="http://schemas.openxmlformats.org/officeDocument/2006/relationships/slideLayout" Target="../slideLayouts/slideLayout20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5.png"/><Relationship Id="rId1" Type="http://schemas.openxmlformats.org/officeDocument/2006/relationships/slideLayout" Target="../slideLayouts/slideLayout20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6.png"/><Relationship Id="rId1" Type="http://schemas.openxmlformats.org/officeDocument/2006/relationships/slideLayout" Target="../slideLayouts/slideLayout20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7.png"/><Relationship Id="rId1" Type="http://schemas.openxmlformats.org/officeDocument/2006/relationships/slideLayout" Target="../slideLayouts/slideLayout20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8.png"/><Relationship Id="rId1" Type="http://schemas.openxmlformats.org/officeDocument/2006/relationships/slideLayout" Target="../slideLayouts/slideLayout20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9.png"/><Relationship Id="rId1" Type="http://schemas.openxmlformats.org/officeDocument/2006/relationships/slideLayout" Target="../slideLayouts/slideLayout20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0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20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2.png"/><Relationship Id="rId1" Type="http://schemas.openxmlformats.org/officeDocument/2006/relationships/slideLayout" Target="../slideLayouts/slideLayout20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3.png"/><Relationship Id="rId1" Type="http://schemas.openxmlformats.org/officeDocument/2006/relationships/slideLayout" Target="../slideLayouts/slideLayout20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4.png"/><Relationship Id="rId1" Type="http://schemas.openxmlformats.org/officeDocument/2006/relationships/slideLayout" Target="../slideLayouts/slideLayout20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5.png"/><Relationship Id="rId1" Type="http://schemas.openxmlformats.org/officeDocument/2006/relationships/slideLayout" Target="../slideLayouts/slideLayout20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6.png"/><Relationship Id="rId1" Type="http://schemas.openxmlformats.org/officeDocument/2006/relationships/slideLayout" Target="../slideLayouts/slideLayout20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7.png"/><Relationship Id="rId1" Type="http://schemas.openxmlformats.org/officeDocument/2006/relationships/slideLayout" Target="../slideLayouts/slideLayout20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8.png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 txBox="1"/>
          <p:nvPr/>
        </p:nvSpPr>
        <p:spPr>
          <a:xfrm>
            <a:off x="2169075" y="953173"/>
            <a:ext cx="8444910" cy="535274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endParaRPr lang="en-US" sz="3600" b="0" i="0" u="none" strike="noStrike" baseline="0" dirty="0" smtClean="0">
              <a:solidFill>
                <a:srgbClr val="000000"/>
              </a:solidFill>
            </a:endParaRPr>
          </a:p>
          <a:p>
            <a:r>
              <a:rPr lang="en-US" sz="3600" b="0" i="0" u="none" strike="noStrike" baseline="0" dirty="0" smtClean="0">
                <a:solidFill>
                  <a:srgbClr val="000000"/>
                </a:solidFill>
              </a:rPr>
              <a:t> </a:t>
            </a:r>
            <a:r>
              <a:rPr lang="en-US" sz="3600" b="0" i="0" u="none" strike="noStrike" baseline="0" dirty="0" smtClean="0">
                <a:solidFill>
                  <a:srgbClr val="EEB500"/>
                </a:solidFill>
              </a:rPr>
              <a:t>Advance Analog and Mixed Signal Design</a:t>
            </a:r>
          </a:p>
          <a:p>
            <a:r>
              <a:rPr lang="en-US" sz="3600" b="0" i="0" u="none" strike="noStrike" baseline="0" dirty="0" smtClean="0">
                <a:solidFill>
                  <a:srgbClr val="000000"/>
                </a:solidFill>
              </a:rPr>
              <a:t> </a:t>
            </a:r>
            <a:endParaRPr sz="3600" kern="0" dirty="0">
              <a:solidFill>
                <a:sysClr val="windowText" lastClr="000000"/>
              </a:solidFill>
              <a:latin typeface="Calibri Light"/>
              <a:cs typeface="Calibri Light"/>
            </a:endParaRPr>
          </a:p>
          <a:p>
            <a:pPr marL="1928495" marR="1921510" indent="-1270" algn="ctr">
              <a:lnSpc>
                <a:spcPts val="3890"/>
              </a:lnSpc>
              <a:spcBef>
                <a:spcPts val="5"/>
              </a:spcBef>
            </a:pPr>
            <a:r>
              <a:rPr sz="3600" b="1" kern="0" spc="-25" dirty="0">
                <a:solidFill>
                  <a:srgbClr val="8AA7DA"/>
                </a:solidFill>
                <a:latin typeface="Calibri Light"/>
                <a:cs typeface="Calibri Light"/>
              </a:rPr>
              <a:t>Lecture</a:t>
            </a:r>
            <a:r>
              <a:rPr sz="3600" b="1" kern="0" spc="-165" dirty="0">
                <a:solidFill>
                  <a:srgbClr val="8AA7DA"/>
                </a:solidFill>
                <a:latin typeface="Calibri Light"/>
                <a:cs typeface="Calibri Light"/>
              </a:rPr>
              <a:t> </a:t>
            </a:r>
            <a:r>
              <a:rPr sz="3600" b="1" kern="0" spc="-25" dirty="0">
                <a:solidFill>
                  <a:srgbClr val="8AA7DA"/>
                </a:solidFill>
                <a:latin typeface="Calibri Light"/>
                <a:cs typeface="Calibri Light"/>
              </a:rPr>
              <a:t>01 </a:t>
            </a:r>
            <a:r>
              <a:rPr lang="en-US" sz="3600" b="1" kern="0" spc="-25" dirty="0" smtClean="0">
                <a:solidFill>
                  <a:srgbClr val="8AA7DA"/>
                </a:solidFill>
                <a:latin typeface="Calibri Light"/>
                <a:cs typeface="Calibri Light"/>
              </a:rPr>
              <a:t>/02 </a:t>
            </a:r>
            <a:r>
              <a:rPr sz="3600" b="1" kern="0" spc="-45" dirty="0" smtClean="0">
                <a:solidFill>
                  <a:srgbClr val="8AA7DA"/>
                </a:solidFill>
                <a:latin typeface="Calibri Light"/>
                <a:cs typeface="Calibri Light"/>
              </a:rPr>
              <a:t>Introduction</a:t>
            </a:r>
            <a:r>
              <a:rPr lang="en-US" sz="3600" b="1" kern="0" spc="-45" dirty="0" smtClean="0">
                <a:solidFill>
                  <a:srgbClr val="8AA7DA"/>
                </a:solidFill>
                <a:latin typeface="Calibri Light"/>
                <a:cs typeface="Calibri Light"/>
              </a:rPr>
              <a:t> &amp; Motivation</a:t>
            </a:r>
            <a:endParaRPr sz="3600" b="1" kern="0" dirty="0">
              <a:solidFill>
                <a:srgbClr val="8AA7DA"/>
              </a:solidFill>
              <a:latin typeface="Calibri Light"/>
              <a:cs typeface="Calibri Light"/>
            </a:endParaRPr>
          </a:p>
          <a:p>
            <a:pPr>
              <a:spcBef>
                <a:spcPts val="145"/>
              </a:spcBef>
            </a:pPr>
            <a:endParaRPr sz="3600" kern="0" dirty="0">
              <a:solidFill>
                <a:sysClr val="windowText" lastClr="000000"/>
              </a:solidFill>
              <a:latin typeface="Calibri Light"/>
              <a:cs typeface="Calibri Light"/>
            </a:endParaRPr>
          </a:p>
          <a:p>
            <a:pPr algn="ctr"/>
            <a:r>
              <a:rPr sz="3200" b="1" kern="0" dirty="0">
                <a:solidFill>
                  <a:srgbClr val="00B050"/>
                </a:solidFill>
                <a:latin typeface="Calibri Light"/>
                <a:cs typeface="Calibri Light"/>
              </a:rPr>
              <a:t>Dr.</a:t>
            </a:r>
            <a:r>
              <a:rPr sz="3200" b="1" kern="0" spc="-75" dirty="0">
                <a:solidFill>
                  <a:srgbClr val="00B050"/>
                </a:solidFill>
                <a:latin typeface="Calibri Light"/>
                <a:cs typeface="Calibri Light"/>
              </a:rPr>
              <a:t> </a:t>
            </a:r>
            <a:r>
              <a:rPr lang="en-US" sz="3200" b="1" kern="0" spc="-30" dirty="0" smtClean="0">
                <a:solidFill>
                  <a:srgbClr val="00B050"/>
                </a:solidFill>
                <a:latin typeface="Calibri Light"/>
                <a:cs typeface="Calibri Light"/>
              </a:rPr>
              <a:t>Neeraj Mishra</a:t>
            </a:r>
            <a:endParaRPr sz="3200" b="1" kern="0" dirty="0">
              <a:solidFill>
                <a:srgbClr val="00B050"/>
              </a:solidFill>
              <a:latin typeface="Calibri Light"/>
              <a:cs typeface="Calibri Light"/>
            </a:endParaRPr>
          </a:p>
          <a:p>
            <a:pPr algn="ctr">
              <a:spcBef>
                <a:spcPts val="1135"/>
              </a:spcBef>
            </a:pPr>
            <a:r>
              <a:rPr lang="en-US" sz="2400" kern="0" spc="-10" dirty="0" smtClean="0">
                <a:solidFill>
                  <a:srgbClr val="FF0000"/>
                </a:solidFill>
                <a:latin typeface="Calibri Light"/>
                <a:cs typeface="Calibri Light"/>
              </a:rPr>
              <a:t>High Performance Electronics Lab</a:t>
            </a:r>
            <a:endParaRPr sz="2400" kern="0" dirty="0">
              <a:solidFill>
                <a:srgbClr val="FF0000"/>
              </a:solidFill>
              <a:latin typeface="Calibri Light"/>
              <a:cs typeface="Calibri Light"/>
            </a:endParaRPr>
          </a:p>
          <a:p>
            <a:pPr algn="ctr"/>
            <a:r>
              <a:rPr lang="en-US" sz="2400" kern="0" dirty="0" smtClean="0">
                <a:solidFill>
                  <a:srgbClr val="FF0000"/>
                </a:solidFill>
                <a:latin typeface="Calibri Light"/>
                <a:cs typeface="Calibri Light"/>
              </a:rPr>
              <a:t>Electrical &amp; </a:t>
            </a:r>
            <a:r>
              <a:rPr sz="2400" kern="0" dirty="0" smtClean="0">
                <a:solidFill>
                  <a:srgbClr val="FF0000"/>
                </a:solidFill>
                <a:latin typeface="Calibri Light"/>
                <a:cs typeface="Calibri Light"/>
              </a:rPr>
              <a:t>Electronic</a:t>
            </a:r>
            <a:r>
              <a:rPr lang="en-US" sz="2400" kern="0" dirty="0" smtClean="0">
                <a:solidFill>
                  <a:srgbClr val="FF0000"/>
                </a:solidFill>
                <a:latin typeface="Calibri Light"/>
                <a:cs typeface="Calibri Light"/>
              </a:rPr>
              <a:t>s</a:t>
            </a:r>
            <a:r>
              <a:rPr sz="2400" kern="0" spc="-40" dirty="0" smtClean="0">
                <a:solidFill>
                  <a:srgbClr val="FF0000"/>
                </a:solidFill>
                <a:latin typeface="Calibri Light"/>
                <a:cs typeface="Calibri Light"/>
              </a:rPr>
              <a:t> </a:t>
            </a:r>
            <a:r>
              <a:rPr sz="2400" kern="0" dirty="0">
                <a:solidFill>
                  <a:srgbClr val="FF0000"/>
                </a:solidFill>
                <a:latin typeface="Calibri Light"/>
                <a:cs typeface="Calibri Light"/>
              </a:rPr>
              <a:t>Eng.</a:t>
            </a:r>
            <a:r>
              <a:rPr sz="2400" kern="0" spc="-55" dirty="0">
                <a:solidFill>
                  <a:srgbClr val="FF0000"/>
                </a:solidFill>
                <a:latin typeface="Calibri Light"/>
                <a:cs typeface="Calibri Light"/>
              </a:rPr>
              <a:t> </a:t>
            </a:r>
            <a:r>
              <a:rPr sz="2400" kern="0" spc="-10" dirty="0">
                <a:solidFill>
                  <a:srgbClr val="FF0000"/>
                </a:solidFill>
                <a:latin typeface="Calibri Light"/>
                <a:cs typeface="Calibri Light"/>
              </a:rPr>
              <a:t>Dept.</a:t>
            </a:r>
            <a:endParaRPr sz="2400" kern="0" dirty="0">
              <a:solidFill>
                <a:srgbClr val="FF0000"/>
              </a:solidFill>
              <a:latin typeface="Calibri Light"/>
              <a:cs typeface="Calibri Light"/>
            </a:endParaRPr>
          </a:p>
          <a:p>
            <a:pPr marL="1697355" marR="1694180" algn="ctr"/>
            <a:r>
              <a:rPr lang="en-US" sz="2400" kern="0" spc="-10" dirty="0" smtClean="0">
                <a:solidFill>
                  <a:srgbClr val="FF0000"/>
                </a:solidFill>
                <a:latin typeface="Calibri Light"/>
                <a:cs typeface="Calibri Light"/>
              </a:rPr>
              <a:t>Birla Institute of Technology &amp; Science </a:t>
            </a:r>
            <a:r>
              <a:rPr lang="en-US" sz="2400" kern="0" spc="-10" dirty="0" err="1" smtClean="0">
                <a:solidFill>
                  <a:srgbClr val="FF0000"/>
                </a:solidFill>
                <a:latin typeface="Calibri Light"/>
                <a:cs typeface="Calibri Light"/>
              </a:rPr>
              <a:t>Pilani</a:t>
            </a:r>
            <a:r>
              <a:rPr lang="en-US" sz="2400" kern="0" spc="-10" dirty="0" smtClean="0">
                <a:solidFill>
                  <a:srgbClr val="FF0000"/>
                </a:solidFill>
                <a:latin typeface="Calibri Light"/>
                <a:cs typeface="Calibri Light"/>
              </a:rPr>
              <a:t>, </a:t>
            </a:r>
            <a:r>
              <a:rPr lang="en-US" sz="2400" kern="0" spc="-10" dirty="0" err="1" smtClean="0">
                <a:solidFill>
                  <a:srgbClr val="FF0000"/>
                </a:solidFill>
                <a:latin typeface="Calibri Light"/>
                <a:cs typeface="Calibri Light"/>
              </a:rPr>
              <a:t>Pilani</a:t>
            </a:r>
            <a:r>
              <a:rPr lang="en-US" sz="2400" kern="0" spc="-10" dirty="0" smtClean="0">
                <a:solidFill>
                  <a:srgbClr val="FF0000"/>
                </a:solidFill>
                <a:latin typeface="Calibri Light"/>
                <a:cs typeface="Calibri Light"/>
              </a:rPr>
              <a:t> Campus</a:t>
            </a:r>
            <a:endParaRPr sz="2400" kern="0" dirty="0">
              <a:solidFill>
                <a:srgbClr val="FF0000"/>
              </a:solidFill>
              <a:latin typeface="Calibri Light"/>
              <a:cs typeface="Calibri Light"/>
            </a:endParaRPr>
          </a:p>
        </p:txBody>
      </p:sp>
      <p:sp>
        <p:nvSpPr>
          <p:cNvPr id="5" name="object 3"/>
          <p:cNvSpPr/>
          <p:nvPr/>
        </p:nvSpPr>
        <p:spPr>
          <a:xfrm>
            <a:off x="10667" y="995172"/>
            <a:ext cx="12171045" cy="91440"/>
          </a:xfrm>
          <a:custGeom>
            <a:avLst/>
            <a:gdLst/>
            <a:ahLst/>
            <a:cxnLst/>
            <a:rect l="l" t="t" r="r" b="b"/>
            <a:pathLst>
              <a:path w="12171045" h="91440">
                <a:moveTo>
                  <a:pt x="12170664" y="0"/>
                </a:moveTo>
                <a:lnTo>
                  <a:pt x="0" y="0"/>
                </a:lnTo>
                <a:lnTo>
                  <a:pt x="0" y="91439"/>
                </a:lnTo>
                <a:lnTo>
                  <a:pt x="12170664" y="91439"/>
                </a:lnTo>
                <a:lnTo>
                  <a:pt x="12170664" y="0"/>
                </a:lnTo>
                <a:close/>
              </a:path>
            </a:pathLst>
          </a:custGeom>
          <a:solidFill>
            <a:srgbClr val="EEB50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6" name="object 4"/>
          <p:cNvSpPr/>
          <p:nvPr/>
        </p:nvSpPr>
        <p:spPr>
          <a:xfrm>
            <a:off x="10667" y="2235707"/>
            <a:ext cx="12171045" cy="91440"/>
          </a:xfrm>
          <a:custGeom>
            <a:avLst/>
            <a:gdLst/>
            <a:ahLst/>
            <a:cxnLst/>
            <a:rect l="l" t="t" r="r" b="b"/>
            <a:pathLst>
              <a:path w="12171045" h="91439">
                <a:moveTo>
                  <a:pt x="12170664" y="0"/>
                </a:moveTo>
                <a:lnTo>
                  <a:pt x="0" y="0"/>
                </a:lnTo>
                <a:lnTo>
                  <a:pt x="0" y="91439"/>
                </a:lnTo>
                <a:lnTo>
                  <a:pt x="12170664" y="91439"/>
                </a:lnTo>
                <a:lnTo>
                  <a:pt x="12170664" y="0"/>
                </a:lnTo>
                <a:close/>
              </a:path>
            </a:pathLst>
          </a:custGeom>
          <a:solidFill>
            <a:srgbClr val="91BCE3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7" name="object 5"/>
          <p:cNvSpPr/>
          <p:nvPr/>
        </p:nvSpPr>
        <p:spPr>
          <a:xfrm>
            <a:off x="10667" y="3909059"/>
            <a:ext cx="12171045" cy="91440"/>
          </a:xfrm>
          <a:custGeom>
            <a:avLst/>
            <a:gdLst/>
            <a:ahLst/>
            <a:cxnLst/>
            <a:rect l="l" t="t" r="r" b="b"/>
            <a:pathLst>
              <a:path w="12171045" h="91439">
                <a:moveTo>
                  <a:pt x="12170664" y="0"/>
                </a:moveTo>
                <a:lnTo>
                  <a:pt x="0" y="0"/>
                </a:lnTo>
                <a:lnTo>
                  <a:pt x="0" y="91439"/>
                </a:lnTo>
                <a:lnTo>
                  <a:pt x="12170664" y="91439"/>
                </a:lnTo>
                <a:lnTo>
                  <a:pt x="1217066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96" y="87966"/>
            <a:ext cx="3093560" cy="80232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8410" y="5828120"/>
            <a:ext cx="3113590" cy="1029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29907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7C22748E-041F-05D7-03A2-8BF437154DD7}"/>
              </a:ext>
            </a:extLst>
          </p:cNvPr>
          <p:cNvSpPr/>
          <p:nvPr/>
        </p:nvSpPr>
        <p:spPr>
          <a:xfrm>
            <a:off x="404642" y="1298194"/>
            <a:ext cx="11557767" cy="332643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2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5EF86C9-C400-C66A-48A6-F88F73EF6FF2}"/>
              </a:ext>
            </a:extLst>
          </p:cNvPr>
          <p:cNvSpPr/>
          <p:nvPr/>
        </p:nvSpPr>
        <p:spPr>
          <a:xfrm>
            <a:off x="369142" y="5953427"/>
            <a:ext cx="11550643" cy="690289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2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C22748E-041F-05D7-03A2-8BF437154DD7}"/>
              </a:ext>
            </a:extLst>
          </p:cNvPr>
          <p:cNvSpPr/>
          <p:nvPr/>
        </p:nvSpPr>
        <p:spPr>
          <a:xfrm>
            <a:off x="404641" y="796795"/>
            <a:ext cx="11557767" cy="332643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2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3BACAB0-C661-BC42-9A7C-EF9E7B2CBB31}"/>
              </a:ext>
            </a:extLst>
          </p:cNvPr>
          <p:cNvSpPr/>
          <p:nvPr/>
        </p:nvSpPr>
        <p:spPr>
          <a:xfrm>
            <a:off x="350036" y="4932919"/>
            <a:ext cx="11550643" cy="873259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2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E7C132F-AFE1-7B7A-869C-E1C74AE3D045}"/>
              </a:ext>
            </a:extLst>
          </p:cNvPr>
          <p:cNvSpPr/>
          <p:nvPr/>
        </p:nvSpPr>
        <p:spPr>
          <a:xfrm>
            <a:off x="350038" y="3739003"/>
            <a:ext cx="11550641" cy="1071885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2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7986401-13A7-8E6B-CFFC-6B7EFA4C8E26}"/>
              </a:ext>
            </a:extLst>
          </p:cNvPr>
          <p:cNvSpPr/>
          <p:nvPr/>
        </p:nvSpPr>
        <p:spPr>
          <a:xfrm>
            <a:off x="369142" y="2552674"/>
            <a:ext cx="11593267" cy="1034475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2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9DBE212-C176-577B-A925-3989FE877BC6}"/>
              </a:ext>
            </a:extLst>
          </p:cNvPr>
          <p:cNvSpPr/>
          <p:nvPr/>
        </p:nvSpPr>
        <p:spPr>
          <a:xfrm>
            <a:off x="406451" y="1825901"/>
            <a:ext cx="11557771" cy="527159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2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12B247-C2E0-CA69-D75A-B31999A88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77036" y="6508954"/>
            <a:ext cx="1248000" cy="369332"/>
          </a:xfrm>
        </p:spPr>
        <p:txBody>
          <a:bodyPr/>
          <a:lstStyle/>
          <a:p>
            <a:fld id="{65A9FE30-EA4F-4BEC-A613-F46EDCC7C20D}" type="slidenum">
              <a:rPr lang="en-IN" sz="1600" b="1">
                <a:solidFill>
                  <a:schemeClr val="tx2"/>
                </a:solidFill>
              </a:rPr>
              <a:t>2</a:t>
            </a:fld>
            <a:endParaRPr lang="en-IN" sz="1600" b="1" dirty="0">
              <a:solidFill>
                <a:schemeClr val="tx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71226CC-133F-4D45-373E-3EBCC58021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57" y="2"/>
            <a:ext cx="2479928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en-GB" sz="3200" b="1" dirty="0">
                <a:solidFill>
                  <a:schemeClr val="tx2"/>
                </a:solidFill>
                <a:latin typeface="Arial" pitchFamily="34" charset="0"/>
                <a:ea typeface="+mj-ea"/>
                <a:cs typeface="Arial" pitchFamily="34" charset="0"/>
              </a:rPr>
              <a:t>Bio-Sketch</a:t>
            </a:r>
            <a:endParaRPr lang="en-US" sz="32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F7DA08-747A-E764-721F-63DE9B47F4A5}"/>
              </a:ext>
            </a:extLst>
          </p:cNvPr>
          <p:cNvSpPr txBox="1"/>
          <p:nvPr/>
        </p:nvSpPr>
        <p:spPr>
          <a:xfrm>
            <a:off x="70273" y="768423"/>
            <a:ext cx="11892136" cy="582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44" indent="-285744">
              <a:buFont typeface="Wingdings" panose="05000000000000000000" pitchFamily="2" charset="2"/>
              <a:buChar char="q"/>
            </a:pPr>
            <a:r>
              <a:rPr lang="en-GB" sz="1620" b="1" u="sng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Name</a:t>
            </a:r>
            <a:r>
              <a:rPr lang="en-GB" sz="1620" dirty="0">
                <a:latin typeface="Arial" panose="020B0604020202020204" pitchFamily="34" charset="0"/>
                <a:cs typeface="Arial" panose="020B0604020202020204" pitchFamily="34" charset="0"/>
              </a:rPr>
              <a:t>: Neeraj </a:t>
            </a:r>
            <a:r>
              <a:rPr lang="en-GB" sz="1620" dirty="0" smtClean="0">
                <a:latin typeface="Arial" panose="020B0604020202020204" pitchFamily="34" charset="0"/>
                <a:cs typeface="Arial" panose="020B0604020202020204" pitchFamily="34" charset="0"/>
              </a:rPr>
              <a:t>Mishra</a:t>
            </a:r>
          </a:p>
          <a:p>
            <a:pPr marL="285744" indent="-285744">
              <a:buFont typeface="Wingdings" panose="05000000000000000000" pitchFamily="2" charset="2"/>
              <a:buChar char="q"/>
            </a:pPr>
            <a:endParaRPr lang="en-GB" sz="162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44" indent="-285744">
              <a:buFont typeface="Wingdings" panose="05000000000000000000" pitchFamily="2" charset="2"/>
              <a:buChar char="q"/>
            </a:pPr>
            <a:r>
              <a:rPr lang="en-GB" sz="1620" b="1" u="sng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Member</a:t>
            </a:r>
            <a:r>
              <a:rPr lang="en-GB" sz="1620" dirty="0" smtClean="0">
                <a:latin typeface="Arial" panose="020B0604020202020204" pitchFamily="34" charset="0"/>
                <a:cs typeface="Arial" panose="020B0604020202020204" pitchFamily="34" charset="0"/>
              </a:rPr>
              <a:t>: EEE Department BITs </a:t>
            </a:r>
            <a:r>
              <a:rPr lang="en-GB" sz="162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Pilani</a:t>
            </a:r>
            <a:r>
              <a:rPr lang="en-GB" sz="1620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62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Pilani</a:t>
            </a:r>
            <a:r>
              <a:rPr lang="en-GB" sz="1620" dirty="0" smtClean="0">
                <a:latin typeface="Arial" panose="020B0604020202020204" pitchFamily="34" charset="0"/>
                <a:cs typeface="Arial" panose="020B0604020202020204" pitchFamily="34" charset="0"/>
              </a:rPr>
              <a:t> Campus. (04 Dec 2024-)</a:t>
            </a:r>
            <a:endParaRPr lang="en-GB" sz="162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44" indent="-285744">
              <a:buFont typeface="Wingdings" panose="05000000000000000000" pitchFamily="2" charset="2"/>
              <a:buChar char="q"/>
            </a:pPr>
            <a:endParaRPr lang="en-GB" sz="162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44" indent="-285744">
              <a:buFont typeface="Wingdings" panose="05000000000000000000" pitchFamily="2" charset="2"/>
              <a:buChar char="q"/>
            </a:pPr>
            <a:r>
              <a:rPr lang="en-GB" sz="1620" b="1" u="sng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Senior Researcher</a:t>
            </a:r>
            <a:r>
              <a:rPr lang="en-GB" sz="1620" dirty="0">
                <a:latin typeface="Arial" panose="020B0604020202020204" pitchFamily="34" charset="0"/>
                <a:cs typeface="Arial" panose="020B0604020202020204" pitchFamily="34" charset="0"/>
              </a:rPr>
              <a:t>:  Analog Mixed Signal IC Designer focus on high speed CMOS Design at ID Lab of </a:t>
            </a:r>
            <a:r>
              <a:rPr lang="en-GB" sz="1620" dirty="0" err="1">
                <a:latin typeface="Arial" panose="020B0604020202020204" pitchFamily="34" charset="0"/>
                <a:cs typeface="Arial" panose="020B0604020202020204" pitchFamily="34" charset="0"/>
              </a:rPr>
              <a:t>imec</a:t>
            </a:r>
            <a:r>
              <a:rPr lang="en-GB" sz="1620" dirty="0">
                <a:latin typeface="Arial" panose="020B0604020202020204" pitchFamily="34" charset="0"/>
                <a:cs typeface="Arial" panose="020B0604020202020204" pitchFamily="34" charset="0"/>
              </a:rPr>
              <a:t> &amp; Ghent University Belgium (</a:t>
            </a:r>
            <a:r>
              <a:rPr lang="en-GB" sz="1620" dirty="0" smtClean="0">
                <a:latin typeface="Arial" panose="020B0604020202020204" pitchFamily="34" charset="0"/>
                <a:cs typeface="Arial" panose="020B0604020202020204" pitchFamily="34" charset="0"/>
              </a:rPr>
              <a:t>1 April 2023-20 Nov 2024)</a:t>
            </a:r>
            <a:endParaRPr lang="en-GB" sz="162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44" indent="-285744">
              <a:buFont typeface="Wingdings" panose="05000000000000000000" pitchFamily="2" charset="2"/>
              <a:buChar char="q"/>
            </a:pPr>
            <a:endParaRPr lang="en-GB" sz="162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44" indent="-285744">
              <a:buFont typeface="Wingdings" panose="05000000000000000000" pitchFamily="2" charset="2"/>
              <a:buChar char="q"/>
            </a:pPr>
            <a:r>
              <a:rPr lang="en-IN" sz="1620" b="1" u="sng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Post-Doc</a:t>
            </a:r>
            <a:r>
              <a:rPr lang="en-IN" sz="1620" dirty="0">
                <a:latin typeface="Arial" panose="020B0604020202020204" pitchFamily="34" charset="0"/>
                <a:cs typeface="Arial" panose="020B0604020202020204" pitchFamily="34" charset="0"/>
              </a:rPr>
              <a:t>: ADVISE Group, ESAT Department, </a:t>
            </a:r>
            <a:r>
              <a:rPr lang="en-IN" sz="1620" b="1" dirty="0">
                <a:latin typeface="Arial" panose="020B0604020202020204" pitchFamily="34" charset="0"/>
                <a:cs typeface="Arial" panose="020B0604020202020204" pitchFamily="34" charset="0"/>
              </a:rPr>
              <a:t>KU Leuven </a:t>
            </a:r>
            <a:r>
              <a:rPr lang="en-IN" sz="1620" dirty="0">
                <a:latin typeface="Arial" panose="020B0604020202020204" pitchFamily="34" charset="0"/>
                <a:cs typeface="Arial" panose="020B0604020202020204" pitchFamily="34" charset="0"/>
              </a:rPr>
              <a:t>( Nov 2021-Nov 2022). </a:t>
            </a:r>
            <a:r>
              <a:rPr lang="en-IN" sz="1620" b="1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IN" sz="162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QS World = 76</a:t>
            </a:r>
            <a:r>
              <a:rPr lang="en-IN" sz="1620" b="1" baseline="300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 </a:t>
            </a:r>
            <a:r>
              <a:rPr lang="en-IN" sz="162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Rank, QS Electrical &amp; Electronics =39</a:t>
            </a:r>
            <a:r>
              <a:rPr lang="en-IN" sz="1620" b="1" baseline="300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r>
              <a:rPr lang="en-IN" sz="162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Rank</a:t>
            </a:r>
            <a:r>
              <a:rPr lang="en-IN" sz="1620" b="1" dirty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r>
              <a:rPr lang="en-GB" sz="162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</a:t>
            </a:r>
            <a:r>
              <a:rPr lang="en-GB" sz="1620" b="1" dirty="0">
                <a:latin typeface="Arial" panose="020B0604020202020204" pitchFamily="34" charset="0"/>
                <a:cs typeface="Arial" panose="020B0604020202020204" pitchFamily="34" charset="0"/>
              </a:rPr>
              <a:t>Research Topic</a:t>
            </a:r>
            <a:r>
              <a:rPr lang="en-GB" sz="1620" dirty="0">
                <a:latin typeface="Arial" panose="020B0604020202020204" pitchFamily="34" charset="0"/>
                <a:cs typeface="Arial" panose="020B0604020202020204" pitchFamily="34" charset="0"/>
              </a:rPr>
              <a:t>: Radiation-hardened Time-to-Digital Conversion (RADTIME).</a:t>
            </a:r>
          </a:p>
          <a:p>
            <a:r>
              <a:rPr lang="en-IN" sz="162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</a:t>
            </a:r>
            <a:r>
              <a:rPr lang="en-IN" sz="1620" b="1" dirty="0">
                <a:latin typeface="Arial" panose="020B0604020202020204" pitchFamily="34" charset="0"/>
                <a:cs typeface="Arial" panose="020B0604020202020204" pitchFamily="34" charset="0"/>
              </a:rPr>
              <a:t>Advisor</a:t>
            </a:r>
            <a:r>
              <a:rPr lang="en-IN" sz="162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pt-BR" sz="1620" dirty="0">
                <a:latin typeface="Arial" panose="020B0604020202020204" pitchFamily="34" charset="0"/>
                <a:cs typeface="Arial" panose="020B0604020202020204" pitchFamily="34" charset="0"/>
              </a:rPr>
              <a:t>Prof. dr. ir. Paul Leroux.</a:t>
            </a:r>
          </a:p>
          <a:p>
            <a:endParaRPr lang="en-IN" sz="162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44" indent="-285744">
              <a:buFont typeface="Wingdings" panose="05000000000000000000" pitchFamily="2" charset="2"/>
              <a:buChar char="q"/>
            </a:pPr>
            <a:r>
              <a:rPr lang="en-IN" sz="1620" b="1" u="sng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PhD</a:t>
            </a:r>
            <a:r>
              <a:rPr lang="en-IN" sz="1620" b="1" u="sng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620" dirty="0">
                <a:latin typeface="Arial" panose="020B0604020202020204" pitchFamily="34" charset="0"/>
                <a:cs typeface="Arial" panose="020B0604020202020204" pitchFamily="34" charset="0"/>
              </a:rPr>
              <a:t>:        </a:t>
            </a:r>
            <a:r>
              <a:rPr lang="en-IN" sz="1620" b="1" dirty="0">
                <a:latin typeface="Arial" panose="020B0604020202020204" pitchFamily="34" charset="0"/>
                <a:cs typeface="Arial" panose="020B0604020202020204" pitchFamily="34" charset="0"/>
              </a:rPr>
              <a:t>IIT Roorkee </a:t>
            </a:r>
            <a:r>
              <a:rPr lang="en-IN" sz="162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GB" sz="1620" dirty="0">
                <a:latin typeface="Arial" panose="020B0604020202020204" pitchFamily="34" charset="0"/>
                <a:cs typeface="Arial" panose="020B0604020202020204" pitchFamily="34" charset="0"/>
              </a:rPr>
              <a:t>Visvesvaraya PhD Scheme for Electronics &amp; IT) (2015-2021).</a:t>
            </a:r>
            <a:r>
              <a:rPr lang="en-IN" sz="16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620" b="1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IN" sz="162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QS World = 369</a:t>
            </a:r>
            <a:r>
              <a:rPr lang="en-IN" sz="1620" b="1" baseline="300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 </a:t>
            </a:r>
            <a:r>
              <a:rPr lang="en-IN" sz="162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Rank,  QS     Electrical &amp; Electronics = (150-200)</a:t>
            </a:r>
            <a:r>
              <a:rPr lang="en-IN" sz="1620" b="1" baseline="30000" dirty="0" err="1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r>
              <a:rPr lang="en-IN" sz="162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Rank</a:t>
            </a:r>
            <a:r>
              <a:rPr lang="en-IN" sz="1620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GB" sz="162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162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</a:t>
            </a:r>
            <a:r>
              <a:rPr lang="en-GB" sz="1620" b="1" dirty="0">
                <a:latin typeface="Arial" panose="020B0604020202020204" pitchFamily="34" charset="0"/>
                <a:cs typeface="Arial" panose="020B0604020202020204" pitchFamily="34" charset="0"/>
              </a:rPr>
              <a:t>Research Topic</a:t>
            </a:r>
            <a:r>
              <a:rPr lang="en-GB" sz="1620" dirty="0">
                <a:latin typeface="Arial" panose="020B0604020202020204" pitchFamily="34" charset="0"/>
                <a:cs typeface="Arial" panose="020B0604020202020204" pitchFamily="34" charset="0"/>
              </a:rPr>
              <a:t>: High-Performance Ring Oscillator Using Separately Driven Inputs.</a:t>
            </a:r>
          </a:p>
          <a:p>
            <a:r>
              <a:rPr lang="en-IN" sz="162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</a:t>
            </a:r>
            <a:r>
              <a:rPr lang="en-IN" sz="1620" b="1" dirty="0">
                <a:latin typeface="Arial" panose="020B0604020202020204" pitchFamily="34" charset="0"/>
                <a:cs typeface="Arial" panose="020B0604020202020204" pitchFamily="34" charset="0"/>
              </a:rPr>
              <a:t>Advisor</a:t>
            </a:r>
            <a:r>
              <a:rPr lang="en-IN" sz="1620" dirty="0">
                <a:latin typeface="Arial" panose="020B0604020202020204" pitchFamily="34" charset="0"/>
                <a:cs typeface="Arial" panose="020B0604020202020204" pitchFamily="34" charset="0"/>
              </a:rPr>
              <a:t>: Prof. Anand </a:t>
            </a:r>
            <a:r>
              <a:rPr lang="en-IN" sz="1620" dirty="0" err="1">
                <a:latin typeface="Arial" panose="020B0604020202020204" pitchFamily="34" charset="0"/>
                <a:cs typeface="Arial" panose="020B0604020202020204" pitchFamily="34" charset="0"/>
              </a:rPr>
              <a:t>Bulusu</a:t>
            </a:r>
            <a:r>
              <a:rPr lang="en-IN" sz="162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IN" sz="162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44" indent="-285744">
              <a:buFont typeface="Wingdings" panose="05000000000000000000" pitchFamily="2" charset="2"/>
              <a:buChar char="q"/>
            </a:pPr>
            <a:r>
              <a:rPr lang="en-GB" sz="1620" b="1" u="sng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 Tech </a:t>
            </a:r>
            <a:r>
              <a:rPr lang="en-GB" sz="1620" dirty="0">
                <a:latin typeface="Arial" panose="020B0604020202020204" pitchFamily="34" charset="0"/>
                <a:cs typeface="Arial" panose="020B0604020202020204" pitchFamily="34" charset="0"/>
              </a:rPr>
              <a:t>:   </a:t>
            </a:r>
            <a:r>
              <a:rPr lang="en-GB" sz="1620" b="1" dirty="0">
                <a:latin typeface="Arial" panose="020B0604020202020204" pitchFamily="34" charset="0"/>
                <a:cs typeface="Arial" panose="020B0604020202020204" pitchFamily="34" charset="0"/>
              </a:rPr>
              <a:t>IIT Roorkee </a:t>
            </a:r>
            <a:r>
              <a:rPr lang="en-GB" sz="1620" dirty="0">
                <a:latin typeface="Arial" panose="020B0604020202020204" pitchFamily="34" charset="0"/>
                <a:cs typeface="Arial" panose="020B0604020202020204" pitchFamily="34" charset="0"/>
              </a:rPr>
              <a:t>(2013-2015). (</a:t>
            </a:r>
            <a:r>
              <a:rPr lang="en-GB" sz="162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Gate Rank 346 in ECE</a:t>
            </a:r>
            <a:r>
              <a:rPr lang="en-GB" sz="162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r>
              <a:rPr lang="en-GB" sz="162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</a:t>
            </a:r>
            <a:r>
              <a:rPr lang="en-GB" sz="1620" b="1" dirty="0">
                <a:latin typeface="Arial" panose="020B0604020202020204" pitchFamily="34" charset="0"/>
                <a:cs typeface="Arial" panose="020B0604020202020204" pitchFamily="34" charset="0"/>
              </a:rPr>
              <a:t>Research Topic</a:t>
            </a:r>
            <a:r>
              <a:rPr lang="en-GB" sz="1620" dirty="0">
                <a:latin typeface="Arial" panose="020B0604020202020204" pitchFamily="34" charset="0"/>
                <a:cs typeface="Arial" panose="020B0604020202020204" pitchFamily="34" charset="0"/>
              </a:rPr>
              <a:t>: Mechanical Stress aware design and layout of basic Analog building blocks.</a:t>
            </a:r>
          </a:p>
          <a:p>
            <a:r>
              <a:rPr lang="en-IN" sz="162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</a:t>
            </a:r>
            <a:r>
              <a:rPr lang="en-IN" sz="1620" b="1" dirty="0">
                <a:latin typeface="Arial" panose="020B0604020202020204" pitchFamily="34" charset="0"/>
                <a:cs typeface="Arial" panose="020B0604020202020204" pitchFamily="34" charset="0"/>
              </a:rPr>
              <a:t>Advisor</a:t>
            </a:r>
            <a:r>
              <a:rPr lang="en-IN" sz="1620" dirty="0">
                <a:latin typeface="Arial" panose="020B0604020202020204" pitchFamily="34" charset="0"/>
                <a:cs typeface="Arial" panose="020B0604020202020204" pitchFamily="34" charset="0"/>
              </a:rPr>
              <a:t>: Prof. Anand </a:t>
            </a:r>
            <a:r>
              <a:rPr lang="en-IN" sz="1620" dirty="0" err="1">
                <a:latin typeface="Arial" panose="020B0604020202020204" pitchFamily="34" charset="0"/>
                <a:cs typeface="Arial" panose="020B0604020202020204" pitchFamily="34" charset="0"/>
              </a:rPr>
              <a:t>Bulusu</a:t>
            </a:r>
            <a:r>
              <a:rPr lang="en-IN" sz="162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GB" sz="162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44" indent="-285744">
              <a:buFont typeface="Wingdings" panose="05000000000000000000" pitchFamily="2" charset="2"/>
              <a:buChar char="q"/>
            </a:pPr>
            <a:r>
              <a:rPr lang="en-GB" sz="1620" b="1" u="sng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Job </a:t>
            </a:r>
            <a:r>
              <a:rPr lang="en-GB" sz="162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(a) </a:t>
            </a:r>
            <a:r>
              <a:rPr lang="en-GB" sz="1620" dirty="0">
                <a:latin typeface="Arial" panose="020B0604020202020204" pitchFamily="34" charset="0"/>
                <a:cs typeface="Arial" panose="020B0604020202020204" pitchFamily="34" charset="0"/>
              </a:rPr>
              <a:t>Engineer in </a:t>
            </a:r>
            <a:r>
              <a:rPr lang="en-GB" sz="162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Alcatel and Lucent Managed Solution Limited</a:t>
            </a:r>
            <a:r>
              <a:rPr lang="en-GB" sz="1620" dirty="0">
                <a:latin typeface="Arial" panose="020B0604020202020204" pitchFamily="34" charset="0"/>
                <a:cs typeface="Arial" panose="020B0604020202020204" pitchFamily="34" charset="0"/>
              </a:rPr>
              <a:t>. (March 10 - May 13).</a:t>
            </a:r>
          </a:p>
          <a:p>
            <a:r>
              <a:rPr lang="en-GB" sz="162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(b) </a:t>
            </a:r>
            <a:r>
              <a:rPr lang="en-GB" sz="1620" dirty="0">
                <a:latin typeface="Arial" panose="020B0604020202020204" pitchFamily="34" charset="0"/>
                <a:cs typeface="Arial" panose="020B0604020202020204" pitchFamily="34" charset="0"/>
              </a:rPr>
              <a:t>Engineer in </a:t>
            </a:r>
            <a:r>
              <a:rPr lang="en-GB" sz="1620" b="1" dirty="0" err="1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Railtel</a:t>
            </a:r>
            <a:r>
              <a:rPr lang="en-GB" sz="162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Corporation of India Limited </a:t>
            </a:r>
            <a:r>
              <a:rPr lang="en-GB" sz="1620" dirty="0">
                <a:latin typeface="Arial" panose="020B0604020202020204" pitchFamily="34" charset="0"/>
                <a:cs typeface="Arial" panose="020B0604020202020204" pitchFamily="34" charset="0"/>
              </a:rPr>
              <a:t>(PSU Under Ministry of Railways). (June 08 - Feb 10).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51E7AA7-B072-1D6D-0789-4CDFAAC0FC0F}"/>
              </a:ext>
            </a:extLst>
          </p:cNvPr>
          <p:cNvCxnSpPr>
            <a:cxnSpLocks/>
          </p:cNvCxnSpPr>
          <p:nvPr/>
        </p:nvCxnSpPr>
        <p:spPr>
          <a:xfrm flipV="1">
            <a:off x="0" y="595885"/>
            <a:ext cx="12192000" cy="0"/>
          </a:xfrm>
          <a:prstGeom prst="line">
            <a:avLst/>
          </a:prstGeom>
          <a:ln w="635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E8C031D4-40FE-75F9-495A-F2C13C688BAC}"/>
              </a:ext>
            </a:extLst>
          </p:cNvPr>
          <p:cNvCxnSpPr>
            <a:cxnSpLocks/>
          </p:cNvCxnSpPr>
          <p:nvPr/>
        </p:nvCxnSpPr>
        <p:spPr>
          <a:xfrm flipV="1">
            <a:off x="0" y="4348"/>
            <a:ext cx="12192000" cy="0"/>
          </a:xfrm>
          <a:prstGeom prst="line">
            <a:avLst/>
          </a:prstGeom>
          <a:ln w="635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8CAD0AF-3D56-0764-8947-8E6A42708AA1}"/>
              </a:ext>
            </a:extLst>
          </p:cNvPr>
          <p:cNvCxnSpPr>
            <a:cxnSpLocks/>
          </p:cNvCxnSpPr>
          <p:nvPr/>
        </p:nvCxnSpPr>
        <p:spPr>
          <a:xfrm>
            <a:off x="35728" y="4349"/>
            <a:ext cx="0" cy="591537"/>
          </a:xfrm>
          <a:prstGeom prst="line">
            <a:avLst/>
          </a:prstGeom>
          <a:ln w="635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4FB9C2C-E50C-57B9-708D-1E097A7F6393}"/>
              </a:ext>
            </a:extLst>
          </p:cNvPr>
          <p:cNvCxnSpPr>
            <a:cxnSpLocks/>
          </p:cNvCxnSpPr>
          <p:nvPr/>
        </p:nvCxnSpPr>
        <p:spPr>
          <a:xfrm>
            <a:off x="12146847" y="-6761"/>
            <a:ext cx="0" cy="591537"/>
          </a:xfrm>
          <a:prstGeom prst="line">
            <a:avLst/>
          </a:prstGeom>
          <a:ln w="635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25019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AB59D1E-F41B-2C31-A190-C299C2BCDC8F}"/>
              </a:ext>
            </a:extLst>
          </p:cNvPr>
          <p:cNvSpPr/>
          <p:nvPr/>
        </p:nvSpPr>
        <p:spPr>
          <a:xfrm>
            <a:off x="0" y="0"/>
            <a:ext cx="12192000" cy="597159"/>
          </a:xfrm>
          <a:prstGeom prst="roundRect">
            <a:avLst/>
          </a:prstGeom>
          <a:ln w="57150">
            <a:solidFill>
              <a:srgbClr val="00206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"/>
              <a:ea typeface="맑은 고딕"/>
              <a:cs typeface="+mn-cs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6CAB17D3-EECC-DF88-0FD8-6C721CB51E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090" y="0"/>
            <a:ext cx="2713550" cy="5616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ea typeface="맑은 고딕"/>
                <a:cs typeface="+mn-cs"/>
              </a:rPr>
              <a:t>Motivation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"/>
              <a:ea typeface="맑은 고딕"/>
              <a:cs typeface="Arial" panose="020B0604020202020204" pitchFamily="34" charset="0"/>
            </a:endParaRP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5327572E-7C05-F865-935D-D7E7F26D0415}"/>
              </a:ext>
            </a:extLst>
          </p:cNvPr>
          <p:cNvGrpSpPr/>
          <p:nvPr/>
        </p:nvGrpSpPr>
        <p:grpSpPr>
          <a:xfrm>
            <a:off x="76199" y="636982"/>
            <a:ext cx="6121401" cy="3605164"/>
            <a:chOff x="76199" y="450369"/>
            <a:chExt cx="6121401" cy="3605164"/>
          </a:xfrm>
        </p:grpSpPr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A39C3EB5-4843-4D60-EEE3-328D01BA938A}"/>
                </a:ext>
              </a:extLst>
            </p:cNvPr>
            <p:cNvSpPr/>
            <p:nvPr/>
          </p:nvSpPr>
          <p:spPr>
            <a:xfrm>
              <a:off x="391886" y="2491740"/>
              <a:ext cx="5726974" cy="123117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15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맑은 고딕"/>
                <a:cs typeface="+mn-cs"/>
              </a:endParaRPr>
            </a:p>
          </p:txBody>
        </p:sp>
        <p:pic>
          <p:nvPicPr>
            <p:cNvPr id="59" name="Picture 58">
              <a:extLst>
                <a:ext uri="{FF2B5EF4-FFF2-40B4-BE49-F238E27FC236}">
                  <a16:creationId xmlns:a16="http://schemas.microsoft.com/office/drawing/2014/main" id="{D7583A2B-7831-C3D0-5093-85FF3BBDD61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-20000" contrast="20000"/>
                      </a14:imgEffect>
                    </a14:imgLayer>
                  </a14:imgProps>
                </a:ext>
              </a:extLst>
            </a:blip>
            <a:srcRect l="2724" t="3872" r="1886" b="3010"/>
            <a:stretch/>
          </p:blipFill>
          <p:spPr>
            <a:xfrm>
              <a:off x="321111" y="478760"/>
              <a:ext cx="4955719" cy="1807240"/>
            </a:xfrm>
            <a:prstGeom prst="rect">
              <a:avLst/>
            </a:prstGeom>
          </p:spPr>
        </p:pic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7DD5C928-4412-029B-589C-160E4C94F590}"/>
                </a:ext>
              </a:extLst>
            </p:cNvPr>
            <p:cNvSpPr txBox="1"/>
            <p:nvPr/>
          </p:nvSpPr>
          <p:spPr>
            <a:xfrm>
              <a:off x="377450" y="2231970"/>
              <a:ext cx="4587096" cy="2793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15" b="0" i="0" u="sng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맑은 고딕"/>
                  <a:cs typeface="+mn-cs"/>
                </a:rPr>
                <a:t>Block diagram of a serial link with embedded clocking</a:t>
              </a:r>
              <a:endParaRPr kumimoji="0" lang="en-IN" sz="1215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맑은 고딕"/>
                <a:cs typeface="+mn-cs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5FE7318B-FE5F-6A89-45FF-2FD4A7B819BA}"/>
                </a:ext>
              </a:extLst>
            </p:cNvPr>
            <p:cNvSpPr txBox="1"/>
            <p:nvPr/>
          </p:nvSpPr>
          <p:spPr>
            <a:xfrm>
              <a:off x="208134" y="2494991"/>
              <a:ext cx="5969146" cy="140115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marL="128588" marR="0" lvl="0" indent="-128588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GB" sz="1215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맑은 고딕"/>
                  <a:cs typeface="+mn-cs"/>
                </a:rPr>
                <a:t>Typical serial link architecture with embedded clocking used in data centre networks. </a:t>
              </a:r>
            </a:p>
            <a:p>
              <a:pPr marL="128588" marR="0" lvl="0" indent="-128588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GB" sz="1215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맑은 고딕"/>
                  <a:cs typeface="+mn-cs"/>
                </a:rPr>
                <a:t>At the transmitter, a parallel data stream is serialized using a high-frequency clock.</a:t>
              </a:r>
            </a:p>
            <a:p>
              <a:pPr marL="128588" marR="0" lvl="0" indent="-128588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GB" sz="1215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맑은 고딕"/>
                  <a:cs typeface="+mn-cs"/>
                </a:rPr>
                <a:t>A clock generator synthesizes this clock relying on an external crystal reference clock.</a:t>
              </a:r>
            </a:p>
            <a:p>
              <a:pPr marL="128588" marR="0" lvl="0" indent="-128588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GB" sz="1215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맑은 고딕"/>
                  <a:cs typeface="+mn-cs"/>
                </a:rPr>
                <a:t> The receiver’s CDR retrieve the clock and data from the equalized signal. </a:t>
              </a:r>
            </a:p>
            <a:p>
              <a:pPr marL="128588" marR="0" lvl="0" indent="-128588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GB" sz="1215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/>
                  <a:ea typeface="맑은 고딕"/>
                  <a:cs typeface="+mn-cs"/>
                </a:rPr>
                <a:t>Clock generation at TX and clock and data recovery (CDR) at RX require </a:t>
              </a:r>
              <a:r>
                <a:rPr kumimoji="0" lang="en-GB" sz="1215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/>
                  <a:ea typeface="맑은 고딕"/>
                  <a:cs typeface="+mn-cs"/>
                </a:rPr>
                <a:t>35-50%</a:t>
              </a:r>
              <a:r>
                <a:rPr kumimoji="0" lang="en-GB" sz="1215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/>
                  <a:ea typeface="맑은 고딕"/>
                  <a:cs typeface="+mn-cs"/>
                </a:rPr>
                <a:t> of a link's power.</a:t>
              </a:r>
              <a:endParaRPr kumimoji="0" lang="en-IN" sz="1215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맑은 고딕"/>
                <a:cs typeface="+mn-cs"/>
              </a:endParaRP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B1496BAE-4785-1C02-61B3-4163C5F646DD}"/>
                </a:ext>
              </a:extLst>
            </p:cNvPr>
            <p:cNvSpPr/>
            <p:nvPr/>
          </p:nvSpPr>
          <p:spPr>
            <a:xfrm>
              <a:off x="76199" y="450369"/>
              <a:ext cx="6121401" cy="3605164"/>
            </a:xfrm>
            <a:prstGeom prst="rect">
              <a:avLst/>
            </a:prstGeom>
            <a:noFill/>
            <a:ln w="38100" cap="flat" cmpd="sng" algn="ctr">
              <a:solidFill>
                <a:srgbClr val="00B05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41148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400" b="0" i="0" u="none" strike="noStrike" kern="0" cap="none" spc="0" normalizeH="0" baseline="0" noProof="0">
                <a:ln>
                  <a:noFill/>
                </a:ln>
                <a:noFill/>
                <a:effectLst/>
                <a:uLnTx/>
                <a:uFillTx/>
                <a:latin typeface="Gill Sans MT" panose="020B0502020104020203"/>
                <a:ea typeface="맑은 고딕"/>
                <a:cs typeface="+mn-cs"/>
              </a:endParaRP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49F97C92-5CEC-FFE5-3A46-7627177FC701}"/>
              </a:ext>
            </a:extLst>
          </p:cNvPr>
          <p:cNvGrpSpPr/>
          <p:nvPr/>
        </p:nvGrpSpPr>
        <p:grpSpPr>
          <a:xfrm>
            <a:off x="6256005" y="628515"/>
            <a:ext cx="5858932" cy="3605164"/>
            <a:chOff x="6265335" y="441902"/>
            <a:chExt cx="5858932" cy="3605164"/>
          </a:xfrm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F036A655-C222-2B17-4F33-8BB195C3FC5C}"/>
                </a:ext>
              </a:extLst>
            </p:cNvPr>
            <p:cNvSpPr/>
            <p:nvPr/>
          </p:nvSpPr>
          <p:spPr>
            <a:xfrm>
              <a:off x="6360160" y="2483923"/>
              <a:ext cx="5750560" cy="142560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15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맑은 고딕"/>
                <a:cs typeface="+mn-cs"/>
              </a:endParaRPr>
            </a:p>
          </p:txBody>
        </p:sp>
        <p:pic>
          <p:nvPicPr>
            <p:cNvPr id="65" name="Picture 64">
              <a:extLst>
                <a:ext uri="{FF2B5EF4-FFF2-40B4-BE49-F238E27FC236}">
                  <a16:creationId xmlns:a16="http://schemas.microsoft.com/office/drawing/2014/main" id="{6FA2EFBE-C577-E39A-98FC-83AB68C054A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rightnessContrast bright="-20000" contrast="40000"/>
                      </a14:imgEffect>
                    </a14:imgLayer>
                  </a14:imgProps>
                </a:ext>
              </a:extLst>
            </a:blip>
            <a:srcRect l="2776" t="11452" r="3087" b="1012"/>
            <a:stretch/>
          </p:blipFill>
          <p:spPr>
            <a:xfrm>
              <a:off x="6859225" y="488424"/>
              <a:ext cx="3255843" cy="1746431"/>
            </a:xfrm>
            <a:prstGeom prst="rect">
              <a:avLst/>
            </a:prstGeom>
          </p:spPr>
        </p:pic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97EBB1F1-2760-0213-F5D2-D28937579478}"/>
                </a:ext>
              </a:extLst>
            </p:cNvPr>
            <p:cNvSpPr txBox="1"/>
            <p:nvPr/>
          </p:nvSpPr>
          <p:spPr>
            <a:xfrm>
              <a:off x="6498177" y="2164884"/>
              <a:ext cx="4023998" cy="2793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15" b="0" i="0" u="sng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맑은 고딕"/>
                  <a:cs typeface="+mn-cs"/>
                </a:rPr>
                <a:t>Block diagram of a typical wireless transceiver</a:t>
              </a:r>
              <a:endParaRPr kumimoji="0" lang="en-IN" sz="1215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맑은 고딕"/>
                <a:cs typeface="+mn-cs"/>
              </a:endParaRP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70168A02-A2A0-386D-0E5A-3823DB9331E3}"/>
                </a:ext>
              </a:extLst>
            </p:cNvPr>
            <p:cNvSpPr txBox="1"/>
            <p:nvPr/>
          </p:nvSpPr>
          <p:spPr>
            <a:xfrm>
              <a:off x="6268720" y="2461804"/>
              <a:ext cx="5709919" cy="14657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28588" marR="0" lvl="0" indent="-128588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GB" sz="1275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맑은 고딕"/>
                  <a:cs typeface="+mn-cs"/>
                </a:rPr>
                <a:t>The frequency synthesiser synthesizes the RF carrier and down-conversion signal at the receiver.</a:t>
              </a:r>
            </a:p>
            <a:p>
              <a:pPr marL="128588" marR="0" lvl="0" indent="-128588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GB" sz="1275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/>
                  <a:ea typeface="맑은 고딕"/>
                  <a:cs typeface="+mn-cs"/>
                </a:rPr>
                <a:t>Synthesizers require </a:t>
              </a:r>
              <a:r>
                <a:rPr kumimoji="0" lang="en-GB" sz="1275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/>
                  <a:ea typeface="맑은 고딕"/>
                  <a:cs typeface="+mn-cs"/>
                </a:rPr>
                <a:t>50%</a:t>
              </a:r>
              <a:r>
                <a:rPr kumimoji="0" lang="en-GB" sz="1275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맑은 고딕"/>
                  <a:cs typeface="+mn-cs"/>
                </a:rPr>
                <a:t> of transceiver power, and the rest is consumed by the CPU; mobile platforms include audio data converters and memory-required clocks.</a:t>
              </a:r>
            </a:p>
            <a:p>
              <a:pPr marL="128588" marR="0" lvl="0" indent="-128588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GB" sz="1275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/>
                  <a:ea typeface="맑은 고딕"/>
                  <a:cs typeface="+mn-cs"/>
                </a:rPr>
                <a:t>Clock and frequency synthesisers play a key role and limiting their performance and power.</a:t>
              </a:r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4356E007-BDA6-9AF7-389C-32D7226948D6}"/>
                </a:ext>
              </a:extLst>
            </p:cNvPr>
            <p:cNvSpPr/>
            <p:nvPr/>
          </p:nvSpPr>
          <p:spPr>
            <a:xfrm>
              <a:off x="6265335" y="441902"/>
              <a:ext cx="5858932" cy="3605164"/>
            </a:xfrm>
            <a:prstGeom prst="rect">
              <a:avLst/>
            </a:prstGeom>
            <a:noFill/>
            <a:ln w="38100" cap="flat" cmpd="sng" algn="ctr">
              <a:solidFill>
                <a:srgbClr val="00B05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41148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400" b="0" i="0" u="none" strike="noStrike" kern="0" cap="none" spc="0" normalizeH="0" baseline="0" noProof="0">
                <a:ln>
                  <a:noFill/>
                </a:ln>
                <a:noFill/>
                <a:effectLst/>
                <a:uLnTx/>
                <a:uFillTx/>
                <a:latin typeface="Gill Sans MT" panose="020B0502020104020203"/>
                <a:ea typeface="맑은 고딕"/>
                <a:cs typeface="+mn-cs"/>
              </a:endParaRPr>
            </a:p>
          </p:txBody>
        </p:sp>
      </p:grpSp>
      <p:sp>
        <p:nvSpPr>
          <p:cNvPr id="74" name="TextBox 73">
            <a:extLst>
              <a:ext uri="{FF2B5EF4-FFF2-40B4-BE49-F238E27FC236}">
                <a16:creationId xmlns:a16="http://schemas.microsoft.com/office/drawing/2014/main" id="{578072BC-A3DA-F165-0AB3-F1D48E8A7395}"/>
              </a:ext>
            </a:extLst>
          </p:cNvPr>
          <p:cNvSpPr txBox="1"/>
          <p:nvPr/>
        </p:nvSpPr>
        <p:spPr>
          <a:xfrm>
            <a:off x="120494" y="4771060"/>
            <a:ext cx="5176779" cy="196977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Arial" panose="020B0604020202020204" pitchFamily="34" charset="0"/>
              <a:ea typeface="맑은 고딕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Arial" panose="020B0604020202020204" pitchFamily="34" charset="0"/>
              <a:ea typeface="맑은 고딕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/>
                <a:ea typeface="맑은 고딕"/>
                <a:cs typeface="+mn-cs"/>
              </a:rPr>
              <a:t>Wireline transceivers require many PLLs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Arial"/>
              <a:ea typeface="맑은 고딕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맑은 고딕"/>
                <a:cs typeface="+mn-cs"/>
              </a:rPr>
              <a:t>LC-PLLs are used for low jitter BUT…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맑은 고딕"/>
                <a:cs typeface="+mn-cs"/>
              </a:rPr>
              <a:t>         1)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맑은 고딕"/>
                <a:cs typeface="+mn-cs"/>
              </a:rPr>
              <a:t>Susceptible to electromagnetic coupling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맑은 고딕"/>
                <a:cs typeface="+mn-cs"/>
              </a:rPr>
              <a:t>          2) Narrow frequency range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맑은 고딕"/>
                <a:cs typeface="+mn-cs"/>
              </a:rPr>
              <a:t>          3) `Mostly provide two phases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6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Arial" panose="020B0604020202020204" pitchFamily="34" charset="0"/>
              <a:ea typeface="맑은 고딕"/>
              <a:cs typeface="+mn-cs"/>
            </a:endParaRPr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29F456CC-0B04-02F7-F120-AB9F066E9EDC}"/>
              </a:ext>
            </a:extLst>
          </p:cNvPr>
          <p:cNvGrpSpPr/>
          <p:nvPr/>
        </p:nvGrpSpPr>
        <p:grpSpPr>
          <a:xfrm>
            <a:off x="5600233" y="4325683"/>
            <a:ext cx="6704131" cy="2532317"/>
            <a:chOff x="-91440" y="4325683"/>
            <a:chExt cx="6704131" cy="2532317"/>
          </a:xfrm>
        </p:grpSpPr>
        <p:pic>
          <p:nvPicPr>
            <p:cNvPr id="76" name="Picture 75">
              <a:extLst>
                <a:ext uri="{FF2B5EF4-FFF2-40B4-BE49-F238E27FC236}">
                  <a16:creationId xmlns:a16="http://schemas.microsoft.com/office/drawing/2014/main" id="{E802647D-72C9-167C-5192-FB2AF01CA15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-91440" y="4398379"/>
              <a:ext cx="3313589" cy="2216645"/>
            </a:xfrm>
            <a:prstGeom prst="rect">
              <a:avLst/>
            </a:prstGeom>
          </p:spPr>
        </p:pic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DF198432-E7A7-0795-BFF1-796E7F87D0D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010952" y="4396168"/>
              <a:ext cx="3601739" cy="2386810"/>
            </a:xfrm>
            <a:prstGeom prst="rect">
              <a:avLst/>
            </a:prstGeom>
          </p:spPr>
        </p:pic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5C251F94-A444-6445-F549-D25C359C9C37}"/>
                </a:ext>
              </a:extLst>
            </p:cNvPr>
            <p:cNvSpPr/>
            <p:nvPr/>
          </p:nvSpPr>
          <p:spPr>
            <a:xfrm>
              <a:off x="0" y="4325683"/>
              <a:ext cx="6466114" cy="2532317"/>
            </a:xfrm>
            <a:prstGeom prst="rect">
              <a:avLst/>
            </a:prstGeom>
            <a:noFill/>
            <a:ln w="38100" cap="flat" cmpd="sng" algn="ctr">
              <a:solidFill>
                <a:srgbClr val="00B05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41148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400" b="0" i="0" u="none" strike="noStrike" kern="0" cap="none" spc="0" normalizeH="0" baseline="0" noProof="0">
                <a:ln>
                  <a:noFill/>
                </a:ln>
                <a:noFill/>
                <a:effectLst/>
                <a:uLnTx/>
                <a:uFillTx/>
                <a:latin typeface="Gill Sans MT" panose="020B0502020104020203"/>
                <a:ea typeface="맑은 고딕"/>
                <a:cs typeface="+mn-cs"/>
              </a:endParaRPr>
            </a:p>
          </p:txBody>
        </p:sp>
      </p:grpSp>
      <p:pic>
        <p:nvPicPr>
          <p:cNvPr id="50" name="Picture 49">
            <a:extLst>
              <a:ext uri="{FF2B5EF4-FFF2-40B4-BE49-F238E27FC236}">
                <a16:creationId xmlns:a16="http://schemas.microsoft.com/office/drawing/2014/main" id="{88CC06C9-418C-A93E-243C-F4E6C68D5FE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06269" y="367742"/>
            <a:ext cx="1473703" cy="2160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0801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73E77142-F976-B387-DF46-63BDA13B4C91}"/>
              </a:ext>
            </a:extLst>
          </p:cNvPr>
          <p:cNvSpPr/>
          <p:nvPr/>
        </p:nvSpPr>
        <p:spPr>
          <a:xfrm>
            <a:off x="0" y="0"/>
            <a:ext cx="12192000" cy="597159"/>
          </a:xfrm>
          <a:prstGeom prst="roundRect">
            <a:avLst/>
          </a:prstGeom>
          <a:ln w="57150">
            <a:solidFill>
              <a:srgbClr val="00206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"/>
              <a:ea typeface="맑은 고딕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6728CF9-DFE0-7529-651F-5D054A9E010F}"/>
              </a:ext>
            </a:extLst>
          </p:cNvPr>
          <p:cNvSpPr/>
          <p:nvPr/>
        </p:nvSpPr>
        <p:spPr>
          <a:xfrm>
            <a:off x="541020" y="4888080"/>
            <a:ext cx="10561320" cy="128412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20" b="0" i="0" u="none" strike="noStrike" kern="1200" cap="none" spc="0" normalizeH="0" baseline="0" noProof="0">
              <a:ln>
                <a:solidFill>
                  <a:srgbClr val="00B050"/>
                </a:solidFill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/>
              <a:cs typeface="+mn-cs"/>
            </a:endParaRP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ED16B5C4-3B10-08F6-9C3E-999F63D6877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3351" y="-21173"/>
            <a:ext cx="7811769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95"/>
              </a:spcBef>
            </a:pPr>
            <a:r>
              <a:rPr sz="3200" b="1" dirty="0">
                <a:solidFill>
                  <a:srgbClr val="002060"/>
                </a:solidFill>
                <a:latin typeface="+mn-lt"/>
              </a:rPr>
              <a:t>Trend</a:t>
            </a:r>
            <a:r>
              <a:rPr sz="3200" b="1" spc="-40" dirty="0">
                <a:solidFill>
                  <a:srgbClr val="002060"/>
                </a:solidFill>
                <a:latin typeface="+mn-lt"/>
              </a:rPr>
              <a:t> </a:t>
            </a:r>
            <a:r>
              <a:rPr sz="3200" b="1" dirty="0">
                <a:solidFill>
                  <a:srgbClr val="002060"/>
                </a:solidFill>
                <a:latin typeface="+mn-lt"/>
              </a:rPr>
              <a:t>of</a:t>
            </a:r>
            <a:r>
              <a:rPr sz="3200" b="1" spc="-30" dirty="0">
                <a:solidFill>
                  <a:srgbClr val="002060"/>
                </a:solidFill>
                <a:latin typeface="+mn-lt"/>
              </a:rPr>
              <a:t> </a:t>
            </a:r>
            <a:r>
              <a:rPr sz="3200" b="1" spc="-10" dirty="0">
                <a:solidFill>
                  <a:srgbClr val="002060"/>
                </a:solidFill>
                <a:latin typeface="+mn-lt"/>
              </a:rPr>
              <a:t>Ever-</a:t>
            </a:r>
            <a:r>
              <a:rPr sz="3200" b="1" dirty="0">
                <a:solidFill>
                  <a:srgbClr val="002060"/>
                </a:solidFill>
                <a:latin typeface="+mn-lt"/>
              </a:rPr>
              <a:t>Increasing</a:t>
            </a:r>
            <a:r>
              <a:rPr sz="3200" b="1" spc="-35" dirty="0">
                <a:solidFill>
                  <a:srgbClr val="002060"/>
                </a:solidFill>
                <a:latin typeface="+mn-lt"/>
              </a:rPr>
              <a:t> </a:t>
            </a:r>
            <a:r>
              <a:rPr sz="3200" b="1" dirty="0">
                <a:solidFill>
                  <a:srgbClr val="002060"/>
                </a:solidFill>
                <a:latin typeface="+mn-lt"/>
              </a:rPr>
              <a:t>Data</a:t>
            </a:r>
            <a:r>
              <a:rPr sz="3200" b="1" spc="-35" dirty="0">
                <a:solidFill>
                  <a:srgbClr val="002060"/>
                </a:solidFill>
                <a:latin typeface="+mn-lt"/>
              </a:rPr>
              <a:t> </a:t>
            </a:r>
            <a:r>
              <a:rPr sz="3200" b="1" spc="-20" dirty="0">
                <a:solidFill>
                  <a:srgbClr val="002060"/>
                </a:solidFill>
                <a:latin typeface="+mn-lt"/>
              </a:rPr>
              <a:t>Rate</a:t>
            </a: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A5FE569A-9D99-7708-6F3B-391A4EF17968}"/>
              </a:ext>
            </a:extLst>
          </p:cNvPr>
          <p:cNvSpPr txBox="1"/>
          <p:nvPr/>
        </p:nvSpPr>
        <p:spPr>
          <a:xfrm>
            <a:off x="834644" y="4803140"/>
            <a:ext cx="10168255" cy="134239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482600" marR="0" lvl="0" indent="-469900" algn="l" defTabSz="914400" rtl="0" eaLnBrk="1" fontAlgn="auto" latinLnBrk="0" hangingPunct="1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>
                <a:srgbClr val="CC0000"/>
              </a:buClr>
              <a:buSzPct val="79166"/>
              <a:buFont typeface="Wingdings"/>
              <a:buChar char=""/>
              <a:tabLst>
                <a:tab pos="482600" algn="l"/>
              </a:tabLst>
              <a:defRPr/>
            </a:pP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 panose="020F0502020204030204" pitchFamily="34" charset="0"/>
                <a:ea typeface="맑은 고딕"/>
                <a:cs typeface="Calibri" panose="020F0502020204030204" pitchFamily="34" charset="0"/>
              </a:rPr>
              <a:t>PAM4</a:t>
            </a:r>
            <a:r>
              <a:rPr kumimoji="0" sz="2400" b="0" i="0" u="none" strike="noStrike" kern="1200" cap="none" spc="-65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 panose="020F0502020204030204" pitchFamily="34" charset="0"/>
                <a:ea typeface="맑은 고딕"/>
                <a:cs typeface="Calibri" panose="020F0502020204030204" pitchFamily="34" charset="0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맑은 고딕"/>
                <a:cs typeface="Calibri" panose="020F0502020204030204" pitchFamily="34" charset="0"/>
              </a:rPr>
              <a:t>based</a:t>
            </a:r>
            <a:r>
              <a:rPr kumimoji="0" sz="24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맑은 고딕"/>
                <a:cs typeface="Calibri" panose="020F0502020204030204" pitchFamily="34" charset="0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맑은 고딕"/>
                <a:cs typeface="Calibri" panose="020F0502020204030204" pitchFamily="34" charset="0"/>
              </a:rPr>
              <a:t>transceivers</a:t>
            </a:r>
            <a:r>
              <a:rPr kumimoji="0" sz="24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맑은 고딕"/>
                <a:cs typeface="Calibri" panose="020F0502020204030204" pitchFamily="34" charset="0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맑은 고딕"/>
                <a:cs typeface="Calibri" panose="020F0502020204030204" pitchFamily="34" charset="0"/>
              </a:rPr>
              <a:t>drive</a:t>
            </a:r>
            <a:r>
              <a:rPr kumimoji="0" sz="24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맑은 고딕"/>
                <a:cs typeface="Calibri" panose="020F0502020204030204" pitchFamily="34" charset="0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맑은 고딕"/>
                <a:cs typeface="Calibri" panose="020F0502020204030204" pitchFamily="34" charset="0"/>
              </a:rPr>
              <a:t>the</a:t>
            </a:r>
            <a:r>
              <a:rPr kumimoji="0" sz="24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맑은 고딕"/>
                <a:cs typeface="Calibri" panose="020F0502020204030204" pitchFamily="34" charset="0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맑은 고딕"/>
                <a:cs typeface="Calibri" panose="020F0502020204030204" pitchFamily="34" charset="0"/>
              </a:rPr>
              <a:t>data</a:t>
            </a:r>
            <a:r>
              <a:rPr kumimoji="0" sz="24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맑은 고딕"/>
                <a:cs typeface="Calibri" panose="020F0502020204030204" pitchFamily="34" charset="0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맑은 고딕"/>
                <a:cs typeface="Calibri" panose="020F0502020204030204" pitchFamily="34" charset="0"/>
              </a:rPr>
              <a:t>rate</a:t>
            </a:r>
            <a:r>
              <a:rPr kumimoji="0" sz="2400" b="0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맑은 고딕"/>
                <a:cs typeface="Calibri" panose="020F0502020204030204" pitchFamily="34" charset="0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맑은 고딕"/>
                <a:cs typeface="Calibri" panose="020F0502020204030204" pitchFamily="34" charset="0"/>
              </a:rPr>
              <a:t>beyond</a:t>
            </a:r>
            <a:r>
              <a:rPr kumimoji="0" sz="2400" b="0" i="0" u="none" strike="noStrike" kern="120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맑은 고딕"/>
                <a:cs typeface="Calibri" panose="020F0502020204030204" pitchFamily="34" charset="0"/>
              </a:rPr>
              <a:t> 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 panose="020F0502020204030204" pitchFamily="34" charset="0"/>
                <a:ea typeface="맑은 고딕"/>
                <a:cs typeface="Calibri" panose="020F0502020204030204" pitchFamily="34" charset="0"/>
              </a:rPr>
              <a:t>100GBit/s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맑은 고딕"/>
              <a:cs typeface="Calibri" panose="020F0502020204030204" pitchFamily="34" charset="0"/>
            </a:endParaRPr>
          </a:p>
          <a:p>
            <a:pPr marL="482600" marR="0" lvl="0" indent="-469900" algn="l" defTabSz="914400" rtl="0" eaLnBrk="1" fontAlgn="auto" latinLnBrk="0" hangingPunct="1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>
                <a:srgbClr val="CC0000"/>
              </a:buClr>
              <a:buSzPct val="79166"/>
              <a:buFont typeface="Wingdings"/>
              <a:buChar char=""/>
              <a:tabLst>
                <a:tab pos="482600" algn="l"/>
              </a:tabLst>
              <a:defRPr/>
            </a:pP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 panose="020F0502020204030204" pitchFamily="34" charset="0"/>
                <a:ea typeface="맑은 고딕"/>
                <a:cs typeface="Calibri" panose="020F0502020204030204" pitchFamily="34" charset="0"/>
              </a:rPr>
              <a:t>7nm</a:t>
            </a:r>
            <a:r>
              <a:rPr kumimoji="0" sz="2400" b="0" i="0" u="none" strike="noStrike" kern="1200" cap="none" spc="-6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 panose="020F0502020204030204" pitchFamily="34" charset="0"/>
                <a:ea typeface="맑은 고딕"/>
                <a:cs typeface="Calibri" panose="020F0502020204030204" pitchFamily="34" charset="0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 panose="020F0502020204030204" pitchFamily="34" charset="0"/>
                <a:ea typeface="맑은 고딕"/>
                <a:cs typeface="Calibri" panose="020F0502020204030204" pitchFamily="34" charset="0"/>
              </a:rPr>
              <a:t>CMOS</a:t>
            </a:r>
            <a:r>
              <a:rPr kumimoji="0" sz="2400" b="0" i="0" u="none" strike="noStrike" kern="1200" cap="none" spc="-9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 panose="020F0502020204030204" pitchFamily="34" charset="0"/>
                <a:ea typeface="맑은 고딕"/>
                <a:cs typeface="Calibri" panose="020F0502020204030204" pitchFamily="34" charset="0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맑은 고딕"/>
                <a:cs typeface="Calibri" panose="020F0502020204030204" pitchFamily="34" charset="0"/>
              </a:rPr>
              <a:t>technology</a:t>
            </a:r>
            <a:r>
              <a:rPr kumimoji="0" sz="24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맑은 고딕"/>
                <a:cs typeface="Calibri" panose="020F0502020204030204" pitchFamily="34" charset="0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맑은 고딕"/>
                <a:cs typeface="Calibri" panose="020F0502020204030204" pitchFamily="34" charset="0"/>
              </a:rPr>
              <a:t>enables</a:t>
            </a:r>
            <a:r>
              <a:rPr kumimoji="0" sz="24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맑은 고딕"/>
                <a:cs typeface="Calibri" panose="020F0502020204030204" pitchFamily="34" charset="0"/>
              </a:rPr>
              <a:t> </a:t>
            </a:r>
            <a:r>
              <a:rPr kumimoji="0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맑은 고딕"/>
                <a:cs typeface="Calibri" panose="020F0502020204030204" pitchFamily="34" charset="0"/>
              </a:rPr>
              <a:t>power-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맑은 고딕"/>
                <a:cs typeface="Calibri" panose="020F0502020204030204" pitchFamily="34" charset="0"/>
              </a:rPr>
              <a:t>efficiency</a:t>
            </a:r>
            <a:r>
              <a:rPr kumimoji="0" sz="24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맑은 고딕"/>
                <a:cs typeface="Calibri" panose="020F0502020204030204" pitchFamily="34" charset="0"/>
              </a:rPr>
              <a:t> 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 panose="020F0502020204030204" pitchFamily="34" charset="0"/>
                <a:ea typeface="맑은 고딕"/>
                <a:cs typeface="Calibri" panose="020F0502020204030204" pitchFamily="34" charset="0"/>
              </a:rPr>
              <a:t>&lt;10pJ/conv.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맑은 고딕"/>
              <a:cs typeface="Calibri" panose="020F0502020204030204" pitchFamily="34" charset="0"/>
            </a:endParaRPr>
          </a:p>
          <a:p>
            <a:pPr marL="482600" marR="0" lvl="0" indent="-469900" algn="l" defTabSz="914400" rtl="0" eaLnBrk="1" fontAlgn="auto" latinLnBrk="0" hangingPunct="1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>
                <a:srgbClr val="CC0000"/>
              </a:buClr>
              <a:buSzPct val="79166"/>
              <a:buFont typeface="Wingdings"/>
              <a:buChar char=""/>
              <a:tabLst>
                <a:tab pos="482600" algn="l"/>
              </a:tabLst>
              <a:defRPr/>
            </a:pP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맑은 고딕"/>
                <a:cs typeface="Calibri" panose="020F0502020204030204" pitchFamily="34" charset="0"/>
              </a:rPr>
              <a:t>Details</a:t>
            </a:r>
            <a:r>
              <a:rPr kumimoji="0" sz="2400" b="0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맑은 고딕"/>
                <a:cs typeface="Calibri" panose="020F0502020204030204" pitchFamily="34" charset="0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맑은 고딕"/>
                <a:cs typeface="Calibri" panose="020F0502020204030204" pitchFamily="34" charset="0"/>
              </a:rPr>
              <a:t>of</a:t>
            </a:r>
            <a:r>
              <a:rPr kumimoji="0" sz="2400" b="0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맑은 고딕"/>
                <a:cs typeface="Calibri" panose="020F0502020204030204" pitchFamily="34" charset="0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맑은 고딕"/>
                <a:cs typeface="Calibri" panose="020F0502020204030204" pitchFamily="34" charset="0"/>
              </a:rPr>
              <a:t>the</a:t>
            </a:r>
            <a:r>
              <a:rPr kumimoji="0" sz="2400" b="0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맑은 고딕"/>
                <a:cs typeface="Calibri" panose="020F0502020204030204" pitchFamily="34" charset="0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맑은 고딕"/>
                <a:cs typeface="Calibri" panose="020F0502020204030204" pitchFamily="34" charset="0"/>
              </a:rPr>
              <a:t>wireline</a:t>
            </a:r>
            <a:r>
              <a:rPr kumimoji="0" sz="24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맑은 고딕"/>
                <a:cs typeface="Calibri" panose="020F0502020204030204" pitchFamily="34" charset="0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맑은 고딕"/>
                <a:cs typeface="Calibri" panose="020F0502020204030204" pitchFamily="34" charset="0"/>
              </a:rPr>
              <a:t>transceiver</a:t>
            </a:r>
            <a:r>
              <a:rPr kumimoji="0" sz="2400" b="0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맑은 고딕"/>
                <a:cs typeface="Calibri" panose="020F0502020204030204" pitchFamily="34" charset="0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맑은 고딕"/>
                <a:cs typeface="Calibri" panose="020F0502020204030204" pitchFamily="34" charset="0"/>
              </a:rPr>
              <a:t>survey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C015582-3730-B74A-4248-EB91A3FEB756}"/>
              </a:ext>
            </a:extLst>
          </p:cNvPr>
          <p:cNvGrpSpPr/>
          <p:nvPr/>
        </p:nvGrpSpPr>
        <p:grpSpPr>
          <a:xfrm>
            <a:off x="547369" y="814954"/>
            <a:ext cx="11251692" cy="3675126"/>
            <a:chOff x="547369" y="814954"/>
            <a:chExt cx="11251692" cy="3675126"/>
          </a:xfrm>
        </p:grpSpPr>
        <p:pic>
          <p:nvPicPr>
            <p:cNvPr id="7" name="object 5">
              <a:extLst>
                <a:ext uri="{FF2B5EF4-FFF2-40B4-BE49-F238E27FC236}">
                  <a16:creationId xmlns:a16="http://schemas.microsoft.com/office/drawing/2014/main" id="{E23BBE1D-AA0F-6A3C-6EA9-0AF4AFA10F7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7369" y="814954"/>
              <a:ext cx="11251692" cy="3675126"/>
            </a:xfrm>
            <a:prstGeom prst="rect">
              <a:avLst/>
            </a:prstGeom>
            <a:ln w="28575">
              <a:solidFill>
                <a:srgbClr val="002060"/>
              </a:solidFill>
            </a:ln>
          </p:spPr>
        </p:pic>
        <p:sp>
          <p:nvSpPr>
            <p:cNvPr id="8" name="object 6">
              <a:extLst>
                <a:ext uri="{FF2B5EF4-FFF2-40B4-BE49-F238E27FC236}">
                  <a16:creationId xmlns:a16="http://schemas.microsoft.com/office/drawing/2014/main" id="{E9B73A4D-B429-BD6D-EC19-04574D7B2BA1}"/>
                </a:ext>
              </a:extLst>
            </p:cNvPr>
            <p:cNvSpPr/>
            <p:nvPr/>
          </p:nvSpPr>
          <p:spPr>
            <a:xfrm>
              <a:off x="2935635" y="1212954"/>
              <a:ext cx="8243570" cy="1891030"/>
            </a:xfrm>
            <a:custGeom>
              <a:avLst/>
              <a:gdLst/>
              <a:ahLst/>
              <a:cxnLst/>
              <a:rect l="l" t="t" r="r" b="b"/>
              <a:pathLst>
                <a:path w="8243570" h="1891029">
                  <a:moveTo>
                    <a:pt x="1682496" y="216408"/>
                  </a:moveTo>
                  <a:lnTo>
                    <a:pt x="1662684" y="25908"/>
                  </a:lnTo>
                  <a:lnTo>
                    <a:pt x="1522476" y="156210"/>
                  </a:lnTo>
                  <a:lnTo>
                    <a:pt x="1575676" y="176225"/>
                  </a:lnTo>
                  <a:lnTo>
                    <a:pt x="1557528" y="224790"/>
                  </a:lnTo>
                  <a:lnTo>
                    <a:pt x="1538478" y="272796"/>
                  </a:lnTo>
                  <a:lnTo>
                    <a:pt x="1501140" y="363474"/>
                  </a:lnTo>
                  <a:lnTo>
                    <a:pt x="1482090" y="406908"/>
                  </a:lnTo>
                  <a:lnTo>
                    <a:pt x="1463802" y="449580"/>
                  </a:lnTo>
                  <a:lnTo>
                    <a:pt x="1427226" y="530352"/>
                  </a:lnTo>
                  <a:lnTo>
                    <a:pt x="1390650" y="606552"/>
                  </a:lnTo>
                  <a:lnTo>
                    <a:pt x="1371600" y="643128"/>
                  </a:lnTo>
                  <a:lnTo>
                    <a:pt x="1353312" y="678942"/>
                  </a:lnTo>
                  <a:lnTo>
                    <a:pt x="1334262" y="713994"/>
                  </a:lnTo>
                  <a:lnTo>
                    <a:pt x="1295400" y="781812"/>
                  </a:lnTo>
                  <a:lnTo>
                    <a:pt x="1255776" y="847344"/>
                  </a:lnTo>
                  <a:lnTo>
                    <a:pt x="1213866" y="911352"/>
                  </a:lnTo>
                  <a:lnTo>
                    <a:pt x="1170432" y="973836"/>
                  </a:lnTo>
                  <a:lnTo>
                    <a:pt x="1124712" y="1036320"/>
                  </a:lnTo>
                  <a:lnTo>
                    <a:pt x="1076706" y="1098804"/>
                  </a:lnTo>
                  <a:lnTo>
                    <a:pt x="1051560" y="1130046"/>
                  </a:lnTo>
                  <a:lnTo>
                    <a:pt x="998220" y="1194054"/>
                  </a:lnTo>
                  <a:lnTo>
                    <a:pt x="970788" y="1226058"/>
                  </a:lnTo>
                  <a:lnTo>
                    <a:pt x="942594" y="1258062"/>
                  </a:lnTo>
                  <a:lnTo>
                    <a:pt x="915162" y="1288542"/>
                  </a:lnTo>
                  <a:lnTo>
                    <a:pt x="886968" y="1318260"/>
                  </a:lnTo>
                  <a:lnTo>
                    <a:pt x="858774" y="1347216"/>
                  </a:lnTo>
                  <a:lnTo>
                    <a:pt x="803148" y="1401318"/>
                  </a:lnTo>
                  <a:lnTo>
                    <a:pt x="774954" y="1427226"/>
                  </a:lnTo>
                  <a:lnTo>
                    <a:pt x="718566" y="1475232"/>
                  </a:lnTo>
                  <a:lnTo>
                    <a:pt x="661416" y="1520190"/>
                  </a:lnTo>
                  <a:lnTo>
                    <a:pt x="603504" y="1562100"/>
                  </a:lnTo>
                  <a:lnTo>
                    <a:pt x="516636" y="1618488"/>
                  </a:lnTo>
                  <a:lnTo>
                    <a:pt x="456438" y="1652778"/>
                  </a:lnTo>
                  <a:lnTo>
                    <a:pt x="396240" y="1684782"/>
                  </a:lnTo>
                  <a:lnTo>
                    <a:pt x="333756" y="1714500"/>
                  </a:lnTo>
                  <a:lnTo>
                    <a:pt x="270510" y="1741932"/>
                  </a:lnTo>
                  <a:lnTo>
                    <a:pt x="205740" y="1767840"/>
                  </a:lnTo>
                  <a:lnTo>
                    <a:pt x="139446" y="1791462"/>
                  </a:lnTo>
                  <a:lnTo>
                    <a:pt x="70866" y="1814322"/>
                  </a:lnTo>
                  <a:lnTo>
                    <a:pt x="0" y="1835658"/>
                  </a:lnTo>
                  <a:lnTo>
                    <a:pt x="16764" y="1890522"/>
                  </a:lnTo>
                  <a:lnTo>
                    <a:pt x="87630" y="1869186"/>
                  </a:lnTo>
                  <a:lnTo>
                    <a:pt x="156972" y="1845564"/>
                  </a:lnTo>
                  <a:lnTo>
                    <a:pt x="224790" y="1821180"/>
                  </a:lnTo>
                  <a:lnTo>
                    <a:pt x="291846" y="1795272"/>
                  </a:lnTo>
                  <a:lnTo>
                    <a:pt x="356616" y="1767078"/>
                  </a:lnTo>
                  <a:lnTo>
                    <a:pt x="420624" y="1736598"/>
                  </a:lnTo>
                  <a:lnTo>
                    <a:pt x="483108" y="1703070"/>
                  </a:lnTo>
                  <a:lnTo>
                    <a:pt x="544830" y="1668018"/>
                  </a:lnTo>
                  <a:lnTo>
                    <a:pt x="605790" y="1629918"/>
                  </a:lnTo>
                  <a:lnTo>
                    <a:pt x="665988" y="1588008"/>
                  </a:lnTo>
                  <a:lnTo>
                    <a:pt x="754380" y="1519428"/>
                  </a:lnTo>
                  <a:lnTo>
                    <a:pt x="812292" y="1469898"/>
                  </a:lnTo>
                  <a:lnTo>
                    <a:pt x="841248" y="1443228"/>
                  </a:lnTo>
                  <a:lnTo>
                    <a:pt x="870204" y="1415796"/>
                  </a:lnTo>
                  <a:lnTo>
                    <a:pt x="899160" y="1387602"/>
                  </a:lnTo>
                  <a:lnTo>
                    <a:pt x="927354" y="1358646"/>
                  </a:lnTo>
                  <a:lnTo>
                    <a:pt x="956310" y="1328166"/>
                  </a:lnTo>
                  <a:lnTo>
                    <a:pt x="985266" y="1296924"/>
                  </a:lnTo>
                  <a:lnTo>
                    <a:pt x="1041654" y="1231392"/>
                  </a:lnTo>
                  <a:lnTo>
                    <a:pt x="1069086" y="1198626"/>
                  </a:lnTo>
                  <a:lnTo>
                    <a:pt x="1120902" y="1134618"/>
                  </a:lnTo>
                  <a:lnTo>
                    <a:pt x="1170432" y="1071372"/>
                  </a:lnTo>
                  <a:lnTo>
                    <a:pt x="1216914" y="1007364"/>
                  </a:lnTo>
                  <a:lnTo>
                    <a:pt x="1261110" y="943356"/>
                  </a:lnTo>
                  <a:lnTo>
                    <a:pt x="1303782" y="878586"/>
                  </a:lnTo>
                  <a:lnTo>
                    <a:pt x="1344168" y="811530"/>
                  </a:lnTo>
                  <a:lnTo>
                    <a:pt x="1383792" y="742188"/>
                  </a:lnTo>
                  <a:lnTo>
                    <a:pt x="1422654" y="669798"/>
                  </a:lnTo>
                  <a:lnTo>
                    <a:pt x="1479042" y="554736"/>
                  </a:lnTo>
                  <a:lnTo>
                    <a:pt x="1516380" y="472440"/>
                  </a:lnTo>
                  <a:lnTo>
                    <a:pt x="1534668" y="429768"/>
                  </a:lnTo>
                  <a:lnTo>
                    <a:pt x="1553718" y="386334"/>
                  </a:lnTo>
                  <a:lnTo>
                    <a:pt x="1591056" y="294132"/>
                  </a:lnTo>
                  <a:lnTo>
                    <a:pt x="1628940" y="196265"/>
                  </a:lnTo>
                  <a:lnTo>
                    <a:pt x="1639062" y="200075"/>
                  </a:lnTo>
                  <a:lnTo>
                    <a:pt x="1682496" y="216408"/>
                  </a:lnTo>
                  <a:close/>
                </a:path>
                <a:path w="8243570" h="1891029">
                  <a:moveTo>
                    <a:pt x="8243316" y="1094994"/>
                  </a:moveTo>
                  <a:lnTo>
                    <a:pt x="8118348" y="949452"/>
                  </a:lnTo>
                  <a:lnTo>
                    <a:pt x="8096339" y="1001814"/>
                  </a:lnTo>
                  <a:lnTo>
                    <a:pt x="5720334" y="0"/>
                  </a:lnTo>
                  <a:lnTo>
                    <a:pt x="5698236" y="52578"/>
                  </a:lnTo>
                  <a:lnTo>
                    <a:pt x="8074241" y="1054392"/>
                  </a:lnTo>
                  <a:lnTo>
                    <a:pt x="8052054" y="1107186"/>
                  </a:lnTo>
                  <a:lnTo>
                    <a:pt x="8122158" y="1102728"/>
                  </a:lnTo>
                  <a:lnTo>
                    <a:pt x="8243316" y="1094994"/>
                  </a:lnTo>
                  <a:close/>
                </a:path>
              </a:pathLst>
            </a:custGeom>
            <a:solidFill>
              <a:srgbClr val="FF0000"/>
            </a:solidFill>
            <a:ln w="190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맑은 고딕"/>
                <a:cs typeface="+mn-cs"/>
              </a:endParaRPr>
            </a:p>
          </p:txBody>
        </p:sp>
      </p:grpSp>
      <p:sp>
        <p:nvSpPr>
          <p:cNvPr id="11" name="object 9">
            <a:extLst>
              <a:ext uri="{FF2B5EF4-FFF2-40B4-BE49-F238E27FC236}">
                <a16:creationId xmlns:a16="http://schemas.microsoft.com/office/drawing/2014/main" id="{7DE3A792-8D44-945C-8E7B-88D32EE0770B}"/>
              </a:ext>
            </a:extLst>
          </p:cNvPr>
          <p:cNvSpPr txBox="1"/>
          <p:nvPr/>
        </p:nvSpPr>
        <p:spPr>
          <a:xfrm>
            <a:off x="9922510" y="914145"/>
            <a:ext cx="16211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7160" marR="0" lvl="0" indent="-13335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FF"/>
              </a:buClr>
              <a:buSzPct val="91666"/>
              <a:buFontTx/>
              <a:buChar char="•"/>
              <a:tabLst>
                <a:tab pos="137160" algn="l"/>
              </a:tabLst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맑은 고딕"/>
                <a:cs typeface="Verdana"/>
              </a:rPr>
              <a:t>28nm:</a:t>
            </a:r>
            <a:r>
              <a:rPr kumimoji="0" sz="18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맑은 고딕"/>
                <a:cs typeface="Verdana"/>
              </a:rPr>
              <a:t> </a:t>
            </a:r>
            <a:r>
              <a:rPr kumimoji="0" sz="1800" b="0" i="0" u="none" strike="noStrike" kern="1200" cap="none" spc="-2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Verdana"/>
                <a:ea typeface="맑은 고딕"/>
                <a:cs typeface="Verdana"/>
              </a:rPr>
              <a:t>NRZ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맑은 고딕"/>
              <a:cs typeface="Verdana"/>
            </a:endParaRPr>
          </a:p>
          <a:p>
            <a:pPr marL="137160" marR="0" lvl="0" indent="-133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ct val="91666"/>
              <a:buFontTx/>
              <a:buChar char="•"/>
              <a:tabLst>
                <a:tab pos="137160" algn="l"/>
              </a:tabLst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맑은 고딕"/>
                <a:cs typeface="Verdana"/>
              </a:rPr>
              <a:t>28nm:</a:t>
            </a:r>
            <a:r>
              <a:rPr kumimoji="0" sz="18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맑은 고딕"/>
                <a:cs typeface="Verdana"/>
              </a:rPr>
              <a:t> </a:t>
            </a:r>
            <a:r>
              <a:rPr kumimoji="0" sz="1800" b="0" i="0" u="none" strike="noStrike" kern="1200" cap="none" spc="-2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Verdana"/>
                <a:ea typeface="맑은 고딕"/>
                <a:cs typeface="Verdana"/>
              </a:rPr>
              <a:t>PAM4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맑은 고딕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728031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5" grpId="0"/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19150" y="347725"/>
            <a:ext cx="10455834" cy="5366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012440" algn="l">
              <a:lnSpc>
                <a:spcPct val="100000"/>
              </a:lnSpc>
              <a:spcBef>
                <a:spcPts val="105"/>
              </a:spcBef>
            </a:pPr>
            <a:r>
              <a:rPr spc="-35" dirty="0"/>
              <a:t>Introduction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307277" y="1164323"/>
            <a:ext cx="6175375" cy="4100195"/>
            <a:chOff x="1693154" y="1088122"/>
            <a:chExt cx="6175375" cy="410019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93154" y="1088122"/>
              <a:ext cx="6175274" cy="409958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26691" y="1098803"/>
              <a:ext cx="6121908" cy="403707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44039" y="1213103"/>
              <a:ext cx="4878323" cy="3819144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1940513" y="5225742"/>
            <a:ext cx="3745229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ENIAC,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U.S.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30" dirty="0">
                <a:latin typeface="Calibri"/>
                <a:cs typeface="Calibri"/>
              </a:rPr>
              <a:t>Army,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1946</a:t>
            </a:r>
            <a:endParaRPr sz="2400" dirty="0">
              <a:latin typeface="Calibri"/>
              <a:cs typeface="Calibri"/>
            </a:endParaRPr>
          </a:p>
          <a:p>
            <a:pPr marL="37465" marR="30480" indent="-635" algn="ctr">
              <a:lnSpc>
                <a:spcPts val="2860"/>
              </a:lnSpc>
              <a:spcBef>
                <a:spcPts val="140"/>
              </a:spcBef>
            </a:pPr>
            <a:r>
              <a:rPr sz="2400" dirty="0">
                <a:latin typeface="Calibri"/>
                <a:cs typeface="Calibri"/>
              </a:rPr>
              <a:t>Size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Wingdings"/>
                <a:cs typeface="Wingdings"/>
              </a:rPr>
              <a:t>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Calibri"/>
                <a:cs typeface="Calibri"/>
              </a:rPr>
              <a:t>Large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hall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(&gt;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150m</a:t>
            </a:r>
            <a:r>
              <a:rPr sz="2400" spc="-15" baseline="24305" dirty="0">
                <a:latin typeface="Calibri"/>
                <a:cs typeface="Calibri"/>
              </a:rPr>
              <a:t>2</a:t>
            </a:r>
            <a:r>
              <a:rPr sz="2400" spc="-10" dirty="0">
                <a:latin typeface="Calibri"/>
                <a:cs typeface="Calibri"/>
              </a:rPr>
              <a:t>) </a:t>
            </a:r>
            <a:r>
              <a:rPr sz="2400" dirty="0">
                <a:latin typeface="Calibri"/>
                <a:cs typeface="Calibri"/>
              </a:rPr>
              <a:t>Power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Consumption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≈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150kW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321194" y="5047370"/>
            <a:ext cx="321246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Smart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phone</a:t>
            </a:r>
            <a:endParaRPr sz="2400" dirty="0">
              <a:latin typeface="Calibri"/>
              <a:cs typeface="Calibri"/>
            </a:endParaRPr>
          </a:p>
          <a:p>
            <a:pPr marL="12700" marR="5080" indent="2540" algn="ctr">
              <a:lnSpc>
                <a:spcPts val="2860"/>
              </a:lnSpc>
              <a:spcBef>
                <a:spcPts val="140"/>
              </a:spcBef>
            </a:pPr>
            <a:r>
              <a:rPr sz="2400" dirty="0">
                <a:latin typeface="Calibri"/>
                <a:cs typeface="Calibri"/>
              </a:rPr>
              <a:t>Size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Wingdings"/>
                <a:cs typeface="Wingdings"/>
              </a:rPr>
              <a:t></a:t>
            </a:r>
            <a:r>
              <a:rPr sz="2400" spc="-114" dirty="0">
                <a:latin typeface="Times New Roman"/>
                <a:cs typeface="Times New Roman"/>
              </a:rPr>
              <a:t> </a:t>
            </a:r>
            <a:r>
              <a:rPr sz="2400" spc="-30" dirty="0">
                <a:latin typeface="Calibri"/>
                <a:cs typeface="Calibri"/>
              </a:rPr>
              <a:t>Your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pocket </a:t>
            </a:r>
            <a:r>
              <a:rPr sz="2400" dirty="0">
                <a:latin typeface="Calibri"/>
                <a:cs typeface="Calibri"/>
              </a:rPr>
              <a:t>Power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consumption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&lt;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1W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635">
              <a:lnSpc>
                <a:spcPts val="1435"/>
              </a:lnSpc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5"/>
          <a:srcRect r="7894"/>
          <a:stretch/>
        </p:blipFill>
        <p:spPr>
          <a:xfrm>
            <a:off x="7791593" y="1396598"/>
            <a:ext cx="2851007" cy="3095360"/>
          </a:xfrm>
          <a:prstGeom prst="rect">
            <a:avLst/>
          </a:prstGeom>
        </p:spPr>
      </p:pic>
      <p:sp>
        <p:nvSpPr>
          <p:cNvPr id="14" name="Footer Placeholder 1"/>
          <p:cNvSpPr>
            <a:spLocks noGrp="1"/>
          </p:cNvSpPr>
          <p:nvPr>
            <p:ph type="ftr" sz="quarter" idx="4294967295"/>
          </p:nvPr>
        </p:nvSpPr>
        <p:spPr>
          <a:xfrm>
            <a:off x="4025900" y="6546850"/>
            <a:ext cx="4114800" cy="365125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dirty="0" smtClean="0"/>
              <a:t>Neeraj Mishra Microelectronics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2139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625600">
              <a:lnSpc>
                <a:spcPct val="100000"/>
              </a:lnSpc>
              <a:spcBef>
                <a:spcPts val="105"/>
              </a:spcBef>
            </a:pPr>
            <a:r>
              <a:rPr spc="-35" dirty="0"/>
              <a:t>Electronics</a:t>
            </a:r>
            <a:r>
              <a:rPr spc="-165" dirty="0"/>
              <a:t> </a:t>
            </a:r>
            <a:r>
              <a:rPr dirty="0"/>
              <a:t>All</a:t>
            </a:r>
            <a:r>
              <a:rPr spc="-135" dirty="0"/>
              <a:t> </a:t>
            </a:r>
            <a:r>
              <a:rPr spc="-25" dirty="0"/>
              <a:t>Around</a:t>
            </a:r>
            <a:r>
              <a:rPr spc="-180" dirty="0"/>
              <a:t> </a:t>
            </a:r>
            <a:r>
              <a:rPr spc="-25" dirty="0"/>
              <a:t>Us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635">
              <a:lnSpc>
                <a:spcPts val="1435"/>
              </a:lnSpc>
            </a:pPr>
            <a:fld id="{81D60167-4931-47E6-BA6A-407CBD079E47}" type="slidenum">
              <a:rPr spc="-50" dirty="0"/>
              <a:t>6</a:t>
            </a:fld>
            <a:endParaRPr spc="-50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7179" y="1510019"/>
            <a:ext cx="2181225" cy="20955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7819" y="1487617"/>
            <a:ext cx="2171700" cy="217170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2221" y="1709777"/>
            <a:ext cx="2619375" cy="1743075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4855" y="4104498"/>
            <a:ext cx="2857500" cy="160020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36266" y="4095770"/>
            <a:ext cx="3095625" cy="1476375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10013" y="3936891"/>
            <a:ext cx="2733675" cy="1676400"/>
          </a:xfrm>
          <a:prstGeom prst="rect">
            <a:avLst/>
          </a:prstGeom>
        </p:spPr>
      </p:pic>
      <p:sp>
        <p:nvSpPr>
          <p:cNvPr id="19" name="Footer Placeholder 1"/>
          <p:cNvSpPr>
            <a:spLocks noGrp="1"/>
          </p:cNvSpPr>
          <p:nvPr>
            <p:ph type="ftr" sz="quarter" idx="4294967295"/>
          </p:nvPr>
        </p:nvSpPr>
        <p:spPr>
          <a:xfrm>
            <a:off x="4025900" y="6546850"/>
            <a:ext cx="4114800" cy="365125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dirty="0" smtClean="0"/>
              <a:t>Neeraj Mishra Microelectronics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5411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9150" y="347725"/>
            <a:ext cx="10593196" cy="523220"/>
          </a:xfrm>
        </p:spPr>
        <p:txBody>
          <a:bodyPr/>
          <a:lstStyle/>
          <a:p>
            <a:r>
              <a:rPr lang="en-US" dirty="0" smtClean="0"/>
              <a:t>Inside a I Phone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34620" marR="0" lvl="0" indent="0" algn="l" defTabSz="914400" rtl="0" eaLnBrk="1" fontAlgn="auto" latinLnBrk="0" hangingPunct="1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lang="en-US" sz="1200" b="0" i="0" u="none" strike="noStrike" kern="0" cap="none" spc="-5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pPr marL="13462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13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0" cap="none" spc="-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9154" y="1294707"/>
            <a:ext cx="9144793" cy="4810161"/>
          </a:xfrm>
          <a:prstGeom prst="rect">
            <a:avLst/>
          </a:prstGeom>
        </p:spPr>
      </p:pic>
      <p:sp>
        <p:nvSpPr>
          <p:cNvPr id="6" name="Footer Placeholder 1"/>
          <p:cNvSpPr>
            <a:spLocks noGrp="1"/>
          </p:cNvSpPr>
          <p:nvPr>
            <p:ph type="ftr" sz="quarter" idx="4294967295"/>
          </p:nvPr>
        </p:nvSpPr>
        <p:spPr>
          <a:xfrm>
            <a:off x="4025900" y="6546850"/>
            <a:ext cx="4114800" cy="365125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dirty="0" smtClean="0"/>
              <a:t>Neeraj Mishra Microelectronics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73788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1050" y="0"/>
            <a:ext cx="10593196" cy="1046440"/>
          </a:xfrm>
        </p:spPr>
        <p:txBody>
          <a:bodyPr/>
          <a:lstStyle/>
          <a:p>
            <a:r>
              <a:rPr lang="en-US" dirty="0">
                <a:latin typeface="-apple-system"/>
              </a:rPr>
              <a:t>What are Various Semiconductor Fab Types in Apple’s iPhone Supply Chain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5"/>
          </p:nvPr>
        </p:nvSpPr>
        <p:spPr>
          <a:xfrm>
            <a:off x="5106160" y="6486341"/>
            <a:ext cx="2551940" cy="371659"/>
          </a:xfrm>
        </p:spPr>
        <p:txBody>
          <a:bodyPr/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Neeraj Mishra Microelectronics</a:t>
            </a:r>
            <a:endParaRPr kumimoji="0" lang="en-US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34620" marR="0" lvl="0" indent="0" algn="l" defTabSz="914400" rtl="0" eaLnBrk="1" fontAlgn="auto" latinLnBrk="0" hangingPunct="1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lang="en-US" sz="1200" b="0" i="0" u="none" strike="noStrike" kern="0" cap="none" spc="-5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pPr marL="13462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13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0" cap="none" spc="-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  <p:pic>
        <p:nvPicPr>
          <p:cNvPr id="4098" name="Picture 2" descr="graphical user interface, diagra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0577" y="1049922"/>
            <a:ext cx="4719621" cy="5144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12654013" y="-7658100"/>
            <a:ext cx="6096000" cy="2086725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0" i="0" dirty="0" smtClean="0">
                <a:effectLst/>
                <a:latin typeface="-apple-system"/>
              </a:rPr>
              <a:t/>
            </a:r>
            <a:br>
              <a:rPr lang="en-US" b="0" i="0" dirty="0" smtClean="0">
                <a:effectLst/>
                <a:latin typeface="-apple-system"/>
              </a:rPr>
            </a:br>
            <a:r>
              <a:rPr lang="en-US" b="0" i="0" dirty="0" smtClean="0">
                <a:effectLst/>
                <a:latin typeface="-apple-system"/>
              </a:rPr>
              <a:t>Characteristics:</a:t>
            </a:r>
            <a:br>
              <a:rPr lang="en-US" b="0" i="0" dirty="0" smtClean="0">
                <a:effectLst/>
                <a:latin typeface="-apple-system"/>
              </a:rPr>
            </a:br>
            <a:r>
              <a:rPr lang="en-US" b="0" i="0" dirty="0" smtClean="0">
                <a:effectLst/>
                <a:latin typeface="-apple-system"/>
              </a:rPr>
              <a:t>EUV lithography</a:t>
            </a:r>
            <a:br>
              <a:rPr lang="en-US" b="0" i="0" dirty="0" smtClean="0">
                <a:effectLst/>
                <a:latin typeface="-apple-system"/>
              </a:rPr>
            </a:br>
            <a:r>
              <a:rPr lang="en-US" b="0" i="0" dirty="0" smtClean="0">
                <a:effectLst/>
                <a:latin typeface="-apple-system"/>
              </a:rPr>
              <a:t>High-performance, low-power logic</a:t>
            </a:r>
            <a:br>
              <a:rPr lang="en-US" b="0" i="0" dirty="0" smtClean="0">
                <a:effectLst/>
                <a:latin typeface="-apple-system"/>
              </a:rPr>
            </a:br>
            <a:r>
              <a:rPr lang="en-US" b="0" i="0" dirty="0" smtClean="0">
                <a:effectLst/>
                <a:latin typeface="-apple-system"/>
              </a:rPr>
              <a:t>Fabless model (Apple designs, TSMC manufactures)</a:t>
            </a:r>
            <a:br>
              <a:rPr lang="en-US" b="0" i="0" dirty="0" smtClean="0">
                <a:effectLst/>
                <a:latin typeface="-apple-system"/>
              </a:rPr>
            </a:br>
            <a:r>
              <a:rPr lang="en-US" b="0" i="0" dirty="0" smtClean="0">
                <a:effectLst/>
                <a:latin typeface="-apple-system"/>
              </a:rPr>
              <a:t/>
            </a:r>
            <a:br>
              <a:rPr lang="en-US" b="0" i="0" dirty="0" smtClean="0">
                <a:effectLst/>
                <a:latin typeface="-apple-system"/>
              </a:rPr>
            </a:br>
            <a:r>
              <a:rPr lang="en-US" b="0" i="0" dirty="0" smtClean="0">
                <a:effectLst/>
                <a:latin typeface="-apple-system"/>
              </a:rPr>
              <a:t>Examples in iPhone:</a:t>
            </a:r>
            <a:br>
              <a:rPr lang="en-US" b="0" i="0" dirty="0" smtClean="0">
                <a:effectLst/>
                <a:latin typeface="-apple-system"/>
              </a:rPr>
            </a:br>
            <a:r>
              <a:rPr lang="en-US" b="0" i="0" dirty="0" smtClean="0">
                <a:effectLst/>
                <a:latin typeface="-apple-system"/>
              </a:rPr>
              <a:t>Apple A-series </a:t>
            </a:r>
            <a:r>
              <a:rPr lang="en-US" b="0" i="0" dirty="0" err="1" smtClean="0">
                <a:effectLst/>
                <a:latin typeface="-apple-system"/>
              </a:rPr>
              <a:t>SoC</a:t>
            </a:r>
            <a:r>
              <a:rPr lang="en-US" b="0" i="0" dirty="0" smtClean="0">
                <a:effectLst/>
                <a:latin typeface="-apple-system"/>
              </a:rPr>
              <a:t/>
            </a:r>
            <a:br>
              <a:rPr lang="en-US" b="0" i="0" dirty="0" smtClean="0">
                <a:effectLst/>
                <a:latin typeface="-apple-system"/>
              </a:rPr>
            </a:br>
            <a:r>
              <a:rPr lang="en-US" b="0" i="0" dirty="0" smtClean="0">
                <a:effectLst/>
                <a:latin typeface="-apple-system"/>
              </a:rPr>
              <a:t>Custom Apple silicon blocks (CPU, GPU, NPU)</a:t>
            </a:r>
            <a:br>
              <a:rPr lang="en-US" b="0" i="0" dirty="0" smtClean="0">
                <a:effectLst/>
                <a:latin typeface="-apple-system"/>
              </a:rPr>
            </a:br>
            <a:r>
              <a:rPr lang="en-US" b="0" i="0" dirty="0" smtClean="0">
                <a:effectLst/>
                <a:latin typeface="-apple-system"/>
              </a:rPr>
              <a:t/>
            </a:r>
            <a:br>
              <a:rPr lang="en-US" b="0" i="0" dirty="0" smtClean="0">
                <a:effectLst/>
                <a:latin typeface="-apple-system"/>
              </a:rPr>
            </a:br>
            <a:r>
              <a:rPr lang="en-US" b="0" i="0" dirty="0" smtClean="0">
                <a:effectLst/>
                <a:latin typeface="-apple-system"/>
              </a:rPr>
              <a:t>2. Memory </a:t>
            </a:r>
            <a:r>
              <a:rPr lang="en-US" b="0" i="0" dirty="0" err="1" smtClean="0">
                <a:effectLst/>
                <a:latin typeface="-apple-system"/>
              </a:rPr>
              <a:t>Fabs</a:t>
            </a:r>
            <a:r>
              <a:rPr lang="en-US" b="0" i="0" dirty="0" smtClean="0">
                <a:effectLst/>
                <a:latin typeface="-apple-system"/>
              </a:rPr>
              <a:t/>
            </a:r>
            <a:br>
              <a:rPr lang="en-US" b="0" i="0" dirty="0" smtClean="0">
                <a:effectLst/>
                <a:latin typeface="-apple-system"/>
              </a:rPr>
            </a:br>
            <a:r>
              <a:rPr lang="en-US" b="0" i="0" dirty="0" smtClean="0">
                <a:effectLst/>
                <a:latin typeface="-apple-system"/>
              </a:rPr>
              <a:t>a) DRAM </a:t>
            </a:r>
            <a:r>
              <a:rPr lang="en-US" b="0" i="0" dirty="0" err="1" smtClean="0">
                <a:effectLst/>
                <a:latin typeface="-apple-system"/>
              </a:rPr>
              <a:t>Fabs</a:t>
            </a:r>
            <a:r>
              <a:rPr lang="en-US" b="0" i="0" dirty="0" smtClean="0">
                <a:effectLst/>
                <a:latin typeface="-apple-system"/>
              </a:rPr>
              <a:t/>
            </a:r>
            <a:br>
              <a:rPr lang="en-US" b="0" i="0" dirty="0" smtClean="0">
                <a:effectLst/>
                <a:latin typeface="-apple-system"/>
              </a:rPr>
            </a:br>
            <a:r>
              <a:rPr lang="en-US" b="0" i="0" dirty="0" smtClean="0">
                <a:effectLst/>
                <a:latin typeface="-apple-system"/>
              </a:rPr>
              <a:t>Used for: LPDDR memory</a:t>
            </a:r>
            <a:br>
              <a:rPr lang="en-US" b="0" i="0" dirty="0" smtClean="0">
                <a:effectLst/>
                <a:latin typeface="-apple-system"/>
              </a:rPr>
            </a:br>
            <a:r>
              <a:rPr lang="en-US" b="0" i="0" dirty="0" smtClean="0">
                <a:effectLst/>
                <a:latin typeface="-apple-system"/>
              </a:rPr>
              <a:t>Companies: Samsung, SK </a:t>
            </a:r>
            <a:r>
              <a:rPr lang="en-US" b="0" i="0" dirty="0" err="1" smtClean="0">
                <a:effectLst/>
                <a:latin typeface="-apple-system"/>
              </a:rPr>
              <a:t>hynix</a:t>
            </a:r>
            <a:r>
              <a:rPr lang="en-US" b="0" i="0" dirty="0" smtClean="0">
                <a:effectLst/>
                <a:latin typeface="-apple-system"/>
              </a:rPr>
              <a:t>, Micron</a:t>
            </a:r>
            <a:br>
              <a:rPr lang="en-US" b="0" i="0" dirty="0" smtClean="0">
                <a:effectLst/>
                <a:latin typeface="-apple-system"/>
              </a:rPr>
            </a:br>
            <a:r>
              <a:rPr lang="en-US" b="0" i="0" dirty="0" smtClean="0">
                <a:effectLst/>
                <a:latin typeface="-apple-system"/>
              </a:rPr>
              <a:t>Fab type: Memory (DRAM) </a:t>
            </a:r>
            <a:r>
              <a:rPr lang="en-US" b="0" i="0" dirty="0" err="1" smtClean="0">
                <a:effectLst/>
                <a:latin typeface="-apple-system"/>
              </a:rPr>
              <a:t>fabs</a:t>
            </a:r>
            <a:r>
              <a:rPr lang="en-US" b="0" i="0" dirty="0" smtClean="0">
                <a:effectLst/>
                <a:latin typeface="-apple-system"/>
              </a:rPr>
              <a:t/>
            </a:r>
            <a:br>
              <a:rPr lang="en-US" b="0" i="0" dirty="0" smtClean="0">
                <a:effectLst/>
                <a:latin typeface="-apple-system"/>
              </a:rPr>
            </a:br>
            <a:r>
              <a:rPr lang="en-US" b="0" i="0" dirty="0" smtClean="0">
                <a:effectLst/>
                <a:latin typeface="-apple-system"/>
              </a:rPr>
              <a:t>Nodes: Specialized DRAM processes (not logic nodes)</a:t>
            </a:r>
            <a:br>
              <a:rPr lang="en-US" b="0" i="0" dirty="0" smtClean="0">
                <a:effectLst/>
                <a:latin typeface="-apple-system"/>
              </a:rPr>
            </a:br>
            <a:r>
              <a:rPr lang="en-US" b="0" i="0" dirty="0" smtClean="0">
                <a:effectLst/>
                <a:latin typeface="-apple-system"/>
              </a:rPr>
              <a:t/>
            </a:r>
            <a:br>
              <a:rPr lang="en-US" b="0" i="0" dirty="0" smtClean="0">
                <a:effectLst/>
                <a:latin typeface="-apple-system"/>
              </a:rPr>
            </a:br>
            <a:r>
              <a:rPr lang="en-US" b="0" i="0" dirty="0" smtClean="0">
                <a:effectLst/>
                <a:latin typeface="-apple-system"/>
              </a:rPr>
              <a:t>b) NAND Flash </a:t>
            </a:r>
            <a:r>
              <a:rPr lang="en-US" b="0" i="0" dirty="0" err="1" smtClean="0">
                <a:effectLst/>
                <a:latin typeface="-apple-system"/>
              </a:rPr>
              <a:t>Fabs</a:t>
            </a:r>
            <a:r>
              <a:rPr lang="en-US" b="0" i="0" dirty="0" smtClean="0">
                <a:effectLst/>
                <a:latin typeface="-apple-system"/>
              </a:rPr>
              <a:t/>
            </a:r>
            <a:br>
              <a:rPr lang="en-US" b="0" i="0" dirty="0" smtClean="0">
                <a:effectLst/>
                <a:latin typeface="-apple-system"/>
              </a:rPr>
            </a:br>
            <a:r>
              <a:rPr lang="en-US" b="0" i="0" dirty="0" smtClean="0">
                <a:effectLst/>
                <a:latin typeface="-apple-system"/>
              </a:rPr>
              <a:t>Used for: Storage</a:t>
            </a:r>
            <a:br>
              <a:rPr lang="en-US" b="0" i="0" dirty="0" smtClean="0">
                <a:effectLst/>
                <a:latin typeface="-apple-system"/>
              </a:rPr>
            </a:br>
            <a:r>
              <a:rPr lang="en-US" b="0" i="0" dirty="0" smtClean="0">
                <a:effectLst/>
                <a:latin typeface="-apple-system"/>
              </a:rPr>
              <a:t>Companies: </a:t>
            </a:r>
            <a:r>
              <a:rPr lang="en-US" b="0" i="0" dirty="0" err="1" smtClean="0">
                <a:effectLst/>
                <a:latin typeface="-apple-system"/>
              </a:rPr>
              <a:t>Kioxia</a:t>
            </a:r>
            <a:r>
              <a:rPr lang="en-US" b="0" i="0" dirty="0" smtClean="0">
                <a:effectLst/>
                <a:latin typeface="-apple-system"/>
              </a:rPr>
              <a:t>, Samsung, SK </a:t>
            </a:r>
            <a:r>
              <a:rPr lang="en-US" b="0" i="0" dirty="0" err="1" smtClean="0">
                <a:effectLst/>
                <a:latin typeface="-apple-system"/>
              </a:rPr>
              <a:t>hynix</a:t>
            </a:r>
            <a:r>
              <a:rPr lang="en-US" b="0" i="0" dirty="0" smtClean="0">
                <a:effectLst/>
                <a:latin typeface="-apple-system"/>
              </a:rPr>
              <a:t>, Micron, WD</a:t>
            </a:r>
            <a:br>
              <a:rPr lang="en-US" b="0" i="0" dirty="0" smtClean="0">
                <a:effectLst/>
                <a:latin typeface="-apple-system"/>
              </a:rPr>
            </a:br>
            <a:r>
              <a:rPr lang="en-US" b="0" i="0" dirty="0" smtClean="0">
                <a:effectLst/>
                <a:latin typeface="-apple-system"/>
              </a:rPr>
              <a:t>Fab type: 3D NAND memory </a:t>
            </a:r>
            <a:r>
              <a:rPr lang="en-US" b="0" i="0" dirty="0" err="1" smtClean="0">
                <a:effectLst/>
                <a:latin typeface="-apple-system"/>
              </a:rPr>
              <a:t>fabs</a:t>
            </a:r>
            <a:r>
              <a:rPr lang="en-US" b="0" i="0" dirty="0" smtClean="0">
                <a:effectLst/>
                <a:latin typeface="-apple-system"/>
              </a:rPr>
              <a:t/>
            </a:r>
            <a:br>
              <a:rPr lang="en-US" b="0" i="0" dirty="0" smtClean="0">
                <a:effectLst/>
                <a:latin typeface="-apple-system"/>
              </a:rPr>
            </a:br>
            <a:r>
              <a:rPr lang="en-US" b="0" i="0" dirty="0" smtClean="0">
                <a:effectLst/>
                <a:latin typeface="-apple-system"/>
              </a:rPr>
              <a:t>Characteristics:</a:t>
            </a:r>
            <a:br>
              <a:rPr lang="en-US" b="0" i="0" dirty="0" smtClean="0">
                <a:effectLst/>
                <a:latin typeface="-apple-system"/>
              </a:rPr>
            </a:br>
            <a:r>
              <a:rPr lang="en-US" b="0" i="0" dirty="0" smtClean="0">
                <a:effectLst/>
                <a:latin typeface="-apple-system"/>
              </a:rPr>
              <a:t>Vertical cell stacking (100+ layers)</a:t>
            </a:r>
            <a:br>
              <a:rPr lang="en-US" b="0" i="0" dirty="0" smtClean="0">
                <a:effectLst/>
                <a:latin typeface="-apple-system"/>
              </a:rPr>
            </a:br>
            <a:r>
              <a:rPr lang="en-US" b="0" i="0" dirty="0" smtClean="0">
                <a:effectLst/>
                <a:latin typeface="-apple-system"/>
              </a:rPr>
              <a:t>Highly capital-intensive, memory-only </a:t>
            </a:r>
            <a:r>
              <a:rPr lang="en-US" b="0" i="0" dirty="0" err="1" smtClean="0">
                <a:effectLst/>
                <a:latin typeface="-apple-system"/>
              </a:rPr>
              <a:t>fabs</a:t>
            </a:r>
            <a:r>
              <a:rPr lang="en-US" b="0" i="0" dirty="0" smtClean="0">
                <a:effectLst/>
                <a:latin typeface="-apple-system"/>
              </a:rPr>
              <a:t/>
            </a:r>
            <a:br>
              <a:rPr lang="en-US" b="0" i="0" dirty="0" smtClean="0">
                <a:effectLst/>
                <a:latin typeface="-apple-system"/>
              </a:rPr>
            </a:br>
            <a:r>
              <a:rPr lang="en-US" b="0" i="0" dirty="0" smtClean="0">
                <a:effectLst/>
                <a:latin typeface="-apple-system"/>
              </a:rPr>
              <a:t/>
            </a:r>
            <a:br>
              <a:rPr lang="en-US" b="0" i="0" dirty="0" smtClean="0">
                <a:effectLst/>
                <a:latin typeface="-apple-system"/>
              </a:rPr>
            </a:br>
            <a:r>
              <a:rPr lang="en-US" b="0" i="0" dirty="0" smtClean="0">
                <a:effectLst/>
                <a:latin typeface="-apple-system"/>
              </a:rPr>
              <a:t>3. Image Sensor </a:t>
            </a:r>
            <a:r>
              <a:rPr lang="en-US" b="0" i="0" dirty="0" err="1" smtClean="0">
                <a:effectLst/>
                <a:latin typeface="-apple-system"/>
              </a:rPr>
              <a:t>Fabs</a:t>
            </a:r>
            <a:r>
              <a:rPr lang="en-US" b="0" i="0" dirty="0" smtClean="0">
                <a:effectLst/>
                <a:latin typeface="-apple-system"/>
              </a:rPr>
              <a:t/>
            </a:r>
            <a:br>
              <a:rPr lang="en-US" b="0" i="0" dirty="0" smtClean="0">
                <a:effectLst/>
                <a:latin typeface="-apple-system"/>
              </a:rPr>
            </a:br>
            <a:r>
              <a:rPr lang="en-US" b="0" i="0" dirty="0" smtClean="0">
                <a:effectLst/>
                <a:latin typeface="-apple-system"/>
              </a:rPr>
              <a:t>Used for: Camera sensors</a:t>
            </a:r>
            <a:br>
              <a:rPr lang="en-US" b="0" i="0" dirty="0" smtClean="0">
                <a:effectLst/>
                <a:latin typeface="-apple-system"/>
              </a:rPr>
            </a:br>
            <a:r>
              <a:rPr lang="en-US" b="0" i="0" dirty="0" smtClean="0">
                <a:effectLst/>
                <a:latin typeface="-apple-system"/>
              </a:rPr>
              <a:t>Companies: Sony (primary), Samsung (secondary)</a:t>
            </a:r>
            <a:br>
              <a:rPr lang="en-US" b="0" i="0" dirty="0" smtClean="0">
                <a:effectLst/>
                <a:latin typeface="-apple-system"/>
              </a:rPr>
            </a:br>
            <a:r>
              <a:rPr lang="en-US" b="0" i="0" dirty="0" smtClean="0">
                <a:effectLst/>
                <a:latin typeface="-apple-system"/>
              </a:rPr>
              <a:t/>
            </a:r>
            <a:br>
              <a:rPr lang="en-US" b="0" i="0" dirty="0" smtClean="0">
                <a:effectLst/>
                <a:latin typeface="-apple-system"/>
              </a:rPr>
            </a:br>
            <a:r>
              <a:rPr lang="en-US" b="0" i="0" dirty="0" smtClean="0">
                <a:effectLst/>
                <a:latin typeface="-apple-system"/>
              </a:rPr>
              <a:t>Fab type: CMOS Image Sensor (CIS) </a:t>
            </a:r>
            <a:r>
              <a:rPr lang="en-US" b="0" i="0" dirty="0" err="1" smtClean="0">
                <a:effectLst/>
                <a:latin typeface="-apple-system"/>
              </a:rPr>
              <a:t>fabs</a:t>
            </a:r>
            <a:r>
              <a:rPr lang="en-US" b="0" i="0" dirty="0" smtClean="0">
                <a:effectLst/>
                <a:latin typeface="-apple-system"/>
              </a:rPr>
              <a:t/>
            </a:r>
            <a:br>
              <a:rPr lang="en-US" b="0" i="0" dirty="0" smtClean="0">
                <a:effectLst/>
                <a:latin typeface="-apple-system"/>
              </a:rPr>
            </a:br>
            <a:r>
              <a:rPr lang="en-US" b="0" i="0" dirty="0" smtClean="0">
                <a:effectLst/>
                <a:latin typeface="-apple-system"/>
              </a:rPr>
              <a:t/>
            </a:r>
            <a:br>
              <a:rPr lang="en-US" b="0" i="0" dirty="0" smtClean="0">
                <a:effectLst/>
                <a:latin typeface="-apple-system"/>
              </a:rPr>
            </a:br>
            <a:r>
              <a:rPr lang="en-US" b="0" i="0" dirty="0" smtClean="0">
                <a:effectLst/>
                <a:latin typeface="-apple-system"/>
              </a:rPr>
              <a:t>Characteristics:</a:t>
            </a:r>
            <a:br>
              <a:rPr lang="en-US" b="0" i="0" dirty="0" smtClean="0">
                <a:effectLst/>
                <a:latin typeface="-apple-system"/>
              </a:rPr>
            </a:br>
            <a:r>
              <a:rPr lang="en-US" b="0" i="0" dirty="0" smtClean="0">
                <a:effectLst/>
                <a:latin typeface="-apple-system"/>
              </a:rPr>
              <a:t>Specialized pixel and photodiode processes</a:t>
            </a:r>
            <a:br>
              <a:rPr lang="en-US" b="0" i="0" dirty="0" smtClean="0">
                <a:effectLst/>
                <a:latin typeface="-apple-system"/>
              </a:rPr>
            </a:br>
            <a:r>
              <a:rPr lang="en-US" b="0" i="0" dirty="0" smtClean="0">
                <a:effectLst/>
                <a:latin typeface="-apple-system"/>
              </a:rPr>
              <a:t>Back-side illumination (BSI)</a:t>
            </a:r>
            <a:br>
              <a:rPr lang="en-US" b="0" i="0" dirty="0" smtClean="0">
                <a:effectLst/>
                <a:latin typeface="-apple-system"/>
              </a:rPr>
            </a:br>
            <a:r>
              <a:rPr lang="en-US" b="0" i="0" dirty="0" smtClean="0">
                <a:effectLst/>
                <a:latin typeface="-apple-system"/>
              </a:rPr>
              <a:t>Stacked sensor architectures</a:t>
            </a:r>
            <a:br>
              <a:rPr lang="en-US" b="0" i="0" dirty="0" smtClean="0">
                <a:effectLst/>
                <a:latin typeface="-apple-system"/>
              </a:rPr>
            </a:br>
            <a:r>
              <a:rPr lang="en-US" b="0" i="0" dirty="0" smtClean="0">
                <a:effectLst/>
                <a:latin typeface="-apple-system"/>
              </a:rPr>
              <a:t/>
            </a:r>
            <a:br>
              <a:rPr lang="en-US" b="0" i="0" dirty="0" smtClean="0">
                <a:effectLst/>
                <a:latin typeface="-apple-system"/>
              </a:rPr>
            </a:br>
            <a:r>
              <a:rPr lang="en-US" b="0" i="0" dirty="0" smtClean="0">
                <a:effectLst/>
                <a:latin typeface="-apple-system"/>
              </a:rPr>
              <a:t>4. Display </a:t>
            </a:r>
            <a:r>
              <a:rPr lang="en-US" b="0" i="0" dirty="0" err="1" smtClean="0">
                <a:effectLst/>
                <a:latin typeface="-apple-system"/>
              </a:rPr>
              <a:t>Fabs</a:t>
            </a:r>
            <a:r>
              <a:rPr lang="en-US" b="0" i="0" dirty="0" smtClean="0">
                <a:effectLst/>
                <a:latin typeface="-apple-system"/>
              </a:rPr>
              <a:t/>
            </a:r>
            <a:br>
              <a:rPr lang="en-US" b="0" i="0" dirty="0" smtClean="0">
                <a:effectLst/>
                <a:latin typeface="-apple-system"/>
              </a:rPr>
            </a:br>
            <a:r>
              <a:rPr lang="en-US" b="0" i="0" dirty="0" smtClean="0">
                <a:effectLst/>
                <a:latin typeface="-apple-system"/>
              </a:rPr>
              <a:t>(Not traditional semiconductor </a:t>
            </a:r>
            <a:r>
              <a:rPr lang="en-US" b="0" i="0" dirty="0" err="1" smtClean="0">
                <a:effectLst/>
                <a:latin typeface="-apple-system"/>
              </a:rPr>
              <a:t>fabs</a:t>
            </a:r>
            <a:r>
              <a:rPr lang="en-US" b="0" i="0" dirty="0" smtClean="0">
                <a:effectLst/>
                <a:latin typeface="-apple-system"/>
              </a:rPr>
              <a:t>, but still “fab” environments)</a:t>
            </a:r>
            <a:br>
              <a:rPr lang="en-US" b="0" i="0" dirty="0" smtClean="0">
                <a:effectLst/>
                <a:latin typeface="-apple-system"/>
              </a:rPr>
            </a:br>
            <a:r>
              <a:rPr lang="en-US" b="0" i="0" dirty="0" smtClean="0">
                <a:effectLst/>
                <a:latin typeface="-apple-system"/>
              </a:rPr>
              <a:t>Companies: Samsung Display, LG Display, BOE</a:t>
            </a:r>
            <a:br>
              <a:rPr lang="en-US" b="0" i="0" dirty="0" smtClean="0">
                <a:effectLst/>
                <a:latin typeface="-apple-system"/>
              </a:rPr>
            </a:br>
            <a:r>
              <a:rPr lang="en-US" b="0" i="0" dirty="0" smtClean="0">
                <a:effectLst/>
                <a:latin typeface="-apple-system"/>
              </a:rPr>
              <a:t>Fab type: OLED / LTPO display </a:t>
            </a:r>
            <a:r>
              <a:rPr lang="en-US" b="0" i="0" dirty="0" err="1" smtClean="0">
                <a:effectLst/>
                <a:latin typeface="-apple-system"/>
              </a:rPr>
              <a:t>fabs</a:t>
            </a:r>
            <a:r>
              <a:rPr lang="en-US" b="0" i="0" dirty="0" smtClean="0">
                <a:effectLst/>
                <a:latin typeface="-apple-system"/>
              </a:rPr>
              <a:t/>
            </a:r>
            <a:br>
              <a:rPr lang="en-US" b="0" i="0" dirty="0" smtClean="0">
                <a:effectLst/>
                <a:latin typeface="-apple-system"/>
              </a:rPr>
            </a:br>
            <a:r>
              <a:rPr lang="en-US" b="0" i="0" dirty="0" smtClean="0">
                <a:effectLst/>
                <a:latin typeface="-apple-system"/>
              </a:rPr>
              <a:t/>
            </a:r>
            <a:br>
              <a:rPr lang="en-US" b="0" i="0" dirty="0" smtClean="0">
                <a:effectLst/>
                <a:latin typeface="-apple-system"/>
              </a:rPr>
            </a:br>
            <a:r>
              <a:rPr lang="en-US" b="0" i="0" dirty="0" smtClean="0">
                <a:effectLst/>
                <a:latin typeface="-apple-system"/>
              </a:rPr>
              <a:t>Characteristics:</a:t>
            </a:r>
            <a:br>
              <a:rPr lang="en-US" b="0" i="0" dirty="0" smtClean="0">
                <a:effectLst/>
                <a:latin typeface="-apple-system"/>
              </a:rPr>
            </a:br>
            <a:r>
              <a:rPr lang="en-US" b="0" i="0" dirty="0" smtClean="0">
                <a:effectLst/>
                <a:latin typeface="-apple-system"/>
              </a:rPr>
              <a:t>Large-area thin-film processing</a:t>
            </a:r>
            <a:br>
              <a:rPr lang="en-US" b="0" i="0" dirty="0" smtClean="0">
                <a:effectLst/>
                <a:latin typeface="-apple-system"/>
              </a:rPr>
            </a:br>
            <a:r>
              <a:rPr lang="en-US" b="0" i="0" dirty="0" smtClean="0">
                <a:effectLst/>
                <a:latin typeface="-apple-system"/>
              </a:rPr>
              <a:t>TFT backplane + OLED deposition</a:t>
            </a:r>
            <a:br>
              <a:rPr lang="en-US" b="0" i="0" dirty="0" smtClean="0">
                <a:effectLst/>
                <a:latin typeface="-apple-system"/>
              </a:rPr>
            </a:br>
            <a:r>
              <a:rPr lang="en-US" b="0" i="0" dirty="0" smtClean="0">
                <a:effectLst/>
                <a:latin typeface="-apple-system"/>
              </a:rPr>
              <a:t>Different from silicon wafer </a:t>
            </a:r>
            <a:r>
              <a:rPr lang="en-US" b="0" i="0" dirty="0" err="1" smtClean="0">
                <a:effectLst/>
                <a:latin typeface="-apple-system"/>
              </a:rPr>
              <a:t>fabs</a:t>
            </a:r>
            <a:r>
              <a:rPr lang="en-US" b="0" i="0" dirty="0" smtClean="0">
                <a:effectLst/>
                <a:latin typeface="-apple-system"/>
              </a:rPr>
              <a:t/>
            </a:r>
            <a:br>
              <a:rPr lang="en-US" b="0" i="0" dirty="0" smtClean="0">
                <a:effectLst/>
                <a:latin typeface="-apple-system"/>
              </a:rPr>
            </a:br>
            <a:r>
              <a:rPr lang="en-US" b="0" i="0" dirty="0" smtClean="0">
                <a:effectLst/>
                <a:latin typeface="-apple-system"/>
              </a:rPr>
              <a:t/>
            </a:r>
            <a:br>
              <a:rPr lang="en-US" b="0" i="0" dirty="0" smtClean="0">
                <a:effectLst/>
                <a:latin typeface="-apple-system"/>
              </a:rPr>
            </a:br>
            <a:r>
              <a:rPr lang="en-US" b="0" i="0" dirty="0" smtClean="0">
                <a:effectLst/>
                <a:latin typeface="-apple-system"/>
              </a:rPr>
              <a:t/>
            </a:r>
            <a:br>
              <a:rPr lang="en-US" b="0" i="0" dirty="0" smtClean="0">
                <a:effectLst/>
                <a:latin typeface="-apple-system"/>
              </a:rPr>
            </a:br>
            <a:r>
              <a:rPr lang="en-US" b="0" i="0" dirty="0" smtClean="0">
                <a:effectLst/>
                <a:latin typeface="-apple-system"/>
              </a:rPr>
              <a:t/>
            </a:r>
            <a:br>
              <a:rPr lang="en-US" b="0" i="0" dirty="0" smtClean="0">
                <a:effectLst/>
                <a:latin typeface="-apple-system"/>
              </a:rPr>
            </a:br>
            <a:r>
              <a:rPr lang="en-US" b="0" i="0" dirty="0" smtClean="0">
                <a:effectLst/>
                <a:latin typeface="-apple-system"/>
              </a:rPr>
              <a:t>Characteristics:</a:t>
            </a:r>
            <a:br>
              <a:rPr lang="en-US" b="0" i="0" dirty="0" smtClean="0">
                <a:effectLst/>
                <a:latin typeface="-apple-system"/>
              </a:rPr>
            </a:br>
            <a:r>
              <a:rPr lang="en-US" b="0" i="0" dirty="0" smtClean="0">
                <a:effectLst/>
                <a:latin typeface="-apple-system"/>
              </a:rPr>
              <a:t>Precision over scaling</a:t>
            </a:r>
            <a:br>
              <a:rPr lang="en-US" b="0" i="0" dirty="0" smtClean="0">
                <a:effectLst/>
                <a:latin typeface="-apple-system"/>
              </a:rPr>
            </a:br>
            <a:r>
              <a:rPr lang="en-US" b="0" i="0" dirty="0" smtClean="0">
                <a:effectLst/>
                <a:latin typeface="-apple-system"/>
              </a:rPr>
              <a:t>Long product lifecycles</a:t>
            </a:r>
            <a:br>
              <a:rPr lang="en-US" b="0" i="0" dirty="0" smtClean="0">
                <a:effectLst/>
                <a:latin typeface="-apple-system"/>
              </a:rPr>
            </a:br>
            <a:r>
              <a:rPr lang="en-US" b="0" i="0" dirty="0" smtClean="0">
                <a:effectLst/>
                <a:latin typeface="-apple-system"/>
              </a:rPr>
              <a:t/>
            </a:r>
            <a:br>
              <a:rPr lang="en-US" b="0" i="0" dirty="0" smtClean="0">
                <a:effectLst/>
                <a:latin typeface="-apple-system"/>
              </a:rPr>
            </a:br>
            <a:r>
              <a:rPr lang="en-US" b="0" i="0" dirty="0" smtClean="0">
                <a:effectLst/>
                <a:latin typeface="-apple-system"/>
              </a:rPr>
              <a:t>Examples in iPhone:</a:t>
            </a:r>
            <a:br>
              <a:rPr lang="en-US" b="0" i="0" dirty="0" smtClean="0">
                <a:effectLst/>
                <a:latin typeface="-apple-system"/>
              </a:rPr>
            </a:br>
            <a:r>
              <a:rPr lang="en-US" b="0" i="0" dirty="0" smtClean="0">
                <a:effectLst/>
                <a:latin typeface="-apple-system"/>
              </a:rPr>
              <a:t>Audio codecs &amp; amps</a:t>
            </a:r>
            <a:br>
              <a:rPr lang="en-US" b="0" i="0" dirty="0" smtClean="0">
                <a:effectLst/>
                <a:latin typeface="-apple-system"/>
              </a:rPr>
            </a:br>
            <a:r>
              <a:rPr lang="en-US" b="0" i="0" dirty="0" smtClean="0">
                <a:effectLst/>
                <a:latin typeface="-apple-system"/>
              </a:rPr>
              <a:t>PMICs</a:t>
            </a:r>
            <a:br>
              <a:rPr lang="en-US" b="0" i="0" dirty="0" smtClean="0">
                <a:effectLst/>
                <a:latin typeface="-apple-system"/>
              </a:rPr>
            </a:br>
            <a:r>
              <a:rPr lang="en-US" b="0" i="0" dirty="0" smtClean="0">
                <a:effectLst/>
                <a:latin typeface="-apple-system"/>
              </a:rPr>
              <a:t>Motion &amp; compass sensors</a:t>
            </a:r>
            <a:br>
              <a:rPr lang="en-US" b="0" i="0" dirty="0" smtClean="0">
                <a:effectLst/>
                <a:latin typeface="-apple-system"/>
              </a:rPr>
            </a:br>
            <a:r>
              <a:rPr lang="en-US" b="0" i="0" dirty="0" smtClean="0">
                <a:effectLst/>
                <a:latin typeface="-apple-system"/>
              </a:rPr>
              <a:t/>
            </a:r>
            <a:br>
              <a:rPr lang="en-US" b="0" i="0" dirty="0" smtClean="0">
                <a:effectLst/>
                <a:latin typeface="-apple-system"/>
              </a:rPr>
            </a:br>
            <a:r>
              <a:rPr lang="en-US" b="0" i="0" dirty="0" smtClean="0">
                <a:effectLst/>
                <a:latin typeface="-apple-system"/>
              </a:rPr>
              <a:t>6. RF &amp; Connectivity </a:t>
            </a:r>
            <a:r>
              <a:rPr lang="en-US" b="0" i="0" dirty="0" err="1" smtClean="0">
                <a:effectLst/>
                <a:latin typeface="-apple-system"/>
              </a:rPr>
              <a:t>Fabs</a:t>
            </a:r>
            <a:r>
              <a:rPr lang="en-US" b="0" i="0" dirty="0" smtClean="0">
                <a:effectLst/>
                <a:latin typeface="-apple-system"/>
              </a:rPr>
              <a:t/>
            </a:r>
            <a:br>
              <a:rPr lang="en-US" b="0" i="0" dirty="0" smtClean="0">
                <a:effectLst/>
                <a:latin typeface="-apple-system"/>
              </a:rPr>
            </a:br>
            <a:r>
              <a:rPr lang="en-US" b="0" i="0" dirty="0" smtClean="0">
                <a:effectLst/>
                <a:latin typeface="-apple-system"/>
              </a:rPr>
              <a:t>Used for: Cellular, Wi-Fi, Bluetooth</a:t>
            </a:r>
            <a:br>
              <a:rPr lang="en-US" b="0" i="0" dirty="0" smtClean="0">
                <a:effectLst/>
                <a:latin typeface="-apple-system"/>
              </a:rPr>
            </a:br>
            <a:r>
              <a:rPr lang="en-US" b="0" i="0" dirty="0" smtClean="0">
                <a:effectLst/>
                <a:latin typeface="-apple-system"/>
              </a:rPr>
              <a:t>Companies: Qualcomm (modems), Apple (Wi-Fi/BT), others</a:t>
            </a:r>
            <a:br>
              <a:rPr lang="en-US" b="0" i="0" dirty="0" smtClean="0">
                <a:effectLst/>
                <a:latin typeface="-apple-system"/>
              </a:rPr>
            </a:br>
            <a:r>
              <a:rPr lang="en-US" b="0" i="0" dirty="0" smtClean="0">
                <a:effectLst/>
                <a:latin typeface="-apple-system"/>
              </a:rPr>
              <a:t/>
            </a:r>
            <a:br>
              <a:rPr lang="en-US" b="0" i="0" dirty="0" smtClean="0">
                <a:effectLst/>
                <a:latin typeface="-apple-system"/>
              </a:rPr>
            </a:br>
            <a:r>
              <a:rPr lang="en-US" b="0" i="0" dirty="0" smtClean="0">
                <a:effectLst/>
                <a:latin typeface="-apple-system"/>
              </a:rPr>
              <a:t>Fab types:</a:t>
            </a:r>
            <a:br>
              <a:rPr lang="en-US" b="0" i="0" dirty="0" smtClean="0">
                <a:effectLst/>
                <a:latin typeface="-apple-system"/>
              </a:rPr>
            </a:br>
            <a:r>
              <a:rPr lang="en-US" b="0" i="0" dirty="0" smtClean="0">
                <a:effectLst/>
                <a:latin typeface="-apple-system"/>
              </a:rPr>
              <a:t>RF CMOS</a:t>
            </a:r>
            <a:br>
              <a:rPr lang="en-US" b="0" i="0" dirty="0" smtClean="0">
                <a:effectLst/>
                <a:latin typeface="-apple-system"/>
              </a:rPr>
            </a:br>
            <a:r>
              <a:rPr lang="en-US" b="0" i="0" dirty="0" smtClean="0">
                <a:effectLst/>
                <a:latin typeface="-apple-system"/>
              </a:rPr>
              <a:t>RF SOI</a:t>
            </a:r>
            <a:br>
              <a:rPr lang="en-US" b="0" i="0" dirty="0" smtClean="0">
                <a:effectLst/>
                <a:latin typeface="-apple-system"/>
              </a:rPr>
            </a:br>
            <a:r>
              <a:rPr lang="en-US" b="0" i="0" dirty="0" smtClean="0">
                <a:effectLst/>
                <a:latin typeface="-apple-system"/>
              </a:rPr>
              <a:t>Foundries: TSMC, Samsung, </a:t>
            </a:r>
            <a:r>
              <a:rPr lang="en-US" b="0" i="0" dirty="0" err="1" smtClean="0">
                <a:effectLst/>
                <a:latin typeface="-apple-system"/>
              </a:rPr>
              <a:t>GlobalFoundries</a:t>
            </a:r>
            <a:r>
              <a:rPr lang="en-US" b="0" i="0" dirty="0" smtClean="0">
                <a:effectLst/>
                <a:latin typeface="-apple-system"/>
              </a:rPr>
              <a:t> (varies)</a:t>
            </a:r>
            <a:br>
              <a:rPr lang="en-US" b="0" i="0" dirty="0" smtClean="0">
                <a:effectLst/>
                <a:latin typeface="-apple-system"/>
              </a:rPr>
            </a:br>
            <a:r>
              <a:rPr lang="en-US" b="0" i="0" dirty="0" smtClean="0">
                <a:effectLst/>
                <a:latin typeface="-apple-system"/>
              </a:rPr>
              <a:t/>
            </a:r>
            <a:br>
              <a:rPr lang="en-US" b="0" i="0" dirty="0" smtClean="0">
                <a:effectLst/>
                <a:latin typeface="-apple-system"/>
              </a:rPr>
            </a:br>
            <a:r>
              <a:rPr lang="en-US" b="0" i="0" dirty="0" smtClean="0">
                <a:effectLst/>
                <a:latin typeface="-apple-system"/>
              </a:rPr>
              <a:t>7. Battery &amp; Non-Semiconductor (Not </a:t>
            </a:r>
            <a:r>
              <a:rPr lang="en-US" b="0" i="0" dirty="0" err="1" smtClean="0">
                <a:effectLst/>
                <a:latin typeface="-apple-system"/>
              </a:rPr>
              <a:t>Fabs</a:t>
            </a:r>
            <a:r>
              <a:rPr lang="en-US" b="0" i="0" dirty="0" smtClean="0">
                <a:effectLst/>
                <a:latin typeface="-apple-system"/>
              </a:rPr>
              <a:t>)</a:t>
            </a:r>
            <a:br>
              <a:rPr lang="en-US" b="0" i="0" dirty="0" smtClean="0">
                <a:effectLst/>
                <a:latin typeface="-apple-system"/>
              </a:rPr>
            </a:br>
            <a:r>
              <a:rPr lang="en-US" b="0" i="0" dirty="0" smtClean="0">
                <a:effectLst/>
                <a:latin typeface="-apple-system"/>
              </a:rPr>
              <a:t>Battery cells (TDK, </a:t>
            </a:r>
            <a:r>
              <a:rPr lang="en-US" b="0" i="0" dirty="0" err="1" smtClean="0">
                <a:effectLst/>
                <a:latin typeface="-apple-system"/>
              </a:rPr>
              <a:t>Sunwoda</a:t>
            </a:r>
            <a:r>
              <a:rPr lang="en-US" b="0" i="0" dirty="0" smtClean="0">
                <a:effectLst/>
                <a:latin typeface="-apple-system"/>
              </a:rPr>
              <a:t>, </a:t>
            </a:r>
            <a:r>
              <a:rPr lang="en-US" b="0" i="0" dirty="0" err="1" smtClean="0">
                <a:effectLst/>
                <a:latin typeface="-apple-system"/>
              </a:rPr>
              <a:t>Desay</a:t>
            </a:r>
            <a:r>
              <a:rPr lang="en-US" b="0" i="0" dirty="0" smtClean="0">
                <a:effectLst/>
                <a:latin typeface="-apple-system"/>
              </a:rPr>
              <a:t>) → chemical manufacturing</a:t>
            </a:r>
            <a:br>
              <a:rPr lang="en-US" b="0" i="0" dirty="0" smtClean="0">
                <a:effectLst/>
                <a:latin typeface="-apple-system"/>
              </a:rPr>
            </a:br>
            <a:r>
              <a:rPr lang="en-US" b="0" i="0" dirty="0" smtClean="0">
                <a:effectLst/>
                <a:latin typeface="-apple-system"/>
              </a:rPr>
              <a:t>Cover glass (Corning) → materials &amp; glass </a:t>
            </a:r>
            <a:r>
              <a:rPr lang="en-US" b="0" i="0" dirty="0" err="1" smtClean="0">
                <a:effectLst/>
                <a:latin typeface="-apple-system"/>
              </a:rPr>
              <a:t>fabs</a:t>
            </a:r>
            <a:r>
              <a:rPr lang="en-US" b="0" i="0" dirty="0" smtClean="0">
                <a:effectLst/>
                <a:latin typeface="-apple-system"/>
              </a:rPr>
              <a:t/>
            </a:r>
            <a:br>
              <a:rPr lang="en-US" b="0" i="0" dirty="0" smtClean="0">
                <a:effectLst/>
                <a:latin typeface="-apple-system"/>
              </a:rPr>
            </a:br>
            <a:r>
              <a:rPr lang="en-US" b="0" i="0" dirty="0" smtClean="0">
                <a:effectLst/>
                <a:latin typeface="-apple-system"/>
              </a:rPr>
              <a:t>Final assembly (Foxconn, </a:t>
            </a:r>
            <a:r>
              <a:rPr lang="en-US" b="0" i="0" dirty="0" err="1" smtClean="0">
                <a:effectLst/>
                <a:latin typeface="-apple-system"/>
              </a:rPr>
              <a:t>Pegatron</a:t>
            </a:r>
            <a:r>
              <a:rPr lang="en-US" b="0" i="0" dirty="0" smtClean="0">
                <a:effectLst/>
                <a:latin typeface="-apple-system"/>
              </a:rPr>
              <a:t>, </a:t>
            </a:r>
            <a:r>
              <a:rPr lang="en-US" b="0" i="0" dirty="0" err="1" smtClean="0">
                <a:effectLst/>
                <a:latin typeface="-apple-system"/>
              </a:rPr>
              <a:t>Luxshare</a:t>
            </a:r>
            <a:r>
              <a:rPr lang="en-US" b="0" i="0" dirty="0" smtClean="0">
                <a:effectLst/>
                <a:latin typeface="-apple-system"/>
              </a:rPr>
              <a:t>, Tata) → EMS factories</a:t>
            </a:r>
            <a:br>
              <a:rPr lang="en-US" b="0" i="0" dirty="0" smtClean="0">
                <a:effectLst/>
                <a:latin typeface="-apple-system"/>
              </a:rPr>
            </a:b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612808" y="1354559"/>
            <a:ext cx="6096000" cy="2123658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  <a:latin typeface="-apple-system"/>
              </a:rPr>
              <a:t>1. Advanced Logic (Foundry </a:t>
            </a:r>
            <a:r>
              <a:rPr lang="en-US" sz="2400" b="1" dirty="0" err="1">
                <a:solidFill>
                  <a:srgbClr val="FF0000"/>
                </a:solidFill>
                <a:latin typeface="-apple-system"/>
              </a:rPr>
              <a:t>Fabs</a:t>
            </a:r>
            <a:r>
              <a:rPr lang="en-US" sz="2400" b="1" dirty="0">
                <a:solidFill>
                  <a:srgbClr val="FF0000"/>
                </a:solidFill>
                <a:latin typeface="-apple-system"/>
              </a:rPr>
              <a:t>)</a:t>
            </a:r>
            <a:r>
              <a:rPr lang="en-US" dirty="0">
                <a:solidFill>
                  <a:prstClr val="black"/>
                </a:solidFill>
                <a:latin typeface="-apple-system"/>
              </a:rPr>
              <a:t/>
            </a:r>
            <a:br>
              <a:rPr lang="en-US" dirty="0">
                <a:solidFill>
                  <a:prstClr val="black"/>
                </a:solidFill>
                <a:latin typeface="-apple-system"/>
              </a:rPr>
            </a:br>
            <a:r>
              <a:rPr lang="en-US" dirty="0">
                <a:solidFill>
                  <a:prstClr val="black"/>
                </a:solidFill>
                <a:latin typeface="-apple-system"/>
              </a:rPr>
              <a:t/>
            </a:r>
            <a:br>
              <a:rPr lang="en-US" dirty="0">
                <a:solidFill>
                  <a:prstClr val="black"/>
                </a:solidFill>
                <a:latin typeface="-apple-system"/>
              </a:rPr>
            </a:br>
            <a:r>
              <a:rPr lang="en-US" dirty="0">
                <a:solidFill>
                  <a:prstClr val="black"/>
                </a:solidFill>
                <a:latin typeface="-apple-system"/>
              </a:rPr>
              <a:t>Used for: Application processors (A-series chips)</a:t>
            </a:r>
            <a:br>
              <a:rPr lang="en-US" dirty="0">
                <a:solidFill>
                  <a:prstClr val="black"/>
                </a:solidFill>
                <a:latin typeface="-apple-system"/>
              </a:rPr>
            </a:br>
            <a:r>
              <a:rPr lang="en-US" dirty="0">
                <a:solidFill>
                  <a:prstClr val="black"/>
                </a:solidFill>
                <a:latin typeface="-apple-system"/>
              </a:rPr>
              <a:t>Company: TSMC</a:t>
            </a:r>
            <a:br>
              <a:rPr lang="en-US" dirty="0">
                <a:solidFill>
                  <a:prstClr val="black"/>
                </a:solidFill>
                <a:latin typeface="-apple-system"/>
              </a:rPr>
            </a:br>
            <a:r>
              <a:rPr lang="en-US" dirty="0">
                <a:solidFill>
                  <a:prstClr val="black"/>
                </a:solidFill>
                <a:latin typeface="-apple-system"/>
              </a:rPr>
              <a:t>Fab type: Advanced logic foundry</a:t>
            </a:r>
            <a:br>
              <a:rPr lang="en-US" dirty="0">
                <a:solidFill>
                  <a:prstClr val="black"/>
                </a:solidFill>
                <a:latin typeface="-apple-system"/>
              </a:rPr>
            </a:br>
            <a:r>
              <a:rPr lang="en-US" dirty="0">
                <a:solidFill>
                  <a:prstClr val="black"/>
                </a:solidFill>
                <a:latin typeface="-apple-system"/>
              </a:rPr>
              <a:t>Nodes: ~3nm / 2nm-class (A19 / A19 Pro timeframe)</a:t>
            </a:r>
            <a:br>
              <a:rPr lang="en-US" dirty="0">
                <a:solidFill>
                  <a:prstClr val="black"/>
                </a:solidFill>
                <a:latin typeface="-apple-system"/>
              </a:rPr>
            </a:b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14940" y="3999372"/>
            <a:ext cx="6096000" cy="2123658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  <a:latin typeface="-apple-system"/>
              </a:rPr>
              <a:t>2</a:t>
            </a:r>
            <a:r>
              <a:rPr lang="en-US" sz="2400" b="1" i="0" dirty="0" smtClean="0">
                <a:solidFill>
                  <a:srgbClr val="FF0000"/>
                </a:solidFill>
                <a:effectLst/>
                <a:latin typeface="-apple-system"/>
              </a:rPr>
              <a:t>. Analog / Mixed-Signal </a:t>
            </a:r>
            <a:r>
              <a:rPr lang="en-US" sz="2400" b="1" i="0" dirty="0" err="1" smtClean="0">
                <a:solidFill>
                  <a:srgbClr val="FF0000"/>
                </a:solidFill>
                <a:effectLst/>
                <a:latin typeface="-apple-system"/>
              </a:rPr>
              <a:t>Fabs</a:t>
            </a:r>
            <a:endParaRPr lang="en-US" sz="2400" b="1" i="0" dirty="0" smtClean="0">
              <a:solidFill>
                <a:srgbClr val="FF0000"/>
              </a:solidFill>
              <a:effectLst/>
              <a:latin typeface="-apple-system"/>
            </a:endParaRPr>
          </a:p>
          <a:p>
            <a:pPr algn="ctr"/>
            <a:r>
              <a:rPr lang="en-US" b="0" i="0" dirty="0" smtClean="0">
                <a:effectLst/>
                <a:latin typeface="-apple-system"/>
              </a:rPr>
              <a:t/>
            </a:r>
            <a:br>
              <a:rPr lang="en-US" b="0" i="0" dirty="0" smtClean="0">
                <a:effectLst/>
                <a:latin typeface="-apple-system"/>
              </a:rPr>
            </a:br>
            <a:r>
              <a:rPr lang="en-US" b="0" i="0" dirty="0" smtClean="0">
                <a:effectLst/>
                <a:latin typeface="-apple-system"/>
              </a:rPr>
              <a:t>Used for: Audio, power management, haptics, sensors</a:t>
            </a:r>
            <a:br>
              <a:rPr lang="en-US" b="0" i="0" dirty="0" smtClean="0">
                <a:effectLst/>
                <a:latin typeface="-apple-system"/>
              </a:rPr>
            </a:br>
            <a:r>
              <a:rPr lang="en-US" b="0" i="0" dirty="0" smtClean="0">
                <a:effectLst/>
                <a:latin typeface="-apple-system"/>
              </a:rPr>
              <a:t>Companies: Cirrus Logic, Bosch, Asahi Kasei</a:t>
            </a:r>
          </a:p>
          <a:p>
            <a:pPr algn="ctr"/>
            <a:r>
              <a:rPr lang="en-US" b="0" i="0" dirty="0" smtClean="0">
                <a:effectLst/>
                <a:latin typeface="-apple-system"/>
              </a:rPr>
              <a:t/>
            </a:r>
            <a:br>
              <a:rPr lang="en-US" b="0" i="0" dirty="0" smtClean="0">
                <a:effectLst/>
                <a:latin typeface="-apple-system"/>
              </a:rPr>
            </a:br>
            <a:r>
              <a:rPr lang="en-US" b="0" i="0" dirty="0" smtClean="0">
                <a:effectLst/>
                <a:latin typeface="-apple-system"/>
              </a:rPr>
              <a:t>Fab type: Analog / MEMS / mixed-signal </a:t>
            </a:r>
            <a:r>
              <a:rPr lang="en-US" b="0" i="0" dirty="0" err="1" smtClean="0">
                <a:effectLst/>
                <a:latin typeface="-apple-system"/>
              </a:rPr>
              <a:t>fabs</a:t>
            </a:r>
            <a:r>
              <a:rPr lang="en-US" b="0" i="0" dirty="0" smtClean="0">
                <a:effectLst/>
                <a:latin typeface="-apple-system"/>
              </a:rPr>
              <a:t/>
            </a:r>
            <a:br>
              <a:rPr lang="en-US" b="0" i="0" dirty="0" smtClean="0">
                <a:effectLst/>
                <a:latin typeface="-apple-system"/>
              </a:rPr>
            </a:br>
            <a:r>
              <a:rPr lang="en-US" b="0" i="0" dirty="0" smtClean="0">
                <a:effectLst/>
                <a:latin typeface="-apple-system"/>
              </a:rPr>
              <a:t>Nodes: Older, stable nodes (90nm–180nm+)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312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775585">
              <a:lnSpc>
                <a:spcPct val="100000"/>
              </a:lnSpc>
              <a:spcBef>
                <a:spcPts val="105"/>
              </a:spcBef>
            </a:pPr>
            <a:r>
              <a:rPr dirty="0"/>
              <a:t>And</a:t>
            </a:r>
            <a:r>
              <a:rPr spc="-210" dirty="0"/>
              <a:t> </a:t>
            </a:r>
            <a:r>
              <a:rPr dirty="0"/>
              <a:t>May</a:t>
            </a:r>
            <a:r>
              <a:rPr spc="-175" dirty="0"/>
              <a:t> </a:t>
            </a:r>
            <a:r>
              <a:rPr spc="-25" dirty="0"/>
              <a:t>Become</a:t>
            </a:r>
            <a:r>
              <a:rPr spc="-210" dirty="0"/>
              <a:t> </a:t>
            </a:r>
            <a:r>
              <a:rPr dirty="0"/>
              <a:t>Inside</a:t>
            </a:r>
            <a:r>
              <a:rPr spc="-195" dirty="0"/>
              <a:t> </a:t>
            </a:r>
            <a:r>
              <a:rPr spc="-25" dirty="0"/>
              <a:t>Us!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74876" y="1039367"/>
            <a:ext cx="8842248" cy="531266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484779" y="77639"/>
            <a:ext cx="573954" cy="57850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01:</a:t>
            </a:r>
            <a:r>
              <a:rPr kumimoji="0" sz="1400" b="1" i="0" u="none" strike="noStrike" kern="0" cap="none" spc="-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1" i="0" u="none" strike="noStrike" kern="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Introduction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61135" marR="0" lvl="0" indent="0" defTabSz="91440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400" b="1" i="0" u="none" strike="noStrike" kern="0" cap="none" spc="-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pPr marL="1461135" marR="0" lvl="0" indent="0" defTabSz="914400" eaLnBrk="1" fontAlgn="auto" latinLnBrk="0" hangingPunct="1">
                <a:lnSpc>
                  <a:spcPts val="143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sz="1400" b="1" i="0" u="none" strike="noStrike" kern="0" cap="none" spc="-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31093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664585">
              <a:lnSpc>
                <a:spcPct val="100000"/>
              </a:lnSpc>
              <a:spcBef>
                <a:spcPts val="105"/>
              </a:spcBef>
            </a:pPr>
            <a:r>
              <a:rPr spc="-30" dirty="0"/>
              <a:t>Transistor</a:t>
            </a:r>
            <a:r>
              <a:rPr spc="-170" dirty="0"/>
              <a:t> </a:t>
            </a:r>
            <a:r>
              <a:rPr spc="-20" dirty="0"/>
              <a:t>Evolution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404862" y="1918710"/>
            <a:ext cx="4504055" cy="2696210"/>
            <a:chOff x="2404862" y="1918710"/>
            <a:chExt cx="4504055" cy="269621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04862" y="1918710"/>
              <a:ext cx="4503447" cy="269596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38399" y="1929383"/>
              <a:ext cx="4450080" cy="263347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90799" y="2065019"/>
              <a:ext cx="2770631" cy="2354579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2226055" y="4890592"/>
            <a:ext cx="371157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ts val="287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First</a:t>
            </a:r>
            <a:r>
              <a:rPr kumimoji="0" sz="2400" b="0" i="0" u="none" strike="noStrike" kern="0" cap="none" spc="-9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transistor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065" marR="5080" lvl="0" indent="0" algn="ctr" defTabSz="914400" eaLnBrk="1" fontAlgn="auto" latinLnBrk="0" hangingPunct="1">
              <a:lnSpc>
                <a:spcPts val="2900"/>
              </a:lnSpc>
              <a:spcBef>
                <a:spcPts val="7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Contacts</a:t>
            </a:r>
            <a:r>
              <a:rPr kumimoji="0" sz="2400" b="0" i="0" u="none" strike="noStrike" kern="0" cap="none" spc="-8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separation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Yu Gothic Medium"/>
                <a:cs typeface="Yu Gothic Medium"/>
              </a:rPr>
              <a:t>≈</a:t>
            </a:r>
            <a:r>
              <a:rPr kumimoji="0" sz="2400" b="0" i="0" u="none" strike="noStrike" kern="0" cap="none" spc="-1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Yu Gothic Medium"/>
                <a:cs typeface="Yu Gothic Medium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100µm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Bell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Labs,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1947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420102" y="4890592"/>
            <a:ext cx="213931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lvl="0" indent="0" algn="ctr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Trigate</a:t>
            </a:r>
            <a:r>
              <a:rPr kumimoji="0" sz="2400" b="0" i="0" u="none" strike="noStrike" kern="0" cap="none" spc="-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Transistor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Fin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width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Yu Gothic Medium"/>
                <a:cs typeface="Yu Gothic Medium"/>
              </a:rPr>
              <a:t>≈</a:t>
            </a:r>
            <a:r>
              <a:rPr kumimoji="0" sz="2400" b="0" i="0" u="none" strike="noStrike" kern="0" cap="none" spc="-1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Yu Gothic Medium"/>
                <a:cs typeface="Yu Gothic Medium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8nm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Intel,</a:t>
            </a:r>
            <a:r>
              <a:rPr kumimoji="0" sz="2400" b="0" i="0" u="none" strike="noStrike" kern="0" cap="none" spc="-9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2015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345680" y="1708404"/>
            <a:ext cx="2284476" cy="2854452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01:</a:t>
            </a:r>
            <a:r>
              <a:rPr kumimoji="0" sz="1400" b="1" i="0" u="none" strike="noStrike" kern="0" cap="none" spc="-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1" i="0" u="none" strike="noStrike" kern="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Introduction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61135" marR="0" lvl="0" indent="0" defTabSz="91440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400" b="1" i="0" u="none" strike="noStrike" kern="0" cap="none" spc="-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pPr marL="1461135" marR="0" lvl="0" indent="0" defTabSz="914400" eaLnBrk="1" fontAlgn="auto" latinLnBrk="0" hangingPunct="1">
                <a:lnSpc>
                  <a:spcPts val="143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sz="1400" b="1" i="0" u="none" strike="noStrike" kern="0" cap="none" spc="-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89187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54857" y="-3860"/>
            <a:ext cx="608838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0" dirty="0"/>
              <a:t>Integrated</a:t>
            </a:r>
            <a:r>
              <a:rPr spc="-190" dirty="0"/>
              <a:t> </a:t>
            </a:r>
            <a:r>
              <a:rPr spc="-20" dirty="0"/>
              <a:t>Circuit</a:t>
            </a:r>
            <a:r>
              <a:rPr spc="-165" dirty="0"/>
              <a:t> </a:t>
            </a:r>
            <a:r>
              <a:rPr spc="-10" dirty="0"/>
              <a:t>Evolution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61863" y="1676371"/>
            <a:ext cx="4878705" cy="2871470"/>
            <a:chOff x="1261863" y="1676371"/>
            <a:chExt cx="4878705" cy="287147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61863" y="1676371"/>
              <a:ext cx="4878349" cy="287127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95399" y="1687067"/>
              <a:ext cx="4824984" cy="280873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17904" y="1847087"/>
              <a:ext cx="3593591" cy="252069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21536" y="1969020"/>
              <a:ext cx="3425952" cy="39927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823465" y="2071750"/>
              <a:ext cx="3026410" cy="158750"/>
            </a:xfrm>
            <a:custGeom>
              <a:avLst/>
              <a:gdLst/>
              <a:ahLst/>
              <a:cxnLst/>
              <a:rect l="l" t="t" r="r" b="b"/>
              <a:pathLst>
                <a:path w="3026410" h="158750">
                  <a:moveTo>
                    <a:pt x="158750" y="0"/>
                  </a:moveTo>
                  <a:lnTo>
                    <a:pt x="0" y="79375"/>
                  </a:lnTo>
                  <a:lnTo>
                    <a:pt x="158750" y="158750"/>
                  </a:lnTo>
                  <a:lnTo>
                    <a:pt x="107950" y="95250"/>
                  </a:lnTo>
                  <a:lnTo>
                    <a:pt x="95250" y="95250"/>
                  </a:lnTo>
                  <a:lnTo>
                    <a:pt x="95250" y="63500"/>
                  </a:lnTo>
                  <a:lnTo>
                    <a:pt x="107950" y="63500"/>
                  </a:lnTo>
                  <a:lnTo>
                    <a:pt x="158750" y="0"/>
                  </a:lnTo>
                  <a:close/>
                </a:path>
                <a:path w="3026410" h="158750">
                  <a:moveTo>
                    <a:pt x="2930651" y="79375"/>
                  </a:moveTo>
                  <a:lnTo>
                    <a:pt x="2867151" y="158750"/>
                  </a:lnTo>
                  <a:lnTo>
                    <a:pt x="2994151" y="95250"/>
                  </a:lnTo>
                  <a:lnTo>
                    <a:pt x="2930651" y="95250"/>
                  </a:lnTo>
                  <a:lnTo>
                    <a:pt x="2930651" y="79375"/>
                  </a:lnTo>
                  <a:close/>
                </a:path>
                <a:path w="3026410" h="158750">
                  <a:moveTo>
                    <a:pt x="95250" y="79375"/>
                  </a:moveTo>
                  <a:lnTo>
                    <a:pt x="95250" y="95250"/>
                  </a:lnTo>
                  <a:lnTo>
                    <a:pt x="107950" y="95250"/>
                  </a:lnTo>
                  <a:lnTo>
                    <a:pt x="95250" y="79375"/>
                  </a:lnTo>
                  <a:close/>
                </a:path>
                <a:path w="3026410" h="158750">
                  <a:moveTo>
                    <a:pt x="2917951" y="63500"/>
                  </a:moveTo>
                  <a:lnTo>
                    <a:pt x="107950" y="63500"/>
                  </a:lnTo>
                  <a:lnTo>
                    <a:pt x="95250" y="79375"/>
                  </a:lnTo>
                  <a:lnTo>
                    <a:pt x="107950" y="95250"/>
                  </a:lnTo>
                  <a:lnTo>
                    <a:pt x="2917951" y="95250"/>
                  </a:lnTo>
                  <a:lnTo>
                    <a:pt x="2930651" y="79375"/>
                  </a:lnTo>
                  <a:lnTo>
                    <a:pt x="2917951" y="63500"/>
                  </a:lnTo>
                  <a:close/>
                </a:path>
                <a:path w="3026410" h="158750">
                  <a:moveTo>
                    <a:pt x="2994151" y="63500"/>
                  </a:moveTo>
                  <a:lnTo>
                    <a:pt x="2930651" y="63500"/>
                  </a:lnTo>
                  <a:lnTo>
                    <a:pt x="2930651" y="95250"/>
                  </a:lnTo>
                  <a:lnTo>
                    <a:pt x="2994151" y="95250"/>
                  </a:lnTo>
                  <a:lnTo>
                    <a:pt x="3025901" y="79375"/>
                  </a:lnTo>
                  <a:lnTo>
                    <a:pt x="2994151" y="63500"/>
                  </a:lnTo>
                  <a:close/>
                </a:path>
                <a:path w="3026410" h="158750">
                  <a:moveTo>
                    <a:pt x="107950" y="63500"/>
                  </a:moveTo>
                  <a:lnTo>
                    <a:pt x="95250" y="63500"/>
                  </a:lnTo>
                  <a:lnTo>
                    <a:pt x="95250" y="79375"/>
                  </a:lnTo>
                  <a:lnTo>
                    <a:pt x="107950" y="63500"/>
                  </a:lnTo>
                  <a:close/>
                </a:path>
                <a:path w="3026410" h="158750">
                  <a:moveTo>
                    <a:pt x="2867151" y="0"/>
                  </a:moveTo>
                  <a:lnTo>
                    <a:pt x="2930651" y="79375"/>
                  </a:lnTo>
                  <a:lnTo>
                    <a:pt x="2930651" y="63500"/>
                  </a:lnTo>
                  <a:lnTo>
                    <a:pt x="2994151" y="63500"/>
                  </a:lnTo>
                  <a:lnTo>
                    <a:pt x="286715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526539" y="4890592"/>
            <a:ext cx="3573779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First</a:t>
            </a:r>
            <a:r>
              <a:rPr kumimoji="0" sz="2400" b="0" i="0" u="none" strike="noStrike" kern="0" cap="none" spc="-9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IC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5080" lvl="0" indent="0" algn="ctr" defTabSz="91440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Only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one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transistor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(+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+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C)! 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Texas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Instruments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(TI),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1958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549895" y="4890592"/>
            <a:ext cx="216979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8580" marR="0" lvl="0" indent="0" algn="ctr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Quad-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core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CPU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&gt;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10</a:t>
            </a:r>
            <a:r>
              <a:rPr kumimoji="0" sz="2400" b="0" i="0" u="none" strike="noStrike" kern="0" cap="none" spc="0" normalizeH="0" baseline="24305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9</a:t>
            </a:r>
            <a:r>
              <a:rPr kumimoji="0" sz="2400" b="0" i="0" u="none" strike="noStrike" kern="0" cap="none" spc="232" normalizeH="0" baseline="24305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transistors!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Intel,</a:t>
            </a:r>
            <a:r>
              <a:rPr kumimoji="0" sz="2400" b="0" i="0" u="none" strike="noStrike" kern="0" cap="none" spc="-9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2017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757297" y="1783842"/>
            <a:ext cx="94996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Yu Gothic Medium"/>
                <a:cs typeface="Yu Gothic Medium"/>
              </a:rPr>
              <a:t>≈</a:t>
            </a:r>
            <a:r>
              <a:rPr kumimoji="0" sz="20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Yu Gothic Medium"/>
                <a:cs typeface="Yu Gothic Medium"/>
              </a:rPr>
              <a:t> </a:t>
            </a:r>
            <a:r>
              <a:rPr kumimoji="0" sz="2000" b="1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11mm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382225" y="1453007"/>
            <a:ext cx="4510405" cy="3178810"/>
            <a:chOff x="6382225" y="1453007"/>
            <a:chExt cx="4510405" cy="3178810"/>
          </a:xfrm>
        </p:grpSpPr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382225" y="1459170"/>
              <a:ext cx="4510073" cy="181488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6401561" y="1453007"/>
              <a:ext cx="4467225" cy="158750"/>
            </a:xfrm>
            <a:custGeom>
              <a:avLst/>
              <a:gdLst/>
              <a:ahLst/>
              <a:cxnLst/>
              <a:rect l="l" t="t" r="r" b="b"/>
              <a:pathLst>
                <a:path w="4467225" h="158750">
                  <a:moveTo>
                    <a:pt x="158749" y="0"/>
                  </a:moveTo>
                  <a:lnTo>
                    <a:pt x="0" y="79375"/>
                  </a:lnTo>
                  <a:lnTo>
                    <a:pt x="158749" y="158750"/>
                  </a:lnTo>
                  <a:lnTo>
                    <a:pt x="107949" y="95250"/>
                  </a:lnTo>
                  <a:lnTo>
                    <a:pt x="95250" y="95250"/>
                  </a:lnTo>
                  <a:lnTo>
                    <a:pt x="95250" y="63500"/>
                  </a:lnTo>
                  <a:lnTo>
                    <a:pt x="107949" y="63500"/>
                  </a:lnTo>
                  <a:lnTo>
                    <a:pt x="158749" y="0"/>
                  </a:lnTo>
                  <a:close/>
                </a:path>
                <a:path w="4467225" h="158750">
                  <a:moveTo>
                    <a:pt x="4371594" y="79375"/>
                  </a:moveTo>
                  <a:lnTo>
                    <a:pt x="4308094" y="158750"/>
                  </a:lnTo>
                  <a:lnTo>
                    <a:pt x="4435094" y="95250"/>
                  </a:lnTo>
                  <a:lnTo>
                    <a:pt x="4371594" y="95250"/>
                  </a:lnTo>
                  <a:lnTo>
                    <a:pt x="4371594" y="79375"/>
                  </a:lnTo>
                  <a:close/>
                </a:path>
                <a:path w="4467225" h="158750">
                  <a:moveTo>
                    <a:pt x="95250" y="79375"/>
                  </a:moveTo>
                  <a:lnTo>
                    <a:pt x="95250" y="95250"/>
                  </a:lnTo>
                  <a:lnTo>
                    <a:pt x="107949" y="95250"/>
                  </a:lnTo>
                  <a:lnTo>
                    <a:pt x="95250" y="79375"/>
                  </a:lnTo>
                  <a:close/>
                </a:path>
                <a:path w="4467225" h="158750">
                  <a:moveTo>
                    <a:pt x="4358894" y="63500"/>
                  </a:moveTo>
                  <a:lnTo>
                    <a:pt x="107949" y="63500"/>
                  </a:lnTo>
                  <a:lnTo>
                    <a:pt x="95250" y="79375"/>
                  </a:lnTo>
                  <a:lnTo>
                    <a:pt x="107949" y="95250"/>
                  </a:lnTo>
                  <a:lnTo>
                    <a:pt x="4358894" y="95250"/>
                  </a:lnTo>
                  <a:lnTo>
                    <a:pt x="4371594" y="79375"/>
                  </a:lnTo>
                  <a:lnTo>
                    <a:pt x="4358894" y="63500"/>
                  </a:lnTo>
                  <a:close/>
                </a:path>
                <a:path w="4467225" h="158750">
                  <a:moveTo>
                    <a:pt x="4435094" y="63500"/>
                  </a:moveTo>
                  <a:lnTo>
                    <a:pt x="4371594" y="63500"/>
                  </a:lnTo>
                  <a:lnTo>
                    <a:pt x="4371594" y="95250"/>
                  </a:lnTo>
                  <a:lnTo>
                    <a:pt x="4435094" y="95250"/>
                  </a:lnTo>
                  <a:lnTo>
                    <a:pt x="4466844" y="79375"/>
                  </a:lnTo>
                  <a:lnTo>
                    <a:pt x="4435094" y="63500"/>
                  </a:lnTo>
                  <a:close/>
                </a:path>
                <a:path w="4467225" h="158750">
                  <a:moveTo>
                    <a:pt x="107949" y="63500"/>
                  </a:moveTo>
                  <a:lnTo>
                    <a:pt x="95250" y="63500"/>
                  </a:lnTo>
                  <a:lnTo>
                    <a:pt x="95250" y="79375"/>
                  </a:lnTo>
                  <a:lnTo>
                    <a:pt x="107949" y="63500"/>
                  </a:lnTo>
                  <a:close/>
                </a:path>
                <a:path w="4467225" h="158750">
                  <a:moveTo>
                    <a:pt x="4308094" y="0"/>
                  </a:moveTo>
                  <a:lnTo>
                    <a:pt x="4371594" y="79375"/>
                  </a:lnTo>
                  <a:lnTo>
                    <a:pt x="4371594" y="63500"/>
                  </a:lnTo>
                  <a:lnTo>
                    <a:pt x="4435094" y="63500"/>
                  </a:lnTo>
                  <a:lnTo>
                    <a:pt x="430809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400799" y="1662684"/>
              <a:ext cx="4466844" cy="2968752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8236966" y="1208277"/>
            <a:ext cx="114808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Yu Gothic Medium"/>
                <a:cs typeface="Yu Gothic Medium"/>
              </a:rPr>
              <a:t>≈</a:t>
            </a:r>
            <a:r>
              <a:rPr kumimoji="0" sz="20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Yu Gothic Medium"/>
                <a:cs typeface="Yu Gothic Medium"/>
              </a:rPr>
              <a:t> </a:t>
            </a:r>
            <a:r>
              <a:rPr kumimoji="0" sz="20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13.5mm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01:</a:t>
            </a:r>
            <a:r>
              <a:rPr kumimoji="0" sz="1400" b="1" i="0" u="none" strike="noStrike" kern="0" cap="none" spc="-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1" i="0" u="none" strike="noStrike" kern="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Introduction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61135" marR="0" lvl="0" indent="0" defTabSz="91440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400" b="1" i="0" u="none" strike="noStrike" kern="0" cap="none" spc="-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pPr marL="1461135" marR="0" lvl="0" indent="0" defTabSz="914400" eaLnBrk="1" fontAlgn="auto" latinLnBrk="0" hangingPunct="1">
                <a:lnSpc>
                  <a:spcPts val="143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sz="1400" b="1" i="0" u="none" strike="noStrike" kern="0" cap="none" spc="-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37013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441825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Moore’s</a:t>
            </a:r>
            <a:r>
              <a:rPr spc="-185" dirty="0"/>
              <a:t> </a:t>
            </a:r>
            <a:r>
              <a:rPr spc="-25" dirty="0"/>
              <a:t>Law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0238" y="854710"/>
            <a:ext cx="8046720" cy="134239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467995" marR="0" lvl="0" indent="-455295" defTabSz="914400" eaLnBrk="1" fontAlgn="auto" latinLnBrk="0" hangingPunct="1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Tx/>
              <a:buSzTx/>
              <a:buFont typeface="Wingdings"/>
              <a:buChar char=""/>
              <a:tabLst>
                <a:tab pos="467995" algn="l"/>
              </a:tabLst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Moore’s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law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[1965]: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Transistor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count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doubles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every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1.5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years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467995" marR="0" lvl="0" indent="-455295" defTabSz="914400" eaLnBrk="1" fontAlgn="auto" latinLnBrk="0" hangingPunct="1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Tx/>
              <a:buSzTx/>
              <a:buFont typeface="Wingdings"/>
              <a:buChar char=""/>
              <a:tabLst>
                <a:tab pos="467995" algn="l"/>
              </a:tabLst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Practically:</a:t>
            </a:r>
            <a:r>
              <a:rPr kumimoji="0" sz="2400" b="0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It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doubled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every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2-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3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years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since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4004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[1970s]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467995" marR="0" lvl="0" indent="-455295" defTabSz="914400" eaLnBrk="1" fontAlgn="auto" latinLnBrk="0" hangingPunct="1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Tx/>
              <a:buSzTx/>
              <a:buFont typeface="Wingdings"/>
              <a:buChar char=""/>
              <a:tabLst>
                <a:tab pos="467995" algn="l"/>
              </a:tabLst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At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end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day: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It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sz="2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exponential!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69463" y="2777836"/>
            <a:ext cx="8822460" cy="3732068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01:</a:t>
            </a:r>
            <a:r>
              <a:rPr kumimoji="0" sz="1400" b="1" i="0" u="none" strike="noStrike" kern="0" cap="none" spc="-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1" i="0" u="none" strike="noStrike" kern="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Introduction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963657" y="6617081"/>
            <a:ext cx="1819910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[Weste</a:t>
            </a:r>
            <a:r>
              <a:rPr kumimoji="0" sz="1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sz="1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Harris,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2010]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61135" marR="0" lvl="0" indent="0" defTabSz="91440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400" b="1" i="0" u="none" strike="noStrike" kern="0" cap="none" spc="-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pPr marL="1461135" marR="0" lvl="0" indent="0" defTabSz="914400" eaLnBrk="1" fontAlgn="auto" latinLnBrk="0" hangingPunct="1">
                <a:lnSpc>
                  <a:spcPts val="143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sz="1400" b="1" i="0" u="none" strike="noStrike" kern="0" cap="none" spc="-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57273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6545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Moore’s</a:t>
            </a:r>
            <a:r>
              <a:rPr spc="-185" dirty="0"/>
              <a:t> </a:t>
            </a:r>
            <a:r>
              <a:rPr spc="-25" dirty="0"/>
              <a:t>Law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73363" y="1649196"/>
            <a:ext cx="4368488" cy="2456442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467995" indent="-455295" algn="just">
              <a:lnSpc>
                <a:spcPct val="100000"/>
              </a:lnSpc>
              <a:spcBef>
                <a:spcPts val="675"/>
              </a:spcBef>
              <a:buFont typeface="Wingdings"/>
              <a:buChar char=""/>
              <a:tabLst>
                <a:tab pos="467995" algn="l"/>
              </a:tabLst>
            </a:pPr>
            <a:r>
              <a:rPr sz="2400" dirty="0">
                <a:latin typeface="Calibri"/>
                <a:cs typeface="Calibri"/>
              </a:rPr>
              <a:t>Moore’s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law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[1965]: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Transistor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count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doubles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every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year</a:t>
            </a:r>
            <a:endParaRPr sz="2400" dirty="0">
              <a:latin typeface="Calibri"/>
              <a:cs typeface="Calibri"/>
            </a:endParaRPr>
          </a:p>
          <a:p>
            <a:pPr marL="467995" indent="-455295" algn="just">
              <a:lnSpc>
                <a:spcPct val="100000"/>
              </a:lnSpc>
              <a:spcBef>
                <a:spcPts val="575"/>
              </a:spcBef>
              <a:buFont typeface="Wingdings"/>
              <a:buChar char=""/>
              <a:tabLst>
                <a:tab pos="467995" algn="l"/>
              </a:tabLst>
            </a:pPr>
            <a:r>
              <a:rPr sz="2400" dirty="0">
                <a:latin typeface="Calibri"/>
                <a:cs typeface="Calibri"/>
              </a:rPr>
              <a:t>Practically: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doubled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every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2-</a:t>
            </a:r>
            <a:r>
              <a:rPr sz="2400" dirty="0">
                <a:latin typeface="Calibri"/>
                <a:cs typeface="Calibri"/>
              </a:rPr>
              <a:t>3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years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since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4004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[1970s]</a:t>
            </a:r>
            <a:endParaRPr sz="2400" dirty="0">
              <a:latin typeface="Calibri"/>
              <a:cs typeface="Calibri"/>
            </a:endParaRPr>
          </a:p>
          <a:p>
            <a:pPr marL="467995" indent="-455295" algn="just">
              <a:lnSpc>
                <a:spcPct val="100000"/>
              </a:lnSpc>
              <a:spcBef>
                <a:spcPts val="575"/>
              </a:spcBef>
              <a:buFont typeface="Wingdings"/>
              <a:buChar char=""/>
              <a:tabLst>
                <a:tab pos="467995" algn="l"/>
              </a:tabLst>
            </a:pPr>
            <a:r>
              <a:rPr sz="2400" dirty="0">
                <a:latin typeface="Calibri"/>
                <a:cs typeface="Calibri"/>
              </a:rPr>
              <a:t>At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end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day: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exponential!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635">
              <a:lnSpc>
                <a:spcPts val="1435"/>
              </a:lnSpc>
            </a:pPr>
            <a:fld id="{81D60167-4931-47E6-BA6A-407CBD079E47}" type="slidenum">
              <a:rPr spc="-50" dirty="0"/>
              <a:t>13</a:t>
            </a:fld>
            <a:endParaRPr spc="-5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2990" y="1083554"/>
            <a:ext cx="7279010" cy="5385492"/>
          </a:xfrm>
          <a:prstGeom prst="rect">
            <a:avLst/>
          </a:prstGeom>
        </p:spPr>
      </p:pic>
      <p:sp>
        <p:nvSpPr>
          <p:cNvPr id="10" name="Footer Placeholder 1"/>
          <p:cNvSpPr>
            <a:spLocks noGrp="1"/>
          </p:cNvSpPr>
          <p:nvPr>
            <p:ph type="ftr" sz="quarter" idx="4294967295"/>
          </p:nvPr>
        </p:nvSpPr>
        <p:spPr>
          <a:xfrm>
            <a:off x="4025900" y="6546850"/>
            <a:ext cx="4114800" cy="365125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dirty="0" smtClean="0"/>
              <a:t>Neeraj Mishra Microelectronics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11239500" y="1187450"/>
            <a:ext cx="952500" cy="90170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812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6545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Moore’s</a:t>
            </a:r>
            <a:r>
              <a:rPr spc="-185" dirty="0"/>
              <a:t> </a:t>
            </a:r>
            <a:r>
              <a:rPr spc="-25" dirty="0"/>
              <a:t>Law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73363" y="1649196"/>
            <a:ext cx="4368488" cy="2456442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467995" indent="-455295" algn="just">
              <a:lnSpc>
                <a:spcPct val="100000"/>
              </a:lnSpc>
              <a:spcBef>
                <a:spcPts val="675"/>
              </a:spcBef>
              <a:buFont typeface="Wingdings"/>
              <a:buChar char=""/>
              <a:tabLst>
                <a:tab pos="467995" algn="l"/>
              </a:tabLst>
            </a:pPr>
            <a:r>
              <a:rPr sz="2400" dirty="0">
                <a:latin typeface="Calibri"/>
                <a:cs typeface="Calibri"/>
              </a:rPr>
              <a:t>Moore’s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law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[1965]: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Transistor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count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doubles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every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year</a:t>
            </a:r>
            <a:endParaRPr sz="2400" dirty="0">
              <a:latin typeface="Calibri"/>
              <a:cs typeface="Calibri"/>
            </a:endParaRPr>
          </a:p>
          <a:p>
            <a:pPr marL="467995" indent="-455295" algn="just">
              <a:lnSpc>
                <a:spcPct val="100000"/>
              </a:lnSpc>
              <a:spcBef>
                <a:spcPts val="575"/>
              </a:spcBef>
              <a:buFont typeface="Wingdings"/>
              <a:buChar char=""/>
              <a:tabLst>
                <a:tab pos="467995" algn="l"/>
              </a:tabLst>
            </a:pPr>
            <a:r>
              <a:rPr sz="2400" dirty="0">
                <a:latin typeface="Calibri"/>
                <a:cs typeface="Calibri"/>
              </a:rPr>
              <a:t>Practically: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doubled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every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2-</a:t>
            </a:r>
            <a:r>
              <a:rPr sz="2400" dirty="0">
                <a:latin typeface="Calibri"/>
                <a:cs typeface="Calibri"/>
              </a:rPr>
              <a:t>3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years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since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4004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[1970s]</a:t>
            </a:r>
            <a:endParaRPr sz="2400" dirty="0">
              <a:latin typeface="Calibri"/>
              <a:cs typeface="Calibri"/>
            </a:endParaRPr>
          </a:p>
          <a:p>
            <a:pPr marL="467995" indent="-455295" algn="just">
              <a:lnSpc>
                <a:spcPct val="100000"/>
              </a:lnSpc>
              <a:spcBef>
                <a:spcPts val="575"/>
              </a:spcBef>
              <a:buFont typeface="Wingdings"/>
              <a:buChar char=""/>
              <a:tabLst>
                <a:tab pos="467995" algn="l"/>
              </a:tabLst>
            </a:pPr>
            <a:r>
              <a:rPr sz="2400" dirty="0">
                <a:latin typeface="Calibri"/>
                <a:cs typeface="Calibri"/>
              </a:rPr>
              <a:t>At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end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day: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exponential!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635">
              <a:lnSpc>
                <a:spcPts val="1435"/>
              </a:lnSpc>
            </a:pPr>
            <a:fld id="{81D60167-4931-47E6-BA6A-407CBD079E47}" type="slidenum">
              <a:rPr spc="-50" dirty="0"/>
              <a:t>14</a:t>
            </a:fld>
            <a:endParaRPr spc="-5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2990" y="1083554"/>
            <a:ext cx="7279010" cy="5385492"/>
          </a:xfrm>
          <a:prstGeom prst="rect">
            <a:avLst/>
          </a:prstGeom>
        </p:spPr>
      </p:pic>
      <p:sp>
        <p:nvSpPr>
          <p:cNvPr id="10" name="Footer Placeholder 1"/>
          <p:cNvSpPr>
            <a:spLocks noGrp="1"/>
          </p:cNvSpPr>
          <p:nvPr>
            <p:ph type="ftr" sz="quarter" idx="4294967295"/>
          </p:nvPr>
        </p:nvSpPr>
        <p:spPr>
          <a:xfrm>
            <a:off x="4025900" y="6546850"/>
            <a:ext cx="4114800" cy="365125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dirty="0" smtClean="0"/>
              <a:t>Neeraj Mishra Microelectronics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11239500" y="1187450"/>
            <a:ext cx="952500" cy="90170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135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599565">
              <a:lnSpc>
                <a:spcPct val="100000"/>
              </a:lnSpc>
              <a:spcBef>
                <a:spcPts val="105"/>
              </a:spcBef>
            </a:pPr>
            <a:r>
              <a:rPr dirty="0"/>
              <a:t>The</a:t>
            </a:r>
            <a:r>
              <a:rPr spc="-175" dirty="0"/>
              <a:t> </a:t>
            </a:r>
            <a:r>
              <a:rPr dirty="0"/>
              <a:t>End</a:t>
            </a:r>
            <a:r>
              <a:rPr spc="-185" dirty="0"/>
              <a:t> </a:t>
            </a:r>
            <a:r>
              <a:rPr dirty="0"/>
              <a:t>of</a:t>
            </a:r>
            <a:r>
              <a:rPr spc="-150" dirty="0"/>
              <a:t> </a:t>
            </a:r>
            <a:r>
              <a:rPr spc="-20" dirty="0"/>
              <a:t>Moore’s</a:t>
            </a:r>
            <a:r>
              <a:rPr spc="-160" dirty="0"/>
              <a:t> </a:t>
            </a:r>
            <a:r>
              <a:rPr spc="-20" dirty="0"/>
              <a:t>Law?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0273" y="1162629"/>
            <a:ext cx="5542677" cy="3891971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1455" y="1579496"/>
            <a:ext cx="5779146" cy="3252853"/>
          </a:xfrm>
          <a:prstGeom prst="rect">
            <a:avLst/>
          </a:prstGeom>
        </p:spPr>
      </p:pic>
      <p:sp>
        <p:nvSpPr>
          <p:cNvPr id="8" name="Footer Placeholder 1"/>
          <p:cNvSpPr>
            <a:spLocks noGrp="1"/>
          </p:cNvSpPr>
          <p:nvPr>
            <p:ph type="ftr" sz="quarter" idx="4294967295"/>
          </p:nvPr>
        </p:nvSpPr>
        <p:spPr>
          <a:xfrm>
            <a:off x="4025900" y="6546850"/>
            <a:ext cx="4114800" cy="365125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dirty="0" smtClean="0"/>
              <a:t>Neeraj Mishra Microelectronics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10871200" y="1587500"/>
            <a:ext cx="1270000" cy="326390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473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141980">
              <a:lnSpc>
                <a:spcPct val="100000"/>
              </a:lnSpc>
              <a:spcBef>
                <a:spcPts val="105"/>
              </a:spcBef>
            </a:pPr>
            <a:r>
              <a:rPr dirty="0"/>
              <a:t>The</a:t>
            </a:r>
            <a:r>
              <a:rPr spc="-160" dirty="0"/>
              <a:t> </a:t>
            </a:r>
            <a:r>
              <a:rPr spc="-40" dirty="0"/>
              <a:t>Smartphone</a:t>
            </a:r>
            <a:r>
              <a:rPr spc="-165" dirty="0"/>
              <a:t> </a:t>
            </a:r>
            <a:r>
              <a:rPr spc="-10" dirty="0"/>
              <a:t>Plateau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03158" y="1341822"/>
            <a:ext cx="9585682" cy="446875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01:</a:t>
            </a:r>
            <a:r>
              <a:rPr kumimoji="0" sz="1400" b="1" i="0" u="none" strike="noStrike" kern="0" cap="none" spc="-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1" i="0" u="none" strike="noStrike" kern="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Introduction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71600" marR="0" lvl="0" indent="0" defTabSz="91440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400" b="1" i="0" u="none" strike="noStrike" kern="0" cap="none" spc="-2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pPr marL="1371600" marR="0" lvl="0" indent="0" defTabSz="914400" eaLnBrk="1" fontAlgn="auto" latinLnBrk="0" hangingPunct="1">
                <a:lnSpc>
                  <a:spcPts val="143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sz="1400" b="1" i="0" u="none" strike="noStrike" kern="0" cap="none" spc="-25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215510" y="6630796"/>
            <a:ext cx="755205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[https://edition.cnn.com/interactive/2019/09/business/samsung-headquarters-south-korea/index.html]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67012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696720">
              <a:lnSpc>
                <a:spcPct val="100000"/>
              </a:lnSpc>
              <a:spcBef>
                <a:spcPts val="105"/>
              </a:spcBef>
            </a:pPr>
            <a:r>
              <a:rPr spc="-30" dirty="0"/>
              <a:t>Growing</a:t>
            </a:r>
            <a:r>
              <a:rPr spc="-180" dirty="0"/>
              <a:t> </a:t>
            </a:r>
            <a:r>
              <a:rPr spc="-30" dirty="0"/>
              <a:t>Demand</a:t>
            </a:r>
            <a:r>
              <a:rPr spc="-200" dirty="0"/>
              <a:t> </a:t>
            </a:r>
            <a:r>
              <a:rPr dirty="0"/>
              <a:t>in</a:t>
            </a:r>
            <a:r>
              <a:rPr spc="-165" dirty="0"/>
              <a:t> </a:t>
            </a:r>
            <a:r>
              <a:rPr dirty="0"/>
              <a:t>New</a:t>
            </a:r>
            <a:r>
              <a:rPr spc="-195" dirty="0"/>
              <a:t> </a:t>
            </a:r>
            <a:r>
              <a:rPr spc="-20" dirty="0"/>
              <a:t>Applications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0516" y="1222954"/>
            <a:ext cx="10879104" cy="4428372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01:</a:t>
            </a:r>
            <a:r>
              <a:rPr kumimoji="0" sz="1400" b="1" i="0" u="none" strike="noStrike" kern="0" cap="none" spc="-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1" i="0" u="none" strike="noStrike" kern="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Introduction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45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371600" algn="l"/>
              </a:tabLst>
              <a:defRPr/>
            </a:pP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[Synopsys,</a:t>
            </a:r>
            <a:r>
              <a:rPr kumimoji="0" sz="1400" b="0" i="0" u="none" strike="noStrike" kern="0" cap="none" spc="-3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2019]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	</a:t>
            </a:r>
            <a:fld id="{81D60167-4931-47E6-BA6A-407CBD079E47}" type="slidenum">
              <a:rPr kumimoji="0" sz="1400" b="1" i="0" u="none" strike="noStrike" kern="0" cap="none" spc="-2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pPr marL="12700" marR="0" lvl="0" indent="0" defTabSz="914400" eaLnBrk="1" fontAlgn="auto" latinLnBrk="0" hangingPunct="1">
                <a:lnSpc>
                  <a:spcPts val="145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1371600" algn="l"/>
                </a:tabLst>
                <a:defRPr/>
              </a:pPr>
              <a:t>17</a:t>
            </a:fld>
            <a:endParaRPr kumimoji="0" sz="1400" b="1" i="0" u="none" strike="noStrike" kern="0" cap="none" spc="-25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25122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054225">
              <a:lnSpc>
                <a:spcPct val="100000"/>
              </a:lnSpc>
              <a:spcBef>
                <a:spcPts val="105"/>
              </a:spcBef>
            </a:pPr>
            <a:r>
              <a:rPr dirty="0"/>
              <a:t>IBM</a:t>
            </a:r>
            <a:r>
              <a:rPr spc="-195" dirty="0"/>
              <a:t> </a:t>
            </a:r>
            <a:r>
              <a:rPr dirty="0"/>
              <a:t>2nm</a:t>
            </a:r>
            <a:r>
              <a:rPr spc="-185" dirty="0"/>
              <a:t> </a:t>
            </a:r>
            <a:r>
              <a:rPr spc="-30" dirty="0"/>
              <a:t>Technology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2274" y="948897"/>
            <a:ext cx="10974070" cy="90360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467995" indent="-455295">
              <a:lnSpc>
                <a:spcPct val="100000"/>
              </a:lnSpc>
              <a:spcBef>
                <a:spcPts val="675"/>
              </a:spcBef>
              <a:buFont typeface="Wingdings"/>
              <a:buChar char=""/>
              <a:tabLst>
                <a:tab pos="467995" algn="l"/>
              </a:tabLst>
            </a:pPr>
            <a:r>
              <a:rPr sz="2400" dirty="0">
                <a:latin typeface="Calibri"/>
                <a:cs typeface="Calibri"/>
              </a:rPr>
              <a:t>IBM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announcement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2nm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technologies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does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correspond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2nm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feature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size!</a:t>
            </a:r>
            <a:endParaRPr sz="2400" dirty="0">
              <a:latin typeface="Calibri"/>
              <a:cs typeface="Calibri"/>
            </a:endParaRPr>
          </a:p>
          <a:p>
            <a:pPr marL="869315" lvl="1" indent="-286385">
              <a:lnSpc>
                <a:spcPct val="100000"/>
              </a:lnSpc>
              <a:spcBef>
                <a:spcPts val="575"/>
              </a:spcBef>
              <a:buFont typeface="Wingdings"/>
              <a:buChar char=""/>
              <a:tabLst>
                <a:tab pos="869315" algn="l"/>
              </a:tabLst>
            </a:pPr>
            <a:r>
              <a:rPr sz="2400" dirty="0">
                <a:solidFill>
                  <a:srgbClr val="444444"/>
                </a:solidFill>
                <a:latin typeface="Calibri"/>
                <a:cs typeface="Calibri"/>
              </a:rPr>
              <a:t>The</a:t>
            </a:r>
            <a:r>
              <a:rPr sz="2400" spc="-30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44444"/>
                </a:solidFill>
                <a:latin typeface="Calibri"/>
                <a:cs typeface="Calibri"/>
              </a:rPr>
              <a:t>individual</a:t>
            </a:r>
            <a:r>
              <a:rPr sz="2400" spc="-35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44444"/>
                </a:solidFill>
                <a:latin typeface="Calibri"/>
                <a:cs typeface="Calibri"/>
              </a:rPr>
              <a:t>nanosheets</a:t>
            </a:r>
            <a:r>
              <a:rPr sz="2400" spc="-30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44444"/>
                </a:solidFill>
                <a:latin typeface="Calibri"/>
                <a:cs typeface="Calibri"/>
              </a:rPr>
              <a:t>are</a:t>
            </a:r>
            <a:r>
              <a:rPr sz="2400" spc="-45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44444"/>
                </a:solidFill>
                <a:latin typeface="Calibri"/>
                <a:cs typeface="Calibri"/>
              </a:rPr>
              <a:t>5nm</a:t>
            </a:r>
            <a:r>
              <a:rPr sz="2400" spc="-35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44444"/>
                </a:solidFill>
                <a:latin typeface="Calibri"/>
                <a:cs typeface="Calibri"/>
              </a:rPr>
              <a:t>in</a:t>
            </a:r>
            <a:r>
              <a:rPr sz="2400" spc="-45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44444"/>
                </a:solidFill>
                <a:latin typeface="Calibri"/>
                <a:cs typeface="Calibri"/>
              </a:rPr>
              <a:t>height,</a:t>
            </a:r>
            <a:r>
              <a:rPr sz="2400" spc="-30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44444"/>
                </a:solidFill>
                <a:latin typeface="Calibri"/>
                <a:cs typeface="Calibri"/>
              </a:rPr>
              <a:t>separated</a:t>
            </a:r>
            <a:r>
              <a:rPr sz="2400" spc="-40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44444"/>
                </a:solidFill>
                <a:latin typeface="Calibri"/>
                <a:cs typeface="Calibri"/>
              </a:rPr>
              <a:t>from</a:t>
            </a:r>
            <a:r>
              <a:rPr sz="2400" spc="-30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44444"/>
                </a:solidFill>
                <a:latin typeface="Calibri"/>
                <a:cs typeface="Calibri"/>
              </a:rPr>
              <a:t>each</a:t>
            </a:r>
            <a:r>
              <a:rPr sz="2400" spc="-40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44444"/>
                </a:solidFill>
                <a:latin typeface="Calibri"/>
                <a:cs typeface="Calibri"/>
              </a:rPr>
              <a:t>other</a:t>
            </a:r>
            <a:r>
              <a:rPr sz="2400" spc="-35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44444"/>
                </a:solidFill>
                <a:latin typeface="Calibri"/>
                <a:cs typeface="Calibri"/>
              </a:rPr>
              <a:t>by</a:t>
            </a:r>
            <a:r>
              <a:rPr sz="2400" spc="-80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44444"/>
                </a:solidFill>
                <a:latin typeface="Calibri"/>
                <a:cs typeface="Calibri"/>
              </a:rPr>
              <a:t>5</a:t>
            </a:r>
            <a:r>
              <a:rPr sz="2400" spc="-45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444444"/>
                </a:solidFill>
                <a:latin typeface="Calibri"/>
                <a:cs typeface="Calibri"/>
              </a:rPr>
              <a:t>nm.</a:t>
            </a:r>
            <a:endParaRPr sz="24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0798" y="1893499"/>
            <a:ext cx="10390631" cy="4337303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7149465" y="6654165"/>
            <a:ext cx="5193030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z="1400" spc="-20" dirty="0">
                <a:latin typeface="Calibri"/>
                <a:cs typeface="Calibri"/>
              </a:rPr>
              <a:t>[https://</a:t>
            </a:r>
            <a:r>
              <a:rPr sz="1400" spc="-20" dirty="0">
                <a:latin typeface="Calibri"/>
                <a:cs typeface="Calibri"/>
                <a:hlinkClick r:id="rId3"/>
              </a:rPr>
              <a:t>www.anandtech.com/show/16656/ibm-creates-</a:t>
            </a:r>
            <a:r>
              <a:rPr sz="1400" spc="-10" dirty="0">
                <a:latin typeface="Calibri"/>
                <a:cs typeface="Calibri"/>
                <a:hlinkClick r:id="rId3"/>
              </a:rPr>
              <a:t>first-2nm-chip]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  <p:sp>
        <p:nvSpPr>
          <p:cNvPr id="10" name="Footer Placeholder 1"/>
          <p:cNvSpPr>
            <a:spLocks noGrp="1"/>
          </p:cNvSpPr>
          <p:nvPr>
            <p:ph type="ftr" sz="quarter" idx="4294967295"/>
          </p:nvPr>
        </p:nvSpPr>
        <p:spPr>
          <a:xfrm>
            <a:off x="4025900" y="65468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Neeraj Mishra Microelectronics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5426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243580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Analog</a:t>
            </a:r>
            <a:r>
              <a:rPr spc="-190" dirty="0"/>
              <a:t> </a:t>
            </a:r>
            <a:r>
              <a:rPr dirty="0"/>
              <a:t>vs</a:t>
            </a:r>
            <a:r>
              <a:rPr spc="-155" dirty="0"/>
              <a:t> </a:t>
            </a:r>
            <a:r>
              <a:rPr spc="-20" dirty="0"/>
              <a:t>Digital</a:t>
            </a:r>
            <a:r>
              <a:rPr spc="-175" dirty="0"/>
              <a:t> </a:t>
            </a:r>
            <a:r>
              <a:rPr spc="-10" dirty="0"/>
              <a:t>Signals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0238" y="927861"/>
            <a:ext cx="56699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7995" marR="0" lvl="0" indent="-455295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 typeface="Wingdings"/>
              <a:buChar char=""/>
              <a:tabLst>
                <a:tab pos="467995" algn="l"/>
              </a:tabLst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Analog: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continuous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time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amplitude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0238" y="4000880"/>
            <a:ext cx="52108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7995" marR="0" lvl="0" indent="-455295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 typeface="Wingdings"/>
              <a:buChar char=""/>
              <a:tabLst>
                <a:tab pos="467995" algn="l"/>
              </a:tabLst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Digital: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discrete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time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amplitude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48975" y="1356360"/>
            <a:ext cx="7541280" cy="224361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81377" y="5000640"/>
            <a:ext cx="8448294" cy="1095731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01:</a:t>
            </a:r>
            <a:r>
              <a:rPr kumimoji="0" sz="1400" b="1" i="0" u="none" strike="noStrike" kern="0" cap="none" spc="-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1" i="0" u="none" strike="noStrike" kern="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Introduction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71600" marR="0" lvl="0" indent="0" defTabSz="91440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400" b="1" i="0" u="none" strike="noStrike" kern="0" cap="none" spc="-2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pPr marL="1371600" marR="0" lvl="0" indent="0" defTabSz="914400" eaLnBrk="1" fontAlgn="auto" latinLnBrk="0" hangingPunct="1">
                <a:lnSpc>
                  <a:spcPts val="143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sz="1400" b="1" i="0" u="none" strike="noStrike" kern="0" cap="none" spc="-25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733278" y="6630796"/>
            <a:ext cx="1033144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[Razavi,</a:t>
            </a:r>
            <a:r>
              <a:rPr kumimoji="0" sz="1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2014]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38526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91634" y="-3860"/>
            <a:ext cx="281305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Why</a:t>
            </a:r>
            <a:r>
              <a:rPr spc="-215" dirty="0"/>
              <a:t> </a:t>
            </a:r>
            <a:r>
              <a:rPr spc="-15" dirty="0"/>
              <a:t>Digital?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0238" y="854710"/>
            <a:ext cx="7676515" cy="353758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467995" marR="0" lvl="0" indent="-455295" defTabSz="914400" eaLnBrk="1" fontAlgn="auto" latinLnBrk="0" hangingPunct="1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Tx/>
              <a:buSzTx/>
              <a:buFont typeface="Wingdings"/>
              <a:buChar char=""/>
              <a:tabLst>
                <a:tab pos="467995" algn="l"/>
              </a:tabLst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Digital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circuits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are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869315" marR="0" lvl="1" indent="-286385" defTabSz="914400" eaLnBrk="1" fontAlgn="auto" latinLnBrk="0" hangingPunct="1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Tx/>
              <a:buSzTx/>
              <a:buFont typeface="Wingdings"/>
              <a:buChar char=""/>
              <a:tabLst>
                <a:tab pos="869315" algn="l"/>
              </a:tabLst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Less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sensitive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noise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(robust)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869315" marR="0" lvl="1" indent="-286385" defTabSz="914400" eaLnBrk="1" fontAlgn="auto" latinLnBrk="0" hangingPunct="1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Tx/>
              <a:buSzTx/>
              <a:buFont typeface="Wingdings"/>
              <a:buChar char=""/>
              <a:tabLst>
                <a:tab pos="869315" algn="l"/>
              </a:tabLst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Easier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store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signals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(digital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memories)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869315" marR="0" lvl="1" indent="-286385" defTabSz="91440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Tx/>
              <a:buSzTx/>
              <a:buFont typeface="Wingdings"/>
              <a:buChar char=""/>
              <a:tabLst>
                <a:tab pos="869315" algn="l"/>
              </a:tabLst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Easier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process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signals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(digital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signal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processing: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DSP)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869315" marR="0" lvl="1" indent="-286385" defTabSz="914400" eaLnBrk="1" fontAlgn="auto" latinLnBrk="0" hangingPunct="1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Tx/>
              <a:buSzTx/>
              <a:buFont typeface="Wingdings"/>
              <a:buChar char=""/>
              <a:tabLst>
                <a:tab pos="869315" algn="l"/>
              </a:tabLst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Amenable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automated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design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869315" marR="0" lvl="1" indent="-286385" defTabSz="91440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Tx/>
              <a:buSzTx/>
              <a:buFont typeface="Wingdings"/>
              <a:buChar char=""/>
              <a:tabLst>
                <a:tab pos="869315" algn="l"/>
              </a:tabLst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Easier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port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869315" marR="0" lvl="1" indent="-286385" defTabSz="914400" eaLnBrk="1" fontAlgn="auto" latinLnBrk="0" hangingPunct="1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Tx/>
              <a:buSzTx/>
              <a:buFont typeface="Wingdings"/>
              <a:buChar char=""/>
              <a:tabLst>
                <a:tab pos="869315" algn="l"/>
              </a:tabLst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Amenable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automated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testing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869315" marR="0" lvl="1" indent="-286385" defTabSz="914400" eaLnBrk="1" fontAlgn="auto" latinLnBrk="0" hangingPunct="1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Tx/>
              <a:buSzTx/>
              <a:buFont typeface="Wingdings"/>
              <a:buChar char=""/>
              <a:tabLst>
                <a:tab pos="869315" algn="l"/>
              </a:tabLst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Direct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beneficiary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Moore’s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law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(down-scaling)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84779" y="77639"/>
            <a:ext cx="573954" cy="57850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01:</a:t>
            </a:r>
            <a:r>
              <a:rPr kumimoji="0" sz="1400" b="1" i="0" u="none" strike="noStrike" kern="0" cap="none" spc="-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1" i="0" u="none" strike="noStrike" kern="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Introduction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71600" marR="0" lvl="0" indent="0" defTabSz="91440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400" b="1" i="0" u="none" strike="noStrike" kern="0" cap="none" spc="-2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pPr marL="1371600" marR="0" lvl="0" indent="0" defTabSz="914400" eaLnBrk="1" fontAlgn="auto" latinLnBrk="0" hangingPunct="1">
                <a:lnSpc>
                  <a:spcPts val="143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sz="1400" b="1" i="0" u="none" strike="noStrike" kern="0" cap="none" spc="-25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33281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886134" y="3477958"/>
            <a:ext cx="4535170" cy="1642745"/>
            <a:chOff x="4886134" y="3477958"/>
            <a:chExt cx="4535170" cy="1642745"/>
          </a:xfrm>
        </p:grpSpPr>
        <p:sp>
          <p:nvSpPr>
            <p:cNvPr id="3" name="object 3"/>
            <p:cNvSpPr/>
            <p:nvPr/>
          </p:nvSpPr>
          <p:spPr>
            <a:xfrm>
              <a:off x="4900421" y="3492246"/>
              <a:ext cx="4506595" cy="1614170"/>
            </a:xfrm>
            <a:custGeom>
              <a:avLst/>
              <a:gdLst/>
              <a:ahLst/>
              <a:cxnLst/>
              <a:rect l="l" t="t" r="r" b="b"/>
              <a:pathLst>
                <a:path w="4506595" h="1614170">
                  <a:moveTo>
                    <a:pt x="4506468" y="0"/>
                  </a:moveTo>
                  <a:lnTo>
                    <a:pt x="0" y="0"/>
                  </a:lnTo>
                  <a:lnTo>
                    <a:pt x="0" y="1613915"/>
                  </a:lnTo>
                  <a:lnTo>
                    <a:pt x="4506468" y="1613915"/>
                  </a:lnTo>
                  <a:lnTo>
                    <a:pt x="4506468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4900421" y="3492246"/>
              <a:ext cx="4506595" cy="1614170"/>
            </a:xfrm>
            <a:custGeom>
              <a:avLst/>
              <a:gdLst/>
              <a:ahLst/>
              <a:cxnLst/>
              <a:rect l="l" t="t" r="r" b="b"/>
              <a:pathLst>
                <a:path w="4506595" h="1614170">
                  <a:moveTo>
                    <a:pt x="0" y="1613915"/>
                  </a:moveTo>
                  <a:lnTo>
                    <a:pt x="4506468" y="1613915"/>
                  </a:lnTo>
                  <a:lnTo>
                    <a:pt x="4506468" y="0"/>
                  </a:lnTo>
                  <a:lnTo>
                    <a:pt x="0" y="0"/>
                  </a:lnTo>
                  <a:lnTo>
                    <a:pt x="0" y="1613915"/>
                  </a:lnTo>
                  <a:close/>
                </a:path>
              </a:pathLst>
            </a:custGeom>
            <a:ln w="28575">
              <a:solidFill>
                <a:srgbClr val="2C2CB8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411345">
              <a:lnSpc>
                <a:spcPct val="100000"/>
              </a:lnSpc>
              <a:spcBef>
                <a:spcPts val="105"/>
              </a:spcBef>
            </a:pPr>
            <a:r>
              <a:rPr dirty="0"/>
              <a:t>Why</a:t>
            </a:r>
            <a:r>
              <a:rPr spc="-204" dirty="0"/>
              <a:t> </a:t>
            </a:r>
            <a:r>
              <a:rPr spc="-25" dirty="0"/>
              <a:t>Analog?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80238" y="854710"/>
            <a:ext cx="11610340" cy="170878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467995" marR="0" lvl="0" indent="-455295" defTabSz="914400" eaLnBrk="1" fontAlgn="auto" latinLnBrk="0" hangingPunct="1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Tx/>
              <a:buSzTx/>
              <a:buFont typeface="Wingdings"/>
              <a:buChar char=""/>
              <a:tabLst>
                <a:tab pos="467995" algn="l"/>
              </a:tabLst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All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physical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signals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world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around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us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are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analog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869315" marR="0" lvl="1" indent="-286385" defTabSz="914400" eaLnBrk="1" fontAlgn="auto" latinLnBrk="0" hangingPunct="1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Tx/>
              <a:buSzTx/>
              <a:buFont typeface="Wingdings"/>
              <a:buChar char=""/>
              <a:tabLst>
                <a:tab pos="869315" algn="l"/>
              </a:tabLst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Voice,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light,</a:t>
            </a:r>
            <a:r>
              <a:rPr kumimoji="0" sz="2400" b="0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temperature,</a:t>
            </a:r>
            <a:r>
              <a:rPr kumimoji="0" sz="2400" b="0" i="0" u="none" strike="noStrike" kern="0" cap="none" spc="-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pressure,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etc.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467995" marR="0" lvl="0" indent="-455295" defTabSz="914400" eaLnBrk="1" fontAlgn="auto" latinLnBrk="0" hangingPunct="1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Tx/>
              <a:buSzTx/>
              <a:buFont typeface="Wingdings"/>
              <a:buChar char=""/>
              <a:tabLst>
                <a:tab pos="467995" algn="l"/>
              </a:tabLst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We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(will)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always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need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“analog”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interface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circuit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connect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between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our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physical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world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468630" marR="0" lvl="0" indent="0" defTabSz="91440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our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digital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electronics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182361" y="3719321"/>
            <a:ext cx="1676400" cy="1132840"/>
          </a:xfrm>
          <a:prstGeom prst="rect">
            <a:avLst/>
          </a:prstGeom>
          <a:solidFill>
            <a:srgbClr val="FFFFFF"/>
          </a:solidFill>
          <a:ln w="28575">
            <a:solidFill>
              <a:srgbClr val="2C2CB8"/>
            </a:solidFill>
          </a:ln>
        </p:spPr>
        <p:txBody>
          <a:bodyPr vert="horz" wrap="square" lIns="0" tIns="1270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26543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Amplifier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479030" y="3719321"/>
            <a:ext cx="1676400" cy="1132840"/>
          </a:xfrm>
          <a:prstGeom prst="rect">
            <a:avLst/>
          </a:prstGeom>
          <a:solidFill>
            <a:srgbClr val="FFFFFF"/>
          </a:solidFill>
          <a:ln w="28575">
            <a:solidFill>
              <a:srgbClr val="2C2CB8"/>
            </a:solidFill>
          </a:ln>
        </p:spPr>
        <p:txBody>
          <a:bodyPr vert="horz" wrap="square" lIns="0" tIns="1270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A/D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787890" y="3384041"/>
            <a:ext cx="1905000" cy="1803400"/>
          </a:xfrm>
          <a:prstGeom prst="rect">
            <a:avLst/>
          </a:prstGeom>
          <a:ln w="28575">
            <a:solidFill>
              <a:srgbClr val="2C2CB8"/>
            </a:solidFill>
          </a:ln>
        </p:spPr>
        <p:txBody>
          <a:bodyPr vert="horz" wrap="square" lIns="0" tIns="332740" rIns="0" bIns="0" rtlCol="0">
            <a:spAutoFit/>
          </a:bodyPr>
          <a:lstStyle/>
          <a:p>
            <a:pPr marL="227329" marR="218440" lvl="0" indent="-3810" algn="ctr" defTabSz="914400" eaLnBrk="1" fontAlgn="auto" latinLnBrk="0" hangingPunct="1">
              <a:lnSpc>
                <a:spcPct val="100000"/>
              </a:lnSpc>
              <a:spcBef>
                <a:spcPts val="262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Digital processing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storage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495800" y="4181475"/>
            <a:ext cx="5280025" cy="171450"/>
          </a:xfrm>
          <a:custGeom>
            <a:avLst/>
            <a:gdLst/>
            <a:ahLst/>
            <a:cxnLst/>
            <a:rect l="l" t="t" r="r" b="b"/>
            <a:pathLst>
              <a:path w="5280025" h="171450">
                <a:moveTo>
                  <a:pt x="685800" y="85725"/>
                </a:moveTo>
                <a:lnTo>
                  <a:pt x="628650" y="57150"/>
                </a:lnTo>
                <a:lnTo>
                  <a:pt x="514350" y="0"/>
                </a:lnTo>
                <a:lnTo>
                  <a:pt x="514350" y="57150"/>
                </a:lnTo>
                <a:lnTo>
                  <a:pt x="0" y="57150"/>
                </a:lnTo>
                <a:lnTo>
                  <a:pt x="0" y="114300"/>
                </a:lnTo>
                <a:lnTo>
                  <a:pt x="514350" y="114300"/>
                </a:lnTo>
                <a:lnTo>
                  <a:pt x="514350" y="171450"/>
                </a:lnTo>
                <a:lnTo>
                  <a:pt x="628650" y="114300"/>
                </a:lnTo>
                <a:lnTo>
                  <a:pt x="685800" y="85725"/>
                </a:lnTo>
                <a:close/>
              </a:path>
              <a:path w="5280025" h="171450">
                <a:moveTo>
                  <a:pt x="2982976" y="85725"/>
                </a:moveTo>
                <a:lnTo>
                  <a:pt x="2925826" y="57150"/>
                </a:lnTo>
                <a:lnTo>
                  <a:pt x="2811526" y="0"/>
                </a:lnTo>
                <a:lnTo>
                  <a:pt x="2811526" y="57150"/>
                </a:lnTo>
                <a:lnTo>
                  <a:pt x="2362200" y="57150"/>
                </a:lnTo>
                <a:lnTo>
                  <a:pt x="2362200" y="114300"/>
                </a:lnTo>
                <a:lnTo>
                  <a:pt x="2811526" y="114300"/>
                </a:lnTo>
                <a:lnTo>
                  <a:pt x="2811526" y="171450"/>
                </a:lnTo>
                <a:lnTo>
                  <a:pt x="2925826" y="114300"/>
                </a:lnTo>
                <a:lnTo>
                  <a:pt x="2982976" y="85725"/>
                </a:lnTo>
                <a:close/>
              </a:path>
              <a:path w="5280025" h="171450">
                <a:moveTo>
                  <a:pt x="5279644" y="85725"/>
                </a:moveTo>
                <a:lnTo>
                  <a:pt x="5222494" y="57150"/>
                </a:lnTo>
                <a:lnTo>
                  <a:pt x="5108194" y="0"/>
                </a:lnTo>
                <a:lnTo>
                  <a:pt x="5108194" y="57150"/>
                </a:lnTo>
                <a:lnTo>
                  <a:pt x="4658868" y="57150"/>
                </a:lnTo>
                <a:lnTo>
                  <a:pt x="4658868" y="114300"/>
                </a:lnTo>
                <a:lnTo>
                  <a:pt x="5108194" y="114300"/>
                </a:lnTo>
                <a:lnTo>
                  <a:pt x="5108194" y="171450"/>
                </a:lnTo>
                <a:lnTo>
                  <a:pt x="5222494" y="114300"/>
                </a:lnTo>
                <a:lnTo>
                  <a:pt x="5279644" y="85725"/>
                </a:lnTo>
                <a:close/>
              </a:path>
            </a:pathLst>
          </a:custGeom>
          <a:solidFill>
            <a:srgbClr val="2828B8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820161" y="3541014"/>
            <a:ext cx="1676400" cy="1492250"/>
          </a:xfrm>
          <a:prstGeom prst="rect">
            <a:avLst/>
          </a:prstGeom>
          <a:ln w="28575">
            <a:solidFill>
              <a:srgbClr val="2C2CB8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163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155575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Transducer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489896" y="3721722"/>
            <a:ext cx="373380" cy="685800"/>
          </a:xfrm>
          <a:custGeom>
            <a:avLst/>
            <a:gdLst/>
            <a:ahLst/>
            <a:cxnLst/>
            <a:rect l="l" t="t" r="r" b="b"/>
            <a:pathLst>
              <a:path w="373379" h="685800">
                <a:moveTo>
                  <a:pt x="287464" y="101257"/>
                </a:moveTo>
                <a:lnTo>
                  <a:pt x="279552" y="61785"/>
                </a:lnTo>
                <a:lnTo>
                  <a:pt x="257949" y="29603"/>
                </a:lnTo>
                <a:lnTo>
                  <a:pt x="225844" y="7937"/>
                </a:lnTo>
                <a:lnTo>
                  <a:pt x="186461" y="0"/>
                </a:lnTo>
                <a:lnTo>
                  <a:pt x="147078" y="7937"/>
                </a:lnTo>
                <a:lnTo>
                  <a:pt x="114985" y="29603"/>
                </a:lnTo>
                <a:lnTo>
                  <a:pt x="93383" y="61785"/>
                </a:lnTo>
                <a:lnTo>
                  <a:pt x="85458" y="101257"/>
                </a:lnTo>
                <a:lnTo>
                  <a:pt x="85458" y="366102"/>
                </a:lnTo>
                <a:lnTo>
                  <a:pt x="93383" y="405587"/>
                </a:lnTo>
                <a:lnTo>
                  <a:pt x="114985" y="437769"/>
                </a:lnTo>
                <a:lnTo>
                  <a:pt x="147078" y="459422"/>
                </a:lnTo>
                <a:lnTo>
                  <a:pt x="186461" y="467360"/>
                </a:lnTo>
                <a:lnTo>
                  <a:pt x="225844" y="459422"/>
                </a:lnTo>
                <a:lnTo>
                  <a:pt x="257949" y="437769"/>
                </a:lnTo>
                <a:lnTo>
                  <a:pt x="279552" y="405587"/>
                </a:lnTo>
                <a:lnTo>
                  <a:pt x="287464" y="366102"/>
                </a:lnTo>
                <a:lnTo>
                  <a:pt x="209778" y="366102"/>
                </a:lnTo>
                <a:lnTo>
                  <a:pt x="209778" y="334949"/>
                </a:lnTo>
                <a:lnTo>
                  <a:pt x="287464" y="334949"/>
                </a:lnTo>
                <a:lnTo>
                  <a:pt x="287464" y="288213"/>
                </a:lnTo>
                <a:lnTo>
                  <a:pt x="209778" y="288213"/>
                </a:lnTo>
                <a:lnTo>
                  <a:pt x="209778" y="257048"/>
                </a:lnTo>
                <a:lnTo>
                  <a:pt x="287464" y="257048"/>
                </a:lnTo>
                <a:lnTo>
                  <a:pt x="287464" y="210312"/>
                </a:lnTo>
                <a:lnTo>
                  <a:pt x="209778" y="210312"/>
                </a:lnTo>
                <a:lnTo>
                  <a:pt x="209778" y="179158"/>
                </a:lnTo>
                <a:lnTo>
                  <a:pt x="287464" y="179158"/>
                </a:lnTo>
                <a:lnTo>
                  <a:pt x="287464" y="132422"/>
                </a:lnTo>
                <a:lnTo>
                  <a:pt x="209778" y="132422"/>
                </a:lnTo>
                <a:lnTo>
                  <a:pt x="209778" y="101257"/>
                </a:lnTo>
                <a:lnTo>
                  <a:pt x="287464" y="101257"/>
                </a:lnTo>
                <a:close/>
              </a:path>
              <a:path w="373379" h="685800">
                <a:moveTo>
                  <a:pt x="372935" y="638733"/>
                </a:moveTo>
                <a:lnTo>
                  <a:pt x="209778" y="638733"/>
                </a:lnTo>
                <a:lnTo>
                  <a:pt x="209778" y="543699"/>
                </a:lnTo>
                <a:lnTo>
                  <a:pt x="251764" y="532815"/>
                </a:lnTo>
                <a:lnTo>
                  <a:pt x="289077" y="512711"/>
                </a:lnTo>
                <a:lnTo>
                  <a:pt x="320395" y="484695"/>
                </a:lnTo>
                <a:lnTo>
                  <a:pt x="344385" y="450049"/>
                </a:lnTo>
                <a:lnTo>
                  <a:pt x="359752" y="410095"/>
                </a:lnTo>
                <a:lnTo>
                  <a:pt x="365163" y="366102"/>
                </a:lnTo>
                <a:lnTo>
                  <a:pt x="365163" y="288213"/>
                </a:lnTo>
                <a:lnTo>
                  <a:pt x="318541" y="288213"/>
                </a:lnTo>
                <a:lnTo>
                  <a:pt x="318541" y="366102"/>
                </a:lnTo>
                <a:lnTo>
                  <a:pt x="311823" y="407987"/>
                </a:lnTo>
                <a:lnTo>
                  <a:pt x="293090" y="444347"/>
                </a:lnTo>
                <a:lnTo>
                  <a:pt x="264502" y="472998"/>
                </a:lnTo>
                <a:lnTo>
                  <a:pt x="228244" y="491782"/>
                </a:lnTo>
                <a:lnTo>
                  <a:pt x="186461" y="498525"/>
                </a:lnTo>
                <a:lnTo>
                  <a:pt x="144691" y="491782"/>
                </a:lnTo>
                <a:lnTo>
                  <a:pt x="108419" y="472998"/>
                </a:lnTo>
                <a:lnTo>
                  <a:pt x="79844" y="444347"/>
                </a:lnTo>
                <a:lnTo>
                  <a:pt x="61112" y="407987"/>
                </a:lnTo>
                <a:lnTo>
                  <a:pt x="54381" y="366102"/>
                </a:lnTo>
                <a:lnTo>
                  <a:pt x="54381" y="288213"/>
                </a:lnTo>
                <a:lnTo>
                  <a:pt x="7772" y="288213"/>
                </a:lnTo>
                <a:lnTo>
                  <a:pt x="7772" y="366102"/>
                </a:lnTo>
                <a:lnTo>
                  <a:pt x="13182" y="410095"/>
                </a:lnTo>
                <a:lnTo>
                  <a:pt x="28549" y="450049"/>
                </a:lnTo>
                <a:lnTo>
                  <a:pt x="52539" y="484695"/>
                </a:lnTo>
                <a:lnTo>
                  <a:pt x="83858" y="512711"/>
                </a:lnTo>
                <a:lnTo>
                  <a:pt x="121158" y="532815"/>
                </a:lnTo>
                <a:lnTo>
                  <a:pt x="163156" y="543699"/>
                </a:lnTo>
                <a:lnTo>
                  <a:pt x="163156" y="638733"/>
                </a:lnTo>
                <a:lnTo>
                  <a:pt x="0" y="638733"/>
                </a:lnTo>
                <a:lnTo>
                  <a:pt x="0" y="685469"/>
                </a:lnTo>
                <a:lnTo>
                  <a:pt x="372935" y="685469"/>
                </a:lnTo>
                <a:lnTo>
                  <a:pt x="372935" y="63873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133600" y="4181475"/>
            <a:ext cx="685800" cy="171450"/>
          </a:xfrm>
          <a:custGeom>
            <a:avLst/>
            <a:gdLst/>
            <a:ahLst/>
            <a:cxnLst/>
            <a:rect l="l" t="t" r="r" b="b"/>
            <a:pathLst>
              <a:path w="685800" h="171450">
                <a:moveTo>
                  <a:pt x="514350" y="0"/>
                </a:moveTo>
                <a:lnTo>
                  <a:pt x="514350" y="171450"/>
                </a:lnTo>
                <a:lnTo>
                  <a:pt x="628650" y="114300"/>
                </a:lnTo>
                <a:lnTo>
                  <a:pt x="542925" y="114300"/>
                </a:lnTo>
                <a:lnTo>
                  <a:pt x="542925" y="57150"/>
                </a:lnTo>
                <a:lnTo>
                  <a:pt x="628650" y="57150"/>
                </a:lnTo>
                <a:lnTo>
                  <a:pt x="514350" y="0"/>
                </a:lnTo>
                <a:close/>
              </a:path>
              <a:path w="685800" h="171450">
                <a:moveTo>
                  <a:pt x="514350" y="57150"/>
                </a:moveTo>
                <a:lnTo>
                  <a:pt x="0" y="57150"/>
                </a:lnTo>
                <a:lnTo>
                  <a:pt x="0" y="114300"/>
                </a:lnTo>
                <a:lnTo>
                  <a:pt x="514350" y="114300"/>
                </a:lnTo>
                <a:lnTo>
                  <a:pt x="514350" y="57150"/>
                </a:lnTo>
                <a:close/>
              </a:path>
              <a:path w="685800" h="171450">
                <a:moveTo>
                  <a:pt x="628650" y="57150"/>
                </a:moveTo>
                <a:lnTo>
                  <a:pt x="542925" y="57150"/>
                </a:lnTo>
                <a:lnTo>
                  <a:pt x="542925" y="114300"/>
                </a:lnTo>
                <a:lnTo>
                  <a:pt x="628650" y="114300"/>
                </a:lnTo>
                <a:lnTo>
                  <a:pt x="685800" y="85725"/>
                </a:lnTo>
                <a:lnTo>
                  <a:pt x="628650" y="57150"/>
                </a:lnTo>
                <a:close/>
              </a:path>
            </a:pathLst>
          </a:custGeom>
          <a:solidFill>
            <a:srgbClr val="2828B8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05523" y="3803065"/>
            <a:ext cx="1607820" cy="1064895"/>
          </a:xfrm>
          <a:custGeom>
            <a:avLst/>
            <a:gdLst/>
            <a:ahLst/>
            <a:cxnLst/>
            <a:rect l="l" t="t" r="r" b="b"/>
            <a:pathLst>
              <a:path w="1607820" h="1064895">
                <a:moveTo>
                  <a:pt x="510070" y="559917"/>
                </a:moveTo>
                <a:lnTo>
                  <a:pt x="502132" y="510565"/>
                </a:lnTo>
                <a:lnTo>
                  <a:pt x="480009" y="467715"/>
                </a:lnTo>
                <a:lnTo>
                  <a:pt x="446265" y="433959"/>
                </a:lnTo>
                <a:lnTo>
                  <a:pt x="403440" y="411822"/>
                </a:lnTo>
                <a:lnTo>
                  <a:pt x="354114" y="403872"/>
                </a:lnTo>
                <a:lnTo>
                  <a:pt x="304774" y="411822"/>
                </a:lnTo>
                <a:lnTo>
                  <a:pt x="261962" y="433959"/>
                </a:lnTo>
                <a:lnTo>
                  <a:pt x="228219" y="467715"/>
                </a:lnTo>
                <a:lnTo>
                  <a:pt x="206095" y="510565"/>
                </a:lnTo>
                <a:lnTo>
                  <a:pt x="198158" y="559917"/>
                </a:lnTo>
                <a:lnTo>
                  <a:pt x="205384" y="609282"/>
                </a:lnTo>
                <a:lnTo>
                  <a:pt x="227418" y="652119"/>
                </a:lnTo>
                <a:lnTo>
                  <a:pt x="261429" y="685888"/>
                </a:lnTo>
                <a:lnTo>
                  <a:pt x="304596" y="708025"/>
                </a:lnTo>
                <a:lnTo>
                  <a:pt x="354114" y="715962"/>
                </a:lnTo>
                <a:lnTo>
                  <a:pt x="403440" y="708025"/>
                </a:lnTo>
                <a:lnTo>
                  <a:pt x="446265" y="685888"/>
                </a:lnTo>
                <a:lnTo>
                  <a:pt x="480009" y="652119"/>
                </a:lnTo>
                <a:lnTo>
                  <a:pt x="502132" y="609282"/>
                </a:lnTo>
                <a:lnTo>
                  <a:pt x="510070" y="559917"/>
                </a:lnTo>
                <a:close/>
              </a:path>
              <a:path w="1607820" h="1064895">
                <a:moveTo>
                  <a:pt x="965327" y="583780"/>
                </a:moveTo>
                <a:lnTo>
                  <a:pt x="954087" y="534225"/>
                </a:lnTo>
                <a:lnTo>
                  <a:pt x="904773" y="500253"/>
                </a:lnTo>
                <a:lnTo>
                  <a:pt x="874877" y="499630"/>
                </a:lnTo>
                <a:lnTo>
                  <a:pt x="838492" y="514019"/>
                </a:lnTo>
                <a:lnTo>
                  <a:pt x="834821" y="521373"/>
                </a:lnTo>
                <a:lnTo>
                  <a:pt x="563283" y="804087"/>
                </a:lnTo>
                <a:lnTo>
                  <a:pt x="503161" y="778268"/>
                </a:lnTo>
                <a:lnTo>
                  <a:pt x="418325" y="760018"/>
                </a:lnTo>
                <a:lnTo>
                  <a:pt x="354114" y="754519"/>
                </a:lnTo>
                <a:lnTo>
                  <a:pt x="322173" y="755865"/>
                </a:lnTo>
                <a:lnTo>
                  <a:pt x="257606" y="766127"/>
                </a:lnTo>
                <a:lnTo>
                  <a:pt x="180289" y="789736"/>
                </a:lnTo>
                <a:lnTo>
                  <a:pt x="137833" y="809586"/>
                </a:lnTo>
                <a:lnTo>
                  <a:pt x="98475" y="833564"/>
                </a:lnTo>
                <a:lnTo>
                  <a:pt x="62382" y="860996"/>
                </a:lnTo>
                <a:lnTo>
                  <a:pt x="38531" y="903211"/>
                </a:lnTo>
                <a:lnTo>
                  <a:pt x="0" y="1064768"/>
                </a:lnTo>
                <a:lnTo>
                  <a:pt x="548601" y="1064768"/>
                </a:lnTo>
                <a:lnTo>
                  <a:pt x="548601" y="1062926"/>
                </a:lnTo>
                <a:lnTo>
                  <a:pt x="704557" y="881189"/>
                </a:lnTo>
                <a:lnTo>
                  <a:pt x="944918" y="627849"/>
                </a:lnTo>
                <a:lnTo>
                  <a:pt x="958469" y="608050"/>
                </a:lnTo>
                <a:lnTo>
                  <a:pt x="965327" y="583780"/>
                </a:lnTo>
                <a:close/>
              </a:path>
              <a:path w="1607820" h="1064895">
                <a:moveTo>
                  <a:pt x="1607273" y="73431"/>
                </a:moveTo>
                <a:lnTo>
                  <a:pt x="1601482" y="44919"/>
                </a:lnTo>
                <a:lnTo>
                  <a:pt x="1585722" y="21577"/>
                </a:lnTo>
                <a:lnTo>
                  <a:pt x="1562379" y="5791"/>
                </a:lnTo>
                <a:lnTo>
                  <a:pt x="1533880" y="0"/>
                </a:lnTo>
                <a:lnTo>
                  <a:pt x="359613" y="0"/>
                </a:lnTo>
                <a:lnTo>
                  <a:pt x="331114" y="5791"/>
                </a:lnTo>
                <a:lnTo>
                  <a:pt x="307784" y="21577"/>
                </a:lnTo>
                <a:lnTo>
                  <a:pt x="292011" y="44919"/>
                </a:lnTo>
                <a:lnTo>
                  <a:pt x="286219" y="73431"/>
                </a:lnTo>
                <a:lnTo>
                  <a:pt x="286219" y="339623"/>
                </a:lnTo>
                <a:lnTo>
                  <a:pt x="335508" y="331101"/>
                </a:lnTo>
                <a:lnTo>
                  <a:pt x="396316" y="334111"/>
                </a:lnTo>
                <a:lnTo>
                  <a:pt x="396316" y="110147"/>
                </a:lnTo>
                <a:lnTo>
                  <a:pt x="1497190" y="110147"/>
                </a:lnTo>
                <a:lnTo>
                  <a:pt x="1497190" y="807758"/>
                </a:lnTo>
                <a:lnTo>
                  <a:pt x="875195" y="807758"/>
                </a:lnTo>
                <a:lnTo>
                  <a:pt x="770610" y="917905"/>
                </a:lnTo>
                <a:lnTo>
                  <a:pt x="1533880" y="917905"/>
                </a:lnTo>
                <a:lnTo>
                  <a:pt x="1562379" y="912114"/>
                </a:lnTo>
                <a:lnTo>
                  <a:pt x="1585722" y="896327"/>
                </a:lnTo>
                <a:lnTo>
                  <a:pt x="1601482" y="872985"/>
                </a:lnTo>
                <a:lnTo>
                  <a:pt x="1607273" y="844473"/>
                </a:lnTo>
                <a:lnTo>
                  <a:pt x="1607273" y="734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01:</a:t>
            </a:r>
            <a:r>
              <a:rPr kumimoji="0" sz="1400" b="1" i="0" u="none" strike="noStrike" kern="0" cap="none" spc="-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1" i="0" u="none" strike="noStrike" kern="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Introduction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71600" marR="0" lvl="0" indent="0" defTabSz="91440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400" b="1" i="0" u="none" strike="noStrike" kern="0" cap="none" spc="-2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pPr marL="1371600" marR="0" lvl="0" indent="0" defTabSz="914400" eaLnBrk="1" fontAlgn="auto" latinLnBrk="0" hangingPunct="1">
                <a:lnSpc>
                  <a:spcPts val="143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sz="1400" b="1" i="0" u="none" strike="noStrike" kern="0" cap="none" spc="-25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88816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411345">
              <a:lnSpc>
                <a:spcPct val="100000"/>
              </a:lnSpc>
              <a:spcBef>
                <a:spcPts val="105"/>
              </a:spcBef>
            </a:pPr>
            <a:r>
              <a:rPr dirty="0"/>
              <a:t>Why</a:t>
            </a:r>
            <a:r>
              <a:rPr spc="-204" dirty="0"/>
              <a:t> </a:t>
            </a:r>
            <a:r>
              <a:rPr spc="-25" dirty="0"/>
              <a:t>Analog?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747140" y="2404151"/>
            <a:ext cx="4185920" cy="2508250"/>
            <a:chOff x="3747140" y="2404151"/>
            <a:chExt cx="4185920" cy="2508250"/>
          </a:xfrm>
        </p:grpSpPr>
        <p:sp>
          <p:nvSpPr>
            <p:cNvPr id="4" name="object 4"/>
            <p:cNvSpPr/>
            <p:nvPr/>
          </p:nvSpPr>
          <p:spPr>
            <a:xfrm>
              <a:off x="4181019" y="2515286"/>
              <a:ext cx="347980" cy="347345"/>
            </a:xfrm>
            <a:custGeom>
              <a:avLst/>
              <a:gdLst/>
              <a:ahLst/>
              <a:cxnLst/>
              <a:rect l="l" t="t" r="r" b="b"/>
              <a:pathLst>
                <a:path w="347979" h="347344">
                  <a:moveTo>
                    <a:pt x="37683" y="0"/>
                  </a:moveTo>
                  <a:lnTo>
                    <a:pt x="0" y="37614"/>
                  </a:lnTo>
                  <a:lnTo>
                    <a:pt x="310207" y="347253"/>
                  </a:lnTo>
                  <a:lnTo>
                    <a:pt x="347891" y="309468"/>
                  </a:lnTo>
                  <a:lnTo>
                    <a:pt x="3768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08493" y="2742343"/>
              <a:ext cx="205034" cy="20465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451487" y="2488614"/>
              <a:ext cx="348615" cy="347345"/>
            </a:xfrm>
            <a:custGeom>
              <a:avLst/>
              <a:gdLst/>
              <a:ahLst/>
              <a:cxnLst/>
              <a:rect l="l" t="t" r="r" b="b"/>
              <a:pathLst>
                <a:path w="348614" h="347344">
                  <a:moveTo>
                    <a:pt x="37855" y="0"/>
                  </a:moveTo>
                  <a:lnTo>
                    <a:pt x="0" y="37614"/>
                  </a:lnTo>
                  <a:lnTo>
                    <a:pt x="310207" y="347253"/>
                  </a:lnTo>
                  <a:lnTo>
                    <a:pt x="348062" y="309468"/>
                  </a:lnTo>
                  <a:lnTo>
                    <a:pt x="3785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67041" y="2404151"/>
              <a:ext cx="204863" cy="20448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103065" y="2655658"/>
              <a:ext cx="348615" cy="347345"/>
            </a:xfrm>
            <a:custGeom>
              <a:avLst/>
              <a:gdLst/>
              <a:ahLst/>
              <a:cxnLst/>
              <a:rect l="l" t="t" r="r" b="b"/>
              <a:pathLst>
                <a:path w="348615" h="347344">
                  <a:moveTo>
                    <a:pt x="310207" y="0"/>
                  </a:moveTo>
                  <a:lnTo>
                    <a:pt x="0" y="309638"/>
                  </a:lnTo>
                  <a:lnTo>
                    <a:pt x="37855" y="347253"/>
                  </a:lnTo>
                  <a:lnTo>
                    <a:pt x="348062" y="37614"/>
                  </a:lnTo>
                  <a:lnTo>
                    <a:pt x="31020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330710" y="2571196"/>
              <a:ext cx="204863" cy="204659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7038145" y="2423301"/>
              <a:ext cx="348615" cy="347345"/>
            </a:xfrm>
            <a:custGeom>
              <a:avLst/>
              <a:gdLst/>
              <a:ahLst/>
              <a:cxnLst/>
              <a:rect l="l" t="t" r="r" b="b"/>
              <a:pathLst>
                <a:path w="348615" h="347344">
                  <a:moveTo>
                    <a:pt x="310207" y="0"/>
                  </a:moveTo>
                  <a:lnTo>
                    <a:pt x="0" y="309468"/>
                  </a:lnTo>
                  <a:lnTo>
                    <a:pt x="37855" y="347253"/>
                  </a:lnTo>
                  <a:lnTo>
                    <a:pt x="348062" y="37614"/>
                  </a:lnTo>
                  <a:lnTo>
                    <a:pt x="31020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953699" y="2650358"/>
              <a:ext cx="204863" cy="204488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745924" y="4480066"/>
              <a:ext cx="347980" cy="347345"/>
            </a:xfrm>
            <a:custGeom>
              <a:avLst/>
              <a:gdLst/>
              <a:ahLst/>
              <a:cxnLst/>
              <a:rect l="l" t="t" r="r" b="b"/>
              <a:pathLst>
                <a:path w="347979" h="347345">
                  <a:moveTo>
                    <a:pt x="37683" y="0"/>
                  </a:moveTo>
                  <a:lnTo>
                    <a:pt x="0" y="37717"/>
                  </a:lnTo>
                  <a:lnTo>
                    <a:pt x="310207" y="347339"/>
                  </a:lnTo>
                  <a:lnTo>
                    <a:pt x="347891" y="309621"/>
                  </a:lnTo>
                  <a:lnTo>
                    <a:pt x="3768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973398" y="4707209"/>
              <a:ext cx="205034" cy="204573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7016392" y="4453377"/>
              <a:ext cx="348615" cy="347345"/>
            </a:xfrm>
            <a:custGeom>
              <a:avLst/>
              <a:gdLst/>
              <a:ahLst/>
              <a:cxnLst/>
              <a:rect l="l" t="t" r="r" b="b"/>
              <a:pathLst>
                <a:path w="348615" h="347345">
                  <a:moveTo>
                    <a:pt x="37855" y="0"/>
                  </a:moveTo>
                  <a:lnTo>
                    <a:pt x="0" y="37717"/>
                  </a:lnTo>
                  <a:lnTo>
                    <a:pt x="310207" y="347339"/>
                  </a:lnTo>
                  <a:lnTo>
                    <a:pt x="348062" y="309621"/>
                  </a:lnTo>
                  <a:lnTo>
                    <a:pt x="3785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931945" y="4369017"/>
              <a:ext cx="204863" cy="204556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4328158" y="4465430"/>
              <a:ext cx="348615" cy="347345"/>
            </a:xfrm>
            <a:custGeom>
              <a:avLst/>
              <a:gdLst/>
              <a:ahLst/>
              <a:cxnLst/>
              <a:rect l="l" t="t" r="r" b="b"/>
              <a:pathLst>
                <a:path w="348614" h="347345">
                  <a:moveTo>
                    <a:pt x="310207" y="0"/>
                  </a:moveTo>
                  <a:lnTo>
                    <a:pt x="0" y="309604"/>
                  </a:lnTo>
                  <a:lnTo>
                    <a:pt x="37855" y="347322"/>
                  </a:lnTo>
                  <a:lnTo>
                    <a:pt x="348062" y="37717"/>
                  </a:lnTo>
                  <a:lnTo>
                    <a:pt x="31020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555803" y="4381053"/>
              <a:ext cx="204863" cy="204556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4263239" y="4233022"/>
              <a:ext cx="348615" cy="347345"/>
            </a:xfrm>
            <a:custGeom>
              <a:avLst/>
              <a:gdLst/>
              <a:ahLst/>
              <a:cxnLst/>
              <a:rect l="l" t="t" r="r" b="b"/>
              <a:pathLst>
                <a:path w="348614" h="347345">
                  <a:moveTo>
                    <a:pt x="310207" y="0"/>
                  </a:moveTo>
                  <a:lnTo>
                    <a:pt x="0" y="309621"/>
                  </a:lnTo>
                  <a:lnTo>
                    <a:pt x="37855" y="347339"/>
                  </a:lnTo>
                  <a:lnTo>
                    <a:pt x="348062" y="37717"/>
                  </a:lnTo>
                  <a:lnTo>
                    <a:pt x="31020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178792" y="4460164"/>
              <a:ext cx="204863" cy="204556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7366681" y="3720057"/>
              <a:ext cx="420370" cy="58419"/>
            </a:xfrm>
            <a:custGeom>
              <a:avLst/>
              <a:gdLst/>
              <a:ahLst/>
              <a:cxnLst/>
              <a:rect l="l" t="t" r="r" b="b"/>
              <a:pathLst>
                <a:path w="420370" h="58420">
                  <a:moveTo>
                    <a:pt x="685" y="0"/>
                  </a:moveTo>
                  <a:lnTo>
                    <a:pt x="0" y="53327"/>
                  </a:lnTo>
                  <a:lnTo>
                    <a:pt x="419319" y="58354"/>
                  </a:lnTo>
                  <a:lnTo>
                    <a:pt x="420004" y="5009"/>
                  </a:lnTo>
                  <a:lnTo>
                    <a:pt x="68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21" name="object 2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738210" y="3654676"/>
              <a:ext cx="194414" cy="192930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7527694" y="3532769"/>
              <a:ext cx="356870" cy="53340"/>
            </a:xfrm>
            <a:custGeom>
              <a:avLst/>
              <a:gdLst/>
              <a:ahLst/>
              <a:cxnLst/>
              <a:rect l="l" t="t" r="r" b="b"/>
              <a:pathLst>
                <a:path w="356870" h="53339">
                  <a:moveTo>
                    <a:pt x="356678" y="0"/>
                  </a:moveTo>
                  <a:lnTo>
                    <a:pt x="0" y="0"/>
                  </a:lnTo>
                  <a:lnTo>
                    <a:pt x="0" y="53344"/>
                  </a:lnTo>
                  <a:lnTo>
                    <a:pt x="356678" y="53344"/>
                  </a:lnTo>
                  <a:lnTo>
                    <a:pt x="35667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23" name="object 2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381412" y="3463011"/>
              <a:ext cx="193215" cy="192861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3778658" y="3669978"/>
              <a:ext cx="373380" cy="53340"/>
            </a:xfrm>
            <a:custGeom>
              <a:avLst/>
              <a:gdLst/>
              <a:ahLst/>
              <a:cxnLst/>
              <a:rect l="l" t="t" r="r" b="b"/>
              <a:pathLst>
                <a:path w="373379" h="53339">
                  <a:moveTo>
                    <a:pt x="373327" y="0"/>
                  </a:moveTo>
                  <a:lnTo>
                    <a:pt x="0" y="0"/>
                  </a:lnTo>
                  <a:lnTo>
                    <a:pt x="0" y="53344"/>
                  </a:lnTo>
                  <a:lnTo>
                    <a:pt x="373327" y="53344"/>
                  </a:lnTo>
                  <a:lnTo>
                    <a:pt x="37332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25" name="object 2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104966" y="3600305"/>
              <a:ext cx="193215" cy="192776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3893080" y="3470705"/>
              <a:ext cx="412750" cy="57150"/>
            </a:xfrm>
            <a:custGeom>
              <a:avLst/>
              <a:gdLst/>
              <a:ahLst/>
              <a:cxnLst/>
              <a:rect l="l" t="t" r="r" b="b"/>
              <a:pathLst>
                <a:path w="412750" h="57150">
                  <a:moveTo>
                    <a:pt x="411782" y="0"/>
                  </a:moveTo>
                  <a:lnTo>
                    <a:pt x="0" y="3761"/>
                  </a:lnTo>
                  <a:lnTo>
                    <a:pt x="513" y="57106"/>
                  </a:lnTo>
                  <a:lnTo>
                    <a:pt x="412296" y="53344"/>
                  </a:lnTo>
                  <a:lnTo>
                    <a:pt x="41178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27" name="object 2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747140" y="3404365"/>
              <a:ext cx="194072" cy="192861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288076" y="2515334"/>
              <a:ext cx="3103784" cy="2171699"/>
            </a:xfrm>
            <a:prstGeom prst="rect">
              <a:avLst/>
            </a:prstGeom>
          </p:spPr>
        </p:pic>
      </p:grpSp>
      <p:sp>
        <p:nvSpPr>
          <p:cNvPr id="29" name="object 29"/>
          <p:cNvSpPr txBox="1"/>
          <p:nvPr/>
        </p:nvSpPr>
        <p:spPr>
          <a:xfrm>
            <a:off x="8099095" y="3504848"/>
            <a:ext cx="2265045" cy="7645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65" marR="5080" lvl="0" indent="0" algn="ctr" defTabSz="914400" eaLnBrk="1" fontAlgn="auto" latinLnBrk="0" hangingPunct="1">
              <a:lnSpc>
                <a:spcPct val="101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icrosoft Sans Serif"/>
                <a:cs typeface="Microsoft Sans Serif"/>
              </a:rPr>
              <a:t>Mechanical</a:t>
            </a:r>
            <a:r>
              <a:rPr kumimoji="0" sz="1600" b="0" i="0" u="none" strike="noStrike" kern="0" cap="none" spc="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icrosoft Sans Serif"/>
                <a:cs typeface="Microsoft Sans Serif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icrosoft Sans Serif"/>
                <a:cs typeface="Microsoft Sans Serif"/>
              </a:rPr>
              <a:t>Transducers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icrosoft Sans Serif"/>
                <a:cs typeface="Microsoft Sans Serif"/>
              </a:rPr>
              <a:t>(Car/Airplane</a:t>
            </a:r>
            <a:r>
              <a:rPr kumimoji="0" sz="1600" b="0" i="0" u="none" strike="noStrike" kern="0" cap="none" spc="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icrosoft Sans Serif"/>
                <a:cs typeface="Microsoft Sans Serif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icrosoft Sans Serif"/>
                <a:cs typeface="Microsoft Sans Serif"/>
              </a:rPr>
              <a:t>Sensors,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icrosoft Sans Serif"/>
                <a:cs typeface="Microsoft Sans Serif"/>
              </a:rPr>
              <a:t>MEMS,</a:t>
            </a:r>
            <a:r>
              <a:rPr kumimoji="0" sz="1600" b="0" i="0" u="none" strike="noStrike" kern="0" cap="none" spc="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icrosoft Sans Serif"/>
                <a:cs typeface="Microsoft Sans Serif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icrosoft Sans Serif"/>
                <a:cs typeface="Microsoft Sans Serif"/>
              </a:rPr>
              <a:t>Nanopore)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Microsoft Sans Serif"/>
              <a:cs typeface="Microsoft Sans Serif"/>
            </a:endParaRPr>
          </a:p>
        </p:txBody>
      </p:sp>
      <p:sp>
        <p:nvSpPr>
          <p:cNvPr id="37" name="object 3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01:</a:t>
            </a:r>
            <a:r>
              <a:rPr kumimoji="0" sz="1400" b="1" i="0" u="none" strike="noStrike" kern="0" cap="none" spc="-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1" i="0" u="none" strike="noStrike" kern="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Introduction</a:t>
            </a:r>
          </a:p>
        </p:txBody>
      </p:sp>
      <p:sp>
        <p:nvSpPr>
          <p:cNvPr id="38" name="object 38"/>
          <p:cNvSpPr txBox="1"/>
          <p:nvPr/>
        </p:nvSpPr>
        <p:spPr>
          <a:xfrm>
            <a:off x="9870185" y="6617081"/>
            <a:ext cx="1844039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[Y.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Chiu,</a:t>
            </a:r>
            <a:r>
              <a:rPr kumimoji="0" sz="1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EECT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7327,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UTD]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39" name="object 3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71600" marR="0" lvl="0" indent="0" defTabSz="91440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400" b="1" i="0" u="none" strike="noStrike" kern="0" cap="none" spc="-2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pPr marL="1371600" marR="0" lvl="0" indent="0" defTabSz="914400" eaLnBrk="1" fontAlgn="auto" latinLnBrk="0" hangingPunct="1">
                <a:lnSpc>
                  <a:spcPts val="143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sz="1400" b="1" i="0" u="none" strike="noStrike" kern="0" cap="none" spc="-25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027170" y="4782044"/>
            <a:ext cx="2230120" cy="5181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lvl="0" indent="427990" defTabSz="914400" eaLnBrk="1" fontAlgn="auto" latinLnBrk="0" hangingPunct="1">
              <a:lnSpc>
                <a:spcPct val="101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icrosoft Sans Serif"/>
                <a:cs typeface="Microsoft Sans Serif"/>
              </a:rPr>
              <a:t>Digital</a:t>
            </a:r>
            <a:r>
              <a:rPr kumimoji="0" sz="1600" b="0" i="0" u="none" strike="noStrike" kern="0" cap="none" spc="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icrosoft Sans Serif"/>
                <a:cs typeface="Microsoft Sans Serif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icrosoft Sans Serif"/>
                <a:cs typeface="Microsoft Sans Serif"/>
              </a:rPr>
              <a:t>Storage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icrosoft Sans Serif"/>
                <a:cs typeface="Microsoft Sans Serif"/>
              </a:rPr>
              <a:t>(DVD,</a:t>
            </a:r>
            <a:r>
              <a:rPr kumimoji="0" sz="1600" b="0" i="0" u="none" strike="noStrike" kern="0" cap="none" spc="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icrosoft Sans Serif"/>
                <a:cs typeface="Microsoft Sans Serif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icrosoft Sans Serif"/>
                <a:cs typeface="Microsoft Sans Serif"/>
              </a:rPr>
              <a:t>Hard</a:t>
            </a:r>
            <a:r>
              <a:rPr kumimoji="0" sz="1600" b="0" i="0" u="none" strike="noStrike" kern="0" cap="none" spc="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icrosoft Sans Serif"/>
                <a:cs typeface="Microsoft Sans Serif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icrosoft Sans Serif"/>
                <a:cs typeface="Microsoft Sans Serif"/>
              </a:rPr>
              <a:t>Disk,</a:t>
            </a:r>
            <a:r>
              <a:rPr kumimoji="0" sz="1600" b="0" i="0" u="none" strike="noStrike" kern="0" cap="none" spc="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icrosoft Sans Serif"/>
                <a:cs typeface="Microsoft Sans Serif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icrosoft Sans Serif"/>
                <a:cs typeface="Microsoft Sans Serif"/>
              </a:rPr>
              <a:t>Flash)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Microsoft Sans Serif"/>
              <a:cs typeface="Microsoft Sans Serif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086950" y="1935281"/>
            <a:ext cx="1956435" cy="5181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lvl="0" indent="16510" defTabSz="914400" eaLnBrk="1" fontAlgn="auto" latinLnBrk="0" hangingPunct="1">
              <a:lnSpc>
                <a:spcPct val="101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icrosoft Sans Serif"/>
                <a:cs typeface="Microsoft Sans Serif"/>
              </a:rPr>
              <a:t>Phone</a:t>
            </a:r>
            <a:r>
              <a:rPr kumimoji="0" sz="1600" b="0" i="0" u="none" strike="noStrike" kern="0" cap="none" spc="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icrosoft Sans Serif"/>
                <a:cs typeface="Microsoft Sans Serif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icrosoft Sans Serif"/>
                <a:cs typeface="Microsoft Sans Serif"/>
              </a:rPr>
              <a:t>Lines,</a:t>
            </a:r>
            <a:r>
              <a:rPr kumimoji="0" sz="1600" b="0" i="0" u="none" strike="noStrike" kern="0" cap="none" spc="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icrosoft Sans Serif"/>
                <a:cs typeface="Microsoft Sans Serif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icrosoft Sans Serif"/>
                <a:cs typeface="Microsoft Sans Serif"/>
              </a:rPr>
              <a:t>Cables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icrosoft Sans Serif"/>
                <a:cs typeface="Microsoft Sans Serif"/>
              </a:rPr>
              <a:t>(DSL,</a:t>
            </a:r>
            <a:r>
              <a:rPr kumimoji="0" sz="1600" b="0" i="0" u="none" strike="noStrike" kern="0" cap="none" spc="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icrosoft Sans Serif"/>
                <a:cs typeface="Microsoft Sans Serif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icrosoft Sans Serif"/>
                <a:cs typeface="Microsoft Sans Serif"/>
              </a:rPr>
              <a:t>Cable</a:t>
            </a:r>
            <a:r>
              <a:rPr kumimoji="0" sz="1600" b="0" i="0" u="none" strike="noStrike" kern="0" cap="none" spc="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icrosoft Sans Serif"/>
                <a:cs typeface="Microsoft Sans Serif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icrosoft Sans Serif"/>
                <a:cs typeface="Microsoft Sans Serif"/>
              </a:rPr>
              <a:t>Modem)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Microsoft Sans Serif"/>
              <a:cs typeface="Microsoft Sans Serif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650998" y="1935281"/>
            <a:ext cx="2501265" cy="14103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0" marR="720090" lvl="0" indent="0" algn="ctr" defTabSz="914400" eaLnBrk="1" fontAlgn="auto" latinLnBrk="0" hangingPunct="1">
              <a:lnSpc>
                <a:spcPct val="100000"/>
              </a:lnSpc>
              <a:spcBef>
                <a:spcPts val="11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icrosoft Sans Serif"/>
                <a:cs typeface="Microsoft Sans Serif"/>
              </a:rPr>
              <a:t>Audio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Microsoft Sans Serif"/>
              <a:cs typeface="Microsoft Sans Serif"/>
            </a:endParaRPr>
          </a:p>
          <a:p>
            <a:pPr marL="0" marR="720090" lvl="0" indent="0" algn="ctr" defTabSz="914400" eaLnBrk="1" fontAlgn="auto" latinLnBrk="0" hangingPunct="1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icrosoft Sans Serif"/>
                <a:cs typeface="Microsoft Sans Serif"/>
              </a:rPr>
              <a:t>(MP3,</a:t>
            </a:r>
            <a:r>
              <a:rPr kumimoji="0" sz="1600" b="0" i="0" u="none" strike="noStrike" kern="0" cap="none" spc="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icrosoft Sans Serif"/>
                <a:cs typeface="Microsoft Sans Serif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icrosoft Sans Serif"/>
                <a:cs typeface="Microsoft Sans Serif"/>
              </a:rPr>
              <a:t>Hearing</a:t>
            </a:r>
            <a:r>
              <a:rPr kumimoji="0" sz="1600" b="0" i="0" u="none" strike="noStrike" kern="0" cap="none" spc="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icrosoft Sans Serif"/>
                <a:cs typeface="Microsoft Sans Serif"/>
              </a:rPr>
              <a:t> 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icrosoft Sans Serif"/>
                <a:cs typeface="Microsoft Sans Serif"/>
              </a:rPr>
              <a:t>Aid)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Microsoft Sans Serif"/>
              <a:cs typeface="Microsoft Sans Serif"/>
            </a:endParaRPr>
          </a:p>
          <a:p>
            <a:pPr marL="351155" marR="0" lvl="0" indent="0" algn="ctr" defTabSz="914400" eaLnBrk="1" fontAlgn="auto" latinLnBrk="0" hangingPunct="1">
              <a:lnSpc>
                <a:spcPct val="100000"/>
              </a:lnSpc>
              <a:spcBef>
                <a:spcPts val="123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icrosoft Sans Serif"/>
                <a:cs typeface="Microsoft Sans Serif"/>
              </a:rPr>
              <a:t>Video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Microsoft Sans Serif"/>
              <a:cs typeface="Microsoft Sans Serif"/>
            </a:endParaRPr>
          </a:p>
          <a:p>
            <a:pPr marL="363855" marR="5080" lvl="0" indent="0" algn="ctr" defTabSz="914400" eaLnBrk="1" fontAlgn="auto" latinLnBrk="0" hangingPunct="1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icrosoft Sans Serif"/>
                <a:cs typeface="Microsoft Sans Serif"/>
              </a:rPr>
              <a:t>(Dig.</a:t>
            </a:r>
            <a:r>
              <a:rPr kumimoji="0" sz="1600" b="0" i="0" u="none" strike="noStrike" kern="0" cap="none" spc="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icrosoft Sans Serif"/>
                <a:cs typeface="Microsoft Sans Serif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icrosoft Sans Serif"/>
                <a:cs typeface="Microsoft Sans Serif"/>
              </a:rPr>
              <a:t>Camera,</a:t>
            </a:r>
            <a:r>
              <a:rPr kumimoji="0" sz="1600" b="0" i="0" u="none" strike="noStrike" kern="0" cap="none" spc="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icrosoft Sans Serif"/>
                <a:cs typeface="Microsoft Sans Serif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icrosoft Sans Serif"/>
                <a:cs typeface="Microsoft Sans Serif"/>
              </a:rPr>
              <a:t>LCD</a:t>
            </a:r>
            <a:r>
              <a:rPr kumimoji="0" sz="1600" b="0" i="0" u="none" strike="noStrike" kern="0" cap="none" spc="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icrosoft Sans Serif"/>
                <a:cs typeface="Microsoft Sans Serif"/>
              </a:rPr>
              <a:t> </a:t>
            </a:r>
            <a:r>
              <a:rPr kumimoji="0" sz="16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icrosoft Sans Serif"/>
                <a:cs typeface="Microsoft Sans Serif"/>
              </a:rPr>
              <a:t>TV,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icrosoft Sans Serif"/>
                <a:cs typeface="Microsoft Sans Serif"/>
              </a:rPr>
              <a:t>TFT</a:t>
            </a:r>
            <a:r>
              <a:rPr kumimoji="0" sz="1600" b="0" i="0" u="none" strike="noStrike" kern="0" cap="none" spc="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icrosoft Sans Serif"/>
                <a:cs typeface="Microsoft Sans Serif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icrosoft Sans Serif"/>
                <a:cs typeface="Microsoft Sans Serif"/>
              </a:rPr>
              <a:t>Display)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Microsoft Sans Serif"/>
              <a:cs typeface="Microsoft Sans Serif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815558" y="3197090"/>
            <a:ext cx="1728470" cy="7645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lvl="0" indent="-635" algn="ctr" defTabSz="914400" eaLnBrk="1" fontAlgn="auto" latinLnBrk="0" hangingPunct="1">
              <a:lnSpc>
                <a:spcPct val="101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icrosoft Sans Serif"/>
                <a:cs typeface="Microsoft Sans Serif"/>
              </a:rPr>
              <a:t>E&amp;M</a:t>
            </a:r>
            <a:r>
              <a:rPr kumimoji="0" sz="1600" b="0" i="0" u="none" strike="noStrike" kern="0" cap="none" spc="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icrosoft Sans Serif"/>
                <a:cs typeface="Microsoft Sans Serif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icrosoft Sans Serif"/>
                <a:cs typeface="Microsoft Sans Serif"/>
              </a:rPr>
              <a:t>Waves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icrosoft Sans Serif"/>
                <a:cs typeface="Microsoft Sans Serif"/>
              </a:rPr>
              <a:t>(Cellphone,</a:t>
            </a:r>
            <a:r>
              <a:rPr kumimoji="0" sz="1600" b="0" i="0" u="none" strike="noStrike" kern="0" cap="none" spc="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icrosoft Sans Serif"/>
                <a:cs typeface="Microsoft Sans Serif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icrosoft Sans Serif"/>
                <a:cs typeface="Microsoft Sans Serif"/>
              </a:rPr>
              <a:t>Radio, 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icrosoft Sans Serif"/>
                <a:cs typeface="Microsoft Sans Serif"/>
              </a:rPr>
              <a:t>GPS)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Microsoft Sans Serif"/>
              <a:cs typeface="Microsoft Sans Serif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876605" y="3186835"/>
            <a:ext cx="1926589" cy="7645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46710" marR="5080" lvl="0" indent="-334645" defTabSz="914400" eaLnBrk="1" fontAlgn="auto" latinLnBrk="0" hangingPunct="1">
              <a:lnSpc>
                <a:spcPct val="101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cs typeface="Arial"/>
              </a:rPr>
              <a:t>Digital</a:t>
            </a:r>
            <a:r>
              <a:rPr kumimoji="0" sz="2400" b="1" i="0" u="none" strike="noStrike" kern="0" cap="none" spc="4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1" i="0" u="none" strike="noStrike" kern="0" cap="none" spc="-2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cs typeface="Arial"/>
              </a:rPr>
              <a:t>World </a:t>
            </a:r>
            <a:r>
              <a:rPr kumimoji="0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cs typeface="Arial"/>
              </a:rPr>
              <a:t>(DT,</a:t>
            </a:r>
            <a:r>
              <a:rPr kumimoji="0" sz="2400" b="1" i="0" u="none" strike="noStrike" kern="0" cap="none" spc="2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1" i="0" u="none" strike="noStrike" kern="0" cap="none" spc="-2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cs typeface="Arial"/>
              </a:rPr>
              <a:t>DA)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825218" y="1494165"/>
            <a:ext cx="2029460" cy="7645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97510" marR="5080" lvl="0" indent="-385445" defTabSz="914400" eaLnBrk="1" fontAlgn="auto" latinLnBrk="0" hangingPunct="1">
              <a:lnSpc>
                <a:spcPct val="101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cs typeface="Arial"/>
              </a:rPr>
              <a:t>Analog</a:t>
            </a:r>
            <a:r>
              <a:rPr kumimoji="0" sz="2400" b="1" i="0" u="none" strike="noStrike" kern="0" cap="none" spc="5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1" i="0" u="none" strike="noStrike" kern="0" cap="none" spc="-2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cs typeface="Arial"/>
              </a:rPr>
              <a:t>World </a:t>
            </a:r>
            <a:r>
              <a:rPr kumimoji="0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cs typeface="Arial"/>
              </a:rPr>
              <a:t>(CT,</a:t>
            </a:r>
            <a:r>
              <a:rPr kumimoji="0" sz="2400" b="1" i="0" u="none" strike="noStrike" kern="0" cap="none" spc="2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1" i="0" u="none" strike="noStrike" kern="0" cap="none" spc="-2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cs typeface="Arial"/>
              </a:rPr>
              <a:t>CA)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482449" y="4582002"/>
            <a:ext cx="2265045" cy="7645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lvl="0" indent="0" algn="ctr" defTabSz="914400" eaLnBrk="1" fontAlgn="auto" latinLnBrk="0" hangingPunct="1">
              <a:lnSpc>
                <a:spcPct val="101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icrosoft Sans Serif"/>
                <a:cs typeface="Microsoft Sans Serif"/>
              </a:rPr>
              <a:t>Biochemical</a:t>
            </a:r>
            <a:r>
              <a:rPr kumimoji="0" sz="1600" b="0" i="0" u="none" strike="noStrike" kern="0" cap="none" spc="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icrosoft Sans Serif"/>
                <a:cs typeface="Microsoft Sans Serif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icrosoft Sans Serif"/>
                <a:cs typeface="Microsoft Sans Serif"/>
              </a:rPr>
              <a:t>Sensors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icrosoft Sans Serif"/>
                <a:cs typeface="Microsoft Sans Serif"/>
              </a:rPr>
              <a:t>(Hazard</a:t>
            </a:r>
            <a:r>
              <a:rPr kumimoji="0" sz="1600" b="0" i="0" u="none" strike="noStrike" kern="0" cap="none" spc="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icrosoft Sans Serif"/>
                <a:cs typeface="Microsoft Sans Serif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icrosoft Sans Serif"/>
                <a:cs typeface="Microsoft Sans Serif"/>
              </a:rPr>
              <a:t>detection,</a:t>
            </a:r>
            <a:r>
              <a:rPr kumimoji="0" sz="1600" b="0" i="0" u="none" strike="noStrike" kern="0" cap="none" spc="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icrosoft Sans Serif"/>
                <a:cs typeface="Microsoft Sans Serif"/>
              </a:rPr>
              <a:t> 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icrosoft Sans Serif"/>
                <a:cs typeface="Microsoft Sans Serif"/>
              </a:rPr>
              <a:t>Drug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icrosoft Sans Serif"/>
                <a:cs typeface="Microsoft Sans Serif"/>
              </a:rPr>
              <a:t>Delivery,</a:t>
            </a:r>
            <a:r>
              <a:rPr kumimoji="0" sz="1600" b="0" i="0" u="none" strike="noStrike" kern="0" cap="none" spc="9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icrosoft Sans Serif"/>
                <a:cs typeface="Microsoft Sans Serif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icrosoft Sans Serif"/>
                <a:cs typeface="Microsoft Sans Serif"/>
              </a:rPr>
              <a:t>Lab-on-a-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icrosoft Sans Serif"/>
                <a:cs typeface="Microsoft Sans Serif"/>
              </a:rPr>
              <a:t>Chip)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Microsoft Sans Serif"/>
              <a:cs typeface="Microsoft Sans Serif"/>
            </a:endParaRPr>
          </a:p>
        </p:txBody>
      </p:sp>
    </p:spTree>
    <p:extLst>
      <p:ext uri="{BB962C8B-B14F-4D97-AF65-F5344CB8AC3E}">
        <p14:creationId xmlns:p14="http://schemas.microsoft.com/office/powerpoint/2010/main" val="2990690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74415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Sensors</a:t>
            </a:r>
            <a:r>
              <a:rPr spc="-195" dirty="0"/>
              <a:t> </a:t>
            </a:r>
            <a:r>
              <a:rPr spc="-25" dirty="0"/>
              <a:t>Proliferation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33771" y="1426485"/>
            <a:ext cx="1991846" cy="388729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01:</a:t>
            </a:r>
            <a:r>
              <a:rPr kumimoji="0" sz="1400" b="1" i="0" u="none" strike="noStrike" kern="0" cap="none" spc="-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1" i="0" u="none" strike="noStrike" kern="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Introduction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71600" marR="0" lvl="0" indent="0" defTabSz="91440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400" b="1" i="0" u="none" strike="noStrike" kern="0" cap="none" spc="-2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pPr marL="1371600" marR="0" lvl="0" indent="0" defTabSz="914400" eaLnBrk="1" fontAlgn="auto" latinLnBrk="0" hangingPunct="1">
                <a:lnSpc>
                  <a:spcPts val="143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sz="1400" b="1" i="0" u="none" strike="noStrike" kern="0" cap="none" spc="-25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99908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74415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Sensors</a:t>
            </a:r>
            <a:r>
              <a:rPr spc="-195" dirty="0"/>
              <a:t> </a:t>
            </a:r>
            <a:r>
              <a:rPr spc="-25" dirty="0"/>
              <a:t>Proliferation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725161" y="1292542"/>
            <a:ext cx="2300605" cy="4021454"/>
            <a:chOff x="4725161" y="1292542"/>
            <a:chExt cx="2300605" cy="4021454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33771" y="1426485"/>
              <a:ext cx="1991846" cy="3887297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725161" y="1306830"/>
              <a:ext cx="863600" cy="3773804"/>
            </a:xfrm>
            <a:custGeom>
              <a:avLst/>
              <a:gdLst/>
              <a:ahLst/>
              <a:cxnLst/>
              <a:rect l="l" t="t" r="r" b="b"/>
              <a:pathLst>
                <a:path w="863600" h="3773804">
                  <a:moveTo>
                    <a:pt x="359663" y="0"/>
                  </a:moveTo>
                  <a:lnTo>
                    <a:pt x="863473" y="267081"/>
                  </a:lnTo>
                </a:path>
                <a:path w="863600" h="3773804">
                  <a:moveTo>
                    <a:pt x="0" y="2409444"/>
                  </a:moveTo>
                  <a:lnTo>
                    <a:pt x="863600" y="2409444"/>
                  </a:lnTo>
                </a:path>
                <a:path w="863600" h="3773804">
                  <a:moveTo>
                    <a:pt x="0" y="1726692"/>
                  </a:moveTo>
                  <a:lnTo>
                    <a:pt x="863600" y="1726692"/>
                  </a:lnTo>
                </a:path>
                <a:path w="863600" h="3773804">
                  <a:moveTo>
                    <a:pt x="0" y="362712"/>
                  </a:moveTo>
                  <a:lnTo>
                    <a:pt x="863600" y="362712"/>
                  </a:lnTo>
                </a:path>
                <a:path w="863600" h="3773804">
                  <a:moveTo>
                    <a:pt x="0" y="1045464"/>
                  </a:moveTo>
                  <a:lnTo>
                    <a:pt x="863600" y="1045464"/>
                  </a:lnTo>
                </a:path>
                <a:path w="863600" h="3773804">
                  <a:moveTo>
                    <a:pt x="0" y="3092196"/>
                  </a:moveTo>
                  <a:lnTo>
                    <a:pt x="863600" y="3092196"/>
                  </a:lnTo>
                </a:path>
                <a:path w="863600" h="3773804">
                  <a:moveTo>
                    <a:pt x="0" y="3773424"/>
                  </a:moveTo>
                  <a:lnTo>
                    <a:pt x="863600" y="3773424"/>
                  </a:lnTo>
                </a:path>
              </a:pathLst>
            </a:custGeom>
            <a:ln w="28575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4511802" y="954735"/>
            <a:ext cx="11449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Light</a:t>
            </a:r>
            <a:r>
              <a:rPr kumimoji="0" sz="1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sensor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885948" y="1368933"/>
            <a:ext cx="1760220" cy="3980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0" marR="5715" lvl="0" indent="0" algn="r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Proximity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508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sensor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5715" lvl="0" indent="572770" algn="r" defTabSz="914400" eaLnBrk="1" fontAlgn="auto" latinLnBrk="0" hangingPunct="1">
              <a:lnSpc>
                <a:spcPct val="100000"/>
              </a:lnSpc>
              <a:spcBef>
                <a:spcPts val="10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Touchscreen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(capacitive</a:t>
            </a:r>
            <a:r>
              <a:rPr kumimoji="0" sz="1800" b="0" i="0" u="none" strike="noStrike" kern="0" cap="none" spc="-9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sensor)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5715" lvl="0" indent="368300" algn="r" defTabSz="914400" eaLnBrk="1" fontAlgn="auto" latinLnBrk="0" hangingPunct="1">
              <a:lnSpc>
                <a:spcPct val="100000"/>
              </a:lnSpc>
              <a:spcBef>
                <a:spcPts val="10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Accelerometer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(capacitive</a:t>
            </a:r>
            <a:r>
              <a:rPr kumimoji="0" sz="1800" b="0" i="0" u="none" strike="noStrike" kern="0" cap="none" spc="-9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sensor)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6985" lvl="0" indent="0" algn="r" defTabSz="914400" eaLnBrk="1" fontAlgn="auto" latinLnBrk="0" hangingPunct="1">
              <a:lnSpc>
                <a:spcPct val="100000"/>
              </a:lnSpc>
              <a:spcBef>
                <a:spcPts val="10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Gyroscope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5715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(capacitive</a:t>
            </a:r>
            <a:r>
              <a:rPr kumimoji="0" sz="1800" b="0" i="0" u="none" strike="noStrike" kern="0" cap="none" spc="-10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sensor)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40335" marR="6350" lvl="0" indent="610870" algn="r" defTabSz="914400" eaLnBrk="1" fontAlgn="auto" latinLnBrk="0" hangingPunct="1">
              <a:lnSpc>
                <a:spcPct val="100000"/>
              </a:lnSpc>
              <a:spcBef>
                <a:spcPts val="10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Barometer (pressure</a:t>
            </a:r>
            <a:r>
              <a:rPr kumimoji="0" sz="18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sensor)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40335" marR="6985" lvl="0" indent="223520" algn="r" defTabSz="914400" eaLnBrk="1" fontAlgn="auto" latinLnBrk="0" hangingPunct="1">
              <a:lnSpc>
                <a:spcPct val="100000"/>
              </a:lnSpc>
              <a:spcBef>
                <a:spcPts val="10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microphones (pressure</a:t>
            </a:r>
            <a:r>
              <a:rPr kumimoji="0" sz="18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sensor)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477253" y="1363726"/>
            <a:ext cx="2668905" cy="39865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>
                <a:tab pos="924560" algn="l"/>
              </a:tabLst>
              <a:defRPr/>
            </a:pPr>
            <a:r>
              <a:rPr kumimoji="0" sz="1800" b="0" i="0" u="heavy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C00000"/>
                  </a:solidFill>
                </a:uFill>
                <a:latin typeface="Calibri"/>
                <a:cs typeface="Calibri"/>
              </a:rPr>
              <a:t>	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 cameras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96774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(image</a:t>
            </a:r>
            <a:r>
              <a:rPr kumimoji="0" sz="18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sensor)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0" lvl="0" indent="0" defTabSz="914400" eaLnBrk="1" fontAlgn="auto" latinLnBrk="0" hangingPunct="1">
              <a:lnSpc>
                <a:spcPts val="2145"/>
              </a:lnSpc>
              <a:spcBef>
                <a:spcPts val="1085"/>
              </a:spcBef>
              <a:spcAft>
                <a:spcPts val="0"/>
              </a:spcAft>
              <a:buClrTx/>
              <a:buSzTx/>
              <a:buFontTx/>
              <a:buNone/>
              <a:tabLst>
                <a:tab pos="924560" algn="l"/>
              </a:tabLst>
              <a:defRPr/>
            </a:pPr>
            <a:r>
              <a:rPr kumimoji="0" sz="1800" b="0" i="0" u="heavy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C00000"/>
                  </a:solidFill>
                </a:uFill>
                <a:latin typeface="Calibri"/>
                <a:cs typeface="Calibri"/>
              </a:rPr>
              <a:t>	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700" b="0" i="0" u="none" strike="noStrike" kern="0" cap="none" spc="0" normalizeH="0" baseline="154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Heartrate</a:t>
            </a:r>
            <a:endParaRPr kumimoji="0" sz="2700" b="0" i="0" u="none" strike="noStrike" kern="0" cap="none" spc="0" normalizeH="0" baseline="1543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967740" marR="0" lvl="0" indent="0" defTabSz="914400" eaLnBrk="1" fontAlgn="auto" latinLnBrk="0" hangingPunct="1">
              <a:lnSpc>
                <a:spcPts val="21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sensor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0" lvl="0" indent="0" defTabSz="914400" eaLnBrk="1" fontAlgn="auto" latinLnBrk="0" hangingPunct="1">
              <a:lnSpc>
                <a:spcPts val="2150"/>
              </a:lnSpc>
              <a:spcBef>
                <a:spcPts val="1080"/>
              </a:spcBef>
              <a:spcAft>
                <a:spcPts val="0"/>
              </a:spcAft>
              <a:buClrTx/>
              <a:buSzTx/>
              <a:buFontTx/>
              <a:buNone/>
              <a:tabLst>
                <a:tab pos="924560" algn="l"/>
              </a:tabLst>
              <a:defRPr/>
            </a:pPr>
            <a:r>
              <a:rPr kumimoji="0" sz="1800" b="0" i="0" u="heavy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C00000"/>
                  </a:solidFill>
                </a:uFill>
                <a:latin typeface="Calibri"/>
                <a:cs typeface="Calibri"/>
              </a:rPr>
              <a:t>	</a:t>
            </a:r>
            <a:r>
              <a:rPr kumimoji="0" sz="1800" b="0" i="0" u="none" strike="noStrike" kern="0" cap="none" spc="-10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Oxygen</a:t>
            </a:r>
            <a:r>
              <a:rPr kumimoji="0" sz="1800" b="0" i="0" u="none" strike="noStrike" kern="0" cap="none" spc="-9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saturation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967740" marR="0" lvl="0" indent="0" defTabSz="914400" eaLnBrk="1" fontAlgn="auto" latinLnBrk="0" hangingPunct="1">
              <a:lnSpc>
                <a:spcPts val="21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sensor</a:t>
            </a:r>
            <a:r>
              <a:rPr kumimoji="0" sz="1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(SpO2)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0" lvl="0" indent="0" defTabSz="914400" eaLnBrk="1" fontAlgn="auto" latinLnBrk="0" hangingPunct="1">
              <a:lnSpc>
                <a:spcPts val="2150"/>
              </a:lnSpc>
              <a:spcBef>
                <a:spcPts val="1070"/>
              </a:spcBef>
              <a:spcAft>
                <a:spcPts val="0"/>
              </a:spcAft>
              <a:buClrTx/>
              <a:buSzTx/>
              <a:buFontTx/>
              <a:buNone/>
              <a:tabLst>
                <a:tab pos="924560" algn="l"/>
              </a:tabLst>
              <a:defRPr/>
            </a:pPr>
            <a:r>
              <a:rPr kumimoji="0" sz="1800" b="0" i="0" u="heavy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C00000"/>
                  </a:solidFill>
                </a:uFill>
                <a:latin typeface="Calibri"/>
                <a:cs typeface="Calibri"/>
              </a:rPr>
              <a:t>	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Temperature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852169" lvl="0" indent="0" algn="r" defTabSz="914400" eaLnBrk="1" fontAlgn="auto" latinLnBrk="0" hangingPunct="1">
              <a:lnSpc>
                <a:spcPts val="21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sensor(s)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858519" lvl="0" indent="0" algn="r" defTabSz="914400" eaLnBrk="1" fontAlgn="auto" latinLnBrk="0" hangingPunct="1">
              <a:lnSpc>
                <a:spcPts val="2155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1860" algn="l"/>
              </a:tabLst>
              <a:defRPr/>
            </a:pPr>
            <a:r>
              <a:rPr kumimoji="0" sz="1800" b="0" i="0" u="heavy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C00000"/>
                  </a:solidFill>
                </a:uFill>
                <a:latin typeface="Calibri"/>
                <a:cs typeface="Calibri"/>
              </a:rPr>
              <a:t>	</a:t>
            </a:r>
            <a:r>
              <a:rPr kumimoji="0" sz="1800" b="0" i="0" u="none" strike="noStrike" kern="0" cap="none" spc="-10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Compass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796925" marR="0" lvl="0" indent="0" algn="ctr" defTabSz="914400" eaLnBrk="1" fontAlgn="auto" latinLnBrk="0" hangingPunct="1">
              <a:lnSpc>
                <a:spcPts val="215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(magnetometer)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654685" lvl="0" indent="0" algn="ctr" defTabSz="914400" eaLnBrk="1" fontAlgn="auto" latinLnBrk="0" hangingPunct="1">
              <a:lnSpc>
                <a:spcPct val="100000"/>
              </a:lnSpc>
              <a:spcBef>
                <a:spcPts val="105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1860" algn="l"/>
              </a:tabLst>
              <a:defRPr/>
            </a:pPr>
            <a:r>
              <a:rPr kumimoji="0" sz="1800" b="0" i="0" u="heavy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C00000"/>
                  </a:solidFill>
                </a:uFill>
                <a:latin typeface="Calibri"/>
                <a:cs typeface="Calibri"/>
              </a:rPr>
              <a:t>	</a:t>
            </a:r>
            <a:r>
              <a:rPr kumimoji="0" sz="1800" b="0" i="0" u="none" strike="noStrike" kern="0" cap="none" spc="-8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Fingerprint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109855" lvl="0" indent="0" algn="ctr" defTabSz="91440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sensor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86839" y="5896608"/>
            <a:ext cx="8626475" cy="696595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298450" marR="0" lvl="0" indent="-285750" defTabSz="914400" eaLnBrk="1" fontAlgn="auto" latinLnBrk="0" hangingPunct="1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Tx/>
              <a:buSzTx/>
              <a:buFont typeface="Wingdings"/>
              <a:buChar char=""/>
              <a:tabLst>
                <a:tab pos="298450" algn="l"/>
              </a:tabLst>
              <a:defRPr/>
            </a:pP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cs typeface="Calibri"/>
              </a:rPr>
              <a:t>Smart</a:t>
            </a:r>
            <a:r>
              <a:rPr kumimoji="0" sz="2000" b="1" i="0" u="none" strike="noStrike" kern="0" cap="none" spc="-3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cs typeface="Calibri"/>
              </a:rPr>
              <a:t>sensors</a:t>
            </a:r>
            <a:r>
              <a:rPr kumimoji="0" sz="2000" b="1" i="0" u="none" strike="noStrike" kern="0" cap="none" spc="-4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1" i="0" u="none" strike="noStrike" kern="0" cap="none" spc="-1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cs typeface="Calibri"/>
              </a:rPr>
              <a:t>market</a:t>
            </a:r>
            <a:r>
              <a:rPr kumimoji="0" sz="2000" b="1" i="0" u="none" strike="noStrike" kern="0" cap="none" spc="-2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cs typeface="Calibri"/>
              </a:rPr>
              <a:t>will</a:t>
            </a:r>
            <a:r>
              <a:rPr kumimoji="0" sz="2000" b="1" i="0" u="none" strike="noStrike" kern="0" cap="none" spc="-3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cs typeface="Calibri"/>
              </a:rPr>
              <a:t>grow</a:t>
            </a:r>
            <a:r>
              <a:rPr kumimoji="0" sz="2000" b="1" i="0" u="none" strike="noStrike" kern="0" cap="none" spc="-3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cs typeface="Calibri"/>
              </a:rPr>
              <a:t>from</a:t>
            </a:r>
            <a:r>
              <a:rPr kumimoji="0" sz="2000" b="1" i="0" u="none" strike="noStrike" kern="0" cap="none" spc="-2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cs typeface="Calibri"/>
              </a:rPr>
              <a:t>$46</a:t>
            </a:r>
            <a:r>
              <a:rPr kumimoji="0" sz="2000" b="1" i="0" u="none" strike="noStrike" kern="0" cap="none" spc="-4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cs typeface="Calibri"/>
              </a:rPr>
              <a:t>billion</a:t>
            </a:r>
            <a:r>
              <a:rPr kumimoji="0" sz="2000" b="1" i="0" u="none" strike="noStrike" kern="0" cap="none" spc="-4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sz="2000" b="1" i="0" u="none" strike="noStrike" kern="0" cap="none" spc="-2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cs typeface="Calibri"/>
              </a:rPr>
              <a:t>2022</a:t>
            </a:r>
            <a:r>
              <a:rPr kumimoji="0" sz="2000" b="1" i="0" u="none" strike="noStrike" kern="0" cap="none" spc="-4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000" b="1" i="0" u="none" strike="noStrike" kern="0" cap="none" spc="-3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cs typeface="Calibri"/>
              </a:rPr>
              <a:t>$100</a:t>
            </a:r>
            <a:r>
              <a:rPr kumimoji="0" sz="2000" b="1" i="0" u="none" strike="noStrike" kern="0" cap="none" spc="-4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cs typeface="Calibri"/>
              </a:rPr>
              <a:t>billion</a:t>
            </a:r>
            <a:r>
              <a:rPr kumimoji="0" sz="2000" b="1" i="0" u="none" strike="noStrike" kern="0" cap="none" spc="-6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cs typeface="Calibri"/>
              </a:rPr>
              <a:t>by</a:t>
            </a:r>
            <a:r>
              <a:rPr kumimoji="0" sz="2000" b="1" i="0" u="none" strike="noStrike" kern="0" cap="none" spc="-2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cs typeface="Calibri"/>
              </a:rPr>
              <a:t> 2027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182620" marR="0" lvl="0" indent="0" defTabSz="914400" eaLnBrk="1" fontAlgn="auto" latinLnBrk="0" hangingPunct="1">
              <a:lnSpc>
                <a:spcPct val="100000"/>
              </a:lnSpc>
              <a:spcBef>
                <a:spcPts val="4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  <a:hlinkClick r:id="rId3"/>
              </a:rPr>
              <a:t>[www.researchandmarkets.com,</a:t>
            </a:r>
            <a:r>
              <a:rPr kumimoji="0" sz="1600" b="0" i="0" u="none" strike="noStrike" kern="0" cap="none" spc="1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  <a:hlinkClick r:id="rId4"/>
              </a:rPr>
              <a:t>www.marketsandmarkets.com]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484779" y="77639"/>
            <a:ext cx="573954" cy="578509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01:</a:t>
            </a:r>
            <a:r>
              <a:rPr kumimoji="0" sz="1400" b="1" i="0" u="none" strike="noStrike" kern="0" cap="none" spc="-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1" i="0" u="none" strike="noStrike" kern="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Introduction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71600" marR="0" lvl="0" indent="0" defTabSz="91440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400" b="1" i="0" u="none" strike="noStrike" kern="0" cap="none" spc="-2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pPr marL="1371600" marR="0" lvl="0" indent="0" defTabSz="914400" eaLnBrk="1" fontAlgn="auto" latinLnBrk="0" hangingPunct="1">
                <a:lnSpc>
                  <a:spcPts val="143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sz="1400" b="1" i="0" u="none" strike="noStrike" kern="0" cap="none" spc="-25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29232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431540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Sensing</a:t>
            </a:r>
            <a:r>
              <a:rPr spc="-200" dirty="0"/>
              <a:t> </a:t>
            </a:r>
            <a:r>
              <a:rPr spc="-30" dirty="0"/>
              <a:t>Microsystems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739" y="6574942"/>
            <a:ext cx="122237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cs typeface="Calibri"/>
              </a:rPr>
              <a:t>01:</a:t>
            </a:r>
            <a:r>
              <a:rPr kumimoji="0" sz="1400" b="1" i="0" u="none" strike="noStrike" kern="0" cap="none" spc="-1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cs typeface="Calibri"/>
              </a:rPr>
              <a:t> Introduction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908028" y="6574942"/>
            <a:ext cx="20574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0" cap="none" spc="-2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cs typeface="Calibri"/>
              </a:rPr>
              <a:t>19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594085" y="1216129"/>
            <a:ext cx="4590415" cy="3822700"/>
            <a:chOff x="1594085" y="1216129"/>
            <a:chExt cx="4590415" cy="382270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94085" y="1216129"/>
              <a:ext cx="4590342" cy="382223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27632" y="1226819"/>
              <a:ext cx="4536948" cy="375970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41932" y="1335023"/>
              <a:ext cx="3456432" cy="35448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43684" y="2639555"/>
              <a:ext cx="3352800" cy="77115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245613" y="2762758"/>
              <a:ext cx="2952750" cy="488950"/>
            </a:xfrm>
            <a:custGeom>
              <a:avLst/>
              <a:gdLst/>
              <a:ahLst/>
              <a:cxnLst/>
              <a:rect l="l" t="t" r="r" b="b"/>
              <a:pathLst>
                <a:path w="2952750" h="488950">
                  <a:moveTo>
                    <a:pt x="147574" y="331215"/>
                  </a:moveTo>
                  <a:lnTo>
                    <a:pt x="0" y="429767"/>
                  </a:lnTo>
                  <a:lnTo>
                    <a:pt x="167386" y="488822"/>
                  </a:lnTo>
                  <a:lnTo>
                    <a:pt x="110687" y="433704"/>
                  </a:lnTo>
                  <a:lnTo>
                    <a:pt x="96519" y="433704"/>
                  </a:lnTo>
                  <a:lnTo>
                    <a:pt x="92583" y="402208"/>
                  </a:lnTo>
                  <a:lnTo>
                    <a:pt x="105087" y="400637"/>
                  </a:lnTo>
                  <a:lnTo>
                    <a:pt x="147574" y="331215"/>
                  </a:lnTo>
                  <a:close/>
                </a:path>
                <a:path w="2952750" h="488950">
                  <a:moveTo>
                    <a:pt x="94560" y="418027"/>
                  </a:moveTo>
                  <a:lnTo>
                    <a:pt x="96519" y="433704"/>
                  </a:lnTo>
                  <a:lnTo>
                    <a:pt x="109065" y="432128"/>
                  </a:lnTo>
                  <a:lnTo>
                    <a:pt x="94560" y="418027"/>
                  </a:lnTo>
                  <a:close/>
                </a:path>
                <a:path w="2952750" h="488950">
                  <a:moveTo>
                    <a:pt x="109065" y="432128"/>
                  </a:moveTo>
                  <a:lnTo>
                    <a:pt x="96519" y="433704"/>
                  </a:lnTo>
                  <a:lnTo>
                    <a:pt x="110687" y="433704"/>
                  </a:lnTo>
                  <a:lnTo>
                    <a:pt x="109065" y="432128"/>
                  </a:lnTo>
                  <a:close/>
                </a:path>
                <a:path w="2952750" h="488950">
                  <a:moveTo>
                    <a:pt x="2843279" y="56570"/>
                  </a:moveTo>
                  <a:lnTo>
                    <a:pt x="105087" y="400637"/>
                  </a:lnTo>
                  <a:lnTo>
                    <a:pt x="94560" y="418027"/>
                  </a:lnTo>
                  <a:lnTo>
                    <a:pt x="109065" y="432128"/>
                  </a:lnTo>
                  <a:lnTo>
                    <a:pt x="2847254" y="88061"/>
                  </a:lnTo>
                  <a:lnTo>
                    <a:pt x="2857828" y="70824"/>
                  </a:lnTo>
                  <a:lnTo>
                    <a:pt x="2857969" y="70824"/>
                  </a:lnTo>
                  <a:lnTo>
                    <a:pt x="2843279" y="56570"/>
                  </a:lnTo>
                  <a:close/>
                </a:path>
                <a:path w="2952750" h="488950">
                  <a:moveTo>
                    <a:pt x="105087" y="400637"/>
                  </a:moveTo>
                  <a:lnTo>
                    <a:pt x="92583" y="402208"/>
                  </a:lnTo>
                  <a:lnTo>
                    <a:pt x="94560" y="418027"/>
                  </a:lnTo>
                  <a:lnTo>
                    <a:pt x="105087" y="400637"/>
                  </a:lnTo>
                  <a:close/>
                </a:path>
                <a:path w="2952750" h="488950">
                  <a:moveTo>
                    <a:pt x="2941185" y="54990"/>
                  </a:moveTo>
                  <a:lnTo>
                    <a:pt x="2855849" y="54990"/>
                  </a:lnTo>
                  <a:lnTo>
                    <a:pt x="2859786" y="86487"/>
                  </a:lnTo>
                  <a:lnTo>
                    <a:pt x="2847254" y="88061"/>
                  </a:lnTo>
                  <a:lnTo>
                    <a:pt x="2804668" y="157479"/>
                  </a:lnTo>
                  <a:lnTo>
                    <a:pt x="2952369" y="58927"/>
                  </a:lnTo>
                  <a:lnTo>
                    <a:pt x="2941185" y="54990"/>
                  </a:lnTo>
                  <a:close/>
                </a:path>
                <a:path w="2952750" h="488950">
                  <a:moveTo>
                    <a:pt x="2857828" y="70824"/>
                  </a:moveTo>
                  <a:lnTo>
                    <a:pt x="2847254" y="88061"/>
                  </a:lnTo>
                  <a:lnTo>
                    <a:pt x="2859786" y="86487"/>
                  </a:lnTo>
                  <a:lnTo>
                    <a:pt x="2857828" y="70824"/>
                  </a:lnTo>
                  <a:close/>
                </a:path>
                <a:path w="2952750" h="488950">
                  <a:moveTo>
                    <a:pt x="2855849" y="54990"/>
                  </a:moveTo>
                  <a:lnTo>
                    <a:pt x="2843279" y="56570"/>
                  </a:lnTo>
                  <a:lnTo>
                    <a:pt x="2857969" y="70824"/>
                  </a:lnTo>
                  <a:lnTo>
                    <a:pt x="2857828" y="70824"/>
                  </a:lnTo>
                  <a:lnTo>
                    <a:pt x="2855849" y="54990"/>
                  </a:lnTo>
                  <a:close/>
                </a:path>
                <a:path w="2952750" h="488950">
                  <a:moveTo>
                    <a:pt x="2784983" y="0"/>
                  </a:moveTo>
                  <a:lnTo>
                    <a:pt x="2843279" y="56570"/>
                  </a:lnTo>
                  <a:lnTo>
                    <a:pt x="2855849" y="54990"/>
                  </a:lnTo>
                  <a:lnTo>
                    <a:pt x="2941185" y="54990"/>
                  </a:lnTo>
                  <a:lnTo>
                    <a:pt x="2784983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0660" y="3468243"/>
              <a:ext cx="102180" cy="74041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304795" y="3347084"/>
              <a:ext cx="713613" cy="204724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2023617" y="4997958"/>
            <a:ext cx="3002280" cy="1491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3530" marR="299720" lvl="0" indent="0" algn="ctr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First</a:t>
            </a:r>
            <a:r>
              <a:rPr kumimoji="0" sz="2400" b="0" i="0" u="none" strike="noStrike" kern="0" cap="none" spc="-9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accelerometer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B&amp;K,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1940s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065" marR="5080" lvl="0" indent="0" algn="ctr" defTabSz="914400" eaLnBrk="1" fontAlgn="auto" latinLnBrk="0" hangingPunct="1">
              <a:lnSpc>
                <a:spcPts val="2900"/>
              </a:lnSpc>
              <a:spcBef>
                <a:spcPts val="8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Simple</a:t>
            </a:r>
            <a:r>
              <a:rPr kumimoji="0" sz="2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bulky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transducer Acceleration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Wingdings"/>
                <a:cs typeface="Wingdings"/>
              </a:rPr>
              <a:t></a:t>
            </a:r>
            <a:r>
              <a:rPr kumimoji="0" sz="2400" b="0" i="0" u="none" strike="noStrike" kern="0" cap="none" spc="-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Voltage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7693152" y="1330452"/>
            <a:ext cx="1948180" cy="1278890"/>
            <a:chOff x="7693152" y="1330452"/>
            <a:chExt cx="1948180" cy="1278890"/>
          </a:xfrm>
        </p:grpSpPr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983038" y="1330452"/>
              <a:ext cx="1394732" cy="100495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693152" y="1738871"/>
              <a:ext cx="940295" cy="870216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7895082" y="1921002"/>
              <a:ext cx="540385" cy="471170"/>
            </a:xfrm>
            <a:custGeom>
              <a:avLst/>
              <a:gdLst/>
              <a:ahLst/>
              <a:cxnLst/>
              <a:rect l="l" t="t" r="r" b="b"/>
              <a:pathLst>
                <a:path w="540384" h="471169">
                  <a:moveTo>
                    <a:pt x="448289" y="411673"/>
                  </a:moveTo>
                  <a:lnTo>
                    <a:pt x="368173" y="426212"/>
                  </a:lnTo>
                  <a:lnTo>
                    <a:pt x="540003" y="470662"/>
                  </a:lnTo>
                  <a:lnTo>
                    <a:pt x="519193" y="419988"/>
                  </a:lnTo>
                  <a:lnTo>
                    <a:pt x="457835" y="419988"/>
                  </a:lnTo>
                  <a:lnTo>
                    <a:pt x="448289" y="411673"/>
                  </a:lnTo>
                  <a:close/>
                </a:path>
                <a:path w="540384" h="471169">
                  <a:moveTo>
                    <a:pt x="468249" y="408051"/>
                  </a:moveTo>
                  <a:lnTo>
                    <a:pt x="448289" y="411673"/>
                  </a:lnTo>
                  <a:lnTo>
                    <a:pt x="457835" y="419988"/>
                  </a:lnTo>
                  <a:lnTo>
                    <a:pt x="468249" y="408051"/>
                  </a:lnTo>
                  <a:close/>
                </a:path>
                <a:path w="540384" h="471169">
                  <a:moveTo>
                    <a:pt x="472567" y="306450"/>
                  </a:moveTo>
                  <a:lnTo>
                    <a:pt x="469110" y="387787"/>
                  </a:lnTo>
                  <a:lnTo>
                    <a:pt x="478663" y="396113"/>
                  </a:lnTo>
                  <a:lnTo>
                    <a:pt x="457835" y="419988"/>
                  </a:lnTo>
                  <a:lnTo>
                    <a:pt x="519193" y="419988"/>
                  </a:lnTo>
                  <a:lnTo>
                    <a:pt x="472567" y="306450"/>
                  </a:lnTo>
                  <a:close/>
                </a:path>
                <a:path w="540384" h="471169">
                  <a:moveTo>
                    <a:pt x="91816" y="58970"/>
                  </a:moveTo>
                  <a:lnTo>
                    <a:pt x="71754" y="62611"/>
                  </a:lnTo>
                  <a:lnTo>
                    <a:pt x="70917" y="82892"/>
                  </a:lnTo>
                  <a:lnTo>
                    <a:pt x="448289" y="411673"/>
                  </a:lnTo>
                  <a:lnTo>
                    <a:pt x="468248" y="408051"/>
                  </a:lnTo>
                  <a:lnTo>
                    <a:pt x="469110" y="387787"/>
                  </a:lnTo>
                  <a:lnTo>
                    <a:pt x="91816" y="58970"/>
                  </a:lnTo>
                  <a:close/>
                </a:path>
                <a:path w="540384" h="471169">
                  <a:moveTo>
                    <a:pt x="469110" y="387787"/>
                  </a:moveTo>
                  <a:lnTo>
                    <a:pt x="468249" y="408051"/>
                  </a:lnTo>
                  <a:lnTo>
                    <a:pt x="478663" y="396113"/>
                  </a:lnTo>
                  <a:lnTo>
                    <a:pt x="469110" y="387787"/>
                  </a:lnTo>
                  <a:close/>
                </a:path>
                <a:path w="540384" h="471169">
                  <a:moveTo>
                    <a:pt x="0" y="0"/>
                  </a:moveTo>
                  <a:lnTo>
                    <a:pt x="67564" y="164084"/>
                  </a:lnTo>
                  <a:lnTo>
                    <a:pt x="70917" y="82892"/>
                  </a:lnTo>
                  <a:lnTo>
                    <a:pt x="61341" y="74549"/>
                  </a:lnTo>
                  <a:lnTo>
                    <a:pt x="82296" y="50673"/>
                  </a:lnTo>
                  <a:lnTo>
                    <a:pt x="137539" y="50673"/>
                  </a:lnTo>
                  <a:lnTo>
                    <a:pt x="171831" y="44450"/>
                  </a:lnTo>
                  <a:lnTo>
                    <a:pt x="0" y="0"/>
                  </a:lnTo>
                  <a:close/>
                </a:path>
                <a:path w="540384" h="471169">
                  <a:moveTo>
                    <a:pt x="71754" y="62611"/>
                  </a:moveTo>
                  <a:lnTo>
                    <a:pt x="61341" y="74549"/>
                  </a:lnTo>
                  <a:lnTo>
                    <a:pt x="70917" y="82892"/>
                  </a:lnTo>
                  <a:lnTo>
                    <a:pt x="71754" y="62611"/>
                  </a:lnTo>
                  <a:close/>
                </a:path>
                <a:path w="540384" h="471169">
                  <a:moveTo>
                    <a:pt x="82296" y="50673"/>
                  </a:moveTo>
                  <a:lnTo>
                    <a:pt x="71818" y="62611"/>
                  </a:lnTo>
                  <a:lnTo>
                    <a:pt x="91816" y="58970"/>
                  </a:lnTo>
                  <a:lnTo>
                    <a:pt x="82296" y="50673"/>
                  </a:lnTo>
                  <a:close/>
                </a:path>
                <a:path w="540384" h="471169">
                  <a:moveTo>
                    <a:pt x="137539" y="50673"/>
                  </a:moveTo>
                  <a:lnTo>
                    <a:pt x="82296" y="50673"/>
                  </a:lnTo>
                  <a:lnTo>
                    <a:pt x="91816" y="58970"/>
                  </a:lnTo>
                  <a:lnTo>
                    <a:pt x="137539" y="50673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433816" y="1872996"/>
              <a:ext cx="1207020" cy="736091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8635746" y="2042922"/>
              <a:ext cx="808355" cy="361315"/>
            </a:xfrm>
            <a:custGeom>
              <a:avLst/>
              <a:gdLst/>
              <a:ahLst/>
              <a:cxnLst/>
              <a:rect l="l" t="t" r="r" b="b"/>
              <a:pathLst>
                <a:path w="808354" h="361314">
                  <a:moveTo>
                    <a:pt x="115950" y="214629"/>
                  </a:moveTo>
                  <a:lnTo>
                    <a:pt x="0" y="348868"/>
                  </a:lnTo>
                  <a:lnTo>
                    <a:pt x="177037" y="361061"/>
                  </a:lnTo>
                  <a:lnTo>
                    <a:pt x="114583" y="326898"/>
                  </a:lnTo>
                  <a:lnTo>
                    <a:pt x="93979" y="326898"/>
                  </a:lnTo>
                  <a:lnTo>
                    <a:pt x="81787" y="297688"/>
                  </a:lnTo>
                  <a:lnTo>
                    <a:pt x="93482" y="292813"/>
                  </a:lnTo>
                  <a:lnTo>
                    <a:pt x="115950" y="214629"/>
                  </a:lnTo>
                  <a:close/>
                </a:path>
                <a:path w="808354" h="361314">
                  <a:moveTo>
                    <a:pt x="87883" y="312292"/>
                  </a:moveTo>
                  <a:lnTo>
                    <a:pt x="93979" y="326898"/>
                  </a:lnTo>
                  <a:lnTo>
                    <a:pt x="105675" y="322025"/>
                  </a:lnTo>
                  <a:lnTo>
                    <a:pt x="87883" y="312292"/>
                  </a:lnTo>
                  <a:close/>
                </a:path>
                <a:path w="808354" h="361314">
                  <a:moveTo>
                    <a:pt x="105675" y="322025"/>
                  </a:moveTo>
                  <a:lnTo>
                    <a:pt x="93979" y="326898"/>
                  </a:lnTo>
                  <a:lnTo>
                    <a:pt x="114583" y="326898"/>
                  </a:lnTo>
                  <a:lnTo>
                    <a:pt x="105675" y="322025"/>
                  </a:lnTo>
                  <a:close/>
                </a:path>
                <a:path w="808354" h="361314">
                  <a:moveTo>
                    <a:pt x="702195" y="39081"/>
                  </a:moveTo>
                  <a:lnTo>
                    <a:pt x="93482" y="292813"/>
                  </a:lnTo>
                  <a:lnTo>
                    <a:pt x="87883" y="312292"/>
                  </a:lnTo>
                  <a:lnTo>
                    <a:pt x="105675" y="322025"/>
                  </a:lnTo>
                  <a:lnTo>
                    <a:pt x="714492" y="68371"/>
                  </a:lnTo>
                  <a:lnTo>
                    <a:pt x="720089" y="48894"/>
                  </a:lnTo>
                  <a:lnTo>
                    <a:pt x="702195" y="39081"/>
                  </a:lnTo>
                  <a:close/>
                </a:path>
                <a:path w="808354" h="361314">
                  <a:moveTo>
                    <a:pt x="93482" y="292813"/>
                  </a:moveTo>
                  <a:lnTo>
                    <a:pt x="81787" y="297688"/>
                  </a:lnTo>
                  <a:lnTo>
                    <a:pt x="87883" y="312292"/>
                  </a:lnTo>
                  <a:lnTo>
                    <a:pt x="93482" y="292813"/>
                  </a:lnTo>
                  <a:close/>
                </a:path>
                <a:path w="808354" h="361314">
                  <a:moveTo>
                    <a:pt x="789014" y="34162"/>
                  </a:moveTo>
                  <a:lnTo>
                    <a:pt x="713994" y="34162"/>
                  </a:lnTo>
                  <a:lnTo>
                    <a:pt x="726185" y="63500"/>
                  </a:lnTo>
                  <a:lnTo>
                    <a:pt x="714492" y="68371"/>
                  </a:lnTo>
                  <a:lnTo>
                    <a:pt x="692023" y="146557"/>
                  </a:lnTo>
                  <a:lnTo>
                    <a:pt x="789014" y="34162"/>
                  </a:lnTo>
                  <a:close/>
                </a:path>
                <a:path w="808354" h="361314">
                  <a:moveTo>
                    <a:pt x="720116" y="48894"/>
                  </a:moveTo>
                  <a:lnTo>
                    <a:pt x="714492" y="68371"/>
                  </a:lnTo>
                  <a:lnTo>
                    <a:pt x="726185" y="63500"/>
                  </a:lnTo>
                  <a:lnTo>
                    <a:pt x="720116" y="48894"/>
                  </a:lnTo>
                  <a:close/>
                </a:path>
                <a:path w="808354" h="361314">
                  <a:moveTo>
                    <a:pt x="713994" y="34162"/>
                  </a:moveTo>
                  <a:lnTo>
                    <a:pt x="702195" y="39081"/>
                  </a:lnTo>
                  <a:lnTo>
                    <a:pt x="720089" y="48894"/>
                  </a:lnTo>
                  <a:lnTo>
                    <a:pt x="713994" y="34162"/>
                  </a:lnTo>
                  <a:close/>
                </a:path>
                <a:path w="808354" h="361314">
                  <a:moveTo>
                    <a:pt x="630935" y="0"/>
                  </a:moveTo>
                  <a:lnTo>
                    <a:pt x="702195" y="39081"/>
                  </a:lnTo>
                  <a:lnTo>
                    <a:pt x="713994" y="34162"/>
                  </a:lnTo>
                  <a:lnTo>
                    <a:pt x="789014" y="34162"/>
                  </a:lnTo>
                  <a:lnTo>
                    <a:pt x="807974" y="12191"/>
                  </a:lnTo>
                  <a:lnTo>
                    <a:pt x="630935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8946642" y="2207513"/>
            <a:ext cx="5613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4mm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614284" y="2128774"/>
            <a:ext cx="5613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3mm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859269" y="2678938"/>
            <a:ext cx="387096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ADXL350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5080" lvl="0" indent="3175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Analog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Devices,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2012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Complete</a:t>
            </a:r>
            <a:r>
              <a:rPr kumimoji="0" sz="2400" b="0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system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on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tiny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chip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848602" y="3779265"/>
            <a:ext cx="3315970" cy="2160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0" lvl="0" indent="-286385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 typeface="Microsoft Sans Serif"/>
              <a:buChar char="•"/>
              <a:tabLst>
                <a:tab pos="299085" algn="l"/>
              </a:tabLst>
              <a:defRPr/>
            </a:pPr>
            <a:r>
              <a:rPr kumimoji="0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3-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axis</a:t>
            </a:r>
            <a:r>
              <a:rPr kumimoji="0" sz="2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MEMS*</a:t>
            </a:r>
            <a:r>
              <a:rPr kumimoji="0" sz="20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accelerometer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99085" marR="0" lvl="0" indent="-286385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Microsoft Sans Serif"/>
              <a:buChar char="•"/>
              <a:tabLst>
                <a:tab pos="299085" algn="l"/>
              </a:tabLst>
              <a:defRPr/>
            </a:pPr>
            <a:r>
              <a:rPr kumimoji="0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Interface</a:t>
            </a:r>
            <a:r>
              <a:rPr kumimoji="0" sz="2000" b="0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electronics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99085" marR="0" lvl="0" indent="-286385" defTabSz="91440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 typeface="Microsoft Sans Serif"/>
              <a:buChar char="•"/>
              <a:tabLst>
                <a:tab pos="299085" algn="l"/>
              </a:tabLst>
              <a:defRPr/>
            </a:pPr>
            <a:r>
              <a:rPr kumimoji="0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Analog-</a:t>
            </a:r>
            <a:r>
              <a:rPr kumimoji="0" sz="2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to-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digital</a:t>
            </a:r>
            <a:r>
              <a:rPr kumimoji="0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conversion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99085" marR="0" lvl="0" indent="-286385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Microsoft Sans Serif"/>
              <a:buChar char="•"/>
              <a:tabLst>
                <a:tab pos="299085" algn="l"/>
              </a:tabLst>
              <a:defRPr/>
            </a:pPr>
            <a:r>
              <a:rPr kumimoji="0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Memory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99085" marR="0" lvl="0" indent="-286385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Microsoft Sans Serif"/>
              <a:buChar char="•"/>
              <a:tabLst>
                <a:tab pos="299085" algn="l"/>
              </a:tabLst>
              <a:defRPr/>
            </a:pP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Control</a:t>
            </a:r>
            <a:r>
              <a:rPr kumimoji="0" sz="2000" b="0" i="0" u="none" strike="noStrike" kern="0" cap="none" spc="-10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logic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99085" marR="0" lvl="0" indent="-286385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Microsoft Sans Serif"/>
              <a:buChar char="•"/>
              <a:tabLst>
                <a:tab pos="299085" algn="l"/>
              </a:tabLst>
              <a:defRPr/>
            </a:pPr>
            <a:r>
              <a:rPr kumimoji="0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Power</a:t>
            </a:r>
            <a:r>
              <a:rPr kumimoji="0" sz="20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management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99085" marR="0" lvl="0" indent="-286385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Microsoft Sans Serif"/>
              <a:buChar char="•"/>
              <a:tabLst>
                <a:tab pos="299085" algn="l"/>
              </a:tabLst>
              <a:defRPr/>
            </a:pP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Digital</a:t>
            </a:r>
            <a:r>
              <a:rPr kumimoji="0" sz="20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interface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848602" y="6218326"/>
            <a:ext cx="3735704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*MEMS</a:t>
            </a:r>
            <a:r>
              <a:rPr kumimoji="0" sz="2000" b="0" i="0" u="none" strike="noStrike" kern="0" cap="none" spc="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=</a:t>
            </a:r>
            <a:r>
              <a:rPr kumimoji="0" sz="2000" b="0" i="0" u="none" strike="noStrike" kern="0" cap="none" spc="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Micro-Electro-</a:t>
            </a:r>
            <a:r>
              <a:rPr kumimoji="0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Mechanical Systems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3862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00095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Signal</a:t>
            </a:r>
            <a:r>
              <a:rPr spc="-204" dirty="0"/>
              <a:t> </a:t>
            </a:r>
            <a:r>
              <a:rPr spc="-30" dirty="0"/>
              <a:t>Processing</a:t>
            </a:r>
            <a:r>
              <a:rPr spc="-215" dirty="0"/>
              <a:t> </a:t>
            </a:r>
            <a:r>
              <a:rPr spc="-10" dirty="0"/>
              <a:t>Chain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521045" y="1664001"/>
            <a:ext cx="3218815" cy="1176655"/>
            <a:chOff x="5521045" y="1664001"/>
            <a:chExt cx="3218815" cy="1176655"/>
          </a:xfrm>
        </p:grpSpPr>
        <p:sp>
          <p:nvSpPr>
            <p:cNvPr id="4" name="object 4"/>
            <p:cNvSpPr/>
            <p:nvPr/>
          </p:nvSpPr>
          <p:spPr>
            <a:xfrm>
              <a:off x="7511052" y="1846834"/>
              <a:ext cx="1214755" cy="811530"/>
            </a:xfrm>
            <a:custGeom>
              <a:avLst/>
              <a:gdLst/>
              <a:ahLst/>
              <a:cxnLst/>
              <a:rect l="l" t="t" r="r" b="b"/>
              <a:pathLst>
                <a:path w="1214754" h="811530">
                  <a:moveTo>
                    <a:pt x="1214557" y="0"/>
                  </a:moveTo>
                  <a:lnTo>
                    <a:pt x="404852" y="0"/>
                  </a:lnTo>
                  <a:lnTo>
                    <a:pt x="0" y="405491"/>
                  </a:lnTo>
                  <a:lnTo>
                    <a:pt x="404852" y="810983"/>
                  </a:lnTo>
                  <a:lnTo>
                    <a:pt x="1214557" y="810983"/>
                  </a:lnTo>
                  <a:lnTo>
                    <a:pt x="1214557" y="0"/>
                  </a:lnTo>
                  <a:close/>
                </a:path>
              </a:pathLst>
            </a:custGeom>
            <a:solidFill>
              <a:srgbClr val="FFCC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7511052" y="1846834"/>
              <a:ext cx="1214755" cy="811530"/>
            </a:xfrm>
            <a:custGeom>
              <a:avLst/>
              <a:gdLst/>
              <a:ahLst/>
              <a:cxnLst/>
              <a:rect l="l" t="t" r="r" b="b"/>
              <a:pathLst>
                <a:path w="1214754" h="811530">
                  <a:moveTo>
                    <a:pt x="1214557" y="0"/>
                  </a:moveTo>
                  <a:lnTo>
                    <a:pt x="1214557" y="810983"/>
                  </a:lnTo>
                  <a:lnTo>
                    <a:pt x="404852" y="810983"/>
                  </a:lnTo>
                  <a:lnTo>
                    <a:pt x="0" y="405491"/>
                  </a:lnTo>
                  <a:lnTo>
                    <a:pt x="404852" y="0"/>
                  </a:lnTo>
                  <a:lnTo>
                    <a:pt x="1214557" y="0"/>
                  </a:lnTo>
                  <a:close/>
                </a:path>
              </a:pathLst>
            </a:custGeom>
            <a:ln w="2701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5534698" y="1677653"/>
              <a:ext cx="1148080" cy="1149350"/>
            </a:xfrm>
            <a:custGeom>
              <a:avLst/>
              <a:gdLst/>
              <a:ahLst/>
              <a:cxnLst/>
              <a:rect l="l" t="t" r="r" b="b"/>
              <a:pathLst>
                <a:path w="1148079" h="1149350">
                  <a:moveTo>
                    <a:pt x="0" y="0"/>
                  </a:moveTo>
                  <a:lnTo>
                    <a:pt x="0" y="1149343"/>
                  </a:lnTo>
                  <a:lnTo>
                    <a:pt x="1147531" y="5746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C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5534698" y="1677653"/>
              <a:ext cx="1148080" cy="1149350"/>
            </a:xfrm>
            <a:custGeom>
              <a:avLst/>
              <a:gdLst/>
              <a:ahLst/>
              <a:cxnLst/>
              <a:rect l="l" t="t" r="r" b="b"/>
              <a:pathLst>
                <a:path w="1148079" h="1149350">
                  <a:moveTo>
                    <a:pt x="0" y="0"/>
                  </a:moveTo>
                  <a:lnTo>
                    <a:pt x="0" y="1149343"/>
                  </a:lnTo>
                  <a:lnTo>
                    <a:pt x="1147531" y="574672"/>
                  </a:lnTo>
                  <a:lnTo>
                    <a:pt x="0" y="0"/>
                  </a:lnTo>
                  <a:close/>
                </a:path>
              </a:pathLst>
            </a:custGeom>
            <a:ln w="270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640530" y="2065934"/>
            <a:ext cx="553720" cy="3498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100" b="1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Amp</a:t>
            </a:r>
            <a:endParaRPr kumimoji="0" sz="2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006892" y="2065934"/>
            <a:ext cx="475615" cy="3498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100" b="1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A/D</a:t>
            </a:r>
            <a:endParaRPr kumimoji="0" sz="2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521045" y="4495978"/>
            <a:ext cx="3218815" cy="1177290"/>
            <a:chOff x="5521045" y="4495978"/>
            <a:chExt cx="3218815" cy="1177290"/>
          </a:xfrm>
        </p:grpSpPr>
        <p:sp>
          <p:nvSpPr>
            <p:cNvPr id="11" name="object 11"/>
            <p:cNvSpPr/>
            <p:nvPr/>
          </p:nvSpPr>
          <p:spPr>
            <a:xfrm>
              <a:off x="5534698" y="4509630"/>
              <a:ext cx="1148080" cy="1149985"/>
            </a:xfrm>
            <a:custGeom>
              <a:avLst/>
              <a:gdLst/>
              <a:ahLst/>
              <a:cxnLst/>
              <a:rect l="l" t="t" r="r" b="b"/>
              <a:pathLst>
                <a:path w="1148079" h="1149985">
                  <a:moveTo>
                    <a:pt x="1147531" y="0"/>
                  </a:moveTo>
                  <a:lnTo>
                    <a:pt x="0" y="574716"/>
                  </a:lnTo>
                  <a:lnTo>
                    <a:pt x="1147531" y="1149422"/>
                  </a:lnTo>
                  <a:lnTo>
                    <a:pt x="1147531" y="0"/>
                  </a:lnTo>
                  <a:close/>
                </a:path>
              </a:pathLst>
            </a:custGeom>
            <a:solidFill>
              <a:srgbClr val="FFCC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5534698" y="4509630"/>
              <a:ext cx="1148080" cy="1149985"/>
            </a:xfrm>
            <a:custGeom>
              <a:avLst/>
              <a:gdLst/>
              <a:ahLst/>
              <a:cxnLst/>
              <a:rect l="l" t="t" r="r" b="b"/>
              <a:pathLst>
                <a:path w="1148079" h="1149985">
                  <a:moveTo>
                    <a:pt x="1147531" y="0"/>
                  </a:moveTo>
                  <a:lnTo>
                    <a:pt x="1147531" y="1149422"/>
                  </a:lnTo>
                  <a:lnTo>
                    <a:pt x="0" y="574716"/>
                  </a:lnTo>
                  <a:lnTo>
                    <a:pt x="1147531" y="0"/>
                  </a:lnTo>
                  <a:close/>
                </a:path>
              </a:pathLst>
            </a:custGeom>
            <a:ln w="270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7511052" y="4678856"/>
              <a:ext cx="1214755" cy="811530"/>
            </a:xfrm>
            <a:custGeom>
              <a:avLst/>
              <a:gdLst/>
              <a:ahLst/>
              <a:cxnLst/>
              <a:rect l="l" t="t" r="r" b="b"/>
              <a:pathLst>
                <a:path w="1214754" h="811529">
                  <a:moveTo>
                    <a:pt x="1214557" y="0"/>
                  </a:moveTo>
                  <a:lnTo>
                    <a:pt x="404852" y="0"/>
                  </a:lnTo>
                  <a:lnTo>
                    <a:pt x="0" y="405491"/>
                  </a:lnTo>
                  <a:lnTo>
                    <a:pt x="404852" y="810976"/>
                  </a:lnTo>
                  <a:lnTo>
                    <a:pt x="1214557" y="810976"/>
                  </a:lnTo>
                  <a:lnTo>
                    <a:pt x="1214557" y="0"/>
                  </a:lnTo>
                  <a:close/>
                </a:path>
              </a:pathLst>
            </a:custGeom>
            <a:solidFill>
              <a:srgbClr val="FFCC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7511052" y="4678856"/>
              <a:ext cx="1214755" cy="811530"/>
            </a:xfrm>
            <a:custGeom>
              <a:avLst/>
              <a:gdLst/>
              <a:ahLst/>
              <a:cxnLst/>
              <a:rect l="l" t="t" r="r" b="b"/>
              <a:pathLst>
                <a:path w="1214754" h="811529">
                  <a:moveTo>
                    <a:pt x="1214557" y="0"/>
                  </a:moveTo>
                  <a:lnTo>
                    <a:pt x="1214557" y="810976"/>
                  </a:lnTo>
                  <a:lnTo>
                    <a:pt x="404852" y="810976"/>
                  </a:lnTo>
                  <a:lnTo>
                    <a:pt x="0" y="405491"/>
                  </a:lnTo>
                  <a:lnTo>
                    <a:pt x="404852" y="0"/>
                  </a:lnTo>
                  <a:lnTo>
                    <a:pt x="1214557" y="0"/>
                  </a:lnTo>
                  <a:close/>
                </a:path>
              </a:pathLst>
            </a:custGeom>
            <a:ln w="2701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6023115" y="4897911"/>
            <a:ext cx="553720" cy="3498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100" b="1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Amp</a:t>
            </a:r>
            <a:endParaRPr kumimoji="0" sz="2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006892" y="4897911"/>
            <a:ext cx="475615" cy="3498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100" b="1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D/A</a:t>
            </a:r>
            <a:endParaRPr kumimoji="0" sz="2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9551284" y="1636124"/>
            <a:ext cx="1594485" cy="4023360"/>
          </a:xfrm>
          <a:custGeom>
            <a:avLst/>
            <a:gdLst/>
            <a:ahLst/>
            <a:cxnLst/>
            <a:rect l="l" t="t" r="r" b="b"/>
            <a:pathLst>
              <a:path w="1594484" h="4023360">
                <a:moveTo>
                  <a:pt x="0" y="4022928"/>
                </a:moveTo>
                <a:lnTo>
                  <a:pt x="1593903" y="4022929"/>
                </a:lnTo>
                <a:lnTo>
                  <a:pt x="1593903" y="0"/>
                </a:lnTo>
                <a:lnTo>
                  <a:pt x="0" y="0"/>
                </a:lnTo>
                <a:lnTo>
                  <a:pt x="0" y="4022928"/>
                </a:lnTo>
                <a:close/>
              </a:path>
            </a:pathLst>
          </a:custGeom>
          <a:ln w="269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673759" y="3121339"/>
            <a:ext cx="1348740" cy="9988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65" marR="5080" lvl="0" indent="0" algn="ctr" defTabSz="914400" eaLnBrk="1" fontAlgn="auto" latinLnBrk="0" hangingPunct="1">
              <a:lnSpc>
                <a:spcPct val="101299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1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Digital processing </a:t>
            </a:r>
            <a:r>
              <a:rPr kumimoji="0" sz="21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sz="2100" b="1" i="0" u="none" strike="noStrike" kern="0" cap="none" spc="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1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storage</a:t>
            </a:r>
            <a:endParaRPr kumimoji="0" sz="2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4692223" y="2184743"/>
            <a:ext cx="4876165" cy="2967355"/>
            <a:chOff x="4692223" y="2184743"/>
            <a:chExt cx="4876165" cy="2967355"/>
          </a:xfrm>
        </p:grpSpPr>
        <p:sp>
          <p:nvSpPr>
            <p:cNvPr id="20" name="object 20"/>
            <p:cNvSpPr/>
            <p:nvPr/>
          </p:nvSpPr>
          <p:spPr>
            <a:xfrm>
              <a:off x="4807988" y="5084347"/>
              <a:ext cx="2703195" cy="0"/>
            </a:xfrm>
            <a:custGeom>
              <a:avLst/>
              <a:gdLst/>
              <a:ahLst/>
              <a:cxnLst/>
              <a:rect l="l" t="t" r="r" b="b"/>
              <a:pathLst>
                <a:path w="2703195">
                  <a:moveTo>
                    <a:pt x="726710" y="0"/>
                  </a:moveTo>
                  <a:lnTo>
                    <a:pt x="0" y="0"/>
                  </a:lnTo>
                </a:path>
                <a:path w="2703195">
                  <a:moveTo>
                    <a:pt x="2703064" y="0"/>
                  </a:moveTo>
                  <a:lnTo>
                    <a:pt x="1976354" y="0"/>
                  </a:lnTo>
                </a:path>
              </a:pathLst>
            </a:custGeom>
            <a:ln w="270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05875" y="5016765"/>
              <a:ext cx="134950" cy="135163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82230" y="5016765"/>
              <a:ext cx="134950" cy="135163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4705875" y="2252325"/>
              <a:ext cx="727075" cy="0"/>
            </a:xfrm>
            <a:custGeom>
              <a:avLst/>
              <a:gdLst/>
              <a:ahLst/>
              <a:cxnLst/>
              <a:rect l="l" t="t" r="r" b="b"/>
              <a:pathLst>
                <a:path w="727075">
                  <a:moveTo>
                    <a:pt x="726710" y="0"/>
                  </a:moveTo>
                  <a:lnTo>
                    <a:pt x="0" y="0"/>
                  </a:lnTo>
                </a:path>
              </a:pathLst>
            </a:custGeom>
            <a:ln w="270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24" name="object 2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399747" y="2184743"/>
              <a:ext cx="134950" cy="135163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6682230" y="2252325"/>
              <a:ext cx="727075" cy="0"/>
            </a:xfrm>
            <a:custGeom>
              <a:avLst/>
              <a:gdLst/>
              <a:ahLst/>
              <a:cxnLst/>
              <a:rect l="l" t="t" r="r" b="b"/>
              <a:pathLst>
                <a:path w="727075">
                  <a:moveTo>
                    <a:pt x="726710" y="0"/>
                  </a:moveTo>
                  <a:lnTo>
                    <a:pt x="0" y="0"/>
                  </a:lnTo>
                </a:path>
              </a:pathLst>
            </a:custGeom>
            <a:ln w="270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26" name="object 2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376102" y="2184743"/>
              <a:ext cx="134950" cy="135163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6108464" y="2642048"/>
              <a:ext cx="0" cy="782320"/>
            </a:xfrm>
            <a:custGeom>
              <a:avLst/>
              <a:gdLst/>
              <a:ahLst/>
              <a:cxnLst/>
              <a:rect l="l" t="t" r="r" b="b"/>
              <a:pathLst>
                <a:path h="782320">
                  <a:moveTo>
                    <a:pt x="0" y="0"/>
                  </a:moveTo>
                  <a:lnTo>
                    <a:pt x="0" y="782013"/>
                  </a:lnTo>
                </a:path>
              </a:pathLst>
            </a:custGeom>
            <a:ln w="2699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28" name="object 2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040989" y="2539549"/>
              <a:ext cx="134950" cy="135163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8244960" y="2760091"/>
              <a:ext cx="0" cy="664210"/>
            </a:xfrm>
            <a:custGeom>
              <a:avLst/>
              <a:gdLst/>
              <a:ahLst/>
              <a:cxnLst/>
              <a:rect l="l" t="t" r="r" b="b"/>
              <a:pathLst>
                <a:path h="664210">
                  <a:moveTo>
                    <a:pt x="0" y="0"/>
                  </a:moveTo>
                  <a:lnTo>
                    <a:pt x="0" y="663970"/>
                  </a:lnTo>
                </a:path>
              </a:pathLst>
            </a:custGeom>
            <a:ln w="2699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30" name="object 3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177484" y="2657817"/>
              <a:ext cx="134950" cy="135163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6108464" y="3941874"/>
              <a:ext cx="0" cy="753110"/>
            </a:xfrm>
            <a:custGeom>
              <a:avLst/>
              <a:gdLst/>
              <a:ahLst/>
              <a:cxnLst/>
              <a:rect l="l" t="t" r="r" b="b"/>
              <a:pathLst>
                <a:path h="753110">
                  <a:moveTo>
                    <a:pt x="0" y="752795"/>
                  </a:moveTo>
                  <a:lnTo>
                    <a:pt x="0" y="0"/>
                  </a:lnTo>
                </a:path>
              </a:pathLst>
            </a:custGeom>
            <a:ln w="2699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32" name="object 3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040989" y="4661825"/>
              <a:ext cx="134950" cy="135163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8244960" y="3934913"/>
              <a:ext cx="0" cy="631190"/>
            </a:xfrm>
            <a:custGeom>
              <a:avLst/>
              <a:gdLst/>
              <a:ahLst/>
              <a:cxnLst/>
              <a:rect l="l" t="t" r="r" b="b"/>
              <a:pathLst>
                <a:path h="631189">
                  <a:moveTo>
                    <a:pt x="0" y="631147"/>
                  </a:moveTo>
                  <a:lnTo>
                    <a:pt x="0" y="0"/>
                  </a:lnTo>
                </a:path>
              </a:pathLst>
            </a:custGeom>
            <a:ln w="2699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34" name="object 3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177484" y="4533194"/>
              <a:ext cx="134950" cy="135163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8725610" y="2252325"/>
              <a:ext cx="727075" cy="0"/>
            </a:xfrm>
            <a:custGeom>
              <a:avLst/>
              <a:gdLst/>
              <a:ahLst/>
              <a:cxnLst/>
              <a:rect l="l" t="t" r="r" b="b"/>
              <a:pathLst>
                <a:path w="727075">
                  <a:moveTo>
                    <a:pt x="726710" y="0"/>
                  </a:moveTo>
                  <a:lnTo>
                    <a:pt x="0" y="0"/>
                  </a:lnTo>
                </a:path>
              </a:pathLst>
            </a:custGeom>
            <a:ln w="270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36" name="object 3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419482" y="2184743"/>
              <a:ext cx="134950" cy="135163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8827947" y="5084347"/>
              <a:ext cx="727075" cy="0"/>
            </a:xfrm>
            <a:custGeom>
              <a:avLst/>
              <a:gdLst/>
              <a:ahLst/>
              <a:cxnLst/>
              <a:rect l="l" t="t" r="r" b="b"/>
              <a:pathLst>
                <a:path w="727075">
                  <a:moveTo>
                    <a:pt x="726485" y="0"/>
                  </a:moveTo>
                  <a:lnTo>
                    <a:pt x="0" y="0"/>
                  </a:lnTo>
                </a:path>
              </a:pathLst>
            </a:custGeom>
            <a:ln w="270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38" name="object 3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725610" y="5016766"/>
              <a:ext cx="134950" cy="135163"/>
            </a:xfrm>
            <a:prstGeom prst="rect">
              <a:avLst/>
            </a:prstGeom>
          </p:spPr>
        </p:pic>
      </p:grpSp>
      <p:sp>
        <p:nvSpPr>
          <p:cNvPr id="39" name="object 39"/>
          <p:cNvSpPr txBox="1"/>
          <p:nvPr/>
        </p:nvSpPr>
        <p:spPr>
          <a:xfrm>
            <a:off x="5215989" y="3424061"/>
            <a:ext cx="3634104" cy="511175"/>
          </a:xfrm>
          <a:prstGeom prst="rect">
            <a:avLst/>
          </a:prstGeom>
          <a:solidFill>
            <a:srgbClr val="FFCC00"/>
          </a:solidFill>
          <a:ln w="27031">
            <a:solidFill>
              <a:srgbClr val="000000"/>
            </a:solidFill>
          </a:ln>
        </p:spPr>
        <p:txBody>
          <a:bodyPr vert="horz" wrap="square" lIns="0" tIns="69850" rIns="0" bIns="0" rtlCol="0">
            <a:spAutoFit/>
          </a:bodyPr>
          <a:lstStyle/>
          <a:p>
            <a:pPr marL="672465" marR="0" lvl="0" indent="0" defTabSz="914400" eaLnBrk="1" fontAlgn="auto" latinLnBrk="0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1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Power</a:t>
            </a:r>
            <a:r>
              <a:rPr kumimoji="0" sz="2100" b="1" i="0" u="none" strike="noStrike" kern="0" cap="none" spc="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1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Management</a:t>
            </a:r>
            <a:endParaRPr kumimoji="0" sz="2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3940704" y="1636124"/>
            <a:ext cx="765175" cy="4023360"/>
          </a:xfrm>
          <a:custGeom>
            <a:avLst/>
            <a:gdLst/>
            <a:ahLst/>
            <a:cxnLst/>
            <a:rect l="l" t="t" r="r" b="b"/>
            <a:pathLst>
              <a:path w="765175" h="4023360">
                <a:moveTo>
                  <a:pt x="0" y="4022928"/>
                </a:moveTo>
                <a:lnTo>
                  <a:pt x="765081" y="4022928"/>
                </a:lnTo>
                <a:lnTo>
                  <a:pt x="765081" y="0"/>
                </a:lnTo>
                <a:lnTo>
                  <a:pt x="0" y="0"/>
                </a:lnTo>
                <a:lnTo>
                  <a:pt x="0" y="4022928"/>
                </a:lnTo>
                <a:close/>
              </a:path>
            </a:pathLst>
          </a:custGeom>
          <a:ln w="269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4189130" y="2954860"/>
            <a:ext cx="295910" cy="138557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211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1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Transducers</a:t>
            </a:r>
            <a:endParaRPr kumimoji="0" sz="2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3111949" y="2184743"/>
            <a:ext cx="829310" cy="2967355"/>
            <a:chOff x="3111949" y="2184743"/>
            <a:chExt cx="829310" cy="2967355"/>
          </a:xfrm>
        </p:grpSpPr>
        <p:sp>
          <p:nvSpPr>
            <p:cNvPr id="43" name="object 43"/>
            <p:cNvSpPr/>
            <p:nvPr/>
          </p:nvSpPr>
          <p:spPr>
            <a:xfrm>
              <a:off x="3214106" y="5084347"/>
              <a:ext cx="727075" cy="0"/>
            </a:xfrm>
            <a:custGeom>
              <a:avLst/>
              <a:gdLst/>
              <a:ahLst/>
              <a:cxnLst/>
              <a:rect l="l" t="t" r="r" b="b"/>
              <a:pathLst>
                <a:path w="727075">
                  <a:moveTo>
                    <a:pt x="726597" y="0"/>
                  </a:moveTo>
                  <a:lnTo>
                    <a:pt x="0" y="0"/>
                  </a:lnTo>
                </a:path>
              </a:pathLst>
            </a:custGeom>
            <a:ln w="270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44" name="object 4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111949" y="5016765"/>
              <a:ext cx="134950" cy="135163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3127895" y="2252325"/>
              <a:ext cx="711200" cy="0"/>
            </a:xfrm>
            <a:custGeom>
              <a:avLst/>
              <a:gdLst/>
              <a:ahLst/>
              <a:cxnLst/>
              <a:rect l="l" t="t" r="r" b="b"/>
              <a:pathLst>
                <a:path w="711200">
                  <a:moveTo>
                    <a:pt x="0" y="0"/>
                  </a:moveTo>
                  <a:lnTo>
                    <a:pt x="710695" y="0"/>
                  </a:lnTo>
                </a:path>
              </a:pathLst>
            </a:custGeom>
            <a:ln w="270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46" name="object 4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805753" y="2184743"/>
              <a:ext cx="134950" cy="135163"/>
            </a:xfrm>
            <a:prstGeom prst="rect">
              <a:avLst/>
            </a:prstGeom>
          </p:spPr>
        </p:pic>
      </p:grpSp>
      <p:sp>
        <p:nvSpPr>
          <p:cNvPr id="47" name="object 47"/>
          <p:cNvSpPr txBox="1"/>
          <p:nvPr/>
        </p:nvSpPr>
        <p:spPr>
          <a:xfrm>
            <a:off x="1183322" y="1636124"/>
            <a:ext cx="1945005" cy="4023360"/>
          </a:xfrm>
          <a:prstGeom prst="rect">
            <a:avLst/>
          </a:prstGeom>
          <a:solidFill>
            <a:srgbClr val="CCFFCC"/>
          </a:solidFill>
          <a:ln w="26998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172720" marR="156210" lvl="0" indent="-10160" algn="just" defTabSz="914400" eaLnBrk="1" fontAlgn="auto" latinLnBrk="0" hangingPunct="1">
              <a:lnSpc>
                <a:spcPct val="101299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1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Physical</a:t>
            </a:r>
            <a:r>
              <a:rPr kumimoji="0" sz="2100" b="1" i="0" u="none" strike="noStrike" kern="0" cap="none" spc="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100" b="1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world </a:t>
            </a:r>
            <a:r>
              <a:rPr kumimoji="0" sz="21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(sound,</a:t>
            </a:r>
            <a:r>
              <a:rPr kumimoji="0" sz="2100" b="1" i="0" u="none" strike="noStrike" kern="0" cap="none" spc="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1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light, temperature, </a:t>
            </a:r>
            <a:r>
              <a:rPr kumimoji="0" sz="21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pressure,</a:t>
            </a:r>
            <a:r>
              <a:rPr kumimoji="0" sz="2100" b="1" i="0" u="none" strike="noStrike" kern="0" cap="none" spc="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100" b="1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etc.)</a:t>
            </a:r>
            <a:endParaRPr kumimoji="0" sz="2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48" name="object 4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01:</a:t>
            </a:r>
            <a:r>
              <a:rPr kumimoji="0" sz="1400" b="1" i="0" u="none" strike="noStrike" kern="0" cap="none" spc="-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1" i="0" u="none" strike="noStrike" kern="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Introduction</a:t>
            </a:r>
          </a:p>
        </p:txBody>
      </p:sp>
      <p:sp>
        <p:nvSpPr>
          <p:cNvPr id="49" name="object 4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71600" marR="0" lvl="0" indent="0" defTabSz="91440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400" b="1" i="0" u="none" strike="noStrike" kern="0" cap="none" spc="-2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pPr marL="1371600" marR="0" lvl="0" indent="0" defTabSz="914400" eaLnBrk="1" fontAlgn="auto" latinLnBrk="0" hangingPunct="1">
                <a:lnSpc>
                  <a:spcPts val="143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sz="1400" b="1" i="0" u="none" strike="noStrike" kern="0" cap="none" spc="-25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43491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10540">
              <a:lnSpc>
                <a:spcPct val="100000"/>
              </a:lnSpc>
              <a:spcBef>
                <a:spcPts val="105"/>
              </a:spcBef>
            </a:pPr>
            <a:r>
              <a:rPr spc="-30" dirty="0"/>
              <a:t>Electronic</a:t>
            </a:r>
            <a:r>
              <a:rPr spc="-195" dirty="0"/>
              <a:t> </a:t>
            </a:r>
            <a:r>
              <a:rPr spc="-10" dirty="0"/>
              <a:t>System</a:t>
            </a:r>
            <a:r>
              <a:rPr spc="-225" dirty="0"/>
              <a:t> </a:t>
            </a:r>
            <a:r>
              <a:rPr spc="-25" dirty="0"/>
              <a:t>Example:</a:t>
            </a:r>
            <a:r>
              <a:rPr spc="-175" dirty="0"/>
              <a:t> </a:t>
            </a:r>
            <a:r>
              <a:rPr spc="-20" dirty="0"/>
              <a:t>Wireless</a:t>
            </a:r>
            <a:r>
              <a:rPr spc="-195" dirty="0"/>
              <a:t> </a:t>
            </a:r>
            <a:r>
              <a:rPr spc="-10" dirty="0"/>
              <a:t>Transceiver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320322" y="2024730"/>
            <a:ext cx="2911475" cy="1064260"/>
            <a:chOff x="5320322" y="2024730"/>
            <a:chExt cx="2911475" cy="1064260"/>
          </a:xfrm>
        </p:grpSpPr>
        <p:sp>
          <p:nvSpPr>
            <p:cNvPr id="4" name="object 4"/>
            <p:cNvSpPr/>
            <p:nvPr/>
          </p:nvSpPr>
          <p:spPr>
            <a:xfrm>
              <a:off x="7120610" y="2190034"/>
              <a:ext cx="1099185" cy="733425"/>
            </a:xfrm>
            <a:custGeom>
              <a:avLst/>
              <a:gdLst/>
              <a:ahLst/>
              <a:cxnLst/>
              <a:rect l="l" t="t" r="r" b="b"/>
              <a:pathLst>
                <a:path w="1099184" h="733425">
                  <a:moveTo>
                    <a:pt x="1098621" y="0"/>
                  </a:moveTo>
                  <a:lnTo>
                    <a:pt x="366207" y="0"/>
                  </a:lnTo>
                  <a:lnTo>
                    <a:pt x="0" y="366522"/>
                  </a:lnTo>
                  <a:lnTo>
                    <a:pt x="366207" y="733044"/>
                  </a:lnTo>
                  <a:lnTo>
                    <a:pt x="1098621" y="733044"/>
                  </a:lnTo>
                  <a:lnTo>
                    <a:pt x="1098621" y="0"/>
                  </a:lnTo>
                  <a:close/>
                </a:path>
              </a:pathLst>
            </a:custGeom>
            <a:solidFill>
              <a:srgbClr val="FFCC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7120610" y="2190034"/>
              <a:ext cx="1099185" cy="733425"/>
            </a:xfrm>
            <a:custGeom>
              <a:avLst/>
              <a:gdLst/>
              <a:ahLst/>
              <a:cxnLst/>
              <a:rect l="l" t="t" r="r" b="b"/>
              <a:pathLst>
                <a:path w="1099184" h="733425">
                  <a:moveTo>
                    <a:pt x="1098621" y="0"/>
                  </a:moveTo>
                  <a:lnTo>
                    <a:pt x="1098621" y="733044"/>
                  </a:lnTo>
                  <a:lnTo>
                    <a:pt x="366207" y="733044"/>
                  </a:lnTo>
                  <a:lnTo>
                    <a:pt x="0" y="366522"/>
                  </a:lnTo>
                  <a:lnTo>
                    <a:pt x="366207" y="0"/>
                  </a:lnTo>
                  <a:lnTo>
                    <a:pt x="1098621" y="0"/>
                  </a:lnTo>
                  <a:close/>
                </a:path>
              </a:pathLst>
            </a:custGeom>
            <a:ln w="2442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5332705" y="2037113"/>
              <a:ext cx="1038225" cy="1039494"/>
            </a:xfrm>
            <a:custGeom>
              <a:avLst/>
              <a:gdLst/>
              <a:ahLst/>
              <a:cxnLst/>
              <a:rect l="l" t="t" r="r" b="b"/>
              <a:pathLst>
                <a:path w="1038225" h="1039494">
                  <a:moveTo>
                    <a:pt x="0" y="0"/>
                  </a:moveTo>
                  <a:lnTo>
                    <a:pt x="0" y="1038886"/>
                  </a:lnTo>
                  <a:lnTo>
                    <a:pt x="1038197" y="5194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C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5332705" y="2037113"/>
              <a:ext cx="1038225" cy="1039494"/>
            </a:xfrm>
            <a:custGeom>
              <a:avLst/>
              <a:gdLst/>
              <a:ahLst/>
              <a:cxnLst/>
              <a:rect l="l" t="t" r="r" b="b"/>
              <a:pathLst>
                <a:path w="1038225" h="1039494">
                  <a:moveTo>
                    <a:pt x="0" y="0"/>
                  </a:moveTo>
                  <a:lnTo>
                    <a:pt x="0" y="1038886"/>
                  </a:lnTo>
                  <a:lnTo>
                    <a:pt x="1038197" y="519443"/>
                  </a:lnTo>
                  <a:lnTo>
                    <a:pt x="0" y="0"/>
                  </a:lnTo>
                  <a:close/>
                </a:path>
              </a:pathLst>
            </a:custGeom>
            <a:ln w="244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427426" y="2386857"/>
            <a:ext cx="503555" cy="3187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900" b="1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Amp</a:t>
            </a:r>
            <a:endParaRPr kumimoji="0" sz="1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567704" y="2386857"/>
            <a:ext cx="432434" cy="3187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900" b="1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A/D</a:t>
            </a:r>
            <a:endParaRPr kumimoji="0" sz="1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320323" y="4584602"/>
            <a:ext cx="2911475" cy="1064260"/>
            <a:chOff x="5320323" y="4584602"/>
            <a:chExt cx="2911475" cy="1064260"/>
          </a:xfrm>
        </p:grpSpPr>
        <p:sp>
          <p:nvSpPr>
            <p:cNvPr id="11" name="object 11"/>
            <p:cNvSpPr/>
            <p:nvPr/>
          </p:nvSpPr>
          <p:spPr>
            <a:xfrm>
              <a:off x="5332705" y="4596984"/>
              <a:ext cx="1038225" cy="1039494"/>
            </a:xfrm>
            <a:custGeom>
              <a:avLst/>
              <a:gdLst/>
              <a:ahLst/>
              <a:cxnLst/>
              <a:rect l="l" t="t" r="r" b="b"/>
              <a:pathLst>
                <a:path w="1038225" h="1039495">
                  <a:moveTo>
                    <a:pt x="1038197" y="0"/>
                  </a:moveTo>
                  <a:lnTo>
                    <a:pt x="0" y="519463"/>
                  </a:lnTo>
                  <a:lnTo>
                    <a:pt x="1038197" y="1038951"/>
                  </a:lnTo>
                  <a:lnTo>
                    <a:pt x="1038197" y="0"/>
                  </a:lnTo>
                  <a:close/>
                </a:path>
              </a:pathLst>
            </a:custGeom>
            <a:solidFill>
              <a:srgbClr val="FFCC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5332705" y="4596984"/>
              <a:ext cx="1038225" cy="1039494"/>
            </a:xfrm>
            <a:custGeom>
              <a:avLst/>
              <a:gdLst/>
              <a:ahLst/>
              <a:cxnLst/>
              <a:rect l="l" t="t" r="r" b="b"/>
              <a:pathLst>
                <a:path w="1038225" h="1039495">
                  <a:moveTo>
                    <a:pt x="1038197" y="0"/>
                  </a:moveTo>
                  <a:lnTo>
                    <a:pt x="1038197" y="1038951"/>
                  </a:lnTo>
                  <a:lnTo>
                    <a:pt x="0" y="519463"/>
                  </a:lnTo>
                  <a:lnTo>
                    <a:pt x="1038197" y="0"/>
                  </a:lnTo>
                  <a:close/>
                </a:path>
              </a:pathLst>
            </a:custGeom>
            <a:ln w="244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7120611" y="4749926"/>
              <a:ext cx="1099185" cy="733425"/>
            </a:xfrm>
            <a:custGeom>
              <a:avLst/>
              <a:gdLst/>
              <a:ahLst/>
              <a:cxnLst/>
              <a:rect l="l" t="t" r="r" b="b"/>
              <a:pathLst>
                <a:path w="1099184" h="733425">
                  <a:moveTo>
                    <a:pt x="1098621" y="0"/>
                  </a:moveTo>
                  <a:lnTo>
                    <a:pt x="366207" y="0"/>
                  </a:lnTo>
                  <a:lnTo>
                    <a:pt x="0" y="366522"/>
                  </a:lnTo>
                  <a:lnTo>
                    <a:pt x="366207" y="733052"/>
                  </a:lnTo>
                  <a:lnTo>
                    <a:pt x="1098621" y="733052"/>
                  </a:lnTo>
                  <a:lnTo>
                    <a:pt x="1098621" y="0"/>
                  </a:lnTo>
                  <a:close/>
                </a:path>
              </a:pathLst>
            </a:custGeom>
            <a:solidFill>
              <a:srgbClr val="FFCC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7120611" y="4749926"/>
              <a:ext cx="1099185" cy="733425"/>
            </a:xfrm>
            <a:custGeom>
              <a:avLst/>
              <a:gdLst/>
              <a:ahLst/>
              <a:cxnLst/>
              <a:rect l="l" t="t" r="r" b="b"/>
              <a:pathLst>
                <a:path w="1099184" h="733425">
                  <a:moveTo>
                    <a:pt x="1098621" y="0"/>
                  </a:moveTo>
                  <a:lnTo>
                    <a:pt x="1098621" y="733052"/>
                  </a:lnTo>
                  <a:lnTo>
                    <a:pt x="366207" y="733052"/>
                  </a:lnTo>
                  <a:lnTo>
                    <a:pt x="0" y="366522"/>
                  </a:lnTo>
                  <a:lnTo>
                    <a:pt x="366207" y="0"/>
                  </a:lnTo>
                  <a:lnTo>
                    <a:pt x="1098621" y="0"/>
                  </a:lnTo>
                  <a:close/>
                </a:path>
              </a:pathLst>
            </a:custGeom>
            <a:ln w="2442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5773492" y="4946729"/>
            <a:ext cx="503555" cy="3187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900" b="1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Amp</a:t>
            </a:r>
            <a:endParaRPr kumimoji="0" sz="1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567704" y="4946729"/>
            <a:ext cx="432434" cy="3187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900" b="1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D/A</a:t>
            </a:r>
            <a:endParaRPr kumimoji="0" sz="1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966092" y="1999630"/>
            <a:ext cx="1442085" cy="3636645"/>
          </a:xfrm>
          <a:prstGeom prst="rect">
            <a:avLst/>
          </a:prstGeom>
          <a:ln w="24416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191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121920" marR="114935" lvl="0" indent="0" algn="ctr" defTabSz="914400" eaLnBrk="1" fontAlgn="auto" latinLnBrk="0" hangingPunct="1">
              <a:lnSpc>
                <a:spcPct val="1012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9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Digital processing </a:t>
            </a:r>
            <a:r>
              <a:rPr kumimoji="0" sz="19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sz="1900" b="1" i="0" u="none" strike="noStrike" kern="0" cap="none" spc="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9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storage</a:t>
            </a:r>
            <a:endParaRPr kumimoji="0" sz="1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4582997" y="4077500"/>
            <a:ext cx="4385945" cy="1100455"/>
            <a:chOff x="4582997" y="4077500"/>
            <a:chExt cx="4385945" cy="1100455"/>
          </a:xfrm>
        </p:grpSpPr>
        <p:sp>
          <p:nvSpPr>
            <p:cNvPr id="19" name="object 19"/>
            <p:cNvSpPr/>
            <p:nvPr/>
          </p:nvSpPr>
          <p:spPr>
            <a:xfrm>
              <a:off x="4675363" y="5116448"/>
              <a:ext cx="657860" cy="0"/>
            </a:xfrm>
            <a:custGeom>
              <a:avLst/>
              <a:gdLst/>
              <a:ahLst/>
              <a:cxnLst/>
              <a:rect l="l" t="t" r="r" b="b"/>
              <a:pathLst>
                <a:path w="657860">
                  <a:moveTo>
                    <a:pt x="657342" y="0"/>
                  </a:moveTo>
                  <a:lnTo>
                    <a:pt x="0" y="0"/>
                  </a:lnTo>
                </a:path>
              </a:pathLst>
            </a:custGeom>
            <a:ln w="244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82997" y="5055361"/>
              <a:ext cx="122069" cy="122174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6463268" y="5116448"/>
              <a:ext cx="657860" cy="0"/>
            </a:xfrm>
            <a:custGeom>
              <a:avLst/>
              <a:gdLst/>
              <a:ahLst/>
              <a:cxnLst/>
              <a:rect l="l" t="t" r="r" b="b"/>
              <a:pathLst>
                <a:path w="657859">
                  <a:moveTo>
                    <a:pt x="657342" y="0"/>
                  </a:moveTo>
                  <a:lnTo>
                    <a:pt x="0" y="0"/>
                  </a:lnTo>
                </a:path>
              </a:pathLst>
            </a:custGeom>
            <a:ln w="244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70903" y="5055361"/>
              <a:ext cx="122069" cy="122174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5851702" y="4083772"/>
              <a:ext cx="0" cy="680720"/>
            </a:xfrm>
            <a:custGeom>
              <a:avLst/>
              <a:gdLst/>
              <a:ahLst/>
              <a:cxnLst/>
              <a:rect l="l" t="t" r="r" b="b"/>
              <a:pathLst>
                <a:path h="680720">
                  <a:moveTo>
                    <a:pt x="0" y="680468"/>
                  </a:moveTo>
                  <a:lnTo>
                    <a:pt x="0" y="0"/>
                  </a:lnTo>
                </a:path>
              </a:pathLst>
            </a:custGeom>
            <a:ln w="2441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24" name="object 2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790668" y="4734552"/>
              <a:ext cx="122069" cy="122174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7784259" y="4077500"/>
              <a:ext cx="0" cy="570865"/>
            </a:xfrm>
            <a:custGeom>
              <a:avLst/>
              <a:gdLst/>
              <a:ahLst/>
              <a:cxnLst/>
              <a:rect l="l" t="t" r="r" b="b"/>
              <a:pathLst>
                <a:path h="570864">
                  <a:moveTo>
                    <a:pt x="0" y="570491"/>
                  </a:moveTo>
                  <a:lnTo>
                    <a:pt x="0" y="0"/>
                  </a:lnTo>
                </a:path>
              </a:pathLst>
            </a:custGeom>
            <a:ln w="2441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26" name="object 2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723225" y="4618283"/>
              <a:ext cx="122069" cy="122174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8311598" y="5116448"/>
              <a:ext cx="657860" cy="0"/>
            </a:xfrm>
            <a:custGeom>
              <a:avLst/>
              <a:gdLst/>
              <a:ahLst/>
              <a:cxnLst/>
              <a:rect l="l" t="t" r="r" b="b"/>
              <a:pathLst>
                <a:path w="657859">
                  <a:moveTo>
                    <a:pt x="657342" y="0"/>
                  </a:moveTo>
                  <a:lnTo>
                    <a:pt x="0" y="0"/>
                  </a:lnTo>
                </a:path>
              </a:pathLst>
            </a:custGeom>
            <a:ln w="244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28" name="object 2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219232" y="5055361"/>
              <a:ext cx="122069" cy="122174"/>
            </a:xfrm>
            <a:prstGeom prst="rect">
              <a:avLst/>
            </a:prstGeom>
          </p:spPr>
        </p:pic>
      </p:grpSp>
      <p:grpSp>
        <p:nvGrpSpPr>
          <p:cNvPr id="29" name="object 29"/>
          <p:cNvGrpSpPr/>
          <p:nvPr/>
        </p:nvGrpSpPr>
        <p:grpSpPr>
          <a:xfrm>
            <a:off x="2805943" y="1851650"/>
            <a:ext cx="6163310" cy="1776730"/>
            <a:chOff x="2805943" y="1851650"/>
            <a:chExt cx="6163310" cy="1776730"/>
          </a:xfrm>
        </p:grpSpPr>
        <p:sp>
          <p:nvSpPr>
            <p:cNvPr id="30" name="object 30"/>
            <p:cNvSpPr/>
            <p:nvPr/>
          </p:nvSpPr>
          <p:spPr>
            <a:xfrm>
              <a:off x="4582997" y="2556556"/>
              <a:ext cx="657860" cy="0"/>
            </a:xfrm>
            <a:custGeom>
              <a:avLst/>
              <a:gdLst/>
              <a:ahLst/>
              <a:cxnLst/>
              <a:rect l="l" t="t" r="r" b="b"/>
              <a:pathLst>
                <a:path w="657860">
                  <a:moveTo>
                    <a:pt x="657342" y="0"/>
                  </a:moveTo>
                  <a:lnTo>
                    <a:pt x="0" y="0"/>
                  </a:lnTo>
                </a:path>
              </a:pathLst>
            </a:custGeom>
            <a:ln w="244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31" name="object 3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210636" y="2495469"/>
              <a:ext cx="122069" cy="122174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6370903" y="2556556"/>
              <a:ext cx="657860" cy="0"/>
            </a:xfrm>
            <a:custGeom>
              <a:avLst/>
              <a:gdLst/>
              <a:ahLst/>
              <a:cxnLst/>
              <a:rect l="l" t="t" r="r" b="b"/>
              <a:pathLst>
                <a:path w="657859">
                  <a:moveTo>
                    <a:pt x="657342" y="0"/>
                  </a:moveTo>
                  <a:lnTo>
                    <a:pt x="0" y="0"/>
                  </a:lnTo>
                </a:path>
              </a:pathLst>
            </a:custGeom>
            <a:ln w="244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33" name="object 3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998542" y="2495469"/>
              <a:ext cx="122069" cy="122174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5851702" y="2908824"/>
              <a:ext cx="0" cy="707390"/>
            </a:xfrm>
            <a:custGeom>
              <a:avLst/>
              <a:gdLst/>
              <a:ahLst/>
              <a:cxnLst/>
              <a:rect l="l" t="t" r="r" b="b"/>
              <a:pathLst>
                <a:path h="707389">
                  <a:moveTo>
                    <a:pt x="0" y="0"/>
                  </a:moveTo>
                  <a:lnTo>
                    <a:pt x="0" y="706919"/>
                  </a:lnTo>
                </a:path>
              </a:pathLst>
            </a:custGeom>
            <a:ln w="2441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35" name="object 3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790668" y="2816379"/>
              <a:ext cx="122069" cy="122174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7784259" y="3015523"/>
              <a:ext cx="0" cy="600710"/>
            </a:xfrm>
            <a:custGeom>
              <a:avLst/>
              <a:gdLst/>
              <a:ahLst/>
              <a:cxnLst/>
              <a:rect l="l" t="t" r="r" b="b"/>
              <a:pathLst>
                <a:path h="600710">
                  <a:moveTo>
                    <a:pt x="0" y="0"/>
                  </a:moveTo>
                  <a:lnTo>
                    <a:pt x="0" y="600220"/>
                  </a:lnTo>
                </a:path>
              </a:pathLst>
            </a:custGeom>
            <a:ln w="2441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37" name="object 3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723225" y="2923078"/>
              <a:ext cx="122069" cy="122174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8219232" y="2556556"/>
              <a:ext cx="657860" cy="0"/>
            </a:xfrm>
            <a:custGeom>
              <a:avLst/>
              <a:gdLst/>
              <a:ahLst/>
              <a:cxnLst/>
              <a:rect l="l" t="t" r="r" b="b"/>
              <a:pathLst>
                <a:path w="657859">
                  <a:moveTo>
                    <a:pt x="657342" y="0"/>
                  </a:moveTo>
                  <a:lnTo>
                    <a:pt x="0" y="0"/>
                  </a:lnTo>
                </a:path>
              </a:pathLst>
            </a:custGeom>
            <a:ln w="244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39" name="object 3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846871" y="2495469"/>
              <a:ext cx="122069" cy="122174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2818326" y="1864033"/>
              <a:ext cx="346075" cy="692785"/>
            </a:xfrm>
            <a:custGeom>
              <a:avLst/>
              <a:gdLst/>
              <a:ahLst/>
              <a:cxnLst/>
              <a:rect l="l" t="t" r="r" b="b"/>
              <a:pathLst>
                <a:path w="346075" h="692785">
                  <a:moveTo>
                    <a:pt x="346025" y="0"/>
                  </a:moveTo>
                  <a:lnTo>
                    <a:pt x="0" y="0"/>
                  </a:lnTo>
                  <a:lnTo>
                    <a:pt x="173012" y="346159"/>
                  </a:lnTo>
                  <a:lnTo>
                    <a:pt x="346025" y="0"/>
                  </a:lnTo>
                  <a:close/>
                </a:path>
                <a:path w="346075" h="692785">
                  <a:moveTo>
                    <a:pt x="173012" y="0"/>
                  </a:moveTo>
                  <a:lnTo>
                    <a:pt x="173012" y="692523"/>
                  </a:lnTo>
                </a:path>
              </a:pathLst>
            </a:custGeom>
            <a:ln w="244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1" name="object 41"/>
            <p:cNvSpPr/>
            <p:nvPr/>
          </p:nvSpPr>
          <p:spPr>
            <a:xfrm>
              <a:off x="3544983" y="2149615"/>
              <a:ext cx="1038225" cy="808355"/>
            </a:xfrm>
            <a:custGeom>
              <a:avLst/>
              <a:gdLst/>
              <a:ahLst/>
              <a:cxnLst/>
              <a:rect l="l" t="t" r="r" b="b"/>
              <a:pathLst>
                <a:path w="1038225" h="808355">
                  <a:moveTo>
                    <a:pt x="1038075" y="0"/>
                  </a:moveTo>
                  <a:lnTo>
                    <a:pt x="0" y="0"/>
                  </a:lnTo>
                  <a:lnTo>
                    <a:pt x="0" y="808079"/>
                  </a:lnTo>
                  <a:lnTo>
                    <a:pt x="1038075" y="808079"/>
                  </a:lnTo>
                  <a:lnTo>
                    <a:pt x="1038075" y="0"/>
                  </a:lnTo>
                  <a:close/>
                </a:path>
              </a:pathLst>
            </a:custGeom>
            <a:solidFill>
              <a:srgbClr val="FFCC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2" name="object 42"/>
            <p:cNvSpPr/>
            <p:nvPr/>
          </p:nvSpPr>
          <p:spPr>
            <a:xfrm>
              <a:off x="3544983" y="2149615"/>
              <a:ext cx="1038225" cy="808355"/>
            </a:xfrm>
            <a:custGeom>
              <a:avLst/>
              <a:gdLst/>
              <a:ahLst/>
              <a:cxnLst/>
              <a:rect l="l" t="t" r="r" b="b"/>
              <a:pathLst>
                <a:path w="1038225" h="808355">
                  <a:moveTo>
                    <a:pt x="0" y="808079"/>
                  </a:moveTo>
                  <a:lnTo>
                    <a:pt x="1038075" y="808079"/>
                  </a:lnTo>
                  <a:lnTo>
                    <a:pt x="1038075" y="0"/>
                  </a:lnTo>
                  <a:lnTo>
                    <a:pt x="0" y="0"/>
                  </a:lnTo>
                  <a:lnTo>
                    <a:pt x="0" y="808079"/>
                  </a:lnTo>
                  <a:close/>
                </a:path>
              </a:pathLst>
            </a:custGeom>
            <a:ln w="2442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3557196" y="2369957"/>
            <a:ext cx="1014094" cy="3187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900" b="1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Rx</a:t>
            </a:r>
            <a:endParaRPr kumimoji="0" sz="1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3544983" y="4712417"/>
            <a:ext cx="1038225" cy="808355"/>
          </a:xfrm>
          <a:prstGeom prst="rect">
            <a:avLst/>
          </a:prstGeom>
          <a:solidFill>
            <a:srgbClr val="FFCC00"/>
          </a:solidFill>
          <a:ln w="24426">
            <a:solidFill>
              <a:srgbClr val="000000"/>
            </a:solidFill>
          </a:ln>
        </p:spPr>
        <p:txBody>
          <a:bodyPr vert="horz" wrap="square" lIns="0" tIns="235585" rIns="0" bIns="0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85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900" b="1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Tx</a:t>
            </a:r>
            <a:endParaRPr kumimoji="0" sz="1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2806114" y="4418534"/>
            <a:ext cx="739140" cy="766445"/>
            <a:chOff x="2806114" y="4418534"/>
            <a:chExt cx="739140" cy="766445"/>
          </a:xfrm>
        </p:grpSpPr>
        <p:sp>
          <p:nvSpPr>
            <p:cNvPr id="46" name="object 46"/>
            <p:cNvSpPr/>
            <p:nvPr/>
          </p:nvSpPr>
          <p:spPr>
            <a:xfrm>
              <a:off x="2818326" y="4430746"/>
              <a:ext cx="727075" cy="692785"/>
            </a:xfrm>
            <a:custGeom>
              <a:avLst/>
              <a:gdLst/>
              <a:ahLst/>
              <a:cxnLst/>
              <a:rect l="l" t="t" r="r" b="b"/>
              <a:pathLst>
                <a:path w="727075" h="692785">
                  <a:moveTo>
                    <a:pt x="346025" y="0"/>
                  </a:moveTo>
                  <a:lnTo>
                    <a:pt x="0" y="0"/>
                  </a:lnTo>
                  <a:lnTo>
                    <a:pt x="173012" y="346322"/>
                  </a:lnTo>
                  <a:lnTo>
                    <a:pt x="346025" y="0"/>
                  </a:lnTo>
                  <a:close/>
                </a:path>
                <a:path w="727075" h="692785">
                  <a:moveTo>
                    <a:pt x="173012" y="0"/>
                  </a:moveTo>
                  <a:lnTo>
                    <a:pt x="173012" y="692645"/>
                  </a:lnTo>
                </a:path>
                <a:path w="727075" h="692785">
                  <a:moveTo>
                    <a:pt x="726657" y="692645"/>
                  </a:moveTo>
                  <a:lnTo>
                    <a:pt x="265418" y="692645"/>
                  </a:lnTo>
                </a:path>
              </a:pathLst>
            </a:custGeom>
            <a:ln w="244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47" name="object 4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991338" y="5062304"/>
              <a:ext cx="122069" cy="122174"/>
            </a:xfrm>
            <a:prstGeom prst="rect">
              <a:avLst/>
            </a:prstGeom>
          </p:spPr>
        </p:pic>
      </p:grpSp>
      <p:grpSp>
        <p:nvGrpSpPr>
          <p:cNvPr id="48" name="object 48"/>
          <p:cNvGrpSpPr/>
          <p:nvPr/>
        </p:nvGrpSpPr>
        <p:grpSpPr>
          <a:xfrm>
            <a:off x="1757199" y="2172726"/>
            <a:ext cx="1788160" cy="2205990"/>
            <a:chOff x="1757199" y="2172726"/>
            <a:chExt cx="1788160" cy="2205990"/>
          </a:xfrm>
        </p:grpSpPr>
        <p:sp>
          <p:nvSpPr>
            <p:cNvPr id="49" name="object 49"/>
            <p:cNvSpPr/>
            <p:nvPr/>
          </p:nvSpPr>
          <p:spPr>
            <a:xfrm>
              <a:off x="2991338" y="2556556"/>
              <a:ext cx="461645" cy="0"/>
            </a:xfrm>
            <a:custGeom>
              <a:avLst/>
              <a:gdLst/>
              <a:ahLst/>
              <a:cxnLst/>
              <a:rect l="l" t="t" r="r" b="b"/>
              <a:pathLst>
                <a:path w="461645">
                  <a:moveTo>
                    <a:pt x="461238" y="0"/>
                  </a:moveTo>
                  <a:lnTo>
                    <a:pt x="0" y="0"/>
                  </a:lnTo>
                </a:path>
              </a:pathLst>
            </a:custGeom>
            <a:ln w="244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50" name="object 5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422914" y="2495469"/>
              <a:ext cx="122069" cy="122174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2333895" y="2263338"/>
              <a:ext cx="346075" cy="2103120"/>
            </a:xfrm>
            <a:custGeom>
              <a:avLst/>
              <a:gdLst/>
              <a:ahLst/>
              <a:cxnLst/>
              <a:rect l="l" t="t" r="r" b="b"/>
              <a:pathLst>
                <a:path w="346075" h="2103120">
                  <a:moveTo>
                    <a:pt x="204709" y="0"/>
                  </a:moveTo>
                  <a:lnTo>
                    <a:pt x="168716" y="56168"/>
                  </a:lnTo>
                  <a:lnTo>
                    <a:pt x="135600" y="123583"/>
                  </a:lnTo>
                  <a:lnTo>
                    <a:pt x="120187" y="161196"/>
                  </a:lnTo>
                  <a:lnTo>
                    <a:pt x="105574" y="201248"/>
                  </a:lnTo>
                  <a:lnTo>
                    <a:pt x="91787" y="243613"/>
                  </a:lnTo>
                  <a:lnTo>
                    <a:pt x="78854" y="288167"/>
                  </a:lnTo>
                  <a:lnTo>
                    <a:pt x="66801" y="334786"/>
                  </a:lnTo>
                  <a:lnTo>
                    <a:pt x="55655" y="383346"/>
                  </a:lnTo>
                  <a:lnTo>
                    <a:pt x="45443" y="433721"/>
                  </a:lnTo>
                  <a:lnTo>
                    <a:pt x="36192" y="485788"/>
                  </a:lnTo>
                  <a:lnTo>
                    <a:pt x="27929" y="539421"/>
                  </a:lnTo>
                  <a:lnTo>
                    <a:pt x="20680" y="594497"/>
                  </a:lnTo>
                  <a:lnTo>
                    <a:pt x="14473" y="650891"/>
                  </a:lnTo>
                  <a:lnTo>
                    <a:pt x="9334" y="708478"/>
                  </a:lnTo>
                  <a:lnTo>
                    <a:pt x="5291" y="767135"/>
                  </a:lnTo>
                  <a:lnTo>
                    <a:pt x="2369" y="826736"/>
                  </a:lnTo>
                  <a:lnTo>
                    <a:pt x="596" y="887157"/>
                  </a:lnTo>
                  <a:lnTo>
                    <a:pt x="0" y="948274"/>
                  </a:lnTo>
                  <a:lnTo>
                    <a:pt x="631" y="1018606"/>
                  </a:lnTo>
                  <a:lnTo>
                    <a:pt x="2501" y="1087823"/>
                  </a:lnTo>
                  <a:lnTo>
                    <a:pt x="5575" y="1155805"/>
                  </a:lnTo>
                  <a:lnTo>
                    <a:pt x="9814" y="1222430"/>
                  </a:lnTo>
                  <a:lnTo>
                    <a:pt x="15184" y="1287578"/>
                  </a:lnTo>
                  <a:lnTo>
                    <a:pt x="21648" y="1351128"/>
                  </a:lnTo>
                  <a:lnTo>
                    <a:pt x="29170" y="1412959"/>
                  </a:lnTo>
                  <a:lnTo>
                    <a:pt x="37714" y="1472951"/>
                  </a:lnTo>
                  <a:lnTo>
                    <a:pt x="47243" y="1530983"/>
                  </a:lnTo>
                  <a:lnTo>
                    <a:pt x="57722" y="1586934"/>
                  </a:lnTo>
                  <a:lnTo>
                    <a:pt x="69113" y="1640683"/>
                  </a:lnTo>
                  <a:lnTo>
                    <a:pt x="81382" y="1692110"/>
                  </a:lnTo>
                  <a:lnTo>
                    <a:pt x="94491" y="1741094"/>
                  </a:lnTo>
                  <a:lnTo>
                    <a:pt x="108405" y="1787515"/>
                  </a:lnTo>
                  <a:lnTo>
                    <a:pt x="123087" y="1831251"/>
                  </a:lnTo>
                  <a:lnTo>
                    <a:pt x="138502" y="1872182"/>
                  </a:lnTo>
                  <a:lnTo>
                    <a:pt x="154612" y="1910187"/>
                  </a:lnTo>
                  <a:lnTo>
                    <a:pt x="171382" y="1945146"/>
                  </a:lnTo>
                  <a:lnTo>
                    <a:pt x="206756" y="2005440"/>
                  </a:lnTo>
                  <a:lnTo>
                    <a:pt x="244334" y="2052099"/>
                  </a:lnTo>
                  <a:lnTo>
                    <a:pt x="283828" y="2084158"/>
                  </a:lnTo>
                  <a:lnTo>
                    <a:pt x="324946" y="2100650"/>
                  </a:lnTo>
                  <a:lnTo>
                    <a:pt x="346025" y="2102757"/>
                  </a:lnTo>
                </a:path>
              </a:pathLst>
            </a:custGeom>
            <a:ln w="244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2" name="object 52"/>
            <p:cNvSpPr/>
            <p:nvPr/>
          </p:nvSpPr>
          <p:spPr>
            <a:xfrm>
              <a:off x="2492828" y="2172726"/>
              <a:ext cx="187325" cy="150495"/>
            </a:xfrm>
            <a:custGeom>
              <a:avLst/>
              <a:gdLst/>
              <a:ahLst/>
              <a:cxnLst/>
              <a:rect l="l" t="t" r="r" b="b"/>
              <a:pathLst>
                <a:path w="187325" h="150494">
                  <a:moveTo>
                    <a:pt x="187091" y="0"/>
                  </a:moveTo>
                  <a:lnTo>
                    <a:pt x="0" y="47444"/>
                  </a:lnTo>
                  <a:lnTo>
                    <a:pt x="65835" y="150274"/>
                  </a:lnTo>
                  <a:lnTo>
                    <a:pt x="18709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3" name="object 53"/>
            <p:cNvSpPr/>
            <p:nvPr/>
          </p:nvSpPr>
          <p:spPr>
            <a:xfrm>
              <a:off x="1757199" y="3211653"/>
              <a:ext cx="1153795" cy="346710"/>
            </a:xfrm>
            <a:custGeom>
              <a:avLst/>
              <a:gdLst/>
              <a:ahLst/>
              <a:cxnLst/>
              <a:rect l="l" t="t" r="r" b="b"/>
              <a:pathLst>
                <a:path w="1153795" h="346710">
                  <a:moveTo>
                    <a:pt x="1153410" y="0"/>
                  </a:moveTo>
                  <a:lnTo>
                    <a:pt x="0" y="0"/>
                  </a:lnTo>
                  <a:lnTo>
                    <a:pt x="0" y="346322"/>
                  </a:lnTo>
                  <a:lnTo>
                    <a:pt x="1153410" y="346322"/>
                  </a:lnTo>
                  <a:lnTo>
                    <a:pt x="115341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1788654" y="3194835"/>
            <a:ext cx="1090930" cy="3187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9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EM</a:t>
            </a:r>
            <a:r>
              <a:rPr kumimoji="0" sz="1900" b="1" i="0" u="none" strike="noStrike" kern="0" cap="none" spc="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900" b="1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Waves</a:t>
            </a:r>
            <a:endParaRPr kumimoji="0" sz="1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4002966" y="2923078"/>
            <a:ext cx="122555" cy="1818005"/>
            <a:chOff x="4002966" y="2923078"/>
            <a:chExt cx="122555" cy="1818005"/>
          </a:xfrm>
        </p:grpSpPr>
        <p:sp>
          <p:nvSpPr>
            <p:cNvPr id="56" name="object 56"/>
            <p:cNvSpPr/>
            <p:nvPr/>
          </p:nvSpPr>
          <p:spPr>
            <a:xfrm>
              <a:off x="4064000" y="3015523"/>
              <a:ext cx="0" cy="600710"/>
            </a:xfrm>
            <a:custGeom>
              <a:avLst/>
              <a:gdLst/>
              <a:ahLst/>
              <a:cxnLst/>
              <a:rect l="l" t="t" r="r" b="b"/>
              <a:pathLst>
                <a:path h="600710">
                  <a:moveTo>
                    <a:pt x="0" y="0"/>
                  </a:moveTo>
                  <a:lnTo>
                    <a:pt x="0" y="600220"/>
                  </a:lnTo>
                </a:path>
              </a:pathLst>
            </a:custGeom>
            <a:ln w="2441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57" name="object 5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002966" y="2923078"/>
              <a:ext cx="122069" cy="122174"/>
            </a:xfrm>
            <a:prstGeom prst="rect">
              <a:avLst/>
            </a:prstGeom>
          </p:spPr>
        </p:pic>
        <p:sp>
          <p:nvSpPr>
            <p:cNvPr id="58" name="object 58"/>
            <p:cNvSpPr/>
            <p:nvPr/>
          </p:nvSpPr>
          <p:spPr>
            <a:xfrm>
              <a:off x="4064000" y="4077500"/>
              <a:ext cx="0" cy="570865"/>
            </a:xfrm>
            <a:custGeom>
              <a:avLst/>
              <a:gdLst/>
              <a:ahLst/>
              <a:cxnLst/>
              <a:rect l="l" t="t" r="r" b="b"/>
              <a:pathLst>
                <a:path h="570864">
                  <a:moveTo>
                    <a:pt x="0" y="570491"/>
                  </a:moveTo>
                  <a:lnTo>
                    <a:pt x="0" y="0"/>
                  </a:lnTo>
                </a:path>
              </a:pathLst>
            </a:custGeom>
            <a:ln w="2441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59" name="object 5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002966" y="4618283"/>
              <a:ext cx="122069" cy="122174"/>
            </a:xfrm>
            <a:prstGeom prst="rect">
              <a:avLst/>
            </a:prstGeom>
          </p:spPr>
        </p:pic>
      </p:grpSp>
      <p:sp>
        <p:nvSpPr>
          <p:cNvPr id="60" name="object 60"/>
          <p:cNvSpPr txBox="1"/>
          <p:nvPr/>
        </p:nvSpPr>
        <p:spPr>
          <a:xfrm>
            <a:off x="3487305" y="3615744"/>
            <a:ext cx="4844415" cy="462280"/>
          </a:xfrm>
          <a:prstGeom prst="rect">
            <a:avLst/>
          </a:prstGeom>
          <a:solidFill>
            <a:srgbClr val="FFCC00"/>
          </a:solidFill>
          <a:ln w="24434">
            <a:solidFill>
              <a:srgbClr val="000000"/>
            </a:solidFill>
          </a:ln>
        </p:spPr>
        <p:txBody>
          <a:bodyPr vert="horz" wrap="square" lIns="0" tIns="62865" rIns="0" bIns="0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4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9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Power</a:t>
            </a:r>
            <a:r>
              <a:rPr kumimoji="0" sz="1900" b="1" i="0" u="none" strike="noStrike" kern="0" cap="none" spc="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9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Management</a:t>
            </a:r>
            <a:endParaRPr kumimoji="0" sz="1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61" name="object 6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01:</a:t>
            </a:r>
            <a:r>
              <a:rPr kumimoji="0" sz="1400" b="1" i="0" u="none" strike="noStrike" kern="0" cap="none" spc="-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1" i="0" u="none" strike="noStrike" kern="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Introduction</a:t>
            </a:r>
          </a:p>
        </p:txBody>
      </p:sp>
      <p:sp>
        <p:nvSpPr>
          <p:cNvPr id="62" name="object 6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71600" marR="0" lvl="0" indent="0" defTabSz="91440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400" b="1" i="0" u="none" strike="noStrike" kern="0" cap="none" spc="-2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pPr marL="1371600" marR="0" lvl="0" indent="0" defTabSz="914400" eaLnBrk="1" fontAlgn="auto" latinLnBrk="0" hangingPunct="1">
                <a:lnSpc>
                  <a:spcPts val="143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sz="1400" b="1" i="0" u="none" strike="noStrike" kern="0" cap="none" spc="-25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66840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7305">
              <a:lnSpc>
                <a:spcPct val="100000"/>
              </a:lnSpc>
              <a:spcBef>
                <a:spcPts val="105"/>
              </a:spcBef>
            </a:pPr>
            <a:r>
              <a:rPr spc="-30" dirty="0"/>
              <a:t>Electronic</a:t>
            </a:r>
            <a:r>
              <a:rPr spc="-185" dirty="0"/>
              <a:t> </a:t>
            </a:r>
            <a:r>
              <a:rPr spc="-10" dirty="0"/>
              <a:t>System</a:t>
            </a:r>
            <a:r>
              <a:rPr spc="-220" dirty="0"/>
              <a:t> </a:t>
            </a:r>
            <a:r>
              <a:rPr spc="-25" dirty="0"/>
              <a:t>Example:</a:t>
            </a:r>
            <a:r>
              <a:rPr spc="-165" dirty="0"/>
              <a:t> </a:t>
            </a:r>
            <a:r>
              <a:rPr spc="-50" dirty="0"/>
              <a:t>Mixed-</a:t>
            </a:r>
            <a:r>
              <a:rPr spc="-20" dirty="0"/>
              <a:t>Signal</a:t>
            </a:r>
            <a:r>
              <a:rPr spc="-175" dirty="0"/>
              <a:t> </a:t>
            </a:r>
            <a:r>
              <a:rPr spc="-20" dirty="0"/>
              <a:t>Hearing</a:t>
            </a:r>
            <a:r>
              <a:rPr spc="-190" dirty="0"/>
              <a:t> </a:t>
            </a:r>
            <a:r>
              <a:rPr spc="-25" dirty="0"/>
              <a:t>Aid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39896" y="3532632"/>
            <a:ext cx="5017008" cy="201625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601202" y="5572150"/>
            <a:ext cx="2800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0.5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450073" y="5572150"/>
            <a:ext cx="2800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0.1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30190" y="5495591"/>
            <a:ext cx="1850389" cy="66548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412115" marR="0" lvl="0" indent="0" defTabSz="91440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0.01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5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Normalized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frequency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028313" y="5572150"/>
            <a:ext cx="483234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0.001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278504" y="3410839"/>
            <a:ext cx="431800" cy="15970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0" marR="5080" lvl="0" indent="0" algn="r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0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0" marR="508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-50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0" marR="5715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-100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278504" y="5416397"/>
            <a:ext cx="43116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-150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868648" y="4319568"/>
            <a:ext cx="250190" cy="39878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83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[dB]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49518" y="1722738"/>
            <a:ext cx="8539804" cy="1707150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3965699" y="1764799"/>
            <a:ext cx="393065" cy="55054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54610" marR="0" lvl="0" indent="0" defTabSz="914400" eaLnBrk="1" fontAlgn="auto" latinLnBrk="0" hangingPunct="1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icrosoft Sans Serif"/>
                <a:cs typeface="Microsoft Sans Serif"/>
              </a:rPr>
              <a:t>ΣΔ</a:t>
            </a:r>
            <a:endParaRPr kumimoji="0" sz="1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Microsoft Sans Serif"/>
              <a:cs typeface="Microsoft Sans Serif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3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icrosoft Sans Serif"/>
                <a:cs typeface="Microsoft Sans Serif"/>
              </a:rPr>
              <a:t>A/D</a:t>
            </a:r>
            <a:endParaRPr kumimoji="0" sz="1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Microsoft Sans Serif"/>
              <a:cs typeface="Microsoft Sans Serif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01:</a:t>
            </a:r>
            <a:r>
              <a:rPr kumimoji="0" sz="1400" b="1" i="0" u="none" strike="noStrike" kern="0" cap="none" spc="-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1" i="0" u="none" strike="noStrike" kern="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Introduction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9858882" y="6617081"/>
            <a:ext cx="1844039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[Y.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Chiu,</a:t>
            </a:r>
            <a:r>
              <a:rPr kumimoji="0" sz="1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EECT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7327,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UTD]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71600" marR="0" lvl="0" indent="0" defTabSz="91440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400" b="1" i="0" u="none" strike="noStrike" kern="0" cap="none" spc="-2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pPr marL="1371600" marR="0" lvl="0" indent="0" defTabSz="914400" eaLnBrk="1" fontAlgn="auto" latinLnBrk="0" hangingPunct="1">
                <a:lnSpc>
                  <a:spcPts val="143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sz="1400" b="1" i="0" u="none" strike="noStrike" kern="0" cap="none" spc="-25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252210" y="1896085"/>
            <a:ext cx="479425" cy="288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icrosoft Sans Serif"/>
                <a:cs typeface="Microsoft Sans Serif"/>
              </a:rPr>
              <a:t>DSP</a:t>
            </a:r>
            <a:endParaRPr kumimoji="0" sz="1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Microsoft Sans Serif"/>
              <a:cs typeface="Microsoft Sans Serif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849330" y="2552423"/>
            <a:ext cx="503555" cy="288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icrosoft Sans Serif"/>
                <a:cs typeface="Microsoft Sans Serif"/>
              </a:rPr>
              <a:t>AGC</a:t>
            </a:r>
            <a:endParaRPr kumimoji="0" sz="1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Microsoft Sans Serif"/>
              <a:cs typeface="Microsoft Sans Serif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28176" y="2421172"/>
            <a:ext cx="1129030" cy="660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18770" marR="5080" lvl="0" indent="-306705" defTabSz="914400" eaLnBrk="1" fontAlgn="auto" latinLnBrk="0" hangingPunct="1">
              <a:lnSpc>
                <a:spcPct val="1224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icrosoft Sans Serif"/>
                <a:cs typeface="Microsoft Sans Serif"/>
              </a:rPr>
              <a:t>Decimation Filter</a:t>
            </a:r>
            <a:endParaRPr kumimoji="0" sz="1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Microsoft Sans Serif"/>
              <a:cs typeface="Microsoft Sans Serif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383888" y="1764799"/>
            <a:ext cx="393065" cy="55054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54610" marR="0" lvl="0" indent="0" defTabSz="914400" eaLnBrk="1" fontAlgn="auto" latinLnBrk="0" hangingPunct="1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icrosoft Sans Serif"/>
                <a:cs typeface="Microsoft Sans Serif"/>
              </a:rPr>
              <a:t>ΣΔ</a:t>
            </a:r>
            <a:endParaRPr kumimoji="0" sz="1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Microsoft Sans Serif"/>
              <a:cs typeface="Microsoft Sans Serif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3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icrosoft Sans Serif"/>
                <a:cs typeface="Microsoft Sans Serif"/>
              </a:rPr>
              <a:t>D/A</a:t>
            </a:r>
            <a:endParaRPr kumimoji="0" sz="1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Microsoft Sans Serif"/>
              <a:cs typeface="Microsoft Sans Serif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524754" y="1764799"/>
            <a:ext cx="895985" cy="5505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3670" marR="5080" lvl="0" indent="-141605" defTabSz="914400" eaLnBrk="1" fontAlgn="auto" latinLnBrk="0" hangingPunct="1">
              <a:lnSpc>
                <a:spcPct val="101299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icrosoft Sans Serif"/>
                <a:cs typeface="Microsoft Sans Serif"/>
              </a:rPr>
              <a:t>H-</a:t>
            </a:r>
            <a:r>
              <a:rPr kumimoji="0" sz="17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icrosoft Sans Serif"/>
                <a:cs typeface="Microsoft Sans Serif"/>
              </a:rPr>
              <a:t>Bridge Driver</a:t>
            </a:r>
            <a:endParaRPr kumimoji="0" sz="1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Microsoft Sans Serif"/>
              <a:cs typeface="Microsoft Sans Serif"/>
            </a:endParaRPr>
          </a:p>
        </p:txBody>
      </p:sp>
    </p:spTree>
    <p:extLst>
      <p:ext uri="{BB962C8B-B14F-4D97-AF65-F5344CB8AC3E}">
        <p14:creationId xmlns:p14="http://schemas.microsoft.com/office/powerpoint/2010/main" val="393942414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6997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Levels</a:t>
            </a:r>
            <a:r>
              <a:rPr spc="-170" dirty="0"/>
              <a:t> </a:t>
            </a:r>
            <a:r>
              <a:rPr dirty="0"/>
              <a:t>of</a:t>
            </a:r>
            <a:r>
              <a:rPr spc="-150" dirty="0"/>
              <a:t> </a:t>
            </a:r>
            <a:r>
              <a:rPr spc="-25" dirty="0"/>
              <a:t>Abstraction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43298" y="1075164"/>
            <a:ext cx="8095879" cy="5504708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01:</a:t>
            </a:r>
            <a:r>
              <a:rPr kumimoji="0" sz="1400" b="1" i="0" u="none" strike="noStrike" kern="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 Introduction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71600" marR="0" lvl="0" indent="0" defTabSz="91440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400" b="1" i="0" u="none" strike="noStrike" kern="0" cap="none" spc="-2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pPr marL="1371600" marR="0" lvl="0" indent="0" defTabSz="914400" eaLnBrk="1" fontAlgn="auto" latinLnBrk="0" hangingPunct="1">
                <a:lnSpc>
                  <a:spcPts val="143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sz="1400" b="1" i="0" u="none" strike="noStrike" kern="0" cap="none" spc="-25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733278" y="6630796"/>
            <a:ext cx="1033144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[Razavi,</a:t>
            </a:r>
            <a:r>
              <a:rPr kumimoji="0" sz="1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2017]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0307441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230120">
              <a:lnSpc>
                <a:spcPct val="100000"/>
              </a:lnSpc>
              <a:spcBef>
                <a:spcPts val="105"/>
              </a:spcBef>
            </a:pPr>
            <a:r>
              <a:rPr dirty="0"/>
              <a:t>IRDS</a:t>
            </a:r>
            <a:r>
              <a:rPr spc="-195" dirty="0"/>
              <a:t> </a:t>
            </a:r>
            <a:r>
              <a:rPr spc="-40" dirty="0"/>
              <a:t>Technology</a:t>
            </a:r>
            <a:r>
              <a:rPr spc="-204" dirty="0"/>
              <a:t> </a:t>
            </a:r>
            <a:r>
              <a:rPr spc="-20" dirty="0"/>
              <a:t>Node</a:t>
            </a:r>
            <a:r>
              <a:rPr spc="-190" dirty="0"/>
              <a:t> </a:t>
            </a:r>
            <a:r>
              <a:rPr spc="-10" dirty="0"/>
              <a:t>Definition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29906" y="1726230"/>
            <a:ext cx="5278435" cy="3656312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cs typeface="Calibri"/>
              </a:rPr>
              <a:t>01:</a:t>
            </a:r>
            <a:r>
              <a:rPr kumimoji="0" sz="1400" b="1" i="0" u="none" strike="noStrike" kern="0" cap="none" spc="-1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cs typeface="Calibri"/>
              </a:rPr>
              <a:t> Introduction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0539221" y="6612813"/>
            <a:ext cx="111696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[IRDS</a:t>
            </a:r>
            <a:r>
              <a:rPr kumimoji="0" sz="1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ES,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2021]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3436" rIns="0" bIns="0" rtlCol="0">
            <a:spAutoFit/>
          </a:bodyPr>
          <a:lstStyle/>
          <a:p>
            <a:pPr marL="6971665" marR="0" lvl="0" indent="0" defTabSz="91440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400" b="1" i="0" u="none" strike="noStrike" kern="0" cap="none" spc="-2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cs typeface="Calibri"/>
              </a:rPr>
              <a:pPr marL="6971665" marR="0" lvl="0" indent="0" defTabSz="914400" eaLnBrk="1" fontAlgn="auto" latinLnBrk="0" hangingPunct="1">
                <a:lnSpc>
                  <a:spcPts val="143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sz="1400" b="1" i="0" u="none" strike="noStrike" kern="0" cap="none" spc="-25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2383324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958975">
              <a:lnSpc>
                <a:spcPct val="100000"/>
              </a:lnSpc>
              <a:spcBef>
                <a:spcPts val="105"/>
              </a:spcBef>
            </a:pPr>
            <a:r>
              <a:rPr dirty="0"/>
              <a:t>The</a:t>
            </a:r>
            <a:r>
              <a:rPr spc="-175" dirty="0"/>
              <a:t> </a:t>
            </a:r>
            <a:r>
              <a:rPr dirty="0"/>
              <a:t>End</a:t>
            </a:r>
            <a:r>
              <a:rPr spc="-185" dirty="0"/>
              <a:t> </a:t>
            </a:r>
            <a:r>
              <a:rPr dirty="0"/>
              <a:t>of</a:t>
            </a:r>
            <a:r>
              <a:rPr spc="-150" dirty="0"/>
              <a:t> </a:t>
            </a:r>
            <a:r>
              <a:rPr dirty="0"/>
              <a:t>Min</a:t>
            </a:r>
            <a:r>
              <a:rPr spc="-170" dirty="0"/>
              <a:t> </a:t>
            </a:r>
            <a:r>
              <a:rPr spc="-20" dirty="0"/>
              <a:t>Feature</a:t>
            </a:r>
            <a:r>
              <a:rPr spc="-180" dirty="0"/>
              <a:t> </a:t>
            </a:r>
            <a:r>
              <a:rPr dirty="0"/>
              <a:t>Size</a:t>
            </a:r>
            <a:r>
              <a:rPr spc="-185" dirty="0"/>
              <a:t> </a:t>
            </a:r>
            <a:r>
              <a:rPr spc="-10" dirty="0"/>
              <a:t>Scaling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80970" y="1176527"/>
            <a:ext cx="7493025" cy="522606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cs typeface="Calibri"/>
              </a:rPr>
              <a:t>01:</a:t>
            </a:r>
            <a:r>
              <a:rPr kumimoji="0" sz="1400" b="1" i="0" u="none" strike="noStrike" kern="0" cap="none" spc="-1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cs typeface="Calibri"/>
              </a:rPr>
              <a:t> Introduction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0539221" y="6612813"/>
            <a:ext cx="111696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[IRDS</a:t>
            </a:r>
            <a:r>
              <a:rPr kumimoji="0" sz="1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ES,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2020]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3436" rIns="0" bIns="0" rtlCol="0">
            <a:spAutoFit/>
          </a:bodyPr>
          <a:lstStyle/>
          <a:p>
            <a:pPr marL="6971665" marR="0" lvl="0" indent="0" defTabSz="91440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400" b="1" i="0" u="none" strike="noStrike" kern="0" cap="none" spc="-2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cs typeface="Calibri"/>
              </a:rPr>
              <a:pPr marL="6971665" marR="0" lvl="0" indent="0" defTabSz="914400" eaLnBrk="1" fontAlgn="auto" latinLnBrk="0" hangingPunct="1">
                <a:lnSpc>
                  <a:spcPts val="143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sz="1400" b="1" i="0" u="none" strike="noStrike" kern="0" cap="none" spc="-25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1148316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9200" y="830579"/>
            <a:ext cx="9502140" cy="588111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727200">
              <a:lnSpc>
                <a:spcPct val="100000"/>
              </a:lnSpc>
              <a:spcBef>
                <a:spcPts val="105"/>
              </a:spcBef>
            </a:pPr>
            <a:r>
              <a:rPr dirty="0"/>
              <a:t>But</a:t>
            </a:r>
            <a:r>
              <a:rPr spc="-185" dirty="0"/>
              <a:t> </a:t>
            </a:r>
            <a:r>
              <a:rPr dirty="0"/>
              <a:t>Still</a:t>
            </a:r>
            <a:r>
              <a:rPr spc="-185" dirty="0"/>
              <a:t> </a:t>
            </a:r>
            <a:r>
              <a:rPr dirty="0"/>
              <a:t>Too</a:t>
            </a:r>
            <a:r>
              <a:rPr spc="-200" dirty="0"/>
              <a:t> </a:t>
            </a:r>
            <a:r>
              <a:rPr spc="-10" dirty="0"/>
              <a:t>Many</a:t>
            </a:r>
            <a:r>
              <a:rPr spc="-195" dirty="0"/>
              <a:t> </a:t>
            </a:r>
            <a:r>
              <a:rPr spc="-10" dirty="0"/>
              <a:t>Steps!</a:t>
            </a:r>
            <a:r>
              <a:rPr spc="-170" dirty="0"/>
              <a:t> </a:t>
            </a:r>
            <a:r>
              <a:rPr dirty="0"/>
              <a:t>–</a:t>
            </a:r>
            <a:r>
              <a:rPr spc="-170" dirty="0"/>
              <a:t> </a:t>
            </a:r>
            <a:r>
              <a:rPr dirty="0"/>
              <a:t>IRDS</a:t>
            </a:r>
            <a:r>
              <a:rPr spc="-200" dirty="0"/>
              <a:t> </a:t>
            </a:r>
            <a:r>
              <a:rPr spc="-20" dirty="0"/>
              <a:t>2020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cs typeface="Calibri"/>
              </a:rPr>
              <a:t>01:</a:t>
            </a:r>
            <a:r>
              <a:rPr kumimoji="0" sz="1400" b="1" i="0" u="none" strike="noStrike" kern="0" cap="none" spc="-1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cs typeface="Calibri"/>
              </a:rPr>
              <a:t> Introduction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978142" y="6617081"/>
            <a:ext cx="460184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[https://irds.ieee.org/images/files/pdf/2020/2020IRDS_BC.pdf]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3436" rIns="0" bIns="0" rtlCol="0">
            <a:spAutoFit/>
          </a:bodyPr>
          <a:lstStyle/>
          <a:p>
            <a:pPr marL="6971665" marR="0" lvl="0" indent="0" defTabSz="91440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400" b="1" i="0" u="none" strike="noStrike" kern="0" cap="none" spc="-2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cs typeface="Calibri"/>
              </a:rPr>
              <a:pPr marL="6971665" marR="0" lvl="0" indent="0" defTabSz="914400" eaLnBrk="1" fontAlgn="auto" latinLnBrk="0" hangingPunct="1">
                <a:lnSpc>
                  <a:spcPts val="143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sz="1400" b="1" i="0" u="none" strike="noStrike" kern="0" cap="none" spc="-25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9322270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726690">
              <a:lnSpc>
                <a:spcPct val="100000"/>
              </a:lnSpc>
              <a:spcBef>
                <a:spcPts val="105"/>
              </a:spcBef>
            </a:pPr>
            <a:r>
              <a:rPr dirty="0"/>
              <a:t>The</a:t>
            </a:r>
            <a:r>
              <a:rPr spc="-170" dirty="0"/>
              <a:t> </a:t>
            </a:r>
            <a:r>
              <a:rPr spc="-25" dirty="0"/>
              <a:t>different</a:t>
            </a:r>
            <a:r>
              <a:rPr spc="-160" dirty="0"/>
              <a:t> </a:t>
            </a:r>
            <a:r>
              <a:rPr dirty="0"/>
              <a:t>Ages</a:t>
            </a:r>
            <a:r>
              <a:rPr spc="-160" dirty="0"/>
              <a:t> </a:t>
            </a:r>
            <a:r>
              <a:rPr dirty="0"/>
              <a:t>of</a:t>
            </a:r>
            <a:r>
              <a:rPr spc="-145" dirty="0"/>
              <a:t> </a:t>
            </a:r>
            <a:r>
              <a:rPr spc="-10" dirty="0"/>
              <a:t>Scaling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cs typeface="Calibri"/>
              </a:rPr>
              <a:t>01:</a:t>
            </a:r>
            <a:r>
              <a:rPr kumimoji="0" sz="1400" b="1" i="0" u="none" strike="noStrike" kern="0" cap="none" spc="-1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cs typeface="Calibri"/>
              </a:rPr>
              <a:t> Introduction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909809" y="6619595"/>
            <a:ext cx="1629410" cy="204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[P.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Gargini,</a:t>
            </a:r>
            <a:r>
              <a:rPr kumimoji="0" sz="1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IRDS,</a:t>
            </a:r>
            <a:r>
              <a:rPr kumimoji="0" sz="1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Intel]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3436" rIns="0" bIns="0" rtlCol="0">
            <a:spAutoFit/>
          </a:bodyPr>
          <a:lstStyle/>
          <a:p>
            <a:pPr marL="6971665" marR="0" lvl="0" indent="0" defTabSz="91440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400" b="1" i="0" u="none" strike="noStrike" kern="0" cap="none" spc="-2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cs typeface="Calibri"/>
              </a:rPr>
              <a:pPr marL="6971665" marR="0" lvl="0" indent="0" defTabSz="914400" eaLnBrk="1" fontAlgn="auto" latinLnBrk="0" hangingPunct="1">
                <a:lnSpc>
                  <a:spcPts val="143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sz="1400" b="1" i="0" u="none" strike="noStrike" kern="0" cap="none" spc="-25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80238" y="854710"/>
            <a:ext cx="8102600" cy="485457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467995" marR="0" lvl="0" indent="-455295" defTabSz="914400" eaLnBrk="1" fontAlgn="auto" latinLnBrk="0" hangingPunct="1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Tx/>
              <a:buSzTx/>
              <a:buFont typeface="Wingdings"/>
              <a:buChar char=""/>
              <a:tabLst>
                <a:tab pos="467995" algn="l"/>
              </a:tabLst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1975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–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2000: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Geometrical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scaling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869315" marR="0" lvl="1" indent="-286385" defTabSz="914400" eaLnBrk="1" fontAlgn="auto" latinLnBrk="0" hangingPunct="1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Tx/>
              <a:buSzTx/>
              <a:buFont typeface="Wingdings"/>
              <a:buChar char=""/>
              <a:tabLst>
                <a:tab pos="869315" algn="l"/>
              </a:tabLst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Reduction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horizontal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vertical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dimensions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869315" marR="0" lvl="1" indent="-286385" defTabSz="914400" eaLnBrk="1" fontAlgn="auto" latinLnBrk="0" hangingPunct="1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Tx/>
              <a:buSzTx/>
              <a:buFont typeface="Wingdings"/>
              <a:buChar char=""/>
              <a:tabLst>
                <a:tab pos="869315" algn="l"/>
              </a:tabLst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Improved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performance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planar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transistors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467995" marR="0" lvl="0" indent="-455295" defTabSz="91440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Tx/>
              <a:buSzTx/>
              <a:buFont typeface="Wingdings"/>
              <a:buChar char=""/>
              <a:tabLst>
                <a:tab pos="467995" algn="l"/>
              </a:tabLst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2000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–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2025: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Equivalent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scaling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869315" marR="0" lvl="1" indent="-286385" defTabSz="914400" eaLnBrk="1" fontAlgn="auto" latinLnBrk="0" hangingPunct="1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Tx/>
              <a:buSzTx/>
              <a:buFont typeface="Wingdings"/>
              <a:buChar char=""/>
              <a:tabLst>
                <a:tab pos="869315" algn="l"/>
              </a:tabLst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Reduction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only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horizontal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dimensions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869315" marR="0" lvl="1" indent="-286385" defTabSz="91440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Tx/>
              <a:buSzTx/>
              <a:buFont typeface="Wingdings"/>
              <a:buChar char=""/>
              <a:tabLst>
                <a:tab pos="869315" algn="l"/>
              </a:tabLst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Introduction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new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materials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new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physical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effects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869315" marR="0" lvl="1" indent="-286385" defTabSz="914400" eaLnBrk="1" fontAlgn="auto" latinLnBrk="0" hangingPunct="1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Tx/>
              <a:buSzTx/>
              <a:buFont typeface="Wingdings"/>
              <a:buChar char=""/>
              <a:tabLst>
                <a:tab pos="869315" algn="l"/>
              </a:tabLst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New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vertical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structures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replace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planar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transistor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467995" marR="0" lvl="0" indent="-455295" defTabSz="914400" eaLnBrk="1" fontAlgn="auto" latinLnBrk="0" hangingPunct="1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Tx/>
              <a:buSzTx/>
              <a:buFont typeface="Wingdings"/>
              <a:buChar char=""/>
              <a:tabLst>
                <a:tab pos="467995" algn="l"/>
              </a:tabLst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2025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–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2040: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3D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scaling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869315" marR="0" lvl="1" indent="-286385" defTabSz="914400" eaLnBrk="1" fontAlgn="auto" latinLnBrk="0" hangingPunct="1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Tx/>
              <a:buSzTx/>
              <a:buFont typeface="Wingdings"/>
              <a:buChar char=""/>
              <a:tabLst>
                <a:tab pos="869315" algn="l"/>
              </a:tabLst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Transition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complete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vertical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device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structures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869315" marR="0" lvl="1" indent="-286385" defTabSz="91440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Tx/>
              <a:buSzTx/>
              <a:buFont typeface="Wingdings"/>
              <a:buChar char=""/>
              <a:tabLst>
                <a:tab pos="869315" algn="l"/>
              </a:tabLst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Heterogenous</a:t>
            </a:r>
            <a:r>
              <a:rPr kumimoji="0" sz="2400" b="0" i="0" u="none" strike="noStrike" kern="0" cap="none" spc="-8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integration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467995" marR="0" lvl="0" indent="-455295" defTabSz="914400" eaLnBrk="1" fontAlgn="auto" latinLnBrk="0" hangingPunct="1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Tx/>
              <a:buSzTx/>
              <a:buFont typeface="Wingdings"/>
              <a:buChar char=""/>
              <a:tabLst>
                <a:tab pos="467995" algn="l"/>
              </a:tabLst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Our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current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bag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innovations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can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keep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CMOS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alive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till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2040!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8125604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145" y="-3860"/>
            <a:ext cx="604837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Modern</a:t>
            </a:r>
            <a:r>
              <a:rPr spc="-204" dirty="0"/>
              <a:t> </a:t>
            </a:r>
            <a:r>
              <a:rPr spc="-30" dirty="0"/>
              <a:t>“Moore”</a:t>
            </a:r>
            <a:r>
              <a:rPr spc="-195" dirty="0"/>
              <a:t> </a:t>
            </a:r>
            <a:r>
              <a:rPr spc="-10" dirty="0"/>
              <a:t>Concepts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10155" y="943018"/>
            <a:ext cx="8085820" cy="564510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cs typeface="Calibri"/>
              </a:rPr>
              <a:t>01:</a:t>
            </a:r>
            <a:r>
              <a:rPr kumimoji="0" sz="1400" b="1" i="0" u="none" strike="noStrike" kern="0" cap="none" spc="-2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1" i="0" u="none" strike="noStrike" kern="0" cap="none" spc="-1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cs typeface="Calibri"/>
              </a:rPr>
              <a:t>Introduction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510521" y="6619595"/>
            <a:ext cx="2127250" cy="204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[Wolfgang</a:t>
            </a:r>
            <a:r>
              <a:rPr kumimoji="0" sz="1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Arden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et.</a:t>
            </a:r>
            <a:r>
              <a:rPr kumimoji="0" sz="1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al.,</a:t>
            </a:r>
            <a:r>
              <a:rPr kumimoji="0" sz="1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ITRS]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3436" rIns="0" bIns="0" rtlCol="0">
            <a:spAutoFit/>
          </a:bodyPr>
          <a:lstStyle/>
          <a:p>
            <a:pPr marL="6971665" marR="0" lvl="0" indent="0" defTabSz="91440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400" b="1" i="0" u="none" strike="noStrike" kern="0" cap="none" spc="-2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cs typeface="Calibri"/>
              </a:rPr>
              <a:pPr marL="6971665" marR="0" lvl="0" indent="0" defTabSz="914400" eaLnBrk="1" fontAlgn="auto" latinLnBrk="0" hangingPunct="1">
                <a:lnSpc>
                  <a:spcPts val="143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sz="1400" b="1" i="0" u="none" strike="noStrike" kern="0" cap="none" spc="-25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8718932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165985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Modern</a:t>
            </a:r>
            <a:r>
              <a:rPr spc="-210" dirty="0"/>
              <a:t> </a:t>
            </a:r>
            <a:r>
              <a:rPr spc="-30" dirty="0"/>
              <a:t>“Moore”</a:t>
            </a:r>
            <a:r>
              <a:rPr spc="-195" dirty="0"/>
              <a:t> </a:t>
            </a:r>
            <a:r>
              <a:rPr spc="-30" dirty="0"/>
              <a:t>Concepts:</a:t>
            </a:r>
            <a:r>
              <a:rPr spc="-175" dirty="0"/>
              <a:t> </a:t>
            </a:r>
            <a:r>
              <a:rPr spc="-25" dirty="0"/>
              <a:t>MtM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0238" y="854710"/>
            <a:ext cx="5628640" cy="368363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467995" marR="0" lvl="0" indent="-455295" algn="just" defTabSz="914400" eaLnBrk="1" fontAlgn="auto" latinLnBrk="0" hangingPunct="1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Tx/>
              <a:buSzTx/>
              <a:buFont typeface="Wingdings"/>
              <a:buChar char=""/>
              <a:tabLst>
                <a:tab pos="467995" algn="l"/>
              </a:tabLst>
              <a:defRPr/>
            </a:pPr>
            <a:r>
              <a:rPr kumimoji="0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More</a:t>
            </a:r>
            <a:r>
              <a:rPr kumimoji="0" sz="2400" b="1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than</a:t>
            </a:r>
            <a:r>
              <a:rPr kumimoji="0" sz="2400" b="1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Moore</a:t>
            </a:r>
            <a:r>
              <a:rPr kumimoji="0" sz="2400" b="1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(MtM):</a:t>
            </a:r>
            <a:r>
              <a:rPr kumimoji="0" sz="2400" b="1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Diversification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868044" marR="121920" lvl="1" indent="-285750" algn="just" defTabSz="914400" eaLnBrk="1" fontAlgn="auto" latinLnBrk="0" hangingPunct="1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Tx/>
              <a:buSzTx/>
              <a:buFont typeface="Wingdings"/>
              <a:buChar char=""/>
              <a:tabLst>
                <a:tab pos="869315" algn="l"/>
              </a:tabLst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Adding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functionalities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not</a:t>
            </a:r>
            <a:r>
              <a:rPr kumimoji="0" sz="2400" b="1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associated 	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with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transistor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scaling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increase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the 	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value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10310" marR="207010" lvl="2" indent="-227329" algn="just" defTabSz="91440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1212215" algn="l"/>
              </a:tabLst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Sensors,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MEMS,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bio,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passives,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HV, 	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RF,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etc.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868680" marR="0" lvl="1" indent="-285750" algn="just" defTabSz="914400" eaLnBrk="1" fontAlgn="auto" latinLnBrk="0" hangingPunct="1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Tx/>
              <a:buSzTx/>
              <a:buFont typeface="Wingdings"/>
              <a:buChar char=""/>
              <a:tabLst>
                <a:tab pos="868680" algn="l"/>
              </a:tabLst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3D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integrated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circuits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10310" marR="88900" lvl="2" indent="-227329" algn="just" defTabSz="91440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1212215" algn="l"/>
              </a:tabLst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Through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silicon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vias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(TSVs)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connect 	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dies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together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24600" y="1173480"/>
            <a:ext cx="5678424" cy="4258056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cs typeface="Calibri"/>
              </a:rPr>
              <a:t>01:</a:t>
            </a:r>
            <a:r>
              <a:rPr kumimoji="0" sz="1400" b="1" i="0" u="none" strike="noStrike" kern="0" cap="none" spc="-1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cs typeface="Calibri"/>
              </a:rPr>
              <a:t> Introduction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669148" y="6619595"/>
            <a:ext cx="3968750" cy="204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[https://nhanced-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semi.com/technology/about-3d-ics/]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3436" rIns="0" bIns="0" rtlCol="0">
            <a:spAutoFit/>
          </a:bodyPr>
          <a:lstStyle/>
          <a:p>
            <a:pPr marL="6971665" marR="0" lvl="0" indent="0" defTabSz="91440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400" b="1" i="0" u="none" strike="noStrike" kern="0" cap="none" spc="-2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cs typeface="Calibri"/>
              </a:rPr>
              <a:pPr marL="6971665" marR="0" lvl="0" indent="0" defTabSz="914400" eaLnBrk="1" fontAlgn="auto" latinLnBrk="0" hangingPunct="1">
                <a:lnSpc>
                  <a:spcPts val="143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sz="1400" b="1" i="0" u="none" strike="noStrike" kern="0" cap="none" spc="-25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9684944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481195">
              <a:lnSpc>
                <a:spcPct val="100000"/>
              </a:lnSpc>
              <a:spcBef>
                <a:spcPts val="105"/>
              </a:spcBef>
            </a:pPr>
            <a:r>
              <a:rPr dirty="0"/>
              <a:t>Why</a:t>
            </a:r>
            <a:r>
              <a:rPr spc="-180" dirty="0"/>
              <a:t> </a:t>
            </a:r>
            <a:r>
              <a:rPr dirty="0"/>
              <a:t>3D</a:t>
            </a:r>
            <a:r>
              <a:rPr spc="-180" dirty="0"/>
              <a:t> </a:t>
            </a:r>
            <a:r>
              <a:rPr spc="-20" dirty="0"/>
              <a:t>ICs?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0238" y="927861"/>
            <a:ext cx="75946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7995" marR="0" lvl="0" indent="-455295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 typeface="Wingdings"/>
              <a:buChar char=""/>
              <a:tabLst>
                <a:tab pos="467995" algn="l"/>
              </a:tabLst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3D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ICs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enable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heterogenous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integration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(logic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+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specialty)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1779" y="1400555"/>
            <a:ext cx="6568440" cy="515264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cs typeface="Calibri"/>
              </a:rPr>
              <a:t>01:</a:t>
            </a:r>
            <a:r>
              <a:rPr kumimoji="0" sz="1400" b="1" i="0" u="none" strike="noStrike" kern="0" cap="none" spc="-1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cs typeface="Calibri"/>
              </a:rPr>
              <a:t> Introduction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3436" rIns="0" bIns="0" rtlCol="0">
            <a:spAutoFit/>
          </a:bodyPr>
          <a:lstStyle/>
          <a:p>
            <a:pPr marL="6971665" marR="0" lvl="0" indent="0" defTabSz="91440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400" b="1" i="0" u="none" strike="noStrike" kern="0" cap="none" spc="-2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cs typeface="Calibri"/>
              </a:rPr>
              <a:pPr marL="6971665" marR="0" lvl="0" indent="0" defTabSz="914400" eaLnBrk="1" fontAlgn="auto" latinLnBrk="0" hangingPunct="1">
                <a:lnSpc>
                  <a:spcPts val="143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sz="1400" b="1" i="0" u="none" strike="noStrike" kern="0" cap="none" spc="-25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5616252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481195">
              <a:lnSpc>
                <a:spcPct val="100000"/>
              </a:lnSpc>
              <a:spcBef>
                <a:spcPts val="105"/>
              </a:spcBef>
            </a:pPr>
            <a:r>
              <a:rPr dirty="0"/>
              <a:t>Why</a:t>
            </a:r>
            <a:r>
              <a:rPr spc="-175" dirty="0"/>
              <a:t> </a:t>
            </a:r>
            <a:r>
              <a:rPr dirty="0"/>
              <a:t>3D</a:t>
            </a:r>
            <a:r>
              <a:rPr spc="-180" dirty="0"/>
              <a:t> </a:t>
            </a:r>
            <a:r>
              <a:rPr spc="-20" dirty="0"/>
              <a:t>ICs?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0238" y="927861"/>
            <a:ext cx="75946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7995" marR="0" lvl="0" indent="-455295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 typeface="Wingdings"/>
              <a:buChar char=""/>
              <a:tabLst>
                <a:tab pos="467995" algn="l"/>
              </a:tabLst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3D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ICs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enable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heterogenous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integration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(logic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+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specialty)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08732" y="1400555"/>
            <a:ext cx="6574535" cy="515264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cs typeface="Calibri"/>
              </a:rPr>
              <a:t>01:</a:t>
            </a:r>
            <a:r>
              <a:rPr kumimoji="0" sz="1400" b="1" i="0" u="none" strike="noStrike" kern="0" cap="none" spc="-1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cs typeface="Calibri"/>
              </a:rPr>
              <a:t> Introduction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3436" rIns="0" bIns="0" rtlCol="0">
            <a:spAutoFit/>
          </a:bodyPr>
          <a:lstStyle/>
          <a:p>
            <a:pPr marL="6971665" marR="0" lvl="0" indent="0" defTabSz="91440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400" b="1" i="0" u="none" strike="noStrike" kern="0" cap="none" spc="-2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cs typeface="Calibri"/>
              </a:rPr>
              <a:pPr marL="6971665" marR="0" lvl="0" indent="0" defTabSz="914400" eaLnBrk="1" fontAlgn="auto" latinLnBrk="0" hangingPunct="1">
                <a:lnSpc>
                  <a:spcPts val="143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sz="1400" b="1" i="0" u="none" strike="noStrike" kern="0" cap="none" spc="-25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6912275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97602" y="-3860"/>
            <a:ext cx="180213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Chiplets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0238" y="854710"/>
            <a:ext cx="5984240" cy="134239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467995" marR="0" lvl="0" indent="-455295" defTabSz="914400" eaLnBrk="1" fontAlgn="auto" latinLnBrk="0" hangingPunct="1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Tx/>
              <a:buSzTx/>
              <a:buFont typeface="Wingdings"/>
              <a:buChar char=""/>
              <a:tabLst>
                <a:tab pos="467995" algn="l"/>
              </a:tabLst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UCIe: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Universal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Chiplet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Interconnect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Express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467995" marR="0" lvl="0" indent="-455295" defTabSz="914400" eaLnBrk="1" fontAlgn="auto" latinLnBrk="0" hangingPunct="1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>
                <a:srgbClr val="000000"/>
              </a:buClr>
              <a:buSzTx/>
              <a:buFont typeface="Wingdings"/>
              <a:buChar char=""/>
              <a:tabLst>
                <a:tab pos="467995" algn="l"/>
              </a:tabLst>
              <a:defRPr/>
            </a:pPr>
            <a:r>
              <a:rPr kumimoji="0" sz="2400" b="0" i="0" u="sng" strike="noStrike" kern="0" cap="none" spc="-1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>
                  <a:solidFill>
                    <a:srgbClr val="3333CC"/>
                  </a:solidFill>
                </a:uFill>
                <a:latin typeface="Calibri"/>
                <a:cs typeface="Calibri"/>
                <a:hlinkClick r:id="rId2"/>
              </a:rPr>
              <a:t>https://www.uciexpress.org/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467995" marR="0" lvl="0" indent="-455295" defTabSz="914400" eaLnBrk="1" fontAlgn="auto" latinLnBrk="0" hangingPunct="1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Tx/>
              <a:buSzTx/>
              <a:buFont typeface="Wingdings"/>
              <a:buChar char=""/>
              <a:tabLst>
                <a:tab pos="467995" algn="l"/>
              </a:tabLst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Higher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yield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+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heterogenous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integration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73011" y="911352"/>
            <a:ext cx="5583936" cy="575767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00811" y="3332988"/>
            <a:ext cx="5498592" cy="265023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484779" y="77639"/>
            <a:ext cx="573954" cy="578509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cs typeface="Calibri"/>
              </a:rPr>
              <a:t>01:</a:t>
            </a:r>
            <a:r>
              <a:rPr kumimoji="0" sz="1400" b="1" i="0" u="none" strike="noStrike" kern="0" cap="none" spc="-1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cs typeface="Calibri"/>
              </a:rPr>
              <a:t> Introduction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3436" rIns="0" bIns="0" rtlCol="0">
            <a:spAutoFit/>
          </a:bodyPr>
          <a:lstStyle/>
          <a:p>
            <a:pPr marL="6971665" marR="0" lvl="0" indent="0" defTabSz="91440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400" b="1" i="0" u="none" strike="noStrike" kern="0" cap="none" spc="-2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cs typeface="Calibri"/>
              </a:rPr>
              <a:pPr marL="6971665" marR="0" lvl="0" indent="0" defTabSz="914400" eaLnBrk="1" fontAlgn="auto" latinLnBrk="0" hangingPunct="1">
                <a:lnSpc>
                  <a:spcPts val="143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sz="1400" b="1" i="0" u="none" strike="noStrike" kern="0" cap="none" spc="-25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8967598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18135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Backside</a:t>
            </a:r>
            <a:r>
              <a:rPr spc="-225" dirty="0"/>
              <a:t> </a:t>
            </a:r>
            <a:r>
              <a:rPr spc="-10" dirty="0"/>
              <a:t>Power</a:t>
            </a:r>
            <a:r>
              <a:rPr spc="-210" dirty="0"/>
              <a:t> </a:t>
            </a:r>
            <a:r>
              <a:rPr spc="-10" dirty="0"/>
              <a:t>Delivery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0238" y="927861"/>
            <a:ext cx="103682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7995" marR="0" lvl="0" indent="-455295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Tx/>
              <a:buFont typeface="Wingdings"/>
              <a:buChar char=""/>
              <a:tabLst>
                <a:tab pos="467995" algn="l"/>
              </a:tabLst>
              <a:defRPr/>
            </a:pPr>
            <a:r>
              <a:rPr kumimoji="0" sz="2400" b="0" i="0" u="sng" strike="noStrike" kern="0" cap="none" spc="-1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>
                  <a:solidFill>
                    <a:srgbClr val="3333CC"/>
                  </a:solidFill>
                </a:uFill>
                <a:latin typeface="Calibri"/>
                <a:cs typeface="Calibri"/>
                <a:hlinkClick r:id="rId2"/>
              </a:rPr>
              <a:t>https://www.youtube.com/watch?v=XnR9j7ljAx4&amp;ab_channel=IntelTechnology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63367" y="1600200"/>
            <a:ext cx="6882383" cy="465582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484779" y="77639"/>
            <a:ext cx="573954" cy="578509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cs typeface="Calibri"/>
              </a:rPr>
              <a:t>01:</a:t>
            </a:r>
            <a:r>
              <a:rPr kumimoji="0" sz="1400" b="1" i="0" u="none" strike="noStrike" kern="0" cap="none" spc="-1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cs typeface="Calibri"/>
              </a:rPr>
              <a:t> Introduction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3436" rIns="0" bIns="0" rtlCol="0">
            <a:spAutoFit/>
          </a:bodyPr>
          <a:lstStyle/>
          <a:p>
            <a:pPr marL="6971665" marR="0" lvl="0" indent="0" defTabSz="91440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400" b="1" i="0" u="none" strike="noStrike" kern="0" cap="none" spc="-2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cs typeface="Calibri"/>
              </a:rPr>
              <a:pPr marL="6971665" marR="0" lvl="0" indent="0" defTabSz="914400" eaLnBrk="1" fontAlgn="auto" latinLnBrk="0" hangingPunct="1">
                <a:lnSpc>
                  <a:spcPts val="143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sz="1400" b="1" i="0" u="none" strike="noStrike" kern="0" cap="none" spc="-25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2837891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145" y="-3860"/>
            <a:ext cx="604837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Modern</a:t>
            </a:r>
            <a:r>
              <a:rPr spc="-204" dirty="0"/>
              <a:t> </a:t>
            </a:r>
            <a:r>
              <a:rPr spc="-30" dirty="0"/>
              <a:t>“Moore”</a:t>
            </a:r>
            <a:r>
              <a:rPr spc="-200" dirty="0"/>
              <a:t> </a:t>
            </a:r>
            <a:r>
              <a:rPr spc="-10" dirty="0"/>
              <a:t>Concepts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10155" y="943018"/>
            <a:ext cx="8085820" cy="564510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cs typeface="Calibri"/>
              </a:rPr>
              <a:t>01:</a:t>
            </a:r>
            <a:r>
              <a:rPr kumimoji="0" sz="1400" b="1" i="0" u="none" strike="noStrike" kern="0" cap="none" spc="-1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cs typeface="Calibri"/>
              </a:rPr>
              <a:t> Introduction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510521" y="6619595"/>
            <a:ext cx="2127250" cy="204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[Wolfgang</a:t>
            </a:r>
            <a:r>
              <a:rPr kumimoji="0" sz="1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Arden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et.</a:t>
            </a:r>
            <a:r>
              <a:rPr kumimoji="0" sz="1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al.,</a:t>
            </a:r>
            <a:r>
              <a:rPr kumimoji="0" sz="1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ITRS]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3436" rIns="0" bIns="0" rtlCol="0">
            <a:spAutoFit/>
          </a:bodyPr>
          <a:lstStyle/>
          <a:p>
            <a:pPr marL="6971665" marR="0" lvl="0" indent="0" defTabSz="91440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400" b="1" i="0" u="none" strike="noStrike" kern="0" cap="none" spc="-2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cs typeface="Calibri"/>
              </a:rPr>
              <a:pPr marL="6971665" marR="0" lvl="0" indent="0" defTabSz="914400" eaLnBrk="1" fontAlgn="auto" latinLnBrk="0" hangingPunct="1">
                <a:lnSpc>
                  <a:spcPts val="143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sz="1400" b="1" i="0" u="none" strike="noStrike" kern="0" cap="none" spc="-25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6853535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341245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Modern</a:t>
            </a:r>
            <a:r>
              <a:rPr spc="-210" dirty="0"/>
              <a:t> </a:t>
            </a:r>
            <a:r>
              <a:rPr spc="-30" dirty="0"/>
              <a:t>“Moore”</a:t>
            </a:r>
            <a:r>
              <a:rPr spc="-195" dirty="0"/>
              <a:t> </a:t>
            </a:r>
            <a:r>
              <a:rPr spc="-30" dirty="0"/>
              <a:t>Concepts:</a:t>
            </a:r>
            <a:r>
              <a:rPr spc="-180" dirty="0"/>
              <a:t> </a:t>
            </a:r>
            <a:r>
              <a:rPr spc="-25" dirty="0"/>
              <a:t>BM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0238" y="854710"/>
            <a:ext cx="5189855" cy="368363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467995" marR="0" lvl="0" indent="-455295" defTabSz="914400" eaLnBrk="1" fontAlgn="auto" latinLnBrk="0" hangingPunct="1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Tx/>
              <a:buSzTx/>
              <a:buFont typeface="Wingdings"/>
              <a:buChar char=""/>
              <a:tabLst>
                <a:tab pos="467995" algn="l"/>
              </a:tabLst>
              <a:defRPr/>
            </a:pPr>
            <a:r>
              <a:rPr kumimoji="0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Beyond</a:t>
            </a:r>
            <a:r>
              <a:rPr kumimoji="0" sz="2400" b="1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Moore</a:t>
            </a:r>
            <a:r>
              <a:rPr kumimoji="0" sz="2400" b="1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(BM):</a:t>
            </a:r>
            <a:r>
              <a:rPr kumimoji="0" sz="2400" b="1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Beyond</a:t>
            </a:r>
            <a:r>
              <a:rPr kumimoji="0" sz="2400" b="1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1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CMOS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869315" marR="982344" lvl="1" indent="-287020" defTabSz="914400" eaLnBrk="1" fontAlgn="auto" latinLnBrk="0" hangingPunct="1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Tx/>
              <a:buSzTx/>
              <a:buFont typeface="Wingdings"/>
              <a:buChar char=""/>
              <a:tabLst>
                <a:tab pos="869315" algn="l"/>
              </a:tabLst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Find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next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switch: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many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candidates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exist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869315" marR="0" lvl="1" indent="-286385" defTabSz="91440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Tx/>
              <a:buSzTx/>
              <a:buFont typeface="Wingdings"/>
              <a:buChar char=""/>
              <a:tabLst>
                <a:tab pos="869315" algn="l"/>
              </a:tabLst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Quantum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computing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869315" marR="391160" lvl="1" indent="-287020" defTabSz="914400" eaLnBrk="1" fontAlgn="auto" latinLnBrk="0" hangingPunct="1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Tx/>
              <a:buSzTx/>
              <a:buFont typeface="Wingdings"/>
              <a:buChar char=""/>
              <a:tabLst>
                <a:tab pos="869315" algn="l"/>
              </a:tabLst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Lots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funding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by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governments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industry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869315" marR="5080" lvl="1" indent="-287020" defTabSz="914400" eaLnBrk="1" fontAlgn="auto" latinLnBrk="0" hangingPunct="1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Tx/>
              <a:buSzTx/>
              <a:buFont typeface="Wingdings"/>
              <a:buChar char=""/>
              <a:tabLst>
                <a:tab pos="869315" algn="l"/>
              </a:tabLst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But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no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commercial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solution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(reliable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&amp;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cost-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effective)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available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yet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30316" y="1190099"/>
            <a:ext cx="6011834" cy="447688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cs typeface="Calibri"/>
              </a:rPr>
              <a:t>01:</a:t>
            </a:r>
            <a:r>
              <a:rPr kumimoji="0" sz="1400" b="1" i="0" u="none" strike="noStrike" kern="0" cap="none" spc="-2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1" i="0" u="none" strike="noStrike" kern="0" cap="none" spc="-1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cs typeface="Calibri"/>
              </a:rPr>
              <a:t>Introduction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0394950" y="6619595"/>
            <a:ext cx="1185545" cy="204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[IRDS,</a:t>
            </a:r>
            <a:r>
              <a:rPr kumimoji="0" sz="1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BC,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2017]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3436" rIns="0" bIns="0" rtlCol="0">
            <a:spAutoFit/>
          </a:bodyPr>
          <a:lstStyle/>
          <a:p>
            <a:pPr marL="6971665" marR="0" lvl="0" indent="0" defTabSz="91440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400" b="1" i="0" u="none" strike="noStrike" kern="0" cap="none" spc="-2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cs typeface="Calibri"/>
              </a:rPr>
              <a:pPr marL="6971665" marR="0" lvl="0" indent="0" defTabSz="914400" eaLnBrk="1" fontAlgn="auto" latinLnBrk="0" hangingPunct="1">
                <a:lnSpc>
                  <a:spcPts val="143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sz="1400" b="1" i="0" u="none" strike="noStrike" kern="0" cap="none" spc="-25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0878559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669029">
              <a:lnSpc>
                <a:spcPct val="100000"/>
              </a:lnSpc>
              <a:spcBef>
                <a:spcPts val="105"/>
              </a:spcBef>
            </a:pPr>
            <a:r>
              <a:rPr dirty="0"/>
              <a:t>How</a:t>
            </a:r>
            <a:r>
              <a:rPr spc="-195" dirty="0"/>
              <a:t> </a:t>
            </a:r>
            <a:r>
              <a:rPr spc="-10" dirty="0"/>
              <a:t>Much</a:t>
            </a:r>
            <a:r>
              <a:rPr spc="-200" dirty="0"/>
              <a:t> </a:t>
            </a:r>
            <a:r>
              <a:rPr dirty="0"/>
              <a:t>it</a:t>
            </a:r>
            <a:r>
              <a:rPr spc="-150" dirty="0"/>
              <a:t> </a:t>
            </a:r>
            <a:r>
              <a:rPr spc="-10" dirty="0"/>
              <a:t>Costs?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0238" y="854710"/>
            <a:ext cx="11706860" cy="222059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467995" marR="0" lvl="0" indent="-455295" defTabSz="914400" eaLnBrk="1" fontAlgn="auto" latinLnBrk="0" hangingPunct="1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Tx/>
              <a:buSzTx/>
              <a:buFont typeface="Wingdings"/>
              <a:buChar char=""/>
              <a:tabLst>
                <a:tab pos="467995" algn="l"/>
              </a:tabLst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TSMC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planned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3nm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fab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expected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cost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$20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Billion.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467995" marR="0" lvl="0" indent="-455295" defTabSz="914400" eaLnBrk="1" fontAlgn="auto" latinLnBrk="0" hangingPunct="1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Tx/>
              <a:buSzTx/>
              <a:buFont typeface="Wingdings"/>
              <a:buChar char=""/>
              <a:tabLst>
                <a:tab pos="467995" algn="l"/>
              </a:tabLst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Moore’s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law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train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will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soon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come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stop.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869315" marR="0" lvl="1" indent="-286385" defTabSz="914400" eaLnBrk="1" fontAlgn="auto" latinLnBrk="0" hangingPunct="1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Tx/>
              <a:buSzTx/>
              <a:buFont typeface="Wingdings"/>
              <a:buChar char=""/>
              <a:tabLst>
                <a:tab pos="869315" algn="l"/>
              </a:tabLst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But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not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due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physical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limits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as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many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have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expected!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467995" marR="0" lvl="0" indent="-455295" defTabSz="91440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Tx/>
              <a:buSzTx/>
              <a:buFont typeface="Wingdings"/>
              <a:buChar char=""/>
              <a:tabLst>
                <a:tab pos="467995" algn="l"/>
              </a:tabLst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No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chance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for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Egypt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semiconductor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fabrication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business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(at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least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near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future).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869315" marR="0" lvl="1" indent="-286385" defTabSz="914400" eaLnBrk="1" fontAlgn="auto" latinLnBrk="0" hangingPunct="1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Tx/>
              <a:buSzTx/>
              <a:buFont typeface="Wingdings"/>
              <a:buChar char=""/>
              <a:tabLst>
                <a:tab pos="869315" algn="l"/>
              </a:tabLst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What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about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other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perspectives?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26835" y="3276600"/>
            <a:ext cx="4314444" cy="32004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58923" y="3276600"/>
            <a:ext cx="3576828" cy="320040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cs typeface="Calibri"/>
              </a:rPr>
              <a:t>01:</a:t>
            </a:r>
            <a:r>
              <a:rPr kumimoji="0" sz="1400" b="1" i="0" u="none" strike="noStrike" kern="0" cap="none" spc="-2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1" i="0" u="none" strike="noStrike" kern="0" cap="none" spc="-1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cs typeface="Calibri"/>
              </a:rPr>
              <a:t>Introduction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837801" y="6617081"/>
            <a:ext cx="1819910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[Weste</a:t>
            </a:r>
            <a:r>
              <a:rPr kumimoji="0" sz="1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sz="1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Harris,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2010]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3436" rIns="0" bIns="0" rtlCol="0">
            <a:spAutoFit/>
          </a:bodyPr>
          <a:lstStyle/>
          <a:p>
            <a:pPr marL="6971665" marR="0" lvl="0" indent="0" defTabSz="91440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400" b="1" i="0" u="none" strike="noStrike" kern="0" cap="none" spc="-2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cs typeface="Calibri"/>
              </a:rPr>
              <a:pPr marL="6971665" marR="0" lvl="0" indent="0" defTabSz="914400" eaLnBrk="1" fontAlgn="auto" latinLnBrk="0" hangingPunct="1">
                <a:lnSpc>
                  <a:spcPts val="143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sz="1400" b="1" i="0" u="none" strike="noStrike" kern="0" cap="none" spc="-25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9938604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" y="761999"/>
            <a:ext cx="11887200" cy="0"/>
          </a:xfrm>
          <a:custGeom>
            <a:avLst/>
            <a:gdLst/>
            <a:ahLst/>
            <a:cxnLst/>
            <a:rect l="l" t="t" r="r" b="b"/>
            <a:pathLst>
              <a:path w="11887200">
                <a:moveTo>
                  <a:pt x="0" y="0"/>
                </a:moveTo>
                <a:lnTo>
                  <a:pt x="11887200" y="0"/>
                </a:lnTo>
              </a:path>
            </a:pathLst>
          </a:custGeom>
          <a:ln w="12700">
            <a:solidFill>
              <a:srgbClr val="2C2CB8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458595">
              <a:lnSpc>
                <a:spcPct val="100000"/>
              </a:lnSpc>
              <a:spcBef>
                <a:spcPts val="105"/>
              </a:spcBef>
            </a:pPr>
            <a:r>
              <a:rPr spc="-30" dirty="0"/>
              <a:t>Foundries</a:t>
            </a:r>
            <a:r>
              <a:rPr spc="-170" dirty="0"/>
              <a:t> </a:t>
            </a:r>
            <a:r>
              <a:rPr dirty="0"/>
              <a:t>with</a:t>
            </a:r>
            <a:r>
              <a:rPr spc="-185" dirty="0"/>
              <a:t> </a:t>
            </a:r>
            <a:r>
              <a:rPr dirty="0"/>
              <a:t>a</a:t>
            </a:r>
            <a:r>
              <a:rPr spc="-140" dirty="0"/>
              <a:t> </a:t>
            </a:r>
            <a:r>
              <a:rPr spc="-50" dirty="0"/>
              <a:t>Cutting-</a:t>
            </a:r>
            <a:r>
              <a:rPr dirty="0"/>
              <a:t>Edge</a:t>
            </a:r>
            <a:r>
              <a:rPr spc="-185" dirty="0"/>
              <a:t> </a:t>
            </a:r>
            <a:r>
              <a:rPr spc="-10" dirty="0"/>
              <a:t>Logic</a:t>
            </a:r>
            <a:r>
              <a:rPr spc="-180" dirty="0"/>
              <a:t> </a:t>
            </a:r>
            <a:r>
              <a:rPr spc="-25" dirty="0"/>
              <a:t>Fab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cs typeface="Calibri"/>
              </a:rPr>
              <a:t>01:</a:t>
            </a:r>
            <a:r>
              <a:rPr kumimoji="0" sz="1400" b="1" i="0" u="none" strike="noStrike" kern="0" cap="none" spc="-1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cs typeface="Calibri"/>
              </a:rPr>
              <a:t> Introduction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3436" rIns="0" bIns="0" rtlCol="0">
            <a:spAutoFit/>
          </a:bodyPr>
          <a:lstStyle/>
          <a:p>
            <a:pPr marL="6971665" marR="0" lvl="0" indent="0" defTabSz="91440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400" b="1" i="0" u="none" strike="noStrike" kern="0" cap="none" spc="-2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cs typeface="Calibri"/>
              </a:rPr>
              <a:pPr marL="6971665" marR="0" lvl="0" indent="0" defTabSz="914400" eaLnBrk="1" fontAlgn="auto" latinLnBrk="0" hangingPunct="1">
                <a:lnSpc>
                  <a:spcPts val="143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sz="1400" b="1" i="0" u="none" strike="noStrike" kern="0" cap="none" spc="-25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179689" y="6635674"/>
            <a:ext cx="3481070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[https://en.wikichip.org/wiki/technology_node]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46050" y="962786"/>
          <a:ext cx="11887200" cy="57124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4900930">
                <a:tc>
                  <a:txBody>
                    <a:bodyPr/>
                    <a:lstStyle/>
                    <a:p>
                      <a:pPr marL="47625" marR="445134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SilTerra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X-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FAB</a:t>
                      </a:r>
                      <a:endParaRPr sz="1100">
                        <a:latin typeface="Arial MT"/>
                        <a:cs typeface="Arial MT"/>
                      </a:endParaRPr>
                    </a:p>
                    <a:p>
                      <a:pPr marL="47625" marR="443865">
                        <a:lnSpc>
                          <a:spcPct val="100000"/>
                        </a:lnSpc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Dongbu 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HiTek 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ADI</a:t>
                      </a:r>
                      <a:endParaRPr sz="1100">
                        <a:latin typeface="Arial MT"/>
                        <a:cs typeface="Arial MT"/>
                      </a:endParaRPr>
                    </a:p>
                    <a:p>
                      <a:pPr marL="47625" marR="315595">
                        <a:lnSpc>
                          <a:spcPct val="100000"/>
                        </a:lnSpc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Atmel 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Rohm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Sanyo Mitsubishi 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ON</a:t>
                      </a:r>
                      <a:endParaRPr sz="1100">
                        <a:latin typeface="Arial MT"/>
                        <a:cs typeface="Arial MT"/>
                      </a:endParaRPr>
                    </a:p>
                    <a:p>
                      <a:pPr marL="47625" marR="320675">
                        <a:lnSpc>
                          <a:spcPct val="100000"/>
                        </a:lnSpc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Hitachi Cypress 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Sony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Infineon Sharp Freescale Renesas 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SMIC</a:t>
                      </a:r>
                      <a:endParaRPr sz="1100">
                        <a:latin typeface="Arial MT"/>
                        <a:cs typeface="Arial MT"/>
                      </a:endParaRPr>
                    </a:p>
                    <a:p>
                      <a:pPr marL="47625" marR="43624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Toshiba Fujitsu 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TI</a:t>
                      </a:r>
                      <a:endParaRPr sz="1100">
                        <a:latin typeface="Arial MT"/>
                        <a:cs typeface="Arial MT"/>
                      </a:endParaRPr>
                    </a:p>
                    <a:p>
                      <a:pPr marL="47625" marR="282575">
                        <a:lnSpc>
                          <a:spcPct val="100000"/>
                        </a:lnSpc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Panasonic 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STM</a:t>
                      </a:r>
                      <a:endParaRPr sz="1100">
                        <a:latin typeface="Arial MT"/>
                        <a:cs typeface="Arial MT"/>
                      </a:endParaRPr>
                    </a:p>
                    <a:p>
                      <a:pPr marL="47625" marR="618490">
                        <a:lnSpc>
                          <a:spcPct val="100000"/>
                        </a:lnSpc>
                      </a:pPr>
                      <a:r>
                        <a:rPr sz="1100" spc="-25" dirty="0">
                          <a:latin typeface="Arial MT"/>
                          <a:cs typeface="Arial MT"/>
                        </a:rPr>
                        <a:t>UMC IBM AMD</a:t>
                      </a:r>
                      <a:endParaRPr sz="1100">
                        <a:latin typeface="Arial MT"/>
                        <a:cs typeface="Arial MT"/>
                      </a:endParaRPr>
                    </a:p>
                    <a:p>
                      <a:pPr marL="47625" marR="342900">
                        <a:lnSpc>
                          <a:spcPct val="100000"/>
                        </a:lnSpc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Samsung 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TSMC</a:t>
                      </a:r>
                      <a:endParaRPr sz="1100">
                        <a:latin typeface="Arial MT"/>
                        <a:cs typeface="Arial MT"/>
                      </a:endParaRPr>
                    </a:p>
                    <a:p>
                      <a:pPr marL="47625">
                        <a:lnSpc>
                          <a:spcPct val="100000"/>
                        </a:lnSpc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Intel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47625">
                        <a:lnSpc>
                          <a:spcPct val="100000"/>
                        </a:lnSpc>
                      </a:pPr>
                      <a:r>
                        <a:rPr sz="1100" spc="-25" dirty="0">
                          <a:latin typeface="Arial MT"/>
                          <a:cs typeface="Arial MT"/>
                        </a:rPr>
                        <a:t>ADI</a:t>
                      </a:r>
                      <a:endParaRPr sz="1100">
                        <a:latin typeface="Arial MT"/>
                        <a:cs typeface="Arial MT"/>
                      </a:endParaRPr>
                    </a:p>
                    <a:p>
                      <a:pPr marL="47625" marR="315595">
                        <a:lnSpc>
                          <a:spcPct val="100000"/>
                        </a:lnSpc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Atmel 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Rohm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Sanyo Mitsubishi 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ON</a:t>
                      </a:r>
                      <a:endParaRPr sz="1100">
                        <a:latin typeface="Arial MT"/>
                        <a:cs typeface="Arial MT"/>
                      </a:endParaRPr>
                    </a:p>
                    <a:p>
                      <a:pPr marL="47625" marR="320675">
                        <a:lnSpc>
                          <a:spcPct val="100000"/>
                        </a:lnSpc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Hitachi Cypress 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Sony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Infineon Sharp Freescale Renesas 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SMIC</a:t>
                      </a:r>
                      <a:endParaRPr sz="1100">
                        <a:latin typeface="Arial MT"/>
                        <a:cs typeface="Arial MT"/>
                      </a:endParaRPr>
                    </a:p>
                    <a:p>
                      <a:pPr marL="47625" marR="43624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Toshiba Fujitsu 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TI</a:t>
                      </a:r>
                      <a:endParaRPr sz="1100">
                        <a:latin typeface="Arial MT"/>
                        <a:cs typeface="Arial MT"/>
                      </a:endParaRPr>
                    </a:p>
                    <a:p>
                      <a:pPr marL="47625" marR="282575">
                        <a:lnSpc>
                          <a:spcPct val="100000"/>
                        </a:lnSpc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Panasonic 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STM</a:t>
                      </a:r>
                      <a:endParaRPr sz="1100">
                        <a:latin typeface="Arial MT"/>
                        <a:cs typeface="Arial MT"/>
                      </a:endParaRPr>
                    </a:p>
                    <a:p>
                      <a:pPr marL="47625" marR="618490">
                        <a:lnSpc>
                          <a:spcPct val="100000"/>
                        </a:lnSpc>
                      </a:pPr>
                      <a:r>
                        <a:rPr sz="1100" spc="-25" dirty="0">
                          <a:latin typeface="Arial MT"/>
                          <a:cs typeface="Arial MT"/>
                        </a:rPr>
                        <a:t>UMC IBM AMD</a:t>
                      </a:r>
                      <a:endParaRPr sz="1100">
                        <a:latin typeface="Arial MT"/>
                        <a:cs typeface="Arial MT"/>
                      </a:endParaRPr>
                    </a:p>
                    <a:p>
                      <a:pPr marL="47625" marR="342900">
                        <a:lnSpc>
                          <a:spcPct val="100000"/>
                        </a:lnSpc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Samsung 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TSMC</a:t>
                      </a:r>
                      <a:endParaRPr sz="1100">
                        <a:latin typeface="Arial MT"/>
                        <a:cs typeface="Arial MT"/>
                      </a:endParaRPr>
                    </a:p>
                    <a:p>
                      <a:pPr marL="47625">
                        <a:lnSpc>
                          <a:spcPct val="100000"/>
                        </a:lnSpc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Intel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47625" marR="320040">
                        <a:lnSpc>
                          <a:spcPct val="100000"/>
                        </a:lnSpc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Cypress 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Sony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Infineon Sharp Freescale Renesas 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SMIC</a:t>
                      </a:r>
                      <a:endParaRPr sz="1100">
                        <a:latin typeface="Arial MT"/>
                        <a:cs typeface="Arial MT"/>
                      </a:endParaRPr>
                    </a:p>
                    <a:p>
                      <a:pPr marL="47625" marR="435609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Toshiba Fujitsu 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TI</a:t>
                      </a:r>
                      <a:endParaRPr sz="1100">
                        <a:latin typeface="Arial MT"/>
                        <a:cs typeface="Arial MT"/>
                      </a:endParaRPr>
                    </a:p>
                    <a:p>
                      <a:pPr marL="47625" marR="281940">
                        <a:lnSpc>
                          <a:spcPct val="100000"/>
                        </a:lnSpc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Panasonic 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STM</a:t>
                      </a:r>
                      <a:endParaRPr sz="1100">
                        <a:latin typeface="Arial MT"/>
                        <a:cs typeface="Arial MT"/>
                      </a:endParaRPr>
                    </a:p>
                    <a:p>
                      <a:pPr marL="47625" marR="618490">
                        <a:lnSpc>
                          <a:spcPct val="100000"/>
                        </a:lnSpc>
                      </a:pPr>
                      <a:r>
                        <a:rPr sz="1100" spc="-25" dirty="0">
                          <a:latin typeface="Arial MT"/>
                          <a:cs typeface="Arial MT"/>
                        </a:rPr>
                        <a:t>UMC IBM AMD</a:t>
                      </a:r>
                      <a:endParaRPr sz="1100">
                        <a:latin typeface="Arial MT"/>
                        <a:cs typeface="Arial MT"/>
                      </a:endParaRPr>
                    </a:p>
                    <a:p>
                      <a:pPr marL="47625" marR="342900">
                        <a:lnSpc>
                          <a:spcPct val="100000"/>
                        </a:lnSpc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Samsung 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TSMC</a:t>
                      </a:r>
                      <a:endParaRPr sz="1100">
                        <a:latin typeface="Arial MT"/>
                        <a:cs typeface="Arial MT"/>
                      </a:endParaRPr>
                    </a:p>
                    <a:p>
                      <a:pPr marL="47625">
                        <a:lnSpc>
                          <a:spcPct val="100000"/>
                        </a:lnSpc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Intel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47625" marR="382905">
                        <a:lnSpc>
                          <a:spcPct val="100000"/>
                        </a:lnSpc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Renesas 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SMIC</a:t>
                      </a:r>
                      <a:endParaRPr sz="1100">
                        <a:latin typeface="Arial MT"/>
                        <a:cs typeface="Arial MT"/>
                      </a:endParaRPr>
                    </a:p>
                    <a:p>
                      <a:pPr marL="47625" marR="435609">
                        <a:lnSpc>
                          <a:spcPct val="100000"/>
                        </a:lnSpc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Toshiba Fujitsu 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TI</a:t>
                      </a:r>
                      <a:endParaRPr sz="1100">
                        <a:latin typeface="Arial MT"/>
                        <a:cs typeface="Arial MT"/>
                      </a:endParaRPr>
                    </a:p>
                    <a:p>
                      <a:pPr marL="47625" marR="281940">
                        <a:lnSpc>
                          <a:spcPct val="100000"/>
                        </a:lnSpc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Panasonic 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STM</a:t>
                      </a:r>
                      <a:endParaRPr sz="1100">
                        <a:latin typeface="Arial MT"/>
                        <a:cs typeface="Arial MT"/>
                      </a:endParaRPr>
                    </a:p>
                    <a:p>
                      <a:pPr marL="47625" marR="618490">
                        <a:lnSpc>
                          <a:spcPct val="100000"/>
                        </a:lnSpc>
                      </a:pPr>
                      <a:r>
                        <a:rPr sz="1100" spc="-25" dirty="0">
                          <a:latin typeface="Arial MT"/>
                          <a:cs typeface="Arial MT"/>
                        </a:rPr>
                        <a:t>UMC IBM GF</a:t>
                      </a:r>
                      <a:endParaRPr sz="1100">
                        <a:latin typeface="Arial MT"/>
                        <a:cs typeface="Arial MT"/>
                      </a:endParaRPr>
                    </a:p>
                    <a:p>
                      <a:pPr marL="47625" marR="342900">
                        <a:lnSpc>
                          <a:spcPct val="100000"/>
                        </a:lnSpc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Samsung 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TSMC</a:t>
                      </a:r>
                      <a:endParaRPr sz="1100">
                        <a:latin typeface="Arial MT"/>
                        <a:cs typeface="Arial MT"/>
                      </a:endParaRPr>
                    </a:p>
                    <a:p>
                      <a:pPr marL="47625">
                        <a:lnSpc>
                          <a:spcPct val="100000"/>
                        </a:lnSpc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Intel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47625" marR="382905">
                        <a:lnSpc>
                          <a:spcPct val="100000"/>
                        </a:lnSpc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Renesas 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SMIC</a:t>
                      </a:r>
                      <a:endParaRPr sz="1100">
                        <a:latin typeface="Arial MT"/>
                        <a:cs typeface="Arial MT"/>
                      </a:endParaRPr>
                    </a:p>
                    <a:p>
                      <a:pPr marL="47625" marR="435609">
                        <a:lnSpc>
                          <a:spcPct val="100000"/>
                        </a:lnSpc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Toshiba Fujitsu 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TI</a:t>
                      </a:r>
                      <a:endParaRPr sz="1100">
                        <a:latin typeface="Arial MT"/>
                        <a:cs typeface="Arial MT"/>
                      </a:endParaRPr>
                    </a:p>
                    <a:p>
                      <a:pPr marL="47625" marR="281940">
                        <a:lnSpc>
                          <a:spcPct val="100000"/>
                        </a:lnSpc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Panasonic 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STM</a:t>
                      </a:r>
                      <a:endParaRPr sz="1100">
                        <a:latin typeface="Arial MT"/>
                        <a:cs typeface="Arial MT"/>
                      </a:endParaRPr>
                    </a:p>
                    <a:p>
                      <a:pPr marL="47625" marR="618490">
                        <a:lnSpc>
                          <a:spcPct val="100000"/>
                        </a:lnSpc>
                      </a:pPr>
                      <a:r>
                        <a:rPr sz="1100" spc="-25" dirty="0">
                          <a:latin typeface="Arial MT"/>
                          <a:cs typeface="Arial MT"/>
                        </a:rPr>
                        <a:t>UMC IBM GF</a:t>
                      </a:r>
                      <a:endParaRPr sz="1100">
                        <a:latin typeface="Arial MT"/>
                        <a:cs typeface="Arial MT"/>
                      </a:endParaRPr>
                    </a:p>
                    <a:p>
                      <a:pPr marL="47625" marR="342900">
                        <a:lnSpc>
                          <a:spcPct val="100000"/>
                        </a:lnSpc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Samsung 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TSMC</a:t>
                      </a:r>
                      <a:endParaRPr sz="1100">
                        <a:latin typeface="Arial MT"/>
                        <a:cs typeface="Arial MT"/>
                      </a:endParaRPr>
                    </a:p>
                    <a:p>
                      <a:pPr marL="47625">
                        <a:lnSpc>
                          <a:spcPct val="100000"/>
                        </a:lnSpc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Intel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48260" marR="354330">
                        <a:lnSpc>
                          <a:spcPct val="100000"/>
                        </a:lnSpc>
                      </a:pPr>
                      <a:r>
                        <a:rPr sz="2000" spc="-20" dirty="0">
                          <a:latin typeface="Arial MT"/>
                          <a:cs typeface="Arial MT"/>
                        </a:rPr>
                        <a:t>Pan. </a:t>
                      </a:r>
                      <a:r>
                        <a:rPr sz="2000" spc="-25" dirty="0">
                          <a:latin typeface="Arial MT"/>
                          <a:cs typeface="Arial MT"/>
                        </a:rPr>
                        <a:t>STM UMC IBM GF</a:t>
                      </a:r>
                      <a:endParaRPr sz="2000">
                        <a:latin typeface="Arial MT"/>
                        <a:cs typeface="Arial MT"/>
                      </a:endParaRPr>
                    </a:p>
                    <a:p>
                      <a:pPr marL="48260" marR="21399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000" spc="-20" dirty="0">
                          <a:latin typeface="Arial MT"/>
                          <a:cs typeface="Arial MT"/>
                        </a:rPr>
                        <a:t>Sam. TSMC</a:t>
                      </a:r>
                      <a:endParaRPr sz="2000">
                        <a:latin typeface="Arial MT"/>
                        <a:cs typeface="Arial MT"/>
                      </a:endParaRPr>
                    </a:p>
                    <a:p>
                      <a:pPr marL="48260">
                        <a:lnSpc>
                          <a:spcPct val="100000"/>
                        </a:lnSpc>
                      </a:pPr>
                      <a:r>
                        <a:rPr sz="2000" spc="-10" dirty="0">
                          <a:latin typeface="Arial MT"/>
                          <a:cs typeface="Arial MT"/>
                        </a:rPr>
                        <a:t>Intel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48260">
                        <a:lnSpc>
                          <a:spcPct val="100000"/>
                        </a:lnSpc>
                      </a:pPr>
                      <a:r>
                        <a:rPr sz="2000" spc="-25" dirty="0">
                          <a:latin typeface="Arial MT"/>
                          <a:cs typeface="Arial MT"/>
                        </a:rPr>
                        <a:t>IBM</a:t>
                      </a:r>
                      <a:endParaRPr sz="2000">
                        <a:latin typeface="Arial MT"/>
                        <a:cs typeface="Arial MT"/>
                      </a:endParaRPr>
                    </a:p>
                    <a:p>
                      <a:pPr marL="48260">
                        <a:lnSpc>
                          <a:spcPct val="100000"/>
                        </a:lnSpc>
                      </a:pPr>
                      <a:r>
                        <a:rPr sz="2000" spc="-25" dirty="0">
                          <a:latin typeface="Arial MT"/>
                          <a:cs typeface="Arial MT"/>
                        </a:rPr>
                        <a:t>GF</a:t>
                      </a:r>
                      <a:endParaRPr sz="2000">
                        <a:latin typeface="Arial MT"/>
                        <a:cs typeface="Arial MT"/>
                      </a:endParaRPr>
                    </a:p>
                    <a:p>
                      <a:pPr marL="48260" marR="21399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000" spc="-20" dirty="0">
                          <a:latin typeface="Arial MT"/>
                          <a:cs typeface="Arial MT"/>
                        </a:rPr>
                        <a:t>Sam. TSMC</a:t>
                      </a:r>
                      <a:endParaRPr sz="2000">
                        <a:latin typeface="Arial MT"/>
                        <a:cs typeface="Arial MT"/>
                      </a:endParaRPr>
                    </a:p>
                    <a:p>
                      <a:pPr marL="48260">
                        <a:lnSpc>
                          <a:spcPct val="100000"/>
                        </a:lnSpc>
                      </a:pPr>
                      <a:r>
                        <a:rPr sz="2000" spc="-10" dirty="0">
                          <a:latin typeface="Arial MT"/>
                          <a:cs typeface="Arial MT"/>
                        </a:rPr>
                        <a:t>Intel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85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48260">
                        <a:lnSpc>
                          <a:spcPct val="100000"/>
                        </a:lnSpc>
                      </a:pPr>
                      <a:r>
                        <a:rPr sz="2000" spc="-25" dirty="0">
                          <a:latin typeface="Arial MT"/>
                          <a:cs typeface="Arial MT"/>
                        </a:rPr>
                        <a:t>GF</a:t>
                      </a:r>
                      <a:endParaRPr sz="2000">
                        <a:latin typeface="Arial MT"/>
                        <a:cs typeface="Arial MT"/>
                      </a:endParaRPr>
                    </a:p>
                    <a:p>
                      <a:pPr marL="48260" marR="21336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000" spc="-20" dirty="0">
                          <a:latin typeface="Arial MT"/>
                          <a:cs typeface="Arial MT"/>
                        </a:rPr>
                        <a:t>Sam. TSMC</a:t>
                      </a:r>
                      <a:endParaRPr sz="2000">
                        <a:latin typeface="Arial MT"/>
                        <a:cs typeface="Arial MT"/>
                      </a:endParaRPr>
                    </a:p>
                    <a:p>
                      <a:pPr marL="48260">
                        <a:lnSpc>
                          <a:spcPct val="100000"/>
                        </a:lnSpc>
                      </a:pPr>
                      <a:r>
                        <a:rPr sz="2000" spc="-10" dirty="0">
                          <a:latin typeface="Arial MT"/>
                          <a:cs typeface="Arial MT"/>
                        </a:rPr>
                        <a:t>Intel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90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48260" marR="213360">
                        <a:lnSpc>
                          <a:spcPct val="100000"/>
                        </a:lnSpc>
                      </a:pPr>
                      <a:r>
                        <a:rPr sz="2000" spc="-20" dirty="0">
                          <a:latin typeface="Arial MT"/>
                          <a:cs typeface="Arial MT"/>
                        </a:rPr>
                        <a:t>Sam. TSMC</a:t>
                      </a:r>
                      <a:endParaRPr sz="2000">
                        <a:latin typeface="Arial MT"/>
                        <a:cs typeface="Arial MT"/>
                      </a:endParaRPr>
                    </a:p>
                    <a:p>
                      <a:pPr marL="48260">
                        <a:lnSpc>
                          <a:spcPct val="100000"/>
                        </a:lnSpc>
                      </a:pPr>
                      <a:r>
                        <a:rPr sz="2000" spc="-10" dirty="0">
                          <a:latin typeface="Arial MT"/>
                          <a:cs typeface="Arial MT"/>
                        </a:rPr>
                        <a:t>Intel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90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48260" marR="212725">
                        <a:lnSpc>
                          <a:spcPct val="100000"/>
                        </a:lnSpc>
                      </a:pPr>
                      <a:r>
                        <a:rPr sz="2000" spc="-20" dirty="0">
                          <a:latin typeface="Arial MT"/>
                          <a:cs typeface="Arial MT"/>
                        </a:rPr>
                        <a:t>Sam. TSMC</a:t>
                      </a:r>
                      <a:endParaRPr sz="2000">
                        <a:latin typeface="Arial MT"/>
                        <a:cs typeface="Arial MT"/>
                      </a:endParaRPr>
                    </a:p>
                    <a:p>
                      <a:pPr marL="48260">
                        <a:lnSpc>
                          <a:spcPct val="100000"/>
                        </a:lnSpc>
                      </a:pPr>
                      <a:r>
                        <a:rPr sz="2000" spc="-10" dirty="0">
                          <a:latin typeface="Arial MT"/>
                          <a:cs typeface="Arial MT"/>
                        </a:rPr>
                        <a:t>Intel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90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48895" marR="213360">
                        <a:lnSpc>
                          <a:spcPct val="100000"/>
                        </a:lnSpc>
                      </a:pPr>
                      <a:r>
                        <a:rPr sz="2000" spc="-20" dirty="0">
                          <a:latin typeface="Arial MT"/>
                          <a:cs typeface="Arial MT"/>
                        </a:rPr>
                        <a:t>Sam. TSMC</a:t>
                      </a:r>
                      <a:endParaRPr sz="2000">
                        <a:latin typeface="Arial MT"/>
                        <a:cs typeface="Arial MT"/>
                      </a:endParaRPr>
                    </a:p>
                    <a:p>
                      <a:pPr marL="48895">
                        <a:lnSpc>
                          <a:spcPct val="100000"/>
                        </a:lnSpc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?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90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48895">
                        <a:lnSpc>
                          <a:spcPct val="100000"/>
                        </a:lnSpc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?</a:t>
                      </a:r>
                      <a:endParaRPr sz="2000">
                        <a:latin typeface="Arial MT"/>
                        <a:cs typeface="Arial MT"/>
                      </a:endParaRPr>
                    </a:p>
                    <a:p>
                      <a:pPr marL="48895">
                        <a:lnSpc>
                          <a:spcPct val="100000"/>
                        </a:lnSpc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?</a:t>
                      </a:r>
                      <a:endParaRPr sz="2000">
                        <a:latin typeface="Arial MT"/>
                        <a:cs typeface="Arial MT"/>
                      </a:endParaRPr>
                    </a:p>
                    <a:p>
                      <a:pPr marL="48895">
                        <a:lnSpc>
                          <a:spcPct val="100000"/>
                        </a:lnSpc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?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 marL="47625">
                        <a:lnSpc>
                          <a:spcPct val="100000"/>
                        </a:lnSpc>
                        <a:spcBef>
                          <a:spcPts val="1395"/>
                        </a:spcBef>
                      </a:pPr>
                      <a:r>
                        <a:rPr sz="2000" dirty="0">
                          <a:solidFill>
                            <a:srgbClr val="3333CC"/>
                          </a:solidFill>
                          <a:latin typeface="Arial MT"/>
                          <a:cs typeface="Arial MT"/>
                        </a:rPr>
                        <a:t>180</a:t>
                      </a:r>
                      <a:r>
                        <a:rPr sz="2000" spc="-15" dirty="0">
                          <a:solidFill>
                            <a:srgbClr val="3333CC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spc="-25" dirty="0">
                          <a:solidFill>
                            <a:srgbClr val="3333CC"/>
                          </a:solidFill>
                          <a:latin typeface="Arial MT"/>
                          <a:cs typeface="Arial MT"/>
                        </a:rPr>
                        <a:t>nm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1771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5D5F5"/>
                    </a:solidFill>
                  </a:tcPr>
                </a:tc>
                <a:tc>
                  <a:txBody>
                    <a:bodyPr/>
                    <a:lstStyle/>
                    <a:p>
                      <a:pPr marL="47625">
                        <a:lnSpc>
                          <a:spcPct val="100000"/>
                        </a:lnSpc>
                        <a:spcBef>
                          <a:spcPts val="1395"/>
                        </a:spcBef>
                      </a:pPr>
                      <a:r>
                        <a:rPr sz="2000" dirty="0">
                          <a:solidFill>
                            <a:srgbClr val="3333CC"/>
                          </a:solidFill>
                          <a:latin typeface="Arial MT"/>
                          <a:cs typeface="Arial MT"/>
                        </a:rPr>
                        <a:t>130</a:t>
                      </a:r>
                      <a:r>
                        <a:rPr sz="2000" spc="-15" dirty="0">
                          <a:solidFill>
                            <a:srgbClr val="3333CC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spc="-25" dirty="0">
                          <a:solidFill>
                            <a:srgbClr val="3333CC"/>
                          </a:solidFill>
                          <a:latin typeface="Arial MT"/>
                          <a:cs typeface="Arial MT"/>
                        </a:rPr>
                        <a:t>nm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1771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5D5F5"/>
                    </a:solidFill>
                  </a:tcPr>
                </a:tc>
                <a:tc>
                  <a:txBody>
                    <a:bodyPr/>
                    <a:lstStyle/>
                    <a:p>
                      <a:pPr marL="47625">
                        <a:lnSpc>
                          <a:spcPct val="100000"/>
                        </a:lnSpc>
                        <a:spcBef>
                          <a:spcPts val="1395"/>
                        </a:spcBef>
                      </a:pPr>
                      <a:r>
                        <a:rPr sz="2000" dirty="0">
                          <a:solidFill>
                            <a:srgbClr val="3333CC"/>
                          </a:solidFill>
                          <a:latin typeface="Arial MT"/>
                          <a:cs typeface="Arial MT"/>
                        </a:rPr>
                        <a:t>90</a:t>
                      </a:r>
                      <a:r>
                        <a:rPr sz="2000" spc="-15" dirty="0">
                          <a:solidFill>
                            <a:srgbClr val="3333CC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spc="-25" dirty="0">
                          <a:solidFill>
                            <a:srgbClr val="3333CC"/>
                          </a:solidFill>
                          <a:latin typeface="Arial MT"/>
                          <a:cs typeface="Arial MT"/>
                        </a:rPr>
                        <a:t>nm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1771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5D5F5"/>
                    </a:solidFill>
                  </a:tcPr>
                </a:tc>
                <a:tc>
                  <a:txBody>
                    <a:bodyPr/>
                    <a:lstStyle/>
                    <a:p>
                      <a:pPr marL="47625">
                        <a:lnSpc>
                          <a:spcPct val="100000"/>
                        </a:lnSpc>
                        <a:spcBef>
                          <a:spcPts val="1395"/>
                        </a:spcBef>
                      </a:pPr>
                      <a:r>
                        <a:rPr sz="2000" dirty="0">
                          <a:solidFill>
                            <a:srgbClr val="3333CC"/>
                          </a:solidFill>
                          <a:latin typeface="Arial MT"/>
                          <a:cs typeface="Arial MT"/>
                        </a:rPr>
                        <a:t>65</a:t>
                      </a:r>
                      <a:r>
                        <a:rPr sz="2000" spc="-15" dirty="0">
                          <a:solidFill>
                            <a:srgbClr val="3333CC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spc="-25" dirty="0">
                          <a:solidFill>
                            <a:srgbClr val="3333CC"/>
                          </a:solidFill>
                          <a:latin typeface="Arial MT"/>
                          <a:cs typeface="Arial MT"/>
                        </a:rPr>
                        <a:t>nm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1771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5D5F5"/>
                    </a:solidFill>
                  </a:tcPr>
                </a:tc>
                <a:tc>
                  <a:txBody>
                    <a:bodyPr/>
                    <a:lstStyle/>
                    <a:p>
                      <a:pPr marL="4762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000" spc="-10" dirty="0">
                          <a:solidFill>
                            <a:srgbClr val="3333CC"/>
                          </a:solidFill>
                          <a:latin typeface="Arial MT"/>
                          <a:cs typeface="Arial MT"/>
                        </a:rPr>
                        <a:t>45/40</a:t>
                      </a:r>
                      <a:endParaRPr sz="2000">
                        <a:latin typeface="Arial MT"/>
                        <a:cs typeface="Arial MT"/>
                      </a:endParaRPr>
                    </a:p>
                    <a:p>
                      <a:pPr marL="47625">
                        <a:lnSpc>
                          <a:spcPct val="100000"/>
                        </a:lnSpc>
                      </a:pPr>
                      <a:r>
                        <a:rPr sz="2000" spc="-25" dirty="0">
                          <a:solidFill>
                            <a:srgbClr val="3333CC"/>
                          </a:solidFill>
                          <a:latin typeface="Arial MT"/>
                          <a:cs typeface="Arial MT"/>
                        </a:rPr>
                        <a:t>nm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5D5F5"/>
                    </a:solidFill>
                  </a:tcPr>
                </a:tc>
                <a:tc>
                  <a:txBody>
                    <a:bodyPr/>
                    <a:lstStyle/>
                    <a:p>
                      <a:pPr marL="4826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000" spc="-10" dirty="0">
                          <a:solidFill>
                            <a:srgbClr val="3333CC"/>
                          </a:solidFill>
                          <a:latin typeface="Arial MT"/>
                          <a:cs typeface="Arial MT"/>
                        </a:rPr>
                        <a:t>32/28</a:t>
                      </a:r>
                      <a:endParaRPr sz="2000">
                        <a:latin typeface="Arial MT"/>
                        <a:cs typeface="Arial MT"/>
                      </a:endParaRPr>
                    </a:p>
                    <a:p>
                      <a:pPr marL="48260">
                        <a:lnSpc>
                          <a:spcPct val="100000"/>
                        </a:lnSpc>
                      </a:pPr>
                      <a:r>
                        <a:rPr sz="2000" spc="-25" dirty="0">
                          <a:solidFill>
                            <a:srgbClr val="3333CC"/>
                          </a:solidFill>
                          <a:latin typeface="Arial MT"/>
                          <a:cs typeface="Arial MT"/>
                        </a:rPr>
                        <a:t>nm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5D5F5"/>
                    </a:solidFill>
                  </a:tcPr>
                </a:tc>
                <a:tc>
                  <a:txBody>
                    <a:bodyPr/>
                    <a:lstStyle/>
                    <a:p>
                      <a:pPr marL="4826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000" spc="-10" dirty="0">
                          <a:solidFill>
                            <a:srgbClr val="3333CC"/>
                          </a:solidFill>
                          <a:latin typeface="Arial MT"/>
                          <a:cs typeface="Arial MT"/>
                        </a:rPr>
                        <a:t>22/20</a:t>
                      </a:r>
                      <a:endParaRPr sz="2000">
                        <a:latin typeface="Arial MT"/>
                        <a:cs typeface="Arial MT"/>
                      </a:endParaRPr>
                    </a:p>
                    <a:p>
                      <a:pPr marL="48260">
                        <a:lnSpc>
                          <a:spcPct val="100000"/>
                        </a:lnSpc>
                      </a:pPr>
                      <a:r>
                        <a:rPr sz="2000" spc="-25" dirty="0">
                          <a:solidFill>
                            <a:srgbClr val="3333CC"/>
                          </a:solidFill>
                          <a:latin typeface="Arial MT"/>
                          <a:cs typeface="Arial MT"/>
                        </a:rPr>
                        <a:t>nm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5D5F5"/>
                    </a:solidFill>
                  </a:tcPr>
                </a:tc>
                <a:tc>
                  <a:txBody>
                    <a:bodyPr/>
                    <a:lstStyle/>
                    <a:p>
                      <a:pPr marL="4826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000" spc="-10" dirty="0">
                          <a:solidFill>
                            <a:srgbClr val="3333CC"/>
                          </a:solidFill>
                          <a:latin typeface="Arial MT"/>
                          <a:cs typeface="Arial MT"/>
                        </a:rPr>
                        <a:t>16/14</a:t>
                      </a:r>
                      <a:endParaRPr sz="2000">
                        <a:latin typeface="Arial MT"/>
                        <a:cs typeface="Arial MT"/>
                      </a:endParaRPr>
                    </a:p>
                    <a:p>
                      <a:pPr marL="48260">
                        <a:lnSpc>
                          <a:spcPct val="100000"/>
                        </a:lnSpc>
                      </a:pPr>
                      <a:r>
                        <a:rPr sz="2000" spc="-25" dirty="0">
                          <a:solidFill>
                            <a:srgbClr val="3333CC"/>
                          </a:solidFill>
                          <a:latin typeface="Arial MT"/>
                          <a:cs typeface="Arial MT"/>
                        </a:rPr>
                        <a:t>nm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5D5F5"/>
                    </a:solidFill>
                  </a:tcPr>
                </a:tc>
                <a:tc>
                  <a:txBody>
                    <a:bodyPr/>
                    <a:lstStyle/>
                    <a:p>
                      <a:pPr marL="48260">
                        <a:lnSpc>
                          <a:spcPct val="100000"/>
                        </a:lnSpc>
                        <a:spcBef>
                          <a:spcPts val="1395"/>
                        </a:spcBef>
                      </a:pPr>
                      <a:r>
                        <a:rPr sz="2000" dirty="0">
                          <a:solidFill>
                            <a:srgbClr val="3333CC"/>
                          </a:solidFill>
                          <a:latin typeface="Arial MT"/>
                          <a:cs typeface="Arial MT"/>
                        </a:rPr>
                        <a:t>10</a:t>
                      </a:r>
                      <a:r>
                        <a:rPr sz="2000" spc="-15" dirty="0">
                          <a:solidFill>
                            <a:srgbClr val="3333CC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spc="-25" dirty="0">
                          <a:solidFill>
                            <a:srgbClr val="3333CC"/>
                          </a:solidFill>
                          <a:latin typeface="Arial MT"/>
                          <a:cs typeface="Arial MT"/>
                        </a:rPr>
                        <a:t>nm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1771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5D5F5"/>
                    </a:solidFill>
                  </a:tcPr>
                </a:tc>
                <a:tc>
                  <a:txBody>
                    <a:bodyPr/>
                    <a:lstStyle/>
                    <a:p>
                      <a:pPr marL="48260">
                        <a:lnSpc>
                          <a:spcPct val="100000"/>
                        </a:lnSpc>
                        <a:spcBef>
                          <a:spcPts val="1395"/>
                        </a:spcBef>
                      </a:pPr>
                      <a:r>
                        <a:rPr sz="2000" dirty="0">
                          <a:solidFill>
                            <a:srgbClr val="3333CC"/>
                          </a:solidFill>
                          <a:latin typeface="Arial MT"/>
                          <a:cs typeface="Arial MT"/>
                        </a:rPr>
                        <a:t>7 </a:t>
                      </a:r>
                      <a:r>
                        <a:rPr sz="2000" spc="-25" dirty="0">
                          <a:solidFill>
                            <a:srgbClr val="3333CC"/>
                          </a:solidFill>
                          <a:latin typeface="Arial MT"/>
                          <a:cs typeface="Arial MT"/>
                        </a:rPr>
                        <a:t>nm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1771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5D5F5"/>
                    </a:solidFill>
                  </a:tcPr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ct val="100000"/>
                        </a:lnSpc>
                        <a:spcBef>
                          <a:spcPts val="1395"/>
                        </a:spcBef>
                      </a:pPr>
                      <a:r>
                        <a:rPr sz="2000" dirty="0">
                          <a:solidFill>
                            <a:srgbClr val="3333CC"/>
                          </a:solidFill>
                          <a:latin typeface="Arial MT"/>
                          <a:cs typeface="Arial MT"/>
                        </a:rPr>
                        <a:t>5 </a:t>
                      </a:r>
                      <a:r>
                        <a:rPr sz="2000" spc="-25" dirty="0">
                          <a:solidFill>
                            <a:srgbClr val="3333CC"/>
                          </a:solidFill>
                          <a:latin typeface="Arial MT"/>
                          <a:cs typeface="Arial MT"/>
                        </a:rPr>
                        <a:t>nm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1771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5D5F5"/>
                    </a:solidFill>
                  </a:tcPr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ct val="100000"/>
                        </a:lnSpc>
                        <a:spcBef>
                          <a:spcPts val="1395"/>
                        </a:spcBef>
                      </a:pPr>
                      <a:r>
                        <a:rPr sz="2000" dirty="0">
                          <a:solidFill>
                            <a:srgbClr val="3333CC"/>
                          </a:solidFill>
                          <a:latin typeface="Arial MT"/>
                          <a:cs typeface="Arial MT"/>
                        </a:rPr>
                        <a:t>3 </a:t>
                      </a:r>
                      <a:r>
                        <a:rPr sz="2000" spc="-25" dirty="0">
                          <a:solidFill>
                            <a:srgbClr val="3333CC"/>
                          </a:solidFill>
                          <a:latin typeface="Arial MT"/>
                          <a:cs typeface="Arial MT"/>
                        </a:rPr>
                        <a:t>nm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1771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5D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647801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07460">
              <a:lnSpc>
                <a:spcPct val="100000"/>
              </a:lnSpc>
              <a:spcBef>
                <a:spcPts val="105"/>
              </a:spcBef>
            </a:pPr>
            <a:r>
              <a:rPr dirty="0"/>
              <a:t>UAE</a:t>
            </a:r>
            <a:r>
              <a:rPr spc="-165" dirty="0"/>
              <a:t> </a:t>
            </a:r>
            <a:r>
              <a:rPr dirty="0"/>
              <a:t>Fab</a:t>
            </a:r>
            <a:r>
              <a:rPr spc="-175" dirty="0"/>
              <a:t> </a:t>
            </a:r>
            <a:r>
              <a:rPr spc="-25" dirty="0"/>
              <a:t>Cancelled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458202" y="944860"/>
            <a:ext cx="7325995" cy="5763895"/>
            <a:chOff x="2458202" y="944860"/>
            <a:chExt cx="7325995" cy="576389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58202" y="944860"/>
              <a:ext cx="7325886" cy="576379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13075" y="990599"/>
              <a:ext cx="7165848" cy="561289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494025" y="971549"/>
              <a:ext cx="7204075" cy="5651500"/>
            </a:xfrm>
            <a:custGeom>
              <a:avLst/>
              <a:gdLst/>
              <a:ahLst/>
              <a:cxnLst/>
              <a:rect l="l" t="t" r="r" b="b"/>
              <a:pathLst>
                <a:path w="7204075" h="5651500">
                  <a:moveTo>
                    <a:pt x="0" y="5650992"/>
                  </a:moveTo>
                  <a:lnTo>
                    <a:pt x="7203948" y="5650992"/>
                  </a:lnTo>
                  <a:lnTo>
                    <a:pt x="7203948" y="0"/>
                  </a:lnTo>
                  <a:lnTo>
                    <a:pt x="0" y="0"/>
                  </a:lnTo>
                  <a:lnTo>
                    <a:pt x="0" y="5650992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cs typeface="Calibri"/>
              </a:rPr>
              <a:t>01:</a:t>
            </a:r>
            <a:r>
              <a:rPr kumimoji="0" sz="1400" b="1" i="0" u="none" strike="noStrike" kern="0" cap="none" spc="-1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cs typeface="Calibri"/>
              </a:rPr>
              <a:t> Introduction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3436" rIns="0" bIns="0" rtlCol="0">
            <a:spAutoFit/>
          </a:bodyPr>
          <a:lstStyle/>
          <a:p>
            <a:pPr marL="6971665" marR="0" lvl="0" indent="0" defTabSz="91440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400" b="1" i="0" u="none" strike="noStrike" kern="0" cap="none" spc="-2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cs typeface="Calibri"/>
              </a:rPr>
              <a:pPr marL="6971665" marR="0" lvl="0" indent="0" defTabSz="914400" eaLnBrk="1" fontAlgn="auto" latinLnBrk="0" hangingPunct="1">
                <a:lnSpc>
                  <a:spcPts val="143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sz="1400" b="1" i="0" u="none" strike="noStrike" kern="0" cap="none" spc="-25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8949498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233420">
              <a:lnSpc>
                <a:spcPct val="100000"/>
              </a:lnSpc>
              <a:spcBef>
                <a:spcPts val="105"/>
              </a:spcBef>
            </a:pPr>
            <a:r>
              <a:rPr dirty="0"/>
              <a:t>GF</a:t>
            </a:r>
            <a:r>
              <a:rPr spc="-145" dirty="0"/>
              <a:t> </a:t>
            </a:r>
            <a:r>
              <a:rPr spc="-30" dirty="0"/>
              <a:t>Cancelled</a:t>
            </a:r>
            <a:r>
              <a:rPr spc="-175" dirty="0"/>
              <a:t> </a:t>
            </a:r>
            <a:r>
              <a:rPr dirty="0"/>
              <a:t>7nm</a:t>
            </a:r>
            <a:r>
              <a:rPr spc="-180" dirty="0"/>
              <a:t> </a:t>
            </a:r>
            <a:r>
              <a:rPr spc="-10" dirty="0"/>
              <a:t>Plans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93874" y="1074392"/>
            <a:ext cx="9654540" cy="5076825"/>
            <a:chOff x="1293874" y="1074392"/>
            <a:chExt cx="9654540" cy="507682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93874" y="1074392"/>
              <a:ext cx="9654542" cy="507648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48739" y="1120140"/>
              <a:ext cx="9494519" cy="492556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329689" y="1101090"/>
              <a:ext cx="9532620" cy="4963795"/>
            </a:xfrm>
            <a:custGeom>
              <a:avLst/>
              <a:gdLst/>
              <a:ahLst/>
              <a:cxnLst/>
              <a:rect l="l" t="t" r="r" b="b"/>
              <a:pathLst>
                <a:path w="9532620" h="4963795">
                  <a:moveTo>
                    <a:pt x="0" y="4963668"/>
                  </a:moveTo>
                  <a:lnTo>
                    <a:pt x="9532620" y="4963668"/>
                  </a:lnTo>
                  <a:lnTo>
                    <a:pt x="9532620" y="0"/>
                  </a:lnTo>
                  <a:lnTo>
                    <a:pt x="0" y="0"/>
                  </a:lnTo>
                  <a:lnTo>
                    <a:pt x="0" y="4963668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cs typeface="Calibri"/>
              </a:rPr>
              <a:t>01:</a:t>
            </a:r>
            <a:r>
              <a:rPr kumimoji="0" sz="1400" b="1" i="0" u="none" strike="noStrike" kern="0" cap="none" spc="-1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cs typeface="Calibri"/>
              </a:rPr>
              <a:t> Introduction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3436" rIns="0" bIns="0" rtlCol="0">
            <a:spAutoFit/>
          </a:bodyPr>
          <a:lstStyle/>
          <a:p>
            <a:pPr marL="6971665" marR="0" lvl="0" indent="0" defTabSz="91440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400" b="1" i="0" u="none" strike="noStrike" kern="0" cap="none" spc="-2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cs typeface="Calibri"/>
              </a:rPr>
              <a:pPr marL="6971665" marR="0" lvl="0" indent="0" defTabSz="914400" eaLnBrk="1" fontAlgn="auto" latinLnBrk="0" hangingPunct="1">
                <a:lnSpc>
                  <a:spcPts val="143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sz="1400" b="1" i="0" u="none" strike="noStrike" kern="0" cap="none" spc="-25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0928472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object 3"/>
            <p:cNvSpPr/>
            <p:nvPr/>
          </p:nvSpPr>
          <p:spPr>
            <a:xfrm>
              <a:off x="0" y="746759"/>
              <a:ext cx="12192000" cy="91440"/>
            </a:xfrm>
            <a:custGeom>
              <a:avLst/>
              <a:gdLst/>
              <a:ahLst/>
              <a:cxnLst/>
              <a:rect l="l" t="t" r="r" b="b"/>
              <a:pathLst>
                <a:path w="12192000" h="91440">
                  <a:moveTo>
                    <a:pt x="12192000" y="0"/>
                  </a:moveTo>
                  <a:lnTo>
                    <a:pt x="0" y="0"/>
                  </a:lnTo>
                  <a:lnTo>
                    <a:pt x="0" y="91439"/>
                  </a:lnTo>
                  <a:lnTo>
                    <a:pt x="12192000" y="9143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66060" y="0"/>
              <a:ext cx="6710172" cy="68580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30067" y="60958"/>
              <a:ext cx="6531864" cy="673607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811017" y="41909"/>
              <a:ext cx="6570345" cy="6774180"/>
            </a:xfrm>
            <a:custGeom>
              <a:avLst/>
              <a:gdLst/>
              <a:ahLst/>
              <a:cxnLst/>
              <a:rect l="l" t="t" r="r" b="b"/>
              <a:pathLst>
                <a:path w="6570345" h="6774180">
                  <a:moveTo>
                    <a:pt x="0" y="6774180"/>
                  </a:moveTo>
                  <a:lnTo>
                    <a:pt x="6569964" y="6774180"/>
                  </a:lnTo>
                  <a:lnTo>
                    <a:pt x="6569964" y="0"/>
                  </a:lnTo>
                  <a:lnTo>
                    <a:pt x="0" y="0"/>
                  </a:lnTo>
                  <a:lnTo>
                    <a:pt x="0" y="677418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cs typeface="Calibri"/>
              </a:rPr>
              <a:t>01:</a:t>
            </a:r>
            <a:r>
              <a:rPr kumimoji="0" sz="1400" b="1" i="0" u="none" strike="noStrike" kern="0" cap="none" spc="-1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cs typeface="Calibri"/>
              </a:rPr>
              <a:t> Introduction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3436" rIns="0" bIns="0" rtlCol="0">
            <a:spAutoFit/>
          </a:bodyPr>
          <a:lstStyle/>
          <a:p>
            <a:pPr marL="6971665" marR="0" lvl="0" indent="0" defTabSz="91440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400" b="1" i="0" u="none" strike="noStrike" kern="0" cap="none" spc="-2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cs typeface="Calibri"/>
              </a:rPr>
              <a:pPr marL="6971665" marR="0" lvl="0" indent="0" defTabSz="914400" eaLnBrk="1" fontAlgn="auto" latinLnBrk="0" hangingPunct="1">
                <a:lnSpc>
                  <a:spcPts val="143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sz="1400" b="1" i="0" u="none" strike="noStrike" kern="0" cap="none" spc="-25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4802656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746759"/>
            <a:ext cx="12192000" cy="6130290"/>
            <a:chOff x="0" y="746759"/>
            <a:chExt cx="12192000" cy="613029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06743" y="2991566"/>
              <a:ext cx="7828805" cy="3866433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61616" y="3037330"/>
              <a:ext cx="7668768" cy="3820667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242566" y="3018280"/>
              <a:ext cx="7706995" cy="3839845"/>
            </a:xfrm>
            <a:custGeom>
              <a:avLst/>
              <a:gdLst/>
              <a:ahLst/>
              <a:cxnLst/>
              <a:rect l="l" t="t" r="r" b="b"/>
              <a:pathLst>
                <a:path w="7706995" h="3839845">
                  <a:moveTo>
                    <a:pt x="7706868" y="3839719"/>
                  </a:moveTo>
                  <a:lnTo>
                    <a:pt x="7706868" y="0"/>
                  </a:lnTo>
                  <a:lnTo>
                    <a:pt x="0" y="0"/>
                  </a:lnTo>
                  <a:lnTo>
                    <a:pt x="0" y="3839719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59991" y="794003"/>
              <a:ext cx="9322307" cy="236829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24000" y="858011"/>
              <a:ext cx="9144000" cy="218998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504950" y="838961"/>
              <a:ext cx="9182100" cy="2228215"/>
            </a:xfrm>
            <a:custGeom>
              <a:avLst/>
              <a:gdLst/>
              <a:ahLst/>
              <a:cxnLst/>
              <a:rect l="l" t="t" r="r" b="b"/>
              <a:pathLst>
                <a:path w="9182100" h="2228215">
                  <a:moveTo>
                    <a:pt x="0" y="2228088"/>
                  </a:moveTo>
                  <a:lnTo>
                    <a:pt x="9182100" y="2228088"/>
                  </a:lnTo>
                  <a:lnTo>
                    <a:pt x="9182100" y="0"/>
                  </a:lnTo>
                  <a:lnTo>
                    <a:pt x="0" y="0"/>
                  </a:lnTo>
                  <a:lnTo>
                    <a:pt x="0" y="2228088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312035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Money</a:t>
            </a:r>
            <a:r>
              <a:rPr spc="-195" dirty="0"/>
              <a:t> </a:t>
            </a:r>
            <a:r>
              <a:rPr dirty="0"/>
              <a:t>is</a:t>
            </a:r>
            <a:r>
              <a:rPr spc="-160" dirty="0"/>
              <a:t> </a:t>
            </a:r>
            <a:r>
              <a:rPr dirty="0"/>
              <a:t>Not</a:t>
            </a:r>
            <a:r>
              <a:rPr spc="-180" dirty="0"/>
              <a:t> </a:t>
            </a:r>
            <a:r>
              <a:rPr dirty="0"/>
              <a:t>the</a:t>
            </a:r>
            <a:r>
              <a:rPr spc="-185" dirty="0"/>
              <a:t> </a:t>
            </a:r>
            <a:r>
              <a:rPr dirty="0"/>
              <a:t>Only</a:t>
            </a:r>
            <a:r>
              <a:rPr spc="-195" dirty="0"/>
              <a:t> </a:t>
            </a:r>
            <a:r>
              <a:rPr spc="-10" dirty="0"/>
              <a:t>Problem!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cs typeface="Calibri"/>
              </a:rPr>
              <a:t>01:</a:t>
            </a:r>
            <a:r>
              <a:rPr kumimoji="0" sz="1400" b="1" i="0" u="none" strike="noStrike" kern="0" cap="none" spc="-1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cs typeface="Calibri"/>
              </a:rPr>
              <a:t> Introduction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3436" rIns="0" bIns="0" rtlCol="0">
            <a:spAutoFit/>
          </a:bodyPr>
          <a:lstStyle/>
          <a:p>
            <a:pPr marL="6971665" marR="0" lvl="0" indent="0" defTabSz="91440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400" b="1" i="0" u="none" strike="noStrike" kern="0" cap="none" spc="-2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cs typeface="Calibri"/>
              </a:rPr>
              <a:pPr marL="6971665" marR="0" lvl="0" indent="0" defTabSz="914400" eaLnBrk="1" fontAlgn="auto" latinLnBrk="0" hangingPunct="1">
                <a:lnSpc>
                  <a:spcPts val="143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sz="1400" b="1" i="0" u="none" strike="noStrike" kern="0" cap="none" spc="-25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8796805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4573" y="-3860"/>
            <a:ext cx="149225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India…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66442" y="1005834"/>
            <a:ext cx="9709785" cy="5439410"/>
            <a:chOff x="1266442" y="1005834"/>
            <a:chExt cx="9709785" cy="543941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66442" y="1005834"/>
              <a:ext cx="9709407" cy="543916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21307" y="1051559"/>
              <a:ext cx="9549384" cy="528828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302257" y="1032509"/>
              <a:ext cx="9587865" cy="5326380"/>
            </a:xfrm>
            <a:custGeom>
              <a:avLst/>
              <a:gdLst/>
              <a:ahLst/>
              <a:cxnLst/>
              <a:rect l="l" t="t" r="r" b="b"/>
              <a:pathLst>
                <a:path w="9587865" h="5326380">
                  <a:moveTo>
                    <a:pt x="0" y="5326380"/>
                  </a:moveTo>
                  <a:lnTo>
                    <a:pt x="9587484" y="5326380"/>
                  </a:lnTo>
                  <a:lnTo>
                    <a:pt x="9587484" y="0"/>
                  </a:lnTo>
                  <a:lnTo>
                    <a:pt x="0" y="0"/>
                  </a:lnTo>
                  <a:lnTo>
                    <a:pt x="0" y="532638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cs typeface="Calibri"/>
              </a:rPr>
              <a:t>01:</a:t>
            </a:r>
            <a:r>
              <a:rPr kumimoji="0" sz="1400" b="1" i="0" u="none" strike="noStrike" kern="0" cap="none" spc="-1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cs typeface="Calibri"/>
              </a:rPr>
              <a:t> Introduction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3436" rIns="0" bIns="0" rtlCol="0">
            <a:spAutoFit/>
          </a:bodyPr>
          <a:lstStyle/>
          <a:p>
            <a:pPr marL="6971665" marR="0" lvl="0" indent="0" defTabSz="91440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400" b="1" i="0" u="none" strike="noStrike" kern="0" cap="none" spc="-2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cs typeface="Calibri"/>
              </a:rPr>
              <a:pPr marL="6971665" marR="0" lvl="0" indent="0" defTabSz="914400" eaLnBrk="1" fontAlgn="auto" latinLnBrk="0" hangingPunct="1">
                <a:lnSpc>
                  <a:spcPts val="143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sz="1400" b="1" i="0" u="none" strike="noStrike" kern="0" cap="none" spc="-25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3911111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904740">
              <a:lnSpc>
                <a:spcPct val="100000"/>
              </a:lnSpc>
              <a:spcBef>
                <a:spcPts val="105"/>
              </a:spcBef>
            </a:pPr>
            <a:r>
              <a:rPr dirty="0"/>
              <a:t>The</a:t>
            </a:r>
            <a:r>
              <a:rPr spc="-170" dirty="0"/>
              <a:t> </a:t>
            </a:r>
            <a:r>
              <a:rPr spc="-25" dirty="0"/>
              <a:t>US…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14882" y="950923"/>
            <a:ext cx="11812905" cy="2078989"/>
            <a:chOff x="214882" y="950923"/>
            <a:chExt cx="11812905" cy="2078989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4882" y="950923"/>
              <a:ext cx="11812526" cy="207881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9747" y="996695"/>
              <a:ext cx="11652504" cy="192786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50697" y="977645"/>
              <a:ext cx="11690985" cy="1965960"/>
            </a:xfrm>
            <a:custGeom>
              <a:avLst/>
              <a:gdLst/>
              <a:ahLst/>
              <a:cxnLst/>
              <a:rect l="l" t="t" r="r" b="b"/>
              <a:pathLst>
                <a:path w="11690985" h="1965960">
                  <a:moveTo>
                    <a:pt x="0" y="1965960"/>
                  </a:moveTo>
                  <a:lnTo>
                    <a:pt x="11690604" y="1965960"/>
                  </a:lnTo>
                  <a:lnTo>
                    <a:pt x="11690604" y="0"/>
                  </a:lnTo>
                  <a:lnTo>
                    <a:pt x="0" y="0"/>
                  </a:lnTo>
                  <a:lnTo>
                    <a:pt x="0" y="196596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2618222" y="3079969"/>
            <a:ext cx="7005955" cy="3759835"/>
            <a:chOff x="2618222" y="3079969"/>
            <a:chExt cx="7005955" cy="3759835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18222" y="3079969"/>
              <a:ext cx="7005847" cy="3759763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673096" y="3125722"/>
              <a:ext cx="6845808" cy="360883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654046" y="3106674"/>
              <a:ext cx="6884034" cy="3647440"/>
            </a:xfrm>
            <a:custGeom>
              <a:avLst/>
              <a:gdLst/>
              <a:ahLst/>
              <a:cxnLst/>
              <a:rect l="l" t="t" r="r" b="b"/>
              <a:pathLst>
                <a:path w="6884034" h="3647440">
                  <a:moveTo>
                    <a:pt x="0" y="3646932"/>
                  </a:moveTo>
                  <a:lnTo>
                    <a:pt x="6883908" y="3646932"/>
                  </a:lnTo>
                  <a:lnTo>
                    <a:pt x="6883908" y="0"/>
                  </a:lnTo>
                  <a:lnTo>
                    <a:pt x="0" y="0"/>
                  </a:lnTo>
                  <a:lnTo>
                    <a:pt x="0" y="3646932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cs typeface="Calibri"/>
              </a:rPr>
              <a:t>01:</a:t>
            </a:r>
            <a:r>
              <a:rPr kumimoji="0" sz="1400" b="1" i="0" u="none" strike="noStrike" kern="0" cap="none" spc="-1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cs typeface="Calibri"/>
              </a:rPr>
              <a:t> Introduction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3436" rIns="0" bIns="0" rtlCol="0">
            <a:spAutoFit/>
          </a:bodyPr>
          <a:lstStyle/>
          <a:p>
            <a:pPr marL="6971665" marR="0" lvl="0" indent="0" defTabSz="91440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400" b="1" i="0" u="none" strike="noStrike" kern="0" cap="none" spc="-2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cs typeface="Calibri"/>
              </a:rPr>
              <a:pPr marL="6971665" marR="0" lvl="0" indent="0" defTabSz="914400" eaLnBrk="1" fontAlgn="auto" latinLnBrk="0" hangingPunct="1">
                <a:lnSpc>
                  <a:spcPts val="143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sz="1400" b="1" i="0" u="none" strike="noStrike" kern="0" cap="none" spc="-25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1305692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260085" y="-3860"/>
            <a:ext cx="168084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TSMC…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002787" y="897610"/>
            <a:ext cx="10236835" cy="5922645"/>
            <a:chOff x="1002787" y="897610"/>
            <a:chExt cx="10236835" cy="592264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02787" y="897610"/>
              <a:ext cx="10236716" cy="215497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57655" y="943356"/>
              <a:ext cx="10076688" cy="200406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038605" y="924306"/>
              <a:ext cx="10114915" cy="2042160"/>
            </a:xfrm>
            <a:custGeom>
              <a:avLst/>
              <a:gdLst/>
              <a:ahLst/>
              <a:cxnLst/>
              <a:rect l="l" t="t" r="r" b="b"/>
              <a:pathLst>
                <a:path w="10114915" h="2042160">
                  <a:moveTo>
                    <a:pt x="0" y="2042160"/>
                  </a:moveTo>
                  <a:lnTo>
                    <a:pt x="10114788" y="2042160"/>
                  </a:lnTo>
                  <a:lnTo>
                    <a:pt x="10114788" y="0"/>
                  </a:lnTo>
                  <a:lnTo>
                    <a:pt x="0" y="0"/>
                  </a:lnTo>
                  <a:lnTo>
                    <a:pt x="0" y="204216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77439" y="2997713"/>
              <a:ext cx="7487411" cy="382219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441447" y="3061716"/>
              <a:ext cx="7309104" cy="3643884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2422397" y="3042666"/>
              <a:ext cx="7347584" cy="3682365"/>
            </a:xfrm>
            <a:custGeom>
              <a:avLst/>
              <a:gdLst/>
              <a:ahLst/>
              <a:cxnLst/>
              <a:rect l="l" t="t" r="r" b="b"/>
              <a:pathLst>
                <a:path w="7347584" h="3682365">
                  <a:moveTo>
                    <a:pt x="0" y="3681984"/>
                  </a:moveTo>
                  <a:lnTo>
                    <a:pt x="7347204" y="3681984"/>
                  </a:lnTo>
                  <a:lnTo>
                    <a:pt x="7347204" y="0"/>
                  </a:lnTo>
                  <a:lnTo>
                    <a:pt x="0" y="0"/>
                  </a:lnTo>
                  <a:lnTo>
                    <a:pt x="0" y="3681984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cs typeface="Calibri"/>
              </a:rPr>
              <a:t>01:</a:t>
            </a:r>
            <a:r>
              <a:rPr kumimoji="0" sz="1400" b="1" i="0" u="none" strike="noStrike" kern="0" cap="none" spc="-1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cs typeface="Calibri"/>
              </a:rPr>
              <a:t> Introduction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3436" rIns="0" bIns="0" rtlCol="0">
            <a:spAutoFit/>
          </a:bodyPr>
          <a:lstStyle/>
          <a:p>
            <a:pPr marL="6971665" marR="0" lvl="0" indent="0" defTabSz="91440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400" b="1" i="0" u="none" strike="noStrike" kern="0" cap="none" spc="-2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cs typeface="Calibri"/>
              </a:rPr>
              <a:pPr marL="6971665" marR="0" lvl="0" indent="0" defTabSz="914400" eaLnBrk="1" fontAlgn="auto" latinLnBrk="0" hangingPunct="1">
                <a:lnSpc>
                  <a:spcPts val="143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0" sz="1400" b="1" i="0" u="none" strike="noStrike" kern="0" cap="none" spc="-25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417130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883785">
              <a:lnSpc>
                <a:spcPct val="100000"/>
              </a:lnSpc>
              <a:spcBef>
                <a:spcPts val="105"/>
              </a:spcBef>
            </a:pPr>
            <a:r>
              <a:rPr spc="-30" dirty="0"/>
              <a:t>Europe…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149091" y="1130791"/>
            <a:ext cx="9944735" cy="5189855"/>
            <a:chOff x="1149091" y="1130791"/>
            <a:chExt cx="9944735" cy="518985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49091" y="1130791"/>
              <a:ext cx="9944108" cy="518924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03959" y="1176527"/>
              <a:ext cx="9784080" cy="503834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84909" y="1157477"/>
              <a:ext cx="9822180" cy="5076825"/>
            </a:xfrm>
            <a:custGeom>
              <a:avLst/>
              <a:gdLst/>
              <a:ahLst/>
              <a:cxnLst/>
              <a:rect l="l" t="t" r="r" b="b"/>
              <a:pathLst>
                <a:path w="9822180" h="5076825">
                  <a:moveTo>
                    <a:pt x="0" y="5076444"/>
                  </a:moveTo>
                  <a:lnTo>
                    <a:pt x="9822180" y="5076444"/>
                  </a:lnTo>
                  <a:lnTo>
                    <a:pt x="9822180" y="0"/>
                  </a:lnTo>
                  <a:lnTo>
                    <a:pt x="0" y="0"/>
                  </a:lnTo>
                  <a:lnTo>
                    <a:pt x="0" y="5076444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cs typeface="Calibri"/>
              </a:rPr>
              <a:t>01:</a:t>
            </a:r>
            <a:r>
              <a:rPr kumimoji="0" sz="1400" b="1" i="0" u="none" strike="noStrike" kern="0" cap="none" spc="-1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cs typeface="Calibri"/>
              </a:rPr>
              <a:t> Introduction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3436" rIns="0" bIns="0" rtlCol="0">
            <a:spAutoFit/>
          </a:bodyPr>
          <a:lstStyle/>
          <a:p>
            <a:pPr marL="6971665" marR="0" lvl="0" indent="0" defTabSz="91440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400" b="1" i="0" u="none" strike="noStrike" kern="0" cap="none" spc="-2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cs typeface="Calibri"/>
              </a:rPr>
              <a:pPr marL="6971665" marR="0" lvl="0" indent="0" defTabSz="914400" eaLnBrk="1" fontAlgn="auto" latinLnBrk="0" hangingPunct="1">
                <a:lnSpc>
                  <a:spcPts val="143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0" sz="1400" b="1" i="0" u="none" strike="noStrike" kern="0" cap="none" spc="-25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352463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472565">
              <a:lnSpc>
                <a:spcPct val="100000"/>
              </a:lnSpc>
              <a:spcBef>
                <a:spcPts val="105"/>
              </a:spcBef>
            </a:pPr>
            <a:r>
              <a:rPr dirty="0"/>
              <a:t>Types</a:t>
            </a:r>
            <a:r>
              <a:rPr spc="-175" dirty="0"/>
              <a:t> </a:t>
            </a:r>
            <a:r>
              <a:rPr dirty="0"/>
              <a:t>of</a:t>
            </a:r>
            <a:r>
              <a:rPr spc="-160" dirty="0"/>
              <a:t> </a:t>
            </a:r>
            <a:r>
              <a:rPr spc="-35" dirty="0"/>
              <a:t>Companies</a:t>
            </a:r>
            <a:r>
              <a:rPr spc="-175" dirty="0"/>
              <a:t> </a:t>
            </a:r>
            <a:r>
              <a:rPr dirty="0"/>
              <a:t>in</a:t>
            </a:r>
            <a:r>
              <a:rPr spc="-175" dirty="0"/>
              <a:t> </a:t>
            </a:r>
            <a:r>
              <a:rPr dirty="0"/>
              <a:t>the</a:t>
            </a:r>
            <a:r>
              <a:rPr spc="-165" dirty="0"/>
              <a:t> </a:t>
            </a:r>
            <a:r>
              <a:rPr dirty="0"/>
              <a:t>VLSI</a:t>
            </a:r>
            <a:r>
              <a:rPr spc="-170" dirty="0"/>
              <a:t> </a:t>
            </a:r>
            <a:r>
              <a:rPr spc="-10" dirty="0"/>
              <a:t>Industry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cs typeface="Calibri"/>
              </a:rPr>
              <a:t>01:</a:t>
            </a:r>
            <a:r>
              <a:rPr kumimoji="0" sz="1400" b="1" i="0" u="none" strike="noStrike" kern="0" cap="none" spc="-2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1" i="0" u="none" strike="noStrike" kern="0" cap="none" spc="-1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cs typeface="Calibri"/>
              </a:rPr>
              <a:t>Introduction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3436" rIns="0" bIns="0" rtlCol="0">
            <a:spAutoFit/>
          </a:bodyPr>
          <a:lstStyle/>
          <a:p>
            <a:pPr marL="6971665" marR="0" lvl="0" indent="0" defTabSz="91440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400" b="1" i="0" u="none" strike="noStrike" kern="0" cap="none" spc="-2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cs typeface="Calibri"/>
              </a:rPr>
              <a:pPr marL="6971665" marR="0" lvl="0" indent="0" defTabSz="914400" eaLnBrk="1" fontAlgn="auto" latinLnBrk="0" hangingPunct="1">
                <a:lnSpc>
                  <a:spcPts val="143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52</a:t>
            </a:fld>
            <a:endParaRPr kumimoji="0" sz="1400" b="1" i="0" u="none" strike="noStrike" kern="0" cap="none" spc="-25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80238" y="927861"/>
            <a:ext cx="11820525" cy="50012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8630" marR="90170" lvl="0" indent="-456565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 typeface="Wingdings"/>
              <a:buChar char=""/>
              <a:tabLst>
                <a:tab pos="468630" algn="l"/>
              </a:tabLst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IDM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(integrated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device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manufacturer):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Companies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that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design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manufacture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integrated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circuits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(ICs)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869315" marR="0" lvl="1" indent="-286385" defTabSz="914400" eaLnBrk="1" fontAlgn="auto" latinLnBrk="0" hangingPunct="1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Tx/>
              <a:buSzTx/>
              <a:buFont typeface="Wingdings"/>
              <a:buChar char=""/>
              <a:tabLst>
                <a:tab pos="869315" algn="l"/>
              </a:tabLst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Ex: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Intel,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Samsung,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Texas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Instruments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(TI),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etc.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468630" marR="5080" lvl="0" indent="-456565" defTabSz="91440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Tx/>
              <a:buSzTx/>
              <a:buFont typeface="Wingdings"/>
              <a:buChar char=""/>
              <a:tabLst>
                <a:tab pos="468630" algn="l"/>
              </a:tabLst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Fabless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companies: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Companies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that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focus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on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IC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design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only.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They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don’t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have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manufacturing capabilities.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869315" marR="0" lvl="1" indent="-286385" defTabSz="914400" eaLnBrk="1" fontAlgn="auto" latinLnBrk="0" hangingPunct="1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Tx/>
              <a:buSzTx/>
              <a:buFont typeface="Wingdings"/>
              <a:buChar char=""/>
              <a:tabLst>
                <a:tab pos="869315" algn="l"/>
              </a:tabLst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Ex: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Qualcomm,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Broadcom,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Nvidia,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etc.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869315" marR="0" lvl="1" indent="-286385" defTabSz="914400" eaLnBrk="1" fontAlgn="auto" latinLnBrk="0" hangingPunct="1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Tx/>
              <a:buSzTx/>
              <a:buFont typeface="Wingdings"/>
              <a:buChar char=""/>
              <a:tabLst>
                <a:tab pos="869315" algn="l"/>
              </a:tabLst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Product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companies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vs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design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services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companies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468630" marR="535940" lvl="0" indent="-456565" defTabSz="91440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Tx/>
              <a:buSzTx/>
              <a:buFont typeface="Wingdings"/>
              <a:buChar char=""/>
              <a:tabLst>
                <a:tab pos="468630" algn="l"/>
              </a:tabLst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Foundry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companies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(a.k.a.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pure-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play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foundries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or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merchant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foundries):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Companies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that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focus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on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IC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fabrication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only,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without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having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any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in-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house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design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capabilities.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869315" marR="0" lvl="1" indent="-286385" defTabSz="914400" eaLnBrk="1" fontAlgn="auto" latinLnBrk="0" hangingPunct="1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Tx/>
              <a:buSzTx/>
              <a:buFont typeface="Wingdings"/>
              <a:buChar char=""/>
              <a:tabLst>
                <a:tab pos="869315" algn="l"/>
              </a:tabLst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Ex: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TSMC,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Global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Foundries,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UMC,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etc.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467995" marR="0" lvl="0" indent="-455295" defTabSz="91440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Tx/>
              <a:buSzTx/>
              <a:buFont typeface="Wingdings"/>
              <a:buChar char=""/>
              <a:tabLst>
                <a:tab pos="467995" algn="l"/>
              </a:tabLst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EDA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companies: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Companies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that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create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software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tools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used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IC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design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(EDA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tools)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869315" marR="0" lvl="1" indent="-286385" defTabSz="914400" eaLnBrk="1" fontAlgn="auto" latinLnBrk="0" hangingPunct="1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Tx/>
              <a:buSzTx/>
              <a:buFont typeface="Wingdings"/>
              <a:buChar char=""/>
              <a:tabLst>
                <a:tab pos="869315" algn="l"/>
              </a:tabLst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Ex: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Synopsys,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Cadence,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Mentor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(now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Siemens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EDA),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cs typeface="Calibri"/>
              </a:rPr>
              <a:t>etc.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2089277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472565">
              <a:lnSpc>
                <a:spcPct val="100000"/>
              </a:lnSpc>
              <a:spcBef>
                <a:spcPts val="105"/>
              </a:spcBef>
            </a:pPr>
            <a:r>
              <a:rPr dirty="0"/>
              <a:t>Types</a:t>
            </a:r>
            <a:r>
              <a:rPr spc="-175" dirty="0"/>
              <a:t> </a:t>
            </a:r>
            <a:r>
              <a:rPr dirty="0"/>
              <a:t>of</a:t>
            </a:r>
            <a:r>
              <a:rPr spc="-160" dirty="0"/>
              <a:t> </a:t>
            </a:r>
            <a:r>
              <a:rPr spc="-35" dirty="0"/>
              <a:t>Companies</a:t>
            </a:r>
            <a:r>
              <a:rPr spc="-175" dirty="0"/>
              <a:t> </a:t>
            </a:r>
            <a:r>
              <a:rPr dirty="0"/>
              <a:t>in</a:t>
            </a:r>
            <a:r>
              <a:rPr spc="-175" dirty="0"/>
              <a:t> </a:t>
            </a:r>
            <a:r>
              <a:rPr dirty="0"/>
              <a:t>the</a:t>
            </a:r>
            <a:r>
              <a:rPr spc="-165" dirty="0"/>
              <a:t> </a:t>
            </a:r>
            <a:r>
              <a:rPr dirty="0"/>
              <a:t>VLSI</a:t>
            </a:r>
            <a:r>
              <a:rPr spc="-170" dirty="0"/>
              <a:t> </a:t>
            </a:r>
            <a:r>
              <a:rPr spc="-10" dirty="0"/>
              <a:t>Industry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690" y="1827241"/>
            <a:ext cx="12016672" cy="3250726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cs typeface="Calibri"/>
              </a:rPr>
              <a:t>01:</a:t>
            </a:r>
            <a:r>
              <a:rPr kumimoji="0" sz="1400" b="1" i="0" u="none" strike="noStrike" kern="0" cap="none" spc="-2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1" i="0" u="none" strike="noStrike" kern="0" cap="none" spc="-1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cs typeface="Calibri"/>
              </a:rPr>
              <a:t>Introduction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3436" rIns="0" bIns="0" rtlCol="0">
            <a:spAutoFit/>
          </a:bodyPr>
          <a:lstStyle/>
          <a:p>
            <a:pPr marL="6971665" marR="0" lvl="0" indent="0" defTabSz="91440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400" b="1" i="0" u="none" strike="noStrike" kern="0" cap="none" spc="-2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cs typeface="Calibri"/>
              </a:rPr>
              <a:pPr marL="6971665" marR="0" lvl="0" indent="0" defTabSz="914400" eaLnBrk="1" fontAlgn="auto" latinLnBrk="0" hangingPunct="1">
                <a:lnSpc>
                  <a:spcPts val="143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53</a:t>
            </a:fld>
            <a:endParaRPr kumimoji="0" sz="1400" b="1" i="0" u="none" strike="noStrike" kern="0" cap="none" spc="-25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208769" y="6644208"/>
            <a:ext cx="2523490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[SIA</a:t>
            </a:r>
            <a:r>
              <a:rPr kumimoji="0" sz="1400" b="0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Beyond</a:t>
            </a:r>
            <a:r>
              <a:rPr kumimoji="0" sz="1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Borders</a:t>
            </a:r>
            <a:r>
              <a:rPr kumimoji="0" sz="1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Report,</a:t>
            </a:r>
            <a:r>
              <a:rPr kumimoji="0" sz="1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2016]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0908644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90470">
              <a:lnSpc>
                <a:spcPct val="100000"/>
              </a:lnSpc>
              <a:spcBef>
                <a:spcPts val="105"/>
              </a:spcBef>
            </a:pPr>
            <a:r>
              <a:rPr dirty="0"/>
              <a:t>The</a:t>
            </a:r>
            <a:r>
              <a:rPr spc="-155" dirty="0"/>
              <a:t> </a:t>
            </a:r>
            <a:r>
              <a:rPr spc="-45" dirty="0"/>
              <a:t>Semiconductor</a:t>
            </a:r>
            <a:r>
              <a:rPr spc="-140" dirty="0"/>
              <a:t> </a:t>
            </a:r>
            <a:r>
              <a:rPr spc="-10" dirty="0"/>
              <a:t>Ecosystem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69033" y="1126259"/>
            <a:ext cx="8192961" cy="536596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cs typeface="Calibri"/>
              </a:rPr>
              <a:t>01:</a:t>
            </a:r>
            <a:r>
              <a:rPr kumimoji="0" sz="1400" b="1" i="0" u="none" strike="noStrike" kern="0" cap="none" spc="-2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1" i="0" u="none" strike="noStrike" kern="0" cap="none" spc="-1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cs typeface="Calibri"/>
              </a:rPr>
              <a:t>Introduction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3436" rIns="0" bIns="0" rtlCol="0">
            <a:spAutoFit/>
          </a:bodyPr>
          <a:lstStyle/>
          <a:p>
            <a:pPr marL="6971665" marR="0" lvl="0" indent="0" defTabSz="91440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400" b="1" i="0" u="none" strike="noStrike" kern="0" cap="none" spc="-2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cs typeface="Calibri"/>
              </a:rPr>
              <a:pPr marL="6971665" marR="0" lvl="0" indent="0" defTabSz="914400" eaLnBrk="1" fontAlgn="auto" latinLnBrk="0" hangingPunct="1">
                <a:lnSpc>
                  <a:spcPts val="143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54</a:t>
            </a:fld>
            <a:endParaRPr kumimoji="0" sz="1400" b="1" i="0" u="none" strike="noStrike" kern="0" cap="none" spc="-25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208769" y="6644208"/>
            <a:ext cx="2523490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[SIA</a:t>
            </a:r>
            <a:r>
              <a:rPr kumimoji="0" sz="1400" b="0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Beyond</a:t>
            </a:r>
            <a:r>
              <a:rPr kumimoji="0" sz="1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Borders</a:t>
            </a:r>
            <a:r>
              <a:rPr kumimoji="0" sz="1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Report,</a:t>
            </a:r>
            <a:r>
              <a:rPr kumimoji="0" sz="1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2016]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1221546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75640">
              <a:lnSpc>
                <a:spcPct val="100000"/>
              </a:lnSpc>
              <a:spcBef>
                <a:spcPts val="105"/>
              </a:spcBef>
            </a:pPr>
            <a:r>
              <a:rPr dirty="0"/>
              <a:t>The</a:t>
            </a:r>
            <a:r>
              <a:rPr spc="-155" dirty="0"/>
              <a:t> </a:t>
            </a:r>
            <a:r>
              <a:rPr spc="-35" dirty="0"/>
              <a:t>Evolution</a:t>
            </a:r>
            <a:r>
              <a:rPr spc="-175" dirty="0"/>
              <a:t> </a:t>
            </a:r>
            <a:r>
              <a:rPr dirty="0"/>
              <a:t>of</a:t>
            </a:r>
            <a:r>
              <a:rPr spc="-130" dirty="0"/>
              <a:t> </a:t>
            </a:r>
            <a:r>
              <a:rPr dirty="0"/>
              <a:t>the</a:t>
            </a:r>
            <a:r>
              <a:rPr spc="-140" dirty="0"/>
              <a:t> </a:t>
            </a:r>
            <a:r>
              <a:rPr spc="-45" dirty="0"/>
              <a:t>Semiconductor</a:t>
            </a:r>
            <a:r>
              <a:rPr spc="-155" dirty="0"/>
              <a:t> </a:t>
            </a:r>
            <a:r>
              <a:rPr spc="-10" dirty="0"/>
              <a:t>Ecosystem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043" y="1032773"/>
            <a:ext cx="11956892" cy="4870518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cs typeface="Calibri"/>
              </a:rPr>
              <a:t>01:</a:t>
            </a:r>
            <a:r>
              <a:rPr kumimoji="0" sz="1400" b="1" i="0" u="none" strike="noStrike" kern="0" cap="none" spc="-2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1" i="0" u="none" strike="noStrike" kern="0" cap="none" spc="-1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cs typeface="Calibri"/>
              </a:rPr>
              <a:t>Introduction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3436" rIns="0" bIns="0" rtlCol="0">
            <a:spAutoFit/>
          </a:bodyPr>
          <a:lstStyle/>
          <a:p>
            <a:pPr marL="6971665" marR="0" lvl="0" indent="0" defTabSz="91440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400" b="1" i="0" u="none" strike="noStrike" kern="0" cap="none" spc="-2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cs typeface="Calibri"/>
              </a:rPr>
              <a:pPr marL="6971665" marR="0" lvl="0" indent="0" defTabSz="914400" eaLnBrk="1" fontAlgn="auto" latinLnBrk="0" hangingPunct="1">
                <a:lnSpc>
                  <a:spcPts val="143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55</a:t>
            </a:fld>
            <a:endParaRPr kumimoji="0" sz="1400" b="1" i="0" u="none" strike="noStrike" kern="0" cap="none" spc="-25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208769" y="6644208"/>
            <a:ext cx="2523490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[SIA</a:t>
            </a:r>
            <a:r>
              <a:rPr kumimoji="0" sz="1400" b="0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Beyond</a:t>
            </a:r>
            <a:r>
              <a:rPr kumimoji="0" sz="1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Borders</a:t>
            </a:r>
            <a:r>
              <a:rPr kumimoji="0" sz="1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Report,</a:t>
            </a:r>
            <a:r>
              <a:rPr kumimoji="0" sz="1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2016]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5171403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50617" y="-3860"/>
            <a:ext cx="689610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Top</a:t>
            </a:r>
            <a:r>
              <a:rPr spc="-175" dirty="0"/>
              <a:t> </a:t>
            </a:r>
            <a:r>
              <a:rPr spc="-45" dirty="0"/>
              <a:t>Semiconductor</a:t>
            </a:r>
            <a:r>
              <a:rPr spc="-165" dirty="0"/>
              <a:t> </a:t>
            </a:r>
            <a:r>
              <a:rPr spc="-10" dirty="0"/>
              <a:t>Companies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002787" y="990574"/>
            <a:ext cx="10236835" cy="5469890"/>
            <a:chOff x="1002787" y="990574"/>
            <a:chExt cx="10236835" cy="546989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02787" y="990574"/>
              <a:ext cx="10236716" cy="546967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57655" y="1036320"/>
              <a:ext cx="10076688" cy="531876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038605" y="1017270"/>
              <a:ext cx="10114915" cy="5356860"/>
            </a:xfrm>
            <a:custGeom>
              <a:avLst/>
              <a:gdLst/>
              <a:ahLst/>
              <a:cxnLst/>
              <a:rect l="l" t="t" r="r" b="b"/>
              <a:pathLst>
                <a:path w="10114915" h="5356860">
                  <a:moveTo>
                    <a:pt x="0" y="5356860"/>
                  </a:moveTo>
                  <a:lnTo>
                    <a:pt x="10114788" y="5356860"/>
                  </a:lnTo>
                  <a:lnTo>
                    <a:pt x="10114788" y="0"/>
                  </a:lnTo>
                  <a:lnTo>
                    <a:pt x="0" y="0"/>
                  </a:lnTo>
                  <a:lnTo>
                    <a:pt x="0" y="535686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cs typeface="Calibri"/>
              </a:rPr>
              <a:t>01:</a:t>
            </a:r>
            <a:r>
              <a:rPr kumimoji="0" sz="1400" b="1" i="0" u="none" strike="noStrike" kern="0" cap="none" spc="-2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1" i="0" u="none" strike="noStrike" kern="0" cap="none" spc="-1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cs typeface="Calibri"/>
              </a:rPr>
              <a:t>Introduction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3436" rIns="0" bIns="0" rtlCol="0">
            <a:spAutoFit/>
          </a:bodyPr>
          <a:lstStyle/>
          <a:p>
            <a:pPr marL="6971665" marR="0" lvl="0" indent="0" defTabSz="91440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400" b="1" i="0" u="none" strike="noStrike" kern="0" cap="none" spc="-2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cs typeface="Calibri"/>
              </a:rPr>
              <a:pPr marL="6971665" marR="0" lvl="0" indent="0" defTabSz="914400" eaLnBrk="1" fontAlgn="auto" latinLnBrk="0" hangingPunct="1">
                <a:lnSpc>
                  <a:spcPts val="143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56</a:t>
            </a:fld>
            <a:endParaRPr kumimoji="0" sz="1400" b="1" i="0" u="none" strike="noStrike" kern="0" cap="none" spc="-25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113277" y="6644208"/>
            <a:ext cx="861885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[https://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  <a:hlinkClick r:id="rId4"/>
              </a:rPr>
              <a:t>www.icinsights.com/news/bulletins/Intel-</a:t>
            </a:r>
            <a:r>
              <a:rPr kumimoji="0" sz="1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  <a:hlinkClick r:id="rId4"/>
              </a:rPr>
              <a:t>To</a:t>
            </a:r>
            <a:r>
              <a:rPr kumimoji="0" sz="1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-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Keep-Its-Number-One-Semiconductor-Supplier-Ranking-In-2020/]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9463740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999614">
              <a:lnSpc>
                <a:spcPct val="100000"/>
              </a:lnSpc>
              <a:spcBef>
                <a:spcPts val="105"/>
              </a:spcBef>
            </a:pPr>
            <a:r>
              <a:rPr dirty="0"/>
              <a:t>More</a:t>
            </a:r>
            <a:r>
              <a:rPr spc="-204" dirty="0"/>
              <a:t> </a:t>
            </a:r>
            <a:r>
              <a:rPr spc="-35" dirty="0"/>
              <a:t>Companies</a:t>
            </a:r>
            <a:r>
              <a:rPr spc="-195" dirty="0"/>
              <a:t> </a:t>
            </a:r>
            <a:r>
              <a:rPr spc="-20" dirty="0"/>
              <a:t>Joining</a:t>
            </a:r>
            <a:r>
              <a:rPr spc="-195" dirty="0"/>
              <a:t> </a:t>
            </a:r>
            <a:r>
              <a:rPr dirty="0"/>
              <a:t>The</a:t>
            </a:r>
            <a:r>
              <a:rPr spc="-204" dirty="0"/>
              <a:t> </a:t>
            </a:r>
            <a:r>
              <a:rPr spc="-10" dirty="0"/>
              <a:t>Field!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27070" y="1946138"/>
            <a:ext cx="11788775" cy="3025775"/>
            <a:chOff x="227070" y="1946138"/>
            <a:chExt cx="11788775" cy="302577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7070" y="1946138"/>
              <a:ext cx="11788151" cy="302515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1940" y="1991868"/>
              <a:ext cx="11628120" cy="2874263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62890" y="1972818"/>
              <a:ext cx="11666220" cy="2912745"/>
            </a:xfrm>
            <a:custGeom>
              <a:avLst/>
              <a:gdLst/>
              <a:ahLst/>
              <a:cxnLst/>
              <a:rect l="l" t="t" r="r" b="b"/>
              <a:pathLst>
                <a:path w="11666220" h="2912745">
                  <a:moveTo>
                    <a:pt x="0" y="2912363"/>
                  </a:moveTo>
                  <a:lnTo>
                    <a:pt x="11666220" y="2912363"/>
                  </a:lnTo>
                  <a:lnTo>
                    <a:pt x="11666220" y="0"/>
                  </a:lnTo>
                  <a:lnTo>
                    <a:pt x="0" y="0"/>
                  </a:lnTo>
                  <a:lnTo>
                    <a:pt x="0" y="2912363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cs typeface="Calibri"/>
              </a:rPr>
              <a:t>01:</a:t>
            </a:r>
            <a:r>
              <a:rPr kumimoji="0" sz="1400" b="1" i="0" u="none" strike="noStrike" kern="0" cap="none" spc="-2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1" i="0" u="none" strike="noStrike" kern="0" cap="none" spc="-1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cs typeface="Calibri"/>
              </a:rPr>
              <a:t>Introduction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3436" rIns="0" bIns="0" rtlCol="0">
            <a:spAutoFit/>
          </a:bodyPr>
          <a:lstStyle/>
          <a:p>
            <a:pPr marL="6971665" marR="0" lvl="0" indent="0" defTabSz="91440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400" b="1" i="0" u="none" strike="noStrike" kern="0" cap="none" spc="-2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cs typeface="Calibri"/>
              </a:rPr>
              <a:pPr marL="6971665" marR="0" lvl="0" indent="0" defTabSz="914400" eaLnBrk="1" fontAlgn="auto" latinLnBrk="0" hangingPunct="1">
                <a:lnSpc>
                  <a:spcPts val="143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57</a:t>
            </a:fld>
            <a:endParaRPr kumimoji="0" sz="1400" b="1" i="0" u="none" strike="noStrike" kern="0" cap="none" spc="-25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7649562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999614">
              <a:lnSpc>
                <a:spcPct val="100000"/>
              </a:lnSpc>
              <a:spcBef>
                <a:spcPts val="105"/>
              </a:spcBef>
            </a:pPr>
            <a:r>
              <a:rPr dirty="0"/>
              <a:t>More</a:t>
            </a:r>
            <a:r>
              <a:rPr spc="-204" dirty="0"/>
              <a:t> </a:t>
            </a:r>
            <a:r>
              <a:rPr spc="-35" dirty="0"/>
              <a:t>Companies</a:t>
            </a:r>
            <a:r>
              <a:rPr spc="-195" dirty="0"/>
              <a:t> </a:t>
            </a:r>
            <a:r>
              <a:rPr spc="-20" dirty="0"/>
              <a:t>Joining</a:t>
            </a:r>
            <a:r>
              <a:rPr spc="-195" dirty="0"/>
              <a:t> </a:t>
            </a:r>
            <a:r>
              <a:rPr dirty="0"/>
              <a:t>The</a:t>
            </a:r>
            <a:r>
              <a:rPr spc="-204" dirty="0"/>
              <a:t> </a:t>
            </a:r>
            <a:r>
              <a:rPr spc="-10" dirty="0"/>
              <a:t>Field!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697732" y="972286"/>
            <a:ext cx="8638540" cy="5378450"/>
            <a:chOff x="1697732" y="972286"/>
            <a:chExt cx="8638540" cy="537845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97732" y="972286"/>
              <a:ext cx="8638038" cy="537823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52600" y="1018032"/>
              <a:ext cx="8478012" cy="522732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733550" y="998982"/>
              <a:ext cx="8516620" cy="5265420"/>
            </a:xfrm>
            <a:custGeom>
              <a:avLst/>
              <a:gdLst/>
              <a:ahLst/>
              <a:cxnLst/>
              <a:rect l="l" t="t" r="r" b="b"/>
              <a:pathLst>
                <a:path w="8516620" h="5265420">
                  <a:moveTo>
                    <a:pt x="0" y="5265420"/>
                  </a:moveTo>
                  <a:lnTo>
                    <a:pt x="8516112" y="5265420"/>
                  </a:lnTo>
                  <a:lnTo>
                    <a:pt x="8516112" y="0"/>
                  </a:lnTo>
                  <a:lnTo>
                    <a:pt x="0" y="0"/>
                  </a:lnTo>
                  <a:lnTo>
                    <a:pt x="0" y="526542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cs typeface="Calibri"/>
              </a:rPr>
              <a:t>01:</a:t>
            </a:r>
            <a:r>
              <a:rPr kumimoji="0" sz="1400" b="1" i="0" u="none" strike="noStrike" kern="0" cap="none" spc="-2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1" i="0" u="none" strike="noStrike" kern="0" cap="none" spc="-1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cs typeface="Calibri"/>
              </a:rPr>
              <a:t>Introduction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3436" rIns="0" bIns="0" rtlCol="0">
            <a:spAutoFit/>
          </a:bodyPr>
          <a:lstStyle/>
          <a:p>
            <a:pPr marL="6971665" marR="0" lvl="0" indent="0" defTabSz="91440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400" b="1" i="0" u="none" strike="noStrike" kern="0" cap="none" spc="-2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cs typeface="Calibri"/>
              </a:rPr>
              <a:pPr marL="6971665" marR="0" lvl="0" indent="0" defTabSz="914400" eaLnBrk="1" fontAlgn="auto" latinLnBrk="0" hangingPunct="1">
                <a:lnSpc>
                  <a:spcPts val="143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58</a:t>
            </a:fld>
            <a:endParaRPr kumimoji="0" sz="1400" b="1" i="0" u="none" strike="noStrike" kern="0" cap="none" spc="-25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5353790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223895">
              <a:lnSpc>
                <a:spcPct val="100000"/>
              </a:lnSpc>
              <a:spcBef>
                <a:spcPts val="105"/>
              </a:spcBef>
            </a:pPr>
            <a:r>
              <a:rPr spc="-45" dirty="0"/>
              <a:t>Semiconductors</a:t>
            </a:r>
            <a:r>
              <a:rPr spc="-130" dirty="0"/>
              <a:t> </a:t>
            </a:r>
            <a:r>
              <a:rPr spc="-10" dirty="0"/>
              <a:t>Market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0238" y="927861"/>
            <a:ext cx="3756660" cy="11976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8630" marR="5080" lvl="0" indent="-456565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 typeface="Wingdings"/>
              <a:buChar char=""/>
              <a:tabLst>
                <a:tab pos="468630" algn="l"/>
              </a:tabLst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Semiconductor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sales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revenue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worldwide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(2019)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869315" marR="0" lvl="1" indent="-286385" defTabSz="914400" eaLnBrk="1" fontAlgn="auto" latinLnBrk="0" hangingPunct="1">
              <a:lnSpc>
                <a:spcPct val="100000"/>
              </a:lnSpc>
              <a:spcBef>
                <a:spcPts val="585"/>
              </a:spcBef>
              <a:spcAft>
                <a:spcPts val="0"/>
              </a:spcAft>
              <a:buClrTx/>
              <a:buSzTx/>
              <a:buFont typeface="Wingdings"/>
              <a:buChar char=""/>
              <a:tabLst>
                <a:tab pos="869315" algn="l"/>
              </a:tabLst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 Math"/>
                <a:cs typeface="Cambria Math"/>
              </a:rPr>
              <a:t>~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 Math"/>
                <a:cs typeface="Cambria Math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484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billion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USD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47823" y="1324787"/>
            <a:ext cx="7354199" cy="4649222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cs typeface="Calibri"/>
              </a:rPr>
              <a:t>01:</a:t>
            </a:r>
            <a:r>
              <a:rPr kumimoji="0" sz="1400" b="1" i="0" u="none" strike="noStrike" kern="0" cap="none" spc="-2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1" i="0" u="none" strike="noStrike" kern="0" cap="none" spc="-1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cs typeface="Calibri"/>
              </a:rPr>
              <a:t>Introduction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3436" rIns="0" bIns="0" rtlCol="0">
            <a:spAutoFit/>
          </a:bodyPr>
          <a:lstStyle/>
          <a:p>
            <a:pPr marL="6971665" marR="0" lvl="0" indent="0" defTabSz="91440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400" b="1" i="0" u="none" strike="noStrike" kern="0" cap="none" spc="-2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cs typeface="Calibri"/>
              </a:rPr>
              <a:pPr marL="6971665" marR="0" lvl="0" indent="0" defTabSz="914400" eaLnBrk="1" fontAlgn="auto" latinLnBrk="0" hangingPunct="1">
                <a:lnSpc>
                  <a:spcPts val="143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59</a:t>
            </a:fld>
            <a:endParaRPr kumimoji="0" sz="1400" b="1" i="0" u="none" strike="noStrike" kern="0" cap="none" spc="-25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419471" y="6644208"/>
            <a:ext cx="623633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[https://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  <a:hlinkClick r:id="rId3"/>
              </a:rPr>
              <a:t>www.statista.com/statistics/266973/global-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  <a:hlinkClick r:id="rId3"/>
              </a:rPr>
              <a:t>semiconductor-sales-since-1988/]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2623504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797300">
              <a:lnSpc>
                <a:spcPct val="100000"/>
              </a:lnSpc>
              <a:spcBef>
                <a:spcPts val="105"/>
              </a:spcBef>
            </a:pPr>
            <a:r>
              <a:rPr spc="-35" dirty="0"/>
              <a:t>Electronics</a:t>
            </a:r>
            <a:r>
              <a:rPr spc="-150" dirty="0"/>
              <a:t> </a:t>
            </a:r>
            <a:r>
              <a:rPr spc="-10" dirty="0"/>
              <a:t>Market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0794" y="1354836"/>
            <a:ext cx="10762454" cy="512216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cs typeface="Calibri"/>
              </a:rPr>
              <a:t>01:</a:t>
            </a:r>
            <a:r>
              <a:rPr kumimoji="0" sz="1400" b="1" i="0" u="none" strike="noStrike" kern="0" cap="none" spc="-2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1" i="0" u="none" strike="noStrike" kern="0" cap="none" spc="-1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cs typeface="Calibri"/>
              </a:rPr>
              <a:t>Introduction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3436" rIns="0" bIns="0" rtlCol="0">
            <a:spAutoFit/>
          </a:bodyPr>
          <a:lstStyle/>
          <a:p>
            <a:pPr marL="5235575" marR="0" lvl="0" indent="0" defTabSz="914400" eaLnBrk="1" fontAlgn="auto" latinLnBrk="0" hangingPunct="1">
              <a:lnSpc>
                <a:spcPts val="14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6971665" algn="l"/>
              </a:tabLst>
              <a:defRPr/>
            </a:pP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[Source:</a:t>
            </a:r>
            <a:r>
              <a:rPr kumimoji="0" sz="1200" b="0" i="0" u="none" strike="noStrike" kern="0" cap="none" spc="-4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Synopsys,</a:t>
            </a:r>
            <a:r>
              <a:rPr kumimoji="0" sz="1200" b="0" i="0" u="none" strike="noStrike" kern="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2019]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	</a:t>
            </a:r>
            <a:fld id="{81D60167-4931-47E6-BA6A-407CBD079E47}" type="slidenum">
              <a:rPr kumimoji="0" sz="2100" b="1" i="0" u="none" strike="noStrike" kern="0" cap="none" spc="-52" normalizeH="0" baseline="1984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cs typeface="Calibri"/>
              </a:rPr>
              <a:pPr marL="5235575" marR="0" lvl="0" indent="0" defTabSz="914400" eaLnBrk="1" fontAlgn="auto" latinLnBrk="0" hangingPunct="1">
                <a:lnSpc>
                  <a:spcPts val="147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6971665" algn="l"/>
                </a:tabLst>
                <a:defRPr/>
              </a:pPr>
              <a:t>60</a:t>
            </a:fld>
            <a:endParaRPr kumimoji="0" sz="2100" b="1" i="0" u="none" strike="noStrike" kern="0" cap="none" spc="0" normalizeH="0" baseline="1984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6263019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797300">
              <a:lnSpc>
                <a:spcPct val="100000"/>
              </a:lnSpc>
              <a:spcBef>
                <a:spcPts val="105"/>
              </a:spcBef>
            </a:pPr>
            <a:r>
              <a:rPr spc="-35" dirty="0"/>
              <a:t>Electronics</a:t>
            </a:r>
            <a:r>
              <a:rPr spc="-150" dirty="0"/>
              <a:t> </a:t>
            </a:r>
            <a:r>
              <a:rPr spc="-10" dirty="0"/>
              <a:t>Market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50004" y="1460703"/>
            <a:ext cx="4684119" cy="470721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cs typeface="Calibri"/>
              </a:rPr>
              <a:t>01:</a:t>
            </a:r>
            <a:r>
              <a:rPr kumimoji="0" sz="1400" b="1" i="0" u="none" strike="noStrike" kern="0" cap="none" spc="-1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cs typeface="Calibri"/>
              </a:rPr>
              <a:t> Introduction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3436" rIns="0" bIns="0" rtlCol="0">
            <a:spAutoFit/>
          </a:bodyPr>
          <a:lstStyle/>
          <a:p>
            <a:pPr marL="5264785" marR="0" lvl="0" indent="0" defTabSz="914400" eaLnBrk="1" fontAlgn="auto" latinLnBrk="0" hangingPunct="1">
              <a:lnSpc>
                <a:spcPts val="14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6971665" algn="l"/>
              </a:tabLst>
              <a:defRPr/>
            </a:pP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[Source:</a:t>
            </a:r>
            <a:r>
              <a:rPr kumimoji="0" sz="1200" b="0" i="0" u="none" strike="noStrike" kern="0" cap="none" spc="-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Cadence,</a:t>
            </a:r>
            <a:r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2017]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	</a:t>
            </a:r>
            <a:fld id="{81D60167-4931-47E6-BA6A-407CBD079E47}" type="slidenum">
              <a:rPr kumimoji="0" sz="2100" b="1" i="0" u="none" strike="noStrike" kern="0" cap="none" spc="-37" normalizeH="0" baseline="1984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cs typeface="Calibri"/>
              </a:rPr>
              <a:pPr marL="5264785" marR="0" lvl="0" indent="0" defTabSz="914400" eaLnBrk="1" fontAlgn="auto" latinLnBrk="0" hangingPunct="1">
                <a:lnSpc>
                  <a:spcPts val="147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6971665" algn="l"/>
                </a:tabLst>
                <a:defRPr/>
              </a:pPr>
              <a:t>61</a:t>
            </a:fld>
            <a:endParaRPr kumimoji="0" sz="2100" b="1" i="0" u="none" strike="noStrike" kern="0" cap="none" spc="0" normalizeH="0" baseline="1984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0097742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69941" y="-3860"/>
            <a:ext cx="245491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ICT</a:t>
            </a:r>
            <a:r>
              <a:rPr spc="-150" dirty="0"/>
              <a:t> </a:t>
            </a:r>
            <a:r>
              <a:rPr spc="-20" dirty="0"/>
              <a:t>Market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0238" y="927861"/>
            <a:ext cx="4377055" cy="5586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8630" marR="5080" lvl="0" indent="-456565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 typeface="Wingdings"/>
              <a:buChar char=""/>
              <a:tabLst>
                <a:tab pos="468630" algn="l"/>
              </a:tabLst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400+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billion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semiconductor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industry</a:t>
            </a:r>
            <a:r>
              <a:rPr kumimoji="0" sz="2400" b="0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enables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4,000+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billion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information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communication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technology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(ICT)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industry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467995" marR="0" lvl="0" indent="-455295" defTabSz="91440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Tx/>
              <a:buSzTx/>
              <a:buFont typeface="Wingdings"/>
              <a:buChar char=""/>
              <a:tabLst>
                <a:tab pos="467995" algn="l"/>
              </a:tabLst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Egypt’s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total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revenue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(2019)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869315" marR="0" lvl="1" indent="-286385" defTabSz="914400" eaLnBrk="1" fontAlgn="auto" latinLnBrk="0" hangingPunct="1">
              <a:lnSpc>
                <a:spcPct val="100000"/>
              </a:lnSpc>
              <a:spcBef>
                <a:spcPts val="595"/>
              </a:spcBef>
              <a:spcAft>
                <a:spcPts val="0"/>
              </a:spcAft>
              <a:buClrTx/>
              <a:buSzTx/>
              <a:buFont typeface="Wingdings"/>
              <a:buChar char=""/>
              <a:tabLst>
                <a:tab pos="869315" algn="l"/>
              </a:tabLst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 Math"/>
                <a:cs typeface="Cambria Math"/>
              </a:rPr>
              <a:t>~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 Math"/>
                <a:cs typeface="Cambria Math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57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billion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USD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869315" marR="226695" lvl="1" indent="-287020" defTabSz="914400" eaLnBrk="1" fontAlgn="auto" latinLnBrk="0" hangingPunct="1">
              <a:lnSpc>
                <a:spcPts val="2870"/>
              </a:lnSpc>
              <a:spcBef>
                <a:spcPts val="675"/>
              </a:spcBef>
              <a:spcAft>
                <a:spcPts val="0"/>
              </a:spcAft>
              <a:buClrTx/>
              <a:buSzTx/>
              <a:buFont typeface="Wingdings"/>
              <a:buChar char=""/>
              <a:tabLst>
                <a:tab pos="869315" algn="l"/>
              </a:tabLst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 Math"/>
                <a:cs typeface="Cambria Math"/>
              </a:rPr>
              <a:t>~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 Math"/>
                <a:cs typeface="Cambria Math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31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billion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(55%)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goes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for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loans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interests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869315" marR="149225" lvl="1" indent="-287020" defTabSz="914400" eaLnBrk="1" fontAlgn="auto" latinLnBrk="0" hangingPunct="1">
              <a:lnSpc>
                <a:spcPts val="2870"/>
              </a:lnSpc>
              <a:spcBef>
                <a:spcPts val="595"/>
              </a:spcBef>
              <a:spcAft>
                <a:spcPts val="0"/>
              </a:spcAft>
              <a:buClrTx/>
              <a:buSzTx/>
              <a:buFont typeface="Wingdings"/>
              <a:buChar char=""/>
              <a:tabLst>
                <a:tab pos="869315" algn="l"/>
              </a:tabLst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 Math"/>
                <a:cs typeface="Cambria Math"/>
              </a:rPr>
              <a:t>~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 Math"/>
                <a:cs typeface="Cambria Math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16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billion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(28%)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for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loans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repayment!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467995" marR="0" lvl="0" indent="-455295" defTabSz="914400" eaLnBrk="1" fontAlgn="auto" latinLnBrk="0" hangingPunct="1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Tx/>
              <a:buSzTx/>
              <a:buFont typeface="Wingdings"/>
              <a:buChar char=""/>
              <a:tabLst>
                <a:tab pos="467995" algn="l"/>
              </a:tabLst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Only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10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billion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USD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remains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869315" marR="585470" lvl="1" indent="-287020" defTabSz="914400" eaLnBrk="1" fontAlgn="auto" latinLnBrk="0" hangingPunct="1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Tx/>
              <a:buSzTx/>
              <a:buFont typeface="Wingdings"/>
              <a:buChar char=""/>
              <a:tabLst>
                <a:tab pos="869315" algn="l"/>
              </a:tabLst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We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need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41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billion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USD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more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2019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budget?!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12364" y="1393410"/>
            <a:ext cx="7269399" cy="4594137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cs typeface="Calibri"/>
              </a:rPr>
              <a:t>01:</a:t>
            </a:r>
            <a:r>
              <a:rPr kumimoji="0" sz="1400" b="1" i="0" u="none" strike="noStrike" kern="0" cap="none" spc="-1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cs typeface="Calibri"/>
              </a:rPr>
              <a:t> Introduction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3436" rIns="0" bIns="0" rtlCol="0">
            <a:spAutoFit/>
          </a:bodyPr>
          <a:lstStyle/>
          <a:p>
            <a:pPr marL="6971665" marR="0" lvl="0" indent="0" defTabSz="91440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400" b="1" i="0" u="none" strike="noStrike" kern="0" cap="none" spc="-2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cs typeface="Calibri"/>
              </a:rPr>
              <a:pPr marL="6971665" marR="0" lvl="0" indent="0" defTabSz="914400" eaLnBrk="1" fontAlgn="auto" latinLnBrk="0" hangingPunct="1">
                <a:lnSpc>
                  <a:spcPts val="143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62</a:t>
            </a:fld>
            <a:endParaRPr kumimoji="0" sz="1400" b="1" i="0" u="none" strike="noStrike" kern="0" cap="none" spc="-25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832475" y="6644208"/>
            <a:ext cx="5900420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[https://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  <a:hlinkClick r:id="rId3"/>
              </a:rPr>
              <a:t>www.statista.com/statistics/268584/worldwide-ict-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  <a:hlinkClick r:id="rId3"/>
              </a:rPr>
              <a:t>revenue-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  <a:hlinkClick r:id="rId3"/>
              </a:rPr>
              <a:t>since-2005/]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31556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141980">
              <a:lnSpc>
                <a:spcPct val="100000"/>
              </a:lnSpc>
              <a:spcBef>
                <a:spcPts val="105"/>
              </a:spcBef>
            </a:pPr>
            <a:r>
              <a:rPr dirty="0"/>
              <a:t>The</a:t>
            </a:r>
            <a:r>
              <a:rPr spc="-160" dirty="0"/>
              <a:t> </a:t>
            </a:r>
            <a:r>
              <a:rPr spc="-40" dirty="0"/>
              <a:t>Smartphone</a:t>
            </a:r>
            <a:r>
              <a:rPr spc="-165" dirty="0"/>
              <a:t> </a:t>
            </a:r>
            <a:r>
              <a:rPr spc="-10" dirty="0"/>
              <a:t>Plateau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03158" y="1341822"/>
            <a:ext cx="9585682" cy="446875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cs typeface="Calibri"/>
              </a:rPr>
              <a:t>01:</a:t>
            </a:r>
            <a:r>
              <a:rPr kumimoji="0" sz="1400" b="1" i="0" u="none" strike="noStrike" kern="0" cap="none" spc="-1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cs typeface="Calibri"/>
              </a:rPr>
              <a:t> Introduction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3436" rIns="0" bIns="0" rtlCol="0">
            <a:spAutoFit/>
          </a:bodyPr>
          <a:lstStyle/>
          <a:p>
            <a:pPr marL="6971665" marR="0" lvl="0" indent="0" defTabSz="91440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400" b="1" i="0" u="none" strike="noStrike" kern="0" cap="none" spc="-2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cs typeface="Calibri"/>
              </a:rPr>
              <a:pPr marL="6971665" marR="0" lvl="0" indent="0" defTabSz="914400" eaLnBrk="1" fontAlgn="auto" latinLnBrk="0" hangingPunct="1">
                <a:lnSpc>
                  <a:spcPts val="143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63</a:t>
            </a:fld>
            <a:endParaRPr kumimoji="0" sz="1400" b="1" i="0" u="none" strike="noStrike" kern="0" cap="none" spc="-25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215510" y="6630796"/>
            <a:ext cx="755205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[https://edition.cnn.com/interactive/2019/09/business/samsung-headquarters-south-korea/index.html]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605566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126025" y="3873661"/>
            <a:ext cx="5254906" cy="298433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138442" y="850738"/>
            <a:ext cx="5254906" cy="298433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868100"/>
            <a:ext cx="5883798" cy="484979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Lecture Plans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06" y="866842"/>
            <a:ext cx="5944872" cy="442983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2035" y="860134"/>
            <a:ext cx="5663397" cy="307140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3164" y="3866602"/>
            <a:ext cx="5696327" cy="2991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971919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cs typeface="Calibri"/>
              </a:rPr>
              <a:t>01:</a:t>
            </a:r>
            <a:r>
              <a:rPr kumimoji="0" sz="1400" b="1" i="0" u="none" strike="noStrike" kern="0" cap="none" spc="-1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cs typeface="Calibri"/>
              </a:rPr>
              <a:t> Introduction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3436" rIns="0" bIns="0" rtlCol="0">
            <a:spAutoFit/>
          </a:bodyPr>
          <a:lstStyle/>
          <a:p>
            <a:pPr marL="6971665" marR="0" lvl="0" indent="0" defTabSz="91440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400" b="1" i="0" u="none" strike="noStrike" kern="0" cap="none" spc="-2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cs typeface="Calibri"/>
              </a:rPr>
              <a:pPr marL="6971665" marR="0" lvl="0" indent="0" defTabSz="914400" eaLnBrk="1" fontAlgn="auto" latinLnBrk="0" hangingPunct="1">
                <a:lnSpc>
                  <a:spcPts val="143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65</a:t>
            </a:fld>
            <a:endParaRPr kumimoji="0" sz="1400" b="1" i="0" u="none" strike="noStrike" kern="0" cap="none" spc="-25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607" y="1538557"/>
            <a:ext cx="4299219" cy="390323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7208" y="1332729"/>
            <a:ext cx="5626747" cy="396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24814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cs typeface="Calibri"/>
              </a:rPr>
              <a:t>01:</a:t>
            </a:r>
            <a:r>
              <a:rPr kumimoji="0" sz="1400" b="1" i="0" u="none" strike="noStrike" kern="0" cap="none" spc="-1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cs typeface="Calibri"/>
              </a:rPr>
              <a:t> Introduction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3436" rIns="0" bIns="0" rtlCol="0">
            <a:spAutoFit/>
          </a:bodyPr>
          <a:lstStyle/>
          <a:p>
            <a:pPr marL="6971665" marR="0" lvl="0" indent="0" defTabSz="91440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400" b="1" i="0" u="none" strike="noStrike" kern="0" cap="none" spc="-2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cs typeface="Calibri"/>
              </a:rPr>
              <a:pPr marL="6971665" marR="0" lvl="0" indent="0" defTabSz="914400" eaLnBrk="1" fontAlgn="auto" latinLnBrk="0" hangingPunct="1">
                <a:lnSpc>
                  <a:spcPts val="143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66</a:t>
            </a:fld>
            <a:endParaRPr kumimoji="0" sz="1400" b="1" i="0" u="none" strike="noStrike" kern="0" cap="none" spc="-25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6399" y="1316524"/>
            <a:ext cx="4769095" cy="364508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7058" y="1270112"/>
            <a:ext cx="4943865" cy="3190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764910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252" y="885721"/>
            <a:ext cx="5740695" cy="4019757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27000" y="4918839"/>
            <a:ext cx="12065000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b="1" dirty="0"/>
              <a:t>The Wand L are the two important layout parameters that the designer can choose. In the </a:t>
            </a:r>
            <a:r>
              <a:rPr lang="en-US" sz="2000" b="1" dirty="0" smtClean="0"/>
              <a:t>on resistance equations</a:t>
            </a:r>
            <a:r>
              <a:rPr lang="en-US" sz="2000" b="1" dirty="0"/>
              <a:t>, it seems that only W/L is important. The same W/L can be obtained </a:t>
            </a:r>
            <a:r>
              <a:rPr lang="en-US" sz="2000" b="1" dirty="0" smtClean="0"/>
              <a:t>in different </a:t>
            </a:r>
            <a:r>
              <a:rPr lang="en-US" sz="2000" b="1" dirty="0"/>
              <a:t>ways. The transistor in the upper left and lower right corner have the same W/L, and </a:t>
            </a:r>
            <a:r>
              <a:rPr lang="en-US" sz="2000" b="1" dirty="0" smtClean="0"/>
              <a:t>thus the </a:t>
            </a:r>
            <a:r>
              <a:rPr lang="en-US" sz="2000" b="1" dirty="0"/>
              <a:t>same on resistance. However, we will see later on that the lower right transistor has far </a:t>
            </a:r>
            <a:r>
              <a:rPr lang="en-US" sz="2000" b="1" dirty="0" smtClean="0"/>
              <a:t>more capacitance </a:t>
            </a:r>
            <a:r>
              <a:rPr lang="en-US" sz="2000" b="1" dirty="0"/>
              <a:t>and thus will be a slower switch. Selection of W/L is crucial in analog IC design.</a:t>
            </a:r>
          </a:p>
        </p:txBody>
      </p:sp>
    </p:spTree>
    <p:extLst>
      <p:ext uri="{BB962C8B-B14F-4D97-AF65-F5344CB8AC3E}">
        <p14:creationId xmlns:p14="http://schemas.microsoft.com/office/powerpoint/2010/main" val="88086744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8956" y="1084630"/>
            <a:ext cx="7162832" cy="5093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316231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6286" y="1364750"/>
            <a:ext cx="9868776" cy="5493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800432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1533" y="1758863"/>
            <a:ext cx="6892044" cy="4683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77683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7444" y="1160966"/>
            <a:ext cx="7872761" cy="5238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059091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5932" y="1016161"/>
            <a:ext cx="7984273" cy="5472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099284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2613" y="835570"/>
            <a:ext cx="8820615" cy="6022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889417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1800" y="1164354"/>
            <a:ext cx="9753600" cy="5391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279532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1" y="1291725"/>
            <a:ext cx="8966200" cy="4732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062986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9314" y="1340462"/>
            <a:ext cx="8509386" cy="5262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979495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1300" y="1117955"/>
            <a:ext cx="7194588" cy="5016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223548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0400" y="990434"/>
            <a:ext cx="8242300" cy="573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1748261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6500" y="1311594"/>
            <a:ext cx="7188200" cy="5011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441859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4700" y="1288447"/>
            <a:ext cx="7302500" cy="5054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433598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7100" y="1525852"/>
            <a:ext cx="6731125" cy="4557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56525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ASSCC_202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Arial Rounded MT Bold"/>
        <a:ea typeface="맑은 고딕"/>
        <a:cs typeface=""/>
      </a:majorFont>
      <a:minorFont>
        <a:latin typeface="Arial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SSCC_2022" id="{50B85531-4B33-3248-BC6A-864F795275DD}" vid="{39D564C5-71F4-A84C-8816-90C4E58AF93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630</TotalTime>
  <Words>2403</Words>
  <Application>Microsoft Office PowerPoint</Application>
  <PresentationFormat>Widescreen</PresentationFormat>
  <Paragraphs>657</Paragraphs>
  <Slides>81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81</vt:i4>
      </vt:variant>
    </vt:vector>
  </HeadingPairs>
  <TitlesOfParts>
    <vt:vector size="98" baseType="lpstr">
      <vt:lpstr>Malgun Gothic</vt:lpstr>
      <vt:lpstr>Yu Gothic Medium</vt:lpstr>
      <vt:lpstr>-apple-system</vt:lpstr>
      <vt:lpstr>Arial</vt:lpstr>
      <vt:lpstr>Arial MT</vt:lpstr>
      <vt:lpstr>Calibri</vt:lpstr>
      <vt:lpstr>Calibri Light</vt:lpstr>
      <vt:lpstr>Cambria Math</vt:lpstr>
      <vt:lpstr>Gill Sans MT</vt:lpstr>
      <vt:lpstr>Microsoft Sans Serif</vt:lpstr>
      <vt:lpstr>Times New Roman</vt:lpstr>
      <vt:lpstr>Verdana</vt:lpstr>
      <vt:lpstr>Wingdings</vt:lpstr>
      <vt:lpstr>Office Theme</vt:lpstr>
      <vt:lpstr>1_Office Theme</vt:lpstr>
      <vt:lpstr>2_Office Theme</vt:lpstr>
      <vt:lpstr>ASSCC_2022</vt:lpstr>
      <vt:lpstr>PowerPoint Presentation</vt:lpstr>
      <vt:lpstr>PowerPoint Presentation</vt:lpstr>
      <vt:lpstr>PowerPoint Presentation</vt:lpstr>
      <vt:lpstr>Trend of Ever-Increasing Data Rate</vt:lpstr>
      <vt:lpstr>Introduction</vt:lpstr>
      <vt:lpstr>Electronics All Around Us</vt:lpstr>
      <vt:lpstr>Inside a I Phone</vt:lpstr>
      <vt:lpstr>What are Various Semiconductor Fab Types in Apple’s iPhone Supply Chain</vt:lpstr>
      <vt:lpstr>And May Become Inside Us!</vt:lpstr>
      <vt:lpstr>Transistor Evolution</vt:lpstr>
      <vt:lpstr>Integrated Circuit Evolution</vt:lpstr>
      <vt:lpstr>Moore’s Law</vt:lpstr>
      <vt:lpstr>Moore’s Law</vt:lpstr>
      <vt:lpstr>Moore’s Law</vt:lpstr>
      <vt:lpstr>The End of Moore’s Law?</vt:lpstr>
      <vt:lpstr>The Smartphone Plateau</vt:lpstr>
      <vt:lpstr>Growing Demand in New Applications</vt:lpstr>
      <vt:lpstr>IBM 2nm Technology</vt:lpstr>
      <vt:lpstr>Analog vs Digital Signals</vt:lpstr>
      <vt:lpstr>Why Digital?</vt:lpstr>
      <vt:lpstr>Why Analog?</vt:lpstr>
      <vt:lpstr>Why Analog?</vt:lpstr>
      <vt:lpstr>Sensors Proliferation</vt:lpstr>
      <vt:lpstr>Sensors Proliferation</vt:lpstr>
      <vt:lpstr>Sensing Microsystems</vt:lpstr>
      <vt:lpstr>Signal Processing Chain</vt:lpstr>
      <vt:lpstr>Electronic System Example: Wireless Transceiver</vt:lpstr>
      <vt:lpstr>Electronic System Example: Mixed-Signal Hearing Aid</vt:lpstr>
      <vt:lpstr>Levels of Abstraction</vt:lpstr>
      <vt:lpstr>IRDS Technology Node Definition</vt:lpstr>
      <vt:lpstr>The End of Min Feature Size Scaling</vt:lpstr>
      <vt:lpstr>But Still Too Many Steps! – IRDS 2020</vt:lpstr>
      <vt:lpstr>The different Ages of Scaling</vt:lpstr>
      <vt:lpstr>Modern “Moore” Concepts</vt:lpstr>
      <vt:lpstr>Modern “Moore” Concepts: MtM</vt:lpstr>
      <vt:lpstr>Why 3D ICs?</vt:lpstr>
      <vt:lpstr>Why 3D ICs?</vt:lpstr>
      <vt:lpstr>Chiplets</vt:lpstr>
      <vt:lpstr>Backside Power Delivery</vt:lpstr>
      <vt:lpstr>Modern “Moore” Concepts</vt:lpstr>
      <vt:lpstr>Modern “Moore” Concepts: BM</vt:lpstr>
      <vt:lpstr>How Much it Costs?</vt:lpstr>
      <vt:lpstr>Foundries with a Cutting-Edge Logic Fab</vt:lpstr>
      <vt:lpstr>UAE Fab Cancelled</vt:lpstr>
      <vt:lpstr>GF Cancelled 7nm Plans</vt:lpstr>
      <vt:lpstr>PowerPoint Presentation</vt:lpstr>
      <vt:lpstr>Money is Not the Only Problem!</vt:lpstr>
      <vt:lpstr>India…</vt:lpstr>
      <vt:lpstr>The US…</vt:lpstr>
      <vt:lpstr>TSMC…</vt:lpstr>
      <vt:lpstr>Europe…</vt:lpstr>
      <vt:lpstr>Types of Companies in the VLSI Industry</vt:lpstr>
      <vt:lpstr>Types of Companies in the VLSI Industry</vt:lpstr>
      <vt:lpstr>The Semiconductor Ecosystem</vt:lpstr>
      <vt:lpstr>The Evolution of the Semiconductor Ecosystem</vt:lpstr>
      <vt:lpstr>Top Semiconductor Companies</vt:lpstr>
      <vt:lpstr>More Companies Joining The Field!</vt:lpstr>
      <vt:lpstr>More Companies Joining The Field!</vt:lpstr>
      <vt:lpstr>Semiconductors Market</vt:lpstr>
      <vt:lpstr>Electronics Market</vt:lpstr>
      <vt:lpstr>Electronics Market</vt:lpstr>
      <vt:lpstr>ICT Market</vt:lpstr>
      <vt:lpstr>The Smartphone Plateau</vt:lpstr>
      <vt:lpstr>Lecture Plans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Neeraj Mishra</dc:creator>
  <cp:lastModifiedBy>Neeraj Mishra</cp:lastModifiedBy>
  <cp:revision>9</cp:revision>
  <dcterms:created xsi:type="dcterms:W3CDTF">2025-08-04T04:35:24Z</dcterms:created>
  <dcterms:modified xsi:type="dcterms:W3CDTF">2026-08-02T17:47:21Z</dcterms:modified>
</cp:coreProperties>
</file>